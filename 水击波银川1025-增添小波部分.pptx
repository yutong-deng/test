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286" r:id="rId3"/>
    <p:sldId id="2734" r:id="rId4"/>
    <p:sldId id="2773" r:id="rId5"/>
    <p:sldId id="2775" r:id="rId7"/>
    <p:sldId id="2777" r:id="rId8"/>
    <p:sldId id="2778" r:id="rId9"/>
    <p:sldId id="2779" r:id="rId10"/>
    <p:sldId id="2780" r:id="rId11"/>
    <p:sldId id="2781" r:id="rId12"/>
    <p:sldId id="2782" r:id="rId13"/>
    <p:sldId id="2783" r:id="rId14"/>
    <p:sldId id="2784" r:id="rId15"/>
    <p:sldId id="2785" r:id="rId16"/>
    <p:sldId id="2786" r:id="rId17"/>
    <p:sldId id="2788" r:id="rId18"/>
    <p:sldId id="2789" r:id="rId19"/>
    <p:sldId id="2794" r:id="rId20"/>
    <p:sldId id="2790" r:id="rId21"/>
    <p:sldId id="2800" r:id="rId22"/>
    <p:sldId id="2801" r:id="rId23"/>
    <p:sldId id="2802" r:id="rId24"/>
    <p:sldId id="2803" r:id="rId25"/>
    <p:sldId id="2804" r:id="rId26"/>
    <p:sldId id="2805" r:id="rId27"/>
    <p:sldId id="2806" r:id="rId28"/>
    <p:sldId id="2808" r:id="rId29"/>
    <p:sldId id="2807" r:id="rId30"/>
    <p:sldId id="2809" r:id="rId31"/>
    <p:sldId id="1010" r:id="rId32"/>
    <p:sldId id="2791" r:id="rId33"/>
    <p:sldId id="2238" r:id="rId34"/>
  </p:sldIdLst>
  <p:sldSz cx="12192000" cy="6858000"/>
  <p:notesSz cx="6858000" cy="9947275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B059"/>
    <a:srgbClr val="4F81BD"/>
    <a:srgbClr val="66CCFF"/>
    <a:srgbClr val="A6E0FA"/>
    <a:srgbClr val="00FFFF"/>
    <a:srgbClr val="FD7C67"/>
    <a:srgbClr val="C00000"/>
    <a:srgbClr val="F2DBDA"/>
    <a:srgbClr val="4F6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3" autoAdjust="0"/>
    <p:restoredTop sz="93788" autoAdjust="0"/>
  </p:normalViewPr>
  <p:slideViewPr>
    <p:cSldViewPr snapToGrid="0" showGuides="1">
      <p:cViewPr varScale="1">
        <p:scale>
          <a:sx n="110" d="100"/>
          <a:sy n="110" d="100"/>
        </p:scale>
        <p:origin x="624" y="60"/>
      </p:cViewPr>
      <p:guideLst>
        <p:guide pos="3840"/>
        <p:guide orient="horz" pos="21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29068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gs" Target="tags/tag14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.emf"/><Relationship Id="rId8" Type="http://schemas.openxmlformats.org/officeDocument/2006/relationships/image" Target="../media/image24.emf"/><Relationship Id="rId7" Type="http://schemas.openxmlformats.org/officeDocument/2006/relationships/image" Target="../media/image23.emf"/><Relationship Id="rId6" Type="http://schemas.openxmlformats.org/officeDocument/2006/relationships/image" Target="../media/image22.emf"/><Relationship Id="rId5" Type="http://schemas.openxmlformats.org/officeDocument/2006/relationships/image" Target="../media/image21.wmf"/><Relationship Id="rId4" Type="http://schemas.openxmlformats.org/officeDocument/2006/relationships/image" Target="../media/image20.emf"/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1" Type="http://schemas.openxmlformats.org/officeDocument/2006/relationships/image" Target="../media/image27.emf"/><Relationship Id="rId10" Type="http://schemas.openxmlformats.org/officeDocument/2006/relationships/image" Target="../media/image26.wmf"/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99091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r">
              <a:defRPr sz="1200"/>
            </a:lvl1pPr>
          </a:lstStyle>
          <a:p>
            <a:fld id="{3A0235F7-9E86-45C4-B80B-2D3A56D7AF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4600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70" tIns="45935" rIns="91870" bIns="45935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1" y="4787126"/>
            <a:ext cx="5486400" cy="3916740"/>
          </a:xfrm>
          <a:prstGeom prst="rect">
            <a:avLst/>
          </a:prstGeom>
        </p:spPr>
        <p:txBody>
          <a:bodyPr vert="horz" lIns="91870" tIns="45935" rIns="91870" bIns="45935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4" y="9448185"/>
            <a:ext cx="2971800" cy="499090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r">
              <a:defRPr sz="1200"/>
            </a:lvl1pPr>
          </a:lstStyle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A5B8-0758-4197-ACEB-3BD72FFC9E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1053918"/>
            <a:ext cx="12197891" cy="5832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28685" y="2286001"/>
            <a:ext cx="10134635" cy="1227137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3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95340" y="3529010"/>
            <a:ext cx="10001320" cy="900122"/>
          </a:xfrm>
        </p:spPr>
        <p:txBody>
          <a:bodyPr/>
          <a:lstStyle>
            <a:lvl1pPr marL="0" indent="0" algn="ctr">
              <a:lnSpc>
                <a:spcPct val="130000"/>
              </a:lnSpc>
              <a:buNone/>
              <a:defRPr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3" y="188640"/>
            <a:ext cx="10740992" cy="571500"/>
          </a:xfrm>
        </p:spPr>
        <p:txBody>
          <a:bodyPr/>
          <a:lstStyle>
            <a:lvl1pPr>
              <a:lnSpc>
                <a:spcPct val="130000"/>
              </a:lnSpc>
              <a:defRPr sz="32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052736"/>
            <a:ext cx="10945216" cy="5234354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600" b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193869" y="6525344"/>
            <a:ext cx="960107" cy="260648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809044E-82B4-0C46-92BE-7392D3514BE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7216" y="214290"/>
            <a:ext cx="10534685" cy="57150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80889" y="1000108"/>
            <a:ext cx="5137187" cy="5214974"/>
          </a:xfrm>
        </p:spPr>
        <p:txBody>
          <a:bodyPr/>
          <a:lstStyle>
            <a:lvl1pPr>
              <a:defRPr sz="1800"/>
            </a:lvl1pPr>
            <a:lvl2pPr>
              <a:defRPr sz="1800" b="1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19676" y="1000108"/>
            <a:ext cx="5232437" cy="5214974"/>
          </a:xfrm>
        </p:spPr>
        <p:txBody>
          <a:bodyPr/>
          <a:lstStyle>
            <a:lvl1pPr>
              <a:defRPr sz="1800"/>
            </a:lvl1pPr>
            <a:lvl2pPr>
              <a:defRPr sz="1800" b="1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329064" y="6561138"/>
            <a:ext cx="827617" cy="2968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54B43-475B-B243-AEC2-B930EC7930E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7213" y="1000108"/>
            <a:ext cx="5139304" cy="99695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57213" y="2000240"/>
            <a:ext cx="5139304" cy="421484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000108"/>
            <a:ext cx="5141420" cy="99695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000240"/>
            <a:ext cx="5141420" cy="421484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329064" y="6561138"/>
            <a:ext cx="827617" cy="2968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45E33-43EA-5D41-9D7F-D45E9A2FD68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039" y="857232"/>
            <a:ext cx="4011084" cy="1077906"/>
          </a:xfrm>
        </p:spPr>
        <p:txBody>
          <a:bodyPr anchor="b"/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21170" y="857232"/>
            <a:ext cx="6472803" cy="5429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4039" y="1949321"/>
            <a:ext cx="4011084" cy="43371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329064" y="6561138"/>
            <a:ext cx="827617" cy="2968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E3140-5CF2-8C4F-BD69-A38CBA31185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9480" y="4800600"/>
            <a:ext cx="9144064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59480" y="857240"/>
            <a:ext cx="9144064" cy="3870343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559480" y="5367338"/>
            <a:ext cx="9144064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329064" y="6561138"/>
            <a:ext cx="827617" cy="2968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57AE6-A551-DA4F-AFAF-EE9EA48F930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FontTx/>
              <a:buBlip>
                <a:blip r:embed="rId2"/>
              </a:buBlip>
              <a:defRPr/>
            </a:lvl1pPr>
            <a:lvl2pPr>
              <a:buFontTx/>
              <a:buBlip>
                <a:blip r:embed="rId2"/>
              </a:buBlip>
              <a:defRPr/>
            </a:lvl2pPr>
            <a:lvl3pPr>
              <a:buFontTx/>
              <a:buBlip>
                <a:blip r:embed="rId2"/>
              </a:buBlip>
              <a:defRPr/>
            </a:lvl3pPr>
            <a:lvl4pPr>
              <a:buFontTx/>
              <a:buBlip>
                <a:blip r:embed="rId2"/>
              </a:buBlip>
              <a:defRPr/>
            </a:lvl4pPr>
            <a:lvl5pP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329064" y="6561138"/>
            <a:ext cx="827617" cy="2968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28262-ABDC-7044-AA3E-20A7B0C3941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67624" y="928670"/>
            <a:ext cx="2590837" cy="5357850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80888" y="928670"/>
            <a:ext cx="7683536" cy="5357850"/>
          </a:xfrm>
        </p:spPr>
        <p:txBody>
          <a:bodyPr vert="eaVert"/>
          <a:lstStyle>
            <a:lvl1pPr>
              <a:buFontTx/>
              <a:buBlip>
                <a:blip r:embed="rId2"/>
              </a:buBlip>
              <a:defRPr/>
            </a:lvl1pPr>
            <a:lvl2pPr>
              <a:buFontTx/>
              <a:buBlip>
                <a:blip r:embed="rId2"/>
              </a:buBlip>
              <a:defRPr/>
            </a:lvl2pPr>
            <a:lvl3pPr>
              <a:buFontTx/>
              <a:buBlip>
                <a:blip r:embed="rId2"/>
              </a:buBlip>
              <a:defRPr/>
            </a:lvl3pPr>
            <a:lvl4pPr>
              <a:buFontTx/>
              <a:buBlip>
                <a:blip r:embed="rId2"/>
              </a:buBlip>
              <a:defRPr/>
            </a:lvl4pPr>
            <a:lvl5pP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329064" y="6561138"/>
            <a:ext cx="827617" cy="2968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530A9-7067-7C48-B5BA-51C1B306EF1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0" y="981075"/>
            <a:ext cx="12192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17" y="44624"/>
            <a:ext cx="12192000" cy="914772"/>
          </a:xfrm>
        </p:spPr>
        <p:txBody>
          <a:bodyPr/>
          <a:lstStyle>
            <a:lvl1pPr>
              <a:defRPr sz="405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527386" y="188640"/>
            <a:ext cx="10536767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27386" y="1167532"/>
            <a:ext cx="11041225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8" name="直线连接符 5"/>
          <p:cNvCxnSpPr/>
          <p:nvPr userDrawn="1"/>
        </p:nvCxnSpPr>
        <p:spPr>
          <a:xfrm flipV="1">
            <a:off x="96000" y="972794"/>
            <a:ext cx="12000000" cy="793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图片 2"/>
          <p:cNvPicPr/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400" y="-105666"/>
            <a:ext cx="1256281" cy="121639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1053918"/>
            <a:ext cx="12197891" cy="583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</a:defRPr>
      </a:lvl1pPr>
      <a:lvl2pPr algn="ctr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方正大标宋简体"/>
        </a:defRPr>
      </a:lvl2pPr>
      <a:lvl3pPr algn="ctr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方正大标宋简体"/>
        </a:defRPr>
      </a:lvl3pPr>
      <a:lvl4pPr algn="ctr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方正大标宋简体"/>
        </a:defRPr>
      </a:lvl4pPr>
      <a:lvl5pPr algn="ctr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方正大标宋简体"/>
        </a:defRPr>
      </a:lvl5pPr>
      <a:lvl6pPr marL="342900" algn="l" rtl="0" fontAlgn="base">
        <a:lnSpc>
          <a:spcPct val="130000"/>
        </a:lnSpc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方正大标宋简体" pitchFamily="65" charset="-122"/>
          <a:ea typeface="方正大标宋简体" pitchFamily="65" charset="-122"/>
        </a:defRPr>
      </a:lvl6pPr>
      <a:lvl7pPr marL="685800" algn="l" rtl="0" fontAlgn="base">
        <a:lnSpc>
          <a:spcPct val="130000"/>
        </a:lnSpc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方正大标宋简体" pitchFamily="65" charset="-122"/>
          <a:ea typeface="方正大标宋简体" pitchFamily="65" charset="-122"/>
        </a:defRPr>
      </a:lvl7pPr>
      <a:lvl8pPr marL="1028700" algn="l" rtl="0" fontAlgn="base">
        <a:lnSpc>
          <a:spcPct val="130000"/>
        </a:lnSpc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方正大标宋简体" pitchFamily="65" charset="-122"/>
          <a:ea typeface="方正大标宋简体" pitchFamily="65" charset="-122"/>
        </a:defRPr>
      </a:lvl8pPr>
      <a:lvl9pPr marL="1371600" algn="l" rtl="0" fontAlgn="base">
        <a:lnSpc>
          <a:spcPct val="130000"/>
        </a:lnSpc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方正大标宋简体" pitchFamily="65" charset="-122"/>
          <a:ea typeface="方正大标宋简体" pitchFamily="65" charset="-122"/>
        </a:defRPr>
      </a:lvl9pPr>
    </p:titleStyle>
    <p:bodyStyle>
      <a:lvl1pPr marL="257175" indent="-25717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系统字体"/>
        <a:buChar char="•"/>
        <a:defRPr sz="26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Times New Roman" panose="02020603050405020304" pitchFamily="18" charset="0"/>
        </a:defRPr>
      </a:lvl1pPr>
      <a:lvl2pPr marL="556895" indent="-21399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系统字体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Times New Roman" panose="02020603050405020304" pitchFamily="18" charset="0"/>
        </a:defRPr>
      </a:lvl2pPr>
      <a:lvl3pPr marL="857250" indent="-1714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系统字体"/>
        <a:buChar char="•"/>
        <a:defRPr sz="15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50" indent="-1714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系统字体"/>
        <a:buChar char="•"/>
        <a:defRPr sz="15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50" indent="-1714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系统字体"/>
        <a:buChar char="•"/>
        <a:defRPr sz="12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20.e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19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4.bin"/><Relationship Id="rId25" Type="http://schemas.openxmlformats.org/officeDocument/2006/relationships/notesSlide" Target="../notesSlides/notesSlide7.xml"/><Relationship Id="rId24" Type="http://schemas.openxmlformats.org/officeDocument/2006/relationships/vmlDrawing" Target="../drawings/vmlDrawing2.vml"/><Relationship Id="rId23" Type="http://schemas.openxmlformats.org/officeDocument/2006/relationships/slideLayout" Target="../slideLayouts/slideLayout10.xml"/><Relationship Id="rId22" Type="http://schemas.openxmlformats.org/officeDocument/2006/relationships/image" Target="../media/image27.emf"/><Relationship Id="rId21" Type="http://schemas.openxmlformats.org/officeDocument/2006/relationships/oleObject" Target="../embeddings/oleObject13.bin"/><Relationship Id="rId20" Type="http://schemas.openxmlformats.org/officeDocument/2006/relationships/image" Target="../media/image26.wmf"/><Relationship Id="rId2" Type="http://schemas.openxmlformats.org/officeDocument/2006/relationships/image" Target="../media/image17.emf"/><Relationship Id="rId19" Type="http://schemas.openxmlformats.org/officeDocument/2006/relationships/oleObject" Target="../embeddings/oleObject12.bin"/><Relationship Id="rId18" Type="http://schemas.openxmlformats.org/officeDocument/2006/relationships/image" Target="../media/image25.e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24.e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23.e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22.e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jpeg"/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2.png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57.png"/><Relationship Id="rId4" Type="http://schemas.openxmlformats.org/officeDocument/2006/relationships/image" Target="../media/image56.emf"/><Relationship Id="rId3" Type="http://schemas.openxmlformats.org/officeDocument/2006/relationships/image" Target="../media/image55.GIF"/><Relationship Id="rId2" Type="http://schemas.openxmlformats.org/officeDocument/2006/relationships/image" Target="../media/image54.GIF"/><Relationship Id="rId1" Type="http://schemas.openxmlformats.org/officeDocument/2006/relationships/image" Target="../media/image5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9.GIF"/><Relationship Id="rId1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7.emf"/><Relationship Id="rId1" Type="http://schemas.openxmlformats.org/officeDocument/2006/relationships/image" Target="../media/image6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image" Target="../media/image78.png"/><Relationship Id="rId7" Type="http://schemas.openxmlformats.org/officeDocument/2006/relationships/tags" Target="../tags/tag9.xml"/><Relationship Id="rId6" Type="http://schemas.openxmlformats.org/officeDocument/2006/relationships/image" Target="../media/image77.png"/><Relationship Id="rId5" Type="http://schemas.openxmlformats.org/officeDocument/2006/relationships/tags" Target="../tags/tag8.xml"/><Relationship Id="rId4" Type="http://schemas.openxmlformats.org/officeDocument/2006/relationships/image" Target="../media/image76.png"/><Relationship Id="rId3" Type="http://schemas.openxmlformats.org/officeDocument/2006/relationships/tags" Target="../tags/tag7.xml"/><Relationship Id="rId2" Type="http://schemas.openxmlformats.org/officeDocument/2006/relationships/image" Target="../media/image75.png"/><Relationship Id="rId14" Type="http://schemas.openxmlformats.org/officeDocument/2006/relationships/notesSlide" Target="../notesSlides/notesSlide26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cup.edu.cn/fcg/kytd/ccgzykfgcyjs/5abe0d49b6644b4bb7880546a2e53cc3.htm" TargetMode="External"/><Relationship Id="rId2" Type="http://schemas.openxmlformats.org/officeDocument/2006/relationships/hyperlink" Target="mailto:huxiaodong@cup.edu.cn" TargetMode="External"/><Relationship Id="rId1" Type="http://schemas.openxmlformats.org/officeDocument/2006/relationships/image" Target="../media/image83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gray">
          <a:xfrm>
            <a:off x="0" y="1206655"/>
            <a:ext cx="12192000" cy="146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4800" b="1" spc="15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停泵水击波压裂诊断技术研究与矿场应用</a:t>
            </a:r>
            <a:endParaRPr lang="zh-CN" altLang="en-US" sz="4800" b="1" spc="15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gray">
          <a:xfrm>
            <a:off x="1131289" y="2938403"/>
            <a:ext cx="10121265" cy="3387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80000"/>
              </a:lnSpc>
            </a:pPr>
            <a:r>
              <a:rPr lang="zh-CN" altLang="en-US" sz="3200" b="1" spc="150" dirty="0">
                <a:latin typeface="微软雅黑" panose="020B0503020204020204" charset="-122"/>
                <a:ea typeface="微软雅黑" panose="020B0503020204020204" charset="-122"/>
              </a:rPr>
              <a:t>汇报人：胡晓东 副研究员</a:t>
            </a:r>
            <a:r>
              <a:rPr lang="en-US" altLang="zh-CN" sz="3200" b="1" spc="15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3200" b="1" spc="150" dirty="0">
                <a:latin typeface="微软雅黑" panose="020B0503020204020204" charset="-122"/>
                <a:ea typeface="微软雅黑" panose="020B0503020204020204" charset="-122"/>
              </a:rPr>
              <a:t>博导</a:t>
            </a:r>
            <a:r>
              <a:rPr lang="en-US" altLang="zh-CN" sz="3200" b="1" spc="15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3200" b="1" spc="150" dirty="0">
                <a:latin typeface="微软雅黑" panose="020B0503020204020204" charset="-122"/>
                <a:ea typeface="微软雅黑" panose="020B0503020204020204" charset="-122"/>
              </a:rPr>
              <a:t>院长助理</a:t>
            </a:r>
            <a:endParaRPr lang="en-US" altLang="zh-CN" sz="3200" b="1" spc="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80000"/>
              </a:lnSpc>
            </a:pPr>
            <a:r>
              <a:rPr lang="zh-CN" altLang="en-US" sz="3200" b="1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完成人：胡晓东、周福建、丘阳、易普康等</a:t>
            </a:r>
            <a:endParaRPr lang="en-US" altLang="zh-CN" sz="3200" b="1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80000"/>
              </a:lnSpc>
            </a:pPr>
            <a:r>
              <a:rPr lang="zh-CN" altLang="en-US" sz="3200" b="1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中国石油大学（北京）</a:t>
            </a:r>
            <a:r>
              <a:rPr lang="zh-CN" altLang="en-US" sz="3200" b="1" spc="150" dirty="0">
                <a:latin typeface="微软雅黑" panose="020B0503020204020204" charset="-122"/>
                <a:ea typeface="微软雅黑" panose="020B0503020204020204" charset="-122"/>
              </a:rPr>
              <a:t>储层改造研究中心</a:t>
            </a:r>
            <a:endParaRPr lang="en-US" altLang="zh-CN" sz="3200" b="1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80000"/>
              </a:lnSpc>
            </a:pPr>
            <a:r>
              <a:rPr lang="en-US" altLang="zh-CN" sz="3200" b="1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r>
              <a:rPr lang="zh-CN" altLang="en-US" sz="3200" b="1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3200" b="1" spc="150" dirty="0"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3200" b="1" spc="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altLang="en-US" sz="3200" b="1" spc="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99480" y="372717"/>
            <a:ext cx="6296439" cy="5641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845862" y="422417"/>
            <a:ext cx="6215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spc="150" dirty="0">
                <a:solidFill>
                  <a:schemeClr val="tx2">
                    <a:lumMod val="7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中国油气藏储层改造技术交流会</a:t>
            </a:r>
            <a:endParaRPr lang="zh-CN" altLang="en-US" sz="3200" dirty="0">
              <a:solidFill>
                <a:schemeClr val="tx2">
                  <a:lumMod val="7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Right Triangle 8"/>
          <p:cNvSpPr/>
          <p:nvPr/>
        </p:nvSpPr>
        <p:spPr>
          <a:xfrm rot="16200000">
            <a:off x="5300787" y="438214"/>
            <a:ext cx="574978" cy="422412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/>
          <p:nvPr/>
        </p:nvSpPr>
        <p:spPr bwMode="auto">
          <a:xfrm>
            <a:off x="5950" y="223940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noAutofit/>
          </a:bodyPr>
          <a:lstStyle>
            <a:lvl1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pitchFamily="49" charset="-122"/>
              </a:defRPr>
            </a:lvl1pPr>
            <a:lvl2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方正大标宋简体"/>
              </a:defRPr>
            </a:lvl2pPr>
            <a:lvl3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方正大标宋简体"/>
              </a:defRPr>
            </a:lvl3pPr>
            <a:lvl4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方正大标宋简体"/>
              </a:defRPr>
            </a:lvl4pPr>
            <a:lvl5pPr algn="ctr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  <a:cs typeface="方正大标宋简体"/>
              </a:defRPr>
            </a:lvl5pPr>
            <a:lvl6pPr marL="3429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defRPr>
            </a:lvl6pPr>
            <a:lvl7pPr marL="685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defRPr>
            </a:lvl7pPr>
            <a:lvl8pPr marL="10287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defRPr>
            </a:lvl8pPr>
            <a:lvl9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方正大标宋简体" pitchFamily="65" charset="-122"/>
                <a:ea typeface="方正大标宋简体" pitchFamily="65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汇报提纲</a:t>
            </a:r>
            <a:endParaRPr lang="zh-CN" altLang="en-US" sz="40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099997" y="1552003"/>
            <a:ext cx="5652696" cy="805967"/>
            <a:chOff x="5567104" y="1152071"/>
            <a:chExt cx="5734245" cy="715238"/>
          </a:xfrm>
        </p:grpSpPr>
        <p:sp>
          <p:nvSpPr>
            <p:cNvPr id="35" name="矩形: 对角圆角 34"/>
            <p:cNvSpPr/>
            <p:nvPr/>
          </p:nvSpPr>
          <p:spPr>
            <a:xfrm>
              <a:off x="5567104" y="1152071"/>
              <a:ext cx="5734245" cy="715238"/>
            </a:xfrm>
            <a:prstGeom prst="round2DiagRect">
              <a:avLst/>
            </a:prstGeom>
            <a:solidFill>
              <a:schemeClr val="bg1"/>
            </a:solidFill>
            <a:ln w="6350">
              <a:solidFill>
                <a:srgbClr val="0975DB">
                  <a:alpha val="40000"/>
                </a:srgb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矩形: 对角圆角 35"/>
            <p:cNvSpPr/>
            <p:nvPr/>
          </p:nvSpPr>
          <p:spPr>
            <a:xfrm>
              <a:off x="5630886" y="1152071"/>
              <a:ext cx="765175" cy="715238"/>
            </a:xfrm>
            <a:prstGeom prst="round2DiagRect">
              <a:avLst/>
            </a:prstGeom>
            <a:solidFill>
              <a:srgbClr val="0975DB">
                <a:alpha val="2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矩形: 对角圆角 36"/>
            <p:cNvSpPr/>
            <p:nvPr/>
          </p:nvSpPr>
          <p:spPr>
            <a:xfrm>
              <a:off x="5567106" y="1152071"/>
              <a:ext cx="765175" cy="715238"/>
            </a:xfrm>
            <a:prstGeom prst="round2Diag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73"/>
            <p:cNvSpPr txBox="1">
              <a:spLocks noChangeArrowheads="1"/>
            </p:cNvSpPr>
            <p:nvPr/>
          </p:nvSpPr>
          <p:spPr bwMode="auto">
            <a:xfrm>
              <a:off x="6627953" y="1281545"/>
              <a:ext cx="4353117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水击技术背景技术目标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文本框 73"/>
            <p:cNvSpPr txBox="1">
              <a:spLocks noChangeArrowheads="1"/>
            </p:cNvSpPr>
            <p:nvPr/>
          </p:nvSpPr>
          <p:spPr bwMode="auto">
            <a:xfrm>
              <a:off x="5670973" y="1242912"/>
              <a:ext cx="557439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一</a:t>
              </a:r>
              <a:endPara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099997" y="2512310"/>
            <a:ext cx="5652696" cy="805968"/>
            <a:chOff x="5567104" y="1152070"/>
            <a:chExt cx="5734245" cy="715239"/>
          </a:xfrm>
        </p:grpSpPr>
        <p:sp>
          <p:nvSpPr>
            <p:cNvPr id="41" name="矩形: 对角圆角 40"/>
            <p:cNvSpPr/>
            <p:nvPr/>
          </p:nvSpPr>
          <p:spPr>
            <a:xfrm>
              <a:off x="5567104" y="1152070"/>
              <a:ext cx="5734245" cy="715239"/>
            </a:xfrm>
            <a:prstGeom prst="round2DiagRect">
              <a:avLst/>
            </a:prstGeom>
            <a:solidFill>
              <a:schemeClr val="bg1"/>
            </a:solidFill>
            <a:ln w="6350">
              <a:solidFill>
                <a:srgbClr val="0975DB">
                  <a:alpha val="40000"/>
                </a:srgb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矩形: 对角圆角 41"/>
            <p:cNvSpPr/>
            <p:nvPr/>
          </p:nvSpPr>
          <p:spPr>
            <a:xfrm>
              <a:off x="5630886" y="1152071"/>
              <a:ext cx="765175" cy="715238"/>
            </a:xfrm>
            <a:prstGeom prst="round2DiagRect">
              <a:avLst/>
            </a:prstGeom>
            <a:solidFill>
              <a:srgbClr val="0975DB">
                <a:alpha val="2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矩形: 对角圆角 72"/>
            <p:cNvSpPr/>
            <p:nvPr/>
          </p:nvSpPr>
          <p:spPr>
            <a:xfrm>
              <a:off x="5567106" y="1152071"/>
              <a:ext cx="765175" cy="715238"/>
            </a:xfrm>
            <a:prstGeom prst="round2Diag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文本框 73"/>
            <p:cNvSpPr txBox="1">
              <a:spLocks noChangeArrowheads="1"/>
            </p:cNvSpPr>
            <p:nvPr/>
          </p:nvSpPr>
          <p:spPr bwMode="auto">
            <a:xfrm>
              <a:off x="6627952" y="1291323"/>
              <a:ext cx="4673395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水击室内实验研究进展</a:t>
              </a:r>
              <a:endParaRPr lang="zh-CN" altLang="en-US"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文本框 74"/>
            <p:cNvSpPr txBox="1">
              <a:spLocks noChangeArrowheads="1"/>
            </p:cNvSpPr>
            <p:nvPr/>
          </p:nvSpPr>
          <p:spPr bwMode="auto">
            <a:xfrm>
              <a:off x="5670973" y="1242913"/>
              <a:ext cx="557439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二</a:t>
              </a:r>
              <a:endPara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099997" y="3472618"/>
            <a:ext cx="5652696" cy="805967"/>
            <a:chOff x="5567104" y="1152071"/>
            <a:chExt cx="5734245" cy="715238"/>
          </a:xfrm>
        </p:grpSpPr>
        <p:sp>
          <p:nvSpPr>
            <p:cNvPr id="77" name="矩形: 对角圆角 76"/>
            <p:cNvSpPr/>
            <p:nvPr/>
          </p:nvSpPr>
          <p:spPr>
            <a:xfrm>
              <a:off x="5567104" y="1152071"/>
              <a:ext cx="5734245" cy="715238"/>
            </a:xfrm>
            <a:prstGeom prst="round2DiagRect">
              <a:avLst/>
            </a:prstGeom>
            <a:solidFill>
              <a:schemeClr val="bg1"/>
            </a:solidFill>
            <a:ln w="6350">
              <a:solidFill>
                <a:srgbClr val="0975DB">
                  <a:alpha val="40000"/>
                </a:srgb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矩形: 对角圆角 77"/>
            <p:cNvSpPr/>
            <p:nvPr/>
          </p:nvSpPr>
          <p:spPr>
            <a:xfrm>
              <a:off x="5630886" y="1152071"/>
              <a:ext cx="765175" cy="715238"/>
            </a:xfrm>
            <a:prstGeom prst="round2DiagRect">
              <a:avLst/>
            </a:prstGeom>
            <a:solidFill>
              <a:srgbClr val="0975DB">
                <a:alpha val="2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矩形: 对角圆角 78"/>
            <p:cNvSpPr/>
            <p:nvPr/>
          </p:nvSpPr>
          <p:spPr>
            <a:xfrm>
              <a:off x="5567106" y="1152071"/>
              <a:ext cx="765175" cy="715238"/>
            </a:xfrm>
            <a:prstGeom prst="round2Diag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文本框 73"/>
            <p:cNvSpPr txBox="1">
              <a:spLocks noChangeArrowheads="1"/>
            </p:cNvSpPr>
            <p:nvPr/>
          </p:nvSpPr>
          <p:spPr bwMode="auto">
            <a:xfrm>
              <a:off x="6627953" y="1281545"/>
              <a:ext cx="4494896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现场监测案例应用评估</a:t>
              </a:r>
              <a:endParaRPr lang="zh-CN" altLang="en-US"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文本框 80"/>
            <p:cNvSpPr txBox="1">
              <a:spLocks noChangeArrowheads="1"/>
            </p:cNvSpPr>
            <p:nvPr/>
          </p:nvSpPr>
          <p:spPr bwMode="auto">
            <a:xfrm>
              <a:off x="5670973" y="1242912"/>
              <a:ext cx="557439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三</a:t>
              </a:r>
              <a:endPara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3099997" y="4432925"/>
            <a:ext cx="5699080" cy="805967"/>
            <a:chOff x="5567104" y="1152071"/>
            <a:chExt cx="5781297" cy="715238"/>
          </a:xfrm>
        </p:grpSpPr>
        <p:sp>
          <p:nvSpPr>
            <p:cNvPr id="83" name="矩形: 对角圆角 82"/>
            <p:cNvSpPr/>
            <p:nvPr/>
          </p:nvSpPr>
          <p:spPr>
            <a:xfrm>
              <a:off x="5567104" y="1152071"/>
              <a:ext cx="5734244" cy="715238"/>
            </a:xfrm>
            <a:prstGeom prst="round2DiagRect">
              <a:avLst/>
            </a:prstGeom>
            <a:solidFill>
              <a:schemeClr val="bg1"/>
            </a:solidFill>
            <a:ln w="6350">
              <a:solidFill>
                <a:srgbClr val="0975DB">
                  <a:alpha val="40000"/>
                </a:srgb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矩形: 对角圆角 83"/>
            <p:cNvSpPr/>
            <p:nvPr/>
          </p:nvSpPr>
          <p:spPr>
            <a:xfrm>
              <a:off x="5630886" y="1152071"/>
              <a:ext cx="765175" cy="715238"/>
            </a:xfrm>
            <a:prstGeom prst="round2DiagRect">
              <a:avLst/>
            </a:prstGeom>
            <a:solidFill>
              <a:srgbClr val="0975DB">
                <a:alpha val="2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矩形: 对角圆角 84"/>
            <p:cNvSpPr/>
            <p:nvPr/>
          </p:nvSpPr>
          <p:spPr>
            <a:xfrm>
              <a:off x="5567106" y="1152071"/>
              <a:ext cx="765175" cy="715238"/>
            </a:xfrm>
            <a:prstGeom prst="round2Diag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文本框 73"/>
            <p:cNvSpPr txBox="1">
              <a:spLocks noChangeArrowheads="1"/>
            </p:cNvSpPr>
            <p:nvPr/>
          </p:nvSpPr>
          <p:spPr bwMode="auto">
            <a:xfrm>
              <a:off x="6627952" y="1291322"/>
              <a:ext cx="4720449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光纤解释算法反演分析</a:t>
              </a:r>
              <a:endParaRPr lang="zh-CN" altLang="en-US"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文本框 86"/>
            <p:cNvSpPr txBox="1">
              <a:spLocks noChangeArrowheads="1"/>
            </p:cNvSpPr>
            <p:nvPr/>
          </p:nvSpPr>
          <p:spPr bwMode="auto">
            <a:xfrm>
              <a:off x="5670973" y="1242912"/>
              <a:ext cx="557439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四</a:t>
              </a:r>
              <a:endPara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099995" y="5431319"/>
            <a:ext cx="5652696" cy="805967"/>
            <a:chOff x="5567104" y="1152071"/>
            <a:chExt cx="5734244" cy="715238"/>
          </a:xfrm>
        </p:grpSpPr>
        <p:sp>
          <p:nvSpPr>
            <p:cNvPr id="28" name="矩形: 对角圆角 32"/>
            <p:cNvSpPr/>
            <p:nvPr/>
          </p:nvSpPr>
          <p:spPr>
            <a:xfrm>
              <a:off x="5567104" y="1152071"/>
              <a:ext cx="5734244" cy="715238"/>
            </a:xfrm>
            <a:prstGeom prst="round2DiagRect">
              <a:avLst/>
            </a:prstGeom>
            <a:solidFill>
              <a:schemeClr val="bg1"/>
            </a:solidFill>
            <a:ln w="6350">
              <a:solidFill>
                <a:srgbClr val="0975DB">
                  <a:alpha val="40000"/>
                </a:srgb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矩形: 对角圆角 33"/>
            <p:cNvSpPr/>
            <p:nvPr/>
          </p:nvSpPr>
          <p:spPr>
            <a:xfrm>
              <a:off x="5630886" y="1152071"/>
              <a:ext cx="765175" cy="715238"/>
            </a:xfrm>
            <a:prstGeom prst="round2DiagRect">
              <a:avLst/>
            </a:prstGeom>
            <a:solidFill>
              <a:srgbClr val="0975DB">
                <a:alpha val="2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矩形: 对角圆角 34"/>
            <p:cNvSpPr/>
            <p:nvPr/>
          </p:nvSpPr>
          <p:spPr>
            <a:xfrm>
              <a:off x="5567106" y="1152071"/>
              <a:ext cx="765175" cy="715238"/>
            </a:xfrm>
            <a:prstGeom prst="round2Diag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73"/>
            <p:cNvSpPr txBox="1">
              <a:spLocks noChangeArrowheads="1"/>
            </p:cNvSpPr>
            <p:nvPr/>
          </p:nvSpPr>
          <p:spPr bwMode="auto">
            <a:xfrm>
              <a:off x="6627952" y="1281545"/>
              <a:ext cx="4494897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b="1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结论与展望</a:t>
              </a:r>
              <a:endParaRPr lang="zh-CN" altLang="en-US" sz="32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6"/>
            <p:cNvSpPr txBox="1">
              <a:spLocks noChangeArrowheads="1"/>
            </p:cNvSpPr>
            <p:nvPr/>
          </p:nvSpPr>
          <p:spPr bwMode="auto">
            <a:xfrm>
              <a:off x="5670973" y="1242912"/>
              <a:ext cx="557439" cy="518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五</a:t>
              </a:r>
              <a:endPara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5709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DAS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信号接收及响应方式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7" t="15959" r="1607"/>
          <a:stretch>
            <a:fillRect/>
          </a:stretch>
        </p:blipFill>
        <p:spPr bwMode="auto">
          <a:xfrm>
            <a:off x="4829432" y="1686551"/>
            <a:ext cx="7195990" cy="498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39" y="1919583"/>
            <a:ext cx="4207394" cy="2258235"/>
          </a:xfrm>
          <a:prstGeom prst="rect">
            <a:avLst/>
          </a:prstGeom>
        </p:spPr>
      </p:pic>
      <p:pic>
        <p:nvPicPr>
          <p:cNvPr id="12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10" y="4263656"/>
            <a:ext cx="4627302" cy="2223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5709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DAS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信号应用范围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46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套变监测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：实时监测到压裂过程中井筒套变情况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储层破裂深度确定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：识别沿井筒各深度是否破裂及压裂液进入情况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进液量定量解释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高频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：定量解释进液层段每个射孔的流速、 进液量和砂量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邻井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DAS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应变监测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低频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：评价裂缝驱动的井间干扰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919" y="3197606"/>
            <a:ext cx="6311417" cy="3006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77" y="3375914"/>
            <a:ext cx="5119576" cy="2743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9"/>
          <p:cNvSpPr txBox="1">
            <a:spLocks noChangeArrowheads="1"/>
          </p:cNvSpPr>
          <p:nvPr/>
        </p:nvSpPr>
        <p:spPr bwMode="auto">
          <a:xfrm>
            <a:off x="1346259" y="6260357"/>
            <a:ext cx="41925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进液量定量解释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(200~7000Hz)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sp>
        <p:nvSpPr>
          <p:cNvPr id="8" name="文本框 10"/>
          <p:cNvSpPr txBox="1">
            <a:spLocks noChangeArrowheads="1"/>
          </p:cNvSpPr>
          <p:nvPr/>
        </p:nvSpPr>
        <p:spPr bwMode="auto">
          <a:xfrm>
            <a:off x="8135053" y="6186071"/>
            <a:ext cx="33898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应变监测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(&lt;0.05Hz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1Hz)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5709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DAS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信号应用范围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6"/>
          <p:cNvPicPr>
            <a:picLocks noChangeAspect="1"/>
          </p:cNvPicPr>
          <p:nvPr/>
        </p:nvPicPr>
        <p:blipFill rotWithShape="1">
          <a:blip r:embed="rId1"/>
          <a:srcRect l="15323" b="56647"/>
          <a:stretch>
            <a:fillRect/>
          </a:stretch>
        </p:blipFill>
        <p:spPr>
          <a:xfrm>
            <a:off x="376045" y="1795484"/>
            <a:ext cx="11580265" cy="9914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470" y="2630217"/>
            <a:ext cx="2795236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模型一：如何得到</a:t>
            </a:r>
            <a:endParaRPr lang="zh-CN" alt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58834" y="1864913"/>
            <a:ext cx="2296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光纤原始信号</a:t>
            </a:r>
            <a:endParaRPr lang="zh-CN" altLang="en-US" sz="2400" dirty="0"/>
          </a:p>
        </p:txBody>
      </p:sp>
      <p:pic>
        <p:nvPicPr>
          <p:cNvPr id="11" name="图片 4"/>
          <p:cNvPicPr>
            <a:picLocks noChangeAspect="1"/>
          </p:cNvPicPr>
          <p:nvPr/>
        </p:nvPicPr>
        <p:blipFill rotWithShape="1">
          <a:blip r:embed="rId2"/>
          <a:srcRect t="1960" b="6789"/>
          <a:stretch>
            <a:fillRect/>
          </a:stretch>
        </p:blipFill>
        <p:spPr>
          <a:xfrm>
            <a:off x="418576" y="3029569"/>
            <a:ext cx="11580265" cy="3586354"/>
          </a:xfrm>
          <a:prstGeom prst="rect">
            <a:avLst/>
          </a:prstGeom>
        </p:spPr>
      </p:pic>
      <p:sp>
        <p:nvSpPr>
          <p:cNvPr id="14" name="Arrow: Curved Right 13"/>
          <p:cNvSpPr/>
          <p:nvPr/>
        </p:nvSpPr>
        <p:spPr>
          <a:xfrm>
            <a:off x="166576" y="2476887"/>
            <a:ext cx="698809" cy="1377332"/>
          </a:xfrm>
          <a:prstGeom prst="curvedRight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1134" y="3507156"/>
            <a:ext cx="2296087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光纤解释结果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92302" y="2766575"/>
            <a:ext cx="2895066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模型二：怎么解释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5709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DAS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信号应用范围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60000" y="3810637"/>
            <a:ext cx="9072000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解释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：哪簇裂缝进液，直接观测剖面图，优化暂堵，分簇工艺等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0316" y="4499710"/>
            <a:ext cx="9072000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解释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：能否基于进液剖面，判断各个裂缝簇的进液比例？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0316" y="5836286"/>
            <a:ext cx="9072000" cy="145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解释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：能否基于进液剖面，反演计算裂缝的尺寸规模，裂缝轨迹？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0316" y="5124118"/>
            <a:ext cx="9072000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解释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：为什么刚开始进液的时候，整体强度都高，最后都弱？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99685" y="4767068"/>
            <a:ext cx="8888317" cy="18299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4"/>
          <p:cNvPicPr>
            <a:picLocks noChangeAspect="1"/>
          </p:cNvPicPr>
          <p:nvPr/>
        </p:nvPicPr>
        <p:blipFill rotWithShape="1">
          <a:blip r:embed="rId1"/>
          <a:srcRect t="1960" b="6789"/>
          <a:stretch>
            <a:fillRect/>
          </a:stretch>
        </p:blipFill>
        <p:spPr>
          <a:xfrm>
            <a:off x="377456" y="1659404"/>
            <a:ext cx="11499111" cy="24866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992000" y="1773000"/>
            <a:ext cx="3456000" cy="1427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5709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光纤信号进液解释模型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4"/>
          <p:cNvSpPr txBox="1"/>
          <p:nvPr/>
        </p:nvSpPr>
        <p:spPr>
          <a:xfrm>
            <a:off x="281665" y="1553965"/>
            <a:ext cx="8712000" cy="263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读取原始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数据，将数据重组为二维；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将数据作中值滤波，去除脉冲噪声；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去除数据中的直线漂移；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对滤波后的数据进行傅里叶变换，然后平方确定指定频段的功率谱密度；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功率谱密度求和计算频域能量，最后数据重组确定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能量分布。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image1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0867" y="4603125"/>
            <a:ext cx="5040000" cy="1784215"/>
          </a:xfrm>
          <a:prstGeom prst="rect">
            <a:avLst/>
          </a:prstGeom>
        </p:spPr>
      </p:pic>
      <p:pic>
        <p:nvPicPr>
          <p:cNvPr id="10" name="图片 7"/>
          <p:cNvPicPr>
            <a:picLocks noChangeAspect="1"/>
          </p:cNvPicPr>
          <p:nvPr/>
        </p:nvPicPr>
        <p:blipFill rotWithShape="1">
          <a:blip r:embed="rId2"/>
          <a:srcRect l="17185" t="5931" r="15176" b="29802"/>
          <a:stretch>
            <a:fillRect/>
          </a:stretch>
        </p:blipFill>
        <p:spPr>
          <a:xfrm>
            <a:off x="5291148" y="4396648"/>
            <a:ext cx="3024000" cy="1990691"/>
          </a:xfrm>
          <a:prstGeom prst="rect">
            <a:avLst/>
          </a:prstGeom>
        </p:spPr>
      </p:pic>
      <p:sp>
        <p:nvSpPr>
          <p:cNvPr id="11" name="文本框 9"/>
          <p:cNvSpPr txBox="1"/>
          <p:nvPr/>
        </p:nvSpPr>
        <p:spPr>
          <a:xfrm>
            <a:off x="2750094" y="6130284"/>
            <a:ext cx="2279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能量分布瀑布图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3" name="上弧形箭头 1"/>
          <p:cNvSpPr/>
          <p:nvPr/>
        </p:nvSpPr>
        <p:spPr>
          <a:xfrm>
            <a:off x="2803256" y="4396648"/>
            <a:ext cx="1296000" cy="325291"/>
          </a:xfrm>
          <a:prstGeom prst="curved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"/>
          <p:cNvSpPr/>
          <p:nvPr/>
        </p:nvSpPr>
        <p:spPr>
          <a:xfrm>
            <a:off x="8927499" y="2654412"/>
            <a:ext cx="2976614" cy="2125582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光纤数据处理的本质：将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振幅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混叠的一维数据，通过时频分析算法进行数据重新排序，组合成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深度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能量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数据的过程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5709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光纤信号尺寸反演模型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14"/>
          <p:cNvSpPr txBox="1"/>
          <p:nvPr/>
        </p:nvSpPr>
        <p:spPr>
          <a:xfrm>
            <a:off x="791123" y="2121630"/>
            <a:ext cx="4896000" cy="419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读取原始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数据（差分相位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相位转换）；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沿时间轴缩放数据；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将相位转换为应变；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高通滤波等方式消除直线漂移；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DDM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理论的裂缝反演模型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对象 15"/>
          <p:cNvGraphicFramePr>
            <a:graphicFrameLocks noChangeAspect="1"/>
          </p:cNvGraphicFramePr>
          <p:nvPr/>
        </p:nvGraphicFramePr>
        <p:xfrm>
          <a:off x="2348566" y="2657437"/>
          <a:ext cx="25701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1" imgW="2106295" imgH="431165" progId="Equation.DSMT4">
                  <p:embed/>
                </p:oleObj>
              </mc:Choice>
              <mc:Fallback>
                <p:oleObj name="Equation" r:id="rId1" imgW="2106295" imgH="431165" progId="Equation.DSMT4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48566" y="2657437"/>
                        <a:ext cx="2570163" cy="52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17"/>
          <p:cNvGraphicFramePr>
            <a:graphicFrameLocks noChangeAspect="1"/>
          </p:cNvGraphicFramePr>
          <p:nvPr/>
        </p:nvGraphicFramePr>
        <p:xfrm>
          <a:off x="2529597" y="4293961"/>
          <a:ext cx="2208098" cy="539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2909570" imgH="713105" progId="Equation.DSMT4">
                  <p:embed/>
                </p:oleObj>
              </mc:Choice>
              <mc:Fallback>
                <p:oleObj name="Equation" r:id="rId3" imgW="2909570" imgH="713105" progId="Equation.DSMT4">
                  <p:embed/>
                  <p:pic>
                    <p:nvPicPr>
                      <p:cNvPr id="0" name="对象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29597" y="4293961"/>
                        <a:ext cx="2208098" cy="539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2.jpe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60832" y="1666696"/>
            <a:ext cx="5270331" cy="2469369"/>
          </a:xfrm>
          <a:prstGeom prst="rect">
            <a:avLst/>
          </a:prstGeom>
        </p:spPr>
      </p:pic>
      <p:pic>
        <p:nvPicPr>
          <p:cNvPr id="12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705" y="4220827"/>
            <a:ext cx="5190587" cy="2488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57090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光纤信号尺寸反演模型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1"/>
          <p:cNvSpPr txBox="1"/>
          <p:nvPr/>
        </p:nvSpPr>
        <p:spPr>
          <a:xfrm>
            <a:off x="452987" y="5872742"/>
            <a:ext cx="37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井筒、裂缝和光纤相对位置及网格划分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对象 6"/>
          <p:cNvGraphicFramePr>
            <a:graphicFrameLocks noChangeAspect="1"/>
          </p:cNvGraphicFramePr>
          <p:nvPr/>
        </p:nvGraphicFramePr>
        <p:xfrm>
          <a:off x="353730" y="1796898"/>
          <a:ext cx="3942514" cy="4845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Visio" r:id="rId1" imgW="5019675" imgH="6167120" progId="Visio.Drawing.15">
                  <p:embed/>
                </p:oleObj>
              </mc:Choice>
              <mc:Fallback>
                <p:oleObj name="Visio" r:id="rId1" imgW="5019675" imgH="6167120" progId="Visio.Drawing.15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730" y="1796898"/>
                        <a:ext cx="3942514" cy="48450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55" name="Group 9254"/>
          <p:cNvGrpSpPr/>
          <p:nvPr/>
        </p:nvGrpSpPr>
        <p:grpSpPr>
          <a:xfrm>
            <a:off x="4253023" y="1568302"/>
            <a:ext cx="7675452" cy="4778077"/>
            <a:chOff x="1573938" y="2324078"/>
            <a:chExt cx="9095548" cy="4253947"/>
          </a:xfrm>
        </p:grpSpPr>
        <p:graphicFrame>
          <p:nvGraphicFramePr>
            <p:cNvPr id="9256" name="对象 3"/>
            <p:cNvGraphicFramePr>
              <a:graphicFrameLocks noChangeAspect="1"/>
            </p:cNvGraphicFramePr>
            <p:nvPr/>
          </p:nvGraphicFramePr>
          <p:xfrm>
            <a:off x="7104000" y="4156974"/>
            <a:ext cx="11303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" name="Equation" r:id="rId3" imgW="848995" imgH="458470" progId="Equation.DSMT4">
                    <p:embed/>
                  </p:oleObj>
                </mc:Choice>
                <mc:Fallback>
                  <p:oleObj name="Equation" r:id="rId3" imgW="848995" imgH="458470" progId="Equation.DSMT4">
                    <p:embed/>
                    <p:pic>
                      <p:nvPicPr>
                        <p:cNvPr id="0" name="对象 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04000" y="4156974"/>
                          <a:ext cx="11303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7" name="对象 4"/>
            <p:cNvGraphicFramePr>
              <a:graphicFrameLocks noChangeAspect="1"/>
            </p:cNvGraphicFramePr>
            <p:nvPr/>
          </p:nvGraphicFramePr>
          <p:xfrm>
            <a:off x="1652738" y="3787696"/>
            <a:ext cx="2200275" cy="1190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" name="Equation" r:id="rId5" imgW="2202180" imgH="1191895" progId="Equation.DSMT4">
                    <p:embed/>
                  </p:oleObj>
                </mc:Choice>
                <mc:Fallback>
                  <p:oleObj name="Equation" r:id="rId5" imgW="2202180" imgH="1191895" progId="Equation.DSMT4">
                    <p:embed/>
                    <p:pic>
                      <p:nvPicPr>
                        <p:cNvPr id="0" name="对象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52738" y="3787696"/>
                          <a:ext cx="2200275" cy="11906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8" name="对象 9"/>
            <p:cNvGraphicFramePr>
              <a:graphicFrameLocks noChangeAspect="1"/>
            </p:cNvGraphicFramePr>
            <p:nvPr/>
          </p:nvGraphicFramePr>
          <p:xfrm>
            <a:off x="3931812" y="3842041"/>
            <a:ext cx="2952750" cy="1257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4" name="Equation" r:id="rId7" imgW="2953385" imgH="1258570" progId="Equation.DSMT4">
                    <p:embed/>
                  </p:oleObj>
                </mc:Choice>
                <mc:Fallback>
                  <p:oleObj name="Equation" r:id="rId7" imgW="2953385" imgH="1258570" progId="Equation.DSMT4">
                    <p:embed/>
                    <p:pic>
                      <p:nvPicPr>
                        <p:cNvPr id="0" name="对象 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31812" y="3842041"/>
                          <a:ext cx="2952750" cy="1257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9" name="对象 10"/>
            <p:cNvGraphicFramePr>
              <a:graphicFrameLocks noChangeAspect="1"/>
            </p:cNvGraphicFramePr>
            <p:nvPr/>
          </p:nvGraphicFramePr>
          <p:xfrm>
            <a:off x="5684215" y="5384224"/>
            <a:ext cx="914400" cy="119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" name="Equation" r:id="rId9" imgW="21945600" imgH="28651200" progId="Equation.DSMT4">
                    <p:embed/>
                  </p:oleObj>
                </mc:Choice>
                <mc:Fallback>
                  <p:oleObj name="Equation" r:id="rId9" imgW="21945600" imgH="28651200" progId="Equation.DSMT4">
                    <p:embed/>
                    <p:pic>
                      <p:nvPicPr>
                        <p:cNvPr id="0" name="对象 1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684215" y="5384224"/>
                          <a:ext cx="914400" cy="1193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0" name="对象 12"/>
            <p:cNvGraphicFramePr>
              <a:graphicFrameLocks noChangeAspect="1"/>
            </p:cNvGraphicFramePr>
            <p:nvPr/>
          </p:nvGraphicFramePr>
          <p:xfrm>
            <a:off x="2398712" y="2562721"/>
            <a:ext cx="4010025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6" name="Equation" r:id="rId11" imgW="4011295" imgH="610870" progId="Equation.DSMT4">
                    <p:embed/>
                  </p:oleObj>
                </mc:Choice>
                <mc:Fallback>
                  <p:oleObj name="Equation" r:id="rId11" imgW="4011295" imgH="610870" progId="Equation.DSMT4">
                    <p:embed/>
                    <p:pic>
                      <p:nvPicPr>
                        <p:cNvPr id="0" name="对象 1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98712" y="2562721"/>
                          <a:ext cx="4010025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1" name="对象 13"/>
            <p:cNvGraphicFramePr>
              <a:graphicFrameLocks noChangeAspect="1"/>
            </p:cNvGraphicFramePr>
            <p:nvPr/>
          </p:nvGraphicFramePr>
          <p:xfrm>
            <a:off x="6968851" y="2366277"/>
            <a:ext cx="2914650" cy="1038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7" name="Equation" r:id="rId13" imgW="2915285" imgH="1039495" progId="Equation.DSMT4">
                    <p:embed/>
                  </p:oleObj>
                </mc:Choice>
                <mc:Fallback>
                  <p:oleObj name="Equation" r:id="rId13" imgW="2915285" imgH="1039495" progId="Equation.DSMT4">
                    <p:embed/>
                    <p:pic>
                      <p:nvPicPr>
                        <p:cNvPr id="0" name="对象 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968851" y="2366277"/>
                          <a:ext cx="2914650" cy="1038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2" name="对象 14"/>
            <p:cNvGraphicFramePr>
              <a:graphicFrameLocks noChangeAspect="1"/>
            </p:cNvGraphicFramePr>
            <p:nvPr/>
          </p:nvGraphicFramePr>
          <p:xfrm>
            <a:off x="7535961" y="5569642"/>
            <a:ext cx="2342282" cy="411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name="Equation" r:id="rId15" imgW="1410970" imgH="250190" progId="Equation.DSMT4">
                    <p:embed/>
                  </p:oleObj>
                </mc:Choice>
                <mc:Fallback>
                  <p:oleObj name="Equation" r:id="rId15" imgW="1410970" imgH="250190" progId="Equation.DSMT4">
                    <p:embed/>
                    <p:pic>
                      <p:nvPicPr>
                        <p:cNvPr id="0" name="对象 1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535961" y="5569642"/>
                          <a:ext cx="2342282" cy="41148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3" name="对象 15"/>
            <p:cNvGraphicFramePr>
              <a:graphicFrameLocks noChangeAspect="1"/>
            </p:cNvGraphicFramePr>
            <p:nvPr/>
          </p:nvGraphicFramePr>
          <p:xfrm>
            <a:off x="3086811" y="5857992"/>
            <a:ext cx="1171575" cy="257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name="Equation" r:id="rId17" imgW="1173480" imgH="259080" progId="Equation.DSMT4">
                    <p:embed/>
                  </p:oleObj>
                </mc:Choice>
                <mc:Fallback>
                  <p:oleObj name="Equation" r:id="rId17" imgW="1173480" imgH="259080" progId="Equation.DSMT4">
                    <p:embed/>
                    <p:pic>
                      <p:nvPicPr>
                        <p:cNvPr id="0" name="对象 1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86811" y="5857992"/>
                          <a:ext cx="1171575" cy="257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4" name="对象 16"/>
            <p:cNvGraphicFramePr>
              <a:graphicFrameLocks noChangeAspect="1"/>
            </p:cNvGraphicFramePr>
            <p:nvPr/>
          </p:nvGraphicFramePr>
          <p:xfrm>
            <a:off x="4554241" y="5383271"/>
            <a:ext cx="723900" cy="1168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" name="Equation" r:id="rId19" imgW="17373600" imgH="28041600" progId="Equation.DSMT4">
                    <p:embed/>
                  </p:oleObj>
                </mc:Choice>
                <mc:Fallback>
                  <p:oleObj name="Equation" r:id="rId19" imgW="17373600" imgH="28041600" progId="Equation.DSMT4">
                    <p:embed/>
                    <p:pic>
                      <p:nvPicPr>
                        <p:cNvPr id="0" name="对象 1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54241" y="5383271"/>
                          <a:ext cx="723900" cy="1168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5" name="文本框 19"/>
            <p:cNvSpPr txBox="1"/>
            <p:nvPr/>
          </p:nvSpPr>
          <p:spPr>
            <a:xfrm>
              <a:off x="2415788" y="3193972"/>
              <a:ext cx="894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格林函数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9266" name="文本框 20"/>
            <p:cNvSpPr txBox="1"/>
            <p:nvPr/>
          </p:nvSpPr>
          <p:spPr>
            <a:xfrm>
              <a:off x="3996425" y="4917965"/>
              <a:ext cx="14911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对称翼约束条件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9267" name="文本框 21"/>
            <p:cNvSpPr txBox="1"/>
            <p:nvPr/>
          </p:nvSpPr>
          <p:spPr>
            <a:xfrm>
              <a:off x="8986142" y="5856373"/>
              <a:ext cx="894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应变函数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9268" name="矩形 22"/>
            <p:cNvSpPr/>
            <p:nvPr/>
          </p:nvSpPr>
          <p:spPr>
            <a:xfrm>
              <a:off x="7177637" y="4128102"/>
              <a:ext cx="269712" cy="277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69" name="矩形 23"/>
            <p:cNvSpPr/>
            <p:nvPr/>
          </p:nvSpPr>
          <p:spPr>
            <a:xfrm>
              <a:off x="7183824" y="4457601"/>
              <a:ext cx="269712" cy="277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70" name="矩形 24"/>
            <p:cNvSpPr/>
            <p:nvPr/>
          </p:nvSpPr>
          <p:spPr>
            <a:xfrm>
              <a:off x="7533036" y="5614946"/>
              <a:ext cx="269712" cy="277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71" name="矩形 25"/>
            <p:cNvSpPr/>
            <p:nvPr/>
          </p:nvSpPr>
          <p:spPr>
            <a:xfrm>
              <a:off x="8271683" y="5614946"/>
              <a:ext cx="269712" cy="277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72" name="矩形 26"/>
            <p:cNvSpPr/>
            <p:nvPr/>
          </p:nvSpPr>
          <p:spPr>
            <a:xfrm>
              <a:off x="8572246" y="5614946"/>
              <a:ext cx="269712" cy="277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73" name="直接连接符 29"/>
            <p:cNvCxnSpPr>
              <a:stCxn id="9259" idx="2"/>
              <a:endCxn id="9270" idx="2"/>
            </p:cNvCxnSpPr>
            <p:nvPr/>
          </p:nvCxnSpPr>
          <p:spPr>
            <a:xfrm rot="5400000" flipH="1" flipV="1">
              <a:off x="6561831" y="5471964"/>
              <a:ext cx="685644" cy="1526477"/>
            </a:xfrm>
            <a:prstGeom prst="bentConnector3">
              <a:avLst>
                <a:gd name="adj1" fmla="val -13687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4" name="直接连接符 29"/>
            <p:cNvCxnSpPr>
              <a:stCxn id="9257" idx="0"/>
              <a:endCxn id="9268" idx="0"/>
            </p:cNvCxnSpPr>
            <p:nvPr/>
          </p:nvCxnSpPr>
          <p:spPr>
            <a:xfrm rot="16200000" flipH="1">
              <a:off x="4862480" y="1678090"/>
              <a:ext cx="340406" cy="4559619"/>
            </a:xfrm>
            <a:prstGeom prst="bentConnector3">
              <a:avLst>
                <a:gd name="adj1" fmla="val -67155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5" name="直接连接符 29"/>
            <p:cNvCxnSpPr>
              <a:stCxn id="9258" idx="2"/>
              <a:endCxn id="9269" idx="2"/>
            </p:cNvCxnSpPr>
            <p:nvPr/>
          </p:nvCxnSpPr>
          <p:spPr>
            <a:xfrm rot="5400000" flipH="1" flipV="1">
              <a:off x="6181280" y="3961942"/>
              <a:ext cx="364306" cy="1910493"/>
            </a:xfrm>
            <a:prstGeom prst="bentConnector3">
              <a:avLst>
                <a:gd name="adj1" fmla="val -62749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76" name="箭头: 下 17"/>
            <p:cNvSpPr/>
            <p:nvPr/>
          </p:nvSpPr>
          <p:spPr>
            <a:xfrm>
              <a:off x="8256000" y="4869000"/>
              <a:ext cx="396798" cy="532588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77" name="矩形: 圆角 71"/>
            <p:cNvSpPr/>
            <p:nvPr/>
          </p:nvSpPr>
          <p:spPr>
            <a:xfrm>
              <a:off x="2305376" y="2324078"/>
              <a:ext cx="7678625" cy="115168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78" name="箭头: 下 72"/>
            <p:cNvSpPr/>
            <p:nvPr/>
          </p:nvSpPr>
          <p:spPr>
            <a:xfrm rot="5400000">
              <a:off x="6462516" y="2701524"/>
              <a:ext cx="396798" cy="447294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9279" name="对象 75"/>
            <p:cNvGraphicFramePr>
              <a:graphicFrameLocks noChangeAspect="1"/>
            </p:cNvGraphicFramePr>
            <p:nvPr/>
          </p:nvGraphicFramePr>
          <p:xfrm>
            <a:off x="8431754" y="4278830"/>
            <a:ext cx="2200246" cy="357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1" name="Equation" r:id="rId21" imgW="1525270" imgH="250190" progId="Equation.DSMT4">
                    <p:embed/>
                  </p:oleObj>
                </mc:Choice>
                <mc:Fallback>
                  <p:oleObj name="Equation" r:id="rId21" imgW="1525270" imgH="250190" progId="Equation.DSMT4">
                    <p:embed/>
                    <p:pic>
                      <p:nvPicPr>
                        <p:cNvPr id="0" name="对象 7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431754" y="4278830"/>
                          <a:ext cx="2200246" cy="3575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280" name="直接连接符 29"/>
            <p:cNvCxnSpPr>
              <a:stCxn id="9264" idx="2"/>
              <a:endCxn id="9271" idx="2"/>
            </p:cNvCxnSpPr>
            <p:nvPr/>
          </p:nvCxnSpPr>
          <p:spPr>
            <a:xfrm rot="5400000" flipH="1" flipV="1">
              <a:off x="6331720" y="4476852"/>
              <a:ext cx="659291" cy="3490348"/>
            </a:xfrm>
            <a:prstGeom prst="bentConnector3">
              <a:avLst>
                <a:gd name="adj1" fmla="val -27374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1" name="直接连接符 29"/>
            <p:cNvCxnSpPr>
              <a:stCxn id="9263" idx="2"/>
              <a:endCxn id="9262" idx="2"/>
            </p:cNvCxnSpPr>
            <p:nvPr/>
          </p:nvCxnSpPr>
          <p:spPr>
            <a:xfrm rot="5400000" flipH="1" flipV="1">
              <a:off x="6122828" y="3530893"/>
              <a:ext cx="134042" cy="5034505"/>
            </a:xfrm>
            <a:prstGeom prst="bentConnector3">
              <a:avLst>
                <a:gd name="adj1" fmla="val -508042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82" name="文本框 88"/>
            <p:cNvSpPr txBox="1"/>
            <p:nvPr/>
          </p:nvSpPr>
          <p:spPr>
            <a:xfrm>
              <a:off x="1573938" y="4917188"/>
              <a:ext cx="125880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格林函数矩阵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9283" name="文本框 89"/>
            <p:cNvSpPr txBox="1"/>
            <p:nvPr/>
          </p:nvSpPr>
          <p:spPr>
            <a:xfrm>
              <a:off x="7273507" y="4710442"/>
              <a:ext cx="8949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缝宽函数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9284" name="文本框 90"/>
            <p:cNvSpPr txBox="1"/>
            <p:nvPr/>
          </p:nvSpPr>
          <p:spPr>
            <a:xfrm>
              <a:off x="9338774" y="4583111"/>
              <a:ext cx="13307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坐标变换函数</a:t>
              </a:r>
              <a:endParaRPr lang="zh-CN" altLang="en-US" sz="1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5" y="1143476"/>
            <a:ext cx="99726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相关成果发表于石油工程顶刊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SPE Journal,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并申请了专利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968" y="1585913"/>
            <a:ext cx="4159250" cy="527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219" y="3684588"/>
            <a:ext cx="3722687" cy="299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03"/>
          <a:stretch>
            <a:fillRect/>
          </a:stretch>
        </p:blipFill>
        <p:spPr bwMode="auto">
          <a:xfrm>
            <a:off x="6653694" y="1801812"/>
            <a:ext cx="3462337" cy="173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5" y="1143476"/>
            <a:ext cx="99726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基于上述研究成果，分析集成了光纤数据处理解释软件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6" y="4308475"/>
            <a:ext cx="2824163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844676"/>
            <a:ext cx="290195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1844675"/>
            <a:ext cx="292735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14"/>
          <p:cNvSpPr txBox="1">
            <a:spLocks noChangeArrowheads="1"/>
          </p:cNvSpPr>
          <p:nvPr/>
        </p:nvSpPr>
        <p:spPr bwMode="auto">
          <a:xfrm>
            <a:off x="4708526" y="1924051"/>
            <a:ext cx="29257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高频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频带提取、流量分配分析</a:t>
            </a:r>
            <a:endParaRPr lang="zh-CN" altLang="en-US" sz="1400">
              <a:solidFill>
                <a:srgbClr val="0000FF"/>
              </a:solidFill>
            </a:endParaRPr>
          </a:p>
        </p:txBody>
      </p:sp>
      <p:sp>
        <p:nvSpPr>
          <p:cNvPr id="10" name="文本框 15"/>
          <p:cNvSpPr txBox="1">
            <a:spLocks noChangeArrowheads="1"/>
          </p:cNvSpPr>
          <p:nvPr/>
        </p:nvSpPr>
        <p:spPr bwMode="auto">
          <a:xfrm>
            <a:off x="1762125" y="1838326"/>
            <a:ext cx="2160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低频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相位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应变转换</a:t>
            </a:r>
            <a:endParaRPr lang="zh-CN" altLang="en-US" sz="1400">
              <a:solidFill>
                <a:srgbClr val="0000FF"/>
              </a:solidFill>
            </a:endParaRPr>
          </a:p>
        </p:txBody>
      </p:sp>
      <p:sp>
        <p:nvSpPr>
          <p:cNvPr id="11" name="文本框 16"/>
          <p:cNvSpPr txBox="1">
            <a:spLocks noChangeArrowheads="1"/>
          </p:cNvSpPr>
          <p:nvPr/>
        </p:nvSpPr>
        <p:spPr bwMode="auto">
          <a:xfrm>
            <a:off x="1703388" y="4195764"/>
            <a:ext cx="2635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数据滤波、去噪、降采样</a:t>
            </a:r>
            <a:endParaRPr lang="zh-CN" altLang="en-US" sz="1400">
              <a:solidFill>
                <a:srgbClr val="0000FF"/>
              </a:solidFill>
            </a:endParaRPr>
          </a:p>
        </p:txBody>
      </p:sp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75" y="4308476"/>
            <a:ext cx="28130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5576889" y="4681539"/>
            <a:ext cx="1711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低频</a:t>
            </a:r>
            <a:r>
              <a:rPr lang="en-US" altLang="zh-CN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DAS</a:t>
            </a:r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数据导入</a:t>
            </a:r>
            <a:endParaRPr lang="zh-CN" altLang="en-US" sz="1400">
              <a:solidFill>
                <a:srgbClr val="0000FF"/>
              </a:solidFill>
            </a:endParaRPr>
          </a:p>
        </p:txBody>
      </p:sp>
      <p:pic>
        <p:nvPicPr>
          <p:cNvPr id="14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1835150"/>
            <a:ext cx="2913062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489" y="4292600"/>
            <a:ext cx="29051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7843839" y="4373564"/>
            <a:ext cx="2598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光纤尺寸反演、应变拟合参数</a:t>
            </a:r>
            <a:endParaRPr lang="zh-CN" altLang="en-US" sz="1400">
              <a:solidFill>
                <a:srgbClr val="0000FF"/>
              </a:solidFill>
            </a:endParaRPr>
          </a:p>
        </p:txBody>
      </p:sp>
      <p:sp>
        <p:nvSpPr>
          <p:cNvPr id="17" name="文本框 13"/>
          <p:cNvSpPr txBox="1">
            <a:spLocks noChangeArrowheads="1"/>
          </p:cNvSpPr>
          <p:nvPr/>
        </p:nvSpPr>
        <p:spPr bwMode="auto">
          <a:xfrm>
            <a:off x="7681914" y="1924051"/>
            <a:ext cx="2922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尺寸批量反演，裂缝扩展过程回放</a:t>
            </a:r>
            <a:endParaRPr lang="zh-CN" altLang="en-US" sz="1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5" y="1143476"/>
            <a:ext cx="99726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购置了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DAS/DTS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监测设备，搭建了室内长管路实验系统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14"/>
          <p:cNvSpPr txBox="1"/>
          <p:nvPr/>
        </p:nvSpPr>
        <p:spPr>
          <a:xfrm>
            <a:off x="5054161" y="1647438"/>
            <a:ext cx="1659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仪器设备技术参数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96" y="1902182"/>
            <a:ext cx="3113188" cy="2266468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96" y="4218871"/>
            <a:ext cx="3201744" cy="2400368"/>
          </a:xfrm>
          <a:prstGeom prst="rect">
            <a:avLst/>
          </a:prstGeom>
        </p:spPr>
      </p:pic>
      <p:pic>
        <p:nvPicPr>
          <p:cNvPr id="1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162" y="1919583"/>
            <a:ext cx="3882489" cy="4750440"/>
          </a:xfrm>
          <a:prstGeom prst="rect">
            <a:avLst/>
          </a:prstGeom>
        </p:spPr>
      </p:pic>
      <p:sp>
        <p:nvSpPr>
          <p:cNvPr id="19" name="文本框 14"/>
          <p:cNvSpPr txBox="1"/>
          <p:nvPr/>
        </p:nvSpPr>
        <p:spPr>
          <a:xfrm>
            <a:off x="9506213" y="1639251"/>
            <a:ext cx="1659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仪器设备技术参数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554" y="1902183"/>
            <a:ext cx="4140737" cy="4766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5" y="1143476"/>
            <a:ext cx="99726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购置了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DAS/DTS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监测设备，搭建了室内长管路实验系统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495238" y="1907339"/>
            <a:ext cx="11433237" cy="3695230"/>
            <a:chOff x="609600" y="3118977"/>
            <a:chExt cx="7799172" cy="3415014"/>
          </a:xfrm>
        </p:grpSpPr>
        <p:pic>
          <p:nvPicPr>
            <p:cNvPr id="7" name="图片 8"/>
            <p:cNvPicPr>
              <a:picLocks noChangeAspect="1"/>
            </p:cNvPicPr>
            <p:nvPr/>
          </p:nvPicPr>
          <p:blipFill rotWithShape="1">
            <a:blip r:embed="rId1"/>
            <a:srcRect t="14302" r="2235" b="7557"/>
            <a:stretch>
              <a:fillRect/>
            </a:stretch>
          </p:blipFill>
          <p:spPr>
            <a:xfrm>
              <a:off x="4058084" y="3118977"/>
              <a:ext cx="4350688" cy="1529223"/>
            </a:xfrm>
            <a:prstGeom prst="rect">
              <a:avLst/>
            </a:prstGeom>
          </p:spPr>
        </p:pic>
        <p:sp>
          <p:nvSpPr>
            <p:cNvPr id="8" name="矩形 10"/>
            <p:cNvSpPr/>
            <p:nvPr/>
          </p:nvSpPr>
          <p:spPr>
            <a:xfrm>
              <a:off x="4021268" y="4345361"/>
              <a:ext cx="106869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室内设备</a:t>
              </a:r>
              <a:endParaRPr lang="en-US" altLang="zh-CN" sz="1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9" name="组合 11"/>
            <p:cNvGrpSpPr/>
            <p:nvPr/>
          </p:nvGrpSpPr>
          <p:grpSpPr>
            <a:xfrm>
              <a:off x="609600" y="3120222"/>
              <a:ext cx="3200400" cy="3360566"/>
              <a:chOff x="1049261" y="3532982"/>
              <a:chExt cx="2875039" cy="2875039"/>
            </a:xfrm>
          </p:grpSpPr>
          <p:pic>
            <p:nvPicPr>
              <p:cNvPr id="15" name="图片 17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479" t="82222" r="58174" b="2222"/>
              <a:stretch>
                <a:fillRect/>
              </a:stretch>
            </p:blipFill>
            <p:spPr>
              <a:xfrm>
                <a:off x="1049261" y="3532982"/>
                <a:ext cx="2875039" cy="2875039"/>
              </a:xfrm>
              <a:prstGeom prst="rect">
                <a:avLst/>
              </a:prstGeom>
            </p:spPr>
          </p:pic>
          <p:sp>
            <p:nvSpPr>
              <p:cNvPr id="16" name="矩形 18"/>
              <p:cNvSpPr/>
              <p:nvPr/>
            </p:nvSpPr>
            <p:spPr>
              <a:xfrm rot="18905971">
                <a:off x="1578764" y="4003297"/>
                <a:ext cx="1562469" cy="59958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1750398" y="4032496"/>
                <a:ext cx="1219200" cy="440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室外</a:t>
                </a:r>
                <a:endParaRPr lang="en-US" altLang="zh-CN" sz="1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14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长管路</a:t>
                </a:r>
                <a:endParaRPr lang="zh-CN" altLang="en-US" sz="1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2133600" y="4978482"/>
                <a:ext cx="1219200" cy="259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实验室</a:t>
                </a:r>
                <a:endPara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0" name="图片 12"/>
            <p:cNvPicPr>
              <a:picLocks noChangeAspect="1"/>
            </p:cNvPicPr>
            <p:nvPr/>
          </p:nvPicPr>
          <p:blipFill rotWithShape="1">
            <a:blip r:embed="rId3"/>
            <a:srcRect l="26961" t="25654" r="1" b="26720"/>
            <a:stretch>
              <a:fillRect/>
            </a:stretch>
          </p:blipFill>
          <p:spPr>
            <a:xfrm>
              <a:off x="4058084" y="4719629"/>
              <a:ext cx="4350688" cy="1761159"/>
            </a:xfrm>
            <a:prstGeom prst="rect">
              <a:avLst/>
            </a:prstGeom>
          </p:spPr>
        </p:pic>
        <p:sp>
          <p:nvSpPr>
            <p:cNvPr id="11" name="矩形 13"/>
            <p:cNvSpPr/>
            <p:nvPr/>
          </p:nvSpPr>
          <p:spPr>
            <a:xfrm>
              <a:off x="4021267" y="6142234"/>
              <a:ext cx="106869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室外管线 </a:t>
              </a:r>
              <a:endParaRPr lang="en-US" altLang="zh-CN" sz="1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4"/>
            <p:cNvSpPr/>
            <p:nvPr/>
          </p:nvSpPr>
          <p:spPr>
            <a:xfrm>
              <a:off x="609600" y="6195437"/>
              <a:ext cx="128325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空中俯视图</a:t>
              </a:r>
              <a:endParaRPr lang="zh-CN" altLang="en-US" sz="16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5"/>
            <p:cNvSpPr/>
            <p:nvPr/>
          </p:nvSpPr>
          <p:spPr>
            <a:xfrm>
              <a:off x="4880145" y="5694707"/>
              <a:ext cx="135717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泄漏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6"/>
            <p:cNvSpPr/>
            <p:nvPr/>
          </p:nvSpPr>
          <p:spPr>
            <a:xfrm>
              <a:off x="5943600" y="5295255"/>
              <a:ext cx="10819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压力传感器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图片 3"/>
          <p:cNvPicPr>
            <a:picLocks noChangeAspect="1"/>
          </p:cNvPicPr>
          <p:nvPr/>
        </p:nvPicPr>
        <p:blipFill rotWithShape="1">
          <a:blip r:embed="rId4"/>
          <a:srcRect t="23180"/>
          <a:stretch>
            <a:fillRect/>
          </a:stretch>
        </p:blipFill>
        <p:spPr>
          <a:xfrm>
            <a:off x="568843" y="5602569"/>
            <a:ext cx="11359632" cy="9537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5" y="1143476"/>
            <a:ext cx="99726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购置了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DAS/DTS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监测设备，搭建了室内长管路实验系统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42" y="4015612"/>
            <a:ext cx="3227351" cy="2310990"/>
          </a:xfrm>
          <a:prstGeom prst="rect">
            <a:avLst/>
          </a:prstGeom>
        </p:spPr>
      </p:pic>
      <p:pic>
        <p:nvPicPr>
          <p:cNvPr id="5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922" y="1916016"/>
            <a:ext cx="2431747" cy="4435955"/>
          </a:xfrm>
          <a:prstGeom prst="rect">
            <a:avLst/>
          </a:prstGeom>
        </p:spPr>
      </p:pic>
      <p:pic>
        <p:nvPicPr>
          <p:cNvPr id="6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707" y="1916016"/>
            <a:ext cx="2736000" cy="4410586"/>
          </a:xfrm>
          <a:prstGeom prst="rect">
            <a:avLst/>
          </a:prstGeom>
        </p:spPr>
      </p:pic>
      <p:pic>
        <p:nvPicPr>
          <p:cNvPr id="18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67" y="1916017"/>
            <a:ext cx="3241826" cy="2027595"/>
          </a:xfrm>
          <a:prstGeom prst="rect">
            <a:avLst/>
          </a:prstGeom>
        </p:spPr>
      </p:pic>
      <p:pic>
        <p:nvPicPr>
          <p:cNvPr id="19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59" y="1713389"/>
            <a:ext cx="3162241" cy="2420605"/>
          </a:xfrm>
          <a:prstGeom prst="rect">
            <a:avLst/>
          </a:prstGeom>
        </p:spPr>
      </p:pic>
      <p:pic>
        <p:nvPicPr>
          <p:cNvPr id="20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59" y="4248481"/>
            <a:ext cx="3162241" cy="2420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3586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二叠现场信号分析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46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美国二叠纪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特拉华盆地水力压裂矿场实验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HFTS-2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。包括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DTS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DAS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DSS-RFS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在内的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种光纤监测技术，以及原位取心、井下温度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压力计监测、微地震等。包含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口新钻水平生产井、两口新钻观测井、两口已有水平井（母井）。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分布式光纤传感现场案例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70" y="3164467"/>
            <a:ext cx="11619118" cy="31512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3586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二叠现场信号分析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分布式光纤传感现场案例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将原始高频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DAS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信号进行频带提取，确定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FBE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能量分布瀑布图，可用于进液定量解释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440" y="2328098"/>
            <a:ext cx="6295113" cy="4151945"/>
          </a:xfrm>
          <a:prstGeom prst="rect">
            <a:avLst/>
          </a:prstGeom>
        </p:spPr>
      </p:pic>
      <p:sp>
        <p:nvSpPr>
          <p:cNvPr id="8" name="文本框 18"/>
          <p:cNvSpPr txBox="1"/>
          <p:nvPr/>
        </p:nvSpPr>
        <p:spPr>
          <a:xfrm>
            <a:off x="586349" y="6394841"/>
            <a:ext cx="5835716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采样空间间隔为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1m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，采样频率为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20000Hz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20000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个周期）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554" y="2376377"/>
            <a:ext cx="5324006" cy="42275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356" y="1143476"/>
            <a:ext cx="3586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二叠现场信号分析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分布式光纤传感现场案例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B1H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压裂井（邻井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DAS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B3H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监测）为例进行模型计算，反演裂缝尺寸与轨迹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75" y="4287180"/>
            <a:ext cx="3483763" cy="2100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箭头: 下 22"/>
          <p:cNvSpPr/>
          <p:nvPr/>
        </p:nvSpPr>
        <p:spPr>
          <a:xfrm rot="16200000">
            <a:off x="6690976" y="2892431"/>
            <a:ext cx="195936" cy="2304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23"/>
          <p:cNvGrpSpPr/>
          <p:nvPr/>
        </p:nvGrpSpPr>
        <p:grpSpPr>
          <a:xfrm>
            <a:off x="4463345" y="2321316"/>
            <a:ext cx="2074478" cy="1597059"/>
            <a:chOff x="343400" y="2492999"/>
            <a:chExt cx="1944002" cy="1584001"/>
          </a:xfrm>
        </p:grpSpPr>
        <p:pic>
          <p:nvPicPr>
            <p:cNvPr id="9" name="图片 24"/>
            <p:cNvPicPr>
              <a:picLocks noChangeAspect="1"/>
            </p:cNvPicPr>
            <p:nvPr/>
          </p:nvPicPr>
          <p:blipFill rotWithShape="1">
            <a:blip r:embed="rId2"/>
            <a:srcRect l="6103" t="4330" r="17611" b="5529"/>
            <a:stretch>
              <a:fillRect/>
            </a:stretch>
          </p:blipFill>
          <p:spPr>
            <a:xfrm>
              <a:off x="487399" y="2492999"/>
              <a:ext cx="1800001" cy="1584001"/>
            </a:xfrm>
            <a:prstGeom prst="rect">
              <a:avLst/>
            </a:prstGeom>
          </p:spPr>
        </p:pic>
        <p:cxnSp>
          <p:nvCxnSpPr>
            <p:cNvPr id="11" name="直接连接符 25"/>
            <p:cNvCxnSpPr/>
            <p:nvPr/>
          </p:nvCxnSpPr>
          <p:spPr>
            <a:xfrm flipH="1">
              <a:off x="343400" y="3267501"/>
              <a:ext cx="194400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26"/>
            <p:cNvCxnSpPr/>
            <p:nvPr/>
          </p:nvCxnSpPr>
          <p:spPr>
            <a:xfrm flipH="1">
              <a:off x="343401" y="3069000"/>
              <a:ext cx="194400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27"/>
          <p:cNvSpPr txBox="1"/>
          <p:nvPr/>
        </p:nvSpPr>
        <p:spPr>
          <a:xfrm>
            <a:off x="3905510" y="2963703"/>
            <a:ext cx="5954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井筒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28"/>
          <p:cNvSpPr txBox="1"/>
          <p:nvPr/>
        </p:nvSpPr>
        <p:spPr>
          <a:xfrm>
            <a:off x="3905957" y="2763565"/>
            <a:ext cx="5852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光纤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29"/>
          <p:cNvGrpSpPr/>
          <p:nvPr/>
        </p:nvGrpSpPr>
        <p:grpSpPr>
          <a:xfrm>
            <a:off x="7136296" y="2321316"/>
            <a:ext cx="810404" cy="1597059"/>
            <a:chOff x="2844000" y="2445055"/>
            <a:chExt cx="759434" cy="1691999"/>
          </a:xfrm>
        </p:grpSpPr>
        <p:pic>
          <p:nvPicPr>
            <p:cNvPr id="16" name="图片 30"/>
            <p:cNvPicPr>
              <a:picLocks noChangeAspect="1"/>
            </p:cNvPicPr>
            <p:nvPr/>
          </p:nvPicPr>
          <p:blipFill rotWithShape="1">
            <a:blip r:embed="rId2"/>
            <a:srcRect l="10680" t="5187" r="17611" b="51595"/>
            <a:stretch>
              <a:fillRect/>
            </a:stretch>
          </p:blipFill>
          <p:spPr>
            <a:xfrm rot="5400000">
              <a:off x="2377718" y="2911337"/>
              <a:ext cx="1691998" cy="759434"/>
            </a:xfrm>
            <a:prstGeom prst="rect">
              <a:avLst/>
            </a:prstGeom>
          </p:spPr>
        </p:pic>
        <p:cxnSp>
          <p:nvCxnSpPr>
            <p:cNvPr id="17" name="直接连接符 31"/>
            <p:cNvCxnSpPr/>
            <p:nvPr/>
          </p:nvCxnSpPr>
          <p:spPr>
            <a:xfrm flipV="1">
              <a:off x="3042502" y="2445055"/>
              <a:ext cx="1" cy="16919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371" y="4287179"/>
            <a:ext cx="3217850" cy="2100491"/>
          </a:xfrm>
          <a:prstGeom prst="rect">
            <a:avLst/>
          </a:prstGeom>
        </p:spPr>
      </p:pic>
      <p:sp>
        <p:nvSpPr>
          <p:cNvPr id="19" name="箭头: 下 33"/>
          <p:cNvSpPr/>
          <p:nvPr/>
        </p:nvSpPr>
        <p:spPr>
          <a:xfrm rot="16200000">
            <a:off x="3922063" y="5147731"/>
            <a:ext cx="195936" cy="2304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34"/>
          <p:cNvSpPr/>
          <p:nvPr/>
        </p:nvSpPr>
        <p:spPr>
          <a:xfrm>
            <a:off x="6045012" y="4072174"/>
            <a:ext cx="210058" cy="21500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35"/>
          <p:cNvSpPr/>
          <p:nvPr/>
        </p:nvSpPr>
        <p:spPr>
          <a:xfrm>
            <a:off x="4211798" y="2291176"/>
            <a:ext cx="3878903" cy="170002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37343"/>
            <a:ext cx="3779737" cy="2101725"/>
          </a:xfrm>
          <a:prstGeom prst="rect">
            <a:avLst/>
          </a:prstGeom>
        </p:spPr>
      </p:pic>
      <p:sp>
        <p:nvSpPr>
          <p:cNvPr id="23" name="文本框 37"/>
          <p:cNvSpPr txBox="1"/>
          <p:nvPr/>
        </p:nvSpPr>
        <p:spPr>
          <a:xfrm>
            <a:off x="280965" y="6510039"/>
            <a:ext cx="75412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B1H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段施工曲线、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B3H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邻井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LF-DAS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应变瀑布图及光纤应变模拟、反演分析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105" y="2204204"/>
            <a:ext cx="3960000" cy="4260318"/>
          </a:xfrm>
          <a:prstGeom prst="rect">
            <a:avLst/>
          </a:prstGeom>
        </p:spPr>
      </p:pic>
      <p:sp>
        <p:nvSpPr>
          <p:cNvPr id="25" name="文本框 3"/>
          <p:cNvSpPr txBox="1"/>
          <p:nvPr/>
        </p:nvSpPr>
        <p:spPr>
          <a:xfrm>
            <a:off x="8271105" y="6418587"/>
            <a:ext cx="39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B1H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部分压裂段反演的裂缝扩展轨迹汇总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64414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井口压力曲线的响应模式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相关研究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52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由于水的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不可压缩性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直接连接到裂缝尖端，因此</a:t>
            </a:r>
            <a:r>
              <a:rPr 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井口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压力的变化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必须是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机械的或地质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的，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并将由此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提供</a:t>
            </a:r>
            <a:r>
              <a:rPr 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水力裂缝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信息(Scherz, 2020年)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近年来，许多学者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基于压力曲线的响应模式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进行了相关研究。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286385" y="3229610"/>
          <a:ext cx="11503025" cy="3484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35"/>
                <a:gridCol w="3782695"/>
                <a:gridCol w="6373495"/>
              </a:tblGrid>
              <a:tr h="390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作者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论文题目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主要内容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868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Nolte, K.G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 general analysis of fracturing</a:t>
                      </a:r>
                      <a:r>
                        <a:rPr lang="en-US" altLang="zh-CN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pressure decline with application to three models.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根据净压力与时间的关系，将响应分为四种类型：当曲线的斜率是一个相对较小的正值时，表示裂缝的正常传播；当曲线的斜率为1时，表示砂堵；当曲线急剧下降时，表示裂缝高度的增加。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579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Kim, G.-H.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Interpretation of hydraulic</a:t>
                      </a:r>
                      <a:r>
                        <a:rPr lang="en-US" altLang="zh-CN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fracturing pressure in tight gas formations.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在Nolte-Smith等人研究的基础上，考虑了摩擦、温度、压力等多个复杂因素对井底处理压力的影响，并准确计算了井底净压力。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748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Pirayesh, E.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 new method to interpret fracturing pressure—application to frac pack.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基于Nolte-Smith方法认为裂缝传播是一个间歇性过程，并提出了移动参考点（MRP）方法。通过区分e值与时间的关系，实现了水力压裂的实时诊断，如裂缝的正常传播、高度增加、砂堵等。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748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Wigwe, M.E.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Actual hydraulic fracture length determination using a new technique for shale</a:t>
                      </a:r>
                      <a:r>
                        <a:rPr lang="en-US" altLang="zh-CN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fracturing data analysis in real time. 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进一步发展了MRP方法，以识别页岩地层中的天然裂缝并确定水力裂缝的长度。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64414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井口压力曲线的响应模式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相关研究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52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</a:pP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水力压裂过程中的压力信号受到多种复杂因素的影响。该信号是非平稳的、瞬态的，并且在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不同频率上包含不同的信息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（Unal等人，2018年）。将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压力信号分解为不同的频率带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可以帮助我们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理解压力信号的响应特性和规律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286385" y="3248025"/>
          <a:ext cx="11503025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35"/>
                <a:gridCol w="4210685"/>
                <a:gridCol w="5945505"/>
              </a:tblGrid>
              <a:tr h="444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作者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论文题目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主要内容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1212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Unal, E.</a:t>
                      </a:r>
                      <a:endParaRPr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Improved understanding of dynamic fracture behavior in unconventional horizontal wells using wavelet transformation.</a:t>
                      </a:r>
                      <a:endParaRPr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首次将小波分析应用于水力压裂处理曲线的分析和解释。通过对压力曲线进行离散小波变换，获得了随时间变化的小波细节系数曲线，并进行了分析和解释。通过MRP（移动参考点）方法预先诊断了砂堵，并进行了验证。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9359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Unal, E.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Wavelet analysis of fracturing pressure data. In: Presented at the SPE Hydraulic Fracturing Technology Conference and Exhibition.</a:t>
                      </a:r>
                      <a:endParaRPr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引入了Burrus等人（1998年）提出的能量概念。通过比较压力与速率之间的能量关系，将水力压裂处理过程中的事件类型划分为两种：与速率相关和与岩石相关。</a:t>
                      </a:r>
                      <a:endParaRPr lang="en-US" altLang="zh-CN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850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Awad, M.M.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Interpretation of hydraulic fracturing events</a:t>
                      </a:r>
                      <a:r>
                        <a:rPr lang="en-US" altLang="zh-CN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by analyzing the energy of rate and pressure signals.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进一步解释了小波基选择和最优分解级别的选择。</a:t>
                      </a:r>
                      <a:endParaRPr lang="zh-CN" altLang="en-US" sz="160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64414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小波分析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原理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小波分析对于水力压裂过程中的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非平稳的、瞬态的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、且在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不同频率上包含不同的信息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的信号有着很好的发掘和处理能力。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相比于傅里叶变换和短时傅里叶变换，其具有很好的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时间和频率局部化分析能力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，能够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聚焦到信号的任意细节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-12700" y="6539865"/>
            <a:ext cx="61087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对原始信号的小波分解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75" y="3429000"/>
            <a:ext cx="4235450" cy="311912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37960" y="3437255"/>
            <a:ext cx="5295900" cy="311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24"/>
          <p:cNvSpPr txBox="1"/>
          <p:nvPr/>
        </p:nvSpPr>
        <p:spPr>
          <a:xfrm>
            <a:off x="6096000" y="6539865"/>
            <a:ext cx="60966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小波变换计算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64414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离散小波变换原理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小波分析包括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连续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小波和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离散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小波两种变换。对于施工压力信号而言，常采用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离散小波变换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对信号进行分析。离散小波变换的原理是通过一系列的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高通和低通滤波器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不断对信号进行分解从而获得信号的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高频分量和低频分量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05" y="3413125"/>
            <a:ext cx="5255260" cy="3048635"/>
          </a:xfrm>
          <a:prstGeom prst="rect">
            <a:avLst/>
          </a:prstGeom>
        </p:spPr>
      </p:pic>
      <p:pic>
        <p:nvPicPr>
          <p:cNvPr id="5" name="图片 4" descr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45" y="3429000"/>
            <a:ext cx="5631180" cy="30327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096635" y="6541770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离散小波分解过程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6539865"/>
            <a:ext cx="61029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离散小波的的多级分解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64414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离散小波变换原理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背景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离散小波变换分解信号的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高频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分量表示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不连续性和奇异性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，而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低频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分量表示原始信号的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粗略近似（细节系数、近似系数）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。离散小波变换的结果就是将信号的总能量进行保存，并分解为不同的分辨率级别。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3353478"/>
            <a:ext cx="3590444" cy="16002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328" y="5061946"/>
            <a:ext cx="2127209" cy="1815783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4003934" y="3516947"/>
            <a:ext cx="1488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600" b="1" dirty="0">
                <a:solidFill>
                  <a:srgbClr val="3E3FFC"/>
                </a:solidFill>
              </a:rPr>
              <a:t>细节系数</a:t>
            </a:r>
            <a:endParaRPr lang="zh-CN" altLang="en-US" sz="1600" b="1" dirty="0">
              <a:solidFill>
                <a:srgbClr val="3E3FFC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3996844" y="4113848"/>
            <a:ext cx="1488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600" b="1">
                <a:solidFill>
                  <a:srgbClr val="3E3FFC"/>
                </a:solidFill>
              </a:rPr>
              <a:t>近似系数</a:t>
            </a:r>
            <a:endParaRPr lang="zh-CN" altLang="en-US" sz="1600" b="1">
              <a:solidFill>
                <a:srgbClr val="3E3FFC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3604895" y="4649223"/>
            <a:ext cx="20491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3E3FFC"/>
                </a:solidFill>
              </a:rPr>
              <a:t>最大理论分解级数</a:t>
            </a:r>
            <a:endParaRPr lang="zh-CN" altLang="en-US" sz="1600" b="1" dirty="0">
              <a:solidFill>
                <a:srgbClr val="3E3FFC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31557" y="5210853"/>
            <a:ext cx="1579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3E3FFC"/>
                </a:solidFill>
              </a:rPr>
              <a:t>信号总能量</a:t>
            </a:r>
            <a:endParaRPr lang="zh-CN" altLang="en-US" sz="1600" b="1" dirty="0">
              <a:solidFill>
                <a:srgbClr val="3E3FFC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62050" y="5821045"/>
            <a:ext cx="1169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3E3FFC"/>
                </a:solidFill>
              </a:rPr>
              <a:t>细节能量</a:t>
            </a:r>
            <a:endParaRPr lang="zh-CN" altLang="en-US" sz="1600" b="1" dirty="0">
              <a:solidFill>
                <a:srgbClr val="3E3FFC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62050" y="6355080"/>
            <a:ext cx="1095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3E3FFC"/>
                </a:solidFill>
              </a:rPr>
              <a:t>近似能量</a:t>
            </a:r>
            <a:endParaRPr lang="zh-CN" altLang="en-US" sz="1600" b="1" dirty="0">
              <a:solidFill>
                <a:srgbClr val="3E3FFC"/>
              </a:solidFill>
            </a:endParaRPr>
          </a:p>
        </p:txBody>
      </p:sp>
      <p:sp>
        <p:nvSpPr>
          <p:cNvPr id="24" name="上弧形箭头 35"/>
          <p:cNvSpPr/>
          <p:nvPr/>
        </p:nvSpPr>
        <p:spPr bwMode="auto">
          <a:xfrm rot="5400000" flipV="1">
            <a:off x="-391160" y="4627245"/>
            <a:ext cx="2421890" cy="455295"/>
          </a:xfrm>
          <a:prstGeom prst="curved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5" name="上弧形箭头 35"/>
          <p:cNvSpPr/>
          <p:nvPr/>
        </p:nvSpPr>
        <p:spPr bwMode="auto">
          <a:xfrm rot="5400000" flipV="1">
            <a:off x="-365692" y="5189787"/>
            <a:ext cx="2304280" cy="455295"/>
          </a:xfrm>
          <a:prstGeom prst="curved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26" name="图片 25" descr="图片1"/>
          <p:cNvPicPr/>
          <p:nvPr/>
        </p:nvPicPr>
        <p:blipFill>
          <a:blip r:embed="rId6"/>
          <a:srcRect t="13188"/>
          <a:stretch>
            <a:fillRect/>
          </a:stretch>
        </p:blipFill>
        <p:spPr>
          <a:xfrm>
            <a:off x="5647690" y="4021455"/>
            <a:ext cx="3024000" cy="2052000"/>
          </a:xfrm>
          <a:prstGeom prst="rect">
            <a:avLst/>
          </a:prstGeom>
        </p:spPr>
      </p:pic>
      <p:pic>
        <p:nvPicPr>
          <p:cNvPr id="27" name="图片 26" descr="图片2"/>
          <p:cNvPicPr/>
          <p:nvPr/>
        </p:nvPicPr>
        <p:blipFill>
          <a:blip r:embed="rId7"/>
          <a:stretch>
            <a:fillRect/>
          </a:stretch>
        </p:blipFill>
        <p:spPr>
          <a:xfrm>
            <a:off x="8869680" y="4020820"/>
            <a:ext cx="3024000" cy="20520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647055" y="6539865"/>
            <a:ext cx="6544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离散小波变换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示意图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91782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小波分解关键参数优选准则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最优分解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层次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水力压裂过程中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裂缝的正常延伸代表流量正常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，而异常事件的出现代表异常流量或结束，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小波峰值能量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可以用来反映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压力曲线上的异常波动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。采用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小波能量方差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分析定量描述不同分解层次下小波能量响应中的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事件识别效果以及最佳识别层次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049" name="图片 6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3460750"/>
            <a:ext cx="5187950" cy="297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图片 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860" y="3453130"/>
            <a:ext cx="540575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0" y="6538595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不同分解层次下的小波能量曲线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96635" y="6538595"/>
            <a:ext cx="6095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不同分解层次下的小波能量方差比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91782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小波分解关键参数优选准则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最优小波基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选取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小波基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的合适与否直接关系到信号分解效果的好坏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小波基的小波峰值能量不同，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较大的峰值能量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可以帮助我们在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较弱的压力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变化下保持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识别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的能力，若小波能量表现为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排量响应不明显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，而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压力响应很剧烈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，则可以代表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裂缝扩展等诸多岩石类事件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93639" y="3466157"/>
          <a:ext cx="5480050" cy="3070225"/>
        </p:xfrm>
        <a:graphic>
          <a:graphicData uri="http://schemas.openxmlformats.org/drawingml/2006/table">
            <a:tbl>
              <a:tblPr firstRow="1" firstCol="1" bandRow="1"/>
              <a:tblGrid>
                <a:gridCol w="786765"/>
                <a:gridCol w="443865"/>
                <a:gridCol w="828040"/>
                <a:gridCol w="960120"/>
                <a:gridCol w="615315"/>
                <a:gridCol w="615315"/>
                <a:gridCol w="615315"/>
                <a:gridCol w="615315"/>
              </a:tblGrid>
              <a:tr h="372745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200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小波函数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haar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db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bior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coif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sym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morl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mexh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正交性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7211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紧支撑性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2745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连续小波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2745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离散小波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不可以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不可以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10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支撑长度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2N-1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indent="133350" algn="just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2Nd+1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6N-1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2N-1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有限</a:t>
                      </a:r>
                      <a:endParaRPr lang="en-US" alt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长度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有限</a:t>
                      </a:r>
                      <a:endParaRPr lang="en-US" alt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长度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910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对称性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对称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近似对称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不对称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近似</a:t>
                      </a:r>
                      <a:endParaRPr lang="en-US" alt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对称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近似</a:t>
                      </a:r>
                      <a:endParaRPr lang="en-US" alt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对称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对称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对称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0840"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zh-CN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消失矩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Nr-1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2N</a:t>
                      </a:r>
                      <a:endParaRPr lang="zh-CN" sz="1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5000"/>
                        </a:lnSpc>
                        <a:tabLst>
                          <a:tab pos="239395" algn="l"/>
                          <a:tab pos="266700" algn="l"/>
                        </a:tabLs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781050" y="6540500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常用的小波函数及其性质对比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7079615" y="3469640"/>
            <a:ext cx="3576320" cy="3051175"/>
          </a:xfrm>
          <a:prstGeom prst="rect">
            <a:avLst/>
          </a:prstGeom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5819140" y="6556375"/>
            <a:ext cx="6096635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不同小波基下的小波能量响应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91782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多参数下小波响应规律—地层应力差</a:t>
            </a:r>
            <a:endParaRPr 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在天然裂缝相遇时刻，当应力差为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MPa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2MPa</a:t>
            </a:r>
            <a:r>
              <a:rPr 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5MPa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的条件下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，其压力降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分别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为0.54MPa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、0.31MPa、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0.01MPa，小波峰值能量分别为46.12、1.59、0.39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所以随着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应力差的增大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，其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压力降逐渐减小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小波峰值能量也不断减小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1841630096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9550" y="3795395"/>
            <a:ext cx="5688000" cy="2340000"/>
          </a:xfrm>
          <a:prstGeom prst="rect">
            <a:avLst/>
          </a:prstGeom>
        </p:spPr>
      </p:pic>
      <p:pic>
        <p:nvPicPr>
          <p:cNvPr id="872229315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80150" y="3795395"/>
            <a:ext cx="5688000" cy="23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5" y="6430645"/>
            <a:ext cx="6095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(a)不同应力差下注入压力曲线，(b)不同应力差下小波能量曲线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6307455"/>
            <a:ext cx="6106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不同应力差下压力降和小波峰值能量，(a)水力裂缝与天然裂缝相遇时刻，(b)停泵时刻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91782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多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参数</a:t>
            </a:r>
            <a:r>
              <a:rPr 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下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小波响应规律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弹性模量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在不同弹性模量下（</a:t>
            </a:r>
            <a:r>
              <a:rPr 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15、20、30GPa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），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水力裂缝与天然裂缝相遇事件</a:t>
            </a:r>
            <a:r>
              <a:rPr 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时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其压降值分别为0.54MPa、0.61MPa、0.85MPa，小波峰值能量分别为46.12、68.45、121.36，所以随着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弹性模量的增加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，其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压降值与小波峰值能量都随着增加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623120558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4470" y="3919220"/>
            <a:ext cx="5688000" cy="2340000"/>
          </a:xfrm>
          <a:prstGeom prst="rect">
            <a:avLst/>
          </a:prstGeom>
        </p:spPr>
      </p:pic>
      <p:pic>
        <p:nvPicPr>
          <p:cNvPr id="398822647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311265" y="3919220"/>
            <a:ext cx="5688000" cy="234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5" y="6425565"/>
            <a:ext cx="60953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(a)不同弹性模量下注入压力曲线，(b)不同应力差下小波能量曲线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6302375"/>
            <a:ext cx="6117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不同弹性模量下压力降和小波峰值能量，(a)水力裂缝与天然裂缝相遇时刻，(b)停泵时刻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91782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多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参数</a:t>
            </a:r>
            <a:r>
              <a:rPr 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下</a:t>
            </a: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小波响应规律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—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注入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排量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井口施工曲线多级小波分解研究进展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对于排量而言，其排量的突变与停泵都可以看做是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排量降低50%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，同时其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小波峰值能量在数值上相等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，都为1.61，再一次说明了</a:t>
            </a:r>
            <a:r>
              <a:rPr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小波峰值能量与压力或排量曲线的突降值存在直接的关联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1190" name="IM 1190"/>
          <p:cNvPicPr/>
          <p:nvPr/>
        </p:nvPicPr>
        <p:blipFill>
          <a:blip r:embed="rId1"/>
          <a:stretch>
            <a:fillRect/>
          </a:stretch>
        </p:blipFill>
        <p:spPr>
          <a:xfrm>
            <a:off x="581660" y="3831273"/>
            <a:ext cx="5688000" cy="2340000"/>
          </a:xfrm>
          <a:prstGeom prst="rect">
            <a:avLst/>
          </a:prstGeom>
        </p:spPr>
      </p:pic>
      <p:pic>
        <p:nvPicPr>
          <p:cNvPr id="1192" name="IM 1192"/>
          <p:cNvPicPr/>
          <p:nvPr/>
        </p:nvPicPr>
        <p:blipFill>
          <a:blip r:embed="rId2"/>
          <a:stretch>
            <a:fillRect/>
          </a:stretch>
        </p:blipFill>
        <p:spPr>
          <a:xfrm>
            <a:off x="6929120" y="3601720"/>
            <a:ext cx="4439920" cy="2947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7975" y="6549390"/>
            <a:ext cx="60559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(a)注入压力和排量曲线，(b)小波能量曲线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40120" y="6549390"/>
            <a:ext cx="6066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变排量工况下压力降和小波峰值能量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96520" y="1143635"/>
            <a:ext cx="91782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玛瑚某井现场实际施工曲线</a:t>
            </a:r>
            <a:r>
              <a:rPr 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分析</a:t>
            </a:r>
            <a:endParaRPr 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536700" y="188914"/>
            <a:ext cx="9144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井口施工曲线多级小波分解现场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案例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286440" y="1699835"/>
            <a:ext cx="11619119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以国内某页岩气井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一段的压裂施工数据为例（采样率为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 Hz 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），</a:t>
            </a:r>
            <a:r>
              <a:rPr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确定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了</a:t>
            </a:r>
            <a:r>
              <a:rPr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最大分解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等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级为13级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最优分解等级为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7、8、9级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基于小波分解结果分析识别井下流固事件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准确率超过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85%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（与微地震结果对比）。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" name="图片 2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67755" y="5122545"/>
            <a:ext cx="5724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6390" y="3354705"/>
            <a:ext cx="5724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915" y="5122545"/>
            <a:ext cx="5724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167755" y="3354705"/>
            <a:ext cx="5724000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325755" y="4794885"/>
            <a:ext cx="5723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压力和注入排量在第7层分解水平上的小波能量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27025" y="6562725"/>
            <a:ext cx="57226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压力和注入排量在第8层分解水平上的小波能量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154420" y="4794885"/>
            <a:ext cx="5723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压力和注入排量在第9层分解水平上的小波能量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6154420" y="6562725"/>
            <a:ext cx="57226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微地震解释结果与小波分析结果的比较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文本框 7"/>
          <p:cNvSpPr txBox="1">
            <a:spLocks noChangeArrowheads="1"/>
          </p:cNvSpPr>
          <p:nvPr/>
        </p:nvSpPr>
        <p:spPr bwMode="auto">
          <a:xfrm>
            <a:off x="109329" y="1052513"/>
            <a:ext cx="11819145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担任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JPSE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Petroleum Science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、 石油科学通报 期刊副主编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RCOKMB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青年编委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校青年拔尖人才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人工智能院长助理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/ARMA future leader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711451" y="174034"/>
            <a:ext cx="6596063" cy="779059"/>
          </a:xfr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cs typeface="+mn-cs"/>
              </a:rPr>
              <a:t> 期刊推介</a:t>
            </a:r>
            <a:endParaRPr lang="zh-CN" altLang="en-US" sz="4000" dirty="0">
              <a:solidFill>
                <a:srgbClr val="FF0000"/>
              </a:solidFill>
              <a:cs typeface="+mn-cs"/>
            </a:endParaRPr>
          </a:p>
        </p:txBody>
      </p:sp>
      <p:pic>
        <p:nvPicPr>
          <p:cNvPr id="131076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31" y="2222384"/>
            <a:ext cx="3190461" cy="426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77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132" y="2165865"/>
            <a:ext cx="3084925" cy="4307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1078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343" y="2185201"/>
            <a:ext cx="3171893" cy="4249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22384"/>
            <a:ext cx="3020187" cy="421182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109329" y="5765663"/>
            <a:ext cx="12082671" cy="7078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欢迎领导专家关注期刊，不吝赐稿，加入审稿人团队！</a:t>
            </a:r>
            <a:endParaRPr lang="zh-CN" altLang="en-US"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09044E-82B4-0C46-92BE-7392D3514BE1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8" t="23623" r="5646" b="15290"/>
          <a:stretch>
            <a:fillRect/>
          </a:stretch>
        </p:blipFill>
        <p:spPr>
          <a:xfrm>
            <a:off x="7947392" y="2183029"/>
            <a:ext cx="3981083" cy="4341596"/>
          </a:xfrm>
          <a:prstGeom prst="rect">
            <a:avLst/>
          </a:prstGeom>
        </p:spPr>
      </p:pic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109330" y="1181722"/>
            <a:ext cx="11819145" cy="74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更多技术细节、需求欢迎扫描下方二维码，加入技术交流群讨论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gray">
          <a:xfrm>
            <a:off x="432353" y="2714566"/>
            <a:ext cx="7409621" cy="3472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80000"/>
              </a:lnSpc>
            </a:pPr>
            <a:r>
              <a:rPr lang="zh-CN" altLang="en-US" sz="2400" b="1" spc="150" dirty="0">
                <a:latin typeface="微软雅黑" panose="020B0503020204020204" charset="-122"/>
                <a:ea typeface="微软雅黑" panose="020B0503020204020204" charset="-122"/>
              </a:rPr>
              <a:t>邮箱：</a:t>
            </a:r>
            <a:r>
              <a:rPr lang="en-US" altLang="zh-CN" sz="2400" b="1" spc="150" dirty="0">
                <a:latin typeface="微软雅黑" panose="020B0503020204020204" charset="-122"/>
                <a:ea typeface="微软雅黑" panose="020B0503020204020204" charset="-122"/>
                <a:hlinkClick r:id="rId2"/>
              </a:rPr>
              <a:t>huxiaodong@cup.edu.cn</a:t>
            </a:r>
            <a:endParaRPr lang="en-US" altLang="zh-CN" sz="2400" b="1" spc="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2400" b="1" spc="150" dirty="0">
                <a:latin typeface="微软雅黑" panose="020B0503020204020204" charset="-122"/>
                <a:ea typeface="微软雅黑" panose="020B0503020204020204" charset="-122"/>
              </a:rPr>
              <a:t>个人网站：</a:t>
            </a:r>
            <a:r>
              <a:rPr lang="en-US" altLang="zh-CN" sz="2400" b="1" spc="150" dirty="0">
                <a:latin typeface="微软雅黑" panose="020B0503020204020204" charset="-122"/>
                <a:ea typeface="微软雅黑" panose="020B0503020204020204" charset="-122"/>
                <a:hlinkClick r:id="rId3"/>
              </a:rPr>
              <a:t>https://www.cup.edu.cn/fcg/kytd/ccgzykfgcyjs/5abe0d49b6644b4bb7880546a2e53cc3.htm</a:t>
            </a:r>
            <a:endParaRPr lang="en-US" altLang="zh-CN" sz="2400" b="1" spc="1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80000"/>
              </a:lnSpc>
            </a:pPr>
            <a:endParaRPr lang="en-US" altLang="zh-CN" sz="2400" b="1" spc="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333375" y="1671955"/>
            <a:ext cx="11515725" cy="3471546"/>
          </a:xfrm>
        </p:spPr>
        <p:txBody>
          <a:bodyPr anchor="ctr" anchorCtr="0">
            <a:norm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谢谢各位专家，敬请批评指正！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05*359"/>
  <p:tag name="TABLE_ENDDRAG_RECT" val="31*254*905*359"/>
</p:tagLst>
</file>

<file path=ppt/tags/tag2.xml><?xml version="1.0" encoding="utf-8"?>
<p:tagLst xmlns:p="http://schemas.openxmlformats.org/presentationml/2006/main">
  <p:tag name="TABLE_ENDDRAG_ORIGIN_RECT" val="905*271"/>
  <p:tag name="TABLE_ENDDRAG_RECT" val="22*255*905*271"/>
</p:tagLst>
</file>

<file path=ppt/tags/tag3.xml><?xml version="1.0" encoding="utf-8"?>
<p:tagLst xmlns:p="http://schemas.openxmlformats.org/presentationml/2006/main">
  <p:tag name="KSO_WM_DIAGRAM_VIRTUALLY_FRAME" val="{&quot;height&quot;:285.4,&quot;left&quot;:241.1,&quot;top&quot;:218.95,&quot;width&quot;:458}"/>
</p:tagLst>
</file>

<file path=ppt/tags/tag4.xml><?xml version="1.0" encoding="utf-8"?>
<p:tagLst xmlns:p="http://schemas.openxmlformats.org/presentationml/2006/main">
  <p:tag name="KSO_WM_DIAGRAM_VIRTUALLY_FRAME" val="{&quot;height&quot;:285.4,&quot;left&quot;:241.1,&quot;top&quot;:218.95,&quot;width&quot;:458}"/>
</p:tagLst>
</file>

<file path=ppt/tags/tag5.xml><?xml version="1.0" encoding="utf-8"?>
<p:tagLst xmlns:p="http://schemas.openxmlformats.org/presentationml/2006/main">
  <p:tag name="KSO_WM_DIAGRAM_VIRTUALLY_FRAME" val="{&quot;height&quot;:285.4,&quot;left&quot;:241.1,&quot;top&quot;:218.95,&quot;width&quot;:458}"/>
</p:tagLst>
</file>

<file path=ppt/tags/tag6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7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8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9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10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11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12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13.xml><?xml version="1.0" encoding="utf-8"?>
<p:tagLst xmlns:p="http://schemas.openxmlformats.org/presentationml/2006/main">
  <p:tag name="KSO_WM_DIAGRAM_VIRTUALLY_FRAME" val="{&quot;height&quot;:283.65,&quot;left&quot;:25.65,&quot;top&quot;:264.15,&quot;width&quot;:910.7086614173229}"/>
</p:tagLst>
</file>

<file path=ppt/tags/tag14.xml><?xml version="1.0" encoding="utf-8"?>
<p:tagLst xmlns:p="http://schemas.openxmlformats.org/presentationml/2006/main">
  <p:tag name="COMMONDATA" val="eyJoZGlkIjoiZjg1NDkyYjc0Zjg0NjQzOWY3MDZlZGU0OGI4ZGI5MzgifQ=="/>
  <p:tag name="commondata" val="eyJoZGlkIjoiYjEyOTIzNDYzZjQwZTk2OTA2MTlhYmU3ZjQ2MjZkYm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5093</Words>
  <Application>WPS 演示</Application>
  <PresentationFormat>宽屏</PresentationFormat>
  <Paragraphs>513</Paragraphs>
  <Slides>31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31</vt:i4>
      </vt:variant>
    </vt:vector>
  </HeadingPairs>
  <TitlesOfParts>
    <vt:vector size="64" baseType="lpstr">
      <vt:lpstr>Arial</vt:lpstr>
      <vt:lpstr>宋体</vt:lpstr>
      <vt:lpstr>Wingdings</vt:lpstr>
      <vt:lpstr>黑体</vt:lpstr>
      <vt:lpstr>隶书</vt:lpstr>
      <vt:lpstr>方正大标宋简体</vt:lpstr>
      <vt:lpstr>微软雅黑</vt:lpstr>
      <vt:lpstr>方正大标宋简体</vt:lpstr>
      <vt:lpstr>系统字体</vt:lpstr>
      <vt:lpstr>Segoe Print</vt:lpstr>
      <vt:lpstr>Times New Roman</vt:lpstr>
      <vt:lpstr>楷体_GB2312</vt:lpstr>
      <vt:lpstr>新宋体</vt:lpstr>
      <vt:lpstr>华文行楷</vt:lpstr>
      <vt:lpstr>Calibri</vt:lpstr>
      <vt:lpstr>Arial Unicode MS</vt:lpstr>
      <vt:lpstr>等线</vt:lpstr>
      <vt:lpstr>TimesNewRomanPS-ItalicMT</vt:lpstr>
      <vt:lpstr>TimesNewRomanPSMT</vt:lpstr>
      <vt:lpstr>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Visio.Drawing.15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期刊推介</vt:lpstr>
      <vt:lpstr>PowerPoint 演示文稿</vt:lpstr>
      <vt:lpstr>谢谢各位专家，敬请批评指正！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重点19：科研平台</dc:title>
  <dc:creator>89733412</dc:creator>
  <cp:lastModifiedBy>WenLu TAN</cp:lastModifiedBy>
  <cp:revision>3181</cp:revision>
  <cp:lastPrinted>2021-12-28T11:20:00Z</cp:lastPrinted>
  <dcterms:created xsi:type="dcterms:W3CDTF">2020-09-30T02:59:00Z</dcterms:created>
  <dcterms:modified xsi:type="dcterms:W3CDTF">2024-10-26T16:24:12Z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DA4063F2AB5C45C7ABCE67DD59B44ED3</vt:lpwstr>
  </property>
  <property fmtid="{D5CDD505-2E9C-101B-9397-08002B2CF9AE}" pid="3" name="KSOProductBuildVer">
    <vt:lpwstr>2052-12.1.0.18608</vt:lpwstr>
  </property>
</Properties>
</file>