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handoutMasterIdLst>
    <p:handoutMasterId r:id="rId11"/>
  </p:handoutMasterIdLst>
  <p:sldIdLst>
    <p:sldId id="7032" r:id="rId3"/>
    <p:sldId id="7128" r:id="rId5"/>
    <p:sldId id="7131" r:id="rId6"/>
    <p:sldId id="7129" r:id="rId7"/>
    <p:sldId id="7130" r:id="rId8"/>
    <p:sldId id="7132" r:id="rId9"/>
    <p:sldId id="7081" r:id="rId10"/>
  </p:sldIdLst>
  <p:sldSz cx="12192000" cy="6858000"/>
  <p:notesSz cx="6858000" cy="9144000"/>
  <p:custDataLst>
    <p:tags r:id="rId1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799" userDrawn="1">
          <p15:clr>
            <a:srgbClr val="A4A3A4"/>
          </p15:clr>
        </p15:guide>
        <p15:guide id="5" orient="horz" pos="3748" userDrawn="1">
          <p15:clr>
            <a:srgbClr val="A4A3A4"/>
          </p15:clr>
        </p15:guide>
        <p15:guide id="7" orient="horz" pos="478" userDrawn="1">
          <p15:clr>
            <a:srgbClr val="A4A3A4"/>
          </p15:clr>
        </p15:guide>
        <p15:guide id="9" pos="210" userDrawn="1">
          <p15:clr>
            <a:srgbClr val="A4A3A4"/>
          </p15:clr>
        </p15:guide>
        <p15:guide id="11" pos="744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白 亚超" initials="白"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2F2F2"/>
    <a:srgbClr val="54CAF5"/>
    <a:srgbClr val="FFFF6B"/>
    <a:srgbClr val="FF00FF"/>
    <a:srgbClr val="000066"/>
    <a:srgbClr val="000099"/>
    <a:srgbClr val="0000CC"/>
    <a:srgbClr val="99CCFF"/>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91" autoAdjust="0"/>
    <p:restoredTop sz="90369" autoAdjust="0"/>
  </p:normalViewPr>
  <p:slideViewPr>
    <p:cSldViewPr snapToGrid="0" showGuides="1">
      <p:cViewPr varScale="1">
        <p:scale>
          <a:sx n="78" d="100"/>
          <a:sy n="78" d="100"/>
        </p:scale>
        <p:origin x="907" y="62"/>
      </p:cViewPr>
      <p:guideLst>
        <p:guide orient="horz" pos="799"/>
        <p:guide orient="horz" pos="3748"/>
        <p:guide orient="horz" pos="478"/>
        <p:guide pos="210"/>
        <p:guide pos="7447"/>
      </p:guideLst>
    </p:cSldViewPr>
  </p:slideViewPr>
  <p:notesTextViewPr>
    <p:cViewPr>
      <p:scale>
        <a:sx n="150" d="100"/>
        <a:sy n="150" d="100"/>
      </p:scale>
      <p:origin x="0" y="0"/>
    </p:cViewPr>
  </p:notesTextViewPr>
  <p:sorterViewPr>
    <p:cViewPr>
      <p:scale>
        <a:sx n="150" d="100"/>
        <a:sy n="150" d="100"/>
      </p:scale>
      <p:origin x="0" y="0"/>
    </p:cViewPr>
  </p:sorterViewPr>
  <p:notesViewPr>
    <p:cSldViewPr snapToGrid="0">
      <p:cViewPr varScale="1">
        <p:scale>
          <a:sx n="86" d="100"/>
          <a:sy n="86" d="100"/>
        </p:scale>
        <p:origin x="3864" y="72"/>
      </p:cViewPr>
      <p:guideLst/>
    </p:cSldViewPr>
  </p:notes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gs" Target="tags/tag7.xml"/><Relationship Id="rId15" Type="http://schemas.openxmlformats.org/officeDocument/2006/relationships/commentAuthors" Target="commentAuthors.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handoutMaster" Target="handoutMasters/handoutMaster1.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image" Target="../media/image3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3AD318E-B422-411C-B047-DCD95D3A32B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F2D27F2-61DB-4CA3-9344-190B6BB4669D}"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FC9FFD-D8AA-488B-9BFA-098B695BC299}"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D00846-457A-42D0-BAE3-D1C1DA28179F}"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08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C411882-E5A8-4688-96CF-E31BAE27AF2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cxnSp>
        <p:nvCxnSpPr>
          <p:cNvPr id="2" name="直接连接符 1"/>
          <p:cNvCxnSpPr/>
          <p:nvPr userDrawn="1"/>
        </p:nvCxnSpPr>
        <p:spPr bwMode="auto">
          <a:xfrm>
            <a:off x="375072" y="1270536"/>
            <a:ext cx="11441856" cy="0"/>
          </a:xfrm>
          <a:prstGeom prst="line">
            <a:avLst/>
          </a:prstGeom>
          <a:ln>
            <a:solidFill>
              <a:schemeClr val="accent3">
                <a:lumMod val="75000"/>
              </a:schemeClr>
            </a:solidFill>
          </a:ln>
          <a:effectLst>
            <a:outerShdw blurRad="12700" dist="12700" dir="5400000" algn="t" rotWithShape="0">
              <a:schemeClr val="bg1">
                <a:lumMod val="85000"/>
              </a:scheme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1.png"/><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0" y="764704"/>
            <a:ext cx="1219200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lIns="121869" tIns="60935" rIns="121869" bIns="60935"/>
          <a:lstStyle/>
          <a:p>
            <a:pPr marL="0" marR="0" lvl="0" indent="0" algn="l" defTabSz="1218565"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charset="-122"/>
              <a:cs typeface="+mn-cs"/>
            </a:endParaRPr>
          </a:p>
        </p:txBody>
      </p:sp>
      <p:pic>
        <p:nvPicPr>
          <p:cNvPr id="6" name="Picture 17" descr="logo"/>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141629" y="106728"/>
            <a:ext cx="960108" cy="576377"/>
          </a:xfrm>
          <a:prstGeom prst="rect">
            <a:avLst/>
          </a:prstGeom>
          <a:noFill/>
          <a:ln>
            <a:noFill/>
          </a:ln>
          <a:effectLst>
            <a:outerShdw blurRad="50800" dist="38100" dir="2700000" algn="tl" rotWithShape="0">
              <a:prstClr val="black">
                <a:alpha val="40000"/>
              </a:prstClr>
            </a:outerShdw>
          </a:effectLst>
        </p:spPr>
      </p:pic>
      <p:sp>
        <p:nvSpPr>
          <p:cNvPr id="5" name="页脚占位符 14"/>
          <p:cNvSpPr txBox="1"/>
          <p:nvPr userDrawn="1"/>
        </p:nvSpPr>
        <p:spPr>
          <a:xfrm>
            <a:off x="0" y="6552723"/>
            <a:ext cx="12192000" cy="315912"/>
          </a:xfrm>
          <a:prstGeom prst="rect">
            <a:avLst/>
          </a:prstGeom>
        </p:spPr>
        <p:txBody>
          <a:bodyPr lIns="121860" tIns="60929" rIns="121860" bIns="60929"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1218565" rtl="0" eaLnBrk="1" fontAlgn="base" latinLnBrk="0" hangingPunct="1">
              <a:lnSpc>
                <a:spcPct val="100000"/>
              </a:lnSpc>
              <a:spcBef>
                <a:spcPct val="0"/>
              </a:spcBef>
              <a:spcAft>
                <a:spcPct val="0"/>
              </a:spcAft>
              <a:buClrTx/>
              <a:buSzTx/>
              <a:buFontTx/>
              <a:buNone/>
              <a:defRPr/>
            </a:pPr>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第</a:t>
            </a:r>
            <a:fld id="{59289A8C-BE81-4798-AA0F-338892BB7184}" type="slidenum">
              <a:rPr kumimoji="1" lang="zh-CN" altLang="en-US" sz="1300" b="0" i="0" u="none" strike="noStrike" kern="1200" cap="none" spc="0" normalizeH="0" baseline="0" noProof="0" dirty="0" smtClean="0">
                <a:ln>
                  <a:noFill/>
                </a:ln>
                <a:solidFill>
                  <a:srgbClr val="898989"/>
                </a:solidFill>
                <a:effectLst/>
                <a:uLnTx/>
                <a:uFillTx/>
                <a:latin typeface="Arial" panose="020B0604020202020204"/>
                <a:ea typeface="黑体" panose="02010609060101010101" charset="-122"/>
                <a:cs typeface="+mn-cs"/>
              </a:rPr>
            </a:fld>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页</a:t>
            </a:r>
            <a:r>
              <a:rPr kumimoji="0" lang="en-US" altLang="zh-CN"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a:t>
            </a:r>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共</a:t>
            </a:r>
            <a:r>
              <a:rPr kumimoji="0" lang="en-US" altLang="zh-CN"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64</a:t>
            </a:r>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页</a:t>
            </a:r>
            <a:endPar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ctr" rtl="0" eaLnBrk="0" fontAlgn="base" hangingPunct="0">
        <a:spcBef>
          <a:spcPct val="0"/>
        </a:spcBef>
        <a:spcAft>
          <a:spcPct val="0"/>
        </a:spcAft>
        <a:defRPr sz="4800" b="1">
          <a:solidFill>
            <a:schemeClr val="hlink"/>
          </a:solidFill>
          <a:latin typeface="+mj-lt"/>
          <a:ea typeface="+mj-ea"/>
          <a:cs typeface="+mj-cs"/>
        </a:defRPr>
      </a:lvl1pPr>
      <a:lvl2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2pPr>
      <a:lvl3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3pPr>
      <a:lvl4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4pPr>
      <a:lvl5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5pPr>
      <a:lvl6pPr marL="609600"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6pPr>
      <a:lvl7pPr marL="1218565"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7pPr>
      <a:lvl8pPr marL="1828165"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8pPr>
      <a:lvl9pPr marL="2437765"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Clr>
          <a:schemeClr val="folHlink"/>
        </a:buClr>
        <a:buSzPct val="60000"/>
        <a:buFont typeface="Wingdings" panose="05000000000000000000" pitchFamily="2" charset="2"/>
        <a:buChar char="n"/>
        <a:defRPr sz="4265" b="1">
          <a:solidFill>
            <a:srgbClr val="0000FF"/>
          </a:solidFill>
          <a:latin typeface="+mn-lt"/>
          <a:ea typeface="+mn-ea"/>
          <a:cs typeface="+mn-cs"/>
        </a:defRPr>
      </a:lvl1pPr>
      <a:lvl2pPr marL="989965" indent="-381000" algn="l" rtl="0" eaLnBrk="0" fontAlgn="base" hangingPunct="0">
        <a:spcBef>
          <a:spcPct val="20000"/>
        </a:spcBef>
        <a:spcAft>
          <a:spcPct val="0"/>
        </a:spcAft>
        <a:buClr>
          <a:schemeClr val="hlink"/>
        </a:buClr>
        <a:buSzPct val="55000"/>
        <a:buFont typeface="Wingdings" panose="05000000000000000000" pitchFamily="2" charset="2"/>
        <a:buChar char="n"/>
        <a:defRPr sz="3735" b="1">
          <a:solidFill>
            <a:schemeClr val="tx1"/>
          </a:solidFill>
          <a:latin typeface="+mn-lt"/>
          <a:ea typeface="+mn-ea"/>
        </a:defRPr>
      </a:lvl2pPr>
      <a:lvl3pPr marL="1523365" indent="-304800" algn="l" rtl="0" eaLnBrk="0" fontAlgn="base" hangingPunct="0">
        <a:spcBef>
          <a:spcPct val="20000"/>
        </a:spcBef>
        <a:spcAft>
          <a:spcPct val="0"/>
        </a:spcAft>
        <a:buClr>
          <a:schemeClr val="folHlink"/>
        </a:buClr>
        <a:buSzPct val="50000"/>
        <a:buFont typeface="Wingdings" panose="05000000000000000000" pitchFamily="2" charset="2"/>
        <a:buChar char="n"/>
        <a:defRPr sz="3200" b="1">
          <a:solidFill>
            <a:schemeClr val="tx1"/>
          </a:solidFill>
          <a:latin typeface="+mn-lt"/>
          <a:ea typeface="+mn-ea"/>
        </a:defRPr>
      </a:lvl3pPr>
      <a:lvl4pPr marL="2132965" indent="-304800" algn="l" rtl="0" eaLnBrk="0" fontAlgn="base" hangingPunct="0">
        <a:spcBef>
          <a:spcPct val="20000"/>
        </a:spcBef>
        <a:spcAft>
          <a:spcPct val="0"/>
        </a:spcAft>
        <a:buClr>
          <a:schemeClr val="accent2"/>
        </a:buClr>
        <a:buSzPct val="55000"/>
        <a:buFont typeface="Wingdings" panose="05000000000000000000" pitchFamily="2" charset="2"/>
        <a:buChar char="n"/>
        <a:defRPr sz="2665" b="1">
          <a:solidFill>
            <a:schemeClr val="tx1"/>
          </a:solidFill>
          <a:latin typeface="+mn-lt"/>
          <a:ea typeface="+mn-ea"/>
        </a:defRPr>
      </a:lvl4pPr>
      <a:lvl5pPr marL="2741295"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5pPr>
      <a:lvl6pPr marL="3350895"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6pPr>
      <a:lvl7pPr marL="3960495"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7pPr>
      <a:lvl8pPr marL="4569460"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8pPr>
      <a:lvl9pPr marL="5179060"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095" algn="l" defTabSz="1218565" rtl="0" eaLnBrk="1" latinLnBrk="0" hangingPunct="1">
        <a:defRPr sz="2400" kern="1200">
          <a:solidFill>
            <a:schemeClr val="tx1"/>
          </a:solidFill>
          <a:latin typeface="+mn-lt"/>
          <a:ea typeface="+mn-ea"/>
          <a:cs typeface="+mn-cs"/>
        </a:defRPr>
      </a:lvl6pPr>
      <a:lvl7pPr marL="3655695" algn="l" defTabSz="1218565" rtl="0" eaLnBrk="1" latinLnBrk="0" hangingPunct="1">
        <a:defRPr sz="2400" kern="1200">
          <a:solidFill>
            <a:schemeClr val="tx1"/>
          </a:solidFill>
          <a:latin typeface="+mn-lt"/>
          <a:ea typeface="+mn-ea"/>
          <a:cs typeface="+mn-cs"/>
        </a:defRPr>
      </a:lvl7pPr>
      <a:lvl8pPr marL="4265295" algn="l" defTabSz="1218565" rtl="0" eaLnBrk="1" latinLnBrk="0" hangingPunct="1">
        <a:defRPr sz="2400" kern="1200">
          <a:solidFill>
            <a:schemeClr val="tx1"/>
          </a:solidFill>
          <a:latin typeface="+mn-lt"/>
          <a:ea typeface="+mn-ea"/>
          <a:cs typeface="+mn-cs"/>
        </a:defRPr>
      </a:lvl8pPr>
      <a:lvl9pPr marL="4874260" algn="l" defTabSz="121856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image" Target="../media/image7.png"/><Relationship Id="rId7" Type="http://schemas.openxmlformats.org/officeDocument/2006/relationships/tags" Target="../tags/tag2.xml"/><Relationship Id="rId6" Type="http://schemas.openxmlformats.org/officeDocument/2006/relationships/image" Target="../media/image6.png"/><Relationship Id="rId5" Type="http://schemas.openxmlformats.org/officeDocument/2006/relationships/tags" Target="../tags/tag1.xml"/><Relationship Id="rId4" Type="http://schemas.openxmlformats.org/officeDocument/2006/relationships/image" Target="../media/image5.jpeg"/><Relationship Id="rId3" Type="http://schemas.openxmlformats.org/officeDocument/2006/relationships/image" Target="../media/image4.png"/><Relationship Id="rId2" Type="http://schemas.openxmlformats.org/officeDocument/2006/relationships/image" Target="../media/image3.png"/><Relationship Id="rId15" Type="http://schemas.openxmlformats.org/officeDocument/2006/relationships/notesSlide" Target="../notesSlides/notesSlide2.xml"/><Relationship Id="rId14" Type="http://schemas.openxmlformats.org/officeDocument/2006/relationships/slideLayout" Target="../slideLayouts/slideLayout2.xml"/><Relationship Id="rId13" Type="http://schemas.openxmlformats.org/officeDocument/2006/relationships/image" Target="../media/image12.png"/><Relationship Id="rId12" Type="http://schemas.openxmlformats.org/officeDocument/2006/relationships/image" Target="../media/image11.jpeg"/><Relationship Id="rId11" Type="http://schemas.openxmlformats.org/officeDocument/2006/relationships/image" Target="../media/image10.png"/><Relationship Id="rId10" Type="http://schemas.openxmlformats.org/officeDocument/2006/relationships/image" Target="../media/image9.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4.xml.rels><?xml version="1.0" encoding="UTF-8" standalone="yes"?>
<Relationships xmlns="http://schemas.openxmlformats.org/package/2006/relationships"><Relationship Id="rId9" Type="http://schemas.openxmlformats.org/officeDocument/2006/relationships/image" Target="../media/image24.png"/><Relationship Id="rId8" Type="http://schemas.openxmlformats.org/officeDocument/2006/relationships/image" Target="../media/image23.png"/><Relationship Id="rId7" Type="http://schemas.openxmlformats.org/officeDocument/2006/relationships/image" Target="../media/image22.png"/><Relationship Id="rId6" Type="http://schemas.openxmlformats.org/officeDocument/2006/relationships/image" Target="../media/image21.png"/><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image" Target="../media/image20.png"/><Relationship Id="rId11" Type="http://schemas.openxmlformats.org/officeDocument/2006/relationships/notesSlide" Target="../notesSlides/notesSlide4.xml"/><Relationship Id="rId10" Type="http://schemas.openxmlformats.org/officeDocument/2006/relationships/slideLayout" Target="../slideLayouts/slideLayout2.xml"/><Relationship Id="rId1" Type="http://schemas.openxmlformats.org/officeDocument/2006/relationships/image" Target="../media/image19.png"/></Relationships>
</file>

<file path=ppt/slides/_rels/slide5.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slideLayout" Target="../slideLayouts/slideLayout2.xml"/><Relationship Id="rId7" Type="http://schemas.openxmlformats.org/officeDocument/2006/relationships/image" Target="../media/image31.png"/><Relationship Id="rId6" Type="http://schemas.openxmlformats.org/officeDocument/2006/relationships/image" Target="../media/image30.png"/><Relationship Id="rId5" Type="http://schemas.openxmlformats.org/officeDocument/2006/relationships/image" Target="../media/image29.emf"/><Relationship Id="rId4" Type="http://schemas.openxmlformats.org/officeDocument/2006/relationships/image" Target="../media/image28.emf"/><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image" Target="../media/image25.emf"/></Relationships>
</file>

<file path=ppt/slides/_rels/slide6.xml.rels><?xml version="1.0" encoding="UTF-8" standalone="yes"?>
<Relationships xmlns="http://schemas.openxmlformats.org/package/2006/relationships"><Relationship Id="rId9" Type="http://schemas.openxmlformats.org/officeDocument/2006/relationships/image" Target="../media/image37.wmf"/><Relationship Id="rId8" Type="http://schemas.openxmlformats.org/officeDocument/2006/relationships/image" Target="../media/image36.wmf"/><Relationship Id="rId7" Type="http://schemas.openxmlformats.org/officeDocument/2006/relationships/oleObject" Target="../embeddings/oleObject2.bin"/><Relationship Id="rId6" Type="http://schemas.openxmlformats.org/officeDocument/2006/relationships/image" Target="../media/image35.png"/><Relationship Id="rId5" Type="http://schemas.openxmlformats.org/officeDocument/2006/relationships/tags" Target="../tags/tag6.xml"/><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32.wmf"/><Relationship Id="rId12" Type="http://schemas.openxmlformats.org/officeDocument/2006/relationships/notesSlide" Target="../notesSlides/notesSlide6.xml"/><Relationship Id="rId11" Type="http://schemas.openxmlformats.org/officeDocument/2006/relationships/vmlDrawing" Target="../drawings/vmlDrawing1.vml"/><Relationship Id="rId10" Type="http://schemas.openxmlformats.org/officeDocument/2006/relationships/slideLayout" Target="../slideLayouts/slideLayout2.xml"/><Relationship Id="rId1"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openxmlformats.org/officeDocument/2006/relationships/image" Target="../media/image45.png"/><Relationship Id="rId7" Type="http://schemas.openxmlformats.org/officeDocument/2006/relationships/image" Target="../media/image44.png"/><Relationship Id="rId6" Type="http://schemas.openxmlformats.org/officeDocument/2006/relationships/image" Target="../media/image43.jpeg"/><Relationship Id="rId5" Type="http://schemas.openxmlformats.org/officeDocument/2006/relationships/image" Target="../media/image42.jpeg"/><Relationship Id="rId4" Type="http://schemas.openxmlformats.org/officeDocument/2006/relationships/image" Target="../media/image41.png"/><Relationship Id="rId3" Type="http://schemas.openxmlformats.org/officeDocument/2006/relationships/image" Target="../media/image40.png"/><Relationship Id="rId2" Type="http://schemas.openxmlformats.org/officeDocument/2006/relationships/image" Target="../media/image39.jpeg"/><Relationship Id="rId10" Type="http://schemas.openxmlformats.org/officeDocument/2006/relationships/notesSlide" Target="../notesSlides/notesSlide7.xml"/><Relationship Id="rId1" Type="http://schemas.openxmlformats.org/officeDocument/2006/relationships/image" Target="../media/image3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1828692"/>
            <a:ext cx="12252960" cy="4489272"/>
            <a:chOff x="-1524000" y="1812364"/>
            <a:chExt cx="12252960" cy="4489272"/>
          </a:xfrm>
        </p:grpSpPr>
        <p:sp>
          <p:nvSpPr>
            <p:cNvPr id="6" name="Text Box 2"/>
            <p:cNvSpPr txBox="1">
              <a:spLocks noChangeArrowheads="1"/>
            </p:cNvSpPr>
            <p:nvPr/>
          </p:nvSpPr>
          <p:spPr bwMode="auto">
            <a:xfrm>
              <a:off x="-1524000" y="1812364"/>
              <a:ext cx="12192000" cy="1938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pPr>
              <a:r>
                <a:rPr lang="zh-CN" altLang="en-US" sz="4800" b="1" dirty="0">
                  <a:solidFill>
                    <a:srgbClr val="FF0000"/>
                  </a:solidFill>
                  <a:latin typeface="方正大黑简体" panose="03000509000000000000" pitchFamily="65" charset="-122"/>
                  <a:ea typeface="方正大黑简体" panose="03000509000000000000" pitchFamily="65" charset="-122"/>
                </a:rPr>
                <a:t>压后效果综合评价</a:t>
              </a:r>
              <a:endParaRPr lang="zh-CN" altLang="en-US" sz="4800" b="1" dirty="0">
                <a:solidFill>
                  <a:srgbClr val="FF0000"/>
                </a:solidFill>
                <a:latin typeface="方正大黑简体" panose="03000509000000000000" pitchFamily="65" charset="-122"/>
                <a:ea typeface="方正大黑简体" panose="03000509000000000000" pitchFamily="65" charset="-122"/>
              </a:endParaRPr>
            </a:p>
            <a:p>
              <a:pPr algn="ctr" fontAlgn="base">
                <a:spcBef>
                  <a:spcPct val="50000"/>
                </a:spcBef>
                <a:spcAft>
                  <a:spcPct val="0"/>
                </a:spcAft>
              </a:pPr>
              <a:r>
                <a:rPr lang="zh-CN" altLang="en-US" sz="4800" b="1" dirty="0">
                  <a:solidFill>
                    <a:srgbClr val="FF0000"/>
                  </a:solidFill>
                  <a:latin typeface="方正大黑简体" panose="03000509000000000000" pitchFamily="65" charset="-122"/>
                  <a:ea typeface="方正大黑简体" panose="03000509000000000000" pitchFamily="65" charset="-122"/>
                  <a:sym typeface="+mn-ea"/>
                </a:rPr>
                <a:t>技术介绍</a:t>
              </a:r>
              <a:endParaRPr lang="zh-CN" altLang="en-US" sz="4800" b="1" dirty="0">
                <a:solidFill>
                  <a:srgbClr val="FF0000"/>
                </a:solidFill>
                <a:latin typeface="方正大黑简体" panose="03000509000000000000" pitchFamily="65" charset="-122"/>
                <a:ea typeface="方正大黑简体" panose="03000509000000000000" pitchFamily="65" charset="-122"/>
                <a:sym typeface="+mn-ea"/>
              </a:endParaRPr>
            </a:p>
          </p:txBody>
        </p:sp>
        <p:sp>
          <p:nvSpPr>
            <p:cNvPr id="10" name="Text Box 4"/>
            <p:cNvSpPr txBox="1">
              <a:spLocks noChangeArrowheads="1"/>
            </p:cNvSpPr>
            <p:nvPr/>
          </p:nvSpPr>
          <p:spPr bwMode="auto">
            <a:xfrm>
              <a:off x="-1523999" y="5933336"/>
              <a:ext cx="1219200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b="1" dirty="0">
                  <a:solidFill>
                    <a:srgbClr val="000000"/>
                  </a:solidFill>
                  <a:latin typeface="楷体" panose="02010609060101010101" pitchFamily="49" charset="-122"/>
                  <a:ea typeface="楷体" panose="02010609060101010101" pitchFamily="49" charset="-122"/>
                </a:rPr>
                <a:t>2025</a:t>
              </a:r>
              <a:r>
                <a:rPr lang="zh-CN" altLang="en-US" b="1" dirty="0">
                  <a:solidFill>
                    <a:srgbClr val="000000"/>
                  </a:solidFill>
                  <a:latin typeface="楷体" panose="02010609060101010101" pitchFamily="49" charset="-122"/>
                  <a:ea typeface="楷体" panose="02010609060101010101" pitchFamily="49" charset="-122"/>
                </a:rPr>
                <a:t>年</a:t>
              </a:r>
              <a:r>
                <a:rPr lang="en-US" altLang="zh-CN" b="1" dirty="0">
                  <a:solidFill>
                    <a:srgbClr val="000000"/>
                  </a:solidFill>
                  <a:latin typeface="楷体" panose="02010609060101010101" pitchFamily="49" charset="-122"/>
                  <a:ea typeface="楷体" panose="02010609060101010101" pitchFamily="49" charset="-122"/>
                </a:rPr>
                <a:t>3</a:t>
              </a:r>
              <a:r>
                <a:rPr lang="zh-CN" altLang="en-US" b="1" dirty="0">
                  <a:solidFill>
                    <a:srgbClr val="000000"/>
                  </a:solidFill>
                  <a:latin typeface="楷体" panose="02010609060101010101" pitchFamily="49" charset="-122"/>
                  <a:ea typeface="楷体" panose="02010609060101010101" pitchFamily="49" charset="-122"/>
                </a:rPr>
                <a:t>月</a:t>
              </a:r>
              <a:r>
                <a:rPr lang="en-US" altLang="zh-CN" b="1" dirty="0">
                  <a:solidFill>
                    <a:srgbClr val="000000"/>
                  </a:solidFill>
                  <a:latin typeface="楷体" panose="02010609060101010101" pitchFamily="49" charset="-122"/>
                  <a:ea typeface="楷体" panose="02010609060101010101" pitchFamily="49" charset="-122"/>
                </a:rPr>
                <a:t>28</a:t>
              </a:r>
              <a:r>
                <a:rPr lang="zh-CN" altLang="en-US" b="1" dirty="0">
                  <a:solidFill>
                    <a:srgbClr val="000000"/>
                  </a:solidFill>
                  <a:latin typeface="楷体" panose="02010609060101010101" pitchFamily="49" charset="-122"/>
                  <a:ea typeface="楷体" panose="02010609060101010101" pitchFamily="49" charset="-122"/>
                </a:rPr>
                <a:t>日</a:t>
              </a:r>
              <a:endParaRPr lang="zh-CN" altLang="en-US" b="1" dirty="0">
                <a:solidFill>
                  <a:srgbClr val="000000"/>
                </a:solidFill>
                <a:latin typeface="楷体" panose="02010609060101010101" pitchFamily="49" charset="-122"/>
                <a:ea typeface="楷体" panose="02010609060101010101" pitchFamily="49" charset="-122"/>
              </a:endParaRPr>
            </a:p>
          </p:txBody>
        </p:sp>
        <p:sp>
          <p:nvSpPr>
            <p:cNvPr id="11" name="矩形 3"/>
            <p:cNvSpPr>
              <a:spLocks noChangeArrowheads="1"/>
            </p:cNvSpPr>
            <p:nvPr/>
          </p:nvSpPr>
          <p:spPr bwMode="auto">
            <a:xfrm>
              <a:off x="-1463040" y="5473321"/>
              <a:ext cx="121920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dirty="0">
                  <a:solidFill>
                    <a:srgbClr val="000000"/>
                  </a:solidFill>
                  <a:latin typeface="方正大黑简体" panose="03000509000000000000" pitchFamily="65" charset="-122"/>
                  <a:ea typeface="方正大黑简体" panose="03000509000000000000" pitchFamily="65" charset="-122"/>
                </a:rPr>
                <a:t>汇 报 人：胡晓东</a:t>
              </a:r>
              <a:endParaRPr lang="en-US" altLang="zh-CN" sz="2400" b="1" dirty="0">
                <a:solidFill>
                  <a:srgbClr val="000000"/>
                </a:solidFill>
                <a:latin typeface="方正大黑简体" panose="03000509000000000000" pitchFamily="65" charset="-122"/>
                <a:ea typeface="方正大黑简体" panose="03000509000000000000" pitchFamily="65" charset="-122"/>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一、</a:t>
            </a: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引言</a:t>
            </a:r>
            <a:endPar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8" name="文本框 7"/>
          <p:cNvSpPr txBox="1"/>
          <p:nvPr/>
        </p:nvSpPr>
        <p:spPr>
          <a:xfrm>
            <a:off x="335280" y="786765"/>
            <a:ext cx="11642090" cy="3175000"/>
          </a:xfrm>
          <a:prstGeom prst="rect">
            <a:avLst/>
          </a:prstGeom>
          <a:noFill/>
        </p:spPr>
        <p:txBody>
          <a:bodyPr wrap="square">
            <a:noAutofit/>
          </a:bodyPr>
          <a:lstStyle/>
          <a:p>
            <a:pPr marL="342265" indent="-342900">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sym typeface="+mn-ea"/>
              </a:rPr>
              <a:t>我国页岩油气资源丰富，</a:t>
            </a:r>
            <a:r>
              <a:rPr lang="zh-CN" altLang="en-US" sz="1600" dirty="0">
                <a:solidFill>
                  <a:srgbClr val="FF0000"/>
                </a:solidFill>
                <a:latin typeface="微软雅黑" panose="020B0503020204020204" pitchFamily="34" charset="-122"/>
                <a:ea typeface="微软雅黑" panose="020B0503020204020204" pitchFamily="34" charset="-122"/>
                <a:sym typeface="+mn-ea"/>
              </a:rPr>
              <a:t>水力压裂技术</a:t>
            </a:r>
            <a:r>
              <a:rPr lang="zh-CN" altLang="en-US" sz="1600" dirty="0">
                <a:solidFill>
                  <a:prstClr val="black"/>
                </a:solidFill>
                <a:latin typeface="微软雅黑" panose="020B0503020204020204" pitchFamily="34" charset="-122"/>
                <a:ea typeface="微软雅黑" panose="020B0503020204020204" pitchFamily="34" charset="-122"/>
                <a:sym typeface="+mn-ea"/>
              </a:rPr>
              <a:t>是实现非常规油气增产改造的重要手段</a:t>
            </a:r>
            <a:endParaRPr lang="zh-CN" altLang="en-US" sz="1600" dirty="0">
              <a:solidFill>
                <a:prstClr val="black"/>
              </a:solidFill>
              <a:latin typeface="微软雅黑" panose="020B0503020204020204" pitchFamily="34" charset="-122"/>
              <a:ea typeface="微软雅黑" panose="020B0503020204020204" pitchFamily="34" charset="-122"/>
              <a:sym typeface="+mn-ea"/>
            </a:endParaRPr>
          </a:p>
          <a:p>
            <a:pPr marL="342265" indent="-342900">
              <a:lnSpc>
                <a:spcPct val="150000"/>
              </a:lnSpc>
              <a:buClr>
                <a:srgbClr val="FF0000"/>
              </a:buClr>
              <a:buFont typeface="Wingdings" panose="05000000000000000000" pitchFamily="2" charset="2"/>
              <a:buChar char="l"/>
            </a:pPr>
            <a:r>
              <a:rPr lang="zh-CN" altLang="en-US" sz="1600" dirty="0">
                <a:solidFill>
                  <a:srgbClr val="FF0000"/>
                </a:solidFill>
                <a:latin typeface="微软雅黑" panose="020B0503020204020204" pitchFamily="34" charset="-122"/>
                <a:ea typeface="微软雅黑" panose="020B0503020204020204" pitchFamily="34" charset="-122"/>
                <a:sym typeface="+mn-ea"/>
              </a:rPr>
              <a:t>综合评估压裂效果</a:t>
            </a:r>
            <a:r>
              <a:rPr lang="zh-CN" altLang="en-US" sz="1600" dirty="0">
                <a:solidFill>
                  <a:prstClr val="black"/>
                </a:solidFill>
                <a:latin typeface="微软雅黑" panose="020B0503020204020204" pitchFamily="34" charset="-122"/>
                <a:ea typeface="微软雅黑" panose="020B0503020204020204" pitchFamily="34" charset="-122"/>
                <a:sym typeface="+mn-ea"/>
              </a:rPr>
              <a:t>并提出实时优化调控方案，是水力压裂和现场生产的重大需求</a:t>
            </a:r>
            <a:endParaRPr lang="zh-CN" altLang="en-US" sz="1600" dirty="0">
              <a:solidFill>
                <a:prstClr val="black"/>
              </a:solidFill>
              <a:latin typeface="微软雅黑" panose="020B0503020204020204" pitchFamily="34" charset="-122"/>
              <a:ea typeface="微软雅黑" panose="020B0503020204020204" pitchFamily="34" charset="-122"/>
            </a:endParaRPr>
          </a:p>
          <a:p>
            <a:pPr marL="342265" indent="-342900">
              <a:lnSpc>
                <a:spcPct val="150000"/>
              </a:lnSpc>
              <a:buClr>
                <a:srgbClr val="FF0000"/>
              </a:buClr>
              <a:buFont typeface="Wingdings" panose="05000000000000000000" pitchFamily="2" charset="2"/>
              <a:buChar char="l"/>
            </a:pPr>
            <a:r>
              <a:rPr lang="zh-CN" altLang="en-US" sz="1600" kern="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目前应用于水力压裂诊断监测的主要技术包括压裂过程的压力曲线分析等</a:t>
            </a:r>
            <a:r>
              <a:rPr lang="zh-CN" altLang="en-US" sz="1600" kern="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间接诊断方法</a:t>
            </a:r>
            <a:r>
              <a:rPr lang="zh-CN" altLang="en-US" sz="1600" kern="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，示踪剂、测斜仪、井下成像等</a:t>
            </a:r>
            <a:r>
              <a:rPr lang="zh-CN" altLang="en-US" sz="1600" kern="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近井直接诊断方法</a:t>
            </a:r>
            <a:r>
              <a:rPr lang="zh-CN" altLang="en-US" sz="1600" kern="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，井下微地震等</a:t>
            </a:r>
            <a:r>
              <a:rPr lang="zh-CN" altLang="en-US" sz="1600" kern="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远井直接诊断方法</a:t>
            </a:r>
            <a:r>
              <a:rPr lang="zh-CN" altLang="en-US" sz="1600" kern="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三大类型，</a:t>
            </a:r>
            <a:r>
              <a:rPr lang="zh-CN" altLang="en-US" sz="1600" kern="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受制于成本影响</a:t>
            </a:r>
            <a:r>
              <a:rPr lang="zh-CN" altLang="en-US" sz="1600" kern="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a:t>
            </a:r>
            <a:r>
              <a:rPr lang="zh-CN" altLang="en-US" sz="1600" kern="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应用难度较大</a:t>
            </a:r>
            <a:endParaRPr kumimoji="0" lang="en-US" altLang="zh-CN" sz="1600"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基于压裂施工过程中实时采集的</a:t>
            </a:r>
            <a:r>
              <a:rPr lang="zh-CN" altLang="en-US" sz="1600" dirty="0">
                <a:solidFill>
                  <a:prstClr val="black"/>
                </a:solidFill>
                <a:latin typeface="微软雅黑" panose="020B0503020204020204" pitchFamily="34" charset="-122"/>
                <a:ea typeface="微软雅黑" panose="020B0503020204020204" pitchFamily="34" charset="-122"/>
              </a:rPr>
              <a:t>压裂数据进行的综合评价技术，具有以下显著优势：</a:t>
            </a:r>
            <a:endParaRPr lang="zh-CN" altLang="en-US" sz="1600" dirty="0">
              <a:solidFill>
                <a:prstClr val="black"/>
              </a:solidFill>
              <a:latin typeface="微软雅黑" panose="020B0503020204020204" pitchFamily="34" charset="-122"/>
              <a:ea typeface="微软雅黑" panose="020B0503020204020204" pitchFamily="34" charset="-122"/>
            </a:endParaRPr>
          </a:p>
          <a:p>
            <a:pPr marL="799465" lvl="1" indent="-342900">
              <a:lnSpc>
                <a:spcPct val="150000"/>
              </a:lnSpc>
              <a:buClr>
                <a:srgbClr val="FF0000"/>
              </a:buClr>
              <a:buFont typeface="Wingdings" panose="05000000000000000000" charset="0"/>
              <a:buChar char="u"/>
            </a:pPr>
            <a:r>
              <a:rPr lang="zh-CN" altLang="en-US" sz="1600" dirty="0">
                <a:solidFill>
                  <a:srgbClr val="FF0000"/>
                </a:solidFill>
                <a:latin typeface="微软雅黑" panose="020B0503020204020204" pitchFamily="34" charset="-122"/>
                <a:ea typeface="微软雅黑" panose="020B0503020204020204" pitchFamily="34" charset="-122"/>
              </a:rPr>
              <a:t>经济高效</a:t>
            </a:r>
            <a:r>
              <a:rPr lang="zh-CN" altLang="en-US" sz="1600" dirty="0">
                <a:solidFill>
                  <a:prstClr val="black"/>
                </a:solidFill>
                <a:latin typeface="微软雅黑" panose="020B0503020204020204" pitchFamily="34" charset="-122"/>
                <a:ea typeface="微软雅黑" panose="020B0503020204020204" pitchFamily="34" charset="-122"/>
              </a:rPr>
              <a:t>：利用压裂过程中已获取的数据，无需额外测试设备和成本</a:t>
            </a:r>
            <a:endParaRPr lang="zh-CN" altLang="en-US" sz="1600" dirty="0">
              <a:solidFill>
                <a:prstClr val="black"/>
              </a:solidFill>
              <a:latin typeface="微软雅黑" panose="020B0503020204020204" pitchFamily="34" charset="-122"/>
              <a:ea typeface="微软雅黑" panose="020B0503020204020204" pitchFamily="34" charset="-122"/>
            </a:endParaRPr>
          </a:p>
          <a:p>
            <a:pPr marL="799465" lvl="1" indent="-342900">
              <a:lnSpc>
                <a:spcPct val="150000"/>
              </a:lnSpc>
              <a:buClr>
                <a:srgbClr val="FF0000"/>
              </a:buClr>
              <a:buFont typeface="Wingdings" panose="05000000000000000000" charset="0"/>
              <a:buChar char="u"/>
            </a:pPr>
            <a:r>
              <a:rPr lang="zh-CN" altLang="en-US" sz="1600" dirty="0">
                <a:solidFill>
                  <a:srgbClr val="FF0000"/>
                </a:solidFill>
                <a:latin typeface="微软雅黑" panose="020B0503020204020204" pitchFamily="34" charset="-122"/>
                <a:ea typeface="微软雅黑" panose="020B0503020204020204" pitchFamily="34" charset="-122"/>
              </a:rPr>
              <a:t>实时评价</a:t>
            </a:r>
            <a:r>
              <a:rPr lang="zh-CN" altLang="en-US" sz="1600" dirty="0">
                <a:solidFill>
                  <a:prstClr val="black"/>
                </a:solidFill>
                <a:latin typeface="微软雅黑" panose="020B0503020204020204" pitchFamily="34" charset="-122"/>
                <a:ea typeface="微软雅黑" panose="020B0503020204020204" pitchFamily="34" charset="-122"/>
              </a:rPr>
              <a:t>：可在施工过程中进行即时分析，</a:t>
            </a:r>
            <a:r>
              <a:rPr lang="zh-CN" altLang="en-US" sz="1600" dirty="0">
                <a:solidFill>
                  <a:prstClr val="black"/>
                </a:solidFill>
                <a:latin typeface="微软雅黑" panose="020B0503020204020204" pitchFamily="34" charset="-122"/>
                <a:ea typeface="微软雅黑" panose="020B0503020204020204" pitchFamily="34" charset="-122"/>
                <a:sym typeface="+mn-ea"/>
              </a:rPr>
              <a:t>实时给出结果</a:t>
            </a:r>
            <a:endParaRPr lang="zh-CN" altLang="en-US" sz="1600" dirty="0">
              <a:solidFill>
                <a:prstClr val="black"/>
              </a:solidFill>
              <a:latin typeface="微软雅黑" panose="020B0503020204020204" pitchFamily="34" charset="-122"/>
              <a:ea typeface="微软雅黑" panose="020B0503020204020204" pitchFamily="34" charset="-122"/>
            </a:endParaRPr>
          </a:p>
          <a:p>
            <a:pPr marL="799465" lvl="1" indent="-342900">
              <a:lnSpc>
                <a:spcPct val="150000"/>
              </a:lnSpc>
              <a:buClr>
                <a:srgbClr val="FF0000"/>
              </a:buClr>
              <a:buFont typeface="Wingdings" panose="05000000000000000000" charset="0"/>
              <a:buChar char="u"/>
            </a:pPr>
            <a:r>
              <a:rPr lang="zh-CN" altLang="en-US" sz="1600" dirty="0">
                <a:solidFill>
                  <a:srgbClr val="FF0000"/>
                </a:solidFill>
                <a:latin typeface="微软雅黑" panose="020B0503020204020204" pitchFamily="34" charset="-122"/>
                <a:ea typeface="微软雅黑" panose="020B0503020204020204" pitchFamily="34" charset="-122"/>
              </a:rPr>
              <a:t>全面解释</a:t>
            </a:r>
            <a:r>
              <a:rPr lang="zh-CN" altLang="en-US" sz="1600" dirty="0">
                <a:solidFill>
                  <a:prstClr val="black"/>
                </a:solidFill>
                <a:latin typeface="微软雅黑" panose="020B0503020204020204" pitchFamily="34" charset="-122"/>
                <a:ea typeface="微软雅黑" panose="020B0503020204020204" pitchFamily="34" charset="-122"/>
              </a:rPr>
              <a:t>：通过多种技术互补分析，全方位解读裂缝扩展特征</a:t>
            </a:r>
            <a:endParaRPr lang="zh-CN" altLang="en-US" sz="1600" dirty="0">
              <a:solidFill>
                <a:prstClr val="black"/>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117475" y="3806825"/>
            <a:ext cx="1960245" cy="1323975"/>
          </a:xfrm>
          <a:prstGeom prst="rect">
            <a:avLst/>
          </a:prstGeom>
        </p:spPr>
      </p:pic>
      <p:pic>
        <p:nvPicPr>
          <p:cNvPr id="9" name="图片 8"/>
          <p:cNvPicPr>
            <a:picLocks noChangeAspect="1"/>
          </p:cNvPicPr>
          <p:nvPr/>
        </p:nvPicPr>
        <p:blipFill>
          <a:blip r:embed="rId2"/>
          <a:stretch>
            <a:fillRect/>
          </a:stretch>
        </p:blipFill>
        <p:spPr>
          <a:xfrm>
            <a:off x="116840" y="5130800"/>
            <a:ext cx="1884045" cy="1383030"/>
          </a:xfrm>
          <a:prstGeom prst="rect">
            <a:avLst/>
          </a:prstGeom>
          <a:ln>
            <a:solidFill>
              <a:schemeClr val="tx1"/>
            </a:solidFill>
          </a:ln>
        </p:spPr>
      </p:pic>
      <p:pic>
        <p:nvPicPr>
          <p:cNvPr id="13" name="图片 1"/>
          <p:cNvPicPr>
            <a:picLocks noChangeAspect="1"/>
          </p:cNvPicPr>
          <p:nvPr/>
        </p:nvPicPr>
        <p:blipFill>
          <a:blip r:embed="rId3">
            <a:extLst>
              <a:ext uri="{28A0092B-C50C-407E-A947-70E740481C1C}">
                <a14:useLocalDpi xmlns:a14="http://schemas.microsoft.com/office/drawing/2010/main" val="0"/>
              </a:ext>
            </a:extLst>
          </a:blip>
          <a:srcRect b="8830"/>
          <a:stretch>
            <a:fillRect/>
          </a:stretch>
        </p:blipFill>
        <p:spPr bwMode="auto">
          <a:xfrm>
            <a:off x="7290435" y="3806825"/>
            <a:ext cx="4504690" cy="1323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Content Placeholder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749155" y="2056765"/>
            <a:ext cx="1952625" cy="1426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矩形 3"/>
          <p:cNvSpPr>
            <a:spLocks noChangeArrowheads="1"/>
          </p:cNvSpPr>
          <p:nvPr/>
        </p:nvSpPr>
        <p:spPr bwMode="auto">
          <a:xfrm>
            <a:off x="8500110" y="2883535"/>
            <a:ext cx="1249680"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400" b="1" dirty="0">
                <a:solidFill>
                  <a:srgbClr val="0000FF"/>
                </a:solidFill>
                <a:latin typeface="微软雅黑" panose="020B0503020204020204" pitchFamily="34" charset="-122"/>
                <a:ea typeface="微软雅黑" panose="020B0503020204020204" pitchFamily="34" charset="-122"/>
              </a:rPr>
              <a:t>压裂施工曲线</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8" name="上弧形箭头 12"/>
          <p:cNvSpPr>
            <a:spLocks noChangeArrowheads="1"/>
          </p:cNvSpPr>
          <p:nvPr/>
        </p:nvSpPr>
        <p:spPr bwMode="auto">
          <a:xfrm rot="8520000" flipV="1">
            <a:off x="7536815" y="2763520"/>
            <a:ext cx="2330450" cy="419100"/>
          </a:xfrm>
          <a:prstGeom prst="curvedDownArrow">
            <a:avLst>
              <a:gd name="adj1" fmla="val 25074"/>
              <a:gd name="adj2" fmla="val 50179"/>
              <a:gd name="adj3" fmla="val 25000"/>
            </a:avLst>
          </a:prstGeom>
          <a:solidFill>
            <a:srgbClr val="FF0000"/>
          </a:solidFill>
          <a:ln w="9525" algn="ctr">
            <a:solidFill>
              <a:schemeClr val="tx1"/>
            </a:solidFill>
            <a:round/>
          </a:ln>
        </p:spPr>
        <p:txBody>
          <a:bodyPr anchor="ctr">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60000"/>
              </a:lnSpc>
            </a:pPr>
            <a:endParaRPr lang="zh-CN" altLang="en-US" sz="2000" b="1">
              <a:ea typeface="楷体_GB2312" pitchFamily="49" charset="-122"/>
            </a:endParaRPr>
          </a:p>
        </p:txBody>
      </p:sp>
      <p:sp>
        <p:nvSpPr>
          <p:cNvPr id="19" name="矩形 15"/>
          <p:cNvSpPr>
            <a:spLocks noChangeArrowheads="1"/>
          </p:cNvSpPr>
          <p:nvPr/>
        </p:nvSpPr>
        <p:spPr bwMode="auto">
          <a:xfrm>
            <a:off x="7329805" y="6514465"/>
            <a:ext cx="442468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400" b="1" dirty="0">
                <a:solidFill>
                  <a:srgbClr val="0000FF"/>
                </a:solidFill>
                <a:latin typeface="微软雅黑" panose="020B0503020204020204" pitchFamily="34" charset="-122"/>
                <a:ea typeface="微软雅黑" panose="020B0503020204020204" pitchFamily="34" charset="-122"/>
              </a:rPr>
              <a:t>压裂效果解释</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pic>
        <p:nvPicPr>
          <p:cNvPr id="28" name="图片 27"/>
          <p:cNvPicPr>
            <a:picLocks noChangeAspect="1"/>
          </p:cNvPicPr>
          <p:nvPr>
            <p:custDataLst>
              <p:tags r:id="rId5"/>
            </p:custDataLst>
          </p:nvPr>
        </p:nvPicPr>
        <p:blipFill>
          <a:blip r:embed="rId6"/>
          <a:srcRect/>
          <a:stretch>
            <a:fillRect/>
          </a:stretch>
        </p:blipFill>
        <p:spPr>
          <a:xfrm>
            <a:off x="7330440" y="5120005"/>
            <a:ext cx="2087880" cy="1393190"/>
          </a:xfrm>
          <a:prstGeom prst="rect">
            <a:avLst/>
          </a:prstGeom>
          <a:ln>
            <a:solidFill>
              <a:schemeClr val="tx1"/>
            </a:solidFill>
          </a:ln>
        </p:spPr>
      </p:pic>
      <p:pic>
        <p:nvPicPr>
          <p:cNvPr id="29" name="图片 28"/>
          <p:cNvPicPr>
            <a:picLocks noChangeAspect="1"/>
          </p:cNvPicPr>
          <p:nvPr>
            <p:custDataLst>
              <p:tags r:id="rId7"/>
            </p:custDataLst>
          </p:nvPr>
        </p:nvPicPr>
        <p:blipFill>
          <a:blip r:embed="rId8"/>
          <a:srcRect/>
          <a:stretch>
            <a:fillRect/>
          </a:stretch>
        </p:blipFill>
        <p:spPr>
          <a:xfrm>
            <a:off x="9467215" y="5109845"/>
            <a:ext cx="2281555" cy="1403350"/>
          </a:xfrm>
          <a:prstGeom prst="rect">
            <a:avLst/>
          </a:prstGeom>
          <a:ln>
            <a:solidFill>
              <a:schemeClr val="tx1"/>
            </a:solidFill>
          </a:ln>
        </p:spPr>
      </p:pic>
      <p:pic>
        <p:nvPicPr>
          <p:cNvPr id="30" name="图片 29" descr="图片9"/>
          <p:cNvPicPr>
            <a:picLocks noChangeAspect="1"/>
          </p:cNvPicPr>
          <p:nvPr/>
        </p:nvPicPr>
        <p:blipFill>
          <a:blip r:embed="rId9"/>
          <a:stretch>
            <a:fillRect/>
          </a:stretch>
        </p:blipFill>
        <p:spPr>
          <a:xfrm>
            <a:off x="2117725" y="3806825"/>
            <a:ext cx="1367155" cy="1118870"/>
          </a:xfrm>
          <a:prstGeom prst="rect">
            <a:avLst/>
          </a:prstGeom>
        </p:spPr>
      </p:pic>
      <p:pic>
        <p:nvPicPr>
          <p:cNvPr id="31" name="图片 30" descr="图片10"/>
          <p:cNvPicPr>
            <a:picLocks noChangeAspect="1"/>
          </p:cNvPicPr>
          <p:nvPr/>
        </p:nvPicPr>
        <p:blipFill>
          <a:blip r:embed="rId10"/>
          <a:stretch>
            <a:fillRect/>
          </a:stretch>
        </p:blipFill>
        <p:spPr>
          <a:xfrm>
            <a:off x="3524885" y="3806825"/>
            <a:ext cx="1377315" cy="1118870"/>
          </a:xfrm>
          <a:prstGeom prst="rect">
            <a:avLst/>
          </a:prstGeom>
        </p:spPr>
      </p:pic>
      <p:pic>
        <p:nvPicPr>
          <p:cNvPr id="33" name="图片 32"/>
          <p:cNvPicPr>
            <a:picLocks noChangeAspect="1"/>
          </p:cNvPicPr>
          <p:nvPr/>
        </p:nvPicPr>
        <p:blipFill>
          <a:blip r:embed="rId11"/>
          <a:stretch>
            <a:fillRect/>
          </a:stretch>
        </p:blipFill>
        <p:spPr>
          <a:xfrm>
            <a:off x="2124075" y="4980305"/>
            <a:ext cx="2738120" cy="1535430"/>
          </a:xfrm>
          <a:prstGeom prst="rect">
            <a:avLst/>
          </a:prstGeom>
        </p:spPr>
      </p:pic>
      <p:grpSp>
        <p:nvGrpSpPr>
          <p:cNvPr id="77" name="组合 3"/>
          <p:cNvGrpSpPr/>
          <p:nvPr/>
        </p:nvGrpSpPr>
        <p:grpSpPr bwMode="auto">
          <a:xfrm rot="0">
            <a:off x="4982210" y="3806825"/>
            <a:ext cx="2228215" cy="2708275"/>
            <a:chOff x="331888" y="2560757"/>
            <a:chExt cx="4015726" cy="4127536"/>
          </a:xfrm>
        </p:grpSpPr>
        <p:pic>
          <p:nvPicPr>
            <p:cNvPr id="81" name="图片 1"/>
            <p:cNvPicPr>
              <a:picLocks noChangeAspect="1"/>
            </p:cNvPicPr>
            <p:nvPr/>
          </p:nvPicPr>
          <p:blipFill>
            <a:blip r:embed="rId12" cstate="print">
              <a:extLst>
                <a:ext uri="{28A0092B-C50C-407E-A947-70E740481C1C}">
                  <a14:useLocalDpi xmlns:a14="http://schemas.microsoft.com/office/drawing/2010/main" val="0"/>
                </a:ext>
              </a:extLst>
            </a:blip>
            <a:srcRect l="4848" t="2586" r="1830" b="9547"/>
            <a:stretch>
              <a:fillRect/>
            </a:stretch>
          </p:blipFill>
          <p:spPr bwMode="auto">
            <a:xfrm>
              <a:off x="331888" y="4429447"/>
              <a:ext cx="4015725" cy="2258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 name="图片 8"/>
            <p:cNvPicPr>
              <a:picLocks noChangeAspect="1"/>
            </p:cNvPicPr>
            <p:nvPr/>
          </p:nvPicPr>
          <p:blipFill>
            <a:blip r:embed="rId13" cstate="print">
              <a:extLst>
                <a:ext uri="{28A0092B-C50C-407E-A947-70E740481C1C}">
                  <a14:useLocalDpi xmlns:a14="http://schemas.microsoft.com/office/drawing/2010/main" val="0"/>
                </a:ext>
              </a:extLst>
            </a:blip>
            <a:srcRect t="-2" b="49168"/>
            <a:stretch>
              <a:fillRect/>
            </a:stretch>
          </p:blipFill>
          <p:spPr bwMode="auto">
            <a:xfrm>
              <a:off x="331889" y="2560757"/>
              <a:ext cx="4015725" cy="1788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矩形 15"/>
          <p:cNvSpPr>
            <a:spLocks noChangeArrowheads="1"/>
          </p:cNvSpPr>
          <p:nvPr/>
        </p:nvSpPr>
        <p:spPr bwMode="auto">
          <a:xfrm>
            <a:off x="117475" y="6513195"/>
            <a:ext cx="71062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400" b="1" dirty="0">
                <a:solidFill>
                  <a:srgbClr val="0000FF"/>
                </a:solidFill>
                <a:latin typeface="微软雅黑" panose="020B0503020204020204" pitchFamily="34" charset="-122"/>
                <a:ea typeface="微软雅黑" panose="020B0503020204020204" pitchFamily="34" charset="-122"/>
              </a:rPr>
              <a:t>压裂诊断监测方法</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二、</a:t>
            </a:r>
            <a:r>
              <a:rPr lang="en-US" altLang="zh-CN" sz="2400" b="1" kern="0" dirty="0">
                <a:solidFill>
                  <a:srgbClr val="FF0000"/>
                </a:solidFill>
                <a:latin typeface="微软雅黑" panose="020B0503020204020204" pitchFamily="34" charset="-122"/>
                <a:ea typeface="微软雅黑" panose="020B0503020204020204" pitchFamily="34" charset="-122"/>
              </a:rPr>
              <a:t>Notle-Smith</a:t>
            </a:r>
            <a:r>
              <a:rPr lang="zh-CN" altLang="en-US" sz="2400" b="1" kern="0" dirty="0">
                <a:solidFill>
                  <a:srgbClr val="FF0000"/>
                </a:solidFill>
                <a:latin typeface="微软雅黑" panose="020B0503020204020204" pitchFamily="34" charset="-122"/>
                <a:ea typeface="微软雅黑" panose="020B0503020204020204" pitchFamily="34" charset="-122"/>
              </a:rPr>
              <a:t>分析技术</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5280" y="758825"/>
            <a:ext cx="11642090" cy="2303780"/>
          </a:xfrm>
          <a:prstGeom prst="rect">
            <a:avLst/>
          </a:prstGeom>
          <a:noFill/>
        </p:spPr>
        <p:txBody>
          <a:bodyPr wrap="square">
            <a:noAutofit/>
          </a:bodyPr>
          <a:lstStyle/>
          <a:p>
            <a:pPr marL="342265" indent="-342900" algn="just">
              <a:lnSpc>
                <a:spcPct val="150000"/>
              </a:lnSpc>
              <a:buClr>
                <a:srgbClr val="FF0000"/>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Notle-Smith曲线</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是将井口净</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压力与时间绘制在双对数坐标上，利用</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曲线的斜率变化</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来判断裂缝扩展行为和压裂效果</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indent="-342900" algn="just">
              <a:lnSpc>
                <a:spcPct val="150000"/>
              </a:lnSpc>
              <a:buClr>
                <a:srgbClr val="FF0000"/>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根据Nolte-Smith方法，将曲线分为</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5种类型</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：Ⅰ型缓慢上升型、Ⅱ型稳定型、Ⅲ型上升型、Ⅳ型下降型、Ⅴ</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型波动型</a:t>
            </a:r>
            <a:endPar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Nolte-Smith</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方法处理后，能够清晰地识别井下</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裂缝扩展与延伸</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事件的特征，并反映压裂施工过程中的</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地质特征变化</a:t>
            </a:r>
            <a:endPar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目前</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可以通过分析压裂施工过程中</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泵压与时间的双对数曲线斜率来判断砂堵现象</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，利用曲线斜率</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对砂堵实时预警</a:t>
            </a:r>
            <a:endParaRPr lang="zh-CN" altLang="en-US" sz="1600" dirty="0">
              <a:solidFill>
                <a:prstClr val="black"/>
              </a:solidFill>
              <a:latin typeface="微软雅黑" panose="020B0503020204020204" pitchFamily="34" charset="-122"/>
              <a:ea typeface="微软雅黑" panose="020B0503020204020204" pitchFamily="34" charset="-122"/>
            </a:endParaRPr>
          </a:p>
        </p:txBody>
      </p:sp>
      <p:pic>
        <p:nvPicPr>
          <p:cNvPr id="11" name="图片 10"/>
          <p:cNvPicPr>
            <a:picLocks noChangeAspect="1"/>
          </p:cNvPicPr>
          <p:nvPr/>
        </p:nvPicPr>
        <p:blipFill>
          <a:blip r:embed="rId1"/>
          <a:srcRect l="16055" t="3364" r="3715"/>
          <a:stretch>
            <a:fillRect/>
          </a:stretch>
        </p:blipFill>
        <p:spPr>
          <a:xfrm>
            <a:off x="130810" y="4286885"/>
            <a:ext cx="2302510" cy="2005965"/>
          </a:xfrm>
          <a:prstGeom prst="rect">
            <a:avLst/>
          </a:prstGeom>
          <a:ln>
            <a:noFill/>
          </a:ln>
        </p:spPr>
      </p:pic>
      <p:pic>
        <p:nvPicPr>
          <p:cNvPr id="2" name="图片 1"/>
          <p:cNvPicPr>
            <a:picLocks noChangeAspect="1"/>
          </p:cNvPicPr>
          <p:nvPr/>
        </p:nvPicPr>
        <p:blipFill>
          <a:blip r:embed="rId2"/>
          <a:stretch>
            <a:fillRect/>
          </a:stretch>
        </p:blipFill>
        <p:spPr>
          <a:xfrm>
            <a:off x="130810" y="2272665"/>
            <a:ext cx="2303145" cy="2014855"/>
          </a:xfrm>
          <a:prstGeom prst="rect">
            <a:avLst/>
          </a:prstGeom>
          <a:ln>
            <a:noFill/>
          </a:ln>
        </p:spPr>
      </p:pic>
      <p:sp>
        <p:nvSpPr>
          <p:cNvPr id="25" name="矩形 22"/>
          <p:cNvSpPr>
            <a:spLocks noChangeArrowheads="1"/>
          </p:cNvSpPr>
          <p:nvPr/>
        </p:nvSpPr>
        <p:spPr bwMode="auto">
          <a:xfrm>
            <a:off x="129540" y="6291580"/>
            <a:ext cx="2303780" cy="3067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400" b="1" dirty="0">
                <a:solidFill>
                  <a:srgbClr val="0000FF"/>
                </a:solidFill>
                <a:latin typeface="微软雅黑" panose="020B0503020204020204" pitchFamily="34" charset="-122"/>
                <a:ea typeface="微软雅黑" panose="020B0503020204020204" pitchFamily="34" charset="-122"/>
              </a:rPr>
              <a:t>Notle-Smith</a:t>
            </a:r>
            <a:r>
              <a:rPr lang="zh-CN" altLang="en-US" sz="1400" b="1" dirty="0">
                <a:solidFill>
                  <a:srgbClr val="0000FF"/>
                </a:solidFill>
                <a:latin typeface="微软雅黑" panose="020B0503020204020204" pitchFamily="34" charset="-122"/>
                <a:ea typeface="微软雅黑" panose="020B0503020204020204" pitchFamily="34" charset="-122"/>
              </a:rPr>
              <a:t>曲线分类</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pic>
        <p:nvPicPr>
          <p:cNvPr id="26" name="图片 25"/>
          <p:cNvPicPr>
            <a:picLocks noChangeAspect="1"/>
          </p:cNvPicPr>
          <p:nvPr/>
        </p:nvPicPr>
        <p:blipFill>
          <a:blip r:embed="rId3"/>
          <a:stretch>
            <a:fillRect/>
          </a:stretch>
        </p:blipFill>
        <p:spPr>
          <a:xfrm>
            <a:off x="5929630" y="2273300"/>
            <a:ext cx="2838450" cy="2084070"/>
          </a:xfrm>
          <a:prstGeom prst="rect">
            <a:avLst/>
          </a:prstGeom>
          <a:ln>
            <a:noFill/>
          </a:ln>
        </p:spPr>
      </p:pic>
      <p:pic>
        <p:nvPicPr>
          <p:cNvPr id="29" name="图片 28"/>
          <p:cNvPicPr>
            <a:picLocks noChangeAspect="1"/>
          </p:cNvPicPr>
          <p:nvPr/>
        </p:nvPicPr>
        <p:blipFill>
          <a:blip r:embed="rId4"/>
          <a:srcRect l="5884" r="5660" b="6371"/>
          <a:stretch>
            <a:fillRect/>
          </a:stretch>
        </p:blipFill>
        <p:spPr>
          <a:xfrm>
            <a:off x="5938520" y="4427855"/>
            <a:ext cx="2837815" cy="1865630"/>
          </a:xfrm>
          <a:prstGeom prst="rect">
            <a:avLst/>
          </a:prstGeom>
          <a:ln>
            <a:noFill/>
          </a:ln>
        </p:spPr>
      </p:pic>
      <p:sp>
        <p:nvSpPr>
          <p:cNvPr id="31" name="矩形 22"/>
          <p:cNvSpPr>
            <a:spLocks noChangeArrowheads="1"/>
          </p:cNvSpPr>
          <p:nvPr/>
        </p:nvSpPr>
        <p:spPr bwMode="auto">
          <a:xfrm>
            <a:off x="6104255" y="6292850"/>
            <a:ext cx="2663825" cy="3067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400" b="1" dirty="0">
                <a:solidFill>
                  <a:srgbClr val="0000FF"/>
                </a:solidFill>
                <a:latin typeface="微软雅黑" panose="020B0503020204020204" pitchFamily="34" charset="-122"/>
                <a:ea typeface="微软雅黑" panose="020B0503020204020204" pitchFamily="34" charset="-122"/>
              </a:rPr>
              <a:t>曲线类型与改造体积关系</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5"/>
          <a:srcRect l="21911" r="1312" b="13046"/>
          <a:stretch>
            <a:fillRect/>
          </a:stretch>
        </p:blipFill>
        <p:spPr>
          <a:xfrm>
            <a:off x="8768080" y="2273300"/>
            <a:ext cx="3302635" cy="4020185"/>
          </a:xfrm>
          <a:prstGeom prst="rect">
            <a:avLst/>
          </a:prstGeom>
          <a:ln>
            <a:noFill/>
          </a:ln>
        </p:spPr>
      </p:pic>
      <p:pic>
        <p:nvPicPr>
          <p:cNvPr id="10" name="图片 9"/>
          <p:cNvPicPr>
            <a:picLocks noChangeAspect="1"/>
          </p:cNvPicPr>
          <p:nvPr/>
        </p:nvPicPr>
        <p:blipFill>
          <a:blip r:embed="rId6"/>
          <a:stretch>
            <a:fillRect/>
          </a:stretch>
        </p:blipFill>
        <p:spPr>
          <a:xfrm>
            <a:off x="2425065" y="2272030"/>
            <a:ext cx="3504565" cy="4020820"/>
          </a:xfrm>
          <a:prstGeom prst="rect">
            <a:avLst/>
          </a:prstGeom>
          <a:ln>
            <a:noFill/>
          </a:ln>
        </p:spPr>
      </p:pic>
      <p:sp>
        <p:nvSpPr>
          <p:cNvPr id="3" name="矩形 22"/>
          <p:cNvSpPr>
            <a:spLocks noChangeArrowheads="1"/>
          </p:cNvSpPr>
          <p:nvPr/>
        </p:nvSpPr>
        <p:spPr bwMode="auto">
          <a:xfrm>
            <a:off x="2560320" y="6292850"/>
            <a:ext cx="3377565" cy="3067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400" b="1" dirty="0">
                <a:solidFill>
                  <a:srgbClr val="0000FF"/>
                </a:solidFill>
                <a:latin typeface="微软雅黑" panose="020B0503020204020204" pitchFamily="34" charset="-122"/>
                <a:ea typeface="微软雅黑" panose="020B0503020204020204" pitchFamily="34" charset="-122"/>
              </a:rPr>
              <a:t>曲线类型及成因分析</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4" name="矩形 22"/>
          <p:cNvSpPr>
            <a:spLocks noChangeArrowheads="1"/>
          </p:cNvSpPr>
          <p:nvPr/>
        </p:nvSpPr>
        <p:spPr bwMode="auto">
          <a:xfrm>
            <a:off x="8775700" y="6292850"/>
            <a:ext cx="3303270" cy="3067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400" b="1" dirty="0">
                <a:solidFill>
                  <a:srgbClr val="0000FF"/>
                </a:solidFill>
                <a:latin typeface="微软雅黑" panose="020B0503020204020204" pitchFamily="34" charset="-122"/>
                <a:ea typeface="微软雅黑" panose="020B0503020204020204" pitchFamily="34" charset="-122"/>
              </a:rPr>
              <a:t>砂堵实时预警</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p:transition advTm="595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三、离散小波分析技术</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5280" y="758825"/>
            <a:ext cx="11642090" cy="1872615"/>
          </a:xfrm>
          <a:prstGeom prst="rect">
            <a:avLst/>
          </a:prstGeom>
          <a:noFill/>
        </p:spPr>
        <p:txBody>
          <a:bodyPr wrap="square">
            <a:noAutofit/>
          </a:bodyPr>
          <a:lstStyle/>
          <a:p>
            <a:pPr marL="342265" indent="-342900" algn="just">
              <a:lnSpc>
                <a:spcPct val="150000"/>
              </a:lnSpc>
              <a:buClr>
                <a:srgbClr val="FF0000"/>
              </a:buClr>
              <a:buFont typeface="Wingdings" panose="05000000000000000000" pitchFamily="2" charset="2"/>
              <a:buChar char="l"/>
            </a:pP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水力压裂信号是</a:t>
            </a: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非平稳</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的、</a:t>
            </a: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瞬态</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的，在不同频率上包含不同的信息，</a:t>
            </a: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传统的信号分析方法不具备时域分析能力</a:t>
            </a:r>
            <a:endPar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小波变换是一种常用的信号处理方法，相比于傅里叶变换和短时傅里叶变换，具有很好的</a:t>
            </a: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时间和频率局部化分析能力</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，因此可以通过小波变换</a:t>
            </a: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对压裂施工曲线进行多分辨率分析</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来识别裂缝扩展事件进而评估压裂效果</a:t>
            </a:r>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采用离散小波变换技术将压力、排量等信号分解到不同的时频域上，得到压裂施工曲线在</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不同时频分量上的特征</a:t>
            </a:r>
            <a:endPar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目前能够根据压力和排量的小波能量关系筛选出</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岩石类事件</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，并根据小波能量大小识别</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裂缝扩展的强度</a:t>
            </a:r>
            <a:endParaRPr lang="zh-CN" altLang="en-US" sz="1600" dirty="0">
              <a:solidFill>
                <a:prstClr val="black"/>
              </a:solidFill>
              <a:latin typeface="微软雅黑" panose="020B0503020204020204" pitchFamily="34" charset="-122"/>
              <a:ea typeface="微软雅黑" panose="020B0503020204020204" pitchFamily="34" charset="-122"/>
            </a:endParaRPr>
          </a:p>
        </p:txBody>
      </p:sp>
      <p:pic>
        <p:nvPicPr>
          <p:cNvPr id="10" name="图片 9"/>
          <p:cNvPicPr>
            <a:picLocks noChangeAspect="1"/>
          </p:cNvPicPr>
          <p:nvPr/>
        </p:nvPicPr>
        <p:blipFill>
          <a:blip r:embed="rId1"/>
          <a:stretch>
            <a:fillRect/>
          </a:stretch>
        </p:blipFill>
        <p:spPr>
          <a:xfrm>
            <a:off x="676910" y="2841668"/>
            <a:ext cx="3590444" cy="1600200"/>
          </a:xfrm>
          <a:prstGeom prst="rect">
            <a:avLst/>
          </a:prstGeom>
        </p:spPr>
      </p:pic>
      <p:pic>
        <p:nvPicPr>
          <p:cNvPr id="15" name="图片 14"/>
          <p:cNvPicPr>
            <a:picLocks noChangeAspect="1"/>
          </p:cNvPicPr>
          <p:nvPr/>
        </p:nvPicPr>
        <p:blipFill>
          <a:blip r:embed="rId2"/>
          <a:stretch>
            <a:fillRect/>
          </a:stretch>
        </p:blipFill>
        <p:spPr>
          <a:xfrm>
            <a:off x="1809388" y="4550136"/>
            <a:ext cx="2127209" cy="1815783"/>
          </a:xfrm>
          <a:prstGeom prst="rect">
            <a:avLst/>
          </a:prstGeom>
        </p:spPr>
      </p:pic>
      <p:sp>
        <p:nvSpPr>
          <p:cNvPr id="16" name="文本框 15"/>
          <p:cNvSpPr txBox="1"/>
          <p:nvPr>
            <p:custDataLst>
              <p:tags r:id="rId3"/>
            </p:custDataLst>
          </p:nvPr>
        </p:nvSpPr>
        <p:spPr>
          <a:xfrm>
            <a:off x="3594994" y="3005137"/>
            <a:ext cx="1488440" cy="337185"/>
          </a:xfrm>
          <a:prstGeom prst="rect">
            <a:avLst/>
          </a:prstGeom>
          <a:noFill/>
        </p:spPr>
        <p:txBody>
          <a:bodyPr wrap="square" rtlCol="0">
            <a:spAutoFit/>
          </a:bodyPr>
          <a:p>
            <a:pPr algn="r"/>
            <a:r>
              <a:rPr lang="zh-CN" altLang="en-US" sz="1600" b="1" dirty="0">
                <a:solidFill>
                  <a:srgbClr val="3E3FFC"/>
                </a:solidFill>
              </a:rPr>
              <a:t>细节系数</a:t>
            </a:r>
            <a:endParaRPr lang="zh-CN" altLang="en-US" sz="1600" b="1" dirty="0">
              <a:solidFill>
                <a:srgbClr val="3E3FFC"/>
              </a:solidFill>
            </a:endParaRPr>
          </a:p>
        </p:txBody>
      </p:sp>
      <p:sp>
        <p:nvSpPr>
          <p:cNvPr id="17" name="文本框 16"/>
          <p:cNvSpPr txBox="1"/>
          <p:nvPr>
            <p:custDataLst>
              <p:tags r:id="rId4"/>
            </p:custDataLst>
          </p:nvPr>
        </p:nvSpPr>
        <p:spPr>
          <a:xfrm>
            <a:off x="3587904" y="3602038"/>
            <a:ext cx="1488440" cy="337185"/>
          </a:xfrm>
          <a:prstGeom prst="rect">
            <a:avLst/>
          </a:prstGeom>
          <a:noFill/>
        </p:spPr>
        <p:txBody>
          <a:bodyPr wrap="square" rtlCol="0">
            <a:spAutoFit/>
          </a:bodyPr>
          <a:p>
            <a:pPr algn="r"/>
            <a:r>
              <a:rPr lang="zh-CN" altLang="en-US" sz="1600" b="1">
                <a:solidFill>
                  <a:srgbClr val="3E3FFC"/>
                </a:solidFill>
              </a:rPr>
              <a:t>近似系数</a:t>
            </a:r>
            <a:endParaRPr lang="zh-CN" altLang="en-US" sz="1600" b="1">
              <a:solidFill>
                <a:srgbClr val="3E3FFC"/>
              </a:solidFill>
            </a:endParaRPr>
          </a:p>
        </p:txBody>
      </p:sp>
      <p:sp>
        <p:nvSpPr>
          <p:cNvPr id="18" name="文本框 17"/>
          <p:cNvSpPr txBox="1"/>
          <p:nvPr>
            <p:custDataLst>
              <p:tags r:id="rId5"/>
            </p:custDataLst>
          </p:nvPr>
        </p:nvSpPr>
        <p:spPr>
          <a:xfrm>
            <a:off x="3143885" y="3955168"/>
            <a:ext cx="2049135" cy="337185"/>
          </a:xfrm>
          <a:prstGeom prst="rect">
            <a:avLst/>
          </a:prstGeom>
          <a:noFill/>
        </p:spPr>
        <p:txBody>
          <a:bodyPr wrap="square" rtlCol="0">
            <a:spAutoFit/>
          </a:bodyPr>
          <a:p>
            <a:r>
              <a:rPr lang="zh-CN" altLang="en-US" sz="1600" b="1" dirty="0">
                <a:solidFill>
                  <a:srgbClr val="3E3FFC"/>
                </a:solidFill>
              </a:rPr>
              <a:t>最大理论分解级数</a:t>
            </a:r>
            <a:endParaRPr lang="zh-CN" altLang="en-US" sz="1600" b="1" dirty="0">
              <a:solidFill>
                <a:srgbClr val="3E3FFC"/>
              </a:solidFill>
            </a:endParaRPr>
          </a:p>
        </p:txBody>
      </p:sp>
      <p:sp>
        <p:nvSpPr>
          <p:cNvPr id="19" name="文本框 18"/>
          <p:cNvSpPr txBox="1"/>
          <p:nvPr/>
        </p:nvSpPr>
        <p:spPr>
          <a:xfrm>
            <a:off x="622617" y="4699043"/>
            <a:ext cx="1579245" cy="337185"/>
          </a:xfrm>
          <a:prstGeom prst="rect">
            <a:avLst/>
          </a:prstGeom>
          <a:noFill/>
        </p:spPr>
        <p:txBody>
          <a:bodyPr wrap="square" rtlCol="0">
            <a:spAutoFit/>
          </a:bodyPr>
          <a:p>
            <a:r>
              <a:rPr lang="zh-CN" altLang="en-US" sz="1600" b="1" dirty="0">
                <a:solidFill>
                  <a:srgbClr val="3E3FFC"/>
                </a:solidFill>
              </a:rPr>
              <a:t>信号总能量</a:t>
            </a:r>
            <a:endParaRPr lang="zh-CN" altLang="en-US" sz="1600" b="1" dirty="0">
              <a:solidFill>
                <a:srgbClr val="3E3FFC"/>
              </a:solidFill>
            </a:endParaRPr>
          </a:p>
        </p:txBody>
      </p:sp>
      <p:sp>
        <p:nvSpPr>
          <p:cNvPr id="20" name="文本框 19"/>
          <p:cNvSpPr txBox="1"/>
          <p:nvPr/>
        </p:nvSpPr>
        <p:spPr>
          <a:xfrm>
            <a:off x="753110" y="5309235"/>
            <a:ext cx="1169035" cy="337185"/>
          </a:xfrm>
          <a:prstGeom prst="rect">
            <a:avLst/>
          </a:prstGeom>
          <a:noFill/>
        </p:spPr>
        <p:txBody>
          <a:bodyPr wrap="square" rtlCol="0">
            <a:spAutoFit/>
          </a:bodyPr>
          <a:p>
            <a:r>
              <a:rPr lang="zh-CN" altLang="en-US" sz="1600" b="1" dirty="0">
                <a:solidFill>
                  <a:srgbClr val="3E3FFC"/>
                </a:solidFill>
              </a:rPr>
              <a:t>细节能量</a:t>
            </a:r>
            <a:endParaRPr lang="zh-CN" altLang="en-US" sz="1600" b="1" dirty="0">
              <a:solidFill>
                <a:srgbClr val="3E3FFC"/>
              </a:solidFill>
            </a:endParaRPr>
          </a:p>
        </p:txBody>
      </p:sp>
      <p:sp>
        <p:nvSpPr>
          <p:cNvPr id="22" name="文本框 21"/>
          <p:cNvSpPr txBox="1"/>
          <p:nvPr/>
        </p:nvSpPr>
        <p:spPr>
          <a:xfrm>
            <a:off x="753110" y="5843270"/>
            <a:ext cx="1095375" cy="337185"/>
          </a:xfrm>
          <a:prstGeom prst="rect">
            <a:avLst/>
          </a:prstGeom>
          <a:noFill/>
        </p:spPr>
        <p:txBody>
          <a:bodyPr wrap="square" rtlCol="0">
            <a:spAutoFit/>
          </a:bodyPr>
          <a:p>
            <a:r>
              <a:rPr lang="zh-CN" altLang="en-US" sz="1600" b="1" dirty="0">
                <a:solidFill>
                  <a:srgbClr val="3E3FFC"/>
                </a:solidFill>
              </a:rPr>
              <a:t>近似能量</a:t>
            </a:r>
            <a:endParaRPr lang="zh-CN" altLang="en-US" sz="1600" b="1" dirty="0">
              <a:solidFill>
                <a:srgbClr val="3E3FFC"/>
              </a:solidFill>
            </a:endParaRPr>
          </a:p>
        </p:txBody>
      </p:sp>
      <p:sp>
        <p:nvSpPr>
          <p:cNvPr id="23" name="上弧形箭头 35"/>
          <p:cNvSpPr/>
          <p:nvPr/>
        </p:nvSpPr>
        <p:spPr bwMode="auto">
          <a:xfrm rot="5400000" flipV="1">
            <a:off x="-800100" y="4115435"/>
            <a:ext cx="2421890" cy="455295"/>
          </a:xfrm>
          <a:prstGeom prst="curved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a:pPr>
            <a:endParaRPr lang="zh-CN" altLang="en-US">
              <a:solidFill>
                <a:srgbClr val="FF0000"/>
              </a:solidFill>
            </a:endParaRPr>
          </a:p>
        </p:txBody>
      </p:sp>
      <p:sp>
        <p:nvSpPr>
          <p:cNvPr id="24" name="上弧形箭头 35"/>
          <p:cNvSpPr/>
          <p:nvPr/>
        </p:nvSpPr>
        <p:spPr bwMode="auto">
          <a:xfrm rot="5400000" flipV="1">
            <a:off x="-774632" y="4677977"/>
            <a:ext cx="2304280" cy="455295"/>
          </a:xfrm>
          <a:prstGeom prst="curved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a:pPr>
            <a:endParaRPr lang="zh-CN" altLang="en-US">
              <a:solidFill>
                <a:srgbClr val="FF0000"/>
              </a:solidFill>
            </a:endParaRPr>
          </a:p>
        </p:txBody>
      </p:sp>
      <p:pic>
        <p:nvPicPr>
          <p:cNvPr id="27" name="图片 26"/>
          <p:cNvPicPr>
            <a:picLocks noChangeAspect="1"/>
          </p:cNvPicPr>
          <p:nvPr/>
        </p:nvPicPr>
        <p:blipFill>
          <a:blip r:embed="rId6"/>
          <a:stretch>
            <a:fillRect/>
          </a:stretch>
        </p:blipFill>
        <p:spPr>
          <a:xfrm>
            <a:off x="5083175" y="2678430"/>
            <a:ext cx="3173095" cy="1821180"/>
          </a:xfrm>
          <a:prstGeom prst="rect">
            <a:avLst/>
          </a:prstGeom>
          <a:ln>
            <a:noFill/>
          </a:ln>
        </p:spPr>
      </p:pic>
      <p:pic>
        <p:nvPicPr>
          <p:cNvPr id="28" name="图片 27"/>
          <p:cNvPicPr>
            <a:picLocks noChangeAspect="1"/>
          </p:cNvPicPr>
          <p:nvPr/>
        </p:nvPicPr>
        <p:blipFill>
          <a:blip r:embed="rId7"/>
          <a:stretch>
            <a:fillRect/>
          </a:stretch>
        </p:blipFill>
        <p:spPr>
          <a:xfrm>
            <a:off x="5076190" y="4546600"/>
            <a:ext cx="3187065" cy="1713865"/>
          </a:xfrm>
          <a:prstGeom prst="rect">
            <a:avLst/>
          </a:prstGeom>
          <a:ln>
            <a:noFill/>
          </a:ln>
        </p:spPr>
      </p:pic>
      <p:pic>
        <p:nvPicPr>
          <p:cNvPr id="30" name="图片 29" descr="图片1"/>
          <p:cNvPicPr>
            <a:picLocks noChangeAspect="1"/>
          </p:cNvPicPr>
          <p:nvPr/>
        </p:nvPicPr>
        <p:blipFill>
          <a:blip r:embed="rId8"/>
          <a:stretch>
            <a:fillRect/>
          </a:stretch>
        </p:blipFill>
        <p:spPr>
          <a:xfrm>
            <a:off x="8322945" y="2679065"/>
            <a:ext cx="3654425" cy="1613535"/>
          </a:xfrm>
          <a:prstGeom prst="rect">
            <a:avLst/>
          </a:prstGeom>
          <a:ln>
            <a:noFill/>
          </a:ln>
        </p:spPr>
      </p:pic>
      <p:pic>
        <p:nvPicPr>
          <p:cNvPr id="32" name="图片 31" descr="图片3"/>
          <p:cNvPicPr/>
          <p:nvPr/>
        </p:nvPicPr>
        <p:blipFill>
          <a:blip r:embed="rId9"/>
          <a:stretch>
            <a:fillRect/>
          </a:stretch>
        </p:blipFill>
        <p:spPr>
          <a:xfrm>
            <a:off x="8322945" y="4340225"/>
            <a:ext cx="3654425" cy="1951355"/>
          </a:xfrm>
          <a:prstGeom prst="rect">
            <a:avLst/>
          </a:prstGeom>
          <a:ln>
            <a:noFill/>
          </a:ln>
        </p:spPr>
      </p:pic>
      <p:sp>
        <p:nvSpPr>
          <p:cNvPr id="25" name="矩形 22"/>
          <p:cNvSpPr>
            <a:spLocks noChangeArrowheads="1"/>
          </p:cNvSpPr>
          <p:nvPr/>
        </p:nvSpPr>
        <p:spPr bwMode="auto">
          <a:xfrm>
            <a:off x="183515" y="6292215"/>
            <a:ext cx="4899660" cy="3067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400" b="1" dirty="0">
                <a:solidFill>
                  <a:srgbClr val="0000FF"/>
                </a:solidFill>
                <a:latin typeface="微软雅黑" panose="020B0503020204020204" pitchFamily="34" charset="-122"/>
                <a:ea typeface="微软雅黑" panose="020B0503020204020204" pitchFamily="34" charset="-122"/>
              </a:rPr>
              <a:t>离散小波变换</a:t>
            </a:r>
            <a:r>
              <a:rPr lang="zh-CN" altLang="en-US" sz="1400" b="1" dirty="0">
                <a:solidFill>
                  <a:srgbClr val="0000FF"/>
                </a:solidFill>
                <a:latin typeface="微软雅黑" panose="020B0503020204020204" pitchFamily="34" charset="-122"/>
                <a:ea typeface="微软雅黑" panose="020B0503020204020204" pitchFamily="34" charset="-122"/>
              </a:rPr>
              <a:t>公式</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2" name="矩形 22"/>
          <p:cNvSpPr>
            <a:spLocks noChangeArrowheads="1"/>
          </p:cNvSpPr>
          <p:nvPr/>
        </p:nvSpPr>
        <p:spPr bwMode="auto">
          <a:xfrm>
            <a:off x="5193030" y="6287135"/>
            <a:ext cx="3056255" cy="3067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400" b="1" dirty="0">
                <a:solidFill>
                  <a:srgbClr val="0000FF"/>
                </a:solidFill>
                <a:latin typeface="微软雅黑" panose="020B0503020204020204" pitchFamily="34" charset="-122"/>
                <a:ea typeface="微软雅黑" panose="020B0503020204020204" pitchFamily="34" charset="-122"/>
              </a:rPr>
              <a:t>离散小波原理</a:t>
            </a:r>
            <a:r>
              <a:rPr lang="zh-CN" altLang="en-US" sz="1400" b="1" dirty="0">
                <a:solidFill>
                  <a:srgbClr val="0000FF"/>
                </a:solidFill>
                <a:latin typeface="微软雅黑" panose="020B0503020204020204" pitchFamily="34" charset="-122"/>
                <a:ea typeface="微软雅黑" panose="020B0503020204020204" pitchFamily="34" charset="-122"/>
              </a:rPr>
              <a:t>示意图</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3" name="矩形 22"/>
          <p:cNvSpPr>
            <a:spLocks noChangeArrowheads="1"/>
          </p:cNvSpPr>
          <p:nvPr/>
        </p:nvSpPr>
        <p:spPr bwMode="auto">
          <a:xfrm>
            <a:off x="8359140" y="6289675"/>
            <a:ext cx="3649345" cy="3067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400" b="1" dirty="0">
                <a:solidFill>
                  <a:srgbClr val="0000FF"/>
                </a:solidFill>
                <a:latin typeface="微软雅黑" panose="020B0503020204020204" pitchFamily="34" charset="-122"/>
                <a:ea typeface="微软雅黑" panose="020B0503020204020204" pitchFamily="34" charset="-122"/>
              </a:rPr>
              <a:t>岩石类事件筛选、微地震事件</a:t>
            </a:r>
            <a:r>
              <a:rPr lang="zh-CN" altLang="en-US" sz="1400" b="1" dirty="0">
                <a:solidFill>
                  <a:srgbClr val="0000FF"/>
                </a:solidFill>
                <a:latin typeface="微软雅黑" panose="020B0503020204020204" pitchFamily="34" charset="-122"/>
                <a:ea typeface="微软雅黑" panose="020B0503020204020204" pitchFamily="34" charset="-122"/>
              </a:rPr>
              <a:t>对应</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p:transition advTm="5950"/>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四、</a:t>
            </a:r>
            <a:r>
              <a:rPr lang="en-US" altLang="zh-CN" sz="2400" b="1" kern="0" dirty="0">
                <a:solidFill>
                  <a:srgbClr val="FF0000"/>
                </a:solidFill>
                <a:latin typeface="微软雅黑" panose="020B0503020204020204" pitchFamily="34" charset="-122"/>
                <a:ea typeface="微软雅黑" panose="020B0503020204020204" pitchFamily="34" charset="-122"/>
              </a:rPr>
              <a:t>G</a:t>
            </a:r>
            <a:r>
              <a:rPr lang="zh-CN" altLang="en-US" sz="2400" b="1" kern="0" dirty="0">
                <a:solidFill>
                  <a:srgbClr val="FF0000"/>
                </a:solidFill>
                <a:latin typeface="微软雅黑" panose="020B0503020204020204" pitchFamily="34" charset="-122"/>
                <a:ea typeface="微软雅黑" panose="020B0503020204020204" pitchFamily="34" charset="-122"/>
              </a:rPr>
              <a:t>函数</a:t>
            </a:r>
            <a:r>
              <a:rPr lang="zh-CN" altLang="en-US" sz="2400" b="1" kern="0" dirty="0">
                <a:solidFill>
                  <a:srgbClr val="FF0000"/>
                </a:solidFill>
                <a:latin typeface="微软雅黑" panose="020B0503020204020204" pitchFamily="34" charset="-122"/>
                <a:ea typeface="微软雅黑" panose="020B0503020204020204" pitchFamily="34" charset="-122"/>
              </a:rPr>
              <a:t>技术</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5280" y="758825"/>
            <a:ext cx="11642090" cy="1872615"/>
          </a:xfrm>
          <a:prstGeom prst="rect">
            <a:avLst/>
          </a:prstGeom>
          <a:noFill/>
        </p:spPr>
        <p:txBody>
          <a:bodyPr wrap="square">
            <a:no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通过对停泵压降曲线进行</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G</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函数分析，</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能够确定</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瞬时停泵压力、裂缝系统滤失系数和拟合压力</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结合</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G</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函数模型和连续性方程，</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能够表征</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裂缝系统滤失速度和体积衰减速度响应关系</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通过计算各裂缝的诱导应力矩阵，</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能够确定净压力矩阵，耦合求解确定</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裂缝缝长、缝宽分布</a:t>
            </a:r>
            <a:endPar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矿场应用实践表明，</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G</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函数反演裂缝尺寸计算模型与现场微震解释结果和广域电磁裂缝波及长宽解释结果相符，具有良好的反演效果，能够较好的解释压后</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裂缝形态及规模</a:t>
            </a:r>
            <a:endParaRPr lang="zh-CN" altLang="en-US" sz="1600" dirty="0">
              <a:solidFill>
                <a:prstClr val="black"/>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363806" y="2699085"/>
            <a:ext cx="3684860" cy="2093299"/>
            <a:chOff x="383085" y="2919877"/>
            <a:chExt cx="3684860" cy="2093299"/>
          </a:xfrm>
        </p:grpSpPr>
        <p:pic>
          <p:nvPicPr>
            <p:cNvPr id="13" name="图片 12"/>
            <p:cNvPicPr>
              <a:picLocks noChangeAspect="1"/>
            </p:cNvPicPr>
            <p:nvPr/>
          </p:nvPicPr>
          <p:blipFill>
            <a:blip r:embed="rId1"/>
            <a:stretch>
              <a:fillRect/>
            </a:stretch>
          </p:blipFill>
          <p:spPr>
            <a:xfrm>
              <a:off x="395536" y="3016250"/>
              <a:ext cx="1010412" cy="1132829"/>
            </a:xfrm>
            <a:prstGeom prst="rect">
              <a:avLst/>
            </a:prstGeom>
          </p:spPr>
        </p:pic>
        <p:pic>
          <p:nvPicPr>
            <p:cNvPr id="15" name="图片 14"/>
            <p:cNvPicPr>
              <a:picLocks noChangeAspect="1"/>
            </p:cNvPicPr>
            <p:nvPr/>
          </p:nvPicPr>
          <p:blipFill>
            <a:blip r:embed="rId2"/>
            <a:stretch>
              <a:fillRect/>
            </a:stretch>
          </p:blipFill>
          <p:spPr>
            <a:xfrm>
              <a:off x="1814953" y="2943976"/>
              <a:ext cx="2235708" cy="1277112"/>
            </a:xfrm>
            <a:prstGeom prst="rect">
              <a:avLst/>
            </a:prstGeom>
          </p:spPr>
        </p:pic>
        <p:cxnSp>
          <p:nvCxnSpPr>
            <p:cNvPr id="16" name="直接箭头连接符 15"/>
            <p:cNvCxnSpPr/>
            <p:nvPr/>
          </p:nvCxnSpPr>
          <p:spPr>
            <a:xfrm>
              <a:off x="1405948" y="3143718"/>
              <a:ext cx="628489"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13" idx="3"/>
              <a:endCxn id="15" idx="1"/>
            </p:cNvCxnSpPr>
            <p:nvPr/>
          </p:nvCxnSpPr>
          <p:spPr>
            <a:xfrm flipV="1">
              <a:off x="1405948" y="3582532"/>
              <a:ext cx="409005" cy="13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1405948" y="3973169"/>
              <a:ext cx="628489"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9" name="图片 18"/>
            <p:cNvPicPr>
              <a:picLocks noChangeAspect="1"/>
            </p:cNvPicPr>
            <p:nvPr/>
          </p:nvPicPr>
          <p:blipFill>
            <a:blip r:embed="rId3"/>
            <a:stretch>
              <a:fillRect/>
            </a:stretch>
          </p:blipFill>
          <p:spPr>
            <a:xfrm>
              <a:off x="395536" y="4355421"/>
              <a:ext cx="1655064" cy="621792"/>
            </a:xfrm>
            <a:prstGeom prst="rect">
              <a:avLst/>
            </a:prstGeom>
          </p:spPr>
        </p:pic>
        <p:sp>
          <p:nvSpPr>
            <p:cNvPr id="20" name="矩形: 圆角 10"/>
            <p:cNvSpPr/>
            <p:nvPr/>
          </p:nvSpPr>
          <p:spPr>
            <a:xfrm>
              <a:off x="383085" y="2919877"/>
              <a:ext cx="3684860" cy="2093299"/>
            </a:xfrm>
            <a:prstGeom prst="roundRect">
              <a:avLst>
                <a:gd name="adj" fmla="val 0"/>
              </a:avLst>
            </a:prstGeom>
            <a:noFill/>
            <a:ln w="31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 name="文本框 21"/>
            <p:cNvSpPr txBox="1"/>
            <p:nvPr/>
          </p:nvSpPr>
          <p:spPr>
            <a:xfrm>
              <a:off x="2339525" y="4664844"/>
              <a:ext cx="1655064" cy="276999"/>
            </a:xfrm>
            <a:prstGeom prst="rect">
              <a:avLst/>
            </a:prstGeom>
            <a:noFill/>
          </p:spPr>
          <p:txBody>
            <a:bodyPr wrap="square">
              <a:spAutoFit/>
            </a:bodyPr>
            <a:p>
              <a:r>
                <a:rPr lang="zh-CN" altLang="en-US" sz="1200" dirty="0">
                  <a:latin typeface="微软雅黑" panose="020B0503020204020204" pitchFamily="34" charset="-122"/>
                  <a:ea typeface="微软雅黑" panose="020B0503020204020204" pitchFamily="34" charset="-122"/>
                </a:rPr>
                <a:t>体积守恒及滤失方程</a:t>
              </a:r>
              <a:endParaRPr lang="zh-CN" altLang="en-US" sz="1200" dirty="0"/>
            </a:p>
          </p:txBody>
        </p:sp>
      </p:grpSp>
      <p:grpSp>
        <p:nvGrpSpPr>
          <p:cNvPr id="23" name="组合 22"/>
          <p:cNvGrpSpPr/>
          <p:nvPr/>
        </p:nvGrpSpPr>
        <p:grpSpPr>
          <a:xfrm>
            <a:off x="364312" y="4922569"/>
            <a:ext cx="3684860" cy="1668152"/>
            <a:chOff x="383084" y="5117539"/>
            <a:chExt cx="3684860" cy="1668152"/>
          </a:xfrm>
        </p:grpSpPr>
        <p:pic>
          <p:nvPicPr>
            <p:cNvPr id="24" name="图片 23"/>
            <p:cNvPicPr>
              <a:picLocks noChangeAspect="1"/>
            </p:cNvPicPr>
            <p:nvPr/>
          </p:nvPicPr>
          <p:blipFill>
            <a:blip r:embed="rId4"/>
            <a:stretch>
              <a:fillRect/>
            </a:stretch>
          </p:blipFill>
          <p:spPr>
            <a:xfrm>
              <a:off x="395536" y="5157192"/>
              <a:ext cx="3655125" cy="417153"/>
            </a:xfrm>
            <a:prstGeom prst="rect">
              <a:avLst/>
            </a:prstGeom>
          </p:spPr>
        </p:pic>
        <p:pic>
          <p:nvPicPr>
            <p:cNvPr id="25" name="图片 24"/>
            <p:cNvPicPr>
              <a:picLocks noChangeAspect="1"/>
            </p:cNvPicPr>
            <p:nvPr/>
          </p:nvPicPr>
          <p:blipFill>
            <a:blip r:embed="rId5"/>
            <a:stretch>
              <a:fillRect/>
            </a:stretch>
          </p:blipFill>
          <p:spPr>
            <a:xfrm>
              <a:off x="561202" y="5589240"/>
              <a:ext cx="3428286" cy="1196436"/>
            </a:xfrm>
            <a:prstGeom prst="rect">
              <a:avLst/>
            </a:prstGeom>
          </p:spPr>
        </p:pic>
        <p:sp>
          <p:nvSpPr>
            <p:cNvPr id="26" name="矩形: 圆角 9"/>
            <p:cNvSpPr/>
            <p:nvPr/>
          </p:nvSpPr>
          <p:spPr>
            <a:xfrm>
              <a:off x="383084" y="5117539"/>
              <a:ext cx="3684860" cy="1668138"/>
            </a:xfrm>
            <a:prstGeom prst="roundRect">
              <a:avLst>
                <a:gd name="adj" fmla="val 0"/>
              </a:avLst>
            </a:prstGeom>
            <a:noFill/>
            <a:ln w="31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7" name="文本框 26"/>
            <p:cNvSpPr txBox="1"/>
            <p:nvPr/>
          </p:nvSpPr>
          <p:spPr>
            <a:xfrm>
              <a:off x="3097144" y="6508692"/>
              <a:ext cx="878220" cy="276999"/>
            </a:xfrm>
            <a:prstGeom prst="rect">
              <a:avLst/>
            </a:prstGeom>
            <a:noFill/>
          </p:spPr>
          <p:txBody>
            <a:bodyPr wrap="square">
              <a:spAutoFit/>
            </a:bodyPr>
            <a:p>
              <a:r>
                <a:rPr lang="zh-CN" altLang="en-US" sz="1200" dirty="0">
                  <a:latin typeface="微软雅黑" panose="020B0503020204020204" pitchFamily="34" charset="-122"/>
                  <a:ea typeface="微软雅黑" panose="020B0503020204020204" pitchFamily="34" charset="-122"/>
                </a:rPr>
                <a:t>缝长方程</a:t>
              </a:r>
              <a:endParaRPr lang="zh-CN" altLang="en-US" sz="1200" dirty="0"/>
            </a:p>
          </p:txBody>
        </p:sp>
      </p:grpSp>
      <p:sp>
        <p:nvSpPr>
          <p:cNvPr id="35" name="箭头: 右 34"/>
          <p:cNvSpPr/>
          <p:nvPr/>
        </p:nvSpPr>
        <p:spPr>
          <a:xfrm>
            <a:off x="4089718" y="4536762"/>
            <a:ext cx="465832" cy="425618"/>
          </a:xfrm>
          <a:prstGeom prst="rightArrow">
            <a:avLst>
              <a:gd name="adj1" fmla="val 60000"/>
              <a:gd name="adj2" fmla="val 50000"/>
            </a:avLst>
          </a:prstGeom>
          <a:solidFill>
            <a:srgbClr val="FF0000"/>
          </a:solidFill>
        </p:spPr>
        <p:style>
          <a:lnRef idx="0">
            <a:schemeClr val="accent6">
              <a:tint val="60000"/>
              <a:hueOff val="0"/>
              <a:satOff val="0"/>
              <a:lumOff val="0"/>
              <a:alphaOff val="0"/>
            </a:schemeClr>
          </a:lnRef>
          <a:fillRef idx="1">
            <a:schemeClr val="accent6">
              <a:tint val="60000"/>
              <a:hueOff val="0"/>
              <a:satOff val="0"/>
              <a:lumOff val="0"/>
              <a:alphaOff val="0"/>
            </a:schemeClr>
          </a:fillRef>
          <a:effectRef idx="0">
            <a:schemeClr val="accent6">
              <a:tint val="60000"/>
              <a:hueOff val="0"/>
              <a:satOff val="0"/>
              <a:lumOff val="0"/>
              <a:alphaOff val="0"/>
            </a:schemeClr>
          </a:effectRef>
          <a:fontRef idx="minor">
            <a:schemeClr val="lt1"/>
          </a:fontRef>
        </p:style>
      </p:sp>
      <p:grpSp>
        <p:nvGrpSpPr>
          <p:cNvPr id="28" name="组合 27"/>
          <p:cNvGrpSpPr/>
          <p:nvPr/>
        </p:nvGrpSpPr>
        <p:grpSpPr>
          <a:xfrm>
            <a:off x="4596130" y="2682875"/>
            <a:ext cx="7134225" cy="3966844"/>
            <a:chOff x="4843989" y="2366833"/>
            <a:chExt cx="7134413" cy="3780889"/>
          </a:xfrm>
        </p:grpSpPr>
        <p:grpSp>
          <p:nvGrpSpPr>
            <p:cNvPr id="30" name="组合 29"/>
            <p:cNvGrpSpPr/>
            <p:nvPr/>
          </p:nvGrpSpPr>
          <p:grpSpPr>
            <a:xfrm>
              <a:off x="4843989" y="2366833"/>
              <a:ext cx="7075991" cy="3488177"/>
              <a:chOff x="4843989" y="2366833"/>
              <a:chExt cx="7075991" cy="3488177"/>
            </a:xfrm>
          </p:grpSpPr>
          <p:sp>
            <p:nvSpPr>
              <p:cNvPr id="32" name="箭头: 右 31"/>
              <p:cNvSpPr/>
              <p:nvPr/>
            </p:nvSpPr>
            <p:spPr>
              <a:xfrm>
                <a:off x="7193028" y="4114263"/>
                <a:ext cx="465832" cy="425618"/>
              </a:xfrm>
              <a:prstGeom prst="rightArrow">
                <a:avLst>
                  <a:gd name="adj1" fmla="val 60000"/>
                  <a:gd name="adj2" fmla="val 50000"/>
                </a:avLst>
              </a:prstGeom>
              <a:solidFill>
                <a:srgbClr val="FF0000"/>
              </a:solidFill>
            </p:spPr>
            <p:style>
              <a:lnRef idx="0">
                <a:schemeClr val="accent6">
                  <a:tint val="60000"/>
                  <a:hueOff val="0"/>
                  <a:satOff val="0"/>
                  <a:lumOff val="0"/>
                  <a:alphaOff val="0"/>
                </a:schemeClr>
              </a:lnRef>
              <a:fillRef idx="1">
                <a:schemeClr val="accent6">
                  <a:tint val="60000"/>
                  <a:hueOff val="0"/>
                  <a:satOff val="0"/>
                  <a:lumOff val="0"/>
                  <a:alphaOff val="0"/>
                </a:schemeClr>
              </a:fillRef>
              <a:effectRef idx="0">
                <a:schemeClr val="accent6">
                  <a:tint val="60000"/>
                  <a:hueOff val="0"/>
                  <a:satOff val="0"/>
                  <a:lumOff val="0"/>
                  <a:alphaOff val="0"/>
                </a:schemeClr>
              </a:effectRef>
              <a:fontRef idx="minor">
                <a:schemeClr val="lt1"/>
              </a:fontRef>
            </p:style>
          </p:sp>
          <p:pic>
            <p:nvPicPr>
              <p:cNvPr id="33" name="图片 32"/>
              <p:cNvPicPr>
                <a:picLocks noChangeAspect="1"/>
              </p:cNvPicPr>
              <p:nvPr/>
            </p:nvPicPr>
            <p:blipFill>
              <a:blip r:embed="rId6"/>
              <a:stretch>
                <a:fillRect/>
              </a:stretch>
            </p:blipFill>
            <p:spPr>
              <a:xfrm>
                <a:off x="7664603" y="2366833"/>
                <a:ext cx="4255377" cy="3488177"/>
              </a:xfrm>
              <a:prstGeom prst="rect">
                <a:avLst/>
              </a:prstGeom>
            </p:spPr>
          </p:pic>
          <p:pic>
            <p:nvPicPr>
              <p:cNvPr id="34" name="图片 33"/>
              <p:cNvPicPr>
                <a:picLocks noChangeAspect="1"/>
              </p:cNvPicPr>
              <p:nvPr/>
            </p:nvPicPr>
            <p:blipFill>
              <a:blip r:embed="rId7"/>
              <a:stretch>
                <a:fillRect/>
              </a:stretch>
            </p:blipFill>
            <p:spPr>
              <a:xfrm>
                <a:off x="4843989" y="2366833"/>
                <a:ext cx="2274005" cy="3488177"/>
              </a:xfrm>
              <a:prstGeom prst="rect">
                <a:avLst/>
              </a:prstGeom>
            </p:spPr>
          </p:pic>
        </p:grpSp>
        <p:sp>
          <p:nvSpPr>
            <p:cNvPr id="36" name="矩形 35"/>
            <p:cNvSpPr/>
            <p:nvPr/>
          </p:nvSpPr>
          <p:spPr>
            <a:xfrm>
              <a:off x="4844624" y="5855395"/>
              <a:ext cx="2273360" cy="292327"/>
            </a:xfrm>
            <a:prstGeom prst="rect">
              <a:avLst/>
            </a:prstGeom>
          </p:spPr>
          <p:txBody>
            <a:bodyPr wrap="square">
              <a:spAutoFit/>
            </a:bodyPr>
            <a:p>
              <a:pPr lvl="0" algn="ctr"/>
              <a:r>
                <a:rPr lang="zh-CN" altLang="en-US" sz="1400" b="1" dirty="0">
                  <a:solidFill>
                    <a:srgbClr val="0000FF"/>
                  </a:solidFill>
                  <a:latin typeface="微软雅黑" panose="020B0503020204020204" pitchFamily="34" charset="-122"/>
                  <a:ea typeface="微软雅黑" panose="020B0503020204020204" pitchFamily="34" charset="-122"/>
                </a:rPr>
                <a:t>压降曲线解释</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37" name="矩形 36"/>
            <p:cNvSpPr/>
            <p:nvPr/>
          </p:nvSpPr>
          <p:spPr>
            <a:xfrm>
              <a:off x="7758081" y="5855395"/>
              <a:ext cx="4220321" cy="292327"/>
            </a:xfrm>
            <a:prstGeom prst="rect">
              <a:avLst/>
            </a:prstGeom>
          </p:spPr>
          <p:txBody>
            <a:bodyPr wrap="square">
              <a:spAutoFit/>
            </a:bodyPr>
            <a:p>
              <a:pPr algn="ctr">
                <a:buClrTx/>
                <a:buSzTx/>
                <a:buFontTx/>
              </a:pPr>
              <a:r>
                <a:rPr lang="zh-CN" altLang="en-US" sz="1400" b="1" dirty="0">
                  <a:solidFill>
                    <a:srgbClr val="0000FF"/>
                  </a:solidFill>
                  <a:latin typeface="微软雅黑" panose="020B0503020204020204" pitchFamily="34" charset="-122"/>
                  <a:ea typeface="微软雅黑" panose="020B0503020204020204" pitchFamily="34" charset="-122"/>
                </a:rPr>
                <a:t>G函数曲线分析</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grpSp>
    </p:spTree>
  </p:cSld>
  <p:clrMapOvr>
    <a:masterClrMapping/>
  </p:clrMapOvr>
  <p:transition advTm="595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五、改造体积主控因素</a:t>
            </a:r>
            <a:r>
              <a:rPr lang="zh-CN" altLang="en-US" sz="2400" b="1" kern="0" dirty="0">
                <a:solidFill>
                  <a:srgbClr val="FF0000"/>
                </a:solidFill>
                <a:latin typeface="微软雅黑" panose="020B0503020204020204" pitchFamily="34" charset="-122"/>
                <a:ea typeface="微软雅黑" panose="020B0503020204020204" pitchFamily="34" charset="-122"/>
              </a:rPr>
              <a:t>分析</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5280" y="758825"/>
            <a:ext cx="11486515" cy="1598930"/>
          </a:xfrm>
          <a:prstGeom prst="rect">
            <a:avLst/>
          </a:prstGeom>
          <a:noFill/>
        </p:spPr>
        <p:txBody>
          <a:bodyPr wrap="square">
            <a:no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将改造体积作为因变量，对加砂强度、用液强度、停泵净压力、裂缝起裂压力等参数进行</a:t>
            </a:r>
            <a:r>
              <a:rPr lang="zh-CN" altLang="en-US" sz="1600" dirty="0">
                <a:solidFill>
                  <a:srgbClr val="FF0000"/>
                </a:solidFill>
                <a:latin typeface="微软雅黑" panose="020B0503020204020204" pitchFamily="34" charset="-122"/>
                <a:ea typeface="微软雅黑" panose="020B0503020204020204" pitchFamily="34" charset="-122"/>
              </a:rPr>
              <a:t>灰色关联分析</a:t>
            </a:r>
            <a:r>
              <a:rPr lang="zh-CN" altLang="en-US" sz="1600" dirty="0">
                <a:solidFill>
                  <a:prstClr val="black"/>
                </a:solidFill>
                <a:latin typeface="微软雅黑" panose="020B0503020204020204" pitchFamily="34" charset="-122"/>
                <a:ea typeface="微软雅黑" panose="020B0503020204020204" pitchFamily="34" charset="-122"/>
              </a:rPr>
              <a:t>和</a:t>
            </a:r>
            <a:r>
              <a:rPr lang="zh-CN" altLang="en-US" sz="1600" dirty="0">
                <a:solidFill>
                  <a:srgbClr val="FF0000"/>
                </a:solidFill>
                <a:latin typeface="微软雅黑" panose="020B0503020204020204" pitchFamily="34" charset="-122"/>
                <a:ea typeface="微软雅黑" panose="020B0503020204020204" pitchFamily="34" charset="-122"/>
              </a:rPr>
              <a:t>熵权法</a:t>
            </a:r>
            <a:r>
              <a:rPr lang="zh-CN" altLang="en-US" sz="1600" dirty="0">
                <a:solidFill>
                  <a:prstClr val="black"/>
                </a:solidFill>
                <a:latin typeface="微软雅黑" panose="020B0503020204020204" pitchFamily="34" charset="-122"/>
                <a:ea typeface="微软雅黑" panose="020B0503020204020204" pitchFamily="34" charset="-122"/>
              </a:rPr>
              <a:t>分析</a:t>
            </a:r>
            <a:endParaRPr lang="zh-CN" altLang="en-US" sz="1600" dirty="0">
              <a:solidFill>
                <a:prstClr val="black"/>
              </a:solidFill>
              <a:latin typeface="微软雅黑" panose="020B0503020204020204" pitchFamily="34" charset="-122"/>
              <a:ea typeface="微软雅黑" panose="020B0503020204020204" pitchFamily="34" charset="-122"/>
            </a:endParaRPr>
          </a:p>
          <a:p>
            <a:pPr marL="342265" indent="-342900" algn="just">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结合灰色关联法和熵权法进行分析，可评估</a:t>
            </a:r>
            <a:r>
              <a:rPr lang="zh-CN" altLang="en-US" sz="1600" dirty="0">
                <a:solidFill>
                  <a:srgbClr val="FF0000"/>
                </a:solidFill>
                <a:latin typeface="微软雅黑" panose="020B0503020204020204" pitchFamily="34" charset="-122"/>
                <a:ea typeface="微软雅黑" panose="020B0503020204020204" pitchFamily="34" charset="-122"/>
              </a:rPr>
              <a:t>地质</a:t>
            </a:r>
            <a:r>
              <a:rPr lang="en-US" altLang="zh-CN" sz="1600" dirty="0">
                <a:solidFill>
                  <a:srgbClr val="FF0000"/>
                </a:solidFill>
                <a:latin typeface="微软雅黑" panose="020B0503020204020204" pitchFamily="34" charset="-122"/>
                <a:ea typeface="微软雅黑" panose="020B0503020204020204" pitchFamily="34" charset="-122"/>
              </a:rPr>
              <a:t>-</a:t>
            </a:r>
            <a:r>
              <a:rPr lang="zh-CN" altLang="en-US" sz="1600" dirty="0">
                <a:solidFill>
                  <a:srgbClr val="FF0000"/>
                </a:solidFill>
                <a:latin typeface="微软雅黑" panose="020B0503020204020204" pitchFamily="34" charset="-122"/>
                <a:ea typeface="微软雅黑" panose="020B0503020204020204" pitchFamily="34" charset="-122"/>
              </a:rPr>
              <a:t>工程参数对微地震改造体积的影响权重</a:t>
            </a:r>
            <a:r>
              <a:rPr lang="zh-CN" altLang="en-US" sz="1600" dirty="0">
                <a:solidFill>
                  <a:prstClr val="black"/>
                </a:solidFill>
                <a:latin typeface="微软雅黑" panose="020B0503020204020204" pitchFamily="34" charset="-122"/>
                <a:ea typeface="微软雅黑" panose="020B0503020204020204" pitchFamily="34" charset="-122"/>
              </a:rPr>
              <a:t>。灰色关联法考虑因素变化趋势，熵权法基于数据内在关系确定权重。两者权重乘积归一化后，得出各参数的组合权重。</a:t>
            </a:r>
            <a:endParaRPr lang="zh-CN" altLang="en-US" sz="1600" dirty="0">
              <a:solidFill>
                <a:prstClr val="black"/>
              </a:solidFill>
              <a:latin typeface="微软雅黑" panose="020B0503020204020204" pitchFamily="34" charset="-122"/>
              <a:ea typeface="微软雅黑" panose="020B0503020204020204" pitchFamily="34" charset="-122"/>
            </a:endParaRPr>
          </a:p>
          <a:p>
            <a:pPr marL="342265" indent="-342900" algn="just">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经研究，川南</a:t>
            </a:r>
            <a:r>
              <a:rPr lang="zh-CN" altLang="en-US" sz="1600" dirty="0">
                <a:solidFill>
                  <a:prstClr val="black"/>
                </a:solidFill>
                <a:latin typeface="微软雅黑" panose="020B0503020204020204" pitchFamily="34" charset="-122"/>
                <a:ea typeface="微软雅黑" panose="020B0503020204020204" pitchFamily="34" charset="-122"/>
              </a:rPr>
              <a:t>区块裂缝改造体积影响大小为：</a:t>
            </a:r>
            <a:r>
              <a:rPr lang="zh-CN" altLang="en-US" sz="1600" dirty="0">
                <a:solidFill>
                  <a:srgbClr val="FF0000"/>
                </a:solidFill>
                <a:latin typeface="微软雅黑" panose="020B0503020204020204" pitchFamily="34" charset="-122"/>
                <a:ea typeface="微软雅黑" panose="020B0503020204020204" pitchFamily="34" charset="-122"/>
              </a:rPr>
              <a:t>用液强度＞施工排量＞总液量＞起裂压力＞加砂强度＞停泵压力＞总加砂量</a:t>
            </a:r>
            <a:endParaRPr lang="zh-CN" altLang="en-US" sz="1600" dirty="0">
              <a:solidFill>
                <a:srgbClr val="FF0000"/>
              </a:solidFill>
              <a:latin typeface="微软雅黑" panose="020B0503020204020204" pitchFamily="34" charset="-122"/>
              <a:ea typeface="微软雅黑" panose="020B0503020204020204" pitchFamily="34" charset="-122"/>
            </a:endParaRPr>
          </a:p>
        </p:txBody>
      </p:sp>
      <p:graphicFrame>
        <p:nvGraphicFramePr>
          <p:cNvPr id="10" name="对象 9"/>
          <p:cNvGraphicFramePr>
            <a:graphicFrameLocks noChangeAspect="1"/>
          </p:cNvGraphicFramePr>
          <p:nvPr/>
        </p:nvGraphicFramePr>
        <p:xfrm>
          <a:off x="4603115" y="3231515"/>
          <a:ext cx="2414905" cy="746125"/>
        </p:xfrm>
        <a:graphic>
          <a:graphicData uri="http://schemas.openxmlformats.org/presentationml/2006/ole">
            <mc:AlternateContent xmlns:mc="http://schemas.openxmlformats.org/markup-compatibility/2006">
              <mc:Choice xmlns:v="urn:schemas-microsoft-com:vml" Requires="v">
                <p:oleObj spid="_x0000_s1026" name="Equation" r:id="rId1" imgW="1562100" imgH="482600" progId="Equation.DSMT4">
                  <p:embed/>
                </p:oleObj>
              </mc:Choice>
              <mc:Fallback>
                <p:oleObj name="Equation" r:id="rId1" imgW="1562100" imgH="482600" progId="Equation.DSMT4">
                  <p:embed/>
                  <p:pic>
                    <p:nvPicPr>
                      <p:cNvPr id="0" name="对象 4"/>
                      <p:cNvPicPr/>
                      <p:nvPr/>
                    </p:nvPicPr>
                    <p:blipFill>
                      <a:blip r:embed="rId2"/>
                      <a:stretch>
                        <a:fillRect/>
                      </a:stretch>
                    </p:blipFill>
                    <p:spPr>
                      <a:xfrm>
                        <a:off x="4603115" y="3231515"/>
                        <a:ext cx="2414905" cy="746125"/>
                      </a:xfrm>
                      <a:prstGeom prst="rect">
                        <a:avLst/>
                      </a:prstGeom>
                    </p:spPr>
                  </p:pic>
                </p:oleObj>
              </mc:Fallback>
            </mc:AlternateContent>
          </a:graphicData>
        </a:graphic>
      </p:graphicFrame>
      <p:pic>
        <p:nvPicPr>
          <p:cNvPr id="18" name="图片 17"/>
          <p:cNvPicPr>
            <a:picLocks noChangeAspect="1"/>
          </p:cNvPicPr>
          <p:nvPr/>
        </p:nvPicPr>
        <p:blipFill>
          <a:blip r:embed="rId3"/>
          <a:stretch>
            <a:fillRect/>
          </a:stretch>
        </p:blipFill>
        <p:spPr>
          <a:xfrm>
            <a:off x="8119745" y="4100830"/>
            <a:ext cx="3905885" cy="2051685"/>
          </a:xfrm>
          <a:prstGeom prst="rect">
            <a:avLst/>
          </a:prstGeom>
        </p:spPr>
      </p:pic>
      <p:sp>
        <p:nvSpPr>
          <p:cNvPr id="19" name="文本框 1"/>
          <p:cNvSpPr txBox="1">
            <a:spLocks noChangeArrowheads="1"/>
          </p:cNvSpPr>
          <p:nvPr/>
        </p:nvSpPr>
        <p:spPr bwMode="auto">
          <a:xfrm>
            <a:off x="334010" y="6256655"/>
            <a:ext cx="318706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400" b="1" dirty="0">
                <a:solidFill>
                  <a:srgbClr val="0000FF"/>
                </a:solidFill>
                <a:latin typeface="微软雅黑" panose="020B0503020204020204" pitchFamily="34" charset="-122"/>
                <a:ea typeface="微软雅黑" panose="020B0503020204020204" pitchFamily="34" charset="-122"/>
              </a:rPr>
              <a:t>各井段改造体积与施工参数表</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pic>
        <p:nvPicPr>
          <p:cNvPr id="20" name="图片 19"/>
          <p:cNvPicPr>
            <a:picLocks noChangeAspect="1"/>
          </p:cNvPicPr>
          <p:nvPr/>
        </p:nvPicPr>
        <p:blipFill>
          <a:blip r:embed="rId4"/>
          <a:stretch>
            <a:fillRect/>
          </a:stretch>
        </p:blipFill>
        <p:spPr>
          <a:xfrm>
            <a:off x="335280" y="2357755"/>
            <a:ext cx="3169920" cy="1989455"/>
          </a:xfrm>
          <a:prstGeom prst="rect">
            <a:avLst/>
          </a:prstGeom>
        </p:spPr>
      </p:pic>
      <p:graphicFrame>
        <p:nvGraphicFramePr>
          <p:cNvPr id="22" name="表格 21"/>
          <p:cNvGraphicFramePr>
            <a:graphicFrameLocks noGrp="1"/>
          </p:cNvGraphicFramePr>
          <p:nvPr>
            <p:custDataLst>
              <p:tags r:id="rId5"/>
            </p:custDataLst>
          </p:nvPr>
        </p:nvGraphicFramePr>
        <p:xfrm>
          <a:off x="3611245" y="4100830"/>
          <a:ext cx="4391025" cy="2054860"/>
        </p:xfrm>
        <a:graphic>
          <a:graphicData uri="http://schemas.openxmlformats.org/drawingml/2006/table">
            <a:tbl>
              <a:tblPr firstRow="1" firstCol="1" bandRow="1">
                <a:tableStyleId>{ED083AE6-46FA-4A59-8FB0-9F97EB10719F}</a:tableStyleId>
              </a:tblPr>
              <a:tblGrid>
                <a:gridCol w="1463675"/>
                <a:gridCol w="1462405"/>
                <a:gridCol w="1464945"/>
              </a:tblGrid>
              <a:tr h="221615">
                <a:tc rowSpan="2">
                  <a:txBody>
                    <a:bodyPr/>
                    <a:p>
                      <a:pPr marL="0" indent="127000" algn="ctr" defTabSz="914400" rtl="0" eaLnBrk="1" latinLnBrk="0" hangingPunct="1">
                        <a:spcAft>
                          <a:spcPts val="0"/>
                        </a:spcAft>
                      </a:pPr>
                      <a:r>
                        <a:rPr lang="zh-CN" altLang="en-US" sz="1400" b="0" kern="0" baseline="0" dirty="0">
                          <a:solidFill>
                            <a:schemeClr val="tx1"/>
                          </a:solidFill>
                          <a:effectLst/>
                          <a:latin typeface="+mn-lt"/>
                          <a:ea typeface="+mn-ea"/>
                          <a:cs typeface="+mn-cs"/>
                        </a:rPr>
                        <a:t>影响因素</a:t>
                      </a:r>
                      <a:endParaRPr lang="zh-CN" altLang="en-US" sz="1400" b="0" kern="0" baseline="0" dirty="0">
                        <a:solidFill>
                          <a:schemeClr val="tx1"/>
                        </a:solidFill>
                        <a:effectLst/>
                        <a:latin typeface="+mn-lt"/>
                        <a:ea typeface="+mn-ea"/>
                        <a:cs typeface="+mn-cs"/>
                      </a:endParaRPr>
                    </a:p>
                  </a:txBody>
                  <a:tcPr marL="68593" marR="6859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p>
                      <a:pPr indent="127000" algn="ctr">
                        <a:spcAft>
                          <a:spcPts val="0"/>
                        </a:spcAft>
                      </a:pPr>
                      <a:r>
                        <a:rPr lang="zh-CN" sz="1400" b="0" kern="0" baseline="0" dirty="0">
                          <a:effectLst/>
                        </a:rPr>
                        <a:t>灰色关联法</a:t>
                      </a:r>
                      <a:endParaRPr lang="zh-CN" sz="1400" b="0" kern="100" baseline="0" dirty="0">
                        <a:solidFill>
                          <a:schemeClr val="tx1"/>
                        </a:solidFill>
                        <a:effectLst/>
                        <a:latin typeface="Arial" panose="020B0604020202020204" pitchFamily="34" charset="0"/>
                        <a:ea typeface="黑体" panose="02010609060101010101" charset="-122"/>
                        <a:cs typeface="Times New Roman" panose="02020603050405020304" pitchFamily="18" charset="0"/>
                      </a:endParaRPr>
                    </a:p>
                  </a:txBody>
                  <a:tcPr marL="68593" marR="6859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p>
                      <a:pPr indent="127000" algn="ctr">
                        <a:spcAft>
                          <a:spcPts val="0"/>
                        </a:spcAft>
                      </a:pPr>
                      <a:r>
                        <a:rPr lang="zh-CN" sz="1400" b="0" kern="0" baseline="0" dirty="0">
                          <a:effectLst/>
                        </a:rPr>
                        <a:t>熵权法</a:t>
                      </a:r>
                      <a:endParaRPr lang="zh-CN" sz="1400" b="0" kern="100" baseline="0" dirty="0">
                        <a:solidFill>
                          <a:schemeClr val="tx1"/>
                        </a:solidFill>
                        <a:effectLst/>
                        <a:latin typeface="Arial" panose="020B0604020202020204" pitchFamily="34" charset="0"/>
                        <a:ea typeface="黑体" panose="02010609060101010101" charset="-122"/>
                        <a:cs typeface="Times New Roman" panose="02020603050405020304" pitchFamily="18" charset="0"/>
                      </a:endParaRPr>
                    </a:p>
                  </a:txBody>
                  <a:tcPr marL="68593" marR="6859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22885">
                <a:tc vMerge="1">
                  <a:tcPr/>
                </a:tc>
                <a:tc>
                  <a:txBody>
                    <a:bodyPr/>
                    <a:p>
                      <a:pPr marL="0" indent="127000" algn="ctr" defTabSz="914400" rtl="0" eaLnBrk="1" latinLnBrk="0" hangingPunct="1">
                        <a:spcAft>
                          <a:spcPts val="0"/>
                        </a:spcAft>
                      </a:pPr>
                      <a:r>
                        <a:rPr lang="zh-CN" altLang="en-US" sz="1400" b="0" kern="0" baseline="0" dirty="0">
                          <a:solidFill>
                            <a:schemeClr val="tx1"/>
                          </a:solidFill>
                          <a:effectLst/>
                          <a:latin typeface="+mn-lt"/>
                          <a:ea typeface="+mn-ea"/>
                          <a:cs typeface="+mn-cs"/>
                        </a:rPr>
                        <a:t>权重</a:t>
                      </a:r>
                      <a:endParaRPr lang="zh-CN" altLang="en-US" sz="1400" b="0" kern="0" baseline="0" dirty="0">
                        <a:solidFill>
                          <a:schemeClr val="tx1"/>
                        </a:solidFill>
                        <a:effectLst/>
                        <a:latin typeface="+mn-lt"/>
                        <a:ea typeface="+mn-ea"/>
                        <a:cs typeface="+mn-cs"/>
                      </a:endParaRPr>
                    </a:p>
                  </a:txBody>
                  <a:tcPr marL="68593" marR="6859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p>
                      <a:pPr marL="0" indent="127000" algn="ctr" defTabSz="914400" rtl="0" eaLnBrk="1" latinLnBrk="0" hangingPunct="1">
                        <a:spcAft>
                          <a:spcPts val="0"/>
                        </a:spcAft>
                      </a:pPr>
                      <a:r>
                        <a:rPr lang="zh-CN" altLang="en-US" sz="1400" b="0" kern="0" baseline="0" dirty="0">
                          <a:solidFill>
                            <a:schemeClr val="tx1"/>
                          </a:solidFill>
                          <a:effectLst/>
                          <a:latin typeface="+mn-lt"/>
                          <a:ea typeface="+mn-ea"/>
                          <a:cs typeface="+mn-cs"/>
                        </a:rPr>
                        <a:t>权重</a:t>
                      </a:r>
                      <a:endParaRPr lang="zh-CN" altLang="en-US" sz="1400" b="0" kern="0" baseline="0" dirty="0">
                        <a:solidFill>
                          <a:schemeClr val="tx1"/>
                        </a:solidFill>
                        <a:effectLst/>
                        <a:latin typeface="+mn-lt"/>
                        <a:ea typeface="+mn-ea"/>
                        <a:cs typeface="+mn-cs"/>
                      </a:endParaRPr>
                    </a:p>
                  </a:txBody>
                  <a:tcPr marL="68593" marR="6859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29235">
                <a:tc>
                  <a:txBody>
                    <a:bodyPr/>
                    <a:p>
                      <a:pPr algn="ctr" fontAlgn="ctr"/>
                      <a:r>
                        <a:rPr lang="zh-CN" altLang="en-US" sz="1400" b="0" i="0" u="none" strike="noStrike" dirty="0">
                          <a:solidFill>
                            <a:srgbClr val="000000"/>
                          </a:solidFill>
                          <a:effectLst/>
                          <a:latin typeface="+mn-ea"/>
                          <a:ea typeface="+mn-ea"/>
                        </a:rPr>
                        <a:t>加砂强度</a:t>
                      </a:r>
                      <a:endParaRPr lang="zh-CN" altLang="en-US" sz="1400" b="0" i="0" u="none" strike="noStrike" dirty="0">
                        <a:solidFill>
                          <a:srgbClr val="000000"/>
                        </a:solidFill>
                        <a:effectLst/>
                        <a:latin typeface="+mn-ea"/>
                        <a:ea typeface="+mn-ea"/>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p>
                      <a:pPr marL="0" algn="ctr" defTabSz="914400" rtl="0" eaLnBrk="1" fontAlgn="ctr" latinLnBrk="0" hangingPunct="1"/>
                      <a:r>
                        <a:rPr lang="en-US" altLang="zh-CN" sz="1400" b="0" i="0" u="none" strike="noStrike" kern="1200" dirty="0">
                          <a:solidFill>
                            <a:srgbClr val="000000"/>
                          </a:solidFill>
                          <a:effectLst/>
                          <a:latin typeface="+mn-ea"/>
                          <a:ea typeface="+mn-ea"/>
                          <a:cs typeface="+mn-cs"/>
                        </a:rPr>
                        <a:t>0.6569</a:t>
                      </a:r>
                      <a:endParaRPr lang="en-US" altLang="zh-CN" sz="1400" b="0" i="0" u="none" strike="noStrike" kern="1200" dirty="0">
                        <a:solidFill>
                          <a:srgbClr val="000000"/>
                        </a:solidFill>
                        <a:effectLst/>
                        <a:latin typeface="+mn-ea"/>
                        <a:ea typeface="+mn-ea"/>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p>
                      <a:pPr marL="0" algn="ctr" defTabSz="914400" rtl="0" eaLnBrk="1" fontAlgn="ctr" latinLnBrk="0" hangingPunct="1"/>
                      <a:r>
                        <a:rPr lang="en-US" altLang="zh-CN" sz="1400" b="0" i="0" u="none" strike="noStrike" kern="1200" dirty="0">
                          <a:solidFill>
                            <a:srgbClr val="000000"/>
                          </a:solidFill>
                          <a:effectLst/>
                          <a:latin typeface="+mn-ea"/>
                          <a:ea typeface="+mn-ea"/>
                          <a:cs typeface="+mn-cs"/>
                        </a:rPr>
                        <a:t>0.1095</a:t>
                      </a:r>
                      <a:endParaRPr lang="en-US" altLang="zh-CN" sz="1400" b="0" i="0" u="none" strike="noStrike" kern="1200" dirty="0">
                        <a:solidFill>
                          <a:srgbClr val="000000"/>
                        </a:solidFill>
                        <a:effectLst/>
                        <a:latin typeface="+mn-ea"/>
                        <a:ea typeface="+mn-ea"/>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30505">
                <a:tc>
                  <a:txBody>
                    <a:bodyPr/>
                    <a:p>
                      <a:pPr algn="ctr" fontAlgn="ctr"/>
                      <a:r>
                        <a:rPr lang="zh-CN" altLang="en-US" sz="1400" b="0" i="0" u="none" strike="noStrike" dirty="0">
                          <a:solidFill>
                            <a:srgbClr val="000000"/>
                          </a:solidFill>
                          <a:effectLst/>
                          <a:latin typeface="+mn-ea"/>
                          <a:ea typeface="+mn-ea"/>
                        </a:rPr>
                        <a:t>施工排量</a:t>
                      </a:r>
                      <a:endParaRPr lang="zh-CN" altLang="en-US" sz="1400" b="0" i="0" u="none" strike="noStrike" dirty="0">
                        <a:solidFill>
                          <a:srgbClr val="000000"/>
                        </a:solidFill>
                        <a:effectLst/>
                        <a:latin typeface="+mn-ea"/>
                        <a:ea typeface="+mn-ea"/>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p>
                      <a:pPr marL="0" algn="ctr" defTabSz="914400" rtl="0" eaLnBrk="1" fontAlgn="ctr" latinLnBrk="0" hangingPunct="1"/>
                      <a:r>
                        <a:rPr lang="en-US" altLang="zh-CN" sz="1400" b="0" i="0" u="none" strike="noStrike" kern="1200" dirty="0">
                          <a:solidFill>
                            <a:srgbClr val="000000"/>
                          </a:solidFill>
                          <a:effectLst/>
                          <a:latin typeface="+mn-ea"/>
                          <a:ea typeface="+mn-ea"/>
                          <a:cs typeface="+mn-cs"/>
                        </a:rPr>
                        <a:t>0.6516</a:t>
                      </a:r>
                      <a:endParaRPr lang="en-US" altLang="zh-CN" sz="1400" b="0" i="0" u="none" strike="noStrike" kern="1200" dirty="0">
                        <a:solidFill>
                          <a:srgbClr val="000000"/>
                        </a:solidFill>
                        <a:effectLst/>
                        <a:latin typeface="+mn-ea"/>
                        <a:ea typeface="+mn-ea"/>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p>
                      <a:pPr marL="0" algn="ctr" defTabSz="914400" rtl="0" eaLnBrk="1" fontAlgn="ctr" latinLnBrk="0" hangingPunct="1"/>
                      <a:r>
                        <a:rPr lang="en-US" altLang="zh-CN" sz="1400" b="0" i="0" u="none" strike="noStrike" kern="1200" dirty="0">
                          <a:solidFill>
                            <a:srgbClr val="000000"/>
                          </a:solidFill>
                          <a:effectLst/>
                          <a:latin typeface="+mn-ea"/>
                          <a:ea typeface="+mn-ea"/>
                          <a:cs typeface="+mn-cs"/>
                        </a:rPr>
                        <a:t>0.1261</a:t>
                      </a:r>
                      <a:endParaRPr lang="en-US" altLang="zh-CN" sz="1400" b="0" i="0" u="none" strike="noStrike" kern="1200" dirty="0">
                        <a:solidFill>
                          <a:srgbClr val="000000"/>
                        </a:solidFill>
                        <a:effectLst/>
                        <a:latin typeface="+mn-ea"/>
                        <a:ea typeface="+mn-ea"/>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30505">
                <a:tc>
                  <a:txBody>
                    <a:bodyPr/>
                    <a:p>
                      <a:pPr algn="ctr" fontAlgn="ctr"/>
                      <a:r>
                        <a:rPr lang="zh-CN" altLang="en-US" sz="1400" b="0" i="0" u="none" strike="noStrike" dirty="0">
                          <a:solidFill>
                            <a:srgbClr val="000000"/>
                          </a:solidFill>
                          <a:effectLst/>
                          <a:latin typeface="+mn-ea"/>
                          <a:ea typeface="+mn-ea"/>
                        </a:rPr>
                        <a:t>总加砂量</a:t>
                      </a:r>
                      <a:endParaRPr lang="zh-CN" altLang="en-US" sz="1400" b="0" i="0" u="none" strike="noStrike" dirty="0">
                        <a:solidFill>
                          <a:srgbClr val="000000"/>
                        </a:solidFill>
                        <a:effectLst/>
                        <a:latin typeface="+mn-ea"/>
                        <a:ea typeface="+mn-ea"/>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p>
                      <a:pPr marL="0" algn="ctr" defTabSz="914400" rtl="0" eaLnBrk="1" fontAlgn="ctr" latinLnBrk="0" hangingPunct="1"/>
                      <a:r>
                        <a:rPr lang="en-US" altLang="zh-CN" sz="1400" b="0" i="0" u="none" strike="noStrike" kern="1200" dirty="0">
                          <a:solidFill>
                            <a:srgbClr val="000000"/>
                          </a:solidFill>
                          <a:effectLst/>
                          <a:latin typeface="+mn-ea"/>
                          <a:ea typeface="+mn-ea"/>
                          <a:cs typeface="+mn-cs"/>
                        </a:rPr>
                        <a:t>0.632</a:t>
                      </a:r>
                      <a:endParaRPr lang="en-US" altLang="zh-CN" sz="1400" b="0" i="0" u="none" strike="noStrike" kern="1200" dirty="0">
                        <a:solidFill>
                          <a:srgbClr val="000000"/>
                        </a:solidFill>
                        <a:effectLst/>
                        <a:latin typeface="+mn-ea"/>
                        <a:ea typeface="+mn-ea"/>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p>
                      <a:pPr marL="0" algn="ctr" defTabSz="914400" rtl="0" eaLnBrk="1" fontAlgn="ctr" latinLnBrk="0" hangingPunct="1"/>
                      <a:r>
                        <a:rPr lang="en-US" altLang="zh-CN" sz="1400" b="0" i="0" u="none" strike="noStrike" kern="1200" dirty="0">
                          <a:solidFill>
                            <a:srgbClr val="000000"/>
                          </a:solidFill>
                          <a:effectLst/>
                          <a:latin typeface="+mn-ea"/>
                          <a:ea typeface="+mn-ea"/>
                          <a:cs typeface="+mn-cs"/>
                        </a:rPr>
                        <a:t>0.092</a:t>
                      </a:r>
                      <a:endParaRPr lang="en-US" altLang="zh-CN" sz="1400" b="0" i="0" u="none" strike="noStrike" kern="1200" dirty="0">
                        <a:solidFill>
                          <a:srgbClr val="000000"/>
                        </a:solidFill>
                        <a:effectLst/>
                        <a:latin typeface="+mn-ea"/>
                        <a:ea typeface="+mn-ea"/>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29870">
                <a:tc>
                  <a:txBody>
                    <a:bodyPr/>
                    <a:p>
                      <a:pPr algn="ctr" fontAlgn="ctr"/>
                      <a:r>
                        <a:rPr lang="zh-CN" altLang="en-US" sz="1400" b="0" i="0" u="none" strike="noStrike" dirty="0">
                          <a:solidFill>
                            <a:srgbClr val="000000"/>
                          </a:solidFill>
                          <a:effectLst/>
                          <a:latin typeface="+mn-ea"/>
                          <a:ea typeface="+mn-ea"/>
                        </a:rPr>
                        <a:t>用液强度</a:t>
                      </a:r>
                      <a:endParaRPr lang="zh-CN" altLang="en-US" sz="1400" b="0" i="0" u="none" strike="noStrike" dirty="0">
                        <a:solidFill>
                          <a:srgbClr val="000000"/>
                        </a:solidFill>
                        <a:effectLst/>
                        <a:latin typeface="+mn-ea"/>
                        <a:ea typeface="+mn-ea"/>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p>
                      <a:pPr marL="0" algn="ctr" defTabSz="914400" rtl="0" eaLnBrk="1" fontAlgn="ctr" latinLnBrk="0" hangingPunct="1"/>
                      <a:r>
                        <a:rPr lang="en-US" altLang="zh-CN" sz="1400" b="0" i="0" u="none" strike="noStrike" kern="1200" dirty="0">
                          <a:solidFill>
                            <a:srgbClr val="000000"/>
                          </a:solidFill>
                          <a:effectLst/>
                          <a:latin typeface="+mn-ea"/>
                          <a:ea typeface="+mn-ea"/>
                          <a:cs typeface="+mn-cs"/>
                        </a:rPr>
                        <a:t>0.6314</a:t>
                      </a:r>
                      <a:endParaRPr lang="en-US" altLang="zh-CN" sz="1400" b="0" i="0" u="none" strike="noStrike" kern="1200" dirty="0">
                        <a:solidFill>
                          <a:srgbClr val="000000"/>
                        </a:solidFill>
                        <a:effectLst/>
                        <a:latin typeface="+mn-ea"/>
                        <a:ea typeface="+mn-ea"/>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p>
                      <a:pPr marL="0" algn="ctr" defTabSz="914400" rtl="0" eaLnBrk="1" fontAlgn="ctr" latinLnBrk="0" hangingPunct="1"/>
                      <a:r>
                        <a:rPr lang="en-US" altLang="zh-CN" sz="1400" b="0" i="0" u="none" strike="noStrike" kern="1200" dirty="0">
                          <a:solidFill>
                            <a:srgbClr val="000000"/>
                          </a:solidFill>
                          <a:effectLst/>
                          <a:latin typeface="+mn-ea"/>
                          <a:ea typeface="+mn-ea"/>
                          <a:cs typeface="+mn-cs"/>
                        </a:rPr>
                        <a:t>0.1825</a:t>
                      </a:r>
                      <a:endParaRPr lang="en-US" altLang="zh-CN" sz="1400" b="0" i="0" u="none" strike="noStrike" kern="1200" dirty="0">
                        <a:solidFill>
                          <a:srgbClr val="000000"/>
                        </a:solidFill>
                        <a:effectLst/>
                        <a:latin typeface="+mn-ea"/>
                        <a:ea typeface="+mn-ea"/>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29870">
                <a:tc>
                  <a:txBody>
                    <a:bodyPr/>
                    <a:p>
                      <a:pPr algn="ctr" fontAlgn="ctr"/>
                      <a:r>
                        <a:rPr lang="zh-CN" altLang="en-US" sz="1400" b="0" i="0" u="none" strike="noStrike" dirty="0">
                          <a:solidFill>
                            <a:srgbClr val="000000"/>
                          </a:solidFill>
                          <a:effectLst/>
                          <a:latin typeface="+mn-ea"/>
                          <a:ea typeface="+mn-ea"/>
                        </a:rPr>
                        <a:t>总液量</a:t>
                      </a:r>
                      <a:endParaRPr lang="zh-CN" altLang="en-US" sz="1400" b="0" i="0" u="none" strike="noStrike" dirty="0">
                        <a:solidFill>
                          <a:srgbClr val="000000"/>
                        </a:solidFill>
                        <a:effectLst/>
                        <a:latin typeface="+mn-ea"/>
                        <a:ea typeface="+mn-ea"/>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p>
                      <a:pPr marL="0" algn="ctr" defTabSz="914400" rtl="0" eaLnBrk="1" fontAlgn="ctr" latinLnBrk="0" hangingPunct="1"/>
                      <a:r>
                        <a:rPr lang="en-US" altLang="zh-CN" sz="1400" b="0" i="0" u="none" strike="noStrike" kern="1200" dirty="0">
                          <a:solidFill>
                            <a:srgbClr val="000000"/>
                          </a:solidFill>
                          <a:effectLst/>
                          <a:latin typeface="+mn-ea"/>
                          <a:ea typeface="+mn-ea"/>
                          <a:cs typeface="+mn-cs"/>
                        </a:rPr>
                        <a:t>0.591</a:t>
                      </a:r>
                      <a:endParaRPr lang="en-US" altLang="zh-CN" sz="1400" b="0" i="0" u="none" strike="noStrike" kern="1200" dirty="0">
                        <a:solidFill>
                          <a:srgbClr val="000000"/>
                        </a:solidFill>
                        <a:effectLst/>
                        <a:latin typeface="+mn-ea"/>
                        <a:ea typeface="+mn-ea"/>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p>
                      <a:pPr marL="0" algn="ctr" defTabSz="914400" rtl="0" eaLnBrk="1" fontAlgn="ctr" latinLnBrk="0" hangingPunct="1"/>
                      <a:r>
                        <a:rPr lang="en-US" altLang="zh-CN" sz="1400" b="0" i="0" u="none" strike="noStrike" kern="1200" dirty="0">
                          <a:solidFill>
                            <a:srgbClr val="000000"/>
                          </a:solidFill>
                          <a:effectLst/>
                          <a:latin typeface="+mn-ea"/>
                          <a:ea typeface="+mn-ea"/>
                          <a:cs typeface="+mn-cs"/>
                        </a:rPr>
                        <a:t>0.1619</a:t>
                      </a:r>
                      <a:endParaRPr lang="en-US" altLang="zh-CN" sz="1400" b="0" i="0" u="none" strike="noStrike" kern="1200" dirty="0">
                        <a:solidFill>
                          <a:srgbClr val="000000"/>
                        </a:solidFill>
                        <a:effectLst/>
                        <a:latin typeface="+mn-ea"/>
                        <a:ea typeface="+mn-ea"/>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30505">
                <a:tc>
                  <a:txBody>
                    <a:bodyPr/>
                    <a:p>
                      <a:pPr algn="ctr" fontAlgn="ctr"/>
                      <a:r>
                        <a:rPr lang="zh-CN" altLang="en-US" sz="1400" b="0" i="0" u="none" strike="noStrike" dirty="0">
                          <a:solidFill>
                            <a:srgbClr val="000000"/>
                          </a:solidFill>
                          <a:effectLst/>
                          <a:latin typeface="+mn-ea"/>
                          <a:ea typeface="+mn-ea"/>
                        </a:rPr>
                        <a:t>停泵压力</a:t>
                      </a:r>
                      <a:endParaRPr lang="zh-CN" altLang="en-US" sz="1400" b="0" i="0" u="none" strike="noStrike" dirty="0">
                        <a:solidFill>
                          <a:srgbClr val="000000"/>
                        </a:solidFill>
                        <a:effectLst/>
                        <a:latin typeface="+mn-ea"/>
                        <a:ea typeface="+mn-ea"/>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p>
                      <a:pPr marL="0" algn="ctr" defTabSz="914400" rtl="0" eaLnBrk="1" fontAlgn="ctr" latinLnBrk="0" hangingPunct="1"/>
                      <a:r>
                        <a:rPr lang="en-US" altLang="zh-CN" sz="1400" b="0" i="0" u="none" strike="noStrike" kern="1200" dirty="0">
                          <a:solidFill>
                            <a:srgbClr val="000000"/>
                          </a:solidFill>
                          <a:effectLst/>
                          <a:latin typeface="+mn-ea"/>
                          <a:ea typeface="+mn-ea"/>
                          <a:cs typeface="+mn-cs"/>
                        </a:rPr>
                        <a:t>0.5053</a:t>
                      </a:r>
                      <a:endParaRPr lang="en-US" altLang="zh-CN" sz="1400" b="0" i="0" u="none" strike="noStrike" kern="1200" dirty="0">
                        <a:solidFill>
                          <a:srgbClr val="000000"/>
                        </a:solidFill>
                        <a:effectLst/>
                        <a:latin typeface="+mn-ea"/>
                        <a:ea typeface="+mn-ea"/>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p>
                      <a:pPr marL="0" algn="ctr" defTabSz="914400" rtl="0" eaLnBrk="1" fontAlgn="ctr" latinLnBrk="0" hangingPunct="1"/>
                      <a:r>
                        <a:rPr lang="en-US" altLang="zh-CN" sz="1400" b="0" i="0" u="none" strike="noStrike" kern="1200" dirty="0">
                          <a:solidFill>
                            <a:srgbClr val="000000"/>
                          </a:solidFill>
                          <a:effectLst/>
                          <a:latin typeface="+mn-ea"/>
                          <a:ea typeface="+mn-ea"/>
                          <a:cs typeface="+mn-cs"/>
                        </a:rPr>
                        <a:t>0.0193</a:t>
                      </a:r>
                      <a:endParaRPr lang="en-US" altLang="zh-CN" sz="1400" b="0" i="0" u="none" strike="noStrike" kern="1200" dirty="0">
                        <a:solidFill>
                          <a:srgbClr val="000000"/>
                        </a:solidFill>
                        <a:effectLst/>
                        <a:latin typeface="+mn-ea"/>
                        <a:ea typeface="+mn-ea"/>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29870">
                <a:tc>
                  <a:txBody>
                    <a:bodyPr/>
                    <a:p>
                      <a:pPr algn="ctr" fontAlgn="ctr"/>
                      <a:r>
                        <a:rPr lang="zh-CN" altLang="en-US" sz="1400" b="0" i="0" u="none" strike="noStrike" dirty="0">
                          <a:solidFill>
                            <a:srgbClr val="000000"/>
                          </a:solidFill>
                          <a:effectLst/>
                          <a:latin typeface="+mn-ea"/>
                          <a:ea typeface="+mn-ea"/>
                        </a:rPr>
                        <a:t>起裂压力</a:t>
                      </a:r>
                      <a:endParaRPr lang="zh-CN" altLang="en-US" sz="1400" b="0" i="0" u="none" strike="noStrike" dirty="0">
                        <a:solidFill>
                          <a:srgbClr val="000000"/>
                        </a:solidFill>
                        <a:effectLst/>
                        <a:latin typeface="+mn-ea"/>
                        <a:ea typeface="+mn-ea"/>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p>
                      <a:pPr marL="0" algn="ctr" defTabSz="914400" rtl="0" eaLnBrk="1" fontAlgn="ctr" latinLnBrk="0" hangingPunct="1"/>
                      <a:r>
                        <a:rPr lang="en-US" altLang="zh-CN" sz="1400" b="0" i="0" u="none" strike="noStrike" kern="1200" dirty="0">
                          <a:solidFill>
                            <a:srgbClr val="000000"/>
                          </a:solidFill>
                          <a:effectLst/>
                          <a:latin typeface="+mn-ea"/>
                          <a:ea typeface="+mn-ea"/>
                          <a:cs typeface="+mn-cs"/>
                        </a:rPr>
                        <a:t>0.6802</a:t>
                      </a:r>
                      <a:endParaRPr lang="en-US" altLang="zh-CN" sz="1400" b="0" i="0" u="none" strike="noStrike" kern="1200" dirty="0">
                        <a:solidFill>
                          <a:srgbClr val="000000"/>
                        </a:solidFill>
                        <a:effectLst/>
                        <a:latin typeface="+mn-ea"/>
                        <a:ea typeface="+mn-ea"/>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p>
                      <a:pPr marL="0" algn="ctr" defTabSz="914400" rtl="0" eaLnBrk="1" fontAlgn="ctr" latinLnBrk="0" hangingPunct="1"/>
                      <a:r>
                        <a:rPr lang="en-US" altLang="zh-CN" sz="1400" b="0" i="0" u="none" strike="noStrike" kern="1200" dirty="0">
                          <a:solidFill>
                            <a:srgbClr val="000000"/>
                          </a:solidFill>
                          <a:effectLst/>
                          <a:latin typeface="+mn-ea"/>
                          <a:ea typeface="+mn-ea"/>
                          <a:cs typeface="+mn-cs"/>
                        </a:rPr>
                        <a:t>0.0214</a:t>
                      </a:r>
                      <a:endParaRPr lang="en-US" altLang="zh-CN" sz="1400" b="0" i="0" u="none" strike="noStrike" kern="1200" dirty="0">
                        <a:solidFill>
                          <a:srgbClr val="000000"/>
                        </a:solidFill>
                        <a:effectLst/>
                        <a:latin typeface="+mn-ea"/>
                        <a:ea typeface="+mn-ea"/>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pic>
        <p:nvPicPr>
          <p:cNvPr id="24" name="图片 23"/>
          <p:cNvPicPr>
            <a:picLocks noChangeAspect="1"/>
          </p:cNvPicPr>
          <p:nvPr/>
        </p:nvPicPr>
        <p:blipFill>
          <a:blip r:embed="rId6"/>
          <a:stretch>
            <a:fillRect/>
          </a:stretch>
        </p:blipFill>
        <p:spPr>
          <a:xfrm>
            <a:off x="334010" y="4347210"/>
            <a:ext cx="3171190" cy="1807845"/>
          </a:xfrm>
          <a:prstGeom prst="rect">
            <a:avLst/>
          </a:prstGeom>
        </p:spPr>
      </p:pic>
      <p:sp>
        <p:nvSpPr>
          <p:cNvPr id="25" name="文本框 1"/>
          <p:cNvSpPr txBox="1">
            <a:spLocks noChangeArrowheads="1"/>
          </p:cNvSpPr>
          <p:nvPr/>
        </p:nvSpPr>
        <p:spPr bwMode="auto">
          <a:xfrm>
            <a:off x="3610610" y="6257290"/>
            <a:ext cx="841502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400" b="1" dirty="0">
                <a:solidFill>
                  <a:srgbClr val="0000FF"/>
                </a:solidFill>
                <a:latin typeface="微软雅黑" panose="020B0503020204020204" pitchFamily="34" charset="-122"/>
                <a:ea typeface="微软雅黑" panose="020B0503020204020204" pitchFamily="34" charset="-122"/>
              </a:rPr>
              <a:t>灰色关联法与熵权法公式与分析</a:t>
            </a:r>
            <a:r>
              <a:rPr lang="zh-CN" altLang="en-US" sz="1400" b="1" dirty="0">
                <a:solidFill>
                  <a:srgbClr val="0000FF"/>
                </a:solidFill>
                <a:latin typeface="微软雅黑" panose="020B0503020204020204" pitchFamily="34" charset="-122"/>
                <a:ea typeface="微软雅黑" panose="020B0503020204020204" pitchFamily="34" charset="-122"/>
              </a:rPr>
              <a:t>结果</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graphicFrame>
        <p:nvGraphicFramePr>
          <p:cNvPr id="26" name="对象 25">
            <a:hlinkClick r:id="" action="ppaction://ole?verb="/>
          </p:cNvPr>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1025" name="" r:id="rId7" imgW="114300" imgH="215900" progId="Equation.KSEE3">
                  <p:embed/>
                </p:oleObj>
              </mc:Choice>
              <mc:Fallback>
                <p:oleObj name="" r:id="rId7" imgW="114300" imgH="215900" progId="Equation.KSEE3">
                  <p:embed/>
                  <p:pic>
                    <p:nvPicPr>
                      <p:cNvPr id="0" name="图片 1024"/>
                      <p:cNvPicPr/>
                      <p:nvPr/>
                    </p:nvPicPr>
                    <p:blipFill>
                      <a:blip r:embed="rId8"/>
                      <a:stretch>
                        <a:fillRect/>
                      </a:stretch>
                    </p:blipFill>
                    <p:spPr>
                      <a:xfrm>
                        <a:off x="6038850" y="3321050"/>
                        <a:ext cx="114300" cy="215900"/>
                      </a:xfrm>
                      <a:prstGeom prst="rect">
                        <a:avLst/>
                      </a:prstGeom>
                    </p:spPr>
                  </p:pic>
                </p:oleObj>
              </mc:Fallback>
            </mc:AlternateContent>
          </a:graphicData>
        </a:graphic>
      </p:graphicFrame>
      <p:pic>
        <p:nvPicPr>
          <p:cNvPr id="5" name="图片 4" descr="1"/>
          <p:cNvPicPr>
            <a:picLocks noChangeAspect="1"/>
          </p:cNvPicPr>
          <p:nvPr/>
        </p:nvPicPr>
        <p:blipFill>
          <a:blip r:embed="rId9"/>
          <a:stretch>
            <a:fillRect/>
          </a:stretch>
        </p:blipFill>
        <p:spPr>
          <a:xfrm>
            <a:off x="4135755" y="2336800"/>
            <a:ext cx="6219190" cy="772160"/>
          </a:xfrm>
          <a:prstGeom prst="rect">
            <a:avLst/>
          </a:prstGeom>
        </p:spPr>
      </p:pic>
      <p:sp>
        <p:nvSpPr>
          <p:cNvPr id="12" name="文本框 11"/>
          <p:cNvSpPr txBox="1"/>
          <p:nvPr/>
        </p:nvSpPr>
        <p:spPr>
          <a:xfrm>
            <a:off x="7348220" y="3195320"/>
            <a:ext cx="4458970" cy="847090"/>
          </a:xfrm>
          <a:prstGeom prst="rect">
            <a:avLst/>
          </a:prstGeom>
          <a:noFill/>
          <a:ln>
            <a:noFill/>
          </a:ln>
        </p:spPr>
        <p:txBody>
          <a:bodyPr wrap="square"/>
          <a:p>
            <a:pPr marL="0" indent="0">
              <a:lnSpc>
                <a:spcPct val="100000"/>
              </a:lnSpc>
              <a:buClr>
                <a:srgbClr val="FF0000"/>
              </a:buClr>
            </a:pPr>
            <a:r>
              <a:rPr lang="zh-CN" altLang="en-US"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其中，</a:t>
            </a:r>
            <a:r>
              <a:rPr lang="en-US" altLang="zh-CN" sz="160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W</a:t>
            </a:r>
            <a:r>
              <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为</a:t>
            </a:r>
            <a:r>
              <a:rPr lang="en-US" altLang="zh-CN" sz="160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因素下组合权重</a:t>
            </a:r>
            <a:endParaRPr lang="zh-CN" altLang="en-US"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0">
              <a:lnSpc>
                <a:spcPct val="100000"/>
              </a:lnSpc>
              <a:buClr>
                <a:srgbClr val="FF0000"/>
              </a:buClr>
            </a:pPr>
            <a:r>
              <a:rPr lang="en-US" altLang="zh-CN" sz="1600" i="1" dirty="0">
                <a:latin typeface="Times New Roman" panose="02020603050405020304" pitchFamily="18" charset="0"/>
                <a:ea typeface="微软雅黑" panose="020B0503020204020204" pitchFamily="34" charset="-122"/>
                <a:cs typeface="Times New Roman" panose="02020603050405020304" pitchFamily="18" charset="0"/>
                <a:sym typeface="+mn-ea"/>
              </a:rPr>
              <a:t>W</a:t>
            </a:r>
            <a:r>
              <a:rPr lang="en-US" altLang="zh-CN" sz="1600" i="1" baseline="-25000" dirty="0">
                <a:latin typeface="Times New Roman" panose="02020603050405020304" pitchFamily="18" charset="0"/>
                <a:ea typeface="微软雅黑" panose="020B0503020204020204" pitchFamily="34" charset="-122"/>
                <a:cs typeface="Times New Roman" panose="02020603050405020304" pitchFamily="18" charset="0"/>
                <a:sym typeface="+mn-ea"/>
              </a:rPr>
              <a:t>G</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en-US" altLang="zh-CN" sz="1600" i="1" dirty="0">
                <a:latin typeface="Times New Roman" panose="02020603050405020304" pitchFamily="18" charset="0"/>
                <a:ea typeface="微软雅黑" panose="020B0503020204020204" pitchFamily="34" charset="-122"/>
                <a:cs typeface="Times New Roman" panose="02020603050405020304" pitchFamily="18" charset="0"/>
                <a:sym typeface="+mn-ea"/>
              </a:rPr>
              <a:t>i</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为</a:t>
            </a:r>
            <a:r>
              <a:rPr lang="en-US" altLang="zh-CN" sz="1600" i="1" dirty="0">
                <a:latin typeface="Times New Roman" panose="02020603050405020304" pitchFamily="18" charset="0"/>
                <a:ea typeface="微软雅黑" panose="020B0503020204020204" pitchFamily="34" charset="-122"/>
                <a:cs typeface="Times New Roman" panose="02020603050405020304" pitchFamily="18" charset="0"/>
                <a:sym typeface="+mn-ea"/>
              </a:rPr>
              <a:t>i</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因素下灰色关联法求得的权重</a:t>
            </a:r>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0" indent="0">
              <a:lnSpc>
                <a:spcPct val="100000"/>
              </a:lnSpc>
              <a:buClr>
                <a:srgbClr val="FF0000"/>
              </a:buClr>
            </a:pPr>
            <a:r>
              <a:rPr lang="en-US" altLang="zh-CN" sz="1600" i="1" dirty="0">
                <a:latin typeface="Times New Roman" panose="02020603050405020304" pitchFamily="18" charset="0"/>
                <a:ea typeface="微软雅黑" panose="020B0503020204020204" pitchFamily="34" charset="-122"/>
                <a:cs typeface="Times New Roman" panose="02020603050405020304" pitchFamily="18" charset="0"/>
                <a:sym typeface="+mn-ea"/>
              </a:rPr>
              <a:t>W</a:t>
            </a:r>
            <a:r>
              <a:rPr lang="en-US" altLang="zh-CN" sz="1600" i="1" baseline="-25000" dirty="0">
                <a:latin typeface="Times New Roman" panose="02020603050405020304" pitchFamily="18" charset="0"/>
                <a:ea typeface="微软雅黑" panose="020B0503020204020204" pitchFamily="34" charset="-122"/>
                <a:cs typeface="Times New Roman" panose="02020603050405020304" pitchFamily="18" charset="0"/>
                <a:sym typeface="+mn-ea"/>
              </a:rPr>
              <a:t>S</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en-US" altLang="zh-CN" sz="1600" i="1" dirty="0">
                <a:latin typeface="Times New Roman" panose="02020603050405020304" pitchFamily="18" charset="0"/>
                <a:ea typeface="微软雅黑" panose="020B0503020204020204" pitchFamily="34" charset="-122"/>
                <a:cs typeface="Times New Roman" panose="02020603050405020304" pitchFamily="18" charset="0"/>
                <a:sym typeface="+mn-ea"/>
              </a:rPr>
              <a:t>i</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为</a:t>
            </a:r>
            <a:r>
              <a:rPr lang="en-US" altLang="zh-CN" sz="1600" i="1" dirty="0">
                <a:latin typeface="Times New Roman" panose="02020603050405020304" pitchFamily="18" charset="0"/>
                <a:ea typeface="微软雅黑" panose="020B0503020204020204" pitchFamily="34" charset="-122"/>
                <a:cs typeface="Times New Roman" panose="02020603050405020304" pitchFamily="18" charset="0"/>
                <a:sym typeface="+mn-ea"/>
              </a:rPr>
              <a:t>i</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rPr>
              <a:t>因素下熵权法求得的权重</a:t>
            </a:r>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Tree>
  </p:cSld>
  <p:clrMapOvr>
    <a:masterClrMapping/>
  </p:clrMapOvr>
  <p:transition advTm="595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a:grpSpLocks noChangeAspect="1"/>
          </p:cNvGrpSpPr>
          <p:nvPr/>
        </p:nvGrpSpPr>
        <p:grpSpPr>
          <a:xfrm>
            <a:off x="304540" y="1126192"/>
            <a:ext cx="11582920" cy="4423708"/>
            <a:chOff x="1487488" y="1786592"/>
            <a:chExt cx="9201151" cy="3514071"/>
          </a:xfrm>
        </p:grpSpPr>
        <p:sp>
          <p:nvSpPr>
            <p:cNvPr id="29" name="矩形 28"/>
            <p:cNvSpPr/>
            <p:nvPr/>
          </p:nvSpPr>
          <p:spPr>
            <a:xfrm>
              <a:off x="1524000" y="3284538"/>
              <a:ext cx="9144000" cy="1998662"/>
            </a:xfrm>
            <a:prstGeom prst="rect">
              <a:avLst/>
            </a:prstGeom>
            <a:gradFill flip="none" rotWithShape="1">
              <a:gsLst>
                <a:gs pos="0">
                  <a:srgbClr val="0070C0"/>
                </a:gs>
                <a:gs pos="100000">
                  <a:srgbClr val="002F8E"/>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charset="-122"/>
                <a:cs typeface="+mn-cs"/>
              </a:endParaRPr>
            </a:p>
          </p:txBody>
        </p:sp>
        <p:grpSp>
          <p:nvGrpSpPr>
            <p:cNvPr id="70659" name="组合 14"/>
            <p:cNvGrpSpPr/>
            <p:nvPr/>
          </p:nvGrpSpPr>
          <p:grpSpPr bwMode="auto">
            <a:xfrm>
              <a:off x="1487488" y="5256213"/>
              <a:ext cx="9201151" cy="44450"/>
              <a:chOff x="-36512" y="1081950"/>
              <a:chExt cx="9201237" cy="45719"/>
            </a:xfrm>
          </p:grpSpPr>
          <p:cxnSp>
            <p:nvCxnSpPr>
              <p:cNvPr id="33" name="直接连接符 32"/>
              <p:cNvCxnSpPr/>
              <p:nvPr/>
            </p:nvCxnSpPr>
            <p:spPr bwMode="auto">
              <a:xfrm>
                <a:off x="-36512" y="1124403"/>
                <a:ext cx="9180599" cy="0"/>
              </a:xfrm>
              <a:prstGeom prst="line">
                <a:avLst/>
              </a:prstGeom>
              <a:noFill/>
              <a:ln w="9525" cap="flat" cmpd="sng" algn="ctr">
                <a:solidFill>
                  <a:schemeClr val="bg1">
                    <a:lumMod val="50000"/>
                  </a:schemeClr>
                </a:solidFill>
                <a:prstDash val="solid"/>
                <a:miter lim="800000"/>
                <a:headEnd type="none" w="med" len="med"/>
                <a:tailEnd type="none" w="med" len="med"/>
              </a:ln>
              <a:effectLst/>
            </p:spPr>
          </p:cxnSp>
          <p:sp>
            <p:nvSpPr>
              <p:cNvPr id="34" name="矩形 33"/>
              <p:cNvSpPr/>
              <p:nvPr/>
            </p:nvSpPr>
            <p:spPr bwMode="auto">
              <a:xfrm>
                <a:off x="1" y="1081950"/>
                <a:ext cx="9164724" cy="45719"/>
              </a:xfrm>
              <a:prstGeom prst="rect">
                <a:avLst/>
              </a:prstGeom>
              <a:gradFill flip="none" rotWithShape="1">
                <a:gsLst>
                  <a:gs pos="0">
                    <a:schemeClr val="bg1">
                      <a:lumMod val="95000"/>
                    </a:schemeClr>
                  </a:gs>
                  <a:gs pos="55400">
                    <a:schemeClr val="bg1"/>
                  </a:gs>
                  <a:gs pos="100000">
                    <a:srgbClr val="FFFFCC">
                      <a:alpha val="0"/>
                    </a:srgbClr>
                  </a:gs>
                </a:gsLst>
                <a:lin ang="5400000" scaled="1"/>
                <a:tileRect/>
              </a:gradFill>
              <a:ln w="9525" cap="flat" cmpd="sng" algn="ctr">
                <a:noFill/>
                <a:prstDash val="solid"/>
                <a:round/>
                <a:headEnd type="none" w="med" len="med"/>
                <a:tailEnd type="none" w="med" len="med"/>
              </a:ln>
              <a:effectLst>
                <a:outerShdw blurRad="25400" dist="12700" dir="5400000" sx="101000" sy="101000" algn="t" rotWithShape="0">
                  <a:prstClr val="black">
                    <a:alpha val="40000"/>
                  </a:prstClr>
                </a:outerShdw>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000000"/>
                  </a:solidFill>
                  <a:effectLst/>
                  <a:uLnTx/>
                  <a:uFillTx/>
                  <a:latin typeface="Arial" panose="020B0604020202020204"/>
                  <a:ea typeface="黑体" panose="02010609060101010101" charset="-122"/>
                  <a:cs typeface="+mn-cs"/>
                </a:endParaRPr>
              </a:p>
            </p:txBody>
          </p:sp>
        </p:grpSp>
        <p:pic>
          <p:nvPicPr>
            <p:cNvPr id="22" name="Picture 2" descr="d:\My Documents\焦页12#平台.jpg"/>
            <p:cNvPicPr>
              <a:picLocks noChangeArrowheads="1"/>
            </p:cNvPicPr>
            <p:nvPr/>
          </p:nvPicPr>
          <p:blipFill>
            <a:blip r:embed="rId1" cstate="print"/>
            <a:srcRect t="6314" r="21319" b="8766"/>
            <a:stretch>
              <a:fillRect/>
            </a:stretch>
          </p:blipFill>
          <p:spPr bwMode="auto">
            <a:xfrm>
              <a:off x="6355370" y="4166252"/>
              <a:ext cx="1008000" cy="72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3" name="Picture 6" descr="D:\20150506总经办汇报材料\2014年美照\2014年美照\威201井.jpg"/>
            <p:cNvPicPr>
              <a:picLocks noChangeAspect="1" noChangeArrowheads="1"/>
            </p:cNvPicPr>
            <p:nvPr/>
          </p:nvPicPr>
          <p:blipFill>
            <a:blip r:embed="rId2" cstate="print"/>
            <a:srcRect/>
            <a:stretch>
              <a:fillRect/>
            </a:stretch>
          </p:blipFill>
          <p:spPr bwMode="auto">
            <a:xfrm>
              <a:off x="4828516" y="4166252"/>
              <a:ext cx="1008357" cy="72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4" name="Picture 2" descr="D:\20150506总经办汇报材料\2014年美照\2014年美照\40亿方净化厂一期投产.bmp"/>
            <p:cNvPicPr>
              <a:picLocks noChangeArrowheads="1"/>
            </p:cNvPicPr>
            <p:nvPr/>
          </p:nvPicPr>
          <p:blipFill>
            <a:blip r:embed="rId3" cstate="print"/>
            <a:srcRect/>
            <a:stretch>
              <a:fillRect/>
            </a:stretch>
          </p:blipFill>
          <p:spPr bwMode="auto">
            <a:xfrm>
              <a:off x="7881868" y="4166252"/>
              <a:ext cx="1008000" cy="72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5" name="Picture 3" descr="D:\20150506总经办汇报材料\2014年美照\2014年美照\2014.6.29 阿姆河项目B区处理厂全厂投运成功.bmp"/>
            <p:cNvPicPr>
              <a:picLocks noChangeArrowheads="1"/>
            </p:cNvPicPr>
            <p:nvPr/>
          </p:nvPicPr>
          <p:blipFill>
            <a:blip r:embed="rId4" cstate="print"/>
            <a:srcRect/>
            <a:stretch>
              <a:fillRect/>
            </a:stretch>
          </p:blipFill>
          <p:spPr bwMode="auto">
            <a:xfrm>
              <a:off x="1775519" y="4166252"/>
              <a:ext cx="1008000" cy="72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6" name="Picture 4" descr="D:\20150506总经办汇报材料\2014年美照\2014年美照\2014.6.30 中国石油阿姆河第二天然气处理厂成功投运.jpg"/>
            <p:cNvPicPr>
              <a:picLocks noChangeArrowheads="1"/>
            </p:cNvPicPr>
            <p:nvPr/>
          </p:nvPicPr>
          <p:blipFill>
            <a:blip r:embed="rId5" cstate="print"/>
            <a:srcRect/>
            <a:stretch>
              <a:fillRect/>
            </a:stretch>
          </p:blipFill>
          <p:spPr bwMode="auto">
            <a:xfrm>
              <a:off x="9408368" y="4166252"/>
              <a:ext cx="1008000" cy="72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35" name="Picture 7" descr="E:\2.临时任务\2012年\规划处-中石油川渝石油石化规划\PPT\fuza.jpg"/>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302017" y="4166252"/>
              <a:ext cx="1008000" cy="72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70666" name="Freeform 1" descr="밝은 수평선"/>
            <p:cNvSpPr/>
            <p:nvPr/>
          </p:nvSpPr>
          <p:spPr bwMode="auto">
            <a:xfrm flipV="1">
              <a:off x="1497012" y="3068638"/>
              <a:ext cx="9170988" cy="715962"/>
            </a:xfrm>
            <a:custGeom>
              <a:avLst/>
              <a:gdLst>
                <a:gd name="T0" fmla="*/ 0 w 5778"/>
                <a:gd name="T1" fmla="*/ 2147483647 h 816"/>
                <a:gd name="T2" fmla="*/ 2147483647 w 5778"/>
                <a:gd name="T3" fmla="*/ 2147483647 h 816"/>
                <a:gd name="T4" fmla="*/ 2147483647 w 5778"/>
                <a:gd name="T5" fmla="*/ 2147483647 h 816"/>
                <a:gd name="T6" fmla="*/ 2147483647 w 5778"/>
                <a:gd name="T7" fmla="*/ 2147483647 h 816"/>
                <a:gd name="T8" fmla="*/ 2147483647 w 5778"/>
                <a:gd name="T9" fmla="*/ 2147483647 h 816"/>
                <a:gd name="T10" fmla="*/ 2147483647 w 5778"/>
                <a:gd name="T11" fmla="*/ 2147483647 h 816"/>
                <a:gd name="T12" fmla="*/ 2147483647 w 5778"/>
                <a:gd name="T13" fmla="*/ 0 h 816"/>
                <a:gd name="T14" fmla="*/ 2147483647 w 5778"/>
                <a:gd name="T15" fmla="*/ 0 h 816"/>
                <a:gd name="T16" fmla="*/ 0 w 5778"/>
                <a:gd name="T17" fmla="*/ 2147483647 h 8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778"/>
                <a:gd name="T28" fmla="*/ 0 h 816"/>
                <a:gd name="T29" fmla="*/ 5778 w 5778"/>
                <a:gd name="T30" fmla="*/ 816 h 8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778" h="816">
                  <a:moveTo>
                    <a:pt x="0" y="666"/>
                  </a:moveTo>
                  <a:lnTo>
                    <a:pt x="1632" y="666"/>
                  </a:lnTo>
                  <a:lnTo>
                    <a:pt x="1632" y="816"/>
                  </a:lnTo>
                  <a:lnTo>
                    <a:pt x="5202" y="816"/>
                  </a:lnTo>
                  <a:lnTo>
                    <a:pt x="5202" y="594"/>
                  </a:lnTo>
                  <a:lnTo>
                    <a:pt x="5778" y="594"/>
                  </a:lnTo>
                  <a:lnTo>
                    <a:pt x="5778" y="0"/>
                  </a:lnTo>
                  <a:lnTo>
                    <a:pt x="6" y="0"/>
                  </a:lnTo>
                  <a:lnTo>
                    <a:pt x="0" y="666"/>
                  </a:lnTo>
                  <a:close/>
                </a:path>
              </a:pathLst>
            </a:custGeom>
            <a:pattFill prst="ltHorz">
              <a:fgClr>
                <a:schemeClr val="tx1">
                  <a:alpha val="34901"/>
                </a:schemeClr>
              </a:fgClr>
              <a:bgClr>
                <a:schemeClr val="bg1">
                  <a:alpha val="34901"/>
                </a:schemeClr>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方正楷体简体" pitchFamily="2" charset="-122"/>
                <a:ea typeface="宋体" panose="02010600030101010101" pitchFamily="2" charset="-122"/>
                <a:cs typeface="+mn-cs"/>
              </a:endParaRPr>
            </a:p>
          </p:txBody>
        </p:sp>
        <p:pic>
          <p:nvPicPr>
            <p:cNvPr id="31" name="Picture 17" descr="logo"/>
            <p:cNvPicPr>
              <a:picLocks noChangeAspect="1" noChangeArrowheads="1"/>
            </p:cNvPicPr>
            <p:nvPr/>
          </p:nvPicPr>
          <p:blipFill>
            <a:blip r:embed="rId7"/>
            <a:srcRect/>
            <a:stretch>
              <a:fillRect/>
            </a:stretch>
          </p:blipFill>
          <p:spPr bwMode="auto">
            <a:xfrm>
              <a:off x="3071814" y="2225676"/>
              <a:ext cx="1806575" cy="1058863"/>
            </a:xfrm>
            <a:prstGeom prst="rect">
              <a:avLst/>
            </a:prstGeom>
            <a:noFill/>
            <a:ln>
              <a:noFill/>
            </a:ln>
            <a:effectLst>
              <a:outerShdw blurRad="50800" dist="38100" dir="2700000" algn="tl" rotWithShape="0">
                <a:prstClr val="black">
                  <a:alpha val="40000"/>
                </a:prstClr>
              </a:outerShdw>
            </a:effectLst>
          </p:spPr>
        </p:pic>
        <p:pic>
          <p:nvPicPr>
            <p:cNvPr id="70668" name="Picture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37064" y="1786592"/>
              <a:ext cx="4032250" cy="159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mc:AlternateContent xmlns:mc="http://schemas.openxmlformats.org/markup-compatibility/2006">
    <mc:Choice xmlns:p14="http://schemas.microsoft.com/office/powerpoint/2010/main" Requires="p14">
      <p:transition spd="slow" p14:dur="2000" advTm="2342"/>
    </mc:Choice>
    <mc:Fallback>
      <p:transition spd="slow" advTm="2342"/>
    </mc:Fallback>
  </mc:AlternateContent>
</p:sld>
</file>

<file path=ppt/tags/tag1.xml><?xml version="1.0" encoding="utf-8"?>
<p:tagLst xmlns:p="http://schemas.openxmlformats.org/presentationml/2006/main">
  <p:tag name="KSO_WM_DIAGRAM_VIRTUALLY_FRAME" val="{&quot;height&quot;:338.8518897637796,&quot;left&quot;:42.78700787401574,&quot;top&quot;:159.95456692913385,&quot;width&quot;:874.5924409448819}"/>
</p:tagLst>
</file>

<file path=ppt/tags/tag2.xml><?xml version="1.0" encoding="utf-8"?>
<p:tagLst xmlns:p="http://schemas.openxmlformats.org/presentationml/2006/main">
  <p:tag name="KSO_WM_DIAGRAM_VIRTUALLY_FRAME" val="{&quot;height&quot;:338.8518897637796,&quot;left&quot;:42.78700787401574,&quot;top&quot;:159.95456692913385,&quot;width&quot;:874.5924409448819}"/>
</p:tagLst>
</file>

<file path=ppt/tags/tag3.xml><?xml version="1.0" encoding="utf-8"?>
<p:tagLst xmlns:p="http://schemas.openxmlformats.org/presentationml/2006/main">
  <p:tag name="KSO_WM_DIAGRAM_VIRTUALLY_FRAME" val="{&quot;height&quot;:285.4,&quot;left&quot;:241.1,&quot;top&quot;:218.95,&quot;width&quot;:458}"/>
</p:tagLst>
</file>

<file path=ppt/tags/tag4.xml><?xml version="1.0" encoding="utf-8"?>
<p:tagLst xmlns:p="http://schemas.openxmlformats.org/presentationml/2006/main">
  <p:tag name="KSO_WM_DIAGRAM_VIRTUALLY_FRAME" val="{&quot;height&quot;:285.4,&quot;left&quot;:241.1,&quot;top&quot;:218.95,&quot;width&quot;:458}"/>
</p:tagLst>
</file>

<file path=ppt/tags/tag5.xml><?xml version="1.0" encoding="utf-8"?>
<p:tagLst xmlns:p="http://schemas.openxmlformats.org/presentationml/2006/main">
  <p:tag name="KSO_WM_DIAGRAM_VIRTUALLY_FRAME" val="{&quot;height&quot;:285.4,&quot;left&quot;:241.1,&quot;top&quot;:218.95,&quot;width&quot;:458}"/>
</p:tagLst>
</file>

<file path=ppt/tags/tag6.xml><?xml version="1.0" encoding="utf-8"?>
<p:tagLst xmlns:p="http://schemas.openxmlformats.org/presentationml/2006/main">
  <p:tag name="TABLE_ENDDRAG_ORIGIN_RECT" val="345*161"/>
  <p:tag name="TABLE_ENDDRAG_RECT" val="284*322*345*161"/>
</p:tagLst>
</file>

<file path=ppt/tags/tag7.xml><?xml version="1.0" encoding="utf-8"?>
<p:tagLst xmlns:p="http://schemas.openxmlformats.org/presentationml/2006/main">
  <p:tag name="RESOURCE_RECORD_KEY" val="{&quot;29&quot;:[50053052]}"/>
</p:tagLst>
</file>

<file path=ppt/theme/theme1.xml><?xml version="1.0" encoding="utf-8"?>
<a:theme xmlns:a="http://schemas.openxmlformats.org/drawingml/2006/main" name="1_Blends">
  <a:themeElements>
    <a:clrScheme name="5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5_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C00000"/>
        </a:solidFill>
      </a:spPr>
      <a:bodyPr rot="0" spcFirstLastPara="0" vertOverflow="overflow" horzOverflow="overflow" vert="horz" wrap="square" lIns="91440" tIns="45720" rIns="91440" bIns="45720" numCol="1" spcCol="0" rtlCol="0" fromWordArt="0" anchor="ctr" anchorCtr="0" forceAA="0" compatLnSpc="1">
        <a:noAutofit/>
      </a:bodyPr>
      <a:lstStyle>
        <a:defPPr algn="ctr">
          <a:lnSpc>
            <a:spcPct val="180000"/>
          </a:lnSpc>
          <a:spcBef>
            <a:spcPct val="20000"/>
          </a:spcBef>
          <a:buClr>
            <a:srgbClr val="FF0000"/>
          </a:buClr>
          <a:buSzPct val="100000"/>
          <a:defRPr dirty="0" smtClean="0">
            <a:solidFill>
              <a:schemeClr val="bg1"/>
            </a:solidFill>
            <a:latin typeface="Tahoma" panose="020B0604030504040204"/>
            <a:ea typeface="方正大黑简体" panose="03000509000000000000" pitchFamily="65"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黑体" panose="02010609060101010101" charset="-122"/>
          </a:defRPr>
        </a:defPPr>
      </a:lstStyle>
    </a:lnDef>
    <a:txDef>
      <a:spPr bwMode="auto">
        <a:noFill/>
        <a:ln>
          <a:noFill/>
        </a:ln>
      </a:spPr>
      <a:bodyPr/>
      <a:lstStyle>
        <a:defPPr marL="0" indent="0">
          <a:lnSpc>
            <a:spcPct val="150000"/>
          </a:lnSpc>
          <a:buClr>
            <a:srgbClr val="FF0000"/>
          </a:buClr>
          <a:defRPr sz="3200" dirty="0">
            <a:solidFill>
              <a:srgbClr val="0000FF"/>
            </a:solidFill>
            <a:latin typeface="方正大黑简体" panose="03000509000000000000" pitchFamily="65" charset="-122"/>
            <a:ea typeface="方正大黑简体" panose="03000509000000000000" pitchFamily="65" charset="-122"/>
          </a:defRPr>
        </a:defPPr>
      </a:lstStyle>
    </a:txDef>
  </a:objectDefaults>
  <a:extraClrSchemeLst>
    <a:extraClrScheme>
      <a:clrScheme name="5_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5_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5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5_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5_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5_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1565</Words>
  <Application>WPS 演示</Application>
  <PresentationFormat>宽屏</PresentationFormat>
  <Paragraphs>146</Paragraphs>
  <Slides>7</Slides>
  <Notes>51</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2</vt:i4>
      </vt:variant>
      <vt:variant>
        <vt:lpstr>幻灯片标题</vt:lpstr>
      </vt:variant>
      <vt:variant>
        <vt:i4>7</vt:i4>
      </vt:variant>
    </vt:vector>
  </HeadingPairs>
  <TitlesOfParts>
    <vt:vector size="28" baseType="lpstr">
      <vt:lpstr>Arial</vt:lpstr>
      <vt:lpstr>宋体</vt:lpstr>
      <vt:lpstr>Wingdings</vt:lpstr>
      <vt:lpstr>Tahoma</vt:lpstr>
      <vt:lpstr>方正大黑简体</vt:lpstr>
      <vt:lpstr>黑体</vt:lpstr>
      <vt:lpstr>Arial</vt:lpstr>
      <vt:lpstr>Tahoma</vt:lpstr>
      <vt:lpstr>楷体</vt:lpstr>
      <vt:lpstr>微软雅黑</vt:lpstr>
      <vt:lpstr>Times New Roman</vt:lpstr>
      <vt:lpstr>Wingdings</vt:lpstr>
      <vt:lpstr>楷体_GB2312</vt:lpstr>
      <vt:lpstr>方正楷体简体</vt:lpstr>
      <vt:lpstr>Calibri</vt:lpstr>
      <vt:lpstr>Arial Unicode MS</vt:lpstr>
      <vt:lpstr>等线</vt:lpstr>
      <vt:lpstr>新宋体</vt:lpstr>
      <vt:lpstr>1_Blends</vt:lpstr>
      <vt:lpstr>Equation.DSMT4</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黄 浩勇</dc:creator>
  <cp:lastModifiedBy>Tan Wenlu</cp:lastModifiedBy>
  <cp:revision>3316</cp:revision>
  <dcterms:created xsi:type="dcterms:W3CDTF">2021-06-29T01:23:00Z</dcterms:created>
  <dcterms:modified xsi:type="dcterms:W3CDTF">2025-03-27T15:46:24Z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98E56BF2985A4DAC922246EC14E9396B_12</vt:lpwstr>
  </property>
</Properties>
</file>