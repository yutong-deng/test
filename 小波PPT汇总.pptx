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2" r:id="rId8"/>
    <p:sldId id="263" r:id="rId9"/>
    <p:sldId id="264" r:id="rId10"/>
    <p:sldId id="265" r:id="rId11"/>
    <p:sldId id="266" r:id="rId12"/>
    <p:sldId id="267" r:id="rId13"/>
    <p:sldId id="268" r:id="rId14"/>
    <p:sldId id="260"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61"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6" r:id="rId43"/>
    <p:sldId id="297"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165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62BE39-F644-4EC3-A511-DD414CEA4E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宋体" panose="02010600030101010101" pitchFamily="2" charset="-122"/>
                <a:ea typeface="宋体" panose="02010600030101010101" pitchFamily="2" charset="-122"/>
              </a:rPr>
              <a:t>其中， </a:t>
            </a:r>
            <a:r>
              <a:rPr lang="en-US" altLang="zh-CN" sz="1800" b="0" i="1" dirty="0">
                <a:solidFill>
                  <a:srgbClr val="000000"/>
                </a:solidFill>
                <a:effectLst/>
                <a:latin typeface="TimesNewRomanPS-ItalicMT"/>
              </a:rPr>
              <a:t>f </a:t>
            </a:r>
            <a:r>
              <a:rPr lang="en-US" altLang="zh-CN" sz="1800" b="0" i="0" dirty="0">
                <a:solidFill>
                  <a:srgbClr val="000000"/>
                </a:solidFill>
                <a:effectLst/>
                <a:latin typeface="TimesNewRomanPSMT"/>
              </a:rPr>
              <a:t>(</a:t>
            </a:r>
            <a:r>
              <a:rPr lang="en-US" altLang="zh-CN" sz="1800" b="0" i="1" dirty="0">
                <a:solidFill>
                  <a:srgbClr val="000000"/>
                </a:solidFill>
                <a:effectLst/>
                <a:latin typeface="TimesNewRomanPS-ItalicMT"/>
              </a:rPr>
              <a:t>n</a:t>
            </a:r>
            <a:r>
              <a:rPr lang="en-US" altLang="zh-CN" sz="1800" b="0" i="0" dirty="0">
                <a:solidFill>
                  <a:srgbClr val="000000"/>
                </a:solidFill>
                <a:effectLst/>
                <a:latin typeface="TimesNewRomanPSMT"/>
              </a:rPr>
              <a:t>) </a:t>
            </a:r>
            <a:r>
              <a:rPr lang="zh-CN" altLang="en-US" sz="1800" b="0" i="0" dirty="0">
                <a:solidFill>
                  <a:srgbClr val="000000"/>
                </a:solidFill>
                <a:effectLst/>
                <a:latin typeface="宋体" panose="02010600030101010101" pitchFamily="2" charset="-122"/>
                <a:ea typeface="宋体" panose="02010600030101010101" pitchFamily="2" charset="-122"/>
              </a:rPr>
              <a:t>为原始信号； </a:t>
            </a:r>
            <a:r>
              <a:rPr lang="en-US" altLang="zh-CN" sz="1800" b="0" i="0" dirty="0">
                <a:solidFill>
                  <a:srgbClr val="000000"/>
                </a:solidFill>
                <a:effectLst/>
                <a:latin typeface="TimesNewRomanPSMT"/>
              </a:rPr>
              <a:t>2 </a:t>
            </a:r>
            <a:r>
              <a:rPr lang="en-US" altLang="zh-CN" sz="1800" b="0" i="1" baseline="30000" dirty="0">
                <a:solidFill>
                  <a:srgbClr val="000000"/>
                </a:solidFill>
                <a:effectLst/>
                <a:latin typeface="TimesNewRomanPS-ItalicMT"/>
              </a:rPr>
              <a:t>j</a:t>
            </a:r>
            <a:r>
              <a:rPr lang="en-US" altLang="zh-CN" sz="1800" b="0" i="1" dirty="0">
                <a:solidFill>
                  <a:srgbClr val="000000"/>
                </a:solidFill>
                <a:effectLst/>
                <a:latin typeface="TimesNewRomanPS-ItalicMT"/>
              </a:rPr>
              <a:t> </a:t>
            </a:r>
            <a:r>
              <a:rPr lang="zh-CN" altLang="en-US" sz="1800" b="0" i="0" dirty="0">
                <a:solidFill>
                  <a:srgbClr val="000000"/>
                </a:solidFill>
                <a:effectLst/>
                <a:latin typeface="宋体" panose="02010600030101010101" pitchFamily="2" charset="-122"/>
                <a:ea typeface="宋体" panose="02010600030101010101" pitchFamily="2" charset="-122"/>
              </a:rPr>
              <a:t>、 </a:t>
            </a:r>
            <a:r>
              <a:rPr lang="en-US" altLang="zh-CN" sz="1800" b="0" i="1" dirty="0">
                <a:solidFill>
                  <a:srgbClr val="000000"/>
                </a:solidFill>
                <a:effectLst/>
                <a:latin typeface="TimesNewRomanPS-ItalicMT"/>
              </a:rPr>
              <a:t>k</a:t>
            </a:r>
            <a:r>
              <a:rPr lang="en-US" altLang="zh-CN" sz="1800" b="0" i="0" dirty="0">
                <a:solidFill>
                  <a:srgbClr val="000000"/>
                </a:solidFill>
                <a:effectLst/>
                <a:latin typeface="TimesNewRomanPSMT"/>
              </a:rPr>
              <a:t>2 </a:t>
            </a:r>
            <a:r>
              <a:rPr lang="en-US" altLang="zh-CN" sz="1800" b="0" i="1" baseline="30000" dirty="0">
                <a:solidFill>
                  <a:srgbClr val="000000"/>
                </a:solidFill>
                <a:effectLst/>
                <a:latin typeface="TimesNewRomanPS-ItalicMT"/>
              </a:rPr>
              <a:t>j</a:t>
            </a:r>
            <a:r>
              <a:rPr lang="en-US" altLang="zh-CN" sz="1800" b="0" i="1" dirty="0">
                <a:solidFill>
                  <a:srgbClr val="000000"/>
                </a:solidFill>
                <a:effectLst/>
                <a:latin typeface="TimesNewRomanPS-ItalicMT"/>
              </a:rPr>
              <a:t>  </a:t>
            </a:r>
            <a:r>
              <a:rPr lang="zh-CN" altLang="en-US" sz="1800" b="0" i="0" dirty="0">
                <a:solidFill>
                  <a:srgbClr val="000000"/>
                </a:solidFill>
                <a:effectLst/>
                <a:latin typeface="宋体" panose="02010600030101010101" pitchFamily="2" charset="-122"/>
                <a:ea typeface="宋体" panose="02010600030101010101" pitchFamily="2" charset="-122"/>
              </a:rPr>
              <a:t>、 </a:t>
            </a:r>
            <a:r>
              <a:rPr lang="en-US" altLang="zh-CN" sz="1800" b="0" i="1" dirty="0">
                <a:solidFill>
                  <a:srgbClr val="000000"/>
                </a:solidFill>
                <a:effectLst/>
                <a:latin typeface="TimesNewRomanPS-ItalicMT"/>
              </a:rPr>
              <a:t>j </a:t>
            </a:r>
            <a:r>
              <a:rPr lang="zh-CN" altLang="en-US" sz="1800" b="0" i="0" dirty="0">
                <a:solidFill>
                  <a:srgbClr val="000000"/>
                </a:solidFill>
                <a:effectLst/>
                <a:latin typeface="宋体" panose="02010600030101010101" pitchFamily="2" charset="-122"/>
                <a:ea typeface="宋体" panose="02010600030101010101" pitchFamily="2" charset="-122"/>
              </a:rPr>
              <a:t>分别为尺度参数、平移参数和分解层次； </a:t>
            </a:r>
            <a:r>
              <a:rPr lang="en-US" altLang="zh-CN" sz="1800" b="0" i="1" dirty="0">
                <a:solidFill>
                  <a:srgbClr val="000000"/>
                </a:solidFill>
                <a:effectLst/>
                <a:latin typeface="TimesNewRomanPS-ItalicMT"/>
              </a:rPr>
              <a:t>N</a:t>
            </a:r>
            <a:r>
              <a:rPr lang="zh-CN" altLang="en-US" sz="1800" b="0" i="0" dirty="0">
                <a:solidFill>
                  <a:srgbClr val="000000"/>
                </a:solidFill>
                <a:effectLst/>
                <a:latin typeface="宋体" panose="02010600030101010101" pitchFamily="2" charset="-122"/>
                <a:ea typeface="宋体" panose="02010600030101010101" pitchFamily="2" charset="-122"/>
              </a:rPr>
              <a:t>代表信号长度</a:t>
            </a:r>
            <a:r>
              <a:rPr lang="zh-CN" altLang="en-US" dirty="0"/>
              <a:t> </a:t>
            </a:r>
            <a:endParaRPr lang="en-US" altLang="zh-CN" dirty="0"/>
          </a:p>
          <a:p>
            <a:r>
              <a:rPr lang="en-US" altLang="zh-CN" sz="1800" b="0" i="1" dirty="0" err="1">
                <a:solidFill>
                  <a:srgbClr val="000000"/>
                </a:solidFill>
                <a:effectLst/>
                <a:latin typeface="TimesNewRomanPS-ItalicMT"/>
              </a:rPr>
              <a:t>i</a:t>
            </a:r>
            <a:r>
              <a:rPr lang="en-US" altLang="zh-CN" sz="1800" b="0" i="1" dirty="0">
                <a:solidFill>
                  <a:srgbClr val="000000"/>
                </a:solidFill>
                <a:effectLst/>
                <a:latin typeface="TimesNewRomanPS-ItalicMT"/>
              </a:rPr>
              <a:t> </a:t>
            </a:r>
            <a:r>
              <a:rPr lang="zh-CN" altLang="en-US" sz="1800" b="0" i="0" dirty="0">
                <a:solidFill>
                  <a:srgbClr val="000000"/>
                </a:solidFill>
                <a:effectLst/>
                <a:latin typeface="宋体" panose="02010600030101010101" pitchFamily="2" charset="-122"/>
                <a:ea typeface="宋体" panose="02010600030101010101" pitchFamily="2" charset="-122"/>
              </a:rPr>
              <a:t>为小波基分解层次， </a:t>
            </a:r>
            <a:r>
              <a:rPr lang="en-US" altLang="zh-CN" sz="1800" b="0" i="1" dirty="0">
                <a:solidFill>
                  <a:srgbClr val="000000"/>
                </a:solidFill>
                <a:effectLst/>
                <a:latin typeface="TimesNewRomanPS-ItalicMT"/>
              </a:rPr>
              <a:t>M </a:t>
            </a:r>
            <a:r>
              <a:rPr lang="zh-CN" altLang="en-US" sz="1800" b="0" i="0" dirty="0">
                <a:solidFill>
                  <a:srgbClr val="000000"/>
                </a:solidFill>
                <a:effectLst/>
                <a:latin typeface="宋体" panose="02010600030101010101" pitchFamily="2" charset="-122"/>
                <a:ea typeface="宋体" panose="02010600030101010101" pitchFamily="2" charset="-122"/>
              </a:rPr>
              <a:t>为每个分解层次下细节</a:t>
            </a:r>
            <a:r>
              <a:rPr lang="en-US" altLang="zh-CN" sz="1800" b="0" i="0" dirty="0">
                <a:solidFill>
                  <a:srgbClr val="000000"/>
                </a:solidFill>
                <a:effectLst/>
                <a:latin typeface="TimesNewRomanPSMT"/>
              </a:rPr>
              <a:t>-</a:t>
            </a:r>
            <a:r>
              <a:rPr lang="zh-CN" altLang="en-US" sz="1800" b="0" i="0" dirty="0">
                <a:solidFill>
                  <a:srgbClr val="000000"/>
                </a:solidFill>
                <a:effectLst/>
                <a:latin typeface="宋体" panose="02010600030101010101" pitchFamily="2" charset="-122"/>
                <a:ea typeface="宋体" panose="02010600030101010101" pitchFamily="2" charset="-122"/>
              </a:rPr>
              <a:t>近似系数的数量</a:t>
            </a:r>
            <a:r>
              <a:rPr lang="zh-CN" altLang="en-US" dirty="0"/>
              <a:t> </a:t>
            </a:r>
            <a:br>
              <a:rPr lang="zh-CN" altLang="en-US" dirty="0"/>
            </a:br>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70206CC8-C716-4EBB-8B87-9080D1189B6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70206CC8-C716-4EBB-8B87-9080D1189B6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25000"/>
              </a:lnSpc>
              <a:tabLst>
                <a:tab pos="239395" algn="l"/>
              </a:tabLst>
            </a:pP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rPr>
              <a:t>正交性：正交性降低了子频带的数据相关性，可以有效地减少冗余。</a:t>
            </a:r>
            <a:endParaRPr lang="zh-CN" altLang="zh-CN" sz="1800" dirty="0">
              <a:effectLst/>
              <a:latin typeface="Times New Roman" panose="02020603050405020304" pitchFamily="18" charset="0"/>
              <a:ea typeface="宋体" panose="02010600030101010101" pitchFamily="2" charset="-122"/>
            </a:endParaRPr>
          </a:p>
          <a:p>
            <a:pPr indent="304800" algn="just">
              <a:lnSpc>
                <a:spcPct val="125000"/>
              </a:lnSpc>
              <a:tabLst>
                <a:tab pos="239395" algn="l"/>
              </a:tabLst>
            </a:pP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rPr>
              <a:t>紧支性和衰减性：紧支宽度越窄，衰减越快，精度越高。</a:t>
            </a:r>
            <a:endParaRPr lang="zh-CN" altLang="zh-CN" sz="1800" dirty="0">
              <a:effectLst/>
              <a:latin typeface="Times New Roman" panose="02020603050405020304" pitchFamily="18" charset="0"/>
              <a:ea typeface="宋体" panose="02010600030101010101" pitchFamily="2" charset="-122"/>
            </a:endParaRPr>
          </a:p>
          <a:p>
            <a:pPr indent="304800" algn="just">
              <a:lnSpc>
                <a:spcPct val="125000"/>
              </a:lnSpc>
              <a:tabLst>
                <a:tab pos="239395" algn="l"/>
              </a:tabLst>
            </a:pP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rPr>
              <a:t>正则性：随着正则性阶数的增大和平滑，频率域的能量更加集中。</a:t>
            </a:r>
            <a:endParaRPr lang="zh-CN" altLang="zh-CN" sz="1800" dirty="0">
              <a:effectLst/>
              <a:latin typeface="Times New Roman" panose="02020603050405020304" pitchFamily="18" charset="0"/>
              <a:ea typeface="宋体" panose="02010600030101010101" pitchFamily="2" charset="-122"/>
            </a:endParaRPr>
          </a:p>
          <a:p>
            <a:pPr indent="304800" algn="just">
              <a:lnSpc>
                <a:spcPct val="125000"/>
              </a:lnSpc>
              <a:tabLst>
                <a:tab pos="239395" algn="l"/>
              </a:tabLst>
            </a:pPr>
            <a:r>
              <a:rPr lang="en-US" altLang="zh-CN" sz="1800" dirty="0">
                <a:effectLst/>
                <a:latin typeface="Times New Roman" panose="02020603050405020304" pitchFamily="18" charset="0"/>
                <a:ea typeface="宋体" panose="02010600030101010101" pitchFamily="2" charset="-122"/>
              </a:rPr>
              <a:t>4.</a:t>
            </a:r>
            <a:r>
              <a:rPr lang="zh-CN" altLang="zh-CN" sz="1800" dirty="0">
                <a:effectLst/>
                <a:latin typeface="Times New Roman" panose="02020603050405020304" pitchFamily="18" charset="0"/>
                <a:ea typeface="宋体" panose="02010600030101010101" pitchFamily="2" charset="-122"/>
              </a:rPr>
              <a:t>消失矩：小波近似平滑函数的消失矩确定收敛速度，在不同的领域选择小波的特征不同。</a:t>
            </a:r>
            <a:endParaRPr lang="zh-CN" altLang="zh-CN" sz="1800" dirty="0">
              <a:effectLst/>
              <a:latin typeface="Times New Roman" panose="02020603050405020304" pitchFamily="18" charset="0"/>
              <a:ea typeface="宋体" panose="02010600030101010101" pitchFamily="2" charset="-122"/>
            </a:endParaRPr>
          </a:p>
          <a:p>
            <a:pPr indent="304800" algn="just">
              <a:lnSpc>
                <a:spcPct val="125000"/>
              </a:lnSpc>
              <a:tabLst>
                <a:tab pos="239395" algn="l"/>
              </a:tabLst>
            </a:pPr>
            <a:r>
              <a:rPr lang="en-US" altLang="zh-CN" sz="1800" dirty="0">
                <a:effectLst/>
                <a:latin typeface="Times New Roman" panose="02020603050405020304" pitchFamily="18" charset="0"/>
                <a:ea typeface="宋体" panose="02010600030101010101" pitchFamily="2" charset="-122"/>
              </a:rPr>
              <a:t>5.</a:t>
            </a:r>
            <a:r>
              <a:rPr lang="zh-CN" altLang="zh-CN" sz="1800" dirty="0">
                <a:effectLst/>
                <a:latin typeface="Times New Roman" panose="02020603050405020304" pitchFamily="18" charset="0"/>
                <a:ea typeface="宋体" panose="02010600030101010101" pitchFamily="2" charset="-122"/>
              </a:rPr>
              <a:t>对称性：由于小波所对应的滤波器具有线性相位特性，所以小波在图像处理中能很好地克服相位失真。</a:t>
            </a:r>
            <a:endParaRPr lang="zh-CN" altLang="zh-CN" sz="18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70206CC8-C716-4EBB-8B87-9080D1189B6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8E7A5B8-0758-4197-ACEB-3BD72FFC9E8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image" Target="../media/image2.png"/><Relationship Id="rId3" Type="http://schemas.openxmlformats.org/officeDocument/2006/relationships/tags" Target="../tags/tag2.xml"/><Relationship Id="rId22" Type="http://schemas.openxmlformats.org/officeDocument/2006/relationships/notesSlide" Target="../notesSlides/notesSlide1.xml"/><Relationship Id="rId21" Type="http://schemas.openxmlformats.org/officeDocument/2006/relationships/slideLayout" Target="../slideLayouts/slideLayout7.xml"/><Relationship Id="rId20" Type="http://schemas.openxmlformats.org/officeDocument/2006/relationships/tags" Target="../tags/tag12.xml"/><Relationship Id="rId2" Type="http://schemas.openxmlformats.org/officeDocument/2006/relationships/image" Target="../media/image1.png"/><Relationship Id="rId19" Type="http://schemas.openxmlformats.org/officeDocument/2006/relationships/tags" Target="../tags/tag11.xml"/><Relationship Id="rId18" Type="http://schemas.openxmlformats.org/officeDocument/2006/relationships/tags" Target="../tags/tag10.xml"/><Relationship Id="rId17" Type="http://schemas.openxmlformats.org/officeDocument/2006/relationships/tags" Target="../tags/tag9.xml"/><Relationship Id="rId16" Type="http://schemas.openxmlformats.org/officeDocument/2006/relationships/tags" Target="../tags/tag8.xml"/><Relationship Id="rId15" Type="http://schemas.openxmlformats.org/officeDocument/2006/relationships/tags" Target="../tags/tag7.xml"/><Relationship Id="rId14" Type="http://schemas.openxmlformats.org/officeDocument/2006/relationships/tags" Target="../tags/tag6.xml"/><Relationship Id="rId13" Type="http://schemas.openxmlformats.org/officeDocument/2006/relationships/tags" Target="../tags/tag5.xml"/><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GIF"/></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image" Target="../media/image33.emf"/><Relationship Id="rId4" Type="http://schemas.openxmlformats.org/officeDocument/2006/relationships/image" Target="../media/image32.wmf"/><Relationship Id="rId3" Type="http://schemas.openxmlformats.org/officeDocument/2006/relationships/oleObject" Target="../embeddings/oleObject1.bin"/><Relationship Id="rId2" Type="http://schemas.openxmlformats.org/officeDocument/2006/relationships/image" Target="../media/image31.emf"/><Relationship Id="rId1" Type="http://schemas.openxmlformats.org/officeDocument/2006/relationships/image" Target="../media/image30.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24.GIF"/><Relationship Id="rId1" Type="http://schemas.openxmlformats.org/officeDocument/2006/relationships/image" Target="../media/image4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8.png"/><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image" Target="../media/image30.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image" Target="../media/image4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image" Target="../media/image50.png"/></Relationships>
</file>

<file path=ppt/slides/_rels/slide36.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12.png"/><Relationship Id="rId7" Type="http://schemas.openxmlformats.org/officeDocument/2006/relationships/tags" Target="../tags/tag25.xml"/><Relationship Id="rId6" Type="http://schemas.openxmlformats.org/officeDocument/2006/relationships/image" Target="../media/image11.png"/><Relationship Id="rId5" Type="http://schemas.openxmlformats.org/officeDocument/2006/relationships/tags" Target="../tags/tag24.xml"/><Relationship Id="rId4" Type="http://schemas.openxmlformats.org/officeDocument/2006/relationships/image" Target="../media/image10.png"/><Relationship Id="rId3" Type="http://schemas.openxmlformats.org/officeDocument/2006/relationships/tags" Target="../tags/tag23.xml"/><Relationship Id="rId2" Type="http://schemas.openxmlformats.org/officeDocument/2006/relationships/image" Target="../media/image9.png"/><Relationship Id="rId14" Type="http://schemas.openxmlformats.org/officeDocument/2006/relationships/notesSlide" Target="../notesSlides/notesSlide15.xml"/><Relationship Id="rId13" Type="http://schemas.openxmlformats.org/officeDocument/2006/relationships/slideLayout" Target="../slideLayouts/slideLayout7.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en-US" altLang="zh-CN">
                <a:solidFill>
                  <a:srgbClr val="FF0000"/>
                </a:solidFill>
              </a:rPr>
              <a:t>1</a:t>
            </a:r>
            <a:r>
              <a:rPr lang="zh-CN" altLang="en-US">
                <a:solidFill>
                  <a:srgbClr val="FF0000"/>
                </a:solidFill>
              </a:rPr>
              <a:t>、《物理数据融合的井下压裂过程仿真与预警基础研究》</a:t>
            </a:r>
            <a:endParaRPr lang="zh-CN" altLang="en-US">
              <a:solidFill>
                <a:srgbClr val="FF0000"/>
              </a:solidFill>
            </a:endParaRPr>
          </a:p>
          <a:p>
            <a:pPr algn="l"/>
            <a:r>
              <a:rPr lang="en-US" altLang="zh-CN"/>
              <a:t>2</a:t>
            </a:r>
            <a:r>
              <a:rPr lang="zh-CN" altLang="en-US"/>
              <a:t>、西南</a:t>
            </a:r>
            <a:r>
              <a:rPr lang="zh-CN" altLang="en-US"/>
              <a:t>开题</a:t>
            </a:r>
            <a:endParaRPr lang="zh-CN" altLang="en-US"/>
          </a:p>
          <a:p>
            <a:pPr algn="l"/>
            <a:r>
              <a:rPr lang="en-US" altLang="zh-CN"/>
              <a:t>3</a:t>
            </a:r>
            <a:r>
              <a:rPr lang="zh-CN" altLang="en-US"/>
              <a:t>、西南项目</a:t>
            </a:r>
            <a:r>
              <a:rPr lang="zh-CN" altLang="en-US"/>
              <a:t>交流</a:t>
            </a:r>
            <a:endParaRPr lang="zh-CN" altLang="en-US"/>
          </a:p>
          <a:p>
            <a:pPr algn="l"/>
            <a:r>
              <a:rPr lang="en-US" altLang="zh-CN"/>
              <a:t>4</a:t>
            </a:r>
            <a:r>
              <a:rPr lang="zh-CN" altLang="en-US"/>
              <a:t>、水击波</a:t>
            </a:r>
            <a:r>
              <a:rPr lang="zh-CN" altLang="en-US"/>
              <a:t>银川</a:t>
            </a:r>
            <a:endParaRPr lang="zh-CN" altLang="en-US"/>
          </a:p>
          <a:p>
            <a:pPr algn="l"/>
            <a:r>
              <a:rPr lang="zh-CN" altLang="en-US">
                <a:sym typeface="+mn-ea"/>
              </a:rPr>
              <a:t>5、西南中期答辩</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26269" y="773307"/>
            <a:ext cx="11551878" cy="46037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5</a:t>
            </a:r>
            <a:r>
              <a:rPr sz="2400" kern="0" dirty="0">
                <a:solidFill>
                  <a:srgbClr val="FF0000"/>
                </a:solidFill>
                <a:latin typeface="方正大黑简体" panose="02010601030101010101" pitchFamily="65" charset="-122"/>
                <a:ea typeface="方正大黑简体" panose="02010601030101010101" pitchFamily="65" charset="-122"/>
              </a:rPr>
              <a:t>、创建了基于井口施工曲线多级小波分解的井下</a:t>
            </a:r>
            <a:r>
              <a:rPr lang="zh-CN" sz="2400" kern="0" dirty="0">
                <a:solidFill>
                  <a:srgbClr val="FF0000"/>
                </a:solidFill>
                <a:latin typeface="方正大黑简体" panose="02010601030101010101" pitchFamily="65" charset="-122"/>
                <a:ea typeface="方正大黑简体" panose="02010601030101010101" pitchFamily="65" charset="-122"/>
              </a:rPr>
              <a:t>压裂过程流固事件</a:t>
            </a:r>
            <a:r>
              <a:rPr sz="2400" kern="0" dirty="0">
                <a:solidFill>
                  <a:srgbClr val="FF0000"/>
                </a:solidFill>
                <a:latin typeface="方正大黑简体" panose="02010601030101010101" pitchFamily="65" charset="-122"/>
                <a:ea typeface="方正大黑简体" panose="02010601030101010101" pitchFamily="65" charset="-122"/>
              </a:rPr>
              <a:t>判别模型</a:t>
            </a:r>
            <a:endParaRPr sz="2400" kern="0" dirty="0">
              <a:solidFill>
                <a:srgbClr val="FF0000"/>
              </a:solidFill>
              <a:latin typeface="方正大黑简体" panose="02010601030101010101" pitchFamily="65" charset="-122"/>
              <a:ea typeface="方正大黑简体" panose="02010601030101010101" pitchFamily="65" charset="-122"/>
            </a:endParaRPr>
          </a:p>
        </p:txBody>
      </p:sp>
      <p:sp>
        <p:nvSpPr>
          <p:cNvPr id="56" name="Text Box 7"/>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latin typeface="黑体" panose="02010609060101010101" charset="-122"/>
                <a:ea typeface="黑体" panose="02010609060101010101" charset="-122"/>
                <a:sym typeface="+mn-ea"/>
              </a:rPr>
              <a:t>基于</a:t>
            </a:r>
            <a:r>
              <a:rPr lang="zh-CN" altLang="en-US" sz="2000" b="1" dirty="0">
                <a:solidFill>
                  <a:srgbClr val="FF0000"/>
                </a:solidFill>
                <a:latin typeface="黑体" panose="02010609060101010101" charset="-122"/>
                <a:ea typeface="黑体" panose="02010609060101010101" charset="-122"/>
                <a:sym typeface="+mn-ea"/>
              </a:rPr>
              <a:t>信号响应</a:t>
            </a:r>
            <a:r>
              <a:rPr lang="en-US" altLang="zh-CN" sz="2000" b="1" dirty="0">
                <a:solidFill>
                  <a:srgbClr val="FF0000"/>
                </a:solidFill>
                <a:latin typeface="黑体" panose="02010609060101010101" charset="-122"/>
                <a:ea typeface="黑体" panose="02010609060101010101" charset="-122"/>
                <a:sym typeface="+mn-ea"/>
              </a:rPr>
              <a:t>-</a:t>
            </a:r>
            <a:r>
              <a:rPr lang="zh-CN" altLang="en-US" sz="2000" b="1" dirty="0">
                <a:solidFill>
                  <a:srgbClr val="FF0000"/>
                </a:solidFill>
                <a:latin typeface="黑体" panose="02010609060101010101" charset="-122"/>
                <a:ea typeface="黑体" panose="02010609060101010101" charset="-122"/>
                <a:sym typeface="+mn-ea"/>
              </a:rPr>
              <a:t>数值仿真</a:t>
            </a:r>
            <a:r>
              <a:rPr lang="zh-CN" altLang="en-US" sz="2000" b="1" dirty="0">
                <a:latin typeface="黑体" panose="02010609060101010101" charset="-122"/>
                <a:ea typeface="黑体" panose="02010609060101010101" charset="-122"/>
                <a:sym typeface="+mn-ea"/>
              </a:rPr>
              <a:t>联合分析方法，提出井口压力曲线小波分解关键参数优选准则，构建</a:t>
            </a:r>
            <a:r>
              <a:rPr lang="zh-CN" altLang="en-US" sz="2000" b="1" dirty="0">
                <a:solidFill>
                  <a:srgbClr val="FF0000"/>
                </a:solidFill>
                <a:latin typeface="黑体" panose="02010609060101010101" charset="-122"/>
                <a:ea typeface="黑体" panose="02010609060101010101" charset="-122"/>
                <a:sym typeface="+mn-ea"/>
              </a:rPr>
              <a:t>矿场实测压力分析小波分解模型</a:t>
            </a:r>
            <a:r>
              <a:rPr lang="zh-CN" altLang="en-US" sz="2000" b="1" dirty="0">
                <a:latin typeface="黑体" panose="02010609060101010101" charset="-122"/>
                <a:ea typeface="黑体" panose="02010609060101010101" charset="-122"/>
                <a:sym typeface="+mn-ea"/>
              </a:rPr>
              <a:t>，探明了地层应力差、弹性模量及注入排量等关键参数与小波响应的关联规律，揭示了复杂裂缝扩展与缝内固液耦合流动的井口压力响应机制，实现了</a:t>
            </a:r>
            <a:r>
              <a:rPr lang="zh-CN" altLang="en-US" sz="2000" b="1" dirty="0">
                <a:solidFill>
                  <a:srgbClr val="FF0000"/>
                </a:solidFill>
                <a:latin typeface="黑体" panose="02010609060101010101" charset="-122"/>
                <a:ea typeface="黑体" panose="02010609060101010101" charset="-122"/>
                <a:sym typeface="+mn-ea"/>
              </a:rPr>
              <a:t>压裂过程流固事件的有效识别</a:t>
            </a:r>
            <a:r>
              <a:rPr lang="zh-CN" altLang="en-US" sz="2000" b="1" dirty="0">
                <a:latin typeface="黑体" panose="02010609060101010101" charset="-122"/>
                <a:ea typeface="黑体" panose="02010609060101010101" charset="-122"/>
                <a:sym typeface="+mn-ea"/>
              </a:rPr>
              <a:t>。</a:t>
            </a:r>
            <a:endParaRPr lang="zh-CN" sz="2000" b="1" dirty="0">
              <a:latin typeface="黑体" panose="02010609060101010101" charset="-122"/>
              <a:ea typeface="黑体" panose="02010609060101010101" charset="-122"/>
              <a:sym typeface="+mn-ea"/>
            </a:endParaRPr>
          </a:p>
        </p:txBody>
      </p:sp>
      <p:sp>
        <p:nvSpPr>
          <p:cNvPr id="35" name="矩形 13"/>
          <p:cNvSpPr>
            <a:spLocks noChangeArrowheads="1"/>
          </p:cNvSpPr>
          <p:nvPr/>
        </p:nvSpPr>
        <p:spPr bwMode="auto">
          <a:xfrm>
            <a:off x="263525" y="2708910"/>
            <a:ext cx="11736705" cy="3744595"/>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3" name="TextBox 45"/>
          <p:cNvSpPr txBox="1"/>
          <p:nvPr/>
        </p:nvSpPr>
        <p:spPr>
          <a:xfrm>
            <a:off x="0" y="91434"/>
            <a:ext cx="12191999"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l" eaLnBrk="1" fontAlgn="auto" hangingPunct="1">
              <a:spcBef>
                <a:spcPts val="600"/>
              </a:spcBef>
              <a:spcAft>
                <a:spcPts val="0"/>
              </a:spcAft>
              <a:buNone/>
            </a:pPr>
            <a:r>
              <a:rPr lang="zh-CN" altLang="en-US" sz="2800" b="1" noProof="1">
                <a:solidFill>
                  <a:srgbClr val="3E3FFC"/>
                </a:solidFill>
                <a:latin typeface="方正大黑简体" panose="02010601030101010101" pitchFamily="65" charset="-122"/>
                <a:ea typeface="方正大黑简体" panose="02010601030101010101" pitchFamily="65" charset="-122"/>
              </a:rPr>
              <a:t>创新成果一：揭示井下压裂过程物理机理及井口响应机制</a:t>
            </a:r>
            <a:endParaRPr lang="zh-CN" altLang="en-US" sz="2800" b="1" noProof="1">
              <a:solidFill>
                <a:srgbClr val="3E3FFC"/>
              </a:solidFill>
              <a:latin typeface="方正大黑简体" panose="02010601030101010101" pitchFamily="65" charset="-122"/>
              <a:ea typeface="方正大黑简体" panose="02010601030101010101" pitchFamily="65" charset="-122"/>
            </a:endParaRPr>
          </a:p>
        </p:txBody>
      </p:sp>
      <p:pic>
        <p:nvPicPr>
          <p:cNvPr id="22" name="图片 21"/>
          <p:cNvPicPr/>
          <p:nvPr>
            <p:custDataLst>
              <p:tags r:id="rId1"/>
            </p:custDataLst>
          </p:nvPr>
        </p:nvPicPr>
        <p:blipFill>
          <a:blip r:embed="rId2"/>
          <a:stretch>
            <a:fillRect/>
          </a:stretch>
        </p:blipFill>
        <p:spPr>
          <a:xfrm>
            <a:off x="6898640" y="4617720"/>
            <a:ext cx="1908175" cy="1404620"/>
          </a:xfrm>
          <a:prstGeom prst="rect">
            <a:avLst/>
          </a:prstGeom>
          <a:ln>
            <a:noFill/>
          </a:ln>
        </p:spPr>
      </p:pic>
      <p:pic>
        <p:nvPicPr>
          <p:cNvPr id="23" name="图片 22"/>
          <p:cNvPicPr/>
          <p:nvPr>
            <p:custDataLst>
              <p:tags r:id="rId3"/>
            </p:custDataLst>
          </p:nvPr>
        </p:nvPicPr>
        <p:blipFill>
          <a:blip r:embed="rId4"/>
          <a:stretch>
            <a:fillRect/>
          </a:stretch>
        </p:blipFill>
        <p:spPr>
          <a:xfrm>
            <a:off x="4918710" y="2780665"/>
            <a:ext cx="3888000" cy="1771200"/>
          </a:xfrm>
          <a:prstGeom prst="rect">
            <a:avLst/>
          </a:prstGeom>
          <a:ln>
            <a:noFill/>
          </a:ln>
        </p:spPr>
      </p:pic>
      <p:pic>
        <p:nvPicPr>
          <p:cNvPr id="24" name="图片 23"/>
          <p:cNvPicPr/>
          <p:nvPr>
            <p:custDataLst>
              <p:tags r:id="rId5"/>
            </p:custDataLst>
          </p:nvPr>
        </p:nvPicPr>
        <p:blipFill>
          <a:blip r:embed="rId6"/>
          <a:stretch>
            <a:fillRect/>
          </a:stretch>
        </p:blipFill>
        <p:spPr>
          <a:xfrm>
            <a:off x="4918710" y="4617720"/>
            <a:ext cx="1908175" cy="1404620"/>
          </a:xfrm>
          <a:prstGeom prst="rect">
            <a:avLst/>
          </a:prstGeom>
          <a:ln>
            <a:noFill/>
          </a:ln>
        </p:spPr>
      </p:pic>
      <p:sp>
        <p:nvSpPr>
          <p:cNvPr id="25" name="文本框 24"/>
          <p:cNvSpPr txBox="1"/>
          <p:nvPr>
            <p:custDataLst>
              <p:tags r:id="rId7"/>
            </p:custDataLst>
          </p:nvPr>
        </p:nvSpPr>
        <p:spPr>
          <a:xfrm>
            <a:off x="6025589" y="6093296"/>
            <a:ext cx="3886835" cy="337185"/>
          </a:xfrm>
          <a:prstGeom prst="rect">
            <a:avLst/>
          </a:prstGeom>
          <a:noFill/>
        </p:spPr>
        <p:txBody>
          <a:bodyPr wrap="square" rtlCol="0">
            <a:spAutoFit/>
          </a:bodyPr>
          <a:lstStyle/>
          <a:p>
            <a:r>
              <a:rPr lang="zh-CN" altLang="en-US" sz="1600" b="1" dirty="0">
                <a:solidFill>
                  <a:srgbClr val="3E3FFC"/>
                </a:solidFill>
              </a:rPr>
              <a:t>确立参数优选准则</a:t>
            </a:r>
            <a:endParaRPr lang="zh-CN" altLang="en-US" sz="1600" b="1" dirty="0">
              <a:solidFill>
                <a:srgbClr val="3E3FFC"/>
              </a:solidFill>
            </a:endParaRPr>
          </a:p>
        </p:txBody>
      </p:sp>
      <p:pic>
        <p:nvPicPr>
          <p:cNvPr id="26" name="图片 25"/>
          <p:cNvPicPr/>
          <p:nvPr/>
        </p:nvPicPr>
        <p:blipFill>
          <a:blip r:embed="rId8"/>
          <a:stretch>
            <a:fillRect/>
          </a:stretch>
        </p:blipFill>
        <p:spPr>
          <a:xfrm>
            <a:off x="8878570" y="2780665"/>
            <a:ext cx="3060000" cy="1080000"/>
          </a:xfrm>
          <a:prstGeom prst="rect">
            <a:avLst/>
          </a:prstGeom>
          <a:ln>
            <a:noFill/>
          </a:ln>
        </p:spPr>
      </p:pic>
      <p:pic>
        <p:nvPicPr>
          <p:cNvPr id="27" name="图片 26"/>
          <p:cNvPicPr/>
          <p:nvPr/>
        </p:nvPicPr>
        <p:blipFill>
          <a:blip r:embed="rId9"/>
          <a:stretch>
            <a:fillRect/>
          </a:stretch>
        </p:blipFill>
        <p:spPr>
          <a:xfrm>
            <a:off x="8878570" y="4940935"/>
            <a:ext cx="3060000" cy="1080000"/>
          </a:xfrm>
          <a:prstGeom prst="rect">
            <a:avLst/>
          </a:prstGeom>
          <a:ln>
            <a:noFill/>
          </a:ln>
        </p:spPr>
      </p:pic>
      <p:pic>
        <p:nvPicPr>
          <p:cNvPr id="28" name="图片 27"/>
          <p:cNvPicPr/>
          <p:nvPr/>
        </p:nvPicPr>
        <p:blipFill>
          <a:blip r:embed="rId10"/>
          <a:stretch>
            <a:fillRect/>
          </a:stretch>
        </p:blipFill>
        <p:spPr>
          <a:xfrm>
            <a:off x="8878570" y="3860800"/>
            <a:ext cx="3060000" cy="1080000"/>
          </a:xfrm>
          <a:prstGeom prst="rect">
            <a:avLst/>
          </a:prstGeom>
          <a:ln>
            <a:noFill/>
          </a:ln>
        </p:spPr>
      </p:pic>
      <p:sp>
        <p:nvSpPr>
          <p:cNvPr id="29" name="文本框 28"/>
          <p:cNvSpPr txBox="1"/>
          <p:nvPr/>
        </p:nvSpPr>
        <p:spPr>
          <a:xfrm>
            <a:off x="8807450" y="6059805"/>
            <a:ext cx="3244215" cy="337185"/>
          </a:xfrm>
          <a:prstGeom prst="rect">
            <a:avLst/>
          </a:prstGeom>
          <a:noFill/>
        </p:spPr>
        <p:txBody>
          <a:bodyPr wrap="square" rtlCol="0">
            <a:spAutoFit/>
          </a:bodyPr>
          <a:lstStyle/>
          <a:p>
            <a:r>
              <a:rPr lang="zh-CN" altLang="en-US" sz="1600" b="1" dirty="0">
                <a:solidFill>
                  <a:srgbClr val="3E3FFC"/>
                </a:solidFill>
              </a:rPr>
              <a:t>地层参数小波响应特征的影响规律</a:t>
            </a:r>
            <a:endParaRPr lang="zh-CN" altLang="en-US" sz="1600" b="1" dirty="0">
              <a:solidFill>
                <a:srgbClr val="3E3FFC"/>
              </a:solidFill>
            </a:endParaRPr>
          </a:p>
        </p:txBody>
      </p:sp>
      <p:pic>
        <p:nvPicPr>
          <p:cNvPr id="2" name="图片 1"/>
          <p:cNvPicPr>
            <a:picLocks noChangeAspect="1"/>
          </p:cNvPicPr>
          <p:nvPr/>
        </p:nvPicPr>
        <p:blipFill>
          <a:blip r:embed="rId11"/>
          <a:stretch>
            <a:fillRect/>
          </a:stretch>
        </p:blipFill>
        <p:spPr>
          <a:xfrm>
            <a:off x="580390" y="2804838"/>
            <a:ext cx="3590444" cy="1600200"/>
          </a:xfrm>
          <a:prstGeom prst="rect">
            <a:avLst/>
          </a:prstGeom>
        </p:spPr>
      </p:pic>
      <p:pic>
        <p:nvPicPr>
          <p:cNvPr id="4" name="图片 3"/>
          <p:cNvPicPr>
            <a:picLocks noChangeAspect="1"/>
          </p:cNvPicPr>
          <p:nvPr/>
        </p:nvPicPr>
        <p:blipFill>
          <a:blip r:embed="rId12"/>
          <a:stretch>
            <a:fillRect/>
          </a:stretch>
        </p:blipFill>
        <p:spPr>
          <a:xfrm>
            <a:off x="1712868" y="4513306"/>
            <a:ext cx="2127209" cy="1815783"/>
          </a:xfrm>
          <a:prstGeom prst="rect">
            <a:avLst/>
          </a:prstGeom>
        </p:spPr>
      </p:pic>
      <p:sp>
        <p:nvSpPr>
          <p:cNvPr id="5" name="文本框 4"/>
          <p:cNvSpPr txBox="1"/>
          <p:nvPr>
            <p:custDataLst>
              <p:tags r:id="rId13"/>
            </p:custDataLst>
          </p:nvPr>
        </p:nvSpPr>
        <p:spPr>
          <a:xfrm>
            <a:off x="3498474" y="2968307"/>
            <a:ext cx="1488440" cy="337185"/>
          </a:xfrm>
          <a:prstGeom prst="rect">
            <a:avLst/>
          </a:prstGeom>
          <a:noFill/>
        </p:spPr>
        <p:txBody>
          <a:bodyPr wrap="square" rtlCol="0">
            <a:spAutoFit/>
          </a:bodyPr>
          <a:lstStyle/>
          <a:p>
            <a:pPr algn="r"/>
            <a:r>
              <a:rPr lang="zh-CN" altLang="en-US" sz="1600" b="1" dirty="0">
                <a:solidFill>
                  <a:srgbClr val="3E3FFC"/>
                </a:solidFill>
              </a:rPr>
              <a:t>细节系数</a:t>
            </a:r>
            <a:endParaRPr lang="zh-CN" altLang="en-US" sz="1600" b="1" dirty="0">
              <a:solidFill>
                <a:srgbClr val="3E3FFC"/>
              </a:solidFill>
            </a:endParaRPr>
          </a:p>
        </p:txBody>
      </p:sp>
      <p:sp>
        <p:nvSpPr>
          <p:cNvPr id="7" name="文本框 6"/>
          <p:cNvSpPr txBox="1"/>
          <p:nvPr>
            <p:custDataLst>
              <p:tags r:id="rId14"/>
            </p:custDataLst>
          </p:nvPr>
        </p:nvSpPr>
        <p:spPr>
          <a:xfrm>
            <a:off x="3491384" y="3636963"/>
            <a:ext cx="1488440" cy="337185"/>
          </a:xfrm>
          <a:prstGeom prst="rect">
            <a:avLst/>
          </a:prstGeom>
          <a:noFill/>
        </p:spPr>
        <p:txBody>
          <a:bodyPr wrap="square" rtlCol="0">
            <a:spAutoFit/>
          </a:bodyPr>
          <a:lstStyle/>
          <a:p>
            <a:pPr algn="r"/>
            <a:r>
              <a:rPr lang="zh-CN" altLang="en-US" sz="1600" b="1">
                <a:solidFill>
                  <a:srgbClr val="3E3FFC"/>
                </a:solidFill>
              </a:rPr>
              <a:t>近似系数</a:t>
            </a:r>
            <a:endParaRPr lang="zh-CN" altLang="en-US" sz="1600" b="1">
              <a:solidFill>
                <a:srgbClr val="3E3FFC"/>
              </a:solidFill>
            </a:endParaRPr>
          </a:p>
        </p:txBody>
      </p:sp>
      <p:sp>
        <p:nvSpPr>
          <p:cNvPr id="9" name="文本框 8"/>
          <p:cNvSpPr txBox="1"/>
          <p:nvPr>
            <p:custDataLst>
              <p:tags r:id="rId15"/>
            </p:custDataLst>
          </p:nvPr>
        </p:nvSpPr>
        <p:spPr>
          <a:xfrm>
            <a:off x="3099435" y="4100583"/>
            <a:ext cx="1819275" cy="337185"/>
          </a:xfrm>
          <a:prstGeom prst="rect">
            <a:avLst/>
          </a:prstGeom>
          <a:noFill/>
        </p:spPr>
        <p:txBody>
          <a:bodyPr wrap="square" rtlCol="0">
            <a:spAutoFit/>
          </a:bodyPr>
          <a:lstStyle/>
          <a:p>
            <a:r>
              <a:rPr lang="zh-CN" altLang="en-US" sz="1600" b="1" dirty="0">
                <a:solidFill>
                  <a:srgbClr val="3E3FFC"/>
                </a:solidFill>
              </a:rPr>
              <a:t>最大理论分解级数</a:t>
            </a:r>
            <a:endParaRPr lang="zh-CN" altLang="en-US" sz="1600" b="1" dirty="0">
              <a:solidFill>
                <a:srgbClr val="3E3FFC"/>
              </a:solidFill>
            </a:endParaRPr>
          </a:p>
        </p:txBody>
      </p:sp>
      <p:sp>
        <p:nvSpPr>
          <p:cNvPr id="10" name="文本框 9"/>
          <p:cNvSpPr txBox="1"/>
          <p:nvPr/>
        </p:nvSpPr>
        <p:spPr>
          <a:xfrm>
            <a:off x="526097" y="4662213"/>
            <a:ext cx="1579245" cy="337185"/>
          </a:xfrm>
          <a:prstGeom prst="rect">
            <a:avLst/>
          </a:prstGeom>
          <a:noFill/>
        </p:spPr>
        <p:txBody>
          <a:bodyPr wrap="square" rtlCol="0">
            <a:spAutoFit/>
          </a:bodyPr>
          <a:lstStyle/>
          <a:p>
            <a:r>
              <a:rPr lang="zh-CN" altLang="en-US" sz="1600" b="1" dirty="0">
                <a:solidFill>
                  <a:srgbClr val="3E3FFC"/>
                </a:solidFill>
              </a:rPr>
              <a:t>信号总能量</a:t>
            </a:r>
            <a:endParaRPr lang="zh-CN" altLang="en-US" sz="1600" b="1" dirty="0">
              <a:solidFill>
                <a:srgbClr val="3E3FFC"/>
              </a:solidFill>
            </a:endParaRPr>
          </a:p>
        </p:txBody>
      </p:sp>
      <p:sp>
        <p:nvSpPr>
          <p:cNvPr id="12" name="文本框 11"/>
          <p:cNvSpPr txBox="1"/>
          <p:nvPr/>
        </p:nvSpPr>
        <p:spPr>
          <a:xfrm>
            <a:off x="656474" y="5272427"/>
            <a:ext cx="1579245" cy="337185"/>
          </a:xfrm>
          <a:prstGeom prst="rect">
            <a:avLst/>
          </a:prstGeom>
          <a:noFill/>
        </p:spPr>
        <p:txBody>
          <a:bodyPr wrap="square" rtlCol="0">
            <a:spAutoFit/>
          </a:bodyPr>
          <a:lstStyle/>
          <a:p>
            <a:r>
              <a:rPr lang="zh-CN" altLang="en-US" sz="1600" b="1" dirty="0">
                <a:solidFill>
                  <a:srgbClr val="3E3FFC"/>
                </a:solidFill>
              </a:rPr>
              <a:t>细节能量</a:t>
            </a:r>
            <a:endParaRPr lang="zh-CN" altLang="en-US" sz="1600" b="1" dirty="0">
              <a:solidFill>
                <a:srgbClr val="3E3FFC"/>
              </a:solidFill>
            </a:endParaRPr>
          </a:p>
        </p:txBody>
      </p:sp>
      <p:sp>
        <p:nvSpPr>
          <p:cNvPr id="15" name="文本框 14"/>
          <p:cNvSpPr txBox="1"/>
          <p:nvPr/>
        </p:nvSpPr>
        <p:spPr>
          <a:xfrm>
            <a:off x="618043" y="5812535"/>
            <a:ext cx="1579245" cy="337185"/>
          </a:xfrm>
          <a:prstGeom prst="rect">
            <a:avLst/>
          </a:prstGeom>
          <a:noFill/>
        </p:spPr>
        <p:txBody>
          <a:bodyPr wrap="square" rtlCol="0">
            <a:spAutoFit/>
          </a:bodyPr>
          <a:lstStyle/>
          <a:p>
            <a:r>
              <a:rPr lang="zh-CN" altLang="en-US" sz="1600" b="1" dirty="0">
                <a:solidFill>
                  <a:srgbClr val="3E3FFC"/>
                </a:solidFill>
              </a:rPr>
              <a:t>近似能量</a:t>
            </a:r>
            <a:endParaRPr lang="zh-CN" altLang="en-US" sz="1600" b="1" dirty="0">
              <a:solidFill>
                <a:srgbClr val="3E3FFC"/>
              </a:solidFill>
            </a:endParaRPr>
          </a:p>
        </p:txBody>
      </p:sp>
      <p:sp>
        <p:nvSpPr>
          <p:cNvPr id="21" name="上弧形箭头 35"/>
          <p:cNvSpPr/>
          <p:nvPr/>
        </p:nvSpPr>
        <p:spPr bwMode="auto">
          <a:xfrm rot="5400000" flipV="1">
            <a:off x="-792973" y="4182603"/>
            <a:ext cx="2213962"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30" name="上弧形箭头 35"/>
          <p:cNvSpPr/>
          <p:nvPr/>
        </p:nvSpPr>
        <p:spPr bwMode="auto">
          <a:xfrm rot="5400000" flipV="1">
            <a:off x="-871152" y="464114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31" name="文本框 30"/>
          <p:cNvSpPr txBox="1"/>
          <p:nvPr>
            <p:custDataLst>
              <p:tags r:id="rId16"/>
            </p:custDataLst>
          </p:nvPr>
        </p:nvSpPr>
        <p:spPr>
          <a:xfrm>
            <a:off x="4919980" y="3528695"/>
            <a:ext cx="389382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不同分解层数下的小波能量</a:t>
            </a:r>
            <a:endParaRPr lang="zh-CN" altLang="en-US" sz="1000" b="1" dirty="0">
              <a:solidFill>
                <a:srgbClr val="3B3BFF"/>
              </a:solidFill>
              <a:latin typeface="黑体" panose="02010609060101010101" charset="-122"/>
              <a:ea typeface="黑体" panose="02010609060101010101" charset="-122"/>
              <a:sym typeface="+mn-ea"/>
            </a:endParaRPr>
          </a:p>
        </p:txBody>
      </p:sp>
      <p:sp>
        <p:nvSpPr>
          <p:cNvPr id="32" name="文本框 31"/>
          <p:cNvSpPr txBox="1"/>
          <p:nvPr>
            <p:custDataLst>
              <p:tags r:id="rId17"/>
            </p:custDataLst>
          </p:nvPr>
        </p:nvSpPr>
        <p:spPr>
          <a:xfrm>
            <a:off x="4919345" y="4479925"/>
            <a:ext cx="389382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不同小波基下的小波能量</a:t>
            </a:r>
            <a:endParaRPr lang="zh-CN" altLang="en-US" sz="1000" b="1" dirty="0">
              <a:solidFill>
                <a:srgbClr val="3B3BFF"/>
              </a:solidFill>
              <a:latin typeface="黑体" panose="02010609060101010101" charset="-122"/>
              <a:ea typeface="黑体" panose="02010609060101010101" charset="-122"/>
              <a:sym typeface="+mn-ea"/>
            </a:endParaRPr>
          </a:p>
        </p:txBody>
      </p:sp>
      <p:sp>
        <p:nvSpPr>
          <p:cNvPr id="33" name="文本框 32"/>
          <p:cNvSpPr txBox="1"/>
          <p:nvPr>
            <p:custDataLst>
              <p:tags r:id="rId18"/>
            </p:custDataLst>
          </p:nvPr>
        </p:nvSpPr>
        <p:spPr>
          <a:xfrm>
            <a:off x="8806180" y="2654935"/>
            <a:ext cx="3199765"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应力差对小波响应特征的影响规律</a:t>
            </a:r>
            <a:endParaRPr lang="zh-CN" altLang="en-US" sz="1000" b="1" dirty="0">
              <a:solidFill>
                <a:srgbClr val="3B3BFF"/>
              </a:solidFill>
              <a:latin typeface="黑体" panose="02010609060101010101" charset="-122"/>
              <a:ea typeface="黑体" panose="02010609060101010101" charset="-122"/>
              <a:sym typeface="+mn-ea"/>
            </a:endParaRPr>
          </a:p>
        </p:txBody>
      </p:sp>
      <p:sp>
        <p:nvSpPr>
          <p:cNvPr id="34" name="文本框 33"/>
          <p:cNvSpPr txBox="1"/>
          <p:nvPr>
            <p:custDataLst>
              <p:tags r:id="rId19"/>
            </p:custDataLst>
          </p:nvPr>
        </p:nvSpPr>
        <p:spPr>
          <a:xfrm>
            <a:off x="8812530" y="3678555"/>
            <a:ext cx="319278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弹性模量对小波响应特征的影响规律</a:t>
            </a:r>
            <a:endParaRPr lang="zh-CN" altLang="en-US" sz="1000" b="1" dirty="0">
              <a:solidFill>
                <a:srgbClr val="3B3BFF"/>
              </a:solidFill>
              <a:latin typeface="黑体" panose="02010609060101010101" charset="-122"/>
              <a:ea typeface="黑体" panose="02010609060101010101" charset="-122"/>
              <a:sym typeface="+mn-ea"/>
            </a:endParaRPr>
          </a:p>
        </p:txBody>
      </p:sp>
      <p:sp>
        <p:nvSpPr>
          <p:cNvPr id="36" name="文本框 35"/>
          <p:cNvSpPr txBox="1"/>
          <p:nvPr>
            <p:custDataLst>
              <p:tags r:id="rId20"/>
            </p:custDataLst>
          </p:nvPr>
        </p:nvSpPr>
        <p:spPr>
          <a:xfrm>
            <a:off x="8813165" y="4772660"/>
            <a:ext cx="3173095"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注入排量对小波响应特征的影响规律</a:t>
            </a:r>
            <a:endParaRPr lang="zh-CN" altLang="en-US" sz="1000" b="1" dirty="0">
              <a:solidFill>
                <a:srgbClr val="3B3BFF"/>
              </a:solidFill>
              <a:latin typeface="黑体" panose="02010609060101010101" charset="-122"/>
              <a:ea typeface="黑体" panose="0201060906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39877" y="775194"/>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sym typeface="+mn-ea"/>
              </a:rPr>
              <a:t>6</a:t>
            </a:r>
            <a:r>
              <a:rPr sz="2400" kern="0" dirty="0">
                <a:solidFill>
                  <a:srgbClr val="FF0000"/>
                </a:solidFill>
                <a:latin typeface="方正大黑简体" panose="02010601030101010101" pitchFamily="65" charset="-122"/>
                <a:ea typeface="方正大黑简体" panose="02010601030101010101" pitchFamily="65" charset="-122"/>
                <a:sym typeface="+mn-ea"/>
              </a:rPr>
              <a:t>、</a:t>
            </a:r>
            <a:r>
              <a:rPr lang="zh-CN" altLang="en-US" sz="2400" kern="0" dirty="0">
                <a:solidFill>
                  <a:srgbClr val="FF0000"/>
                </a:solidFill>
                <a:latin typeface="方正大黑简体" panose="02010601030101010101" pitchFamily="65" charset="-122"/>
                <a:ea typeface="方正大黑简体" panose="02010601030101010101" pitchFamily="65" charset="-122"/>
                <a:sym typeface="+mn-ea"/>
              </a:rPr>
              <a:t>矿场应用表明小波分解判别模型</a:t>
            </a:r>
            <a:r>
              <a:rPr lang="zh-CN" altLang="en-US" sz="2400" kern="0" dirty="0">
                <a:solidFill>
                  <a:srgbClr val="FF0000"/>
                </a:solidFill>
                <a:latin typeface="方正大黑简体" panose="02010601030101010101" pitchFamily="65" charset="-122"/>
                <a:ea typeface="方正大黑简体" panose="02010601030101010101" pitchFamily="65" charset="-122"/>
              </a:rPr>
              <a:t>可以有效识别井下流固事件</a:t>
            </a:r>
            <a:endParaRPr sz="2400" kern="0" dirty="0">
              <a:solidFill>
                <a:srgbClr val="FF0000"/>
              </a:solidFill>
              <a:latin typeface="方正大黑简体" panose="02010601030101010101" pitchFamily="65" charset="-122"/>
              <a:ea typeface="方正大黑简体" panose="02010601030101010101" pitchFamily="65" charset="-122"/>
            </a:endParaRPr>
          </a:p>
        </p:txBody>
      </p:sp>
      <p:sp>
        <p:nvSpPr>
          <p:cNvPr id="56"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该模型已在西南油气田、新疆油田等主力油气田累计分析</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400</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余段次，涵盖页岩、致密砂岩等储层。以国内某页岩气井</a:t>
            </a:r>
            <a:r>
              <a:rPr lang="zh-CN" altLang="en-US" sz="2000" b="1" dirty="0">
                <a:latin typeface="Times New Roman" panose="02020603050405020304" pitchFamily="18" charset="0"/>
                <a:ea typeface="黑体" panose="02010609060101010101" charset="-122"/>
                <a:cs typeface="Times New Roman" panose="02020603050405020304" pitchFamily="18" charset="0"/>
              </a:rPr>
              <a:t>一段的压裂施工数据为例（采样率为</a:t>
            </a:r>
            <a:r>
              <a:rPr lang="en-US" altLang="zh-CN" sz="2000" b="1" dirty="0">
                <a:latin typeface="Times New Roman" panose="02020603050405020304" pitchFamily="18" charset="0"/>
                <a:ea typeface="黑体" panose="02010609060101010101" charset="-122"/>
                <a:cs typeface="Times New Roman" panose="02020603050405020304" pitchFamily="18" charset="0"/>
              </a:rPr>
              <a:t>1 Hz </a:t>
            </a:r>
            <a:r>
              <a:rPr lang="zh-CN" altLang="en-US" sz="2000" b="1" dirty="0">
                <a:latin typeface="Times New Roman" panose="02020603050405020304" pitchFamily="18" charset="0"/>
                <a:ea typeface="黑体" panose="02010609060101010101" charset="-122"/>
                <a:cs typeface="Times New Roman" panose="02020603050405020304" pitchFamily="18" charset="0"/>
              </a:rPr>
              <a:t>），</a:t>
            </a:r>
            <a:r>
              <a:rPr sz="2000" b="1" dirty="0" err="1">
                <a:latin typeface="Times New Roman" panose="02020603050405020304" pitchFamily="18" charset="0"/>
                <a:ea typeface="黑体" panose="02010609060101010101" charset="-122"/>
                <a:cs typeface="Times New Roman" panose="02020603050405020304" pitchFamily="18" charset="0"/>
              </a:rPr>
              <a:t>确定</a:t>
            </a:r>
            <a:r>
              <a:rPr lang="zh-CN" altLang="en-US" sz="2000" b="1" dirty="0">
                <a:latin typeface="Times New Roman" panose="02020603050405020304" pitchFamily="18" charset="0"/>
                <a:ea typeface="黑体" panose="02010609060101010101" charset="-122"/>
                <a:cs typeface="Times New Roman" panose="02020603050405020304" pitchFamily="18" charset="0"/>
              </a:rPr>
              <a:t>了</a:t>
            </a:r>
            <a:r>
              <a:rPr sz="2000" b="1" dirty="0" err="1">
                <a:solidFill>
                  <a:srgbClr val="FF0000"/>
                </a:solidFill>
                <a:latin typeface="Times New Roman" panose="02020603050405020304" pitchFamily="18" charset="0"/>
                <a:ea typeface="黑体" panose="02010609060101010101" charset="-122"/>
                <a:cs typeface="Times New Roman" panose="02020603050405020304" pitchFamily="18" charset="0"/>
              </a:rPr>
              <a:t>最大分解</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等</a:t>
            </a:r>
            <a:r>
              <a:rPr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级为13级</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latin typeface="Times New Roman" panose="02020603050405020304" pitchFamily="18" charset="0"/>
                <a:ea typeface="黑体" panose="02010609060101010101" charset="-122"/>
                <a:cs typeface="Times New Roman" panose="02020603050405020304" pitchFamily="18" charset="0"/>
              </a:rPr>
              <a:t>最优分解等级为</a:t>
            </a:r>
            <a:r>
              <a:rPr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7、8、9级</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latin typeface="Times New Roman" panose="02020603050405020304" pitchFamily="18" charset="0"/>
                <a:ea typeface="黑体" panose="02010609060101010101" charset="-122"/>
                <a:cs typeface="Times New Roman" panose="02020603050405020304" pitchFamily="18" charset="0"/>
              </a:rPr>
              <a:t>基于小波分解结果分析识别井下流固事件</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准确率超过</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85%</a:t>
            </a:r>
            <a:r>
              <a:rPr lang="zh-CN" altLang="en-US" sz="2000" b="1" dirty="0">
                <a:latin typeface="Times New Roman" panose="02020603050405020304" pitchFamily="18" charset="0"/>
                <a:ea typeface="黑体" panose="02010609060101010101" charset="-122"/>
                <a:cs typeface="Times New Roman" panose="02020603050405020304" pitchFamily="18" charset="0"/>
              </a:rPr>
              <a:t>（与微地震结果对比）。</a:t>
            </a:r>
            <a:endParaRPr sz="2000" b="1" dirty="0">
              <a:latin typeface="Times New Roman" panose="02020603050405020304" pitchFamily="18" charset="0"/>
              <a:ea typeface="黑体" panose="02010609060101010101" charset="-122"/>
              <a:cs typeface="Times New Roman" panose="02020603050405020304" pitchFamily="18" charset="0"/>
            </a:endParaRPr>
          </a:p>
        </p:txBody>
      </p:sp>
      <p:sp>
        <p:nvSpPr>
          <p:cNvPr id="35" name="矩形 13"/>
          <p:cNvSpPr>
            <a:spLocks noChangeArrowheads="1"/>
          </p:cNvSpPr>
          <p:nvPr/>
        </p:nvSpPr>
        <p:spPr bwMode="auto">
          <a:xfrm>
            <a:off x="263525" y="2708910"/>
            <a:ext cx="11736705" cy="3744595"/>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3" name="TextBox 45"/>
          <p:cNvSpPr txBox="1"/>
          <p:nvPr/>
        </p:nvSpPr>
        <p:spPr>
          <a:xfrm>
            <a:off x="0" y="91440"/>
            <a:ext cx="12192000" cy="46545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l" eaLnBrk="1" fontAlgn="auto" hangingPunct="1">
              <a:spcBef>
                <a:spcPts val="600"/>
              </a:spcBef>
              <a:spcAft>
                <a:spcPts val="0"/>
              </a:spcAft>
              <a:buNone/>
            </a:pPr>
            <a:r>
              <a:rPr lang="zh-CN" altLang="en-US" sz="2800" b="1" dirty="0">
                <a:solidFill>
                  <a:srgbClr val="3E3FFC"/>
                </a:solidFill>
                <a:latin typeface="方正大黑简体" panose="02010601030101010101" pitchFamily="65" charset="-122"/>
                <a:ea typeface="方正大黑简体" panose="02010601030101010101" pitchFamily="65" charset="-122"/>
                <a:sym typeface="+mn-ea"/>
              </a:rPr>
              <a:t>创新成果一：揭示井下压裂过程物理机理及井口响应机</a:t>
            </a:r>
            <a:endParaRPr lang="zh-CN" altLang="en-US" sz="2800" b="1" noProof="1">
              <a:solidFill>
                <a:srgbClr val="3E3FFC"/>
              </a:solidFill>
              <a:latin typeface="方正大黑简体" panose="02010601030101010101" pitchFamily="65" charset="-122"/>
              <a:ea typeface="方正大黑简体" panose="02010601030101010101" pitchFamily="65" charset="-122"/>
            </a:endParaRPr>
          </a:p>
        </p:txBody>
      </p:sp>
      <p:pic>
        <p:nvPicPr>
          <p:cNvPr id="11" name="图片 10"/>
          <p:cNvPicPr/>
          <p:nvPr/>
        </p:nvPicPr>
        <p:blipFill>
          <a:blip r:embed="rId1"/>
          <a:stretch>
            <a:fillRect/>
          </a:stretch>
        </p:blipFill>
        <p:spPr>
          <a:xfrm>
            <a:off x="6167755" y="4605655"/>
            <a:ext cx="5724000" cy="1440000"/>
          </a:xfrm>
          <a:prstGeom prst="rect">
            <a:avLst/>
          </a:prstGeom>
          <a:ln>
            <a:solidFill>
              <a:schemeClr val="tx1"/>
            </a:solidFill>
          </a:ln>
        </p:spPr>
      </p:pic>
      <p:pic>
        <p:nvPicPr>
          <p:cNvPr id="2" name="图片 1"/>
          <p:cNvPicPr/>
          <p:nvPr/>
        </p:nvPicPr>
        <p:blipFill>
          <a:blip r:embed="rId2"/>
          <a:stretch>
            <a:fillRect/>
          </a:stretch>
        </p:blipFill>
        <p:spPr>
          <a:xfrm>
            <a:off x="326390" y="2780665"/>
            <a:ext cx="5724000" cy="1440000"/>
          </a:xfrm>
          <a:prstGeom prst="rect">
            <a:avLst/>
          </a:prstGeom>
          <a:ln>
            <a:solidFill>
              <a:schemeClr val="tx1"/>
            </a:solidFill>
          </a:ln>
        </p:spPr>
      </p:pic>
      <p:pic>
        <p:nvPicPr>
          <p:cNvPr id="5" name="图片 4"/>
          <p:cNvPicPr/>
          <p:nvPr/>
        </p:nvPicPr>
        <p:blipFill>
          <a:blip r:embed="rId3"/>
          <a:stretch>
            <a:fillRect/>
          </a:stretch>
        </p:blipFill>
        <p:spPr>
          <a:xfrm>
            <a:off x="335915" y="4605655"/>
            <a:ext cx="5724000" cy="1440000"/>
          </a:xfrm>
          <a:prstGeom prst="rect">
            <a:avLst/>
          </a:prstGeom>
          <a:ln>
            <a:solidFill>
              <a:schemeClr val="tx1"/>
            </a:solidFill>
          </a:ln>
        </p:spPr>
      </p:pic>
      <p:pic>
        <p:nvPicPr>
          <p:cNvPr id="6" name="图片 5"/>
          <p:cNvPicPr/>
          <p:nvPr/>
        </p:nvPicPr>
        <p:blipFill>
          <a:blip r:embed="rId4"/>
          <a:stretch>
            <a:fillRect/>
          </a:stretch>
        </p:blipFill>
        <p:spPr>
          <a:xfrm>
            <a:off x="6167755" y="2780665"/>
            <a:ext cx="5724000" cy="1440000"/>
          </a:xfrm>
          <a:prstGeom prst="rect">
            <a:avLst/>
          </a:prstGeom>
          <a:ln>
            <a:solidFill>
              <a:schemeClr val="tx1"/>
            </a:solidFill>
          </a:ln>
        </p:spPr>
      </p:pic>
      <p:sp>
        <p:nvSpPr>
          <p:cNvPr id="10" name="文本框 9"/>
          <p:cNvSpPr txBox="1"/>
          <p:nvPr/>
        </p:nvSpPr>
        <p:spPr>
          <a:xfrm>
            <a:off x="325755" y="4220845"/>
            <a:ext cx="572389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rPr>
              <a:t>压力和注入排量在第7层分解水平上的小波能量</a:t>
            </a:r>
            <a:endParaRPr lang="zh-CN" altLang="en-US" sz="1600">
              <a:latin typeface="黑体" panose="02010609060101010101" charset="-122"/>
              <a:ea typeface="黑体" panose="02010609060101010101" charset="-122"/>
              <a:cs typeface="黑体" panose="02010609060101010101" charset="-122"/>
            </a:endParaRPr>
          </a:p>
        </p:txBody>
      </p:sp>
      <p:sp>
        <p:nvSpPr>
          <p:cNvPr id="12" name="文本框 11"/>
          <p:cNvSpPr txBox="1"/>
          <p:nvPr/>
        </p:nvSpPr>
        <p:spPr>
          <a:xfrm>
            <a:off x="327025" y="6045835"/>
            <a:ext cx="572262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sym typeface="+mn-ea"/>
              </a:rPr>
              <a:t>压力和注入排量在第</a:t>
            </a:r>
            <a:r>
              <a:rPr lang="en-US" altLang="zh-CN" sz="1600">
                <a:latin typeface="黑体" panose="02010609060101010101" charset="-122"/>
                <a:ea typeface="黑体" panose="02010609060101010101" charset="-122"/>
                <a:cs typeface="黑体" panose="02010609060101010101" charset="-122"/>
                <a:sym typeface="+mn-ea"/>
              </a:rPr>
              <a:t>8</a:t>
            </a:r>
            <a:r>
              <a:rPr lang="zh-CN" altLang="en-US" sz="1600">
                <a:latin typeface="黑体" panose="02010609060101010101" charset="-122"/>
                <a:ea typeface="黑体" panose="02010609060101010101" charset="-122"/>
                <a:cs typeface="黑体" panose="02010609060101010101" charset="-122"/>
                <a:sym typeface="+mn-ea"/>
              </a:rPr>
              <a:t>层分解水平上的小波能量</a:t>
            </a:r>
            <a:endParaRPr lang="zh-CN" altLang="en-US" sz="1600">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nvSpPr>
        <p:spPr>
          <a:xfrm>
            <a:off x="6154420" y="4220845"/>
            <a:ext cx="572389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sym typeface="+mn-ea"/>
              </a:rPr>
              <a:t>压力和注入排量在第</a:t>
            </a:r>
            <a:r>
              <a:rPr lang="en-US" altLang="zh-CN" sz="1600">
                <a:latin typeface="黑体" panose="02010609060101010101" charset="-122"/>
                <a:ea typeface="黑体" panose="02010609060101010101" charset="-122"/>
                <a:cs typeface="黑体" panose="02010609060101010101" charset="-122"/>
                <a:sym typeface="+mn-ea"/>
              </a:rPr>
              <a:t>9</a:t>
            </a:r>
            <a:r>
              <a:rPr lang="zh-CN" altLang="en-US" sz="1600">
                <a:latin typeface="黑体" panose="02010609060101010101" charset="-122"/>
                <a:ea typeface="黑体" panose="02010609060101010101" charset="-122"/>
                <a:cs typeface="黑体" panose="02010609060101010101" charset="-122"/>
                <a:sym typeface="+mn-ea"/>
              </a:rPr>
              <a:t>层分解水平上的小波能量</a:t>
            </a:r>
            <a:endParaRPr lang="zh-CN" altLang="en-US" sz="1600">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nvSpPr>
        <p:spPr>
          <a:xfrm>
            <a:off x="6154420" y="6045835"/>
            <a:ext cx="572262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rPr>
              <a:t>微地震解释结果与小波分析结果的比较</a:t>
            </a:r>
            <a:endParaRPr lang="zh-CN" altLang="en-US" sz="1600">
              <a:latin typeface="黑体" panose="02010609060101010101" charset="-122"/>
              <a:ea typeface="黑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en-US" altLang="zh-CN"/>
              <a:t>1</a:t>
            </a:r>
            <a:r>
              <a:rPr lang="zh-CN" altLang="en-US"/>
              <a:t>、《物理数据融合的井下压裂过程仿真与预警基础研究》</a:t>
            </a:r>
            <a:endParaRPr lang="zh-CN" altLang="en-US"/>
          </a:p>
          <a:p>
            <a:pPr algn="l"/>
            <a:r>
              <a:rPr lang="en-US" altLang="zh-CN">
                <a:solidFill>
                  <a:srgbClr val="FF0000"/>
                </a:solidFill>
              </a:rPr>
              <a:t>2</a:t>
            </a:r>
            <a:r>
              <a:rPr lang="zh-CN" altLang="en-US">
                <a:solidFill>
                  <a:srgbClr val="FF0000"/>
                </a:solidFill>
              </a:rPr>
              <a:t>、西南开题</a:t>
            </a:r>
            <a:endParaRPr lang="zh-CN" altLang="en-US">
              <a:solidFill>
                <a:srgbClr val="FF0000"/>
              </a:solidFill>
            </a:endParaRPr>
          </a:p>
          <a:p>
            <a:pPr algn="l"/>
            <a:r>
              <a:rPr lang="en-US" altLang="zh-CN"/>
              <a:t>3</a:t>
            </a:r>
            <a:r>
              <a:rPr lang="zh-CN" altLang="en-US"/>
              <a:t>、西南项目</a:t>
            </a:r>
            <a:r>
              <a:rPr lang="zh-CN" altLang="en-US"/>
              <a:t>交流</a:t>
            </a:r>
            <a:endParaRPr lang="zh-CN" altLang="en-US"/>
          </a:p>
          <a:p>
            <a:pPr algn="l"/>
            <a:r>
              <a:rPr lang="en-US" altLang="zh-CN"/>
              <a:t>4</a:t>
            </a:r>
            <a:r>
              <a:rPr lang="zh-CN" altLang="en-US"/>
              <a:t>、水击波</a:t>
            </a:r>
            <a:r>
              <a:rPr lang="zh-CN" altLang="en-US"/>
              <a:t>银川</a:t>
            </a:r>
            <a:endParaRPr lang="zh-CN" altLang="en-US"/>
          </a:p>
          <a:p>
            <a:pPr algn="l"/>
            <a:r>
              <a:rPr lang="zh-CN" altLang="en-US">
                <a:sym typeface="+mn-ea"/>
              </a:rPr>
              <a:t>5、西南中期答辩</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（四）关键技术问题分析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0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latin typeface="方正大黑简体" panose="02010601030101010101" pitchFamily="65" charset="-122"/>
                <a:ea typeface="方正大黑简体" panose="02010601030101010101" pitchFamily="65" charset="-122"/>
              </a:rPr>
              <a:t>1</a:t>
            </a:r>
            <a:r>
              <a:rPr lang="zh-CN" altLang="en-US" sz="2000" kern="0" dirty="0">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latin typeface="方正大黑简体" panose="02010601030101010101" pitchFamily="65" charset="-122"/>
              <a:ea typeface="方正大黑简体" panose="02010601030101010101" pitchFamily="65" charset="-122"/>
            </a:endParaRPr>
          </a:p>
        </p:txBody>
      </p:sp>
      <p:sp>
        <p:nvSpPr>
          <p:cNvPr id="1048607" name="Rectangle 11"/>
          <p:cNvSpPr>
            <a:spLocks noChangeArrowheads="1"/>
          </p:cNvSpPr>
          <p:nvPr/>
        </p:nvSpPr>
        <p:spPr bwMode="auto">
          <a:xfrm>
            <a:off x="326268" y="1287670"/>
            <a:ext cx="11673645" cy="197246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在压裂施工过程中</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压力的变化</a:t>
            </a:r>
            <a:r>
              <a:rPr kumimoji="1" lang="zh-CN" altLang="en-US" sz="1600" kern="0" dirty="0">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往往是</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地层信息、施工信息、裂缝信息的综合反映</a:t>
            </a: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，水力压裂施工压力响应诊断对于认识压裂改造过程具有重要意义</a:t>
            </a:r>
            <a:endParaRPr kumimoji="1" lang="en-US" altLang="zh-CN"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由于地面施工、地层等多方面因素的影响导致目前对于压裂改造过程中的</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压力波动响应的诊断</a:t>
            </a: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存在很大</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难度</a:t>
            </a: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和</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不确定性</a:t>
            </a:r>
            <a:endParaRPr kumimoji="1" lang="en-US" altLang="zh-CN"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小波分析</a:t>
            </a: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是目前具有研究前景的一项技术，它能够在时域和频域中对序列的局部特性进行识别，非常适用于</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实时分析</a:t>
            </a: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。基于小波分析方法将压力信号分解到不同的频带上有助于了解</a:t>
            </a:r>
            <a:r>
              <a:rPr kumimoji="1"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压力信号在不同频带上的响应特征和规律</a:t>
            </a:r>
            <a:endParaRPr kumimoji="1" lang="en-US" altLang="zh-CN" sz="1600" kern="0" dirty="0">
              <a:solidFill>
                <a:srgbClr val="FF0000"/>
              </a:solidFill>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260014" y="3356992"/>
            <a:ext cx="3948554" cy="2880320"/>
          </a:xfrm>
          <a:prstGeom prst="rect">
            <a:avLst/>
          </a:prstGeom>
        </p:spPr>
      </p:pic>
      <p:pic>
        <p:nvPicPr>
          <p:cNvPr id="6" name="图片 6"/>
          <p:cNvPicPr>
            <a:picLocks noChangeAspect="1" noChangeArrowheads="1"/>
          </p:cNvPicPr>
          <p:nvPr/>
        </p:nvPicPr>
        <p:blipFill>
          <a:blip r:embed="rId2">
            <a:extLst>
              <a:ext uri="{28A0092B-C50C-407E-A947-70E740481C1C}">
                <a14:useLocalDpi xmlns:a14="http://schemas.microsoft.com/office/drawing/2010/main" val="0"/>
              </a:ext>
            </a:extLst>
          </a:blip>
          <a:srcRect r="7117"/>
          <a:stretch>
            <a:fillRect/>
          </a:stretch>
        </p:blipFill>
        <p:spPr bwMode="auto">
          <a:xfrm>
            <a:off x="1136078" y="3429000"/>
            <a:ext cx="4599882" cy="251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305804" y="6169278"/>
            <a:ext cx="156966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小波分解流程示意图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8" name="文本框 6"/>
          <p:cNvSpPr txBox="1"/>
          <p:nvPr/>
        </p:nvSpPr>
        <p:spPr>
          <a:xfrm>
            <a:off x="8139514" y="6309320"/>
            <a:ext cx="249299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基于现场压力施工曲线的小波分析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448035" y="1287670"/>
            <a:ext cx="11551878" cy="82599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rPr>
              <a:t>建立水力压裂小波分解模型</a:t>
            </a:r>
            <a:endParaRPr lang="en-US" altLang="zh-CN" sz="1600" b="1" kern="0" dirty="0">
              <a:solidFill>
                <a:srgbClr val="FF0000"/>
              </a:solidFill>
              <a:latin typeface="微软雅黑" panose="020B0503020204020204" charset="-122"/>
              <a:ea typeface="微软雅黑" panose="020B050302020402020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rPr>
              <a:t>施工压力响应特征规律分析</a:t>
            </a:r>
            <a:endPar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11" name="文本框 6"/>
          <p:cNvSpPr txBox="1"/>
          <p:nvPr/>
        </p:nvSpPr>
        <p:spPr>
          <a:xfrm>
            <a:off x="1153420" y="6165304"/>
            <a:ext cx="4110036"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不同应力差场景下水力压裂扩展模型及施工压力信号分析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7130" y="2570420"/>
            <a:ext cx="5242616" cy="1521678"/>
          </a:xfrm>
          <a:prstGeom prst="rect">
            <a:avLst/>
          </a:prstGeom>
        </p:spPr>
      </p:pic>
      <p:pic>
        <p:nvPicPr>
          <p:cNvPr id="18" name="图片 17"/>
          <p:cNvPicPr>
            <a:picLocks noChangeAspect="1"/>
          </p:cNvPicPr>
          <p:nvPr/>
        </p:nvPicPr>
        <p:blipFill rotWithShape="1">
          <a:blip r:embed="rId2" cstate="print">
            <a:extLst>
              <a:ext uri="{28A0092B-C50C-407E-A947-70E740481C1C}">
                <a14:useLocalDpi xmlns:a14="http://schemas.microsoft.com/office/drawing/2010/main" val="0"/>
              </a:ext>
            </a:extLst>
          </a:blip>
          <a:srcRect b="7308"/>
          <a:stretch>
            <a:fillRect/>
          </a:stretch>
        </p:blipFill>
        <p:spPr>
          <a:xfrm>
            <a:off x="659133" y="4228421"/>
            <a:ext cx="5201920" cy="1797114"/>
          </a:xfrm>
          <a:prstGeom prst="rect">
            <a:avLst/>
          </a:prstGeom>
        </p:spPr>
      </p:pic>
      <p:pic>
        <p:nvPicPr>
          <p:cNvPr id="3" name="图片 6"/>
          <p:cNvPicPr>
            <a:picLocks noChangeAspect="1" noChangeArrowheads="1"/>
          </p:cNvPicPr>
          <p:nvPr/>
        </p:nvPicPr>
        <p:blipFill>
          <a:blip r:embed="rId3">
            <a:extLst>
              <a:ext uri="{28A0092B-C50C-407E-A947-70E740481C1C}">
                <a14:useLocalDpi xmlns:a14="http://schemas.microsoft.com/office/drawing/2010/main" val="0"/>
              </a:ext>
            </a:extLst>
          </a:blip>
          <a:srcRect r="7117"/>
          <a:stretch>
            <a:fillRect/>
          </a:stretch>
        </p:blipFill>
        <p:spPr bwMode="auto">
          <a:xfrm>
            <a:off x="6852240" y="2996952"/>
            <a:ext cx="5147158" cy="281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6"/>
          <p:cNvSpPr txBox="1"/>
          <p:nvPr/>
        </p:nvSpPr>
        <p:spPr>
          <a:xfrm>
            <a:off x="8328248" y="6084693"/>
            <a:ext cx="156966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小波分解流程示意图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448035" y="1287670"/>
            <a:ext cx="11551878" cy="156465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rPr>
              <a:t>建立水力压裂小波分解模型</a:t>
            </a:r>
            <a:r>
              <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：基于有限元方法建立水力压裂扩展模型，模拟水力压裂过程中注入压力的响应过程，并引入小波分析对注入压力信号进行分析</a:t>
            </a:r>
            <a:endParaRPr lang="en-US" altLang="zh-CN" sz="1600" kern="0" dirty="0">
              <a:solidFill>
                <a:prstClr val="black"/>
              </a:solidFill>
              <a:latin typeface="微软雅黑" panose="020B0503020204020204" charset="-122"/>
              <a:ea typeface="微软雅黑" panose="020B050302020402020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以小波峰值能量为评价标准，开展针对不同小波类型和不同分解层次下压力施工曲线停泵阶段的小波分析，对注入压力曲线进行离散小波变换得到的小波能量与压力随时间的变化曲线，从而优选出压力信号的</a:t>
            </a:r>
            <a:r>
              <a:rPr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rPr>
              <a:t>最优小波基</a:t>
            </a:r>
            <a:r>
              <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和</a:t>
            </a:r>
            <a:r>
              <a:rPr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rPr>
              <a:t>最优分解层次</a:t>
            </a:r>
            <a:endParaRPr lang="zh-CN" altLang="en-US" sz="1600" kern="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8" name="文本框 6"/>
          <p:cNvSpPr txBox="1"/>
          <p:nvPr/>
        </p:nvSpPr>
        <p:spPr>
          <a:xfrm>
            <a:off x="2284518" y="6176337"/>
            <a:ext cx="1415772"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建立水力压裂模型</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b="6960"/>
          <a:stretch>
            <a:fillRect/>
          </a:stretch>
        </p:blipFill>
        <p:spPr>
          <a:xfrm>
            <a:off x="326269" y="3284984"/>
            <a:ext cx="6044364" cy="2880320"/>
          </a:xfrm>
          <a:prstGeom prst="rect">
            <a:avLst/>
          </a:prstGeom>
        </p:spPr>
      </p:pic>
      <p:sp>
        <p:nvSpPr>
          <p:cNvPr id="3" name="文本框 6"/>
          <p:cNvSpPr txBox="1"/>
          <p:nvPr/>
        </p:nvSpPr>
        <p:spPr>
          <a:xfrm>
            <a:off x="7929709" y="6230687"/>
            <a:ext cx="2646878"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不同小波分解类型下的小波峰值能量</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pic>
        <p:nvPicPr>
          <p:cNvPr id="19" name="图片 18"/>
          <p:cNvPicPr>
            <a:picLocks noChangeAspect="1"/>
          </p:cNvPicPr>
          <p:nvPr/>
        </p:nvPicPr>
        <p:blipFill>
          <a:blip r:embed="rId2"/>
          <a:stretch>
            <a:fillRect/>
          </a:stretch>
        </p:blipFill>
        <p:spPr>
          <a:xfrm>
            <a:off x="6938701" y="2906679"/>
            <a:ext cx="4628894" cy="32696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rPr>
              <a:t>施工压力响应特征规律分析</a:t>
            </a:r>
            <a:r>
              <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：根据优选的小波基和最优分解层次对压裂施工曲线上的停泵阶段进行多层次小波分解，依据波动特征进行分析解释从而得到施工压力响应特征规律</a:t>
            </a:r>
            <a:endPar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5663952" y="3068960"/>
            <a:ext cx="5836095" cy="2725935"/>
          </a:xfrm>
          <a:prstGeom prst="rect">
            <a:avLst/>
          </a:prstGeom>
        </p:spPr>
      </p:pic>
      <p:sp>
        <p:nvSpPr>
          <p:cNvPr id="10" name="文本框 6"/>
          <p:cNvSpPr txBox="1"/>
          <p:nvPr/>
        </p:nvSpPr>
        <p:spPr>
          <a:xfrm>
            <a:off x="7788407" y="5946193"/>
            <a:ext cx="2018117"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现场案例小波分析解释成果</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p:nvPicPr>
        <p:blipFill>
          <a:blip r:embed="rId2"/>
          <a:stretch>
            <a:fillRect/>
          </a:stretch>
        </p:blipFill>
        <p:spPr>
          <a:xfrm>
            <a:off x="911424" y="2814536"/>
            <a:ext cx="3959914" cy="2952194"/>
          </a:xfrm>
          <a:prstGeom prst="rect">
            <a:avLst/>
          </a:prstGeom>
        </p:spPr>
      </p:pic>
      <p:sp>
        <p:nvSpPr>
          <p:cNvPr id="16" name="文本框 6"/>
          <p:cNvSpPr txBox="1"/>
          <p:nvPr/>
        </p:nvSpPr>
        <p:spPr>
          <a:xfrm>
            <a:off x="1798774" y="5946193"/>
            <a:ext cx="2185214"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charset="-122"/>
                <a:ea typeface="微软雅黑" panose="020B0503020204020204" charset="-122"/>
              </a:rPr>
              <a:t>基于压力施工曲线的小波分析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5"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charset="-122"/>
                <a:ea typeface="微软雅黑" panose="020B0503020204020204" charset="-122"/>
                <a:cs typeface="Times New Roman" panose="02020603050405020304" pitchFamily="18" charset="0"/>
              </a:rPr>
              <a:t>基于大数据分析的压裂效果综合评估</a:t>
            </a:r>
            <a:r>
              <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：基于上述研究内容进行，形成一套基于大数据分析的压裂效果综合评估一体化技术，实现对川南页岩气压裂效果的精准评估，为现场压裂施工提供参考</a:t>
            </a:r>
            <a:endParaRPr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endParaRPr>
          </a:p>
        </p:txBody>
      </p:sp>
      <p:sp>
        <p:nvSpPr>
          <p:cNvPr id="2" name="TextBox 7"/>
          <p:cNvSpPr txBox="1"/>
          <p:nvPr/>
        </p:nvSpPr>
        <p:spPr bwMode="auto">
          <a:xfrm>
            <a:off x="326269" y="773307"/>
            <a:ext cx="10738283"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、基于大数据库分析的压裂效果综合评估</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pic>
        <p:nvPicPr>
          <p:cNvPr id="5" name="图片 4"/>
          <p:cNvPicPr>
            <a:picLocks noChangeAspect="1"/>
          </p:cNvPicPr>
          <p:nvPr/>
        </p:nvPicPr>
        <p:blipFill>
          <a:blip r:embed="rId1"/>
          <a:stretch>
            <a:fillRect/>
          </a:stretch>
        </p:blipFill>
        <p:spPr>
          <a:xfrm>
            <a:off x="6744072" y="2050945"/>
            <a:ext cx="5184576" cy="3747621"/>
          </a:xfrm>
          <a:prstGeom prst="rect">
            <a:avLst/>
          </a:prstGeom>
        </p:spPr>
      </p:pic>
      <p:pic>
        <p:nvPicPr>
          <p:cNvPr id="1026" name="图片 6"/>
          <p:cNvPicPr>
            <a:picLocks noChangeAspect="1" noChangeArrowheads="1"/>
          </p:cNvPicPr>
          <p:nvPr/>
        </p:nvPicPr>
        <p:blipFill>
          <a:blip r:embed="rId2">
            <a:extLst>
              <a:ext uri="{28A0092B-C50C-407E-A947-70E740481C1C}">
                <a14:useLocalDpi xmlns:a14="http://schemas.microsoft.com/office/drawing/2010/main" val="0"/>
              </a:ext>
            </a:extLst>
          </a:blip>
          <a:srcRect r="7117"/>
          <a:stretch>
            <a:fillRect/>
          </a:stretch>
        </p:blipFill>
        <p:spPr bwMode="auto">
          <a:xfrm>
            <a:off x="839416" y="2453267"/>
            <a:ext cx="5014191" cy="294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28"/>
          <p:cNvSpPr>
            <a:spLocks noChangeArrowheads="1"/>
          </p:cNvSpPr>
          <p:nvPr/>
        </p:nvSpPr>
        <p:spPr bwMode="auto">
          <a:xfrm>
            <a:off x="1991544" y="5910669"/>
            <a:ext cx="1569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charset="-122"/>
                <a:ea typeface="微软雅黑" panose="020B0503020204020204" charset="-122"/>
                <a:sym typeface="+mn-lt"/>
              </a:rPr>
              <a:t>小波分解流程示意图</a:t>
            </a:r>
            <a:endParaRPr lang="zh-CN" altLang="en-US" sz="1200" dirty="0">
              <a:solidFill>
                <a:srgbClr val="000000"/>
              </a:solidFill>
              <a:latin typeface="微软雅黑" panose="020B0503020204020204" charset="-122"/>
              <a:ea typeface="微软雅黑" panose="020B0503020204020204" charset="-122"/>
              <a:sym typeface="+mn-lt"/>
            </a:endParaRPr>
          </a:p>
        </p:txBody>
      </p:sp>
      <p:sp>
        <p:nvSpPr>
          <p:cNvPr id="9" name="矩形 28"/>
          <p:cNvSpPr>
            <a:spLocks noChangeArrowheads="1"/>
          </p:cNvSpPr>
          <p:nvPr/>
        </p:nvSpPr>
        <p:spPr bwMode="auto">
          <a:xfrm>
            <a:off x="8112224" y="5910670"/>
            <a:ext cx="21820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charset="-122"/>
                <a:ea typeface="微软雅黑" panose="020B0503020204020204" charset="-122"/>
                <a:sym typeface="+mn-lt"/>
              </a:rPr>
              <a:t>裂缝几何参数反演流程示意图</a:t>
            </a:r>
            <a:endParaRPr lang="zh-CN" altLang="en-US" sz="1200" dirty="0">
              <a:solidFill>
                <a:srgbClr val="000000"/>
              </a:solidFill>
              <a:latin typeface="微软雅黑" panose="020B0503020204020204" charset="-122"/>
              <a:ea typeface="微软雅黑" panose="020B050302020402020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（一）项目研究技术路线</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2" name="矩形 8"/>
          <p:cNvSpPr>
            <a:spLocks noChangeArrowheads="1"/>
          </p:cNvSpPr>
          <p:nvPr/>
        </p:nvSpPr>
        <p:spPr bwMode="auto">
          <a:xfrm>
            <a:off x="740560" y="1169470"/>
            <a:ext cx="11857037"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rgbClr val="FF0000"/>
              </a:buClr>
            </a:pPr>
            <a:r>
              <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rPr>
              <a:t>分为压力响应特征分析、裂缝尺寸反演、大数据库构建、压裂效果综合评估四方面进行</a:t>
            </a:r>
            <a:endParaRPr kumimoji="1" lang="zh-CN" altLang="en-US" sz="1600" kern="0" dirty="0">
              <a:solidFill>
                <a:prstClr val="black"/>
              </a:solidFill>
              <a:latin typeface="微软雅黑" panose="020B0503020204020204" charset="-122"/>
              <a:ea typeface="微软雅黑" panose="020B0503020204020204" charset="-122"/>
              <a:cs typeface="Times New Roman" panose="02020603050405020304" pitchFamily="18" charset="0"/>
            </a:endParaRPr>
          </a:p>
        </p:txBody>
      </p:sp>
      <p:grpSp>
        <p:nvGrpSpPr>
          <p:cNvPr id="37" name="组合 36"/>
          <p:cNvGrpSpPr/>
          <p:nvPr/>
        </p:nvGrpSpPr>
        <p:grpSpPr>
          <a:xfrm>
            <a:off x="767408" y="1916832"/>
            <a:ext cx="10270815" cy="4535548"/>
            <a:chOff x="926620" y="2252717"/>
            <a:chExt cx="10270815" cy="4535548"/>
          </a:xfrm>
        </p:grpSpPr>
        <p:sp>
          <p:nvSpPr>
            <p:cNvPr id="3" name="文本框 1"/>
            <p:cNvSpPr txBox="1">
              <a:spLocks noChangeArrowheads="1"/>
            </p:cNvSpPr>
            <p:nvPr/>
          </p:nvSpPr>
          <p:spPr bwMode="auto">
            <a:xfrm>
              <a:off x="926620" y="2252717"/>
              <a:ext cx="24330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压力响应特征分析</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4" name="文本框 1"/>
            <p:cNvSpPr txBox="1">
              <a:spLocks noChangeArrowheads="1"/>
            </p:cNvSpPr>
            <p:nvPr/>
          </p:nvSpPr>
          <p:spPr bwMode="auto">
            <a:xfrm>
              <a:off x="3882912" y="2300703"/>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裂缝尺寸反演</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5" name="文本框 1"/>
            <p:cNvSpPr txBox="1">
              <a:spLocks noChangeArrowheads="1"/>
            </p:cNvSpPr>
            <p:nvPr/>
          </p:nvSpPr>
          <p:spPr bwMode="auto">
            <a:xfrm>
              <a:off x="6605918" y="2252717"/>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大数据库构建</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6" name="文本框 1"/>
            <p:cNvSpPr txBox="1">
              <a:spLocks noChangeArrowheads="1"/>
            </p:cNvSpPr>
            <p:nvPr/>
          </p:nvSpPr>
          <p:spPr bwMode="auto">
            <a:xfrm>
              <a:off x="8832304" y="2279740"/>
              <a:ext cx="23651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压裂效果综合评估</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7" name="组合 6"/>
            <p:cNvGrpSpPr/>
            <p:nvPr/>
          </p:nvGrpSpPr>
          <p:grpSpPr>
            <a:xfrm>
              <a:off x="1199456" y="2663261"/>
              <a:ext cx="9793087" cy="4125004"/>
              <a:chOff x="1536700" y="2782020"/>
              <a:chExt cx="9111312" cy="4254455"/>
            </a:xfrm>
          </p:grpSpPr>
          <p:sp>
            <p:nvSpPr>
              <p:cNvPr id="8" name="矩形 7"/>
              <p:cNvSpPr/>
              <p:nvPr/>
            </p:nvSpPr>
            <p:spPr>
              <a:xfrm>
                <a:off x="1543988" y="278202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建立水力压裂压力响应诊断模型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9" name="矩形 8"/>
              <p:cNvSpPr/>
              <p:nvPr/>
            </p:nvSpPr>
            <p:spPr>
              <a:xfrm>
                <a:off x="1536700"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优选压力信号的最优小波基和最优分解层次</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0" name="矩形 9"/>
              <p:cNvSpPr/>
              <p:nvPr/>
            </p:nvSpPr>
            <p:spPr>
              <a:xfrm>
                <a:off x="1536700"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明确水力压裂过程中的施工压力响应特征规律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1" name="矩形 10"/>
              <p:cNvSpPr/>
              <p:nvPr/>
            </p:nvSpPr>
            <p:spPr>
              <a:xfrm>
                <a:off x="3054100" y="6604475"/>
                <a:ext cx="6083800" cy="432000"/>
              </a:xfrm>
              <a:prstGeom prst="rect">
                <a:avLst/>
              </a:prstGeom>
              <a:solidFill>
                <a:srgbClr val="7EFFFF"/>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形成一套基于页岩气井压裂施工资料的综合评估方法</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2" name="矩形 11"/>
              <p:cNvSpPr/>
              <p:nvPr/>
            </p:nvSpPr>
            <p:spPr>
              <a:xfrm>
                <a:off x="3968046" y="281305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建立停泵期</a:t>
                </a:r>
                <a:r>
                  <a:rPr lang="en-US" altLang="zh-CN" b="1" dirty="0">
                    <a:latin typeface="Times New Roman" panose="02020603050405020304" pitchFamily="18" charset="0"/>
                    <a:ea typeface="黑体" panose="02010609060101010101" charset="-122"/>
                    <a:cs typeface="Times New Roman" panose="02020603050405020304" pitchFamily="18" charset="0"/>
                  </a:rPr>
                  <a:t>G</a:t>
                </a:r>
                <a:r>
                  <a:rPr lang="zh-CN" altLang="en-US" b="1" dirty="0">
                    <a:latin typeface="Times New Roman" panose="02020603050405020304" pitchFamily="18" charset="0"/>
                    <a:ea typeface="黑体" panose="02010609060101010101" charset="-122"/>
                    <a:cs typeface="Times New Roman" panose="02020603050405020304" pitchFamily="18" charset="0"/>
                  </a:rPr>
                  <a:t>函数压降分析模型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3" name="矩形 12"/>
              <p:cNvSpPr/>
              <p:nvPr/>
            </p:nvSpPr>
            <p:spPr>
              <a:xfrm>
                <a:off x="6482548" y="279913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采集施工过程中多种来源不同结构及类型的数据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4" name="矩形 13"/>
              <p:cNvSpPr/>
              <p:nvPr/>
            </p:nvSpPr>
            <p:spPr>
              <a:xfrm>
                <a:off x="8919820" y="280120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压裂施工资料综合分类汇总分析</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5" name="矩形 14"/>
              <p:cNvSpPr/>
              <p:nvPr/>
            </p:nvSpPr>
            <p:spPr>
              <a:xfrm>
                <a:off x="3968046"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反演压后多裂缝几何尺寸参数</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6" name="矩形 15"/>
              <p:cNvSpPr/>
              <p:nvPr/>
            </p:nvSpPr>
            <p:spPr>
              <a:xfrm>
                <a:off x="6482548" y="3923992"/>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构建含地质</a:t>
                </a:r>
                <a:r>
                  <a:rPr lang="en-US" altLang="zh-CN" b="1" dirty="0">
                    <a:latin typeface="Times New Roman" panose="02020603050405020304" pitchFamily="18" charset="0"/>
                    <a:ea typeface="黑体" panose="02010609060101010101" charset="-122"/>
                    <a:cs typeface="Times New Roman" panose="02020603050405020304" pitchFamily="18" charset="0"/>
                  </a:rPr>
                  <a:t>-</a:t>
                </a:r>
                <a:r>
                  <a:rPr lang="zh-CN" altLang="en-US" b="1" dirty="0">
                    <a:latin typeface="Times New Roman" panose="02020603050405020304" pitchFamily="18" charset="0"/>
                    <a:ea typeface="黑体" panose="02010609060101010101" charset="-122"/>
                    <a:cs typeface="Times New Roman" panose="02020603050405020304" pitchFamily="18" charset="0"/>
                  </a:rPr>
                  <a:t>工程参数的多源异构大数据库</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7" name="矩形 16"/>
              <p:cNvSpPr/>
              <p:nvPr/>
            </p:nvSpPr>
            <p:spPr>
              <a:xfrm>
                <a:off x="8909138" y="3973158"/>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开展基于大数据库分析的压裂效果综合评估研究</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8" name="矩形 17"/>
              <p:cNvSpPr/>
              <p:nvPr/>
            </p:nvSpPr>
            <p:spPr>
              <a:xfrm>
                <a:off x="3968046" y="5138408"/>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计算停泵时刻多裂缝长度及缝宽分布</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9" name="矩形 18"/>
              <p:cNvSpPr/>
              <p:nvPr/>
            </p:nvSpPr>
            <p:spPr>
              <a:xfrm>
                <a:off x="8897542" y="5106499"/>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为现场压裂作业优化设计提供评价依据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0" name="矩形 19"/>
              <p:cNvSpPr/>
              <p:nvPr/>
            </p:nvSpPr>
            <p:spPr>
              <a:xfrm>
                <a:off x="6495764"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揭示压裂参数与压裂改造效果的关联特征</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1" name="箭头: V 形 20"/>
              <p:cNvSpPr/>
              <p:nvPr/>
            </p:nvSpPr>
            <p:spPr>
              <a:xfrm>
                <a:off x="3331031" y="53280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22" name="箭头: V 形 21"/>
              <p:cNvSpPr/>
              <p:nvPr/>
            </p:nvSpPr>
            <p:spPr>
              <a:xfrm>
                <a:off x="5841110" y="5263919"/>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23" name="箭头: V 形 22"/>
              <p:cNvSpPr/>
              <p:nvPr/>
            </p:nvSpPr>
            <p:spPr>
              <a:xfrm>
                <a:off x="8305914" y="52939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24" name="直接连接符 23"/>
              <p:cNvCxnSpPr>
                <a:stCxn id="10" idx="2"/>
              </p:cNvCxnSpPr>
              <p:nvPr/>
            </p:nvCxnSpPr>
            <p:spPr bwMode="auto">
              <a:xfrm>
                <a:off x="2400796" y="6014487"/>
                <a:ext cx="0" cy="290496"/>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5" name="直接连接符 24"/>
              <p:cNvCxnSpPr/>
              <p:nvPr/>
            </p:nvCxnSpPr>
            <p:spPr bwMode="auto">
              <a:xfrm>
                <a:off x="2408084" y="6304983"/>
                <a:ext cx="7375832" cy="0"/>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6" name="直接连接符 25"/>
              <p:cNvCxnSpPr>
                <a:stCxn id="19" idx="2"/>
              </p:cNvCxnSpPr>
              <p:nvPr/>
            </p:nvCxnSpPr>
            <p:spPr bwMode="auto">
              <a:xfrm>
                <a:off x="9761638" y="6006499"/>
                <a:ext cx="9064" cy="298484"/>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7" name="直接箭头连接符 26"/>
              <p:cNvCxnSpPr/>
              <p:nvPr/>
            </p:nvCxnSpPr>
            <p:spPr bwMode="auto">
              <a:xfrm>
                <a:off x="6145469" y="6304983"/>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28" name="直接箭头连接符 27"/>
              <p:cNvCxnSpPr/>
              <p:nvPr/>
            </p:nvCxnSpPr>
            <p:spPr bwMode="auto">
              <a:xfrm>
                <a:off x="2390734"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29" name="直接箭头连接符 28"/>
              <p:cNvCxnSpPr/>
              <p:nvPr/>
            </p:nvCxnSpPr>
            <p:spPr bwMode="auto">
              <a:xfrm>
                <a:off x="2400796"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0" name="直接箭头连接符 29"/>
              <p:cNvCxnSpPr/>
              <p:nvPr/>
            </p:nvCxnSpPr>
            <p:spPr bwMode="auto">
              <a:xfrm>
                <a:off x="4815342" y="3713056"/>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1" name="直接箭头连接符 30"/>
              <p:cNvCxnSpPr/>
              <p:nvPr/>
            </p:nvCxnSpPr>
            <p:spPr bwMode="auto">
              <a:xfrm>
                <a:off x="4843990"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2" name="直接箭头连接符 31"/>
              <p:cNvCxnSpPr/>
              <p:nvPr/>
            </p:nvCxnSpPr>
            <p:spPr bwMode="auto">
              <a:xfrm>
                <a:off x="7359860"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3" name="直接箭头连接符 32"/>
              <p:cNvCxnSpPr/>
              <p:nvPr/>
            </p:nvCxnSpPr>
            <p:spPr bwMode="auto">
              <a:xfrm>
                <a:off x="7346644"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4" name="直接箭头连接符 33"/>
              <p:cNvCxnSpPr/>
              <p:nvPr/>
            </p:nvCxnSpPr>
            <p:spPr bwMode="auto">
              <a:xfrm>
                <a:off x="9769063"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5" name="直接箭头连接符 34"/>
              <p:cNvCxnSpPr/>
              <p:nvPr/>
            </p:nvCxnSpPr>
            <p:spPr bwMode="auto">
              <a:xfrm>
                <a:off x="9750093"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grpSp>
      </p:grpSp>
      <p:sp>
        <p:nvSpPr>
          <p:cNvPr id="3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lvl="0" indent="-1256030">
              <a:lnSpc>
                <a:spcPct val="100000"/>
              </a:lnSpc>
              <a:spcBef>
                <a:spcPts val="600"/>
              </a:spcBef>
              <a:buClrTx/>
            </a:pPr>
            <a:r>
              <a:rPr lang="en-US" altLang="zh-CN" sz="2000" noProof="1">
                <a:solidFill>
                  <a:srgbClr val="FF0000"/>
                </a:solidFill>
                <a:latin typeface="方正大黑简体" panose="02010601030101010101" pitchFamily="65" charset="-122"/>
                <a:ea typeface="方正大黑简体" panose="02010601030101010101" pitchFamily="65" charset="-122"/>
              </a:rPr>
              <a:t>1</a:t>
            </a:r>
            <a:r>
              <a:rPr lang="zh-CN" altLang="en-US" sz="2000" noProof="1">
                <a:solidFill>
                  <a:srgbClr val="FF0000"/>
                </a:solidFill>
                <a:latin typeface="方正大黑简体" panose="02010601030101010101" pitchFamily="65" charset="-122"/>
                <a:ea typeface="方正大黑简体" panose="02010601030101010101" pitchFamily="65" charset="-122"/>
              </a:rPr>
              <a:t>、项目研究技术路线</a:t>
            </a:r>
            <a:endParaRPr lang="zh-CN" altLang="en-US" sz="2000" noProof="1">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lvl="0" indent="-1256030">
              <a:lnSpc>
                <a:spcPct val="100000"/>
              </a:lnSpc>
              <a:spcBef>
                <a:spcPts val="600"/>
              </a:spcBef>
              <a:buClrTx/>
            </a:pPr>
            <a:r>
              <a:rPr lang="en-US" altLang="zh-CN" sz="2000" noProof="1">
                <a:solidFill>
                  <a:srgbClr val="FF0000"/>
                </a:solidFill>
                <a:latin typeface="方正大黑简体" panose="02010601030101010101" pitchFamily="65" charset="-122"/>
                <a:ea typeface="方正大黑简体" panose="02010601030101010101" pitchFamily="65" charset="-122"/>
              </a:rPr>
              <a:t>2</a:t>
            </a:r>
            <a:r>
              <a:rPr lang="zh-CN" altLang="en-US" sz="2000" noProof="1">
                <a:solidFill>
                  <a:srgbClr val="FF0000"/>
                </a:solidFill>
                <a:latin typeface="方正大黑简体" panose="02010601030101010101" pitchFamily="65" charset="-122"/>
                <a:ea typeface="方正大黑简体" panose="02010601030101010101" pitchFamily="65" charset="-122"/>
              </a:rPr>
              <a:t>、项目研究进度计划安排</a:t>
            </a:r>
            <a:endParaRPr lang="zh-CN" altLang="en-US" sz="2000" noProof="1">
              <a:solidFill>
                <a:srgbClr val="FF0000"/>
              </a:solidFill>
              <a:latin typeface="方正大黑简体" panose="02010601030101010101" pitchFamily="65" charset="-122"/>
              <a:ea typeface="方正大黑简体" panose="02010601030101010101" pitchFamily="65" charset="-122"/>
            </a:endParaRPr>
          </a:p>
        </p:txBody>
      </p:sp>
      <p:sp>
        <p:nvSpPr>
          <p:cNvPr id="1048805"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（二）项目研究进度计划安排</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graphicFrame>
        <p:nvGraphicFramePr>
          <p:cNvPr id="3" name="表格 2"/>
          <p:cNvGraphicFramePr>
            <a:graphicFrameLocks noGrp="1"/>
          </p:cNvGraphicFramePr>
          <p:nvPr/>
        </p:nvGraphicFramePr>
        <p:xfrm>
          <a:off x="407987" y="1418502"/>
          <a:ext cx="11591925" cy="5123774"/>
        </p:xfrm>
        <a:graphic>
          <a:graphicData uri="http://schemas.openxmlformats.org/drawingml/2006/table">
            <a:tbl>
              <a:tblPr/>
              <a:tblGrid>
                <a:gridCol w="521331"/>
                <a:gridCol w="2502386"/>
                <a:gridCol w="936104"/>
                <a:gridCol w="1023125"/>
                <a:gridCol w="357225"/>
                <a:gridCol w="357225"/>
                <a:gridCol w="357225"/>
                <a:gridCol w="357225"/>
                <a:gridCol w="357225"/>
                <a:gridCol w="357225"/>
                <a:gridCol w="357225"/>
                <a:gridCol w="342367"/>
                <a:gridCol w="342367"/>
                <a:gridCol w="342367"/>
                <a:gridCol w="342367"/>
                <a:gridCol w="342367"/>
                <a:gridCol w="342367"/>
                <a:gridCol w="342367"/>
                <a:gridCol w="342367"/>
                <a:gridCol w="342367"/>
                <a:gridCol w="342367"/>
                <a:gridCol w="342367"/>
                <a:gridCol w="342367"/>
              </a:tblGrid>
              <a:tr h="356652">
                <a:tc rowSpan="2">
                  <a:txBody>
                    <a:bodyPr/>
                    <a:lstStyle/>
                    <a:p>
                      <a:pPr algn="ctr" fontAlgn="ctr"/>
                      <a:r>
                        <a:rPr lang="zh-CN" altLang="en-US" sz="1600" b="1" i="0" u="none" strike="noStrike" dirty="0">
                          <a:solidFill>
                            <a:srgbClr val="000000"/>
                          </a:solidFill>
                          <a:effectLst/>
                          <a:latin typeface="微软雅黑" panose="020B0503020204020204" charset="-122"/>
                          <a:ea typeface="微软雅黑" panose="020B0503020204020204" charset="-122"/>
                        </a:rPr>
                        <a:t>序号</a:t>
                      </a:r>
                      <a:endParaRPr lang="zh-CN" altLang="en-US" sz="1600" b="1"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dirty="0">
                          <a:solidFill>
                            <a:srgbClr val="000000"/>
                          </a:solidFill>
                          <a:effectLst/>
                          <a:latin typeface="微软雅黑" panose="020B0503020204020204" charset="-122"/>
                          <a:ea typeface="微软雅黑" panose="020B0503020204020204" charset="-122"/>
                        </a:rPr>
                        <a:t>阶段名称</a:t>
                      </a:r>
                      <a:endParaRPr lang="zh-CN" altLang="en-US" sz="1600" b="1"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a:solidFill>
                            <a:srgbClr val="000000"/>
                          </a:solidFill>
                          <a:effectLst/>
                          <a:latin typeface="微软雅黑" panose="020B0503020204020204" charset="-122"/>
                          <a:ea typeface="微软雅黑" panose="020B0503020204020204" charset="-122"/>
                        </a:rPr>
                        <a:t>开始日期</a:t>
                      </a:r>
                      <a:endParaRPr lang="zh-CN" altLang="en-US" sz="1600" b="1" i="0" u="none" strike="noStrike">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a:solidFill>
                            <a:srgbClr val="000000"/>
                          </a:solidFill>
                          <a:effectLst/>
                          <a:latin typeface="微软雅黑" panose="020B0503020204020204" charset="-122"/>
                          <a:ea typeface="微软雅黑" panose="020B0503020204020204" charset="-122"/>
                        </a:rPr>
                        <a:t>结束日期</a:t>
                      </a:r>
                      <a:endParaRPr lang="zh-CN" altLang="en-US" sz="1600" b="1" i="0" u="none" strike="noStrike">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gridSpan="7">
                  <a:txBody>
                    <a:bodyPr/>
                    <a:lstStyle/>
                    <a:p>
                      <a:pPr algn="ctr" fontAlgn="ctr"/>
                      <a:r>
                        <a:rPr lang="en-US" altLang="zh-CN" sz="1600" b="1" i="0" u="none" strike="noStrike" dirty="0">
                          <a:solidFill>
                            <a:srgbClr val="000000"/>
                          </a:solidFill>
                          <a:effectLst/>
                          <a:latin typeface="微软雅黑" panose="020B0503020204020204" charset="-122"/>
                          <a:ea typeface="微软雅黑" panose="020B0503020204020204" charset="-122"/>
                        </a:rPr>
                        <a:t>2024</a:t>
                      </a:r>
                      <a:endParaRPr lang="en-US" altLang="zh-CN" sz="1600" b="1"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a:tc>
                <a:tc hMerge="1">
                  <a:tcPr/>
                </a:tc>
                <a:tc hMerge="1">
                  <a:tcPr/>
                </a:tc>
                <a:tc hMerge="1">
                  <a:tcPr/>
                </a:tc>
                <a:tc hMerge="1">
                  <a:tcPr/>
                </a:tc>
                <a:tc hMerge="1">
                  <a:tcPr/>
                </a:tc>
                <a:tc gridSpan="12">
                  <a:txBody>
                    <a:bodyPr/>
                    <a:lstStyle/>
                    <a:p>
                      <a:pPr algn="ctr" fontAlgn="ctr"/>
                      <a:r>
                        <a:rPr lang="en-US" altLang="zh-CN" sz="1600" b="1" i="0" u="none" strike="noStrike" dirty="0">
                          <a:solidFill>
                            <a:srgbClr val="000000"/>
                          </a:solidFill>
                          <a:effectLst/>
                          <a:latin typeface="微软雅黑" panose="020B0503020204020204" charset="-122"/>
                          <a:ea typeface="微软雅黑" panose="020B0503020204020204" charset="-122"/>
                        </a:rPr>
                        <a:t>2025</a:t>
                      </a:r>
                      <a:endParaRPr lang="en-US" altLang="zh-CN" sz="1600" b="1"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a:tc>
                <a:tc hMerge="1">
                  <a:tcPr/>
                </a:tc>
                <a:tc hMerge="1">
                  <a:tcPr/>
                </a:tc>
                <a:tc hMerge="1">
                  <a:tcPr/>
                </a:tc>
                <a:tc hMerge="1">
                  <a:tcPr/>
                </a:tc>
                <a:tc hMerge="1">
                  <a:tcPr/>
                </a:tc>
                <a:tc hMerge="1">
                  <a:tcPr/>
                </a:tc>
                <a:tc hMerge="1">
                  <a:tcPr/>
                </a:tc>
                <a:tc hMerge="1">
                  <a:tcPr/>
                </a:tc>
                <a:tc hMerge="1">
                  <a:tcPr/>
                </a:tc>
                <a:tc hMerge="1">
                  <a:tcPr/>
                </a:tc>
              </a:tr>
              <a:tr h="356652">
                <a:tc vMerge="1">
                  <a:tcPr/>
                </a:tc>
                <a:tc vMerge="1">
                  <a:tcPr/>
                </a:tc>
                <a:tc vMerge="1">
                  <a:tcPr/>
                </a:tc>
                <a:tc vMerge="1">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6</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7</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8</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9</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10</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11</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12</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2</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3</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4</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5</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6</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7</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8</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9</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10</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11</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charset="-122"/>
                          <a:ea typeface="微软雅黑" panose="020B0503020204020204" charset="-122"/>
                          <a:cs typeface="+mn-cs"/>
                        </a:rPr>
                        <a:t>12</a:t>
                      </a:r>
                      <a:endParaRPr lang="en-US" altLang="zh-CN" sz="1600" b="0" i="0" u="none" strike="noStrike" kern="1200" dirty="0">
                        <a:solidFill>
                          <a:srgbClr val="000000"/>
                        </a:solidFill>
                        <a:effectLst/>
                        <a:latin typeface="微软雅黑" panose="020B0503020204020204" charset="-122"/>
                        <a:ea typeface="微软雅黑" panose="020B050302020402020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r>
              <a:tr h="713305">
                <a:tc>
                  <a:txBody>
                    <a:bodyPr/>
                    <a:lstStyle/>
                    <a:p>
                      <a:pPr algn="ctr" fontAlgn="ctr"/>
                      <a:r>
                        <a:rPr lang="en-US" altLang="zh-CN" sz="1600" b="0" i="0" u="none" strike="noStrike">
                          <a:solidFill>
                            <a:srgbClr val="000000"/>
                          </a:solidFill>
                          <a:effectLst/>
                          <a:latin typeface="微软雅黑" panose="020B0503020204020204" charset="-122"/>
                          <a:ea typeface="微软雅黑" panose="020B0503020204020204" charset="-122"/>
                        </a:rPr>
                        <a:t>1</a:t>
                      </a:r>
                      <a:endParaRPr lang="en-US" altLang="zh-CN" sz="1600" b="0" i="0" u="none" strike="noStrike">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charset="-122"/>
                          <a:ea typeface="微软雅黑" panose="020B0503020204020204" charset="-122"/>
                        </a:rPr>
                        <a:t>进行项目前期调研、开题立项论证</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2024.05</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2024.06</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gridSpan="19">
                  <a:txBody>
                    <a:bodyPr/>
                    <a:lstStyle/>
                    <a:p>
                      <a:pPr algn="ctr" fontAlgn="ct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rowSpan="6" hMerge="1">
                  <a:tcPr/>
                </a:tc>
                <a:tc rowSpan="6" hMerge="1">
                  <a:tcPr/>
                </a:tc>
                <a:tc rowSpan="6" hMerge="1">
                  <a:tcPr/>
                </a:tc>
                <a:tc rowSpan="6" hMerge="1">
                  <a:tcPr/>
                </a:tc>
                <a:tc rowSpan="6" hMerge="1">
                  <a:tcPr/>
                </a:tc>
                <a:tc rowSpan="6" hMerge="1">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tc>
                <a:tc rowSpan="6" hMerge="1">
                  <a:tcPr/>
                </a:tc>
                <a:tc rowSpan="6" hMerge="1">
                  <a:tcPr/>
                </a:tc>
                <a:tc rowSpan="6" hMerge="1">
                  <a:tcPr/>
                </a:tc>
                <a:tc rowSpan="6" hMerge="1">
                  <a:tcPr/>
                </a:tc>
                <a:tc rowSpan="6" hMerge="1">
                  <a:tcPr/>
                </a:tc>
                <a:tc rowSpan="6" hMerge="1">
                  <a:tcPr/>
                </a:tc>
                <a:tc rowSpan="6" hMerge="1">
                  <a:tcPr/>
                </a:tc>
                <a:tc rowSpan="6" hMerge="1">
                  <a:tcPr/>
                </a:tc>
                <a:tc rowSpan="6" hMerge="1">
                  <a:tcPr/>
                </a:tc>
              </a:tr>
              <a:tr h="713305">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charset="-122"/>
                          <a:ea typeface="微软雅黑" panose="020B0503020204020204" charset="-122"/>
                        </a:rPr>
                        <a:t>收集整理压裂施工数据、汇总分析</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2024.06</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2024.09</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3</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charset="-122"/>
                          <a:ea typeface="微软雅黑" panose="020B0503020204020204" charset="-122"/>
                        </a:rPr>
                        <a:t>开展小波分解分析，明确施工压力响应特征规律</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微软雅黑" panose="020B0503020204020204" charset="-122"/>
                          <a:ea typeface="微软雅黑" panose="020B0503020204020204" charset="-122"/>
                        </a:rPr>
                        <a:t>2024.09</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微软雅黑" panose="020B0503020204020204" charset="-122"/>
                          <a:ea typeface="微软雅黑" panose="020B0503020204020204" charset="-122"/>
                        </a:rPr>
                        <a:t>2024.12</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820238">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4</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charset="-122"/>
                          <a:ea typeface="微软雅黑" panose="020B0503020204020204" charset="-122"/>
                        </a:rPr>
                        <a:t>建立</a:t>
                      </a:r>
                      <a:r>
                        <a:rPr lang="en-US" altLang="zh-CN" sz="1600" b="0" i="0" u="none" strike="noStrike" dirty="0">
                          <a:solidFill>
                            <a:srgbClr val="000000"/>
                          </a:solidFill>
                          <a:effectLst/>
                          <a:latin typeface="微软雅黑" panose="020B0503020204020204" charset="-122"/>
                          <a:ea typeface="微软雅黑" panose="020B0503020204020204" charset="-122"/>
                        </a:rPr>
                        <a:t>G</a:t>
                      </a:r>
                      <a:r>
                        <a:rPr lang="zh-CN" altLang="en-US" sz="1600" b="0" i="0" u="none" strike="noStrike" dirty="0">
                          <a:solidFill>
                            <a:srgbClr val="000000"/>
                          </a:solidFill>
                          <a:effectLst/>
                          <a:latin typeface="微软雅黑" panose="020B0503020204020204" charset="-122"/>
                          <a:ea typeface="微软雅黑" panose="020B0503020204020204" charset="-122"/>
                        </a:rPr>
                        <a:t>函数压降模型计算压后裂缝尺寸参数</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2024.12</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2025.04</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5</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微软雅黑" panose="020B0503020204020204" charset="-122"/>
                          <a:ea typeface="微软雅黑" panose="020B0503020204020204" charset="-122"/>
                        </a:rPr>
                        <a:t>构建“多源异构”数据库，明确页岩气井压裂施工主控因素</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2025.04</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2025.10</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a:solidFill>
                            <a:srgbClr val="000000"/>
                          </a:solidFill>
                          <a:effectLst/>
                          <a:latin typeface="微软雅黑" panose="020B0503020204020204" charset="-122"/>
                          <a:ea typeface="微软雅黑" panose="020B0503020204020204" charset="-122"/>
                        </a:rPr>
                        <a:t>6</a:t>
                      </a:r>
                      <a:endParaRPr lang="en-US" altLang="zh-CN" sz="1600" b="0" i="0" u="none" strike="noStrike">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微软雅黑" panose="020B0503020204020204" charset="-122"/>
                          <a:ea typeface="微软雅黑" panose="020B0503020204020204" charset="-122"/>
                        </a:rPr>
                        <a:t>分析和总结，完成结题工作</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2025.10</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charset="-122"/>
                          <a:ea typeface="微软雅黑" panose="020B0503020204020204" charset="-122"/>
                        </a:rPr>
                        <a:t>2025.12</a:t>
                      </a:r>
                      <a:endParaRPr lang="en-US" altLang="zh-CN" sz="1600" b="0" i="0" u="none" strike="noStrike" dirty="0">
                        <a:solidFill>
                          <a:srgbClr val="000000"/>
                        </a:solidFill>
                        <a:effectLst/>
                        <a:latin typeface="微软雅黑" panose="020B0503020204020204" charset="-122"/>
                        <a:ea typeface="微软雅黑" panose="020B050302020402020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bl>
          </a:graphicData>
        </a:graphic>
      </p:graphicFrame>
      <p:sp>
        <p:nvSpPr>
          <p:cNvPr id="14" name="矩形 13"/>
          <p:cNvSpPr/>
          <p:nvPr/>
        </p:nvSpPr>
        <p:spPr>
          <a:xfrm>
            <a:off x="5409213" y="2276872"/>
            <a:ext cx="326748"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2" name="矩形 1"/>
          <p:cNvSpPr/>
          <p:nvPr/>
        </p:nvSpPr>
        <p:spPr>
          <a:xfrm>
            <a:off x="5735960" y="2949846"/>
            <a:ext cx="108012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4" name="矩形 3"/>
          <p:cNvSpPr/>
          <p:nvPr/>
        </p:nvSpPr>
        <p:spPr>
          <a:xfrm>
            <a:off x="6816080" y="3622820"/>
            <a:ext cx="108012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5" name="矩形 4"/>
          <p:cNvSpPr/>
          <p:nvPr/>
        </p:nvSpPr>
        <p:spPr>
          <a:xfrm>
            <a:off x="7896200" y="4344943"/>
            <a:ext cx="1368152"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6" name="矩形 5"/>
          <p:cNvSpPr/>
          <p:nvPr/>
        </p:nvSpPr>
        <p:spPr>
          <a:xfrm>
            <a:off x="9264352" y="5184210"/>
            <a:ext cx="216024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7" name="矩形 6"/>
          <p:cNvSpPr/>
          <p:nvPr/>
        </p:nvSpPr>
        <p:spPr>
          <a:xfrm>
            <a:off x="11424592" y="5976298"/>
            <a:ext cx="575321"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en-US" altLang="zh-CN"/>
              <a:t>1</a:t>
            </a:r>
            <a:r>
              <a:rPr lang="zh-CN" altLang="en-US"/>
              <a:t>、《物理数据融合的井下压裂过程仿真与预警基础研究》</a:t>
            </a:r>
            <a:endParaRPr lang="zh-CN" altLang="en-US"/>
          </a:p>
          <a:p>
            <a:pPr algn="l"/>
            <a:r>
              <a:rPr lang="en-US" altLang="zh-CN"/>
              <a:t>2</a:t>
            </a:r>
            <a:r>
              <a:rPr lang="zh-CN" altLang="en-US"/>
              <a:t>、西南</a:t>
            </a:r>
            <a:r>
              <a:rPr lang="zh-CN" altLang="en-US"/>
              <a:t>开题</a:t>
            </a:r>
            <a:endParaRPr lang="zh-CN" altLang="en-US"/>
          </a:p>
          <a:p>
            <a:pPr algn="l"/>
            <a:r>
              <a:rPr lang="en-US" altLang="zh-CN">
                <a:solidFill>
                  <a:srgbClr val="FF0000"/>
                </a:solidFill>
              </a:rPr>
              <a:t>3</a:t>
            </a:r>
            <a:r>
              <a:rPr lang="zh-CN" altLang="en-US">
                <a:solidFill>
                  <a:srgbClr val="FF0000"/>
                </a:solidFill>
              </a:rPr>
              <a:t>、西南项目交流</a:t>
            </a:r>
            <a:endParaRPr lang="zh-CN" altLang="en-US">
              <a:solidFill>
                <a:srgbClr val="FF0000"/>
              </a:solidFill>
            </a:endParaRPr>
          </a:p>
          <a:p>
            <a:pPr algn="l"/>
            <a:r>
              <a:rPr lang="en-US" altLang="zh-CN"/>
              <a:t>4</a:t>
            </a:r>
            <a:r>
              <a:rPr lang="zh-CN" altLang="en-US"/>
              <a:t>、水击波</a:t>
            </a:r>
            <a:r>
              <a:rPr lang="zh-CN" altLang="en-US"/>
              <a:t>银川</a:t>
            </a:r>
            <a:endParaRPr lang="zh-CN" altLang="en-US"/>
          </a:p>
          <a:p>
            <a:pPr algn="l"/>
            <a:r>
              <a:rPr lang="zh-CN" altLang="en-US">
                <a:sym typeface="+mn-ea"/>
              </a:rPr>
              <a:t>5、西南中期答辩</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1524000" y="188913"/>
            <a:ext cx="91567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一、国内外研究方法现状</a:t>
            </a:r>
            <a:endParaRPr lang="zh-CN" altLang="en-US" sz="4000" dirty="0">
              <a:solidFill>
                <a:srgbClr val="FF0000"/>
              </a:solidFill>
              <a:latin typeface="黑体" panose="02010609060101010101" charset="-122"/>
              <a:ea typeface="黑体" panose="02010609060101010101" charset="-122"/>
            </a:endParaRPr>
          </a:p>
        </p:txBody>
      </p:sp>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研究方法调研</a:t>
            </a:r>
            <a:r>
              <a:rPr lang="en-US" altLang="zh-CN" sz="2800" dirty="0">
                <a:solidFill>
                  <a:srgbClr val="0000CC"/>
                </a:solidFill>
                <a:latin typeface="黑体" panose="02010609060101010101" charset="-122"/>
                <a:ea typeface="黑体" panose="02010609060101010101" charset="-122"/>
              </a:rPr>
              <a:t>—</a:t>
            </a:r>
            <a:r>
              <a:rPr lang="zh-CN" altLang="en-US" sz="2800" dirty="0">
                <a:solidFill>
                  <a:srgbClr val="FF0000"/>
                </a:solidFill>
                <a:latin typeface="黑体" panose="02010609060101010101" charset="-122"/>
                <a:ea typeface="黑体" panose="02010609060101010101" charset="-122"/>
              </a:rPr>
              <a:t>小波分析</a:t>
            </a:r>
            <a:endParaRPr lang="zh-CN" altLang="en-US" sz="2800" dirty="0">
              <a:solidFill>
                <a:srgbClr val="FF0000"/>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47637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sym typeface="+mn-ea"/>
              </a:rPr>
              <a:t>当前研究主要将小波分析应用于水力压裂处理的分析和解释，用于预测砂堵和裂缝扩展等事件。但均未阐明地层参数对小波响应的影响规律，以及处理参数与时间-频率域中压力信号的相互作用关系。</a:t>
            </a:r>
            <a:endParaRPr lang="zh-CN" altLang="en-US" sz="2000" dirty="0">
              <a:latin typeface="黑体" panose="02010609060101010101" charset="-122"/>
              <a:ea typeface="黑体" panose="02010609060101010101" charset="-122"/>
            </a:endParaRPr>
          </a:p>
        </p:txBody>
      </p:sp>
      <p:pic>
        <p:nvPicPr>
          <p:cNvPr id="2" name="图片 1"/>
          <p:cNvPicPr/>
          <p:nvPr/>
        </p:nvPicPr>
        <p:blipFill>
          <a:blip r:embed="rId1"/>
          <a:stretch>
            <a:fillRect/>
          </a:stretch>
        </p:blipFill>
        <p:spPr>
          <a:xfrm>
            <a:off x="1716405" y="3284538"/>
            <a:ext cx="2880000" cy="2952072"/>
          </a:xfrm>
          <a:prstGeom prst="rect">
            <a:avLst/>
          </a:prstGeom>
          <a:ln>
            <a:noFill/>
          </a:ln>
        </p:spPr>
      </p:pic>
      <p:sp>
        <p:nvSpPr>
          <p:cNvPr id="3" name="文本框 2"/>
          <p:cNvSpPr txBox="1"/>
          <p:nvPr/>
        </p:nvSpPr>
        <p:spPr>
          <a:xfrm>
            <a:off x="1710690" y="6237605"/>
            <a:ext cx="2886075" cy="306705"/>
          </a:xfrm>
          <a:prstGeom prst="rect">
            <a:avLst/>
          </a:prstGeom>
          <a:noFill/>
        </p:spPr>
        <p:txBody>
          <a:bodyPr wrap="square" rtlCol="0">
            <a:spAutoFit/>
          </a:bodyPr>
          <a:lstStyle/>
          <a:p>
            <a:pPr algn="ctr"/>
            <a:r>
              <a:rPr lang="zh-CN" altLang="en-US" sz="1400" dirty="0">
                <a:solidFill>
                  <a:srgbClr val="0000FF"/>
                </a:solidFill>
                <a:latin typeface="黑体" panose="02010609060101010101" charset="-122"/>
                <a:ea typeface="黑体" panose="02010609060101010101" charset="-122"/>
              </a:rPr>
              <a:t>不同应力差下小波能量曲线</a:t>
            </a:r>
            <a:endParaRPr lang="zh-CN" altLang="en-US" sz="1400" dirty="0">
              <a:solidFill>
                <a:srgbClr val="0000FF"/>
              </a:solidFill>
              <a:latin typeface="黑体" panose="02010609060101010101" charset="-122"/>
              <a:ea typeface="黑体" panose="02010609060101010101" charset="-122"/>
            </a:endParaRPr>
          </a:p>
        </p:txBody>
      </p:sp>
      <p:pic>
        <p:nvPicPr>
          <p:cNvPr id="4" name="图片 3"/>
          <p:cNvPicPr/>
          <p:nvPr/>
        </p:nvPicPr>
        <p:blipFill>
          <a:blip r:embed="rId2"/>
          <a:stretch>
            <a:fillRect/>
          </a:stretch>
        </p:blipFill>
        <p:spPr>
          <a:xfrm>
            <a:off x="4737735" y="3284538"/>
            <a:ext cx="2880000" cy="2952072"/>
          </a:xfrm>
          <a:prstGeom prst="rect">
            <a:avLst/>
          </a:prstGeom>
          <a:ln>
            <a:noFill/>
          </a:ln>
        </p:spPr>
      </p:pic>
      <p:sp>
        <p:nvSpPr>
          <p:cNvPr id="5" name="文本框 4"/>
          <p:cNvSpPr txBox="1"/>
          <p:nvPr/>
        </p:nvSpPr>
        <p:spPr>
          <a:xfrm>
            <a:off x="4737735" y="6248400"/>
            <a:ext cx="2879090" cy="306705"/>
          </a:xfrm>
          <a:prstGeom prst="rect">
            <a:avLst/>
          </a:prstGeom>
          <a:noFill/>
        </p:spPr>
        <p:txBody>
          <a:bodyPr wrap="square" rtlCol="0">
            <a:spAutoFit/>
          </a:bodyPr>
          <a:lstStyle/>
          <a:p>
            <a:pPr algn="ctr"/>
            <a:r>
              <a:rPr lang="zh-CN" altLang="en-US" sz="1400" dirty="0">
                <a:solidFill>
                  <a:srgbClr val="0000FF"/>
                </a:solidFill>
                <a:latin typeface="黑体" panose="02010609060101010101" charset="-122"/>
                <a:ea typeface="黑体" panose="02010609060101010101" charset="-122"/>
              </a:rPr>
              <a:t>不同弹性模量下小波能量曲线</a:t>
            </a:r>
            <a:endParaRPr lang="zh-CN" altLang="en-US" sz="1400" dirty="0">
              <a:solidFill>
                <a:srgbClr val="0000FF"/>
              </a:solidFill>
              <a:latin typeface="黑体" panose="02010609060101010101" charset="-122"/>
              <a:ea typeface="黑体" panose="02010609060101010101" charset="-122"/>
            </a:endParaRPr>
          </a:p>
        </p:txBody>
      </p:sp>
      <p:pic>
        <p:nvPicPr>
          <p:cNvPr id="6" name="图片 5"/>
          <p:cNvPicPr/>
          <p:nvPr/>
        </p:nvPicPr>
        <p:blipFill>
          <a:blip r:embed="rId3"/>
          <a:stretch>
            <a:fillRect/>
          </a:stretch>
        </p:blipFill>
        <p:spPr>
          <a:xfrm>
            <a:off x="7718425" y="3284538"/>
            <a:ext cx="2880000" cy="2952072"/>
          </a:xfrm>
          <a:prstGeom prst="rect">
            <a:avLst/>
          </a:prstGeom>
          <a:ln>
            <a:noFill/>
          </a:ln>
        </p:spPr>
      </p:pic>
      <p:sp>
        <p:nvSpPr>
          <p:cNvPr id="7" name="文本框 6"/>
          <p:cNvSpPr txBox="1"/>
          <p:nvPr/>
        </p:nvSpPr>
        <p:spPr>
          <a:xfrm>
            <a:off x="7717155" y="6248400"/>
            <a:ext cx="2891155" cy="306705"/>
          </a:xfrm>
          <a:prstGeom prst="rect">
            <a:avLst/>
          </a:prstGeom>
          <a:noFill/>
        </p:spPr>
        <p:txBody>
          <a:bodyPr wrap="square" rtlCol="0">
            <a:spAutoFit/>
          </a:bodyPr>
          <a:lstStyle/>
          <a:p>
            <a:pPr algn="ctr"/>
            <a:r>
              <a:rPr lang="zh-CN" altLang="en-US" sz="1400" dirty="0">
                <a:solidFill>
                  <a:srgbClr val="0000FF"/>
                </a:solidFill>
                <a:latin typeface="黑体" panose="02010609060101010101" charset="-122"/>
                <a:ea typeface="黑体" panose="02010609060101010101" charset="-122"/>
              </a:rPr>
              <a:t>变排量下压力降和小波峰值能量</a:t>
            </a:r>
            <a:endParaRPr lang="zh-CN" altLang="en-US" sz="1400" dirty="0">
              <a:solidFill>
                <a:srgbClr val="0000FF"/>
              </a:solidFill>
              <a:latin typeface="黑体" panose="02010609060101010101" charset="-122"/>
              <a:ea typeface="黑体" panose="02010609060101010101"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二、研究方案及研究方法</a:t>
            </a:r>
            <a:endParaRPr lang="zh-CN" altLang="en-US" sz="4000" dirty="0">
              <a:solidFill>
                <a:srgbClr val="FF0000"/>
              </a:solidFill>
              <a:latin typeface="黑体" panose="02010609060101010101" charset="-122"/>
              <a:ea typeface="黑体" panose="02010609060101010101" charset="-122"/>
            </a:endParaRPr>
          </a:p>
        </p:txBody>
      </p:sp>
      <p:sp>
        <p:nvSpPr>
          <p:cNvPr id="22" name="TextBox 2"/>
          <p:cNvSpPr txBox="1">
            <a:spLocks noChangeArrowheads="1"/>
          </p:cNvSpPr>
          <p:nvPr/>
        </p:nvSpPr>
        <p:spPr bwMode="auto">
          <a:xfrm>
            <a:off x="1536700" y="1034505"/>
            <a:ext cx="9144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400" dirty="0">
                <a:latin typeface="黑体" panose="02010609060101010101" charset="-122"/>
                <a:ea typeface="黑体" panose="02010609060101010101" charset="-122"/>
              </a:rPr>
              <a:t>研究方案</a:t>
            </a:r>
            <a:r>
              <a:rPr lang="en-US" altLang="zh-CN" sz="2400" dirty="0">
                <a:latin typeface="黑体" panose="02010609060101010101" charset="-122"/>
                <a:ea typeface="黑体" panose="02010609060101010101" charset="-122"/>
              </a:rPr>
              <a:t>—</a:t>
            </a:r>
            <a:r>
              <a:rPr lang="zh-CN" altLang="en-US" sz="2400" dirty="0">
                <a:solidFill>
                  <a:srgbClr val="0000CC"/>
                </a:solidFill>
                <a:latin typeface="黑体" panose="02010609060101010101" charset="-122"/>
                <a:ea typeface="黑体" panose="02010609060101010101" charset="-122"/>
              </a:rPr>
              <a:t>基于小波分析的水力压裂施工压力响应特征分析</a:t>
            </a:r>
            <a:endParaRPr lang="zh-CN" altLang="en-US" sz="24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198880"/>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400" dirty="0">
                <a:latin typeface="黑体" panose="02010609060101010101" charset="-122"/>
                <a:ea typeface="黑体" panose="02010609060101010101" charset="-122"/>
              </a:rPr>
              <a:t>建立水力压裂小波分解模型</a:t>
            </a:r>
            <a:endParaRPr lang="en-US" altLang="zh-CN" sz="24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400" dirty="0">
                <a:latin typeface="黑体" panose="02010609060101010101" charset="-122"/>
                <a:ea typeface="黑体" panose="02010609060101010101" charset="-122"/>
              </a:rPr>
              <a:t>施工压力响应特征规律分析</a:t>
            </a:r>
            <a:endParaRPr lang="en-US" altLang="zh-CN" sz="2400" dirty="0">
              <a:latin typeface="黑体" panose="02010609060101010101" charset="-122"/>
              <a:ea typeface="黑体" panose="02010609060101010101" charset="-122"/>
            </a:endParaRPr>
          </a:p>
        </p:txBody>
      </p:sp>
      <p:pic>
        <p:nvPicPr>
          <p:cNvPr id="27" name="图片 6"/>
          <p:cNvPicPr>
            <a:picLocks noChangeAspect="1" noChangeArrowheads="1"/>
          </p:cNvPicPr>
          <p:nvPr/>
        </p:nvPicPr>
        <p:blipFill>
          <a:blip r:embed="rId1">
            <a:extLst>
              <a:ext uri="{28A0092B-C50C-407E-A947-70E740481C1C}">
                <a14:useLocalDpi xmlns:a14="http://schemas.microsoft.com/office/drawing/2010/main" val="0"/>
              </a:ext>
            </a:extLst>
          </a:blip>
          <a:srcRect r="7117"/>
          <a:stretch>
            <a:fillRect/>
          </a:stretch>
        </p:blipFill>
        <p:spPr bwMode="auto">
          <a:xfrm>
            <a:off x="1775520" y="2996952"/>
            <a:ext cx="3899563" cy="282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27"/>
          <p:cNvPicPr>
            <a:picLocks noChangeAspect="1"/>
          </p:cNvPicPr>
          <p:nvPr/>
        </p:nvPicPr>
        <p:blipFill>
          <a:blip r:embed="rId2"/>
          <a:stretch>
            <a:fillRect/>
          </a:stretch>
        </p:blipFill>
        <p:spPr>
          <a:xfrm>
            <a:off x="5807968" y="2996952"/>
            <a:ext cx="4782666" cy="3013521"/>
          </a:xfrm>
          <a:prstGeom prst="rect">
            <a:avLst/>
          </a:prstGeom>
        </p:spPr>
      </p:pic>
      <p:sp>
        <p:nvSpPr>
          <p:cNvPr id="29" name="文本框 6"/>
          <p:cNvSpPr txBox="1"/>
          <p:nvPr/>
        </p:nvSpPr>
        <p:spPr>
          <a:xfrm>
            <a:off x="7162571" y="6247626"/>
            <a:ext cx="2621280" cy="337185"/>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600" dirty="0">
                <a:solidFill>
                  <a:srgbClr val="0000FF"/>
                </a:solidFill>
                <a:latin typeface="黑体" panose="02010609060101010101" charset="-122"/>
                <a:ea typeface="黑体" panose="02010609060101010101" charset="-122"/>
              </a:rPr>
              <a:t>现场案例小波分析解释成果</a:t>
            </a:r>
            <a:endParaRPr lang="zh-CN" altLang="en-US" sz="1600" dirty="0">
              <a:solidFill>
                <a:srgbClr val="0000FF"/>
              </a:solidFill>
              <a:latin typeface="黑体" panose="02010609060101010101" charset="-122"/>
              <a:ea typeface="黑体" panose="02010609060101010101" charset="-122"/>
            </a:endParaRPr>
          </a:p>
        </p:txBody>
      </p:sp>
      <p:sp>
        <p:nvSpPr>
          <p:cNvPr id="30" name="文本框 6"/>
          <p:cNvSpPr txBox="1"/>
          <p:nvPr/>
        </p:nvSpPr>
        <p:spPr>
          <a:xfrm>
            <a:off x="2908922" y="6186071"/>
            <a:ext cx="1605280" cy="337185"/>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600" dirty="0">
                <a:solidFill>
                  <a:srgbClr val="0000FF"/>
                </a:solidFill>
                <a:latin typeface="黑体" panose="02010609060101010101" charset="-122"/>
                <a:ea typeface="黑体" panose="02010609060101010101" charset="-122"/>
              </a:rPr>
              <a:t>小波分析流程图</a:t>
            </a:r>
            <a:endParaRPr lang="zh-CN" altLang="en-US" sz="1600" dirty="0">
              <a:solidFill>
                <a:srgbClr val="0000FF"/>
              </a:solidFill>
              <a:latin typeface="黑体" panose="02010609060101010101" charset="-122"/>
              <a:ea typeface="黑体" panose="0201060906010101010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数据分析</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31950" y="1556792"/>
            <a:ext cx="8928100" cy="2399665"/>
          </a:xfrm>
          <a:prstGeom prst="rect">
            <a:avLst/>
          </a:prstGeom>
          <a:noFill/>
        </p:spPr>
        <p:txBody>
          <a:bodyPr wrap="square">
            <a:spAutoFit/>
          </a:bodyPr>
          <a:lstStyle/>
          <a:p>
            <a:pPr marL="285750" indent="-285750" algn="just">
              <a:lnSpc>
                <a:spcPct val="150000"/>
              </a:lnSpc>
              <a:buClr>
                <a:srgbClr val="FF0000"/>
              </a:buClr>
              <a:buFont typeface="Wingdings" panose="05000000000000000000" pitchFamily="2" charset="2"/>
              <a:buChar char="p"/>
            </a:pPr>
            <a:r>
              <a:rPr lang="zh-CN" altLang="en-US" sz="2000" dirty="0">
                <a:latin typeface="黑体" panose="02010609060101010101" charset="-122"/>
                <a:ea typeface="黑体" panose="02010609060101010101" charset="-122"/>
              </a:rPr>
              <a:t>采集了不同区块典型井数据</a:t>
            </a:r>
            <a:endParaRPr lang="en-US" altLang="zh-CN" sz="20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包括泸</a:t>
            </a:r>
            <a:r>
              <a:rPr lang="en-US" altLang="zh-CN" sz="2000" dirty="0">
                <a:latin typeface="黑体" panose="02010609060101010101" charset="-122"/>
                <a:ea typeface="黑体" panose="02010609060101010101" charset="-122"/>
              </a:rPr>
              <a:t>203</a:t>
            </a:r>
            <a:r>
              <a:rPr lang="zh-CN" altLang="en-US" sz="2000" dirty="0">
                <a:latin typeface="黑体" panose="02010609060101010101" charset="-122"/>
                <a:ea typeface="黑体" panose="02010609060101010101" charset="-122"/>
              </a:rPr>
              <a:t>井区、阳</a:t>
            </a:r>
            <a:r>
              <a:rPr lang="en-US" altLang="zh-CN" sz="2000" dirty="0">
                <a:latin typeface="黑体" panose="02010609060101010101" charset="-122"/>
                <a:ea typeface="黑体" panose="02010609060101010101" charset="-122"/>
              </a:rPr>
              <a:t>101</a:t>
            </a:r>
            <a:r>
              <a:rPr lang="zh-CN" altLang="en-US" sz="2000" dirty="0">
                <a:latin typeface="黑体" panose="02010609060101010101" charset="-122"/>
                <a:ea typeface="黑体" panose="02010609060101010101" charset="-122"/>
              </a:rPr>
              <a:t>井区、自贡、足</a:t>
            </a:r>
            <a:r>
              <a:rPr lang="en-US" altLang="zh-CN" sz="2000" dirty="0">
                <a:latin typeface="黑体" panose="02010609060101010101" charset="-122"/>
                <a:ea typeface="黑体" panose="02010609060101010101" charset="-122"/>
              </a:rPr>
              <a:t>2013</a:t>
            </a:r>
            <a:r>
              <a:rPr lang="zh-CN" altLang="en-US" sz="2000" dirty="0">
                <a:latin typeface="黑体" panose="02010609060101010101" charset="-122"/>
                <a:ea typeface="黑体" panose="02010609060101010101" charset="-122"/>
              </a:rPr>
              <a:t>井区、黄</a:t>
            </a:r>
            <a:r>
              <a:rPr lang="en-US" altLang="zh-CN" sz="2000" dirty="0">
                <a:latin typeface="黑体" panose="02010609060101010101" charset="-122"/>
                <a:ea typeface="黑体" panose="02010609060101010101" charset="-122"/>
              </a:rPr>
              <a:t>202</a:t>
            </a:r>
            <a:r>
              <a:rPr lang="zh-CN" altLang="en-US" sz="2000" dirty="0">
                <a:latin typeface="黑体" panose="02010609060101010101" charset="-122"/>
                <a:ea typeface="黑体" panose="02010609060101010101" charset="-122"/>
              </a:rPr>
              <a:t>井区</a:t>
            </a:r>
            <a:endParaRPr lang="zh-CN" altLang="en-US" sz="2000" dirty="0">
              <a:latin typeface="黑体" panose="02010609060101010101" charset="-122"/>
              <a:ea typeface="黑体" panose="02010609060101010101" charset="-122"/>
            </a:endParaRPr>
          </a:p>
          <a:p>
            <a:pPr marL="285750" indent="-28575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压前数据：试油地质设计</a:t>
            </a:r>
            <a:endParaRPr lang="en-US" altLang="zh-CN" sz="2000" dirty="0">
              <a:latin typeface="黑体" panose="02010609060101010101" charset="-122"/>
              <a:ea typeface="黑体" panose="02010609060101010101" charset="-122"/>
            </a:endParaRPr>
          </a:p>
          <a:p>
            <a:pPr marL="285750" indent="-28575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压中数据：压裂施工数据</a:t>
            </a:r>
            <a:endParaRPr lang="zh-CN" altLang="en-US" sz="2000" dirty="0">
              <a:latin typeface="黑体" panose="02010609060101010101" charset="-122"/>
              <a:ea typeface="黑体" panose="02010609060101010101" charset="-122"/>
            </a:endParaRPr>
          </a:p>
          <a:p>
            <a:pPr marL="285750" indent="-28575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压后数据：监测数据（微地震解释结果）</a:t>
            </a:r>
            <a:endParaRPr lang="zh-CN" altLang="en-US" sz="2000" dirty="0">
              <a:latin typeface="黑体" panose="02010609060101010101" charset="-122"/>
              <a:ea typeface="黑体" panose="02010609060101010101" charset="-122"/>
            </a:endParaRPr>
          </a:p>
        </p:txBody>
      </p:sp>
      <p:graphicFrame>
        <p:nvGraphicFramePr>
          <p:cNvPr id="6" name="表格 5"/>
          <p:cNvGraphicFramePr/>
          <p:nvPr>
            <p:custDataLst>
              <p:tags r:id="rId1"/>
            </p:custDataLst>
          </p:nvPr>
        </p:nvGraphicFramePr>
        <p:xfrm>
          <a:off x="1851660" y="4249648"/>
          <a:ext cx="8488680" cy="2103120"/>
        </p:xfrm>
        <a:graphic>
          <a:graphicData uri="http://schemas.openxmlformats.org/drawingml/2006/table">
            <a:tbl>
              <a:tblPr firstRow="1" bandRow="1"/>
              <a:tblGrid>
                <a:gridCol w="2829560"/>
                <a:gridCol w="2829560"/>
                <a:gridCol w="2829560"/>
              </a:tblGrid>
              <a:tr h="525780">
                <a:tc>
                  <a:txBody>
                    <a:bodyPr/>
                    <a:lstStyle/>
                    <a:p>
                      <a:pPr algn="ctr">
                        <a:buNone/>
                      </a:pPr>
                      <a:r>
                        <a:rPr lang="zh-CN" altLang="en-US" sz="1800" dirty="0">
                          <a:latin typeface="黑体" panose="02010609060101010101" charset="-122"/>
                          <a:ea typeface="黑体" panose="02010609060101010101" charset="-122"/>
                        </a:rPr>
                        <a:t>阶段</a:t>
                      </a:r>
                      <a:endParaRPr lang="zh-CN" altLang="en-US" sz="1800" dirty="0">
                        <a:latin typeface="黑体" panose="02010609060101010101" charset="-122"/>
                        <a:ea typeface="黑体" panose="02010609060101010101" charset="-122"/>
                      </a:endParaRPr>
                    </a:p>
                  </a:txBody>
                  <a:tcPr/>
                </a:tc>
                <a:tc>
                  <a:txBody>
                    <a:bodyPr/>
                    <a:lstStyle/>
                    <a:p>
                      <a:pPr algn="ctr">
                        <a:buNone/>
                      </a:pPr>
                      <a:r>
                        <a:rPr lang="zh-CN" altLang="en-US" sz="1800" dirty="0">
                          <a:latin typeface="黑体" panose="02010609060101010101" charset="-122"/>
                          <a:ea typeface="黑体" panose="02010609060101010101" charset="-122"/>
                        </a:rPr>
                        <a:t>类型</a:t>
                      </a:r>
                      <a:endParaRPr lang="zh-CN" altLang="en-US" sz="1800" dirty="0">
                        <a:latin typeface="黑体" panose="02010609060101010101" charset="-122"/>
                        <a:ea typeface="黑体" panose="02010609060101010101" charset="-122"/>
                      </a:endParaRPr>
                    </a:p>
                  </a:txBody>
                  <a:tcPr/>
                </a:tc>
                <a:tc>
                  <a:txBody>
                    <a:bodyPr/>
                    <a:lstStyle/>
                    <a:p>
                      <a:pPr algn="ctr">
                        <a:buNone/>
                      </a:pPr>
                      <a:r>
                        <a:rPr lang="zh-CN" altLang="en-US" sz="1800">
                          <a:latin typeface="黑体" panose="02010609060101010101" charset="-122"/>
                          <a:ea typeface="黑体" panose="02010609060101010101" charset="-122"/>
                        </a:rPr>
                        <a:t>数量</a:t>
                      </a:r>
                      <a:endParaRPr lang="zh-CN" altLang="en-US" sz="1800">
                        <a:latin typeface="黑体" panose="02010609060101010101" charset="-122"/>
                        <a:ea typeface="黑体" panose="02010609060101010101" charset="-122"/>
                      </a:endParaRPr>
                    </a:p>
                  </a:txBody>
                  <a:tcPr/>
                </a:tc>
              </a:tr>
              <a:tr h="525780">
                <a:tc>
                  <a:txBody>
                    <a:bodyPr/>
                    <a:lstStyle/>
                    <a:p>
                      <a:pPr algn="ctr">
                        <a:buNone/>
                      </a:pPr>
                      <a:r>
                        <a:rPr lang="zh-CN" altLang="en-US" sz="1800">
                          <a:latin typeface="黑体" panose="02010609060101010101" charset="-122"/>
                          <a:ea typeface="黑体" panose="02010609060101010101" charset="-122"/>
                        </a:rPr>
                        <a:t>压前数据</a:t>
                      </a:r>
                      <a:endParaRPr lang="zh-CN" altLang="en-US" sz="1800">
                        <a:latin typeface="黑体" panose="02010609060101010101" charset="-122"/>
                        <a:ea typeface="黑体" panose="02010609060101010101" charset="-122"/>
                      </a:endParaRPr>
                    </a:p>
                  </a:txBody>
                  <a:tcPr/>
                </a:tc>
                <a:tc>
                  <a:txBody>
                    <a:bodyPr/>
                    <a:lstStyle/>
                    <a:p>
                      <a:pPr algn="ctr">
                        <a:buNone/>
                      </a:pPr>
                      <a:r>
                        <a:rPr lang="zh-CN" altLang="en-US" sz="1800" dirty="0">
                          <a:solidFill>
                            <a:srgbClr val="000000"/>
                          </a:solidFill>
                          <a:latin typeface="黑体" panose="02010609060101010101" charset="-122"/>
                          <a:ea typeface="黑体" panose="02010609060101010101" charset="-122"/>
                          <a:sym typeface="+mn-ea"/>
                        </a:rPr>
                        <a:t>试油地质设计</a:t>
                      </a:r>
                      <a:endParaRPr lang="zh-CN" altLang="en-US" sz="1800" dirty="0">
                        <a:solidFill>
                          <a:srgbClr val="000000"/>
                        </a:solidFill>
                        <a:latin typeface="黑体" panose="02010609060101010101" charset="-122"/>
                        <a:ea typeface="黑体" panose="02010609060101010101" charset="-122"/>
                        <a:sym typeface="+mn-ea"/>
                      </a:endParaRPr>
                    </a:p>
                  </a:txBody>
                  <a:tcPr/>
                </a:tc>
                <a:tc>
                  <a:txBody>
                    <a:bodyPr/>
                    <a:lstStyle/>
                    <a:p>
                      <a:pPr algn="ctr">
                        <a:buNone/>
                      </a:pPr>
                      <a:r>
                        <a:rPr lang="en-US" altLang="zh-CN" sz="1800" dirty="0">
                          <a:latin typeface="黑体" panose="02010609060101010101" charset="-122"/>
                          <a:ea typeface="黑体" panose="02010609060101010101" charset="-122"/>
                        </a:rPr>
                        <a:t>93</a:t>
                      </a:r>
                      <a:endParaRPr lang="en-US" altLang="zh-CN" sz="1800" dirty="0">
                        <a:latin typeface="黑体" panose="02010609060101010101" charset="-122"/>
                        <a:ea typeface="黑体" panose="02010609060101010101" charset="-122"/>
                      </a:endParaRPr>
                    </a:p>
                  </a:txBody>
                  <a:tcPr/>
                </a:tc>
              </a:tr>
              <a:tr h="525780">
                <a:tc>
                  <a:txBody>
                    <a:bodyPr/>
                    <a:lstStyle/>
                    <a:p>
                      <a:pPr algn="ctr">
                        <a:buNone/>
                      </a:pPr>
                      <a:r>
                        <a:rPr lang="zh-CN" altLang="en-US" sz="1800">
                          <a:latin typeface="黑体" panose="02010609060101010101" charset="-122"/>
                          <a:ea typeface="黑体" panose="02010609060101010101" charset="-122"/>
                        </a:rPr>
                        <a:t>压中数据</a:t>
                      </a:r>
                      <a:endParaRPr lang="zh-CN" altLang="en-US" sz="1800">
                        <a:latin typeface="黑体" panose="02010609060101010101" charset="-122"/>
                        <a:ea typeface="黑体" panose="02010609060101010101" charset="-122"/>
                      </a:endParaRPr>
                    </a:p>
                  </a:txBody>
                  <a:tcPr/>
                </a:tc>
                <a:tc>
                  <a:txBody>
                    <a:bodyPr/>
                    <a:lstStyle/>
                    <a:p>
                      <a:pPr algn="ctr">
                        <a:buNone/>
                      </a:pPr>
                      <a:r>
                        <a:rPr lang="zh-CN" altLang="en-US" sz="1800" dirty="0">
                          <a:solidFill>
                            <a:srgbClr val="000000"/>
                          </a:solidFill>
                          <a:latin typeface="黑体" panose="02010609060101010101" charset="-122"/>
                          <a:ea typeface="黑体" panose="02010609060101010101" charset="-122"/>
                          <a:sym typeface="+mn-ea"/>
                        </a:rPr>
                        <a:t>压裂施工数据</a:t>
                      </a:r>
                      <a:endParaRPr lang="zh-CN" altLang="en-US" sz="1800" dirty="0">
                        <a:solidFill>
                          <a:srgbClr val="000000"/>
                        </a:solidFill>
                        <a:latin typeface="黑体" panose="02010609060101010101" charset="-122"/>
                        <a:ea typeface="黑体" panose="02010609060101010101" charset="-122"/>
                        <a:sym typeface="+mn-ea"/>
                      </a:endParaRPr>
                    </a:p>
                  </a:txBody>
                  <a:tcPr/>
                </a:tc>
                <a:tc>
                  <a:txBody>
                    <a:bodyPr/>
                    <a:lstStyle/>
                    <a:p>
                      <a:pPr algn="ctr">
                        <a:buNone/>
                      </a:pPr>
                      <a:r>
                        <a:rPr lang="en-US" altLang="zh-CN" sz="1800" dirty="0">
                          <a:latin typeface="黑体" panose="02010609060101010101" charset="-122"/>
                          <a:ea typeface="黑体" panose="02010609060101010101" charset="-122"/>
                        </a:rPr>
                        <a:t>986</a:t>
                      </a:r>
                      <a:endParaRPr lang="en-US" altLang="zh-CN" sz="1800" dirty="0">
                        <a:latin typeface="黑体" panose="02010609060101010101" charset="-122"/>
                        <a:ea typeface="黑体" panose="02010609060101010101" charset="-122"/>
                      </a:endParaRPr>
                    </a:p>
                  </a:txBody>
                  <a:tcPr/>
                </a:tc>
              </a:tr>
              <a:tr h="525780">
                <a:tc>
                  <a:txBody>
                    <a:bodyPr/>
                    <a:lstStyle/>
                    <a:p>
                      <a:pPr algn="ctr">
                        <a:buNone/>
                      </a:pPr>
                      <a:r>
                        <a:rPr lang="zh-CN" altLang="en-US" sz="1800">
                          <a:latin typeface="黑体" panose="02010609060101010101" charset="-122"/>
                          <a:ea typeface="黑体" panose="02010609060101010101" charset="-122"/>
                        </a:rPr>
                        <a:t>压后数据</a:t>
                      </a:r>
                      <a:endParaRPr lang="zh-CN" altLang="en-US" sz="1800">
                        <a:latin typeface="黑体" panose="02010609060101010101" charset="-122"/>
                        <a:ea typeface="黑体" panose="02010609060101010101" charset="-122"/>
                      </a:endParaRPr>
                    </a:p>
                  </a:txBody>
                  <a:tcPr/>
                </a:tc>
                <a:tc>
                  <a:txBody>
                    <a:bodyPr/>
                    <a:lstStyle/>
                    <a:p>
                      <a:pPr algn="ctr">
                        <a:buNone/>
                      </a:pPr>
                      <a:r>
                        <a:rPr lang="zh-CN" altLang="en-US" sz="1800">
                          <a:solidFill>
                            <a:srgbClr val="000000"/>
                          </a:solidFill>
                          <a:latin typeface="黑体" panose="02010609060101010101" charset="-122"/>
                          <a:ea typeface="黑体" panose="02010609060101010101" charset="-122"/>
                          <a:sym typeface="+mn-ea"/>
                        </a:rPr>
                        <a:t>微地震解释结果</a:t>
                      </a:r>
                      <a:endParaRPr lang="zh-CN" altLang="en-US" sz="1800">
                        <a:solidFill>
                          <a:srgbClr val="000000"/>
                        </a:solidFill>
                        <a:latin typeface="黑体" panose="02010609060101010101" charset="-122"/>
                        <a:ea typeface="黑体" panose="02010609060101010101" charset="-122"/>
                        <a:sym typeface="+mn-ea"/>
                      </a:endParaRPr>
                    </a:p>
                  </a:txBody>
                  <a:tcPr/>
                </a:tc>
                <a:tc>
                  <a:txBody>
                    <a:bodyPr/>
                    <a:lstStyle/>
                    <a:p>
                      <a:pPr algn="ctr">
                        <a:buNone/>
                      </a:pPr>
                      <a:r>
                        <a:rPr lang="en-US" altLang="zh-CN" sz="1800" dirty="0">
                          <a:latin typeface="黑体" panose="02010609060101010101" charset="-122"/>
                          <a:ea typeface="黑体" panose="02010609060101010101" charset="-122"/>
                        </a:rPr>
                        <a:t>269</a:t>
                      </a:r>
                      <a:endParaRPr lang="en-US" altLang="zh-CN" sz="1800" dirty="0">
                        <a:latin typeface="黑体" panose="02010609060101010101" charset="-122"/>
                        <a:ea typeface="黑体" panose="02010609060101010101" charset="-122"/>
                      </a:endParaRPr>
                    </a:p>
                  </a:txBody>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小波分析原理</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31950" y="1556792"/>
            <a:ext cx="8928100" cy="239966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水力压裂中的压力信号受多种复杂因素的影响，其信号</a:t>
            </a:r>
            <a:r>
              <a:rPr lang="zh-CN" altLang="en-US" sz="2000" dirty="0">
                <a:solidFill>
                  <a:srgbClr val="FF0000"/>
                </a:solidFill>
                <a:latin typeface="黑体" panose="02010609060101010101" charset="-122"/>
                <a:ea typeface="黑体" panose="02010609060101010101" charset="-122"/>
              </a:rPr>
              <a:t>是非平稳</a:t>
            </a:r>
            <a:r>
              <a:rPr lang="zh-CN" altLang="en-US" sz="2000" dirty="0">
                <a:latin typeface="黑体" panose="02010609060101010101" charset="-122"/>
                <a:ea typeface="黑体" panose="02010609060101010101" charset="-122"/>
              </a:rPr>
              <a:t>的、</a:t>
            </a:r>
            <a:r>
              <a:rPr lang="zh-CN" altLang="en-US" sz="2000" dirty="0">
                <a:solidFill>
                  <a:srgbClr val="FF0000"/>
                </a:solidFill>
                <a:latin typeface="黑体" panose="02010609060101010101" charset="-122"/>
                <a:ea typeface="黑体" panose="02010609060101010101" charset="-122"/>
              </a:rPr>
              <a:t>瞬态</a:t>
            </a:r>
            <a:r>
              <a:rPr lang="zh-CN" altLang="en-US" sz="2000" dirty="0">
                <a:latin typeface="黑体" panose="02010609060101010101" charset="-122"/>
                <a:ea typeface="黑体" panose="02010609060101010101" charset="-122"/>
              </a:rPr>
              <a:t>的在不同的频率下包含着不同的信息。</a:t>
            </a:r>
            <a:endParaRPr lang="en-US" altLang="zh-CN" sz="20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小波分析又称“放大镜”，相比于傅里叶变换和短时傅里叶变换，其具有很好的</a:t>
            </a:r>
            <a:r>
              <a:rPr lang="zh-CN" altLang="en-US" sz="2000" dirty="0">
                <a:solidFill>
                  <a:srgbClr val="FF0000"/>
                </a:solidFill>
                <a:latin typeface="黑体" panose="02010609060101010101" charset="-122"/>
                <a:ea typeface="黑体" panose="02010609060101010101" charset="-122"/>
              </a:rPr>
              <a:t>时间和频率局部化分析能力</a:t>
            </a:r>
            <a:r>
              <a:rPr lang="zh-CN" altLang="en-US" sz="2000" dirty="0">
                <a:latin typeface="黑体" panose="02010609060101010101" charset="-122"/>
                <a:ea typeface="黑体" panose="02010609060101010101" charset="-122"/>
              </a:rPr>
              <a:t>，且能够自动适应时频信号分析的要求，</a:t>
            </a:r>
            <a:r>
              <a:rPr lang="zh-CN" altLang="en-US" sz="2000" dirty="0">
                <a:solidFill>
                  <a:srgbClr val="FF0000"/>
                </a:solidFill>
                <a:latin typeface="黑体" panose="02010609060101010101" charset="-122"/>
                <a:ea typeface="黑体" panose="02010609060101010101" charset="-122"/>
              </a:rPr>
              <a:t>聚焦到信号的任意细节</a:t>
            </a:r>
            <a:r>
              <a:rPr lang="zh-CN" altLang="en-US" sz="2000" dirty="0">
                <a:latin typeface="黑体" panose="02010609060101010101" charset="-122"/>
                <a:ea typeface="黑体" panose="02010609060101010101" charset="-122"/>
              </a:rPr>
              <a:t>，通过小波基的平移和缩放</a:t>
            </a:r>
            <a:r>
              <a:rPr lang="zh-CN" altLang="en-US" sz="2000" dirty="0">
                <a:solidFill>
                  <a:srgbClr val="FF0000"/>
                </a:solidFill>
                <a:latin typeface="黑体" panose="02010609060101010101" charset="-122"/>
                <a:ea typeface="黑体" panose="02010609060101010101" charset="-122"/>
              </a:rPr>
              <a:t>实现对信号的多尺度分解</a:t>
            </a:r>
            <a:r>
              <a:rPr lang="zh-CN" altLang="en-US" sz="2000" dirty="0">
                <a:latin typeface="黑体" panose="02010609060101010101" charset="-122"/>
                <a:ea typeface="黑体" panose="02010609060101010101" charset="-122"/>
              </a:rPr>
              <a:t>。</a:t>
            </a:r>
            <a:endParaRPr lang="en-US" altLang="zh-CN" sz="2000" dirty="0">
              <a:latin typeface="黑体" panose="02010609060101010101" charset="-122"/>
              <a:ea typeface="黑体" panose="02010609060101010101" charset="-122"/>
            </a:endParaRPr>
          </a:p>
        </p:txBody>
      </p:sp>
      <p:sp>
        <p:nvSpPr>
          <p:cNvPr id="17"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pic>
        <p:nvPicPr>
          <p:cNvPr id="1026" name="Picture 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6240016" y="3904627"/>
            <a:ext cx="4198192" cy="2465732"/>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p:cNvPicPr>
          <p:nvPr/>
        </p:nvPicPr>
        <p:blipFill>
          <a:blip r:embed="rId2"/>
          <a:stretch>
            <a:fillRect/>
          </a:stretch>
        </p:blipFill>
        <p:spPr>
          <a:xfrm>
            <a:off x="1991544" y="3931458"/>
            <a:ext cx="3528392" cy="2438901"/>
          </a:xfrm>
          <a:prstGeom prst="rect">
            <a:avLst/>
          </a:prstGeom>
        </p:spPr>
      </p:pic>
      <p:sp>
        <p:nvSpPr>
          <p:cNvPr id="24" name="文本框 23"/>
          <p:cNvSpPr txBox="1"/>
          <p:nvPr/>
        </p:nvSpPr>
        <p:spPr>
          <a:xfrm>
            <a:off x="1919536" y="6454854"/>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对原始信号的小波分解</a:t>
            </a:r>
            <a:endParaRPr lang="zh-CN" altLang="en-US" sz="1600" dirty="0">
              <a:latin typeface="黑体" panose="02010609060101010101" charset="-122"/>
              <a:ea typeface="黑体" panose="02010609060101010101" charset="-122"/>
            </a:endParaRPr>
          </a:p>
        </p:txBody>
      </p:sp>
      <p:sp>
        <p:nvSpPr>
          <p:cNvPr id="13" name="矩形 12"/>
          <p:cNvSpPr/>
          <p:nvPr/>
        </p:nvSpPr>
        <p:spPr>
          <a:xfrm>
            <a:off x="3503712" y="6201410"/>
            <a:ext cx="2088232" cy="168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312604" y="6454854"/>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小波变换计算</a:t>
            </a:r>
            <a:endParaRPr lang="zh-CN" altLang="en-US" sz="1600" dirty="0">
              <a:latin typeface="黑体" panose="02010609060101010101" charset="-122"/>
              <a:ea typeface="黑体" panose="02010609060101010101"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离散小波变换原理</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31950" y="1556792"/>
            <a:ext cx="8928100" cy="239966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小波分析包括连续小波和离散小波两种变换。对于施工压力信号而言，压力是一个连续的过程，由于采集器的因素往往是以一定的时间间隔进行采样，因此研究采用</a:t>
            </a:r>
            <a:r>
              <a:rPr lang="zh-CN" altLang="en-US" sz="2000" dirty="0">
                <a:solidFill>
                  <a:srgbClr val="FF0000"/>
                </a:solidFill>
                <a:latin typeface="黑体" panose="02010609060101010101" charset="-122"/>
                <a:ea typeface="黑体" panose="02010609060101010101" charset="-122"/>
              </a:rPr>
              <a:t>离散小波变换</a:t>
            </a:r>
            <a:r>
              <a:rPr lang="zh-CN" altLang="en-US" sz="2000" dirty="0">
                <a:latin typeface="黑体" panose="02010609060101010101" charset="-122"/>
                <a:ea typeface="黑体" panose="02010609060101010101" charset="-122"/>
              </a:rPr>
              <a:t>对信号进行分析。</a:t>
            </a:r>
            <a:endParaRPr lang="en-US" altLang="zh-CN" sz="20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离散小波变换的原理是通过一系列的</a:t>
            </a:r>
            <a:r>
              <a:rPr lang="zh-CN" altLang="en-US" sz="2000" dirty="0">
                <a:solidFill>
                  <a:srgbClr val="FF0000"/>
                </a:solidFill>
                <a:latin typeface="黑体" panose="02010609060101010101" charset="-122"/>
                <a:ea typeface="黑体" panose="02010609060101010101" charset="-122"/>
              </a:rPr>
              <a:t>高通</a:t>
            </a:r>
            <a:r>
              <a:rPr lang="zh-CN" altLang="en-US" sz="2000" dirty="0">
                <a:latin typeface="黑体" panose="02010609060101010101" charset="-122"/>
                <a:ea typeface="黑体" panose="02010609060101010101" charset="-122"/>
              </a:rPr>
              <a:t>和</a:t>
            </a:r>
            <a:r>
              <a:rPr lang="zh-CN" altLang="en-US" sz="2000" dirty="0">
                <a:solidFill>
                  <a:srgbClr val="FF0000"/>
                </a:solidFill>
                <a:latin typeface="黑体" panose="02010609060101010101" charset="-122"/>
                <a:ea typeface="黑体" panose="02010609060101010101" charset="-122"/>
              </a:rPr>
              <a:t>低通</a:t>
            </a:r>
            <a:r>
              <a:rPr lang="zh-CN" altLang="en-US" sz="2000" dirty="0">
                <a:latin typeface="黑体" panose="02010609060101010101" charset="-122"/>
                <a:ea typeface="黑体" panose="02010609060101010101" charset="-122"/>
              </a:rPr>
              <a:t>滤波器不断对信号进行分解从而获得信号的高频分量和低频分量</a:t>
            </a:r>
            <a:endParaRPr lang="en-US" altLang="zh-CN" sz="2000" dirty="0">
              <a:latin typeface="黑体" panose="02010609060101010101" charset="-122"/>
              <a:ea typeface="黑体" panose="02010609060101010101" charset="-122"/>
            </a:endParaRPr>
          </a:p>
        </p:txBody>
      </p:sp>
      <p:sp>
        <p:nvSpPr>
          <p:cNvPr id="17"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pic>
        <p:nvPicPr>
          <p:cNvPr id="2" name="图片 1"/>
          <p:cNvPicPr>
            <a:picLocks noChangeAspect="1"/>
          </p:cNvPicPr>
          <p:nvPr/>
        </p:nvPicPr>
        <p:blipFill>
          <a:blip r:embed="rId1"/>
          <a:stretch>
            <a:fillRect/>
          </a:stretch>
        </p:blipFill>
        <p:spPr>
          <a:xfrm>
            <a:off x="1789648" y="4007301"/>
            <a:ext cx="4219636" cy="2447553"/>
          </a:xfrm>
          <a:prstGeom prst="rect">
            <a:avLst/>
          </a:prstGeom>
        </p:spPr>
      </p:pic>
      <p:sp>
        <p:nvSpPr>
          <p:cNvPr id="6" name="文本框 5"/>
          <p:cNvSpPr txBox="1"/>
          <p:nvPr/>
        </p:nvSpPr>
        <p:spPr>
          <a:xfrm>
            <a:off x="1919536" y="6454854"/>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离散小波的的多级分解</a:t>
            </a:r>
            <a:endParaRPr lang="zh-CN" altLang="en-US" sz="1600" dirty="0">
              <a:latin typeface="黑体" panose="02010609060101010101" charset="-122"/>
              <a:ea typeface="黑体" panose="02010609060101010101" charset="-122"/>
            </a:endParaRPr>
          </a:p>
        </p:txBody>
      </p:sp>
      <p:pic>
        <p:nvPicPr>
          <p:cNvPr id="3" name="图片 2"/>
          <p:cNvPicPr>
            <a:picLocks noChangeAspect="1"/>
          </p:cNvPicPr>
          <p:nvPr/>
        </p:nvPicPr>
        <p:blipFill rotWithShape="1">
          <a:blip r:embed="rId2"/>
          <a:srcRect b="61271"/>
          <a:stretch>
            <a:fillRect/>
          </a:stretch>
        </p:blipFill>
        <p:spPr>
          <a:xfrm>
            <a:off x="6066579" y="4018410"/>
            <a:ext cx="4498262" cy="2425333"/>
          </a:xfrm>
          <a:prstGeom prst="rect">
            <a:avLst/>
          </a:prstGeom>
        </p:spPr>
      </p:pic>
      <p:sp>
        <p:nvSpPr>
          <p:cNvPr id="18" name="文本框 17"/>
          <p:cNvSpPr txBox="1"/>
          <p:nvPr/>
        </p:nvSpPr>
        <p:spPr>
          <a:xfrm>
            <a:off x="6335780" y="6494369"/>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离散小波分解过程</a:t>
            </a:r>
            <a:endParaRPr lang="zh-CN" altLang="en-US" sz="1600" dirty="0">
              <a:latin typeface="黑体" panose="02010609060101010101" charset="-122"/>
              <a:ea typeface="黑体" panose="02010609060101010101"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离散小波变换原理</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47637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离散小波变换分解信号的高频分量表示不连续性和奇异性，而低频分量表示原始信号的粗略近似（细节系数、近似系数）。离散小波变换的结果就是将信号的总能量进行保存，并分解为不同的分辨率级别。</a:t>
            </a:r>
            <a:endParaRPr lang="zh-CN" altLang="en-US" sz="2000" dirty="0">
              <a:latin typeface="黑体" panose="02010609060101010101" charset="-122"/>
              <a:ea typeface="黑体" panose="02010609060101010101" charset="-122"/>
            </a:endParaRPr>
          </a:p>
        </p:txBody>
      </p:sp>
      <p:pic>
        <p:nvPicPr>
          <p:cNvPr id="2" name="图片 1"/>
          <p:cNvPicPr>
            <a:picLocks noChangeAspect="1"/>
          </p:cNvPicPr>
          <p:nvPr/>
        </p:nvPicPr>
        <p:blipFill>
          <a:blip r:embed="rId1"/>
          <a:stretch>
            <a:fillRect/>
          </a:stretch>
        </p:blipFill>
        <p:spPr>
          <a:xfrm>
            <a:off x="2247900" y="3020103"/>
            <a:ext cx="3590444" cy="1600200"/>
          </a:xfrm>
          <a:prstGeom prst="rect">
            <a:avLst/>
          </a:prstGeom>
        </p:spPr>
      </p:pic>
      <p:pic>
        <p:nvPicPr>
          <p:cNvPr id="4" name="图片 3"/>
          <p:cNvPicPr>
            <a:picLocks noChangeAspect="1"/>
          </p:cNvPicPr>
          <p:nvPr/>
        </p:nvPicPr>
        <p:blipFill>
          <a:blip r:embed="rId2"/>
          <a:stretch>
            <a:fillRect/>
          </a:stretch>
        </p:blipFill>
        <p:spPr>
          <a:xfrm>
            <a:off x="3380378" y="4728571"/>
            <a:ext cx="2127209" cy="1815783"/>
          </a:xfrm>
          <a:prstGeom prst="rect">
            <a:avLst/>
          </a:prstGeom>
        </p:spPr>
      </p:pic>
      <p:sp>
        <p:nvSpPr>
          <p:cNvPr id="5" name="文本框 4"/>
          <p:cNvSpPr txBox="1"/>
          <p:nvPr>
            <p:custDataLst>
              <p:tags r:id="rId3"/>
            </p:custDataLst>
          </p:nvPr>
        </p:nvSpPr>
        <p:spPr>
          <a:xfrm>
            <a:off x="5165984" y="3183572"/>
            <a:ext cx="1488440" cy="337185"/>
          </a:xfrm>
          <a:prstGeom prst="rect">
            <a:avLst/>
          </a:prstGeom>
          <a:noFill/>
        </p:spPr>
        <p:txBody>
          <a:bodyPr wrap="square" rtlCol="0">
            <a:spAutoFit/>
          </a:bodyPr>
          <a:lstStyle/>
          <a:p>
            <a:pPr algn="r"/>
            <a:r>
              <a:rPr lang="zh-CN" altLang="en-US" sz="1600" b="1" dirty="0">
                <a:solidFill>
                  <a:srgbClr val="3E3FFC"/>
                </a:solidFill>
              </a:rPr>
              <a:t>细节系数</a:t>
            </a:r>
            <a:endParaRPr lang="zh-CN" altLang="en-US" sz="1600" b="1" dirty="0">
              <a:solidFill>
                <a:srgbClr val="3E3FFC"/>
              </a:solidFill>
            </a:endParaRPr>
          </a:p>
        </p:txBody>
      </p:sp>
      <p:sp>
        <p:nvSpPr>
          <p:cNvPr id="7" name="文本框 6"/>
          <p:cNvSpPr txBox="1"/>
          <p:nvPr>
            <p:custDataLst>
              <p:tags r:id="rId4"/>
            </p:custDataLst>
          </p:nvPr>
        </p:nvSpPr>
        <p:spPr>
          <a:xfrm>
            <a:off x="5158894" y="3780473"/>
            <a:ext cx="1488440" cy="337185"/>
          </a:xfrm>
          <a:prstGeom prst="rect">
            <a:avLst/>
          </a:prstGeom>
          <a:noFill/>
        </p:spPr>
        <p:txBody>
          <a:bodyPr wrap="square" rtlCol="0">
            <a:spAutoFit/>
          </a:bodyPr>
          <a:lstStyle/>
          <a:p>
            <a:pPr algn="r"/>
            <a:r>
              <a:rPr lang="zh-CN" altLang="en-US" sz="1600" b="1">
                <a:solidFill>
                  <a:srgbClr val="3E3FFC"/>
                </a:solidFill>
              </a:rPr>
              <a:t>近似系数</a:t>
            </a:r>
            <a:endParaRPr lang="zh-CN" altLang="en-US" sz="1600" b="1">
              <a:solidFill>
                <a:srgbClr val="3E3FFC"/>
              </a:solidFill>
            </a:endParaRPr>
          </a:p>
        </p:txBody>
      </p:sp>
      <p:sp>
        <p:nvSpPr>
          <p:cNvPr id="9" name="文本框 8"/>
          <p:cNvSpPr txBox="1"/>
          <p:nvPr>
            <p:custDataLst>
              <p:tags r:id="rId5"/>
            </p:custDataLst>
          </p:nvPr>
        </p:nvSpPr>
        <p:spPr>
          <a:xfrm>
            <a:off x="4766945" y="4315848"/>
            <a:ext cx="2049135" cy="337185"/>
          </a:xfrm>
          <a:prstGeom prst="rect">
            <a:avLst/>
          </a:prstGeom>
          <a:noFill/>
        </p:spPr>
        <p:txBody>
          <a:bodyPr wrap="square" rtlCol="0">
            <a:spAutoFit/>
          </a:bodyPr>
          <a:lstStyle/>
          <a:p>
            <a:r>
              <a:rPr lang="zh-CN" altLang="en-US" sz="1600" b="1" dirty="0">
                <a:solidFill>
                  <a:srgbClr val="3E3FFC"/>
                </a:solidFill>
              </a:rPr>
              <a:t>最大理论分解级数</a:t>
            </a:r>
            <a:endParaRPr lang="zh-CN" altLang="en-US" sz="1600" b="1" dirty="0">
              <a:solidFill>
                <a:srgbClr val="3E3FFC"/>
              </a:solidFill>
            </a:endParaRPr>
          </a:p>
        </p:txBody>
      </p:sp>
      <p:sp>
        <p:nvSpPr>
          <p:cNvPr id="10" name="文本框 9"/>
          <p:cNvSpPr txBox="1"/>
          <p:nvPr/>
        </p:nvSpPr>
        <p:spPr>
          <a:xfrm>
            <a:off x="2193607" y="4877478"/>
            <a:ext cx="1579245" cy="337185"/>
          </a:xfrm>
          <a:prstGeom prst="rect">
            <a:avLst/>
          </a:prstGeom>
          <a:noFill/>
        </p:spPr>
        <p:txBody>
          <a:bodyPr wrap="square" rtlCol="0">
            <a:spAutoFit/>
          </a:bodyPr>
          <a:lstStyle/>
          <a:p>
            <a:r>
              <a:rPr lang="zh-CN" altLang="en-US" sz="1600" b="1" dirty="0">
                <a:solidFill>
                  <a:srgbClr val="3E3FFC"/>
                </a:solidFill>
              </a:rPr>
              <a:t>信号总能量</a:t>
            </a:r>
            <a:endParaRPr lang="zh-CN" altLang="en-US" sz="1600" b="1" dirty="0">
              <a:solidFill>
                <a:srgbClr val="3E3FFC"/>
              </a:solidFill>
            </a:endParaRPr>
          </a:p>
        </p:txBody>
      </p:sp>
      <p:sp>
        <p:nvSpPr>
          <p:cNvPr id="12" name="文本框 11"/>
          <p:cNvSpPr txBox="1"/>
          <p:nvPr/>
        </p:nvSpPr>
        <p:spPr>
          <a:xfrm>
            <a:off x="2324100" y="5487670"/>
            <a:ext cx="1169035" cy="337185"/>
          </a:xfrm>
          <a:prstGeom prst="rect">
            <a:avLst/>
          </a:prstGeom>
          <a:noFill/>
        </p:spPr>
        <p:txBody>
          <a:bodyPr wrap="square" rtlCol="0">
            <a:spAutoFit/>
          </a:bodyPr>
          <a:lstStyle/>
          <a:p>
            <a:r>
              <a:rPr lang="zh-CN" altLang="en-US" sz="1600" b="1" dirty="0">
                <a:solidFill>
                  <a:srgbClr val="3E3FFC"/>
                </a:solidFill>
              </a:rPr>
              <a:t>细节能量</a:t>
            </a:r>
            <a:endParaRPr lang="zh-CN" altLang="en-US" sz="1600" b="1" dirty="0">
              <a:solidFill>
                <a:srgbClr val="3E3FFC"/>
              </a:solidFill>
            </a:endParaRPr>
          </a:p>
        </p:txBody>
      </p:sp>
      <p:sp>
        <p:nvSpPr>
          <p:cNvPr id="15" name="文本框 14"/>
          <p:cNvSpPr txBox="1"/>
          <p:nvPr/>
        </p:nvSpPr>
        <p:spPr>
          <a:xfrm>
            <a:off x="2324100" y="6021705"/>
            <a:ext cx="1095375" cy="337185"/>
          </a:xfrm>
          <a:prstGeom prst="rect">
            <a:avLst/>
          </a:prstGeom>
          <a:noFill/>
        </p:spPr>
        <p:txBody>
          <a:bodyPr wrap="square" rtlCol="0">
            <a:spAutoFit/>
          </a:bodyPr>
          <a:lstStyle/>
          <a:p>
            <a:r>
              <a:rPr lang="zh-CN" altLang="en-US" sz="1600" b="1" dirty="0">
                <a:solidFill>
                  <a:srgbClr val="3E3FFC"/>
                </a:solidFill>
              </a:rPr>
              <a:t>近似能量</a:t>
            </a:r>
            <a:endParaRPr lang="zh-CN" altLang="en-US" sz="1600" b="1" dirty="0">
              <a:solidFill>
                <a:srgbClr val="3E3FFC"/>
              </a:solidFill>
            </a:endParaRPr>
          </a:p>
        </p:txBody>
      </p:sp>
      <p:sp>
        <p:nvSpPr>
          <p:cNvPr id="21" name="上弧形箭头 35"/>
          <p:cNvSpPr/>
          <p:nvPr/>
        </p:nvSpPr>
        <p:spPr bwMode="auto">
          <a:xfrm rot="5400000" flipV="1">
            <a:off x="770890" y="4293870"/>
            <a:ext cx="242189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30" name="上弧形箭头 35"/>
          <p:cNvSpPr/>
          <p:nvPr/>
        </p:nvSpPr>
        <p:spPr bwMode="auto">
          <a:xfrm rot="5400000" flipV="1">
            <a:off x="796358" y="4856412"/>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pic>
        <p:nvPicPr>
          <p:cNvPr id="6" name="图片 5" descr="图片1"/>
          <p:cNvPicPr/>
          <p:nvPr/>
        </p:nvPicPr>
        <p:blipFill>
          <a:blip r:embed="rId6"/>
          <a:srcRect t="13188"/>
          <a:stretch>
            <a:fillRect/>
          </a:stretch>
        </p:blipFill>
        <p:spPr>
          <a:xfrm>
            <a:off x="7236450" y="3077478"/>
            <a:ext cx="3025775" cy="1800000"/>
          </a:xfrm>
          <a:prstGeom prst="rect">
            <a:avLst/>
          </a:prstGeom>
        </p:spPr>
      </p:pic>
      <p:pic>
        <p:nvPicPr>
          <p:cNvPr id="8" name="图片 7" descr="图片2"/>
          <p:cNvPicPr>
            <a:picLocks noChangeAspect="1"/>
          </p:cNvPicPr>
          <p:nvPr/>
        </p:nvPicPr>
        <p:blipFill>
          <a:blip r:embed="rId7"/>
          <a:stretch>
            <a:fillRect/>
          </a:stretch>
        </p:blipFill>
        <p:spPr>
          <a:xfrm>
            <a:off x="7236449" y="4921789"/>
            <a:ext cx="3025775" cy="1827872"/>
          </a:xfrm>
          <a:prstGeom prst="rect">
            <a:avLst/>
          </a:prstGeom>
        </p:spPr>
      </p:pic>
      <p:sp>
        <p:nvSpPr>
          <p:cNvPr id="17"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小波分解层次优选</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23566" y="1556792"/>
            <a:ext cx="8897386" cy="2584450"/>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dirty="0">
                <a:latin typeface="Times New Roman" panose="02020603050405020304" pitchFamily="18" charset="0"/>
                <a:ea typeface="黑体" panose="02010609060101010101" charset="-122"/>
                <a:cs typeface="Times New Roman" panose="02020603050405020304" pitchFamily="18" charset="0"/>
              </a:rPr>
              <a:t>水力压裂过程中</a:t>
            </a:r>
            <a:r>
              <a:rPr lang="zh-CN" altLang="en-US" dirty="0">
                <a:solidFill>
                  <a:srgbClr val="FF0000"/>
                </a:solidFill>
                <a:latin typeface="Times New Roman" panose="02020603050405020304" pitchFamily="18" charset="0"/>
                <a:ea typeface="黑体" panose="02010609060101010101" charset="-122"/>
                <a:cs typeface="Times New Roman" panose="02020603050405020304" pitchFamily="18" charset="0"/>
              </a:rPr>
              <a:t>裂缝的正常延伸代表流量正常</a:t>
            </a:r>
            <a:r>
              <a:rPr lang="zh-CN" altLang="en-US" dirty="0">
                <a:latin typeface="Times New Roman" panose="02020603050405020304" pitchFamily="18" charset="0"/>
                <a:ea typeface="黑体" panose="02010609060101010101" charset="-122"/>
                <a:cs typeface="Times New Roman" panose="02020603050405020304" pitchFamily="18" charset="0"/>
              </a:rPr>
              <a:t>，而异常事件的出现代表异常流量或结束，</a:t>
            </a:r>
            <a:r>
              <a:rPr lang="zh-CN" altLang="en-US" dirty="0">
                <a:solidFill>
                  <a:srgbClr val="FF0000"/>
                </a:solidFill>
                <a:latin typeface="Times New Roman" panose="02020603050405020304" pitchFamily="18" charset="0"/>
                <a:ea typeface="黑体" panose="02010609060101010101" charset="-122"/>
                <a:cs typeface="Times New Roman" panose="02020603050405020304" pitchFamily="18" charset="0"/>
              </a:rPr>
              <a:t>小波峰值能量可以用来反映压力曲线上的异常波动</a:t>
            </a:r>
            <a:endParaRPr lang="en-US" altLang="zh-CN"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a:p>
            <a:pPr marL="342900" indent="-342900" algn="just">
              <a:lnSpc>
                <a:spcPct val="150000"/>
              </a:lnSpc>
              <a:buClr>
                <a:srgbClr val="FF0000"/>
              </a:buClr>
              <a:buFont typeface="Wingdings" panose="05000000000000000000" pitchFamily="2" charset="2"/>
              <a:buChar char="Ø"/>
            </a:pPr>
            <a:r>
              <a:rPr lang="zh-CN" altLang="en-US" dirty="0">
                <a:solidFill>
                  <a:srgbClr val="FF0000"/>
                </a:solidFill>
                <a:latin typeface="Times New Roman" panose="02020603050405020304" pitchFamily="18" charset="0"/>
                <a:ea typeface="黑体" panose="02010609060101010101" charset="-122"/>
                <a:cs typeface="Times New Roman" panose="02020603050405020304" pitchFamily="18" charset="0"/>
              </a:rPr>
              <a:t>采用小波能量方差分析</a:t>
            </a:r>
            <a:r>
              <a:rPr lang="zh-CN" altLang="en-US" dirty="0">
                <a:latin typeface="Times New Roman" panose="02020603050405020304" pitchFamily="18" charset="0"/>
                <a:ea typeface="黑体" panose="02010609060101010101" charset="-122"/>
                <a:cs typeface="Times New Roman" panose="02020603050405020304" pitchFamily="18" charset="0"/>
              </a:rPr>
              <a:t>定量描述不同分解层次下小波能量响应中的事件识别效果以及最佳识别层次，通过比较某时刻小波能量偏离一定时窗内均值的程度来定量判断是否发生了异常</a:t>
            </a:r>
            <a:r>
              <a:rPr lang="en-US" altLang="zh-CN" dirty="0">
                <a:latin typeface="Times New Roman" panose="02020603050405020304" pitchFamily="18" charset="0"/>
                <a:ea typeface="黑体" panose="02010609060101010101" charset="-122"/>
                <a:cs typeface="Times New Roman" panose="02020603050405020304" pitchFamily="18" charset="0"/>
              </a:rPr>
              <a:t>(</a:t>
            </a:r>
            <a:r>
              <a:rPr lang="zh-CN" altLang="en-US" dirty="0">
                <a:latin typeface="Times New Roman" panose="02020603050405020304" pitchFamily="18" charset="0"/>
                <a:ea typeface="黑体" panose="02010609060101010101" charset="-122"/>
                <a:cs typeface="Times New Roman" panose="02020603050405020304" pitchFamily="18" charset="0"/>
              </a:rPr>
              <a:t>在流量正常时 </a:t>
            </a:r>
            <a:r>
              <a:rPr lang="en-US" altLang="zh-CN" dirty="0">
                <a:latin typeface="Times New Roman" panose="02020603050405020304" pitchFamily="18" charset="0"/>
                <a:ea typeface="黑体" panose="02010609060101010101" charset="-122"/>
                <a:cs typeface="Times New Roman" panose="02020603050405020304" pitchFamily="18" charset="0"/>
              </a:rPr>
              <a:t>P </a:t>
            </a:r>
            <a:r>
              <a:rPr lang="zh-CN" altLang="en-US" dirty="0">
                <a:latin typeface="Times New Roman" panose="02020603050405020304" pitchFamily="18" charset="0"/>
                <a:ea typeface="黑体" panose="02010609060101010101" charset="-122"/>
                <a:cs typeface="Times New Roman" panose="02020603050405020304" pitchFamily="18" charset="0"/>
              </a:rPr>
              <a:t>值较小，一般小于 </a:t>
            </a:r>
            <a:r>
              <a:rPr lang="en-US" altLang="zh-CN" dirty="0">
                <a:latin typeface="Times New Roman" panose="02020603050405020304" pitchFamily="18" charset="0"/>
                <a:ea typeface="黑体" panose="02010609060101010101" charset="-122"/>
                <a:cs typeface="Times New Roman" panose="02020603050405020304" pitchFamily="18" charset="0"/>
              </a:rPr>
              <a:t>1</a:t>
            </a:r>
            <a:r>
              <a:rPr lang="zh-CN" altLang="en-US" dirty="0">
                <a:latin typeface="Times New Roman" panose="02020603050405020304" pitchFamily="18" charset="0"/>
                <a:ea typeface="黑体" panose="02010609060101010101" charset="-122"/>
                <a:cs typeface="Times New Roman" panose="02020603050405020304" pitchFamily="18" charset="0"/>
              </a:rPr>
              <a:t>；如果 </a:t>
            </a:r>
            <a:r>
              <a:rPr lang="en-US" altLang="zh-CN" dirty="0">
                <a:latin typeface="Times New Roman" panose="02020603050405020304" pitchFamily="18" charset="0"/>
                <a:ea typeface="黑体" panose="02010609060101010101" charset="-122"/>
                <a:cs typeface="Times New Roman" panose="02020603050405020304" pitchFamily="18" charset="0"/>
              </a:rPr>
              <a:t>P </a:t>
            </a:r>
            <a:r>
              <a:rPr lang="zh-CN" altLang="en-US" dirty="0">
                <a:latin typeface="Times New Roman" panose="02020603050405020304" pitchFamily="18" charset="0"/>
                <a:ea typeface="黑体" panose="02010609060101010101" charset="-122"/>
                <a:cs typeface="Times New Roman" panose="02020603050405020304" pitchFamily="18" charset="0"/>
              </a:rPr>
              <a:t>值超过 </a:t>
            </a:r>
            <a:r>
              <a:rPr lang="en-US" altLang="zh-CN" dirty="0">
                <a:latin typeface="Times New Roman" panose="02020603050405020304" pitchFamily="18" charset="0"/>
                <a:ea typeface="黑体" panose="02010609060101010101" charset="-122"/>
                <a:cs typeface="Times New Roman" panose="02020603050405020304" pitchFamily="18" charset="0"/>
              </a:rPr>
              <a:t>2</a:t>
            </a:r>
            <a:r>
              <a:rPr lang="zh-CN" altLang="en-US" dirty="0">
                <a:latin typeface="Times New Roman" panose="02020603050405020304" pitchFamily="18" charset="0"/>
                <a:ea typeface="黑体" panose="02010609060101010101" charset="-122"/>
                <a:cs typeface="Times New Roman" panose="02020603050405020304" pitchFamily="18" charset="0"/>
              </a:rPr>
              <a:t>，认为有异常流量发生或结束</a:t>
            </a:r>
            <a:r>
              <a:rPr lang="en-US" altLang="zh-CN" dirty="0">
                <a:latin typeface="Times New Roman" panose="02020603050405020304" pitchFamily="18" charset="0"/>
                <a:ea typeface="黑体" panose="02010609060101010101" charset="-122"/>
                <a:cs typeface="Times New Roman" panose="02020603050405020304" pitchFamily="18" charset="0"/>
              </a:rPr>
              <a:t>)</a:t>
            </a:r>
            <a:endParaRPr lang="en-US" altLang="zh-CN" dirty="0">
              <a:latin typeface="Times New Roman" panose="02020603050405020304" pitchFamily="18" charset="0"/>
              <a:ea typeface="黑体" panose="02010609060101010101" charset="-122"/>
              <a:cs typeface="Times New Roman" panose="02020603050405020304" pitchFamily="18" charset="0"/>
            </a:endParaRPr>
          </a:p>
        </p:txBody>
      </p:sp>
      <p:sp>
        <p:nvSpPr>
          <p:cNvPr id="17"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pic>
        <p:nvPicPr>
          <p:cNvPr id="2049" name="图片 6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4913" y="4089537"/>
            <a:ext cx="4413746" cy="253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图片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1986" y="4149080"/>
            <a:ext cx="4368966" cy="240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p:cNvSpPr txBox="1"/>
          <p:nvPr/>
        </p:nvSpPr>
        <p:spPr>
          <a:xfrm>
            <a:off x="1671048" y="6519446"/>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 不同分解层次下的小波能量曲线</a:t>
            </a:r>
            <a:endParaRPr lang="zh-CN" altLang="en-US" sz="1600" dirty="0">
              <a:latin typeface="黑体" panose="02010609060101010101" charset="-122"/>
              <a:ea typeface="黑体" panose="02010609060101010101" charset="-122"/>
            </a:endParaRPr>
          </a:p>
        </p:txBody>
      </p:sp>
      <p:sp>
        <p:nvSpPr>
          <p:cNvPr id="18" name="文本框 17"/>
          <p:cNvSpPr txBox="1"/>
          <p:nvPr/>
        </p:nvSpPr>
        <p:spPr>
          <a:xfrm>
            <a:off x="6289875" y="6519446"/>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不同分解层次下的小波能量方差比</a:t>
            </a:r>
            <a:endParaRPr lang="zh-CN" altLang="en-US" sz="1600" dirty="0">
              <a:latin typeface="黑体" panose="02010609060101010101" charset="-122"/>
              <a:ea typeface="黑体" panose="02010609060101010101" charset="-122"/>
            </a:endParaRPr>
          </a:p>
        </p:txBody>
      </p:sp>
      <p:sp>
        <p:nvSpPr>
          <p:cNvPr id="12" name="文本框 11"/>
          <p:cNvSpPr txBox="1"/>
          <p:nvPr/>
        </p:nvSpPr>
        <p:spPr>
          <a:xfrm>
            <a:off x="6842224" y="3773059"/>
            <a:ext cx="3934296" cy="275590"/>
          </a:xfrm>
          <a:prstGeom prst="rect">
            <a:avLst/>
          </a:prstGeom>
          <a:noFill/>
        </p:spPr>
        <p:txBody>
          <a:bodyPr wrap="square" rtlCol="0">
            <a:spAutoFit/>
          </a:bodyPr>
          <a:lstStyle/>
          <a:p>
            <a:r>
              <a:rPr lang="en-US" altLang="zh-CN" sz="1200" b="0" i="1" dirty="0">
                <a:solidFill>
                  <a:srgbClr val="000000"/>
                </a:solidFill>
                <a:effectLst/>
                <a:latin typeface="TimesNewRomanPS-ItalicMT"/>
              </a:rPr>
              <a:t>x</a:t>
            </a:r>
            <a:r>
              <a:rPr lang="en-US" altLang="zh-CN" sz="1200" b="0" i="0" dirty="0">
                <a:solidFill>
                  <a:srgbClr val="000000"/>
                </a:solidFill>
                <a:effectLst/>
                <a:latin typeface="TimesNewRomanPSMT"/>
              </a:rPr>
              <a:t> </a:t>
            </a:r>
            <a:r>
              <a:rPr lang="zh-CN" altLang="en-US" sz="1200" b="0" i="0" dirty="0">
                <a:solidFill>
                  <a:srgbClr val="000000"/>
                </a:solidFill>
                <a:effectLst/>
                <a:latin typeface="宋体" panose="02010600030101010101" pitchFamily="2" charset="-122"/>
                <a:ea typeface="宋体" panose="02010600030101010101" pitchFamily="2" charset="-122"/>
              </a:rPr>
              <a:t>为样本点， </a:t>
            </a:r>
            <a:r>
              <a:rPr lang="en-US" altLang="zh-CN" sz="1200" b="0" i="1" dirty="0">
                <a:solidFill>
                  <a:srgbClr val="000000"/>
                </a:solidFill>
                <a:effectLst/>
                <a:latin typeface="TimesNewRomanPS-ItalicMT"/>
              </a:rPr>
              <a:t> </a:t>
            </a:r>
            <a:r>
              <a:rPr lang="zh-CN" altLang="en-US" sz="1200" b="0" i="0" dirty="0">
                <a:solidFill>
                  <a:srgbClr val="000000"/>
                </a:solidFill>
                <a:effectLst/>
                <a:latin typeface="宋体" panose="02010600030101010101" pitchFamily="2" charset="-122"/>
                <a:ea typeface="宋体" panose="02010600030101010101" pitchFamily="2" charset="-122"/>
              </a:rPr>
              <a:t>为样本值的均值， </a:t>
            </a:r>
            <a:r>
              <a:rPr lang="en-US" altLang="zh-CN" sz="1200" b="0" i="1" dirty="0">
                <a:solidFill>
                  <a:srgbClr val="000000"/>
                </a:solidFill>
                <a:effectLst/>
                <a:latin typeface="TimesNewRomanPS-ItalicMT"/>
              </a:rPr>
              <a:t>S </a:t>
            </a:r>
            <a:r>
              <a:rPr lang="zh-CN" altLang="en-US" sz="1200" b="0" i="0" dirty="0">
                <a:solidFill>
                  <a:srgbClr val="000000"/>
                </a:solidFill>
                <a:effectLst/>
                <a:latin typeface="宋体" panose="02010600030101010101" pitchFamily="2" charset="-122"/>
                <a:ea typeface="宋体" panose="02010600030101010101" pitchFamily="2" charset="-122"/>
              </a:rPr>
              <a:t>为样本值的标准差</a:t>
            </a:r>
            <a:endParaRPr lang="zh-CN" altLang="en-US" sz="1200" dirty="0"/>
          </a:p>
        </p:txBody>
      </p:sp>
      <p:graphicFrame>
        <p:nvGraphicFramePr>
          <p:cNvPr id="13" name="对象 12"/>
          <p:cNvGraphicFramePr>
            <a:graphicFrameLocks noChangeAspect="1"/>
          </p:cNvGraphicFramePr>
          <p:nvPr/>
        </p:nvGraphicFramePr>
        <p:xfrm>
          <a:off x="6236100" y="3674038"/>
          <a:ext cx="609600" cy="431800"/>
        </p:xfrm>
        <a:graphic>
          <a:graphicData uri="http://schemas.openxmlformats.org/presentationml/2006/ole">
            <mc:AlternateContent xmlns:mc="http://schemas.openxmlformats.org/markup-compatibility/2006">
              <mc:Choice xmlns:v="urn:schemas-microsoft-com:vml" Requires="v">
                <p:oleObj spid="_x0000_s2063" name="Equation" r:id="rId3" imgW="14630400" imgH="10363200" progId="Equation.DSMT4">
                  <p:embed/>
                </p:oleObj>
              </mc:Choice>
              <mc:Fallback>
                <p:oleObj name="Equation" r:id="rId3" imgW="14630400" imgH="10363200" progId="Equation.DSMT4">
                  <p:embed/>
                  <p:pic>
                    <p:nvPicPr>
                      <p:cNvPr id="0" name="图片 2062"/>
                      <p:cNvPicPr/>
                      <p:nvPr/>
                    </p:nvPicPr>
                    <p:blipFill>
                      <a:blip r:embed="rId4"/>
                      <a:stretch>
                        <a:fillRect/>
                      </a:stretch>
                    </p:blipFill>
                    <p:spPr>
                      <a:xfrm>
                        <a:off x="6236100" y="3674038"/>
                        <a:ext cx="609600" cy="431800"/>
                      </a:xfrm>
                      <a:prstGeom prst="rect">
                        <a:avLst/>
                      </a:prstGeom>
                    </p:spPr>
                  </p:pic>
                </p:oleObj>
              </mc:Fallback>
            </mc:AlternateContent>
          </a:graphicData>
        </a:graphic>
      </p:graphicFrame>
      <p:pic>
        <p:nvPicPr>
          <p:cNvPr id="19" name="图片 18"/>
          <p:cNvPicPr>
            <a:picLocks noChangeAspect="1"/>
          </p:cNvPicPr>
          <p:nvPr/>
        </p:nvPicPr>
        <p:blipFill>
          <a:blip r:embed="rId5"/>
          <a:stretch>
            <a:fillRect/>
          </a:stretch>
        </p:blipFill>
        <p:spPr>
          <a:xfrm>
            <a:off x="7752184" y="3797259"/>
            <a:ext cx="133350" cy="2286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小波类型优选</a:t>
            </a:r>
            <a:endParaRPr lang="zh-CN" altLang="en-US" sz="2800" dirty="0">
              <a:solidFill>
                <a:srgbClr val="0000CC"/>
              </a:solidFill>
              <a:latin typeface="黑体" panose="02010609060101010101" charset="-122"/>
              <a:ea typeface="黑体" panose="02010609060101010101" charset="-122"/>
            </a:endParaRPr>
          </a:p>
        </p:txBody>
      </p:sp>
      <p:sp>
        <p:nvSpPr>
          <p:cNvPr id="23" name="文本框 22"/>
          <p:cNvSpPr txBox="1"/>
          <p:nvPr/>
        </p:nvSpPr>
        <p:spPr>
          <a:xfrm>
            <a:off x="1623566" y="1556792"/>
            <a:ext cx="8897386" cy="175323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dirty="0">
                <a:latin typeface="黑体" panose="02010609060101010101" charset="-122"/>
                <a:ea typeface="黑体" panose="02010609060101010101" charset="-122"/>
              </a:rPr>
              <a:t>小波基是小波分析的关键，小波基的合适与否直接关系到信号分解效果的好坏</a:t>
            </a:r>
            <a:endParaRPr lang="en-US" altLang="zh-CN"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dirty="0">
                <a:latin typeface="黑体" panose="02010609060101010101" charset="-122"/>
                <a:ea typeface="黑体" panose="02010609060101010101" charset="-122"/>
              </a:rPr>
              <a:t>小波基的小波峰值能量不同，较大的峰值能量可以帮助我们在较弱的压力变化下保持识别的能力，若小波能量表现为排量响应不明显，而压力响应很剧烈，则可以代表裂缝扩展等诸多岩石类事件。</a:t>
            </a:r>
            <a:endParaRPr lang="en-US" altLang="zh-CN" dirty="0">
              <a:latin typeface="黑体" panose="02010609060101010101" charset="-122"/>
              <a:ea typeface="黑体" panose="02010609060101010101" charset="-122"/>
            </a:endParaRPr>
          </a:p>
        </p:txBody>
      </p:sp>
      <p:sp>
        <p:nvSpPr>
          <p:cNvPr id="17"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graphicFrame>
        <p:nvGraphicFramePr>
          <p:cNvPr id="7" name="表格 6"/>
          <p:cNvGraphicFramePr>
            <a:graphicFrameLocks noGrp="1"/>
          </p:cNvGraphicFramePr>
          <p:nvPr/>
        </p:nvGraphicFramePr>
        <p:xfrm>
          <a:off x="1636564" y="3409007"/>
          <a:ext cx="5480050" cy="3070225"/>
        </p:xfrm>
        <a:graphic>
          <a:graphicData uri="http://schemas.openxmlformats.org/drawingml/2006/table">
            <a:tbl>
              <a:tblPr firstRow="1" firstCol="1" bandRow="1"/>
              <a:tblGrid>
                <a:gridCol w="786765"/>
                <a:gridCol w="443865"/>
                <a:gridCol w="828040"/>
                <a:gridCol w="960120"/>
                <a:gridCol w="615315"/>
                <a:gridCol w="615315"/>
                <a:gridCol w="615315"/>
                <a:gridCol w="615315"/>
              </a:tblGrid>
              <a:tr h="372745">
                <a:tc>
                  <a:txBody>
                    <a:bodyPr/>
                    <a:lstStyle/>
                    <a:p>
                      <a:pPr algn="ctr">
                        <a:lnSpc>
                          <a:spcPct val="125000"/>
                        </a:lnSpc>
                        <a:tabLst>
                          <a:tab pos="239395" algn="l"/>
                          <a:tab pos="266700" algn="l"/>
                        </a:tabLst>
                      </a:pPr>
                      <a:r>
                        <a:rPr lang="zh-CN" sz="1200" b="1" dirty="0">
                          <a:effectLst/>
                          <a:latin typeface="Times New Roman" panose="02020603050405020304" pitchFamily="18" charset="0"/>
                          <a:ea typeface="宋体" panose="02010600030101010101" pitchFamily="2" charset="-122"/>
                          <a:cs typeface="Times New Roman" panose="02020603050405020304" pitchFamily="18" charset="0"/>
                        </a:rPr>
                        <a:t>小波函数</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haar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db</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bior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a:effectLst/>
                          <a:latin typeface="Times New Roman" panose="02020603050405020304" pitchFamily="18" charset="0"/>
                          <a:ea typeface="宋体" panose="02010600030101010101" pitchFamily="2" charset="-122"/>
                          <a:cs typeface="Times New Roman" panose="02020603050405020304" pitchFamily="18" charset="0"/>
                        </a:rPr>
                        <a:t>coif</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sym</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morl</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mexh</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40">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正交性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72110">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紧支撑性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2745">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连续小波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2745">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离散小波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19100">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支撑长度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33350" algn="just">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         2Nd+1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6N-1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19100">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对称性</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不对称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0840">
                <a:tc>
                  <a:txBody>
                    <a:bodyPr/>
                    <a:lstStyle/>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消失矩</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Nr-1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1" name="文本框 10"/>
          <p:cNvSpPr txBox="1"/>
          <p:nvPr/>
        </p:nvSpPr>
        <p:spPr>
          <a:xfrm>
            <a:off x="1991544" y="6473864"/>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常用的小波函数及其性质对比</a:t>
            </a:r>
            <a:endParaRPr lang="zh-CN" altLang="en-US" sz="1600" dirty="0">
              <a:latin typeface="黑体" panose="02010609060101010101" charset="-122"/>
              <a:ea typeface="黑体" panose="02010609060101010101" charset="-122"/>
            </a:endParaRPr>
          </a:p>
        </p:txBody>
      </p:sp>
      <p:pic>
        <p:nvPicPr>
          <p:cNvPr id="9" name="图片 8"/>
          <p:cNvPicPr/>
          <p:nvPr/>
        </p:nvPicPr>
        <p:blipFill>
          <a:blip r:embed="rId1"/>
          <a:stretch>
            <a:fillRect/>
          </a:stretch>
        </p:blipFill>
        <p:spPr>
          <a:xfrm>
            <a:off x="7104112" y="3331971"/>
            <a:ext cx="3416840" cy="2993289"/>
          </a:xfrm>
          <a:prstGeom prst="rect">
            <a:avLst/>
          </a:prstGeom>
          <a:ln>
            <a:noFill/>
          </a:ln>
        </p:spPr>
      </p:pic>
      <p:sp>
        <p:nvSpPr>
          <p:cNvPr id="10" name="文本框 9"/>
          <p:cNvSpPr txBox="1"/>
          <p:nvPr/>
        </p:nvSpPr>
        <p:spPr>
          <a:xfrm>
            <a:off x="6747902" y="6475233"/>
            <a:ext cx="3959860"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不同小波基下的小波能量响应</a:t>
            </a:r>
            <a:endParaRPr lang="zh-CN" altLang="en-US" sz="1600" dirty="0">
              <a:latin typeface="黑体" panose="02010609060101010101" charset="-122"/>
              <a:ea typeface="黑体" panose="02010609060101010101"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井下压裂过程流固事件判别分析</a:t>
            </a:r>
            <a:r>
              <a:rPr lang="en-US" altLang="zh-CN" sz="2800" dirty="0">
                <a:solidFill>
                  <a:srgbClr val="0000CC"/>
                </a:solidFill>
                <a:latin typeface="黑体" panose="02010609060101010101" charset="-122"/>
                <a:ea typeface="黑体" panose="02010609060101010101" charset="-122"/>
              </a:rPr>
              <a:t>-</a:t>
            </a:r>
            <a:r>
              <a:rPr lang="zh-CN" altLang="en-US" sz="2800" dirty="0">
                <a:solidFill>
                  <a:srgbClr val="FF0000"/>
                </a:solidFill>
                <a:latin typeface="黑体" panose="02010609060101010101" charset="-122"/>
                <a:ea typeface="黑体" panose="02010609060101010101" charset="-122"/>
              </a:rPr>
              <a:t>泸</a:t>
            </a:r>
            <a:r>
              <a:rPr lang="en-US" altLang="zh-CN" sz="2800" dirty="0">
                <a:solidFill>
                  <a:srgbClr val="FF0000"/>
                </a:solidFill>
                <a:latin typeface="黑体" panose="02010609060101010101" charset="-122"/>
                <a:ea typeface="黑体" panose="02010609060101010101" charset="-122"/>
              </a:rPr>
              <a:t>203H10-1</a:t>
            </a:r>
            <a:r>
              <a:rPr lang="zh-CN" altLang="en-US" sz="2800" dirty="0">
                <a:solidFill>
                  <a:srgbClr val="FF0000"/>
                </a:solidFill>
                <a:latin typeface="黑体" panose="02010609060101010101" charset="-122"/>
                <a:ea typeface="黑体" panose="02010609060101010101" charset="-122"/>
              </a:rPr>
              <a:t>井</a:t>
            </a:r>
            <a:endParaRPr lang="zh-CN" altLang="en-US" sz="2800" dirty="0">
              <a:solidFill>
                <a:srgbClr val="FF0000"/>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47637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sz="2000" dirty="0">
                <a:latin typeface="Times New Roman" panose="02020603050405020304" pitchFamily="18" charset="0"/>
                <a:ea typeface="黑体" panose="02010609060101010101" charset="-122"/>
                <a:cs typeface="Times New Roman" panose="02020603050405020304" pitchFamily="18" charset="0"/>
              </a:rPr>
              <a:t>分析泸203H10-1井共12段加砂压裂秒点图</a:t>
            </a:r>
            <a:endParaRPr lang="zh-CN" sz="2000" dirty="0">
              <a:latin typeface="Times New Roman" panose="02020603050405020304" pitchFamily="18" charset="0"/>
              <a:ea typeface="黑体" panose="02010609060101010101" charset="-122"/>
              <a:cs typeface="Times New Roman" panose="02020603050405020304" pitchFamily="18" charset="0"/>
            </a:endParaRPr>
          </a:p>
          <a:p>
            <a:pPr marL="342900" indent="-342900" algn="just">
              <a:lnSpc>
                <a:spcPct val="150000"/>
              </a:lnSpc>
              <a:buClr>
                <a:srgbClr val="FF0000"/>
              </a:buClr>
              <a:buFont typeface="Wingdings" panose="05000000000000000000" pitchFamily="2" charset="2"/>
              <a:buChar char="Ø"/>
            </a:pPr>
            <a:r>
              <a:rPr sz="2000" dirty="0">
                <a:latin typeface="Times New Roman" panose="02020603050405020304" pitchFamily="18" charset="0"/>
                <a:ea typeface="黑体" panose="02010609060101010101" charset="-122"/>
                <a:cs typeface="Times New Roman" panose="02020603050405020304" pitchFamily="18" charset="0"/>
              </a:rPr>
              <a:t>每段采用Db、sym、Coif等12个小波基进行</a:t>
            </a:r>
            <a:r>
              <a:rPr lang="zh-CN" sz="2000" dirty="0">
                <a:latin typeface="Times New Roman" panose="02020603050405020304" pitchFamily="18" charset="0"/>
                <a:ea typeface="黑体" panose="02010609060101010101" charset="-122"/>
                <a:cs typeface="Times New Roman" panose="02020603050405020304" pitchFamily="18" charset="0"/>
              </a:rPr>
              <a:t>分析</a:t>
            </a:r>
            <a:endParaRPr lang="zh-CN" sz="2000" dirty="0">
              <a:latin typeface="Times New Roman" panose="02020603050405020304" pitchFamily="18" charset="0"/>
              <a:ea typeface="黑体" panose="02010609060101010101" charset="-122"/>
              <a:cs typeface="Times New Roman" panose="02020603050405020304" pitchFamily="18" charset="0"/>
            </a:endParaRPr>
          </a:p>
          <a:p>
            <a:pPr marL="342900" indent="-342900" algn="just">
              <a:lnSpc>
                <a:spcPct val="150000"/>
              </a:lnSpc>
              <a:buClr>
                <a:srgbClr val="FF0000"/>
              </a:buClr>
              <a:buFont typeface="Wingdings" panose="05000000000000000000" pitchFamily="2" charset="2"/>
              <a:buChar char="Ø"/>
            </a:pPr>
            <a:r>
              <a:rPr sz="2000" dirty="0">
                <a:latin typeface="Times New Roman" panose="02020603050405020304" pitchFamily="18" charset="0"/>
                <a:ea typeface="黑体" panose="02010609060101010101" charset="-122"/>
                <a:cs typeface="Times New Roman" panose="02020603050405020304" pitchFamily="18" charset="0"/>
              </a:rPr>
              <a:t>每</a:t>
            </a:r>
            <a:r>
              <a:rPr lang="zh-CN" sz="2000" dirty="0">
                <a:latin typeface="Times New Roman" panose="02020603050405020304" pitchFamily="18" charset="0"/>
                <a:ea typeface="黑体" panose="02010609060101010101" charset="-122"/>
                <a:cs typeface="Times New Roman" panose="02020603050405020304" pitchFamily="18" charset="0"/>
              </a:rPr>
              <a:t>种</a:t>
            </a:r>
            <a:r>
              <a:rPr sz="2000" dirty="0">
                <a:latin typeface="Times New Roman" panose="02020603050405020304" pitchFamily="18" charset="0"/>
                <a:ea typeface="黑体" panose="02010609060101010101" charset="-122"/>
                <a:cs typeface="Times New Roman" panose="02020603050405020304" pitchFamily="18" charset="0"/>
              </a:rPr>
              <a:t>小波基进行12级分解</a:t>
            </a:r>
            <a:endParaRPr lang="zh-CN" sz="2000" dirty="0">
              <a:latin typeface="Times New Roman" panose="02020603050405020304" pitchFamily="18" charset="0"/>
              <a:ea typeface="黑体" panose="02010609060101010101" charset="-122"/>
              <a:cs typeface="Times New Roman" panose="02020603050405020304" pitchFamily="18" charset="0"/>
            </a:endParaRPr>
          </a:p>
        </p:txBody>
      </p:sp>
      <p:sp>
        <p:nvSpPr>
          <p:cNvPr id="31"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pic>
        <p:nvPicPr>
          <p:cNvPr id="116" name="图片 115"/>
          <p:cNvPicPr/>
          <p:nvPr/>
        </p:nvPicPr>
        <p:blipFill>
          <a:blip r:embed="rId1"/>
          <a:stretch>
            <a:fillRect/>
          </a:stretch>
        </p:blipFill>
        <p:spPr>
          <a:xfrm>
            <a:off x="1703705" y="3122295"/>
            <a:ext cx="4140000" cy="3420000"/>
          </a:xfrm>
          <a:prstGeom prst="rect">
            <a:avLst/>
          </a:prstGeom>
        </p:spPr>
      </p:pic>
      <p:pic>
        <p:nvPicPr>
          <p:cNvPr id="117" name="图片 116"/>
          <p:cNvPicPr/>
          <p:nvPr/>
        </p:nvPicPr>
        <p:blipFill>
          <a:blip r:embed="rId2"/>
          <a:stretch>
            <a:fillRect/>
          </a:stretch>
        </p:blipFill>
        <p:spPr>
          <a:xfrm>
            <a:off x="6383655" y="3122295"/>
            <a:ext cx="4140000" cy="342000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井下压裂过程流固事件判别分析</a:t>
            </a:r>
            <a:r>
              <a:rPr lang="en-US" altLang="zh-CN" sz="2800" dirty="0">
                <a:solidFill>
                  <a:srgbClr val="0000CC"/>
                </a:solidFill>
                <a:latin typeface="黑体" panose="02010609060101010101" charset="-122"/>
                <a:ea typeface="黑体" panose="02010609060101010101" charset="-122"/>
              </a:rPr>
              <a:t>-</a:t>
            </a:r>
            <a:r>
              <a:rPr lang="zh-CN" altLang="en-US" sz="2800" dirty="0">
                <a:solidFill>
                  <a:srgbClr val="FF0000"/>
                </a:solidFill>
                <a:latin typeface="黑体" panose="02010609060101010101" charset="-122"/>
                <a:ea typeface="黑体" panose="02010609060101010101" charset="-122"/>
              </a:rPr>
              <a:t>泸</a:t>
            </a:r>
            <a:r>
              <a:rPr lang="en-US" altLang="zh-CN" sz="2800" dirty="0">
                <a:solidFill>
                  <a:srgbClr val="FF0000"/>
                </a:solidFill>
                <a:latin typeface="黑体" panose="02010609060101010101" charset="-122"/>
                <a:ea typeface="黑体" panose="02010609060101010101" charset="-122"/>
              </a:rPr>
              <a:t>203H10-1</a:t>
            </a:r>
            <a:r>
              <a:rPr lang="zh-CN" altLang="en-US" sz="2800" dirty="0">
                <a:solidFill>
                  <a:srgbClr val="FF0000"/>
                </a:solidFill>
                <a:latin typeface="黑体" panose="02010609060101010101" charset="-122"/>
                <a:ea typeface="黑体" panose="02010609060101010101" charset="-122"/>
              </a:rPr>
              <a:t>井第</a:t>
            </a:r>
            <a:r>
              <a:rPr lang="en-US" altLang="zh-CN" sz="2800" dirty="0">
                <a:solidFill>
                  <a:srgbClr val="FF0000"/>
                </a:solidFill>
                <a:latin typeface="黑体" panose="02010609060101010101" charset="-122"/>
                <a:ea typeface="黑体" panose="02010609060101010101" charset="-122"/>
              </a:rPr>
              <a:t>1</a:t>
            </a:r>
            <a:r>
              <a:rPr lang="zh-CN" altLang="en-US" sz="2800" dirty="0">
                <a:solidFill>
                  <a:srgbClr val="FF0000"/>
                </a:solidFill>
                <a:latin typeface="黑体" panose="02010609060101010101" charset="-122"/>
                <a:ea typeface="黑体" panose="02010609060101010101" charset="-122"/>
              </a:rPr>
              <a:t>段</a:t>
            </a:r>
            <a:endParaRPr lang="zh-CN" altLang="en-US" sz="2800" dirty="0">
              <a:solidFill>
                <a:srgbClr val="FF0000"/>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476375"/>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Times New Roman" panose="02020603050405020304" pitchFamily="18" charset="0"/>
                <a:ea typeface="黑体" panose="02010609060101010101" charset="-122"/>
                <a:cs typeface="Times New Roman" panose="02020603050405020304" pitchFamily="18" charset="0"/>
              </a:rPr>
              <a:t>对泸203H10-1井加砂压裂第1段进行小波分析，根据公式确定</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最大分解层次为</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12</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层</a:t>
            </a:r>
            <a:r>
              <a:rPr lang="zh-CN" altLang="en-US" sz="2000" dirty="0">
                <a:latin typeface="Times New Roman" panose="02020603050405020304" pitchFamily="18" charset="0"/>
                <a:ea typeface="黑体" panose="02010609060101010101" charset="-122"/>
                <a:cs typeface="Times New Roman" panose="02020603050405020304" pitchFamily="18" charset="0"/>
              </a:rPr>
              <a:t>，经过逐层分析比较，发现在</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第</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7</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8</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9</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级</a:t>
            </a:r>
            <a:r>
              <a:rPr lang="zh-CN" altLang="en-US" sz="2000" dirty="0">
                <a:latin typeface="Times New Roman" panose="02020603050405020304" pitchFamily="18" charset="0"/>
                <a:ea typeface="黑体" panose="02010609060101010101" charset="-122"/>
                <a:cs typeface="Times New Roman" panose="02020603050405020304" pitchFamily="18" charset="0"/>
              </a:rPr>
              <a:t>分解中能够较显著去除排量引起的压力波动事件，保留裂缝扩展过程中可能存在的岩石事件。</a:t>
            </a:r>
            <a:endParaRPr lang="zh-CN" altLang="en-US" sz="2000" dirty="0">
              <a:latin typeface="Times New Roman" panose="02020603050405020304" pitchFamily="18" charset="0"/>
              <a:ea typeface="黑体" panose="02010609060101010101" charset="-122"/>
              <a:cs typeface="Times New Roman" panose="02020603050405020304" pitchFamily="18" charset="0"/>
            </a:endParaRPr>
          </a:p>
        </p:txBody>
      </p:sp>
      <p:pic>
        <p:nvPicPr>
          <p:cNvPr id="3" name="图片 2" descr="泸203H10-1井加砂压裂第1段秒点压裂施工现场记录资料"/>
          <p:cNvPicPr/>
          <p:nvPr/>
        </p:nvPicPr>
        <p:blipFill>
          <a:blip r:embed="rId1"/>
          <a:stretch>
            <a:fillRect/>
          </a:stretch>
        </p:blipFill>
        <p:spPr>
          <a:xfrm>
            <a:off x="1703070" y="3068955"/>
            <a:ext cx="4320000" cy="1440000"/>
          </a:xfrm>
          <a:prstGeom prst="rect">
            <a:avLst/>
          </a:prstGeom>
          <a:ln>
            <a:noFill/>
          </a:ln>
        </p:spPr>
      </p:pic>
      <p:pic>
        <p:nvPicPr>
          <p:cNvPr id="4" name="图片 3" descr="E:/桌面/西南项目代码/泸203H10-1井/第1段结果/db5/第7级分解.png第7级分解"/>
          <p:cNvPicPr/>
          <p:nvPr/>
        </p:nvPicPr>
        <p:blipFill>
          <a:blip r:embed="rId2"/>
          <a:srcRect t="4477" b="4477"/>
          <a:stretch>
            <a:fillRect/>
          </a:stretch>
        </p:blipFill>
        <p:spPr>
          <a:xfrm>
            <a:off x="6167755" y="3064510"/>
            <a:ext cx="4320000" cy="1440000"/>
          </a:xfrm>
          <a:prstGeom prst="rect">
            <a:avLst/>
          </a:prstGeom>
          <a:ln>
            <a:noFill/>
          </a:ln>
        </p:spPr>
      </p:pic>
      <p:pic>
        <p:nvPicPr>
          <p:cNvPr id="9" name="图片 8" descr="E:/桌面/西南项目代码/泸203H10-1井/第1段结果/db5/第8级分解.png第8级分解"/>
          <p:cNvPicPr/>
          <p:nvPr/>
        </p:nvPicPr>
        <p:blipFill>
          <a:blip r:embed="rId3"/>
          <a:srcRect t="4073" b="4073"/>
          <a:stretch>
            <a:fillRect/>
          </a:stretch>
        </p:blipFill>
        <p:spPr>
          <a:xfrm>
            <a:off x="1703705" y="4944745"/>
            <a:ext cx="4320000" cy="1440000"/>
          </a:xfrm>
          <a:prstGeom prst="rect">
            <a:avLst/>
          </a:prstGeom>
          <a:ln>
            <a:noFill/>
          </a:ln>
        </p:spPr>
      </p:pic>
      <p:pic>
        <p:nvPicPr>
          <p:cNvPr id="10" name="图片 9" descr="E:/桌面/西南项目代码/泸203H10-1井/第1段结果/db5/第9级分解.png第9级分解"/>
          <p:cNvPicPr/>
          <p:nvPr/>
        </p:nvPicPr>
        <p:blipFill>
          <a:blip r:embed="rId4"/>
          <a:srcRect t="4102" b="4102"/>
          <a:stretch>
            <a:fillRect/>
          </a:stretch>
        </p:blipFill>
        <p:spPr>
          <a:xfrm>
            <a:off x="6168390" y="4944745"/>
            <a:ext cx="4320000" cy="1440000"/>
          </a:xfrm>
          <a:prstGeom prst="rect">
            <a:avLst/>
          </a:prstGeom>
          <a:ln>
            <a:noFill/>
          </a:ln>
        </p:spPr>
      </p:pic>
      <p:sp>
        <p:nvSpPr>
          <p:cNvPr id="13" name="文本框 12"/>
          <p:cNvSpPr txBox="1"/>
          <p:nvPr/>
        </p:nvSpPr>
        <p:spPr>
          <a:xfrm>
            <a:off x="1703705" y="4509135"/>
            <a:ext cx="4319905"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井口压力及排量原始数据</a:t>
            </a:r>
            <a:endParaRPr lang="zh-CN" altLang="en-US" sz="1600" dirty="0">
              <a:latin typeface="黑体" panose="02010609060101010101" charset="-122"/>
              <a:ea typeface="黑体" panose="02010609060101010101" charset="-122"/>
            </a:endParaRPr>
          </a:p>
        </p:txBody>
      </p:sp>
      <p:sp>
        <p:nvSpPr>
          <p:cNvPr id="14" name="文本框 13"/>
          <p:cNvSpPr txBox="1"/>
          <p:nvPr/>
        </p:nvSpPr>
        <p:spPr>
          <a:xfrm>
            <a:off x="6168390" y="4510405"/>
            <a:ext cx="4319905"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压力和排量在第7级的分解层次上的小波能量</a:t>
            </a:r>
            <a:endParaRPr lang="zh-CN" altLang="en-US" sz="1600" dirty="0">
              <a:solidFill>
                <a:srgbClr val="0000FF"/>
              </a:solidFill>
              <a:latin typeface="黑体" panose="02010609060101010101" charset="-122"/>
              <a:ea typeface="黑体" panose="02010609060101010101" charset="-122"/>
            </a:endParaRPr>
          </a:p>
        </p:txBody>
      </p:sp>
      <p:sp>
        <p:nvSpPr>
          <p:cNvPr id="15" name="文本框 14"/>
          <p:cNvSpPr txBox="1"/>
          <p:nvPr/>
        </p:nvSpPr>
        <p:spPr>
          <a:xfrm>
            <a:off x="1703705" y="6384925"/>
            <a:ext cx="4319905"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压力和排量在第8级的分解层次上的小波能量</a:t>
            </a:r>
            <a:endParaRPr lang="zh-CN" altLang="en-US" sz="1600" dirty="0">
              <a:latin typeface="黑体" panose="02010609060101010101" charset="-122"/>
              <a:ea typeface="黑体" panose="02010609060101010101" charset="-122"/>
            </a:endParaRPr>
          </a:p>
        </p:txBody>
      </p:sp>
      <p:sp>
        <p:nvSpPr>
          <p:cNvPr id="16" name="文本框 15"/>
          <p:cNvSpPr txBox="1"/>
          <p:nvPr/>
        </p:nvSpPr>
        <p:spPr>
          <a:xfrm>
            <a:off x="6168390" y="6390005"/>
            <a:ext cx="4318635" cy="337185"/>
          </a:xfrm>
          <a:prstGeom prst="rect">
            <a:avLst/>
          </a:prstGeom>
          <a:noFill/>
        </p:spPr>
        <p:txBody>
          <a:bodyPr wrap="square" rtlCol="0">
            <a:spAutoFit/>
          </a:bodyPr>
          <a:lstStyle/>
          <a:p>
            <a:pPr algn="ctr"/>
            <a:r>
              <a:rPr lang="zh-CN" altLang="en-US" sz="1600" dirty="0">
                <a:solidFill>
                  <a:srgbClr val="0000FF"/>
                </a:solidFill>
                <a:latin typeface="黑体" panose="02010609060101010101" charset="-122"/>
                <a:ea typeface="黑体" panose="02010609060101010101" charset="-122"/>
              </a:rPr>
              <a:t>压力和排量在第9级的分解层次上的小波能量</a:t>
            </a:r>
            <a:endParaRPr lang="zh-CN" altLang="en-US" sz="1600">
              <a:latin typeface="黑体" panose="02010609060101010101" charset="-122"/>
              <a:ea typeface="黑体" panose="02010609060101010101" charset="-122"/>
            </a:endParaRPr>
          </a:p>
        </p:txBody>
      </p:sp>
      <p:cxnSp>
        <p:nvCxnSpPr>
          <p:cNvPr id="21" name="直接箭头连接符 20"/>
          <p:cNvCxnSpPr/>
          <p:nvPr/>
        </p:nvCxnSpPr>
        <p:spPr>
          <a:xfrm flipH="1">
            <a:off x="6888480" y="3068955"/>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a:off x="7031990" y="3717290"/>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flipH="1">
            <a:off x="7680325" y="3501390"/>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flipH="1">
            <a:off x="2352040" y="5013325"/>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p:nvPr/>
        </p:nvCxnSpPr>
        <p:spPr>
          <a:xfrm flipH="1">
            <a:off x="2567940" y="5445125"/>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a:off x="4799965" y="5733415"/>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nvCxnSpPr>
        <p:spPr>
          <a:xfrm flipH="1">
            <a:off x="8040370" y="5157470"/>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p:nvPr/>
        </p:nvCxnSpPr>
        <p:spPr>
          <a:xfrm flipH="1">
            <a:off x="8688070" y="5517515"/>
            <a:ext cx="101600" cy="1739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1"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黑体" panose="02010609060101010101" charset="-122"/>
                <a:ea typeface="黑体" panose="02010609060101010101" charset="-122"/>
              </a:rPr>
              <a:t>井下压裂过程流固事件判别分析</a:t>
            </a:r>
            <a:r>
              <a:rPr lang="en-US" altLang="zh-CN" sz="2800" dirty="0">
                <a:solidFill>
                  <a:srgbClr val="0000CC"/>
                </a:solidFill>
                <a:latin typeface="黑体" panose="02010609060101010101" charset="-122"/>
                <a:ea typeface="黑体" panose="02010609060101010101" charset="-122"/>
              </a:rPr>
              <a:t>-</a:t>
            </a:r>
            <a:r>
              <a:rPr lang="zh-CN" altLang="en-US" sz="2800" dirty="0">
                <a:solidFill>
                  <a:srgbClr val="FF0000"/>
                </a:solidFill>
                <a:latin typeface="黑体" panose="02010609060101010101" charset="-122"/>
                <a:ea typeface="黑体" panose="02010609060101010101" charset="-122"/>
              </a:rPr>
              <a:t>泸</a:t>
            </a:r>
            <a:r>
              <a:rPr lang="en-US" altLang="zh-CN" sz="2800" dirty="0">
                <a:solidFill>
                  <a:srgbClr val="FF0000"/>
                </a:solidFill>
                <a:latin typeface="黑体" panose="02010609060101010101" charset="-122"/>
                <a:ea typeface="黑体" panose="02010609060101010101" charset="-122"/>
              </a:rPr>
              <a:t>203H10-1</a:t>
            </a:r>
            <a:r>
              <a:rPr lang="zh-CN" altLang="en-US" sz="2800" dirty="0">
                <a:solidFill>
                  <a:srgbClr val="FF0000"/>
                </a:solidFill>
                <a:latin typeface="黑体" panose="02010609060101010101" charset="-122"/>
                <a:ea typeface="黑体" panose="02010609060101010101" charset="-122"/>
              </a:rPr>
              <a:t>井第</a:t>
            </a:r>
            <a:r>
              <a:rPr lang="en-US" altLang="zh-CN" sz="2800" dirty="0">
                <a:solidFill>
                  <a:srgbClr val="FF0000"/>
                </a:solidFill>
                <a:latin typeface="黑体" panose="02010609060101010101" charset="-122"/>
                <a:ea typeface="黑体" panose="02010609060101010101" charset="-122"/>
              </a:rPr>
              <a:t>1</a:t>
            </a:r>
            <a:r>
              <a:rPr lang="zh-CN" altLang="en-US" sz="2800" dirty="0">
                <a:solidFill>
                  <a:srgbClr val="FF0000"/>
                </a:solidFill>
                <a:latin typeface="黑体" panose="02010609060101010101" charset="-122"/>
                <a:ea typeface="黑体" panose="02010609060101010101" charset="-122"/>
              </a:rPr>
              <a:t>段</a:t>
            </a:r>
            <a:endParaRPr lang="zh-CN" altLang="en-US" sz="2800" dirty="0">
              <a:solidFill>
                <a:srgbClr val="FF0000"/>
              </a:solidFill>
              <a:latin typeface="黑体" panose="02010609060101010101" charset="-122"/>
              <a:ea typeface="黑体" panose="02010609060101010101" charset="-122"/>
            </a:endParaRPr>
          </a:p>
        </p:txBody>
      </p:sp>
      <p:sp>
        <p:nvSpPr>
          <p:cNvPr id="23" name="文本框 22"/>
          <p:cNvSpPr txBox="1"/>
          <p:nvPr/>
        </p:nvSpPr>
        <p:spPr>
          <a:xfrm>
            <a:off x="1631950" y="1556792"/>
            <a:ext cx="8928100" cy="1938020"/>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Times New Roman" panose="02020603050405020304" pitchFamily="18" charset="0"/>
                <a:ea typeface="黑体" panose="02010609060101010101" charset="-122"/>
                <a:cs typeface="Times New Roman" panose="02020603050405020304" pitchFamily="18" charset="0"/>
              </a:rPr>
              <a:t>将对泸203H10-1井加砂压裂第1段小波分析的结果与微地震结果相比较，微地震共监测到事件点</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5</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个</a:t>
            </a:r>
            <a:r>
              <a:rPr lang="zh-CN" altLang="en-US" sz="2000" dirty="0">
                <a:latin typeface="Times New Roman" panose="02020603050405020304" pitchFamily="18" charset="0"/>
                <a:ea typeface="黑体" panose="02010609060101010101" charset="-122"/>
                <a:cs typeface="Times New Roman" panose="02020603050405020304" pitchFamily="18" charset="0"/>
              </a:rPr>
              <a:t>，而实验采用</a:t>
            </a:r>
            <a:r>
              <a:rPr lang="en-US" altLang="zh-CN" sz="2000" dirty="0">
                <a:latin typeface="Times New Roman" panose="02020603050405020304" pitchFamily="18" charset="0"/>
                <a:ea typeface="黑体" panose="02010609060101010101" charset="-122"/>
                <a:cs typeface="Times New Roman" panose="02020603050405020304" pitchFamily="18" charset="0"/>
              </a:rPr>
              <a:t>Db5</a:t>
            </a:r>
            <a:r>
              <a:rPr lang="zh-CN" altLang="en-US" sz="2000" dirty="0">
                <a:latin typeface="Times New Roman" panose="02020603050405020304" pitchFamily="18" charset="0"/>
                <a:ea typeface="黑体" panose="02010609060101010101" charset="-122"/>
                <a:cs typeface="Times New Roman" panose="02020603050405020304" pitchFamily="18" charset="0"/>
              </a:rPr>
              <a:t>小波基在</a:t>
            </a:r>
            <a:r>
              <a:rPr lang="en-US" altLang="zh-CN" sz="2000" dirty="0">
                <a:latin typeface="Times New Roman" panose="02020603050405020304" pitchFamily="18" charset="0"/>
                <a:ea typeface="黑体" panose="02010609060101010101" charset="-122"/>
                <a:cs typeface="Times New Roman" panose="02020603050405020304" pitchFamily="18" charset="0"/>
              </a:rPr>
              <a:t>7</a:t>
            </a:r>
            <a:r>
              <a:rPr lang="zh-CN" altLang="en-US" sz="2000" dirty="0">
                <a:latin typeface="Times New Roman" panose="02020603050405020304" pitchFamily="18" charset="0"/>
                <a:ea typeface="黑体" panose="02010609060101010101" charset="-122"/>
                <a:cs typeface="Times New Roman" panose="02020603050405020304" pitchFamily="18" charset="0"/>
              </a:rPr>
              <a:t>、</a:t>
            </a:r>
            <a:r>
              <a:rPr lang="en-US" altLang="zh-CN" sz="2000" dirty="0">
                <a:latin typeface="Times New Roman" panose="02020603050405020304" pitchFamily="18" charset="0"/>
                <a:ea typeface="黑体" panose="02010609060101010101" charset="-122"/>
                <a:cs typeface="Times New Roman" panose="02020603050405020304" pitchFamily="18" charset="0"/>
              </a:rPr>
              <a:t>8</a:t>
            </a:r>
            <a:r>
              <a:rPr lang="zh-CN" altLang="en-US" sz="2000" dirty="0">
                <a:latin typeface="Times New Roman" panose="02020603050405020304" pitchFamily="18" charset="0"/>
                <a:ea typeface="黑体" panose="02010609060101010101" charset="-122"/>
                <a:cs typeface="Times New Roman" panose="02020603050405020304" pitchFamily="18" charset="0"/>
              </a:rPr>
              <a:t>、</a:t>
            </a:r>
            <a:r>
              <a:rPr lang="en-US" altLang="zh-CN" sz="2000" dirty="0">
                <a:latin typeface="Times New Roman" panose="02020603050405020304" pitchFamily="18" charset="0"/>
                <a:ea typeface="黑体" panose="02010609060101010101" charset="-122"/>
                <a:cs typeface="Times New Roman" panose="02020603050405020304" pitchFamily="18" charset="0"/>
              </a:rPr>
              <a:t>9</a:t>
            </a:r>
            <a:r>
              <a:rPr lang="zh-CN" altLang="en-US" sz="2000" dirty="0">
                <a:latin typeface="Times New Roman" panose="02020603050405020304" pitchFamily="18" charset="0"/>
                <a:ea typeface="黑体" panose="02010609060101010101" charset="-122"/>
                <a:cs typeface="Times New Roman" panose="02020603050405020304" pitchFamily="18" charset="0"/>
              </a:rPr>
              <a:t>层分解中压力小波能量显著大于排量小波能量的时间点有</a:t>
            </a:r>
            <a:r>
              <a:rPr lang="en-US" altLang="zh-CN" sz="2000" dirty="0">
                <a:solidFill>
                  <a:srgbClr val="FF0000"/>
                </a:solidFill>
                <a:latin typeface="Times New Roman" panose="02020603050405020304" pitchFamily="18" charset="0"/>
                <a:ea typeface="黑体" panose="02010609060101010101" charset="-122"/>
                <a:cs typeface="Times New Roman" panose="02020603050405020304" pitchFamily="18" charset="0"/>
              </a:rPr>
              <a:t>5</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个</a:t>
            </a:r>
            <a:r>
              <a:rPr lang="zh-CN" altLang="en-US" sz="2000" dirty="0">
                <a:latin typeface="Times New Roman" panose="02020603050405020304" pitchFamily="18" charset="0"/>
                <a:ea typeface="黑体" panose="02010609060101010101" charset="-122"/>
                <a:cs typeface="Times New Roman" panose="02020603050405020304" pitchFamily="18" charset="0"/>
              </a:rPr>
              <a:t>，两种方法在</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检测到的事件数量</a:t>
            </a:r>
            <a:r>
              <a:rPr lang="zh-CN" altLang="en-US" sz="2000" dirty="0">
                <a:solidFill>
                  <a:srgbClr val="FF0000"/>
                </a:solidFill>
                <a:latin typeface="Times New Roman" panose="02020603050405020304" pitchFamily="18" charset="0"/>
                <a:ea typeface="黑体" panose="02010609060101010101" charset="-122"/>
                <a:cs typeface="Times New Roman" panose="02020603050405020304" pitchFamily="18" charset="0"/>
              </a:rPr>
              <a:t>保持一致</a:t>
            </a:r>
            <a:r>
              <a:rPr lang="zh-CN" altLang="en-US" sz="2000" dirty="0">
                <a:latin typeface="Times New Roman" panose="02020603050405020304" pitchFamily="18" charset="0"/>
                <a:ea typeface="黑体" panose="02010609060101010101" charset="-122"/>
                <a:cs typeface="Times New Roman" panose="02020603050405020304" pitchFamily="18" charset="0"/>
              </a:rPr>
              <a:t>。</a:t>
            </a:r>
            <a:endParaRPr lang="zh-CN" altLang="en-US" sz="2000" dirty="0">
              <a:latin typeface="Times New Roman" panose="02020603050405020304" pitchFamily="18" charset="0"/>
              <a:ea typeface="黑体" panose="02010609060101010101" charset="-122"/>
              <a:cs typeface="Times New Roman" panose="02020603050405020304" pitchFamily="18" charset="0"/>
            </a:endParaRPr>
          </a:p>
        </p:txBody>
      </p:sp>
      <p:sp>
        <p:nvSpPr>
          <p:cNvPr id="31"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三、目前研究进度及结果</a:t>
            </a:r>
            <a:endParaRPr lang="zh-CN" altLang="en-US" sz="4000" dirty="0">
              <a:solidFill>
                <a:srgbClr val="FF0000"/>
              </a:solidFill>
              <a:latin typeface="黑体" panose="02010609060101010101" charset="-122"/>
              <a:ea typeface="黑体" panose="02010609060101010101" charset="-122"/>
            </a:endParaRPr>
          </a:p>
        </p:txBody>
      </p:sp>
      <p:pic>
        <p:nvPicPr>
          <p:cNvPr id="2" name="图片 1" descr="图片1"/>
          <p:cNvPicPr>
            <a:picLocks noChangeAspect="1"/>
          </p:cNvPicPr>
          <p:nvPr/>
        </p:nvPicPr>
        <p:blipFill>
          <a:blip r:embed="rId1"/>
          <a:stretch>
            <a:fillRect/>
          </a:stretch>
        </p:blipFill>
        <p:spPr>
          <a:xfrm>
            <a:off x="3813175" y="3429000"/>
            <a:ext cx="6664325" cy="965200"/>
          </a:xfrm>
          <a:prstGeom prst="rect">
            <a:avLst/>
          </a:prstGeom>
        </p:spPr>
      </p:pic>
      <p:sp>
        <p:nvSpPr>
          <p:cNvPr id="5" name="文本框 4"/>
          <p:cNvSpPr txBox="1"/>
          <p:nvPr/>
        </p:nvSpPr>
        <p:spPr>
          <a:xfrm>
            <a:off x="1631950" y="3717290"/>
            <a:ext cx="2149475" cy="337185"/>
          </a:xfrm>
          <a:prstGeom prst="rect">
            <a:avLst/>
          </a:prstGeom>
          <a:noFill/>
        </p:spPr>
        <p:txBody>
          <a:bodyPr wrap="square" rtlCol="0">
            <a:spAutoFit/>
          </a:bodyPr>
          <a:p>
            <a:pPr algn="ctr"/>
            <a:r>
              <a:rPr lang="zh-CN" altLang="en-US" sz="1600" dirty="0">
                <a:solidFill>
                  <a:srgbClr val="0000FF"/>
                </a:solidFill>
                <a:latin typeface="黑体" panose="02010609060101010101" charset="-122"/>
                <a:ea typeface="黑体" panose="02010609060101010101" charset="-122"/>
              </a:rPr>
              <a:t>微地震</a:t>
            </a:r>
            <a:r>
              <a:rPr lang="zh-CN" altLang="en-US" sz="1600" dirty="0">
                <a:solidFill>
                  <a:srgbClr val="0000FF"/>
                </a:solidFill>
                <a:latin typeface="黑体" panose="02010609060101010101" charset="-122"/>
                <a:ea typeface="黑体" panose="02010609060101010101" charset="-122"/>
              </a:rPr>
              <a:t>结果</a:t>
            </a:r>
            <a:endParaRPr lang="zh-CN" altLang="en-US" sz="1600" dirty="0">
              <a:solidFill>
                <a:srgbClr val="0000FF"/>
              </a:solidFill>
              <a:latin typeface="黑体" panose="02010609060101010101" charset="-122"/>
              <a:ea typeface="黑体" panose="02010609060101010101" charset="-122"/>
            </a:endParaRPr>
          </a:p>
        </p:txBody>
      </p:sp>
      <p:grpSp>
        <p:nvGrpSpPr>
          <p:cNvPr id="35" name="组合 34"/>
          <p:cNvGrpSpPr/>
          <p:nvPr/>
        </p:nvGrpSpPr>
        <p:grpSpPr>
          <a:xfrm>
            <a:off x="7754620" y="4725035"/>
            <a:ext cx="1757045" cy="2116455"/>
            <a:chOff x="8788" y="7441"/>
            <a:chExt cx="2864" cy="3323"/>
          </a:xfrm>
        </p:grpSpPr>
        <p:pic>
          <p:nvPicPr>
            <p:cNvPr id="18" name="图片 17"/>
            <p:cNvPicPr>
              <a:picLocks noChangeAspect="1"/>
            </p:cNvPicPr>
            <p:nvPr/>
          </p:nvPicPr>
          <p:blipFill>
            <a:blip r:embed="rId2"/>
            <a:stretch>
              <a:fillRect/>
            </a:stretch>
          </p:blipFill>
          <p:spPr>
            <a:xfrm>
              <a:off x="8901" y="7554"/>
              <a:ext cx="2684" cy="3210"/>
            </a:xfrm>
            <a:prstGeom prst="rect">
              <a:avLst/>
            </a:prstGeom>
          </p:spPr>
        </p:pic>
        <p:sp>
          <p:nvSpPr>
            <p:cNvPr id="19" name="矩形 18"/>
            <p:cNvSpPr/>
            <p:nvPr/>
          </p:nvSpPr>
          <p:spPr>
            <a:xfrm>
              <a:off x="8788" y="7441"/>
              <a:ext cx="710" cy="1075"/>
            </a:xfrm>
            <a:prstGeom prst="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10942" y="8461"/>
              <a:ext cx="710" cy="1075"/>
            </a:xfrm>
            <a:prstGeom prst="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36" name="组合 35"/>
          <p:cNvGrpSpPr/>
          <p:nvPr/>
        </p:nvGrpSpPr>
        <p:grpSpPr>
          <a:xfrm>
            <a:off x="4439920" y="4580890"/>
            <a:ext cx="2428240" cy="2167255"/>
            <a:chOff x="4819" y="7214"/>
            <a:chExt cx="3824" cy="3413"/>
          </a:xfrm>
        </p:grpSpPr>
        <p:pic>
          <p:nvPicPr>
            <p:cNvPr id="12" name="图片 11"/>
            <p:cNvPicPr>
              <a:picLocks noChangeAspect="1"/>
            </p:cNvPicPr>
            <p:nvPr/>
          </p:nvPicPr>
          <p:blipFill>
            <a:blip r:embed="rId3"/>
            <a:stretch>
              <a:fillRect/>
            </a:stretch>
          </p:blipFill>
          <p:spPr>
            <a:xfrm>
              <a:off x="4819" y="7214"/>
              <a:ext cx="3824" cy="3413"/>
            </a:xfrm>
            <a:prstGeom prst="rect">
              <a:avLst/>
            </a:prstGeom>
          </p:spPr>
        </p:pic>
        <p:sp>
          <p:nvSpPr>
            <p:cNvPr id="7" name="矩形 6"/>
            <p:cNvSpPr/>
            <p:nvPr/>
          </p:nvSpPr>
          <p:spPr>
            <a:xfrm>
              <a:off x="5386" y="7214"/>
              <a:ext cx="710" cy="1075"/>
            </a:xfrm>
            <a:prstGeom prst="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6060" y="8915"/>
              <a:ext cx="318" cy="886"/>
            </a:xfrm>
            <a:prstGeom prst="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7654" y="8235"/>
              <a:ext cx="710" cy="1075"/>
            </a:xfrm>
            <a:prstGeom prst="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文本框 31"/>
            <p:cNvSpPr txBox="1"/>
            <p:nvPr/>
          </p:nvSpPr>
          <p:spPr>
            <a:xfrm>
              <a:off x="4932" y="7441"/>
              <a:ext cx="1161" cy="580"/>
            </a:xfrm>
            <a:prstGeom prst="rect">
              <a:avLst/>
            </a:prstGeom>
            <a:noFill/>
          </p:spPr>
          <p:txBody>
            <a:bodyPr wrap="square" rtlCol="0">
              <a:spAutoFit/>
            </a:bodyPr>
            <a:p>
              <a:r>
                <a:rPr lang="en-US" altLang="zh-CN">
                  <a:solidFill>
                    <a:srgbClr val="FF0000"/>
                  </a:solidFill>
                  <a:latin typeface="Times New Roman" panose="02020603050405020304" pitchFamily="18" charset="0"/>
                  <a:cs typeface="Times New Roman" panose="02020603050405020304" pitchFamily="18" charset="0"/>
                </a:rPr>
                <a:t>1</a:t>
              </a:r>
              <a:endParaRPr lang="en-US" altLang="zh-CN">
                <a:solidFill>
                  <a:srgbClr val="FF0000"/>
                </a:solidFill>
                <a:latin typeface="Times New Roman" panose="02020603050405020304" pitchFamily="18" charset="0"/>
                <a:cs typeface="Times New Roman" panose="02020603050405020304" pitchFamily="18" charset="0"/>
              </a:endParaRPr>
            </a:p>
          </p:txBody>
        </p:sp>
      </p:grpSp>
      <p:sp>
        <p:nvSpPr>
          <p:cNvPr id="34" name="文本框 33"/>
          <p:cNvSpPr txBox="1"/>
          <p:nvPr/>
        </p:nvSpPr>
        <p:spPr>
          <a:xfrm>
            <a:off x="1631950" y="5516880"/>
            <a:ext cx="2149475" cy="337185"/>
          </a:xfrm>
          <a:prstGeom prst="rect">
            <a:avLst/>
          </a:prstGeom>
          <a:noFill/>
        </p:spPr>
        <p:txBody>
          <a:bodyPr wrap="square" rtlCol="0">
            <a:spAutoFit/>
          </a:bodyPr>
          <a:p>
            <a:pPr algn="ctr"/>
            <a:r>
              <a:rPr lang="zh-CN" altLang="en-US" sz="1600" dirty="0">
                <a:solidFill>
                  <a:srgbClr val="0000FF"/>
                </a:solidFill>
                <a:latin typeface="黑体" panose="02010609060101010101" charset="-122"/>
                <a:ea typeface="黑体" panose="02010609060101010101" charset="-122"/>
              </a:rPr>
              <a:t>小波</a:t>
            </a:r>
            <a:r>
              <a:rPr lang="zh-CN" altLang="en-US" sz="1600" dirty="0">
                <a:solidFill>
                  <a:srgbClr val="0000FF"/>
                </a:solidFill>
                <a:latin typeface="黑体" panose="02010609060101010101" charset="-122"/>
                <a:ea typeface="黑体" panose="02010609060101010101" charset="-122"/>
              </a:rPr>
              <a:t>分析结果</a:t>
            </a:r>
            <a:endParaRPr lang="zh-CN" altLang="en-US" sz="1600" dirty="0">
              <a:solidFill>
                <a:srgbClr val="0000FF"/>
              </a:solidFill>
              <a:latin typeface="黑体" panose="02010609060101010101" charset="-122"/>
              <a:ea typeface="黑体" panose="02010609060101010101" charset="-122"/>
            </a:endParaRPr>
          </a:p>
        </p:txBody>
      </p:sp>
      <p:sp>
        <p:nvSpPr>
          <p:cNvPr id="37" name="文本框 36"/>
          <p:cNvSpPr txBox="1"/>
          <p:nvPr/>
        </p:nvSpPr>
        <p:spPr>
          <a:xfrm>
            <a:off x="5375910" y="5516880"/>
            <a:ext cx="737235" cy="368300"/>
          </a:xfrm>
          <a:prstGeom prst="rect">
            <a:avLst/>
          </a:prstGeom>
          <a:noFill/>
        </p:spPr>
        <p:txBody>
          <a:bodyPr wrap="square" rtlCol="0">
            <a:spAutoFit/>
          </a:bodyPr>
          <a:p>
            <a:r>
              <a:rPr lang="en-US" altLang="zh-CN">
                <a:solidFill>
                  <a:srgbClr val="FF0000"/>
                </a:solidFill>
                <a:latin typeface="Times New Roman" panose="02020603050405020304" pitchFamily="18" charset="0"/>
                <a:cs typeface="Times New Roman" panose="02020603050405020304" pitchFamily="18" charset="0"/>
              </a:rPr>
              <a:t>2</a:t>
            </a:r>
            <a:endParaRPr lang="en-US" altLang="zh-CN">
              <a:solidFill>
                <a:srgbClr val="FF0000"/>
              </a:solidFill>
              <a:latin typeface="Times New Roman" panose="02020603050405020304" pitchFamily="18" charset="0"/>
              <a:cs typeface="Times New Roman" panose="02020603050405020304" pitchFamily="18" charset="0"/>
            </a:endParaRPr>
          </a:p>
        </p:txBody>
      </p:sp>
      <p:sp>
        <p:nvSpPr>
          <p:cNvPr id="38" name="文本框 37"/>
          <p:cNvSpPr txBox="1"/>
          <p:nvPr/>
        </p:nvSpPr>
        <p:spPr>
          <a:xfrm>
            <a:off x="6240145" y="4869180"/>
            <a:ext cx="737235" cy="368300"/>
          </a:xfrm>
          <a:prstGeom prst="rect">
            <a:avLst/>
          </a:prstGeom>
          <a:noFill/>
        </p:spPr>
        <p:txBody>
          <a:bodyPr wrap="square" rtlCol="0">
            <a:spAutoFit/>
          </a:bodyPr>
          <a:p>
            <a:r>
              <a:rPr lang="en-US" altLang="zh-CN">
                <a:solidFill>
                  <a:srgbClr val="FF0000"/>
                </a:solidFill>
                <a:latin typeface="Times New Roman" panose="02020603050405020304" pitchFamily="18" charset="0"/>
                <a:cs typeface="Times New Roman" panose="02020603050405020304" pitchFamily="18" charset="0"/>
              </a:rPr>
              <a:t>3</a:t>
            </a:r>
            <a:endParaRPr lang="en-US" altLang="zh-CN">
              <a:solidFill>
                <a:srgbClr val="FF0000"/>
              </a:solidFill>
              <a:latin typeface="Times New Roman" panose="02020603050405020304" pitchFamily="18" charset="0"/>
              <a:cs typeface="Times New Roman" panose="02020603050405020304" pitchFamily="18" charset="0"/>
            </a:endParaRPr>
          </a:p>
        </p:txBody>
      </p:sp>
      <p:sp>
        <p:nvSpPr>
          <p:cNvPr id="39" name="文本框 38"/>
          <p:cNvSpPr txBox="1"/>
          <p:nvPr/>
        </p:nvSpPr>
        <p:spPr>
          <a:xfrm>
            <a:off x="8183880" y="4725035"/>
            <a:ext cx="737235" cy="368300"/>
          </a:xfrm>
          <a:prstGeom prst="rect">
            <a:avLst/>
          </a:prstGeom>
          <a:noFill/>
        </p:spPr>
        <p:txBody>
          <a:bodyPr wrap="square" rtlCol="0">
            <a:spAutoFit/>
          </a:bodyPr>
          <a:p>
            <a:r>
              <a:rPr lang="en-US" altLang="zh-CN">
                <a:solidFill>
                  <a:srgbClr val="FF0000"/>
                </a:solidFill>
                <a:latin typeface="Times New Roman" panose="02020603050405020304" pitchFamily="18" charset="0"/>
                <a:cs typeface="Times New Roman" panose="02020603050405020304" pitchFamily="18" charset="0"/>
              </a:rPr>
              <a:t>4</a:t>
            </a:r>
            <a:endParaRPr lang="en-US" altLang="zh-CN">
              <a:solidFill>
                <a:srgbClr val="FF0000"/>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9551670" y="5372735"/>
            <a:ext cx="737235" cy="368300"/>
          </a:xfrm>
          <a:prstGeom prst="rect">
            <a:avLst/>
          </a:prstGeom>
          <a:noFill/>
        </p:spPr>
        <p:txBody>
          <a:bodyPr wrap="square" rtlCol="0">
            <a:spAutoFit/>
          </a:bodyPr>
          <a:p>
            <a:r>
              <a:rPr lang="en-US" altLang="zh-CN">
                <a:solidFill>
                  <a:srgbClr val="FF0000"/>
                </a:solidFill>
                <a:latin typeface="Times New Roman" panose="02020603050405020304" pitchFamily="18" charset="0"/>
                <a:cs typeface="Times New Roman" panose="02020603050405020304" pitchFamily="18" charset="0"/>
              </a:rPr>
              <a:t>5</a:t>
            </a:r>
            <a:endParaRPr lang="en-US" altLang="zh-CN">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1536700" y="188913"/>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黑体" panose="02010609060101010101" charset="-122"/>
                <a:ea typeface="黑体" panose="02010609060101010101" charset="-122"/>
              </a:rPr>
              <a:t>四、下步计划及进度安排</a:t>
            </a:r>
            <a:endParaRPr lang="zh-CN" altLang="en-US" sz="4000" dirty="0">
              <a:solidFill>
                <a:srgbClr val="FF0000"/>
              </a:solidFill>
              <a:latin typeface="黑体" panose="02010609060101010101" charset="-122"/>
              <a:ea typeface="黑体" panose="02010609060101010101" charset="-122"/>
            </a:endParaRPr>
          </a:p>
        </p:txBody>
      </p:sp>
      <p:sp>
        <p:nvSpPr>
          <p:cNvPr id="22" name="TextBox 2"/>
          <p:cNvSpPr txBox="1">
            <a:spLocks noChangeArrowheads="1"/>
          </p:cNvSpPr>
          <p:nvPr/>
        </p:nvSpPr>
        <p:spPr bwMode="auto">
          <a:xfrm>
            <a:off x="1536700" y="1034505"/>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dirty="0">
                <a:solidFill>
                  <a:srgbClr val="0000CC"/>
                </a:solidFill>
                <a:latin typeface="Times New Roman" panose="02020603050405020304" pitchFamily="18" charset="0"/>
                <a:ea typeface="黑体" panose="02010609060101010101" charset="-122"/>
                <a:cs typeface="Times New Roman" panose="02020603050405020304" pitchFamily="18" charset="0"/>
              </a:rPr>
              <a:t>下一步工作安排（</a:t>
            </a:r>
            <a:r>
              <a:rPr lang="en-US" altLang="zh-CN" sz="2800" dirty="0">
                <a:solidFill>
                  <a:srgbClr val="0000CC"/>
                </a:solidFill>
                <a:latin typeface="Times New Roman" panose="02020603050405020304" pitchFamily="18" charset="0"/>
                <a:ea typeface="黑体" panose="02010609060101010101" charset="-122"/>
                <a:cs typeface="Times New Roman" panose="02020603050405020304" pitchFamily="18" charset="0"/>
              </a:rPr>
              <a:t>2024.9-2024.12</a:t>
            </a:r>
            <a:r>
              <a:rPr lang="zh-CN" altLang="en-US" sz="2800" dirty="0">
                <a:solidFill>
                  <a:srgbClr val="0000CC"/>
                </a:solidFill>
                <a:latin typeface="Times New Roman" panose="02020603050405020304" pitchFamily="18" charset="0"/>
                <a:ea typeface="黑体" panose="02010609060101010101" charset="-122"/>
                <a:cs typeface="Times New Roman" panose="02020603050405020304" pitchFamily="18" charset="0"/>
              </a:rPr>
              <a:t>）</a:t>
            </a:r>
            <a:endParaRPr lang="zh-CN" altLang="en-US" sz="2800" dirty="0">
              <a:solidFill>
                <a:srgbClr val="0000CC"/>
              </a:solidFill>
              <a:latin typeface="Times New Roman" panose="02020603050405020304" pitchFamily="18" charset="0"/>
              <a:ea typeface="黑体" panose="02010609060101010101" charset="-122"/>
              <a:cs typeface="Times New Roman" panose="02020603050405020304" pitchFamily="18" charset="0"/>
            </a:endParaRPr>
          </a:p>
        </p:txBody>
      </p:sp>
      <p:sp>
        <p:nvSpPr>
          <p:cNvPr id="32" name="文本框 31"/>
          <p:cNvSpPr txBox="1"/>
          <p:nvPr/>
        </p:nvSpPr>
        <p:spPr>
          <a:xfrm>
            <a:off x="1631950" y="1556792"/>
            <a:ext cx="8928100" cy="2861310"/>
          </a:xfrm>
          <a:prstGeom prst="rect">
            <a:avLst/>
          </a:prstGeom>
          <a:noFill/>
        </p:spPr>
        <p:txBody>
          <a:bodyPr wrap="square">
            <a:spAutoFit/>
          </a:bodyPr>
          <a:lstStyle/>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继续开展针对不同区块典型井的小波分析特征和裂缝参数反演工作，深入分析施工压力响应特征规律，识别压裂过程的流固事件，计算停泵时刻的裂缝几何参数。</a:t>
            </a:r>
            <a:endParaRPr lang="zh-CN" altLang="en-US" sz="20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整理施工过程中多种来源、不同结构及类型的数据，对数据进行整合和标准化处理，建立包含地质</a:t>
            </a:r>
            <a:r>
              <a:rPr lang="en-US" altLang="zh-CN" sz="2000" dirty="0">
                <a:latin typeface="黑体" panose="02010609060101010101" charset="-122"/>
                <a:ea typeface="黑体" panose="02010609060101010101" charset="-122"/>
              </a:rPr>
              <a:t>-</a:t>
            </a:r>
            <a:r>
              <a:rPr lang="zh-CN" altLang="en-US" sz="2000" dirty="0">
                <a:latin typeface="黑体" panose="02010609060101010101" charset="-122"/>
                <a:ea typeface="黑体" panose="02010609060101010101" charset="-122"/>
              </a:rPr>
              <a:t>工程参数多源异构大数据库。</a:t>
            </a:r>
            <a:endParaRPr lang="en-US" altLang="zh-CN" sz="2000" dirty="0">
              <a:latin typeface="黑体" panose="02010609060101010101" charset="-122"/>
              <a:ea typeface="黑体" panose="02010609060101010101" charset="-122"/>
            </a:endParaRPr>
          </a:p>
          <a:p>
            <a:pPr marL="342900" indent="-342900" algn="just">
              <a:lnSpc>
                <a:spcPct val="150000"/>
              </a:lnSpc>
              <a:buClr>
                <a:srgbClr val="FF0000"/>
              </a:buClr>
              <a:buFont typeface="Wingdings" panose="05000000000000000000" pitchFamily="2" charset="2"/>
              <a:buChar char="Ø"/>
            </a:pPr>
            <a:r>
              <a:rPr lang="zh-CN" altLang="en-US" sz="2000" dirty="0">
                <a:latin typeface="黑体" panose="02010609060101010101" charset="-122"/>
                <a:ea typeface="黑体" panose="02010609060101010101" charset="-122"/>
              </a:rPr>
              <a:t>推进完成项目论文与专利考核指标</a:t>
            </a:r>
            <a:endParaRPr lang="zh-CN" altLang="en-US" sz="2000" dirty="0">
              <a:latin typeface="黑体" panose="02010609060101010101" charset="-122"/>
              <a:ea typeface="黑体" panose="02010609060101010101"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en-US" altLang="zh-CN"/>
              <a:t>1</a:t>
            </a:r>
            <a:r>
              <a:rPr lang="zh-CN" altLang="en-US"/>
              <a:t>、《物理数据融合的井下压裂过程仿真与预警基础研究》</a:t>
            </a:r>
            <a:endParaRPr lang="zh-CN" altLang="en-US"/>
          </a:p>
          <a:p>
            <a:pPr algn="l"/>
            <a:r>
              <a:rPr lang="en-US" altLang="zh-CN"/>
              <a:t>2</a:t>
            </a:r>
            <a:r>
              <a:rPr lang="zh-CN" altLang="en-US"/>
              <a:t>、西南</a:t>
            </a:r>
            <a:r>
              <a:rPr lang="zh-CN" altLang="en-US"/>
              <a:t>开题</a:t>
            </a:r>
            <a:endParaRPr lang="zh-CN" altLang="en-US"/>
          </a:p>
          <a:p>
            <a:pPr algn="l"/>
            <a:r>
              <a:rPr lang="en-US" altLang="zh-CN"/>
              <a:t>3</a:t>
            </a:r>
            <a:r>
              <a:rPr lang="zh-CN" altLang="en-US"/>
              <a:t>、西南项目</a:t>
            </a:r>
            <a:r>
              <a:rPr lang="zh-CN" altLang="en-US"/>
              <a:t>交流</a:t>
            </a:r>
            <a:endParaRPr lang="zh-CN" altLang="en-US"/>
          </a:p>
          <a:p>
            <a:pPr algn="l"/>
            <a:r>
              <a:rPr lang="en-US" altLang="zh-CN">
                <a:solidFill>
                  <a:srgbClr val="FF0000"/>
                </a:solidFill>
              </a:rPr>
              <a:t>4</a:t>
            </a:r>
            <a:r>
              <a:rPr lang="zh-CN" altLang="en-US">
                <a:solidFill>
                  <a:srgbClr val="FF0000"/>
                </a:solidFill>
              </a:rPr>
              <a:t>、水击波银川</a:t>
            </a:r>
            <a:endParaRPr lang="zh-CN" altLang="en-US">
              <a:solidFill>
                <a:srgbClr val="FF0000"/>
              </a:solidFill>
            </a:endParaRPr>
          </a:p>
          <a:p>
            <a:pPr algn="l"/>
            <a:r>
              <a:rPr lang="zh-CN" altLang="en-US">
                <a:sym typeface="+mn-ea"/>
              </a:rPr>
              <a:t>5、西南中期答辩</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64414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rPr>
              <a:t>井口压力曲线的响应模式</a:t>
            </a:r>
            <a:r>
              <a:rPr lang="zh-CN" altLang="en-US" sz="2800" b="1" dirty="0">
                <a:solidFill>
                  <a:srgbClr val="0000FF"/>
                </a:solidFill>
                <a:latin typeface="Times New Roman" panose="02020603050405020304" pitchFamily="18" charset="0"/>
                <a:ea typeface="黑体" panose="02010609060101010101" charset="-122"/>
              </a:rPr>
              <a:t>相关研究</a:t>
            </a:r>
            <a:endParaRPr lang="zh-CN" altLang="en-US" sz="2800" b="1" dirty="0">
              <a:solidFill>
                <a:srgbClr val="0000FF"/>
              </a:solidFill>
              <a:latin typeface="Times New Roman" panose="02020603050405020304" pitchFamily="18" charset="0"/>
              <a:ea typeface="黑体" panose="02010609060101010101" charset="-122"/>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a:t>
            </a:r>
            <a:r>
              <a:rPr lang="zh-CN" altLang="en-US" sz="4000" b="1" dirty="0">
                <a:solidFill>
                  <a:srgbClr val="FF0000"/>
                </a:solidFill>
                <a:latin typeface="黑体" panose="02010609060101010101" charset="-122"/>
                <a:ea typeface="黑体" panose="02010609060101010101" charset="-122"/>
                <a:sym typeface="+mn-ea"/>
              </a:rPr>
              <a:t>背景</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52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rgbClr val="FF0000"/>
              </a:buClr>
            </a:pPr>
            <a:r>
              <a:rPr lang="en-US" sz="2400" b="1" dirty="0">
                <a:latin typeface="黑体" panose="02010609060101010101" charset="-122"/>
                <a:ea typeface="黑体" panose="02010609060101010101" charset="-122"/>
              </a:rPr>
              <a:t>    </a:t>
            </a:r>
            <a:r>
              <a:rPr sz="2400" b="1" dirty="0">
                <a:latin typeface="黑体" panose="02010609060101010101" charset="-122"/>
                <a:ea typeface="黑体" panose="02010609060101010101" charset="-122"/>
              </a:rPr>
              <a:t>由于水的</a:t>
            </a:r>
            <a:r>
              <a:rPr sz="2400" b="1" dirty="0">
                <a:solidFill>
                  <a:srgbClr val="FF0000"/>
                </a:solidFill>
                <a:latin typeface="黑体" panose="02010609060101010101" charset="-122"/>
                <a:ea typeface="黑体" panose="02010609060101010101" charset="-122"/>
              </a:rPr>
              <a:t>不可压缩性</a:t>
            </a:r>
            <a:r>
              <a:rPr sz="2400" b="1" dirty="0">
                <a:latin typeface="黑体" panose="02010609060101010101" charset="-122"/>
                <a:ea typeface="黑体" panose="02010609060101010101" charset="-122"/>
              </a:rPr>
              <a:t>，</a:t>
            </a:r>
            <a:r>
              <a:rPr lang="zh-CN" sz="2400" b="1" dirty="0">
                <a:latin typeface="黑体" panose="02010609060101010101" charset="-122"/>
                <a:ea typeface="黑体" panose="02010609060101010101" charset="-122"/>
              </a:rPr>
              <a:t>且</a:t>
            </a:r>
            <a:r>
              <a:rPr sz="2400" b="1" dirty="0">
                <a:latin typeface="黑体" panose="02010609060101010101" charset="-122"/>
                <a:ea typeface="黑体" panose="02010609060101010101" charset="-122"/>
              </a:rPr>
              <a:t>直接连接到裂缝尖端，因此</a:t>
            </a:r>
            <a:r>
              <a:rPr lang="zh-CN" sz="2400" b="1" dirty="0">
                <a:solidFill>
                  <a:srgbClr val="FF0000"/>
                </a:solidFill>
                <a:latin typeface="黑体" panose="02010609060101010101" charset="-122"/>
                <a:ea typeface="黑体" panose="02010609060101010101" charset="-122"/>
              </a:rPr>
              <a:t>井口</a:t>
            </a:r>
            <a:r>
              <a:rPr sz="2400" b="1" dirty="0">
                <a:solidFill>
                  <a:srgbClr val="FF0000"/>
                </a:solidFill>
                <a:latin typeface="黑体" panose="02010609060101010101" charset="-122"/>
                <a:ea typeface="黑体" panose="02010609060101010101" charset="-122"/>
              </a:rPr>
              <a:t>压力的变化</a:t>
            </a:r>
            <a:r>
              <a:rPr sz="2400" b="1" dirty="0">
                <a:latin typeface="黑体" panose="02010609060101010101" charset="-122"/>
                <a:ea typeface="黑体" panose="02010609060101010101" charset="-122"/>
              </a:rPr>
              <a:t>必须是</a:t>
            </a:r>
            <a:r>
              <a:rPr sz="2400" b="1" dirty="0">
                <a:solidFill>
                  <a:srgbClr val="FF0000"/>
                </a:solidFill>
                <a:latin typeface="黑体" panose="02010609060101010101" charset="-122"/>
                <a:ea typeface="黑体" panose="02010609060101010101" charset="-122"/>
              </a:rPr>
              <a:t>机械的或地质</a:t>
            </a:r>
            <a:r>
              <a:rPr sz="2400" b="1" dirty="0">
                <a:latin typeface="黑体" panose="02010609060101010101" charset="-122"/>
                <a:ea typeface="黑体" panose="02010609060101010101" charset="-122"/>
              </a:rPr>
              <a:t>的，</a:t>
            </a:r>
            <a:r>
              <a:rPr lang="zh-CN" sz="2400" b="1" dirty="0">
                <a:latin typeface="黑体" panose="02010609060101010101" charset="-122"/>
                <a:ea typeface="黑体" panose="02010609060101010101" charset="-122"/>
              </a:rPr>
              <a:t>并将由此</a:t>
            </a:r>
            <a:r>
              <a:rPr sz="2400" b="1" dirty="0">
                <a:latin typeface="黑体" panose="02010609060101010101" charset="-122"/>
                <a:ea typeface="黑体" panose="02010609060101010101" charset="-122"/>
              </a:rPr>
              <a:t>提供</a:t>
            </a:r>
            <a:r>
              <a:rPr lang="zh-CN" sz="2400" b="1" dirty="0">
                <a:solidFill>
                  <a:srgbClr val="FF0000"/>
                </a:solidFill>
                <a:latin typeface="黑体" panose="02010609060101010101" charset="-122"/>
                <a:ea typeface="黑体" panose="02010609060101010101" charset="-122"/>
              </a:rPr>
              <a:t>水力裂缝</a:t>
            </a:r>
            <a:r>
              <a:rPr sz="2400" b="1" dirty="0">
                <a:solidFill>
                  <a:srgbClr val="FF0000"/>
                </a:solidFill>
                <a:latin typeface="黑体" panose="02010609060101010101" charset="-122"/>
                <a:ea typeface="黑体" panose="02010609060101010101" charset="-122"/>
              </a:rPr>
              <a:t>扩展</a:t>
            </a:r>
            <a:r>
              <a:rPr sz="2400" b="1" dirty="0">
                <a:latin typeface="黑体" panose="02010609060101010101" charset="-122"/>
                <a:ea typeface="黑体" panose="02010609060101010101" charset="-122"/>
              </a:rPr>
              <a:t>的</a:t>
            </a:r>
            <a:r>
              <a:rPr lang="zh-CN" sz="2400" b="1" dirty="0">
                <a:latin typeface="黑体" panose="02010609060101010101" charset="-122"/>
                <a:ea typeface="黑体" panose="02010609060101010101" charset="-122"/>
              </a:rPr>
              <a:t>部分</a:t>
            </a:r>
            <a:r>
              <a:rPr sz="2400" b="1" dirty="0">
                <a:latin typeface="黑体" panose="02010609060101010101" charset="-122"/>
                <a:ea typeface="黑体" panose="02010609060101010101" charset="-122"/>
              </a:rPr>
              <a:t>信息(Scherz, 2020年)</a:t>
            </a:r>
            <a:r>
              <a:rPr lang="zh-CN" sz="2400" b="1" dirty="0">
                <a:latin typeface="黑体" panose="02010609060101010101" charset="-122"/>
                <a:ea typeface="黑体" panose="02010609060101010101" charset="-122"/>
              </a:rPr>
              <a:t>。</a:t>
            </a:r>
            <a:r>
              <a:rPr sz="2400" b="1" dirty="0">
                <a:latin typeface="黑体" panose="02010609060101010101" charset="-122"/>
                <a:ea typeface="黑体" panose="02010609060101010101" charset="-122"/>
                <a:sym typeface="+mn-ea"/>
              </a:rPr>
              <a:t>近年来，许多学者</a:t>
            </a:r>
            <a:r>
              <a:rPr sz="2400" b="1" dirty="0">
                <a:solidFill>
                  <a:srgbClr val="FF0000"/>
                </a:solidFill>
                <a:latin typeface="黑体" panose="02010609060101010101" charset="-122"/>
                <a:ea typeface="黑体" panose="02010609060101010101" charset="-122"/>
                <a:sym typeface="+mn-ea"/>
              </a:rPr>
              <a:t>基于压力曲线的响应模式</a:t>
            </a:r>
            <a:r>
              <a:rPr sz="2400" b="1" dirty="0">
                <a:latin typeface="黑体" panose="02010609060101010101" charset="-122"/>
                <a:ea typeface="黑体" panose="02010609060101010101" charset="-122"/>
                <a:sym typeface="+mn-ea"/>
              </a:rPr>
              <a:t>进行了相关研究。</a:t>
            </a:r>
            <a:endParaRPr sz="2400" b="1" dirty="0">
              <a:latin typeface="黑体" panose="02010609060101010101" charset="-122"/>
              <a:ea typeface="黑体" panose="02010609060101010101" charset="-122"/>
              <a:sym typeface="+mn-ea"/>
            </a:endParaRPr>
          </a:p>
        </p:txBody>
      </p:sp>
      <p:graphicFrame>
        <p:nvGraphicFramePr>
          <p:cNvPr id="26" name="表格 25"/>
          <p:cNvGraphicFramePr/>
          <p:nvPr>
            <p:custDataLst>
              <p:tags r:id="rId1"/>
            </p:custDataLst>
          </p:nvPr>
        </p:nvGraphicFramePr>
        <p:xfrm>
          <a:off x="286385" y="3229610"/>
          <a:ext cx="11503025" cy="3484245"/>
        </p:xfrm>
        <a:graphic>
          <a:graphicData uri="http://schemas.openxmlformats.org/drawingml/2006/table">
            <a:tbl>
              <a:tblPr firstRow="1" bandRow="1">
                <a:tableStyleId>{5C22544A-7EE6-4342-B048-85BDC9FD1C3A}</a:tableStyleId>
              </a:tblPr>
              <a:tblGrid>
                <a:gridCol w="1346835"/>
                <a:gridCol w="3782695"/>
                <a:gridCol w="6373495"/>
              </a:tblGrid>
              <a:tr h="390525">
                <a:tc>
                  <a:txBody>
                    <a:bodyPr/>
                    <a:p>
                      <a:pPr algn="ctr">
                        <a:buNone/>
                      </a:pPr>
                      <a:r>
                        <a:rPr lang="zh-CN" altLang="en-US" sz="1600">
                          <a:latin typeface="Times New Roman" panose="02020603050405020304" pitchFamily="18" charset="0"/>
                          <a:ea typeface="黑体" panose="02010609060101010101" charset="-122"/>
                        </a:rPr>
                        <a:t>作者</a:t>
                      </a:r>
                      <a:endParaRPr lang="zh-CN" altLang="en-US" sz="1600">
                        <a:latin typeface="Times New Roman" panose="02020603050405020304" pitchFamily="18" charset="0"/>
                        <a:ea typeface="黑体" panose="02010609060101010101" charset="-122"/>
                      </a:endParaRPr>
                    </a:p>
                  </a:txBody>
                  <a:tcPr anchor="ctr" anchorCtr="0"/>
                </a:tc>
                <a:tc>
                  <a:txBody>
                    <a:bodyPr/>
                    <a:p>
                      <a:pPr algn="ctr">
                        <a:buNone/>
                      </a:pPr>
                      <a:r>
                        <a:rPr lang="zh-CN" altLang="en-US" sz="1600">
                          <a:latin typeface="Times New Roman" panose="02020603050405020304" pitchFamily="18" charset="0"/>
                          <a:ea typeface="黑体" panose="02010609060101010101" charset="-122"/>
                        </a:rPr>
                        <a:t>论文题目</a:t>
                      </a:r>
                      <a:endParaRPr lang="zh-CN" altLang="en-US" sz="1600">
                        <a:latin typeface="Times New Roman" panose="02020603050405020304" pitchFamily="18" charset="0"/>
                        <a:ea typeface="黑体" panose="02010609060101010101" charset="-122"/>
                      </a:endParaRPr>
                    </a:p>
                  </a:txBody>
                  <a:tcPr anchor="ctr" anchorCtr="0"/>
                </a:tc>
                <a:tc>
                  <a:txBody>
                    <a:bodyPr/>
                    <a:p>
                      <a:pPr algn="ctr">
                        <a:buNone/>
                      </a:pPr>
                      <a:r>
                        <a:rPr lang="zh-CN" altLang="en-US" sz="1600">
                          <a:latin typeface="Times New Roman" panose="02020603050405020304" pitchFamily="18" charset="0"/>
                          <a:ea typeface="黑体" panose="02010609060101010101" charset="-122"/>
                        </a:rPr>
                        <a:t>主要内容</a:t>
                      </a:r>
                      <a:endParaRPr lang="zh-CN" altLang="en-US" sz="1600">
                        <a:latin typeface="Times New Roman" panose="02020603050405020304" pitchFamily="18" charset="0"/>
                        <a:ea typeface="黑体" panose="02010609060101010101" charset="-122"/>
                      </a:endParaRPr>
                    </a:p>
                  </a:txBody>
                  <a:tcPr anchor="ctr" anchorCtr="0"/>
                </a:tc>
              </a:tr>
              <a:tr h="868680">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Nolte, K.G</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A general analysis of fracturing</a:t>
                      </a:r>
                      <a:r>
                        <a:rPr lang="en-US" altLang="zh-CN" sz="1600">
                          <a:latin typeface="Times New Roman" panose="02020603050405020304" pitchFamily="18" charset="0"/>
                          <a:ea typeface="黑体" panose="02010609060101010101" charset="-122"/>
                          <a:cs typeface="Times New Roman" panose="02020603050405020304" pitchFamily="18" charset="0"/>
                        </a:rPr>
                        <a:t> </a:t>
                      </a:r>
                      <a:r>
                        <a:rPr lang="zh-CN" altLang="en-US" sz="1600">
                          <a:latin typeface="Times New Roman" panose="02020603050405020304" pitchFamily="18" charset="0"/>
                          <a:ea typeface="黑体" panose="02010609060101010101" charset="-122"/>
                          <a:cs typeface="Times New Roman" panose="02020603050405020304" pitchFamily="18" charset="0"/>
                        </a:rPr>
                        <a:t>pressure decline with application to three models.</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根据净压力与时间的关系，将响应分为四种类型：当曲线的斜率是一个相对较小的正值时，表示裂缝的正常传播；当曲线的斜率为1时，表示砂堵；当曲线急剧下降时，表示裂缝高度的增加。</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r h="579120">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Kim, G.-H.</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Interpretation of hydraulic</a:t>
                      </a:r>
                      <a:r>
                        <a:rPr lang="en-US" altLang="zh-CN" sz="1600">
                          <a:latin typeface="Times New Roman" panose="02020603050405020304" pitchFamily="18" charset="0"/>
                          <a:ea typeface="黑体" panose="02010609060101010101" charset="-122"/>
                          <a:cs typeface="Times New Roman" panose="02020603050405020304" pitchFamily="18" charset="0"/>
                        </a:rPr>
                        <a:t> </a:t>
                      </a:r>
                      <a:r>
                        <a:rPr lang="zh-CN" altLang="en-US" sz="1600">
                          <a:latin typeface="Times New Roman" panose="02020603050405020304" pitchFamily="18" charset="0"/>
                          <a:ea typeface="黑体" panose="02010609060101010101" charset="-122"/>
                          <a:cs typeface="Times New Roman" panose="02020603050405020304" pitchFamily="18" charset="0"/>
                        </a:rPr>
                        <a:t>fracturing pressure in tight gas formations.</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在Nolte-Smith等人研究的基础上，考虑了摩擦、温度、压力等多个复杂因素对井底处理压力的影响，并准确计算了井底净压力。</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r h="748665">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Pirayesh, E.</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A new method to interpret fracturing pressure—application to frac pack.</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基于Nolte-Smith方法认为裂缝传播是一个间歇性过程，并提出了移动参考点（MRP）方法。通过区分e值与时间的关系，实现了水力压裂的实时诊断，如裂缝的正常传播、高度增加、砂堵等。</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r h="748665">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Wigwe, M.E.</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Actual hydraulic fracture length determination using a new technique for shale</a:t>
                      </a:r>
                      <a:r>
                        <a:rPr lang="en-US" altLang="zh-CN" sz="1600">
                          <a:latin typeface="Times New Roman" panose="02020603050405020304" pitchFamily="18" charset="0"/>
                          <a:ea typeface="黑体" panose="02010609060101010101" charset="-122"/>
                          <a:cs typeface="Times New Roman" panose="02020603050405020304" pitchFamily="18" charset="0"/>
                        </a:rPr>
                        <a:t> </a:t>
                      </a:r>
                      <a:r>
                        <a:rPr lang="zh-CN" altLang="en-US" sz="1600">
                          <a:latin typeface="Times New Roman" panose="02020603050405020304" pitchFamily="18" charset="0"/>
                          <a:ea typeface="黑体" panose="02010609060101010101" charset="-122"/>
                          <a:cs typeface="Times New Roman" panose="02020603050405020304" pitchFamily="18" charset="0"/>
                        </a:rPr>
                        <a:t>fracturing data analysis in real time. </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进一步发展了MRP方法，以识别页岩地层中的天然裂缝并确定水力裂缝的长度。</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64414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rPr>
              <a:t>井口压力曲线的响应模式</a:t>
            </a:r>
            <a:r>
              <a:rPr lang="zh-CN" altLang="en-US" sz="2800" b="1" dirty="0">
                <a:solidFill>
                  <a:srgbClr val="0000FF"/>
                </a:solidFill>
                <a:latin typeface="Times New Roman" panose="02020603050405020304" pitchFamily="18" charset="0"/>
                <a:ea typeface="黑体" panose="02010609060101010101" charset="-122"/>
              </a:rPr>
              <a:t>相关研究</a:t>
            </a:r>
            <a:endParaRPr lang="zh-CN" altLang="en-US" sz="2800" b="1" dirty="0">
              <a:solidFill>
                <a:srgbClr val="0000FF"/>
              </a:solidFill>
              <a:latin typeface="Times New Roman" panose="02020603050405020304" pitchFamily="18" charset="0"/>
              <a:ea typeface="黑体" panose="02010609060101010101" charset="-122"/>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a:t>
            </a:r>
            <a:r>
              <a:rPr lang="zh-CN" altLang="en-US" sz="4000" b="1" dirty="0">
                <a:solidFill>
                  <a:srgbClr val="FF0000"/>
                </a:solidFill>
                <a:latin typeface="黑体" panose="02010609060101010101" charset="-122"/>
                <a:ea typeface="黑体" panose="02010609060101010101" charset="-122"/>
                <a:sym typeface="+mn-ea"/>
              </a:rPr>
              <a:t>背景</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52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rgbClr val="FF0000"/>
              </a:buClr>
            </a:pPr>
            <a:r>
              <a:rPr lang="en-US" sz="2400" b="1" dirty="0">
                <a:latin typeface="黑体" panose="02010609060101010101" charset="-122"/>
                <a:ea typeface="黑体" panose="02010609060101010101" charset="-122"/>
              </a:rPr>
              <a:t>    </a:t>
            </a:r>
            <a:r>
              <a:rPr sz="2400" b="1" dirty="0">
                <a:latin typeface="黑体" panose="02010609060101010101" charset="-122"/>
                <a:ea typeface="黑体" panose="02010609060101010101" charset="-122"/>
              </a:rPr>
              <a:t>水力压裂过程中的压力信号受到多种复杂因素的影响。该信号是非平稳的、瞬态的，并且在</a:t>
            </a:r>
            <a:r>
              <a:rPr sz="2400" b="1" dirty="0">
                <a:solidFill>
                  <a:srgbClr val="FF0000"/>
                </a:solidFill>
                <a:latin typeface="黑体" panose="02010609060101010101" charset="-122"/>
                <a:ea typeface="黑体" panose="02010609060101010101" charset="-122"/>
              </a:rPr>
              <a:t>不同频率上包含不同的信息</a:t>
            </a:r>
            <a:r>
              <a:rPr sz="2400" b="1" dirty="0">
                <a:latin typeface="黑体" panose="02010609060101010101" charset="-122"/>
                <a:ea typeface="黑体" panose="02010609060101010101" charset="-122"/>
              </a:rPr>
              <a:t>（Unal等人，2018年）。将</a:t>
            </a:r>
            <a:r>
              <a:rPr sz="2400" b="1" dirty="0">
                <a:solidFill>
                  <a:srgbClr val="FF0000"/>
                </a:solidFill>
                <a:latin typeface="黑体" panose="02010609060101010101" charset="-122"/>
                <a:ea typeface="黑体" panose="02010609060101010101" charset="-122"/>
              </a:rPr>
              <a:t>压力信号分解为不同的频率带</a:t>
            </a:r>
            <a:r>
              <a:rPr sz="2400" b="1" dirty="0">
                <a:latin typeface="黑体" panose="02010609060101010101" charset="-122"/>
                <a:ea typeface="黑体" panose="02010609060101010101" charset="-122"/>
              </a:rPr>
              <a:t>可以帮助我们</a:t>
            </a:r>
            <a:r>
              <a:rPr sz="2400" b="1" dirty="0">
                <a:solidFill>
                  <a:srgbClr val="FF0000"/>
                </a:solidFill>
                <a:latin typeface="黑体" panose="02010609060101010101" charset="-122"/>
                <a:ea typeface="黑体" panose="02010609060101010101" charset="-122"/>
              </a:rPr>
              <a:t>理解压力信号的响应特性和规律</a:t>
            </a:r>
            <a:r>
              <a:rPr sz="2400" b="1" dirty="0">
                <a:latin typeface="黑体" panose="02010609060101010101" charset="-122"/>
                <a:ea typeface="黑体" panose="02010609060101010101" charset="-122"/>
              </a:rPr>
              <a:t>。</a:t>
            </a:r>
            <a:endParaRPr sz="2400" b="1" dirty="0">
              <a:latin typeface="黑体" panose="02010609060101010101" charset="-122"/>
              <a:ea typeface="黑体" panose="02010609060101010101" charset="-122"/>
            </a:endParaRPr>
          </a:p>
        </p:txBody>
      </p:sp>
      <p:graphicFrame>
        <p:nvGraphicFramePr>
          <p:cNvPr id="26" name="表格 25"/>
          <p:cNvGraphicFramePr/>
          <p:nvPr>
            <p:custDataLst>
              <p:tags r:id="rId1"/>
            </p:custDataLst>
          </p:nvPr>
        </p:nvGraphicFramePr>
        <p:xfrm>
          <a:off x="286385" y="3248025"/>
          <a:ext cx="11503025" cy="3444240"/>
        </p:xfrm>
        <a:graphic>
          <a:graphicData uri="http://schemas.openxmlformats.org/drawingml/2006/table">
            <a:tbl>
              <a:tblPr firstRow="1" bandRow="1">
                <a:tableStyleId>{5C22544A-7EE6-4342-B048-85BDC9FD1C3A}</a:tableStyleId>
              </a:tblPr>
              <a:tblGrid>
                <a:gridCol w="1346835"/>
                <a:gridCol w="4210685"/>
                <a:gridCol w="5945505"/>
              </a:tblGrid>
              <a:tr h="444500">
                <a:tc>
                  <a:txBody>
                    <a:bodyPr/>
                    <a:p>
                      <a:pPr algn="ctr">
                        <a:buNone/>
                      </a:pPr>
                      <a:r>
                        <a:rPr lang="zh-CN" altLang="en-US" sz="1600">
                          <a:latin typeface="Times New Roman" panose="02020603050405020304" pitchFamily="18" charset="0"/>
                          <a:ea typeface="黑体" panose="02010609060101010101" charset="-122"/>
                        </a:rPr>
                        <a:t>作者</a:t>
                      </a:r>
                      <a:endParaRPr lang="zh-CN" altLang="en-US" sz="1600">
                        <a:latin typeface="Times New Roman" panose="02020603050405020304" pitchFamily="18" charset="0"/>
                        <a:ea typeface="黑体" panose="02010609060101010101" charset="-122"/>
                      </a:endParaRPr>
                    </a:p>
                  </a:txBody>
                  <a:tcPr anchor="ctr" anchorCtr="0"/>
                </a:tc>
                <a:tc>
                  <a:txBody>
                    <a:bodyPr/>
                    <a:p>
                      <a:pPr algn="ctr">
                        <a:buNone/>
                      </a:pPr>
                      <a:r>
                        <a:rPr lang="zh-CN" altLang="en-US" sz="1600">
                          <a:latin typeface="Times New Roman" panose="02020603050405020304" pitchFamily="18" charset="0"/>
                          <a:ea typeface="黑体" panose="02010609060101010101" charset="-122"/>
                        </a:rPr>
                        <a:t>论文题目</a:t>
                      </a:r>
                      <a:endParaRPr lang="zh-CN" altLang="en-US" sz="1600">
                        <a:latin typeface="Times New Roman" panose="02020603050405020304" pitchFamily="18" charset="0"/>
                        <a:ea typeface="黑体" panose="02010609060101010101" charset="-122"/>
                      </a:endParaRPr>
                    </a:p>
                  </a:txBody>
                  <a:tcPr anchor="ctr" anchorCtr="0"/>
                </a:tc>
                <a:tc>
                  <a:txBody>
                    <a:bodyPr/>
                    <a:p>
                      <a:pPr algn="ctr">
                        <a:buNone/>
                      </a:pPr>
                      <a:r>
                        <a:rPr lang="zh-CN" altLang="en-US" sz="1600">
                          <a:latin typeface="Times New Roman" panose="02020603050405020304" pitchFamily="18" charset="0"/>
                          <a:ea typeface="黑体" panose="02010609060101010101" charset="-122"/>
                        </a:rPr>
                        <a:t>主要内容</a:t>
                      </a:r>
                      <a:endParaRPr lang="zh-CN" altLang="en-US" sz="1600">
                        <a:latin typeface="Times New Roman" panose="02020603050405020304" pitchFamily="18" charset="0"/>
                        <a:ea typeface="黑体" panose="02010609060101010101" charset="-122"/>
                      </a:endParaRPr>
                    </a:p>
                  </a:txBody>
                  <a:tcPr anchor="ctr" anchorCtr="0"/>
                </a:tc>
              </a:tr>
              <a:tr h="1212850">
                <a:tc>
                  <a:txBody>
                    <a:bodyPr/>
                    <a:p>
                      <a:pPr algn="ctr">
                        <a:buNone/>
                      </a:pPr>
                      <a:r>
                        <a:rPr sz="1600">
                          <a:latin typeface="Times New Roman" panose="02020603050405020304" pitchFamily="18" charset="0"/>
                          <a:ea typeface="黑体" panose="02010609060101010101" charset="-122"/>
                          <a:cs typeface="Times New Roman" panose="02020603050405020304" pitchFamily="18" charset="0"/>
                        </a:rPr>
                        <a:t>Unal, E.</a:t>
                      </a:r>
                      <a:endParaRPr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sz="1600">
                          <a:latin typeface="Times New Roman" panose="02020603050405020304" pitchFamily="18" charset="0"/>
                          <a:ea typeface="黑体" panose="02010609060101010101" charset="-122"/>
                          <a:cs typeface="Times New Roman" panose="02020603050405020304" pitchFamily="18" charset="0"/>
                        </a:rPr>
                        <a:t>Improved understanding of dynamic fracture behavior in unconventional horizontal wells using wavelet transformation.</a:t>
                      </a:r>
                      <a:endParaRPr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首次将小波分析应用于水力压裂处理曲线的分析和解释。通过对压力曲线进行离散小波变换，获得了随时间变化的小波细节系数曲线，并进行了分析和解释。通过MRP（移动参考点）方法预先诊断了砂堵，并进行了验证。</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r h="935990">
                <a:tc>
                  <a:txBody>
                    <a:bodyPr/>
                    <a:p>
                      <a:pPr algn="ctr">
                        <a:buNone/>
                      </a:pPr>
                      <a:r>
                        <a:rPr sz="1600">
                          <a:latin typeface="Times New Roman" panose="02020603050405020304" pitchFamily="18" charset="0"/>
                          <a:ea typeface="黑体" panose="02010609060101010101" charset="-122"/>
                          <a:cs typeface="Times New Roman" panose="02020603050405020304" pitchFamily="18" charset="0"/>
                          <a:sym typeface="+mn-ea"/>
                        </a:rPr>
                        <a:t>Unal, E.</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sz="1600">
                          <a:latin typeface="Times New Roman" panose="02020603050405020304" pitchFamily="18" charset="0"/>
                          <a:ea typeface="黑体" panose="02010609060101010101" charset="-122"/>
                          <a:cs typeface="Times New Roman" panose="02020603050405020304" pitchFamily="18" charset="0"/>
                        </a:rPr>
                        <a:t>Wavelet analysis of fracturing pressure data. In: Presented at the SPE Hydraulic Fracturing Technology Conference and Exhibition.</a:t>
                      </a:r>
                      <a:endParaRPr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引入了Burrus等人（1998年）提出的能量概念。通过比较压力与速率之间的能量关系，将水力压裂处理过程中的事件类型划分为两种：与速率相关和与岩石相关。</a:t>
                      </a:r>
                      <a:endParaRPr lang="en-US" altLang="zh-CN"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r h="850900">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Awad, M.M.</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Interpretation of hydraulic fracturing events</a:t>
                      </a:r>
                      <a:r>
                        <a:rPr lang="en-US" altLang="zh-CN" sz="1600">
                          <a:latin typeface="Times New Roman" panose="02020603050405020304" pitchFamily="18" charset="0"/>
                          <a:ea typeface="黑体" panose="02010609060101010101" charset="-122"/>
                          <a:cs typeface="Times New Roman" panose="02020603050405020304" pitchFamily="18" charset="0"/>
                        </a:rPr>
                        <a:t> </a:t>
                      </a:r>
                      <a:r>
                        <a:rPr lang="zh-CN" altLang="en-US" sz="1600">
                          <a:latin typeface="Times New Roman" panose="02020603050405020304" pitchFamily="18" charset="0"/>
                          <a:ea typeface="黑体" panose="02010609060101010101" charset="-122"/>
                          <a:cs typeface="Times New Roman" panose="02020603050405020304" pitchFamily="18" charset="0"/>
                        </a:rPr>
                        <a:t>by analyzing the energy of rate and pressure signals.</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c>
                  <a:txBody>
                    <a:bodyPr/>
                    <a:p>
                      <a:pPr algn="ctr">
                        <a:buNone/>
                      </a:pPr>
                      <a:r>
                        <a:rPr lang="zh-CN" altLang="en-US" sz="1600">
                          <a:latin typeface="Times New Roman" panose="02020603050405020304" pitchFamily="18" charset="0"/>
                          <a:ea typeface="黑体" panose="02010609060101010101" charset="-122"/>
                          <a:cs typeface="Times New Roman" panose="02020603050405020304" pitchFamily="18" charset="0"/>
                        </a:rPr>
                        <a:t>进一步解释了小波基选择和最优分解级别的选择。</a:t>
                      </a:r>
                      <a:endParaRPr lang="zh-CN" altLang="en-US" sz="1600">
                        <a:latin typeface="Times New Roman" panose="02020603050405020304" pitchFamily="18" charset="0"/>
                        <a:ea typeface="黑体" panose="02010609060101010101" charset="-122"/>
                        <a:cs typeface="Times New Roman" panose="02020603050405020304" pitchFamily="18" charset="0"/>
                      </a:endParaRPr>
                    </a:p>
                  </a:txBody>
                  <a:tcPr anchor="ctr" anchorCtr="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64414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rPr>
              <a:t>小波分析</a:t>
            </a:r>
            <a:r>
              <a:rPr lang="zh-CN" altLang="en-US" sz="2800" b="1" dirty="0">
                <a:solidFill>
                  <a:srgbClr val="0000FF"/>
                </a:solidFill>
                <a:latin typeface="Times New Roman" panose="02020603050405020304" pitchFamily="18" charset="0"/>
                <a:ea typeface="黑体" panose="02010609060101010101" charset="-122"/>
              </a:rPr>
              <a:t>原理</a:t>
            </a:r>
            <a:endParaRPr lang="zh-CN" altLang="en-US" sz="2800" b="1" dirty="0">
              <a:solidFill>
                <a:srgbClr val="0000FF"/>
              </a:solidFill>
              <a:latin typeface="Times New Roman" panose="02020603050405020304" pitchFamily="18" charset="0"/>
              <a:ea typeface="黑体" panose="02010609060101010101" charset="-122"/>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a:t>
            </a:r>
            <a:r>
              <a:rPr lang="zh-CN" altLang="en-US" sz="4000" b="1" dirty="0">
                <a:solidFill>
                  <a:srgbClr val="FF0000"/>
                </a:solidFill>
                <a:latin typeface="黑体" panose="02010609060101010101" charset="-122"/>
                <a:ea typeface="黑体" panose="02010609060101010101" charset="-122"/>
                <a:sym typeface="+mn-ea"/>
              </a:rPr>
              <a:t>背景</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小波分析对于水力压裂过程中的</a:t>
            </a:r>
            <a:r>
              <a:rPr sz="2400" b="1" dirty="0">
                <a:solidFill>
                  <a:srgbClr val="FF0000"/>
                </a:solidFill>
                <a:latin typeface="黑体" panose="02010609060101010101" charset="-122"/>
                <a:ea typeface="黑体" panose="02010609060101010101" charset="-122"/>
                <a:sym typeface="+mn-ea"/>
              </a:rPr>
              <a:t>非平稳的、瞬态的</a:t>
            </a:r>
            <a:r>
              <a:rPr sz="2400" b="1" dirty="0">
                <a:latin typeface="黑体" panose="02010609060101010101" charset="-122"/>
                <a:ea typeface="黑体" panose="02010609060101010101" charset="-122"/>
                <a:sym typeface="+mn-ea"/>
              </a:rPr>
              <a:t>、且在</a:t>
            </a:r>
            <a:r>
              <a:rPr sz="2400" b="1" dirty="0">
                <a:solidFill>
                  <a:srgbClr val="FF0000"/>
                </a:solidFill>
                <a:latin typeface="黑体" panose="02010609060101010101" charset="-122"/>
                <a:ea typeface="黑体" panose="02010609060101010101" charset="-122"/>
                <a:sym typeface="+mn-ea"/>
              </a:rPr>
              <a:t>不同频率上包含不同的信息</a:t>
            </a:r>
            <a:r>
              <a:rPr sz="2400" b="1" dirty="0">
                <a:latin typeface="黑体" panose="02010609060101010101" charset="-122"/>
                <a:ea typeface="黑体" panose="02010609060101010101" charset="-122"/>
                <a:sym typeface="+mn-ea"/>
              </a:rPr>
              <a:t>的信号有着很好的发掘和处理能力。</a:t>
            </a:r>
            <a:r>
              <a:rPr sz="2400" b="1" dirty="0">
                <a:latin typeface="黑体" panose="02010609060101010101" charset="-122"/>
                <a:ea typeface="黑体" panose="02010609060101010101" charset="-122"/>
                <a:sym typeface="+mn-ea"/>
              </a:rPr>
              <a:t>相比于傅里叶变换和短时傅里叶变换，其具有很好的</a:t>
            </a:r>
            <a:r>
              <a:rPr sz="2400" b="1" dirty="0">
                <a:solidFill>
                  <a:srgbClr val="FF0000"/>
                </a:solidFill>
                <a:latin typeface="黑体" panose="02010609060101010101" charset="-122"/>
                <a:ea typeface="黑体" panose="02010609060101010101" charset="-122"/>
                <a:sym typeface="+mn-ea"/>
              </a:rPr>
              <a:t>时间和频率局部化分析能力</a:t>
            </a:r>
            <a:r>
              <a:rPr sz="2400" b="1" dirty="0">
                <a:latin typeface="黑体" panose="02010609060101010101" charset="-122"/>
                <a:ea typeface="黑体" panose="02010609060101010101" charset="-122"/>
                <a:sym typeface="+mn-ea"/>
              </a:rPr>
              <a:t>，能够</a:t>
            </a:r>
            <a:r>
              <a:rPr sz="2400" b="1" dirty="0">
                <a:solidFill>
                  <a:srgbClr val="FF0000"/>
                </a:solidFill>
                <a:latin typeface="黑体" panose="02010609060101010101" charset="-122"/>
                <a:ea typeface="黑体" panose="02010609060101010101" charset="-122"/>
                <a:sym typeface="+mn-ea"/>
              </a:rPr>
              <a:t>聚焦到信号的任意细节</a:t>
            </a:r>
            <a:r>
              <a:rPr lang="zh-CN" sz="2400" b="1" dirty="0">
                <a:latin typeface="黑体" panose="02010609060101010101" charset="-122"/>
                <a:ea typeface="黑体" panose="02010609060101010101" charset="-122"/>
                <a:sym typeface="+mn-ea"/>
              </a:rPr>
              <a:t>。</a:t>
            </a:r>
            <a:endParaRPr lang="zh-CN" sz="2400" b="1" dirty="0">
              <a:latin typeface="黑体" panose="02010609060101010101" charset="-122"/>
              <a:ea typeface="黑体" panose="02010609060101010101" charset="-122"/>
              <a:sym typeface="+mn-ea"/>
            </a:endParaRPr>
          </a:p>
        </p:txBody>
      </p:sp>
      <p:sp>
        <p:nvSpPr>
          <p:cNvPr id="24" name="文本框 23"/>
          <p:cNvSpPr txBox="1"/>
          <p:nvPr/>
        </p:nvSpPr>
        <p:spPr>
          <a:xfrm>
            <a:off x="-12700" y="6539865"/>
            <a:ext cx="6108700"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对原始信号的小波分解</a:t>
            </a:r>
            <a:endParaRPr lang="zh-CN" altLang="en-US" sz="1600" dirty="0">
              <a:latin typeface="黑体" panose="02010609060101010101" charset="-122"/>
              <a:ea typeface="黑体" panose="02010609060101010101" charset="-122"/>
            </a:endParaRPr>
          </a:p>
        </p:txBody>
      </p:sp>
      <p:pic>
        <p:nvPicPr>
          <p:cNvPr id="3" name="图片 2" descr="图片1"/>
          <p:cNvPicPr>
            <a:picLocks noChangeAspect="1"/>
          </p:cNvPicPr>
          <p:nvPr/>
        </p:nvPicPr>
        <p:blipFill>
          <a:blip r:embed="rId1"/>
          <a:stretch>
            <a:fillRect/>
          </a:stretch>
        </p:blipFill>
        <p:spPr>
          <a:xfrm>
            <a:off x="1031875" y="3429000"/>
            <a:ext cx="4235450" cy="3119120"/>
          </a:xfrm>
          <a:prstGeom prst="rect">
            <a:avLst/>
          </a:prstGeom>
        </p:spPr>
      </p:pic>
      <p:pic>
        <p:nvPicPr>
          <p:cNvPr id="1026" name="Picture 2"/>
          <p:cNvPicPr>
            <a:picLocks noChangeAspect="1" noChangeArrowheads="1" noCrop="1"/>
          </p:cNvPicPr>
          <p:nvPr/>
        </p:nvPicPr>
        <p:blipFill>
          <a:blip r:embed="rId2"/>
          <a:srcRect/>
          <a:stretch>
            <a:fillRect/>
          </a:stretch>
        </p:blipFill>
        <p:spPr bwMode="auto">
          <a:xfrm>
            <a:off x="6537960" y="3437255"/>
            <a:ext cx="5295900" cy="3110865"/>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p:cNvSpPr txBox="1"/>
          <p:nvPr/>
        </p:nvSpPr>
        <p:spPr>
          <a:xfrm>
            <a:off x="6096000" y="6539865"/>
            <a:ext cx="609663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小波变换计算</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64414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sym typeface="+mn-ea"/>
              </a:rPr>
              <a:t>离散小波变换原理</a:t>
            </a:r>
            <a:endParaRPr lang="zh-CN" altLang="en-US" sz="2800" b="1" dirty="0">
              <a:solidFill>
                <a:srgbClr val="0000FF"/>
              </a:solidFill>
              <a:latin typeface="Times New Roman" panose="02020603050405020304" pitchFamily="18" charset="0"/>
              <a:ea typeface="黑体" panose="02010609060101010101" charset="-122"/>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a:t>
            </a:r>
            <a:r>
              <a:rPr lang="zh-CN" altLang="en-US" sz="4000" b="1" dirty="0">
                <a:solidFill>
                  <a:srgbClr val="FF0000"/>
                </a:solidFill>
                <a:latin typeface="黑体" panose="02010609060101010101" charset="-122"/>
                <a:ea typeface="黑体" panose="02010609060101010101" charset="-122"/>
                <a:sym typeface="+mn-ea"/>
              </a:rPr>
              <a:t>背景</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小波分析包括</a:t>
            </a:r>
            <a:r>
              <a:rPr sz="2400" b="1" dirty="0">
                <a:solidFill>
                  <a:srgbClr val="FF0000"/>
                </a:solidFill>
                <a:latin typeface="黑体" panose="02010609060101010101" charset="-122"/>
                <a:ea typeface="黑体" panose="02010609060101010101" charset="-122"/>
                <a:sym typeface="+mn-ea"/>
              </a:rPr>
              <a:t>连续</a:t>
            </a:r>
            <a:r>
              <a:rPr sz="2400" b="1" dirty="0">
                <a:latin typeface="黑体" panose="02010609060101010101" charset="-122"/>
                <a:ea typeface="黑体" panose="02010609060101010101" charset="-122"/>
                <a:sym typeface="+mn-ea"/>
              </a:rPr>
              <a:t>小波和</a:t>
            </a:r>
            <a:r>
              <a:rPr sz="2400" b="1" dirty="0">
                <a:solidFill>
                  <a:srgbClr val="FF0000"/>
                </a:solidFill>
                <a:latin typeface="黑体" panose="02010609060101010101" charset="-122"/>
                <a:ea typeface="黑体" panose="02010609060101010101" charset="-122"/>
                <a:sym typeface="+mn-ea"/>
              </a:rPr>
              <a:t>离散</a:t>
            </a:r>
            <a:r>
              <a:rPr sz="2400" b="1" dirty="0">
                <a:latin typeface="黑体" panose="02010609060101010101" charset="-122"/>
                <a:ea typeface="黑体" panose="02010609060101010101" charset="-122"/>
                <a:sym typeface="+mn-ea"/>
              </a:rPr>
              <a:t>小波两种变换。对于施工压力信号而言，常采用</a:t>
            </a:r>
            <a:r>
              <a:rPr sz="2400" b="1" dirty="0">
                <a:solidFill>
                  <a:srgbClr val="FF0000"/>
                </a:solidFill>
                <a:latin typeface="黑体" panose="02010609060101010101" charset="-122"/>
                <a:ea typeface="黑体" panose="02010609060101010101" charset="-122"/>
                <a:sym typeface="+mn-ea"/>
              </a:rPr>
              <a:t>离散小波变换</a:t>
            </a:r>
            <a:r>
              <a:rPr sz="2400" b="1" dirty="0">
                <a:latin typeface="黑体" panose="02010609060101010101" charset="-122"/>
                <a:ea typeface="黑体" panose="02010609060101010101" charset="-122"/>
                <a:sym typeface="+mn-ea"/>
              </a:rPr>
              <a:t>对信号进行分析。离散小波变换的原理是通过一系列的</a:t>
            </a:r>
            <a:r>
              <a:rPr sz="2400" b="1" dirty="0">
                <a:solidFill>
                  <a:srgbClr val="FF0000"/>
                </a:solidFill>
                <a:latin typeface="黑体" panose="02010609060101010101" charset="-122"/>
                <a:ea typeface="黑体" panose="02010609060101010101" charset="-122"/>
                <a:sym typeface="+mn-ea"/>
              </a:rPr>
              <a:t>高通和低通滤波器</a:t>
            </a:r>
            <a:r>
              <a:rPr sz="2400" b="1" dirty="0">
                <a:latin typeface="黑体" panose="02010609060101010101" charset="-122"/>
                <a:ea typeface="黑体" panose="02010609060101010101" charset="-122"/>
                <a:sym typeface="+mn-ea"/>
              </a:rPr>
              <a:t>不断对信号进行分解从而获得信号的</a:t>
            </a:r>
            <a:r>
              <a:rPr sz="2400" b="1" dirty="0">
                <a:solidFill>
                  <a:srgbClr val="FF0000"/>
                </a:solidFill>
                <a:latin typeface="黑体" panose="02010609060101010101" charset="-122"/>
                <a:ea typeface="黑体" panose="02010609060101010101" charset="-122"/>
                <a:sym typeface="+mn-ea"/>
              </a:rPr>
              <a:t>高频分量和低频分量</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pic>
        <p:nvPicPr>
          <p:cNvPr id="4" name="图片 3"/>
          <p:cNvPicPr>
            <a:picLocks noChangeAspect="1"/>
          </p:cNvPicPr>
          <p:nvPr/>
        </p:nvPicPr>
        <p:blipFill>
          <a:blip r:embed="rId1"/>
          <a:stretch>
            <a:fillRect/>
          </a:stretch>
        </p:blipFill>
        <p:spPr>
          <a:xfrm>
            <a:off x="522605" y="3413125"/>
            <a:ext cx="5255260" cy="3048635"/>
          </a:xfrm>
          <a:prstGeom prst="rect">
            <a:avLst/>
          </a:prstGeom>
        </p:spPr>
      </p:pic>
      <p:pic>
        <p:nvPicPr>
          <p:cNvPr id="5" name="图片 4" descr="图片2"/>
          <p:cNvPicPr>
            <a:picLocks noChangeAspect="1"/>
          </p:cNvPicPr>
          <p:nvPr/>
        </p:nvPicPr>
        <p:blipFill>
          <a:blip r:embed="rId2"/>
          <a:stretch>
            <a:fillRect/>
          </a:stretch>
        </p:blipFill>
        <p:spPr>
          <a:xfrm>
            <a:off x="6329045" y="3429000"/>
            <a:ext cx="5631180" cy="3032760"/>
          </a:xfrm>
          <a:prstGeom prst="rect">
            <a:avLst/>
          </a:prstGeom>
        </p:spPr>
      </p:pic>
      <p:sp>
        <p:nvSpPr>
          <p:cNvPr id="18" name="文本框 17"/>
          <p:cNvSpPr txBox="1"/>
          <p:nvPr/>
        </p:nvSpPr>
        <p:spPr>
          <a:xfrm>
            <a:off x="6096635" y="6541770"/>
            <a:ext cx="6096000"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离散小波分解过程</a:t>
            </a:r>
            <a:endParaRPr lang="zh-CN" altLang="en-US" sz="1600" b="1" dirty="0">
              <a:solidFill>
                <a:srgbClr val="0000FF"/>
              </a:solidFill>
              <a:latin typeface="微软雅黑" panose="020B0503020204020204" charset="-122"/>
              <a:ea typeface="微软雅黑" panose="020B0503020204020204" charset="-122"/>
            </a:endParaRPr>
          </a:p>
        </p:txBody>
      </p:sp>
      <p:sp>
        <p:nvSpPr>
          <p:cNvPr id="7" name="文本框 6"/>
          <p:cNvSpPr txBox="1"/>
          <p:nvPr/>
        </p:nvSpPr>
        <p:spPr>
          <a:xfrm>
            <a:off x="0" y="6539865"/>
            <a:ext cx="610298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离散小波的的多级分解</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64414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sym typeface="+mn-ea"/>
              </a:rPr>
              <a:t>离散小波变换原理</a:t>
            </a:r>
            <a:endParaRPr lang="zh-CN" altLang="en-US" sz="2800" b="1" dirty="0">
              <a:solidFill>
                <a:srgbClr val="0000FF"/>
              </a:solidFill>
              <a:latin typeface="Times New Roman" panose="02020603050405020304" pitchFamily="18" charset="0"/>
              <a:ea typeface="黑体" panose="02010609060101010101" charset="-122"/>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a:t>
            </a:r>
            <a:r>
              <a:rPr lang="zh-CN" altLang="en-US" sz="4000" b="1" dirty="0">
                <a:solidFill>
                  <a:srgbClr val="FF0000"/>
                </a:solidFill>
                <a:latin typeface="黑体" panose="02010609060101010101" charset="-122"/>
                <a:ea typeface="黑体" panose="02010609060101010101" charset="-122"/>
                <a:sym typeface="+mn-ea"/>
              </a:rPr>
              <a:t>背景</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离散小波变换分解信号的</a:t>
            </a:r>
            <a:r>
              <a:rPr sz="2400" b="1" dirty="0">
                <a:solidFill>
                  <a:srgbClr val="FF0000"/>
                </a:solidFill>
                <a:latin typeface="黑体" panose="02010609060101010101" charset="-122"/>
                <a:ea typeface="黑体" panose="02010609060101010101" charset="-122"/>
                <a:sym typeface="+mn-ea"/>
              </a:rPr>
              <a:t>高频</a:t>
            </a:r>
            <a:r>
              <a:rPr sz="2400" b="1" dirty="0">
                <a:latin typeface="黑体" panose="02010609060101010101" charset="-122"/>
                <a:ea typeface="黑体" panose="02010609060101010101" charset="-122"/>
                <a:sym typeface="+mn-ea"/>
              </a:rPr>
              <a:t>分量表示</a:t>
            </a:r>
            <a:r>
              <a:rPr sz="2400" b="1" dirty="0">
                <a:solidFill>
                  <a:srgbClr val="FF0000"/>
                </a:solidFill>
                <a:latin typeface="黑体" panose="02010609060101010101" charset="-122"/>
                <a:ea typeface="黑体" panose="02010609060101010101" charset="-122"/>
                <a:sym typeface="+mn-ea"/>
              </a:rPr>
              <a:t>不连续性和奇异性</a:t>
            </a:r>
            <a:r>
              <a:rPr sz="2400" b="1" dirty="0">
                <a:latin typeface="黑体" panose="02010609060101010101" charset="-122"/>
                <a:ea typeface="黑体" panose="02010609060101010101" charset="-122"/>
                <a:sym typeface="+mn-ea"/>
              </a:rPr>
              <a:t>，而</a:t>
            </a:r>
            <a:r>
              <a:rPr sz="2400" b="1" dirty="0">
                <a:solidFill>
                  <a:srgbClr val="FF0000"/>
                </a:solidFill>
                <a:latin typeface="黑体" panose="02010609060101010101" charset="-122"/>
                <a:ea typeface="黑体" panose="02010609060101010101" charset="-122"/>
                <a:sym typeface="+mn-ea"/>
              </a:rPr>
              <a:t>低频</a:t>
            </a:r>
            <a:r>
              <a:rPr sz="2400" b="1" dirty="0">
                <a:latin typeface="黑体" panose="02010609060101010101" charset="-122"/>
                <a:ea typeface="黑体" panose="02010609060101010101" charset="-122"/>
                <a:sym typeface="+mn-ea"/>
              </a:rPr>
              <a:t>分量表示原始信号的</a:t>
            </a:r>
            <a:r>
              <a:rPr sz="2400" b="1" dirty="0">
                <a:solidFill>
                  <a:srgbClr val="FF0000"/>
                </a:solidFill>
                <a:latin typeface="黑体" panose="02010609060101010101" charset="-122"/>
                <a:ea typeface="黑体" panose="02010609060101010101" charset="-122"/>
                <a:sym typeface="+mn-ea"/>
              </a:rPr>
              <a:t>粗略近似（细节系数、近似系数）</a:t>
            </a:r>
            <a:r>
              <a:rPr sz="2400" b="1" dirty="0">
                <a:latin typeface="黑体" panose="02010609060101010101" charset="-122"/>
                <a:ea typeface="黑体" panose="02010609060101010101" charset="-122"/>
                <a:sym typeface="+mn-ea"/>
              </a:rPr>
              <a:t>。离散小波变换的结果就是将信号的总能量进行保存，并分解为不同的分辨率级别。</a:t>
            </a:r>
            <a:endParaRPr sz="2400" b="1" dirty="0">
              <a:latin typeface="黑体" panose="02010609060101010101" charset="-122"/>
              <a:ea typeface="黑体" panose="02010609060101010101" charset="-122"/>
              <a:sym typeface="+mn-ea"/>
            </a:endParaRPr>
          </a:p>
        </p:txBody>
      </p:sp>
      <p:pic>
        <p:nvPicPr>
          <p:cNvPr id="13" name="图片 12"/>
          <p:cNvPicPr>
            <a:picLocks noChangeAspect="1"/>
          </p:cNvPicPr>
          <p:nvPr/>
        </p:nvPicPr>
        <p:blipFill>
          <a:blip r:embed="rId1"/>
          <a:stretch>
            <a:fillRect/>
          </a:stretch>
        </p:blipFill>
        <p:spPr>
          <a:xfrm>
            <a:off x="1085850" y="3353478"/>
            <a:ext cx="3590444" cy="1600200"/>
          </a:xfrm>
          <a:prstGeom prst="rect">
            <a:avLst/>
          </a:prstGeom>
        </p:spPr>
      </p:pic>
      <p:pic>
        <p:nvPicPr>
          <p:cNvPr id="14" name="图片 13"/>
          <p:cNvPicPr>
            <a:picLocks noChangeAspect="1"/>
          </p:cNvPicPr>
          <p:nvPr/>
        </p:nvPicPr>
        <p:blipFill>
          <a:blip r:embed="rId2"/>
          <a:stretch>
            <a:fillRect/>
          </a:stretch>
        </p:blipFill>
        <p:spPr>
          <a:xfrm>
            <a:off x="2218328" y="5061946"/>
            <a:ext cx="2127209" cy="1815783"/>
          </a:xfrm>
          <a:prstGeom prst="rect">
            <a:avLst/>
          </a:prstGeom>
        </p:spPr>
      </p:pic>
      <p:sp>
        <p:nvSpPr>
          <p:cNvPr id="16" name="文本框 15"/>
          <p:cNvSpPr txBox="1"/>
          <p:nvPr>
            <p:custDataLst>
              <p:tags r:id="rId3"/>
            </p:custDataLst>
          </p:nvPr>
        </p:nvSpPr>
        <p:spPr>
          <a:xfrm>
            <a:off x="4003934" y="3516947"/>
            <a:ext cx="1488440" cy="337185"/>
          </a:xfrm>
          <a:prstGeom prst="rect">
            <a:avLst/>
          </a:prstGeom>
          <a:noFill/>
        </p:spPr>
        <p:txBody>
          <a:bodyPr wrap="square" rtlCol="0">
            <a:spAutoFit/>
          </a:bodyPr>
          <a:p>
            <a:pPr algn="r"/>
            <a:r>
              <a:rPr lang="zh-CN" altLang="en-US" sz="1600" b="1" dirty="0">
                <a:solidFill>
                  <a:srgbClr val="3E3FFC"/>
                </a:solidFill>
              </a:rPr>
              <a:t>细节系数</a:t>
            </a:r>
            <a:endParaRPr lang="zh-CN" altLang="en-US" sz="1600" b="1" dirty="0">
              <a:solidFill>
                <a:srgbClr val="3E3FFC"/>
              </a:solidFill>
            </a:endParaRPr>
          </a:p>
        </p:txBody>
      </p:sp>
      <p:sp>
        <p:nvSpPr>
          <p:cNvPr id="17" name="文本框 16"/>
          <p:cNvSpPr txBox="1"/>
          <p:nvPr>
            <p:custDataLst>
              <p:tags r:id="rId4"/>
            </p:custDataLst>
          </p:nvPr>
        </p:nvSpPr>
        <p:spPr>
          <a:xfrm>
            <a:off x="3996844" y="4113848"/>
            <a:ext cx="1488440" cy="337185"/>
          </a:xfrm>
          <a:prstGeom prst="rect">
            <a:avLst/>
          </a:prstGeom>
          <a:noFill/>
        </p:spPr>
        <p:txBody>
          <a:bodyPr wrap="square" rtlCol="0">
            <a:spAutoFit/>
          </a:bodyPr>
          <a:p>
            <a:pPr algn="r"/>
            <a:r>
              <a:rPr lang="zh-CN" altLang="en-US" sz="1600" b="1">
                <a:solidFill>
                  <a:srgbClr val="3E3FFC"/>
                </a:solidFill>
              </a:rPr>
              <a:t>近似系数</a:t>
            </a:r>
            <a:endParaRPr lang="zh-CN" altLang="en-US" sz="1600" b="1">
              <a:solidFill>
                <a:srgbClr val="3E3FFC"/>
              </a:solidFill>
            </a:endParaRPr>
          </a:p>
        </p:txBody>
      </p:sp>
      <p:sp>
        <p:nvSpPr>
          <p:cNvPr id="19" name="文本框 18"/>
          <p:cNvSpPr txBox="1"/>
          <p:nvPr>
            <p:custDataLst>
              <p:tags r:id="rId5"/>
            </p:custDataLst>
          </p:nvPr>
        </p:nvSpPr>
        <p:spPr>
          <a:xfrm>
            <a:off x="3604895" y="4649223"/>
            <a:ext cx="2049135" cy="337185"/>
          </a:xfrm>
          <a:prstGeom prst="rect">
            <a:avLst/>
          </a:prstGeom>
          <a:noFill/>
        </p:spPr>
        <p:txBody>
          <a:bodyPr wrap="square" rtlCol="0">
            <a:spAutoFit/>
          </a:bodyPr>
          <a:p>
            <a:r>
              <a:rPr lang="zh-CN" altLang="en-US" sz="1600" b="1" dirty="0">
                <a:solidFill>
                  <a:srgbClr val="3E3FFC"/>
                </a:solidFill>
              </a:rPr>
              <a:t>最大理论分解级数</a:t>
            </a:r>
            <a:endParaRPr lang="zh-CN" altLang="en-US" sz="1600" b="1" dirty="0">
              <a:solidFill>
                <a:srgbClr val="3E3FFC"/>
              </a:solidFill>
            </a:endParaRPr>
          </a:p>
        </p:txBody>
      </p:sp>
      <p:sp>
        <p:nvSpPr>
          <p:cNvPr id="20" name="文本框 19"/>
          <p:cNvSpPr txBox="1"/>
          <p:nvPr/>
        </p:nvSpPr>
        <p:spPr>
          <a:xfrm>
            <a:off x="1031557" y="5210853"/>
            <a:ext cx="1579245" cy="337185"/>
          </a:xfrm>
          <a:prstGeom prst="rect">
            <a:avLst/>
          </a:prstGeom>
          <a:noFill/>
        </p:spPr>
        <p:txBody>
          <a:bodyPr wrap="square" rtlCol="0">
            <a:spAutoFit/>
          </a:bodyPr>
          <a:p>
            <a:r>
              <a:rPr lang="zh-CN" altLang="en-US" sz="1600" b="1" dirty="0">
                <a:solidFill>
                  <a:srgbClr val="3E3FFC"/>
                </a:solidFill>
              </a:rPr>
              <a:t>信号总能量</a:t>
            </a:r>
            <a:endParaRPr lang="zh-CN" altLang="en-US" sz="1600" b="1" dirty="0">
              <a:solidFill>
                <a:srgbClr val="3E3FFC"/>
              </a:solidFill>
            </a:endParaRPr>
          </a:p>
        </p:txBody>
      </p:sp>
      <p:sp>
        <p:nvSpPr>
          <p:cNvPr id="22" name="文本框 21"/>
          <p:cNvSpPr txBox="1"/>
          <p:nvPr/>
        </p:nvSpPr>
        <p:spPr>
          <a:xfrm>
            <a:off x="1162050" y="5821045"/>
            <a:ext cx="1169035" cy="337185"/>
          </a:xfrm>
          <a:prstGeom prst="rect">
            <a:avLst/>
          </a:prstGeom>
          <a:noFill/>
        </p:spPr>
        <p:txBody>
          <a:bodyPr wrap="square" rtlCol="0">
            <a:spAutoFit/>
          </a:bodyPr>
          <a:p>
            <a:r>
              <a:rPr lang="zh-CN" altLang="en-US" sz="1600" b="1" dirty="0">
                <a:solidFill>
                  <a:srgbClr val="3E3FFC"/>
                </a:solidFill>
              </a:rPr>
              <a:t>细节能量</a:t>
            </a:r>
            <a:endParaRPr lang="zh-CN" altLang="en-US" sz="1600" b="1" dirty="0">
              <a:solidFill>
                <a:srgbClr val="3E3FFC"/>
              </a:solidFill>
            </a:endParaRPr>
          </a:p>
        </p:txBody>
      </p:sp>
      <p:sp>
        <p:nvSpPr>
          <p:cNvPr id="23" name="文本框 22"/>
          <p:cNvSpPr txBox="1"/>
          <p:nvPr/>
        </p:nvSpPr>
        <p:spPr>
          <a:xfrm>
            <a:off x="1162050" y="6355080"/>
            <a:ext cx="1095375" cy="337185"/>
          </a:xfrm>
          <a:prstGeom prst="rect">
            <a:avLst/>
          </a:prstGeom>
          <a:noFill/>
        </p:spPr>
        <p:txBody>
          <a:bodyPr wrap="square" rtlCol="0">
            <a:spAutoFit/>
          </a:bodyPr>
          <a:p>
            <a:r>
              <a:rPr lang="zh-CN" altLang="en-US" sz="1600" b="1" dirty="0">
                <a:solidFill>
                  <a:srgbClr val="3E3FFC"/>
                </a:solidFill>
              </a:rPr>
              <a:t>近似能量</a:t>
            </a:r>
            <a:endParaRPr lang="zh-CN" altLang="en-US" sz="1600" b="1" dirty="0">
              <a:solidFill>
                <a:srgbClr val="3E3FFC"/>
              </a:solidFill>
            </a:endParaRPr>
          </a:p>
        </p:txBody>
      </p:sp>
      <p:sp>
        <p:nvSpPr>
          <p:cNvPr id="24" name="上弧形箭头 35"/>
          <p:cNvSpPr/>
          <p:nvPr/>
        </p:nvSpPr>
        <p:spPr bwMode="auto">
          <a:xfrm rot="5400000" flipV="1">
            <a:off x="-391160" y="4627245"/>
            <a:ext cx="242189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0000"/>
              </a:solidFill>
            </a:endParaRPr>
          </a:p>
        </p:txBody>
      </p:sp>
      <p:sp>
        <p:nvSpPr>
          <p:cNvPr id="25" name="上弧形箭头 35"/>
          <p:cNvSpPr/>
          <p:nvPr/>
        </p:nvSpPr>
        <p:spPr bwMode="auto">
          <a:xfrm rot="5400000" flipV="1">
            <a:off x="-365692" y="518978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0000"/>
              </a:solidFill>
            </a:endParaRPr>
          </a:p>
        </p:txBody>
      </p:sp>
      <p:pic>
        <p:nvPicPr>
          <p:cNvPr id="26" name="图片 25" descr="图片1"/>
          <p:cNvPicPr/>
          <p:nvPr/>
        </p:nvPicPr>
        <p:blipFill>
          <a:blip r:embed="rId6"/>
          <a:srcRect t="13188"/>
          <a:stretch>
            <a:fillRect/>
          </a:stretch>
        </p:blipFill>
        <p:spPr>
          <a:xfrm>
            <a:off x="5647690" y="4021455"/>
            <a:ext cx="3024000" cy="2052000"/>
          </a:xfrm>
          <a:prstGeom prst="rect">
            <a:avLst/>
          </a:prstGeom>
        </p:spPr>
      </p:pic>
      <p:pic>
        <p:nvPicPr>
          <p:cNvPr id="27" name="图片 26" descr="图片2"/>
          <p:cNvPicPr/>
          <p:nvPr/>
        </p:nvPicPr>
        <p:blipFill>
          <a:blip r:embed="rId7"/>
          <a:stretch>
            <a:fillRect/>
          </a:stretch>
        </p:blipFill>
        <p:spPr>
          <a:xfrm>
            <a:off x="8869680" y="4020820"/>
            <a:ext cx="3024000" cy="2052000"/>
          </a:xfrm>
          <a:prstGeom prst="rect">
            <a:avLst/>
          </a:prstGeom>
        </p:spPr>
      </p:pic>
      <p:sp>
        <p:nvSpPr>
          <p:cNvPr id="28" name="文本框 27"/>
          <p:cNvSpPr txBox="1"/>
          <p:nvPr/>
        </p:nvSpPr>
        <p:spPr>
          <a:xfrm>
            <a:off x="5647055" y="6539865"/>
            <a:ext cx="6544310"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离散小波变换</a:t>
            </a:r>
            <a:r>
              <a:rPr lang="zh-CN" altLang="en-US" sz="1600" b="1" dirty="0">
                <a:solidFill>
                  <a:srgbClr val="0000FF"/>
                </a:solidFill>
                <a:latin typeface="微软雅黑" panose="020B0503020204020204" charset="-122"/>
                <a:ea typeface="微软雅黑" panose="020B0503020204020204" charset="-122"/>
              </a:rPr>
              <a:t>示意图</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sym typeface="+mn-ea"/>
              </a:rPr>
              <a:t>小波分解关键参数优选准则</a:t>
            </a:r>
            <a:r>
              <a:rPr lang="en-US" altLang="zh-CN" sz="2800" b="1" dirty="0">
                <a:solidFill>
                  <a:srgbClr val="0000FF"/>
                </a:solidFill>
                <a:latin typeface="Times New Roman" panose="02020603050405020304" pitchFamily="18" charset="0"/>
                <a:ea typeface="黑体" panose="02010609060101010101" charset="-122"/>
                <a:sym typeface="+mn-ea"/>
              </a:rPr>
              <a:t>—</a:t>
            </a:r>
            <a:r>
              <a:rPr lang="zh-CN" altLang="en-US" sz="2800" b="1" dirty="0">
                <a:solidFill>
                  <a:srgbClr val="0000FF"/>
                </a:solidFill>
                <a:latin typeface="Times New Roman" panose="02020603050405020304" pitchFamily="18" charset="0"/>
                <a:ea typeface="黑体" panose="02010609060101010101" charset="-122"/>
                <a:sym typeface="+mn-ea"/>
              </a:rPr>
              <a:t>最优分解</a:t>
            </a:r>
            <a:r>
              <a:rPr lang="zh-CN" altLang="en-US" sz="2800" b="1" dirty="0">
                <a:solidFill>
                  <a:srgbClr val="0000FF"/>
                </a:solidFill>
                <a:latin typeface="Times New Roman" panose="02020603050405020304" pitchFamily="18" charset="0"/>
                <a:ea typeface="黑体" panose="02010609060101010101" charset="-122"/>
                <a:sym typeface="+mn-ea"/>
              </a:rPr>
              <a:t>层次</a:t>
            </a:r>
            <a:endParaRPr lang="zh-CN" altLang="en-US"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井口施工曲线多级小波分解研究进展</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水力压裂过程中</a:t>
            </a:r>
            <a:r>
              <a:rPr sz="2400" b="1" dirty="0">
                <a:solidFill>
                  <a:srgbClr val="FF0000"/>
                </a:solidFill>
                <a:latin typeface="黑体" panose="02010609060101010101" charset="-122"/>
                <a:ea typeface="黑体" panose="02010609060101010101" charset="-122"/>
                <a:sym typeface="+mn-ea"/>
              </a:rPr>
              <a:t>裂缝的正常延伸代表流量正常</a:t>
            </a:r>
            <a:r>
              <a:rPr sz="2400" b="1" dirty="0">
                <a:latin typeface="黑体" panose="02010609060101010101" charset="-122"/>
                <a:ea typeface="黑体" panose="02010609060101010101" charset="-122"/>
                <a:sym typeface="+mn-ea"/>
              </a:rPr>
              <a:t>，而异常事件的出现代表异常流量或结束，</a:t>
            </a:r>
            <a:r>
              <a:rPr sz="2400" b="1" dirty="0">
                <a:solidFill>
                  <a:srgbClr val="FF0000"/>
                </a:solidFill>
                <a:latin typeface="黑体" panose="02010609060101010101" charset="-122"/>
                <a:ea typeface="黑体" panose="02010609060101010101" charset="-122"/>
                <a:sym typeface="+mn-ea"/>
              </a:rPr>
              <a:t>小波峰值能量</a:t>
            </a:r>
            <a:r>
              <a:rPr sz="2400" b="1" dirty="0">
                <a:latin typeface="黑体" panose="02010609060101010101" charset="-122"/>
                <a:ea typeface="黑体" panose="02010609060101010101" charset="-122"/>
                <a:sym typeface="+mn-ea"/>
              </a:rPr>
              <a:t>可以用来反映</a:t>
            </a:r>
            <a:r>
              <a:rPr sz="2400" b="1" dirty="0">
                <a:solidFill>
                  <a:srgbClr val="FF0000"/>
                </a:solidFill>
                <a:latin typeface="黑体" panose="02010609060101010101" charset="-122"/>
                <a:ea typeface="黑体" panose="02010609060101010101" charset="-122"/>
                <a:sym typeface="+mn-ea"/>
              </a:rPr>
              <a:t>压力曲线上的异常波动</a:t>
            </a:r>
            <a:r>
              <a:rPr sz="2400" b="1" dirty="0">
                <a:latin typeface="黑体" panose="02010609060101010101" charset="-122"/>
                <a:ea typeface="黑体" panose="02010609060101010101" charset="-122"/>
                <a:sym typeface="+mn-ea"/>
              </a:rPr>
              <a:t>。采用</a:t>
            </a:r>
            <a:r>
              <a:rPr sz="2400" b="1" dirty="0">
                <a:solidFill>
                  <a:srgbClr val="FF0000"/>
                </a:solidFill>
                <a:latin typeface="黑体" panose="02010609060101010101" charset="-122"/>
                <a:ea typeface="黑体" panose="02010609060101010101" charset="-122"/>
                <a:sym typeface="+mn-ea"/>
              </a:rPr>
              <a:t>小波能量方差</a:t>
            </a:r>
            <a:r>
              <a:rPr sz="2400" b="1" dirty="0">
                <a:latin typeface="黑体" panose="02010609060101010101" charset="-122"/>
                <a:ea typeface="黑体" panose="02010609060101010101" charset="-122"/>
                <a:sym typeface="+mn-ea"/>
              </a:rPr>
              <a:t>分析定量描述不同分解层次下小波能量响应中的</a:t>
            </a:r>
            <a:r>
              <a:rPr sz="2400" b="1" dirty="0">
                <a:solidFill>
                  <a:srgbClr val="FF0000"/>
                </a:solidFill>
                <a:latin typeface="黑体" panose="02010609060101010101" charset="-122"/>
                <a:ea typeface="黑体" panose="02010609060101010101" charset="-122"/>
                <a:sym typeface="+mn-ea"/>
              </a:rPr>
              <a:t>事件识别效果以及最佳识别层次</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pic>
        <p:nvPicPr>
          <p:cNvPr id="2049" name="图片 6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025" y="3460750"/>
            <a:ext cx="5187950" cy="297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图片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860" y="3453130"/>
            <a:ext cx="540575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0" y="6538595"/>
            <a:ext cx="6096000" cy="337185"/>
          </a:xfrm>
          <a:prstGeom prst="rect">
            <a:avLst/>
          </a:prstGeom>
          <a:noFill/>
        </p:spPr>
        <p:txBody>
          <a:bodyPr wrap="square" rtlCol="0">
            <a:spAutoFit/>
          </a:bodyPr>
          <a:p>
            <a:pPr algn="ctr"/>
            <a:r>
              <a:rPr lang="zh-CN" altLang="en-US" sz="1600" dirty="0">
                <a:solidFill>
                  <a:srgbClr val="0000FF"/>
                </a:solidFill>
                <a:latin typeface="黑体" panose="02010609060101010101" charset="-122"/>
                <a:ea typeface="黑体" panose="02010609060101010101" charset="-122"/>
              </a:rPr>
              <a:t> </a:t>
            </a:r>
            <a:r>
              <a:rPr lang="zh-CN" altLang="en-US" sz="1600" b="1" dirty="0">
                <a:solidFill>
                  <a:srgbClr val="0000FF"/>
                </a:solidFill>
                <a:latin typeface="微软雅黑" panose="020B0503020204020204" charset="-122"/>
                <a:ea typeface="微软雅黑" panose="020B0503020204020204" charset="-122"/>
              </a:rPr>
              <a:t>不同分解层次下的小波能量曲线</a:t>
            </a:r>
            <a:endParaRPr lang="zh-CN" altLang="en-US" sz="1600" dirty="0">
              <a:latin typeface="黑体" panose="02010609060101010101" charset="-122"/>
              <a:ea typeface="黑体" panose="02010609060101010101" charset="-122"/>
            </a:endParaRPr>
          </a:p>
        </p:txBody>
      </p:sp>
      <p:sp>
        <p:nvSpPr>
          <p:cNvPr id="18" name="文本框 17"/>
          <p:cNvSpPr txBox="1"/>
          <p:nvPr/>
        </p:nvSpPr>
        <p:spPr>
          <a:xfrm>
            <a:off x="6096635" y="6538595"/>
            <a:ext cx="609536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不同分解层次下的小波能量方差比</a:t>
            </a:r>
            <a:endParaRPr lang="zh-CN" altLang="en-US" sz="1600" dirty="0">
              <a:latin typeface="黑体" panose="02010609060101010101" charset="-122"/>
              <a:ea typeface="黑体" panose="0201060906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sym typeface="+mn-ea"/>
              </a:rPr>
              <a:t>小波分解关键参数优选准则</a:t>
            </a:r>
            <a:r>
              <a:rPr lang="en-US" altLang="zh-CN" sz="2800" b="1" dirty="0">
                <a:solidFill>
                  <a:srgbClr val="0000FF"/>
                </a:solidFill>
                <a:latin typeface="Times New Roman" panose="02020603050405020304" pitchFamily="18" charset="0"/>
                <a:ea typeface="黑体" panose="02010609060101010101" charset="-122"/>
                <a:sym typeface="+mn-ea"/>
              </a:rPr>
              <a:t>—</a:t>
            </a:r>
            <a:r>
              <a:rPr lang="zh-CN" altLang="en-US" sz="2800" b="1" dirty="0">
                <a:solidFill>
                  <a:srgbClr val="0000FF"/>
                </a:solidFill>
                <a:latin typeface="Times New Roman" panose="02020603050405020304" pitchFamily="18" charset="0"/>
                <a:ea typeface="黑体" panose="02010609060101010101" charset="-122"/>
                <a:sym typeface="+mn-ea"/>
              </a:rPr>
              <a:t>最优小波基</a:t>
            </a:r>
            <a:r>
              <a:rPr lang="zh-CN" altLang="en-US" sz="2800" b="1" dirty="0">
                <a:solidFill>
                  <a:srgbClr val="0000FF"/>
                </a:solidFill>
                <a:latin typeface="Times New Roman" panose="02020603050405020304" pitchFamily="18" charset="0"/>
                <a:ea typeface="黑体" panose="02010609060101010101" charset="-122"/>
                <a:sym typeface="+mn-ea"/>
              </a:rPr>
              <a:t>选取</a:t>
            </a:r>
            <a:endParaRPr lang="zh-CN" altLang="en-US"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井口施工曲线多级小波分解研究进展</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solidFill>
                  <a:srgbClr val="FF0000"/>
                </a:solidFill>
                <a:latin typeface="黑体" panose="02010609060101010101" charset="-122"/>
                <a:ea typeface="黑体" panose="02010609060101010101" charset="-122"/>
                <a:sym typeface="+mn-ea"/>
              </a:rPr>
              <a:t>小波基</a:t>
            </a:r>
            <a:r>
              <a:rPr sz="2400" b="1" dirty="0">
                <a:latin typeface="黑体" panose="02010609060101010101" charset="-122"/>
                <a:ea typeface="黑体" panose="02010609060101010101" charset="-122"/>
                <a:sym typeface="+mn-ea"/>
              </a:rPr>
              <a:t>的合适与否直接关系到信号分解效果的好坏</a:t>
            </a:r>
            <a:r>
              <a:rPr lang="zh-CN" sz="2400" b="1" dirty="0">
                <a:latin typeface="黑体" panose="02010609060101010101" charset="-122"/>
                <a:ea typeface="黑体" panose="02010609060101010101" charset="-122"/>
                <a:sym typeface="+mn-ea"/>
              </a:rPr>
              <a:t>。</a:t>
            </a:r>
            <a:r>
              <a:rPr sz="2400" b="1" dirty="0">
                <a:latin typeface="黑体" panose="02010609060101010101" charset="-122"/>
                <a:ea typeface="黑体" panose="02010609060101010101" charset="-122"/>
                <a:sym typeface="+mn-ea"/>
              </a:rPr>
              <a:t>小波基的小波峰值能量不同，</a:t>
            </a:r>
            <a:r>
              <a:rPr sz="2400" b="1" dirty="0">
                <a:solidFill>
                  <a:srgbClr val="FF0000"/>
                </a:solidFill>
                <a:latin typeface="黑体" panose="02010609060101010101" charset="-122"/>
                <a:ea typeface="黑体" panose="02010609060101010101" charset="-122"/>
                <a:sym typeface="+mn-ea"/>
              </a:rPr>
              <a:t>较大的峰值能量</a:t>
            </a:r>
            <a:r>
              <a:rPr sz="2400" b="1" dirty="0">
                <a:latin typeface="黑体" panose="02010609060101010101" charset="-122"/>
                <a:ea typeface="黑体" panose="02010609060101010101" charset="-122"/>
                <a:sym typeface="+mn-ea"/>
              </a:rPr>
              <a:t>可以帮助我们在</a:t>
            </a:r>
            <a:r>
              <a:rPr sz="2400" b="1" dirty="0">
                <a:solidFill>
                  <a:srgbClr val="FF0000"/>
                </a:solidFill>
                <a:latin typeface="黑体" panose="02010609060101010101" charset="-122"/>
                <a:ea typeface="黑体" panose="02010609060101010101" charset="-122"/>
                <a:sym typeface="+mn-ea"/>
              </a:rPr>
              <a:t>较弱的压力</a:t>
            </a:r>
            <a:r>
              <a:rPr sz="2400" b="1" dirty="0">
                <a:latin typeface="黑体" panose="02010609060101010101" charset="-122"/>
                <a:ea typeface="黑体" panose="02010609060101010101" charset="-122"/>
                <a:sym typeface="+mn-ea"/>
              </a:rPr>
              <a:t>变化下保持</a:t>
            </a:r>
            <a:r>
              <a:rPr sz="2400" b="1" dirty="0">
                <a:solidFill>
                  <a:srgbClr val="FF0000"/>
                </a:solidFill>
                <a:latin typeface="黑体" panose="02010609060101010101" charset="-122"/>
                <a:ea typeface="黑体" panose="02010609060101010101" charset="-122"/>
                <a:sym typeface="+mn-ea"/>
              </a:rPr>
              <a:t>识别</a:t>
            </a:r>
            <a:r>
              <a:rPr sz="2400" b="1" dirty="0">
                <a:latin typeface="黑体" panose="02010609060101010101" charset="-122"/>
                <a:ea typeface="黑体" panose="02010609060101010101" charset="-122"/>
                <a:sym typeface="+mn-ea"/>
              </a:rPr>
              <a:t>的能力，若小波能量表现为</a:t>
            </a:r>
            <a:r>
              <a:rPr sz="2400" b="1" dirty="0">
                <a:solidFill>
                  <a:srgbClr val="FF0000"/>
                </a:solidFill>
                <a:latin typeface="黑体" panose="02010609060101010101" charset="-122"/>
                <a:ea typeface="黑体" panose="02010609060101010101" charset="-122"/>
                <a:sym typeface="+mn-ea"/>
              </a:rPr>
              <a:t>排量响应不明显</a:t>
            </a:r>
            <a:r>
              <a:rPr sz="2400" b="1" dirty="0">
                <a:latin typeface="黑体" panose="02010609060101010101" charset="-122"/>
                <a:ea typeface="黑体" panose="02010609060101010101" charset="-122"/>
                <a:sym typeface="+mn-ea"/>
              </a:rPr>
              <a:t>，而</a:t>
            </a:r>
            <a:r>
              <a:rPr sz="2400" b="1" dirty="0">
                <a:solidFill>
                  <a:srgbClr val="FF0000"/>
                </a:solidFill>
                <a:latin typeface="黑体" panose="02010609060101010101" charset="-122"/>
                <a:ea typeface="黑体" panose="02010609060101010101" charset="-122"/>
                <a:sym typeface="+mn-ea"/>
              </a:rPr>
              <a:t>压力响应很剧烈</a:t>
            </a:r>
            <a:r>
              <a:rPr sz="2400" b="1" dirty="0">
                <a:latin typeface="黑体" panose="02010609060101010101" charset="-122"/>
                <a:ea typeface="黑体" panose="02010609060101010101" charset="-122"/>
                <a:sym typeface="+mn-ea"/>
              </a:rPr>
              <a:t>，则可以代表</a:t>
            </a:r>
            <a:r>
              <a:rPr sz="2400" b="1" dirty="0">
                <a:solidFill>
                  <a:srgbClr val="FF0000"/>
                </a:solidFill>
                <a:latin typeface="黑体" panose="02010609060101010101" charset="-122"/>
                <a:ea typeface="黑体" panose="02010609060101010101" charset="-122"/>
                <a:sym typeface="+mn-ea"/>
              </a:rPr>
              <a:t>裂缝扩展等诸多岩石类事件</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graphicFrame>
        <p:nvGraphicFramePr>
          <p:cNvPr id="7" name="表格 6"/>
          <p:cNvGraphicFramePr>
            <a:graphicFrameLocks noGrp="1"/>
          </p:cNvGraphicFramePr>
          <p:nvPr/>
        </p:nvGraphicFramePr>
        <p:xfrm>
          <a:off x="1093639" y="3466157"/>
          <a:ext cx="5480050" cy="3070225"/>
        </p:xfrm>
        <a:graphic>
          <a:graphicData uri="http://schemas.openxmlformats.org/drawingml/2006/table">
            <a:tbl>
              <a:tblPr firstRow="1" firstCol="1" bandRow="1"/>
              <a:tblGrid>
                <a:gridCol w="786765"/>
                <a:gridCol w="443865"/>
                <a:gridCol w="828040"/>
                <a:gridCol w="960120"/>
                <a:gridCol w="615315"/>
                <a:gridCol w="615315"/>
                <a:gridCol w="615315"/>
                <a:gridCol w="615315"/>
              </a:tblGrid>
              <a:tr h="372745">
                <a:tc>
                  <a:txBody>
                    <a:bodyPr/>
                    <a:p>
                      <a:pPr algn="ctr">
                        <a:lnSpc>
                          <a:spcPct val="125000"/>
                        </a:lnSpc>
                        <a:tabLst>
                          <a:tab pos="239395" algn="l"/>
                          <a:tab pos="266700" algn="l"/>
                        </a:tabLst>
                      </a:pPr>
                      <a:r>
                        <a:rPr lang="zh-CN" sz="1200" b="1" dirty="0">
                          <a:effectLst/>
                          <a:latin typeface="Times New Roman" panose="02020603050405020304" pitchFamily="18" charset="0"/>
                          <a:ea typeface="宋体" panose="02010600030101010101" pitchFamily="2" charset="-122"/>
                          <a:cs typeface="Times New Roman" panose="02020603050405020304" pitchFamily="18" charset="0"/>
                        </a:rPr>
                        <a:t>小波函数</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haar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db</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bior</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a:effectLst/>
                          <a:latin typeface="Times New Roman" panose="02020603050405020304" pitchFamily="18" charset="0"/>
                          <a:ea typeface="宋体" panose="02010600030101010101" pitchFamily="2" charset="-122"/>
                          <a:cs typeface="Times New Roman" panose="02020603050405020304" pitchFamily="18" charset="0"/>
                        </a:rPr>
                        <a:t>coif</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sym</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morl</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200" b="1" dirty="0" err="1">
                          <a:effectLst/>
                          <a:latin typeface="Times New Roman" panose="02020603050405020304" pitchFamily="18" charset="0"/>
                          <a:ea typeface="宋体" panose="02010600030101010101" pitchFamily="2" charset="-122"/>
                          <a:cs typeface="Times New Roman" panose="02020603050405020304" pitchFamily="18" charset="0"/>
                        </a:rPr>
                        <a:t>mexh</a:t>
                      </a:r>
                      <a:endParaRPr 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40">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正交性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72110">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紧支撑性</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有</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2745">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连续小波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2745">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离散小波</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可以</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不可以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19100">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支撑长度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indent="133350" algn="just">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         2Nd+1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6N-1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有限</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长度</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19100">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对称性</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不对称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近似</a:t>
                      </a:r>
                      <a:endPar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dirty="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对称</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370840">
                <a:tc>
                  <a:txBody>
                    <a:bodyPr/>
                    <a:p>
                      <a:pPr algn="ctr">
                        <a:lnSpc>
                          <a:spcPct val="125000"/>
                        </a:lnSpc>
                        <a:tabLst>
                          <a:tab pos="239395" algn="l"/>
                          <a:tab pos="266700" algn="l"/>
                        </a:tabLst>
                      </a:pPr>
                      <a:r>
                        <a:rPr lang="zh-CN" sz="1100">
                          <a:effectLst/>
                          <a:latin typeface="Times New Roman" panose="02020603050405020304" pitchFamily="18" charset="0"/>
                          <a:ea typeface="宋体" panose="02010600030101010101" pitchFamily="2" charset="-122"/>
                          <a:cs typeface="Times New Roman" panose="02020603050405020304" pitchFamily="18" charset="0"/>
                        </a:rPr>
                        <a:t>消失矩</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Nr-1</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a:effectLst/>
                          <a:latin typeface="Times New Roman" panose="02020603050405020304" pitchFamily="18" charset="0"/>
                          <a:ea typeface="宋体" panose="02010600030101010101" pitchFamily="2" charset="-122"/>
                          <a:cs typeface="Times New Roman" panose="02020603050405020304" pitchFamily="18" charset="0"/>
                        </a:rPr>
                        <a:t>2N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p>
                      <a:pPr algn="ctr">
                        <a:lnSpc>
                          <a:spcPct val="125000"/>
                        </a:lnSpc>
                        <a:tabLst>
                          <a:tab pos="239395" algn="l"/>
                          <a:tab pos="266700" algn="l"/>
                        </a:tabLst>
                      </a:pPr>
                      <a:r>
                        <a:rPr lang="en-US" sz="1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1" name="文本框 10"/>
          <p:cNvSpPr txBox="1"/>
          <p:nvPr/>
        </p:nvSpPr>
        <p:spPr>
          <a:xfrm>
            <a:off x="781050" y="6540500"/>
            <a:ext cx="6096000"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常用的小波函数及其性质对比</a:t>
            </a:r>
            <a:endParaRPr lang="zh-CN" altLang="en-US" sz="1600" dirty="0">
              <a:latin typeface="黑体" panose="02010609060101010101" charset="-122"/>
              <a:ea typeface="黑体" panose="02010609060101010101" charset="-122"/>
            </a:endParaRPr>
          </a:p>
        </p:txBody>
      </p:sp>
      <p:pic>
        <p:nvPicPr>
          <p:cNvPr id="9" name="图片 8"/>
          <p:cNvPicPr/>
          <p:nvPr/>
        </p:nvPicPr>
        <p:blipFill>
          <a:blip r:embed="rId1"/>
          <a:stretch>
            <a:fillRect/>
          </a:stretch>
        </p:blipFill>
        <p:spPr>
          <a:xfrm>
            <a:off x="7079615" y="3469640"/>
            <a:ext cx="3576320" cy="3051175"/>
          </a:xfrm>
          <a:prstGeom prst="rect">
            <a:avLst/>
          </a:prstGeom>
          <a:ln>
            <a:noFill/>
          </a:ln>
        </p:spPr>
      </p:pic>
      <p:sp>
        <p:nvSpPr>
          <p:cNvPr id="10" name="文本框 9"/>
          <p:cNvSpPr txBox="1"/>
          <p:nvPr/>
        </p:nvSpPr>
        <p:spPr>
          <a:xfrm>
            <a:off x="5819140" y="6556375"/>
            <a:ext cx="6096635" cy="330200"/>
          </a:xfrm>
          <a:prstGeom prst="rect">
            <a:avLst/>
          </a:prstGeom>
          <a:noFill/>
        </p:spPr>
        <p:txBody>
          <a:bodyPr wrap="square" rtlCol="0">
            <a:noAutofit/>
          </a:bodyPr>
          <a:p>
            <a:pPr algn="ctr"/>
            <a:r>
              <a:rPr lang="zh-CN" altLang="en-US" sz="1600" b="1" dirty="0">
                <a:solidFill>
                  <a:srgbClr val="0000FF"/>
                </a:solidFill>
                <a:latin typeface="微软雅黑" panose="020B0503020204020204" charset="-122"/>
                <a:ea typeface="微软雅黑" panose="020B0503020204020204" charset="-122"/>
              </a:rPr>
              <a:t>不同小波基下的小波能量响应</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黑体" panose="02010609060101010101" charset="-122"/>
                <a:sym typeface="+mn-ea"/>
              </a:rPr>
              <a:t>多参数下小波响应规律—地层应力差</a:t>
            </a:r>
            <a:endParaRPr lang="en-US"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井口施工曲线多级小波分解研究进展</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在天然裂缝相遇时刻，当应力差为</a:t>
            </a:r>
            <a:r>
              <a:rPr sz="2400" b="1" dirty="0">
                <a:solidFill>
                  <a:srgbClr val="FF0000"/>
                </a:solidFill>
                <a:latin typeface="黑体" panose="02010609060101010101" charset="-122"/>
                <a:ea typeface="黑体" panose="02010609060101010101" charset="-122"/>
                <a:sym typeface="+mn-ea"/>
              </a:rPr>
              <a:t>0</a:t>
            </a:r>
            <a:r>
              <a:rPr lang="en-US" sz="2400" b="1" dirty="0">
                <a:solidFill>
                  <a:srgbClr val="FF0000"/>
                </a:solidFill>
                <a:latin typeface="黑体" panose="02010609060101010101" charset="-122"/>
                <a:ea typeface="黑体" panose="02010609060101010101" charset="-122"/>
                <a:sym typeface="+mn-ea"/>
              </a:rPr>
              <a:t>MPa</a:t>
            </a:r>
            <a:r>
              <a:rPr lang="zh-CN" altLang="en-US" sz="2400" b="1" dirty="0">
                <a:solidFill>
                  <a:srgbClr val="FF0000"/>
                </a:solidFill>
                <a:latin typeface="黑体" panose="02010609060101010101" charset="-122"/>
                <a:ea typeface="黑体" panose="02010609060101010101" charset="-122"/>
                <a:sym typeface="+mn-ea"/>
              </a:rPr>
              <a:t>、</a:t>
            </a:r>
            <a:r>
              <a:rPr sz="2400" b="1" dirty="0">
                <a:solidFill>
                  <a:srgbClr val="FF0000"/>
                </a:solidFill>
                <a:latin typeface="黑体" panose="02010609060101010101" charset="-122"/>
                <a:ea typeface="黑体" panose="02010609060101010101" charset="-122"/>
                <a:sym typeface="+mn-ea"/>
              </a:rPr>
              <a:t>2MPa</a:t>
            </a:r>
            <a:r>
              <a:rPr lang="zh-CN" sz="2400" b="1" dirty="0">
                <a:solidFill>
                  <a:srgbClr val="FF0000"/>
                </a:solidFill>
                <a:latin typeface="黑体" panose="02010609060101010101" charset="-122"/>
                <a:ea typeface="黑体" panose="02010609060101010101" charset="-122"/>
                <a:sym typeface="+mn-ea"/>
              </a:rPr>
              <a:t>、</a:t>
            </a:r>
            <a:r>
              <a:rPr sz="2400" b="1" dirty="0">
                <a:solidFill>
                  <a:srgbClr val="FF0000"/>
                </a:solidFill>
                <a:latin typeface="黑体" panose="02010609060101010101" charset="-122"/>
                <a:ea typeface="黑体" panose="02010609060101010101" charset="-122"/>
                <a:sym typeface="+mn-ea"/>
              </a:rPr>
              <a:t>5MPa</a:t>
            </a:r>
            <a:r>
              <a:rPr lang="zh-CN" sz="2400" b="1" dirty="0">
                <a:latin typeface="黑体" panose="02010609060101010101" charset="-122"/>
                <a:ea typeface="黑体" panose="02010609060101010101" charset="-122"/>
                <a:sym typeface="+mn-ea"/>
              </a:rPr>
              <a:t>的条件下</a:t>
            </a:r>
            <a:r>
              <a:rPr sz="2400" b="1" dirty="0">
                <a:latin typeface="黑体" panose="02010609060101010101" charset="-122"/>
                <a:ea typeface="黑体" panose="02010609060101010101" charset="-122"/>
                <a:sym typeface="+mn-ea"/>
              </a:rPr>
              <a:t>，其压力降</a:t>
            </a:r>
            <a:r>
              <a:rPr lang="zh-CN" sz="2400" b="1" dirty="0">
                <a:latin typeface="黑体" panose="02010609060101010101" charset="-122"/>
                <a:ea typeface="黑体" panose="02010609060101010101" charset="-122"/>
                <a:sym typeface="+mn-ea"/>
              </a:rPr>
              <a:t>分别</a:t>
            </a:r>
            <a:r>
              <a:rPr sz="2400" b="1" dirty="0">
                <a:latin typeface="黑体" panose="02010609060101010101" charset="-122"/>
                <a:ea typeface="黑体" panose="02010609060101010101" charset="-122"/>
                <a:sym typeface="+mn-ea"/>
              </a:rPr>
              <a:t>为0.54MPa</a:t>
            </a:r>
            <a:r>
              <a:rPr lang="zh-CN" sz="2400" b="1" dirty="0">
                <a:latin typeface="黑体" panose="02010609060101010101" charset="-122"/>
                <a:ea typeface="黑体" panose="02010609060101010101" charset="-122"/>
                <a:sym typeface="+mn-ea"/>
              </a:rPr>
              <a:t>、0.31MPa、</a:t>
            </a:r>
            <a:r>
              <a:rPr sz="2400" b="1" dirty="0">
                <a:latin typeface="黑体" panose="02010609060101010101" charset="-122"/>
                <a:ea typeface="黑体" panose="02010609060101010101" charset="-122"/>
                <a:sym typeface="+mn-ea"/>
              </a:rPr>
              <a:t>0.01MPa，小波峰值能量分别为46.12、1.59、0.39</a:t>
            </a:r>
            <a:r>
              <a:rPr lang="zh-CN" sz="2400" b="1" dirty="0">
                <a:latin typeface="黑体" panose="02010609060101010101" charset="-122"/>
                <a:ea typeface="黑体" panose="02010609060101010101" charset="-122"/>
                <a:sym typeface="+mn-ea"/>
              </a:rPr>
              <a:t>。</a:t>
            </a:r>
            <a:r>
              <a:rPr sz="2400" b="1" dirty="0">
                <a:latin typeface="黑体" panose="02010609060101010101" charset="-122"/>
                <a:ea typeface="黑体" panose="02010609060101010101" charset="-122"/>
                <a:sym typeface="+mn-ea"/>
              </a:rPr>
              <a:t>所以随着</a:t>
            </a:r>
            <a:r>
              <a:rPr sz="2400" b="1" dirty="0">
                <a:solidFill>
                  <a:srgbClr val="FF0000"/>
                </a:solidFill>
                <a:latin typeface="黑体" panose="02010609060101010101" charset="-122"/>
                <a:ea typeface="黑体" panose="02010609060101010101" charset="-122"/>
                <a:sym typeface="+mn-ea"/>
              </a:rPr>
              <a:t>应力差的增大</a:t>
            </a:r>
            <a:r>
              <a:rPr sz="2400" b="1" dirty="0">
                <a:latin typeface="黑体" panose="02010609060101010101" charset="-122"/>
                <a:ea typeface="黑体" panose="02010609060101010101" charset="-122"/>
                <a:sym typeface="+mn-ea"/>
              </a:rPr>
              <a:t>，其</a:t>
            </a:r>
            <a:r>
              <a:rPr sz="2400" b="1" dirty="0">
                <a:solidFill>
                  <a:srgbClr val="FF0000"/>
                </a:solidFill>
                <a:latin typeface="黑体" panose="02010609060101010101" charset="-122"/>
                <a:ea typeface="黑体" panose="02010609060101010101" charset="-122"/>
                <a:sym typeface="+mn-ea"/>
              </a:rPr>
              <a:t>压力降逐渐减小</a:t>
            </a:r>
            <a:r>
              <a:rPr sz="2400" b="1" dirty="0">
                <a:latin typeface="黑体" panose="02010609060101010101" charset="-122"/>
                <a:ea typeface="黑体" panose="02010609060101010101" charset="-122"/>
                <a:sym typeface="+mn-ea"/>
              </a:rPr>
              <a:t>，</a:t>
            </a:r>
            <a:r>
              <a:rPr sz="2400" b="1" dirty="0">
                <a:solidFill>
                  <a:srgbClr val="FF0000"/>
                </a:solidFill>
                <a:latin typeface="黑体" panose="02010609060101010101" charset="-122"/>
                <a:ea typeface="黑体" panose="02010609060101010101" charset="-122"/>
                <a:sym typeface="+mn-ea"/>
              </a:rPr>
              <a:t>小波峰值能量也不断减小</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pic>
        <p:nvPicPr>
          <p:cNvPr id="1841630096" name="图片 1"/>
          <p:cNvPicPr/>
          <p:nvPr/>
        </p:nvPicPr>
        <p:blipFill>
          <a:blip r:embed="rId1"/>
          <a:stretch>
            <a:fillRect/>
          </a:stretch>
        </p:blipFill>
        <p:spPr>
          <a:xfrm>
            <a:off x="209550" y="3795395"/>
            <a:ext cx="5688000" cy="2340000"/>
          </a:xfrm>
          <a:prstGeom prst="rect">
            <a:avLst/>
          </a:prstGeom>
        </p:spPr>
      </p:pic>
      <p:pic>
        <p:nvPicPr>
          <p:cNvPr id="872229315" name="图片 1"/>
          <p:cNvPicPr/>
          <p:nvPr/>
        </p:nvPicPr>
        <p:blipFill>
          <a:blip r:embed="rId2"/>
          <a:stretch>
            <a:fillRect/>
          </a:stretch>
        </p:blipFill>
        <p:spPr>
          <a:xfrm>
            <a:off x="6280150" y="3795395"/>
            <a:ext cx="5688000" cy="2340000"/>
          </a:xfrm>
          <a:prstGeom prst="rect">
            <a:avLst/>
          </a:prstGeom>
        </p:spPr>
      </p:pic>
      <p:sp>
        <p:nvSpPr>
          <p:cNvPr id="3" name="文本框 2"/>
          <p:cNvSpPr txBox="1"/>
          <p:nvPr/>
        </p:nvSpPr>
        <p:spPr>
          <a:xfrm>
            <a:off x="635" y="6430645"/>
            <a:ext cx="609536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(a)不同应力差下注入压力曲线，(b)不同应力差下小波能量曲线</a:t>
            </a:r>
            <a:endParaRPr lang="zh-CN" altLang="en-US" sz="1600" b="1" dirty="0">
              <a:solidFill>
                <a:srgbClr val="0000FF"/>
              </a:solidFill>
              <a:latin typeface="微软雅黑" panose="020B0503020204020204" charset="-122"/>
              <a:ea typeface="微软雅黑" panose="020B0503020204020204" charset="-122"/>
            </a:endParaRPr>
          </a:p>
        </p:txBody>
      </p:sp>
      <p:sp>
        <p:nvSpPr>
          <p:cNvPr id="4" name="文本框 3"/>
          <p:cNvSpPr txBox="1"/>
          <p:nvPr/>
        </p:nvSpPr>
        <p:spPr>
          <a:xfrm>
            <a:off x="6096000" y="6307455"/>
            <a:ext cx="6106160" cy="58356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不同应力差下压力降和小波峰值能量，(a)水力裂缝与天然裂缝相遇时刻，(b)停泵时刻</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sz="2800" b="1" dirty="0">
                <a:solidFill>
                  <a:srgbClr val="0000FF"/>
                </a:solidFill>
                <a:latin typeface="Times New Roman" panose="02020603050405020304" pitchFamily="18" charset="0"/>
                <a:ea typeface="黑体" panose="02010609060101010101" charset="-122"/>
                <a:sym typeface="+mn-ea"/>
              </a:rPr>
              <a:t>多</a:t>
            </a:r>
            <a:r>
              <a:rPr sz="2800" b="1" dirty="0">
                <a:solidFill>
                  <a:srgbClr val="0000FF"/>
                </a:solidFill>
                <a:latin typeface="Times New Roman" panose="02020603050405020304" pitchFamily="18" charset="0"/>
                <a:ea typeface="黑体" panose="02010609060101010101" charset="-122"/>
                <a:sym typeface="+mn-ea"/>
              </a:rPr>
              <a:t>参数</a:t>
            </a:r>
            <a:r>
              <a:rPr lang="zh-CN" sz="2800" b="1" dirty="0">
                <a:solidFill>
                  <a:srgbClr val="0000FF"/>
                </a:solidFill>
                <a:latin typeface="Times New Roman" panose="02020603050405020304" pitchFamily="18" charset="0"/>
                <a:ea typeface="黑体" panose="02010609060101010101" charset="-122"/>
                <a:sym typeface="+mn-ea"/>
              </a:rPr>
              <a:t>下</a:t>
            </a:r>
            <a:r>
              <a:rPr sz="2800" b="1" dirty="0">
                <a:solidFill>
                  <a:srgbClr val="0000FF"/>
                </a:solidFill>
                <a:latin typeface="Times New Roman" panose="02020603050405020304" pitchFamily="18" charset="0"/>
                <a:ea typeface="黑体" panose="02010609060101010101" charset="-122"/>
                <a:sym typeface="+mn-ea"/>
              </a:rPr>
              <a:t>小波响应规律</a:t>
            </a:r>
            <a:r>
              <a:rPr lang="en-US" sz="2800" b="1" dirty="0">
                <a:solidFill>
                  <a:srgbClr val="0000FF"/>
                </a:solidFill>
                <a:latin typeface="Times New Roman" panose="02020603050405020304" pitchFamily="18" charset="0"/>
                <a:ea typeface="黑体" panose="02010609060101010101" charset="-122"/>
                <a:sym typeface="+mn-ea"/>
              </a:rPr>
              <a:t>—</a:t>
            </a:r>
            <a:r>
              <a:rPr lang="zh-CN" altLang="en-US" sz="2800" b="1" dirty="0">
                <a:solidFill>
                  <a:srgbClr val="0000FF"/>
                </a:solidFill>
                <a:latin typeface="Times New Roman" panose="02020603050405020304" pitchFamily="18" charset="0"/>
                <a:ea typeface="黑体" panose="02010609060101010101" charset="-122"/>
                <a:sym typeface="+mn-ea"/>
              </a:rPr>
              <a:t>弹性模量</a:t>
            </a:r>
            <a:endParaRPr lang="zh-CN" altLang="en-US"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井口施工曲线多级小波分解研究进展</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lang="zh-CN" sz="2400" b="1" dirty="0">
                <a:latin typeface="黑体" panose="02010609060101010101" charset="-122"/>
                <a:ea typeface="黑体" panose="02010609060101010101" charset="-122"/>
                <a:sym typeface="+mn-ea"/>
              </a:rPr>
              <a:t>在不同弹性模量下（</a:t>
            </a:r>
            <a:r>
              <a:rPr lang="zh-CN" sz="2400" b="1" dirty="0">
                <a:solidFill>
                  <a:srgbClr val="FF0000"/>
                </a:solidFill>
                <a:latin typeface="黑体" panose="02010609060101010101" charset="-122"/>
                <a:ea typeface="黑体" panose="02010609060101010101" charset="-122"/>
                <a:sym typeface="+mn-ea"/>
              </a:rPr>
              <a:t>15、20、30GPa</a:t>
            </a:r>
            <a:r>
              <a:rPr lang="zh-CN" sz="2400" b="1" dirty="0">
                <a:latin typeface="黑体" panose="02010609060101010101" charset="-122"/>
                <a:ea typeface="黑体" panose="02010609060101010101" charset="-122"/>
                <a:sym typeface="+mn-ea"/>
              </a:rPr>
              <a:t>），</a:t>
            </a:r>
            <a:r>
              <a:rPr sz="2400" b="1" dirty="0">
                <a:latin typeface="黑体" panose="02010609060101010101" charset="-122"/>
                <a:ea typeface="黑体" panose="02010609060101010101" charset="-122"/>
                <a:sym typeface="+mn-ea"/>
              </a:rPr>
              <a:t>水力裂缝与天然裂缝相遇事件</a:t>
            </a:r>
            <a:r>
              <a:rPr lang="zh-CN" sz="2400" b="1" dirty="0">
                <a:latin typeface="黑体" panose="02010609060101010101" charset="-122"/>
                <a:ea typeface="黑体" panose="02010609060101010101" charset="-122"/>
                <a:sym typeface="+mn-ea"/>
              </a:rPr>
              <a:t>时</a:t>
            </a:r>
            <a:r>
              <a:rPr sz="2400" b="1" dirty="0">
                <a:latin typeface="黑体" panose="02010609060101010101" charset="-122"/>
                <a:ea typeface="黑体" panose="02010609060101010101" charset="-122"/>
                <a:sym typeface="+mn-ea"/>
              </a:rPr>
              <a:t>其压降值分别为0.54MPa、0.61MPa、0.85MPa，小波峰值能量分别为46.12、68.45、121.36，所以随着</a:t>
            </a:r>
            <a:r>
              <a:rPr sz="2400" b="1" dirty="0">
                <a:solidFill>
                  <a:srgbClr val="FF0000"/>
                </a:solidFill>
                <a:latin typeface="黑体" panose="02010609060101010101" charset="-122"/>
                <a:ea typeface="黑体" panose="02010609060101010101" charset="-122"/>
                <a:sym typeface="+mn-ea"/>
              </a:rPr>
              <a:t>弹性模量的增加</a:t>
            </a:r>
            <a:r>
              <a:rPr sz="2400" b="1" dirty="0">
                <a:latin typeface="黑体" panose="02010609060101010101" charset="-122"/>
                <a:ea typeface="黑体" panose="02010609060101010101" charset="-122"/>
                <a:sym typeface="+mn-ea"/>
              </a:rPr>
              <a:t>，其</a:t>
            </a:r>
            <a:r>
              <a:rPr sz="2400" b="1" dirty="0">
                <a:solidFill>
                  <a:srgbClr val="FF0000"/>
                </a:solidFill>
                <a:latin typeface="黑体" panose="02010609060101010101" charset="-122"/>
                <a:ea typeface="黑体" panose="02010609060101010101" charset="-122"/>
                <a:sym typeface="+mn-ea"/>
              </a:rPr>
              <a:t>压降值与小波峰值能量都随着增加</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pic>
        <p:nvPicPr>
          <p:cNvPr id="623120558" name="图片 1"/>
          <p:cNvPicPr/>
          <p:nvPr/>
        </p:nvPicPr>
        <p:blipFill>
          <a:blip r:embed="rId1"/>
          <a:stretch>
            <a:fillRect/>
          </a:stretch>
        </p:blipFill>
        <p:spPr>
          <a:xfrm>
            <a:off x="204470" y="3919220"/>
            <a:ext cx="5688000" cy="2340000"/>
          </a:xfrm>
          <a:prstGeom prst="rect">
            <a:avLst/>
          </a:prstGeom>
        </p:spPr>
      </p:pic>
      <p:pic>
        <p:nvPicPr>
          <p:cNvPr id="398822647" name="图片 1"/>
          <p:cNvPicPr/>
          <p:nvPr/>
        </p:nvPicPr>
        <p:blipFill>
          <a:blip r:embed="rId2"/>
          <a:stretch>
            <a:fillRect/>
          </a:stretch>
        </p:blipFill>
        <p:spPr>
          <a:xfrm>
            <a:off x="6311265" y="3919220"/>
            <a:ext cx="5688000" cy="2340000"/>
          </a:xfrm>
          <a:prstGeom prst="rect">
            <a:avLst/>
          </a:prstGeom>
        </p:spPr>
      </p:pic>
      <p:sp>
        <p:nvSpPr>
          <p:cNvPr id="3" name="文本框 2"/>
          <p:cNvSpPr txBox="1"/>
          <p:nvPr/>
        </p:nvSpPr>
        <p:spPr>
          <a:xfrm>
            <a:off x="635" y="6425565"/>
            <a:ext cx="609536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(a)不同弹性模量下注入压力曲线，(b)不同应力差下小波能量曲线</a:t>
            </a:r>
            <a:endParaRPr lang="zh-CN" altLang="en-US" sz="1600" b="1" dirty="0">
              <a:solidFill>
                <a:srgbClr val="0000FF"/>
              </a:solidFill>
              <a:latin typeface="微软雅黑" panose="020B0503020204020204" charset="-122"/>
              <a:ea typeface="微软雅黑" panose="020B0503020204020204" charset="-122"/>
            </a:endParaRPr>
          </a:p>
        </p:txBody>
      </p:sp>
      <p:sp>
        <p:nvSpPr>
          <p:cNvPr id="4" name="文本框 3"/>
          <p:cNvSpPr txBox="1"/>
          <p:nvPr/>
        </p:nvSpPr>
        <p:spPr>
          <a:xfrm>
            <a:off x="6096000" y="6302375"/>
            <a:ext cx="6117590" cy="58356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不同弹性模量下压力降和小波峰值能量，(a)水力裂缝与天然裂缝相遇时刻，(b)停泵时刻</a:t>
            </a:r>
            <a:endParaRPr lang="zh-CN" altLang="en-US" sz="1600" b="1" dirty="0">
              <a:solidFill>
                <a:srgbClr val="0000FF"/>
              </a:solidFill>
              <a:latin typeface="微软雅黑" panose="020B0503020204020204" charset="-122"/>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sz="2800" b="1" dirty="0">
                <a:solidFill>
                  <a:srgbClr val="0000FF"/>
                </a:solidFill>
                <a:latin typeface="Times New Roman" panose="02020603050405020304" pitchFamily="18" charset="0"/>
                <a:ea typeface="黑体" panose="02010609060101010101" charset="-122"/>
                <a:sym typeface="+mn-ea"/>
              </a:rPr>
              <a:t>多</a:t>
            </a:r>
            <a:r>
              <a:rPr sz="2800" b="1" dirty="0">
                <a:solidFill>
                  <a:srgbClr val="0000FF"/>
                </a:solidFill>
                <a:latin typeface="Times New Roman" panose="02020603050405020304" pitchFamily="18" charset="0"/>
                <a:ea typeface="黑体" panose="02010609060101010101" charset="-122"/>
                <a:sym typeface="+mn-ea"/>
              </a:rPr>
              <a:t>参数</a:t>
            </a:r>
            <a:r>
              <a:rPr lang="zh-CN" sz="2800" b="1" dirty="0">
                <a:solidFill>
                  <a:srgbClr val="0000FF"/>
                </a:solidFill>
                <a:latin typeface="Times New Roman" panose="02020603050405020304" pitchFamily="18" charset="0"/>
                <a:ea typeface="黑体" panose="02010609060101010101" charset="-122"/>
                <a:sym typeface="+mn-ea"/>
              </a:rPr>
              <a:t>下</a:t>
            </a:r>
            <a:r>
              <a:rPr sz="2800" b="1" dirty="0">
                <a:solidFill>
                  <a:srgbClr val="0000FF"/>
                </a:solidFill>
                <a:latin typeface="Times New Roman" panose="02020603050405020304" pitchFamily="18" charset="0"/>
                <a:ea typeface="黑体" panose="02010609060101010101" charset="-122"/>
                <a:sym typeface="+mn-ea"/>
              </a:rPr>
              <a:t>小波响应规律</a:t>
            </a:r>
            <a:r>
              <a:rPr lang="en-US" sz="2800" b="1" dirty="0">
                <a:solidFill>
                  <a:srgbClr val="0000FF"/>
                </a:solidFill>
                <a:latin typeface="Times New Roman" panose="02020603050405020304" pitchFamily="18" charset="0"/>
                <a:ea typeface="黑体" panose="02010609060101010101" charset="-122"/>
                <a:sym typeface="+mn-ea"/>
              </a:rPr>
              <a:t>—</a:t>
            </a:r>
            <a:r>
              <a:rPr lang="zh-CN" altLang="en-US" sz="2800" b="1" dirty="0">
                <a:solidFill>
                  <a:srgbClr val="0000FF"/>
                </a:solidFill>
                <a:latin typeface="Times New Roman" panose="02020603050405020304" pitchFamily="18" charset="0"/>
                <a:ea typeface="黑体" panose="02010609060101010101" charset="-122"/>
                <a:sym typeface="+mn-ea"/>
              </a:rPr>
              <a:t>注入</a:t>
            </a:r>
            <a:r>
              <a:rPr lang="zh-CN" altLang="en-US" sz="2800" b="1" dirty="0">
                <a:solidFill>
                  <a:srgbClr val="0000FF"/>
                </a:solidFill>
                <a:latin typeface="Times New Roman" panose="02020603050405020304" pitchFamily="18" charset="0"/>
                <a:ea typeface="黑体" panose="02010609060101010101" charset="-122"/>
                <a:sym typeface="+mn-ea"/>
              </a:rPr>
              <a:t>排量</a:t>
            </a:r>
            <a:endParaRPr lang="zh-CN" altLang="en-US"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井口施工曲线多级小波分解研究进展</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sz="2400" b="1" dirty="0">
                <a:latin typeface="黑体" panose="02010609060101010101" charset="-122"/>
                <a:ea typeface="黑体" panose="02010609060101010101" charset="-122"/>
                <a:sym typeface="+mn-ea"/>
              </a:rPr>
              <a:t>对于排量而言，其排量的突变与停泵都可以看做是</a:t>
            </a:r>
            <a:r>
              <a:rPr sz="2400" b="1" dirty="0">
                <a:solidFill>
                  <a:srgbClr val="FF0000"/>
                </a:solidFill>
                <a:latin typeface="黑体" panose="02010609060101010101" charset="-122"/>
                <a:ea typeface="黑体" panose="02010609060101010101" charset="-122"/>
                <a:sym typeface="+mn-ea"/>
              </a:rPr>
              <a:t>排量降低50%</a:t>
            </a:r>
            <a:r>
              <a:rPr sz="2400" b="1" dirty="0">
                <a:latin typeface="黑体" panose="02010609060101010101" charset="-122"/>
                <a:ea typeface="黑体" panose="02010609060101010101" charset="-122"/>
                <a:sym typeface="+mn-ea"/>
              </a:rPr>
              <a:t>，同时其</a:t>
            </a:r>
            <a:r>
              <a:rPr sz="2400" b="1" dirty="0">
                <a:solidFill>
                  <a:srgbClr val="FF0000"/>
                </a:solidFill>
                <a:latin typeface="黑体" panose="02010609060101010101" charset="-122"/>
                <a:ea typeface="黑体" panose="02010609060101010101" charset="-122"/>
                <a:sym typeface="+mn-ea"/>
              </a:rPr>
              <a:t>小波峰值能量在数值上相等</a:t>
            </a:r>
            <a:r>
              <a:rPr sz="2400" b="1" dirty="0">
                <a:latin typeface="黑体" panose="02010609060101010101" charset="-122"/>
                <a:ea typeface="黑体" panose="02010609060101010101" charset="-122"/>
                <a:sym typeface="+mn-ea"/>
              </a:rPr>
              <a:t>，都为1.61，再一次说明了</a:t>
            </a:r>
            <a:r>
              <a:rPr sz="2400" b="1" dirty="0">
                <a:solidFill>
                  <a:srgbClr val="FF0000"/>
                </a:solidFill>
                <a:latin typeface="黑体" panose="02010609060101010101" charset="-122"/>
                <a:ea typeface="黑体" panose="02010609060101010101" charset="-122"/>
                <a:sym typeface="+mn-ea"/>
              </a:rPr>
              <a:t>小波峰值能量与压力或排量曲线的突降值存在直接的关联</a:t>
            </a:r>
            <a:r>
              <a:rPr sz="2400" b="1" dirty="0">
                <a:latin typeface="黑体" panose="02010609060101010101" charset="-122"/>
                <a:ea typeface="黑体" panose="02010609060101010101" charset="-122"/>
                <a:sym typeface="+mn-ea"/>
              </a:rPr>
              <a:t>。</a:t>
            </a:r>
            <a:endParaRPr sz="2400" b="1" dirty="0">
              <a:latin typeface="黑体" panose="02010609060101010101" charset="-122"/>
              <a:ea typeface="黑体" panose="02010609060101010101" charset="-122"/>
              <a:sym typeface="+mn-ea"/>
            </a:endParaRPr>
          </a:p>
        </p:txBody>
      </p:sp>
      <p:pic>
        <p:nvPicPr>
          <p:cNvPr id="1190" name="IM 1190"/>
          <p:cNvPicPr/>
          <p:nvPr/>
        </p:nvPicPr>
        <p:blipFill>
          <a:blip r:embed="rId1"/>
          <a:stretch>
            <a:fillRect/>
          </a:stretch>
        </p:blipFill>
        <p:spPr>
          <a:xfrm>
            <a:off x="581660" y="3831273"/>
            <a:ext cx="5688000" cy="2340000"/>
          </a:xfrm>
          <a:prstGeom prst="rect">
            <a:avLst/>
          </a:prstGeom>
        </p:spPr>
      </p:pic>
      <p:pic>
        <p:nvPicPr>
          <p:cNvPr id="1192" name="IM 1192"/>
          <p:cNvPicPr/>
          <p:nvPr/>
        </p:nvPicPr>
        <p:blipFill>
          <a:blip r:embed="rId2"/>
          <a:stretch>
            <a:fillRect/>
          </a:stretch>
        </p:blipFill>
        <p:spPr>
          <a:xfrm>
            <a:off x="6929120" y="3601720"/>
            <a:ext cx="4439920" cy="2947670"/>
          </a:xfrm>
          <a:prstGeom prst="rect">
            <a:avLst/>
          </a:prstGeom>
        </p:spPr>
      </p:pic>
      <p:sp>
        <p:nvSpPr>
          <p:cNvPr id="4" name="文本框 3"/>
          <p:cNvSpPr txBox="1"/>
          <p:nvPr/>
        </p:nvSpPr>
        <p:spPr>
          <a:xfrm>
            <a:off x="307975" y="6549390"/>
            <a:ext cx="605599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(a)注入压力和排量曲线，(b)小波能量曲线</a:t>
            </a:r>
            <a:endParaRPr lang="zh-CN" altLang="en-US"/>
          </a:p>
        </p:txBody>
      </p:sp>
      <p:sp>
        <p:nvSpPr>
          <p:cNvPr id="5" name="文本框 4"/>
          <p:cNvSpPr txBox="1"/>
          <p:nvPr/>
        </p:nvSpPr>
        <p:spPr>
          <a:xfrm>
            <a:off x="6040120" y="6549390"/>
            <a:ext cx="6066155" cy="337185"/>
          </a:xfrm>
          <a:prstGeom prst="rect">
            <a:avLst/>
          </a:prstGeom>
          <a:noFill/>
        </p:spPr>
        <p:txBody>
          <a:bodyPr wrap="square" rtlCol="0">
            <a:spAutoFit/>
          </a:bodyPr>
          <a:p>
            <a:pPr algn="ctr"/>
            <a:r>
              <a:rPr lang="zh-CN" altLang="en-US" sz="1600" b="1" dirty="0">
                <a:solidFill>
                  <a:srgbClr val="0000FF"/>
                </a:solidFill>
                <a:latin typeface="微软雅黑" panose="020B0503020204020204" charset="-122"/>
                <a:ea typeface="微软雅黑" panose="020B0503020204020204" charset="-122"/>
              </a:rPr>
              <a:t>变排量工况下压力降和小波峰值能量</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Box 2"/>
          <p:cNvSpPr txBox="1">
            <a:spLocks noChangeArrowheads="1"/>
          </p:cNvSpPr>
          <p:nvPr/>
        </p:nvSpPr>
        <p:spPr bwMode="auto">
          <a:xfrm>
            <a:off x="96520" y="1143635"/>
            <a:ext cx="9178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sz="2800" b="1" dirty="0">
                <a:solidFill>
                  <a:srgbClr val="0000FF"/>
                </a:solidFill>
                <a:latin typeface="Times New Roman" panose="02020603050405020304" pitchFamily="18" charset="0"/>
                <a:ea typeface="黑体" panose="02010609060101010101" charset="-122"/>
                <a:sym typeface="+mn-ea"/>
              </a:rPr>
              <a:t>玛瑚某井现场实际施工曲线</a:t>
            </a:r>
            <a:r>
              <a:rPr lang="zh-CN" sz="2800" b="1" dirty="0">
                <a:solidFill>
                  <a:srgbClr val="0000FF"/>
                </a:solidFill>
                <a:latin typeface="Times New Roman" panose="02020603050405020304" pitchFamily="18" charset="0"/>
                <a:ea typeface="黑体" panose="02010609060101010101" charset="-122"/>
                <a:sym typeface="+mn-ea"/>
              </a:rPr>
              <a:t>分析</a:t>
            </a:r>
            <a:endParaRPr lang="zh-CN" sz="2800" b="1" dirty="0">
              <a:solidFill>
                <a:srgbClr val="0000FF"/>
              </a:solidFill>
              <a:latin typeface="Times New Roman" panose="02020603050405020304" pitchFamily="18" charset="0"/>
              <a:ea typeface="黑体" panose="02010609060101010101" charset="-122"/>
              <a:sym typeface="+mn-ea"/>
            </a:endParaRPr>
          </a:p>
        </p:txBody>
      </p:sp>
      <p:sp>
        <p:nvSpPr>
          <p:cNvPr id="2" name="Rectangle 5"/>
          <p:cNvSpPr>
            <a:spLocks noChangeArrowheads="1"/>
          </p:cNvSpPr>
          <p:nvPr/>
        </p:nvSpPr>
        <p:spPr bwMode="auto">
          <a:xfrm>
            <a:off x="1536700" y="188914"/>
            <a:ext cx="9144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b="1" dirty="0">
                <a:solidFill>
                  <a:srgbClr val="FF0000"/>
                </a:solidFill>
                <a:latin typeface="黑体" panose="02010609060101010101" charset="-122"/>
                <a:ea typeface="黑体" panose="02010609060101010101" charset="-122"/>
                <a:sym typeface="+mn-ea"/>
              </a:rPr>
              <a:t>井口施工曲线多级小波分解现场</a:t>
            </a:r>
            <a:r>
              <a:rPr lang="zh-CN" altLang="en-US" sz="4000" b="1" dirty="0">
                <a:solidFill>
                  <a:srgbClr val="FF0000"/>
                </a:solidFill>
                <a:latin typeface="黑体" panose="02010609060101010101" charset="-122"/>
                <a:ea typeface="黑体" panose="02010609060101010101" charset="-122"/>
                <a:sym typeface="+mn-ea"/>
              </a:rPr>
              <a:t>案例</a:t>
            </a:r>
            <a:endParaRPr lang="zh-CN" altLang="en-US" sz="4000" b="1" dirty="0">
              <a:solidFill>
                <a:srgbClr val="FF0000"/>
              </a:solidFill>
              <a:latin typeface="黑体" panose="02010609060101010101" charset="-122"/>
              <a:ea typeface="黑体" panose="02010609060101010101" charset="-122"/>
              <a:sym typeface="+mn-ea"/>
            </a:endParaRPr>
          </a:p>
        </p:txBody>
      </p:sp>
      <p:sp>
        <p:nvSpPr>
          <p:cNvPr id="6" name="矩形 1"/>
          <p:cNvSpPr>
            <a:spLocks noChangeArrowheads="1"/>
          </p:cNvSpPr>
          <p:nvPr/>
        </p:nvSpPr>
        <p:spPr bwMode="auto">
          <a:xfrm>
            <a:off x="286440" y="1699835"/>
            <a:ext cx="11619119"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以国内某页岩气井</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一段的压裂施工数据为例（采样率为</a:t>
            </a:r>
            <a:r>
              <a:rPr lang="en-US" altLang="zh-CN" sz="2400" b="1" dirty="0">
                <a:latin typeface="Times New Roman" panose="02020603050405020304" pitchFamily="18" charset="0"/>
                <a:ea typeface="黑体" panose="02010609060101010101" charset="-122"/>
                <a:cs typeface="Times New Roman" panose="02020603050405020304" pitchFamily="18" charset="0"/>
                <a:sym typeface="+mn-ea"/>
              </a:rPr>
              <a:t>1 Hz </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a:t>
            </a:r>
            <a:r>
              <a:rPr sz="2400" b="1" dirty="0" err="1">
                <a:latin typeface="Times New Roman" panose="02020603050405020304" pitchFamily="18" charset="0"/>
                <a:ea typeface="黑体" panose="02010609060101010101" charset="-122"/>
                <a:cs typeface="Times New Roman" panose="02020603050405020304" pitchFamily="18" charset="0"/>
                <a:sym typeface="+mn-ea"/>
              </a:rPr>
              <a:t>确定</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了</a:t>
            </a:r>
            <a:r>
              <a:rPr sz="2400" b="1" dirty="0" err="1">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最大分解</a:t>
            </a:r>
            <a:r>
              <a:rPr lang="zh-CN" altLang="en-US"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等</a:t>
            </a:r>
            <a:r>
              <a:rPr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级为13级</a:t>
            </a:r>
            <a:r>
              <a:rPr lang="zh-CN" altLang="en-US"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最优分解等级为</a:t>
            </a:r>
            <a:r>
              <a:rPr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7、8、9级</a:t>
            </a:r>
            <a:r>
              <a:rPr lang="zh-CN" altLang="en-US"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基于小波分解结果分析识别井下流固事件</a:t>
            </a:r>
            <a:r>
              <a:rPr lang="zh-CN" altLang="en-US"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准确率超过</a:t>
            </a:r>
            <a:r>
              <a:rPr lang="en-US" altLang="zh-CN" sz="24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85%</a:t>
            </a:r>
            <a:r>
              <a:rPr lang="zh-CN" altLang="en-US" sz="2400" b="1" dirty="0">
                <a:latin typeface="Times New Roman" panose="02020603050405020304" pitchFamily="18" charset="0"/>
                <a:ea typeface="黑体" panose="02010609060101010101" charset="-122"/>
                <a:cs typeface="Times New Roman" panose="02020603050405020304" pitchFamily="18" charset="0"/>
                <a:sym typeface="+mn-ea"/>
              </a:rPr>
              <a:t>（与微地震结果对比）。</a:t>
            </a:r>
            <a:endParaRPr sz="2400" b="1" dirty="0">
              <a:latin typeface="黑体" panose="02010609060101010101" charset="-122"/>
              <a:ea typeface="黑体" panose="02010609060101010101" charset="-122"/>
              <a:sym typeface="+mn-ea"/>
            </a:endParaRPr>
          </a:p>
        </p:txBody>
      </p:sp>
      <p:pic>
        <p:nvPicPr>
          <p:cNvPr id="3" name="图片 2"/>
          <p:cNvPicPr/>
          <p:nvPr>
            <p:custDataLst>
              <p:tags r:id="rId1"/>
            </p:custDataLst>
          </p:nvPr>
        </p:nvPicPr>
        <p:blipFill>
          <a:blip r:embed="rId2"/>
          <a:stretch>
            <a:fillRect/>
          </a:stretch>
        </p:blipFill>
        <p:spPr>
          <a:xfrm>
            <a:off x="6167755" y="5122545"/>
            <a:ext cx="5724000" cy="1440000"/>
          </a:xfrm>
          <a:prstGeom prst="rect">
            <a:avLst/>
          </a:prstGeom>
          <a:ln>
            <a:solidFill>
              <a:schemeClr val="tx1"/>
            </a:solidFill>
          </a:ln>
        </p:spPr>
      </p:pic>
      <p:pic>
        <p:nvPicPr>
          <p:cNvPr id="4" name="图片 3"/>
          <p:cNvPicPr/>
          <p:nvPr>
            <p:custDataLst>
              <p:tags r:id="rId3"/>
            </p:custDataLst>
          </p:nvPr>
        </p:nvPicPr>
        <p:blipFill>
          <a:blip r:embed="rId4"/>
          <a:stretch>
            <a:fillRect/>
          </a:stretch>
        </p:blipFill>
        <p:spPr>
          <a:xfrm>
            <a:off x="326390" y="3354705"/>
            <a:ext cx="5724000" cy="1440000"/>
          </a:xfrm>
          <a:prstGeom prst="rect">
            <a:avLst/>
          </a:prstGeom>
          <a:ln>
            <a:solidFill>
              <a:schemeClr val="tx1"/>
            </a:solidFill>
          </a:ln>
        </p:spPr>
      </p:pic>
      <p:pic>
        <p:nvPicPr>
          <p:cNvPr id="5" name="图片 4"/>
          <p:cNvPicPr/>
          <p:nvPr>
            <p:custDataLst>
              <p:tags r:id="rId5"/>
            </p:custDataLst>
          </p:nvPr>
        </p:nvPicPr>
        <p:blipFill>
          <a:blip r:embed="rId6"/>
          <a:stretch>
            <a:fillRect/>
          </a:stretch>
        </p:blipFill>
        <p:spPr>
          <a:xfrm>
            <a:off x="335915" y="5122545"/>
            <a:ext cx="5724000" cy="1440000"/>
          </a:xfrm>
          <a:prstGeom prst="rect">
            <a:avLst/>
          </a:prstGeom>
          <a:ln>
            <a:solidFill>
              <a:schemeClr val="tx1"/>
            </a:solidFill>
          </a:ln>
        </p:spPr>
      </p:pic>
      <p:pic>
        <p:nvPicPr>
          <p:cNvPr id="8" name="图片 7"/>
          <p:cNvPicPr/>
          <p:nvPr>
            <p:custDataLst>
              <p:tags r:id="rId7"/>
            </p:custDataLst>
          </p:nvPr>
        </p:nvPicPr>
        <p:blipFill>
          <a:blip r:embed="rId8"/>
          <a:stretch>
            <a:fillRect/>
          </a:stretch>
        </p:blipFill>
        <p:spPr>
          <a:xfrm>
            <a:off x="6167755" y="3354705"/>
            <a:ext cx="5724000" cy="1440000"/>
          </a:xfrm>
          <a:prstGeom prst="rect">
            <a:avLst/>
          </a:prstGeom>
          <a:ln>
            <a:solidFill>
              <a:schemeClr val="tx1"/>
            </a:solidFill>
          </a:ln>
        </p:spPr>
      </p:pic>
      <p:sp>
        <p:nvSpPr>
          <p:cNvPr id="12" name="文本框 11"/>
          <p:cNvSpPr txBox="1"/>
          <p:nvPr>
            <p:custDataLst>
              <p:tags r:id="rId9"/>
            </p:custDataLst>
          </p:nvPr>
        </p:nvSpPr>
        <p:spPr>
          <a:xfrm>
            <a:off x="325755" y="4794885"/>
            <a:ext cx="5723890" cy="337185"/>
          </a:xfrm>
          <a:prstGeom prst="rect">
            <a:avLst/>
          </a:prstGeom>
          <a:noFill/>
        </p:spPr>
        <p:txBody>
          <a:bodyPr wrap="square" rtlCol="0">
            <a:spAutoFit/>
          </a:bodyPr>
          <a:lstStyle/>
          <a:p>
            <a:pPr algn="ctr"/>
            <a:r>
              <a:rPr lang="zh-CN" altLang="en-US" sz="1600" b="1" dirty="0">
                <a:solidFill>
                  <a:srgbClr val="0000FF"/>
                </a:solidFill>
                <a:latin typeface="微软雅黑" panose="020B0503020204020204" charset="-122"/>
                <a:ea typeface="微软雅黑" panose="020B0503020204020204" charset="-122"/>
              </a:rPr>
              <a:t>压力和注入排量在第7层分解水平上的小波能量</a:t>
            </a:r>
            <a:endParaRPr lang="zh-CN" altLang="en-US" sz="1600">
              <a:latin typeface="黑体" panose="02010609060101010101" charset="-122"/>
              <a:ea typeface="黑体" panose="02010609060101010101" charset="-122"/>
              <a:cs typeface="黑体" panose="02010609060101010101" charset="-122"/>
            </a:endParaRPr>
          </a:p>
        </p:txBody>
      </p:sp>
      <p:sp>
        <p:nvSpPr>
          <p:cNvPr id="13" name="文本框 12"/>
          <p:cNvSpPr txBox="1"/>
          <p:nvPr>
            <p:custDataLst>
              <p:tags r:id="rId10"/>
            </p:custDataLst>
          </p:nvPr>
        </p:nvSpPr>
        <p:spPr>
          <a:xfrm>
            <a:off x="327025" y="6562725"/>
            <a:ext cx="5722620" cy="337185"/>
          </a:xfrm>
          <a:prstGeom prst="rect">
            <a:avLst/>
          </a:prstGeom>
          <a:noFill/>
        </p:spPr>
        <p:txBody>
          <a:bodyPr wrap="square" rtlCol="0">
            <a:spAutoFit/>
          </a:bodyPr>
          <a:lstStyle/>
          <a:p>
            <a:pPr algn="ctr"/>
            <a:r>
              <a:rPr lang="zh-CN" altLang="en-US" sz="1600" b="1" dirty="0">
                <a:solidFill>
                  <a:srgbClr val="0000FF"/>
                </a:solidFill>
                <a:latin typeface="微软雅黑" panose="020B0503020204020204" charset="-122"/>
                <a:ea typeface="微软雅黑" panose="020B0503020204020204" charset="-122"/>
                <a:sym typeface="+mn-ea"/>
              </a:rPr>
              <a:t>压力和注入排量在第8层分解水平上的小波能量</a:t>
            </a:r>
            <a:endParaRPr lang="zh-CN" altLang="en-US" sz="1600">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custDataLst>
              <p:tags r:id="rId11"/>
            </p:custDataLst>
          </p:nvPr>
        </p:nvSpPr>
        <p:spPr>
          <a:xfrm>
            <a:off x="6154420" y="4794885"/>
            <a:ext cx="5723890" cy="337185"/>
          </a:xfrm>
          <a:prstGeom prst="rect">
            <a:avLst/>
          </a:prstGeom>
          <a:noFill/>
        </p:spPr>
        <p:txBody>
          <a:bodyPr wrap="square" rtlCol="0">
            <a:spAutoFit/>
          </a:bodyPr>
          <a:lstStyle/>
          <a:p>
            <a:pPr algn="ctr"/>
            <a:r>
              <a:rPr lang="zh-CN" altLang="en-US" sz="1600" b="1" dirty="0">
                <a:solidFill>
                  <a:srgbClr val="0000FF"/>
                </a:solidFill>
                <a:latin typeface="微软雅黑" panose="020B0503020204020204" charset="-122"/>
                <a:ea typeface="微软雅黑" panose="020B0503020204020204" charset="-122"/>
                <a:sym typeface="+mn-ea"/>
              </a:rPr>
              <a:t>压力和注入排量在第9层分解水平上的小波能量</a:t>
            </a:r>
            <a:endParaRPr lang="zh-CN" altLang="en-US" sz="1600">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custDataLst>
              <p:tags r:id="rId12"/>
            </p:custDataLst>
          </p:nvPr>
        </p:nvSpPr>
        <p:spPr>
          <a:xfrm>
            <a:off x="6154420" y="6562725"/>
            <a:ext cx="5722620" cy="337185"/>
          </a:xfrm>
          <a:prstGeom prst="rect">
            <a:avLst/>
          </a:prstGeom>
          <a:noFill/>
        </p:spPr>
        <p:txBody>
          <a:bodyPr wrap="square" rtlCol="0">
            <a:spAutoFit/>
          </a:bodyPr>
          <a:lstStyle/>
          <a:p>
            <a:pPr algn="ctr"/>
            <a:r>
              <a:rPr lang="zh-CN" altLang="en-US" sz="1600" b="1" dirty="0">
                <a:solidFill>
                  <a:srgbClr val="0000FF"/>
                </a:solidFill>
                <a:latin typeface="微软雅黑" panose="020B0503020204020204" charset="-122"/>
                <a:ea typeface="微软雅黑" panose="020B0503020204020204" charset="-122"/>
              </a:rPr>
              <a:t>微地震解释结果与小波分析结果的比较</a:t>
            </a:r>
            <a:endParaRPr lang="zh-CN" altLang="en-US" sz="1600">
              <a:latin typeface="黑体" panose="02010609060101010101" charset="-122"/>
              <a:ea typeface="黑体" panose="0201060906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en-US" altLang="zh-CN"/>
              <a:t>1</a:t>
            </a:r>
            <a:r>
              <a:rPr lang="zh-CN" altLang="en-US"/>
              <a:t>、《物理数据融合的井下压裂过程仿真与预警基础研究》</a:t>
            </a:r>
            <a:endParaRPr lang="zh-CN" altLang="en-US"/>
          </a:p>
          <a:p>
            <a:pPr algn="l"/>
            <a:r>
              <a:rPr lang="en-US" altLang="zh-CN"/>
              <a:t>2</a:t>
            </a:r>
            <a:r>
              <a:rPr lang="zh-CN" altLang="en-US"/>
              <a:t>、西南</a:t>
            </a:r>
            <a:r>
              <a:rPr lang="zh-CN" altLang="en-US"/>
              <a:t>开题</a:t>
            </a:r>
            <a:endParaRPr lang="zh-CN" altLang="en-US"/>
          </a:p>
          <a:p>
            <a:pPr algn="l"/>
            <a:r>
              <a:rPr lang="en-US" altLang="zh-CN"/>
              <a:t>3</a:t>
            </a:r>
            <a:r>
              <a:rPr lang="zh-CN" altLang="en-US"/>
              <a:t>、西南项目</a:t>
            </a:r>
            <a:r>
              <a:rPr lang="zh-CN" altLang="en-US"/>
              <a:t>交流</a:t>
            </a:r>
            <a:endParaRPr lang="zh-CN" altLang="en-US"/>
          </a:p>
          <a:p>
            <a:pPr algn="l"/>
            <a:r>
              <a:rPr lang="zh-CN" altLang="en-US"/>
              <a:t>4、水击波银川</a:t>
            </a:r>
            <a:endParaRPr lang="zh-CN" altLang="en-US"/>
          </a:p>
          <a:p>
            <a:pPr algn="l"/>
            <a:r>
              <a:rPr lang="en-US" altLang="zh-CN">
                <a:solidFill>
                  <a:srgbClr val="FF0000"/>
                </a:solidFill>
              </a:rPr>
              <a:t>5</a:t>
            </a:r>
            <a:r>
              <a:rPr lang="zh-CN" altLang="en-US">
                <a:solidFill>
                  <a:srgbClr val="FF0000"/>
                </a:solidFill>
              </a:rPr>
              <a:t>、西南中期</a:t>
            </a:r>
            <a:r>
              <a:rPr lang="zh-CN" altLang="en-US">
                <a:solidFill>
                  <a:srgbClr val="FF0000"/>
                </a:solidFill>
              </a:rPr>
              <a:t>答辩</a:t>
            </a:r>
            <a:endParaRPr lang="zh-CN" altLang="en-US">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6"/>
          <p:cNvSpPr txBox="1">
            <a:spLocks noChangeArrowheads="1"/>
          </p:cNvSpPr>
          <p:nvPr/>
        </p:nvSpPr>
        <p:spPr bwMode="auto">
          <a:xfrm>
            <a:off x="378571" y="1990234"/>
            <a:ext cx="11291887" cy="2689225"/>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defRPr/>
            </a:pPr>
            <a:r>
              <a:rPr kumimoji="0" lang="zh-CN" altLang="en-US" sz="2000" b="0" i="0" u="none" strike="noStrike" kern="1200" cap="none" spc="0" normalizeH="0" baseline="0" dirty="0">
                <a:latin typeface="方正大黑简体" panose="02010601030101010101" pitchFamily="65" charset="-122"/>
                <a:ea typeface="方正大黑简体" panose="02010601030101010101" pitchFamily="65" charset="-122"/>
                <a:cs typeface="+mn-cs"/>
              </a:rPr>
              <a:t>一、基于三维网格搜索方法，实现</a:t>
            </a:r>
            <a:r>
              <a:rPr lang="zh-CN" altLang="en-US" sz="2000" dirty="0">
                <a:latin typeface="方正大黑简体" panose="02010601030101010101" pitchFamily="65" charset="-122"/>
                <a:ea typeface="方正大黑简体" panose="02010601030101010101" pitchFamily="65" charset="-122"/>
                <a:sym typeface="+mn-ea"/>
              </a:rPr>
              <a:t>自适应参数的</a:t>
            </a:r>
            <a:r>
              <a:rPr kumimoji="0" lang="zh-CN" altLang="en-US" sz="2000" b="0" i="0" u="none" strike="noStrike" kern="1200" cap="none" spc="0" normalizeH="0" baseline="0" dirty="0">
                <a:latin typeface="方正大黑简体" panose="02010601030101010101" pitchFamily="65" charset="-122"/>
                <a:ea typeface="方正大黑简体" panose="02010601030101010101" pitchFamily="65" charset="-122"/>
                <a:cs typeface="+mn-cs"/>
              </a:rPr>
              <a:t>压裂施工曲线</a:t>
            </a:r>
            <a:r>
              <a:rPr lang="zh-CN" altLang="en-US" sz="2000" dirty="0">
                <a:latin typeface="方正大黑简体" panose="02010601030101010101" pitchFamily="65" charset="-122"/>
                <a:ea typeface="方正大黑简体" panose="02010601030101010101" pitchFamily="65" charset="-122"/>
                <a:sym typeface="+mn-ea"/>
              </a:rPr>
              <a:t>平稳段截取</a:t>
            </a:r>
            <a:endParaRPr lang="zh-CN" altLang="en-US" sz="2000" dirty="0">
              <a:latin typeface="方正大黑简体" panose="02010601030101010101" pitchFamily="65" charset="-122"/>
              <a:ea typeface="方正大黑简体" panose="02010601030101010101" pitchFamily="65" charset="-122"/>
              <a:sym typeface="+mn-ea"/>
            </a:endParaRPr>
          </a:p>
          <a:p>
            <a:pPr fontAlgn="base">
              <a:lnSpc>
                <a:spcPct val="150000"/>
              </a:lnSpc>
              <a:spcBef>
                <a:spcPct val="0"/>
              </a:spcBef>
              <a:spcAft>
                <a:spcPct val="0"/>
              </a:spcAft>
              <a:buClr>
                <a:srgbClr val="FF0000"/>
              </a:buClr>
              <a:defRPr/>
            </a:pPr>
            <a:r>
              <a:rPr lang="zh-CN" altLang="en-US" sz="2000" dirty="0">
                <a:latin typeface="方正大黑简体" panose="02010601030101010101" pitchFamily="65" charset="-122"/>
                <a:ea typeface="方正大黑简体" panose="02010601030101010101" pitchFamily="65" charset="-122"/>
                <a:sym typeface="+mn-ea"/>
              </a:rPr>
              <a:t>二、基于压力</a:t>
            </a:r>
            <a:r>
              <a:rPr lang="en-US" altLang="zh-CN" sz="2000" dirty="0">
                <a:latin typeface="方正大黑简体" panose="02010601030101010101" pitchFamily="65" charset="-122"/>
                <a:ea typeface="方正大黑简体" panose="02010601030101010101" pitchFamily="65" charset="-122"/>
                <a:sym typeface="+mn-ea"/>
              </a:rPr>
              <a:t>-</a:t>
            </a:r>
            <a:r>
              <a:rPr lang="zh-CN" altLang="en-US" sz="2000" dirty="0">
                <a:latin typeface="方正大黑简体" panose="02010601030101010101" pitchFamily="65" charset="-122"/>
                <a:ea typeface="方正大黑简体" panose="02010601030101010101" pitchFamily="65" charset="-122"/>
                <a:sym typeface="+mn-ea"/>
              </a:rPr>
              <a:t>排量能量关系原理及多点变异遗传算法，实现岩石类事件准确筛选</a:t>
            </a:r>
            <a:endParaRPr lang="zh-CN" altLang="en-US" sz="2000" dirty="0">
              <a:latin typeface="方正大黑简体" panose="02010601030101010101" pitchFamily="65" charset="-122"/>
              <a:ea typeface="方正大黑简体" panose="02010601030101010101" pitchFamily="65" charset="-122"/>
              <a:sym typeface="+mn-ea"/>
            </a:endParaRPr>
          </a:p>
          <a:p>
            <a:pPr fontAlgn="base">
              <a:lnSpc>
                <a:spcPct val="150000"/>
              </a:lnSpc>
              <a:spcBef>
                <a:spcPct val="0"/>
              </a:spcBef>
              <a:spcAft>
                <a:spcPct val="0"/>
              </a:spcAft>
              <a:buClr>
                <a:srgbClr val="FF0000"/>
              </a:buClr>
              <a:defRPr/>
            </a:pPr>
            <a:r>
              <a:rPr lang="zh-CN" altLang="en-US" sz="2000" dirty="0">
                <a:latin typeface="方正大黑简体" panose="02010601030101010101" pitchFamily="65" charset="-122"/>
                <a:ea typeface="方正大黑简体" panose="02010601030101010101" pitchFamily="65" charset="-122"/>
                <a:sym typeface="+mn-ea"/>
              </a:rPr>
              <a:t>三、基于各井段压裂设计实况，引入并调整压力传导时延阈值，实现与微地震结果对照精度</a:t>
            </a:r>
            <a:r>
              <a:rPr lang="zh-CN" altLang="en-US" sz="2000" dirty="0">
                <a:latin typeface="方正大黑简体" panose="02010601030101010101" pitchFamily="65" charset="-122"/>
                <a:ea typeface="方正大黑简体" panose="02010601030101010101" pitchFamily="65" charset="-122"/>
                <a:sym typeface="+mn-ea"/>
              </a:rPr>
              <a:t>的提升</a:t>
            </a:r>
            <a:endParaRPr lang="zh-CN" altLang="en-US" sz="2000" dirty="0">
              <a:latin typeface="方正大黑简体" panose="02010601030101010101" pitchFamily="65" charset="-122"/>
              <a:ea typeface="方正大黑简体" panose="02010601030101010101" pitchFamily="65" charset="-122"/>
              <a:sym typeface="+mn-ea"/>
            </a:endParaRPr>
          </a:p>
          <a:p>
            <a:pPr fontAlgn="base">
              <a:lnSpc>
                <a:spcPct val="150000"/>
              </a:lnSpc>
              <a:spcBef>
                <a:spcPct val="0"/>
              </a:spcBef>
              <a:spcAft>
                <a:spcPct val="0"/>
              </a:spcAft>
              <a:buClr>
                <a:srgbClr val="FF0000"/>
              </a:buClr>
              <a:defRPr/>
            </a:pPr>
            <a:r>
              <a:rPr lang="zh-CN" altLang="en-US" sz="2000" dirty="0">
                <a:latin typeface="方正大黑简体" panose="02010601030101010101" pitchFamily="65" charset="-122"/>
                <a:ea typeface="方正大黑简体" panose="02010601030101010101" pitchFamily="65" charset="-122"/>
                <a:sym typeface="+mn-ea"/>
              </a:rPr>
              <a:t>四、基于岩石类事件小波能量统计，得出压力波动尺度与改造体积的初步关系</a:t>
            </a:r>
            <a:endParaRPr lang="zh-CN" altLang="en-US" sz="2000" dirty="0">
              <a:latin typeface="方正大黑简体" panose="02010601030101010101" pitchFamily="65" charset="-122"/>
              <a:ea typeface="方正大黑简体" panose="02010601030101010101" pitchFamily="65" charset="-122"/>
              <a:sym typeface="+mn-ea"/>
            </a:endParaRPr>
          </a:p>
          <a:p>
            <a:pPr fontAlgn="base">
              <a:lnSpc>
                <a:spcPct val="150000"/>
              </a:lnSpc>
              <a:spcBef>
                <a:spcPct val="0"/>
              </a:spcBef>
              <a:spcAft>
                <a:spcPct val="0"/>
              </a:spcAft>
              <a:buClr>
                <a:srgbClr val="FF0000"/>
              </a:buClr>
              <a:defRPr/>
            </a:pPr>
            <a:r>
              <a:rPr lang="zh-CN" altLang="en-US" sz="2000" dirty="0">
                <a:latin typeface="方正大黑简体" panose="02010601030101010101" pitchFamily="65" charset="-122"/>
                <a:ea typeface="方正大黑简体" panose="02010601030101010101" pitchFamily="65" charset="-122"/>
                <a:sym typeface="+mn-ea"/>
              </a:rPr>
              <a:t>五、基于海量压裂施工数据整理统计，得出各井区进行小波分析的最优小波基及分解等级</a:t>
            </a:r>
            <a:endParaRPr lang="zh-CN" altLang="en-US" sz="2000" dirty="0">
              <a:latin typeface="方正大黑简体" panose="02010601030101010101" pitchFamily="65" charset="-122"/>
              <a:ea typeface="方正大黑简体" panose="02010601030101010101" pitchFamily="65" charset="-122"/>
              <a:sym typeface="+mn-ea"/>
            </a:endParaRPr>
          </a:p>
        </p:txBody>
      </p:sp>
      <p:sp>
        <p:nvSpPr>
          <p:cNvPr id="2" name="Rectangle 5"/>
          <p:cNvSpPr>
            <a:spLocks noChangeArrowheads="1"/>
          </p:cNvSpPr>
          <p:nvPr/>
        </p:nvSpPr>
        <p:spPr bwMode="auto">
          <a:xfrm>
            <a:off x="1660630" y="171186"/>
            <a:ext cx="914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000" dirty="0">
                <a:solidFill>
                  <a:srgbClr val="FF0000"/>
                </a:solidFill>
                <a:latin typeface="方正大黑简体" panose="02010601030101010101" pitchFamily="65" charset="-122"/>
                <a:ea typeface="方正大黑简体" panose="02010601030101010101" pitchFamily="65" charset="-122"/>
              </a:rPr>
              <a:t>取得的主要研究成果</a:t>
            </a:r>
            <a:endParaRPr lang="zh-CN" altLang="en-US" sz="400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660400" y="282513"/>
            <a:ext cx="1122263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800" dirty="0">
                <a:solidFill>
                  <a:srgbClr val="FF0000"/>
                </a:solidFill>
                <a:latin typeface="方正大黑简体" panose="02010601030101010101" pitchFamily="65" charset="-122"/>
                <a:ea typeface="方正大黑简体" panose="02010601030101010101" pitchFamily="65" charset="-122"/>
              </a:rPr>
              <a:t>成果一：基于三维网格搜索方法，实现自适应参数的压裂施工曲线平稳段截取</a:t>
            </a:r>
            <a:endParaRPr lang="zh-CN" altLang="en-US" sz="2800" dirty="0">
              <a:solidFill>
                <a:srgbClr val="FF0000"/>
              </a:solidFill>
              <a:latin typeface="方正大黑简体" panose="02010601030101010101" pitchFamily="65" charset="-122"/>
              <a:ea typeface="方正大黑简体" panose="02010601030101010101" pitchFamily="65" charset="-122"/>
            </a:endParaRPr>
          </a:p>
        </p:txBody>
      </p:sp>
      <p:pic>
        <p:nvPicPr>
          <p:cNvPr id="4" name="图片 3"/>
          <p:cNvPicPr>
            <a:picLocks noChangeAspect="1"/>
          </p:cNvPicPr>
          <p:nvPr/>
        </p:nvPicPr>
        <p:blipFill>
          <a:blip r:embed="rId1"/>
          <a:stretch>
            <a:fillRect/>
          </a:stretch>
        </p:blipFill>
        <p:spPr>
          <a:xfrm>
            <a:off x="7104728" y="3988546"/>
            <a:ext cx="3852297" cy="2247154"/>
          </a:xfrm>
          <a:prstGeom prst="rect">
            <a:avLst/>
          </a:prstGeom>
        </p:spPr>
      </p:pic>
      <p:sp>
        <p:nvSpPr>
          <p:cNvPr id="5" name="文本框 1"/>
          <p:cNvSpPr txBox="1">
            <a:spLocks noChangeArrowheads="1"/>
          </p:cNvSpPr>
          <p:nvPr/>
        </p:nvSpPr>
        <p:spPr bwMode="auto">
          <a:xfrm>
            <a:off x="6271715" y="6390821"/>
            <a:ext cx="5435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0000FF"/>
                </a:solidFill>
                <a:latin typeface="方正大黑简体" panose="02010601030101010101" pitchFamily="65" charset="-122"/>
                <a:ea typeface="方正大黑简体" panose="02010601030101010101" pitchFamily="65" charset="-122"/>
              </a:rPr>
              <a:t>水力压裂压力传导导致的压裂风险</a:t>
            </a:r>
            <a:endParaRPr lang="zh-CN" altLang="en-US" dirty="0">
              <a:solidFill>
                <a:srgbClr val="0000FF"/>
              </a:solidFill>
              <a:latin typeface="方正大黑简体" panose="02010601030101010101" pitchFamily="65" charset="-122"/>
              <a:ea typeface="方正大黑简体" panose="02010601030101010101" pitchFamily="65" charset="-122"/>
            </a:endParaRPr>
          </a:p>
        </p:txBody>
      </p:sp>
      <p:sp>
        <p:nvSpPr>
          <p:cNvPr id="6" name="矩形 8"/>
          <p:cNvSpPr>
            <a:spLocks noChangeArrowheads="1"/>
          </p:cNvSpPr>
          <p:nvPr/>
        </p:nvSpPr>
        <p:spPr bwMode="auto">
          <a:xfrm>
            <a:off x="227013" y="1608983"/>
            <a:ext cx="11701462"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lnSpc>
                <a:spcPct val="150000"/>
              </a:lnSpc>
              <a:buClr>
                <a:srgbClr val="FF0000"/>
              </a:buClr>
              <a:buFont typeface="Wingdings" panose="05000000000000000000" pitchFamily="2" charset="2"/>
              <a:buChar char="Ø"/>
            </a:pPr>
            <a:r>
              <a:rPr lang="zh-CN" altLang="en-US" sz="2400" dirty="0">
                <a:latin typeface="Times New Roman" panose="02020603050405020304" pitchFamily="18" charset="0"/>
                <a:ea typeface="方正大黑简体" panose="02010601030101010101" pitchFamily="65" charset="-122"/>
                <a:cs typeface="Times New Roman" panose="02020603050405020304" pitchFamily="18" charset="0"/>
              </a:rPr>
              <a:t>压力施工曲线诊断需要选取</a:t>
            </a:r>
            <a:endParaRPr lang="en-US" altLang="zh-CN" sz="2400" dirty="0">
              <a:latin typeface="Times New Roman" panose="02020603050405020304" pitchFamily="18" charset="0"/>
              <a:ea typeface="方正大黑简体" panose="02010601030101010101" pitchFamily="65" charset="-122"/>
              <a:cs typeface="Times New Roman" panose="02020603050405020304" pitchFamily="18" charset="0"/>
            </a:endParaRPr>
          </a:p>
          <a:p>
            <a:pPr marL="342900" indent="-342900">
              <a:lnSpc>
                <a:spcPct val="150000"/>
              </a:lnSpc>
              <a:buClr>
                <a:srgbClr val="FF0000"/>
              </a:buClr>
              <a:buFont typeface="Wingdings" panose="05000000000000000000" pitchFamily="2" charset="2"/>
              <a:buChar char="Ø"/>
            </a:pPr>
            <a:r>
              <a:rPr lang="zh-CN" altLang="en-US" sz="2400" dirty="0">
                <a:latin typeface="Times New Roman" panose="02020603050405020304" pitchFamily="18" charset="0"/>
                <a:ea typeface="方正大黑简体" panose="02010601030101010101" pitchFamily="65" charset="-122"/>
                <a:cs typeface="Times New Roman" panose="02020603050405020304" pitchFamily="18" charset="0"/>
              </a:rPr>
              <a:t>现有的研究仍缺少水力压裂应力压力传导模式及对地质体稳定性影响机理的探讨，应力传导数模和实验研究方法尚不明确</a:t>
            </a:r>
            <a:endParaRPr lang="en-US" altLang="zh-CN" sz="2400" dirty="0">
              <a:latin typeface="Times New Roman" panose="02020603050405020304" pitchFamily="18" charset="0"/>
              <a:ea typeface="方正大黑简体" panose="02010601030101010101" pitchFamily="65" charset="-122"/>
              <a:cs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1377215" y="3933697"/>
            <a:ext cx="4039723" cy="2457124"/>
          </a:xfrm>
          <a:prstGeom prst="rect">
            <a:avLst/>
          </a:prstGeom>
        </p:spPr>
      </p:pic>
      <p:sp>
        <p:nvSpPr>
          <p:cNvPr id="11" name="文本框 1"/>
          <p:cNvSpPr txBox="1">
            <a:spLocks noChangeArrowheads="1"/>
          </p:cNvSpPr>
          <p:nvPr/>
        </p:nvSpPr>
        <p:spPr bwMode="auto">
          <a:xfrm>
            <a:off x="280987" y="6390821"/>
            <a:ext cx="5868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0000FF"/>
                </a:solidFill>
                <a:latin typeface="方正大黑简体" panose="02010601030101010101" pitchFamily="65" charset="-122"/>
                <a:ea typeface="方正大黑简体" panose="02010601030101010101" pitchFamily="65" charset="-122"/>
              </a:rPr>
              <a:t>泸州区块天然裂缝分布</a:t>
            </a:r>
            <a:endParaRPr lang="zh-CN" altLang="en-US" dirty="0">
              <a:solidFill>
                <a:srgbClr val="0000FF"/>
              </a:solidFill>
              <a:latin typeface="方正大黑简体" panose="02010601030101010101" pitchFamily="65" charset="-122"/>
              <a:ea typeface="方正大黑简体" panose="02010601030101010101" pitchFamily="65" charset="-122"/>
            </a:endParaRPr>
          </a:p>
        </p:txBody>
      </p:sp>
      <p:sp>
        <p:nvSpPr>
          <p:cNvPr id="13" name="TextBox 2"/>
          <p:cNvSpPr txBox="1">
            <a:spLocks noChangeArrowheads="1"/>
          </p:cNvSpPr>
          <p:nvPr/>
        </p:nvSpPr>
        <p:spPr bwMode="auto">
          <a:xfrm>
            <a:off x="107950" y="1166813"/>
            <a:ext cx="107643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0000"/>
              </a:buClr>
              <a:buFont typeface="Wingdings" panose="05000000000000000000" pitchFamily="2" charset="2"/>
              <a:buChar char="u"/>
            </a:pPr>
            <a:r>
              <a:rPr lang="zh-CN" altLang="en-US" sz="2800" b="1" dirty="0">
                <a:solidFill>
                  <a:srgbClr val="0000FF"/>
                </a:solidFill>
                <a:latin typeface="Times New Roman" panose="02020603050405020304" pitchFamily="18" charset="0"/>
                <a:ea typeface="方正大黑简体" panose="02010601030101010101" pitchFamily="65" charset="-122"/>
              </a:rPr>
              <a:t>现状及存在问题</a:t>
            </a:r>
            <a:endParaRPr lang="zh-CN" altLang="en-US" sz="2800" b="1" dirty="0">
              <a:solidFill>
                <a:srgbClr val="0000FF"/>
              </a:solidFill>
              <a:latin typeface="Times New Roman" panose="02020603050405020304" pitchFamily="18" charset="0"/>
              <a:ea typeface="方正大黑简体" panose="02010601030101010101" pitchFamily="65"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00" y="338455"/>
            <a:ext cx="9144000" cy="5984240"/>
          </a:xfrm>
        </p:spPr>
        <p:txBody>
          <a:bodyPr/>
          <a:p>
            <a:pPr algn="l"/>
            <a:r>
              <a:rPr lang="zh-CN" altLang="en-US"/>
              <a:t>技术</a:t>
            </a:r>
            <a:r>
              <a:rPr lang="zh-CN" altLang="en-US"/>
              <a:t>背景</a:t>
            </a:r>
            <a:endParaRPr lang="zh-CN" altLang="en-US"/>
          </a:p>
          <a:p>
            <a:pPr algn="l"/>
            <a:r>
              <a:rPr lang="zh-CN" altLang="en-US"/>
              <a:t>国内外研究</a:t>
            </a:r>
            <a:r>
              <a:rPr lang="zh-CN" altLang="en-US"/>
              <a:t>现状</a:t>
            </a:r>
            <a:endParaRPr lang="zh-CN" altLang="en-US"/>
          </a:p>
          <a:p>
            <a:pPr algn="l"/>
            <a:r>
              <a:rPr lang="zh-CN" altLang="en-US"/>
              <a:t>技术</a:t>
            </a:r>
            <a:r>
              <a:rPr lang="zh-CN" altLang="en-US"/>
              <a:t>原理</a:t>
            </a:r>
            <a:endParaRPr lang="zh-CN" altLang="en-US"/>
          </a:p>
          <a:p>
            <a:pPr algn="l"/>
            <a:r>
              <a:rPr lang="zh-CN" altLang="en-US"/>
              <a:t>技术</a:t>
            </a:r>
            <a:r>
              <a:rPr lang="zh-CN" altLang="en-US"/>
              <a:t>路线</a:t>
            </a:r>
            <a:endParaRPr lang="zh-CN" altLang="en-US"/>
          </a:p>
          <a:p>
            <a:pPr algn="l"/>
            <a:r>
              <a:rPr lang="zh-CN" altLang="en-US"/>
              <a:t>技术</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DIAGRAM_VIRTUALLY_FRAME" val="{&quot;height&quot;:285.4,&quot;left&quot;:241.1,&quot;top&quot;:218.95,&quot;width&quot;:458}"/>
</p:tagLst>
</file>

<file path=ppt/tags/tag2.xml><?xml version="1.0" encoding="utf-8"?>
<p:tagLst xmlns:p="http://schemas.openxmlformats.org/presentationml/2006/main">
  <p:tag name="KSO_WM_DIAGRAM_VIRTUALLY_FRAME" val="{&quot;height&quot;:285.4,&quot;left&quot;:241.1,&quot;top&quot;:218.95,&quot;width&quot;:458}"/>
</p:tagLst>
</file>

<file path=ppt/tags/tag3.xml><?xml version="1.0" encoding="utf-8"?>
<p:tagLst xmlns:p="http://schemas.openxmlformats.org/presentationml/2006/main">
  <p:tag name="KSO_WM_DIAGRAM_VIRTUALLY_FRAME" val="{&quot;height&quot;:285.4,&quot;left&quot;:241.1,&quot;top&quot;:218.95,&quot;width&quot;:458}"/>
</p:tagLst>
</file>

<file path=ppt/tags/tag4.xml><?xml version="1.0" encoding="utf-8"?>
<p:tagLst xmlns:p="http://schemas.openxmlformats.org/presentationml/2006/main">
  <p:tag name="KSO_WM_DIAGRAM_VIRTUALLY_FRAME" val="{&quot;height&quot;:285.4,&quot;left&quot;:241.1,&quot;top&quot;:218.95,&quot;width&quot;:458}"/>
</p:tagLst>
</file>

<file path=ppt/tags/tag5.xml><?xml version="1.0" encoding="utf-8"?>
<p:tagLst xmlns:p="http://schemas.openxmlformats.org/presentationml/2006/main">
  <p:tag name="KSO_WM_DIAGRAM_VIRTUALLY_FRAME" val="{&quot;height&quot;:285.4,&quot;left&quot;:241.1,&quot;top&quot;:218.95,&quot;width&quot;:458}"/>
</p:tagLst>
</file>

<file path=ppt/tags/tag6.xml><?xml version="1.0" encoding="utf-8"?>
<p:tagLst xmlns:p="http://schemas.openxmlformats.org/presentationml/2006/main">
  <p:tag name="KSO_WM_DIAGRAM_VIRTUALLY_FRAME" val="{&quot;height&quot;:285.4,&quot;left&quot;:241.1,&quot;top&quot;:218.95,&quot;width&quot;:458}"/>
</p:tagLst>
</file>

<file path=ppt/tags/tag7.xml><?xml version="1.0" encoding="utf-8"?>
<p:tagLst xmlns:p="http://schemas.openxmlformats.org/presentationml/2006/main">
  <p:tag name="KSO_WM_DIAGRAM_VIRTUALLY_FRAME" val="{&quot;height&quot;:285.4,&quot;left&quot;:241.1,&quot;top&quot;:218.95,&quot;width&quot;:458}"/>
</p:tagLst>
</file>

<file path=ppt/tags/tag8.xml><?xml version="1.0" encoding="utf-8"?>
<p:tagLst xmlns:p="http://schemas.openxmlformats.org/presentationml/2006/main">
  <p:tag name="KSO_WM_DIAGRAM_VIRTUALLY_FRAME" val="{&quot;height&quot;:285.4,&quot;left&quot;:241.1,&quot;top&quot;:218.95,&quot;width&quot;:458}"/>
</p:tagLst>
</file>

<file path=ppt/tags/tag9.xml><?xml version="1.0" encoding="utf-8"?>
<p:tagLst xmlns:p="http://schemas.openxmlformats.org/presentationml/2006/main">
  <p:tag name="KSO_WM_DIAGRAM_VIRTUALLY_FRAME" val="{&quot;height&quot;:285.4,&quot;left&quot;:241.1,&quot;top&quot;:218.95,&quot;width&quot;:458}"/>
</p:tagLst>
</file>

<file path=ppt/tags/tag10.xml><?xml version="1.0" encoding="utf-8"?>
<p:tagLst xmlns:p="http://schemas.openxmlformats.org/presentationml/2006/main">
  <p:tag name="KSO_WM_DIAGRAM_VIRTUALLY_FRAME" val="{&quot;height&quot;:285.4,&quot;left&quot;:241.1,&quot;top&quot;:218.95,&quot;width&quot;:458}"/>
</p:tagLst>
</file>

<file path=ppt/tags/tag11.xml><?xml version="1.0" encoding="utf-8"?>
<p:tagLst xmlns:p="http://schemas.openxmlformats.org/presentationml/2006/main">
  <p:tag name="KSO_WM_DIAGRAM_VIRTUALLY_FRAME" val="{&quot;height&quot;:285.4,&quot;left&quot;:241.1,&quot;top&quot;:218.95,&quot;width&quot;:458}"/>
</p:tagLst>
</file>

<file path=ppt/tags/tag12.xml><?xml version="1.0" encoding="utf-8"?>
<p:tagLst xmlns:p="http://schemas.openxmlformats.org/presentationml/2006/main">
  <p:tag name="KSO_WM_DIAGRAM_VIRTUALLY_FRAME" val="{&quot;height&quot;:285.4,&quot;left&quot;:241.1,&quot;top&quot;:218.95,&quot;width&quot;:458}"/>
</p:tagLst>
</file>

<file path=ppt/tags/tag13.xml><?xml version="1.0" encoding="utf-8"?>
<p:tagLst xmlns:p="http://schemas.openxmlformats.org/presentationml/2006/main">
  <p:tag name="TABLE_ENDDRAG_ORIGIN_RECT" val="668*165"/>
  <p:tag name="TABLE_ENDDRAG_RECT" val="36*133*668*165"/>
</p:tagLst>
</file>

<file path=ppt/tags/tag14.xml><?xml version="1.0" encoding="utf-8"?>
<p:tagLst xmlns:p="http://schemas.openxmlformats.org/presentationml/2006/main">
  <p:tag name="KSO_WM_DIAGRAM_VIRTUALLY_FRAME" val="{&quot;height&quot;:285.4,&quot;left&quot;:241.1,&quot;top&quot;:218.95,&quot;width&quot;:458}"/>
</p:tagLst>
</file>

<file path=ppt/tags/tag15.xml><?xml version="1.0" encoding="utf-8"?>
<p:tagLst xmlns:p="http://schemas.openxmlformats.org/presentationml/2006/main">
  <p:tag name="KSO_WM_DIAGRAM_VIRTUALLY_FRAME" val="{&quot;height&quot;:285.4,&quot;left&quot;:241.1,&quot;top&quot;:218.95,&quot;width&quot;:458}"/>
</p:tagLst>
</file>

<file path=ppt/tags/tag16.xml><?xml version="1.0" encoding="utf-8"?>
<p:tagLst xmlns:p="http://schemas.openxmlformats.org/presentationml/2006/main">
  <p:tag name="KSO_WM_DIAGRAM_VIRTUALLY_FRAME" val="{&quot;height&quot;:285.4,&quot;left&quot;:241.1,&quot;top&quot;:218.95,&quot;width&quot;:458}"/>
</p:tagLst>
</file>

<file path=ppt/tags/tag17.xml><?xml version="1.0" encoding="utf-8"?>
<p:tagLst xmlns:p="http://schemas.openxmlformats.org/presentationml/2006/main">
  <p:tag name="TABLE_ENDDRAG_ORIGIN_RECT" val="905*359"/>
  <p:tag name="TABLE_ENDDRAG_RECT" val="31*254*905*359"/>
</p:tagLst>
</file>

<file path=ppt/tags/tag18.xml><?xml version="1.0" encoding="utf-8"?>
<p:tagLst xmlns:p="http://schemas.openxmlformats.org/presentationml/2006/main">
  <p:tag name="TABLE_ENDDRAG_ORIGIN_RECT" val="905*271"/>
  <p:tag name="TABLE_ENDDRAG_RECT" val="22*255*905*271"/>
</p:tagLst>
</file>

<file path=ppt/tags/tag19.xml><?xml version="1.0" encoding="utf-8"?>
<p:tagLst xmlns:p="http://schemas.openxmlformats.org/presentationml/2006/main">
  <p:tag name="KSO_WM_DIAGRAM_VIRTUALLY_FRAME" val="{&quot;height&quot;:285.4,&quot;left&quot;:241.1,&quot;top&quot;:218.95,&quot;width&quot;:458}"/>
</p:tagLst>
</file>

<file path=ppt/tags/tag20.xml><?xml version="1.0" encoding="utf-8"?>
<p:tagLst xmlns:p="http://schemas.openxmlformats.org/presentationml/2006/main">
  <p:tag name="KSO_WM_DIAGRAM_VIRTUALLY_FRAME" val="{&quot;height&quot;:285.4,&quot;left&quot;:241.1,&quot;top&quot;:218.95,&quot;width&quot;:458}"/>
</p:tagLst>
</file>

<file path=ppt/tags/tag21.xml><?xml version="1.0" encoding="utf-8"?>
<p:tagLst xmlns:p="http://schemas.openxmlformats.org/presentationml/2006/main">
  <p:tag name="KSO_WM_DIAGRAM_VIRTUALLY_FRAME" val="{&quot;height&quot;:285.4,&quot;left&quot;:241.1,&quot;top&quot;:218.95,&quot;width&quot;:458}"/>
</p:tagLst>
</file>

<file path=ppt/tags/tag22.xml><?xml version="1.0" encoding="utf-8"?>
<p:tagLst xmlns:p="http://schemas.openxmlformats.org/presentationml/2006/main">
  <p:tag name="KSO_WM_DIAGRAM_VIRTUALLY_FRAME" val="{&quot;height&quot;:283.65,&quot;left&quot;:25.65,&quot;top&quot;:264.15,&quot;width&quot;:910.7086614173229}"/>
</p:tagLst>
</file>

<file path=ppt/tags/tag23.xml><?xml version="1.0" encoding="utf-8"?>
<p:tagLst xmlns:p="http://schemas.openxmlformats.org/presentationml/2006/main">
  <p:tag name="KSO_WM_DIAGRAM_VIRTUALLY_FRAME" val="{&quot;height&quot;:283.65,&quot;left&quot;:25.65,&quot;top&quot;:264.15,&quot;width&quot;:910.7086614173229}"/>
</p:tagLst>
</file>

<file path=ppt/tags/tag24.xml><?xml version="1.0" encoding="utf-8"?>
<p:tagLst xmlns:p="http://schemas.openxmlformats.org/presentationml/2006/main">
  <p:tag name="KSO_WM_DIAGRAM_VIRTUALLY_FRAME" val="{&quot;height&quot;:283.65,&quot;left&quot;:25.65,&quot;top&quot;:264.15,&quot;width&quot;:910.7086614173229}"/>
</p:tagLst>
</file>

<file path=ppt/tags/tag25.xml><?xml version="1.0" encoding="utf-8"?>
<p:tagLst xmlns:p="http://schemas.openxmlformats.org/presentationml/2006/main">
  <p:tag name="KSO_WM_DIAGRAM_VIRTUALLY_FRAME" val="{&quot;height&quot;:283.65,&quot;left&quot;:25.65,&quot;top&quot;:264.15,&quot;width&quot;:910.7086614173229}"/>
</p:tagLst>
</file>

<file path=ppt/tags/tag26.xml><?xml version="1.0" encoding="utf-8"?>
<p:tagLst xmlns:p="http://schemas.openxmlformats.org/presentationml/2006/main">
  <p:tag name="KSO_WM_DIAGRAM_VIRTUALLY_FRAME" val="{&quot;height&quot;:283.65,&quot;left&quot;:25.65,&quot;top&quot;:264.15,&quot;width&quot;:910.7086614173229}"/>
</p:tagLst>
</file>

<file path=ppt/tags/tag27.xml><?xml version="1.0" encoding="utf-8"?>
<p:tagLst xmlns:p="http://schemas.openxmlformats.org/presentationml/2006/main">
  <p:tag name="KSO_WM_DIAGRAM_VIRTUALLY_FRAME" val="{&quot;height&quot;:283.65,&quot;left&quot;:25.65,&quot;top&quot;:264.15,&quot;width&quot;:910.7086614173229}"/>
</p:tagLst>
</file>

<file path=ppt/tags/tag28.xml><?xml version="1.0" encoding="utf-8"?>
<p:tagLst xmlns:p="http://schemas.openxmlformats.org/presentationml/2006/main">
  <p:tag name="KSO_WM_DIAGRAM_VIRTUALLY_FRAME" val="{&quot;height&quot;:283.65,&quot;left&quot;:25.65,&quot;top&quot;:264.15,&quot;width&quot;:910.7086614173229}"/>
</p:tagLst>
</file>

<file path=ppt/tags/tag29.xml><?xml version="1.0" encoding="utf-8"?>
<p:tagLst xmlns:p="http://schemas.openxmlformats.org/presentationml/2006/main">
  <p:tag name="KSO_WM_DIAGRAM_VIRTUALLY_FRAME" val="{&quot;height&quot;:283.65,&quot;left&quot;:25.65,&quot;top&quot;:264.15,&quot;width&quot;:910.708661417322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8113</Words>
  <Application>WPS 演示</Application>
  <PresentationFormat>宽屏</PresentationFormat>
  <Paragraphs>944</Paragraphs>
  <Slides>41</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7" baseType="lpstr">
      <vt:lpstr>Arial</vt:lpstr>
      <vt:lpstr>宋体</vt:lpstr>
      <vt:lpstr>Wingdings</vt:lpstr>
      <vt:lpstr>方正粗宋简体</vt:lpstr>
      <vt:lpstr>方正大黑简体</vt:lpstr>
      <vt:lpstr>黑体</vt:lpstr>
      <vt:lpstr>Times New Roman</vt:lpstr>
      <vt:lpstr>微软雅黑</vt:lpstr>
      <vt:lpstr>Calibri</vt:lpstr>
      <vt:lpstr>Arial Unicode MS</vt:lpstr>
      <vt:lpstr>TimesNewRomanPS-ItalicMT</vt:lpstr>
      <vt:lpstr>Segoe Print</vt:lpstr>
      <vt:lpstr>TimesNewRomanPSMT</vt:lpstr>
      <vt:lpstr>等线</vt:lpstr>
      <vt:lpstr>WPS</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dyt</dc:creator>
  <cp:lastModifiedBy>Tan Wenlu</cp:lastModifiedBy>
  <cp:revision>7</cp:revision>
  <dcterms:created xsi:type="dcterms:W3CDTF">2023-08-09T12:44:00Z</dcterms:created>
  <dcterms:modified xsi:type="dcterms:W3CDTF">2025-07-08T00:17:17Z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2052-12.1.0.21915</vt:lpwstr>
  </property>
</Properties>
</file>