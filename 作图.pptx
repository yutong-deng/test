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E:\BaiduSyncdisk\&#22522;&#20110;&#23567;&#27874;&#20998;&#26512;&#30340;&#27700;&#21147;&#21387;&#35010;&#26045;&#24037;&#21387;&#21147;&#21709;&#24212;&#29305;&#24449;&#20998;&#26512;\&#23567;&#27874;&#20998;&#26512;&#20195;&#30721;-&#37011;&#23431;&#36890;\&#36830;&#32493;&#23567;&#27874;\selected_subset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zh-CN" altLang="en-US">
                <a:solidFill>
                  <a:schemeClr val="tx1"/>
                </a:solidFill>
              </a:rPr>
              <a:t>造缝能量评估</a:t>
            </a:r>
            <a:r>
              <a:rPr lang="en-US" altLang="zh-CN">
                <a:solidFill>
                  <a:schemeClr val="tx1"/>
                </a:solidFill>
              </a:rPr>
              <a:t>-</a:t>
            </a:r>
            <a:r>
              <a:rPr lang="zh-CN" altLang="en-US">
                <a:solidFill>
                  <a:schemeClr val="tx1"/>
                </a:solidFill>
              </a:rPr>
              <a:t>微地震监测</a:t>
            </a:r>
            <a:r>
              <a:rPr lang="en-US" altLang="zh-CN">
                <a:solidFill>
                  <a:schemeClr val="tx1"/>
                </a:solidFill>
              </a:rPr>
              <a:t>SRV</a:t>
            </a:r>
            <a:endParaRPr lang="en-US" altLang="zh-CN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331876683968175"/>
          <c:y val="0.0161989578300899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25906228131561"/>
          <c:y val="0.13091922005571"/>
          <c:w val="0.835745276417075"/>
          <c:h val="0.705292479108635"/>
        </c:manualLayout>
      </c:layout>
      <c:scatterChart>
        <c:scatterStyle val="lineMarker"/>
        <c:varyColors val="0"/>
        <c:ser>
          <c:idx val="0"/>
          <c:order val="0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elete val="1"/>
          </c:dLbls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1"/>
            <c:dispEq val="1"/>
            <c:trendlineLbl>
              <c:layout>
                <c:manualLayout>
                  <c:x val="-0.453157894736842"/>
                  <c:y val="-0.0222222222222222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anchor="ctr" anchorCtr="1"/>
                <a:lstStyle/>
                <a:p>
                  <a:pPr>
                    <a:defRPr lang="zh-CN"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</c:trendlineLbl>
          </c:trendline>
          <c:xVal>
            <c:numRef>
              <c:f>'[selected_subsets.xlsx]col连续-量_vs_col微地震改造体积'!$G$2:$G$196</c:f>
              <c:numCache>
                <c:formatCode>General</c:formatCode>
                <c:ptCount val="195"/>
                <c:pt idx="0">
                  <c:v>74.1882281853508</c:v>
                </c:pt>
                <c:pt idx="1">
                  <c:v>74.2754599105255</c:v>
                </c:pt>
                <c:pt idx="2">
                  <c:v>72.5529267324468</c:v>
                </c:pt>
                <c:pt idx="3">
                  <c:v>72.4591074380155</c:v>
                </c:pt>
                <c:pt idx="4">
                  <c:v>81.0558192483279</c:v>
                </c:pt>
                <c:pt idx="5">
                  <c:v>74.5337857723727</c:v>
                </c:pt>
                <c:pt idx="6">
                  <c:v>73.821569399679</c:v>
                </c:pt>
                <c:pt idx="7">
                  <c:v>75.0910151772672</c:v>
                </c:pt>
                <c:pt idx="8">
                  <c:v>76.4332228839</c:v>
                </c:pt>
                <c:pt idx="9">
                  <c:v>75.9135158209247</c:v>
                </c:pt>
                <c:pt idx="10">
                  <c:v>75.3631516834718</c:v>
                </c:pt>
                <c:pt idx="11">
                  <c:v>78.1680506596994</c:v>
                </c:pt>
                <c:pt idx="12">
                  <c:v>77.396116174974</c:v>
                </c:pt>
                <c:pt idx="13">
                  <c:v>77.7445299744875</c:v>
                </c:pt>
                <c:pt idx="14">
                  <c:v>78.3787754644472</c:v>
                </c:pt>
                <c:pt idx="15">
                  <c:v>76.7754379051841</c:v>
                </c:pt>
                <c:pt idx="16">
                  <c:v>75.9513143662245</c:v>
                </c:pt>
                <c:pt idx="17">
                  <c:v>73.2997213436506</c:v>
                </c:pt>
                <c:pt idx="18">
                  <c:v>71.7817818214737</c:v>
                </c:pt>
                <c:pt idx="19">
                  <c:v>73.0134325410861</c:v>
                </c:pt>
                <c:pt idx="20">
                  <c:v>76.8044662151927</c:v>
                </c:pt>
                <c:pt idx="21">
                  <c:v>76.4866479982131</c:v>
                </c:pt>
                <c:pt idx="22">
                  <c:v>76.3054973521166</c:v>
                </c:pt>
                <c:pt idx="23">
                  <c:v>76.2467276025699</c:v>
                </c:pt>
                <c:pt idx="24">
                  <c:v>76.5368724774621</c:v>
                </c:pt>
                <c:pt idx="25">
                  <c:v>75.6753704946014</c:v>
                </c:pt>
                <c:pt idx="26">
                  <c:v>76.208942667003</c:v>
                </c:pt>
                <c:pt idx="27">
                  <c:v>73.6476203436181</c:v>
                </c:pt>
                <c:pt idx="28">
                  <c:v>77.3244829968221</c:v>
                </c:pt>
                <c:pt idx="29">
                  <c:v>76.8357687301702</c:v>
                </c:pt>
                <c:pt idx="30">
                  <c:v>76.6617679643021</c:v>
                </c:pt>
                <c:pt idx="31">
                  <c:v>76.5013340342316</c:v>
                </c:pt>
                <c:pt idx="32">
                  <c:v>74.4700648822507</c:v>
                </c:pt>
                <c:pt idx="33">
                  <c:v>75.5569821619186</c:v>
                </c:pt>
                <c:pt idx="34">
                  <c:v>74.1705049302855</c:v>
                </c:pt>
                <c:pt idx="35">
                  <c:v>72.2185475294069</c:v>
                </c:pt>
                <c:pt idx="36">
                  <c:v>72.2673606589447</c:v>
                </c:pt>
                <c:pt idx="37">
                  <c:v>71.9193383228133</c:v>
                </c:pt>
                <c:pt idx="38">
                  <c:v>73.6110068587269</c:v>
                </c:pt>
                <c:pt idx="39">
                  <c:v>75.2693538778647</c:v>
                </c:pt>
                <c:pt idx="40">
                  <c:v>76.3975456300341</c:v>
                </c:pt>
                <c:pt idx="41">
                  <c:v>75.853737260523</c:v>
                </c:pt>
                <c:pt idx="42">
                  <c:v>76.7477146830591</c:v>
                </c:pt>
                <c:pt idx="43">
                  <c:v>75.1387959074733</c:v>
                </c:pt>
                <c:pt idx="44">
                  <c:v>78.568026281831</c:v>
                </c:pt>
                <c:pt idx="45">
                  <c:v>78.7718873990502</c:v>
                </c:pt>
                <c:pt idx="46">
                  <c:v>79.3820981299679</c:v>
                </c:pt>
                <c:pt idx="47">
                  <c:v>79.2714214102467</c:v>
                </c:pt>
                <c:pt idx="48">
                  <c:v>79.0416518462744</c:v>
                </c:pt>
                <c:pt idx="49">
                  <c:v>79.4773640790608</c:v>
                </c:pt>
                <c:pt idx="50">
                  <c:v>78.7892706860991</c:v>
                </c:pt>
                <c:pt idx="51">
                  <c:v>79.258772087154</c:v>
                </c:pt>
                <c:pt idx="52">
                  <c:v>79.4759221493667</c:v>
                </c:pt>
                <c:pt idx="53">
                  <c:v>79.2478204855701</c:v>
                </c:pt>
                <c:pt idx="54">
                  <c:v>78.9186353536632</c:v>
                </c:pt>
                <c:pt idx="55">
                  <c:v>79.1598940656582</c:v>
                </c:pt>
                <c:pt idx="56">
                  <c:v>78.7777669592327</c:v>
                </c:pt>
                <c:pt idx="57">
                  <c:v>79.3061219888339</c:v>
                </c:pt>
                <c:pt idx="58">
                  <c:v>76.4825197226239</c:v>
                </c:pt>
                <c:pt idx="59">
                  <c:v>79.1910179256215</c:v>
                </c:pt>
                <c:pt idx="60">
                  <c:v>78.867183137537</c:v>
                </c:pt>
                <c:pt idx="61">
                  <c:v>78.6824072905686</c:v>
                </c:pt>
                <c:pt idx="62">
                  <c:v>78.8864275285157</c:v>
                </c:pt>
                <c:pt idx="63">
                  <c:v>79.1422993866926</c:v>
                </c:pt>
                <c:pt idx="64">
                  <c:v>79.2916851681697</c:v>
                </c:pt>
                <c:pt idx="65">
                  <c:v>79.5711539057159</c:v>
                </c:pt>
                <c:pt idx="66">
                  <c:v>79.6523800485498</c:v>
                </c:pt>
                <c:pt idx="67">
                  <c:v>79.3803009420741</c:v>
                </c:pt>
                <c:pt idx="68">
                  <c:v>79.6441227987098</c:v>
                </c:pt>
                <c:pt idx="69">
                  <c:v>78.6125626549893</c:v>
                </c:pt>
                <c:pt idx="70">
                  <c:v>79.462859926332</c:v>
                </c:pt>
                <c:pt idx="71">
                  <c:v>79.242143494982</c:v>
                </c:pt>
                <c:pt idx="72">
                  <c:v>79.1840588618332</c:v>
                </c:pt>
                <c:pt idx="73">
                  <c:v>79.2308461861363</c:v>
                </c:pt>
                <c:pt idx="74">
                  <c:v>79.0394210438229</c:v>
                </c:pt>
                <c:pt idx="75">
                  <c:v>79.3485203461522</c:v>
                </c:pt>
                <c:pt idx="76">
                  <c:v>78.5125293046581</c:v>
                </c:pt>
                <c:pt idx="77">
                  <c:v>78.2151284529059</c:v>
                </c:pt>
                <c:pt idx="78">
                  <c:v>77.7526332152591</c:v>
                </c:pt>
                <c:pt idx="79">
                  <c:v>78.6842821357945</c:v>
                </c:pt>
                <c:pt idx="80">
                  <c:v>78.3589707488187</c:v>
                </c:pt>
                <c:pt idx="81">
                  <c:v>78.5395602781857</c:v>
                </c:pt>
                <c:pt idx="82">
                  <c:v>78.23301865779</c:v>
                </c:pt>
                <c:pt idx="83">
                  <c:v>79.0454944087835</c:v>
                </c:pt>
                <c:pt idx="84">
                  <c:v>78.1901510497215</c:v>
                </c:pt>
                <c:pt idx="85">
                  <c:v>77.9038872654942</c:v>
                </c:pt>
                <c:pt idx="86">
                  <c:v>77.7850276622292</c:v>
                </c:pt>
                <c:pt idx="87">
                  <c:v>78.3181028975785</c:v>
                </c:pt>
                <c:pt idx="88">
                  <c:v>78.0974296586971</c:v>
                </c:pt>
                <c:pt idx="89">
                  <c:v>79.0729349307449</c:v>
                </c:pt>
                <c:pt idx="90">
                  <c:v>78.3591354819117</c:v>
                </c:pt>
                <c:pt idx="91">
                  <c:v>78.0888635349424</c:v>
                </c:pt>
                <c:pt idx="92">
                  <c:v>77.324802465154</c:v>
                </c:pt>
                <c:pt idx="93">
                  <c:v>78.276636618174</c:v>
                </c:pt>
                <c:pt idx="94">
                  <c:v>77.9381831863504</c:v>
                </c:pt>
                <c:pt idx="95">
                  <c:v>78.1350560941221</c:v>
                </c:pt>
                <c:pt idx="96">
                  <c:v>78.7036063228402</c:v>
                </c:pt>
                <c:pt idx="97">
                  <c:v>78.2281457096422</c:v>
                </c:pt>
                <c:pt idx="98">
                  <c:v>78.1014975510341</c:v>
                </c:pt>
                <c:pt idx="99">
                  <c:v>78.8846055601959</c:v>
                </c:pt>
                <c:pt idx="100">
                  <c:v>77.7951019406764</c:v>
                </c:pt>
                <c:pt idx="101">
                  <c:v>77.429361216512</c:v>
                </c:pt>
                <c:pt idx="102">
                  <c:v>77.7847742601362</c:v>
                </c:pt>
                <c:pt idx="103">
                  <c:v>77.9034192147426</c:v>
                </c:pt>
                <c:pt idx="104">
                  <c:v>78.2906230700241</c:v>
                </c:pt>
                <c:pt idx="105">
                  <c:v>78.5915472050376</c:v>
                </c:pt>
                <c:pt idx="106">
                  <c:v>77.8335152149478</c:v>
                </c:pt>
                <c:pt idx="107">
                  <c:v>77.4862521806336</c:v>
                </c:pt>
                <c:pt idx="108">
                  <c:v>77.9667060185483</c:v>
                </c:pt>
                <c:pt idx="109">
                  <c:v>77.4089023913372</c:v>
                </c:pt>
                <c:pt idx="110">
                  <c:v>77.6566749583178</c:v>
                </c:pt>
                <c:pt idx="111">
                  <c:v>77.341257619393</c:v>
                </c:pt>
                <c:pt idx="112">
                  <c:v>77.840710492066</c:v>
                </c:pt>
                <c:pt idx="113">
                  <c:v>77.9760251835531</c:v>
                </c:pt>
                <c:pt idx="114">
                  <c:v>78.348660048235</c:v>
                </c:pt>
                <c:pt idx="115">
                  <c:v>78.0862089591285</c:v>
                </c:pt>
                <c:pt idx="116">
                  <c:v>78.2592586003079</c:v>
                </c:pt>
                <c:pt idx="117">
                  <c:v>78.6031016633501</c:v>
                </c:pt>
                <c:pt idx="118">
                  <c:v>78.3996535105764</c:v>
                </c:pt>
                <c:pt idx="119">
                  <c:v>78.0291138173735</c:v>
                </c:pt>
                <c:pt idx="120">
                  <c:v>77.9427649842613</c:v>
                </c:pt>
                <c:pt idx="121">
                  <c:v>78.3207061991599</c:v>
                </c:pt>
                <c:pt idx="122">
                  <c:v>77.5008517170236</c:v>
                </c:pt>
                <c:pt idx="123">
                  <c:v>77.5289287504885</c:v>
                </c:pt>
                <c:pt idx="124">
                  <c:v>77.6038379655333</c:v>
                </c:pt>
                <c:pt idx="125">
                  <c:v>77.9505479809352</c:v>
                </c:pt>
                <c:pt idx="126">
                  <c:v>78.0646124551186</c:v>
                </c:pt>
                <c:pt idx="127">
                  <c:v>77.4960054522559</c:v>
                </c:pt>
                <c:pt idx="128">
                  <c:v>77.9325308845278</c:v>
                </c:pt>
                <c:pt idx="129">
                  <c:v>78.1618400405686</c:v>
                </c:pt>
                <c:pt idx="130">
                  <c:v>77.9793397434043</c:v>
                </c:pt>
                <c:pt idx="131">
                  <c:v>78.3849300034387</c:v>
                </c:pt>
                <c:pt idx="132">
                  <c:v>78.380027162381</c:v>
                </c:pt>
                <c:pt idx="133">
                  <c:v>77.9061359974744</c:v>
                </c:pt>
                <c:pt idx="134">
                  <c:v>77.6202672236049</c:v>
                </c:pt>
                <c:pt idx="135">
                  <c:v>78.624797882325</c:v>
                </c:pt>
                <c:pt idx="136">
                  <c:v>77.8829239133828</c:v>
                </c:pt>
                <c:pt idx="137">
                  <c:v>76.2240797861756</c:v>
                </c:pt>
                <c:pt idx="138">
                  <c:v>78.2853285961368</c:v>
                </c:pt>
                <c:pt idx="139">
                  <c:v>78.6667485488255</c:v>
                </c:pt>
                <c:pt idx="140">
                  <c:v>78.2109027560769</c:v>
                </c:pt>
                <c:pt idx="141">
                  <c:v>78.7276776937932</c:v>
                </c:pt>
                <c:pt idx="142">
                  <c:v>75.7293773421039</c:v>
                </c:pt>
                <c:pt idx="143">
                  <c:v>77.8180087036227</c:v>
                </c:pt>
                <c:pt idx="144">
                  <c:v>78.7945919867154</c:v>
                </c:pt>
                <c:pt idx="145">
                  <c:v>79.5705413531532</c:v>
                </c:pt>
                <c:pt idx="146">
                  <c:v>79.1950141318222</c:v>
                </c:pt>
                <c:pt idx="147">
                  <c:v>77.3822758895257</c:v>
                </c:pt>
                <c:pt idx="148">
                  <c:v>77.8652721257156</c:v>
                </c:pt>
                <c:pt idx="149">
                  <c:v>78.4139704812001</c:v>
                </c:pt>
                <c:pt idx="150">
                  <c:v>77.7374789888017</c:v>
                </c:pt>
                <c:pt idx="151">
                  <c:v>78.5087049199538</c:v>
                </c:pt>
                <c:pt idx="152">
                  <c:v>78.9198364767216</c:v>
                </c:pt>
                <c:pt idx="153">
                  <c:v>78.1367180092607</c:v>
                </c:pt>
                <c:pt idx="154">
                  <c:v>78.9348380361332</c:v>
                </c:pt>
                <c:pt idx="155">
                  <c:v>78.923682179363</c:v>
                </c:pt>
                <c:pt idx="156">
                  <c:v>78.4749193473379</c:v>
                </c:pt>
                <c:pt idx="157">
                  <c:v>77.6432110697105</c:v>
                </c:pt>
                <c:pt idx="158">
                  <c:v>78.8762130879718</c:v>
                </c:pt>
                <c:pt idx="159">
                  <c:v>78.4944132973501</c:v>
                </c:pt>
                <c:pt idx="160">
                  <c:v>79.1930021871291</c:v>
                </c:pt>
                <c:pt idx="161">
                  <c:v>78.6998518994662</c:v>
                </c:pt>
                <c:pt idx="162">
                  <c:v>78.9523015634328</c:v>
                </c:pt>
                <c:pt idx="163">
                  <c:v>78.8423742355335</c:v>
                </c:pt>
                <c:pt idx="164">
                  <c:v>78.8076097889186</c:v>
                </c:pt>
                <c:pt idx="165">
                  <c:v>78.480805427873</c:v>
                </c:pt>
                <c:pt idx="166">
                  <c:v>78.5484070438573</c:v>
                </c:pt>
                <c:pt idx="167">
                  <c:v>78.8391627044392</c:v>
                </c:pt>
                <c:pt idx="168">
                  <c:v>78.5284792709813</c:v>
                </c:pt>
                <c:pt idx="169">
                  <c:v>75.9312385116901</c:v>
                </c:pt>
                <c:pt idx="170">
                  <c:v>78.1961802434494</c:v>
                </c:pt>
                <c:pt idx="171">
                  <c:v>78.6212084124283</c:v>
                </c:pt>
                <c:pt idx="172">
                  <c:v>78.0914519503273</c:v>
                </c:pt>
                <c:pt idx="173">
                  <c:v>78.4961429758797</c:v>
                </c:pt>
                <c:pt idx="174">
                  <c:v>79.032005302174</c:v>
                </c:pt>
                <c:pt idx="175">
                  <c:v>76.6671904320628</c:v>
                </c:pt>
                <c:pt idx="176">
                  <c:v>77.0796332898102</c:v>
                </c:pt>
                <c:pt idx="177">
                  <c:v>77.0457689362545</c:v>
                </c:pt>
                <c:pt idx="178">
                  <c:v>77.5548366848312</c:v>
                </c:pt>
                <c:pt idx="179">
                  <c:v>77.1170628015492</c:v>
                </c:pt>
                <c:pt idx="180">
                  <c:v>76.9542789547181</c:v>
                </c:pt>
                <c:pt idx="181">
                  <c:v>78.7271189418571</c:v>
                </c:pt>
                <c:pt idx="182">
                  <c:v>77.5173816367404</c:v>
                </c:pt>
                <c:pt idx="183">
                  <c:v>77.350137062035</c:v>
                </c:pt>
                <c:pt idx="184">
                  <c:v>77.5342471730806</c:v>
                </c:pt>
                <c:pt idx="185">
                  <c:v>77.527115552263</c:v>
                </c:pt>
                <c:pt idx="186">
                  <c:v>78.9208979042112</c:v>
                </c:pt>
                <c:pt idx="187">
                  <c:v>77.5534019080749</c:v>
                </c:pt>
                <c:pt idx="188">
                  <c:v>77.7981107580122</c:v>
                </c:pt>
                <c:pt idx="189">
                  <c:v>76.9287172558365</c:v>
                </c:pt>
                <c:pt idx="190">
                  <c:v>76.983741023499</c:v>
                </c:pt>
                <c:pt idx="191">
                  <c:v>77.1716303579028</c:v>
                </c:pt>
                <c:pt idx="192">
                  <c:v>77.0085671189099</c:v>
                </c:pt>
                <c:pt idx="193">
                  <c:v>77.5154818280929</c:v>
                </c:pt>
                <c:pt idx="194">
                  <c:v>77.1688199546054</c:v>
                </c:pt>
              </c:numCache>
            </c:numRef>
          </c:xVal>
          <c:yVal>
            <c:numRef>
              <c:f>'[selected_subsets.xlsx]col连续-量_vs_col微地震改造体积'!$I$2:$I$196</c:f>
              <c:numCache>
                <c:formatCode>General</c:formatCode>
                <c:ptCount val="195"/>
                <c:pt idx="0">
                  <c:v>56</c:v>
                </c:pt>
                <c:pt idx="1">
                  <c:v>96.8</c:v>
                </c:pt>
                <c:pt idx="2">
                  <c:v>54.4</c:v>
                </c:pt>
                <c:pt idx="3">
                  <c:v>124</c:v>
                </c:pt>
                <c:pt idx="4">
                  <c:v>431.2</c:v>
                </c:pt>
                <c:pt idx="5">
                  <c:v>91.2</c:v>
                </c:pt>
                <c:pt idx="6">
                  <c:v>90.8</c:v>
                </c:pt>
                <c:pt idx="7">
                  <c:v>104.4</c:v>
                </c:pt>
                <c:pt idx="8">
                  <c:v>139.2</c:v>
                </c:pt>
                <c:pt idx="9">
                  <c:v>124.4</c:v>
                </c:pt>
                <c:pt idx="10">
                  <c:v>264.8</c:v>
                </c:pt>
                <c:pt idx="11">
                  <c:v>193.6</c:v>
                </c:pt>
                <c:pt idx="12">
                  <c:v>166</c:v>
                </c:pt>
                <c:pt idx="13">
                  <c:v>193.2</c:v>
                </c:pt>
                <c:pt idx="14">
                  <c:v>322.4</c:v>
                </c:pt>
                <c:pt idx="15">
                  <c:v>142.8</c:v>
                </c:pt>
                <c:pt idx="16">
                  <c:v>138</c:v>
                </c:pt>
                <c:pt idx="17">
                  <c:v>27.2</c:v>
                </c:pt>
                <c:pt idx="18">
                  <c:v>99.2</c:v>
                </c:pt>
                <c:pt idx="19">
                  <c:v>27.2</c:v>
                </c:pt>
                <c:pt idx="20">
                  <c:v>217.6</c:v>
                </c:pt>
                <c:pt idx="21">
                  <c:v>276.4</c:v>
                </c:pt>
                <c:pt idx="22">
                  <c:v>133.2</c:v>
                </c:pt>
                <c:pt idx="23">
                  <c:v>140.4</c:v>
                </c:pt>
                <c:pt idx="24">
                  <c:v>150.8</c:v>
                </c:pt>
                <c:pt idx="25">
                  <c:v>114</c:v>
                </c:pt>
                <c:pt idx="26">
                  <c:v>187.2</c:v>
                </c:pt>
                <c:pt idx="27">
                  <c:v>201.2</c:v>
                </c:pt>
                <c:pt idx="28">
                  <c:v>304</c:v>
                </c:pt>
                <c:pt idx="29">
                  <c:v>168.8</c:v>
                </c:pt>
                <c:pt idx="30">
                  <c:v>183.6</c:v>
                </c:pt>
                <c:pt idx="31">
                  <c:v>201.2</c:v>
                </c:pt>
                <c:pt idx="32">
                  <c:v>136</c:v>
                </c:pt>
                <c:pt idx="33">
                  <c:v>163.2</c:v>
                </c:pt>
                <c:pt idx="34">
                  <c:v>110.4</c:v>
                </c:pt>
                <c:pt idx="35">
                  <c:v>88.8</c:v>
                </c:pt>
                <c:pt idx="36">
                  <c:v>81.6</c:v>
                </c:pt>
                <c:pt idx="37">
                  <c:v>59.2</c:v>
                </c:pt>
                <c:pt idx="38">
                  <c:v>176.4</c:v>
                </c:pt>
                <c:pt idx="39">
                  <c:v>160</c:v>
                </c:pt>
                <c:pt idx="40">
                  <c:v>213.2</c:v>
                </c:pt>
                <c:pt idx="41">
                  <c:v>136.8</c:v>
                </c:pt>
                <c:pt idx="42">
                  <c:v>168.8</c:v>
                </c:pt>
                <c:pt idx="43">
                  <c:v>204.8</c:v>
                </c:pt>
                <c:pt idx="44">
                  <c:v>247.5</c:v>
                </c:pt>
                <c:pt idx="45">
                  <c:v>262.5</c:v>
                </c:pt>
                <c:pt idx="46">
                  <c:v>322.5</c:v>
                </c:pt>
                <c:pt idx="47">
                  <c:v>322.5</c:v>
                </c:pt>
                <c:pt idx="48">
                  <c:v>330</c:v>
                </c:pt>
                <c:pt idx="49">
                  <c:v>345</c:v>
                </c:pt>
                <c:pt idx="50">
                  <c:v>345</c:v>
                </c:pt>
                <c:pt idx="51">
                  <c:v>307.5</c:v>
                </c:pt>
                <c:pt idx="52">
                  <c:v>262.5</c:v>
                </c:pt>
                <c:pt idx="53">
                  <c:v>270</c:v>
                </c:pt>
                <c:pt idx="54">
                  <c:v>307.5</c:v>
                </c:pt>
                <c:pt idx="55">
                  <c:v>277.5</c:v>
                </c:pt>
                <c:pt idx="56">
                  <c:v>247.5</c:v>
                </c:pt>
                <c:pt idx="57">
                  <c:v>270</c:v>
                </c:pt>
                <c:pt idx="58">
                  <c:v>247.5</c:v>
                </c:pt>
                <c:pt idx="59">
                  <c:v>375</c:v>
                </c:pt>
                <c:pt idx="60">
                  <c:v>277.5</c:v>
                </c:pt>
                <c:pt idx="61">
                  <c:v>272.5</c:v>
                </c:pt>
                <c:pt idx="62">
                  <c:v>240</c:v>
                </c:pt>
                <c:pt idx="63">
                  <c:v>300</c:v>
                </c:pt>
                <c:pt idx="64">
                  <c:v>225</c:v>
                </c:pt>
                <c:pt idx="65">
                  <c:v>315</c:v>
                </c:pt>
                <c:pt idx="66">
                  <c:v>262.5</c:v>
                </c:pt>
                <c:pt idx="67">
                  <c:v>270</c:v>
                </c:pt>
                <c:pt idx="68">
                  <c:v>262.5</c:v>
                </c:pt>
                <c:pt idx="69">
                  <c:v>285</c:v>
                </c:pt>
                <c:pt idx="70">
                  <c:v>352.5</c:v>
                </c:pt>
                <c:pt idx="71">
                  <c:v>300</c:v>
                </c:pt>
                <c:pt idx="72">
                  <c:v>300</c:v>
                </c:pt>
                <c:pt idx="73">
                  <c:v>322.5</c:v>
                </c:pt>
                <c:pt idx="74">
                  <c:v>255</c:v>
                </c:pt>
                <c:pt idx="75">
                  <c:v>337.5</c:v>
                </c:pt>
                <c:pt idx="76">
                  <c:v>262.5</c:v>
                </c:pt>
                <c:pt idx="77">
                  <c:v>225</c:v>
                </c:pt>
                <c:pt idx="78">
                  <c:v>285</c:v>
                </c:pt>
                <c:pt idx="79">
                  <c:v>315</c:v>
                </c:pt>
                <c:pt idx="80">
                  <c:v>307.5</c:v>
                </c:pt>
                <c:pt idx="81">
                  <c:v>315</c:v>
                </c:pt>
                <c:pt idx="82">
                  <c:v>285</c:v>
                </c:pt>
                <c:pt idx="83">
                  <c:v>255</c:v>
                </c:pt>
                <c:pt idx="84">
                  <c:v>262.5</c:v>
                </c:pt>
                <c:pt idx="85">
                  <c:v>247.5</c:v>
                </c:pt>
                <c:pt idx="86">
                  <c:v>292.5</c:v>
                </c:pt>
                <c:pt idx="87">
                  <c:v>225</c:v>
                </c:pt>
                <c:pt idx="88">
                  <c:v>217.5</c:v>
                </c:pt>
                <c:pt idx="89">
                  <c:v>292.5</c:v>
                </c:pt>
                <c:pt idx="90">
                  <c:v>232.5</c:v>
                </c:pt>
                <c:pt idx="91">
                  <c:v>240</c:v>
                </c:pt>
                <c:pt idx="92">
                  <c:v>270</c:v>
                </c:pt>
                <c:pt idx="93">
                  <c:v>270</c:v>
                </c:pt>
                <c:pt idx="94">
                  <c:v>337.5</c:v>
                </c:pt>
                <c:pt idx="95">
                  <c:v>322.5</c:v>
                </c:pt>
                <c:pt idx="96">
                  <c:v>300</c:v>
                </c:pt>
                <c:pt idx="97">
                  <c:v>367.5</c:v>
                </c:pt>
                <c:pt idx="98">
                  <c:v>352.5</c:v>
                </c:pt>
                <c:pt idx="99">
                  <c:v>382.5</c:v>
                </c:pt>
                <c:pt idx="100">
                  <c:v>337.5</c:v>
                </c:pt>
                <c:pt idx="101">
                  <c:v>210</c:v>
                </c:pt>
                <c:pt idx="102">
                  <c:v>330</c:v>
                </c:pt>
                <c:pt idx="103">
                  <c:v>262.5</c:v>
                </c:pt>
                <c:pt idx="104">
                  <c:v>315</c:v>
                </c:pt>
                <c:pt idx="105">
                  <c:v>277.5</c:v>
                </c:pt>
                <c:pt idx="106">
                  <c:v>307.5</c:v>
                </c:pt>
                <c:pt idx="107">
                  <c:v>247.5</c:v>
                </c:pt>
                <c:pt idx="108">
                  <c:v>345</c:v>
                </c:pt>
                <c:pt idx="109">
                  <c:v>262.5</c:v>
                </c:pt>
                <c:pt idx="110">
                  <c:v>300</c:v>
                </c:pt>
                <c:pt idx="111">
                  <c:v>300</c:v>
                </c:pt>
                <c:pt idx="112">
                  <c:v>300</c:v>
                </c:pt>
                <c:pt idx="113">
                  <c:v>262.5</c:v>
                </c:pt>
                <c:pt idx="114">
                  <c:v>222.5</c:v>
                </c:pt>
                <c:pt idx="115">
                  <c:v>291</c:v>
                </c:pt>
                <c:pt idx="116">
                  <c:v>273</c:v>
                </c:pt>
                <c:pt idx="117">
                  <c:v>344.5</c:v>
                </c:pt>
                <c:pt idx="118">
                  <c:v>269</c:v>
                </c:pt>
                <c:pt idx="119">
                  <c:v>326.5</c:v>
                </c:pt>
                <c:pt idx="120">
                  <c:v>296.5</c:v>
                </c:pt>
                <c:pt idx="121">
                  <c:v>277</c:v>
                </c:pt>
                <c:pt idx="122">
                  <c:v>327.5</c:v>
                </c:pt>
                <c:pt idx="123">
                  <c:v>304.5</c:v>
                </c:pt>
                <c:pt idx="124">
                  <c:v>341.5</c:v>
                </c:pt>
                <c:pt idx="125">
                  <c:v>300</c:v>
                </c:pt>
                <c:pt idx="126">
                  <c:v>335</c:v>
                </c:pt>
                <c:pt idx="127">
                  <c:v>267.5</c:v>
                </c:pt>
                <c:pt idx="128">
                  <c:v>290</c:v>
                </c:pt>
                <c:pt idx="129">
                  <c:v>306</c:v>
                </c:pt>
                <c:pt idx="130">
                  <c:v>312.5</c:v>
                </c:pt>
                <c:pt idx="131">
                  <c:v>325.5</c:v>
                </c:pt>
                <c:pt idx="132">
                  <c:v>335</c:v>
                </c:pt>
                <c:pt idx="133">
                  <c:v>315.5</c:v>
                </c:pt>
                <c:pt idx="134">
                  <c:v>274.5</c:v>
                </c:pt>
                <c:pt idx="135">
                  <c:v>246</c:v>
                </c:pt>
                <c:pt idx="136">
                  <c:v>297.5</c:v>
                </c:pt>
                <c:pt idx="137">
                  <c:v>279</c:v>
                </c:pt>
                <c:pt idx="138">
                  <c:v>304</c:v>
                </c:pt>
                <c:pt idx="139">
                  <c:v>279.5</c:v>
                </c:pt>
                <c:pt idx="140">
                  <c:v>265</c:v>
                </c:pt>
                <c:pt idx="141">
                  <c:v>274</c:v>
                </c:pt>
                <c:pt idx="142">
                  <c:v>205.5</c:v>
                </c:pt>
                <c:pt idx="143">
                  <c:v>249</c:v>
                </c:pt>
                <c:pt idx="144">
                  <c:v>287</c:v>
                </c:pt>
                <c:pt idx="145">
                  <c:v>310</c:v>
                </c:pt>
                <c:pt idx="146">
                  <c:v>272.5</c:v>
                </c:pt>
                <c:pt idx="147">
                  <c:v>287.5</c:v>
                </c:pt>
                <c:pt idx="148">
                  <c:v>347.5</c:v>
                </c:pt>
                <c:pt idx="149">
                  <c:v>317.5</c:v>
                </c:pt>
                <c:pt idx="150">
                  <c:v>295</c:v>
                </c:pt>
                <c:pt idx="151">
                  <c:v>280</c:v>
                </c:pt>
                <c:pt idx="152">
                  <c:v>265</c:v>
                </c:pt>
                <c:pt idx="153">
                  <c:v>295</c:v>
                </c:pt>
                <c:pt idx="154">
                  <c:v>287.5</c:v>
                </c:pt>
                <c:pt idx="155">
                  <c:v>280</c:v>
                </c:pt>
                <c:pt idx="156">
                  <c:v>305</c:v>
                </c:pt>
                <c:pt idx="157">
                  <c:v>287.5</c:v>
                </c:pt>
                <c:pt idx="158">
                  <c:v>280</c:v>
                </c:pt>
                <c:pt idx="159">
                  <c:v>289</c:v>
                </c:pt>
                <c:pt idx="160">
                  <c:v>240</c:v>
                </c:pt>
                <c:pt idx="161">
                  <c:v>295</c:v>
                </c:pt>
                <c:pt idx="162">
                  <c:v>302.5</c:v>
                </c:pt>
                <c:pt idx="163">
                  <c:v>272.5</c:v>
                </c:pt>
                <c:pt idx="164">
                  <c:v>257.5</c:v>
                </c:pt>
                <c:pt idx="165">
                  <c:v>280</c:v>
                </c:pt>
                <c:pt idx="166">
                  <c:v>285</c:v>
                </c:pt>
                <c:pt idx="167">
                  <c:v>307.5</c:v>
                </c:pt>
                <c:pt idx="168">
                  <c:v>285</c:v>
                </c:pt>
                <c:pt idx="169">
                  <c:v>255</c:v>
                </c:pt>
                <c:pt idx="170">
                  <c:v>287.5</c:v>
                </c:pt>
                <c:pt idx="171">
                  <c:v>270</c:v>
                </c:pt>
                <c:pt idx="172">
                  <c:v>270</c:v>
                </c:pt>
                <c:pt idx="173">
                  <c:v>272.5</c:v>
                </c:pt>
                <c:pt idx="174">
                  <c:v>272</c:v>
                </c:pt>
                <c:pt idx="175">
                  <c:v>304.5</c:v>
                </c:pt>
                <c:pt idx="176">
                  <c:v>323.5</c:v>
                </c:pt>
                <c:pt idx="177">
                  <c:v>305.5</c:v>
                </c:pt>
                <c:pt idx="178">
                  <c:v>314</c:v>
                </c:pt>
                <c:pt idx="179">
                  <c:v>301</c:v>
                </c:pt>
                <c:pt idx="180">
                  <c:v>329</c:v>
                </c:pt>
                <c:pt idx="181">
                  <c:v>340</c:v>
                </c:pt>
                <c:pt idx="182">
                  <c:v>318.5</c:v>
                </c:pt>
                <c:pt idx="183">
                  <c:v>300</c:v>
                </c:pt>
                <c:pt idx="184">
                  <c:v>320</c:v>
                </c:pt>
                <c:pt idx="185">
                  <c:v>274</c:v>
                </c:pt>
                <c:pt idx="186">
                  <c:v>333.5</c:v>
                </c:pt>
                <c:pt idx="187">
                  <c:v>309.5</c:v>
                </c:pt>
                <c:pt idx="188">
                  <c:v>292.5</c:v>
                </c:pt>
                <c:pt idx="189">
                  <c:v>309</c:v>
                </c:pt>
                <c:pt idx="190">
                  <c:v>326</c:v>
                </c:pt>
                <c:pt idx="191">
                  <c:v>292</c:v>
                </c:pt>
                <c:pt idx="192">
                  <c:v>316.5</c:v>
                </c:pt>
                <c:pt idx="193">
                  <c:v>296</c:v>
                </c:pt>
                <c:pt idx="194">
                  <c:v>297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29251750"/>
        <c:axId val="103888188"/>
      </c:scatterChart>
      <c:valAx>
        <c:axId val="729251750"/>
        <c:scaling>
          <c:orientation val="minMax"/>
          <c:min val="72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CN" altLang="en-US">
                    <a:solidFill>
                      <a:schemeClr val="tx1"/>
                    </a:solidFill>
                  </a:rPr>
                  <a:t>造缝能量评估</a:t>
                </a:r>
                <a:r>
                  <a:rPr lang="en-US" altLang="zh-CN">
                    <a:solidFill>
                      <a:schemeClr val="tx1"/>
                    </a:solidFill>
                  </a:rPr>
                  <a:t>/</a:t>
                </a:r>
                <a:r>
                  <a:rPr lang="zh-CN" altLang="en-US">
                    <a:solidFill>
                      <a:schemeClr val="tx1"/>
                    </a:solidFill>
                  </a:rPr>
                  <a:t>百分制</a:t>
                </a:r>
                <a:endParaRPr lang="zh-CN" altLang="en-US">
                  <a:solidFill>
                    <a:schemeClr val="tx1"/>
                  </a:solidFill>
                </a:endParaRPr>
              </a:p>
            </c:rich>
          </c:tx>
          <c:layout>
            <c:manualLayout>
              <c:xMode val="edge"/>
              <c:yMode val="edge"/>
              <c:x val="0.408782115700875"/>
              <c:y val="0.919503353115954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03888188"/>
        <c:crosses val="autoZero"/>
        <c:crossBetween val="midCat"/>
      </c:valAx>
      <c:valAx>
        <c:axId val="1038881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CN" altLang="en-US">
                    <a:solidFill>
                      <a:schemeClr val="tx1"/>
                    </a:solidFill>
                  </a:rPr>
                  <a:t>微地震监测</a:t>
                </a:r>
                <a:r>
                  <a:rPr lang="en-US" altLang="zh-CN">
                    <a:solidFill>
                      <a:schemeClr val="tx1"/>
                    </a:solidFill>
                  </a:rPr>
                  <a:t>SRV/</a:t>
                </a:r>
                <a:r>
                  <a:rPr lang="zh-CN" altLang="en-US">
                    <a:solidFill>
                      <a:schemeClr val="tx1"/>
                    </a:solidFill>
                  </a:rPr>
                  <a:t>万方</a:t>
                </a:r>
                <a:endParaRPr lang="zh-CN" altLang="en-US">
                  <a:solidFill>
                    <a:schemeClr val="tx1"/>
                  </a:solidFill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729251750"/>
        <c:crosses val="autoZero"/>
        <c:crossBetween val="midCat"/>
      </c:valAx>
      <c:spPr>
        <a:noFill/>
        <a:ln w="9525" cap="flat" cmpd="sng" algn="ctr">
          <a:solidFill>
            <a:schemeClr val="tx1">
              <a:lumMod val="15000"/>
              <a:lumOff val="85000"/>
            </a:schemeClr>
          </a:solidFill>
          <a:round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93530376-f34d-42a9-b134-b096fa13de59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17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19050" cap="rnd">
        <a:noFill/>
        <a:round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9525">
        <a:solidFill>
          <a:schemeClr val="phClr"/>
        </a:solidFill>
      </a:ln>
      <a:effectLst/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/>
        </p:nvCxnSpPr>
        <p:spPr>
          <a:xfrm>
            <a:off x="1875155" y="748665"/>
            <a:ext cx="269875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任意多边形 37"/>
          <p:cNvSpPr/>
          <p:nvPr/>
        </p:nvSpPr>
        <p:spPr>
          <a:xfrm>
            <a:off x="2149475" y="319405"/>
            <a:ext cx="2421890" cy="635635"/>
          </a:xfrm>
          <a:custGeom>
            <a:avLst/>
            <a:gdLst>
              <a:gd name="connisteX0" fmla="*/ 0 w 2255520"/>
              <a:gd name="connsiteY0" fmla="*/ 1905011 h 2805968"/>
              <a:gd name="connisteX1" fmla="*/ 396240 w 2255520"/>
              <a:gd name="connsiteY1" fmla="*/ 579131 h 2805968"/>
              <a:gd name="connisteX2" fmla="*/ 822960 w 2255520"/>
              <a:gd name="connsiteY2" fmla="*/ 2773691 h 2805968"/>
              <a:gd name="connisteX3" fmla="*/ 1112520 w 2255520"/>
              <a:gd name="connsiteY3" fmla="*/ 11 h 2805968"/>
              <a:gd name="connisteX4" fmla="*/ 1531620 w 2255520"/>
              <a:gd name="connsiteY4" fmla="*/ 2804171 h 2805968"/>
              <a:gd name="connisteX5" fmla="*/ 1859280 w 2255520"/>
              <a:gd name="connsiteY5" fmla="*/ 381011 h 2805968"/>
              <a:gd name="connisteX6" fmla="*/ 2255520 w 2255520"/>
              <a:gd name="connsiteY6" fmla="*/ 2164091 h 2805968"/>
              <a:gd name="connisteX7" fmla="*/ 2301240 w 2255520"/>
              <a:gd name="connsiteY7" fmla="*/ 2270771 h 280596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</a:cxnLst>
            <a:rect l="l" t="t" r="r" b="b"/>
            <a:pathLst>
              <a:path w="2255520" h="2805969">
                <a:moveTo>
                  <a:pt x="0" y="1905011"/>
                </a:moveTo>
                <a:cubicBezTo>
                  <a:pt x="70485" y="1595766"/>
                  <a:pt x="231775" y="405141"/>
                  <a:pt x="396240" y="579131"/>
                </a:cubicBezTo>
                <a:cubicBezTo>
                  <a:pt x="560705" y="753121"/>
                  <a:pt x="679450" y="2889261"/>
                  <a:pt x="822960" y="2773691"/>
                </a:cubicBezTo>
                <a:cubicBezTo>
                  <a:pt x="966470" y="2658121"/>
                  <a:pt x="970915" y="-6339"/>
                  <a:pt x="1112520" y="11"/>
                </a:cubicBezTo>
                <a:cubicBezTo>
                  <a:pt x="1254125" y="6361"/>
                  <a:pt x="1382395" y="2727971"/>
                  <a:pt x="1531620" y="2804171"/>
                </a:cubicBezTo>
                <a:cubicBezTo>
                  <a:pt x="1680845" y="2880371"/>
                  <a:pt x="1714500" y="509281"/>
                  <a:pt x="1859280" y="381011"/>
                </a:cubicBezTo>
                <a:cubicBezTo>
                  <a:pt x="2004060" y="252741"/>
                  <a:pt x="2167255" y="1786266"/>
                  <a:pt x="2255520" y="2164091"/>
                </a:cubicBezTo>
              </a:path>
            </a:pathLst>
          </a:cu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80000"/>
              </a:lnSpc>
              <a:spcBef>
                <a:spcPct val="20000"/>
              </a:spcBef>
              <a:buClr>
                <a:srgbClr val="FF0000"/>
              </a:buClr>
              <a:buSzPct val="100000"/>
            </a:pPr>
            <a:endParaRPr lang="zh-CN" altLang="en-US" dirty="0">
              <a:solidFill>
                <a:schemeClr val="bg1"/>
              </a:solidFill>
              <a:latin typeface="Tahoma" panose="020B0604030504040204"/>
              <a:ea typeface="方正大黑简体" panose="02000000000000000000" pitchFamily="65" charset="-122"/>
            </a:endParaRPr>
          </a:p>
        </p:txBody>
      </p:sp>
      <p:cxnSp>
        <p:nvCxnSpPr>
          <p:cNvPr id="39" name="直接连接符 38"/>
          <p:cNvCxnSpPr>
            <a:stCxn id="38" idx="6"/>
          </p:cNvCxnSpPr>
          <p:nvPr/>
        </p:nvCxnSpPr>
        <p:spPr>
          <a:xfrm>
            <a:off x="4571365" y="809625"/>
            <a:ext cx="244475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4" name="组合 23"/>
          <p:cNvGrpSpPr/>
          <p:nvPr/>
        </p:nvGrpSpPr>
        <p:grpSpPr>
          <a:xfrm>
            <a:off x="3049270" y="563880"/>
            <a:ext cx="250190" cy="217805"/>
            <a:chOff x="3781" y="5992"/>
            <a:chExt cx="710" cy="1832"/>
          </a:xfrm>
        </p:grpSpPr>
        <p:cxnSp>
          <p:nvCxnSpPr>
            <p:cNvPr id="25" name="直接连接符 24"/>
            <p:cNvCxnSpPr/>
            <p:nvPr/>
          </p:nvCxnSpPr>
          <p:spPr>
            <a:xfrm flipH="1">
              <a:off x="3781" y="6656"/>
              <a:ext cx="90" cy="739"/>
            </a:xfrm>
            <a:prstGeom prst="line">
              <a:avLst/>
            </a:prstGeom>
            <a:ln w="1905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>
              <a:off x="3879" y="6660"/>
              <a:ext cx="109" cy="1134"/>
            </a:xfrm>
            <a:prstGeom prst="line">
              <a:avLst/>
            </a:prstGeom>
            <a:ln w="1905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V="1">
              <a:off x="3988" y="6000"/>
              <a:ext cx="151" cy="1794"/>
            </a:xfrm>
            <a:prstGeom prst="line">
              <a:avLst/>
            </a:prstGeom>
            <a:ln w="1905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4155" y="5992"/>
              <a:ext cx="116" cy="1828"/>
            </a:xfrm>
            <a:prstGeom prst="line">
              <a:avLst/>
            </a:prstGeom>
            <a:ln w="1905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H="1">
              <a:off x="4269" y="6684"/>
              <a:ext cx="170" cy="1140"/>
            </a:xfrm>
            <a:prstGeom prst="line">
              <a:avLst/>
            </a:prstGeom>
            <a:ln w="1905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4447" y="6685"/>
              <a:ext cx="44" cy="663"/>
            </a:xfrm>
            <a:prstGeom prst="line">
              <a:avLst/>
            </a:prstGeom>
            <a:ln w="1905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31" name="组合 30"/>
          <p:cNvGrpSpPr/>
          <p:nvPr/>
        </p:nvGrpSpPr>
        <p:grpSpPr>
          <a:xfrm>
            <a:off x="4277360" y="436245"/>
            <a:ext cx="201295" cy="210185"/>
            <a:chOff x="3781" y="5992"/>
            <a:chExt cx="710" cy="1832"/>
          </a:xfrm>
        </p:grpSpPr>
        <p:cxnSp>
          <p:nvCxnSpPr>
            <p:cNvPr id="32" name="直接连接符 31"/>
            <p:cNvCxnSpPr/>
            <p:nvPr/>
          </p:nvCxnSpPr>
          <p:spPr>
            <a:xfrm flipH="1">
              <a:off x="3781" y="6656"/>
              <a:ext cx="90" cy="739"/>
            </a:xfrm>
            <a:prstGeom prst="line">
              <a:avLst/>
            </a:prstGeom>
            <a:ln w="1905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>
              <a:off x="3879" y="6660"/>
              <a:ext cx="109" cy="1134"/>
            </a:xfrm>
            <a:prstGeom prst="line">
              <a:avLst/>
            </a:prstGeom>
            <a:ln w="1905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V="1">
              <a:off x="3988" y="6000"/>
              <a:ext cx="151" cy="1794"/>
            </a:xfrm>
            <a:prstGeom prst="line">
              <a:avLst/>
            </a:prstGeom>
            <a:ln w="1905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4155" y="5992"/>
              <a:ext cx="116" cy="1828"/>
            </a:xfrm>
            <a:prstGeom prst="line">
              <a:avLst/>
            </a:prstGeom>
            <a:ln w="1905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flipH="1">
              <a:off x="4269" y="6684"/>
              <a:ext cx="170" cy="1140"/>
            </a:xfrm>
            <a:prstGeom prst="line">
              <a:avLst/>
            </a:prstGeom>
            <a:ln w="1905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>
              <a:off x="4447" y="6685"/>
              <a:ext cx="44" cy="663"/>
            </a:xfrm>
            <a:prstGeom prst="line">
              <a:avLst/>
            </a:prstGeom>
            <a:ln w="1905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3" name="组合 22"/>
          <p:cNvGrpSpPr/>
          <p:nvPr/>
        </p:nvGrpSpPr>
        <p:grpSpPr>
          <a:xfrm>
            <a:off x="2329180" y="364490"/>
            <a:ext cx="250190" cy="255905"/>
            <a:chOff x="3781" y="5992"/>
            <a:chExt cx="710" cy="1832"/>
          </a:xfrm>
        </p:grpSpPr>
        <p:cxnSp>
          <p:nvCxnSpPr>
            <p:cNvPr id="11" name="直接连接符 10"/>
            <p:cNvCxnSpPr/>
            <p:nvPr/>
          </p:nvCxnSpPr>
          <p:spPr>
            <a:xfrm flipH="1">
              <a:off x="3781" y="6656"/>
              <a:ext cx="90" cy="739"/>
            </a:xfrm>
            <a:prstGeom prst="line">
              <a:avLst/>
            </a:prstGeom>
            <a:ln w="1905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3879" y="6660"/>
              <a:ext cx="109" cy="1134"/>
            </a:xfrm>
            <a:prstGeom prst="line">
              <a:avLst/>
            </a:prstGeom>
            <a:ln w="1905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V="1">
              <a:off x="3988" y="6000"/>
              <a:ext cx="151" cy="1794"/>
            </a:xfrm>
            <a:prstGeom prst="line">
              <a:avLst/>
            </a:prstGeom>
            <a:ln w="1905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4155" y="5992"/>
              <a:ext cx="116" cy="1828"/>
            </a:xfrm>
            <a:prstGeom prst="line">
              <a:avLst/>
            </a:prstGeom>
            <a:ln w="1905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4269" y="6684"/>
              <a:ext cx="170" cy="1140"/>
            </a:xfrm>
            <a:prstGeom prst="line">
              <a:avLst/>
            </a:prstGeom>
            <a:ln w="1905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4447" y="6685"/>
              <a:ext cx="44" cy="663"/>
            </a:xfrm>
            <a:prstGeom prst="line">
              <a:avLst/>
            </a:prstGeom>
            <a:ln w="1905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48" name="文本框 47"/>
          <p:cNvSpPr txBox="1"/>
          <p:nvPr/>
        </p:nvSpPr>
        <p:spPr>
          <a:xfrm>
            <a:off x="1025525" y="560070"/>
            <a:ext cx="852805" cy="294005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ctr">
              <a:lnSpc>
                <a:spcPct val="100000"/>
              </a:lnSpc>
              <a:buClr>
                <a:srgbClr val="FF0000"/>
              </a:buClr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压力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1026795" y="1061720"/>
            <a:ext cx="850900" cy="294005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ctr">
              <a:lnSpc>
                <a:spcPct val="100000"/>
              </a:lnSpc>
              <a:buClr>
                <a:srgbClr val="FF0000"/>
              </a:buClr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排量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1026160" y="1563370"/>
            <a:ext cx="850900" cy="294005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ctr">
              <a:lnSpc>
                <a:spcPct val="100000"/>
              </a:lnSpc>
              <a:buClr>
                <a:srgbClr val="FF0000"/>
              </a:buClr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砂浓度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1" name="直接连接符 50"/>
          <p:cNvCxnSpPr>
            <a:endCxn id="56" idx="0"/>
          </p:cNvCxnSpPr>
          <p:nvPr/>
        </p:nvCxnSpPr>
        <p:spPr>
          <a:xfrm>
            <a:off x="1887220" y="2487295"/>
            <a:ext cx="453390" cy="635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2465070" y="255905"/>
            <a:ext cx="0" cy="3328035"/>
          </a:xfrm>
          <a:prstGeom prst="line">
            <a:avLst/>
          </a:prstGeom>
          <a:ln w="31750" cap="rnd">
            <a:solidFill>
              <a:srgbClr val="7030A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3183890" y="251460"/>
            <a:ext cx="0" cy="3307715"/>
          </a:xfrm>
          <a:prstGeom prst="line">
            <a:avLst/>
          </a:prstGeom>
          <a:ln w="31750" cap="rnd">
            <a:solidFill>
              <a:srgbClr val="7030A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4375785" y="232410"/>
            <a:ext cx="0" cy="3338830"/>
          </a:xfrm>
          <a:prstGeom prst="line">
            <a:avLst/>
          </a:prstGeom>
          <a:ln w="31750" cap="rnd">
            <a:solidFill>
              <a:srgbClr val="7030A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6" name="任意多边形 55"/>
          <p:cNvSpPr/>
          <p:nvPr/>
        </p:nvSpPr>
        <p:spPr>
          <a:xfrm>
            <a:off x="2340610" y="1938655"/>
            <a:ext cx="250190" cy="549275"/>
          </a:xfrm>
          <a:custGeom>
            <a:avLst/>
            <a:gdLst>
              <a:gd name="connisteX0" fmla="*/ 0 w 762000"/>
              <a:gd name="connsiteY0" fmla="*/ 1973598 h 1973598"/>
              <a:gd name="connisteX1" fmla="*/ 373380 w 762000"/>
              <a:gd name="connsiteY1" fmla="*/ 18 h 1973598"/>
              <a:gd name="connisteX2" fmla="*/ 762000 w 762000"/>
              <a:gd name="connsiteY2" fmla="*/ 1943118 h 1973598"/>
              <a:gd name="connisteX3" fmla="*/ 830580 w 762000"/>
              <a:gd name="connsiteY3" fmla="*/ 1805958 h 197359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762000" h="1973599">
                <a:moveTo>
                  <a:pt x="0" y="1973599"/>
                </a:moveTo>
                <a:cubicBezTo>
                  <a:pt x="66675" y="1539894"/>
                  <a:pt x="220980" y="6369"/>
                  <a:pt x="373380" y="19"/>
                </a:cubicBezTo>
                <a:cubicBezTo>
                  <a:pt x="525780" y="-6331"/>
                  <a:pt x="670560" y="1581804"/>
                  <a:pt x="762000" y="1943119"/>
                </a:cubicBezTo>
              </a:path>
            </a:pathLst>
          </a:cu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80000"/>
              </a:lnSpc>
              <a:spcBef>
                <a:spcPct val="20000"/>
              </a:spcBef>
              <a:buClr>
                <a:srgbClr val="FF0000"/>
              </a:buClr>
              <a:buSzPct val="100000"/>
            </a:pPr>
            <a:endParaRPr lang="zh-CN" altLang="en-US" dirty="0">
              <a:solidFill>
                <a:schemeClr val="bg1"/>
              </a:solidFill>
              <a:latin typeface="Tahoma" panose="020B0604030504040204"/>
              <a:ea typeface="方正大黑简体" panose="02000000000000000000" pitchFamily="65" charset="-122"/>
            </a:endParaRPr>
          </a:p>
        </p:txBody>
      </p:sp>
      <p:sp>
        <p:nvSpPr>
          <p:cNvPr id="57" name="任意多边形 56"/>
          <p:cNvSpPr/>
          <p:nvPr/>
        </p:nvSpPr>
        <p:spPr>
          <a:xfrm>
            <a:off x="3058795" y="1924050"/>
            <a:ext cx="250190" cy="549275"/>
          </a:xfrm>
          <a:custGeom>
            <a:avLst/>
            <a:gdLst>
              <a:gd name="connisteX0" fmla="*/ 0 w 762000"/>
              <a:gd name="connsiteY0" fmla="*/ 1973598 h 1973598"/>
              <a:gd name="connisteX1" fmla="*/ 373380 w 762000"/>
              <a:gd name="connsiteY1" fmla="*/ 18 h 1973598"/>
              <a:gd name="connisteX2" fmla="*/ 762000 w 762000"/>
              <a:gd name="connsiteY2" fmla="*/ 1943118 h 1973598"/>
              <a:gd name="connisteX3" fmla="*/ 830580 w 762000"/>
              <a:gd name="connsiteY3" fmla="*/ 1805958 h 197359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762000" h="1973599">
                <a:moveTo>
                  <a:pt x="0" y="1973599"/>
                </a:moveTo>
                <a:cubicBezTo>
                  <a:pt x="66675" y="1539894"/>
                  <a:pt x="220980" y="6369"/>
                  <a:pt x="373380" y="19"/>
                </a:cubicBezTo>
                <a:cubicBezTo>
                  <a:pt x="525780" y="-6331"/>
                  <a:pt x="670560" y="1581804"/>
                  <a:pt x="762000" y="1943119"/>
                </a:cubicBezTo>
              </a:path>
            </a:pathLst>
          </a:cu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80000"/>
              </a:lnSpc>
              <a:spcBef>
                <a:spcPct val="20000"/>
              </a:spcBef>
              <a:buClr>
                <a:srgbClr val="FF0000"/>
              </a:buClr>
              <a:buSzPct val="100000"/>
            </a:pPr>
            <a:endParaRPr lang="zh-CN" altLang="en-US" dirty="0">
              <a:solidFill>
                <a:schemeClr val="bg1"/>
              </a:solidFill>
              <a:latin typeface="Tahoma" panose="020B0604030504040204"/>
              <a:ea typeface="方正大黑简体" panose="02000000000000000000" pitchFamily="65" charset="-122"/>
            </a:endParaRPr>
          </a:p>
        </p:txBody>
      </p:sp>
      <p:sp>
        <p:nvSpPr>
          <p:cNvPr id="58" name="任意多边形 57"/>
          <p:cNvSpPr/>
          <p:nvPr/>
        </p:nvSpPr>
        <p:spPr>
          <a:xfrm>
            <a:off x="4253865" y="1918335"/>
            <a:ext cx="250190" cy="549275"/>
          </a:xfrm>
          <a:custGeom>
            <a:avLst/>
            <a:gdLst>
              <a:gd name="connisteX0" fmla="*/ 0 w 762000"/>
              <a:gd name="connsiteY0" fmla="*/ 1973598 h 1973598"/>
              <a:gd name="connisteX1" fmla="*/ 373380 w 762000"/>
              <a:gd name="connsiteY1" fmla="*/ 18 h 1973598"/>
              <a:gd name="connisteX2" fmla="*/ 762000 w 762000"/>
              <a:gd name="connsiteY2" fmla="*/ 1943118 h 1973598"/>
              <a:gd name="connisteX3" fmla="*/ 830580 w 762000"/>
              <a:gd name="connsiteY3" fmla="*/ 1805958 h 197359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762000" h="1973599">
                <a:moveTo>
                  <a:pt x="0" y="1973599"/>
                </a:moveTo>
                <a:cubicBezTo>
                  <a:pt x="66675" y="1539894"/>
                  <a:pt x="220980" y="6369"/>
                  <a:pt x="373380" y="19"/>
                </a:cubicBezTo>
                <a:cubicBezTo>
                  <a:pt x="525780" y="-6331"/>
                  <a:pt x="670560" y="1581804"/>
                  <a:pt x="762000" y="1943119"/>
                </a:cubicBezTo>
              </a:path>
            </a:pathLst>
          </a:cu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80000"/>
              </a:lnSpc>
              <a:spcBef>
                <a:spcPct val="20000"/>
              </a:spcBef>
              <a:buClr>
                <a:srgbClr val="FF0000"/>
              </a:buClr>
              <a:buSzPct val="100000"/>
            </a:pPr>
            <a:endParaRPr lang="zh-CN" altLang="en-US" dirty="0">
              <a:solidFill>
                <a:schemeClr val="bg1"/>
              </a:solidFill>
              <a:latin typeface="Tahoma" panose="020B0604030504040204"/>
              <a:ea typeface="方正大黑简体" panose="02000000000000000000" pitchFamily="65" charset="-122"/>
            </a:endParaRPr>
          </a:p>
        </p:txBody>
      </p:sp>
      <p:cxnSp>
        <p:nvCxnSpPr>
          <p:cNvPr id="59" name="直接连接符 58"/>
          <p:cNvCxnSpPr>
            <a:endCxn id="60" idx="0"/>
          </p:cNvCxnSpPr>
          <p:nvPr/>
        </p:nvCxnSpPr>
        <p:spPr>
          <a:xfrm flipV="1">
            <a:off x="1854835" y="3422650"/>
            <a:ext cx="294640" cy="635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0" name="任意多边形 59"/>
          <p:cNvSpPr/>
          <p:nvPr/>
        </p:nvSpPr>
        <p:spPr>
          <a:xfrm>
            <a:off x="2149475" y="2699385"/>
            <a:ext cx="2522855" cy="723265"/>
          </a:xfrm>
          <a:custGeom>
            <a:avLst/>
            <a:gdLst>
              <a:gd name="connisteX0" fmla="*/ 0 w 762000"/>
              <a:gd name="connsiteY0" fmla="*/ 1973598 h 1973598"/>
              <a:gd name="connisteX1" fmla="*/ 373380 w 762000"/>
              <a:gd name="connsiteY1" fmla="*/ 18 h 1973598"/>
              <a:gd name="connisteX2" fmla="*/ 762000 w 762000"/>
              <a:gd name="connsiteY2" fmla="*/ 1943118 h 1973598"/>
              <a:gd name="connisteX3" fmla="*/ 830580 w 762000"/>
              <a:gd name="connsiteY3" fmla="*/ 1805958 h 197359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762000" h="1973599">
                <a:moveTo>
                  <a:pt x="0" y="1973599"/>
                </a:moveTo>
                <a:cubicBezTo>
                  <a:pt x="66675" y="1539894"/>
                  <a:pt x="220980" y="6369"/>
                  <a:pt x="373380" y="19"/>
                </a:cubicBezTo>
                <a:cubicBezTo>
                  <a:pt x="525780" y="-6331"/>
                  <a:pt x="670560" y="1581804"/>
                  <a:pt x="762000" y="1943119"/>
                </a:cubicBezTo>
              </a:path>
            </a:pathLst>
          </a:cu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80000"/>
              </a:lnSpc>
              <a:spcBef>
                <a:spcPct val="20000"/>
              </a:spcBef>
              <a:buClr>
                <a:srgbClr val="FF0000"/>
              </a:buClr>
              <a:buSzPct val="100000"/>
            </a:pPr>
            <a:endParaRPr lang="zh-CN" altLang="en-US" dirty="0">
              <a:solidFill>
                <a:schemeClr val="bg1"/>
              </a:solidFill>
              <a:latin typeface="Tahoma" panose="020B0604030504040204"/>
              <a:ea typeface="方正大黑简体" panose="02000000000000000000" pitchFamily="65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1024255" y="2141855"/>
            <a:ext cx="850900" cy="5613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ctr">
              <a:lnSpc>
                <a:spcPct val="100000"/>
              </a:lnSpc>
              <a:buClr>
                <a:srgbClr val="FF0000"/>
              </a:buClr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小波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级分解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1027430" y="2997835"/>
            <a:ext cx="850900" cy="5613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ctr">
              <a:lnSpc>
                <a:spcPct val="100000"/>
              </a:lnSpc>
              <a:buClr>
                <a:srgbClr val="FF0000"/>
              </a:buClr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小波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级分解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3" name="直接连接符 62"/>
          <p:cNvCxnSpPr>
            <a:endCxn id="57" idx="0"/>
          </p:cNvCxnSpPr>
          <p:nvPr/>
        </p:nvCxnSpPr>
        <p:spPr>
          <a:xfrm>
            <a:off x="2592705" y="2469515"/>
            <a:ext cx="466090" cy="381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直接连接符 63"/>
          <p:cNvCxnSpPr>
            <a:endCxn id="58" idx="0"/>
          </p:cNvCxnSpPr>
          <p:nvPr/>
        </p:nvCxnSpPr>
        <p:spPr>
          <a:xfrm>
            <a:off x="3308985" y="2456180"/>
            <a:ext cx="944880" cy="1143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>
            <a:off x="4504055" y="2455545"/>
            <a:ext cx="453390" cy="635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flipV="1">
            <a:off x="4662805" y="3406775"/>
            <a:ext cx="294640" cy="635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5073650" y="2141855"/>
            <a:ext cx="2159000" cy="5613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ctr">
              <a:lnSpc>
                <a:spcPct val="100000"/>
              </a:lnSpc>
              <a:buClr>
                <a:srgbClr val="FF0000"/>
              </a:buClr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高频事件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ctr">
              <a:lnSpc>
                <a:spcPct val="100000"/>
              </a:lnSpc>
              <a:buClr>
                <a:srgbClr val="FF0000"/>
              </a:buClr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主裂缝快速扩展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5073650" y="2997835"/>
            <a:ext cx="2158365" cy="5613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ctr">
              <a:lnSpc>
                <a:spcPct val="100000"/>
              </a:lnSpc>
              <a:buClr>
                <a:srgbClr val="FF0000"/>
              </a:buClr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低频事件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ctr">
              <a:lnSpc>
                <a:spcPct val="100000"/>
              </a:lnSpc>
              <a:buClr>
                <a:srgbClr val="FF0000"/>
              </a:buClr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缝网形成、缓慢延伸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8080375" y="773430"/>
            <a:ext cx="269875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0" name="任意多边形 69"/>
          <p:cNvSpPr/>
          <p:nvPr/>
        </p:nvSpPr>
        <p:spPr>
          <a:xfrm>
            <a:off x="8354695" y="344170"/>
            <a:ext cx="2421890" cy="635635"/>
          </a:xfrm>
          <a:custGeom>
            <a:avLst/>
            <a:gdLst>
              <a:gd name="connisteX0" fmla="*/ 0 w 2255520"/>
              <a:gd name="connsiteY0" fmla="*/ 1905011 h 2805968"/>
              <a:gd name="connisteX1" fmla="*/ 396240 w 2255520"/>
              <a:gd name="connsiteY1" fmla="*/ 579131 h 2805968"/>
              <a:gd name="connisteX2" fmla="*/ 822960 w 2255520"/>
              <a:gd name="connsiteY2" fmla="*/ 2773691 h 2805968"/>
              <a:gd name="connisteX3" fmla="*/ 1112520 w 2255520"/>
              <a:gd name="connsiteY3" fmla="*/ 11 h 2805968"/>
              <a:gd name="connisteX4" fmla="*/ 1531620 w 2255520"/>
              <a:gd name="connsiteY4" fmla="*/ 2804171 h 2805968"/>
              <a:gd name="connisteX5" fmla="*/ 1859280 w 2255520"/>
              <a:gd name="connsiteY5" fmla="*/ 381011 h 2805968"/>
              <a:gd name="connisteX6" fmla="*/ 2255520 w 2255520"/>
              <a:gd name="connsiteY6" fmla="*/ 2164091 h 2805968"/>
              <a:gd name="connisteX7" fmla="*/ 2301240 w 2255520"/>
              <a:gd name="connsiteY7" fmla="*/ 2270771 h 280596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</a:cxnLst>
            <a:rect l="l" t="t" r="r" b="b"/>
            <a:pathLst>
              <a:path w="2255520" h="2805969">
                <a:moveTo>
                  <a:pt x="0" y="1905011"/>
                </a:moveTo>
                <a:cubicBezTo>
                  <a:pt x="70485" y="1595766"/>
                  <a:pt x="231775" y="405141"/>
                  <a:pt x="396240" y="579131"/>
                </a:cubicBezTo>
                <a:cubicBezTo>
                  <a:pt x="560705" y="753121"/>
                  <a:pt x="679450" y="2889261"/>
                  <a:pt x="822960" y="2773691"/>
                </a:cubicBezTo>
                <a:cubicBezTo>
                  <a:pt x="966470" y="2658121"/>
                  <a:pt x="970915" y="-6339"/>
                  <a:pt x="1112520" y="11"/>
                </a:cubicBezTo>
                <a:cubicBezTo>
                  <a:pt x="1254125" y="6361"/>
                  <a:pt x="1382395" y="2727971"/>
                  <a:pt x="1531620" y="2804171"/>
                </a:cubicBezTo>
                <a:cubicBezTo>
                  <a:pt x="1680845" y="2880371"/>
                  <a:pt x="1714500" y="509281"/>
                  <a:pt x="1859280" y="381011"/>
                </a:cubicBezTo>
                <a:cubicBezTo>
                  <a:pt x="2004060" y="252741"/>
                  <a:pt x="2167255" y="1786266"/>
                  <a:pt x="2255520" y="2164091"/>
                </a:cubicBezTo>
              </a:path>
            </a:pathLst>
          </a:cu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80000"/>
              </a:lnSpc>
              <a:spcBef>
                <a:spcPct val="20000"/>
              </a:spcBef>
              <a:buClr>
                <a:srgbClr val="FF0000"/>
              </a:buClr>
              <a:buSzPct val="100000"/>
            </a:pPr>
            <a:endParaRPr lang="zh-CN" altLang="en-US" dirty="0">
              <a:solidFill>
                <a:schemeClr val="bg1"/>
              </a:solidFill>
              <a:latin typeface="Tahoma" panose="020B0604030504040204"/>
              <a:ea typeface="方正大黑简体" panose="02000000000000000000" pitchFamily="65" charset="-122"/>
            </a:endParaRPr>
          </a:p>
        </p:txBody>
      </p:sp>
      <p:cxnSp>
        <p:nvCxnSpPr>
          <p:cNvPr id="71" name="直接连接符 70"/>
          <p:cNvCxnSpPr>
            <a:stCxn id="70" idx="6"/>
          </p:cNvCxnSpPr>
          <p:nvPr/>
        </p:nvCxnSpPr>
        <p:spPr>
          <a:xfrm>
            <a:off x="10776585" y="834390"/>
            <a:ext cx="244475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72" name="组合 71"/>
          <p:cNvGrpSpPr/>
          <p:nvPr/>
        </p:nvGrpSpPr>
        <p:grpSpPr>
          <a:xfrm>
            <a:off x="9254490" y="588645"/>
            <a:ext cx="250190" cy="217805"/>
            <a:chOff x="3781" y="5992"/>
            <a:chExt cx="710" cy="1832"/>
          </a:xfrm>
        </p:grpSpPr>
        <p:cxnSp>
          <p:nvCxnSpPr>
            <p:cNvPr id="73" name="直接连接符 72"/>
            <p:cNvCxnSpPr/>
            <p:nvPr/>
          </p:nvCxnSpPr>
          <p:spPr>
            <a:xfrm flipH="1">
              <a:off x="3781" y="6656"/>
              <a:ext cx="90" cy="739"/>
            </a:xfrm>
            <a:prstGeom prst="line">
              <a:avLst/>
            </a:prstGeom>
            <a:ln w="1905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>
              <a:off x="3879" y="6660"/>
              <a:ext cx="109" cy="1134"/>
            </a:xfrm>
            <a:prstGeom prst="line">
              <a:avLst/>
            </a:prstGeom>
            <a:ln w="1905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flipV="1">
              <a:off x="3988" y="6000"/>
              <a:ext cx="151" cy="1794"/>
            </a:xfrm>
            <a:prstGeom prst="line">
              <a:avLst/>
            </a:prstGeom>
            <a:ln w="1905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>
              <a:off x="4155" y="5992"/>
              <a:ext cx="116" cy="1828"/>
            </a:xfrm>
            <a:prstGeom prst="line">
              <a:avLst/>
            </a:prstGeom>
            <a:ln w="1905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>
              <a:off x="4269" y="6684"/>
              <a:ext cx="170" cy="1140"/>
            </a:xfrm>
            <a:prstGeom prst="line">
              <a:avLst/>
            </a:prstGeom>
            <a:ln w="1905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>
              <a:off x="4447" y="6685"/>
              <a:ext cx="44" cy="663"/>
            </a:xfrm>
            <a:prstGeom prst="line">
              <a:avLst/>
            </a:prstGeom>
            <a:ln w="1905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79" name="组合 78"/>
          <p:cNvGrpSpPr/>
          <p:nvPr/>
        </p:nvGrpSpPr>
        <p:grpSpPr>
          <a:xfrm>
            <a:off x="10482580" y="461010"/>
            <a:ext cx="201295" cy="210185"/>
            <a:chOff x="3781" y="5992"/>
            <a:chExt cx="710" cy="1832"/>
          </a:xfrm>
        </p:grpSpPr>
        <p:cxnSp>
          <p:nvCxnSpPr>
            <p:cNvPr id="80" name="直接连接符 79"/>
            <p:cNvCxnSpPr/>
            <p:nvPr/>
          </p:nvCxnSpPr>
          <p:spPr>
            <a:xfrm flipH="1">
              <a:off x="3781" y="6656"/>
              <a:ext cx="90" cy="739"/>
            </a:xfrm>
            <a:prstGeom prst="line">
              <a:avLst/>
            </a:prstGeom>
            <a:ln w="1905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>
              <a:off x="3879" y="6660"/>
              <a:ext cx="109" cy="1134"/>
            </a:xfrm>
            <a:prstGeom prst="line">
              <a:avLst/>
            </a:prstGeom>
            <a:ln w="1905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 flipV="1">
              <a:off x="3988" y="6000"/>
              <a:ext cx="151" cy="1794"/>
            </a:xfrm>
            <a:prstGeom prst="line">
              <a:avLst/>
            </a:prstGeom>
            <a:ln w="1905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>
              <a:off x="4155" y="5992"/>
              <a:ext cx="116" cy="1828"/>
            </a:xfrm>
            <a:prstGeom prst="line">
              <a:avLst/>
            </a:prstGeom>
            <a:ln w="1905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 flipH="1">
              <a:off x="4269" y="6684"/>
              <a:ext cx="170" cy="1140"/>
            </a:xfrm>
            <a:prstGeom prst="line">
              <a:avLst/>
            </a:prstGeom>
            <a:ln w="1905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>
              <a:off x="4447" y="6685"/>
              <a:ext cx="44" cy="663"/>
            </a:xfrm>
            <a:prstGeom prst="line">
              <a:avLst/>
            </a:prstGeom>
            <a:ln w="1905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86" name="组合 85"/>
          <p:cNvGrpSpPr/>
          <p:nvPr/>
        </p:nvGrpSpPr>
        <p:grpSpPr>
          <a:xfrm>
            <a:off x="8534400" y="389255"/>
            <a:ext cx="250190" cy="255905"/>
            <a:chOff x="3781" y="5992"/>
            <a:chExt cx="710" cy="1832"/>
          </a:xfrm>
        </p:grpSpPr>
        <p:cxnSp>
          <p:nvCxnSpPr>
            <p:cNvPr id="87" name="直接连接符 86"/>
            <p:cNvCxnSpPr/>
            <p:nvPr/>
          </p:nvCxnSpPr>
          <p:spPr>
            <a:xfrm flipH="1">
              <a:off x="3781" y="6656"/>
              <a:ext cx="90" cy="739"/>
            </a:xfrm>
            <a:prstGeom prst="line">
              <a:avLst/>
            </a:prstGeom>
            <a:ln w="1905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>
              <a:off x="3879" y="6660"/>
              <a:ext cx="109" cy="1134"/>
            </a:xfrm>
            <a:prstGeom prst="line">
              <a:avLst/>
            </a:prstGeom>
            <a:ln w="1905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 flipV="1">
              <a:off x="3988" y="6000"/>
              <a:ext cx="151" cy="1794"/>
            </a:xfrm>
            <a:prstGeom prst="line">
              <a:avLst/>
            </a:prstGeom>
            <a:ln w="1905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>
              <a:off x="4155" y="5992"/>
              <a:ext cx="116" cy="1828"/>
            </a:xfrm>
            <a:prstGeom prst="line">
              <a:avLst/>
            </a:prstGeom>
            <a:ln w="1905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/>
          </p:nvCxnSpPr>
          <p:spPr>
            <a:xfrm flipH="1">
              <a:off x="4269" y="6684"/>
              <a:ext cx="170" cy="1140"/>
            </a:xfrm>
            <a:prstGeom prst="line">
              <a:avLst/>
            </a:prstGeom>
            <a:ln w="1905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/>
          </p:nvCxnSpPr>
          <p:spPr>
            <a:xfrm>
              <a:off x="4447" y="6685"/>
              <a:ext cx="44" cy="663"/>
            </a:xfrm>
            <a:prstGeom prst="line">
              <a:avLst/>
            </a:prstGeom>
            <a:ln w="1905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cxnSp>
        <p:nvCxnSpPr>
          <p:cNvPr id="93" name="直接连接符 92"/>
          <p:cNvCxnSpPr/>
          <p:nvPr/>
        </p:nvCxnSpPr>
        <p:spPr>
          <a:xfrm flipV="1">
            <a:off x="8790305" y="1279525"/>
            <a:ext cx="2268220" cy="2540"/>
          </a:xfrm>
          <a:prstGeom prst="line">
            <a:avLst/>
          </a:prstGeom>
          <a:ln w="19050" cap="rnd">
            <a:solidFill>
              <a:srgbClr val="0000FF"/>
            </a:solidFill>
            <a:round/>
            <a:headEnd type="none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/>
        </p:nvCxnSpPr>
        <p:spPr>
          <a:xfrm flipV="1">
            <a:off x="8061960" y="1783080"/>
            <a:ext cx="1195705" cy="635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5" name="文本框 94"/>
          <p:cNvSpPr txBox="1"/>
          <p:nvPr/>
        </p:nvSpPr>
        <p:spPr>
          <a:xfrm>
            <a:off x="7230745" y="584835"/>
            <a:ext cx="852805" cy="294005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ctr">
              <a:lnSpc>
                <a:spcPct val="100000"/>
              </a:lnSpc>
              <a:buClr>
                <a:srgbClr val="FF0000"/>
              </a:buClr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压力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7232015" y="1086485"/>
            <a:ext cx="850900" cy="294005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ctr">
              <a:lnSpc>
                <a:spcPct val="100000"/>
              </a:lnSpc>
              <a:buClr>
                <a:srgbClr val="FF0000"/>
              </a:buClr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排量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7231380" y="1588135"/>
            <a:ext cx="850900" cy="294005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ctr">
              <a:lnSpc>
                <a:spcPct val="100000"/>
              </a:lnSpc>
              <a:buClr>
                <a:srgbClr val="FF0000"/>
              </a:buClr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砂浓度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99" name="直接连接符 98"/>
          <p:cNvCxnSpPr/>
          <p:nvPr/>
        </p:nvCxnSpPr>
        <p:spPr>
          <a:xfrm>
            <a:off x="8670290" y="280670"/>
            <a:ext cx="0" cy="3328035"/>
          </a:xfrm>
          <a:prstGeom prst="line">
            <a:avLst/>
          </a:prstGeom>
          <a:ln w="31750" cap="rnd">
            <a:solidFill>
              <a:srgbClr val="7030A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0" name="直接连接符 99"/>
          <p:cNvCxnSpPr/>
          <p:nvPr/>
        </p:nvCxnSpPr>
        <p:spPr>
          <a:xfrm>
            <a:off x="9389110" y="276225"/>
            <a:ext cx="0" cy="3307715"/>
          </a:xfrm>
          <a:prstGeom prst="line">
            <a:avLst/>
          </a:prstGeom>
          <a:ln w="31750" cap="rnd">
            <a:solidFill>
              <a:srgbClr val="7030A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1" name="直接连接符 100"/>
          <p:cNvCxnSpPr/>
          <p:nvPr/>
        </p:nvCxnSpPr>
        <p:spPr>
          <a:xfrm>
            <a:off x="10581005" y="257175"/>
            <a:ext cx="0" cy="3338830"/>
          </a:xfrm>
          <a:prstGeom prst="line">
            <a:avLst/>
          </a:prstGeom>
          <a:ln w="31750" cap="rnd">
            <a:solidFill>
              <a:srgbClr val="7030A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3" name="任意多边形 102"/>
          <p:cNvSpPr/>
          <p:nvPr/>
        </p:nvSpPr>
        <p:spPr>
          <a:xfrm>
            <a:off x="9264015" y="1948815"/>
            <a:ext cx="250190" cy="549275"/>
          </a:xfrm>
          <a:custGeom>
            <a:avLst/>
            <a:gdLst>
              <a:gd name="connisteX0" fmla="*/ 0 w 762000"/>
              <a:gd name="connsiteY0" fmla="*/ 1973598 h 1973598"/>
              <a:gd name="connisteX1" fmla="*/ 373380 w 762000"/>
              <a:gd name="connsiteY1" fmla="*/ 18 h 1973598"/>
              <a:gd name="connisteX2" fmla="*/ 762000 w 762000"/>
              <a:gd name="connsiteY2" fmla="*/ 1943118 h 1973598"/>
              <a:gd name="connisteX3" fmla="*/ 830580 w 762000"/>
              <a:gd name="connsiteY3" fmla="*/ 1805958 h 197359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762000" h="1973599">
                <a:moveTo>
                  <a:pt x="0" y="1973599"/>
                </a:moveTo>
                <a:cubicBezTo>
                  <a:pt x="66675" y="1539894"/>
                  <a:pt x="220980" y="6369"/>
                  <a:pt x="373380" y="19"/>
                </a:cubicBezTo>
                <a:cubicBezTo>
                  <a:pt x="525780" y="-6331"/>
                  <a:pt x="670560" y="1581804"/>
                  <a:pt x="762000" y="1943119"/>
                </a:cubicBezTo>
              </a:path>
            </a:pathLst>
          </a:cu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80000"/>
              </a:lnSpc>
              <a:spcBef>
                <a:spcPct val="20000"/>
              </a:spcBef>
              <a:buClr>
                <a:srgbClr val="FF0000"/>
              </a:buClr>
              <a:buSzPct val="100000"/>
            </a:pPr>
            <a:endParaRPr lang="zh-CN" altLang="en-US" dirty="0">
              <a:solidFill>
                <a:schemeClr val="bg1"/>
              </a:solidFill>
              <a:latin typeface="Tahoma" panose="020B0604030504040204"/>
              <a:ea typeface="方正大黑简体" panose="02000000000000000000" pitchFamily="65" charset="-122"/>
            </a:endParaRPr>
          </a:p>
        </p:txBody>
      </p:sp>
      <p:sp>
        <p:nvSpPr>
          <p:cNvPr id="104" name="任意多边形 103"/>
          <p:cNvSpPr/>
          <p:nvPr/>
        </p:nvSpPr>
        <p:spPr>
          <a:xfrm>
            <a:off x="10459085" y="1943100"/>
            <a:ext cx="250190" cy="549275"/>
          </a:xfrm>
          <a:custGeom>
            <a:avLst/>
            <a:gdLst>
              <a:gd name="connisteX0" fmla="*/ 0 w 762000"/>
              <a:gd name="connsiteY0" fmla="*/ 1973598 h 1973598"/>
              <a:gd name="connisteX1" fmla="*/ 373380 w 762000"/>
              <a:gd name="connsiteY1" fmla="*/ 18 h 1973598"/>
              <a:gd name="connisteX2" fmla="*/ 762000 w 762000"/>
              <a:gd name="connsiteY2" fmla="*/ 1943118 h 1973598"/>
              <a:gd name="connisteX3" fmla="*/ 830580 w 762000"/>
              <a:gd name="connsiteY3" fmla="*/ 1805958 h 197359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762000" h="1973599">
                <a:moveTo>
                  <a:pt x="0" y="1973599"/>
                </a:moveTo>
                <a:cubicBezTo>
                  <a:pt x="66675" y="1539894"/>
                  <a:pt x="220980" y="6369"/>
                  <a:pt x="373380" y="19"/>
                </a:cubicBezTo>
                <a:cubicBezTo>
                  <a:pt x="525780" y="-6331"/>
                  <a:pt x="670560" y="1581804"/>
                  <a:pt x="762000" y="1943119"/>
                </a:cubicBezTo>
              </a:path>
            </a:pathLst>
          </a:cu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80000"/>
              </a:lnSpc>
              <a:spcBef>
                <a:spcPct val="20000"/>
              </a:spcBef>
              <a:buClr>
                <a:srgbClr val="FF0000"/>
              </a:buClr>
              <a:buSzPct val="100000"/>
            </a:pPr>
            <a:endParaRPr lang="zh-CN" altLang="en-US" dirty="0">
              <a:solidFill>
                <a:schemeClr val="bg1"/>
              </a:solidFill>
              <a:latin typeface="Tahoma" panose="020B0604030504040204"/>
              <a:ea typeface="方正大黑简体" panose="02000000000000000000" pitchFamily="65" charset="-122"/>
            </a:endParaRPr>
          </a:p>
        </p:txBody>
      </p:sp>
      <p:cxnSp>
        <p:nvCxnSpPr>
          <p:cNvPr id="105" name="直接连接符 104"/>
          <p:cNvCxnSpPr>
            <a:endCxn id="106" idx="0"/>
          </p:cNvCxnSpPr>
          <p:nvPr/>
        </p:nvCxnSpPr>
        <p:spPr>
          <a:xfrm flipV="1">
            <a:off x="8060055" y="3447415"/>
            <a:ext cx="294640" cy="635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6" name="任意多边形 105"/>
          <p:cNvSpPr/>
          <p:nvPr/>
        </p:nvSpPr>
        <p:spPr>
          <a:xfrm>
            <a:off x="8354695" y="2724150"/>
            <a:ext cx="899795" cy="723265"/>
          </a:xfrm>
          <a:custGeom>
            <a:avLst/>
            <a:gdLst>
              <a:gd name="connisteX0" fmla="*/ 0 w 762000"/>
              <a:gd name="connsiteY0" fmla="*/ 1973598 h 1973598"/>
              <a:gd name="connisteX1" fmla="*/ 373380 w 762000"/>
              <a:gd name="connsiteY1" fmla="*/ 18 h 1973598"/>
              <a:gd name="connisteX2" fmla="*/ 762000 w 762000"/>
              <a:gd name="connsiteY2" fmla="*/ 1943118 h 1973598"/>
              <a:gd name="connisteX3" fmla="*/ 830580 w 762000"/>
              <a:gd name="connsiteY3" fmla="*/ 1805958 h 197359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762000" h="1973599">
                <a:moveTo>
                  <a:pt x="0" y="1973599"/>
                </a:moveTo>
                <a:cubicBezTo>
                  <a:pt x="66675" y="1539894"/>
                  <a:pt x="220980" y="6369"/>
                  <a:pt x="373380" y="19"/>
                </a:cubicBezTo>
                <a:cubicBezTo>
                  <a:pt x="525780" y="-6331"/>
                  <a:pt x="670560" y="1581804"/>
                  <a:pt x="762000" y="1943119"/>
                </a:cubicBezTo>
              </a:path>
            </a:pathLst>
          </a:cu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80000"/>
              </a:lnSpc>
              <a:spcBef>
                <a:spcPct val="20000"/>
              </a:spcBef>
              <a:buClr>
                <a:srgbClr val="FF0000"/>
              </a:buClr>
              <a:buSzPct val="100000"/>
            </a:pPr>
            <a:endParaRPr lang="zh-CN" altLang="en-US" dirty="0">
              <a:solidFill>
                <a:schemeClr val="bg1"/>
              </a:solidFill>
              <a:latin typeface="Tahoma" panose="020B0604030504040204"/>
              <a:ea typeface="方正大黑简体" panose="02000000000000000000" pitchFamily="65" charset="-122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7232650" y="2162810"/>
            <a:ext cx="850900" cy="5613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ctr">
              <a:lnSpc>
                <a:spcPct val="100000"/>
              </a:lnSpc>
              <a:buClr>
                <a:srgbClr val="FF0000"/>
              </a:buClr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小波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级分解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7232650" y="3022600"/>
            <a:ext cx="850900" cy="5613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ctr">
              <a:lnSpc>
                <a:spcPct val="100000"/>
              </a:lnSpc>
              <a:buClr>
                <a:srgbClr val="FF0000"/>
              </a:buClr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小波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级分解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9" name="直接连接符 108"/>
          <p:cNvCxnSpPr>
            <a:endCxn id="103" idx="0"/>
          </p:cNvCxnSpPr>
          <p:nvPr/>
        </p:nvCxnSpPr>
        <p:spPr>
          <a:xfrm flipV="1">
            <a:off x="8081645" y="2498090"/>
            <a:ext cx="1182370" cy="3175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0" name="直接连接符 109"/>
          <p:cNvCxnSpPr>
            <a:endCxn id="104" idx="0"/>
          </p:cNvCxnSpPr>
          <p:nvPr/>
        </p:nvCxnSpPr>
        <p:spPr>
          <a:xfrm>
            <a:off x="9514205" y="2480945"/>
            <a:ext cx="944880" cy="1143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1" name="直接连接符 110"/>
          <p:cNvCxnSpPr/>
          <p:nvPr/>
        </p:nvCxnSpPr>
        <p:spPr>
          <a:xfrm>
            <a:off x="10709275" y="2480310"/>
            <a:ext cx="453390" cy="635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2" name="直接连接符 111"/>
          <p:cNvCxnSpPr/>
          <p:nvPr/>
        </p:nvCxnSpPr>
        <p:spPr>
          <a:xfrm flipV="1">
            <a:off x="10868025" y="3431540"/>
            <a:ext cx="294640" cy="635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15" name="组合 114"/>
          <p:cNvGrpSpPr/>
          <p:nvPr/>
        </p:nvGrpSpPr>
        <p:grpSpPr>
          <a:xfrm>
            <a:off x="8534400" y="1095375"/>
            <a:ext cx="250190" cy="255905"/>
            <a:chOff x="3781" y="5992"/>
            <a:chExt cx="710" cy="1832"/>
          </a:xfrm>
        </p:grpSpPr>
        <p:cxnSp>
          <p:nvCxnSpPr>
            <p:cNvPr id="116" name="直接连接符 115"/>
            <p:cNvCxnSpPr/>
            <p:nvPr/>
          </p:nvCxnSpPr>
          <p:spPr>
            <a:xfrm flipH="1">
              <a:off x="3781" y="6656"/>
              <a:ext cx="90" cy="739"/>
            </a:xfrm>
            <a:prstGeom prst="line">
              <a:avLst/>
            </a:prstGeom>
            <a:ln w="19050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7" name="直接连接符 116"/>
            <p:cNvCxnSpPr/>
            <p:nvPr/>
          </p:nvCxnSpPr>
          <p:spPr>
            <a:xfrm>
              <a:off x="3879" y="6660"/>
              <a:ext cx="109" cy="1134"/>
            </a:xfrm>
            <a:prstGeom prst="line">
              <a:avLst/>
            </a:prstGeom>
            <a:ln w="19050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/>
            <p:nvPr/>
          </p:nvCxnSpPr>
          <p:spPr>
            <a:xfrm flipV="1">
              <a:off x="3988" y="6000"/>
              <a:ext cx="151" cy="1794"/>
            </a:xfrm>
            <a:prstGeom prst="line">
              <a:avLst/>
            </a:prstGeom>
            <a:ln w="19050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/>
            <p:nvPr/>
          </p:nvCxnSpPr>
          <p:spPr>
            <a:xfrm>
              <a:off x="4155" y="5992"/>
              <a:ext cx="116" cy="1828"/>
            </a:xfrm>
            <a:prstGeom prst="line">
              <a:avLst/>
            </a:prstGeom>
            <a:ln w="19050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/>
            <p:nvPr/>
          </p:nvCxnSpPr>
          <p:spPr>
            <a:xfrm flipH="1">
              <a:off x="4269" y="6684"/>
              <a:ext cx="170" cy="1140"/>
            </a:xfrm>
            <a:prstGeom prst="line">
              <a:avLst/>
            </a:prstGeom>
            <a:ln w="19050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1" name="直接连接符 120"/>
            <p:cNvCxnSpPr/>
            <p:nvPr/>
          </p:nvCxnSpPr>
          <p:spPr>
            <a:xfrm>
              <a:off x="4447" y="6685"/>
              <a:ext cx="44" cy="663"/>
            </a:xfrm>
            <a:prstGeom prst="line">
              <a:avLst/>
            </a:prstGeom>
            <a:ln w="19050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cxnSp>
        <p:nvCxnSpPr>
          <p:cNvPr id="122" name="直接连接符 121"/>
          <p:cNvCxnSpPr/>
          <p:nvPr/>
        </p:nvCxnSpPr>
        <p:spPr>
          <a:xfrm flipV="1">
            <a:off x="8080375" y="1284605"/>
            <a:ext cx="443865" cy="635"/>
          </a:xfrm>
          <a:prstGeom prst="line">
            <a:avLst/>
          </a:prstGeom>
          <a:ln w="19050" cap="rnd">
            <a:solidFill>
              <a:srgbClr val="0000FF"/>
            </a:solidFill>
            <a:round/>
            <a:headEnd type="none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3" name="直接连接符 122"/>
          <p:cNvCxnSpPr/>
          <p:nvPr/>
        </p:nvCxnSpPr>
        <p:spPr>
          <a:xfrm flipV="1">
            <a:off x="9253855" y="1622425"/>
            <a:ext cx="242570" cy="16129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6" name="直接连接符 125"/>
          <p:cNvCxnSpPr/>
          <p:nvPr/>
        </p:nvCxnSpPr>
        <p:spPr>
          <a:xfrm flipV="1">
            <a:off x="9489440" y="1565275"/>
            <a:ext cx="320040" cy="5715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7" name="直接连接符 126"/>
          <p:cNvCxnSpPr/>
          <p:nvPr/>
        </p:nvCxnSpPr>
        <p:spPr>
          <a:xfrm flipV="1">
            <a:off x="9806940" y="1399540"/>
            <a:ext cx="200025" cy="165735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0" name="直接连接符 129"/>
          <p:cNvCxnSpPr/>
          <p:nvPr/>
        </p:nvCxnSpPr>
        <p:spPr>
          <a:xfrm>
            <a:off x="10006965" y="1401445"/>
            <a:ext cx="1054100" cy="127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4" name="任意多边形 133"/>
          <p:cNvSpPr/>
          <p:nvPr/>
        </p:nvSpPr>
        <p:spPr>
          <a:xfrm>
            <a:off x="10031730" y="2717165"/>
            <a:ext cx="836295" cy="723265"/>
          </a:xfrm>
          <a:custGeom>
            <a:avLst/>
            <a:gdLst>
              <a:gd name="connisteX0" fmla="*/ 0 w 762000"/>
              <a:gd name="connsiteY0" fmla="*/ 1973598 h 1973598"/>
              <a:gd name="connisteX1" fmla="*/ 373380 w 762000"/>
              <a:gd name="connsiteY1" fmla="*/ 18 h 1973598"/>
              <a:gd name="connisteX2" fmla="*/ 762000 w 762000"/>
              <a:gd name="connsiteY2" fmla="*/ 1943118 h 1973598"/>
              <a:gd name="connisteX3" fmla="*/ 830580 w 762000"/>
              <a:gd name="connsiteY3" fmla="*/ 1805958 h 197359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762000" h="1973599">
                <a:moveTo>
                  <a:pt x="0" y="1973599"/>
                </a:moveTo>
                <a:cubicBezTo>
                  <a:pt x="66675" y="1539894"/>
                  <a:pt x="220980" y="6369"/>
                  <a:pt x="373380" y="19"/>
                </a:cubicBezTo>
                <a:cubicBezTo>
                  <a:pt x="525780" y="-6331"/>
                  <a:pt x="670560" y="1581804"/>
                  <a:pt x="762000" y="1943119"/>
                </a:cubicBezTo>
              </a:path>
            </a:pathLst>
          </a:cu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80000"/>
              </a:lnSpc>
              <a:spcBef>
                <a:spcPct val="20000"/>
              </a:spcBef>
              <a:buClr>
                <a:srgbClr val="FF0000"/>
              </a:buClr>
              <a:buSzPct val="100000"/>
            </a:pPr>
            <a:endParaRPr lang="zh-CN" altLang="en-US" dirty="0">
              <a:solidFill>
                <a:schemeClr val="bg1"/>
              </a:solidFill>
              <a:latin typeface="Tahoma" panose="020B0604030504040204"/>
              <a:ea typeface="方正大黑简体" panose="02000000000000000000" pitchFamily="65" charset="-122"/>
            </a:endParaRPr>
          </a:p>
        </p:txBody>
      </p:sp>
      <p:cxnSp>
        <p:nvCxnSpPr>
          <p:cNvPr id="135" name="直接连接符 134"/>
          <p:cNvCxnSpPr>
            <a:stCxn id="106" idx="2"/>
            <a:endCxn id="134" idx="0"/>
          </p:cNvCxnSpPr>
          <p:nvPr/>
        </p:nvCxnSpPr>
        <p:spPr>
          <a:xfrm>
            <a:off x="9254490" y="3435985"/>
            <a:ext cx="777240" cy="4445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6" name="矩形 135"/>
          <p:cNvSpPr/>
          <p:nvPr/>
        </p:nvSpPr>
        <p:spPr>
          <a:xfrm>
            <a:off x="8507730" y="226695"/>
            <a:ext cx="283210" cy="2369185"/>
          </a:xfrm>
          <a:prstGeom prst="rect">
            <a:avLst/>
          </a:prstGeom>
          <a:solidFill>
            <a:schemeClr val="accent2">
              <a:alpha val="50000"/>
            </a:schemeClr>
          </a:solidFill>
        </p:spPr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80000"/>
              </a:lnSpc>
              <a:spcBef>
                <a:spcPct val="20000"/>
              </a:spcBef>
              <a:buClr>
                <a:srgbClr val="FF0000"/>
              </a:buClr>
              <a:buSzPct val="100000"/>
            </a:pPr>
            <a:endParaRPr lang="zh-CN" altLang="en-US" dirty="0">
              <a:solidFill>
                <a:schemeClr val="bg1"/>
              </a:solidFill>
              <a:latin typeface="Tahoma" panose="020B0604030504040204"/>
              <a:ea typeface="方正大黑简体" panose="02000000000000000000" pitchFamily="65" charset="-122"/>
            </a:endParaRPr>
          </a:p>
        </p:txBody>
      </p:sp>
      <p:sp>
        <p:nvSpPr>
          <p:cNvPr id="137" name="矩形 136"/>
          <p:cNvSpPr/>
          <p:nvPr/>
        </p:nvSpPr>
        <p:spPr>
          <a:xfrm>
            <a:off x="9253855" y="232410"/>
            <a:ext cx="778510" cy="1625600"/>
          </a:xfrm>
          <a:prstGeom prst="rect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</p:spPr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80000"/>
              </a:lnSpc>
              <a:spcBef>
                <a:spcPct val="20000"/>
              </a:spcBef>
              <a:buClr>
                <a:srgbClr val="FF0000"/>
              </a:buClr>
              <a:buSzPct val="100000"/>
            </a:pPr>
            <a:endParaRPr lang="zh-CN" altLang="en-US" dirty="0">
              <a:solidFill>
                <a:schemeClr val="bg1"/>
              </a:solidFill>
              <a:latin typeface="Tahoma" panose="020B0604030504040204"/>
              <a:ea typeface="方正大黑简体" panose="02000000000000000000" pitchFamily="65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2596515" y="1280795"/>
            <a:ext cx="2268220" cy="2540"/>
          </a:xfrm>
          <a:prstGeom prst="line">
            <a:avLst/>
          </a:prstGeom>
          <a:ln w="19050" cap="rnd">
            <a:solidFill>
              <a:srgbClr val="0000FF"/>
            </a:solidFill>
            <a:round/>
            <a:headEnd type="none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V="1">
            <a:off x="1868170" y="1784350"/>
            <a:ext cx="1195705" cy="635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/>
        </p:nvGrpSpPr>
        <p:grpSpPr>
          <a:xfrm>
            <a:off x="2340610" y="1096645"/>
            <a:ext cx="250190" cy="255905"/>
            <a:chOff x="3781" y="5992"/>
            <a:chExt cx="710" cy="1832"/>
          </a:xfrm>
        </p:grpSpPr>
        <p:cxnSp>
          <p:nvCxnSpPr>
            <p:cNvPr id="9" name="直接连接符 8"/>
            <p:cNvCxnSpPr/>
            <p:nvPr/>
          </p:nvCxnSpPr>
          <p:spPr>
            <a:xfrm flipH="1">
              <a:off x="3781" y="6656"/>
              <a:ext cx="90" cy="739"/>
            </a:xfrm>
            <a:prstGeom prst="line">
              <a:avLst/>
            </a:prstGeom>
            <a:ln w="19050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3879" y="6660"/>
              <a:ext cx="109" cy="1134"/>
            </a:xfrm>
            <a:prstGeom prst="line">
              <a:avLst/>
            </a:prstGeom>
            <a:ln w="19050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V="1">
              <a:off x="3988" y="6000"/>
              <a:ext cx="151" cy="1794"/>
            </a:xfrm>
            <a:prstGeom prst="line">
              <a:avLst/>
            </a:prstGeom>
            <a:ln w="19050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4155" y="5992"/>
              <a:ext cx="116" cy="1828"/>
            </a:xfrm>
            <a:prstGeom prst="line">
              <a:avLst/>
            </a:prstGeom>
            <a:ln w="19050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H="1">
              <a:off x="4269" y="6684"/>
              <a:ext cx="170" cy="1140"/>
            </a:xfrm>
            <a:prstGeom prst="line">
              <a:avLst/>
            </a:prstGeom>
            <a:ln w="19050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4447" y="6685"/>
              <a:ext cx="44" cy="663"/>
            </a:xfrm>
            <a:prstGeom prst="line">
              <a:avLst/>
            </a:prstGeom>
            <a:ln w="19050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cxnSp>
        <p:nvCxnSpPr>
          <p:cNvPr id="19" name="直接连接符 18"/>
          <p:cNvCxnSpPr/>
          <p:nvPr/>
        </p:nvCxnSpPr>
        <p:spPr>
          <a:xfrm flipV="1">
            <a:off x="1886585" y="1285875"/>
            <a:ext cx="443865" cy="635"/>
          </a:xfrm>
          <a:prstGeom prst="line">
            <a:avLst/>
          </a:prstGeom>
          <a:ln w="19050" cap="rnd">
            <a:solidFill>
              <a:srgbClr val="0000FF"/>
            </a:solidFill>
            <a:round/>
            <a:headEnd type="none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V="1">
            <a:off x="3060065" y="1623695"/>
            <a:ext cx="242570" cy="16129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V="1">
            <a:off x="3295650" y="1566545"/>
            <a:ext cx="320040" cy="5715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 flipV="1">
            <a:off x="3613150" y="1400810"/>
            <a:ext cx="200025" cy="165735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3813175" y="1402715"/>
            <a:ext cx="1054100" cy="127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9253855" y="2595880"/>
            <a:ext cx="778510" cy="1106170"/>
          </a:xfrm>
          <a:prstGeom prst="rect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</p:spPr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80000"/>
              </a:lnSpc>
              <a:spcBef>
                <a:spcPct val="20000"/>
              </a:spcBef>
              <a:buClr>
                <a:srgbClr val="FF0000"/>
              </a:buClr>
              <a:buSzPct val="100000"/>
            </a:pPr>
            <a:endParaRPr lang="zh-CN" altLang="en-US" dirty="0">
              <a:solidFill>
                <a:schemeClr val="bg1"/>
              </a:solidFill>
              <a:latin typeface="Tahoma" panose="020B0604030504040204"/>
              <a:ea typeface="方正大黑简体" panose="02000000000000000000" pitchFamily="65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9606280" y="1948815"/>
            <a:ext cx="852805" cy="294005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ctr">
              <a:lnSpc>
                <a:spcPct val="100000"/>
              </a:lnSpc>
              <a:buClr>
                <a:srgbClr val="FF0000"/>
              </a:buClr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压力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4" name="图片 113" descr="test01"/>
          <p:cNvPicPr/>
          <p:nvPr/>
        </p:nvPicPr>
        <p:blipFill>
          <a:blip r:embed="rId1"/>
          <a:stretch>
            <a:fillRect/>
          </a:stretch>
        </p:blipFill>
        <p:spPr>
          <a:xfrm>
            <a:off x="8492490" y="4390707"/>
            <a:ext cx="3060000" cy="2160000"/>
          </a:xfrm>
          <a:prstGeom prst="rect">
            <a:avLst/>
          </a:prstGeom>
        </p:spPr>
      </p:pic>
      <p:pic>
        <p:nvPicPr>
          <p:cNvPr id="124" name="图片 123" descr="test02"/>
          <p:cNvPicPr/>
          <p:nvPr/>
        </p:nvPicPr>
        <p:blipFill>
          <a:blip r:embed="rId2"/>
          <a:stretch>
            <a:fillRect/>
          </a:stretch>
        </p:blipFill>
        <p:spPr>
          <a:xfrm>
            <a:off x="4898514" y="4392397"/>
            <a:ext cx="3060000" cy="2160000"/>
          </a:xfrm>
          <a:prstGeom prst="rect">
            <a:avLst/>
          </a:prstGeom>
        </p:spPr>
      </p:pic>
      <p:pic>
        <p:nvPicPr>
          <p:cNvPr id="125" name="图片 124" descr="test01"/>
          <p:cNvPicPr/>
          <p:nvPr/>
        </p:nvPicPr>
        <p:blipFill>
          <a:blip r:embed="rId3"/>
          <a:stretch>
            <a:fillRect/>
          </a:stretch>
        </p:blipFill>
        <p:spPr>
          <a:xfrm>
            <a:off x="633474" y="4396965"/>
            <a:ext cx="3060000" cy="2160000"/>
          </a:xfrm>
          <a:prstGeom prst="rect">
            <a:avLst/>
          </a:prstGeom>
        </p:spPr>
      </p:pic>
      <p:sp>
        <p:nvSpPr>
          <p:cNvPr id="128" name="文本框 127"/>
          <p:cNvSpPr txBox="1"/>
          <p:nvPr/>
        </p:nvSpPr>
        <p:spPr>
          <a:xfrm>
            <a:off x="633730" y="6547485"/>
            <a:ext cx="10918825" cy="266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压力小波能量</a:t>
            </a:r>
            <a:r>
              <a:rPr lang="en-US" altLang="zh-CN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-2*</a:t>
            </a: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排量小波能量</a:t>
            </a:r>
            <a:r>
              <a:rPr lang="en-US" altLang="zh-CN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=</a:t>
            </a: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裂缝扩展事件小波能量</a:t>
            </a:r>
            <a:endParaRPr lang="zh-CN" altLang="en-US" sz="11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129" name="直接连接符 128"/>
          <p:cNvCxnSpPr/>
          <p:nvPr/>
        </p:nvCxnSpPr>
        <p:spPr>
          <a:xfrm>
            <a:off x="3859246" y="5464677"/>
            <a:ext cx="264160" cy="0"/>
          </a:xfrm>
          <a:prstGeom prst="line">
            <a:avLst/>
          </a:prstGeom>
          <a:ln w="76200" cap="rnd">
            <a:solidFill>
              <a:srgbClr val="FF0000"/>
            </a:solidFill>
            <a:round/>
            <a:headEnd type="none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1" name="直接连接符 130"/>
          <p:cNvCxnSpPr/>
          <p:nvPr/>
        </p:nvCxnSpPr>
        <p:spPr>
          <a:xfrm>
            <a:off x="8123803" y="5361940"/>
            <a:ext cx="264160" cy="0"/>
          </a:xfrm>
          <a:prstGeom prst="line">
            <a:avLst/>
          </a:prstGeom>
          <a:ln w="76200" cap="rnd">
            <a:solidFill>
              <a:srgbClr val="FF0000"/>
            </a:solidFill>
            <a:round/>
            <a:headEnd type="none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2" name="直接连接符 131"/>
          <p:cNvCxnSpPr/>
          <p:nvPr/>
        </p:nvCxnSpPr>
        <p:spPr>
          <a:xfrm>
            <a:off x="8123803" y="5579745"/>
            <a:ext cx="264160" cy="0"/>
          </a:xfrm>
          <a:prstGeom prst="line">
            <a:avLst/>
          </a:prstGeom>
          <a:ln w="76200" cap="rnd">
            <a:solidFill>
              <a:srgbClr val="FF0000"/>
            </a:solidFill>
            <a:round/>
            <a:headEnd type="none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3" name="文本框 132"/>
          <p:cNvSpPr txBox="1"/>
          <p:nvPr/>
        </p:nvSpPr>
        <p:spPr>
          <a:xfrm>
            <a:off x="4225641" y="5150987"/>
            <a:ext cx="721360" cy="639445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>
              <a:lnSpc>
                <a:spcPct val="100000"/>
              </a:lnSpc>
              <a:buClr>
                <a:srgbClr val="FF0000"/>
              </a:buClr>
            </a:pPr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2*</a:t>
            </a:r>
            <a:endParaRPr lang="en-US" altLang="zh-CN" sz="32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11" descr="泸203井区H8平台2井第1段施工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46380"/>
            <a:ext cx="11389995" cy="3416935"/>
          </a:xfrm>
          <a:prstGeom prst="rect">
            <a:avLst/>
          </a:prstGeom>
        </p:spPr>
      </p:pic>
      <p:graphicFrame>
        <p:nvGraphicFramePr>
          <p:cNvPr id="6" name="图表 5"/>
          <p:cNvGraphicFramePr/>
          <p:nvPr/>
        </p:nvGraphicFramePr>
        <p:xfrm>
          <a:off x="5995670" y="3663315"/>
          <a:ext cx="5507355" cy="30791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pic>
        <p:nvPicPr>
          <p:cNvPr id="5" name="图片 4" descr="fracturing_event_comparis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547745"/>
            <a:ext cx="5379720" cy="3194685"/>
          </a:xfrm>
          <a:prstGeom prst="rect">
            <a:avLst/>
          </a:prstGeom>
        </p:spPr>
      </p:pic>
      <p:sp>
        <p:nvSpPr>
          <p:cNvPr id="9" name="任意多边形 8"/>
          <p:cNvSpPr/>
          <p:nvPr/>
        </p:nvSpPr>
        <p:spPr>
          <a:xfrm rot="960000">
            <a:off x="2045970" y="4137660"/>
            <a:ext cx="3512185" cy="486410"/>
          </a:xfrm>
          <a:custGeom>
            <a:avLst/>
            <a:gdLst>
              <a:gd name="connsiteX0" fmla="*/ 0 w 5531"/>
              <a:gd name="connsiteY0" fmla="*/ 389 h 833"/>
              <a:gd name="connsiteX1" fmla="*/ 4955 w 5531"/>
              <a:gd name="connsiteY1" fmla="*/ 208 h 833"/>
              <a:gd name="connsiteX2" fmla="*/ 4955 w 5531"/>
              <a:gd name="connsiteY2" fmla="*/ 0 h 833"/>
              <a:gd name="connsiteX3" fmla="*/ 5531 w 5531"/>
              <a:gd name="connsiteY3" fmla="*/ 417 h 833"/>
              <a:gd name="connsiteX4" fmla="*/ 4955 w 5531"/>
              <a:gd name="connsiteY4" fmla="*/ 833 h 833"/>
              <a:gd name="connsiteX5" fmla="*/ 4955 w 5531"/>
              <a:gd name="connsiteY5" fmla="*/ 625 h 833"/>
              <a:gd name="connsiteX6" fmla="*/ 1 w 5531"/>
              <a:gd name="connsiteY6" fmla="*/ 395 h 833"/>
              <a:gd name="connsiteX7" fmla="*/ 0 w 5531"/>
              <a:gd name="connsiteY7" fmla="*/ 389 h 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31" h="833">
                <a:moveTo>
                  <a:pt x="0" y="389"/>
                </a:moveTo>
                <a:lnTo>
                  <a:pt x="4955" y="208"/>
                </a:lnTo>
                <a:lnTo>
                  <a:pt x="4955" y="0"/>
                </a:lnTo>
                <a:lnTo>
                  <a:pt x="5531" y="417"/>
                </a:lnTo>
                <a:lnTo>
                  <a:pt x="4955" y="833"/>
                </a:lnTo>
                <a:lnTo>
                  <a:pt x="4955" y="625"/>
                </a:lnTo>
                <a:lnTo>
                  <a:pt x="1" y="395"/>
                </a:lnTo>
                <a:lnTo>
                  <a:pt x="0" y="389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4069715" y="4152900"/>
            <a:ext cx="1536065" cy="26289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ctr">
              <a:lnSpc>
                <a:spcPct val="100000"/>
              </a:lnSpc>
              <a:buClr>
                <a:srgbClr val="FF0000"/>
              </a:buClr>
            </a:pPr>
            <a:r>
              <a:rPr lang="zh-CN" altLang="en-US" sz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稳定筛除干扰事件</a:t>
            </a:r>
            <a:endParaRPr lang="zh-CN" altLang="en-US" sz="12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018145" y="4060190"/>
            <a:ext cx="2817495" cy="26289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 algn="ctr">
              <a:lnSpc>
                <a:spcPct val="100000"/>
              </a:lnSpc>
              <a:buClr>
                <a:srgbClr val="FF0000"/>
              </a:buClr>
            </a:pPr>
            <a:r>
              <a:rPr lang="zh-CN" altLang="en-US" sz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造缝能量与微地震检测改造体积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正相关</a:t>
            </a:r>
            <a:endParaRPr lang="zh-CN" altLang="en-US" sz="12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" name="组合 4"/>
          <p:cNvGrpSpPr/>
          <p:nvPr/>
        </p:nvGrpSpPr>
        <p:grpSpPr>
          <a:xfrm>
            <a:off x="111125" y="318135"/>
            <a:ext cx="11640185" cy="3880485"/>
            <a:chOff x="175" y="501"/>
            <a:chExt cx="18331" cy="6111"/>
          </a:xfrm>
        </p:grpSpPr>
        <p:sp>
          <p:nvSpPr>
            <p:cNvPr id="7" name="任意多边形 6"/>
            <p:cNvSpPr/>
            <p:nvPr/>
          </p:nvSpPr>
          <p:spPr>
            <a:xfrm>
              <a:off x="8763" y="1111"/>
              <a:ext cx="2214" cy="2146"/>
            </a:xfrm>
            <a:custGeom>
              <a:avLst/>
              <a:gdLst>
                <a:gd name="connisteX0" fmla="*/ 0 w 3523615"/>
                <a:gd name="connsiteY0" fmla="*/ 2328702 h 2881465"/>
                <a:gd name="connisteX1" fmla="*/ 846455 w 3523615"/>
                <a:gd name="connsiteY1" fmla="*/ 2647472 h 2881465"/>
                <a:gd name="connisteX2" fmla="*/ 1941195 w 3523615"/>
                <a:gd name="connsiteY2" fmla="*/ 157 h 2881465"/>
                <a:gd name="connisteX3" fmla="*/ 2787015 w 3523615"/>
                <a:gd name="connsiteY3" fmla="*/ 2756692 h 2881465"/>
                <a:gd name="connisteX4" fmla="*/ 3523615 w 3523615"/>
                <a:gd name="connsiteY4" fmla="*/ 2189637 h 2881465"/>
                <a:gd name="connisteX5" fmla="*/ 3842385 w 3523615"/>
                <a:gd name="connsiteY5" fmla="*/ 1950877 h 288146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</a:cxnLst>
              <a:rect l="l" t="t" r="r" b="b"/>
              <a:pathLst>
                <a:path w="3523615" h="2881465">
                  <a:moveTo>
                    <a:pt x="0" y="2328703"/>
                  </a:moveTo>
                  <a:cubicBezTo>
                    <a:pt x="147320" y="2445543"/>
                    <a:pt x="458470" y="3112928"/>
                    <a:pt x="846455" y="2647473"/>
                  </a:cubicBezTo>
                  <a:cubicBezTo>
                    <a:pt x="1234440" y="2182018"/>
                    <a:pt x="1553210" y="-21432"/>
                    <a:pt x="1941195" y="158"/>
                  </a:cubicBezTo>
                  <a:cubicBezTo>
                    <a:pt x="2329180" y="21748"/>
                    <a:pt x="2470785" y="2318543"/>
                    <a:pt x="2787015" y="2756693"/>
                  </a:cubicBezTo>
                  <a:cubicBezTo>
                    <a:pt x="3103245" y="3194843"/>
                    <a:pt x="3312795" y="2350928"/>
                    <a:pt x="3523615" y="2189638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txBody>
            <a:bodyPr rot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>
                <a:lnSpc>
                  <a:spcPct val="180000"/>
                </a:lnSpc>
                <a:spcBef>
                  <a:spcPct val="20000"/>
                </a:spcBef>
                <a:buClr>
                  <a:srgbClr val="FF0000"/>
                </a:buClr>
                <a:buSzPct val="100000"/>
              </a:pPr>
              <a:endParaRPr lang="zh-CN" altLang="en-US" dirty="0" smtClean="0">
                <a:solidFill>
                  <a:schemeClr val="bg1"/>
                </a:solidFill>
                <a:latin typeface="Tahoma" panose="020B0604030504040204"/>
                <a:ea typeface="方正大黑简体" panose="02000000000000000000" pitchFamily="65" charset="-122"/>
              </a:endParaRPr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6554" y="1115"/>
              <a:ext cx="2209" cy="2142"/>
            </a:xfrm>
            <a:custGeom>
              <a:avLst/>
              <a:gdLst>
                <a:gd name="connisteX0" fmla="*/ 0 w 3523615"/>
                <a:gd name="connsiteY0" fmla="*/ 2328702 h 2881465"/>
                <a:gd name="connisteX1" fmla="*/ 846455 w 3523615"/>
                <a:gd name="connsiteY1" fmla="*/ 2647472 h 2881465"/>
                <a:gd name="connisteX2" fmla="*/ 1941195 w 3523615"/>
                <a:gd name="connsiteY2" fmla="*/ 157 h 2881465"/>
                <a:gd name="connisteX3" fmla="*/ 2787015 w 3523615"/>
                <a:gd name="connsiteY3" fmla="*/ 2756692 h 2881465"/>
                <a:gd name="connisteX4" fmla="*/ 3523615 w 3523615"/>
                <a:gd name="connsiteY4" fmla="*/ 2189637 h 2881465"/>
                <a:gd name="connisteX5" fmla="*/ 3842385 w 3523615"/>
                <a:gd name="connsiteY5" fmla="*/ 1950877 h 288146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</a:cxnLst>
              <a:rect l="l" t="t" r="r" b="b"/>
              <a:pathLst>
                <a:path w="3523615" h="2881465">
                  <a:moveTo>
                    <a:pt x="0" y="2328703"/>
                  </a:moveTo>
                  <a:cubicBezTo>
                    <a:pt x="147320" y="2445543"/>
                    <a:pt x="458470" y="3112928"/>
                    <a:pt x="846455" y="2647473"/>
                  </a:cubicBezTo>
                  <a:cubicBezTo>
                    <a:pt x="1234440" y="2182018"/>
                    <a:pt x="1553210" y="-21432"/>
                    <a:pt x="1941195" y="158"/>
                  </a:cubicBezTo>
                  <a:cubicBezTo>
                    <a:pt x="2329180" y="21748"/>
                    <a:pt x="2470785" y="2318543"/>
                    <a:pt x="2787015" y="2756693"/>
                  </a:cubicBezTo>
                  <a:cubicBezTo>
                    <a:pt x="3103245" y="3194843"/>
                    <a:pt x="3312795" y="2350928"/>
                    <a:pt x="3523615" y="2189638"/>
                  </a:cubicBezTo>
                </a:path>
              </a:pathLst>
            </a:custGeom>
            <a:noFill/>
            <a:ln w="19050">
              <a:solidFill>
                <a:srgbClr val="0000FF"/>
              </a:solidFill>
            </a:ln>
          </p:spPr>
          <p:txBody>
            <a:bodyPr rot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>
                <a:lnSpc>
                  <a:spcPct val="180000"/>
                </a:lnSpc>
                <a:spcBef>
                  <a:spcPct val="20000"/>
                </a:spcBef>
                <a:buClr>
                  <a:srgbClr val="FF0000"/>
                </a:buClr>
                <a:buSzPct val="100000"/>
              </a:pPr>
              <a:endParaRPr lang="zh-CN" altLang="en-US" dirty="0" smtClean="0">
                <a:solidFill>
                  <a:schemeClr val="bg1"/>
                </a:solidFill>
                <a:latin typeface="Tahoma" panose="020B0604030504040204"/>
                <a:ea typeface="方正大黑简体" panose="02000000000000000000" pitchFamily="65" charset="-122"/>
              </a:endParaRPr>
            </a:p>
          </p:txBody>
        </p:sp>
        <p:cxnSp>
          <p:nvCxnSpPr>
            <p:cNvPr id="12" name="直接箭头连接符 11"/>
            <p:cNvCxnSpPr>
              <a:stCxn id="10" idx="2"/>
              <a:endCxn id="7" idx="2"/>
            </p:cNvCxnSpPr>
            <p:nvPr/>
          </p:nvCxnSpPr>
          <p:spPr>
            <a:xfrm flipV="1">
              <a:off x="7771" y="1111"/>
              <a:ext cx="2212" cy="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B050"/>
              </a:solidFill>
              <a:prstDash val="solid"/>
              <a:round/>
              <a:headEnd type="arrow" w="med" len="med"/>
              <a:tailEnd type="arrow" w="med" len="med"/>
            </a:ln>
            <a:effectLst>
              <a:outerShdw dist="17961" dir="2700000" algn="ctr" rotWithShape="0">
                <a:schemeClr val="tx1">
                  <a:gamma/>
                  <a:shade val="60000"/>
                  <a:invGamma/>
                  <a:alpha val="50000"/>
                </a:schemeClr>
              </a:outerShdw>
            </a:effectLst>
          </p:spPr>
        </p:cxnSp>
        <p:sp>
          <p:nvSpPr>
            <p:cNvPr id="17" name="文本框 16"/>
            <p:cNvSpPr txBox="1"/>
            <p:nvPr/>
          </p:nvSpPr>
          <p:spPr>
            <a:xfrm>
              <a:off x="5574" y="501"/>
              <a:ext cx="6773" cy="5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/>
            <a:p>
              <a:pPr indent="0" algn="ctr" fontAlgn="auto">
                <a:lnSpc>
                  <a:spcPct val="100000"/>
                </a:lnSpc>
                <a:buClr>
                  <a:srgbClr val="FF0000"/>
                </a:buClr>
              </a:pPr>
              <a:r>
                <a:rPr lang="zh-CN" altLang="en-US" sz="16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相邻压力、排量峰值间隔</a:t>
              </a:r>
              <a:r>
                <a:rPr lang="en-US" altLang="zh-CN" sz="16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&lt;</a:t>
              </a:r>
              <a:r>
                <a:rPr lang="zh-CN" altLang="en-US" sz="16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传播延迟</a:t>
              </a:r>
              <a:endParaRPr lang="zh-CN" alt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146" y="1362"/>
              <a:ext cx="4038" cy="9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/>
            <a:p>
              <a:pPr indent="0" algn="ctr" fontAlgn="auto">
                <a:lnSpc>
                  <a:spcPct val="100000"/>
                </a:lnSpc>
                <a:buClr>
                  <a:srgbClr val="FF0000"/>
                </a:buClr>
              </a:pPr>
              <a:r>
                <a:rPr lang="zh-CN" altLang="en-US" sz="16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排量变化引起的压力变化</a:t>
              </a:r>
              <a:endParaRPr lang="zh-CN" alt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indent="0" algn="ctr" fontAlgn="auto">
                <a:lnSpc>
                  <a:spcPct val="100000"/>
                </a:lnSpc>
                <a:buClr>
                  <a:srgbClr val="FF0000"/>
                </a:buClr>
              </a:pPr>
              <a:r>
                <a:rPr lang="zh-CN" altLang="en-US" sz="16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非裂缝扩展事件</a:t>
              </a:r>
              <a:endParaRPr lang="zh-CN" alt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任意多边形 19"/>
            <p:cNvSpPr/>
            <p:nvPr/>
          </p:nvSpPr>
          <p:spPr>
            <a:xfrm>
              <a:off x="5185" y="4466"/>
              <a:ext cx="2214" cy="2146"/>
            </a:xfrm>
            <a:custGeom>
              <a:avLst/>
              <a:gdLst>
                <a:gd name="connisteX0" fmla="*/ 0 w 3523615"/>
                <a:gd name="connsiteY0" fmla="*/ 2328702 h 2881465"/>
                <a:gd name="connisteX1" fmla="*/ 846455 w 3523615"/>
                <a:gd name="connsiteY1" fmla="*/ 2647472 h 2881465"/>
                <a:gd name="connisteX2" fmla="*/ 1941195 w 3523615"/>
                <a:gd name="connsiteY2" fmla="*/ 157 h 2881465"/>
                <a:gd name="connisteX3" fmla="*/ 2787015 w 3523615"/>
                <a:gd name="connsiteY3" fmla="*/ 2756692 h 2881465"/>
                <a:gd name="connisteX4" fmla="*/ 3523615 w 3523615"/>
                <a:gd name="connsiteY4" fmla="*/ 2189637 h 2881465"/>
                <a:gd name="connisteX5" fmla="*/ 3842385 w 3523615"/>
                <a:gd name="connsiteY5" fmla="*/ 1950877 h 288146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</a:cxnLst>
              <a:rect l="l" t="t" r="r" b="b"/>
              <a:pathLst>
                <a:path w="3523615" h="2881465">
                  <a:moveTo>
                    <a:pt x="0" y="2328703"/>
                  </a:moveTo>
                  <a:cubicBezTo>
                    <a:pt x="147320" y="2445543"/>
                    <a:pt x="458470" y="3112928"/>
                    <a:pt x="846455" y="2647473"/>
                  </a:cubicBezTo>
                  <a:cubicBezTo>
                    <a:pt x="1234440" y="2182018"/>
                    <a:pt x="1553210" y="-21432"/>
                    <a:pt x="1941195" y="158"/>
                  </a:cubicBezTo>
                  <a:cubicBezTo>
                    <a:pt x="2329180" y="21748"/>
                    <a:pt x="2470785" y="2318543"/>
                    <a:pt x="2787015" y="2756693"/>
                  </a:cubicBezTo>
                  <a:cubicBezTo>
                    <a:pt x="3103245" y="3194843"/>
                    <a:pt x="3312795" y="2350928"/>
                    <a:pt x="3523615" y="2189638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txBody>
            <a:bodyPr rot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>
                <a:lnSpc>
                  <a:spcPct val="180000"/>
                </a:lnSpc>
                <a:spcBef>
                  <a:spcPct val="20000"/>
                </a:spcBef>
                <a:buClr>
                  <a:srgbClr val="FF0000"/>
                </a:buClr>
                <a:buSzPct val="100000"/>
              </a:pPr>
              <a:endParaRPr lang="zh-CN" altLang="en-US" dirty="0" smtClean="0">
                <a:solidFill>
                  <a:schemeClr val="bg1"/>
                </a:solidFill>
                <a:latin typeface="Tahoma" panose="020B0604030504040204"/>
                <a:ea typeface="方正大黑简体" panose="02000000000000000000" pitchFamily="65" charset="-122"/>
              </a:endParaRPr>
            </a:p>
          </p:txBody>
        </p:sp>
        <p:sp>
          <p:nvSpPr>
            <p:cNvPr id="21" name="任意多边形 20"/>
            <p:cNvSpPr/>
            <p:nvPr/>
          </p:nvSpPr>
          <p:spPr>
            <a:xfrm>
              <a:off x="175" y="4470"/>
              <a:ext cx="2209" cy="2142"/>
            </a:xfrm>
            <a:custGeom>
              <a:avLst/>
              <a:gdLst>
                <a:gd name="connisteX0" fmla="*/ 0 w 3523615"/>
                <a:gd name="connsiteY0" fmla="*/ 2328702 h 2881465"/>
                <a:gd name="connisteX1" fmla="*/ 846455 w 3523615"/>
                <a:gd name="connsiteY1" fmla="*/ 2647472 h 2881465"/>
                <a:gd name="connisteX2" fmla="*/ 1941195 w 3523615"/>
                <a:gd name="connsiteY2" fmla="*/ 157 h 2881465"/>
                <a:gd name="connisteX3" fmla="*/ 2787015 w 3523615"/>
                <a:gd name="connsiteY3" fmla="*/ 2756692 h 2881465"/>
                <a:gd name="connisteX4" fmla="*/ 3523615 w 3523615"/>
                <a:gd name="connsiteY4" fmla="*/ 2189637 h 2881465"/>
                <a:gd name="connisteX5" fmla="*/ 3842385 w 3523615"/>
                <a:gd name="connsiteY5" fmla="*/ 1950877 h 288146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</a:cxnLst>
              <a:rect l="l" t="t" r="r" b="b"/>
              <a:pathLst>
                <a:path w="3523615" h="2881465">
                  <a:moveTo>
                    <a:pt x="0" y="2328703"/>
                  </a:moveTo>
                  <a:cubicBezTo>
                    <a:pt x="147320" y="2445543"/>
                    <a:pt x="458470" y="3112928"/>
                    <a:pt x="846455" y="2647473"/>
                  </a:cubicBezTo>
                  <a:cubicBezTo>
                    <a:pt x="1234440" y="2182018"/>
                    <a:pt x="1553210" y="-21432"/>
                    <a:pt x="1941195" y="158"/>
                  </a:cubicBezTo>
                  <a:cubicBezTo>
                    <a:pt x="2329180" y="21748"/>
                    <a:pt x="2470785" y="2318543"/>
                    <a:pt x="2787015" y="2756693"/>
                  </a:cubicBezTo>
                  <a:cubicBezTo>
                    <a:pt x="3103245" y="3194843"/>
                    <a:pt x="3312795" y="2350928"/>
                    <a:pt x="3523615" y="2189638"/>
                  </a:cubicBezTo>
                </a:path>
              </a:pathLst>
            </a:custGeom>
            <a:noFill/>
            <a:ln w="19050">
              <a:solidFill>
                <a:srgbClr val="0000FF"/>
              </a:solidFill>
            </a:ln>
          </p:spPr>
          <p:txBody>
            <a:bodyPr rot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>
                <a:lnSpc>
                  <a:spcPct val="180000"/>
                </a:lnSpc>
                <a:spcBef>
                  <a:spcPct val="20000"/>
                </a:spcBef>
                <a:buClr>
                  <a:srgbClr val="FF0000"/>
                </a:buClr>
                <a:buSzPct val="100000"/>
              </a:pPr>
              <a:endParaRPr lang="zh-CN" altLang="en-US" dirty="0" smtClean="0">
                <a:solidFill>
                  <a:schemeClr val="bg1"/>
                </a:solidFill>
                <a:latin typeface="Tahoma" panose="020B0604030504040204"/>
                <a:ea typeface="方正大黑简体" panose="02000000000000000000" pitchFamily="65" charset="-122"/>
              </a:endParaRPr>
            </a:p>
          </p:txBody>
        </p:sp>
        <p:cxnSp>
          <p:nvCxnSpPr>
            <p:cNvPr id="22" name="直接箭头连接符 21"/>
            <p:cNvCxnSpPr>
              <a:stCxn id="21" idx="2"/>
              <a:endCxn id="20" idx="2"/>
            </p:cNvCxnSpPr>
            <p:nvPr/>
          </p:nvCxnSpPr>
          <p:spPr>
            <a:xfrm flipV="1">
              <a:off x="1392" y="4466"/>
              <a:ext cx="5013" cy="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B050"/>
              </a:solidFill>
              <a:prstDash val="solid"/>
              <a:round/>
              <a:headEnd type="arrow" w="med" len="med"/>
              <a:tailEnd type="arrow" w="med" len="med"/>
            </a:ln>
            <a:effectLst>
              <a:outerShdw dist="17961" dir="2700000" algn="ctr" rotWithShape="0">
                <a:schemeClr val="tx1">
                  <a:gamma/>
                  <a:shade val="60000"/>
                  <a:invGamma/>
                  <a:alpha val="50000"/>
                </a:schemeClr>
              </a:outerShdw>
            </a:effectLst>
          </p:spPr>
        </p:cxnSp>
        <p:sp>
          <p:nvSpPr>
            <p:cNvPr id="29" name="文本框 28"/>
            <p:cNvSpPr txBox="1"/>
            <p:nvPr/>
          </p:nvSpPr>
          <p:spPr>
            <a:xfrm>
              <a:off x="1130" y="3798"/>
              <a:ext cx="5615" cy="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/>
            <a:p>
              <a:pPr indent="0" algn="ctr" fontAlgn="auto">
                <a:lnSpc>
                  <a:spcPct val="100000"/>
                </a:lnSpc>
                <a:buClr>
                  <a:srgbClr val="FF0000"/>
                </a:buClr>
              </a:pPr>
              <a:r>
                <a:rPr lang="zh-CN" altLang="en-US" sz="16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相邻压力、排量峰值间隔</a:t>
              </a:r>
              <a:r>
                <a:rPr lang="en-US" altLang="zh-CN" sz="16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&gt;</a:t>
              </a:r>
              <a:r>
                <a:rPr lang="zh-CN" altLang="en-US" sz="16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传播</a:t>
              </a:r>
              <a:r>
                <a:rPr lang="zh-CN" altLang="en-US" sz="16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延迟</a:t>
              </a:r>
              <a:endParaRPr lang="zh-CN" alt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0" name="右箭头 29"/>
            <p:cNvSpPr/>
            <p:nvPr/>
          </p:nvSpPr>
          <p:spPr>
            <a:xfrm>
              <a:off x="6937" y="5135"/>
              <a:ext cx="1652" cy="789"/>
            </a:xfrm>
            <a:prstGeom prst="rightArrow">
              <a:avLst/>
            </a:prstGeom>
            <a:solidFill>
              <a:srgbClr val="C00000"/>
            </a:solidFill>
          </p:spPr>
          <p:txBody>
            <a:bodyPr rot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>
                <a:lnSpc>
                  <a:spcPct val="180000"/>
                </a:lnSpc>
                <a:spcBef>
                  <a:spcPct val="20000"/>
                </a:spcBef>
                <a:buClr>
                  <a:srgbClr val="FF0000"/>
                </a:buClr>
                <a:buSzPct val="100000"/>
              </a:pPr>
              <a:endParaRPr lang="zh-CN" altLang="en-US" dirty="0" smtClean="0">
                <a:solidFill>
                  <a:schemeClr val="bg1"/>
                </a:solidFill>
                <a:latin typeface="Tahoma" panose="020B0604030504040204"/>
                <a:ea typeface="方正大黑简体" panose="02000000000000000000" pitchFamily="65" charset="-122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8429" y="5247"/>
              <a:ext cx="2285" cy="5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/>
            <a:p>
              <a:pPr indent="0" algn="ctr" fontAlgn="auto">
                <a:lnSpc>
                  <a:spcPct val="100000"/>
                </a:lnSpc>
                <a:buClr>
                  <a:srgbClr val="FF0000"/>
                </a:buClr>
              </a:pPr>
              <a:r>
                <a:rPr lang="zh-CN" altLang="en-US" sz="16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裂缝扩展事件</a:t>
              </a:r>
              <a:endParaRPr lang="zh-CN" alt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5360" y="850"/>
              <a:ext cx="1645" cy="5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/>
            <a:p>
              <a:pPr indent="0" algn="ctr" fontAlgn="auto">
                <a:lnSpc>
                  <a:spcPct val="100000"/>
                </a:lnSpc>
                <a:buClr>
                  <a:srgbClr val="FF0000"/>
                </a:buClr>
              </a:pPr>
              <a:r>
                <a:rPr lang="zh-CN" altLang="en-US" sz="1600" dirty="0">
                  <a:solidFill>
                    <a:srgbClr val="FFC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排量峰值</a:t>
              </a:r>
              <a:endParaRPr lang="zh-CN" altLang="en-US" sz="160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cxnSp>
          <p:nvCxnSpPr>
            <p:cNvPr id="34" name="直接箭头连接符 33"/>
            <p:cNvCxnSpPr>
              <a:stCxn id="32" idx="3"/>
              <a:endCxn id="10" idx="2"/>
            </p:cNvCxnSpPr>
            <p:nvPr/>
          </p:nvCxnSpPr>
          <p:spPr>
            <a:xfrm flipV="1">
              <a:off x="7005" y="1115"/>
              <a:ext cx="766" cy="1"/>
            </a:xfrm>
            <a:prstGeom prst="straightConnector1">
              <a:avLst/>
            </a:prstGeom>
            <a:ln w="31750" cap="rnd">
              <a:solidFill>
                <a:srgbClr val="FFC000"/>
              </a:solidFill>
              <a:round/>
              <a:headEnd type="none" w="med" len="med"/>
              <a:tailEnd type="arrow" w="med" len="me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7" name="文本框 36"/>
            <p:cNvSpPr txBox="1"/>
            <p:nvPr/>
          </p:nvSpPr>
          <p:spPr>
            <a:xfrm>
              <a:off x="10894" y="850"/>
              <a:ext cx="1645" cy="5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/>
            <a:p>
              <a:pPr indent="0" algn="ctr" fontAlgn="auto">
                <a:lnSpc>
                  <a:spcPct val="100000"/>
                </a:lnSpc>
                <a:buClr>
                  <a:srgbClr val="FF0000"/>
                </a:buClr>
              </a:pPr>
              <a:r>
                <a:rPr lang="zh-CN" altLang="en-US" sz="1600" dirty="0">
                  <a:solidFill>
                    <a:srgbClr val="FFC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压力峰值</a:t>
              </a:r>
              <a:endParaRPr lang="zh-CN" altLang="en-US" sz="160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cxnSp>
          <p:nvCxnSpPr>
            <p:cNvPr id="38" name="直接箭头连接符 37"/>
            <p:cNvCxnSpPr>
              <a:stCxn id="37" idx="1"/>
              <a:endCxn id="7" idx="2"/>
            </p:cNvCxnSpPr>
            <p:nvPr/>
          </p:nvCxnSpPr>
          <p:spPr>
            <a:xfrm flipH="1" flipV="1">
              <a:off x="9983" y="1111"/>
              <a:ext cx="911" cy="5"/>
            </a:xfrm>
            <a:prstGeom prst="straightConnector1">
              <a:avLst/>
            </a:prstGeom>
            <a:ln w="31750" cap="rnd">
              <a:solidFill>
                <a:srgbClr val="FFC000"/>
              </a:solidFill>
              <a:round/>
              <a:headEnd type="none" w="med" len="med"/>
              <a:tailEnd type="arrow" w="med" len="me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8" name="任意多边形 7"/>
            <p:cNvSpPr/>
            <p:nvPr/>
          </p:nvSpPr>
          <p:spPr>
            <a:xfrm>
              <a:off x="14816" y="2072"/>
              <a:ext cx="2214" cy="4506"/>
            </a:xfrm>
            <a:custGeom>
              <a:avLst/>
              <a:gdLst>
                <a:gd name="connisteX0" fmla="*/ 0 w 3523615"/>
                <a:gd name="connsiteY0" fmla="*/ 2328702 h 2881465"/>
                <a:gd name="connisteX1" fmla="*/ 846455 w 3523615"/>
                <a:gd name="connsiteY1" fmla="*/ 2647472 h 2881465"/>
                <a:gd name="connisteX2" fmla="*/ 1941195 w 3523615"/>
                <a:gd name="connsiteY2" fmla="*/ 157 h 2881465"/>
                <a:gd name="connisteX3" fmla="*/ 2787015 w 3523615"/>
                <a:gd name="connsiteY3" fmla="*/ 2756692 h 2881465"/>
                <a:gd name="connisteX4" fmla="*/ 3523615 w 3523615"/>
                <a:gd name="connsiteY4" fmla="*/ 2189637 h 2881465"/>
                <a:gd name="connisteX5" fmla="*/ 3842385 w 3523615"/>
                <a:gd name="connsiteY5" fmla="*/ 1950877 h 288146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</a:cxnLst>
              <a:rect l="l" t="t" r="r" b="b"/>
              <a:pathLst>
                <a:path w="3523615" h="2881465">
                  <a:moveTo>
                    <a:pt x="0" y="2328703"/>
                  </a:moveTo>
                  <a:cubicBezTo>
                    <a:pt x="147320" y="2445543"/>
                    <a:pt x="458470" y="3112928"/>
                    <a:pt x="846455" y="2647473"/>
                  </a:cubicBezTo>
                  <a:cubicBezTo>
                    <a:pt x="1234440" y="2182018"/>
                    <a:pt x="1553210" y="-21432"/>
                    <a:pt x="1941195" y="158"/>
                  </a:cubicBezTo>
                  <a:cubicBezTo>
                    <a:pt x="2329180" y="21748"/>
                    <a:pt x="2470785" y="2318543"/>
                    <a:pt x="2787015" y="2756693"/>
                  </a:cubicBezTo>
                  <a:cubicBezTo>
                    <a:pt x="3103245" y="3194843"/>
                    <a:pt x="3312795" y="2350928"/>
                    <a:pt x="3523615" y="2189638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txBody>
            <a:bodyPr rot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>
                <a:lnSpc>
                  <a:spcPct val="180000"/>
                </a:lnSpc>
                <a:spcBef>
                  <a:spcPct val="20000"/>
                </a:spcBef>
                <a:buClr>
                  <a:srgbClr val="FF0000"/>
                </a:buClr>
                <a:buSzPct val="100000"/>
              </a:pPr>
              <a:endParaRPr lang="zh-CN" altLang="en-US" dirty="0" smtClean="0">
                <a:solidFill>
                  <a:schemeClr val="bg1"/>
                </a:solidFill>
                <a:latin typeface="Tahoma" panose="020B0604030504040204"/>
                <a:ea typeface="方正大黑简体" panose="02000000000000000000" pitchFamily="65" charset="-122"/>
              </a:endParaRPr>
            </a:p>
          </p:txBody>
        </p:sp>
        <p:sp>
          <p:nvSpPr>
            <p:cNvPr id="9" name="任意多边形 8"/>
            <p:cNvSpPr/>
            <p:nvPr/>
          </p:nvSpPr>
          <p:spPr>
            <a:xfrm>
              <a:off x="12607" y="4436"/>
              <a:ext cx="2209" cy="2142"/>
            </a:xfrm>
            <a:custGeom>
              <a:avLst/>
              <a:gdLst>
                <a:gd name="connisteX0" fmla="*/ 0 w 3523615"/>
                <a:gd name="connsiteY0" fmla="*/ 2328702 h 2881465"/>
                <a:gd name="connisteX1" fmla="*/ 846455 w 3523615"/>
                <a:gd name="connsiteY1" fmla="*/ 2647472 h 2881465"/>
                <a:gd name="connisteX2" fmla="*/ 1941195 w 3523615"/>
                <a:gd name="connsiteY2" fmla="*/ 157 h 2881465"/>
                <a:gd name="connisteX3" fmla="*/ 2787015 w 3523615"/>
                <a:gd name="connsiteY3" fmla="*/ 2756692 h 2881465"/>
                <a:gd name="connisteX4" fmla="*/ 3523615 w 3523615"/>
                <a:gd name="connsiteY4" fmla="*/ 2189637 h 2881465"/>
                <a:gd name="connisteX5" fmla="*/ 3842385 w 3523615"/>
                <a:gd name="connsiteY5" fmla="*/ 1950877 h 288146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</a:cxnLst>
              <a:rect l="l" t="t" r="r" b="b"/>
              <a:pathLst>
                <a:path w="3523615" h="2881465">
                  <a:moveTo>
                    <a:pt x="0" y="2328703"/>
                  </a:moveTo>
                  <a:cubicBezTo>
                    <a:pt x="147320" y="2445543"/>
                    <a:pt x="458470" y="3112928"/>
                    <a:pt x="846455" y="2647473"/>
                  </a:cubicBezTo>
                  <a:cubicBezTo>
                    <a:pt x="1234440" y="2182018"/>
                    <a:pt x="1553210" y="-21432"/>
                    <a:pt x="1941195" y="158"/>
                  </a:cubicBezTo>
                  <a:cubicBezTo>
                    <a:pt x="2329180" y="21748"/>
                    <a:pt x="2470785" y="2318543"/>
                    <a:pt x="2787015" y="2756693"/>
                  </a:cubicBezTo>
                  <a:cubicBezTo>
                    <a:pt x="3103245" y="3194843"/>
                    <a:pt x="3312795" y="2350928"/>
                    <a:pt x="3523615" y="2189638"/>
                  </a:cubicBezTo>
                </a:path>
              </a:pathLst>
            </a:custGeom>
            <a:noFill/>
            <a:ln w="19050">
              <a:solidFill>
                <a:srgbClr val="0000FF"/>
              </a:solidFill>
            </a:ln>
          </p:spPr>
          <p:txBody>
            <a:bodyPr rot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>
                <a:lnSpc>
                  <a:spcPct val="180000"/>
                </a:lnSpc>
                <a:spcBef>
                  <a:spcPct val="20000"/>
                </a:spcBef>
                <a:buClr>
                  <a:srgbClr val="FF0000"/>
                </a:buClr>
                <a:buSzPct val="100000"/>
              </a:pPr>
              <a:endParaRPr lang="zh-CN" altLang="en-US" dirty="0" smtClean="0">
                <a:solidFill>
                  <a:schemeClr val="bg1"/>
                </a:solidFill>
                <a:latin typeface="Tahoma" panose="020B0604030504040204"/>
                <a:ea typeface="方正大黑简体" panose="02000000000000000000" pitchFamily="65" charset="-122"/>
              </a:endParaRPr>
            </a:p>
          </p:txBody>
        </p:sp>
        <p:cxnSp>
          <p:nvCxnSpPr>
            <p:cNvPr id="13" name="直接箭头连接符 12"/>
            <p:cNvCxnSpPr>
              <a:stCxn id="9" idx="2"/>
              <a:endCxn id="8" idx="2"/>
            </p:cNvCxnSpPr>
            <p:nvPr/>
          </p:nvCxnSpPr>
          <p:spPr>
            <a:xfrm flipV="1">
              <a:off x="13824" y="2072"/>
              <a:ext cx="2212" cy="236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B050"/>
              </a:solidFill>
              <a:prstDash val="solid"/>
              <a:round/>
              <a:headEnd type="arrow" w="med" len="med"/>
              <a:tailEnd type="arrow" w="med" len="med"/>
            </a:ln>
            <a:effectLst>
              <a:outerShdw dist="17961" dir="2700000" algn="ctr" rotWithShape="0">
                <a:schemeClr val="tx1">
                  <a:gamma/>
                  <a:shade val="60000"/>
                  <a:invGamma/>
                  <a:alpha val="50000"/>
                </a:schemeClr>
              </a:outerShdw>
            </a:effectLst>
          </p:spPr>
        </p:cxnSp>
        <p:sp>
          <p:nvSpPr>
            <p:cNvPr id="14" name="右箭头 13"/>
            <p:cNvSpPr/>
            <p:nvPr/>
          </p:nvSpPr>
          <p:spPr>
            <a:xfrm flipH="1">
              <a:off x="10558" y="5135"/>
              <a:ext cx="1964" cy="789"/>
            </a:xfrm>
            <a:prstGeom prst="rightArrow">
              <a:avLst/>
            </a:prstGeom>
            <a:solidFill>
              <a:srgbClr val="C00000"/>
            </a:solidFill>
          </p:spPr>
          <p:txBody>
            <a:bodyPr rot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>
                <a:lnSpc>
                  <a:spcPct val="180000"/>
                </a:lnSpc>
                <a:spcBef>
                  <a:spcPct val="20000"/>
                </a:spcBef>
                <a:buClr>
                  <a:srgbClr val="FF0000"/>
                </a:buClr>
                <a:buSzPct val="100000"/>
              </a:pPr>
              <a:endParaRPr lang="zh-CN" altLang="en-US" dirty="0" smtClean="0">
                <a:solidFill>
                  <a:schemeClr val="bg1"/>
                </a:solidFill>
                <a:latin typeface="Tahoma" panose="020B0604030504040204"/>
                <a:ea typeface="方正大黑简体" panose="02000000000000000000" pitchFamily="65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2934" y="1158"/>
              <a:ext cx="5573" cy="8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/>
            <a:p>
              <a:pPr indent="0" algn="ctr" fontAlgn="auto">
                <a:lnSpc>
                  <a:spcPct val="100000"/>
                </a:lnSpc>
                <a:buClr>
                  <a:srgbClr val="FF0000"/>
                </a:buClr>
              </a:pPr>
              <a:r>
                <a:rPr lang="zh-CN" altLang="en-US" sz="16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相邻压力、排量峰值间隔</a:t>
              </a:r>
              <a:r>
                <a:rPr lang="en-US" altLang="zh-CN" sz="16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&lt;</a:t>
              </a:r>
              <a:r>
                <a:rPr lang="zh-CN" altLang="en-US" sz="16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传播延迟</a:t>
              </a:r>
              <a:endParaRPr lang="zh-CN" alt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indent="0" algn="ctr" fontAlgn="auto">
                <a:lnSpc>
                  <a:spcPct val="100000"/>
                </a:lnSpc>
                <a:buClr>
                  <a:srgbClr val="FF0000"/>
                </a:buClr>
              </a:pPr>
              <a:r>
                <a:rPr lang="zh-CN" altLang="en-US" sz="16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但压力峰值显著高于排量</a:t>
              </a:r>
              <a:r>
                <a:rPr lang="zh-CN" altLang="en-US" sz="16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峰值</a:t>
              </a:r>
              <a:endParaRPr lang="zh-CN" alt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右箭头 15"/>
            <p:cNvSpPr/>
            <p:nvPr/>
          </p:nvSpPr>
          <p:spPr>
            <a:xfrm flipH="1">
              <a:off x="5185" y="1390"/>
              <a:ext cx="1964" cy="789"/>
            </a:xfrm>
            <a:prstGeom prst="rightArrow">
              <a:avLst/>
            </a:prstGeom>
            <a:solidFill>
              <a:srgbClr val="C00000"/>
            </a:solidFill>
          </p:spPr>
          <p:txBody>
            <a:bodyPr rot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>
                <a:lnSpc>
                  <a:spcPct val="180000"/>
                </a:lnSpc>
                <a:spcBef>
                  <a:spcPct val="20000"/>
                </a:spcBef>
                <a:buClr>
                  <a:srgbClr val="FF0000"/>
                </a:buClr>
                <a:buSzPct val="100000"/>
              </a:pPr>
              <a:endParaRPr lang="zh-CN" altLang="en-US" dirty="0" smtClean="0">
                <a:solidFill>
                  <a:schemeClr val="bg1"/>
                </a:solidFill>
                <a:latin typeface="Tahoma" panose="020B0604030504040204"/>
                <a:ea typeface="方正大黑简体" panose="02000000000000000000" pitchFamily="65" charset="-122"/>
              </a:endParaRPr>
            </a:p>
          </p:txBody>
        </p:sp>
      </p:grpSp>
      <p:pic>
        <p:nvPicPr>
          <p:cNvPr id="4" name="图片 12" descr="泸203井区H8平台2井第1段施工-截砂浓度影响范围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25" y="4441825"/>
            <a:ext cx="11640820" cy="58204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" name="组合 4"/>
          <p:cNvGrpSpPr/>
          <p:nvPr/>
        </p:nvGrpSpPr>
        <p:grpSpPr>
          <a:xfrm>
            <a:off x="111125" y="318135"/>
            <a:ext cx="11640185" cy="3880485"/>
            <a:chOff x="175" y="501"/>
            <a:chExt cx="18331" cy="6111"/>
          </a:xfrm>
        </p:grpSpPr>
        <p:sp>
          <p:nvSpPr>
            <p:cNvPr id="7" name="任意多边形 6"/>
            <p:cNvSpPr/>
            <p:nvPr/>
          </p:nvSpPr>
          <p:spPr>
            <a:xfrm>
              <a:off x="8763" y="1111"/>
              <a:ext cx="2214" cy="2146"/>
            </a:xfrm>
            <a:custGeom>
              <a:avLst/>
              <a:gdLst>
                <a:gd name="connisteX0" fmla="*/ 0 w 3523615"/>
                <a:gd name="connsiteY0" fmla="*/ 2328702 h 2881465"/>
                <a:gd name="connisteX1" fmla="*/ 846455 w 3523615"/>
                <a:gd name="connsiteY1" fmla="*/ 2647472 h 2881465"/>
                <a:gd name="connisteX2" fmla="*/ 1941195 w 3523615"/>
                <a:gd name="connsiteY2" fmla="*/ 157 h 2881465"/>
                <a:gd name="connisteX3" fmla="*/ 2787015 w 3523615"/>
                <a:gd name="connsiteY3" fmla="*/ 2756692 h 2881465"/>
                <a:gd name="connisteX4" fmla="*/ 3523615 w 3523615"/>
                <a:gd name="connsiteY4" fmla="*/ 2189637 h 2881465"/>
                <a:gd name="connisteX5" fmla="*/ 3842385 w 3523615"/>
                <a:gd name="connsiteY5" fmla="*/ 1950877 h 288146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</a:cxnLst>
              <a:rect l="l" t="t" r="r" b="b"/>
              <a:pathLst>
                <a:path w="3523615" h="2881465">
                  <a:moveTo>
                    <a:pt x="0" y="2328703"/>
                  </a:moveTo>
                  <a:cubicBezTo>
                    <a:pt x="147320" y="2445543"/>
                    <a:pt x="458470" y="3112928"/>
                    <a:pt x="846455" y="2647473"/>
                  </a:cubicBezTo>
                  <a:cubicBezTo>
                    <a:pt x="1234440" y="2182018"/>
                    <a:pt x="1553210" y="-21432"/>
                    <a:pt x="1941195" y="158"/>
                  </a:cubicBezTo>
                  <a:cubicBezTo>
                    <a:pt x="2329180" y="21748"/>
                    <a:pt x="2470785" y="2318543"/>
                    <a:pt x="2787015" y="2756693"/>
                  </a:cubicBezTo>
                  <a:cubicBezTo>
                    <a:pt x="3103245" y="3194843"/>
                    <a:pt x="3312795" y="2350928"/>
                    <a:pt x="3523615" y="2189638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txBody>
            <a:bodyPr rot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>
                <a:lnSpc>
                  <a:spcPct val="180000"/>
                </a:lnSpc>
                <a:spcBef>
                  <a:spcPct val="20000"/>
                </a:spcBef>
                <a:buClr>
                  <a:srgbClr val="FF0000"/>
                </a:buClr>
                <a:buSzPct val="100000"/>
              </a:pPr>
              <a:endParaRPr lang="zh-CN" altLang="en-US" dirty="0" smtClean="0">
                <a:solidFill>
                  <a:schemeClr val="bg1"/>
                </a:solidFill>
                <a:latin typeface="Tahoma" panose="020B0604030504040204"/>
                <a:ea typeface="方正大黑简体" panose="02000000000000000000" pitchFamily="65" charset="-122"/>
              </a:endParaRPr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6554" y="1115"/>
              <a:ext cx="2209" cy="2142"/>
            </a:xfrm>
            <a:custGeom>
              <a:avLst/>
              <a:gdLst>
                <a:gd name="connisteX0" fmla="*/ 0 w 3523615"/>
                <a:gd name="connsiteY0" fmla="*/ 2328702 h 2881465"/>
                <a:gd name="connisteX1" fmla="*/ 846455 w 3523615"/>
                <a:gd name="connsiteY1" fmla="*/ 2647472 h 2881465"/>
                <a:gd name="connisteX2" fmla="*/ 1941195 w 3523615"/>
                <a:gd name="connsiteY2" fmla="*/ 157 h 2881465"/>
                <a:gd name="connisteX3" fmla="*/ 2787015 w 3523615"/>
                <a:gd name="connsiteY3" fmla="*/ 2756692 h 2881465"/>
                <a:gd name="connisteX4" fmla="*/ 3523615 w 3523615"/>
                <a:gd name="connsiteY4" fmla="*/ 2189637 h 2881465"/>
                <a:gd name="connisteX5" fmla="*/ 3842385 w 3523615"/>
                <a:gd name="connsiteY5" fmla="*/ 1950877 h 288146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</a:cxnLst>
              <a:rect l="l" t="t" r="r" b="b"/>
              <a:pathLst>
                <a:path w="3523615" h="2881465">
                  <a:moveTo>
                    <a:pt x="0" y="2328703"/>
                  </a:moveTo>
                  <a:cubicBezTo>
                    <a:pt x="147320" y="2445543"/>
                    <a:pt x="458470" y="3112928"/>
                    <a:pt x="846455" y="2647473"/>
                  </a:cubicBezTo>
                  <a:cubicBezTo>
                    <a:pt x="1234440" y="2182018"/>
                    <a:pt x="1553210" y="-21432"/>
                    <a:pt x="1941195" y="158"/>
                  </a:cubicBezTo>
                  <a:cubicBezTo>
                    <a:pt x="2329180" y="21748"/>
                    <a:pt x="2470785" y="2318543"/>
                    <a:pt x="2787015" y="2756693"/>
                  </a:cubicBezTo>
                  <a:cubicBezTo>
                    <a:pt x="3103245" y="3194843"/>
                    <a:pt x="3312795" y="2350928"/>
                    <a:pt x="3523615" y="2189638"/>
                  </a:cubicBezTo>
                </a:path>
              </a:pathLst>
            </a:custGeom>
            <a:noFill/>
            <a:ln w="19050">
              <a:solidFill>
                <a:srgbClr val="0000FF"/>
              </a:solidFill>
            </a:ln>
          </p:spPr>
          <p:txBody>
            <a:bodyPr rot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>
                <a:lnSpc>
                  <a:spcPct val="180000"/>
                </a:lnSpc>
                <a:spcBef>
                  <a:spcPct val="20000"/>
                </a:spcBef>
                <a:buClr>
                  <a:srgbClr val="FF0000"/>
                </a:buClr>
                <a:buSzPct val="100000"/>
              </a:pPr>
              <a:endParaRPr lang="zh-CN" altLang="en-US" dirty="0" smtClean="0">
                <a:solidFill>
                  <a:schemeClr val="bg1"/>
                </a:solidFill>
                <a:latin typeface="Tahoma" panose="020B0604030504040204"/>
                <a:ea typeface="方正大黑简体" panose="02000000000000000000" pitchFamily="65" charset="-122"/>
              </a:endParaRPr>
            </a:p>
          </p:txBody>
        </p:sp>
        <p:cxnSp>
          <p:nvCxnSpPr>
            <p:cNvPr id="12" name="直接箭头连接符 11"/>
            <p:cNvCxnSpPr>
              <a:stCxn id="10" idx="2"/>
              <a:endCxn id="7" idx="2"/>
            </p:cNvCxnSpPr>
            <p:nvPr/>
          </p:nvCxnSpPr>
          <p:spPr>
            <a:xfrm flipV="1">
              <a:off x="7771" y="1111"/>
              <a:ext cx="2212" cy="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B050"/>
              </a:solidFill>
              <a:prstDash val="solid"/>
              <a:round/>
              <a:headEnd type="arrow" w="med" len="med"/>
              <a:tailEnd type="arrow" w="med" len="med"/>
            </a:ln>
            <a:effectLst>
              <a:outerShdw dist="17961" dir="2700000" algn="ctr" rotWithShape="0">
                <a:schemeClr val="tx1">
                  <a:gamma/>
                  <a:shade val="60000"/>
                  <a:invGamma/>
                  <a:alpha val="50000"/>
                </a:schemeClr>
              </a:outerShdw>
            </a:effectLst>
          </p:spPr>
        </p:cxnSp>
        <p:sp>
          <p:nvSpPr>
            <p:cNvPr id="17" name="文本框 16"/>
            <p:cNvSpPr txBox="1"/>
            <p:nvPr/>
          </p:nvSpPr>
          <p:spPr>
            <a:xfrm>
              <a:off x="5574" y="501"/>
              <a:ext cx="6773" cy="5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/>
            <a:p>
              <a:pPr indent="0" algn="ctr" fontAlgn="auto">
                <a:lnSpc>
                  <a:spcPct val="100000"/>
                </a:lnSpc>
                <a:buClr>
                  <a:srgbClr val="FF0000"/>
                </a:buClr>
              </a:pPr>
              <a:r>
                <a:rPr lang="zh-CN" altLang="en-US" sz="16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相邻压力、排量峰值间隔</a:t>
              </a:r>
              <a:r>
                <a:rPr lang="en-US" altLang="zh-CN" sz="16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&lt;</a:t>
              </a:r>
              <a:r>
                <a:rPr lang="zh-CN" altLang="en-US" sz="16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传播延迟</a:t>
              </a:r>
              <a:endParaRPr lang="zh-CN" alt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146" y="1362"/>
              <a:ext cx="4038" cy="9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/>
            <a:p>
              <a:pPr indent="0" algn="ctr" fontAlgn="auto">
                <a:lnSpc>
                  <a:spcPct val="100000"/>
                </a:lnSpc>
                <a:buClr>
                  <a:srgbClr val="FF0000"/>
                </a:buClr>
              </a:pPr>
              <a:r>
                <a:rPr lang="zh-CN" altLang="en-US" sz="16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排量变化引起的压力变化</a:t>
              </a:r>
              <a:endParaRPr lang="zh-CN" alt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indent="0" algn="ctr" fontAlgn="auto">
                <a:lnSpc>
                  <a:spcPct val="100000"/>
                </a:lnSpc>
                <a:buClr>
                  <a:srgbClr val="FF0000"/>
                </a:buClr>
              </a:pPr>
              <a:r>
                <a:rPr lang="zh-CN" altLang="en-US" sz="16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非裂缝扩展事件</a:t>
              </a:r>
              <a:endParaRPr lang="zh-CN" alt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任意多边形 19"/>
            <p:cNvSpPr/>
            <p:nvPr/>
          </p:nvSpPr>
          <p:spPr>
            <a:xfrm>
              <a:off x="5185" y="4466"/>
              <a:ext cx="2214" cy="2146"/>
            </a:xfrm>
            <a:custGeom>
              <a:avLst/>
              <a:gdLst>
                <a:gd name="connisteX0" fmla="*/ 0 w 3523615"/>
                <a:gd name="connsiteY0" fmla="*/ 2328702 h 2881465"/>
                <a:gd name="connisteX1" fmla="*/ 846455 w 3523615"/>
                <a:gd name="connsiteY1" fmla="*/ 2647472 h 2881465"/>
                <a:gd name="connisteX2" fmla="*/ 1941195 w 3523615"/>
                <a:gd name="connsiteY2" fmla="*/ 157 h 2881465"/>
                <a:gd name="connisteX3" fmla="*/ 2787015 w 3523615"/>
                <a:gd name="connsiteY3" fmla="*/ 2756692 h 2881465"/>
                <a:gd name="connisteX4" fmla="*/ 3523615 w 3523615"/>
                <a:gd name="connsiteY4" fmla="*/ 2189637 h 2881465"/>
                <a:gd name="connisteX5" fmla="*/ 3842385 w 3523615"/>
                <a:gd name="connsiteY5" fmla="*/ 1950877 h 288146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</a:cxnLst>
              <a:rect l="l" t="t" r="r" b="b"/>
              <a:pathLst>
                <a:path w="3523615" h="2881465">
                  <a:moveTo>
                    <a:pt x="0" y="2328703"/>
                  </a:moveTo>
                  <a:cubicBezTo>
                    <a:pt x="147320" y="2445543"/>
                    <a:pt x="458470" y="3112928"/>
                    <a:pt x="846455" y="2647473"/>
                  </a:cubicBezTo>
                  <a:cubicBezTo>
                    <a:pt x="1234440" y="2182018"/>
                    <a:pt x="1553210" y="-21432"/>
                    <a:pt x="1941195" y="158"/>
                  </a:cubicBezTo>
                  <a:cubicBezTo>
                    <a:pt x="2329180" y="21748"/>
                    <a:pt x="2470785" y="2318543"/>
                    <a:pt x="2787015" y="2756693"/>
                  </a:cubicBezTo>
                  <a:cubicBezTo>
                    <a:pt x="3103245" y="3194843"/>
                    <a:pt x="3312795" y="2350928"/>
                    <a:pt x="3523615" y="2189638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txBody>
            <a:bodyPr rot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>
                <a:lnSpc>
                  <a:spcPct val="180000"/>
                </a:lnSpc>
                <a:spcBef>
                  <a:spcPct val="20000"/>
                </a:spcBef>
                <a:buClr>
                  <a:srgbClr val="FF0000"/>
                </a:buClr>
                <a:buSzPct val="100000"/>
              </a:pPr>
              <a:endParaRPr lang="zh-CN" altLang="en-US" dirty="0" smtClean="0">
                <a:solidFill>
                  <a:schemeClr val="bg1"/>
                </a:solidFill>
                <a:latin typeface="Tahoma" panose="020B0604030504040204"/>
                <a:ea typeface="方正大黑简体" panose="02000000000000000000" pitchFamily="65" charset="-122"/>
              </a:endParaRPr>
            </a:p>
          </p:txBody>
        </p:sp>
        <p:sp>
          <p:nvSpPr>
            <p:cNvPr id="21" name="任意多边形 20"/>
            <p:cNvSpPr/>
            <p:nvPr/>
          </p:nvSpPr>
          <p:spPr>
            <a:xfrm>
              <a:off x="175" y="4470"/>
              <a:ext cx="2209" cy="2142"/>
            </a:xfrm>
            <a:custGeom>
              <a:avLst/>
              <a:gdLst>
                <a:gd name="connisteX0" fmla="*/ 0 w 3523615"/>
                <a:gd name="connsiteY0" fmla="*/ 2328702 h 2881465"/>
                <a:gd name="connisteX1" fmla="*/ 846455 w 3523615"/>
                <a:gd name="connsiteY1" fmla="*/ 2647472 h 2881465"/>
                <a:gd name="connisteX2" fmla="*/ 1941195 w 3523615"/>
                <a:gd name="connsiteY2" fmla="*/ 157 h 2881465"/>
                <a:gd name="connisteX3" fmla="*/ 2787015 w 3523615"/>
                <a:gd name="connsiteY3" fmla="*/ 2756692 h 2881465"/>
                <a:gd name="connisteX4" fmla="*/ 3523615 w 3523615"/>
                <a:gd name="connsiteY4" fmla="*/ 2189637 h 2881465"/>
                <a:gd name="connisteX5" fmla="*/ 3842385 w 3523615"/>
                <a:gd name="connsiteY5" fmla="*/ 1950877 h 288146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</a:cxnLst>
              <a:rect l="l" t="t" r="r" b="b"/>
              <a:pathLst>
                <a:path w="3523615" h="2881465">
                  <a:moveTo>
                    <a:pt x="0" y="2328703"/>
                  </a:moveTo>
                  <a:cubicBezTo>
                    <a:pt x="147320" y="2445543"/>
                    <a:pt x="458470" y="3112928"/>
                    <a:pt x="846455" y="2647473"/>
                  </a:cubicBezTo>
                  <a:cubicBezTo>
                    <a:pt x="1234440" y="2182018"/>
                    <a:pt x="1553210" y="-21432"/>
                    <a:pt x="1941195" y="158"/>
                  </a:cubicBezTo>
                  <a:cubicBezTo>
                    <a:pt x="2329180" y="21748"/>
                    <a:pt x="2470785" y="2318543"/>
                    <a:pt x="2787015" y="2756693"/>
                  </a:cubicBezTo>
                  <a:cubicBezTo>
                    <a:pt x="3103245" y="3194843"/>
                    <a:pt x="3312795" y="2350928"/>
                    <a:pt x="3523615" y="2189638"/>
                  </a:cubicBezTo>
                </a:path>
              </a:pathLst>
            </a:custGeom>
            <a:noFill/>
            <a:ln w="19050">
              <a:solidFill>
                <a:srgbClr val="0000FF"/>
              </a:solidFill>
            </a:ln>
          </p:spPr>
          <p:txBody>
            <a:bodyPr rot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>
                <a:lnSpc>
                  <a:spcPct val="180000"/>
                </a:lnSpc>
                <a:spcBef>
                  <a:spcPct val="20000"/>
                </a:spcBef>
                <a:buClr>
                  <a:srgbClr val="FF0000"/>
                </a:buClr>
                <a:buSzPct val="100000"/>
              </a:pPr>
              <a:endParaRPr lang="zh-CN" altLang="en-US" dirty="0" smtClean="0">
                <a:solidFill>
                  <a:schemeClr val="bg1"/>
                </a:solidFill>
                <a:latin typeface="Tahoma" panose="020B0604030504040204"/>
                <a:ea typeface="方正大黑简体" panose="02000000000000000000" pitchFamily="65" charset="-122"/>
              </a:endParaRPr>
            </a:p>
          </p:txBody>
        </p:sp>
        <p:cxnSp>
          <p:nvCxnSpPr>
            <p:cNvPr id="22" name="直接箭头连接符 21"/>
            <p:cNvCxnSpPr>
              <a:stCxn id="21" idx="2"/>
              <a:endCxn id="20" idx="2"/>
            </p:cNvCxnSpPr>
            <p:nvPr/>
          </p:nvCxnSpPr>
          <p:spPr>
            <a:xfrm flipV="1">
              <a:off x="1392" y="4466"/>
              <a:ext cx="5013" cy="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B050"/>
              </a:solidFill>
              <a:prstDash val="solid"/>
              <a:round/>
              <a:headEnd type="arrow" w="med" len="med"/>
              <a:tailEnd type="arrow" w="med" len="med"/>
            </a:ln>
            <a:effectLst>
              <a:outerShdw dist="17961" dir="2700000" algn="ctr" rotWithShape="0">
                <a:schemeClr val="tx1">
                  <a:gamma/>
                  <a:shade val="60000"/>
                  <a:invGamma/>
                  <a:alpha val="50000"/>
                </a:schemeClr>
              </a:outerShdw>
            </a:effectLst>
          </p:spPr>
        </p:cxnSp>
        <p:sp>
          <p:nvSpPr>
            <p:cNvPr id="29" name="文本框 28"/>
            <p:cNvSpPr txBox="1"/>
            <p:nvPr/>
          </p:nvSpPr>
          <p:spPr>
            <a:xfrm>
              <a:off x="1130" y="3798"/>
              <a:ext cx="5615" cy="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/>
            <a:p>
              <a:pPr indent="0" algn="ctr" fontAlgn="auto">
                <a:lnSpc>
                  <a:spcPct val="100000"/>
                </a:lnSpc>
                <a:buClr>
                  <a:srgbClr val="FF0000"/>
                </a:buClr>
              </a:pPr>
              <a:r>
                <a:rPr lang="zh-CN" altLang="en-US" sz="16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相邻压力、排量峰值间隔</a:t>
              </a:r>
              <a:r>
                <a:rPr lang="en-US" altLang="zh-CN" sz="16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&gt;</a:t>
              </a:r>
              <a:r>
                <a:rPr lang="zh-CN" altLang="en-US" sz="16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传播</a:t>
              </a:r>
              <a:r>
                <a:rPr lang="zh-CN" altLang="en-US" sz="16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延迟</a:t>
              </a:r>
              <a:endParaRPr lang="zh-CN" alt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0" name="右箭头 29"/>
            <p:cNvSpPr/>
            <p:nvPr/>
          </p:nvSpPr>
          <p:spPr>
            <a:xfrm>
              <a:off x="6937" y="5135"/>
              <a:ext cx="1652" cy="789"/>
            </a:xfrm>
            <a:prstGeom prst="rightArrow">
              <a:avLst/>
            </a:prstGeom>
            <a:solidFill>
              <a:srgbClr val="C00000"/>
            </a:solidFill>
          </p:spPr>
          <p:txBody>
            <a:bodyPr rot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>
                <a:lnSpc>
                  <a:spcPct val="180000"/>
                </a:lnSpc>
                <a:spcBef>
                  <a:spcPct val="20000"/>
                </a:spcBef>
                <a:buClr>
                  <a:srgbClr val="FF0000"/>
                </a:buClr>
                <a:buSzPct val="100000"/>
              </a:pPr>
              <a:endParaRPr lang="zh-CN" altLang="en-US" dirty="0" smtClean="0">
                <a:solidFill>
                  <a:schemeClr val="bg1"/>
                </a:solidFill>
                <a:latin typeface="Tahoma" panose="020B0604030504040204"/>
                <a:ea typeface="方正大黑简体" panose="02000000000000000000" pitchFamily="65" charset="-122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8429" y="5247"/>
              <a:ext cx="2285" cy="5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/>
            <a:p>
              <a:pPr indent="0" algn="ctr" fontAlgn="auto">
                <a:lnSpc>
                  <a:spcPct val="100000"/>
                </a:lnSpc>
                <a:buClr>
                  <a:srgbClr val="FF0000"/>
                </a:buClr>
              </a:pPr>
              <a:r>
                <a:rPr lang="zh-CN" altLang="en-US" sz="16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裂缝扩展事件</a:t>
              </a:r>
              <a:endParaRPr lang="zh-CN" alt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5360" y="850"/>
              <a:ext cx="1645" cy="5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/>
            <a:p>
              <a:pPr indent="0" algn="ctr" fontAlgn="auto">
                <a:lnSpc>
                  <a:spcPct val="100000"/>
                </a:lnSpc>
                <a:buClr>
                  <a:srgbClr val="FF0000"/>
                </a:buClr>
              </a:pPr>
              <a:r>
                <a:rPr lang="zh-CN" altLang="en-US" sz="1600" dirty="0">
                  <a:solidFill>
                    <a:srgbClr val="FFC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排量峰值</a:t>
              </a:r>
              <a:endParaRPr lang="zh-CN" altLang="en-US" sz="160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cxnSp>
          <p:nvCxnSpPr>
            <p:cNvPr id="34" name="直接箭头连接符 33"/>
            <p:cNvCxnSpPr>
              <a:stCxn id="32" idx="3"/>
              <a:endCxn id="10" idx="2"/>
            </p:cNvCxnSpPr>
            <p:nvPr/>
          </p:nvCxnSpPr>
          <p:spPr>
            <a:xfrm flipV="1">
              <a:off x="7005" y="1115"/>
              <a:ext cx="766" cy="1"/>
            </a:xfrm>
            <a:prstGeom prst="straightConnector1">
              <a:avLst/>
            </a:prstGeom>
            <a:ln w="31750" cap="rnd">
              <a:solidFill>
                <a:srgbClr val="FFC000"/>
              </a:solidFill>
              <a:round/>
              <a:headEnd type="none" w="med" len="med"/>
              <a:tailEnd type="arrow" w="med" len="me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7" name="文本框 36"/>
            <p:cNvSpPr txBox="1"/>
            <p:nvPr/>
          </p:nvSpPr>
          <p:spPr>
            <a:xfrm>
              <a:off x="10894" y="850"/>
              <a:ext cx="1645" cy="5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/>
            <a:p>
              <a:pPr indent="0" algn="ctr" fontAlgn="auto">
                <a:lnSpc>
                  <a:spcPct val="100000"/>
                </a:lnSpc>
                <a:buClr>
                  <a:srgbClr val="FF0000"/>
                </a:buClr>
              </a:pPr>
              <a:r>
                <a:rPr lang="zh-CN" altLang="en-US" sz="1600" dirty="0">
                  <a:solidFill>
                    <a:srgbClr val="FFC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压力峰值</a:t>
              </a:r>
              <a:endParaRPr lang="zh-CN" altLang="en-US" sz="160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cxnSp>
          <p:nvCxnSpPr>
            <p:cNvPr id="38" name="直接箭头连接符 37"/>
            <p:cNvCxnSpPr>
              <a:stCxn id="37" idx="1"/>
              <a:endCxn id="7" idx="2"/>
            </p:cNvCxnSpPr>
            <p:nvPr/>
          </p:nvCxnSpPr>
          <p:spPr>
            <a:xfrm flipH="1" flipV="1">
              <a:off x="9983" y="1111"/>
              <a:ext cx="911" cy="5"/>
            </a:xfrm>
            <a:prstGeom prst="straightConnector1">
              <a:avLst/>
            </a:prstGeom>
            <a:ln w="31750" cap="rnd">
              <a:solidFill>
                <a:srgbClr val="FFC000"/>
              </a:solidFill>
              <a:round/>
              <a:headEnd type="none" w="med" len="med"/>
              <a:tailEnd type="arrow" w="med" len="me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8" name="任意多边形 7"/>
            <p:cNvSpPr/>
            <p:nvPr/>
          </p:nvSpPr>
          <p:spPr>
            <a:xfrm>
              <a:off x="14816" y="2072"/>
              <a:ext cx="2214" cy="4506"/>
            </a:xfrm>
            <a:custGeom>
              <a:avLst/>
              <a:gdLst>
                <a:gd name="connisteX0" fmla="*/ 0 w 3523615"/>
                <a:gd name="connsiteY0" fmla="*/ 2328702 h 2881465"/>
                <a:gd name="connisteX1" fmla="*/ 846455 w 3523615"/>
                <a:gd name="connsiteY1" fmla="*/ 2647472 h 2881465"/>
                <a:gd name="connisteX2" fmla="*/ 1941195 w 3523615"/>
                <a:gd name="connsiteY2" fmla="*/ 157 h 2881465"/>
                <a:gd name="connisteX3" fmla="*/ 2787015 w 3523615"/>
                <a:gd name="connsiteY3" fmla="*/ 2756692 h 2881465"/>
                <a:gd name="connisteX4" fmla="*/ 3523615 w 3523615"/>
                <a:gd name="connsiteY4" fmla="*/ 2189637 h 2881465"/>
                <a:gd name="connisteX5" fmla="*/ 3842385 w 3523615"/>
                <a:gd name="connsiteY5" fmla="*/ 1950877 h 288146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</a:cxnLst>
              <a:rect l="l" t="t" r="r" b="b"/>
              <a:pathLst>
                <a:path w="3523615" h="2881465">
                  <a:moveTo>
                    <a:pt x="0" y="2328703"/>
                  </a:moveTo>
                  <a:cubicBezTo>
                    <a:pt x="147320" y="2445543"/>
                    <a:pt x="458470" y="3112928"/>
                    <a:pt x="846455" y="2647473"/>
                  </a:cubicBezTo>
                  <a:cubicBezTo>
                    <a:pt x="1234440" y="2182018"/>
                    <a:pt x="1553210" y="-21432"/>
                    <a:pt x="1941195" y="158"/>
                  </a:cubicBezTo>
                  <a:cubicBezTo>
                    <a:pt x="2329180" y="21748"/>
                    <a:pt x="2470785" y="2318543"/>
                    <a:pt x="2787015" y="2756693"/>
                  </a:cubicBezTo>
                  <a:cubicBezTo>
                    <a:pt x="3103245" y="3194843"/>
                    <a:pt x="3312795" y="2350928"/>
                    <a:pt x="3523615" y="2189638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txBody>
            <a:bodyPr rot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>
                <a:lnSpc>
                  <a:spcPct val="180000"/>
                </a:lnSpc>
                <a:spcBef>
                  <a:spcPct val="20000"/>
                </a:spcBef>
                <a:buClr>
                  <a:srgbClr val="FF0000"/>
                </a:buClr>
                <a:buSzPct val="100000"/>
              </a:pPr>
              <a:endParaRPr lang="zh-CN" altLang="en-US" dirty="0" smtClean="0">
                <a:solidFill>
                  <a:schemeClr val="bg1"/>
                </a:solidFill>
                <a:latin typeface="Tahoma" panose="020B0604030504040204"/>
                <a:ea typeface="方正大黑简体" panose="02000000000000000000" pitchFamily="65" charset="-122"/>
              </a:endParaRPr>
            </a:p>
          </p:txBody>
        </p:sp>
        <p:sp>
          <p:nvSpPr>
            <p:cNvPr id="9" name="任意多边形 8"/>
            <p:cNvSpPr/>
            <p:nvPr/>
          </p:nvSpPr>
          <p:spPr>
            <a:xfrm>
              <a:off x="12607" y="4436"/>
              <a:ext cx="2209" cy="2142"/>
            </a:xfrm>
            <a:custGeom>
              <a:avLst/>
              <a:gdLst>
                <a:gd name="connisteX0" fmla="*/ 0 w 3523615"/>
                <a:gd name="connsiteY0" fmla="*/ 2328702 h 2881465"/>
                <a:gd name="connisteX1" fmla="*/ 846455 w 3523615"/>
                <a:gd name="connsiteY1" fmla="*/ 2647472 h 2881465"/>
                <a:gd name="connisteX2" fmla="*/ 1941195 w 3523615"/>
                <a:gd name="connsiteY2" fmla="*/ 157 h 2881465"/>
                <a:gd name="connisteX3" fmla="*/ 2787015 w 3523615"/>
                <a:gd name="connsiteY3" fmla="*/ 2756692 h 2881465"/>
                <a:gd name="connisteX4" fmla="*/ 3523615 w 3523615"/>
                <a:gd name="connsiteY4" fmla="*/ 2189637 h 2881465"/>
                <a:gd name="connisteX5" fmla="*/ 3842385 w 3523615"/>
                <a:gd name="connsiteY5" fmla="*/ 1950877 h 288146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</a:cxnLst>
              <a:rect l="l" t="t" r="r" b="b"/>
              <a:pathLst>
                <a:path w="3523615" h="2881465">
                  <a:moveTo>
                    <a:pt x="0" y="2328703"/>
                  </a:moveTo>
                  <a:cubicBezTo>
                    <a:pt x="147320" y="2445543"/>
                    <a:pt x="458470" y="3112928"/>
                    <a:pt x="846455" y="2647473"/>
                  </a:cubicBezTo>
                  <a:cubicBezTo>
                    <a:pt x="1234440" y="2182018"/>
                    <a:pt x="1553210" y="-21432"/>
                    <a:pt x="1941195" y="158"/>
                  </a:cubicBezTo>
                  <a:cubicBezTo>
                    <a:pt x="2329180" y="21748"/>
                    <a:pt x="2470785" y="2318543"/>
                    <a:pt x="2787015" y="2756693"/>
                  </a:cubicBezTo>
                  <a:cubicBezTo>
                    <a:pt x="3103245" y="3194843"/>
                    <a:pt x="3312795" y="2350928"/>
                    <a:pt x="3523615" y="2189638"/>
                  </a:cubicBezTo>
                </a:path>
              </a:pathLst>
            </a:custGeom>
            <a:noFill/>
            <a:ln w="19050">
              <a:solidFill>
                <a:srgbClr val="0000FF"/>
              </a:solidFill>
            </a:ln>
          </p:spPr>
          <p:txBody>
            <a:bodyPr rot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>
                <a:lnSpc>
                  <a:spcPct val="180000"/>
                </a:lnSpc>
                <a:spcBef>
                  <a:spcPct val="20000"/>
                </a:spcBef>
                <a:buClr>
                  <a:srgbClr val="FF0000"/>
                </a:buClr>
                <a:buSzPct val="100000"/>
              </a:pPr>
              <a:endParaRPr lang="zh-CN" altLang="en-US" dirty="0" smtClean="0">
                <a:solidFill>
                  <a:schemeClr val="bg1"/>
                </a:solidFill>
                <a:latin typeface="Tahoma" panose="020B0604030504040204"/>
                <a:ea typeface="方正大黑简体" panose="02000000000000000000" pitchFamily="65" charset="-122"/>
              </a:endParaRPr>
            </a:p>
          </p:txBody>
        </p:sp>
        <p:cxnSp>
          <p:nvCxnSpPr>
            <p:cNvPr id="13" name="直接箭头连接符 12"/>
            <p:cNvCxnSpPr>
              <a:stCxn id="9" idx="2"/>
              <a:endCxn id="8" idx="2"/>
            </p:cNvCxnSpPr>
            <p:nvPr/>
          </p:nvCxnSpPr>
          <p:spPr>
            <a:xfrm flipV="1">
              <a:off x="13824" y="2072"/>
              <a:ext cx="2212" cy="236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B050"/>
              </a:solidFill>
              <a:prstDash val="solid"/>
              <a:round/>
              <a:headEnd type="arrow" w="med" len="med"/>
              <a:tailEnd type="arrow" w="med" len="med"/>
            </a:ln>
            <a:effectLst>
              <a:outerShdw dist="17961" dir="2700000" algn="ctr" rotWithShape="0">
                <a:schemeClr val="tx1">
                  <a:gamma/>
                  <a:shade val="60000"/>
                  <a:invGamma/>
                  <a:alpha val="50000"/>
                </a:schemeClr>
              </a:outerShdw>
            </a:effectLst>
          </p:spPr>
        </p:cxnSp>
        <p:sp>
          <p:nvSpPr>
            <p:cNvPr id="14" name="右箭头 13"/>
            <p:cNvSpPr/>
            <p:nvPr/>
          </p:nvSpPr>
          <p:spPr>
            <a:xfrm flipH="1">
              <a:off x="10558" y="5135"/>
              <a:ext cx="1964" cy="789"/>
            </a:xfrm>
            <a:prstGeom prst="rightArrow">
              <a:avLst/>
            </a:prstGeom>
            <a:solidFill>
              <a:srgbClr val="C00000"/>
            </a:solidFill>
          </p:spPr>
          <p:txBody>
            <a:bodyPr rot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>
                <a:lnSpc>
                  <a:spcPct val="180000"/>
                </a:lnSpc>
                <a:spcBef>
                  <a:spcPct val="20000"/>
                </a:spcBef>
                <a:buClr>
                  <a:srgbClr val="FF0000"/>
                </a:buClr>
                <a:buSzPct val="100000"/>
              </a:pPr>
              <a:endParaRPr lang="zh-CN" altLang="en-US" dirty="0" smtClean="0">
                <a:solidFill>
                  <a:schemeClr val="bg1"/>
                </a:solidFill>
                <a:latin typeface="Tahoma" panose="020B0604030504040204"/>
                <a:ea typeface="方正大黑简体" panose="02000000000000000000" pitchFamily="65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2934" y="1158"/>
              <a:ext cx="5573" cy="8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/>
            <a:p>
              <a:pPr indent="0" algn="ctr" fontAlgn="auto">
                <a:lnSpc>
                  <a:spcPct val="100000"/>
                </a:lnSpc>
                <a:buClr>
                  <a:srgbClr val="FF0000"/>
                </a:buClr>
              </a:pPr>
              <a:r>
                <a:rPr lang="zh-CN" altLang="en-US" sz="16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相邻压力、排量峰值间隔</a:t>
              </a:r>
              <a:r>
                <a:rPr lang="en-US" altLang="zh-CN" sz="16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&lt;</a:t>
              </a:r>
              <a:r>
                <a:rPr lang="zh-CN" altLang="en-US" sz="16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传播延迟</a:t>
              </a:r>
              <a:endParaRPr lang="zh-CN" alt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indent="0" algn="ctr" fontAlgn="auto">
                <a:lnSpc>
                  <a:spcPct val="100000"/>
                </a:lnSpc>
                <a:buClr>
                  <a:srgbClr val="FF0000"/>
                </a:buClr>
              </a:pPr>
              <a:r>
                <a:rPr lang="zh-CN" altLang="en-US" sz="16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但压力峰值显著高于排量</a:t>
              </a:r>
              <a:r>
                <a:rPr lang="zh-CN" altLang="en-US" sz="16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峰值</a:t>
              </a:r>
              <a:endParaRPr lang="zh-CN" alt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右箭头 15"/>
            <p:cNvSpPr/>
            <p:nvPr/>
          </p:nvSpPr>
          <p:spPr>
            <a:xfrm flipH="1">
              <a:off x="5185" y="1390"/>
              <a:ext cx="1964" cy="789"/>
            </a:xfrm>
            <a:prstGeom prst="rightArrow">
              <a:avLst/>
            </a:prstGeom>
            <a:solidFill>
              <a:srgbClr val="C00000"/>
            </a:solidFill>
          </p:spPr>
          <p:txBody>
            <a:bodyPr rot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>
                <a:lnSpc>
                  <a:spcPct val="180000"/>
                </a:lnSpc>
                <a:spcBef>
                  <a:spcPct val="20000"/>
                </a:spcBef>
                <a:buClr>
                  <a:srgbClr val="FF0000"/>
                </a:buClr>
                <a:buSzPct val="100000"/>
              </a:pPr>
              <a:endParaRPr lang="zh-CN" altLang="en-US" dirty="0" smtClean="0">
                <a:solidFill>
                  <a:schemeClr val="bg1"/>
                </a:solidFill>
                <a:latin typeface="Tahoma" panose="020B0604030504040204"/>
                <a:ea typeface="方正大黑简体" panose="02000000000000000000" pitchFamily="65" charset="-122"/>
              </a:endParaRPr>
            </a:p>
          </p:txBody>
        </p:sp>
      </p:grpSp>
      <p:pic>
        <p:nvPicPr>
          <p:cNvPr id="114" name="图片 113" descr="test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1975" y="4366362"/>
            <a:ext cx="3570001" cy="2520000"/>
          </a:xfrm>
          <a:prstGeom prst="rect">
            <a:avLst/>
          </a:prstGeom>
        </p:spPr>
      </p:pic>
      <p:pic>
        <p:nvPicPr>
          <p:cNvPr id="124" name="图片 123" descr="test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859" y="4366362"/>
            <a:ext cx="3570001" cy="2520000"/>
          </a:xfrm>
          <a:prstGeom prst="rect">
            <a:avLst/>
          </a:prstGeom>
        </p:spPr>
      </p:pic>
      <p:pic>
        <p:nvPicPr>
          <p:cNvPr id="125" name="图片 124" descr="test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6" y="4366362"/>
            <a:ext cx="3570001" cy="2520000"/>
          </a:xfrm>
          <a:prstGeom prst="rect">
            <a:avLst/>
          </a:prstGeom>
        </p:spPr>
      </p:pic>
      <p:sp>
        <p:nvSpPr>
          <p:cNvPr id="133" name="文本框 132"/>
          <p:cNvSpPr txBox="1"/>
          <p:nvPr/>
        </p:nvSpPr>
        <p:spPr>
          <a:xfrm>
            <a:off x="4225641" y="5150987"/>
            <a:ext cx="721360" cy="639445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>
              <a:lnSpc>
                <a:spcPct val="100000"/>
              </a:lnSpc>
              <a:buClr>
                <a:srgbClr val="FF0000"/>
              </a:buClr>
            </a:pPr>
            <a:endParaRPr lang="en-US" altLang="zh-CN" sz="32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右箭头 5"/>
          <p:cNvSpPr/>
          <p:nvPr/>
        </p:nvSpPr>
        <p:spPr>
          <a:xfrm>
            <a:off x="7443470" y="5151120"/>
            <a:ext cx="707390" cy="683895"/>
          </a:xfrm>
          <a:prstGeom prst="rightArrow">
            <a:avLst/>
          </a:prstGeom>
          <a:solidFill>
            <a:srgbClr val="C00000"/>
          </a:solidFill>
        </p:spPr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lnSpc>
                <a:spcPct val="180000"/>
              </a:lnSpc>
              <a:spcBef>
                <a:spcPct val="20000"/>
              </a:spcBef>
              <a:buClr>
                <a:srgbClr val="FF0000"/>
              </a:buClr>
              <a:buSzPct val="100000"/>
            </a:pPr>
            <a:endParaRPr lang="zh-CN" altLang="en-US" dirty="0" smtClean="0">
              <a:solidFill>
                <a:schemeClr val="bg1"/>
              </a:solidFill>
              <a:latin typeface="Tahoma" panose="020B0604030504040204"/>
              <a:ea typeface="方正大黑简体" panose="02000000000000000000" pitchFamily="65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11125" y="6858000"/>
            <a:ext cx="3459480" cy="338455"/>
          </a:xfrm>
          <a:prstGeom prst="rect">
            <a:avLst/>
          </a:prstGeom>
          <a:noFill/>
          <a:ln>
            <a:noFill/>
          </a:ln>
        </p:spPr>
        <p:txBody>
          <a:bodyPr wrap="square"/>
          <a:p>
            <a:pPr indent="0" algn="ctr" fontAlgn="auto">
              <a:lnSpc>
                <a:spcPct val="100000"/>
              </a:lnSpc>
              <a:buClr>
                <a:srgbClr val="FF0000"/>
              </a:buClr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压力小波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能量</a:t>
            </a:r>
            <a:endParaRPr lang="zh-CN" altLang="en-US" sz="16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721735" y="6858000"/>
            <a:ext cx="3570605" cy="338455"/>
          </a:xfrm>
          <a:prstGeom prst="rect">
            <a:avLst/>
          </a:prstGeom>
          <a:noFill/>
          <a:ln>
            <a:noFill/>
          </a:ln>
        </p:spPr>
        <p:txBody>
          <a:bodyPr wrap="square"/>
          <a:p>
            <a:pPr indent="0" algn="ctr" fontAlgn="auto">
              <a:lnSpc>
                <a:spcPct val="100000"/>
              </a:lnSpc>
              <a:buClr>
                <a:srgbClr val="FF0000"/>
              </a:buClr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排量小波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能量</a:t>
            </a:r>
            <a:endParaRPr lang="zh-CN" altLang="en-US" sz="16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13090" y="6858000"/>
            <a:ext cx="3538855" cy="338455"/>
          </a:xfrm>
          <a:prstGeom prst="rect">
            <a:avLst/>
          </a:prstGeom>
          <a:noFill/>
          <a:ln>
            <a:noFill/>
          </a:ln>
        </p:spPr>
        <p:txBody>
          <a:bodyPr wrap="square"/>
          <a:p>
            <a:pPr indent="0" algn="ctr" fontAlgn="auto">
              <a:lnSpc>
                <a:spcPct val="100000"/>
              </a:lnSpc>
              <a:buClr>
                <a:srgbClr val="FF0000"/>
              </a:buClr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裂缝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扩展能量</a:t>
            </a:r>
            <a:endParaRPr lang="zh-CN" altLang="en-US" sz="16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323</Words>
  <Application>WPS 演示</Application>
  <PresentationFormat>宽屏</PresentationFormat>
  <Paragraphs>74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5" baseType="lpstr">
      <vt:lpstr>Arial</vt:lpstr>
      <vt:lpstr>宋体</vt:lpstr>
      <vt:lpstr>Wingdings</vt:lpstr>
      <vt:lpstr>Arial Unicode MS</vt:lpstr>
      <vt:lpstr>Calibri</vt:lpstr>
      <vt:lpstr>微软雅黑</vt:lpstr>
      <vt:lpstr>Tahoma</vt:lpstr>
      <vt:lpstr>方正大黑简体</vt:lpstr>
      <vt:lpstr>Times New Roman</vt:lpstr>
      <vt:lpstr>Times New Roman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dyt</dc:creator>
  <cp:lastModifiedBy>Tan Wenlu</cp:lastModifiedBy>
  <cp:revision>6</cp:revision>
  <dcterms:created xsi:type="dcterms:W3CDTF">2023-08-09T12:44:00Z</dcterms:created>
  <dcterms:modified xsi:type="dcterms:W3CDTF">2026-05-15T12:52:44Z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3613E251B2AB4B419D5E9E7969420F0B_12</vt:lpwstr>
  </property>
</Properties>
</file>