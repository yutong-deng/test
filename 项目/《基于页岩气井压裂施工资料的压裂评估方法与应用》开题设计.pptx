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2" r:id="rId4"/>
    <p:sldMasterId id="2147483664" r:id="rId5"/>
    <p:sldMasterId id="2147483677" r:id="rId6"/>
    <p:sldMasterId id="2147483682" r:id="rId7"/>
  </p:sldMasterIdLst>
  <p:notesMasterIdLst>
    <p:notesMasterId r:id="rId52"/>
  </p:notesMasterIdLst>
  <p:handoutMasterIdLst>
    <p:handoutMasterId r:id="rId53"/>
  </p:handoutMasterIdLst>
  <p:sldIdLst>
    <p:sldId id="257" r:id="rId8"/>
    <p:sldId id="258" r:id="rId9"/>
    <p:sldId id="259" r:id="rId10"/>
    <p:sldId id="260" r:id="rId11"/>
    <p:sldId id="316" r:id="rId12"/>
    <p:sldId id="312" r:id="rId13"/>
    <p:sldId id="326" r:id="rId14"/>
    <p:sldId id="327" r:id="rId15"/>
    <p:sldId id="2003" r:id="rId16"/>
    <p:sldId id="2004" r:id="rId17"/>
    <p:sldId id="2006" r:id="rId18"/>
    <p:sldId id="323" r:id="rId19"/>
    <p:sldId id="320" r:id="rId20"/>
    <p:sldId id="1995" r:id="rId21"/>
    <p:sldId id="1996" r:id="rId22"/>
    <p:sldId id="1983" r:id="rId23"/>
    <p:sldId id="267" r:id="rId24"/>
    <p:sldId id="268" r:id="rId25"/>
    <p:sldId id="269" r:id="rId26"/>
    <p:sldId id="1997" r:id="rId27"/>
    <p:sldId id="2001" r:id="rId28"/>
    <p:sldId id="274" r:id="rId29"/>
    <p:sldId id="1998" r:id="rId30"/>
    <p:sldId id="2000" r:id="rId31"/>
    <p:sldId id="1985" r:id="rId32"/>
    <p:sldId id="1999" r:id="rId33"/>
    <p:sldId id="271" r:id="rId34"/>
    <p:sldId id="272" r:id="rId35"/>
    <p:sldId id="1987" r:id="rId36"/>
    <p:sldId id="1988" r:id="rId37"/>
    <p:sldId id="2002" r:id="rId38"/>
    <p:sldId id="279" r:id="rId39"/>
    <p:sldId id="281" r:id="rId40"/>
    <p:sldId id="282" r:id="rId41"/>
    <p:sldId id="283" r:id="rId42"/>
    <p:sldId id="1993" r:id="rId43"/>
    <p:sldId id="1989" r:id="rId44"/>
    <p:sldId id="287" r:id="rId45"/>
    <p:sldId id="288" r:id="rId46"/>
    <p:sldId id="289" r:id="rId47"/>
    <p:sldId id="1994" r:id="rId48"/>
    <p:sldId id="1990" r:id="rId49"/>
    <p:sldId id="1991" r:id="rId50"/>
    <p:sldId id="1982"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5" userDrawn="1">
          <p15:clr>
            <a:srgbClr val="A4A3A4"/>
          </p15:clr>
        </p15:guide>
        <p15:guide id="2" pos="257" userDrawn="1">
          <p15:clr>
            <a:srgbClr val="A4A3A4"/>
          </p15:clr>
        </p15:guide>
        <p15:guide id="3" pos="7558" userDrawn="1">
          <p15:clr>
            <a:srgbClr val="A4A3A4"/>
          </p15:clr>
        </p15:guide>
        <p15:guide id="4" orient="horz" pos="739" userDrawn="1">
          <p15:clr>
            <a:srgbClr val="A4A3A4"/>
          </p15:clr>
        </p15:guide>
        <p15:guide id="5" pos="5473" userDrawn="1">
          <p15:clr>
            <a:srgbClr val="A4A3A4"/>
          </p15:clr>
        </p15:guide>
        <p15:guide id="6" pos="70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0" autoAdjust="0"/>
    <p:restoredTop sz="94704"/>
  </p:normalViewPr>
  <p:slideViewPr>
    <p:cSldViewPr showGuides="1">
      <p:cViewPr varScale="1">
        <p:scale>
          <a:sx n="106" d="100"/>
          <a:sy n="106" d="100"/>
        </p:scale>
        <p:origin x="948" y="114"/>
      </p:cViewPr>
      <p:guideLst>
        <p:guide pos="3835"/>
        <p:guide pos="257"/>
        <p:guide pos="7558"/>
        <p:guide orient="horz" pos="739"/>
        <p:guide pos="5473"/>
        <p:guide pos="7015"/>
      </p:guideLst>
    </p:cSldViewPr>
  </p:slideViewPr>
  <p:notesTextViewPr>
    <p:cViewPr>
      <p:scale>
        <a:sx n="1" d="1"/>
        <a:sy n="1" d="1"/>
      </p:scale>
      <p:origin x="0" y="0"/>
    </p:cViewPr>
  </p:notesTextViewPr>
  <p:notesViewPr>
    <p:cSldViewPr>
      <p:cViewPr varScale="1">
        <p:scale>
          <a:sx n="61" d="100"/>
          <a:sy n="61" d="100"/>
        </p:scale>
        <p:origin x="3168" y="3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notesMaster" Target="notesMasters/notesMaster1.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DF3D6E-3D2A-43D9-A636-40B61291739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D332E4-F2FB-4B33-B40C-08B637B3CA0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7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97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F6546-1188-450A-BE6C-8A899FA597C9}" type="datetimeFigureOut">
              <a:rPr lang="zh-CN" altLang="en-US" smtClean="0"/>
            </a:fld>
            <a:endParaRPr lang="zh-CN" altLang="en-US"/>
          </a:p>
        </p:txBody>
      </p:sp>
      <p:sp>
        <p:nvSpPr>
          <p:cNvPr id="104897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97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97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97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62BE39-F644-4EC3-A511-DD414CEA4E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2075" y="746125"/>
            <a:ext cx="6623050" cy="372586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67460" rtl="0" eaLnBrk="1" fontAlgn="auto" latinLnBrk="0" hangingPunct="1">
              <a:lnSpc>
                <a:spcPct val="100000"/>
              </a:lnSpc>
              <a:spcBef>
                <a:spcPts val="0"/>
              </a:spcBef>
              <a:spcAft>
                <a:spcPts val="0"/>
              </a:spcAft>
              <a:buClrTx/>
              <a:buSzTx/>
              <a:buFontTx/>
              <a:buNone/>
              <a:defRPr/>
            </a:pPr>
            <a:fld id="{ED49F4F5-F2C7-4E00-80F5-648EA93B0845}" type="slidenum">
              <a:rPr kumimoji="0" lang="en-US" altLang="zh-CN" sz="17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fld>
            <a:endParaRPr kumimoji="0" lang="en-US" altLang="zh-CN" sz="17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56"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1048857"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048858" name="Date Placeholder 3"/>
          <p:cNvSpPr>
            <a:spLocks noGrp="1"/>
          </p:cNvSpPr>
          <p:nvPr>
            <p:ph type="dt" sz="half" idx="10"/>
          </p:nvPr>
        </p:nvSpPr>
        <p:spPr/>
        <p:txBody>
          <a:bodyPr/>
          <a:lstStyle/>
          <a:p>
            <a:endParaRPr lang="en-US" altLang="zh-CN"/>
          </a:p>
        </p:txBody>
      </p:sp>
      <p:sp>
        <p:nvSpPr>
          <p:cNvPr id="1048859" name="Footer Placeholder 4"/>
          <p:cNvSpPr>
            <a:spLocks noGrp="1"/>
          </p:cNvSpPr>
          <p:nvPr>
            <p:ph type="ftr" sz="quarter" idx="11"/>
          </p:nvPr>
        </p:nvSpPr>
        <p:spPr/>
        <p:txBody>
          <a:bodyPr/>
          <a:lstStyle/>
          <a:p>
            <a:endParaRPr lang="en-US" altLang="zh-CN"/>
          </a:p>
        </p:txBody>
      </p:sp>
      <p:sp>
        <p:nvSpPr>
          <p:cNvPr id="1048860" name="Slide Number Placeholder 5"/>
          <p:cNvSpPr>
            <a:spLocks noGrp="1"/>
          </p:cNvSpPr>
          <p:nvPr>
            <p:ph type="sldNum" sz="quarter" idx="12"/>
          </p:nvPr>
        </p:nvSpPr>
        <p:spPr/>
        <p:txBody>
          <a:bodyPr/>
          <a:lstStyle/>
          <a:p>
            <a:pPr algn="r">
              <a:buNone/>
            </a:pPr>
            <a:fld id="{9A0DB2DC-4C9A-4742-B13C-FB6460FD3503}" type="slidenum">
              <a:rPr lang="en-US" altLang="zh-CN" smtClean="0"/>
            </a:fld>
            <a:endParaRPr lang="en-US" altLang="zh-CN" dirty="0"/>
          </a:p>
        </p:txBody>
      </p:sp>
      <p:sp>
        <p:nvSpPr>
          <p:cNvPr id="1048861" name="Line 2"/>
          <p:cNvSpPr/>
          <p:nvPr userDrawn="1"/>
        </p:nvSpPr>
        <p:spPr>
          <a:xfrm>
            <a:off x="0" y="573088"/>
            <a:ext cx="12192000" cy="0"/>
          </a:xfrm>
          <a:prstGeom prst="line">
            <a:avLst/>
          </a:prstGeom>
          <a:ln w="38100" cap="flat" cmpd="sng">
            <a:solidFill>
              <a:srgbClr val="FF0000"/>
            </a:solidFill>
            <a:prstDash val="solid"/>
            <a:headEnd type="none" w="med" len="med"/>
            <a:tailEnd type="none" w="med" len="med"/>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871" name="Title 1"/>
          <p:cNvSpPr>
            <a:spLocks noGrp="1"/>
          </p:cNvSpPr>
          <p:nvPr>
            <p:ph type="title"/>
          </p:nvPr>
        </p:nvSpPr>
        <p:spPr/>
        <p:txBody>
          <a:bodyPr/>
          <a:lstStyle/>
          <a:p>
            <a:r>
              <a:rPr lang="zh-CN" altLang="en-US"/>
              <a:t>单击此处编辑母版标题样式</a:t>
            </a:r>
            <a:endParaRPr lang="en-US" dirty="0"/>
          </a:p>
        </p:txBody>
      </p:sp>
      <p:sp>
        <p:nvSpPr>
          <p:cNvPr id="1048872"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873" name="Date Placeholder 3"/>
          <p:cNvSpPr>
            <a:spLocks noGrp="1"/>
          </p:cNvSpPr>
          <p:nvPr>
            <p:ph type="dt" sz="half" idx="10"/>
          </p:nvPr>
        </p:nvSpPr>
        <p:spPr/>
        <p:txBody>
          <a:bodyPr/>
          <a:lstStyle/>
          <a:p>
            <a:endParaRPr lang="en-US" altLang="zh-CN"/>
          </a:p>
        </p:txBody>
      </p:sp>
      <p:sp>
        <p:nvSpPr>
          <p:cNvPr id="1048874" name="Footer Placeholder 4"/>
          <p:cNvSpPr>
            <a:spLocks noGrp="1"/>
          </p:cNvSpPr>
          <p:nvPr>
            <p:ph type="ftr" sz="quarter" idx="11"/>
          </p:nvPr>
        </p:nvSpPr>
        <p:spPr/>
        <p:txBody>
          <a:bodyPr/>
          <a:lstStyle/>
          <a:p>
            <a:endParaRPr lang="en-US" altLang="zh-CN"/>
          </a:p>
        </p:txBody>
      </p:sp>
      <p:sp>
        <p:nvSpPr>
          <p:cNvPr id="1048875" name="Slide Number Placeholder 5"/>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87"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1048888"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48889" name="Date Placeholder 3"/>
          <p:cNvSpPr>
            <a:spLocks noGrp="1"/>
          </p:cNvSpPr>
          <p:nvPr>
            <p:ph type="dt" sz="half" idx="10"/>
          </p:nvPr>
        </p:nvSpPr>
        <p:spPr/>
        <p:txBody>
          <a:bodyPr/>
          <a:lstStyle/>
          <a:p>
            <a:endParaRPr lang="en-US" altLang="zh-CN"/>
          </a:p>
        </p:txBody>
      </p:sp>
      <p:sp>
        <p:nvSpPr>
          <p:cNvPr id="1048890" name="Footer Placeholder 4"/>
          <p:cNvSpPr>
            <a:spLocks noGrp="1"/>
          </p:cNvSpPr>
          <p:nvPr>
            <p:ph type="ftr" sz="quarter" idx="11"/>
          </p:nvPr>
        </p:nvSpPr>
        <p:spPr/>
        <p:txBody>
          <a:bodyPr/>
          <a:lstStyle/>
          <a:p>
            <a:endParaRPr lang="en-US" altLang="zh-CN"/>
          </a:p>
        </p:txBody>
      </p:sp>
      <p:sp>
        <p:nvSpPr>
          <p:cNvPr id="1048891" name="Slide Number Placeholder 5"/>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92" name="Title 1"/>
          <p:cNvSpPr>
            <a:spLocks noGrp="1"/>
          </p:cNvSpPr>
          <p:nvPr>
            <p:ph type="title"/>
          </p:nvPr>
        </p:nvSpPr>
        <p:spPr/>
        <p:txBody>
          <a:bodyPr/>
          <a:lstStyle/>
          <a:p>
            <a:r>
              <a:rPr lang="zh-CN" altLang="en-US"/>
              <a:t>单击此处编辑母版标题样式</a:t>
            </a:r>
            <a:endParaRPr lang="en-US" dirty="0"/>
          </a:p>
        </p:txBody>
      </p:sp>
      <p:sp>
        <p:nvSpPr>
          <p:cNvPr id="104889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89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895" name="Date Placeholder 4"/>
          <p:cNvSpPr>
            <a:spLocks noGrp="1"/>
          </p:cNvSpPr>
          <p:nvPr>
            <p:ph type="dt" sz="half" idx="10"/>
          </p:nvPr>
        </p:nvSpPr>
        <p:spPr/>
        <p:txBody>
          <a:bodyPr/>
          <a:lstStyle/>
          <a:p>
            <a:endParaRPr lang="en-US" altLang="zh-CN"/>
          </a:p>
        </p:txBody>
      </p:sp>
      <p:sp>
        <p:nvSpPr>
          <p:cNvPr id="1048896" name="Footer Placeholder 5"/>
          <p:cNvSpPr>
            <a:spLocks noGrp="1"/>
          </p:cNvSpPr>
          <p:nvPr>
            <p:ph type="ftr" sz="quarter" idx="11"/>
          </p:nvPr>
        </p:nvSpPr>
        <p:spPr/>
        <p:txBody>
          <a:bodyPr/>
          <a:lstStyle/>
          <a:p>
            <a:endParaRPr lang="en-US" altLang="zh-CN"/>
          </a:p>
        </p:txBody>
      </p:sp>
      <p:sp>
        <p:nvSpPr>
          <p:cNvPr id="1048897" name="Slide Number Placeholder 6"/>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98"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1048899"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8900"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901"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8902"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903" name="Date Placeholder 6"/>
          <p:cNvSpPr>
            <a:spLocks noGrp="1"/>
          </p:cNvSpPr>
          <p:nvPr>
            <p:ph type="dt" sz="half" idx="10"/>
          </p:nvPr>
        </p:nvSpPr>
        <p:spPr/>
        <p:txBody>
          <a:bodyPr/>
          <a:lstStyle/>
          <a:p>
            <a:endParaRPr lang="en-US" altLang="zh-CN"/>
          </a:p>
        </p:txBody>
      </p:sp>
      <p:sp>
        <p:nvSpPr>
          <p:cNvPr id="1048904" name="Footer Placeholder 7"/>
          <p:cNvSpPr>
            <a:spLocks noGrp="1"/>
          </p:cNvSpPr>
          <p:nvPr>
            <p:ph type="ftr" sz="quarter" idx="11"/>
          </p:nvPr>
        </p:nvSpPr>
        <p:spPr/>
        <p:txBody>
          <a:bodyPr/>
          <a:lstStyle/>
          <a:p>
            <a:endParaRPr lang="en-US" altLang="zh-CN"/>
          </a:p>
        </p:txBody>
      </p:sp>
      <p:sp>
        <p:nvSpPr>
          <p:cNvPr id="1048905" name="Slide Number Placeholder 8"/>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62" name="Title 1"/>
          <p:cNvSpPr>
            <a:spLocks noGrp="1"/>
          </p:cNvSpPr>
          <p:nvPr>
            <p:ph type="title"/>
          </p:nvPr>
        </p:nvSpPr>
        <p:spPr/>
        <p:txBody>
          <a:bodyPr/>
          <a:lstStyle/>
          <a:p>
            <a:r>
              <a:rPr lang="zh-CN" altLang="en-US"/>
              <a:t>单击此处编辑母版标题样式</a:t>
            </a:r>
            <a:endParaRPr lang="en-US" dirty="0"/>
          </a:p>
        </p:txBody>
      </p:sp>
      <p:sp>
        <p:nvSpPr>
          <p:cNvPr id="1048863" name="Date Placeholder 2"/>
          <p:cNvSpPr>
            <a:spLocks noGrp="1"/>
          </p:cNvSpPr>
          <p:nvPr>
            <p:ph type="dt" sz="half" idx="10"/>
          </p:nvPr>
        </p:nvSpPr>
        <p:spPr/>
        <p:txBody>
          <a:bodyPr/>
          <a:lstStyle/>
          <a:p>
            <a:endParaRPr lang="en-US" altLang="zh-CN"/>
          </a:p>
        </p:txBody>
      </p:sp>
      <p:sp>
        <p:nvSpPr>
          <p:cNvPr id="1048864" name="Footer Placeholder 3"/>
          <p:cNvSpPr>
            <a:spLocks noGrp="1"/>
          </p:cNvSpPr>
          <p:nvPr>
            <p:ph type="ftr" sz="quarter" idx="11"/>
          </p:nvPr>
        </p:nvSpPr>
        <p:spPr/>
        <p:txBody>
          <a:bodyPr/>
          <a:lstStyle/>
          <a:p>
            <a:endParaRPr lang="en-US" altLang="zh-CN"/>
          </a:p>
        </p:txBody>
      </p:sp>
      <p:sp>
        <p:nvSpPr>
          <p:cNvPr id="1048865" name="Slide Number Placeholder 4"/>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906" name="Date Placeholder 1"/>
          <p:cNvSpPr>
            <a:spLocks noGrp="1"/>
          </p:cNvSpPr>
          <p:nvPr>
            <p:ph type="dt" sz="half" idx="10"/>
          </p:nvPr>
        </p:nvSpPr>
        <p:spPr/>
        <p:txBody>
          <a:bodyPr/>
          <a:lstStyle/>
          <a:p>
            <a:endParaRPr lang="en-US" altLang="zh-CN"/>
          </a:p>
        </p:txBody>
      </p:sp>
      <p:sp>
        <p:nvSpPr>
          <p:cNvPr id="1048907" name="Footer Placeholder 2"/>
          <p:cNvSpPr>
            <a:spLocks noGrp="1"/>
          </p:cNvSpPr>
          <p:nvPr>
            <p:ph type="ftr" sz="quarter" idx="11"/>
          </p:nvPr>
        </p:nvSpPr>
        <p:spPr/>
        <p:txBody>
          <a:bodyPr/>
          <a:lstStyle/>
          <a:p>
            <a:endParaRPr lang="en-US" altLang="zh-CN"/>
          </a:p>
        </p:txBody>
      </p:sp>
      <p:sp>
        <p:nvSpPr>
          <p:cNvPr id="1048908" name="Slide Number Placeholder 3"/>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09"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48910"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91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912" name="Date Placeholder 4"/>
          <p:cNvSpPr>
            <a:spLocks noGrp="1"/>
          </p:cNvSpPr>
          <p:nvPr>
            <p:ph type="dt" sz="half" idx="10"/>
          </p:nvPr>
        </p:nvSpPr>
        <p:spPr/>
        <p:txBody>
          <a:bodyPr/>
          <a:lstStyle/>
          <a:p>
            <a:endParaRPr lang="en-US" altLang="zh-CN"/>
          </a:p>
        </p:txBody>
      </p:sp>
      <p:sp>
        <p:nvSpPr>
          <p:cNvPr id="1048913" name="Footer Placeholder 5"/>
          <p:cNvSpPr>
            <a:spLocks noGrp="1"/>
          </p:cNvSpPr>
          <p:nvPr>
            <p:ph type="ftr" sz="quarter" idx="11"/>
          </p:nvPr>
        </p:nvSpPr>
        <p:spPr/>
        <p:txBody>
          <a:bodyPr/>
          <a:lstStyle/>
          <a:p>
            <a:endParaRPr lang="en-US" altLang="zh-CN"/>
          </a:p>
        </p:txBody>
      </p:sp>
      <p:sp>
        <p:nvSpPr>
          <p:cNvPr id="1048914" name="Slide Number Placeholder 6"/>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76"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48877"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4887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879" name="Date Placeholder 4"/>
          <p:cNvSpPr>
            <a:spLocks noGrp="1"/>
          </p:cNvSpPr>
          <p:nvPr>
            <p:ph type="dt" sz="half" idx="10"/>
          </p:nvPr>
        </p:nvSpPr>
        <p:spPr/>
        <p:txBody>
          <a:bodyPr/>
          <a:lstStyle/>
          <a:p>
            <a:endParaRPr lang="en-US" altLang="zh-CN"/>
          </a:p>
        </p:txBody>
      </p:sp>
      <p:sp>
        <p:nvSpPr>
          <p:cNvPr id="1048880" name="Footer Placeholder 5"/>
          <p:cNvSpPr>
            <a:spLocks noGrp="1"/>
          </p:cNvSpPr>
          <p:nvPr>
            <p:ph type="ftr" sz="quarter" idx="11"/>
          </p:nvPr>
        </p:nvSpPr>
        <p:spPr/>
        <p:txBody>
          <a:bodyPr/>
          <a:lstStyle/>
          <a:p>
            <a:endParaRPr lang="en-US" altLang="zh-CN"/>
          </a:p>
        </p:txBody>
      </p:sp>
      <p:sp>
        <p:nvSpPr>
          <p:cNvPr id="1048881" name="Slide Number Placeholder 6"/>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882" name="Title 1"/>
          <p:cNvSpPr>
            <a:spLocks noGrp="1"/>
          </p:cNvSpPr>
          <p:nvPr>
            <p:ph type="title"/>
          </p:nvPr>
        </p:nvSpPr>
        <p:spPr/>
        <p:txBody>
          <a:bodyPr/>
          <a:lstStyle/>
          <a:p>
            <a:r>
              <a:rPr lang="zh-CN" altLang="en-US"/>
              <a:t>单击此处编辑母版标题样式</a:t>
            </a:r>
            <a:endParaRPr lang="en-US" dirty="0"/>
          </a:p>
        </p:txBody>
      </p:sp>
      <p:sp>
        <p:nvSpPr>
          <p:cNvPr id="104888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884" name="Date Placeholder 3"/>
          <p:cNvSpPr>
            <a:spLocks noGrp="1"/>
          </p:cNvSpPr>
          <p:nvPr>
            <p:ph type="dt" sz="half" idx="10"/>
          </p:nvPr>
        </p:nvSpPr>
        <p:spPr/>
        <p:txBody>
          <a:bodyPr/>
          <a:lstStyle/>
          <a:p>
            <a:endParaRPr lang="en-US" altLang="zh-CN"/>
          </a:p>
        </p:txBody>
      </p:sp>
      <p:sp>
        <p:nvSpPr>
          <p:cNvPr id="1048885" name="Footer Placeholder 4"/>
          <p:cNvSpPr>
            <a:spLocks noGrp="1"/>
          </p:cNvSpPr>
          <p:nvPr>
            <p:ph type="ftr" sz="quarter" idx="11"/>
          </p:nvPr>
        </p:nvSpPr>
        <p:spPr/>
        <p:txBody>
          <a:bodyPr/>
          <a:lstStyle/>
          <a:p>
            <a:endParaRPr lang="en-US" altLang="zh-CN"/>
          </a:p>
        </p:txBody>
      </p:sp>
      <p:sp>
        <p:nvSpPr>
          <p:cNvPr id="1048886" name="Slide Number Placeholder 5"/>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66"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1048867"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868" name="Date Placeholder 3"/>
          <p:cNvSpPr>
            <a:spLocks noGrp="1"/>
          </p:cNvSpPr>
          <p:nvPr>
            <p:ph type="dt" sz="half" idx="10"/>
          </p:nvPr>
        </p:nvSpPr>
        <p:spPr/>
        <p:txBody>
          <a:bodyPr/>
          <a:lstStyle/>
          <a:p>
            <a:endParaRPr lang="en-US" altLang="zh-CN"/>
          </a:p>
        </p:txBody>
      </p:sp>
      <p:sp>
        <p:nvSpPr>
          <p:cNvPr id="1048869" name="Footer Placeholder 4"/>
          <p:cNvSpPr>
            <a:spLocks noGrp="1"/>
          </p:cNvSpPr>
          <p:nvPr>
            <p:ph type="ftr" sz="quarter" idx="11"/>
          </p:nvPr>
        </p:nvSpPr>
        <p:spPr/>
        <p:txBody>
          <a:bodyPr/>
          <a:lstStyle/>
          <a:p>
            <a:endParaRPr lang="en-US" altLang="zh-CN"/>
          </a:p>
        </p:txBody>
      </p:sp>
      <p:sp>
        <p:nvSpPr>
          <p:cNvPr id="1048870" name="Slide Number Placeholder 5"/>
          <p:cNvSpPr>
            <a:spLocks noGrp="1"/>
          </p:cNvSpPr>
          <p:nvPr>
            <p:ph type="sldNum" sz="quarter" idx="12"/>
          </p:nvPr>
        </p:nvSpPr>
        <p:spPr/>
        <p:txBody>
          <a:body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950"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1048951"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1048952"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3"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4"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945" name="Title 1"/>
          <p:cNvSpPr>
            <a:spLocks noGrp="1"/>
          </p:cNvSpPr>
          <p:nvPr>
            <p:ph type="title"/>
          </p:nvPr>
        </p:nvSpPr>
        <p:spPr/>
        <p:txBody>
          <a:bodyPr/>
          <a:lstStyle/>
          <a:p>
            <a:r>
              <a:rPr lang="zh-CN" altLang="en-US"/>
              <a:t>单击此处编辑母版标题样式</a:t>
            </a:r>
            <a:endParaRPr lang="en-US" dirty="0"/>
          </a:p>
        </p:txBody>
      </p:sp>
      <p:sp>
        <p:nvSpPr>
          <p:cNvPr id="1048946"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47"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048948"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048949"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2FB9F411-98CD-4304-BE1C-796F40900D20}" type="slidenum">
              <a:rPr kumimoji="0" lang="zh-CN" altLang="en-US" sz="1400" b="0" i="0" u="none" strike="noStrike" kern="1200" cap="none" spc="0" normalizeH="0" baseline="0" noProof="0" smtClean="0">
                <a:ln>
                  <a:noFill/>
                </a:ln>
                <a:solidFill>
                  <a:srgbClr val="000000"/>
                </a:solidFill>
                <a:effectLst/>
                <a:uLnTx/>
                <a:uFillTx/>
                <a:latin typeface="Calibri" panose="020F0502020204030204"/>
                <a:ea typeface="等线" panose="02010600030101010101" pitchFamily="2" charset="-122"/>
                <a:cs typeface="+mn-cs"/>
              </a:rPr>
            </a:fld>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pic>
        <p:nvPicPr>
          <p:cNvPr id="2097253" name="Picture 6" descr="petrochina-8副本"/>
          <p:cNvPicPr>
            <a:picLocks noChangeAspect="1"/>
          </p:cNvPicPr>
          <p:nvPr userDrawn="1"/>
        </p:nvPicPr>
        <p:blipFill>
          <a:blip r:embed="rId2"/>
          <a:stretch>
            <a:fillRect/>
          </a:stretch>
        </p:blipFill>
        <p:spPr>
          <a:xfrm>
            <a:off x="239185" y="84139"/>
            <a:ext cx="647700" cy="4651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97253"/>
                                        </p:tgtEl>
                                        <p:attrNameLst>
                                          <p:attrName>style.visibility</p:attrName>
                                        </p:attrNameLst>
                                      </p:cBhvr>
                                      <p:to>
                                        <p:strVal val="visible"/>
                                      </p:to>
                                    </p:set>
                                    <p:animEffect transition="in" filter="fade">
                                      <p:cBhvr>
                                        <p:cTn id="7" dur="500"/>
                                        <p:tgtEl>
                                          <p:spTgt spid="2097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65"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1048966"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1048967"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8"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9"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59" name="Title 1"/>
          <p:cNvSpPr>
            <a:spLocks noGrp="1"/>
          </p:cNvSpPr>
          <p:nvPr>
            <p:ph type="title"/>
          </p:nvPr>
        </p:nvSpPr>
        <p:spPr/>
        <p:txBody>
          <a:bodyPr/>
          <a:lstStyle/>
          <a:p>
            <a:r>
              <a:rPr lang="zh-CN" altLang="en-US"/>
              <a:t>单击此处编辑母版标题样式</a:t>
            </a:r>
            <a:endParaRPr lang="en-US" dirty="0"/>
          </a:p>
        </p:txBody>
      </p:sp>
      <p:sp>
        <p:nvSpPr>
          <p:cNvPr id="1048960"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61"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62"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3"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4"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15"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1048916"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17"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18"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19"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20"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1"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2"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955" name="Title 1"/>
          <p:cNvSpPr>
            <a:spLocks noGrp="1"/>
          </p:cNvSpPr>
          <p:nvPr>
            <p:ph type="title"/>
          </p:nvPr>
        </p:nvSpPr>
        <p:spPr/>
        <p:txBody>
          <a:bodyPr/>
          <a:lstStyle/>
          <a:p>
            <a:r>
              <a:rPr lang="zh-CN" altLang="en-US"/>
              <a:t>单击此处编辑母版标题样式</a:t>
            </a:r>
            <a:endParaRPr lang="en-US" dirty="0"/>
          </a:p>
        </p:txBody>
      </p:sp>
      <p:sp>
        <p:nvSpPr>
          <p:cNvPr id="1048956"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7"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8"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97"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048598"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dirty="0">
              <a:ln>
                <a:noFill/>
              </a:ln>
              <a:solidFill>
                <a:srgbClr val="000000"/>
              </a:solidFill>
              <a:effectLst/>
              <a:uLnTx/>
              <a:uFillTx/>
              <a:latin typeface="Calibri" panose="020F0502020204030204"/>
              <a:ea typeface="等线" panose="02010600030101010101" pitchFamily="2" charset="-122"/>
              <a:cs typeface="+mn-cs"/>
            </a:endParaRPr>
          </a:p>
        </p:txBody>
      </p:sp>
      <p:sp>
        <p:nvSpPr>
          <p:cNvPr id="1048599"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96AAB70-B388-4A8C-B2BD-B856CE0FB7BD}" type="slidenum">
              <a:rPr kumimoji="0" lang="zh-CN" altLang="en-US" sz="1400" b="0" i="0" u="none" strike="noStrike" kern="1200" cap="none" spc="0" normalizeH="0" baseline="0" noProof="0" smtClean="0">
                <a:ln>
                  <a:noFill/>
                </a:ln>
                <a:solidFill>
                  <a:srgbClr val="000000"/>
                </a:solidFill>
                <a:effectLst/>
                <a:uLnTx/>
                <a:uFillTx/>
                <a:latin typeface="Calibri" panose="020F0502020204030204"/>
                <a:ea typeface="等线" panose="02010600030101010101" pitchFamily="2" charset="-122"/>
                <a:cs typeface="+mn-cs"/>
              </a:rPr>
            </a:fld>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cxnSp>
        <p:nvCxnSpPr>
          <p:cNvPr id="3145729" name="直接连接符 4"/>
          <p:cNvCxnSpPr/>
          <p:nvPr userDrawn="1"/>
        </p:nvCxnSpPr>
        <p:spPr bwMode="auto">
          <a:xfrm>
            <a:off x="257175" y="1201271"/>
            <a:ext cx="11700000"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33"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48934"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35"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36"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7"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8"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939"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48940"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48941"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42"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43"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44"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928" name="Title 1"/>
          <p:cNvSpPr>
            <a:spLocks noGrp="1"/>
          </p:cNvSpPr>
          <p:nvPr>
            <p:ph type="title"/>
          </p:nvPr>
        </p:nvSpPr>
        <p:spPr/>
        <p:txBody>
          <a:bodyPr/>
          <a:lstStyle/>
          <a:p>
            <a:r>
              <a:rPr lang="zh-CN" altLang="en-US"/>
              <a:t>单击此处编辑母版标题样式</a:t>
            </a:r>
            <a:endParaRPr lang="en-US" dirty="0"/>
          </a:p>
        </p:txBody>
      </p:sp>
      <p:sp>
        <p:nvSpPr>
          <p:cNvPr id="1048929"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30"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1"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2"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923"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1048924"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925"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6"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7"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47" name="标题 1"/>
          <p:cNvSpPr>
            <a:spLocks noGrp="1"/>
          </p:cNvSpPr>
          <p:nvPr>
            <p:ph type="ctrTitle"/>
          </p:nvPr>
        </p:nvSpPr>
        <p:spPr>
          <a:xfrm>
            <a:off x="1524000" y="1121833"/>
            <a:ext cx="9144000" cy="2387600"/>
          </a:xfrm>
        </p:spPr>
        <p:txBody>
          <a:bodyPr anchor="b"/>
          <a:lstStyle>
            <a:lvl1pPr algn="ctr">
              <a:defRPr sz="8000"/>
            </a:lvl1pPr>
          </a:lstStyle>
          <a:p>
            <a:r>
              <a:rPr lang="zh-CN" altLang="en-US"/>
              <a:t>单击此处编辑母版标题样式</a:t>
            </a:r>
            <a:endParaRPr lang="zh-CN" altLang="en-US"/>
          </a:p>
        </p:txBody>
      </p:sp>
      <p:sp>
        <p:nvSpPr>
          <p:cNvPr id="1048848" name="副标题 2"/>
          <p:cNvSpPr>
            <a:spLocks noGrp="1"/>
          </p:cNvSpPr>
          <p:nvPr>
            <p:ph type="subTitle" idx="1" hasCustomPrompt="1"/>
          </p:nvPr>
        </p:nvSpPr>
        <p:spPr>
          <a:xfrm>
            <a:off x="1524000" y="3602568"/>
            <a:ext cx="9144000" cy="1655233"/>
          </a:xfrm>
        </p:spPr>
        <p:txBody>
          <a:bodyPr/>
          <a:lstStyle>
            <a:lvl1pPr marL="0" indent="0" algn="ctr">
              <a:buNone/>
              <a:defRPr sz="3200"/>
            </a:lvl1pPr>
            <a:lvl2pPr marL="609600" indent="0" algn="ctr">
              <a:buNone/>
              <a:defRPr sz="2665"/>
            </a:lvl2pPr>
            <a:lvl3pPr marL="1219200" indent="0" algn="ctr">
              <a:buNone/>
              <a:defRPr sz="2400"/>
            </a:lvl3pPr>
            <a:lvl4pPr marL="1828800" indent="0" algn="ctr">
              <a:buNone/>
              <a:defRPr sz="2135"/>
            </a:lvl4pPr>
            <a:lvl5pPr marL="2438400" indent="0" algn="ctr">
              <a:buNone/>
              <a:defRPr sz="2135"/>
            </a:lvl5pPr>
            <a:lvl6pPr marL="3048000" indent="0" algn="ctr">
              <a:buNone/>
              <a:defRPr sz="2135"/>
            </a:lvl6pPr>
            <a:lvl7pPr marL="3657600" indent="0" algn="ctr">
              <a:buNone/>
              <a:defRPr sz="2135"/>
            </a:lvl7pPr>
            <a:lvl8pPr marL="4267200" indent="0" algn="ctr">
              <a:buNone/>
              <a:defRPr sz="2135"/>
            </a:lvl8pPr>
            <a:lvl9pPr marL="4876800" indent="0" algn="ctr">
              <a:buNone/>
              <a:defRPr sz="2135"/>
            </a:lvl9pPr>
          </a:lstStyle>
          <a:p>
            <a:r>
              <a:rPr lang="zh-CN" altLang="en-US"/>
              <a:t>单击以编辑母版副标题样式</a:t>
            </a:r>
            <a:endParaRPr lang="zh-CN" altLang="en-US"/>
          </a:p>
        </p:txBody>
      </p:sp>
      <p:sp>
        <p:nvSpPr>
          <p:cNvPr id="1048849" name="日期占位符 3"/>
          <p:cNvSpPr>
            <a:spLocks noGrp="1"/>
          </p:cNvSpPr>
          <p:nvPr>
            <p:ph type="dt" sz="half" idx="10"/>
          </p:nvPr>
        </p:nvSpPr>
        <p:spPr/>
        <p:txBody>
          <a:bodyPr/>
          <a:lstStyle/>
          <a:p>
            <a:pPr defTabSz="1218565"/>
            <a:fld id="{414BD70E-04FC-4142-B43E-89D11E84CD4D}" type="datetimeFigureOut">
              <a:rPr lang="zh-CN" altLang="en-US" smtClean="0">
                <a:solidFill>
                  <a:prstClr val="black">
                    <a:tint val="75000"/>
                  </a:prstClr>
                </a:solidFill>
              </a:rPr>
            </a:fld>
            <a:endParaRPr lang="zh-CN" altLang="en-US">
              <a:solidFill>
                <a:prstClr val="black">
                  <a:tint val="75000"/>
                </a:prstClr>
              </a:solidFill>
            </a:endParaRPr>
          </a:p>
        </p:txBody>
      </p:sp>
      <p:sp>
        <p:nvSpPr>
          <p:cNvPr id="1048850" name="灯片编号占位符 5"/>
          <p:cNvSpPr>
            <a:spLocks noGrp="1"/>
          </p:cNvSpPr>
          <p:nvPr>
            <p:ph type="sldNum" sz="quarter" idx="12"/>
          </p:nvPr>
        </p:nvSpPr>
        <p:spPr/>
        <p:txBody>
          <a:bodyPr/>
          <a:lstStyle/>
          <a:p>
            <a:pPr defTabSz="1218565"/>
            <a:fld id="{7C74B832-F533-45B7-ADEE-76B7D10184A6}"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43" name="标题 1"/>
          <p:cNvSpPr>
            <a:spLocks noGrp="1"/>
          </p:cNvSpPr>
          <p:nvPr>
            <p:ph type="title"/>
          </p:nvPr>
        </p:nvSpPr>
        <p:spPr/>
        <p:txBody>
          <a:bodyPr/>
          <a:lstStyle/>
          <a:p>
            <a:r>
              <a:rPr lang="zh-CN" altLang="en-US"/>
              <a:t>单击此处编辑母版标题样式</a:t>
            </a:r>
            <a:endParaRPr lang="zh-CN" altLang="en-US"/>
          </a:p>
        </p:txBody>
      </p:sp>
      <p:sp>
        <p:nvSpPr>
          <p:cNvPr id="1048844" name="日期占位符 2"/>
          <p:cNvSpPr>
            <a:spLocks noGrp="1"/>
          </p:cNvSpPr>
          <p:nvPr>
            <p:ph type="dt" sz="half" idx="10"/>
          </p:nvPr>
        </p:nvSpPr>
        <p:spPr/>
        <p:txBody>
          <a:bodyPr/>
          <a:lstStyle/>
          <a:p>
            <a:pPr defTabSz="1218565"/>
            <a:fld id="{414BD70E-04FC-4142-B43E-89D11E84CD4D}" type="datetimeFigureOut">
              <a:rPr lang="zh-CN" altLang="en-US" smtClean="0">
                <a:solidFill>
                  <a:prstClr val="black">
                    <a:tint val="75000"/>
                  </a:prstClr>
                </a:solidFill>
              </a:rPr>
            </a:fld>
            <a:endParaRPr lang="zh-CN" altLang="en-US">
              <a:solidFill>
                <a:prstClr val="black">
                  <a:tint val="75000"/>
                </a:prstClr>
              </a:solidFill>
            </a:endParaRPr>
          </a:p>
        </p:txBody>
      </p:sp>
      <p:sp>
        <p:nvSpPr>
          <p:cNvPr id="1048845" name="页脚占位符 3"/>
          <p:cNvSpPr>
            <a:spLocks noGrp="1"/>
          </p:cNvSpPr>
          <p:nvPr>
            <p:ph type="ftr" sz="quarter" idx="11"/>
          </p:nvPr>
        </p:nvSpPr>
        <p:spPr>
          <a:xfrm>
            <a:off x="4038600" y="6356351"/>
            <a:ext cx="4114800" cy="366183"/>
          </a:xfrm>
          <a:prstGeom prst="rect">
            <a:avLst/>
          </a:prstGeom>
        </p:spPr>
        <p:txBody>
          <a:bodyPr/>
          <a:lstStyle/>
          <a:p>
            <a:pPr defTabSz="1218565"/>
            <a:endParaRPr lang="zh-CN" altLang="en-US">
              <a:solidFill>
                <a:prstClr val="black">
                  <a:tint val="75000"/>
                </a:prstClr>
              </a:solidFill>
            </a:endParaRPr>
          </a:p>
        </p:txBody>
      </p:sp>
      <p:sp>
        <p:nvSpPr>
          <p:cNvPr id="1048846" name="灯片编号占位符 4"/>
          <p:cNvSpPr>
            <a:spLocks noGrp="1"/>
          </p:cNvSpPr>
          <p:nvPr>
            <p:ph type="sldNum" sz="quarter" idx="12"/>
          </p:nvPr>
        </p:nvSpPr>
        <p:spPr/>
        <p:txBody>
          <a:bodyPr/>
          <a:lstStyle/>
          <a:p>
            <a:pPr defTabSz="1218565"/>
            <a:fld id="{7C74B832-F533-45B7-ADEE-76B7D10184A6}"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36" name="日期占位符 1"/>
          <p:cNvSpPr>
            <a:spLocks noGrp="1"/>
          </p:cNvSpPr>
          <p:nvPr>
            <p:ph type="dt" sz="half" idx="10"/>
          </p:nvPr>
        </p:nvSpPr>
        <p:spPr/>
        <p:txBody>
          <a:bodyPr/>
          <a:lstStyle/>
          <a:p>
            <a:pPr defTabSz="1218565"/>
            <a:fld id="{414BD70E-04FC-4142-B43E-89D11E84CD4D}" type="datetimeFigureOut">
              <a:rPr lang="zh-CN" altLang="en-US" smtClean="0">
                <a:solidFill>
                  <a:prstClr val="black">
                    <a:tint val="75000"/>
                  </a:prstClr>
                </a:solidFill>
              </a:rPr>
            </a:fld>
            <a:endParaRPr lang="zh-CN" altLang="en-US">
              <a:solidFill>
                <a:prstClr val="black">
                  <a:tint val="75000"/>
                </a:prstClr>
              </a:solidFill>
            </a:endParaRPr>
          </a:p>
        </p:txBody>
      </p:sp>
      <p:sp>
        <p:nvSpPr>
          <p:cNvPr id="1048837" name="灯片编号占位符 3"/>
          <p:cNvSpPr>
            <a:spLocks noGrp="1"/>
          </p:cNvSpPr>
          <p:nvPr>
            <p:ph type="sldNum" sz="quarter" idx="12"/>
          </p:nvPr>
        </p:nvSpPr>
        <p:spPr/>
        <p:txBody>
          <a:bodyPr/>
          <a:lstStyle/>
          <a:p>
            <a:pPr defTabSz="1218565"/>
            <a:fld id="{7C74B832-F533-45B7-ADEE-76B7D10184A6}"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cxnSp>
        <p:nvCxnSpPr>
          <p:cNvPr id="3145903" name="直接连接符 1"/>
          <p:cNvCxnSpPr/>
          <p:nvPr userDrawn="1"/>
        </p:nvCxnSpPr>
        <p:spPr bwMode="auto">
          <a:xfrm>
            <a:off x="335360" y="1340768"/>
            <a:ext cx="11521280"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1218565" rtl="0" eaLnBrk="1" fontAlgn="auto" latinLnBrk="0" hangingPunct="1">
              <a:lnSpc>
                <a:spcPct val="100000"/>
              </a:lnSpc>
              <a:spcBef>
                <a:spcPts val="0"/>
              </a:spcBef>
              <a:spcAft>
                <a:spcPts val="0"/>
              </a:spcAft>
              <a:buClrTx/>
              <a:buSzTx/>
              <a:buFontTx/>
              <a:buNone/>
              <a:defRPr/>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1218565"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cxnSp>
        <p:nvCxnSpPr>
          <p:cNvPr id="5" name="直接连接符 4"/>
          <p:cNvCxnSpPr/>
          <p:nvPr userDrawn="1"/>
        </p:nvCxnSpPr>
        <p:spPr bwMode="auto">
          <a:xfrm>
            <a:off x="375072" y="141277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4.xml"/><Relationship Id="rId13" Type="http://schemas.openxmlformats.org/officeDocument/2006/relationships/image" Target="../media/image2.png"/><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5" Type="http://schemas.openxmlformats.org/officeDocument/2006/relationships/theme" Target="../theme/theme5.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51"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1048852"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48853"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1048854"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1048855"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lvl="0" eaLnBrk="1" hangingPunct="1">
              <a:buNone/>
            </a:pPr>
            <a:fld id="{9A0DB2DC-4C9A-4742-B13C-FB6460FD3503}" type="slidenum">
              <a:rPr lang="en-US" altLang="zh-CN" smtClean="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48576" name="页脚占位符 14"/>
          <p:cNvSpPr txBox="1"/>
          <p:nvPr userDrawn="1"/>
        </p:nvSpPr>
        <p:spPr>
          <a:xfrm>
            <a:off x="0" y="6516688"/>
            <a:ext cx="12192000" cy="315912"/>
          </a:xfrm>
          <a:prstGeom prst="rect">
            <a:avLst/>
          </a:prstGeom>
        </p:spPr>
        <p:txBody>
          <a:bodyPr lIns="68575" tIns="34287" rIns="68575" bIns="34287" anchor="ctr"/>
          <a:lstStyle>
            <a:lvl1pPr defTabSz="685800">
              <a:defRPr>
                <a:solidFill>
                  <a:schemeClr val="tx1"/>
                </a:solidFill>
                <a:latin typeface="Arial" panose="020B0604020202020204" pitchFamily="34" charset="0"/>
                <a:ea typeface="宋体" panose="02010600030101010101" pitchFamily="2" charset="-122"/>
              </a:defRPr>
            </a:lvl1pPr>
            <a:lvl2pPr marL="742950" indent="-285750" defTabSz="685800">
              <a:defRPr>
                <a:solidFill>
                  <a:schemeClr val="tx1"/>
                </a:solidFill>
                <a:latin typeface="Arial" panose="020B0604020202020204" pitchFamily="34" charset="0"/>
                <a:ea typeface="宋体" panose="02010600030101010101" pitchFamily="2" charset="-122"/>
              </a:defRPr>
            </a:lvl2pPr>
            <a:lvl3pPr marL="1143000" indent="-228600" defTabSz="685800">
              <a:defRPr>
                <a:solidFill>
                  <a:schemeClr val="tx1"/>
                </a:solidFill>
                <a:latin typeface="Arial" panose="020B0604020202020204" pitchFamily="34" charset="0"/>
                <a:ea typeface="宋体" panose="02010600030101010101" pitchFamily="2" charset="-122"/>
              </a:defRPr>
            </a:lvl3pPr>
            <a:lvl4pPr marL="1600200" indent="-228600" defTabSz="685800">
              <a:defRPr>
                <a:solidFill>
                  <a:schemeClr val="tx1"/>
                </a:solidFill>
                <a:latin typeface="Arial" panose="020B0604020202020204" pitchFamily="34" charset="0"/>
                <a:ea typeface="宋体" panose="02010600030101010101" pitchFamily="2" charset="-122"/>
              </a:defRPr>
            </a:lvl4pPr>
            <a:lvl5pPr marL="2057400" indent="-228600" defTabSz="685800">
              <a:defRPr>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900" dirty="0">
                <a:solidFill>
                  <a:srgbClr val="898989"/>
                </a:solidFill>
                <a:ea typeface="黑体" panose="02010609060101010101" charset="-122"/>
              </a:rPr>
              <a:t>第</a:t>
            </a:r>
            <a:fld id="{1FF30E35-D5E3-4C7A-A4FF-2B307167AC01}" type="slidenum">
              <a:rPr kumimoji="1" lang="zh-CN" altLang="en-US" sz="900">
                <a:solidFill>
                  <a:srgbClr val="898989"/>
                </a:solidFill>
                <a:ea typeface="黑体" panose="02010609060101010101" charset="-122"/>
              </a:rPr>
            </a:fld>
            <a:r>
              <a:rPr lang="zh-CN" altLang="en-US" sz="900" dirty="0">
                <a:solidFill>
                  <a:srgbClr val="898989"/>
                </a:solidFill>
                <a:ea typeface="黑体" panose="02010609060101010101" charset="-122"/>
              </a:rPr>
              <a:t>页</a:t>
            </a:r>
            <a:r>
              <a:rPr lang="en-US" altLang="zh-CN" sz="900" dirty="0">
                <a:solidFill>
                  <a:srgbClr val="898989"/>
                </a:solidFill>
                <a:ea typeface="黑体" panose="02010609060101010101" charset="-122"/>
              </a:rPr>
              <a:t>/</a:t>
            </a:r>
            <a:r>
              <a:rPr lang="zh-CN" altLang="en-US" sz="900" dirty="0">
                <a:solidFill>
                  <a:srgbClr val="898989"/>
                </a:solidFill>
                <a:ea typeface="黑体" panose="02010609060101010101" charset="-122"/>
              </a:rPr>
              <a:t>共</a:t>
            </a:r>
            <a:r>
              <a:rPr lang="en-US" altLang="zh-CN" sz="900" dirty="0">
                <a:solidFill>
                  <a:srgbClr val="898989"/>
                </a:solidFill>
                <a:ea typeface="黑体" panose="02010609060101010101" charset="-122"/>
              </a:rPr>
              <a:t>44</a:t>
            </a:r>
            <a:r>
              <a:rPr lang="zh-CN" altLang="en-US" sz="900" dirty="0">
                <a:solidFill>
                  <a:srgbClr val="898989"/>
                </a:solidFill>
                <a:ea typeface="黑体" panose="02010609060101010101" charset="-122"/>
              </a:rPr>
              <a:t>页</a:t>
            </a:r>
            <a:endParaRPr lang="zh-CN" altLang="en-US" sz="900" dirty="0">
              <a:solidFill>
                <a:srgbClr val="898989"/>
              </a:solidFill>
              <a:ea typeface="黑体" panose="02010609060101010101" charset="-122"/>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ctr" rtl="0" eaLnBrk="0" fontAlgn="base" hangingPunct="0">
        <a:spcBef>
          <a:spcPct val="0"/>
        </a:spcBef>
        <a:spcAft>
          <a:spcPct val="0"/>
        </a:spcAft>
        <a:defRPr sz="2700" b="1">
          <a:solidFill>
            <a:schemeClr val="hlink"/>
          </a:solidFill>
          <a:latin typeface="+mj-lt"/>
          <a:ea typeface="+mj-ea"/>
          <a:cs typeface="+mj-cs"/>
        </a:defRPr>
      </a:lvl1pPr>
      <a:lvl2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5pPr>
      <a:lvl6pPr marL="3429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6pPr>
      <a:lvl7pPr marL="6858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7pPr>
      <a:lvl8pPr marL="10287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8pPr>
      <a:lvl9pPr marL="13716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Clr>
          <a:schemeClr val="folHlink"/>
        </a:buClr>
        <a:buSzPct val="60000"/>
        <a:buFont typeface="Wingdings" panose="05000000000000000000" pitchFamily="2" charset="2"/>
        <a:buChar char="n"/>
        <a:defRPr sz="2400" b="1">
          <a:solidFill>
            <a:srgbClr val="0000FF"/>
          </a:solidFill>
          <a:latin typeface="+mn-lt"/>
          <a:ea typeface="+mn-ea"/>
          <a:cs typeface="+mn-cs"/>
        </a:defRPr>
      </a:lvl1pPr>
      <a:lvl2pPr marL="557530" indent="-214630" algn="l" rtl="0" eaLnBrk="0" fontAlgn="base" hangingPunct="0">
        <a:spcBef>
          <a:spcPct val="20000"/>
        </a:spcBef>
        <a:spcAft>
          <a:spcPct val="0"/>
        </a:spcAft>
        <a:buClr>
          <a:schemeClr val="hlink"/>
        </a:buClr>
        <a:buSzPct val="55000"/>
        <a:buFont typeface="Wingdings" panose="05000000000000000000" pitchFamily="2" charset="2"/>
        <a:buChar char="n"/>
        <a:defRPr sz="2100" b="1">
          <a:solidFill>
            <a:schemeClr val="tx1"/>
          </a:solidFill>
          <a:latin typeface="+mn-lt"/>
          <a:ea typeface="+mn-ea"/>
        </a:defRPr>
      </a:lvl2pPr>
      <a:lvl3pPr marL="857250" indent="-171450" algn="l" rtl="0" eaLnBrk="0" fontAlgn="base" hangingPunct="0">
        <a:spcBef>
          <a:spcPct val="20000"/>
        </a:spcBef>
        <a:spcAft>
          <a:spcPct val="0"/>
        </a:spcAft>
        <a:buClr>
          <a:schemeClr val="folHlink"/>
        </a:buClr>
        <a:buSzPct val="50000"/>
        <a:buFont typeface="Wingdings" panose="05000000000000000000" pitchFamily="2" charset="2"/>
        <a:buChar char="n"/>
        <a:defRPr b="1">
          <a:solidFill>
            <a:schemeClr val="tx1"/>
          </a:solidFill>
          <a:latin typeface="+mn-lt"/>
          <a:ea typeface="+mn-ea"/>
        </a:defRPr>
      </a:lvl3pPr>
      <a:lvl4pPr marL="1200150" indent="-171450" algn="l" rtl="0" eaLnBrk="0" fontAlgn="base" hangingPunct="0">
        <a:spcBef>
          <a:spcPct val="20000"/>
        </a:spcBef>
        <a:spcAft>
          <a:spcPct val="0"/>
        </a:spcAft>
        <a:buClr>
          <a:schemeClr val="accent2"/>
        </a:buClr>
        <a:buSzPct val="55000"/>
        <a:buFont typeface="Wingdings" panose="05000000000000000000" pitchFamily="2" charset="2"/>
        <a:buChar char="n"/>
        <a:defRPr sz="1500" b="1">
          <a:solidFill>
            <a:schemeClr val="tx1"/>
          </a:solidFill>
          <a:latin typeface="+mn-lt"/>
          <a:ea typeface="+mn-ea"/>
        </a:defRPr>
      </a:lvl4pPr>
      <a:lvl5pPr marL="15430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5pPr>
      <a:lvl6pPr marL="18859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48580" name="Line 4"/>
          <p:cNvSpPr>
            <a:spLocks noChangeShapeType="1"/>
          </p:cNvSpPr>
          <p:nvPr/>
        </p:nvSpPr>
        <p:spPr bwMode="auto">
          <a:xfrm>
            <a:off x="0" y="908050"/>
            <a:ext cx="12192000" cy="0"/>
          </a:xfrm>
          <a:prstGeom prst="line">
            <a:avLst/>
          </a:prstGeom>
          <a:noFill/>
          <a:ln w="9525">
            <a:solidFill>
              <a:srgbClr val="FF0000"/>
            </a:solidFill>
            <a:round/>
          </a:ln>
        </p:spPr>
        <p:txBody>
          <a:bodyPr/>
          <a:lstStyle/>
          <a:p>
            <a:endParaRPr lang="zh-CN" altLang="en-US" sz="1800"/>
          </a:p>
        </p:txBody>
      </p:sp>
      <p:sp>
        <p:nvSpPr>
          <p:cNvPr id="1048581" name="Line 5"/>
          <p:cNvSpPr>
            <a:spLocks noChangeShapeType="1"/>
          </p:cNvSpPr>
          <p:nvPr/>
        </p:nvSpPr>
        <p:spPr bwMode="auto">
          <a:xfrm>
            <a:off x="0" y="981075"/>
            <a:ext cx="12192000" cy="0"/>
          </a:xfrm>
          <a:prstGeom prst="line">
            <a:avLst/>
          </a:prstGeom>
          <a:noFill/>
          <a:ln w="41275">
            <a:solidFill>
              <a:srgbClr val="FF0000"/>
            </a:solidFill>
            <a:round/>
          </a:ln>
        </p:spPr>
        <p:txBody>
          <a:bodyPr/>
          <a:lstStyle/>
          <a:p>
            <a:endParaRPr lang="zh-CN" altLang="en-US" sz="1800"/>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84"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1048585"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048586"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587"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58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589" name="Line 2"/>
          <p:cNvSpPr/>
          <p:nvPr userDrawn="1"/>
        </p:nvSpPr>
        <p:spPr>
          <a:xfrm>
            <a:off x="0" y="682058"/>
            <a:ext cx="12192000" cy="0"/>
          </a:xfrm>
          <a:prstGeom prst="line">
            <a:avLst/>
          </a:prstGeom>
          <a:ln w="38100" cap="flat" cmpd="sng">
            <a:solidFill>
              <a:srgbClr val="FF0000"/>
            </a:solidFill>
            <a:prstDash val="solid"/>
            <a:headEnd type="none" w="med" len="med"/>
            <a:tailEnd type="none" w="med" len="med"/>
          </a:ln>
        </p:spPr>
      </p:sp>
      <p:sp>
        <p:nvSpPr>
          <p:cNvPr id="1048590" name="页脚占位符 14"/>
          <p:cNvSpPr txBox="1"/>
          <p:nvPr userDrawn="1"/>
        </p:nvSpPr>
        <p:spPr>
          <a:xfrm>
            <a:off x="46567" y="6542089"/>
            <a:ext cx="12192000" cy="315913"/>
          </a:xfrm>
          <a:prstGeom prst="rect">
            <a:avLst/>
          </a:prstGeom>
        </p:spPr>
        <p:txBody>
          <a:bodyPr lIns="91433" tIns="45716" rIns="91433" bIns="45716"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AF8A501D-A900-4B5F-8F27-315AD44BFE2E}" type="slidenum">
              <a:rPr kumimoji="1" lang="zh-CN" altLang="en-US" sz="10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44</a:t>
            </a:r>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pic>
        <p:nvPicPr>
          <p:cNvPr id="2097152" name="Picture 17" descr="logo"/>
          <p:cNvPicPr>
            <a:picLocks noChangeAspect="1" noChangeArrowheads="1"/>
          </p:cNvPicPr>
          <p:nvPr userDrawn="1"/>
        </p:nvPicPr>
        <p:blipFill>
          <a:blip r:embed="rId13" cstate="print"/>
          <a:stretch>
            <a:fillRect/>
          </a:stretch>
        </p:blipFill>
        <p:spPr bwMode="auto">
          <a:xfrm>
            <a:off x="-24680" y="44311"/>
            <a:ext cx="960108" cy="576377"/>
          </a:xfrm>
          <a:prstGeom prst="rect">
            <a:avLst/>
          </a:prstGeom>
          <a:noFill/>
          <a:ln>
            <a:noFill/>
          </a:ln>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32" name="标题占位符 1"/>
          <p:cNvSpPr>
            <a:spLocks noGrp="1"/>
          </p:cNvSpPr>
          <p:nvPr>
            <p:ph type="title"/>
          </p:nvPr>
        </p:nvSpPr>
        <p:spPr>
          <a:xfrm>
            <a:off x="838200" y="366186"/>
            <a:ext cx="10515600" cy="662549"/>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1048833" name="文本占位符 2"/>
          <p:cNvSpPr>
            <a:spLocks noGrp="1"/>
          </p:cNvSpPr>
          <p:nvPr>
            <p:ph type="body" idx="1"/>
          </p:nvPr>
        </p:nvSpPr>
        <p:spPr>
          <a:xfrm>
            <a:off x="838200" y="1826684"/>
            <a:ext cx="10515600" cy="4349749"/>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834" name="日期占位符 3"/>
          <p:cNvSpPr>
            <a:spLocks noGrp="1"/>
          </p:cNvSpPr>
          <p:nvPr>
            <p:ph type="dt" sz="half" idx="2"/>
          </p:nvPr>
        </p:nvSpPr>
        <p:spPr>
          <a:xfrm>
            <a:off x="838200" y="6356351"/>
            <a:ext cx="2743200" cy="366183"/>
          </a:xfrm>
          <a:prstGeom prst="rect">
            <a:avLst/>
          </a:prstGeom>
        </p:spPr>
        <p:txBody>
          <a:bodyPr vert="horz" lIns="91440" tIns="45720" rIns="91440" bIns="45720"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pPr defTabSz="1218565"/>
            <a:fld id="{414BD70E-04FC-4142-B43E-89D11E84CD4D}" type="datetimeFigureOut">
              <a:rPr lang="zh-CN" altLang="en-US" smtClean="0">
                <a:solidFill>
                  <a:prstClr val="black">
                    <a:tint val="75000"/>
                  </a:prstClr>
                </a:solidFill>
              </a:rPr>
            </a:fld>
            <a:endParaRPr lang="zh-CN" altLang="en-US" dirty="0">
              <a:solidFill>
                <a:prstClr val="black">
                  <a:tint val="75000"/>
                </a:prstClr>
              </a:solidFill>
            </a:endParaRPr>
          </a:p>
        </p:txBody>
      </p:sp>
      <p:sp>
        <p:nvSpPr>
          <p:cNvPr id="1048835" name="灯片编号占位符 5"/>
          <p:cNvSpPr>
            <a:spLocks noGrp="1"/>
          </p:cNvSpPr>
          <p:nvPr>
            <p:ph type="sldNum" sz="quarter" idx="4"/>
          </p:nvPr>
        </p:nvSpPr>
        <p:spPr>
          <a:xfrm>
            <a:off x="8610600" y="6356351"/>
            <a:ext cx="2743200" cy="366183"/>
          </a:xfrm>
          <a:prstGeom prst="rect">
            <a:avLst/>
          </a:prstGeom>
        </p:spPr>
        <p:txBody>
          <a:bodyPr vert="horz" lIns="91440" tIns="45720" rIns="91440" bIns="45720"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pPr defTabSz="1218565"/>
            <a:fld id="{7C74B832-F533-45B7-ADEE-76B7D10184A6}" type="slidenum">
              <a:rPr lang="zh-CN" altLang="en-US" smtClean="0">
                <a:solidFill>
                  <a:prstClr val="black">
                    <a:tint val="75000"/>
                  </a:prstClr>
                </a:solidFill>
              </a:rPr>
            </a:fld>
            <a:endParaRPr lang="zh-CN" alt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txStyles>
    <p:titleStyle>
      <a:lvl1pPr algn="l" defTabSz="1219200" rtl="0" eaLnBrk="1" latinLnBrk="0" hangingPunct="1">
        <a:lnSpc>
          <a:spcPct val="90000"/>
        </a:lnSpc>
        <a:spcBef>
          <a:spcPct val="0"/>
        </a:spcBef>
        <a:buNone/>
        <a:defRPr sz="5865"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ts val="1335"/>
        </a:spcBef>
        <a:buFont typeface="Arial" panose="020B0604020202020204" pitchFamily="34" charset="0"/>
        <a:buChar char="•"/>
        <a:defRPr sz="3735" kern="1200">
          <a:solidFill>
            <a:schemeClr val="tx1"/>
          </a:solidFill>
          <a:latin typeface="微软雅黑" panose="020B0503020204020204" pitchFamily="34" charset="-122"/>
          <a:ea typeface="微软雅黑" panose="020B0503020204020204" pitchFamily="34" charset="-122"/>
          <a:cs typeface="+mn-cs"/>
        </a:defRPr>
      </a:lvl1pPr>
      <a:lvl2pPr marL="914400" indent="-304800" algn="l" defTabSz="1219200" rtl="0" eaLnBrk="1" latinLnBrk="0" hangingPunct="1">
        <a:lnSpc>
          <a:spcPct val="90000"/>
        </a:lnSpc>
        <a:spcBef>
          <a:spcPts val="665"/>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lnSpc>
          <a:spcPct val="90000"/>
        </a:lnSpc>
        <a:spcBef>
          <a:spcPts val="665"/>
        </a:spcBef>
        <a:buFont typeface="Arial" panose="020B0604020202020204" pitchFamily="34" charset="0"/>
        <a:buChar char="•"/>
        <a:defRPr sz="2665"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1218565" rtl="0" eaLnBrk="1" fontAlgn="auto" latinLnBrk="0" hangingPunct="1">
              <a:lnSpc>
                <a:spcPct val="100000"/>
              </a:lnSpc>
              <a:spcBef>
                <a:spcPts val="0"/>
              </a:spcBef>
              <a:spcAft>
                <a:spcPts val="0"/>
              </a:spcAft>
              <a:buClrTx/>
              <a:buSzTx/>
              <a:buFontTx/>
              <a:buNone/>
              <a:defRPr/>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1218565"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1" Type="http://schemas.openxmlformats.org/officeDocument/2006/relationships/slideLayout" Target="../slideLayouts/slideLayout20.xml"/><Relationship Id="rId10" Type="http://schemas.openxmlformats.org/officeDocument/2006/relationships/image" Target="../media/image18.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23.png"/><Relationship Id="rId1" Type="http://schemas.openxmlformats.org/officeDocument/2006/relationships/image" Target="../media/image22.jpe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31.png"/><Relationship Id="rId1" Type="http://schemas.openxmlformats.org/officeDocument/2006/relationships/image" Target="../media/image3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39.jpeg"/><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31.png"/><Relationship Id="rId2" Type="http://schemas.openxmlformats.org/officeDocument/2006/relationships/image" Target="../media/image41.jpeg"/><Relationship Id="rId1" Type="http://schemas.openxmlformats.org/officeDocument/2006/relationships/image" Target="../media/image40.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43.png"/><Relationship Id="rId1" Type="http://schemas.openxmlformats.org/officeDocument/2006/relationships/image" Target="../media/image42.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30.png"/><Relationship Id="rId1" Type="http://schemas.openxmlformats.org/officeDocument/2006/relationships/image" Target="../media/image44.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0.xml"/><Relationship Id="rId6" Type="http://schemas.openxmlformats.org/officeDocument/2006/relationships/image" Target="../media/image50.png"/><Relationship Id="rId5" Type="http://schemas.openxmlformats.org/officeDocument/2006/relationships/image" Target="../media/image49.emf"/><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0.xml"/><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emf"/><Relationship Id="rId4" Type="http://schemas.openxmlformats.org/officeDocument/2006/relationships/image" Target="../media/image54.emf"/><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emf"/></Relationships>
</file>

<file path=ppt/slides/_rels/slide25.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emf"/><Relationship Id="rId7" Type="http://schemas.openxmlformats.org/officeDocument/2006/relationships/image" Target="../media/image63.png"/><Relationship Id="rId6" Type="http://schemas.openxmlformats.org/officeDocument/2006/relationships/image" Target="../media/image48.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emf"/><Relationship Id="rId10" Type="http://schemas.openxmlformats.org/officeDocument/2006/relationships/slideLayout" Target="../slideLayouts/slideLayout20.xml"/><Relationship Id="rId1" Type="http://schemas.openxmlformats.org/officeDocument/2006/relationships/image" Target="../media/image58.emf"/></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70.png"/><Relationship Id="rId2" Type="http://schemas.openxmlformats.org/officeDocument/2006/relationships/image" Target="../media/image38.png"/><Relationship Id="rId1" Type="http://schemas.openxmlformats.org/officeDocument/2006/relationships/image" Target="../media/image69.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image" Target="../media/image71.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75.jpeg"/><Relationship Id="rId1" Type="http://schemas.openxmlformats.org/officeDocument/2006/relationships/image" Target="../media/image74.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77.png"/><Relationship Id="rId1" Type="http://schemas.openxmlformats.org/officeDocument/2006/relationships/image" Target="../media/image76.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image" Target="../media/image31.png"/><Relationship Id="rId1" Type="http://schemas.openxmlformats.org/officeDocument/2006/relationships/image" Target="../media/image7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0.xml"/><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41.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69.png"/><Relationship Id="rId3" Type="http://schemas.openxmlformats.org/officeDocument/2006/relationships/image" Target="../media/image88.png"/><Relationship Id="rId2" Type="http://schemas.openxmlformats.org/officeDocument/2006/relationships/image" Target="../media/image87.png"/><Relationship Id="rId14" Type="http://schemas.openxmlformats.org/officeDocument/2006/relationships/slideLayout" Target="../slideLayouts/slideLayout20.xml"/><Relationship Id="rId13" Type="http://schemas.openxmlformats.org/officeDocument/2006/relationships/image" Target="../media/image97.png"/><Relationship Id="rId12" Type="http://schemas.openxmlformats.org/officeDocument/2006/relationships/image" Target="../media/image96.png"/><Relationship Id="rId11" Type="http://schemas.openxmlformats.org/officeDocument/2006/relationships/image" Target="../media/image95.png"/><Relationship Id="rId10" Type="http://schemas.openxmlformats.org/officeDocument/2006/relationships/image" Target="../media/image94.png"/><Relationship Id="rId1" Type="http://schemas.openxmlformats.org/officeDocument/2006/relationships/image" Target="../media/image86.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1.xml"/><Relationship Id="rId2" Type="http://schemas.openxmlformats.org/officeDocument/2006/relationships/image" Target="../media/image99.png"/><Relationship Id="rId1" Type="http://schemas.openxmlformats.org/officeDocument/2006/relationships/image" Target="../media/image9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7" name="Text Box 2"/>
          <p:cNvSpPr txBox="1">
            <a:spLocks noChangeArrowheads="1"/>
          </p:cNvSpPr>
          <p:nvPr/>
        </p:nvSpPr>
        <p:spPr bwMode="auto">
          <a:xfrm>
            <a:off x="0" y="1196975"/>
            <a:ext cx="12192000" cy="1630045"/>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pPr>
            <a:r>
              <a:rPr lang="en-US" altLang="zh-CN" sz="4000" b="1" dirty="0">
                <a:solidFill>
                  <a:srgbClr val="FF0000"/>
                </a:solidFill>
                <a:latin typeface="方正大黑简体" panose="02010601030101010101" pitchFamily="65" charset="-122"/>
                <a:ea typeface="方正大黑简体" panose="02010601030101010101" pitchFamily="65" charset="-122"/>
              </a:rPr>
              <a:t>《</a:t>
            </a:r>
            <a:r>
              <a:rPr lang="zh-CN" altLang="en-US" sz="4000" b="1" dirty="0">
                <a:solidFill>
                  <a:srgbClr val="FF0000"/>
                </a:solidFill>
                <a:latin typeface="方正大黑简体" panose="02010601030101010101" pitchFamily="65" charset="-122"/>
                <a:ea typeface="方正大黑简体" panose="02010601030101010101" pitchFamily="65" charset="-122"/>
              </a:rPr>
              <a:t>基于页岩气井压裂施工资料的压裂评估方法与应用</a:t>
            </a:r>
            <a:r>
              <a:rPr lang="en-US" altLang="zh-CN" sz="4000" b="1" dirty="0">
                <a:solidFill>
                  <a:srgbClr val="FF0000"/>
                </a:solidFill>
                <a:latin typeface="方正大黑简体" panose="02010601030101010101" pitchFamily="65" charset="-122"/>
                <a:ea typeface="方正大黑简体" panose="02010601030101010101" pitchFamily="65" charset="-122"/>
              </a:rPr>
              <a:t>》</a:t>
            </a:r>
            <a:endParaRPr lang="en-US" altLang="zh-CN" sz="4000" b="1" dirty="0">
              <a:solidFill>
                <a:srgbClr val="FF0000"/>
              </a:solidFill>
              <a:latin typeface="方正大黑简体" panose="02010601030101010101" pitchFamily="65" charset="-122"/>
              <a:ea typeface="方正大黑简体" panose="02010601030101010101" pitchFamily="65" charset="-122"/>
            </a:endParaRPr>
          </a:p>
          <a:p>
            <a:pPr algn="ctr" fontAlgn="base">
              <a:spcBef>
                <a:spcPct val="50000"/>
              </a:spcBef>
              <a:spcAft>
                <a:spcPct val="0"/>
              </a:spcAft>
            </a:pPr>
            <a:r>
              <a:rPr lang="zh-CN" altLang="en-US" sz="4000" b="1" dirty="0">
                <a:solidFill>
                  <a:srgbClr val="FF0000"/>
                </a:solidFill>
                <a:latin typeface="方正大黑简体" panose="02010601030101010101" pitchFamily="65" charset="-122"/>
                <a:ea typeface="方正大黑简体" panose="02010601030101010101" pitchFamily="65" charset="-122"/>
              </a:rPr>
              <a:t>开题设计</a:t>
            </a:r>
            <a:endParaRPr lang="zh-CN" altLang="en-US" sz="3600" b="1" dirty="0">
              <a:solidFill>
                <a:srgbClr val="FF0000"/>
              </a:solidFill>
              <a:latin typeface="方正大黑简体" panose="02010601030101010101" pitchFamily="65" charset="-122"/>
              <a:ea typeface="方正大黑简体" panose="02010601030101010101" pitchFamily="65" charset="-122"/>
            </a:endParaRPr>
          </a:p>
        </p:txBody>
      </p:sp>
      <p:sp>
        <p:nvSpPr>
          <p:cNvPr id="1048578" name="Text Box 4"/>
          <p:cNvSpPr txBox="1">
            <a:spLocks noChangeArrowheads="1"/>
          </p:cNvSpPr>
          <p:nvPr/>
        </p:nvSpPr>
        <p:spPr bwMode="auto">
          <a:xfrm>
            <a:off x="2735264" y="5448301"/>
            <a:ext cx="6732587" cy="784225"/>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pPr>
            <a:r>
              <a:rPr lang="zh-CN" altLang="en-US" b="1" dirty="0">
                <a:solidFill>
                  <a:srgbClr val="000000"/>
                </a:solidFill>
                <a:latin typeface="楷体" panose="02010609060101010101" pitchFamily="49" charset="-122"/>
                <a:ea typeface="楷体" panose="02010609060101010101" pitchFamily="49" charset="-122"/>
              </a:rPr>
              <a:t>承担单位：中国石油大学（北京）</a:t>
            </a:r>
            <a:endParaRPr lang="en-US" altLang="zh-CN" b="1" dirty="0">
              <a:solidFill>
                <a:srgbClr val="000000"/>
              </a:solidFill>
              <a:latin typeface="楷体" panose="02010609060101010101" pitchFamily="49" charset="-122"/>
              <a:ea typeface="楷体" panose="02010609060101010101" pitchFamily="49" charset="-122"/>
            </a:endParaRPr>
          </a:p>
          <a:p>
            <a:pPr algn="ctr" fontAlgn="base">
              <a:spcBef>
                <a:spcPct val="50000"/>
              </a:spcBef>
              <a:spcAft>
                <a:spcPct val="0"/>
              </a:spcAft>
            </a:pPr>
            <a:r>
              <a:rPr lang="en-US" altLang="zh-CN" b="1" dirty="0">
                <a:solidFill>
                  <a:srgbClr val="000000"/>
                </a:solidFill>
                <a:latin typeface="楷体" panose="02010609060101010101" pitchFamily="49" charset="-122"/>
                <a:ea typeface="楷体" panose="02010609060101010101" pitchFamily="49" charset="-122"/>
              </a:rPr>
              <a:t>2024</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6</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28</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1048579" name="矩形 3"/>
          <p:cNvSpPr>
            <a:spLocks noChangeArrowheads="1"/>
          </p:cNvSpPr>
          <p:nvPr/>
        </p:nvSpPr>
        <p:spPr bwMode="auto">
          <a:xfrm>
            <a:off x="3900264" y="3644900"/>
            <a:ext cx="4572000" cy="1015663"/>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lang="zh-CN" altLang="en-US" sz="2400" b="1" dirty="0">
                <a:solidFill>
                  <a:srgbClr val="000000"/>
                </a:solidFill>
                <a:latin typeface="方正大黑简体" panose="02010601030101010101" pitchFamily="65" charset="-122"/>
                <a:ea typeface="方正大黑简体" panose="02010601030101010101" pitchFamily="65" charset="-122"/>
              </a:rPr>
              <a:t>项目经理：周福建 胡晓东</a:t>
            </a:r>
            <a:endParaRPr lang="en-US" altLang="zh-CN" sz="2400" b="1" dirty="0">
              <a:solidFill>
                <a:srgbClr val="000000"/>
              </a:solidFill>
              <a:latin typeface="方正大黑简体" panose="02010601030101010101" pitchFamily="65" charset="-122"/>
              <a:ea typeface="方正大黑简体" panose="02010601030101010101" pitchFamily="65" charset="-122"/>
            </a:endParaRPr>
          </a:p>
          <a:p>
            <a:pPr fontAlgn="base">
              <a:spcBef>
                <a:spcPct val="50000"/>
              </a:spcBef>
              <a:spcAft>
                <a:spcPct val="0"/>
              </a:spcAft>
            </a:pPr>
            <a:r>
              <a:rPr lang="zh-CN" altLang="en-US" sz="2400" b="1" dirty="0">
                <a:solidFill>
                  <a:srgbClr val="000000"/>
                </a:solidFill>
                <a:latin typeface="方正大黑简体" panose="02010601030101010101" pitchFamily="65" charset="-122"/>
                <a:ea typeface="方正大黑简体" panose="02010601030101010101" pitchFamily="65" charset="-122"/>
              </a:rPr>
              <a:t>汇  报  人：胡晓东</a:t>
            </a:r>
            <a:endParaRPr lang="en-US" altLang="zh-CN" sz="2400" b="1" dirty="0">
              <a:solidFill>
                <a:srgbClr val="000000"/>
              </a:solidFill>
              <a:latin typeface="方正大黑简体" panose="02010601030101010101" pitchFamily="65" charset="-122"/>
              <a:ea typeface="方正大黑简体" panose="02010601030101010101" pitchFamily="65"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b="1" dirty="0">
                <a:solidFill>
                  <a:srgbClr val="FF0000"/>
                </a:solidFill>
                <a:latin typeface="方正大黑简体" panose="02010601030101010101" pitchFamily="65" charset="-122"/>
                <a:ea typeface="方正大黑简体" panose="02010601030101010101" pitchFamily="65" charset="-122"/>
              </a:rPr>
              <a:t>目  录</a:t>
            </a:r>
            <a:endParaRPr lang="zh-CN" altLang="en-US" sz="4000" b="1" dirty="0">
              <a:solidFill>
                <a:srgbClr val="FF0000"/>
              </a:solidFill>
              <a:latin typeface="方正大黑简体" panose="02010601030101010101" pitchFamily="65" charset="-122"/>
              <a:ea typeface="方正大黑简体" panose="02010601030101010101" pitchFamily="65" charset="-122"/>
            </a:endParaRPr>
          </a:p>
        </p:txBody>
      </p:sp>
      <p:sp>
        <p:nvSpPr>
          <p:cNvPr id="1048583" name="Text Box 6"/>
          <p:cNvSpPr txBox="1">
            <a:spLocks noChangeArrowheads="1"/>
          </p:cNvSpPr>
          <p:nvPr/>
        </p:nvSpPr>
        <p:spPr bwMode="auto">
          <a:xfrm>
            <a:off x="2259013" y="1306051"/>
            <a:ext cx="7669212" cy="4734851"/>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FF0000"/>
                </a:solidFill>
                <a:latin typeface="方正大黑简体" panose="02010601030101010101" pitchFamily="65" charset="-122"/>
                <a:ea typeface="方正大黑简体" panose="02010601030101010101" pitchFamily="65" charset="-122"/>
              </a:rPr>
              <a:t>一、项目概要</a:t>
            </a:r>
            <a:endParaRPr lang="zh-CN" altLang="en-US" sz="3200" dirty="0">
              <a:solidFill>
                <a:srgbClr val="FF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二、立项的必要性</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三、主要研究内容与目标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四、主要技术经济考核指标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五、项目研究技术路线</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六、项目组织</a:t>
            </a:r>
            <a:endParaRPr lang="zh-CN" altLang="en-US" sz="3200" dirty="0">
              <a:solidFill>
                <a:srgbClr val="00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矩形 55"/>
          <p:cNvSpPr/>
          <p:nvPr/>
        </p:nvSpPr>
        <p:spPr>
          <a:xfrm>
            <a:off x="285134" y="743670"/>
            <a:ext cx="11520000" cy="1526187"/>
          </a:xfrm>
          <a:prstGeom prst="rect">
            <a:avLst/>
          </a:prstGeom>
          <a:noFill/>
          <a:ln w="9525">
            <a:noFill/>
          </a:ln>
        </p:spPr>
        <p:txBody>
          <a:bodyPr wrap="square" anchor="t">
            <a:spAutoFit/>
          </a:bodyPr>
          <a:lstStyle/>
          <a:p>
            <a:pPr marL="285750" marR="0" lvl="0" indent="-285750" algn="just"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l"/>
            </a:pP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项目来源：本项目来源于院级科研项目</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基于页岩气井压裂施工资料的压裂评估方法与应用</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，由西南油气田分公司页岩气研究院委托中国石油大学（北京）承担，研究时间 </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2024</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lang="en-US" altLang="zh-CN" sz="1600" dirty="0">
                <a:solidFill>
                  <a:srgbClr val="000000"/>
                </a:solidFill>
                <a:latin typeface="微软雅黑" panose="020B0503020204020204" pitchFamily="34" charset="-122"/>
                <a:ea typeface="微软雅黑" panose="020B0503020204020204" pitchFamily="34" charset="-122"/>
              </a:rPr>
              <a:t>6</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2025</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l"/>
            </a:pP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涉及学科：</a:t>
            </a:r>
            <a:r>
              <a:rPr lang="zh-CN" altLang="en-US" sz="1600" dirty="0">
                <a:solidFill>
                  <a:srgbClr val="000000"/>
                </a:solidFill>
                <a:latin typeface="微软雅黑" panose="020B0503020204020204" pitchFamily="34" charset="-122"/>
                <a:ea typeface="微软雅黑" panose="020B0503020204020204" pitchFamily="34" charset="-122"/>
              </a:rPr>
              <a:t>石油与天然气工程</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l"/>
            </a:pP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研究工区范围：川南区块</a:t>
            </a:r>
            <a:r>
              <a:rPr lang="zh-CN" altLang="en-US" sz="1600" dirty="0">
                <a:solidFill>
                  <a:srgbClr val="000000"/>
                </a:solidFill>
                <a:latin typeface="微软雅黑" panose="020B0503020204020204" pitchFamily="34" charset="-122"/>
                <a:ea typeface="微软雅黑" panose="020B0503020204020204" pitchFamily="34" charset="-122"/>
              </a:rPr>
              <a:t>页岩</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8593" name="文本框 6"/>
          <p:cNvSpPr txBox="1"/>
          <p:nvPr/>
        </p:nvSpPr>
        <p:spPr bwMode="auto">
          <a:xfrm>
            <a:off x="4372578" y="5978232"/>
            <a:ext cx="2380780" cy="418191"/>
          </a:xfrm>
          <a:prstGeom prst="rect">
            <a:avLst/>
          </a:prstGeom>
          <a:noFill/>
          <a:ln>
            <a:noFill/>
          </a:ln>
        </p:spPr>
        <p:txBody>
          <a:bodyPr wrap="none" rtlCol="0">
            <a:spAutoFit/>
          </a:bodyPr>
          <a:lstStyle/>
          <a:p>
            <a:pPr marL="285750" indent="-285750">
              <a:lnSpc>
                <a:spcPct val="150000"/>
              </a:lnSpc>
              <a:buClr>
                <a:srgbClr val="FF0000"/>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 川南区块构造位置图</a:t>
            </a:r>
            <a:endParaRPr lang="zh-CN" altLang="en-US" sz="1600" dirty="0">
              <a:latin typeface="微软雅黑" panose="020B0503020204020204" pitchFamily="34" charset="-122"/>
              <a:ea typeface="微软雅黑" panose="020B0503020204020204" pitchFamily="34" charset="-122"/>
            </a:endParaRPr>
          </a:p>
        </p:txBody>
      </p:sp>
      <p:sp>
        <p:nvSpPr>
          <p:cNvPr id="8" name="TextBox 45"/>
          <p:cNvSpPr txBox="1"/>
          <p:nvPr/>
        </p:nvSpPr>
        <p:spPr>
          <a:xfrm>
            <a:off x="150664" y="39512"/>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defTabSz="457200"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一、项目概要</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pic>
        <p:nvPicPr>
          <p:cNvPr id="2" name="图片 1"/>
          <p:cNvPicPr>
            <a:picLocks noChangeAspect="1"/>
          </p:cNvPicPr>
          <p:nvPr/>
        </p:nvPicPr>
        <p:blipFill>
          <a:blip r:embed="rId1"/>
          <a:stretch>
            <a:fillRect/>
          </a:stretch>
        </p:blipFill>
        <p:spPr>
          <a:xfrm>
            <a:off x="3582494" y="2251406"/>
            <a:ext cx="4781683" cy="3726826"/>
          </a:xfrm>
          <a:prstGeom prst="rect">
            <a:avLst/>
          </a:prstGeom>
        </p:spPr>
      </p:pic>
      <p:sp>
        <p:nvSpPr>
          <p:cNvPr id="4" name="文本框 3"/>
          <p:cNvSpPr txBox="1"/>
          <p:nvPr/>
        </p:nvSpPr>
        <p:spPr bwMode="auto">
          <a:xfrm>
            <a:off x="6126794" y="3307921"/>
            <a:ext cx="1005403" cy="418191"/>
          </a:xfrm>
          <a:prstGeom prst="rect">
            <a:avLst/>
          </a:prstGeom>
          <a:noFill/>
          <a:ln>
            <a:noFill/>
          </a:ln>
        </p:spPr>
        <p:txBody>
          <a:bodyPr wrap="none" rtlCol="0">
            <a:spAutoFit/>
          </a:bodyPr>
          <a:lstStyle/>
          <a:p>
            <a:pPr marL="0" indent="0">
              <a:lnSpc>
                <a:spcPct val="150000"/>
              </a:lnSpc>
              <a:buClr>
                <a:srgbClr val="FF0000"/>
              </a:buClr>
            </a:pPr>
            <a:r>
              <a:rPr lang="zh-CN" altLang="en-US" sz="1600" dirty="0">
                <a:latin typeface="微软雅黑" panose="020B0503020204020204" pitchFamily="34" charset="-122"/>
                <a:ea typeface="微软雅黑" panose="020B0503020204020204" pitchFamily="34" charset="-122"/>
              </a:rPr>
              <a:t>研究工区</a:t>
            </a:r>
            <a:endParaRPr lang="zh-CN" altLang="en-US" sz="1600" dirty="0">
              <a:latin typeface="微软雅黑" panose="020B0503020204020204" pitchFamily="34" charset="-122"/>
              <a:ea typeface="微软雅黑" panose="020B0503020204020204" pitchFamily="34" charset="-122"/>
            </a:endParaRPr>
          </a:p>
        </p:txBody>
      </p:sp>
      <p:cxnSp>
        <p:nvCxnSpPr>
          <p:cNvPr id="5" name="直接箭头连接符 4"/>
          <p:cNvCxnSpPr/>
          <p:nvPr/>
        </p:nvCxnSpPr>
        <p:spPr bwMode="auto">
          <a:xfrm flipH="1">
            <a:off x="5973335" y="3633424"/>
            <a:ext cx="234739" cy="288337"/>
          </a:xfrm>
          <a:prstGeom prst="straightConnector1">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alpha val="50000"/>
              </a:schemeClr>
            </a:outerShdw>
          </a:effectLst>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b="1" dirty="0">
                <a:solidFill>
                  <a:srgbClr val="FF0000"/>
                </a:solidFill>
                <a:latin typeface="方正大黑简体" panose="02010601030101010101" pitchFamily="65" charset="-122"/>
                <a:ea typeface="方正大黑简体" panose="02010601030101010101" pitchFamily="65" charset="-122"/>
              </a:rPr>
              <a:t>目  录</a:t>
            </a:r>
            <a:endParaRPr lang="zh-CN" altLang="en-US" sz="4000" b="1" dirty="0">
              <a:solidFill>
                <a:srgbClr val="FF0000"/>
              </a:solidFill>
              <a:latin typeface="方正大黑简体" panose="02010601030101010101" pitchFamily="65" charset="-122"/>
              <a:ea typeface="方正大黑简体" panose="02010601030101010101" pitchFamily="65" charset="-122"/>
            </a:endParaRPr>
          </a:p>
        </p:txBody>
      </p:sp>
      <p:sp>
        <p:nvSpPr>
          <p:cNvPr id="1048596" name="Text Box 6"/>
          <p:cNvSpPr txBox="1">
            <a:spLocks noChangeArrowheads="1"/>
          </p:cNvSpPr>
          <p:nvPr/>
        </p:nvSpPr>
        <p:spPr bwMode="auto">
          <a:xfrm>
            <a:off x="2259013" y="1306051"/>
            <a:ext cx="7669212" cy="4734851"/>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一、项目概要</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2010601030101010101" pitchFamily="65" charset="-122"/>
                <a:ea typeface="方正大黑简体" panose="02010601030101010101" pitchFamily="65" charset="-122"/>
              </a:rPr>
              <a:t>二、立项的必要性</a:t>
            </a:r>
            <a:endParaRPr lang="zh-CN" altLang="en-US" sz="3200" dirty="0">
              <a:solidFill>
                <a:srgbClr val="FF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三、主要研究内容与目标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四、主要技术经济考核指标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五、项目研究技术路线</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六、项目组织</a:t>
            </a:r>
            <a:endParaRPr lang="zh-CN" altLang="en-US" sz="3200" dirty="0">
              <a:solidFill>
                <a:srgbClr val="00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4572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（一）生产需求</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2"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457200" rtl="0" eaLnBrk="0" fontAlgn="base" latinLnBrk="0" hangingPunct="0">
              <a:lnSpc>
                <a:spcPct val="100000"/>
              </a:lnSpc>
              <a:spcBef>
                <a:spcPct val="0"/>
              </a:spcBef>
              <a:spcAft>
                <a:spcPct val="0"/>
              </a:spcAft>
              <a:buClr>
                <a:srgbClr val="FF0000"/>
              </a:buClr>
              <a:buSzTx/>
              <a:buFontTx/>
              <a:buNone/>
              <a:defRPr/>
            </a:pPr>
            <a:r>
              <a:rPr kumimoji="0" lang="en-US" altLang="zh-CN"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1</a:t>
            </a:r>
            <a:r>
              <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、我国页岩油气资源丰富，水力压裂技术是实现非常规油气增产改造的重要手段</a:t>
            </a:r>
            <a:endPar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endParaRPr>
          </a:p>
        </p:txBody>
      </p:sp>
      <p:pic>
        <p:nvPicPr>
          <p:cNvPr id="5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269" y="2919113"/>
            <a:ext cx="5412868" cy="310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Text Box 7"/>
          <p:cNvSpPr txBox="1">
            <a:spLocks noChangeArrowheads="1"/>
          </p:cNvSpPr>
          <p:nvPr/>
        </p:nvSpPr>
        <p:spPr bwMode="auto">
          <a:xfrm>
            <a:off x="130685" y="1207240"/>
            <a:ext cx="11940942" cy="170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dirty="0">
                <a:solidFill>
                  <a:srgbClr val="000000"/>
                </a:solidFill>
                <a:latin typeface="微软雅黑" panose="020B0503020204020204" pitchFamily="34" charset="-122"/>
                <a:ea typeface="微软雅黑" panose="020B0503020204020204" pitchFamily="34" charset="-122"/>
              </a:rPr>
              <a:t>我国页岩油气资源</a:t>
            </a:r>
            <a:r>
              <a:rPr lang="zh-CN" altLang="en-US" dirty="0">
                <a:solidFill>
                  <a:srgbClr val="FF0000"/>
                </a:solidFill>
                <a:latin typeface="微软雅黑" panose="020B0503020204020204" pitchFamily="34" charset="-122"/>
                <a:ea typeface="微软雅黑" panose="020B0503020204020204" pitchFamily="34" charset="-122"/>
              </a:rPr>
              <a:t>分布广阔</a:t>
            </a:r>
            <a:r>
              <a:rPr lang="zh-CN" altLang="en-US" dirty="0">
                <a:solidFill>
                  <a:srgbClr val="00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储量丰富</a:t>
            </a:r>
            <a:r>
              <a:rPr lang="zh-CN" altLang="en-US" dirty="0">
                <a:solidFill>
                  <a:srgbClr val="000000"/>
                </a:solidFill>
                <a:latin typeface="微软雅黑" panose="020B0503020204020204" pitchFamily="34" charset="-122"/>
                <a:ea typeface="微软雅黑" panose="020B0503020204020204" pitchFamily="34" charset="-122"/>
              </a:rPr>
              <a:t>，具备实现“中国非常规油气革命”的资源基础，是我国未来油气</a:t>
            </a:r>
            <a:r>
              <a:rPr lang="zh-CN" altLang="en-US" dirty="0">
                <a:latin typeface="微软雅黑" panose="020B0503020204020204" pitchFamily="34" charset="-122"/>
                <a:ea typeface="微软雅黑" panose="020B0503020204020204" pitchFamily="34" charset="-122"/>
              </a:rPr>
              <a:t>增储上产的重要战略接替资源</a:t>
            </a:r>
            <a:endParaRPr lang="en-US" altLang="zh-CN" dirty="0">
              <a:latin typeface="微软雅黑" panose="020B0503020204020204" pitchFamily="34" charset="-122"/>
              <a:ea typeface="微软雅黑" panose="020B0503020204020204" pitchFamily="34" charset="-122"/>
            </a:endParaRPr>
          </a:p>
          <a:p>
            <a:pPr indent="-285750" algn="just" eaLnBrk="1" hangingPunct="1">
              <a:lnSpc>
                <a:spcPct val="150000"/>
              </a:lnSpc>
              <a:buClr>
                <a:srgbClr val="FF0000"/>
              </a:buClr>
              <a:buFont typeface="Wingdings" panose="05000000000000000000" pitchFamily="2" charset="2"/>
              <a:buChar char="n"/>
            </a:pPr>
            <a:r>
              <a:rPr lang="zh-CN" altLang="en-US" dirty="0">
                <a:solidFill>
                  <a:srgbClr val="FF0000"/>
                </a:solidFill>
                <a:latin typeface="微软雅黑" panose="020B0503020204020204" pitchFamily="34" charset="-122"/>
                <a:ea typeface="微软雅黑" panose="020B0503020204020204" pitchFamily="34" charset="-122"/>
              </a:rPr>
              <a:t>四川盆地页岩气富集高产</a:t>
            </a:r>
            <a:r>
              <a:rPr lang="zh-CN" altLang="en-US" dirty="0">
                <a:solidFill>
                  <a:srgbClr val="000000"/>
                </a:solidFill>
                <a:latin typeface="微软雅黑" panose="020B0503020204020204" pitchFamily="34" charset="-122"/>
                <a:ea typeface="微软雅黑" panose="020B0503020204020204" pitchFamily="34" charset="-122"/>
              </a:rPr>
              <a:t>，储层地质构造复杂，非均质强，</a:t>
            </a:r>
            <a:r>
              <a:rPr lang="zh-CN" altLang="en-US" dirty="0">
                <a:solidFill>
                  <a:srgbClr val="FF0000"/>
                </a:solidFill>
                <a:latin typeface="微软雅黑" panose="020B0503020204020204" pitchFamily="34" charset="-122"/>
                <a:ea typeface="微软雅黑" panose="020B0503020204020204" pitchFamily="34" charset="-122"/>
              </a:rPr>
              <a:t>天然裂缝发育</a:t>
            </a:r>
            <a:r>
              <a:rPr lang="zh-CN" altLang="en-US" dirty="0">
                <a:solidFill>
                  <a:srgbClr val="000000"/>
                </a:solidFill>
                <a:latin typeface="微软雅黑" panose="020B0503020204020204" pitchFamily="34" charset="-122"/>
                <a:ea typeface="微软雅黑" panose="020B0503020204020204" pitchFamily="34" charset="-122"/>
              </a:rPr>
              <a:t>，容易形成复杂缝网，</a:t>
            </a:r>
            <a:r>
              <a:rPr lang="zh-CN" altLang="en-US" dirty="0">
                <a:solidFill>
                  <a:srgbClr val="FF0000"/>
                </a:solidFill>
                <a:latin typeface="微软雅黑" panose="020B0503020204020204" pitchFamily="34" charset="-122"/>
                <a:ea typeface="微软雅黑" panose="020B0503020204020204" pitchFamily="34" charset="-122"/>
              </a:rPr>
              <a:t>水力压裂技术是实现非常规油气增产改造的重要手段</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61" name="文本框 6"/>
          <p:cNvSpPr txBox="1"/>
          <p:nvPr/>
        </p:nvSpPr>
        <p:spPr>
          <a:xfrm>
            <a:off x="1991544" y="6084693"/>
            <a:ext cx="1877437"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中国页岩油气资源分布</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6"/>
          <p:cNvSpPr txBox="1"/>
          <p:nvPr/>
        </p:nvSpPr>
        <p:spPr>
          <a:xfrm>
            <a:off x="8339109" y="6070942"/>
            <a:ext cx="2031325"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川南泸州区块天然裂缝分布</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2"/>
          <a:stretch>
            <a:fillRect/>
          </a:stretch>
        </p:blipFill>
        <p:spPr>
          <a:xfrm>
            <a:off x="6600055" y="2944121"/>
            <a:ext cx="5113537" cy="30835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407988" y="3641410"/>
            <a:ext cx="5399980" cy="2814230"/>
            <a:chOff x="388938" y="3573463"/>
            <a:chExt cx="4154487" cy="2879725"/>
          </a:xfrm>
        </p:grpSpPr>
        <p:grpSp>
          <p:nvGrpSpPr>
            <p:cNvPr id="15" name="组合 20"/>
            <p:cNvGrpSpPr/>
            <p:nvPr/>
          </p:nvGrpSpPr>
          <p:grpSpPr bwMode="auto">
            <a:xfrm>
              <a:off x="388938" y="3716338"/>
              <a:ext cx="3694112" cy="2736850"/>
              <a:chOff x="5231419" y="3750906"/>
              <a:chExt cx="3431998" cy="2191607"/>
            </a:xfrm>
          </p:grpSpPr>
          <p:pic>
            <p:nvPicPr>
              <p:cNvPr id="17" name="Picture 1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9953" r="24719"/>
              <a:stretch>
                <a:fillRect/>
              </a:stretch>
            </p:blipFill>
            <p:spPr bwMode="auto">
              <a:xfrm>
                <a:off x="5231419" y="3750906"/>
                <a:ext cx="3431998" cy="2191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箭头连接符 17"/>
              <p:cNvCxnSpPr/>
              <p:nvPr/>
            </p:nvCxnSpPr>
            <p:spPr>
              <a:xfrm flipV="1">
                <a:off x="6782971" y="4470424"/>
                <a:ext cx="327419" cy="3305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3573463"/>
              <a:ext cx="2132012"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8600"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4572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（一）生产需求</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3"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defTabSz="457200" eaLnBrk="0" fontAlgn="base" hangingPunct="0">
              <a:lnSpc>
                <a:spcPct val="100000"/>
              </a:lnSpc>
              <a:spcBef>
                <a:spcPct val="0"/>
              </a:spcBef>
              <a:spcAft>
                <a:spcPct val="0"/>
              </a:spcAft>
              <a:defRPr/>
            </a:pPr>
            <a:r>
              <a:rPr kumimoji="0" lang="en-US" altLang="zh-CN"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2</a:t>
            </a:r>
            <a:r>
              <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a:t>
            </a:r>
            <a:r>
              <a:rPr lang="zh-CN" altLang="en-US" sz="2000" kern="0" dirty="0">
                <a:solidFill>
                  <a:srgbClr val="FF0000"/>
                </a:solidFill>
                <a:latin typeface="方正大黑简体" panose="02010601030101010101" pitchFamily="65" charset="-122"/>
                <a:ea typeface="方正大黑简体" panose="02010601030101010101" pitchFamily="65" charset="-122"/>
              </a:rPr>
              <a:t>综合</a:t>
            </a:r>
            <a:r>
              <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评估压裂效果并提出实时优化调控方案，是水力压裂和现场生产的重大需求</a:t>
            </a:r>
            <a:endPar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endParaRPr>
          </a:p>
        </p:txBody>
      </p:sp>
      <p:sp>
        <p:nvSpPr>
          <p:cNvPr id="4" name="Rectangle 11"/>
          <p:cNvSpPr>
            <a:spLocks noChangeArrowheads="1"/>
          </p:cNvSpPr>
          <p:nvPr/>
        </p:nvSpPr>
        <p:spPr bwMode="auto">
          <a:xfrm>
            <a:off x="259797" y="1332070"/>
            <a:ext cx="11740116" cy="2159374"/>
          </a:xfrm>
          <a:prstGeom prst="rect">
            <a:avLst/>
          </a:prstGeom>
          <a:noFill/>
          <a:ln w="9525">
            <a:noFill/>
          </a:ln>
        </p:spPr>
        <p:txBody>
          <a:bodyPr wrap="square">
            <a:spAutoFit/>
          </a:bodyPr>
          <a:lstStyle/>
          <a:p>
            <a:pPr marL="285750" marR="0" lvl="0" indent="-285750" algn="just" defTabSz="457200" rtl="0" eaLnBrk="0" fontAlgn="base" latinLnBrk="0" hangingPunct="0">
              <a:lnSpc>
                <a:spcPct val="150000"/>
              </a:lnSpc>
              <a:spcBef>
                <a:spcPts val="300"/>
              </a:spcBef>
              <a:spcAft>
                <a:spcPct val="0"/>
              </a:spcAft>
              <a:buClr>
                <a:srgbClr val="FF0000"/>
              </a:buClr>
              <a:buSzTx/>
              <a:buFont typeface="Wingdings" panose="05000000000000000000" pitchFamily="2" charset="2"/>
              <a:buChar char="n"/>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由于非常规储层地层应力状态复杂多变、岩石力学性质各向异性和非均质性强、天然裂缝发育状况不明确、人工裂缝之间存在严重相互干扰，传统的水力压裂机理模型与预测方法不适用于非常规储层，如何</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提高水力压裂效果评价的准确性</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成为解决非常规资源开发瓶颈问题的</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关键技术</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0" fontAlgn="base" latinLnBrk="0" hangingPunct="0">
              <a:lnSpc>
                <a:spcPct val="150000"/>
              </a:lnSpc>
              <a:spcBef>
                <a:spcPts val="300"/>
              </a:spcBef>
              <a:spcAft>
                <a:spcPct val="0"/>
              </a:spcAft>
              <a:buClr>
                <a:srgbClr val="FF0000"/>
              </a:buClr>
              <a:buSzTx/>
              <a:buFont typeface="Wingdings" panose="05000000000000000000" pitchFamily="2" charset="2"/>
              <a:buChar char="n"/>
              <a:defRPr/>
            </a:pP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压裂监测与诊断</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是评估压裂改造和优化压裂设计的重要方法，对现场处理指导具有重要意义，综合评估压裂效果并提出实时优化调控方案，是水力压裂和现场生产的</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重大需求</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22"/>
          <p:cNvSpPr>
            <a:spLocks noChangeArrowheads="1"/>
          </p:cNvSpPr>
          <p:nvPr/>
        </p:nvSpPr>
        <p:spPr bwMode="auto">
          <a:xfrm>
            <a:off x="8657109" y="6331142"/>
            <a:ext cx="126188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多裂缝尺寸诊断</a:t>
            </a:r>
            <a:endParaRPr lang="zh-CN" altLang="en-US" sz="1200" dirty="0">
              <a:latin typeface="微软雅黑" panose="020B0503020204020204" pitchFamily="34" charset="-122"/>
              <a:ea typeface="微软雅黑" panose="020B0503020204020204" pitchFamily="34" charset="-122"/>
            </a:endParaRPr>
          </a:p>
        </p:txBody>
      </p:sp>
      <p:sp>
        <p:nvSpPr>
          <p:cNvPr id="8" name="矩形 22"/>
          <p:cNvSpPr>
            <a:spLocks noChangeArrowheads="1"/>
          </p:cNvSpPr>
          <p:nvPr/>
        </p:nvSpPr>
        <p:spPr bwMode="auto">
          <a:xfrm>
            <a:off x="2495600" y="6330059"/>
            <a:ext cx="1723549"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多级多簇停泵压力监测</a:t>
            </a:r>
            <a:endParaRPr lang="zh-CN" altLang="en-US" sz="1200"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3"/>
          <a:stretch>
            <a:fillRect/>
          </a:stretch>
        </p:blipFill>
        <p:spPr>
          <a:xfrm>
            <a:off x="7440995" y="3566814"/>
            <a:ext cx="3694111" cy="27632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971090" y="3481230"/>
            <a:ext cx="3073814" cy="2295598"/>
          </a:xfrm>
          <a:prstGeom prst="rect">
            <a:avLst/>
          </a:prstGeom>
        </p:spPr>
      </p:pic>
      <p:sp>
        <p:nvSpPr>
          <p:cNvPr id="5"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、水力压裂诊断评估与监测是国际学术研究的热点和难点问题，急需理论和技术方法创新</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6"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（二）国内外技术现状</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7" name="Rectangle 11"/>
          <p:cNvSpPr>
            <a:spLocks noChangeArrowheads="1"/>
          </p:cNvSpPr>
          <p:nvPr/>
        </p:nvSpPr>
        <p:spPr bwMode="auto">
          <a:xfrm>
            <a:off x="407987" y="1332070"/>
            <a:ext cx="11591925" cy="2613344"/>
          </a:xfrm>
          <a:prstGeom prst="rect">
            <a:avLst/>
          </a:prstGeom>
          <a:noFill/>
          <a:ln w="9525">
            <a:noFill/>
          </a:ln>
        </p:spPr>
        <p:txBody>
          <a:bodyPr wrap="square">
            <a:spAutoFit/>
          </a:bodyPr>
          <a:lstStyle/>
          <a:p>
            <a:pPr marR="0" lvl="0" indent="457200" algn="just" defTabSz="457200" rtl="0" eaLnBrk="0" fontAlgn="base" latinLnBrk="0" hangingPunct="0">
              <a:lnSpc>
                <a:spcPct val="150000"/>
              </a:lnSpc>
              <a:spcAft>
                <a:spcPct val="0"/>
              </a:spcAft>
              <a:buClr>
                <a:srgbClr val="FF0000"/>
              </a:buClr>
              <a:buSzTx/>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收集与压裂诊断评估研究相关的</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理论研究</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工程实践</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文献</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100</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篇，其中国外</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篇、国内</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6</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篇。 通过调研，国内外学者近年来压裂</a:t>
            </a:r>
            <a:r>
              <a:rPr lang="zh-CN" altLang="en-US" kern="0" dirty="0">
                <a:latin typeface="微软雅黑" panose="020B0503020204020204" pitchFamily="34" charset="-122"/>
                <a:ea typeface="微软雅黑" panose="020B0503020204020204" pitchFamily="34" charset="-122"/>
                <a:cs typeface="Times New Roman" panose="02020603050405020304" pitchFamily="18" charset="0"/>
              </a:rPr>
              <a:t>诊断监测方面的研究大多仅限于理论研究</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研究难度大进展缓慢</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，尚属于</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原创策源技术</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，在当前阶段既是研究的</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热点</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，也是研究的</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盲点</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0" fontAlgn="base" latinLnBrk="0" hangingPunct="0">
              <a:lnSpc>
                <a:spcPct val="150000"/>
              </a:lnSpc>
              <a:spcAft>
                <a:spcPct val="0"/>
              </a:spcAft>
              <a:buClr>
                <a:srgbClr val="FF0000"/>
              </a:buClr>
              <a:buSzTx/>
              <a:buFont typeface="Wingdings" panose="05000000000000000000" pitchFamily="2" charset="2"/>
              <a:buChar char="l"/>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国内文献：石油勘探与开发、石油学报、天然气工业、石油</a:t>
            </a:r>
            <a:r>
              <a:rPr lang="zh-CN" altLang="en-US" kern="0" dirty="0">
                <a:latin typeface="微软雅黑" panose="020B0503020204020204" pitchFamily="34" charset="-122"/>
                <a:ea typeface="微软雅黑" panose="020B0503020204020204" pitchFamily="34" charset="-122"/>
                <a:cs typeface="Times New Roman" panose="02020603050405020304" pitchFamily="18" charset="0"/>
              </a:rPr>
              <a:t>科学通报</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、岩石力学与工程学报等</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6</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篇。</a:t>
            </a:r>
            <a:endPar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0" fontAlgn="base" latinLnBrk="0" hangingPunct="0">
              <a:lnSpc>
                <a:spcPct val="150000"/>
              </a:lnSpc>
              <a:spcAft>
                <a:spcPct val="0"/>
              </a:spcAft>
              <a:buClr>
                <a:srgbClr val="FF0000"/>
              </a:buClr>
              <a:buSzTx/>
              <a:buFont typeface="Wingdings" panose="05000000000000000000" pitchFamily="2" charset="2"/>
              <a:buChar char="l"/>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国外文献：</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SPE </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SEG</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b="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Geoenergy</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 Science and Engineering</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Journal of Hydrology</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International Journal of Rock Mechanics and Mining Sciences</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等</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篇。</a:t>
            </a:r>
            <a:endParaRPr kumimoji="0" lang="en-US" altLang="zh-CN"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 name="组合 42"/>
          <p:cNvGrpSpPr/>
          <p:nvPr/>
        </p:nvGrpSpPr>
        <p:grpSpPr bwMode="auto">
          <a:xfrm>
            <a:off x="363692" y="4010344"/>
            <a:ext cx="1799580" cy="2469489"/>
            <a:chOff x="609600" y="2286000"/>
            <a:chExt cx="1601788" cy="2068285"/>
          </a:xfrm>
        </p:grpSpPr>
        <p:pic>
          <p:nvPicPr>
            <p:cNvPr id="10"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2286000"/>
              <a:ext cx="1600200" cy="2068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286000"/>
              <a:ext cx="68738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组合 55"/>
          <p:cNvGrpSpPr/>
          <p:nvPr/>
        </p:nvGrpSpPr>
        <p:grpSpPr bwMode="auto">
          <a:xfrm>
            <a:off x="2214730" y="4010343"/>
            <a:ext cx="1948139" cy="2469489"/>
            <a:chOff x="5257799" y="2286000"/>
            <a:chExt cx="1447800" cy="2057400"/>
          </a:xfrm>
        </p:grpSpPr>
        <p:pic>
          <p:nvPicPr>
            <p:cNvPr id="14" name="图片 5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7799" y="2286000"/>
              <a:ext cx="1447800" cy="205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5" name="图片 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8398" y="2286000"/>
              <a:ext cx="430521" cy="617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组合 61"/>
          <p:cNvGrpSpPr/>
          <p:nvPr/>
        </p:nvGrpSpPr>
        <p:grpSpPr bwMode="auto">
          <a:xfrm>
            <a:off x="4255811" y="4010342"/>
            <a:ext cx="1948138" cy="2469489"/>
            <a:chOff x="8686800" y="3352800"/>
            <a:chExt cx="2140834" cy="2910945"/>
          </a:xfrm>
        </p:grpSpPr>
        <p:pic>
          <p:nvPicPr>
            <p:cNvPr id="18" name="图片 5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86800" y="3352800"/>
              <a:ext cx="2140834" cy="291094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9" name="图片 6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215966" y="3352800"/>
              <a:ext cx="58499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 name="图片 19"/>
          <p:cNvPicPr>
            <a:picLocks noChangeAspect="1"/>
          </p:cNvPicPr>
          <p:nvPr/>
        </p:nvPicPr>
        <p:blipFill>
          <a:blip r:embed="rId8"/>
          <a:stretch>
            <a:fillRect/>
          </a:stretch>
        </p:blipFill>
        <p:spPr>
          <a:xfrm>
            <a:off x="6520774" y="5041927"/>
            <a:ext cx="2934344" cy="1745986"/>
          </a:xfrm>
          <a:prstGeom prst="rect">
            <a:avLst/>
          </a:prstGeom>
        </p:spPr>
      </p:pic>
      <p:pic>
        <p:nvPicPr>
          <p:cNvPr id="3" name="图片 2"/>
          <p:cNvPicPr>
            <a:picLocks noChangeAspect="1"/>
          </p:cNvPicPr>
          <p:nvPr/>
        </p:nvPicPr>
        <p:blipFill>
          <a:blip r:embed="rId9"/>
          <a:stretch>
            <a:fillRect/>
          </a:stretch>
        </p:blipFill>
        <p:spPr>
          <a:xfrm>
            <a:off x="6390066" y="3851698"/>
            <a:ext cx="2652642" cy="1449257"/>
          </a:xfrm>
          <a:prstGeom prst="rect">
            <a:avLst/>
          </a:prstGeom>
        </p:spPr>
      </p:pic>
      <p:pic>
        <p:nvPicPr>
          <p:cNvPr id="21" name="图片 20"/>
          <p:cNvPicPr>
            <a:picLocks noChangeAspect="1"/>
          </p:cNvPicPr>
          <p:nvPr/>
        </p:nvPicPr>
        <p:blipFill>
          <a:blip r:embed="rId10"/>
          <a:stretch>
            <a:fillRect/>
          </a:stretch>
        </p:blipFill>
        <p:spPr>
          <a:xfrm>
            <a:off x="9150177" y="4662830"/>
            <a:ext cx="2727970" cy="21037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2299" y="790146"/>
            <a:ext cx="10712253" cy="400110"/>
          </a:xfrm>
          <a:prstGeom prst="rect">
            <a:avLst/>
          </a:prstGeom>
        </p:spPr>
        <p:txBody>
          <a:bodyPr wrap="square">
            <a:spAutoFit/>
          </a:bodyPr>
          <a:lstStyle/>
          <a:p>
            <a:r>
              <a:rPr lang="en-US" altLang="zh-CN" sz="2000" kern="0" dirty="0">
                <a:solidFill>
                  <a:srgbClr val="FF0000"/>
                </a:solidFill>
                <a:latin typeface="方正大黑简体" panose="02010601030101010101" pitchFamily="65" charset="-122"/>
                <a:ea typeface="方正大黑简体" panose="02010601030101010101" pitchFamily="65" charset="-122"/>
              </a:rPr>
              <a:t>2</a:t>
            </a:r>
            <a:r>
              <a:rPr lang="zh-CN" altLang="en-US" sz="2000" kern="0" dirty="0">
                <a:solidFill>
                  <a:srgbClr val="FF0000"/>
                </a:solidFill>
                <a:latin typeface="方正大黑简体" panose="02010601030101010101" pitchFamily="65" charset="-122"/>
                <a:ea typeface="方正大黑简体" panose="02010601030101010101" pitchFamily="65" charset="-122"/>
              </a:rPr>
              <a:t>、国内对于压裂诊断侧重于理论研究，研究成果定性多、定量少，成果落地应用难度大</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（二）国内外技术现状</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6" name="Rectangle 11"/>
          <p:cNvSpPr>
            <a:spLocks noChangeArrowheads="1"/>
          </p:cNvSpPr>
          <p:nvPr/>
        </p:nvSpPr>
        <p:spPr bwMode="auto">
          <a:xfrm>
            <a:off x="407987" y="1332070"/>
            <a:ext cx="11591925" cy="2690288"/>
          </a:xfrm>
          <a:prstGeom prst="rect">
            <a:avLst/>
          </a:prstGeom>
          <a:noFill/>
          <a:ln w="9525">
            <a:noFill/>
          </a:ln>
        </p:spPr>
        <p:txBody>
          <a:bodyPr wrap="square">
            <a:spAutoFit/>
          </a:bodyPr>
          <a:lstStyle/>
          <a:p>
            <a:pPr marR="0" lvl="0" indent="457200" algn="just" defTabSz="457200" rtl="0" eaLnBrk="0" fontAlgn="base" latinLnBrk="0" hangingPunct="0">
              <a:lnSpc>
                <a:spcPct val="150000"/>
              </a:lnSpc>
              <a:spcAft>
                <a:spcPct val="0"/>
              </a:spcAft>
              <a:buClr>
                <a:srgbClr val="FF0000"/>
              </a:buClr>
              <a:buSzTx/>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目前应用于水力压裂诊断监测的主要技术包括压裂过程的压力曲线分析等</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间接诊断方法</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，示踪剂、测斜仪、井下成像等</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近井直接诊断方法</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，井下微地震等</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远井直接诊断方法</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三大类型，</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受制于成本影响</a:t>
            </a: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应用难度较大</a:t>
            </a:r>
            <a:endParaRPr kumimoji="0" lang="en-US" altLang="zh-CN"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defTabSz="457200" eaLnBrk="0" fontAlgn="base" hangingPunct="0">
              <a:lnSpc>
                <a:spcPct val="150000"/>
              </a:lnSpc>
              <a:spcBef>
                <a:spcPts val="300"/>
              </a:spcBef>
              <a:spcAft>
                <a:spcPct val="0"/>
              </a:spcAft>
              <a:buClr>
                <a:srgbClr val="FF0000"/>
              </a:buClr>
              <a:buFont typeface="Wingdings" panose="05000000000000000000" pitchFamily="2" charset="2"/>
              <a:buChar char="l"/>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矿场监测对数据处理速度、分析精度及工艺成本有着多重要求；</a:t>
            </a:r>
            <a:endPar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defTabSz="457200" eaLnBrk="0" fontAlgn="base" hangingPunct="0">
              <a:lnSpc>
                <a:spcPct val="150000"/>
              </a:lnSpc>
              <a:spcBef>
                <a:spcPts val="300"/>
              </a:spcBef>
              <a:spcAft>
                <a:spcPct val="0"/>
              </a:spcAft>
              <a:buClr>
                <a:srgbClr val="FF0000"/>
              </a:buClr>
              <a:buFont typeface="Wingdings" panose="05000000000000000000" pitchFamily="2" charset="2"/>
              <a:buChar char="l"/>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微地震，管外光纤监测和广域电磁法可实现压裂人工裂缝实时监测，但成本较高且施工应用复杂；</a:t>
            </a:r>
            <a:endPar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defTabSz="457200" eaLnBrk="0" fontAlgn="base" hangingPunct="0">
              <a:lnSpc>
                <a:spcPct val="150000"/>
              </a:lnSpc>
              <a:spcBef>
                <a:spcPts val="300"/>
              </a:spcBef>
              <a:spcAft>
                <a:spcPct val="0"/>
              </a:spcAft>
              <a:buClr>
                <a:srgbClr val="FF0000"/>
              </a:buClr>
              <a:buFont typeface="Wingdings" panose="05000000000000000000" pitchFamily="2" charset="2"/>
              <a:buChar char="l"/>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示踪剂和井下鹰眼需要在压裂施工完成后，通过反排或下入设备评价压裂效果，不具备实时性；</a:t>
            </a:r>
            <a:endPar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defTabSz="457200" eaLnBrk="0" fontAlgn="base" hangingPunct="0">
              <a:lnSpc>
                <a:spcPct val="150000"/>
              </a:lnSpc>
              <a:spcBef>
                <a:spcPts val="300"/>
              </a:spcBef>
              <a:spcAft>
                <a:spcPct val="0"/>
              </a:spcAft>
              <a:buClr>
                <a:srgbClr val="FF0000"/>
              </a:buClr>
              <a:buFont typeface="Wingdings" panose="05000000000000000000" pitchFamily="2" charset="2"/>
              <a:buChar char="l"/>
              <a:defRPr/>
            </a:pPr>
            <a:r>
              <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井筒听诊器可实现压裂人工裂缝实时监测，但只能确定压裂后进液裂缝位置，无法评价人工裂缝规模。</a:t>
            </a:r>
            <a:endParaRPr kumimoji="0" lang="zh-CN" altLang="en-US"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7" name="Table 6"/>
          <p:cNvGraphicFramePr>
            <a:graphicFrameLocks noGrp="1"/>
          </p:cNvGraphicFramePr>
          <p:nvPr>
            <p:custDataLst>
              <p:tags r:id="rId1"/>
            </p:custDataLst>
          </p:nvPr>
        </p:nvGraphicFramePr>
        <p:xfrm>
          <a:off x="407988" y="4188492"/>
          <a:ext cx="11591924" cy="2264844"/>
        </p:xfrm>
        <a:graphic>
          <a:graphicData uri="http://schemas.openxmlformats.org/drawingml/2006/table">
            <a:tbl>
              <a:tblPr firstRow="1" bandRow="1">
                <a:tableStyleId>{5C22544A-7EE6-4342-B048-85BDC9FD1C3A}</a:tableStyleId>
              </a:tblPr>
              <a:tblGrid>
                <a:gridCol w="942685"/>
                <a:gridCol w="1876184"/>
                <a:gridCol w="2043177"/>
                <a:gridCol w="1774316"/>
                <a:gridCol w="1891214"/>
                <a:gridCol w="1777656"/>
                <a:gridCol w="1286692"/>
              </a:tblGrid>
              <a:tr h="337763">
                <a:tc>
                  <a:txBody>
                    <a:bodyPr/>
                    <a:lstStyle/>
                    <a:p>
                      <a:pPr algn="ctr"/>
                      <a:endParaRPr lang="en-US" sz="1200"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微地震监测</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管外光纤监测</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广域电磁法</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井筒听诊器</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示踪剂</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chemeClr val="tx1"/>
                          </a:solidFill>
                          <a:latin typeface="黑体" panose="02010609060101010101" charset="-122"/>
                          <a:ea typeface="黑体" panose="02010609060101010101" charset="-122"/>
                        </a:rPr>
                        <a:t>井下鹰眼</a:t>
                      </a:r>
                      <a:endParaRPr lang="zh-CN" altLang="en-US" sz="1200" b="1" dirty="0">
                        <a:solidFill>
                          <a:schemeClr val="tx1"/>
                        </a:solidFill>
                        <a:latin typeface="黑体" panose="02010609060101010101" charset="-122"/>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4472">
                <a:tc>
                  <a:txBody>
                    <a:bodyPr/>
                    <a:lstStyle/>
                    <a:p>
                      <a:pPr algn="ctr"/>
                      <a:r>
                        <a:rPr lang="zh-CN" altLang="en-US" sz="1200" b="0" dirty="0">
                          <a:latin typeface="Times New Roman Regular" panose="02020603050405020304" charset="0"/>
                          <a:ea typeface="黑体" panose="02010609060101010101" charset="-122"/>
                        </a:rPr>
                        <a:t>采集指标</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地震检波设备采集，随着压裂过程实时采集显示，</a:t>
                      </a:r>
                      <a:r>
                        <a:rPr lang="zh-CN" altLang="en-US" sz="1200" dirty="0">
                          <a:latin typeface="Times New Roman Regular" panose="02020603050405020304" charset="0"/>
                          <a:ea typeface="黑体" panose="02010609060101010101" charset="-122"/>
                          <a:sym typeface="+mn-ea"/>
                        </a:rPr>
                        <a:t>需要专业复杂的设备处理</a:t>
                      </a:r>
                      <a:endParaRPr lang="zh-CN" altLang="en-US" sz="1200" dirty="0">
                        <a:latin typeface="Times New Roman Regular" panose="02020603050405020304" charset="0"/>
                        <a:ea typeface="黑体" panose="02010609060101010101" charset="-122"/>
                        <a:sym typeface="+mn-ea"/>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rPr>
                        <a:t>压裂全过程实时采集全频带的</a:t>
                      </a:r>
                      <a:r>
                        <a:rPr lang="en-US" altLang="zh-CN" sz="1200" b="0" dirty="0">
                          <a:latin typeface="Times New Roman Regular" panose="02020603050405020304" charset="0"/>
                          <a:ea typeface="黑体" panose="02010609060101010101" charset="-122"/>
                        </a:rPr>
                        <a:t>DAS</a:t>
                      </a:r>
                      <a:r>
                        <a:rPr lang="zh-CN" altLang="en-US" sz="1200" b="0" dirty="0">
                          <a:latin typeface="Times New Roman Regular" panose="02020603050405020304" charset="0"/>
                          <a:ea typeface="黑体" panose="02010609060101010101" charset="-122"/>
                        </a:rPr>
                        <a:t>数据，数据量大，需要专业复杂的解调设备及算法处理</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在井中发射，地面接收电磁信号，在地表部署电位测量接收实时测量电信号分布</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rPr>
                        <a:t>高频（</a:t>
                      </a:r>
                      <a:r>
                        <a:rPr lang="en-US" altLang="zh-CN" sz="1200" b="0" dirty="0">
                          <a:latin typeface="Times New Roman Regular" panose="02020603050405020304" charset="0"/>
                          <a:ea typeface="黑体" panose="02010609060101010101" charset="-122"/>
                        </a:rPr>
                        <a:t>&gt; 200 Hz</a:t>
                      </a:r>
                      <a:r>
                        <a:rPr lang="zh-CN" altLang="en-US" sz="1200" b="0" dirty="0">
                          <a:latin typeface="Times New Roman Regular" panose="02020603050405020304" charset="0"/>
                          <a:ea typeface="黑体" panose="02010609060101010101" charset="-122"/>
                        </a:rPr>
                        <a:t>）压力传感器及配套采样设备采集，仅采集停泵时的水锤压力波信号</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rPr>
                        <a:t>压裂施工完成后</a:t>
                      </a:r>
                      <a:r>
                        <a:rPr lang="zh-CN" altLang="en-US" sz="1200" dirty="0">
                          <a:latin typeface="Times New Roman Regular" panose="02020603050405020304" charset="0"/>
                          <a:ea typeface="黑体" panose="02010609060101010101" charset="-122"/>
                          <a:sym typeface="+mn-ea"/>
                        </a:rPr>
                        <a:t>统计</a:t>
                      </a:r>
                      <a:r>
                        <a:rPr lang="zh-CN" altLang="en-US" sz="1200" b="0" dirty="0">
                          <a:latin typeface="Times New Roman Regular" panose="02020603050405020304" charset="0"/>
                          <a:ea typeface="黑体" panose="02010609060101010101" charset="-122"/>
                        </a:rPr>
                        <a:t>返排液数据</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Times New Roman Regular" panose="02020603050405020304" charset="0"/>
                          <a:ea typeface="黑体" panose="02010609060101010101" charset="-122"/>
                          <a:sym typeface="+mn-ea"/>
                        </a:rPr>
                        <a:t>压裂施工完成后下入</a:t>
                      </a:r>
                      <a:r>
                        <a:rPr lang="zh-CN" altLang="en-US" sz="1200" b="0" dirty="0">
                          <a:latin typeface="Times New Roman Regular" panose="02020603050405020304" charset="0"/>
                          <a:ea typeface="黑体" panose="02010609060101010101" charset="-122"/>
                        </a:rPr>
                        <a:t>井下高清影像设备</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4472">
                <a:tc>
                  <a:txBody>
                    <a:bodyPr/>
                    <a:lstStyle/>
                    <a:p>
                      <a:pPr algn="ctr"/>
                      <a:r>
                        <a:rPr lang="zh-CN" altLang="en-US" sz="1200" b="0" dirty="0">
                          <a:latin typeface="Times New Roman Regular" panose="02020603050405020304" charset="0"/>
                          <a:ea typeface="黑体" panose="02010609060101010101" charset="-122"/>
                        </a:rPr>
                        <a:t>技术应用</a:t>
                      </a:r>
                      <a:endParaRPr lang="zh-CN" altLang="en-US" sz="1200" b="0"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裂缝形态、复杂程度以及有效压裂体积，</a:t>
                      </a:r>
                      <a:r>
                        <a:rPr lang="zh-CN" altLang="en-US" sz="1200" dirty="0">
                          <a:latin typeface="Times New Roman Regular" panose="02020603050405020304" charset="0"/>
                          <a:ea typeface="黑体" panose="02010609060101010101" charset="-122"/>
                          <a:cs typeface="Times New Roman Regular" panose="02020603050405020304" charset="0"/>
                          <a:sym typeface="+mn-ea"/>
                        </a:rPr>
                        <a:t>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井下进液点位置，射孔簇进液</a:t>
                      </a:r>
                      <a:r>
                        <a:rPr lang="en-US" altLang="zh-CN" sz="1200" b="0" dirty="0">
                          <a:latin typeface="Times New Roman Regular" panose="02020603050405020304" charset="0"/>
                          <a:ea typeface="黑体" panose="02010609060101010101" charset="-122"/>
                          <a:cs typeface="Times New Roman Regular" panose="02020603050405020304" charset="0"/>
                        </a:rPr>
                        <a:t>/</a:t>
                      </a:r>
                      <a:r>
                        <a:rPr lang="zh-CN" altLang="en-US" sz="1200" b="0" dirty="0">
                          <a:latin typeface="Times New Roman Regular" panose="02020603050405020304" charset="0"/>
                          <a:ea typeface="黑体" panose="02010609060101010101" charset="-122"/>
                          <a:cs typeface="Times New Roman Regular" panose="02020603050405020304" charset="0"/>
                        </a:rPr>
                        <a:t>砂量，进液均匀程度，</a:t>
                      </a:r>
                      <a:r>
                        <a:rPr lang="zh-CN" altLang="en-US" sz="1200" dirty="0">
                          <a:latin typeface="Times New Roman Regular" panose="02020603050405020304" charset="0"/>
                          <a:ea typeface="黑体" panose="02010609060101010101" charset="-122"/>
                          <a:cs typeface="Times New Roman Regular" panose="02020603050405020304" charset="0"/>
                          <a:sym typeface="+mn-ea"/>
                        </a:rPr>
                        <a:t>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latin typeface="Times New Roman Regular" panose="02020603050405020304" charset="0"/>
                          <a:ea typeface="黑体" panose="02010609060101010101" charset="-122"/>
                          <a:cs typeface="Times New Roman Regular" panose="02020603050405020304" charset="0"/>
                        </a:rPr>
                        <a:t>监控压裂效果</a:t>
                      </a:r>
                      <a:r>
                        <a:rPr lang="zh-CN" altLang="en-US" sz="1200" b="0" dirty="0">
                          <a:latin typeface="Times New Roman Regular" panose="02020603050405020304" charset="0"/>
                          <a:ea typeface="黑体" panose="02010609060101010101" charset="-122"/>
                          <a:cs typeface="Times New Roman Regular" panose="02020603050405020304" charset="0"/>
                        </a:rPr>
                        <a:t>，</a:t>
                      </a:r>
                      <a:r>
                        <a:rPr lang="en-US" sz="1200" b="0" dirty="0">
                          <a:latin typeface="Times New Roman Regular" panose="02020603050405020304" charset="0"/>
                          <a:ea typeface="黑体" panose="02010609060101010101" charset="-122"/>
                          <a:cs typeface="Times New Roman Regular" panose="02020603050405020304" charset="0"/>
                        </a:rPr>
                        <a:t>了解裂缝形态</a:t>
                      </a:r>
                      <a:r>
                        <a:rPr lang="zh-CN" altLang="en-US" sz="1200" b="0" dirty="0">
                          <a:latin typeface="Times New Roman Regular" panose="02020603050405020304" charset="0"/>
                          <a:ea typeface="黑体" panose="02010609060101010101" charset="-122"/>
                          <a:cs typeface="Times New Roman Regular" panose="02020603050405020304" charset="0"/>
                        </a:rPr>
                        <a:t>，</a:t>
                      </a:r>
                      <a:r>
                        <a:rPr lang="zh-CN" altLang="en-US" sz="1200" dirty="0">
                          <a:latin typeface="Times New Roman Regular" panose="02020603050405020304" charset="0"/>
                          <a:ea typeface="黑体" panose="02010609060101010101" charset="-122"/>
                          <a:cs typeface="Times New Roman Regular" panose="02020603050405020304" charset="0"/>
                          <a:sym typeface="+mn-ea"/>
                        </a:rPr>
                        <a:t>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井下进液位置，暂堵转向效果，桥塞坐封情况，辅助实时决策压裂工艺参数调整</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各压裂段</a:t>
                      </a:r>
                      <a:r>
                        <a:rPr lang="en-US" altLang="zh-CN" sz="1200" b="0" dirty="0">
                          <a:latin typeface="Times New Roman Regular" panose="02020603050405020304" charset="0"/>
                          <a:ea typeface="黑体" panose="02010609060101010101" charset="-122"/>
                          <a:cs typeface="Times New Roman Regular" panose="02020603050405020304" charset="0"/>
                        </a:rPr>
                        <a:t>/</a:t>
                      </a:r>
                      <a:r>
                        <a:rPr lang="zh-CN" altLang="en-US" sz="1200" b="0" dirty="0">
                          <a:latin typeface="Times New Roman Regular" panose="02020603050405020304" charset="0"/>
                          <a:ea typeface="黑体" panose="02010609060101010101" charset="-122"/>
                          <a:cs typeface="Times New Roman Regular" panose="02020603050405020304" charset="0"/>
                        </a:rPr>
                        <a:t>射孔簇的产出贡献</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Times New Roman Regular" panose="02020603050405020304" charset="0"/>
                          <a:ea typeface="黑体" panose="02010609060101010101" charset="-122"/>
                          <a:cs typeface="Times New Roman Regular" panose="02020603050405020304" charset="0"/>
                        </a:rPr>
                        <a:t>炮眼冲蚀情况</a:t>
                      </a:r>
                      <a:endParaRPr lang="zh-CN" altLang="en-US" sz="1200" b="0" dirty="0">
                        <a:latin typeface="Times New Roman Regular" panose="02020603050405020304" charset="0"/>
                        <a:ea typeface="黑体" panose="02010609060101010101"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26869">
                <a:tc>
                  <a:txBody>
                    <a:bodyPr/>
                    <a:lstStyle/>
                    <a:p>
                      <a:pPr algn="ctr"/>
                      <a:r>
                        <a:rPr lang="zh-CN" altLang="en-US" sz="1200" b="1" dirty="0">
                          <a:latin typeface="Times New Roman Regular" panose="02020603050405020304" charset="0"/>
                          <a:ea typeface="黑体" panose="02010609060101010101" charset="-122"/>
                        </a:rPr>
                        <a:t>成本</a:t>
                      </a:r>
                      <a:r>
                        <a:rPr lang="en-US" altLang="zh-CN" sz="1200" b="1" dirty="0">
                          <a:latin typeface="Times New Roman Regular" panose="02020603050405020304" charset="0"/>
                          <a:ea typeface="黑体" panose="02010609060101010101" charset="-122"/>
                        </a:rPr>
                        <a:t>/</a:t>
                      </a:r>
                      <a:r>
                        <a:rPr lang="zh-CN" altLang="en-US" sz="1200" b="1" dirty="0">
                          <a:latin typeface="Times New Roman Regular" panose="02020603050405020304" charset="0"/>
                          <a:ea typeface="黑体" panose="02010609060101010101" charset="-122"/>
                        </a:rPr>
                        <a:t>实时性</a:t>
                      </a:r>
                      <a:endParaRPr lang="zh-CN" altLang="en-US" sz="1200" b="1" dirty="0">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1" dirty="0">
                          <a:solidFill>
                            <a:srgbClr val="0000FF"/>
                          </a:solidFill>
                          <a:latin typeface="Times New Roman Regular" panose="02020603050405020304" charset="0"/>
                          <a:ea typeface="黑体" panose="02010609060101010101" charset="-122"/>
                        </a:rPr>
                        <a:t>高</a:t>
                      </a:r>
                      <a:r>
                        <a:rPr lang="en-US" altLang="zh-CN" sz="1200" b="1" dirty="0">
                          <a:solidFill>
                            <a:srgbClr val="0000FF"/>
                          </a:solidFill>
                          <a:latin typeface="Times New Roman Regular" panose="02020603050405020304" charset="0"/>
                          <a:ea typeface="黑体" panose="02010609060101010101" charset="-122"/>
                        </a:rPr>
                        <a:t>/</a:t>
                      </a:r>
                      <a:r>
                        <a:rPr lang="zh-CN" altLang="en-US" sz="1200" b="1" dirty="0">
                          <a:solidFill>
                            <a:srgbClr val="0000FF"/>
                          </a:solidFill>
                          <a:latin typeface="Times New Roman Regular" panose="02020603050405020304" charset="0"/>
                          <a:ea typeface="黑体" panose="02010609060101010101" charset="-122"/>
                        </a:rPr>
                        <a:t>实时</a:t>
                      </a:r>
                      <a:endParaRPr lang="zh-CN" altLang="en-US" sz="1200" b="1" dirty="0">
                        <a:solidFill>
                          <a:srgbClr val="0000FF"/>
                        </a:solidFill>
                        <a:latin typeface="Times New Roman Regular" panose="02020603050405020304" charset="0"/>
                        <a:ea typeface="黑体" panose="02010609060101010101"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高</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实时</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中等</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实时</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低</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实时</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高</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压后评估</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Times New Roman Regular" panose="02020603050405020304" charset="0"/>
                          <a:ea typeface="黑体" panose="02010609060101010101" charset="-122"/>
                          <a:cs typeface="+mn-cs"/>
                        </a:rPr>
                        <a:t>高</a:t>
                      </a:r>
                      <a:r>
                        <a:rPr lang="en-US" altLang="zh-CN" sz="1200" b="1" kern="1200" dirty="0">
                          <a:solidFill>
                            <a:srgbClr val="0000FF"/>
                          </a:solidFill>
                          <a:latin typeface="Times New Roman Regular" panose="02020603050405020304" charset="0"/>
                          <a:ea typeface="黑体" panose="02010609060101010101" charset="-122"/>
                          <a:cs typeface="+mn-cs"/>
                        </a:rPr>
                        <a:t>/</a:t>
                      </a:r>
                      <a:r>
                        <a:rPr lang="zh-CN" altLang="en-US" sz="1200" b="1" kern="1200" dirty="0">
                          <a:solidFill>
                            <a:srgbClr val="0000FF"/>
                          </a:solidFill>
                          <a:latin typeface="Times New Roman Regular" panose="02020603050405020304" charset="0"/>
                          <a:ea typeface="黑体" panose="02010609060101010101" charset="-122"/>
                          <a:cs typeface="+mn-cs"/>
                        </a:rPr>
                        <a:t>压后评估</a:t>
                      </a:r>
                      <a:endParaRPr lang="zh-CN" altLang="en-US" sz="1200" b="1" kern="1200" dirty="0">
                        <a:solidFill>
                          <a:srgbClr val="0000FF"/>
                        </a:solidFill>
                        <a:latin typeface="Times New Roman Regular" panose="02020603050405020304" charset="0"/>
                        <a:ea typeface="黑体" panose="02010609060101010101"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2299" y="790146"/>
            <a:ext cx="10712253" cy="400110"/>
          </a:xfrm>
          <a:prstGeom prst="rect">
            <a:avLst/>
          </a:prstGeom>
        </p:spPr>
        <p:txBody>
          <a:bodyPr wrap="square">
            <a:spAutoFit/>
          </a:bodyPr>
          <a:lstStyle/>
          <a:p>
            <a:r>
              <a:rPr lang="en-US" altLang="zh-CN" sz="2000" kern="0" dirty="0">
                <a:solidFill>
                  <a:srgbClr val="FF0000"/>
                </a:solidFill>
                <a:latin typeface="方正大黑简体" panose="02010601030101010101" pitchFamily="65" charset="-122"/>
                <a:ea typeface="方正大黑简体" panose="02010601030101010101" pitchFamily="65" charset="-122"/>
              </a:rPr>
              <a:t>3</a:t>
            </a:r>
            <a:r>
              <a:rPr lang="zh-CN" altLang="en-US" sz="2000" kern="0" dirty="0">
                <a:solidFill>
                  <a:srgbClr val="FF0000"/>
                </a:solidFill>
                <a:latin typeface="方正大黑简体" panose="02010601030101010101" pitchFamily="65" charset="-122"/>
                <a:ea typeface="方正大黑简体" panose="02010601030101010101" pitchFamily="65" charset="-122"/>
              </a:rPr>
              <a:t>、目前施工压力曲线分析研究大多用于评价压裂缝网的复杂度，无法定量计算裂缝尺寸</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（二）国内外技术现状</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7" name="矩形 6"/>
          <p:cNvSpPr/>
          <p:nvPr/>
        </p:nvSpPr>
        <p:spPr>
          <a:xfrm>
            <a:off x="447303" y="1190256"/>
            <a:ext cx="11519943" cy="1705403"/>
          </a:xfrm>
          <a:prstGeom prst="rect">
            <a:avLst/>
          </a:prstGeom>
        </p:spPr>
        <p:txBody>
          <a:bodyPr wrap="square">
            <a:spAutoFit/>
          </a:bodyPr>
          <a:lstStyle/>
          <a:p>
            <a:pPr marL="285750" indent="-285750">
              <a:lnSpc>
                <a:spcPct val="150000"/>
              </a:lnSpc>
              <a:buClr>
                <a:srgbClr val="FF0000"/>
              </a:buClr>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人工裂缝的扩展和闭合都会引起施工压力的变化，受储层非均质性、天然裂缝发育和层理等的影响，页岩气水平井压裂时</a:t>
            </a:r>
            <a:r>
              <a:rPr lang="zh-CN" altLang="en-US" dirty="0">
                <a:solidFill>
                  <a:srgbClr val="FF0000"/>
                </a:solidFill>
                <a:latin typeface="微软雅黑" panose="020B0503020204020204" pitchFamily="34" charset="-122"/>
                <a:ea typeface="微软雅黑" panose="020B0503020204020204" pitchFamily="34" charset="-122"/>
              </a:rPr>
              <a:t>施工压力曲线形态复杂</a:t>
            </a:r>
            <a:r>
              <a:rPr lang="zh-CN" altLang="en-US" dirty="0">
                <a:latin typeface="微软雅黑" panose="020B0503020204020204" pitchFamily="34" charset="-122"/>
                <a:ea typeface="微软雅黑" panose="020B0503020204020204" pitchFamily="34" charset="-122"/>
              </a:rPr>
              <a:t>，蕴含了丰富的缝网复杂性信息，可以用来</a:t>
            </a:r>
            <a:r>
              <a:rPr lang="zh-CN" altLang="en-US" dirty="0">
                <a:solidFill>
                  <a:srgbClr val="FF0000"/>
                </a:solidFill>
                <a:latin typeface="微软雅黑" panose="020B0503020204020204" pitchFamily="34" charset="-122"/>
                <a:ea typeface="微软雅黑" panose="020B0503020204020204" pitchFamily="34" charset="-122"/>
              </a:rPr>
              <a:t>评价人工缝网复杂度</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当前研究主要通过建立主压裂</a:t>
            </a:r>
            <a:r>
              <a:rPr lang="zh-CN" altLang="en-US" dirty="0">
                <a:solidFill>
                  <a:srgbClr val="FF0000"/>
                </a:solidFill>
                <a:latin typeface="微软雅黑" panose="020B0503020204020204" pitchFamily="34" charset="-122"/>
                <a:ea typeface="微软雅黑" panose="020B0503020204020204" pitchFamily="34" charset="-122"/>
              </a:rPr>
              <a:t>净压力计算模型</a:t>
            </a:r>
            <a:r>
              <a:rPr lang="zh-CN" altLang="en-US" dirty="0">
                <a:latin typeface="微软雅黑" panose="020B0503020204020204" pitchFamily="34" charset="-122"/>
                <a:ea typeface="微软雅黑" panose="020B0503020204020204" pitchFamily="34" charset="-122"/>
              </a:rPr>
              <a:t>和主压裂裂缝闭合</a:t>
            </a:r>
            <a:r>
              <a:rPr lang="en-US" altLang="zh-CN" dirty="0">
                <a:solidFill>
                  <a:srgbClr val="FF0000"/>
                </a:solidFill>
                <a:latin typeface="微软雅黑" panose="020B0503020204020204" pitchFamily="34" charset="-122"/>
                <a:ea typeface="微软雅黑" panose="020B0503020204020204" pitchFamily="34" charset="-122"/>
              </a:rPr>
              <a:t>G</a:t>
            </a:r>
            <a:r>
              <a:rPr lang="zh-CN" altLang="en-US" dirty="0">
                <a:solidFill>
                  <a:srgbClr val="FF0000"/>
                </a:solidFill>
                <a:latin typeface="微软雅黑" panose="020B0503020204020204" pitchFamily="34" charset="-122"/>
                <a:ea typeface="微软雅黑" panose="020B0503020204020204" pitchFamily="34" charset="-122"/>
              </a:rPr>
              <a:t>函数模型</a:t>
            </a:r>
            <a:r>
              <a:rPr lang="zh-CN" altLang="en-US" dirty="0">
                <a:latin typeface="微软雅黑" panose="020B0503020204020204" pitchFamily="34" charset="-122"/>
                <a:ea typeface="微软雅黑" panose="020B0503020204020204" pitchFamily="34" charset="-122"/>
              </a:rPr>
              <a:t>形成根据施工压力曲线评价缝网复杂度的“压力波动法”和“改进</a:t>
            </a:r>
            <a:r>
              <a:rPr lang="en-US" altLang="zh-CN" dirty="0">
                <a:latin typeface="微软雅黑" panose="020B0503020204020204" pitchFamily="34" charset="-122"/>
                <a:ea typeface="微软雅黑" panose="020B0503020204020204" pitchFamily="34" charset="-122"/>
              </a:rPr>
              <a:t>G</a:t>
            </a:r>
            <a:r>
              <a:rPr lang="zh-CN" altLang="en-US" dirty="0">
                <a:latin typeface="微软雅黑" panose="020B0503020204020204" pitchFamily="34" charset="-122"/>
                <a:ea typeface="微软雅黑" panose="020B0503020204020204" pitchFamily="34" charset="-122"/>
              </a:rPr>
              <a:t>函数法”进行</a:t>
            </a:r>
            <a:r>
              <a:rPr lang="zh-CN" altLang="en-US" dirty="0">
                <a:solidFill>
                  <a:srgbClr val="FF0000"/>
                </a:solidFill>
                <a:latin typeface="微软雅黑" panose="020B0503020204020204" pitchFamily="34" charset="-122"/>
                <a:ea typeface="微软雅黑" panose="020B0503020204020204" pitchFamily="34" charset="-122"/>
              </a:rPr>
              <a:t>缝网复杂度分类评价</a:t>
            </a:r>
            <a:r>
              <a:rPr lang="zh-CN" altLang="en-US" dirty="0">
                <a:latin typeface="微软雅黑" panose="020B0503020204020204" pitchFamily="34" charset="-122"/>
                <a:ea typeface="微软雅黑" panose="020B0503020204020204" pitchFamily="34" charset="-122"/>
              </a:rPr>
              <a:t>，但</a:t>
            </a:r>
            <a:r>
              <a:rPr lang="zh-CN" altLang="en-US" dirty="0">
                <a:solidFill>
                  <a:srgbClr val="FF0000"/>
                </a:solidFill>
                <a:latin typeface="微软雅黑" panose="020B0503020204020204" pitchFamily="34" charset="-122"/>
                <a:ea typeface="微软雅黑" panose="020B0503020204020204" pitchFamily="34" charset="-122"/>
              </a:rPr>
              <a:t>无法定量计算人工裂缝尺寸</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8" name="矩形 22"/>
          <p:cNvSpPr>
            <a:spLocks noChangeArrowheads="1"/>
          </p:cNvSpPr>
          <p:nvPr/>
        </p:nvSpPr>
        <p:spPr bwMode="auto">
          <a:xfrm>
            <a:off x="8616280" y="6237312"/>
            <a:ext cx="2651688"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 复杂裂缝形态及对应实际</a:t>
            </a:r>
            <a:r>
              <a:rPr lang="en-US" altLang="zh-CN" sz="1200" dirty="0">
                <a:latin typeface="微软雅黑" panose="020B0503020204020204" pitchFamily="34" charset="-122"/>
                <a:ea typeface="微软雅黑" panose="020B0503020204020204" pitchFamily="34" charset="-122"/>
              </a:rPr>
              <a:t>G</a:t>
            </a:r>
            <a:r>
              <a:rPr lang="zh-CN" altLang="en-US" sz="1200" dirty="0">
                <a:latin typeface="微软雅黑" panose="020B0503020204020204" pitchFamily="34" charset="-122"/>
                <a:ea typeface="微软雅黑" panose="020B0503020204020204" pitchFamily="34" charset="-122"/>
              </a:rPr>
              <a:t>函数图像</a:t>
            </a:r>
            <a:endParaRPr lang="zh-CN" altLang="en-US" sz="1200" dirty="0">
              <a:latin typeface="微软雅黑" panose="020B0503020204020204" pitchFamily="34" charset="-122"/>
              <a:ea typeface="微软雅黑" panose="020B0503020204020204" pitchFamily="34" charset="-122"/>
            </a:endParaRPr>
          </a:p>
        </p:txBody>
      </p:sp>
      <p:sp>
        <p:nvSpPr>
          <p:cNvPr id="10" name="矩形 22"/>
          <p:cNvSpPr>
            <a:spLocks noChangeArrowheads="1"/>
          </p:cNvSpPr>
          <p:nvPr/>
        </p:nvSpPr>
        <p:spPr bwMode="auto">
          <a:xfrm>
            <a:off x="983432" y="6176337"/>
            <a:ext cx="2388794"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 常规裂缝形态及对应</a:t>
            </a:r>
            <a:r>
              <a:rPr lang="en-US" altLang="zh-CN" sz="1200" dirty="0">
                <a:latin typeface="微软雅黑" panose="020B0503020204020204" pitchFamily="34" charset="-122"/>
                <a:ea typeface="微软雅黑" panose="020B0503020204020204" pitchFamily="34" charset="-122"/>
              </a:rPr>
              <a:t>G</a:t>
            </a:r>
            <a:r>
              <a:rPr lang="zh-CN" altLang="en-US" sz="1200" dirty="0">
                <a:latin typeface="微软雅黑" panose="020B0503020204020204" pitchFamily="34" charset="-122"/>
                <a:ea typeface="微软雅黑" panose="020B0503020204020204" pitchFamily="34" charset="-122"/>
              </a:rPr>
              <a:t>函数图像 </a:t>
            </a:r>
            <a:endParaRPr lang="zh-CN" altLang="en-US" sz="1200" dirty="0">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1"/>
          <a:stretch>
            <a:fillRect/>
          </a:stretch>
        </p:blipFill>
        <p:spPr>
          <a:xfrm>
            <a:off x="479376" y="3239603"/>
            <a:ext cx="3168352" cy="2865501"/>
          </a:xfrm>
          <a:prstGeom prst="rect">
            <a:avLst/>
          </a:prstGeom>
        </p:spPr>
      </p:pic>
      <p:pic>
        <p:nvPicPr>
          <p:cNvPr id="18" name="图片 17"/>
          <p:cNvPicPr>
            <a:picLocks noChangeAspect="1"/>
          </p:cNvPicPr>
          <p:nvPr/>
        </p:nvPicPr>
        <p:blipFill>
          <a:blip r:embed="rId2"/>
          <a:stretch>
            <a:fillRect/>
          </a:stretch>
        </p:blipFill>
        <p:spPr>
          <a:xfrm>
            <a:off x="8328248" y="3054098"/>
            <a:ext cx="3240360" cy="3155447"/>
          </a:xfrm>
          <a:prstGeom prst="rect">
            <a:avLst/>
          </a:prstGeom>
        </p:spPr>
      </p:pic>
      <p:pic>
        <p:nvPicPr>
          <p:cNvPr id="19" name="图片 18"/>
          <p:cNvPicPr>
            <a:picLocks noChangeAspect="1"/>
          </p:cNvPicPr>
          <p:nvPr/>
        </p:nvPicPr>
        <p:blipFill>
          <a:blip r:embed="rId3"/>
          <a:stretch>
            <a:fillRect/>
          </a:stretch>
        </p:blipFill>
        <p:spPr>
          <a:xfrm>
            <a:off x="4439816" y="3070680"/>
            <a:ext cx="3312368" cy="3071692"/>
          </a:xfrm>
          <a:prstGeom prst="rect">
            <a:avLst/>
          </a:prstGeom>
        </p:spPr>
      </p:pic>
      <p:sp>
        <p:nvSpPr>
          <p:cNvPr id="23" name="矩形 22"/>
          <p:cNvSpPr>
            <a:spLocks noChangeArrowheads="1"/>
          </p:cNvSpPr>
          <p:nvPr/>
        </p:nvSpPr>
        <p:spPr bwMode="auto">
          <a:xfrm>
            <a:off x="4871864" y="6237312"/>
            <a:ext cx="2532553"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较复杂裂缝形态及对应</a:t>
            </a:r>
            <a:r>
              <a:rPr lang="en-US" altLang="zh-CN" sz="1200" dirty="0">
                <a:latin typeface="微软雅黑" panose="020B0503020204020204" pitchFamily="34" charset="-122"/>
                <a:ea typeface="微软雅黑" panose="020B0503020204020204" pitchFamily="34" charset="-122"/>
              </a:rPr>
              <a:t>G</a:t>
            </a:r>
            <a:r>
              <a:rPr lang="zh-CN" altLang="en-US" sz="1200" dirty="0">
                <a:latin typeface="微软雅黑" panose="020B0503020204020204" pitchFamily="34" charset="-122"/>
                <a:ea typeface="微软雅黑" panose="020B0503020204020204" pitchFamily="34" charset="-122"/>
              </a:rPr>
              <a:t>函数图像 </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2299" y="790146"/>
            <a:ext cx="11504341" cy="400110"/>
          </a:xfrm>
          <a:prstGeom prst="rect">
            <a:avLst/>
          </a:prstGeom>
        </p:spPr>
        <p:txBody>
          <a:bodyPr wrap="square">
            <a:spAutoFit/>
          </a:bodyPr>
          <a:lstStyle/>
          <a:p>
            <a:r>
              <a:rPr lang="en-US" altLang="zh-CN" sz="2000" kern="0" dirty="0">
                <a:solidFill>
                  <a:srgbClr val="FF0000"/>
                </a:solidFill>
                <a:latin typeface="方正大黑简体" panose="02010601030101010101" pitchFamily="65" charset="-122"/>
                <a:ea typeface="方正大黑简体" panose="02010601030101010101" pitchFamily="65" charset="-122"/>
              </a:rPr>
              <a:t>4</a:t>
            </a:r>
            <a:r>
              <a:rPr lang="zh-CN" altLang="en-US" sz="2000" kern="0" dirty="0">
                <a:solidFill>
                  <a:srgbClr val="FF0000"/>
                </a:solidFill>
                <a:latin typeface="方正大黑简体" panose="02010601030101010101" pitchFamily="65" charset="-122"/>
                <a:ea typeface="方正大黑简体" panose="02010601030101010101" pitchFamily="65" charset="-122"/>
              </a:rPr>
              <a:t>、基于压后返排数据的裂缝诊断方法主要通过半解析求解计算有效裂缝体积，误差较大</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（二）国内外技术现状</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7" name="矩形 6"/>
          <p:cNvSpPr/>
          <p:nvPr/>
        </p:nvSpPr>
        <p:spPr>
          <a:xfrm>
            <a:off x="447303" y="1190256"/>
            <a:ext cx="11519943" cy="1705403"/>
          </a:xfrm>
          <a:prstGeom prst="rect">
            <a:avLst/>
          </a:prstGeom>
        </p:spPr>
        <p:txBody>
          <a:bodyPr wrap="square">
            <a:spAutoFit/>
          </a:bodyPr>
          <a:lstStyle/>
          <a:p>
            <a:pPr marL="285750" indent="-285750">
              <a:lnSpc>
                <a:spcPct val="150000"/>
              </a:lnSpc>
              <a:buClr>
                <a:srgbClr val="FF0000"/>
              </a:buClr>
              <a:buFont typeface="Wingdings" panose="05000000000000000000" pitchFamily="2" charset="2"/>
              <a:buChar char="n"/>
            </a:pPr>
            <a:r>
              <a:rPr lang="zh-CN" altLang="en-US" dirty="0">
                <a:solidFill>
                  <a:srgbClr val="FF0000"/>
                </a:solidFill>
                <a:latin typeface="微软雅黑" panose="020B0503020204020204" pitchFamily="34" charset="-122"/>
                <a:ea typeface="微软雅黑" panose="020B0503020204020204" pitchFamily="34" charset="-122"/>
              </a:rPr>
              <a:t>返排数据富含裂缝诊断的关键信息</a:t>
            </a:r>
            <a:r>
              <a:rPr lang="zh-CN" altLang="en-US" dirty="0">
                <a:latin typeface="微软雅黑" panose="020B0503020204020204" pitchFamily="34" charset="-122"/>
                <a:ea typeface="微软雅黑" panose="020B0503020204020204" pitchFamily="34" charset="-122"/>
              </a:rPr>
              <a:t>，对评价压裂效果至关重要，以返排数据为依据的裂缝诊断模型是评价人工裂缝的有效手段之一</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当前页岩油气藏压裂液返排数据的裂缝参数反演方法主要以不稳定渗流理论和物质平衡法为基础，建立渗流数学模型并进行</a:t>
            </a:r>
            <a:r>
              <a:rPr lang="zh-CN" altLang="en-US" dirty="0">
                <a:solidFill>
                  <a:srgbClr val="FF0000"/>
                </a:solidFill>
                <a:latin typeface="微软雅黑" panose="020B0503020204020204" pitchFamily="34" charset="-122"/>
                <a:ea typeface="微软雅黑" panose="020B0503020204020204" pitchFamily="34" charset="-122"/>
              </a:rPr>
              <a:t>半解析求解计算有效裂缝体积</a:t>
            </a:r>
            <a:r>
              <a:rPr lang="zh-CN" altLang="en-US" dirty="0">
                <a:latin typeface="微软雅黑" panose="020B0503020204020204" pitchFamily="34" charset="-122"/>
                <a:ea typeface="微软雅黑" panose="020B0503020204020204" pitchFamily="34" charset="-122"/>
              </a:rPr>
              <a:t>，基于返排率和氯离子浓度的缝宽分布模型计算缝宽，</a:t>
            </a:r>
            <a:r>
              <a:rPr lang="zh-CN" altLang="en-US" dirty="0">
                <a:solidFill>
                  <a:srgbClr val="FF0000"/>
                </a:solidFill>
                <a:latin typeface="微软雅黑" panose="020B0503020204020204" pitchFamily="34" charset="-122"/>
                <a:ea typeface="微软雅黑" panose="020B0503020204020204" pitchFamily="34" charset="-122"/>
              </a:rPr>
              <a:t>误差较大</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9" name="矩形 22"/>
          <p:cNvSpPr>
            <a:spLocks noChangeArrowheads="1"/>
          </p:cNvSpPr>
          <p:nvPr/>
        </p:nvSpPr>
        <p:spPr bwMode="auto">
          <a:xfrm>
            <a:off x="1399472" y="6176337"/>
            <a:ext cx="330731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 页岩油气藏二维两相压裂液返排渗流物理模型</a:t>
            </a:r>
            <a:endParaRPr lang="zh-CN" altLang="en-US" sz="1200" dirty="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7407" y="3212976"/>
            <a:ext cx="5221087" cy="2808312"/>
          </a:xfrm>
          <a:prstGeom prst="rect">
            <a:avLst/>
          </a:prstGeom>
        </p:spPr>
      </p:pic>
      <p:sp>
        <p:nvSpPr>
          <p:cNvPr id="14" name="矩形 22"/>
          <p:cNvSpPr>
            <a:spLocks noChangeArrowheads="1"/>
          </p:cNvSpPr>
          <p:nvPr/>
        </p:nvSpPr>
        <p:spPr bwMode="auto">
          <a:xfrm>
            <a:off x="7841696" y="6237312"/>
            <a:ext cx="1877437"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直线分析辅助数据和曲线</a:t>
            </a:r>
            <a:endParaRPr lang="zh-CN" altLang="en-US" sz="1200"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2"/>
          <a:stretch>
            <a:fillRect/>
          </a:stretch>
        </p:blipFill>
        <p:spPr>
          <a:xfrm>
            <a:off x="6528048" y="3068960"/>
            <a:ext cx="4536504" cy="30845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2299" y="790146"/>
            <a:ext cx="11576349" cy="400110"/>
          </a:xfrm>
          <a:prstGeom prst="rect">
            <a:avLst/>
          </a:prstGeom>
        </p:spPr>
        <p:txBody>
          <a:bodyPr wrap="square">
            <a:spAutoFit/>
          </a:bodyPr>
          <a:lstStyle/>
          <a:p>
            <a:r>
              <a:rPr lang="en-US" altLang="zh-CN" sz="2000" kern="0" dirty="0">
                <a:solidFill>
                  <a:srgbClr val="FF0000"/>
                </a:solidFill>
                <a:latin typeface="方正大黑简体" panose="02010601030101010101" pitchFamily="65" charset="-122"/>
                <a:ea typeface="方正大黑简体" panose="02010601030101010101" pitchFamily="65" charset="-122"/>
              </a:rPr>
              <a:t>5</a:t>
            </a:r>
            <a:r>
              <a:rPr lang="zh-CN" altLang="en-US" sz="2000" kern="0" dirty="0">
                <a:solidFill>
                  <a:srgbClr val="FF0000"/>
                </a:solidFill>
                <a:latin typeface="方正大黑简体" panose="02010601030101010101" pitchFamily="65" charset="-122"/>
                <a:ea typeface="方正大黑简体" panose="02010601030101010101" pitchFamily="65" charset="-122"/>
              </a:rPr>
              <a:t>、基于水击特征曲线的诊断方法通过滤波倒谱分析判别裂缝进液位置，依赖高频压力采集特种设备</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（二）国内外技术现状</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8" name="矩形 22"/>
          <p:cNvSpPr>
            <a:spLocks noChangeArrowheads="1"/>
          </p:cNvSpPr>
          <p:nvPr/>
        </p:nvSpPr>
        <p:spPr bwMode="auto">
          <a:xfrm>
            <a:off x="4439816" y="6176337"/>
            <a:ext cx="2844269"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高频信号滤波倒谱诊断裂缝位置</a:t>
            </a:r>
            <a:endParaRPr lang="zh-CN" altLang="en-US" sz="1200" dirty="0">
              <a:latin typeface="微软雅黑" panose="020B0503020204020204" pitchFamily="34" charset="-122"/>
              <a:ea typeface="微软雅黑" panose="020B0503020204020204" pitchFamily="34" charset="-122"/>
            </a:endParaRPr>
          </a:p>
        </p:txBody>
      </p:sp>
      <p:sp>
        <p:nvSpPr>
          <p:cNvPr id="9" name="矩形 22"/>
          <p:cNvSpPr>
            <a:spLocks noChangeArrowheads="1"/>
          </p:cNvSpPr>
          <p:nvPr/>
        </p:nvSpPr>
        <p:spPr bwMode="auto">
          <a:xfrm>
            <a:off x="8616280" y="6093296"/>
            <a:ext cx="302433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裂缝复杂程度及缝网规模对水锤特征影响</a:t>
            </a:r>
            <a:endParaRPr lang="zh-CN" altLang="en-US" sz="1200" dirty="0">
              <a:latin typeface="微软雅黑" panose="020B0503020204020204" pitchFamily="34" charset="-122"/>
              <a:ea typeface="微软雅黑" panose="020B0503020204020204" pitchFamily="34" charset="-122"/>
            </a:endParaRPr>
          </a:p>
        </p:txBody>
      </p:sp>
      <p:sp>
        <p:nvSpPr>
          <p:cNvPr id="10" name="矩形 9"/>
          <p:cNvSpPr/>
          <p:nvPr/>
        </p:nvSpPr>
        <p:spPr>
          <a:xfrm>
            <a:off x="447303" y="1190256"/>
            <a:ext cx="11519943" cy="1289905"/>
          </a:xfrm>
          <a:prstGeom prst="rect">
            <a:avLst/>
          </a:prstGeom>
        </p:spPr>
        <p:txBody>
          <a:bodyPr wrap="square">
            <a:spAutoFit/>
          </a:bodyPr>
          <a:lstStyle/>
          <a:p>
            <a:pPr marL="285750" indent="-285750">
              <a:lnSpc>
                <a:spcPct val="150000"/>
              </a:lnSpc>
              <a:buClr>
                <a:srgbClr val="FF0000"/>
              </a:buClr>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水击压力诊断是近年来兴起的压裂诊断技术，具有</a:t>
            </a:r>
            <a:r>
              <a:rPr lang="zh-CN" altLang="en-US" dirty="0">
                <a:solidFill>
                  <a:srgbClr val="FF0000"/>
                </a:solidFill>
                <a:latin typeface="微软雅黑" panose="020B0503020204020204" pitchFamily="34" charset="-122"/>
                <a:ea typeface="微软雅黑" panose="020B0503020204020204" pitchFamily="34" charset="-122"/>
              </a:rPr>
              <a:t>实时性强</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成本低</a:t>
            </a:r>
            <a:r>
              <a:rPr lang="zh-CN" altLang="en-US" dirty="0">
                <a:latin typeface="微软雅黑" panose="020B0503020204020204" pitchFamily="34" charset="-122"/>
                <a:ea typeface="微软雅黑" panose="020B0503020204020204" pitchFamily="34" charset="-122"/>
              </a:rPr>
              <a:t>等优点，潜力巨大。该技术通过对停泵形成的压力波进行频谱分析，基于</a:t>
            </a:r>
            <a:r>
              <a:rPr lang="zh-CN" altLang="en-US" dirty="0">
                <a:solidFill>
                  <a:srgbClr val="FF0000"/>
                </a:solidFill>
                <a:latin typeface="微软雅黑" panose="020B0503020204020204" pitchFamily="34" charset="-122"/>
                <a:ea typeface="微软雅黑" panose="020B0503020204020204" pitchFamily="34" charset="-122"/>
              </a:rPr>
              <a:t>水击特征曲线</a:t>
            </a:r>
            <a:r>
              <a:rPr lang="zh-CN" altLang="en-US" dirty="0">
                <a:latin typeface="微软雅黑" panose="020B0503020204020204" pitchFamily="34" charset="-122"/>
                <a:ea typeface="微软雅黑" panose="020B0503020204020204" pitchFamily="34" charset="-122"/>
              </a:rPr>
              <a:t>确定裂缝处压力波动传至井口的响应时间，然后乘以波速求得裂缝位置实现</a:t>
            </a:r>
            <a:r>
              <a:rPr lang="zh-CN" altLang="en-US" dirty="0">
                <a:solidFill>
                  <a:srgbClr val="FF0000"/>
                </a:solidFill>
                <a:latin typeface="微软雅黑" panose="020B0503020204020204" pitchFamily="34" charset="-122"/>
                <a:ea typeface="微软雅黑" panose="020B0503020204020204" pitchFamily="34" charset="-122"/>
              </a:rPr>
              <a:t>裂缝进液识别</a:t>
            </a:r>
            <a:r>
              <a:rPr lang="zh-CN" altLang="en-US" dirty="0">
                <a:latin typeface="微软雅黑" panose="020B0503020204020204" pitchFamily="34" charset="-122"/>
                <a:ea typeface="微软雅黑" panose="020B0503020204020204" pitchFamily="34" charset="-122"/>
              </a:rPr>
              <a:t>，需要</a:t>
            </a:r>
            <a:r>
              <a:rPr lang="zh-CN" altLang="en-US" dirty="0">
                <a:solidFill>
                  <a:srgbClr val="FF0000"/>
                </a:solidFill>
                <a:latin typeface="微软雅黑" panose="020B0503020204020204" pitchFamily="34" charset="-122"/>
                <a:ea typeface="微软雅黑" panose="020B0503020204020204" pitchFamily="34" charset="-122"/>
              </a:rPr>
              <a:t>高频采集井口停泵水锤压力</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无法实现超大规模每口井的应用</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14" name="矩形 22"/>
          <p:cNvSpPr>
            <a:spLocks noChangeArrowheads="1"/>
          </p:cNvSpPr>
          <p:nvPr/>
        </p:nvSpPr>
        <p:spPr bwMode="auto">
          <a:xfrm>
            <a:off x="335360" y="6176337"/>
            <a:ext cx="2844269"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高频停泵水锤信号采集</a:t>
            </a:r>
            <a:endParaRPr lang="zh-CN" altLang="en-US" sz="1200"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rotWithShape="1">
          <a:blip r:embed="rId1" cstate="print">
            <a:extLst>
              <a:ext uri="{28A0092B-C50C-407E-A947-70E740481C1C}">
                <a14:useLocalDpi xmlns:a14="http://schemas.microsoft.com/office/drawing/2010/main" val="0"/>
              </a:ext>
            </a:extLst>
          </a:blip>
          <a:srcRect r="6404"/>
          <a:stretch>
            <a:fillRect/>
          </a:stretch>
        </p:blipFill>
        <p:spPr>
          <a:xfrm>
            <a:off x="8760296" y="2636912"/>
            <a:ext cx="2808312" cy="1475693"/>
          </a:xfrm>
          <a:prstGeom prst="rect">
            <a:avLst/>
          </a:prstGeom>
          <a:ln w="12700">
            <a:solidFill>
              <a:schemeClr val="tx1">
                <a:lumMod val="50000"/>
                <a:lumOff val="50000"/>
              </a:schemeClr>
            </a:solidFill>
          </a:ln>
        </p:spPr>
      </p:pic>
      <p:pic>
        <p:nvPicPr>
          <p:cNvPr id="16"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288" y="4221088"/>
            <a:ext cx="3061433"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p:nvPr/>
        </p:nvGrpSpPr>
        <p:grpSpPr>
          <a:xfrm>
            <a:off x="3791744" y="2708920"/>
            <a:ext cx="4536534" cy="3384376"/>
            <a:chOff x="335360" y="2636912"/>
            <a:chExt cx="4536534" cy="3384376"/>
          </a:xfrm>
        </p:grpSpPr>
        <p:pic>
          <p:nvPicPr>
            <p:cNvPr id="11" name="图片 10"/>
            <p:cNvPicPr/>
            <p:nvPr/>
          </p:nvPicPr>
          <p:blipFill>
            <a:blip r:embed="rId3"/>
            <a:stretch>
              <a:fillRect/>
            </a:stretch>
          </p:blipFill>
          <p:spPr>
            <a:xfrm>
              <a:off x="479376" y="2636912"/>
              <a:ext cx="2268220" cy="1466850"/>
            </a:xfrm>
            <a:prstGeom prst="rect">
              <a:avLst/>
            </a:prstGeom>
          </p:spPr>
        </p:pic>
        <p:pic>
          <p:nvPicPr>
            <p:cNvPr id="12" name="图片 11"/>
            <p:cNvPicPr/>
            <p:nvPr/>
          </p:nvPicPr>
          <p:blipFill>
            <a:blip r:embed="rId4"/>
            <a:stretch>
              <a:fillRect/>
            </a:stretch>
          </p:blipFill>
          <p:spPr>
            <a:xfrm>
              <a:off x="2711624" y="2636912"/>
              <a:ext cx="2160270" cy="1498600"/>
            </a:xfrm>
            <a:prstGeom prst="rect">
              <a:avLst/>
            </a:prstGeom>
          </p:spPr>
        </p:pic>
        <p:pic>
          <p:nvPicPr>
            <p:cNvPr id="17" name="图片 16"/>
            <p:cNvPicPr>
              <a:picLocks noChangeAspect="1"/>
            </p:cNvPicPr>
            <p:nvPr/>
          </p:nvPicPr>
          <p:blipFill>
            <a:blip r:embed="rId5"/>
            <a:stretch>
              <a:fillRect/>
            </a:stretch>
          </p:blipFill>
          <p:spPr>
            <a:xfrm>
              <a:off x="335360" y="4221088"/>
              <a:ext cx="4464496" cy="1800200"/>
            </a:xfrm>
            <a:prstGeom prst="rect">
              <a:avLst/>
            </a:prstGeom>
          </p:spPr>
        </p:pic>
      </p:grpSp>
      <p:pic>
        <p:nvPicPr>
          <p:cNvPr id="18" name="图片 17"/>
          <p:cNvPicPr>
            <a:picLocks noChangeAspect="1"/>
          </p:cNvPicPr>
          <p:nvPr/>
        </p:nvPicPr>
        <p:blipFill>
          <a:blip r:embed="rId6"/>
          <a:stretch>
            <a:fillRect/>
          </a:stretch>
        </p:blipFill>
        <p:spPr>
          <a:xfrm>
            <a:off x="335360" y="2708920"/>
            <a:ext cx="3024336" cy="33843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extBox 45"/>
          <p:cNvSpPr txBox="1"/>
          <p:nvPr/>
        </p:nvSpPr>
        <p:spPr>
          <a:xfrm>
            <a:off x="30661" y="86497"/>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indent="-1256030" algn="ctr" eaLnBrk="1" fontAlgn="auto" hangingPunct="1">
              <a:lnSpc>
                <a:spcPct val="100000"/>
              </a:lnSpc>
              <a:spcBef>
                <a:spcPts val="600"/>
              </a:spcBef>
              <a:spcAft>
                <a:spcPts val="0"/>
              </a:spcAft>
              <a:buClrTx/>
              <a:buSz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（三）技术难点分析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2"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457200" rtl="0" eaLnBrk="0" fontAlgn="base" latinLnBrk="0" hangingPunct="0">
              <a:lnSpc>
                <a:spcPct val="100000"/>
              </a:lnSpc>
              <a:spcBef>
                <a:spcPct val="0"/>
              </a:spcBef>
              <a:spcAft>
                <a:spcPct val="0"/>
              </a:spcAft>
              <a:buClr>
                <a:srgbClr val="FF0000"/>
              </a:buClr>
              <a:buSzTx/>
              <a:buFontTx/>
              <a:buNone/>
              <a:defRPr/>
            </a:pPr>
            <a:r>
              <a:rPr kumimoji="0" lang="en-US" altLang="zh-CN"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1</a:t>
            </a:r>
            <a:r>
              <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、川南地区页岩气</a:t>
            </a:r>
            <a:r>
              <a:rPr lang="zh-CN" altLang="en-US" sz="2000" kern="0" dirty="0">
                <a:solidFill>
                  <a:srgbClr val="FF0000"/>
                </a:solidFill>
                <a:latin typeface="方正大黑简体" panose="02010601030101010101" pitchFamily="65" charset="-122"/>
                <a:ea typeface="方正大黑简体" panose="02010601030101010101" pitchFamily="65" charset="-122"/>
              </a:rPr>
              <a:t>压裂评估</a:t>
            </a:r>
            <a:r>
              <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面临技术的难点</a:t>
            </a:r>
            <a:endParaRPr kumimoji="0" lang="zh-CN" altLang="en-US" sz="2000" b="0" i="0" u="none" strike="noStrike" kern="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endParaRPr>
          </a:p>
        </p:txBody>
      </p:sp>
      <p:cxnSp>
        <p:nvCxnSpPr>
          <p:cNvPr id="5" name="直接连接符 5"/>
          <p:cNvCxnSpPr/>
          <p:nvPr/>
        </p:nvCxnSpPr>
        <p:spPr>
          <a:xfrm>
            <a:off x="3976575" y="2385338"/>
            <a:ext cx="0" cy="3060908"/>
          </a:xfrm>
          <a:prstGeom prst="line">
            <a:avLst/>
          </a:prstGeom>
          <a:noFill/>
          <a:ln w="9525" cap="flat" cmpd="sng" algn="ctr">
            <a:solidFill>
              <a:srgbClr val="768395"/>
            </a:solidFill>
            <a:prstDash val="solid"/>
          </a:ln>
          <a:effectLst/>
        </p:spPr>
      </p:cxnSp>
      <p:sp>
        <p:nvSpPr>
          <p:cNvPr id="6" name="îSḻidé"/>
          <p:cNvSpPr/>
          <p:nvPr/>
        </p:nvSpPr>
        <p:spPr bwMode="auto">
          <a:xfrm>
            <a:off x="3929028" y="2611297"/>
            <a:ext cx="96875" cy="108206"/>
          </a:xfrm>
          <a:prstGeom prst="ellipse">
            <a:avLst/>
          </a:prstGeom>
          <a:solidFill>
            <a:srgbClr val="FFFFFF"/>
          </a:solidFill>
          <a:ln w="19050" cap="flat" cmpd="sng" algn="ctr">
            <a:solidFill>
              <a:srgbClr val="BC3649">
                <a:lumMod val="100000"/>
              </a:srgbClr>
            </a:solidFill>
            <a:prstDash val="solid"/>
            <a:round/>
            <a:headEnd type="none" w="med" len="med"/>
            <a:tailEnd type="none" w="med" len="me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ïṥļîďe"/>
          <p:cNvSpPr/>
          <p:nvPr/>
        </p:nvSpPr>
        <p:spPr bwMode="auto">
          <a:xfrm>
            <a:off x="3929028" y="3450845"/>
            <a:ext cx="96875" cy="108206"/>
          </a:xfrm>
          <a:prstGeom prst="ellipse">
            <a:avLst/>
          </a:prstGeom>
          <a:solidFill>
            <a:srgbClr val="FFFFFF"/>
          </a:solidFill>
          <a:ln w="19050" cap="flat" cmpd="sng" algn="ctr">
            <a:solidFill>
              <a:srgbClr val="FFFFFF">
                <a:lumMod val="65000"/>
              </a:srgbClr>
            </a:solidFill>
            <a:prstDash val="solid"/>
            <a:round/>
            <a:headEnd type="none" w="med" len="med"/>
            <a:tailEnd type="none" w="med" len="me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 name="iSľïḑé"/>
          <p:cNvSpPr/>
          <p:nvPr/>
        </p:nvSpPr>
        <p:spPr bwMode="auto">
          <a:xfrm>
            <a:off x="3929028" y="4289757"/>
            <a:ext cx="96875" cy="108206"/>
          </a:xfrm>
          <a:prstGeom prst="ellipse">
            <a:avLst/>
          </a:prstGeom>
          <a:solidFill>
            <a:srgbClr val="FFFFFF"/>
          </a:solidFill>
          <a:ln w="19050" cap="flat" cmpd="sng" algn="ctr">
            <a:solidFill>
              <a:srgbClr val="BC3649"/>
            </a:solidFill>
            <a:prstDash val="solid"/>
            <a:round/>
            <a:headEnd type="none" w="med" len="med"/>
            <a:tailEnd type="none" w="med" len="me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0" name="išḻíḓé"/>
          <p:cNvGrpSpPr/>
          <p:nvPr/>
        </p:nvGrpSpPr>
        <p:grpSpPr>
          <a:xfrm>
            <a:off x="3115845" y="2419088"/>
            <a:ext cx="401178" cy="519351"/>
            <a:chOff x="5283305" y="1221966"/>
            <a:chExt cx="595872" cy="691064"/>
          </a:xfrm>
        </p:grpSpPr>
        <p:sp>
          <p:nvSpPr>
            <p:cNvPr id="36" name="íṡ1íďe"/>
            <p:cNvSpPr/>
            <p:nvPr/>
          </p:nvSpPr>
          <p:spPr bwMode="auto">
            <a:xfrm rot="2691234">
              <a:off x="5283305" y="1269560"/>
              <a:ext cx="595872" cy="595872"/>
            </a:xfrm>
            <a:prstGeom prst="teardrop">
              <a:avLst/>
            </a:prstGeom>
            <a:solidFill>
              <a:srgbClr val="BC3649">
                <a:lumMod val="100000"/>
              </a:srgbClr>
            </a:solidFill>
            <a:ln w="19050">
              <a:noFill/>
              <a:roun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7" name="ïṡḻïḓê"/>
            <p:cNvSpPr/>
            <p:nvPr/>
          </p:nvSpPr>
          <p:spPr bwMode="auto">
            <a:xfrm>
              <a:off x="5308067" y="1221966"/>
              <a:ext cx="535914" cy="691064"/>
            </a:xfrm>
            <a:prstGeom prst="ellipse">
              <a:avLst/>
            </a:prstGeom>
            <a:solidFill>
              <a:srgbClr val="FFFFFF">
                <a:alpha val="0"/>
              </a:srgbClr>
            </a:solidFill>
            <a:ln w="19050">
              <a:noFill/>
              <a:round/>
            </a:ln>
          </p:spPr>
          <p:txBody>
            <a:bodyPr rot="0" spcFirstLastPara="0" vert="horz" wrap="none" lIns="91440" tIns="45720" rIns="91440" bIns="45720" anchor="ctr" anchorCtr="1" forceAA="0" compatLnSpc="1">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rPr>
                <a:t>1</a:t>
              </a:r>
              <a:endPar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endParaRPr>
            </a:p>
          </p:txBody>
        </p:sp>
      </p:grpSp>
      <p:grpSp>
        <p:nvGrpSpPr>
          <p:cNvPr id="11" name="组合 10"/>
          <p:cNvGrpSpPr/>
          <p:nvPr/>
        </p:nvGrpSpPr>
        <p:grpSpPr>
          <a:xfrm>
            <a:off x="3131116" y="3247622"/>
            <a:ext cx="403513" cy="519351"/>
            <a:chOff x="1518093" y="3197908"/>
            <a:chExt cx="449473" cy="518298"/>
          </a:xfrm>
        </p:grpSpPr>
        <p:sp>
          <p:nvSpPr>
            <p:cNvPr id="34" name="ïśḻîḓê"/>
            <p:cNvSpPr/>
            <p:nvPr/>
          </p:nvSpPr>
          <p:spPr bwMode="auto">
            <a:xfrm rot="2691234">
              <a:off x="1520662" y="3233635"/>
              <a:ext cx="446904" cy="446904"/>
            </a:xfrm>
            <a:prstGeom prst="teardrop">
              <a:avLst/>
            </a:prstGeom>
            <a:solidFill>
              <a:srgbClr val="FFFFFF">
                <a:lumMod val="65000"/>
              </a:srgbClr>
            </a:solidFill>
            <a:ln w="19050">
              <a:noFill/>
              <a:roun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5" name="îṡ1ídê"/>
            <p:cNvSpPr/>
            <p:nvPr/>
          </p:nvSpPr>
          <p:spPr bwMode="auto">
            <a:xfrm>
              <a:off x="1518093" y="3197908"/>
              <a:ext cx="442050" cy="518298"/>
            </a:xfrm>
            <a:prstGeom prst="ellipse">
              <a:avLst/>
            </a:prstGeom>
            <a:noFill/>
            <a:ln w="19050">
              <a:noFill/>
              <a:round/>
            </a:ln>
          </p:spPr>
          <p:txBody>
            <a:bodyPr rot="0" spcFirstLastPara="0" vert="horz" wrap="none" lIns="91440" tIns="45720" rIns="91440" bIns="45720" anchor="ctr" anchorCtr="1" forceAA="0" compatLnSpc="1">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rPr>
                <a:t>2</a:t>
              </a:r>
              <a:endPar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endParaRPr>
            </a:p>
          </p:txBody>
        </p:sp>
      </p:grpSp>
      <p:grpSp>
        <p:nvGrpSpPr>
          <p:cNvPr id="12" name="组合 11"/>
          <p:cNvGrpSpPr/>
          <p:nvPr/>
        </p:nvGrpSpPr>
        <p:grpSpPr>
          <a:xfrm>
            <a:off x="3132859" y="4076156"/>
            <a:ext cx="405329" cy="519351"/>
            <a:chOff x="1520040" y="3896003"/>
            <a:chExt cx="451675" cy="518298"/>
          </a:xfrm>
        </p:grpSpPr>
        <p:sp>
          <p:nvSpPr>
            <p:cNvPr id="32" name="îSḷíďê"/>
            <p:cNvSpPr/>
            <p:nvPr/>
          </p:nvSpPr>
          <p:spPr bwMode="auto">
            <a:xfrm rot="2691234">
              <a:off x="1520662" y="3931699"/>
              <a:ext cx="446904" cy="446904"/>
            </a:xfrm>
            <a:prstGeom prst="teardrop">
              <a:avLst/>
            </a:prstGeom>
            <a:solidFill>
              <a:srgbClr val="BC3649"/>
            </a:solidFill>
            <a:ln w="19050">
              <a:noFill/>
              <a:roun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3" name="iṥļíḋé"/>
            <p:cNvSpPr/>
            <p:nvPr/>
          </p:nvSpPr>
          <p:spPr bwMode="auto">
            <a:xfrm>
              <a:off x="1520040" y="3896003"/>
              <a:ext cx="451675" cy="518298"/>
            </a:xfrm>
            <a:prstGeom prst="ellipse">
              <a:avLst/>
            </a:prstGeom>
            <a:solidFill>
              <a:srgbClr val="FFFFFF">
                <a:alpha val="0"/>
              </a:srgbClr>
            </a:solidFill>
            <a:ln w="19050">
              <a:noFill/>
              <a:round/>
            </a:ln>
          </p:spPr>
          <p:txBody>
            <a:bodyPr rot="0" spcFirstLastPara="0" vert="horz" wrap="none" lIns="91440" tIns="45720" rIns="91440" bIns="45720" anchor="ctr" anchorCtr="1" forceAA="0" compatLnSpc="1">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rPr>
                <a:t>3</a:t>
              </a:r>
              <a:endPar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endParaRPr>
            </a:p>
          </p:txBody>
        </p:sp>
      </p:grpSp>
      <p:sp>
        <p:nvSpPr>
          <p:cNvPr id="14" name="íṥľïḓè"/>
          <p:cNvSpPr/>
          <p:nvPr/>
        </p:nvSpPr>
        <p:spPr bwMode="auto">
          <a:xfrm>
            <a:off x="4185464" y="2472557"/>
            <a:ext cx="7311136" cy="3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rPr>
              <a:t>施工压力信号在不同频带下的响应特征和压力波动类型尚不明确</a:t>
            </a:r>
            <a:endParaRPr lang="en-US" altLang="zh-CN" dirty="0">
              <a:solidFill>
                <a:srgbClr val="000000"/>
              </a:solidFill>
              <a:latin typeface="微软雅黑" panose="020B0503020204020204" pitchFamily="34" charset="-122"/>
              <a:ea typeface="微软雅黑" panose="020B0503020204020204" pitchFamily="34" charset="-122"/>
            </a:endParaRPr>
          </a:p>
        </p:txBody>
      </p:sp>
      <p:sp>
        <p:nvSpPr>
          <p:cNvPr id="15" name="íṥľïḓè"/>
          <p:cNvSpPr/>
          <p:nvPr/>
        </p:nvSpPr>
        <p:spPr bwMode="auto">
          <a:xfrm>
            <a:off x="4185465" y="3303804"/>
            <a:ext cx="4829407" cy="3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íṥľïḓè"/>
          <p:cNvSpPr/>
          <p:nvPr/>
        </p:nvSpPr>
        <p:spPr bwMode="auto">
          <a:xfrm>
            <a:off x="4108533" y="4105386"/>
            <a:ext cx="4906340" cy="3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íṥľïḓè"/>
          <p:cNvSpPr/>
          <p:nvPr/>
        </p:nvSpPr>
        <p:spPr bwMode="auto">
          <a:xfrm>
            <a:off x="4185463" y="4121074"/>
            <a:ext cx="6447041" cy="3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rPr>
              <a:t>不同压裂参数与压裂改造效果的关联特征尚</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不清晰</a:t>
            </a:r>
            <a:endPar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9" name="直接连接符 26"/>
          <p:cNvCxnSpPr/>
          <p:nvPr/>
        </p:nvCxnSpPr>
        <p:spPr>
          <a:xfrm>
            <a:off x="4173729" y="3852820"/>
            <a:ext cx="6602791" cy="0"/>
          </a:xfrm>
          <a:prstGeom prst="line">
            <a:avLst/>
          </a:prstGeom>
          <a:noFill/>
          <a:ln w="3175" cap="flat" cmpd="sng" algn="ctr">
            <a:solidFill>
              <a:srgbClr val="FFFFFF">
                <a:lumMod val="75000"/>
              </a:srgbClr>
            </a:solidFill>
            <a:prstDash val="solid"/>
          </a:ln>
          <a:effectLst/>
        </p:spPr>
      </p:cxnSp>
      <p:cxnSp>
        <p:nvCxnSpPr>
          <p:cNvPr id="20" name="直接连接符 27"/>
          <p:cNvCxnSpPr/>
          <p:nvPr/>
        </p:nvCxnSpPr>
        <p:spPr>
          <a:xfrm flipV="1">
            <a:off x="4173729" y="4639324"/>
            <a:ext cx="6674799" cy="19089"/>
          </a:xfrm>
          <a:prstGeom prst="line">
            <a:avLst/>
          </a:prstGeom>
          <a:noFill/>
          <a:ln w="3175" cap="flat" cmpd="sng" algn="ctr">
            <a:solidFill>
              <a:srgbClr val="FFFFFF">
                <a:lumMod val="75000"/>
              </a:srgbClr>
            </a:solidFill>
            <a:prstDash val="solid"/>
          </a:ln>
          <a:effectLst/>
        </p:spPr>
      </p:cxnSp>
      <p:cxnSp>
        <p:nvCxnSpPr>
          <p:cNvPr id="21" name="直接连接符 28"/>
          <p:cNvCxnSpPr/>
          <p:nvPr/>
        </p:nvCxnSpPr>
        <p:spPr>
          <a:xfrm>
            <a:off x="4173729" y="3043241"/>
            <a:ext cx="6530783" cy="0"/>
          </a:xfrm>
          <a:prstGeom prst="line">
            <a:avLst/>
          </a:prstGeom>
          <a:noFill/>
          <a:ln w="3175" cap="flat" cmpd="sng" algn="ctr">
            <a:solidFill>
              <a:srgbClr val="FFFFFF">
                <a:lumMod val="75000"/>
              </a:srgbClr>
            </a:solidFill>
            <a:prstDash val="solid"/>
          </a:ln>
          <a:effectLst/>
        </p:spPr>
      </p:cxnSp>
      <p:sp>
        <p:nvSpPr>
          <p:cNvPr id="23" name="íṥľïḓè"/>
          <p:cNvSpPr/>
          <p:nvPr/>
        </p:nvSpPr>
        <p:spPr bwMode="auto">
          <a:xfrm>
            <a:off x="4185463" y="3284106"/>
            <a:ext cx="4890687" cy="3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defRPr/>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停泵压降数据分析压后裂缝尺寸存在多解性</a:t>
            </a:r>
            <a:endPar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p:cNvGrpSpPr/>
          <p:nvPr/>
        </p:nvGrpSpPr>
        <p:grpSpPr>
          <a:xfrm>
            <a:off x="3131112" y="4925873"/>
            <a:ext cx="421972" cy="519351"/>
            <a:chOff x="1504101" y="3197908"/>
            <a:chExt cx="470034" cy="518298"/>
          </a:xfrm>
        </p:grpSpPr>
        <p:sp>
          <p:nvSpPr>
            <p:cNvPr id="9" name="ïśḻîḓê"/>
            <p:cNvSpPr/>
            <p:nvPr/>
          </p:nvSpPr>
          <p:spPr bwMode="auto">
            <a:xfrm rot="2691234">
              <a:off x="1520662" y="3233635"/>
              <a:ext cx="446904" cy="446904"/>
            </a:xfrm>
            <a:prstGeom prst="teardrop">
              <a:avLst/>
            </a:prstGeom>
            <a:solidFill>
              <a:srgbClr val="FFFFFF">
                <a:lumMod val="65000"/>
              </a:srgbClr>
            </a:solidFill>
            <a:ln w="19050">
              <a:noFill/>
              <a:roun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îṡ1ídê"/>
            <p:cNvSpPr/>
            <p:nvPr/>
          </p:nvSpPr>
          <p:spPr bwMode="auto">
            <a:xfrm>
              <a:off x="1504101" y="3197908"/>
              <a:ext cx="470034" cy="518298"/>
            </a:xfrm>
            <a:prstGeom prst="ellipse">
              <a:avLst/>
            </a:prstGeom>
            <a:noFill/>
            <a:ln w="19050">
              <a:noFill/>
              <a:round/>
            </a:ln>
          </p:spPr>
          <p:txBody>
            <a:bodyPr rot="0" spcFirstLastPara="0" vert="horz" wrap="none" lIns="91440" tIns="45720" rIns="91440" bIns="45720" anchor="ctr" anchorCtr="1" forceAA="0" compatLnSpc="1">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rPr>
                <a:t>4</a:t>
              </a:r>
              <a:endParaRPr kumimoji="0" lang="en-US" altLang="zh-CN" b="0" i="0" u="none" strike="noStrike" kern="0" cap="none" spc="0" normalizeH="0" baseline="0" noProof="0" dirty="0">
                <a:ln>
                  <a:noFill/>
                </a:ln>
                <a:solidFill>
                  <a:srgbClr val="FFFFFF">
                    <a:lumMod val="100000"/>
                  </a:srgbClr>
                </a:solidFill>
                <a:effectLst/>
                <a:uLnTx/>
                <a:uFillTx/>
                <a:latin typeface="Impact" panose="020B0806030902050204" pitchFamily="34" charset="0"/>
                <a:ea typeface="宋体" panose="02010600030101010101" pitchFamily="2" charset="-122"/>
                <a:cs typeface="+mn-cs"/>
              </a:endParaRPr>
            </a:p>
          </p:txBody>
        </p:sp>
      </p:grpSp>
      <p:sp>
        <p:nvSpPr>
          <p:cNvPr id="24" name="ïṥļîďe"/>
          <p:cNvSpPr/>
          <p:nvPr/>
        </p:nvSpPr>
        <p:spPr bwMode="auto">
          <a:xfrm>
            <a:off x="3928137" y="5085184"/>
            <a:ext cx="96875" cy="108206"/>
          </a:xfrm>
          <a:prstGeom prst="ellipse">
            <a:avLst/>
          </a:prstGeom>
          <a:solidFill>
            <a:srgbClr val="FFFFFF"/>
          </a:solidFill>
          <a:ln w="19050" cap="flat" cmpd="sng" algn="ctr">
            <a:solidFill>
              <a:srgbClr val="FFFFFF">
                <a:lumMod val="65000"/>
              </a:srgbClr>
            </a:solidFill>
            <a:prstDash val="solid"/>
            <a:round/>
            <a:headEnd type="none" w="med" len="med"/>
            <a:tailEnd type="none" w="med" len="med"/>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cxnSp>
        <p:nvCxnSpPr>
          <p:cNvPr id="25" name="直接连接符 27"/>
          <p:cNvCxnSpPr/>
          <p:nvPr/>
        </p:nvCxnSpPr>
        <p:spPr>
          <a:xfrm flipV="1">
            <a:off x="4193977" y="5359718"/>
            <a:ext cx="6726559" cy="19237"/>
          </a:xfrm>
          <a:prstGeom prst="line">
            <a:avLst/>
          </a:prstGeom>
          <a:noFill/>
          <a:ln w="3175" cap="flat" cmpd="sng" algn="ctr">
            <a:solidFill>
              <a:srgbClr val="FFFFFF">
                <a:lumMod val="75000"/>
              </a:srgbClr>
            </a:solidFill>
            <a:prstDash val="solid"/>
          </a:ln>
          <a:effectLst/>
        </p:spPr>
      </p:cxnSp>
      <p:sp>
        <p:nvSpPr>
          <p:cNvPr id="28" name="íṥľïḓè"/>
          <p:cNvSpPr/>
          <p:nvPr/>
        </p:nvSpPr>
        <p:spPr bwMode="auto">
          <a:xfrm>
            <a:off x="4185463" y="4902443"/>
            <a:ext cx="6447041" cy="3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rPr>
              <a:t>缺乏一套基于页岩气井压裂施工资料的综合评估方法</a:t>
            </a:r>
            <a:endParaRPr lang="zh-CN" altLang="en-US"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（四）关键技术问题分析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60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latin typeface="方正大黑简体" panose="02010601030101010101" pitchFamily="65" charset="-122"/>
                <a:ea typeface="方正大黑简体" panose="02010601030101010101" pitchFamily="65" charset="-122"/>
              </a:rPr>
              <a:t>1</a:t>
            </a:r>
            <a:r>
              <a:rPr lang="zh-CN" altLang="en-US" sz="2000" kern="0" dirty="0">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latin typeface="方正大黑简体" panose="02010601030101010101" pitchFamily="65" charset="-122"/>
              <a:ea typeface="方正大黑简体" panose="02010601030101010101" pitchFamily="65" charset="-122"/>
            </a:endParaRPr>
          </a:p>
        </p:txBody>
      </p:sp>
      <p:sp>
        <p:nvSpPr>
          <p:cNvPr id="1048607" name="Rectangle 11"/>
          <p:cNvSpPr>
            <a:spLocks noChangeArrowheads="1"/>
          </p:cNvSpPr>
          <p:nvPr/>
        </p:nvSpPr>
        <p:spPr bwMode="auto">
          <a:xfrm>
            <a:off x="326268" y="1287670"/>
            <a:ext cx="11673645" cy="197246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在压裂施工过程中</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压力的变化</a:t>
            </a:r>
            <a:r>
              <a:rPr kumimoji="1" lang="zh-CN" altLang="en-US" sz="16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往往是</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地层信息、施工信息、裂缝信息的综合反映</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，水力压裂施工压力响应诊断对于认识压裂改造过程具有重要意义</a:t>
            </a:r>
            <a:endPar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由于地面施工、地层等多方面因素的影响导致目前对于压裂改造过程中的</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压力波动响应的诊断</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存在很大</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难度</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不确定性</a:t>
            </a:r>
            <a:endParaRPr kumimoji="1" lang="en-US" altLang="zh-CN"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小波分析</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是目前具有研究前景的一项技术，它能够在时域和频域中对序列的局部特性进行识别，非常适用于</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实时分析</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。基于小波分析方法将压力信号分解到不同的频带上有助于了解</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压力信号在不同频带上的响应特征和规律</a:t>
            </a:r>
            <a:endParaRPr kumimoji="1" lang="en-US" altLang="zh-CN"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260014" y="3356992"/>
            <a:ext cx="3948554" cy="2880320"/>
          </a:xfrm>
          <a:prstGeom prst="rect">
            <a:avLst/>
          </a:prstGeom>
        </p:spPr>
      </p:pic>
      <p:pic>
        <p:nvPicPr>
          <p:cNvPr id="6" name="图片 6"/>
          <p:cNvPicPr>
            <a:picLocks noChangeAspect="1" noChangeArrowheads="1"/>
          </p:cNvPicPr>
          <p:nvPr/>
        </p:nvPicPr>
        <p:blipFill>
          <a:blip r:embed="rId2">
            <a:extLst>
              <a:ext uri="{28A0092B-C50C-407E-A947-70E740481C1C}">
                <a14:useLocalDpi xmlns:a14="http://schemas.microsoft.com/office/drawing/2010/main" val="0"/>
              </a:ext>
            </a:extLst>
          </a:blip>
          <a:srcRect r="7117"/>
          <a:stretch>
            <a:fillRect/>
          </a:stretch>
        </p:blipFill>
        <p:spPr bwMode="auto">
          <a:xfrm>
            <a:off x="1136078" y="3429000"/>
            <a:ext cx="4599882" cy="251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2305804" y="6169278"/>
            <a:ext cx="1569660"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小波分解流程示意图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6"/>
          <p:cNvSpPr txBox="1"/>
          <p:nvPr/>
        </p:nvSpPr>
        <p:spPr>
          <a:xfrm>
            <a:off x="8139514" y="6309320"/>
            <a:ext cx="2492990"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基于现场压力施工曲线的小波分析</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（四）关键技术问题分析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607" name="Rectangle 11"/>
          <p:cNvSpPr>
            <a:spLocks noChangeArrowheads="1"/>
          </p:cNvSpPr>
          <p:nvPr/>
        </p:nvSpPr>
        <p:spPr bwMode="auto">
          <a:xfrm>
            <a:off x="326268" y="1287670"/>
            <a:ext cx="11673645" cy="156465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裂缝尺寸诊断能够为作业优化设计提供评价依据，提高压裂效果。准确</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表征水力压裂裂缝参数</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进而评价压裂效果是目前非常规油气储层改造的重要研究内容，而诊断识别压裂施工曲线是实现我国页岩气高效开发的重要突破口</a:t>
            </a:r>
            <a:endPar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停泵压降曲线分析是裂缝尺寸诊断的重要方法之一，具有</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成本低</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实时性强</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的特点。然而现场页岩气井压裂均为</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多段多簇</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，应力阴影的存在使压降分析具有一定</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多解性</a:t>
            </a:r>
            <a:endPar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5"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latin typeface="方正大黑简体" panose="02010601030101010101" pitchFamily="65" charset="-122"/>
                <a:ea typeface="方正大黑简体" panose="02010601030101010101" pitchFamily="65" charset="-122"/>
              </a:rPr>
              <a:t>2</a:t>
            </a:r>
            <a:r>
              <a:rPr lang="zh-CN" altLang="en-US" sz="2000" kern="0" dirty="0">
                <a:latin typeface="方正大黑简体" panose="02010601030101010101" pitchFamily="65" charset="-122"/>
                <a:ea typeface="方正大黑简体" panose="02010601030101010101" pitchFamily="65" charset="-122"/>
              </a:rPr>
              <a:t>、基于压降曲线分析的停泵期裂缝尺寸反演</a:t>
            </a:r>
            <a:endParaRPr lang="zh-CN" altLang="en-US" sz="2000" kern="0" dirty="0">
              <a:latin typeface="方正大黑简体" panose="02010601030101010101" pitchFamily="65" charset="-122"/>
              <a:ea typeface="方正大黑简体" panose="02010601030101010101" pitchFamily="65" charset="-122"/>
            </a:endParaRPr>
          </a:p>
        </p:txBody>
      </p:sp>
      <p:grpSp>
        <p:nvGrpSpPr>
          <p:cNvPr id="7" name="组合 6"/>
          <p:cNvGrpSpPr/>
          <p:nvPr/>
        </p:nvGrpSpPr>
        <p:grpSpPr>
          <a:xfrm>
            <a:off x="623392" y="3061520"/>
            <a:ext cx="4680520" cy="3023173"/>
            <a:chOff x="108000" y="3727002"/>
            <a:chExt cx="4103774" cy="2635250"/>
          </a:xfrm>
        </p:grpSpPr>
        <p:pic>
          <p:nvPicPr>
            <p:cNvPr id="8" name="图片 7"/>
            <p:cNvPicPr/>
            <p:nvPr/>
          </p:nvPicPr>
          <p:blipFill rotWithShape="1">
            <a:blip r:embed="rId1"/>
            <a:srcRect l="1834" b="12558"/>
            <a:stretch>
              <a:fillRect/>
            </a:stretch>
          </p:blipFill>
          <p:spPr bwMode="auto">
            <a:xfrm>
              <a:off x="108000" y="3727002"/>
              <a:ext cx="4100584" cy="2635250"/>
            </a:xfrm>
            <a:prstGeom prst="rect">
              <a:avLst/>
            </a:prstGeom>
            <a:ln>
              <a:noFill/>
            </a:ln>
          </p:spPr>
        </p:pic>
        <p:pic>
          <p:nvPicPr>
            <p:cNvPr id="9"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3921761"/>
              <a:ext cx="2879861" cy="241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22"/>
          <p:cNvSpPr>
            <a:spLocks noChangeArrowheads="1"/>
          </p:cNvSpPr>
          <p:nvPr/>
        </p:nvSpPr>
        <p:spPr bwMode="auto">
          <a:xfrm>
            <a:off x="1631504" y="6240314"/>
            <a:ext cx="219483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 基于</a:t>
            </a:r>
            <a:r>
              <a:rPr lang="en-US" altLang="zh-CN" sz="1200" dirty="0">
                <a:latin typeface="微软雅黑" panose="020B0503020204020204" pitchFamily="34" charset="-122"/>
                <a:ea typeface="微软雅黑" panose="020B0503020204020204" pitchFamily="34" charset="-122"/>
              </a:rPr>
              <a:t>G</a:t>
            </a:r>
            <a:r>
              <a:rPr lang="zh-CN" altLang="en-US" sz="1200" dirty="0">
                <a:latin typeface="微软雅黑" panose="020B0503020204020204" pitchFamily="34" charset="-122"/>
                <a:ea typeface="微软雅黑" panose="020B0503020204020204" pitchFamily="34" charset="-122"/>
              </a:rPr>
              <a:t>函数分析裂缝尺寸模拟</a:t>
            </a:r>
            <a:endParaRPr lang="zh-CN" altLang="en-US" sz="1200"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a:stretch>
            <a:fillRect/>
          </a:stretch>
        </p:blipFill>
        <p:spPr>
          <a:xfrm>
            <a:off x="6419537" y="2916051"/>
            <a:ext cx="4918197" cy="2945204"/>
          </a:xfrm>
          <a:prstGeom prst="rect">
            <a:avLst/>
          </a:prstGeom>
        </p:spPr>
      </p:pic>
      <p:sp>
        <p:nvSpPr>
          <p:cNvPr id="12" name="矩形 22"/>
          <p:cNvSpPr>
            <a:spLocks noChangeArrowheads="1"/>
          </p:cNvSpPr>
          <p:nvPr/>
        </p:nvSpPr>
        <p:spPr bwMode="auto">
          <a:xfrm>
            <a:off x="8302608" y="6111377"/>
            <a:ext cx="232095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水力压裂停泵压降数据分析流程</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（四）关键技术问题分析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622"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latin typeface="方正大黑简体" panose="02010601030101010101" pitchFamily="65" charset="-122"/>
                <a:ea typeface="方正大黑简体" panose="02010601030101010101" pitchFamily="65" charset="-122"/>
              </a:rPr>
              <a:t>3</a:t>
            </a:r>
            <a:r>
              <a:rPr lang="zh-CN" altLang="en-US" sz="2000" kern="0" dirty="0">
                <a:latin typeface="方正大黑简体" panose="02010601030101010101" pitchFamily="65" charset="-122"/>
                <a:ea typeface="方正大黑简体" panose="02010601030101010101" pitchFamily="65" charset="-122"/>
              </a:rPr>
              <a:t>、基于地质工程一体化的多源异构大数据库智能构建</a:t>
            </a:r>
            <a:endParaRPr lang="zh-CN" altLang="en-US" sz="2000" kern="0" dirty="0">
              <a:latin typeface="方正大黑简体" panose="02010601030101010101" pitchFamily="65" charset="-122"/>
              <a:ea typeface="方正大黑简体" panose="02010601030101010101" pitchFamily="65" charset="-122"/>
            </a:endParaRPr>
          </a:p>
        </p:txBody>
      </p:sp>
      <p:grpSp>
        <p:nvGrpSpPr>
          <p:cNvPr id="3" name="组合 2"/>
          <p:cNvGrpSpPr/>
          <p:nvPr/>
        </p:nvGrpSpPr>
        <p:grpSpPr>
          <a:xfrm>
            <a:off x="288684" y="2354866"/>
            <a:ext cx="11704358" cy="4170478"/>
            <a:chOff x="1173304" y="1916832"/>
            <a:chExt cx="9629963" cy="4170478"/>
          </a:xfrm>
        </p:grpSpPr>
        <p:sp>
          <p:nvSpPr>
            <p:cNvPr id="2" name="矩形 1"/>
            <p:cNvSpPr/>
            <p:nvPr/>
          </p:nvSpPr>
          <p:spPr>
            <a:xfrm>
              <a:off x="5676211" y="1949072"/>
              <a:ext cx="719091" cy="63031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1"/>
            <p:cNvSpPr>
              <a:spLocks noChangeArrowheads="1"/>
            </p:cNvSpPr>
            <p:nvPr/>
          </p:nvSpPr>
          <p:spPr bwMode="auto">
            <a:xfrm>
              <a:off x="5825980" y="1916832"/>
              <a:ext cx="277516" cy="662554"/>
            </a:xfrm>
            <a:prstGeom prst="rect">
              <a:avLst/>
            </a:prstGeom>
            <a:noFill/>
            <a:ln w="9525">
              <a:noFill/>
            </a:ln>
          </p:spPr>
          <p:txBody>
            <a:bodyPr wrap="square">
              <a:spAutoFit/>
            </a:bodyPr>
            <a:lstStyle/>
            <a:p>
              <a:pPr algn="just" eaLnBrk="0" fontAlgn="base" hangingPunct="0">
                <a:lnSpc>
                  <a:spcPct val="150000"/>
                </a:lnSpc>
                <a:spcBef>
                  <a:spcPts val="300"/>
                </a:spcBef>
                <a:spcAft>
                  <a:spcPct val="0"/>
                </a:spcAft>
                <a:buClr>
                  <a:srgbClr val="FF0000"/>
                </a:buClr>
              </a:pPr>
              <a:r>
                <a:rPr kumimoji="1" lang="en-US" altLang="zh-CN"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endParaRPr kumimoji="1" lang="zh-CN" altLang="en-US"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6" name="矩形 15"/>
            <p:cNvSpPr/>
            <p:nvPr/>
          </p:nvSpPr>
          <p:spPr>
            <a:xfrm>
              <a:off x="5676211" y="3349479"/>
              <a:ext cx="719091" cy="63031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676211" y="4666667"/>
              <a:ext cx="719091" cy="63031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11"/>
            <p:cNvSpPr>
              <a:spLocks noChangeArrowheads="1"/>
            </p:cNvSpPr>
            <p:nvPr/>
          </p:nvSpPr>
          <p:spPr bwMode="auto">
            <a:xfrm>
              <a:off x="5825980" y="3279225"/>
              <a:ext cx="277516" cy="662554"/>
            </a:xfrm>
            <a:prstGeom prst="rect">
              <a:avLst/>
            </a:prstGeom>
            <a:noFill/>
            <a:ln w="9525">
              <a:noFill/>
            </a:ln>
          </p:spPr>
          <p:txBody>
            <a:bodyPr wrap="square">
              <a:spAutoFit/>
            </a:bodyPr>
            <a:lstStyle/>
            <a:p>
              <a:pPr algn="just" eaLnBrk="0" fontAlgn="base" hangingPunct="0">
                <a:lnSpc>
                  <a:spcPct val="150000"/>
                </a:lnSpc>
                <a:spcBef>
                  <a:spcPts val="300"/>
                </a:spcBef>
                <a:spcAft>
                  <a:spcPct val="0"/>
                </a:spcAft>
                <a:buClr>
                  <a:srgbClr val="FF0000"/>
                </a:buClr>
              </a:pPr>
              <a:r>
                <a:rPr kumimoji="1" lang="en-US" altLang="zh-CN"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endParaRPr kumimoji="1" lang="zh-CN" altLang="en-US"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9" name="Rectangle 11"/>
            <p:cNvSpPr>
              <a:spLocks noChangeArrowheads="1"/>
            </p:cNvSpPr>
            <p:nvPr/>
          </p:nvSpPr>
          <p:spPr bwMode="auto">
            <a:xfrm>
              <a:off x="5830415" y="4522651"/>
              <a:ext cx="277516" cy="662554"/>
            </a:xfrm>
            <a:prstGeom prst="rect">
              <a:avLst/>
            </a:prstGeom>
            <a:noFill/>
            <a:ln w="9525">
              <a:noFill/>
            </a:ln>
          </p:spPr>
          <p:txBody>
            <a:bodyPr wrap="square">
              <a:spAutoFit/>
            </a:bodyPr>
            <a:lstStyle/>
            <a:p>
              <a:pPr algn="just" eaLnBrk="0" fontAlgn="base" hangingPunct="0">
                <a:lnSpc>
                  <a:spcPct val="150000"/>
                </a:lnSpc>
                <a:spcBef>
                  <a:spcPts val="300"/>
                </a:spcBef>
                <a:spcAft>
                  <a:spcPct val="0"/>
                </a:spcAft>
                <a:buClr>
                  <a:srgbClr val="FF0000"/>
                </a:buClr>
              </a:pPr>
              <a:r>
                <a:rPr kumimoji="1" lang="en-US" altLang="zh-CN"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endParaRPr kumimoji="1" lang="zh-CN" altLang="en-US" sz="28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0" name="Rectangle 11"/>
            <p:cNvSpPr>
              <a:spLocks noChangeArrowheads="1"/>
            </p:cNvSpPr>
            <p:nvPr/>
          </p:nvSpPr>
          <p:spPr bwMode="auto">
            <a:xfrm>
              <a:off x="6604927" y="1965627"/>
              <a:ext cx="4189468" cy="138537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多源异构数据库的构建</a:t>
              </a:r>
              <a:endParaRPr kumimoji="1" lang="en-US" altLang="zh-CN"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742950" lvl="1" indent="-285750"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多源异构数据库通过采集施工过程中多种来源、不同结构及类型的数据，包括压裂施工数据和产能数据等实现数据的整合和标准化处理</a:t>
              </a:r>
              <a:endPar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1" name="Rectangle 11"/>
            <p:cNvSpPr>
              <a:spLocks noChangeArrowheads="1"/>
            </p:cNvSpPr>
            <p:nvPr/>
          </p:nvSpPr>
          <p:spPr bwMode="auto">
            <a:xfrm>
              <a:off x="1173304" y="3370523"/>
              <a:ext cx="4254979" cy="1385379"/>
            </a:xfrm>
            <a:prstGeom prst="rect">
              <a:avLst/>
            </a:prstGeom>
            <a:noFill/>
            <a:ln w="9525">
              <a:noFill/>
            </a:ln>
          </p:spPr>
          <p:txBody>
            <a:bodyPr wrap="square">
              <a:spAutoFit/>
            </a:bodyPr>
            <a:lstStyle/>
            <a:p>
              <a:pPr marL="285750" indent="-285750" algn="r"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文本数据与表格数据的应用</a:t>
              </a:r>
              <a:endParaRPr kumimoji="1" lang="en-US" altLang="zh-CN"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在多源异构数据库中，文本数据和表格数据是常见的数据类型，它们分别用于存储和分析非结构化和结构化的信息，为施工过程提供全面的数据支持。</a:t>
              </a:r>
              <a:endPar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3" name="Rectangle 11"/>
            <p:cNvSpPr>
              <a:spLocks noChangeArrowheads="1"/>
            </p:cNvSpPr>
            <p:nvPr/>
          </p:nvSpPr>
          <p:spPr bwMode="auto">
            <a:xfrm>
              <a:off x="6613799" y="4666667"/>
              <a:ext cx="4189468" cy="138537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主控因素的识别与分析</a:t>
              </a:r>
              <a:endParaRPr kumimoji="1" lang="en-US" altLang="zh-CN"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742950" lvl="1" indent="-285750" eaLnBrk="0" fontAlgn="base" hangingPunct="0">
                <a:lnSpc>
                  <a:spcPct val="150000"/>
                </a:lnSpc>
                <a:spcBef>
                  <a:spcPts val="300"/>
                </a:spcBef>
                <a:spcAft>
                  <a:spcPct val="0"/>
                </a:spcAft>
                <a:buClr>
                  <a:srgbClr val="FF0000"/>
                </a:buClr>
                <a:buFont typeface="Wingdings" panose="05000000000000000000" pitchFamily="2" charset="2"/>
                <a:buChar char="n"/>
              </a:pPr>
              <a:r>
                <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利用多源异构数据分析方法，可以识别影响施工过程的主控因素，从而优化施工方案，提高施工效率和质量</a:t>
              </a:r>
              <a:endParaRPr kumimoji="1" lang="zh-CN" altLang="en-US" sz="1400" kern="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cxnSp>
          <p:nvCxnSpPr>
            <p:cNvPr id="29" name="直接连接符 28"/>
            <p:cNvCxnSpPr/>
            <p:nvPr/>
          </p:nvCxnSpPr>
          <p:spPr>
            <a:xfrm>
              <a:off x="6395302" y="2154631"/>
              <a:ext cx="2664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6395888" y="4882691"/>
              <a:ext cx="2664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5428283" y="3631685"/>
              <a:ext cx="2592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17" idx="0"/>
            </p:cNvCxnSpPr>
            <p:nvPr/>
          </p:nvCxnSpPr>
          <p:spPr>
            <a:xfrm flipH="1" flipV="1">
              <a:off x="6033994" y="3982445"/>
              <a:ext cx="1763" cy="68422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6022688" y="2584606"/>
              <a:ext cx="5653" cy="76932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6018202" y="5317982"/>
              <a:ext cx="5653" cy="76932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图片 3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83039" y="2774942"/>
              <a:ext cx="900000" cy="900000"/>
            </a:xfrm>
            <a:prstGeom prst="rect">
              <a:avLst/>
            </a:prstGeom>
          </p:spPr>
        </p:pic>
        <p:pic>
          <p:nvPicPr>
            <p:cNvPr id="46" name="图片 4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9772" y="3979793"/>
              <a:ext cx="1148400" cy="1148400"/>
            </a:xfrm>
            <a:prstGeom prst="rect">
              <a:avLst/>
            </a:prstGeom>
          </p:spPr>
        </p:pic>
      </p:grpSp>
      <p:sp>
        <p:nvSpPr>
          <p:cNvPr id="26" name="Rectangle 11"/>
          <p:cNvSpPr>
            <a:spLocks noChangeArrowheads="1"/>
          </p:cNvSpPr>
          <p:nvPr/>
        </p:nvSpPr>
        <p:spPr bwMode="auto">
          <a:xfrm>
            <a:off x="326268" y="1287670"/>
            <a:ext cx="11673645" cy="1195327"/>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页岩气井现场压裂施工数据具有</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数据类型多</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数据量差异大</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数据质量参差不齐</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等特点</a:t>
            </a:r>
            <a:endPar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解决</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多种来源</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不同结构类型数据</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的融合问题，构建包含地质</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工程参数的“多源异构”数据库对于揭示压裂参数与压裂改造效果的关联特征具有重要意义</a:t>
            </a:r>
            <a:endPar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34" name="图片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41966" y="2126012"/>
            <a:ext cx="792088" cy="6517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（四）关键技术问题分析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62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latin typeface="方正大黑简体" panose="02010601030101010101" pitchFamily="65" charset="-122"/>
                <a:ea typeface="方正大黑简体" panose="02010601030101010101" pitchFamily="65" charset="-122"/>
              </a:rPr>
              <a:t>4</a:t>
            </a:r>
            <a:r>
              <a:rPr lang="zh-CN" altLang="en-US" sz="2000" kern="0" dirty="0">
                <a:latin typeface="方正大黑简体" panose="02010601030101010101" pitchFamily="65" charset="-122"/>
                <a:ea typeface="方正大黑简体" panose="02010601030101010101" pitchFamily="65" charset="-122"/>
              </a:rPr>
              <a:t>、基于大数据库分析的压裂效果综合评估</a:t>
            </a:r>
            <a:endParaRPr lang="zh-CN" altLang="en-US" sz="2000" kern="0" dirty="0">
              <a:latin typeface="方正大黑简体" panose="02010601030101010101" pitchFamily="65" charset="-122"/>
              <a:ea typeface="方正大黑简体" panose="02010601030101010101" pitchFamily="65" charset="-122"/>
            </a:endParaRPr>
          </a:p>
        </p:txBody>
      </p:sp>
      <p:sp>
        <p:nvSpPr>
          <p:cNvPr id="1048627" name="Rectangle 11"/>
          <p:cNvSpPr>
            <a:spLocks noChangeArrowheads="1"/>
          </p:cNvSpPr>
          <p:nvPr/>
        </p:nvSpPr>
        <p:spPr bwMode="auto">
          <a:xfrm>
            <a:off x="326268" y="1216643"/>
            <a:ext cx="11673645" cy="1526187"/>
          </a:xfrm>
          <a:prstGeom prst="rect">
            <a:avLst/>
          </a:prstGeom>
          <a:noFill/>
          <a:ln w="9525">
            <a:noFill/>
          </a:ln>
        </p:spPr>
        <p:txBody>
          <a:bodyPr wrap="square">
            <a:spAutoFit/>
          </a:bodyPr>
          <a:lstStyle/>
          <a:p>
            <a:pPr indent="-285750" algn="just" eaLnBrk="0" fontAlgn="base" hangingPunct="0">
              <a:lnSpc>
                <a:spcPct val="150000"/>
              </a:lnSpc>
              <a:spcAft>
                <a:spcPct val="0"/>
              </a:spcAft>
              <a:buClr>
                <a:srgbClr val="FF0000"/>
              </a:buClr>
              <a:buFont typeface="Wingdings" panose="05000000000000000000" pitchFamily="2" charset="2"/>
              <a:buChar char="n"/>
            </a:pP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当前压裂诊断分析评估以</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定性分析</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为主，缺乏</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有效的技术手段</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实现</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定量评价</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，但传统的水力压裂机理模型与预测方法不适用于页岩气等非常规储层</a:t>
            </a:r>
            <a:endPar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indent="-285750" algn="just" eaLnBrk="0" fontAlgn="base" hangingPunct="0">
              <a:lnSpc>
                <a:spcPct val="150000"/>
              </a:lnSpc>
              <a:spcAft>
                <a:spcPct val="0"/>
              </a:spcAft>
              <a:buClr>
                <a:srgbClr val="FF0000"/>
              </a:buClr>
              <a:buFont typeface="Wingdings" panose="05000000000000000000" pitchFamily="2" charset="2"/>
              <a:buChar char="n"/>
            </a:pP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形成一套基于页岩气井压裂施工资料的综合评估方法，对川南页岩气压裂效果的精准评估并提出实时优化调控方案，是水力压裂和现场生产的重大需求</a:t>
            </a:r>
            <a:endPar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p:cNvPicPr/>
          <p:nvPr/>
        </p:nvPicPr>
        <p:blipFill>
          <a:blip r:embed="rId1"/>
          <a:stretch>
            <a:fillRect/>
          </a:stretch>
        </p:blipFill>
        <p:spPr>
          <a:xfrm>
            <a:off x="911424" y="3086643"/>
            <a:ext cx="4608512" cy="2943725"/>
          </a:xfrm>
          <a:prstGeom prst="rect">
            <a:avLst/>
          </a:prstGeom>
        </p:spPr>
      </p:pic>
      <p:sp>
        <p:nvSpPr>
          <p:cNvPr id="7" name="文本框 38"/>
          <p:cNvSpPr txBox="1"/>
          <p:nvPr/>
        </p:nvSpPr>
        <p:spPr>
          <a:xfrm>
            <a:off x="1199456" y="6070182"/>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泸州区块天然裂缝预测成果图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20136" y="2712681"/>
            <a:ext cx="3123933" cy="3298637"/>
          </a:xfrm>
          <a:prstGeom prst="rect">
            <a:avLst/>
          </a:prstGeom>
        </p:spPr>
      </p:pic>
      <p:sp>
        <p:nvSpPr>
          <p:cNvPr id="9" name="矩形 28"/>
          <p:cNvSpPr>
            <a:spLocks noChangeArrowheads="1"/>
          </p:cNvSpPr>
          <p:nvPr/>
        </p:nvSpPr>
        <p:spPr bwMode="auto">
          <a:xfrm>
            <a:off x="7866439" y="6103955"/>
            <a:ext cx="203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页岩压裂施工曲线诊断流程</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b="1">
                <a:solidFill>
                  <a:srgbClr val="FF0000"/>
                </a:solidFill>
                <a:latin typeface="方正大黑简体" panose="02010601030101010101" pitchFamily="65" charset="-122"/>
                <a:ea typeface="方正大黑简体" panose="02010601030101010101" pitchFamily="65" charset="-122"/>
              </a:rPr>
              <a:t>目  录</a:t>
            </a:r>
            <a:endParaRPr lang="zh-CN" altLang="en-US" sz="4000" b="1">
              <a:solidFill>
                <a:srgbClr val="FF0000"/>
              </a:solidFill>
              <a:latin typeface="方正大黑简体" panose="02010601030101010101" pitchFamily="65" charset="-122"/>
              <a:ea typeface="方正大黑简体" panose="02010601030101010101" pitchFamily="65" charset="-122"/>
            </a:endParaRPr>
          </a:p>
        </p:txBody>
      </p:sp>
      <p:sp>
        <p:nvSpPr>
          <p:cNvPr id="1048644" name="Text Box 6"/>
          <p:cNvSpPr txBox="1">
            <a:spLocks noChangeArrowheads="1"/>
          </p:cNvSpPr>
          <p:nvPr/>
        </p:nvSpPr>
        <p:spPr bwMode="auto">
          <a:xfrm>
            <a:off x="2259013" y="1306051"/>
            <a:ext cx="7669212" cy="4734851"/>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一、项目概要</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二、立项的必要性</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2010601030101010101" pitchFamily="65" charset="-122"/>
                <a:ea typeface="方正大黑简体" panose="02010601030101010101" pitchFamily="65" charset="-122"/>
              </a:rPr>
              <a:t>三、主要研究内容与目标</a:t>
            </a:r>
            <a:endParaRPr lang="zh-CN" altLang="en-US" sz="3200" dirty="0">
              <a:solidFill>
                <a:srgbClr val="FF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四、主要技术经济考核指标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五、项目研究技术路线</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六、项目组织</a:t>
            </a:r>
            <a:endParaRPr lang="zh-CN" altLang="en-US" sz="3200" dirty="0">
              <a:solidFill>
                <a:srgbClr val="00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矩形 2"/>
          <p:cNvSpPr>
            <a:spLocks noChangeArrowheads="1"/>
          </p:cNvSpPr>
          <p:nvPr/>
        </p:nvSpPr>
        <p:spPr bwMode="auto">
          <a:xfrm>
            <a:off x="266700" y="778613"/>
            <a:ext cx="11658600" cy="5083371"/>
          </a:xfrm>
          <a:prstGeom prst="rect">
            <a:avLst/>
          </a:prstGeom>
          <a:noFill/>
          <a:ln>
            <a:noFill/>
          </a:ln>
        </p:spPr>
        <p:txBody>
          <a:bodyPr wrap="square" lIns="36000" tIns="25200" rIns="36000" bIns="25200" anchor="ctr">
            <a:noAutofit/>
          </a:bodyPr>
          <a:lstStyle>
            <a:lvl1pPr indent="71310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0" indent="457200">
              <a:lnSpc>
                <a:spcPct val="200000"/>
              </a:lnSpc>
              <a:spcBef>
                <a:spcPct val="0"/>
              </a:spcBef>
              <a:buClr>
                <a:srgbClr val="FF0000"/>
              </a:buClr>
              <a:buNone/>
            </a:pPr>
            <a:r>
              <a:rPr lang="zh-CN" altLang="en-US" sz="2400" spc="300" dirty="0">
                <a:solidFill>
                  <a:srgbClr val="2F2725"/>
                </a:solidFill>
                <a:latin typeface="方正大黑简体" panose="02010601030101010101" pitchFamily="65" charset="-122"/>
                <a:ea typeface="方正大黑简体" panose="02010601030101010101" pitchFamily="65" charset="-122"/>
              </a:rPr>
              <a:t>针对川南地区页岩气井压裂现场施工资料开展诊断评估研究，明确水力压裂过程中的施工压力响应特征规律和压后裂缝尺寸反演，揭示不同压裂参数与压裂改造效果的关联特征，</a:t>
            </a:r>
            <a:r>
              <a:rPr lang="zh-CN" altLang="en-US" sz="2400" spc="300" dirty="0">
                <a:solidFill>
                  <a:srgbClr val="FF0000"/>
                </a:solidFill>
                <a:latin typeface="方正大黑简体" panose="02010601030101010101" pitchFamily="65" charset="-122"/>
                <a:ea typeface="方正大黑简体" panose="02010601030101010101" pitchFamily="65" charset="-122"/>
              </a:rPr>
              <a:t>形成一套基于页岩气井压裂施工资料的综合评估方法</a:t>
            </a:r>
            <a:r>
              <a:rPr lang="zh-CN" altLang="en-US" sz="2400" spc="300" dirty="0">
                <a:solidFill>
                  <a:srgbClr val="2F2725"/>
                </a:solidFill>
                <a:latin typeface="方正大黑简体" panose="02010601030101010101" pitchFamily="65" charset="-122"/>
                <a:ea typeface="方正大黑简体" panose="02010601030101010101" pitchFamily="65" charset="-122"/>
              </a:rPr>
              <a:t>，从而为现场压裂作业优化设计提供评价依据，提高压裂效果，支撑川南区块页岩气井水力压裂安全施工。</a:t>
            </a:r>
            <a:endParaRPr kumimoji="0" lang="zh-CN" altLang="en-US" sz="2400" b="0" i="0" u="none" strike="noStrike" kern="1200" cap="none" spc="300" normalizeH="0" baseline="0" noProof="0" dirty="0">
              <a:ln>
                <a:noFill/>
              </a:ln>
              <a:solidFill>
                <a:srgbClr val="2F2725"/>
              </a:solidFill>
              <a:effectLst/>
              <a:uLnTx/>
              <a:uFillTx/>
              <a:latin typeface="方正大黑简体" panose="02010601030101010101" pitchFamily="65" charset="-122"/>
              <a:ea typeface="方正大黑简体" panose="02010601030101010101" pitchFamily="65" charset="-122"/>
              <a:cs typeface="+mn-cs"/>
            </a:endParaRPr>
          </a:p>
        </p:txBody>
      </p:sp>
      <p:sp>
        <p:nvSpPr>
          <p:cNvPr id="1048646"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（一）研究目标</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（二）主要研究内容</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648" name="ïṧḻïďe"/>
          <p:cNvSpPr txBox="1"/>
          <p:nvPr/>
        </p:nvSpPr>
        <p:spPr>
          <a:xfrm>
            <a:off x="334963" y="870685"/>
            <a:ext cx="11664949" cy="1289905"/>
          </a:xfrm>
          <a:prstGeom prst="rect">
            <a:avLst/>
          </a:prstGeom>
          <a:noFill/>
        </p:spPr>
        <p:txBody>
          <a:bodyPr wrap="square" lIns="91440" tIns="45720" rIns="91440" bIns="45720"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nSpc>
                <a:spcPct val="150000"/>
              </a:lnSpc>
              <a:spcBef>
                <a:spcPts val="0"/>
              </a:spcBef>
            </a:pPr>
            <a:r>
              <a:rPr lang="zh-CN" altLang="en-US" kern="0" dirty="0">
                <a:latin typeface="微软雅黑" panose="020B0503020204020204" pitchFamily="34" charset="-122"/>
                <a:ea typeface="微软雅黑" panose="020B0503020204020204" pitchFamily="34" charset="-122"/>
              </a:rPr>
              <a:t>       针对川南地区页岩气高效开发面临的压裂评估诊断技术难点，设置</a:t>
            </a:r>
            <a:r>
              <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kern="0" dirty="0">
                <a:latin typeface="微软雅黑" panose="020B0503020204020204" pitchFamily="34" charset="-122"/>
                <a:ea typeface="微软雅黑" panose="020B0503020204020204" pitchFamily="34" charset="-122"/>
              </a:rPr>
              <a:t>个研究内容，开展</a:t>
            </a:r>
            <a:r>
              <a:rPr lang="zh-CN" altLang="en-US" sz="1600" b="1" kern="0" dirty="0">
                <a:solidFill>
                  <a:srgbClr val="FF0000"/>
                </a:solidFill>
                <a:latin typeface="微软雅黑" panose="020B0503020204020204" pitchFamily="34" charset="-122"/>
                <a:ea typeface="微软雅黑" panose="020B0503020204020204" pitchFamily="34" charset="-122"/>
              </a:rPr>
              <a:t>基于小波分析的水力压裂施工压力响应特征分析</a:t>
            </a:r>
            <a:r>
              <a:rPr lang="zh-CN" altLang="en-US" kern="0" dirty="0">
                <a:latin typeface="微软雅黑" panose="020B0503020204020204" pitchFamily="34" charset="-122"/>
                <a:ea typeface="微软雅黑" panose="020B0503020204020204" pitchFamily="34" charset="-122"/>
              </a:rPr>
              <a:t>、</a:t>
            </a:r>
            <a:r>
              <a:rPr lang="zh-CN" altLang="en-US" sz="1600" b="1" kern="0" dirty="0">
                <a:solidFill>
                  <a:srgbClr val="FF0000"/>
                </a:solidFill>
                <a:latin typeface="微软雅黑" panose="020B0503020204020204" pitchFamily="34" charset="-122"/>
                <a:ea typeface="微软雅黑" panose="020B0503020204020204" pitchFamily="34" charset="-122"/>
              </a:rPr>
              <a:t>基于压降曲线分析的停泵期裂缝尺寸反演</a:t>
            </a:r>
            <a:r>
              <a:rPr lang="zh-CN" altLang="en-US" kern="0" dirty="0">
                <a:latin typeface="微软雅黑" panose="020B0503020204020204" pitchFamily="34" charset="-122"/>
                <a:ea typeface="微软雅黑" panose="020B0503020204020204" pitchFamily="34" charset="-122"/>
              </a:rPr>
              <a:t>、</a:t>
            </a:r>
            <a:r>
              <a:rPr lang="zh-CN" altLang="en-US" sz="1600" b="1" kern="0" dirty="0">
                <a:solidFill>
                  <a:srgbClr val="FF0000"/>
                </a:solidFill>
                <a:latin typeface="微软雅黑" panose="020B0503020204020204" pitchFamily="34" charset="-122"/>
                <a:ea typeface="微软雅黑" panose="020B0503020204020204" pitchFamily="34" charset="-122"/>
              </a:rPr>
              <a:t>基于地质工程一体化的多源异构大数据库智能构建</a:t>
            </a:r>
            <a:r>
              <a:rPr lang="zh-CN" altLang="en-US" kern="0" dirty="0">
                <a:latin typeface="微软雅黑" panose="020B0503020204020204" pitchFamily="34" charset="-122"/>
                <a:ea typeface="微软雅黑" panose="020B0503020204020204" pitchFamily="34" charset="-122"/>
              </a:rPr>
              <a:t>、</a:t>
            </a:r>
            <a:r>
              <a:rPr lang="zh-CN" altLang="en-US" sz="1600" b="1" kern="0" dirty="0">
                <a:solidFill>
                  <a:srgbClr val="FF0000"/>
                </a:solidFill>
                <a:latin typeface="微软雅黑" panose="020B0503020204020204" pitchFamily="34" charset="-122"/>
                <a:ea typeface="微软雅黑" panose="020B0503020204020204" pitchFamily="34" charset="-122"/>
              </a:rPr>
              <a:t>基于大数据库分析的压裂效果综合评估</a:t>
            </a:r>
            <a:r>
              <a:rPr lang="zh-CN" altLang="en-US" kern="0" dirty="0">
                <a:latin typeface="微软雅黑" panose="020B0503020204020204" pitchFamily="34" charset="-122"/>
                <a:ea typeface="微软雅黑" panose="020B0503020204020204" pitchFamily="34" charset="-122"/>
              </a:rPr>
              <a:t>研究：</a:t>
            </a:r>
            <a:endParaRPr lang="zh-CN" altLang="en-US" kern="0" dirty="0">
              <a:latin typeface="微软雅黑" panose="020B0503020204020204" pitchFamily="34" charset="-122"/>
              <a:ea typeface="微软雅黑" panose="020B0503020204020204" pitchFamily="34" charset="-122"/>
            </a:endParaRPr>
          </a:p>
        </p:txBody>
      </p:sp>
      <p:sp>
        <p:nvSpPr>
          <p:cNvPr id="1048649" name="TextBox 7"/>
          <p:cNvSpPr txBox="1"/>
          <p:nvPr/>
        </p:nvSpPr>
        <p:spPr bwMode="auto">
          <a:xfrm>
            <a:off x="2855640" y="2257702"/>
            <a:ext cx="8039419" cy="4016484"/>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研究内容一：</a:t>
            </a:r>
            <a:r>
              <a:rPr lang="zh-CN" altLang="en-US" kern="0" dirty="0">
                <a:latin typeface="微软雅黑" panose="020B0503020204020204" pitchFamily="34" charset="-122"/>
                <a:ea typeface="微软雅黑" panose="020B0503020204020204" pitchFamily="34" charset="-122"/>
              </a:rPr>
              <a:t>基于小波分析的水力压裂施工压力响应特征分析</a:t>
            </a:r>
            <a:endParaRPr lang="en-US" altLang="zh-CN"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）建立水力压裂小波分解模型</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791845"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）施工压力响应特征规律分析</a:t>
            </a:r>
            <a:endParaRPr lang="en-US" altLang="zh-CN"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研究内容二：</a:t>
            </a:r>
            <a:r>
              <a:rPr lang="zh-CN" altLang="en-US" kern="0" dirty="0">
                <a:latin typeface="微软雅黑" panose="020B0503020204020204" pitchFamily="34" charset="-122"/>
                <a:ea typeface="微软雅黑" panose="020B0503020204020204" pitchFamily="34" charset="-122"/>
              </a:rPr>
              <a:t>基于压降曲线分析的停泵期裂缝尺寸反演</a:t>
            </a:r>
            <a:endParaRPr lang="en-US" altLang="zh-CN"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）建立停泵期</a:t>
            </a:r>
            <a:r>
              <a:rPr lang="en-US" altLang="zh-CN" sz="1600" kern="0" dirty="0">
                <a:solidFill>
                  <a:schemeClr val="tx1"/>
                </a:solidFill>
                <a:latin typeface="微软雅黑" panose="020B0503020204020204" pitchFamily="34" charset="-122"/>
                <a:ea typeface="微软雅黑" panose="020B0503020204020204" pitchFamily="34" charset="-122"/>
              </a:rPr>
              <a:t>G</a:t>
            </a:r>
            <a:r>
              <a:rPr lang="zh-CN" altLang="en-US" sz="1600" kern="0" dirty="0">
                <a:solidFill>
                  <a:schemeClr val="tx1"/>
                </a:solidFill>
                <a:latin typeface="微软雅黑" panose="020B0503020204020204" pitchFamily="34" charset="-122"/>
                <a:ea typeface="微软雅黑" panose="020B0503020204020204" pitchFamily="34" charset="-122"/>
              </a:rPr>
              <a:t>函数压降分析模型</a:t>
            </a:r>
            <a:endParaRPr lang="en-US" altLang="zh-CN"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）反演计算停泵时刻裂缝几何参数</a:t>
            </a:r>
            <a:endParaRPr lang="en-US" altLang="zh-CN"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研究内容三：基于地质工程一体化的多源异构大数据库智能构建</a:t>
            </a:r>
            <a:endParaRPr lang="en-US" altLang="zh-CN"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en-US" altLang="zh-CN" sz="1600" kern="0" dirty="0">
                <a:solidFill>
                  <a:schemeClr val="tx1"/>
                </a:solidFill>
                <a:latin typeface="微软雅黑" panose="020B0503020204020204" pitchFamily="34" charset="-122"/>
                <a:ea typeface="微软雅黑" panose="020B0503020204020204" pitchFamily="34" charset="-122"/>
              </a:rPr>
              <a:t>                   </a:t>
            </a: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）地质</a:t>
            </a:r>
            <a:r>
              <a:rPr lang="en-US" altLang="zh-CN" sz="1600" kern="0" dirty="0">
                <a:solidFill>
                  <a:schemeClr val="tx1"/>
                </a:solidFill>
                <a:latin typeface="微软雅黑" panose="020B0503020204020204" pitchFamily="34" charset="-122"/>
                <a:ea typeface="微软雅黑" panose="020B0503020204020204" pitchFamily="34" charset="-122"/>
              </a:rPr>
              <a:t>-</a:t>
            </a:r>
            <a:r>
              <a:rPr lang="zh-CN" altLang="en-US" sz="1600" kern="0" dirty="0">
                <a:solidFill>
                  <a:schemeClr val="tx1"/>
                </a:solidFill>
                <a:latin typeface="微软雅黑" panose="020B0503020204020204" pitchFamily="34" charset="-122"/>
                <a:ea typeface="微软雅黑" panose="020B0503020204020204" pitchFamily="34" charset="-122"/>
              </a:rPr>
              <a:t>工程参数多源异构大数据库构建</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791845"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）影响压裂改造效果的主控因素分析</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600"/>
              </a:spcBef>
              <a:spcAft>
                <a:spcPts val="0"/>
              </a:spcAft>
              <a:buClrTx/>
              <a:buSzTx/>
              <a:buFontTx/>
              <a:buNone/>
              <a:defRPr/>
            </a:pPr>
            <a:r>
              <a:rPr lang="zh-CN" altLang="en-US" kern="0" dirty="0">
                <a:solidFill>
                  <a:schemeClr val="tx1"/>
                </a:solidFill>
                <a:latin typeface="微软雅黑" panose="020B0503020204020204" pitchFamily="34" charset="-122"/>
                <a:ea typeface="微软雅黑" panose="020B0503020204020204" pitchFamily="34" charset="-122"/>
              </a:rPr>
              <a:t>研究内容</a:t>
            </a:r>
            <a:r>
              <a:rPr kumimoji="0" lang="zh-CN" alt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四：基于大数据库分析的压裂效果综合评估</a:t>
            </a:r>
            <a:endPar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91845"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）压裂施工资料汇总分析</a:t>
            </a:r>
            <a:endParaRPr lang="en-US" altLang="zh-CN" sz="1600" kern="0" dirty="0">
              <a:solidFill>
                <a:schemeClr val="tx1"/>
              </a:solidFill>
              <a:latin typeface="微软雅黑" panose="020B0503020204020204" pitchFamily="34" charset="-122"/>
              <a:ea typeface="微软雅黑" panose="020B0503020204020204" pitchFamily="34" charset="-122"/>
            </a:endParaRPr>
          </a:p>
          <a:p>
            <a:pPr marL="0" indent="0">
              <a:lnSpc>
                <a:spcPct val="100000"/>
              </a:lnSpc>
              <a:spcBef>
                <a:spcPts val="600"/>
              </a:spcBef>
              <a:buClrTx/>
              <a:defRPr/>
            </a:pPr>
            <a:r>
              <a:rPr lang="zh-CN" altLang="en-US" sz="1600" kern="0" dirty="0">
                <a:solidFill>
                  <a:schemeClr val="tx1"/>
                </a:solidFill>
                <a:latin typeface="微软雅黑" panose="020B0503020204020204" pitchFamily="34" charset="-122"/>
                <a:ea typeface="微软雅黑" panose="020B0503020204020204" pitchFamily="34" charset="-122"/>
              </a:rPr>
              <a:t>                   （</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）基于大数据分析的压裂效果综合评估</a:t>
            </a:r>
            <a:endParaRPr lang="en-US" altLang="zh-CN" sz="1600"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2" name="Rectangle 11"/>
          <p:cNvSpPr>
            <a:spLocks noChangeArrowheads="1"/>
          </p:cNvSpPr>
          <p:nvPr/>
        </p:nvSpPr>
        <p:spPr bwMode="auto">
          <a:xfrm>
            <a:off x="448035" y="1287670"/>
            <a:ext cx="11551878" cy="825995"/>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建立水力压裂小波分解模型</a:t>
            </a:r>
            <a:endPar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施工压力响应特征规律分析</a:t>
            </a:r>
            <a:endPar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6"/>
          <p:cNvSpPr txBox="1"/>
          <p:nvPr/>
        </p:nvSpPr>
        <p:spPr>
          <a:xfrm>
            <a:off x="1153420" y="6165304"/>
            <a:ext cx="4110036"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不同应力差场景下水力压裂扩展模型及施工压力信号分析</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7130" y="2570420"/>
            <a:ext cx="5242616" cy="1521678"/>
          </a:xfrm>
          <a:prstGeom prst="rect">
            <a:avLst/>
          </a:prstGeom>
        </p:spPr>
      </p:pic>
      <p:pic>
        <p:nvPicPr>
          <p:cNvPr id="18" name="图片 17"/>
          <p:cNvPicPr>
            <a:picLocks noChangeAspect="1"/>
          </p:cNvPicPr>
          <p:nvPr/>
        </p:nvPicPr>
        <p:blipFill rotWithShape="1">
          <a:blip r:embed="rId2" cstate="print">
            <a:extLst>
              <a:ext uri="{28A0092B-C50C-407E-A947-70E740481C1C}">
                <a14:useLocalDpi xmlns:a14="http://schemas.microsoft.com/office/drawing/2010/main" val="0"/>
              </a:ext>
            </a:extLst>
          </a:blip>
          <a:srcRect b="7308"/>
          <a:stretch>
            <a:fillRect/>
          </a:stretch>
        </p:blipFill>
        <p:spPr>
          <a:xfrm>
            <a:off x="659133" y="4228421"/>
            <a:ext cx="5201920" cy="1797114"/>
          </a:xfrm>
          <a:prstGeom prst="rect">
            <a:avLst/>
          </a:prstGeom>
        </p:spPr>
      </p:pic>
      <p:pic>
        <p:nvPicPr>
          <p:cNvPr id="3" name="图片 6"/>
          <p:cNvPicPr>
            <a:picLocks noChangeAspect="1" noChangeArrowheads="1"/>
          </p:cNvPicPr>
          <p:nvPr/>
        </p:nvPicPr>
        <p:blipFill>
          <a:blip r:embed="rId3">
            <a:extLst>
              <a:ext uri="{28A0092B-C50C-407E-A947-70E740481C1C}">
                <a14:useLocalDpi xmlns:a14="http://schemas.microsoft.com/office/drawing/2010/main" val="0"/>
              </a:ext>
            </a:extLst>
          </a:blip>
          <a:srcRect r="7117"/>
          <a:stretch>
            <a:fillRect/>
          </a:stretch>
        </p:blipFill>
        <p:spPr bwMode="auto">
          <a:xfrm>
            <a:off x="6852240" y="2996952"/>
            <a:ext cx="5147158" cy="281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6"/>
          <p:cNvSpPr txBox="1"/>
          <p:nvPr/>
        </p:nvSpPr>
        <p:spPr>
          <a:xfrm>
            <a:off x="8328248" y="6084693"/>
            <a:ext cx="1569660"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小波分解流程示意图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2" name="Rectangle 11"/>
          <p:cNvSpPr>
            <a:spLocks noChangeArrowheads="1"/>
          </p:cNvSpPr>
          <p:nvPr/>
        </p:nvSpPr>
        <p:spPr bwMode="auto">
          <a:xfrm>
            <a:off x="448035" y="1287670"/>
            <a:ext cx="11551878" cy="1564659"/>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建立水力压裂小波分解模型</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：基于有限元方法建立水力压裂扩展模型，模拟水力压裂过程中注入压力的响应过程，并引入小波分析对注入压力信号进行分析</a:t>
            </a:r>
            <a:endPar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以小波峰值能量为评价标准，开展针对不同小波类型和不同分解层次下压力施工曲线停泵阶段的小波分析，对注入压力曲线进行离散小波变换得到的小波能量与压力随时间的变化曲线，从而优选出压力信号的</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最优小波基</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最优分解层次</a:t>
            </a:r>
            <a:endPar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6"/>
          <p:cNvSpPr txBox="1"/>
          <p:nvPr/>
        </p:nvSpPr>
        <p:spPr>
          <a:xfrm>
            <a:off x="2284518" y="6176337"/>
            <a:ext cx="1415772"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建立水力压裂模型</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b="6960"/>
          <a:stretch>
            <a:fillRect/>
          </a:stretch>
        </p:blipFill>
        <p:spPr>
          <a:xfrm>
            <a:off x="326269" y="3284984"/>
            <a:ext cx="6044364" cy="2880320"/>
          </a:xfrm>
          <a:prstGeom prst="rect">
            <a:avLst/>
          </a:prstGeom>
        </p:spPr>
      </p:pic>
      <p:sp>
        <p:nvSpPr>
          <p:cNvPr id="3" name="文本框 6"/>
          <p:cNvSpPr txBox="1"/>
          <p:nvPr/>
        </p:nvSpPr>
        <p:spPr>
          <a:xfrm>
            <a:off x="7929709" y="6230687"/>
            <a:ext cx="2646878"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不同小波分解类型下的小波峰值能量</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9" name="图片 18"/>
          <p:cNvPicPr>
            <a:picLocks noChangeAspect="1"/>
          </p:cNvPicPr>
          <p:nvPr/>
        </p:nvPicPr>
        <p:blipFill>
          <a:blip r:embed="rId2"/>
          <a:stretch>
            <a:fillRect/>
          </a:stretch>
        </p:blipFill>
        <p:spPr>
          <a:xfrm>
            <a:off x="6938701" y="2906679"/>
            <a:ext cx="4628894" cy="326965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、基于小波分析的水力压裂施工压力响应特征分析</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2"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施工压力响应特征规律分析</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：根据优选的小波基和最优分解层次对压裂施工曲线上的停泵阶段进行多层次小波分解，依据波动特征进行分析解释从而得到施工压力响应特征规律</a:t>
            </a:r>
            <a:endPar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5663952" y="3068960"/>
            <a:ext cx="5836095" cy="2725935"/>
          </a:xfrm>
          <a:prstGeom prst="rect">
            <a:avLst/>
          </a:prstGeom>
        </p:spPr>
      </p:pic>
      <p:sp>
        <p:nvSpPr>
          <p:cNvPr id="10" name="文本框 6"/>
          <p:cNvSpPr txBox="1"/>
          <p:nvPr/>
        </p:nvSpPr>
        <p:spPr>
          <a:xfrm>
            <a:off x="7788407" y="5946193"/>
            <a:ext cx="2018117"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现场案例小波分析解释成果</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2" name="图片 11"/>
          <p:cNvPicPr>
            <a:picLocks noChangeAspect="1"/>
          </p:cNvPicPr>
          <p:nvPr/>
        </p:nvPicPr>
        <p:blipFill>
          <a:blip r:embed="rId2"/>
          <a:stretch>
            <a:fillRect/>
          </a:stretch>
        </p:blipFill>
        <p:spPr>
          <a:xfrm>
            <a:off x="911424" y="2814536"/>
            <a:ext cx="3959914" cy="2952194"/>
          </a:xfrm>
          <a:prstGeom prst="rect">
            <a:avLst/>
          </a:prstGeom>
        </p:spPr>
      </p:pic>
      <p:sp>
        <p:nvSpPr>
          <p:cNvPr id="16" name="文本框 6"/>
          <p:cNvSpPr txBox="1"/>
          <p:nvPr/>
        </p:nvSpPr>
        <p:spPr>
          <a:xfrm>
            <a:off x="1798774" y="5946193"/>
            <a:ext cx="2185214"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基于压力施工曲线的小波分析</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7" name="Rectangle 11"/>
          <p:cNvSpPr>
            <a:spLocks noChangeArrowheads="1"/>
          </p:cNvSpPr>
          <p:nvPr/>
        </p:nvSpPr>
        <p:spPr bwMode="auto">
          <a:xfrm>
            <a:off x="326268" y="1287670"/>
            <a:ext cx="11865731" cy="825995"/>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建立停泵期</a:t>
            </a:r>
            <a:r>
              <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函数压降分析模型</a:t>
            </a:r>
            <a:endPar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反演计算停泵时刻裂缝几何参数</a:t>
            </a:r>
            <a:endParaRPr lang="en-US" altLang="zh-CN" sz="1600" b="1"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2</a:t>
            </a:r>
            <a:r>
              <a:rPr lang="zh-CN" altLang="en-US" sz="2000" kern="0" dirty="0">
                <a:solidFill>
                  <a:srgbClr val="FF0000"/>
                </a:solidFill>
                <a:latin typeface="方正大黑简体" panose="02010601030101010101" pitchFamily="65" charset="-122"/>
                <a:ea typeface="方正大黑简体" panose="02010601030101010101" pitchFamily="65" charset="-122"/>
              </a:rPr>
              <a:t>、基于压降曲线分析的停泵期裂缝尺寸反演</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40" name="文本框 6"/>
          <p:cNvSpPr txBox="1"/>
          <p:nvPr/>
        </p:nvSpPr>
        <p:spPr>
          <a:xfrm>
            <a:off x="1952662" y="5892002"/>
            <a:ext cx="1877437" cy="276999"/>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压裂施工曲线变化示意图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41" name="图片 40"/>
          <p:cNvPicPr>
            <a:picLocks noChangeAspect="1"/>
          </p:cNvPicPr>
          <p:nvPr/>
        </p:nvPicPr>
        <p:blipFill rotWithShape="1">
          <a:blip r:embed="rId1"/>
          <a:srcRect b="6481"/>
          <a:stretch>
            <a:fillRect/>
          </a:stretch>
        </p:blipFill>
        <p:spPr>
          <a:xfrm>
            <a:off x="551120" y="2437858"/>
            <a:ext cx="5040823" cy="3295398"/>
          </a:xfrm>
          <a:prstGeom prst="rect">
            <a:avLst/>
          </a:prstGeom>
        </p:spPr>
      </p:pic>
      <p:sp>
        <p:nvSpPr>
          <p:cNvPr id="50" name="矩形 49"/>
          <p:cNvSpPr/>
          <p:nvPr/>
        </p:nvSpPr>
        <p:spPr>
          <a:xfrm>
            <a:off x="8102353" y="5892003"/>
            <a:ext cx="1415772" cy="276999"/>
          </a:xfrm>
          <a:prstGeom prst="rect">
            <a:avLst/>
          </a:prstGeom>
        </p:spPr>
        <p:txBody>
          <a:bodyPr wrap="none">
            <a:spAutoFit/>
          </a:bodyPr>
          <a:lstStyle/>
          <a:p>
            <a:pPr algn="ctr" eaLnBrk="0" fontAlgn="base" hangingPunct="0">
              <a:spcBef>
                <a:spcPct val="0"/>
              </a:spcBef>
              <a:spcAft>
                <a:spcPct val="0"/>
              </a:spcAft>
              <a:buClr>
                <a:srgbClr val="FF0000"/>
              </a:buClr>
              <a:buSzPct val="60000"/>
              <a:defRPr/>
            </a:pPr>
            <a:r>
              <a:rPr lang="zh-CN" altLang="en-US" sz="1200" dirty="0">
                <a:solidFill>
                  <a:srgbClr val="000000"/>
                </a:solidFill>
                <a:latin typeface="微软雅黑" panose="020B0503020204020204" pitchFamily="34" charset="-122"/>
                <a:ea typeface="微软雅黑" panose="020B0503020204020204" pitchFamily="34" charset="-122"/>
              </a:rPr>
              <a:t>裂缝尺寸反演过程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124" name="组合 123"/>
          <p:cNvGrpSpPr/>
          <p:nvPr/>
        </p:nvGrpSpPr>
        <p:grpSpPr>
          <a:xfrm>
            <a:off x="6438263" y="2271308"/>
            <a:ext cx="5040823" cy="3533956"/>
            <a:chOff x="9145743" y="876452"/>
            <a:chExt cx="4500249" cy="3419703"/>
          </a:xfrm>
        </p:grpSpPr>
        <p:pic>
          <p:nvPicPr>
            <p:cNvPr id="7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87858" y="960785"/>
              <a:ext cx="2490780" cy="1456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图片 77"/>
            <p:cNvPicPr/>
            <p:nvPr/>
          </p:nvPicPr>
          <p:blipFill>
            <a:blip r:embed="rId3"/>
            <a:stretch>
              <a:fillRect/>
            </a:stretch>
          </p:blipFill>
          <p:spPr>
            <a:xfrm>
              <a:off x="11949482" y="2798642"/>
              <a:ext cx="1663512" cy="1420456"/>
            </a:xfrm>
            <a:prstGeom prst="rect">
              <a:avLst/>
            </a:prstGeom>
          </p:spPr>
        </p:pic>
        <p:pic>
          <p:nvPicPr>
            <p:cNvPr id="79" name="Picture 2"/>
            <p:cNvPicPr/>
            <p:nvPr/>
          </p:nvPicPr>
          <p:blipFill rotWithShape="1">
            <a:blip r:embed="rId4"/>
            <a:srcRect t="9716" r="9788" b="2361"/>
            <a:stretch>
              <a:fillRect/>
            </a:stretch>
          </p:blipFill>
          <p:spPr bwMode="auto">
            <a:xfrm>
              <a:off x="9216101" y="2814110"/>
              <a:ext cx="1899671" cy="1482045"/>
            </a:xfrm>
            <a:prstGeom prst="rect">
              <a:avLst/>
            </a:prstGeom>
            <a:ln>
              <a:noFill/>
            </a:ln>
          </p:spPr>
        </p:pic>
        <p:pic>
          <p:nvPicPr>
            <p:cNvPr id="80" name="图片 79"/>
            <p:cNvPicPr>
              <a:picLocks noChangeAspect="1"/>
            </p:cNvPicPr>
            <p:nvPr/>
          </p:nvPicPr>
          <p:blipFill rotWithShape="1">
            <a:blip r:embed="rId5"/>
            <a:srcRect t="24113"/>
            <a:stretch>
              <a:fillRect/>
            </a:stretch>
          </p:blipFill>
          <p:spPr>
            <a:xfrm rot="5400000">
              <a:off x="10787341" y="3187087"/>
              <a:ext cx="1420457" cy="643569"/>
            </a:xfrm>
            <a:prstGeom prst="rect">
              <a:avLst/>
            </a:prstGeom>
          </p:spPr>
        </p:pic>
        <p:pic>
          <p:nvPicPr>
            <p:cNvPr id="81" name="图片 80"/>
            <p:cNvPicPr/>
            <p:nvPr/>
          </p:nvPicPr>
          <p:blipFill>
            <a:blip r:embed="rId6"/>
            <a:stretch>
              <a:fillRect/>
            </a:stretch>
          </p:blipFill>
          <p:spPr>
            <a:xfrm>
              <a:off x="11861751" y="960785"/>
              <a:ext cx="1716558" cy="1473221"/>
            </a:xfrm>
            <a:prstGeom prst="rect">
              <a:avLst/>
            </a:prstGeom>
          </p:spPr>
        </p:pic>
        <p:sp>
          <p:nvSpPr>
            <p:cNvPr id="82" name="箭头: 右 81"/>
            <p:cNvSpPr/>
            <p:nvPr/>
          </p:nvSpPr>
          <p:spPr>
            <a:xfrm>
              <a:off x="11678638" y="1473848"/>
              <a:ext cx="140998" cy="24760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9145743" y="876452"/>
              <a:ext cx="4467251" cy="1635589"/>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p:cNvSpPr/>
            <p:nvPr/>
          </p:nvSpPr>
          <p:spPr>
            <a:xfrm>
              <a:off x="9145743" y="2797176"/>
              <a:ext cx="4500249" cy="1498979"/>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箭头: 右 84"/>
            <p:cNvSpPr/>
            <p:nvPr/>
          </p:nvSpPr>
          <p:spPr>
            <a:xfrm rot="5400000">
              <a:off x="11295749" y="2373881"/>
              <a:ext cx="214513" cy="55126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箭头: 右 85"/>
            <p:cNvSpPr/>
            <p:nvPr/>
          </p:nvSpPr>
          <p:spPr>
            <a:xfrm>
              <a:off x="11889712" y="3411261"/>
              <a:ext cx="140998" cy="24760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384126" y="2270460"/>
            <a:ext cx="3684860" cy="2093299"/>
            <a:chOff x="383085" y="2919877"/>
            <a:chExt cx="3684860" cy="2093299"/>
          </a:xfrm>
        </p:grpSpPr>
        <p:pic>
          <p:nvPicPr>
            <p:cNvPr id="2" name="图片 1"/>
            <p:cNvPicPr>
              <a:picLocks noChangeAspect="1"/>
            </p:cNvPicPr>
            <p:nvPr/>
          </p:nvPicPr>
          <p:blipFill>
            <a:blip r:embed="rId1"/>
            <a:stretch>
              <a:fillRect/>
            </a:stretch>
          </p:blipFill>
          <p:spPr>
            <a:xfrm>
              <a:off x="395536" y="3016250"/>
              <a:ext cx="1010412" cy="1132829"/>
            </a:xfrm>
            <a:prstGeom prst="rect">
              <a:avLst/>
            </a:prstGeom>
          </p:spPr>
        </p:pic>
        <p:pic>
          <p:nvPicPr>
            <p:cNvPr id="3" name="图片 2"/>
            <p:cNvPicPr>
              <a:picLocks noChangeAspect="1"/>
            </p:cNvPicPr>
            <p:nvPr/>
          </p:nvPicPr>
          <p:blipFill>
            <a:blip r:embed="rId2"/>
            <a:stretch>
              <a:fillRect/>
            </a:stretch>
          </p:blipFill>
          <p:spPr>
            <a:xfrm>
              <a:off x="1814953" y="2943976"/>
              <a:ext cx="2235708" cy="1277112"/>
            </a:xfrm>
            <a:prstGeom prst="rect">
              <a:avLst/>
            </a:prstGeom>
          </p:spPr>
        </p:pic>
        <p:cxnSp>
          <p:nvCxnSpPr>
            <p:cNvPr id="4" name="直接箭头连接符 3"/>
            <p:cNvCxnSpPr/>
            <p:nvPr/>
          </p:nvCxnSpPr>
          <p:spPr>
            <a:xfrm>
              <a:off x="1405948" y="3143718"/>
              <a:ext cx="62848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a:stCxn id="2" idx="3"/>
              <a:endCxn id="3" idx="1"/>
            </p:cNvCxnSpPr>
            <p:nvPr/>
          </p:nvCxnSpPr>
          <p:spPr>
            <a:xfrm flipV="1">
              <a:off x="1405948" y="3582532"/>
              <a:ext cx="409005" cy="1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405948" y="3973169"/>
              <a:ext cx="62848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3"/>
            <a:stretch>
              <a:fillRect/>
            </a:stretch>
          </p:blipFill>
          <p:spPr>
            <a:xfrm>
              <a:off x="395536" y="4355421"/>
              <a:ext cx="1655064" cy="621792"/>
            </a:xfrm>
            <a:prstGeom prst="rect">
              <a:avLst/>
            </a:prstGeom>
          </p:spPr>
        </p:pic>
        <p:sp>
          <p:nvSpPr>
            <p:cNvPr id="11" name="矩形: 圆角 10"/>
            <p:cNvSpPr/>
            <p:nvPr/>
          </p:nvSpPr>
          <p:spPr>
            <a:xfrm>
              <a:off x="383085" y="2919877"/>
              <a:ext cx="3684860" cy="2093299"/>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339525" y="4664844"/>
              <a:ext cx="1655064"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体积守恒及滤失方程</a:t>
              </a:r>
              <a:endParaRPr lang="zh-CN" altLang="en-US" sz="1200" dirty="0"/>
            </a:p>
          </p:txBody>
        </p:sp>
      </p:grpSp>
      <p:grpSp>
        <p:nvGrpSpPr>
          <p:cNvPr id="15" name="组合 14"/>
          <p:cNvGrpSpPr/>
          <p:nvPr/>
        </p:nvGrpSpPr>
        <p:grpSpPr>
          <a:xfrm>
            <a:off x="361137" y="4514899"/>
            <a:ext cx="3684860" cy="1668152"/>
            <a:chOff x="383084" y="5117539"/>
            <a:chExt cx="3684860" cy="1668152"/>
          </a:xfrm>
        </p:grpSpPr>
        <p:pic>
          <p:nvPicPr>
            <p:cNvPr id="8" name="图片 7"/>
            <p:cNvPicPr>
              <a:picLocks noChangeAspect="1"/>
            </p:cNvPicPr>
            <p:nvPr/>
          </p:nvPicPr>
          <p:blipFill>
            <a:blip r:embed="rId4"/>
            <a:stretch>
              <a:fillRect/>
            </a:stretch>
          </p:blipFill>
          <p:spPr>
            <a:xfrm>
              <a:off x="395536" y="5157192"/>
              <a:ext cx="3655125" cy="417153"/>
            </a:xfrm>
            <a:prstGeom prst="rect">
              <a:avLst/>
            </a:prstGeom>
          </p:spPr>
        </p:pic>
        <p:pic>
          <p:nvPicPr>
            <p:cNvPr id="9" name="图片 8"/>
            <p:cNvPicPr>
              <a:picLocks noChangeAspect="1"/>
            </p:cNvPicPr>
            <p:nvPr/>
          </p:nvPicPr>
          <p:blipFill>
            <a:blip r:embed="rId5"/>
            <a:stretch>
              <a:fillRect/>
            </a:stretch>
          </p:blipFill>
          <p:spPr>
            <a:xfrm>
              <a:off x="561202" y="5589240"/>
              <a:ext cx="3428286" cy="1196436"/>
            </a:xfrm>
            <a:prstGeom prst="rect">
              <a:avLst/>
            </a:prstGeom>
          </p:spPr>
        </p:pic>
        <p:sp>
          <p:nvSpPr>
            <p:cNvPr id="10" name="矩形: 圆角 9"/>
            <p:cNvSpPr/>
            <p:nvPr/>
          </p:nvSpPr>
          <p:spPr>
            <a:xfrm>
              <a:off x="383084" y="5117539"/>
              <a:ext cx="3684860" cy="1668138"/>
            </a:xfrm>
            <a:prstGeom prst="roundRect">
              <a:avLst>
                <a:gd name="adj" fmla="val 0"/>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97144" y="6508692"/>
              <a:ext cx="87822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缝长方程</a:t>
              </a:r>
              <a:endParaRPr lang="zh-CN" altLang="en-US" sz="1200" dirty="0"/>
            </a:p>
          </p:txBody>
        </p:sp>
      </p:grpSp>
      <p:sp>
        <p:nvSpPr>
          <p:cNvPr id="16"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7"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建立停泵期</a:t>
            </a:r>
            <a:r>
              <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函数压降分析模型</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：基于水力压裂停泵阶段的压力</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裂缝尺寸响应规律，结合</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函数模型和缝内连续性方程，表征裂缝系统滤失速度和裂缝体积衰减速度响应关系，建立停泵期</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函数压降分析模型</a:t>
            </a:r>
            <a:endPar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2</a:t>
            </a:r>
            <a:r>
              <a:rPr lang="zh-CN" altLang="en-US" sz="2000" kern="0" dirty="0">
                <a:solidFill>
                  <a:srgbClr val="FF0000"/>
                </a:solidFill>
                <a:latin typeface="方正大黑简体" panose="02010601030101010101" pitchFamily="65" charset="-122"/>
                <a:ea typeface="方正大黑简体" panose="02010601030101010101" pitchFamily="65" charset="-122"/>
              </a:rPr>
              <a:t>、基于压降曲线分析的停泵期裂缝尺寸反演</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35" name="箭头: 右 34"/>
          <p:cNvSpPr/>
          <p:nvPr/>
        </p:nvSpPr>
        <p:spPr>
          <a:xfrm>
            <a:off x="4220528" y="4015427"/>
            <a:ext cx="465832" cy="425618"/>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sp>
      <p:grpSp>
        <p:nvGrpSpPr>
          <p:cNvPr id="20" name="组合 19"/>
          <p:cNvGrpSpPr/>
          <p:nvPr/>
        </p:nvGrpSpPr>
        <p:grpSpPr>
          <a:xfrm>
            <a:off x="4843989" y="2366833"/>
            <a:ext cx="7145208" cy="3856359"/>
            <a:chOff x="4843989" y="2366833"/>
            <a:chExt cx="7145208" cy="3856359"/>
          </a:xfrm>
        </p:grpSpPr>
        <p:grpSp>
          <p:nvGrpSpPr>
            <p:cNvPr id="19" name="组合 18"/>
            <p:cNvGrpSpPr/>
            <p:nvPr/>
          </p:nvGrpSpPr>
          <p:grpSpPr>
            <a:xfrm>
              <a:off x="4843989" y="2366833"/>
              <a:ext cx="7145208" cy="3488177"/>
              <a:chOff x="4843989" y="2366833"/>
              <a:chExt cx="7145208" cy="3488177"/>
            </a:xfrm>
          </p:grpSpPr>
          <p:sp>
            <p:nvSpPr>
              <p:cNvPr id="32" name="箭头: 右 31"/>
              <p:cNvSpPr/>
              <p:nvPr/>
            </p:nvSpPr>
            <p:spPr>
              <a:xfrm>
                <a:off x="7247004" y="3938141"/>
                <a:ext cx="465832" cy="425618"/>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sp>
          <p:pic>
            <p:nvPicPr>
              <p:cNvPr id="33" name="图片 32"/>
              <p:cNvPicPr>
                <a:picLocks noChangeAspect="1"/>
              </p:cNvPicPr>
              <p:nvPr/>
            </p:nvPicPr>
            <p:blipFill>
              <a:blip r:embed="rId6"/>
              <a:stretch>
                <a:fillRect/>
              </a:stretch>
            </p:blipFill>
            <p:spPr>
              <a:xfrm>
                <a:off x="7733820" y="2366833"/>
                <a:ext cx="4255377" cy="3488177"/>
              </a:xfrm>
              <a:prstGeom prst="rect">
                <a:avLst/>
              </a:prstGeom>
            </p:spPr>
          </p:pic>
          <p:pic>
            <p:nvPicPr>
              <p:cNvPr id="34" name="图片 33"/>
              <p:cNvPicPr>
                <a:picLocks noChangeAspect="1"/>
              </p:cNvPicPr>
              <p:nvPr/>
            </p:nvPicPr>
            <p:blipFill>
              <a:blip r:embed="rId7"/>
              <a:stretch>
                <a:fillRect/>
              </a:stretch>
            </p:blipFill>
            <p:spPr>
              <a:xfrm>
                <a:off x="4843989" y="2366833"/>
                <a:ext cx="2274005" cy="3488177"/>
              </a:xfrm>
              <a:prstGeom prst="rect">
                <a:avLst/>
              </a:prstGeom>
            </p:spPr>
          </p:pic>
        </p:grpSp>
        <p:sp>
          <p:nvSpPr>
            <p:cNvPr id="36" name="矩形 35"/>
            <p:cNvSpPr/>
            <p:nvPr/>
          </p:nvSpPr>
          <p:spPr>
            <a:xfrm>
              <a:off x="5426993" y="5946193"/>
              <a:ext cx="1107996" cy="276999"/>
            </a:xfrm>
            <a:prstGeom prst="rect">
              <a:avLst/>
            </a:prstGeom>
          </p:spPr>
          <p:txBody>
            <a:bodyPr wrap="none">
              <a:spAutoFit/>
            </a:bodyPr>
            <a:lstStyle/>
            <a:p>
              <a:pPr lvl="0"/>
              <a:r>
                <a:rPr lang="zh-CN" altLang="en-US" sz="1200" dirty="0">
                  <a:solidFill>
                    <a:srgbClr val="000000"/>
                  </a:solidFill>
                  <a:latin typeface="微软雅黑" panose="020B0503020204020204" pitchFamily="34" charset="-122"/>
                  <a:ea typeface="微软雅黑" panose="020B0503020204020204" pitchFamily="34" charset="-122"/>
                </a:rPr>
                <a:t>压降曲线解释</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37" name="矩形 36"/>
            <p:cNvSpPr/>
            <p:nvPr/>
          </p:nvSpPr>
          <p:spPr>
            <a:xfrm>
              <a:off x="9423316" y="5918944"/>
              <a:ext cx="1225015" cy="276999"/>
            </a:xfrm>
            <a:prstGeom prst="rect">
              <a:avLst/>
            </a:prstGeom>
          </p:spPr>
          <p:txBody>
            <a:bodyPr wrap="none">
              <a:spAutoFit/>
            </a:bodyPr>
            <a:lstStyle/>
            <a:p>
              <a:r>
                <a:rPr lang="en-US" altLang="zh-CN" sz="1200" dirty="0">
                  <a:solidFill>
                    <a:srgbClr val="000000"/>
                  </a:solidFill>
                  <a:latin typeface="微软雅黑" panose="020B0503020204020204" pitchFamily="34" charset="-122"/>
                  <a:ea typeface="微软雅黑" panose="020B0503020204020204" pitchFamily="34" charset="-122"/>
                </a:rPr>
                <a:t>G</a:t>
              </a:r>
              <a:r>
                <a:rPr lang="zh-CN" altLang="en-US" sz="1200" dirty="0">
                  <a:solidFill>
                    <a:srgbClr val="000000"/>
                  </a:solidFill>
                  <a:latin typeface="微软雅黑" panose="020B0503020204020204" pitchFamily="34" charset="-122"/>
                  <a:ea typeface="微软雅黑" panose="020B0503020204020204" pitchFamily="34" charset="-122"/>
                </a:rPr>
                <a:t>函数曲线分析</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4"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2</a:t>
            </a:r>
            <a:r>
              <a:rPr lang="zh-CN" altLang="en-US" sz="2000" kern="0" dirty="0">
                <a:solidFill>
                  <a:srgbClr val="FF0000"/>
                </a:solidFill>
                <a:latin typeface="方正大黑简体" panose="02010601030101010101" pitchFamily="65" charset="-122"/>
                <a:ea typeface="方正大黑简体" panose="02010601030101010101" pitchFamily="65" charset="-122"/>
              </a:rPr>
              <a:t>、基于压降曲线分析的停泵期裂缝尺寸反演</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1048715"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反演计算停泵时刻裂缝几何参数</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函数滤失模型和裂缝扩展解析模型，考虑多裂缝之间应力阴影影响，结合叠加原理建立多缝尺寸反演模型，进而反演计算停泵时刻二维平面</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三维裂缝长度及缝宽分布</a:t>
            </a:r>
            <a:endPar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p:nvPr/>
        </p:nvGrpSpPr>
        <p:grpSpPr>
          <a:xfrm>
            <a:off x="695400" y="2492896"/>
            <a:ext cx="10882698" cy="4009993"/>
            <a:chOff x="-7368" y="2552431"/>
            <a:chExt cx="9051260" cy="4254212"/>
          </a:xfrm>
        </p:grpSpPr>
        <p:sp>
          <p:nvSpPr>
            <p:cNvPr id="3" name="矩形 21"/>
            <p:cNvSpPr>
              <a:spLocks noChangeArrowheads="1"/>
            </p:cNvSpPr>
            <p:nvPr/>
          </p:nvSpPr>
          <p:spPr bwMode="auto">
            <a:xfrm>
              <a:off x="1110070" y="6404418"/>
              <a:ext cx="921532" cy="29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压降曲线分析</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
          <p:nvSpPr>
            <p:cNvPr id="4" name="矩形 28"/>
            <p:cNvSpPr>
              <a:spLocks noChangeArrowheads="1"/>
            </p:cNvSpPr>
            <p:nvPr/>
          </p:nvSpPr>
          <p:spPr bwMode="auto">
            <a:xfrm>
              <a:off x="4032940" y="6483581"/>
              <a:ext cx="921532" cy="29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裂缝参数反演</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pic>
          <p:nvPicPr>
            <p:cNvPr id="5" name="图片 4"/>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513" y="2611391"/>
              <a:ext cx="3112527" cy="1122645"/>
            </a:xfrm>
            <a:prstGeom prst="rect">
              <a:avLst/>
            </a:prstGeom>
            <a:noFill/>
            <a:ln>
              <a:noFill/>
            </a:ln>
          </p:spPr>
        </p:pic>
        <p:pic>
          <p:nvPicPr>
            <p:cNvPr id="6" name="图片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8" y="3780929"/>
              <a:ext cx="3156408" cy="1122645"/>
            </a:xfrm>
            <a:prstGeom prst="rect">
              <a:avLst/>
            </a:prstGeom>
            <a:noFill/>
            <a:ln>
              <a:noFill/>
            </a:ln>
          </p:spPr>
        </p:pic>
        <p:pic>
          <p:nvPicPr>
            <p:cNvPr id="7" name="图片 6"/>
            <p:cNvPicPr/>
            <p:nvPr/>
          </p:nvPicPr>
          <p:blipFill rotWithShape="1">
            <a:blip r:embed="rId3" cstate="print">
              <a:extLst>
                <a:ext uri="{28A0092B-C50C-407E-A947-70E740481C1C}">
                  <a14:useLocalDpi xmlns:a14="http://schemas.microsoft.com/office/drawing/2010/main" val="0"/>
                </a:ext>
              </a:extLst>
            </a:blip>
            <a:srcRect l="4089" t="10460" r="9710" b="2795"/>
            <a:stretch>
              <a:fillRect/>
            </a:stretch>
          </p:blipFill>
          <p:spPr bwMode="auto">
            <a:xfrm>
              <a:off x="3492807" y="2673331"/>
              <a:ext cx="2273300" cy="1746083"/>
            </a:xfrm>
            <a:prstGeom prst="rect">
              <a:avLst/>
            </a:prstGeom>
            <a:noFill/>
            <a:ln>
              <a:noFill/>
            </a:ln>
          </p:spPr>
        </p:pic>
        <p:pic>
          <p:nvPicPr>
            <p:cNvPr id="8" name="图片 7"/>
            <p:cNvPicPr/>
            <p:nvPr/>
          </p:nvPicPr>
          <p:blipFill rotWithShape="1">
            <a:blip r:embed="rId4" cstate="print">
              <a:extLst>
                <a:ext uri="{28A0092B-C50C-407E-A947-70E740481C1C}">
                  <a14:useLocalDpi xmlns:a14="http://schemas.microsoft.com/office/drawing/2010/main" val="0"/>
                </a:ext>
              </a:extLst>
            </a:blip>
            <a:srcRect t="24177" r="3857" b="4804"/>
            <a:stretch>
              <a:fillRect/>
            </a:stretch>
          </p:blipFill>
          <p:spPr bwMode="auto">
            <a:xfrm rot="5400000">
              <a:off x="5277069" y="3081462"/>
              <a:ext cx="1638785" cy="695076"/>
            </a:xfrm>
            <a:prstGeom prst="rect">
              <a:avLst/>
            </a:prstGeom>
            <a:noFill/>
            <a:ln>
              <a:noFill/>
            </a:ln>
          </p:spPr>
        </p:pic>
        <p:pic>
          <p:nvPicPr>
            <p:cNvPr id="9" name="图片 8"/>
            <p:cNvPicPr>
              <a:picLocks noChangeAspect="1"/>
            </p:cNvPicPr>
            <p:nvPr/>
          </p:nvPicPr>
          <p:blipFill rotWithShape="1">
            <a:blip r:embed="rId5" cstate="print">
              <a:extLst>
                <a:ext uri="{28A0092B-C50C-407E-A947-70E740481C1C}">
                  <a14:useLocalDpi xmlns:a14="http://schemas.microsoft.com/office/drawing/2010/main" val="0"/>
                </a:ext>
              </a:extLst>
            </a:blip>
            <a:srcRect l="14731" t="6437" r="4597"/>
            <a:stretch>
              <a:fillRect/>
            </a:stretch>
          </p:blipFill>
          <p:spPr>
            <a:xfrm>
              <a:off x="7074098" y="2552431"/>
              <a:ext cx="1961901" cy="1759683"/>
            </a:xfrm>
            <a:prstGeom prst="rect">
              <a:avLst/>
            </a:prstGeom>
          </p:spPr>
        </p:pic>
        <p:pic>
          <p:nvPicPr>
            <p:cNvPr id="1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t="9715" r="9789" b="2361"/>
            <a:stretch>
              <a:fillRect/>
            </a:stretch>
          </p:blipFill>
          <p:spPr bwMode="auto">
            <a:xfrm>
              <a:off x="3435890" y="4669180"/>
              <a:ext cx="2273300" cy="1746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49109" y="4662382"/>
              <a:ext cx="1994783" cy="175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rotWithShape="1">
            <a:blip r:embed="rId8"/>
            <a:srcRect b="20572"/>
            <a:stretch>
              <a:fillRect/>
            </a:stretch>
          </p:blipFill>
          <p:spPr>
            <a:xfrm>
              <a:off x="321817" y="5349345"/>
              <a:ext cx="2820924" cy="996227"/>
            </a:xfrm>
            <a:prstGeom prst="rect">
              <a:avLst/>
            </a:prstGeom>
          </p:spPr>
        </p:pic>
        <p:sp>
          <p:nvSpPr>
            <p:cNvPr id="13" name="十字形 12"/>
            <p:cNvSpPr/>
            <p:nvPr/>
          </p:nvSpPr>
          <p:spPr>
            <a:xfrm>
              <a:off x="1526867" y="4940300"/>
              <a:ext cx="360000" cy="360363"/>
            </a:xfrm>
            <a:prstGeom prst="plus">
              <a:avLst>
                <a:gd name="adj" fmla="val 3375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箭头: 右 13"/>
            <p:cNvSpPr/>
            <p:nvPr/>
          </p:nvSpPr>
          <p:spPr>
            <a:xfrm>
              <a:off x="3171341" y="4218220"/>
              <a:ext cx="362700" cy="424095"/>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15" name="箭头: 右 14"/>
            <p:cNvSpPr/>
            <p:nvPr/>
          </p:nvSpPr>
          <p:spPr>
            <a:xfrm>
              <a:off x="6657300" y="4218220"/>
              <a:ext cx="362700" cy="424095"/>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16" name="矩形 28"/>
            <p:cNvSpPr>
              <a:spLocks noChangeArrowheads="1"/>
            </p:cNvSpPr>
            <p:nvPr/>
          </p:nvSpPr>
          <p:spPr bwMode="auto">
            <a:xfrm>
              <a:off x="7585734" y="6512774"/>
              <a:ext cx="921532" cy="29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三维裂缝模拟</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pic>
          <p:nvPicPr>
            <p:cNvPr id="17" name="图片 16"/>
            <p:cNvPicPr>
              <a:picLocks noChangeAspect="1"/>
            </p:cNvPicPr>
            <p:nvPr/>
          </p:nvPicPr>
          <p:blipFill>
            <a:blip r:embed="rId9"/>
            <a:stretch>
              <a:fillRect/>
            </a:stretch>
          </p:blipFill>
          <p:spPr>
            <a:xfrm rot="5400000">
              <a:off x="5294253" y="5127887"/>
              <a:ext cx="1638786" cy="695078"/>
            </a:xfrm>
            <a:prstGeom prst="rect">
              <a:avLst/>
            </a:prstGeom>
          </p:spPr>
        </p:pic>
      </p:grpSp>
      <p:sp>
        <p:nvSpPr>
          <p:cNvPr id="19" name="矩形 18"/>
          <p:cNvSpPr/>
          <p:nvPr/>
        </p:nvSpPr>
        <p:spPr>
          <a:xfrm>
            <a:off x="695400" y="2420889"/>
            <a:ext cx="10882698" cy="371949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675"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3</a:t>
            </a:r>
            <a:r>
              <a:rPr lang="zh-CN" altLang="en-US" sz="2000" kern="0" dirty="0">
                <a:solidFill>
                  <a:srgbClr val="FF0000"/>
                </a:solidFill>
                <a:latin typeface="方正大黑简体" panose="02010601030101010101" pitchFamily="65" charset="-122"/>
                <a:ea typeface="方正大黑简体" panose="02010601030101010101" pitchFamily="65" charset="-122"/>
              </a:rPr>
              <a:t>、基于地质工程一体化的多源异构大数据库智能构建</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1048676" name="Rectangle 11"/>
          <p:cNvSpPr>
            <a:spLocks noChangeArrowheads="1"/>
          </p:cNvSpPr>
          <p:nvPr/>
        </p:nvSpPr>
        <p:spPr bwMode="auto">
          <a:xfrm>
            <a:off x="326268" y="1287670"/>
            <a:ext cx="11865731" cy="825995"/>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地质</a:t>
            </a:r>
            <a:r>
              <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工程参数多源异构大数据库构建</a:t>
            </a:r>
            <a:endPar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影响压裂改造效果的主控因素分析</a:t>
            </a:r>
            <a:endPar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8679" name="矩形 43"/>
          <p:cNvSpPr/>
          <p:nvPr/>
        </p:nvSpPr>
        <p:spPr>
          <a:xfrm>
            <a:off x="7049682" y="5996941"/>
            <a:ext cx="418069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rPr>
              <a:t>灰度关联法主控因素分析</a:t>
            </a:r>
            <a:endParaRPr lang="zh-CN" altLang="en-US" sz="1100" dirty="0">
              <a:solidFill>
                <a:srgbClr val="000000"/>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0056" y="2420888"/>
            <a:ext cx="5079946" cy="3576053"/>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65" y="2389750"/>
            <a:ext cx="5819335" cy="3487522"/>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6268" y="3328149"/>
            <a:ext cx="3537484" cy="2518265"/>
          </a:xfrm>
          <a:prstGeom prst="rect">
            <a:avLst/>
          </a:prstGeom>
        </p:spPr>
      </p:pic>
      <p:sp>
        <p:nvSpPr>
          <p:cNvPr id="14" name="矩形 43"/>
          <p:cNvSpPr/>
          <p:nvPr/>
        </p:nvSpPr>
        <p:spPr>
          <a:xfrm>
            <a:off x="961626" y="5953888"/>
            <a:ext cx="418069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rPr>
              <a:t>构建地质</a:t>
            </a:r>
            <a:r>
              <a:rPr lang="en-US" altLang="zh-CN" sz="1100" dirty="0">
                <a:solidFill>
                  <a:srgbClr val="000000"/>
                </a:solidFill>
                <a:latin typeface="微软雅黑" panose="020B0503020204020204" pitchFamily="34" charset="-122"/>
                <a:ea typeface="微软雅黑" panose="020B0503020204020204" pitchFamily="34" charset="-122"/>
              </a:rPr>
              <a:t>-</a:t>
            </a:r>
            <a:r>
              <a:rPr lang="zh-CN" altLang="en-US" sz="1100" dirty="0">
                <a:solidFill>
                  <a:srgbClr val="000000"/>
                </a:solidFill>
                <a:latin typeface="微软雅黑" panose="020B0503020204020204" pitchFamily="34" charset="-122"/>
                <a:ea typeface="微软雅黑" panose="020B0503020204020204" pitchFamily="34" charset="-122"/>
              </a:rPr>
              <a:t>工程参数多源异构大数据库</a:t>
            </a:r>
            <a:endParaRPr lang="zh-CN" altLang="en-US" sz="11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675"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3</a:t>
            </a:r>
            <a:r>
              <a:rPr lang="zh-CN" altLang="en-US" sz="2000" kern="0" dirty="0">
                <a:solidFill>
                  <a:srgbClr val="FF0000"/>
                </a:solidFill>
                <a:latin typeface="方正大黑简体" panose="02010601030101010101" pitchFamily="65" charset="-122"/>
                <a:ea typeface="方正大黑简体" panose="02010601030101010101" pitchFamily="65" charset="-122"/>
              </a:rPr>
              <a:t>、基于地质工程一体化的多源异构大数据库智能构建</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
        <p:nvSpPr>
          <p:cNvPr id="1048676" name="Rectangle 11"/>
          <p:cNvSpPr>
            <a:spLocks noChangeArrowheads="1"/>
          </p:cNvSpPr>
          <p:nvPr/>
        </p:nvSpPr>
        <p:spPr bwMode="auto">
          <a:xfrm>
            <a:off x="407988" y="1287670"/>
            <a:ext cx="11591925" cy="1156855"/>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地质</a:t>
            </a:r>
            <a:r>
              <a:rPr lang="en-US" altLang="zh-CN"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工程参数多源异构大数据库构建</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：采集施工过程中</a:t>
            </a:r>
            <a:r>
              <a:rPr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多种来源、不同结构及类型的数据</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，数据的多种来源涵盖储层地质参数、</a:t>
            </a:r>
            <a:r>
              <a:rPr lang="zh-CN" altLang="en-US" sz="1600" kern="0" dirty="0">
                <a:latin typeface="微软雅黑" panose="020B0503020204020204" pitchFamily="34" charset="-122"/>
                <a:ea typeface="微软雅黑" panose="020B0503020204020204" pitchFamily="34" charset="-122"/>
                <a:cs typeface="Times New Roman" panose="02020603050405020304" pitchFamily="18" charset="0"/>
              </a:rPr>
              <a:t>压裂施工数据、测井数据、产能数据等，数据类型</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涉及文本数据、表格数据等，对数据进行整合和标准化处理，建立包含地质</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工程参数多源异构大数据库</a:t>
            </a:r>
            <a:endPar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8677" name="文本框 38"/>
          <p:cNvSpPr txBox="1"/>
          <p:nvPr/>
        </p:nvSpPr>
        <p:spPr>
          <a:xfrm>
            <a:off x="8635910" y="5899783"/>
            <a:ext cx="3487880" cy="26161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泸州区块天然裂缝预测成果图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8679" name="矩形 43"/>
          <p:cNvSpPr/>
          <p:nvPr/>
        </p:nvSpPr>
        <p:spPr>
          <a:xfrm>
            <a:off x="187115" y="5846348"/>
            <a:ext cx="418069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rPr>
              <a:t>压裂施工数据图</a:t>
            </a:r>
            <a:endParaRPr lang="zh-CN" altLang="en-US" sz="1100" dirty="0">
              <a:solidFill>
                <a:srgbClr val="000000"/>
              </a:solidFill>
              <a:latin typeface="微软雅黑" panose="020B0503020204020204" pitchFamily="34" charset="-122"/>
              <a:ea typeface="微软雅黑" panose="020B0503020204020204" pitchFamily="34" charset="-122"/>
            </a:endParaRPr>
          </a:p>
        </p:txBody>
      </p:sp>
      <p:pic>
        <p:nvPicPr>
          <p:cNvPr id="75" name="图片 74"/>
          <p:cNvPicPr>
            <a:picLocks noChangeAspect="1"/>
          </p:cNvPicPr>
          <p:nvPr/>
        </p:nvPicPr>
        <p:blipFill>
          <a:blip r:embed="rId1"/>
          <a:stretch>
            <a:fillRect/>
          </a:stretch>
        </p:blipFill>
        <p:spPr>
          <a:xfrm>
            <a:off x="407368" y="3012992"/>
            <a:ext cx="3760508" cy="2727179"/>
          </a:xfrm>
          <a:prstGeom prst="rect">
            <a:avLst/>
          </a:prstGeom>
        </p:spPr>
      </p:pic>
      <p:pic>
        <p:nvPicPr>
          <p:cNvPr id="77" name="图片 76"/>
          <p:cNvPicPr/>
          <p:nvPr/>
        </p:nvPicPr>
        <p:blipFill>
          <a:blip r:embed="rId2"/>
          <a:stretch>
            <a:fillRect/>
          </a:stretch>
        </p:blipFill>
        <p:spPr>
          <a:xfrm>
            <a:off x="8379883" y="3428999"/>
            <a:ext cx="3487880" cy="2432591"/>
          </a:xfrm>
          <a:prstGeom prst="rect">
            <a:avLst/>
          </a:prstGeom>
        </p:spPr>
      </p:pic>
      <p:pic>
        <p:nvPicPr>
          <p:cNvPr id="78" name="图片 77"/>
          <p:cNvPicPr/>
          <p:nvPr/>
        </p:nvPicPr>
        <p:blipFill>
          <a:blip r:embed="rId3"/>
          <a:stretch>
            <a:fillRect/>
          </a:stretch>
        </p:blipFill>
        <p:spPr>
          <a:xfrm>
            <a:off x="4367808" y="3429000"/>
            <a:ext cx="3572510" cy="2245360"/>
          </a:xfrm>
          <a:prstGeom prst="rect">
            <a:avLst/>
          </a:prstGeom>
        </p:spPr>
      </p:pic>
      <p:sp>
        <p:nvSpPr>
          <p:cNvPr id="79" name="矩形 43"/>
          <p:cNvSpPr/>
          <p:nvPr/>
        </p:nvSpPr>
        <p:spPr>
          <a:xfrm>
            <a:off x="3998510" y="5875016"/>
            <a:ext cx="418069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rPr>
              <a:t>泸州区块典型井综合测井解释图</a:t>
            </a:r>
            <a:endParaRPr lang="zh-CN" altLang="en-US" sz="11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684"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影响压裂改造效果的主控因素分析</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：结合各影响参数与施工过程和产量的相关性，以储层地质参数、压裂资料、生产数据等为数据集，采用灰度关联法确定各压裂参数与压裂改造效果关联特征，定量评价确定主控因素</a:t>
            </a:r>
            <a:endPar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3</a:t>
            </a:r>
            <a:r>
              <a:rPr lang="zh-CN" altLang="en-US" sz="2000" kern="0" dirty="0">
                <a:solidFill>
                  <a:srgbClr val="FF0000"/>
                </a:solidFill>
                <a:latin typeface="方正大黑简体" panose="02010601030101010101" pitchFamily="65" charset="-122"/>
                <a:ea typeface="方正大黑简体" panose="02010601030101010101" pitchFamily="65" charset="-122"/>
              </a:rPr>
              <a:t>、基于地质工程一体化的多源异构大数据库智能构建</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1162" y="2976518"/>
            <a:ext cx="5594838" cy="3108175"/>
          </a:xfrm>
          <a:prstGeom prst="rect">
            <a:avLst/>
          </a:prstGeom>
        </p:spPr>
      </p:pic>
      <p:pic>
        <p:nvPicPr>
          <p:cNvPr id="34" name="图片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6731" y="2348881"/>
            <a:ext cx="4833182" cy="3932194"/>
          </a:xfrm>
          <a:prstGeom prst="rect">
            <a:avLst/>
          </a:prstGeom>
        </p:spPr>
      </p:pic>
      <p:sp>
        <p:nvSpPr>
          <p:cNvPr id="35" name="矩形 28"/>
          <p:cNvSpPr>
            <a:spLocks noChangeArrowheads="1"/>
          </p:cNvSpPr>
          <p:nvPr/>
        </p:nvSpPr>
        <p:spPr bwMode="auto">
          <a:xfrm>
            <a:off x="3143672" y="6019078"/>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相关性分析</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
        <p:nvSpPr>
          <p:cNvPr id="36" name="矩形 28"/>
          <p:cNvSpPr>
            <a:spLocks noChangeArrowheads="1"/>
          </p:cNvSpPr>
          <p:nvPr/>
        </p:nvSpPr>
        <p:spPr bwMode="auto">
          <a:xfrm>
            <a:off x="8688388" y="6157577"/>
            <a:ext cx="203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灰度关联分析方法计算流程</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pic>
        <p:nvPicPr>
          <p:cNvPr id="37" name="图片 36"/>
          <p:cNvPicPr>
            <a:picLocks noChangeAspect="1"/>
          </p:cNvPicPr>
          <p:nvPr/>
        </p:nvPicPr>
        <p:blipFill>
          <a:blip r:embed="rId3"/>
          <a:stretch>
            <a:fillRect/>
          </a:stretch>
        </p:blipFill>
        <p:spPr>
          <a:xfrm>
            <a:off x="2207568" y="2348881"/>
            <a:ext cx="4283502" cy="596231"/>
          </a:xfrm>
          <a:prstGeom prst="rect">
            <a:avLst/>
          </a:prstGeom>
        </p:spPr>
      </p:pic>
      <p:sp>
        <p:nvSpPr>
          <p:cNvPr id="38" name="TextBox 7"/>
          <p:cNvSpPr txBox="1"/>
          <p:nvPr/>
        </p:nvSpPr>
        <p:spPr>
          <a:xfrm>
            <a:off x="379990" y="2370981"/>
            <a:ext cx="4167584" cy="375103"/>
          </a:xfrm>
          <a:prstGeom prst="rect">
            <a:avLst/>
          </a:prstGeom>
          <a:noFill/>
          <a:ln w="9525">
            <a:noFill/>
          </a:ln>
        </p:spPr>
        <p:txBody>
          <a:bodyPr wrap="square">
            <a:spAutoFit/>
          </a:bodyPr>
          <a:lstStyle/>
          <a:p>
            <a:pPr>
              <a:lnSpc>
                <a:spcPct val="150000"/>
              </a:lnSpc>
              <a:buClr>
                <a:srgbClr val="FF0000"/>
              </a:buClr>
              <a:buSzPct val="95000"/>
            </a:pPr>
            <a:r>
              <a:rPr lang="zh-CN" altLang="en-US" sz="14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方正大黑简体" panose="02010601030101010101" pitchFamily="65" charset="-122"/>
              </a:rPr>
              <a:t>灰色关联度计算公式</a:t>
            </a:r>
            <a:r>
              <a:rPr lang="zh-CN" altLang="en-US" sz="1400" kern="0" dirty="0">
                <a:solidFill>
                  <a:srgbClr val="FF0000"/>
                </a:solidFill>
                <a:latin typeface="Times New Roman" panose="02020603050405020304" pitchFamily="18" charset="0"/>
                <a:ea typeface="黑体" panose="02010609060101010101" charset="-122"/>
                <a:cs typeface="Times New Roman" panose="02020603050405020304" pitchFamily="18" charset="0"/>
                <a:sym typeface="方正大黑简体" panose="02010601030101010101" pitchFamily="65" charset="-122"/>
              </a:rPr>
              <a:t>：</a:t>
            </a:r>
            <a:endParaRPr lang="zh-CN" altLang="en-US" sz="1400" dirty="0">
              <a:solidFill>
                <a:srgbClr val="FF0000"/>
              </a:solidFill>
              <a:latin typeface="Times New Roman" panose="02020603050405020304" pitchFamily="18" charset="0"/>
              <a:ea typeface="黑体" panose="02010609060101010101" charset="-122"/>
              <a:cs typeface="Times New Roman" panose="02020603050405020304" pitchFamily="18" charset="0"/>
              <a:sym typeface="方正大黑简体" panose="02010601030101010101" pitchFamily="65"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5" name="Rectangle 11"/>
          <p:cNvSpPr>
            <a:spLocks noChangeArrowheads="1"/>
          </p:cNvSpPr>
          <p:nvPr/>
        </p:nvSpPr>
        <p:spPr bwMode="auto">
          <a:xfrm>
            <a:off x="326269" y="1287670"/>
            <a:ext cx="11673644" cy="825995"/>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压裂施工资料汇总分析</a:t>
            </a:r>
            <a:endPar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基于大数据分析的压裂效果综合评估</a:t>
            </a:r>
            <a:endPar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4</a:t>
            </a:r>
            <a:r>
              <a:rPr lang="zh-CN" altLang="en-US" sz="2000" kern="0" dirty="0">
                <a:solidFill>
                  <a:srgbClr val="FF0000"/>
                </a:solidFill>
                <a:latin typeface="方正大黑简体" panose="02010601030101010101" pitchFamily="65" charset="-122"/>
                <a:ea typeface="方正大黑简体" panose="02010601030101010101" pitchFamily="65" charset="-122"/>
              </a:rPr>
              <a:t>、基于大数据库分析的压裂效果综合评估</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83431" y="2234790"/>
            <a:ext cx="3646003" cy="3849903"/>
          </a:xfrm>
          <a:prstGeom prst="rect">
            <a:avLst/>
          </a:prstGeom>
        </p:spPr>
      </p:pic>
      <p:sp>
        <p:nvSpPr>
          <p:cNvPr id="9" name="矩形 28"/>
          <p:cNvSpPr>
            <a:spLocks noChangeArrowheads="1"/>
          </p:cNvSpPr>
          <p:nvPr/>
        </p:nvSpPr>
        <p:spPr bwMode="auto">
          <a:xfrm>
            <a:off x="1631504" y="6191679"/>
            <a:ext cx="203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页岩压裂施工曲线诊断流程</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8728" y="2234790"/>
            <a:ext cx="4885824" cy="3767651"/>
          </a:xfrm>
          <a:prstGeom prst="rect">
            <a:avLst/>
          </a:prstGeom>
        </p:spPr>
      </p:pic>
      <p:sp>
        <p:nvSpPr>
          <p:cNvPr id="12" name="矩形 28"/>
          <p:cNvSpPr>
            <a:spLocks noChangeArrowheads="1"/>
          </p:cNvSpPr>
          <p:nvPr/>
        </p:nvSpPr>
        <p:spPr bwMode="auto">
          <a:xfrm>
            <a:off x="7672725" y="6053179"/>
            <a:ext cx="18774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施工压力曲线综合诊断图</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5"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压裂施工资料汇总分析</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：将现场压裂施工现场获取的地质资料、施工数据和产能数据等进行综合分类和汇总分析，并结合小波分析响应特征与</a:t>
            </a:r>
            <a:r>
              <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函数停泵反演裂缝尺寸，将压裂数据与压裂结果相关联</a:t>
            </a:r>
            <a:endPar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TextBox 7"/>
          <p:cNvSpPr txBox="1"/>
          <p:nvPr/>
        </p:nvSpPr>
        <p:spPr bwMode="auto">
          <a:xfrm>
            <a:off x="326269" y="773307"/>
            <a:ext cx="10738283"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4</a:t>
            </a:r>
            <a:r>
              <a:rPr lang="zh-CN" altLang="en-US" sz="2000" kern="0" dirty="0">
                <a:solidFill>
                  <a:srgbClr val="FF0000"/>
                </a:solidFill>
                <a:latin typeface="方正大黑简体" panose="02010601030101010101" pitchFamily="65" charset="-122"/>
                <a:ea typeface="方正大黑简体" panose="02010601030101010101" pitchFamily="65" charset="-122"/>
              </a:rPr>
              <a:t>、基于大数据库分析的压裂效果综合评估</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pic>
        <p:nvPicPr>
          <p:cNvPr id="3" name="图片 2"/>
          <p:cNvPicPr>
            <a:picLocks noChangeAspect="1"/>
          </p:cNvPicPr>
          <p:nvPr/>
        </p:nvPicPr>
        <p:blipFill>
          <a:blip r:embed="rId1"/>
          <a:stretch>
            <a:fillRect/>
          </a:stretch>
        </p:blipFill>
        <p:spPr>
          <a:xfrm>
            <a:off x="479377" y="2636912"/>
            <a:ext cx="5616624" cy="3272292"/>
          </a:xfrm>
          <a:prstGeom prst="rect">
            <a:avLst/>
          </a:prstGeom>
        </p:spPr>
      </p:pic>
      <p:sp>
        <p:nvSpPr>
          <p:cNvPr id="6" name="矩形 28"/>
          <p:cNvSpPr>
            <a:spLocks noChangeArrowheads="1"/>
          </p:cNvSpPr>
          <p:nvPr/>
        </p:nvSpPr>
        <p:spPr bwMode="auto">
          <a:xfrm>
            <a:off x="2179693" y="5770704"/>
            <a:ext cx="15696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典型压降曲线示意图</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
        <p:nvSpPr>
          <p:cNvPr id="8" name="矩形 28"/>
          <p:cNvSpPr>
            <a:spLocks noChangeArrowheads="1"/>
          </p:cNvSpPr>
          <p:nvPr/>
        </p:nvSpPr>
        <p:spPr bwMode="auto">
          <a:xfrm>
            <a:off x="8350315" y="5915548"/>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压裂施工曲线</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pic>
        <p:nvPicPr>
          <p:cNvPr id="4" name="图片 3"/>
          <p:cNvPicPr>
            <a:picLocks noChangeAspect="1"/>
          </p:cNvPicPr>
          <p:nvPr/>
        </p:nvPicPr>
        <p:blipFill>
          <a:blip r:embed="rId2"/>
          <a:stretch>
            <a:fillRect/>
          </a:stretch>
        </p:blipFill>
        <p:spPr>
          <a:xfrm>
            <a:off x="6401972" y="2852936"/>
            <a:ext cx="5248313" cy="291776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（二）主要研究内容</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1048715" name="Rectangle 11"/>
          <p:cNvSpPr>
            <a:spLocks noChangeArrowheads="1"/>
          </p:cNvSpPr>
          <p:nvPr/>
        </p:nvSpPr>
        <p:spPr bwMode="auto">
          <a:xfrm>
            <a:off x="326268" y="1287670"/>
            <a:ext cx="11673645" cy="787523"/>
          </a:xfrm>
          <a:prstGeom prst="rect">
            <a:avLst/>
          </a:prstGeom>
          <a:noFill/>
          <a:ln w="9525">
            <a:noFill/>
          </a:ln>
        </p:spPr>
        <p:txBody>
          <a:bodyPr wrap="square">
            <a:spAutoFit/>
          </a:bodyPr>
          <a:lstStyle/>
          <a:p>
            <a:pPr marL="285750" indent="-285750" algn="just" eaLnBrk="0" fontAlgn="base" hangingPunct="0">
              <a:lnSpc>
                <a:spcPct val="150000"/>
              </a:lnSpc>
              <a:spcBef>
                <a:spcPts val="300"/>
              </a:spcBef>
              <a:spcAft>
                <a:spcPct val="0"/>
              </a:spcAft>
              <a:buClr>
                <a:srgbClr val="FF0000"/>
              </a:buClr>
              <a:buFont typeface="Wingdings" panose="05000000000000000000" pitchFamily="2" charset="2"/>
              <a:buChar char="n"/>
            </a:pPr>
            <a:r>
              <a:rPr lang="zh-CN" altLang="en-US" sz="16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基于大数据分析的压裂效果综合评估</a:t>
            </a:r>
            <a:r>
              <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：基于上述研究内容进行，形成一套基于大数据分析的压裂效果综合评估一体化技术，实现对川南页岩气压裂效果的精准评估，为现场压裂施工提供参考</a:t>
            </a:r>
            <a:endParaRPr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TextBox 7"/>
          <p:cNvSpPr txBox="1"/>
          <p:nvPr/>
        </p:nvSpPr>
        <p:spPr bwMode="auto">
          <a:xfrm>
            <a:off x="326269" y="773307"/>
            <a:ext cx="10738283"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4</a:t>
            </a:r>
            <a:r>
              <a:rPr lang="zh-CN" altLang="en-US" sz="2000" kern="0" dirty="0">
                <a:solidFill>
                  <a:srgbClr val="FF0000"/>
                </a:solidFill>
                <a:latin typeface="方正大黑简体" panose="02010601030101010101" pitchFamily="65" charset="-122"/>
                <a:ea typeface="方正大黑简体" panose="02010601030101010101" pitchFamily="65" charset="-122"/>
              </a:rPr>
              <a:t>、基于大数据库分析的压裂效果综合评估</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pic>
        <p:nvPicPr>
          <p:cNvPr id="5" name="图片 4"/>
          <p:cNvPicPr>
            <a:picLocks noChangeAspect="1"/>
          </p:cNvPicPr>
          <p:nvPr/>
        </p:nvPicPr>
        <p:blipFill>
          <a:blip r:embed="rId1"/>
          <a:stretch>
            <a:fillRect/>
          </a:stretch>
        </p:blipFill>
        <p:spPr>
          <a:xfrm>
            <a:off x="6744072" y="2050945"/>
            <a:ext cx="5184576" cy="3747621"/>
          </a:xfrm>
          <a:prstGeom prst="rect">
            <a:avLst/>
          </a:prstGeom>
        </p:spPr>
      </p:pic>
      <p:pic>
        <p:nvPicPr>
          <p:cNvPr id="1026" name="图片 6"/>
          <p:cNvPicPr>
            <a:picLocks noChangeAspect="1" noChangeArrowheads="1"/>
          </p:cNvPicPr>
          <p:nvPr/>
        </p:nvPicPr>
        <p:blipFill>
          <a:blip r:embed="rId2">
            <a:extLst>
              <a:ext uri="{28A0092B-C50C-407E-A947-70E740481C1C}">
                <a14:useLocalDpi xmlns:a14="http://schemas.microsoft.com/office/drawing/2010/main" val="0"/>
              </a:ext>
            </a:extLst>
          </a:blip>
          <a:srcRect r="7117"/>
          <a:stretch>
            <a:fillRect/>
          </a:stretch>
        </p:blipFill>
        <p:spPr bwMode="auto">
          <a:xfrm>
            <a:off x="839416" y="2453267"/>
            <a:ext cx="5014191" cy="294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28"/>
          <p:cNvSpPr>
            <a:spLocks noChangeArrowheads="1"/>
          </p:cNvSpPr>
          <p:nvPr/>
        </p:nvSpPr>
        <p:spPr bwMode="auto">
          <a:xfrm>
            <a:off x="1991544" y="5910669"/>
            <a:ext cx="15696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小波分解流程示意图</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
        <p:nvSpPr>
          <p:cNvPr id="9" name="矩形 28"/>
          <p:cNvSpPr>
            <a:spLocks noChangeArrowheads="1"/>
          </p:cNvSpPr>
          <p:nvPr/>
        </p:nvSpPr>
        <p:spPr bwMode="auto">
          <a:xfrm>
            <a:off x="8112224" y="5910670"/>
            <a:ext cx="21820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200" dirty="0">
                <a:solidFill>
                  <a:srgbClr val="000000"/>
                </a:solidFill>
                <a:latin typeface="微软雅黑" panose="020B0503020204020204" pitchFamily="34" charset="-122"/>
                <a:ea typeface="微软雅黑" panose="020B0503020204020204" pitchFamily="34" charset="-122"/>
                <a:sym typeface="+mn-lt"/>
              </a:rPr>
              <a:t>裂缝几何参数反演流程示意图</a:t>
            </a:r>
            <a:endParaRPr lang="zh-CN" altLang="en-US" sz="1200" dirty="0">
              <a:solidFill>
                <a:srgbClr val="000000"/>
              </a:solidFill>
              <a:latin typeface="微软雅黑" panose="020B0503020204020204" pitchFamily="34" charset="-122"/>
              <a:ea typeface="微软雅黑" panose="020B0503020204020204" pitchFamily="34" charset="-122"/>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（三）技术经济效益分析</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768" name="Text Box 4"/>
          <p:cNvSpPr txBox="1"/>
          <p:nvPr/>
        </p:nvSpPr>
        <p:spPr>
          <a:xfrm>
            <a:off x="431799" y="1831719"/>
            <a:ext cx="11568114" cy="499624"/>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just" defTabSz="514350" eaLnBrk="1" hangingPunct="1">
              <a:lnSpc>
                <a:spcPct val="150000"/>
              </a:lnSpc>
              <a:spcBef>
                <a:spcPts val="600"/>
              </a:spcBef>
              <a:buClr>
                <a:srgbClr val="FF0000"/>
              </a:buClr>
              <a:buFontTx/>
              <a:buNone/>
            </a:pPr>
            <a:r>
              <a:rPr lang="zh-CN" altLang="en-US"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创新点</a:t>
            </a:r>
            <a:r>
              <a:rPr lang="en-US" altLang="zh-CN"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形成一套基于页岩气井压裂施工资料的综合评估方法</a:t>
            </a:r>
            <a:endParaRPr lang="zh-CN" altLang="en-US" sz="2000"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1"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b="1">
                <a:solidFill>
                  <a:srgbClr val="FF0000"/>
                </a:solidFill>
                <a:latin typeface="方正大黑简体" panose="02010601030101010101" pitchFamily="65" charset="-122"/>
                <a:ea typeface="方正大黑简体" panose="02010601030101010101" pitchFamily="65" charset="-122"/>
              </a:rPr>
              <a:t>目  录</a:t>
            </a:r>
            <a:endParaRPr lang="zh-CN" altLang="en-US" sz="4000" b="1">
              <a:solidFill>
                <a:srgbClr val="FF0000"/>
              </a:solidFill>
              <a:latin typeface="方正大黑简体" panose="02010601030101010101" pitchFamily="65" charset="-122"/>
              <a:ea typeface="方正大黑简体" panose="02010601030101010101" pitchFamily="65" charset="-122"/>
            </a:endParaRPr>
          </a:p>
        </p:txBody>
      </p:sp>
      <p:sp>
        <p:nvSpPr>
          <p:cNvPr id="1048772" name="Text Box 6"/>
          <p:cNvSpPr txBox="1">
            <a:spLocks noChangeArrowheads="1"/>
          </p:cNvSpPr>
          <p:nvPr/>
        </p:nvSpPr>
        <p:spPr bwMode="auto">
          <a:xfrm>
            <a:off x="2259013" y="1306051"/>
            <a:ext cx="7669212" cy="4734851"/>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一、项目概要</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二、立项的必要性</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三、主要研究内容与目标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2010601030101010101" pitchFamily="65" charset="-122"/>
                <a:ea typeface="方正大黑简体" panose="02010601030101010101" pitchFamily="65" charset="-122"/>
              </a:rPr>
              <a:t>四、主要技术经济考核指标</a:t>
            </a:r>
            <a:endParaRPr lang="zh-CN" altLang="en-US" sz="3200" dirty="0">
              <a:solidFill>
                <a:srgbClr val="FF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五、项目研究技术路线</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六、项目组织</a:t>
            </a:r>
            <a:endParaRPr lang="zh-CN" altLang="en-US" sz="3200" dirty="0">
              <a:solidFill>
                <a:srgbClr val="00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1256030" indent="-1256030" fontAlgn="base">
              <a:lnSpc>
                <a:spcPct val="100000"/>
              </a:lnSpc>
              <a:spcBef>
                <a:spcPts val="600"/>
              </a:spcBef>
              <a:spcAft>
                <a:spcPct val="0"/>
              </a:spcAft>
              <a:buClrTx/>
            </a:pPr>
            <a:r>
              <a:rPr lang="en-US" altLang="zh-CN" sz="2000" dirty="0">
                <a:solidFill>
                  <a:srgbClr val="FF0000"/>
                </a:solidFill>
                <a:latin typeface="方正大黑简体" panose="02010601030101010101" pitchFamily="65" charset="-122"/>
                <a:ea typeface="方正大黑简体" panose="02010601030101010101" pitchFamily="65" charset="-122"/>
              </a:rPr>
              <a:t>1</a:t>
            </a:r>
            <a:r>
              <a:rPr lang="zh-CN" altLang="en-US" sz="2000" dirty="0">
                <a:solidFill>
                  <a:srgbClr val="FF0000"/>
                </a:solidFill>
                <a:latin typeface="方正大黑简体" panose="02010601030101010101" pitchFamily="65" charset="-122"/>
                <a:ea typeface="方正大黑简体" panose="02010601030101010101" pitchFamily="65" charset="-122"/>
              </a:rPr>
              <a:t>、预期成果与技术考核指标：</a:t>
            </a:r>
            <a:endParaRPr lang="zh-CN" altLang="en-US" sz="2000" dirty="0">
              <a:solidFill>
                <a:srgbClr val="FF0000"/>
              </a:solidFill>
              <a:latin typeface="方正大黑简体" panose="02010601030101010101" pitchFamily="65" charset="-122"/>
              <a:ea typeface="方正大黑简体" panose="02010601030101010101" pitchFamily="65" charset="-122"/>
            </a:endParaRPr>
          </a:p>
        </p:txBody>
      </p:sp>
      <p:sp>
        <p:nvSpPr>
          <p:cNvPr id="1048774" name="TextBox 7"/>
          <p:cNvSpPr txBox="1"/>
          <p:nvPr/>
        </p:nvSpPr>
        <p:spPr bwMode="auto">
          <a:xfrm>
            <a:off x="376770" y="2956882"/>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1256030" indent="-1256030" fontAlgn="base">
              <a:lnSpc>
                <a:spcPct val="100000"/>
              </a:lnSpc>
              <a:spcBef>
                <a:spcPts val="600"/>
              </a:spcBef>
              <a:spcAft>
                <a:spcPct val="0"/>
              </a:spcAft>
              <a:buClrTx/>
            </a:pPr>
            <a:r>
              <a:rPr lang="en-US" altLang="zh-CN" sz="2000" dirty="0">
                <a:solidFill>
                  <a:srgbClr val="FF0000"/>
                </a:solidFill>
                <a:latin typeface="方正大黑简体" panose="02010601030101010101" pitchFamily="65" charset="-122"/>
                <a:ea typeface="方正大黑简体" panose="02010601030101010101" pitchFamily="65" charset="-122"/>
              </a:rPr>
              <a:t>2</a:t>
            </a:r>
            <a:r>
              <a:rPr lang="zh-CN" altLang="en-US" sz="2000" dirty="0">
                <a:solidFill>
                  <a:srgbClr val="FF0000"/>
                </a:solidFill>
                <a:latin typeface="方正大黑简体" panose="02010601030101010101" pitchFamily="65" charset="-122"/>
                <a:ea typeface="方正大黑简体" panose="02010601030101010101" pitchFamily="65" charset="-122"/>
              </a:rPr>
              <a:t>、知识产权考核指标：</a:t>
            </a:r>
            <a:endParaRPr lang="zh-CN" altLang="en-US" sz="2000" dirty="0">
              <a:solidFill>
                <a:srgbClr val="FF0000"/>
              </a:solidFill>
              <a:latin typeface="方正大黑简体" panose="02010601030101010101" pitchFamily="65" charset="-122"/>
              <a:ea typeface="方正大黑简体" panose="02010601030101010101" pitchFamily="65" charset="-122"/>
            </a:endParaRPr>
          </a:p>
        </p:txBody>
      </p:sp>
      <p:sp>
        <p:nvSpPr>
          <p:cNvPr id="1048775" name="矩形 8"/>
          <p:cNvSpPr/>
          <p:nvPr/>
        </p:nvSpPr>
        <p:spPr>
          <a:xfrm>
            <a:off x="349418" y="3313473"/>
            <a:ext cx="10643126" cy="475567"/>
          </a:xfrm>
          <a:prstGeom prst="rect">
            <a:avLst/>
          </a:prstGeom>
          <a:noFill/>
          <a:ln>
            <a:noFill/>
          </a:ln>
        </p:spPr>
        <p:txBody>
          <a:bodyPr wrap="square" lIns="68568" tIns="34284" rIns="68568" bIns="34284">
            <a:spAutoFit/>
          </a:bodyPr>
          <a:lstStyle/>
          <a:p>
            <a:pPr marL="342900" indent="-342900">
              <a:lnSpc>
                <a:spcPct val="150000"/>
              </a:lnSpc>
              <a:buClr>
                <a:srgbClr val="FF0000"/>
              </a:buClr>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提交国家发明专利申请文本</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项和期刊论文文本</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项。</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2" name="矩形 8"/>
          <p:cNvSpPr/>
          <p:nvPr/>
        </p:nvSpPr>
        <p:spPr>
          <a:xfrm>
            <a:off x="354773" y="1209730"/>
            <a:ext cx="11645140" cy="1266617"/>
          </a:xfrm>
          <a:prstGeom prst="rect">
            <a:avLst/>
          </a:prstGeom>
          <a:noFill/>
          <a:ln>
            <a:noFill/>
          </a:ln>
        </p:spPr>
        <p:txBody>
          <a:bodyPr wrap="square" lIns="68568" tIns="34284" rIns="68568" bIns="34284">
            <a:spAutoFit/>
          </a:bodyPr>
          <a:lstStyle/>
          <a:p>
            <a:pPr marL="342900" indent="-342900">
              <a:lnSpc>
                <a:spcPct val="150000"/>
              </a:lnSpc>
              <a:buClr>
                <a:srgbClr val="FF0000"/>
              </a:buClr>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完成泸</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203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井区、阳</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101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井区、自贡、足</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203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井区、黄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202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井区等</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5</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口井的处理与解释工作，建立基于压降曲线分析的停泵期裂缝参数反演方法、建立基于地质工程一体化的多源异构大数据库、建立一套基于大数据分析的压裂效果综合评估方法。</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TextBox 45"/>
          <p:cNvSpPr txBox="1"/>
          <p:nvPr/>
        </p:nvSpPr>
        <p:spPr>
          <a:xfrm>
            <a:off x="150664" y="39512"/>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defTabSz="457200"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四、主要技术经济考核指标</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6"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b="1">
                <a:solidFill>
                  <a:srgbClr val="FF0000"/>
                </a:solidFill>
                <a:latin typeface="方正大黑简体" panose="02010601030101010101" pitchFamily="65" charset="-122"/>
                <a:ea typeface="方正大黑简体" panose="02010601030101010101" pitchFamily="65" charset="-122"/>
              </a:rPr>
              <a:t>目  录</a:t>
            </a:r>
            <a:endParaRPr lang="zh-CN" altLang="en-US" sz="4000" b="1">
              <a:solidFill>
                <a:srgbClr val="FF0000"/>
              </a:solidFill>
              <a:latin typeface="方正大黑简体" panose="02010601030101010101" pitchFamily="65" charset="-122"/>
              <a:ea typeface="方正大黑简体" panose="02010601030101010101" pitchFamily="65" charset="-122"/>
            </a:endParaRPr>
          </a:p>
        </p:txBody>
      </p:sp>
      <p:sp>
        <p:nvSpPr>
          <p:cNvPr id="1048777" name="Text Box 6"/>
          <p:cNvSpPr txBox="1">
            <a:spLocks noChangeArrowheads="1"/>
          </p:cNvSpPr>
          <p:nvPr/>
        </p:nvSpPr>
        <p:spPr bwMode="auto">
          <a:xfrm>
            <a:off x="2259013" y="1306051"/>
            <a:ext cx="7669212" cy="4734851"/>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一、项目概要</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二、立项的必要性</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三、主要研究内容与目标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四、主要技术经济考核指标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2010601030101010101" pitchFamily="65" charset="-122"/>
                <a:ea typeface="方正大黑简体" panose="02010601030101010101" pitchFamily="65" charset="-122"/>
              </a:rPr>
              <a:t>五、项目研究技术路线</a:t>
            </a:r>
            <a:endParaRPr lang="zh-CN" altLang="en-US" sz="3200" dirty="0">
              <a:solidFill>
                <a:srgbClr val="FF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六、项目组织</a:t>
            </a:r>
            <a:endParaRPr lang="zh-CN" altLang="en-US" sz="3200" dirty="0">
              <a:solidFill>
                <a:srgbClr val="00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8"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（一）项目研究技术路线</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2" name="矩形 8"/>
          <p:cNvSpPr>
            <a:spLocks noChangeArrowheads="1"/>
          </p:cNvSpPr>
          <p:nvPr/>
        </p:nvSpPr>
        <p:spPr bwMode="auto">
          <a:xfrm>
            <a:off x="740560" y="1169470"/>
            <a:ext cx="11857037"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rgbClr val="FF0000"/>
              </a:buCl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分为压力响应特征分析、裂缝尺寸反演、大数据库构建、压裂效果综合评估四方面进行</a:t>
            </a:r>
            <a:endPar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7" name="组合 36"/>
          <p:cNvGrpSpPr/>
          <p:nvPr/>
        </p:nvGrpSpPr>
        <p:grpSpPr>
          <a:xfrm>
            <a:off x="767408" y="1916832"/>
            <a:ext cx="10270815" cy="4535548"/>
            <a:chOff x="926620" y="2252717"/>
            <a:chExt cx="10270815" cy="4535548"/>
          </a:xfrm>
        </p:grpSpPr>
        <p:sp>
          <p:nvSpPr>
            <p:cNvPr id="3" name="文本框 1"/>
            <p:cNvSpPr txBox="1">
              <a:spLocks noChangeArrowheads="1"/>
            </p:cNvSpPr>
            <p:nvPr/>
          </p:nvSpPr>
          <p:spPr bwMode="auto">
            <a:xfrm>
              <a:off x="926620" y="2252717"/>
              <a:ext cx="24330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压力响应特征分析</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4" name="文本框 1"/>
            <p:cNvSpPr txBox="1">
              <a:spLocks noChangeArrowheads="1"/>
            </p:cNvSpPr>
            <p:nvPr/>
          </p:nvSpPr>
          <p:spPr bwMode="auto">
            <a:xfrm>
              <a:off x="3882912" y="2300703"/>
              <a:ext cx="1728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裂缝尺寸反演</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5" name="文本框 1"/>
            <p:cNvSpPr txBox="1">
              <a:spLocks noChangeArrowheads="1"/>
            </p:cNvSpPr>
            <p:nvPr/>
          </p:nvSpPr>
          <p:spPr bwMode="auto">
            <a:xfrm>
              <a:off x="6605918" y="2252717"/>
              <a:ext cx="1728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大数据库构建</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6" name="文本框 1"/>
            <p:cNvSpPr txBox="1">
              <a:spLocks noChangeArrowheads="1"/>
            </p:cNvSpPr>
            <p:nvPr/>
          </p:nvSpPr>
          <p:spPr bwMode="auto">
            <a:xfrm>
              <a:off x="8832304" y="2279740"/>
              <a:ext cx="23651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压裂效果综合评估</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7" name="组合 6"/>
            <p:cNvGrpSpPr/>
            <p:nvPr/>
          </p:nvGrpSpPr>
          <p:grpSpPr>
            <a:xfrm>
              <a:off x="1199456" y="2663261"/>
              <a:ext cx="9793087" cy="4125004"/>
              <a:chOff x="1536700" y="2782020"/>
              <a:chExt cx="9111312" cy="4254455"/>
            </a:xfrm>
          </p:grpSpPr>
          <p:sp>
            <p:nvSpPr>
              <p:cNvPr id="8" name="矩形 7"/>
              <p:cNvSpPr/>
              <p:nvPr/>
            </p:nvSpPr>
            <p:spPr>
              <a:xfrm>
                <a:off x="1543988" y="278202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建立水力压裂压力响应诊断模型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9" name="矩形 8"/>
              <p:cNvSpPr/>
              <p:nvPr/>
            </p:nvSpPr>
            <p:spPr>
              <a:xfrm>
                <a:off x="1536700"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优选压力信号的最优小波基和最优分解层次</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0" name="矩形 9"/>
              <p:cNvSpPr/>
              <p:nvPr/>
            </p:nvSpPr>
            <p:spPr>
              <a:xfrm>
                <a:off x="1536700"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明确水力压裂过程中的施工压力响应特征规律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1" name="矩形 10"/>
              <p:cNvSpPr/>
              <p:nvPr/>
            </p:nvSpPr>
            <p:spPr>
              <a:xfrm>
                <a:off x="3054100" y="6604475"/>
                <a:ext cx="6083800" cy="432000"/>
              </a:xfrm>
              <a:prstGeom prst="rect">
                <a:avLst/>
              </a:prstGeom>
              <a:solidFill>
                <a:srgbClr val="7EFFFF"/>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形成一套基于页岩气井压裂施工资料的综合评估方法</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2" name="矩形 11"/>
              <p:cNvSpPr/>
              <p:nvPr/>
            </p:nvSpPr>
            <p:spPr>
              <a:xfrm>
                <a:off x="3968046" y="281305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建立停泵期</a:t>
                </a:r>
                <a:r>
                  <a:rPr lang="en-US" altLang="zh-CN" b="1" dirty="0">
                    <a:latin typeface="Times New Roman" panose="02020603050405020304" pitchFamily="18" charset="0"/>
                    <a:ea typeface="黑体" panose="02010609060101010101" charset="-122"/>
                    <a:cs typeface="Times New Roman" panose="02020603050405020304" pitchFamily="18" charset="0"/>
                  </a:rPr>
                  <a:t>G</a:t>
                </a:r>
                <a:r>
                  <a:rPr lang="zh-CN" altLang="en-US" b="1" dirty="0">
                    <a:latin typeface="Times New Roman" panose="02020603050405020304" pitchFamily="18" charset="0"/>
                    <a:ea typeface="黑体" panose="02010609060101010101" charset="-122"/>
                    <a:cs typeface="Times New Roman" panose="02020603050405020304" pitchFamily="18" charset="0"/>
                  </a:rPr>
                  <a:t>函数压降分析模型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3" name="矩形 12"/>
              <p:cNvSpPr/>
              <p:nvPr/>
            </p:nvSpPr>
            <p:spPr>
              <a:xfrm>
                <a:off x="6482548" y="279913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采集施工过程中多种来源不同结构及类型的数据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4" name="矩形 13"/>
              <p:cNvSpPr/>
              <p:nvPr/>
            </p:nvSpPr>
            <p:spPr>
              <a:xfrm>
                <a:off x="8919820" y="280120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压裂施工资料综合分类汇总分析</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5" name="矩形 14"/>
              <p:cNvSpPr/>
              <p:nvPr/>
            </p:nvSpPr>
            <p:spPr>
              <a:xfrm>
                <a:off x="3968046"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反演压后多裂缝几何尺寸参数</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6" name="矩形 15"/>
              <p:cNvSpPr/>
              <p:nvPr/>
            </p:nvSpPr>
            <p:spPr>
              <a:xfrm>
                <a:off x="6482548" y="3923992"/>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构建含地质</a:t>
                </a:r>
                <a:r>
                  <a:rPr lang="en-US" altLang="zh-CN" b="1" dirty="0">
                    <a:latin typeface="Times New Roman" panose="02020603050405020304" pitchFamily="18" charset="0"/>
                    <a:ea typeface="黑体" panose="02010609060101010101" charset="-122"/>
                    <a:cs typeface="Times New Roman" panose="02020603050405020304" pitchFamily="18" charset="0"/>
                  </a:rPr>
                  <a:t>-</a:t>
                </a:r>
                <a:r>
                  <a:rPr lang="zh-CN" altLang="en-US" b="1" dirty="0">
                    <a:latin typeface="Times New Roman" panose="02020603050405020304" pitchFamily="18" charset="0"/>
                    <a:ea typeface="黑体" panose="02010609060101010101" charset="-122"/>
                    <a:cs typeface="Times New Roman" panose="02020603050405020304" pitchFamily="18" charset="0"/>
                  </a:rPr>
                  <a:t>工程参数的多源异构大数据库</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7" name="矩形 16"/>
              <p:cNvSpPr/>
              <p:nvPr/>
            </p:nvSpPr>
            <p:spPr>
              <a:xfrm>
                <a:off x="8909138" y="3973158"/>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开展基于大数据库分析的压裂效果综合评估研究</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8" name="矩形 17"/>
              <p:cNvSpPr/>
              <p:nvPr/>
            </p:nvSpPr>
            <p:spPr>
              <a:xfrm>
                <a:off x="3968046" y="5138408"/>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计算停泵时刻多裂缝长度及缝宽分布</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19" name="矩形 18"/>
              <p:cNvSpPr/>
              <p:nvPr/>
            </p:nvSpPr>
            <p:spPr>
              <a:xfrm>
                <a:off x="8897542" y="5106499"/>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为现场压裂作业优化设计提供评价依据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0" name="矩形 19"/>
              <p:cNvSpPr/>
              <p:nvPr/>
            </p:nvSpPr>
            <p:spPr>
              <a:xfrm>
                <a:off x="6495764"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揭示压裂参数与压裂改造效果的关联特征</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21" name="箭头: V 形 20"/>
              <p:cNvSpPr/>
              <p:nvPr/>
            </p:nvSpPr>
            <p:spPr>
              <a:xfrm>
                <a:off x="3331031" y="53280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22" name="箭头: V 形 21"/>
              <p:cNvSpPr/>
              <p:nvPr/>
            </p:nvSpPr>
            <p:spPr>
              <a:xfrm>
                <a:off x="5841110" y="5263919"/>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23" name="箭头: V 形 22"/>
              <p:cNvSpPr/>
              <p:nvPr/>
            </p:nvSpPr>
            <p:spPr>
              <a:xfrm>
                <a:off x="8305914" y="52939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24" name="直接连接符 23"/>
              <p:cNvCxnSpPr>
                <a:stCxn id="10" idx="2"/>
              </p:cNvCxnSpPr>
              <p:nvPr/>
            </p:nvCxnSpPr>
            <p:spPr bwMode="auto">
              <a:xfrm>
                <a:off x="2400796" y="6014487"/>
                <a:ext cx="0" cy="290496"/>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25" name="直接连接符 24"/>
              <p:cNvCxnSpPr/>
              <p:nvPr/>
            </p:nvCxnSpPr>
            <p:spPr bwMode="auto">
              <a:xfrm>
                <a:off x="2408084" y="6304983"/>
                <a:ext cx="7375832" cy="0"/>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26" name="直接连接符 25"/>
              <p:cNvCxnSpPr>
                <a:stCxn id="19" idx="2"/>
              </p:cNvCxnSpPr>
              <p:nvPr/>
            </p:nvCxnSpPr>
            <p:spPr bwMode="auto">
              <a:xfrm>
                <a:off x="9761638" y="6006499"/>
                <a:ext cx="9064" cy="298484"/>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27" name="直接箭头连接符 26"/>
              <p:cNvCxnSpPr/>
              <p:nvPr/>
            </p:nvCxnSpPr>
            <p:spPr bwMode="auto">
              <a:xfrm>
                <a:off x="6145469" y="6304983"/>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28" name="直接箭头连接符 27"/>
              <p:cNvCxnSpPr/>
              <p:nvPr/>
            </p:nvCxnSpPr>
            <p:spPr bwMode="auto">
              <a:xfrm>
                <a:off x="2390734"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29" name="直接箭头连接符 28"/>
              <p:cNvCxnSpPr/>
              <p:nvPr/>
            </p:nvCxnSpPr>
            <p:spPr bwMode="auto">
              <a:xfrm>
                <a:off x="2400796"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0" name="直接箭头连接符 29"/>
              <p:cNvCxnSpPr/>
              <p:nvPr/>
            </p:nvCxnSpPr>
            <p:spPr bwMode="auto">
              <a:xfrm>
                <a:off x="4815342" y="3713056"/>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1" name="直接箭头连接符 30"/>
              <p:cNvCxnSpPr/>
              <p:nvPr/>
            </p:nvCxnSpPr>
            <p:spPr bwMode="auto">
              <a:xfrm>
                <a:off x="4843990"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2" name="直接箭头连接符 31"/>
              <p:cNvCxnSpPr/>
              <p:nvPr/>
            </p:nvCxnSpPr>
            <p:spPr bwMode="auto">
              <a:xfrm>
                <a:off x="7359860"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3" name="直接箭头连接符 32"/>
              <p:cNvCxnSpPr/>
              <p:nvPr/>
            </p:nvCxnSpPr>
            <p:spPr bwMode="auto">
              <a:xfrm>
                <a:off x="7346644"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4" name="直接箭头连接符 33"/>
              <p:cNvCxnSpPr/>
              <p:nvPr/>
            </p:nvCxnSpPr>
            <p:spPr bwMode="auto">
              <a:xfrm>
                <a:off x="9769063"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35" name="直接箭头连接符 34"/>
              <p:cNvCxnSpPr/>
              <p:nvPr/>
            </p:nvCxnSpPr>
            <p:spPr bwMode="auto">
              <a:xfrm>
                <a:off x="9750093"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grpSp>
      </p:grpSp>
      <p:sp>
        <p:nvSpPr>
          <p:cNvPr id="3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1256030" lvl="0" indent="-1256030">
              <a:lnSpc>
                <a:spcPct val="100000"/>
              </a:lnSpc>
              <a:spcBef>
                <a:spcPts val="600"/>
              </a:spcBef>
              <a:buClrTx/>
            </a:pPr>
            <a:r>
              <a:rPr lang="en-US" altLang="zh-CN" sz="2000" noProof="1">
                <a:solidFill>
                  <a:srgbClr val="FF0000"/>
                </a:solidFill>
                <a:latin typeface="方正大黑简体" panose="02010601030101010101" pitchFamily="65" charset="-122"/>
                <a:ea typeface="方正大黑简体" panose="02010601030101010101" pitchFamily="65" charset="-122"/>
              </a:rPr>
              <a:t>1</a:t>
            </a:r>
            <a:r>
              <a:rPr lang="zh-CN" altLang="en-US" sz="2000" noProof="1">
                <a:solidFill>
                  <a:srgbClr val="FF0000"/>
                </a:solidFill>
                <a:latin typeface="方正大黑简体" panose="02010601030101010101" pitchFamily="65" charset="-122"/>
                <a:ea typeface="方正大黑简体" panose="02010601030101010101" pitchFamily="65" charset="-122"/>
              </a:rPr>
              <a:t>、项目研究技术路线</a:t>
            </a:r>
            <a:endParaRPr lang="zh-CN" altLang="en-US" sz="2000" noProof="1">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1256030" lvl="0" indent="-1256030">
              <a:lnSpc>
                <a:spcPct val="100000"/>
              </a:lnSpc>
              <a:spcBef>
                <a:spcPts val="600"/>
              </a:spcBef>
              <a:buClrTx/>
            </a:pPr>
            <a:r>
              <a:rPr lang="en-US" altLang="zh-CN" sz="2000" noProof="1">
                <a:solidFill>
                  <a:srgbClr val="FF0000"/>
                </a:solidFill>
                <a:latin typeface="方正大黑简体" panose="02010601030101010101" pitchFamily="65" charset="-122"/>
                <a:ea typeface="方正大黑简体" panose="02010601030101010101" pitchFamily="65" charset="-122"/>
              </a:rPr>
              <a:t>2</a:t>
            </a:r>
            <a:r>
              <a:rPr lang="zh-CN" altLang="en-US" sz="2000" noProof="1">
                <a:solidFill>
                  <a:srgbClr val="FF0000"/>
                </a:solidFill>
                <a:latin typeface="方正大黑简体" panose="02010601030101010101" pitchFamily="65" charset="-122"/>
                <a:ea typeface="方正大黑简体" panose="02010601030101010101" pitchFamily="65" charset="-122"/>
              </a:rPr>
              <a:t>、项目研究进度计划安排</a:t>
            </a:r>
            <a:endParaRPr lang="zh-CN" altLang="en-US" sz="2000" noProof="1">
              <a:solidFill>
                <a:srgbClr val="FF0000"/>
              </a:solidFill>
              <a:latin typeface="方正大黑简体" panose="02010601030101010101" pitchFamily="65" charset="-122"/>
              <a:ea typeface="方正大黑简体" panose="02010601030101010101" pitchFamily="65" charset="-122"/>
            </a:endParaRPr>
          </a:p>
        </p:txBody>
      </p:sp>
      <p:sp>
        <p:nvSpPr>
          <p:cNvPr id="1048805"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（二）项目研究进度计划安排</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graphicFrame>
        <p:nvGraphicFramePr>
          <p:cNvPr id="3" name="表格 2"/>
          <p:cNvGraphicFramePr>
            <a:graphicFrameLocks noGrp="1"/>
          </p:cNvGraphicFramePr>
          <p:nvPr/>
        </p:nvGraphicFramePr>
        <p:xfrm>
          <a:off x="407987" y="1418502"/>
          <a:ext cx="11591925" cy="5123774"/>
        </p:xfrm>
        <a:graphic>
          <a:graphicData uri="http://schemas.openxmlformats.org/drawingml/2006/table">
            <a:tbl>
              <a:tblPr/>
              <a:tblGrid>
                <a:gridCol w="521331"/>
                <a:gridCol w="2502386"/>
                <a:gridCol w="936104"/>
                <a:gridCol w="1023125"/>
                <a:gridCol w="357225"/>
                <a:gridCol w="357225"/>
                <a:gridCol w="357225"/>
                <a:gridCol w="357225"/>
                <a:gridCol w="357225"/>
                <a:gridCol w="357225"/>
                <a:gridCol w="357225"/>
                <a:gridCol w="342367"/>
                <a:gridCol w="342367"/>
                <a:gridCol w="342367"/>
                <a:gridCol w="342367"/>
                <a:gridCol w="342367"/>
                <a:gridCol w="342367"/>
                <a:gridCol w="342367"/>
                <a:gridCol w="342367"/>
                <a:gridCol w="342367"/>
                <a:gridCol w="342367"/>
                <a:gridCol w="342367"/>
                <a:gridCol w="342367"/>
              </a:tblGrid>
              <a:tr h="356652">
                <a:tc rowSpan="2">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序号</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rowSpan="2">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阶段名称</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rowSpan="2">
                  <a:txBody>
                    <a:bodyPr/>
                    <a:lstStyle/>
                    <a:p>
                      <a:pPr algn="ctr" fontAlgn="ct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开始日期</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rowSpan="2">
                  <a:txBody>
                    <a:bodyPr/>
                    <a:lstStyle/>
                    <a:p>
                      <a:pPr algn="ctr" fontAlgn="ct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结束日期</a:t>
                      </a:r>
                      <a:endParaRPr lang="zh-CN" altLang="en-US" sz="1600" b="1" i="0" u="none" strike="noStrike">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gridSpan="7">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2024</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a:tc>
                <a:tc hMerge="1">
                  <a:tcPr/>
                </a:tc>
                <a:tc hMerge="1">
                  <a:tcPr/>
                </a:tc>
                <a:tc hMerge="1">
                  <a:tcPr/>
                </a:tc>
                <a:tc hMerge="1">
                  <a:tcPr/>
                </a:tc>
                <a:tc hMerge="1">
                  <a:tcPr/>
                </a:tc>
                <a:tc gridSpan="12">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a:tc>
                <a:tc hMerge="1">
                  <a:tcPr/>
                </a:tc>
                <a:tc hMerge="1">
                  <a:tcPr/>
                </a:tc>
                <a:tc hMerge="1">
                  <a:tcPr/>
                </a:tc>
                <a:tc hMerge="1">
                  <a:tcPr/>
                </a:tc>
                <a:tc hMerge="1">
                  <a:tcPr/>
                </a:tc>
                <a:tc hMerge="1">
                  <a:tcPr/>
                </a:tc>
                <a:tc hMerge="1">
                  <a:tcPr/>
                </a:tc>
                <a:tc hMerge="1">
                  <a:tcPr/>
                </a:tc>
                <a:tc hMerge="1">
                  <a:tcPr/>
                </a:tc>
                <a:tc hMerge="1">
                  <a:tcPr/>
                </a:tc>
              </a:tr>
              <a:tr h="356652">
                <a:tc vMerge="1">
                  <a:tcPr/>
                </a:tc>
                <a:tc vMerge="1">
                  <a:tcPr/>
                </a:tc>
                <a:tc vMerge="1">
                  <a:tcPr/>
                </a:tc>
                <a:tc vMerge="1">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6</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6</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a:txBody>
                    <a:bodyPr/>
                    <a:lstStyle/>
                    <a:p>
                      <a:pPr algn="ctr" fontAlgn="ct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a:t>
                      </a:r>
                      <a:endPar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r>
              <a:tr h="713305">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进行项目前期调研、开题立项论证</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2024.05</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2024.06</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6" gridSpan="19">
                  <a:txBody>
                    <a:bodyPr/>
                    <a:lstStyle/>
                    <a:p>
                      <a:pPr algn="ctr" fontAlgn="ct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rowSpan="6" hMerge="1">
                  <a:tcPr/>
                </a:tc>
                <a:tc rowSpan="6" hMerge="1">
                  <a:tcPr/>
                </a:tc>
                <a:tc rowSpan="6" hMerge="1">
                  <a:tcPr/>
                </a:tc>
                <a:tc rowSpan="6" hMerge="1">
                  <a:tcPr/>
                </a:tc>
                <a:tc rowSpan="6" hMerge="1">
                  <a:tcPr/>
                </a:tc>
                <a:tc rowSpan="6" hMerge="1">
                  <a:tcPr/>
                </a:tc>
                <a:tc rowSpan="6" hMerge="1">
                  <a:tcPr>
                    <a:lnL w="12700" cmpd="sng">
                      <a:noFill/>
                      <a:prstDash val="solid"/>
                    </a:lnL>
                    <a:lnT w="12700" cap="flat" cmpd="sng" algn="ctr">
                      <a:solidFill>
                        <a:schemeClr val="tx1"/>
                      </a:solidFill>
                      <a:prstDash val="solid"/>
                      <a:round/>
                      <a:headEnd type="none" w="med" len="med"/>
                      <a:tailEnd type="none" w="med" len="med"/>
                    </a:lnT>
                  </a:tcPr>
                </a:tc>
                <a:tc rowSpan="6" hMerge="1">
                  <a:tcPr>
                    <a:lnL w="12700" cmpd="sng">
                      <a:noFill/>
                      <a:prstDash val="solid"/>
                    </a:lnL>
                    <a:lnT w="12700" cap="flat" cmpd="sng" algn="ctr">
                      <a:solidFill>
                        <a:schemeClr val="tx1"/>
                      </a:solidFill>
                      <a:prstDash val="solid"/>
                      <a:round/>
                      <a:headEnd type="none" w="med" len="med"/>
                      <a:tailEnd type="none" w="med" len="med"/>
                    </a:lnT>
                  </a:tcPr>
                </a:tc>
                <a:tc rowSpan="6" hMerge="1">
                  <a:tcPr/>
                </a:tc>
                <a:tc rowSpan="6" hMerge="1">
                  <a:tcPr/>
                </a:tc>
                <a:tc rowSpan="6" hMerge="1">
                  <a:tcPr/>
                </a:tc>
                <a:tc rowSpan="6" hMerge="1">
                  <a:tcPr/>
                </a:tc>
                <a:tc rowSpan="6" hMerge="1">
                  <a:tcPr/>
                </a:tc>
                <a:tc rowSpan="6" hMerge="1">
                  <a:tcPr/>
                </a:tc>
                <a:tc rowSpan="6" hMerge="1">
                  <a:tcPr/>
                </a:tc>
                <a:tc rowSpan="6" hMerge="1">
                  <a:tcPr/>
                </a:tc>
                <a:tc rowSpan="6" hMerge="1">
                  <a:tcPr/>
                </a:tc>
                <a:tc rowSpan="6" hMerge="1">
                  <a:tcPr/>
                </a:tc>
              </a:tr>
              <a:tr h="713305">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收集整理压裂施工数据、汇总分析</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2024.06</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2024.09</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13305">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开展小波分解分析，明确施工压力响应特征规律</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2024.09</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2024.12</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820238">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建立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G</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函数压降模型计算压后裂缝尺寸参数</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2024.12</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2025.04</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13305">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构建“多源异构”数据库，明确页岩气井压裂施工主控因素</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2025.04</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2025.10</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13305">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6</a:t>
                      </a:r>
                      <a:endParaRPr lang="en-US" altLang="zh-CN" sz="1600" b="0" i="0" u="none" strike="noStrike">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分析和总结，完成结题工作</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2025.10</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2025.12</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492" marR="5492" marT="5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gridSpan="19">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bl>
          </a:graphicData>
        </a:graphic>
      </p:graphicFrame>
      <p:sp>
        <p:nvSpPr>
          <p:cNvPr id="14" name="矩形 13"/>
          <p:cNvSpPr/>
          <p:nvPr/>
        </p:nvSpPr>
        <p:spPr>
          <a:xfrm>
            <a:off x="5409213" y="2276872"/>
            <a:ext cx="326748"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2" name="矩形 1"/>
          <p:cNvSpPr/>
          <p:nvPr/>
        </p:nvSpPr>
        <p:spPr>
          <a:xfrm>
            <a:off x="5735960" y="2949846"/>
            <a:ext cx="1080120"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4" name="矩形 3"/>
          <p:cNvSpPr/>
          <p:nvPr/>
        </p:nvSpPr>
        <p:spPr>
          <a:xfrm>
            <a:off x="6816080" y="3622820"/>
            <a:ext cx="1080120"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5" name="矩形 4"/>
          <p:cNvSpPr/>
          <p:nvPr/>
        </p:nvSpPr>
        <p:spPr>
          <a:xfrm>
            <a:off x="7896200" y="4344943"/>
            <a:ext cx="1368152"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6" name="矩形 5"/>
          <p:cNvSpPr/>
          <p:nvPr/>
        </p:nvSpPr>
        <p:spPr>
          <a:xfrm>
            <a:off x="9264352" y="5184210"/>
            <a:ext cx="2160240"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7" name="矩形 6"/>
          <p:cNvSpPr/>
          <p:nvPr/>
        </p:nvSpPr>
        <p:spPr>
          <a:xfrm>
            <a:off x="11424592" y="5976298"/>
            <a:ext cx="575321" cy="477038"/>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cxnSp>
        <p:nvCxnSpPr>
          <p:cNvPr id="8" name="直接连接符 7"/>
          <p:cNvCxnSpPr/>
          <p:nvPr/>
        </p:nvCxnSpPr>
        <p:spPr>
          <a:xfrm>
            <a:off x="9264650" y="1711325"/>
            <a:ext cx="0" cy="4860290"/>
          </a:xfrm>
          <a:prstGeom prst="line">
            <a:avLst/>
          </a:prstGeom>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11424920" y="1522095"/>
            <a:ext cx="0" cy="5176520"/>
          </a:xfrm>
          <a:prstGeom prst="line">
            <a:avLst/>
          </a:prstGeom>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7896225" y="1844675"/>
            <a:ext cx="0" cy="486029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7"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b="1">
                <a:solidFill>
                  <a:srgbClr val="FF0000"/>
                </a:solidFill>
                <a:latin typeface="方正大黑简体" panose="02010601030101010101" pitchFamily="65" charset="-122"/>
                <a:ea typeface="方正大黑简体" panose="02010601030101010101" pitchFamily="65" charset="-122"/>
              </a:rPr>
              <a:t>目  录</a:t>
            </a:r>
            <a:endParaRPr lang="zh-CN" altLang="en-US" sz="4000" b="1">
              <a:solidFill>
                <a:srgbClr val="FF0000"/>
              </a:solidFill>
              <a:latin typeface="方正大黑简体" panose="02010601030101010101" pitchFamily="65" charset="-122"/>
              <a:ea typeface="方正大黑简体" panose="02010601030101010101" pitchFamily="65" charset="-122"/>
            </a:endParaRPr>
          </a:p>
        </p:txBody>
      </p:sp>
      <p:sp>
        <p:nvSpPr>
          <p:cNvPr id="1048808" name="Text Box 6"/>
          <p:cNvSpPr txBox="1">
            <a:spLocks noChangeArrowheads="1"/>
          </p:cNvSpPr>
          <p:nvPr/>
        </p:nvSpPr>
        <p:spPr bwMode="auto">
          <a:xfrm>
            <a:off x="2259013" y="1306051"/>
            <a:ext cx="7669212" cy="4734851"/>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一、项目概要</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二、立项的必要性</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三、主要研究内容与目标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四、主要技术经济考核指标</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2010601030101010101" pitchFamily="65" charset="-122"/>
                <a:ea typeface="方正大黑简体" panose="02010601030101010101" pitchFamily="65" charset="-122"/>
              </a:rPr>
              <a:t>五、项目研究技术路线</a:t>
            </a:r>
            <a:endParaRPr lang="zh-CN" altLang="en-US" sz="3200" dirty="0">
              <a:solidFill>
                <a:srgbClr val="000000"/>
              </a:solidFill>
              <a:latin typeface="方正大黑简体" panose="02010601030101010101" pitchFamily="65" charset="-122"/>
              <a:ea typeface="方正大黑简体" panose="02010601030101010101"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2010601030101010101" pitchFamily="65" charset="-122"/>
                <a:ea typeface="方正大黑简体" panose="02010601030101010101" pitchFamily="65" charset="-122"/>
              </a:rPr>
              <a:t>六、项目组织</a:t>
            </a:r>
            <a:endParaRPr lang="zh-CN" altLang="en-US" sz="3200" dirty="0">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9" name="TextBox 45"/>
          <p:cNvSpPr txBox="1"/>
          <p:nvPr/>
        </p:nvSpPr>
        <p:spPr>
          <a:xfrm>
            <a:off x="1407460"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（一）项目组织</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810"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1</a:t>
            </a:r>
            <a:r>
              <a:rPr lang="zh-CN" altLang="en-US" sz="2000" kern="0" dirty="0">
                <a:solidFill>
                  <a:srgbClr val="FF0000"/>
                </a:solidFill>
                <a:latin typeface="方正大黑简体" panose="02010601030101010101" pitchFamily="65" charset="-122"/>
                <a:ea typeface="方正大黑简体" panose="02010601030101010101" pitchFamily="65" charset="-122"/>
              </a:rPr>
              <a:t>、主要研究人员</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graphicFrame>
        <p:nvGraphicFramePr>
          <p:cNvPr id="4" name="表格 2"/>
          <p:cNvGraphicFramePr>
            <a:graphicFrameLocks noGrp="1"/>
          </p:cNvGraphicFramePr>
          <p:nvPr/>
        </p:nvGraphicFramePr>
        <p:xfrm>
          <a:off x="216473" y="1700808"/>
          <a:ext cx="11759053" cy="4824540"/>
        </p:xfrm>
        <a:graphic>
          <a:graphicData uri="http://schemas.openxmlformats.org/drawingml/2006/table">
            <a:tbl>
              <a:tblPr firstRow="1" bandRow="1">
                <a:tableStyleId>{5C22544A-7EE6-4342-B048-85BDC9FD1C3A}</a:tableStyleId>
              </a:tblPr>
              <a:tblGrid>
                <a:gridCol w="1362411"/>
                <a:gridCol w="1330565"/>
                <a:gridCol w="851716"/>
                <a:gridCol w="1295400"/>
                <a:gridCol w="1249680"/>
                <a:gridCol w="1264920"/>
                <a:gridCol w="2438400"/>
                <a:gridCol w="1965961"/>
              </a:tblGrid>
              <a:tr h="482454">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职务</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姓 名</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性别</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年龄</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学历</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职称</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sz="1600" b="1" kern="100" baseline="0" dirty="0">
                          <a:solidFill>
                            <a:schemeClr val="tx1"/>
                          </a:solidFill>
                          <a:effectLst/>
                          <a:latin typeface="微软雅黑" panose="020B0503020204020204" pitchFamily="34" charset="-122"/>
                          <a:ea typeface="微软雅黑" panose="020B0503020204020204" pitchFamily="34" charset="-122"/>
                        </a:rPr>
                        <a:t>专业特长</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zh-CN" altLang="en-US" sz="1600" b="1" kern="100" baseline="0" dirty="0">
                          <a:solidFill>
                            <a:schemeClr val="tx1"/>
                          </a:solidFill>
                          <a:effectLst/>
                          <a:latin typeface="微软雅黑" panose="020B0503020204020204" pitchFamily="34" charset="-122"/>
                          <a:ea typeface="微软雅黑" panose="020B0503020204020204" pitchFamily="34" charset="-122"/>
                        </a:rPr>
                        <a:t>项目参与时间</a:t>
                      </a:r>
                      <a:endParaRPr lang="zh-CN" sz="1600" b="1" kern="100" baseline="0" dirty="0">
                        <a:solidFill>
                          <a:schemeClr val="tx1"/>
                        </a:solidFill>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r>
              <a:tr h="482454">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项目</a:t>
                      </a:r>
                      <a:r>
                        <a:rPr lang="zh-CN" altLang="en-US" sz="1600" b="0" kern="100" baseline="0" dirty="0">
                          <a:effectLst/>
                          <a:latin typeface="微软雅黑" panose="020B0503020204020204" pitchFamily="34" charset="-122"/>
                          <a:ea typeface="微软雅黑" panose="020B0503020204020204" pitchFamily="34" charset="-122"/>
                        </a:rPr>
                        <a:t>长</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周福建</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0" kern="100" baseline="0" dirty="0">
                          <a:effectLst/>
                          <a:latin typeface="微软雅黑" panose="020B0503020204020204" pitchFamily="34" charset="-122"/>
                          <a:ea typeface="微软雅黑" panose="020B0503020204020204" pitchFamily="34" charset="-122"/>
                        </a:rPr>
                        <a:t>58</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博士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教授</a:t>
                      </a:r>
                      <a:r>
                        <a:rPr lang="en-US" sz="1600" b="0" kern="100" baseline="0" dirty="0">
                          <a:effectLst/>
                          <a:latin typeface="微软雅黑" panose="020B0503020204020204" pitchFamily="34" charset="-122"/>
                          <a:ea typeface="微软雅黑" panose="020B0503020204020204" pitchFamily="34" charset="-122"/>
                        </a:rPr>
                        <a:t>/</a:t>
                      </a:r>
                      <a:r>
                        <a:rPr lang="zh-CN" sz="1600" b="0" kern="100" baseline="0" dirty="0">
                          <a:effectLst/>
                          <a:latin typeface="微软雅黑" panose="020B0503020204020204" pitchFamily="34" charset="-122"/>
                          <a:ea typeface="微软雅黑" panose="020B0503020204020204" pitchFamily="34" charset="-122"/>
                        </a:rPr>
                        <a:t>博导</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储层保护改造</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微软雅黑" panose="020B0503020204020204" pitchFamily="34" charset="-122"/>
                          <a:ea typeface="微软雅黑" panose="020B0503020204020204" pitchFamily="34" charset="-122"/>
                        </a:rPr>
                        <a:t>2024.06-2025.12</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副</a:t>
                      </a:r>
                      <a:r>
                        <a:rPr lang="zh-CN" altLang="zh-CN" sz="1600" b="0" kern="100" baseline="0" dirty="0">
                          <a:effectLst/>
                          <a:latin typeface="微软雅黑" panose="020B0503020204020204" pitchFamily="34" charset="-122"/>
                          <a:ea typeface="微软雅黑" panose="020B0503020204020204" pitchFamily="34" charset="-122"/>
                        </a:rPr>
                        <a:t>项目</a:t>
                      </a:r>
                      <a:r>
                        <a:rPr lang="zh-CN" altLang="en-US" sz="1600" b="0" kern="100" baseline="0" dirty="0">
                          <a:effectLst/>
                          <a:latin typeface="微软雅黑" panose="020B0503020204020204" pitchFamily="34" charset="-122"/>
                          <a:ea typeface="微软雅黑" panose="020B0503020204020204" pitchFamily="34" charset="-122"/>
                        </a:rPr>
                        <a:t>长</a:t>
                      </a:r>
                      <a:endParaRPr lang="zh-CN" alt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胡晓东</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微软雅黑" panose="020B0503020204020204" pitchFamily="34" charset="-122"/>
                          <a:ea typeface="微软雅黑" panose="020B0503020204020204" pitchFamily="34" charset="-122"/>
                        </a:rPr>
                        <a:t>34</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博士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副</a:t>
                      </a:r>
                      <a:r>
                        <a:rPr lang="zh-CN" sz="1600" b="0" kern="100" baseline="0" dirty="0">
                          <a:effectLst/>
                          <a:latin typeface="微软雅黑" panose="020B0503020204020204" pitchFamily="34" charset="-122"/>
                          <a:ea typeface="微软雅黑" panose="020B0503020204020204" pitchFamily="34" charset="-122"/>
                        </a:rPr>
                        <a:t>研究员</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压裂诊断</a:t>
                      </a:r>
                      <a:r>
                        <a:rPr lang="en-US" sz="1600" b="0" kern="100" baseline="0" dirty="0">
                          <a:effectLst/>
                          <a:latin typeface="微软雅黑" panose="020B0503020204020204" pitchFamily="34" charset="-122"/>
                          <a:ea typeface="微软雅黑" panose="020B0503020204020204" pitchFamily="34" charset="-122"/>
                        </a:rPr>
                        <a:t>+</a:t>
                      </a:r>
                      <a:r>
                        <a:rPr lang="zh-CN" sz="1600" b="0" kern="100" baseline="0" dirty="0">
                          <a:effectLst/>
                          <a:latin typeface="微软雅黑" panose="020B0503020204020204" pitchFamily="34" charset="-122"/>
                          <a:ea typeface="微软雅黑" panose="020B0503020204020204" pitchFamily="34" charset="-122"/>
                        </a:rPr>
                        <a:t>储层改造</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rowSpan="7">
                  <a:txBody>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主要研究人员</a:t>
                      </a:r>
                      <a:endParaRPr lang="zh-CN" altLang="en-US" sz="1400" dirty="0">
                        <a:solidFill>
                          <a:schemeClr val="tx1"/>
                        </a:solidFill>
                        <a:latin typeface="微软雅黑" panose="020B0503020204020204" pitchFamily="34" charset="-122"/>
                        <a:ea typeface="微软雅黑" panose="020B0503020204020204" pitchFamily="34" charset="-122"/>
                      </a:endParaRPr>
                    </a:p>
                  </a:txBody>
                  <a:tcPr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董恩佳</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baseline="0" dirty="0">
                          <a:solidFill>
                            <a:schemeClr val="dk1"/>
                          </a:solidFill>
                          <a:effectLst/>
                          <a:latin typeface="微软雅黑" panose="020B0503020204020204" pitchFamily="34" charset="-122"/>
                          <a:ea typeface="微软雅黑" panose="020B0503020204020204" pitchFamily="34" charset="-122"/>
                        </a:rPr>
                        <a:t> 26</a:t>
                      </a:r>
                      <a:endParaRPr lang="zh-CN" altLang="en-US" sz="1600" b="0" kern="100" baseline="0" dirty="0">
                        <a:solidFill>
                          <a:schemeClr val="dk1"/>
                        </a:solidFill>
                        <a:effectLst/>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博士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微软雅黑" panose="020B0503020204020204" pitchFamily="34" charset="-122"/>
                          <a:ea typeface="微软雅黑" panose="020B0503020204020204" pitchFamily="34" charset="-122"/>
                        </a:rPr>
                        <a:t>储层改造</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vMerge="1">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周乾龙</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600" b="0" kern="100" baseline="0" dirty="0">
                          <a:solidFill>
                            <a:schemeClr val="dk1"/>
                          </a:solidFill>
                          <a:effectLst/>
                          <a:latin typeface="微软雅黑" panose="020B0503020204020204" pitchFamily="34" charset="-122"/>
                          <a:ea typeface="微软雅黑" panose="020B0503020204020204" pitchFamily="34" charset="-122"/>
                        </a:rPr>
                        <a:t> 25</a:t>
                      </a:r>
                      <a:endParaRPr lang="zh-CN" altLang="en-US" sz="1600" b="0" kern="100" baseline="0" dirty="0">
                        <a:solidFill>
                          <a:schemeClr val="dk1"/>
                        </a:solidFill>
                        <a:effectLst/>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博士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b="0" kern="100" baseline="0" dirty="0">
                          <a:effectLst/>
                          <a:latin typeface="微软雅黑" panose="020B0503020204020204" pitchFamily="34" charset="-122"/>
                          <a:ea typeface="微软雅黑" panose="020B0503020204020204" pitchFamily="34" charset="-122"/>
                        </a:rPr>
                        <a:t>储层改造</a:t>
                      </a:r>
                      <a:endParaRPr lang="zh-CN" alt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vMerge="1">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闻吉鹏</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600" b="0" kern="100" baseline="0" dirty="0">
                          <a:solidFill>
                            <a:schemeClr val="dk1"/>
                          </a:solidFill>
                          <a:effectLst/>
                          <a:latin typeface="微软雅黑" panose="020B0503020204020204" pitchFamily="34" charset="-122"/>
                          <a:ea typeface="微软雅黑" panose="020B0503020204020204" pitchFamily="34" charset="-122"/>
                          <a:cs typeface="+mn-cs"/>
                        </a:rPr>
                        <a:t>24</a:t>
                      </a:r>
                      <a:endParaRPr lang="zh-CN" altLang="en-US" sz="1600" b="0" kern="100" baseline="0" dirty="0">
                        <a:solidFill>
                          <a:schemeClr val="dk1"/>
                        </a:solidFill>
                        <a:effectLst/>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博士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0" kern="100" baseline="0" dirty="0">
                          <a:effectLst/>
                          <a:latin typeface="微软雅黑" panose="020B0503020204020204" pitchFamily="34" charset="-122"/>
                          <a:ea typeface="微软雅黑" panose="020B0503020204020204" pitchFamily="34" charset="-122"/>
                        </a:rPr>
                        <a:t>压裂诊断</a:t>
                      </a:r>
                      <a:endParaRPr lang="zh-CN" alt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vMerge="1">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熊壮</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微软雅黑" panose="020B0503020204020204" pitchFamily="34" charset="-122"/>
                          <a:ea typeface="微软雅黑" panose="020B0503020204020204" pitchFamily="34" charset="-122"/>
                        </a:rPr>
                        <a:t>24</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硕士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储层改造</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vMerge="1">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赖文俊</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微软雅黑" panose="020B0503020204020204" pitchFamily="34" charset="-122"/>
                          <a:ea typeface="微软雅黑" panose="020B0503020204020204" pitchFamily="34" charset="-122"/>
                        </a:rPr>
                        <a:t>23</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硕士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压裂诊断</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vMerge="1">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龚浩楠</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微软雅黑" panose="020B0503020204020204" pitchFamily="34" charset="-122"/>
                          <a:ea typeface="微软雅黑" panose="020B0503020204020204" pitchFamily="34" charset="-122"/>
                        </a:rPr>
                        <a:t>23</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硕士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压裂诊断</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82454">
                <a:tc vMerge="1">
                  <a:tcPr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申奥</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男</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微软雅黑" panose="020B0503020204020204" pitchFamily="34" charset="-122"/>
                          <a:ea typeface="微软雅黑" panose="020B0503020204020204" pitchFamily="34" charset="-122"/>
                        </a:rPr>
                        <a:t>23</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硕士</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微软雅黑" panose="020B0503020204020204" pitchFamily="34" charset="-122"/>
                          <a:ea typeface="微软雅黑" panose="020B0503020204020204" pitchFamily="34" charset="-122"/>
                        </a:rPr>
                        <a:t>学生</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压裂诊断</a:t>
                      </a:r>
                      <a:endParaRPr 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2024.06-2025.12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bl>
          </a:graphicData>
        </a:graphic>
      </p:graphicFrame>
      <p:sp>
        <p:nvSpPr>
          <p:cNvPr id="2" name="文本框 1"/>
          <p:cNvSpPr txBox="1"/>
          <p:nvPr/>
        </p:nvSpPr>
        <p:spPr>
          <a:xfrm>
            <a:off x="708397" y="1164737"/>
            <a:ext cx="10644187" cy="418191"/>
          </a:xfrm>
          <a:prstGeom prst="rect">
            <a:avLst/>
          </a:prstGeom>
          <a:noFill/>
        </p:spPr>
        <p:txBody>
          <a:bodyPr wrap="square">
            <a:spAutoFit/>
          </a:bodyPr>
          <a:lstStyle/>
          <a:p>
            <a:pPr>
              <a:lnSpc>
                <a:spcPct val="150000"/>
              </a:lnSpc>
              <a:buClr>
                <a:srgbClr val="FF0000"/>
              </a:buClr>
              <a:defRPr/>
            </a:pPr>
            <a:r>
              <a:rPr lang="zh-CN" altLang="en-US" sz="1600" dirty="0">
                <a:solidFill>
                  <a:prstClr val="black"/>
                </a:solidFill>
                <a:latin typeface="微软雅黑" panose="020B0503020204020204" pitchFamily="34" charset="-122"/>
                <a:ea typeface="微软雅黑" panose="020B0503020204020204" pitchFamily="34" charset="-122"/>
              </a:rPr>
              <a:t>周福建教授牵头组织，多位老师、博士深度参与</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（二）团队研究基础</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3" name="Rectangle 11"/>
          <p:cNvSpPr>
            <a:spLocks noChangeArrowheads="1"/>
          </p:cNvSpPr>
          <p:nvPr/>
        </p:nvSpPr>
        <p:spPr bwMode="auto">
          <a:xfrm>
            <a:off x="407368" y="876627"/>
            <a:ext cx="11592545" cy="1133772"/>
          </a:xfrm>
          <a:prstGeom prst="rect">
            <a:avLst/>
          </a:prstGeom>
          <a:noFill/>
          <a:ln w="9525">
            <a:noFill/>
          </a:ln>
        </p:spPr>
        <p:txBody>
          <a:bodyPr wrap="square">
            <a:spAutoFit/>
          </a:bodyPr>
          <a:lstStyle/>
          <a:p>
            <a:pPr marL="802005" indent="-802005" eaLnBrk="0" fontAlgn="base" hangingPunct="0">
              <a:spcBef>
                <a:spcPct val="0"/>
              </a:spcBef>
              <a:spcAft>
                <a:spcPct val="0"/>
              </a:spcAft>
              <a:buClr>
                <a:srgbClr val="FF0000"/>
              </a:buClr>
            </a:pPr>
            <a:endParaRPr lang="en-US" altLang="zh-CN" sz="2000" kern="0" dirty="0">
              <a:solidFill>
                <a:srgbClr val="FF0000"/>
              </a:solidFill>
              <a:latin typeface="方正大黑简体" panose="02010601030101010101" pitchFamily="65" charset="-122"/>
              <a:ea typeface="方正大黑简体" panose="02010601030101010101" pitchFamily="65" charset="-122"/>
              <a:sym typeface="Arial" panose="020B0604020202020204" pitchFamily="34" charset="0"/>
            </a:endParaRPr>
          </a:p>
          <a:p>
            <a:pPr algn="just" eaLnBrk="0" fontAlgn="base" hangingPunct="0">
              <a:lnSpc>
                <a:spcPct val="150000"/>
              </a:lnSpc>
              <a:spcBef>
                <a:spcPts val="300"/>
              </a:spcBef>
              <a:spcAft>
                <a:spcPct val="0"/>
              </a:spcAft>
              <a:buClr>
                <a:srgbClr val="FF0000"/>
              </a:buCl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项目组在压裂诊断领域开展了大量研究工作，基于模型计算及现场应用研究成果，发表高水平</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SCI</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论文</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篇，国际会议</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篇，获取专利授权</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项、软件著作权</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项，在</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小波分析、</a:t>
            </a:r>
            <a:r>
              <a:rPr kumimoji="1" lang="en-US" altLang="zh-CN"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函数反演及压降曲线分析方向</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拥有雄厚的研究基础和丰富的成果积累。</a:t>
            </a:r>
            <a:endParaRPr kumimoji="1" lang="zh-CN" altLang="en-US" sz="1600" dirty="0">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4" name="表格 3"/>
          <p:cNvGraphicFramePr>
            <a:graphicFrameLocks noGrp="1"/>
          </p:cNvGraphicFramePr>
          <p:nvPr/>
        </p:nvGraphicFramePr>
        <p:xfrm>
          <a:off x="407368" y="2060848"/>
          <a:ext cx="11449671" cy="1874159"/>
        </p:xfrm>
        <a:graphic>
          <a:graphicData uri="http://schemas.openxmlformats.org/drawingml/2006/table">
            <a:tbl>
              <a:tblPr/>
              <a:tblGrid>
                <a:gridCol w="1603418"/>
                <a:gridCol w="1013544"/>
                <a:gridCol w="1085940"/>
                <a:gridCol w="7746769"/>
              </a:tblGrid>
              <a:tr h="267737">
                <a:tc>
                  <a:txBody>
                    <a:bodyPr/>
                    <a:lstStyle/>
                    <a:p>
                      <a:pPr algn="ctr" fontAlgn="ctr"/>
                      <a:r>
                        <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类型</a:t>
                      </a:r>
                      <a:endPar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时间</a:t>
                      </a:r>
                      <a:endPar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等级</a:t>
                      </a:r>
                      <a:endPar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lang="zh-CN" altLang="en-US" sz="1100" b="1"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737">
                <a:tc>
                  <a:txBody>
                    <a:bodyPr/>
                    <a:lstStyle/>
                    <a:p>
                      <a:pPr algn="ctr" fontAlgn="ct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论文</a:t>
                      </a:r>
                      <a:endPar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SCI </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new multi-fracture geometry inversion model based on hydraulic-fracture treatment pressure falloff data</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r>
              <a:tr h="267737">
                <a:tc>
                  <a:txBody>
                    <a:bodyPr/>
                    <a:lstStyle/>
                    <a:p>
                      <a:pPr algn="ctr" fontAlgn="ct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论文</a:t>
                      </a:r>
                      <a:endPar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SCI</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Pressure response using wavelet analysis in the process of hydraulic fracturing: Numerical simulation and field case</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r>
              <a:tr h="267737">
                <a:tc>
                  <a:txBody>
                    <a:bodyPr/>
                    <a:lstStyle/>
                    <a:p>
                      <a:pPr algn="ctr" fontAlgn="ct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论文</a:t>
                      </a:r>
                      <a:endPar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EI</a:t>
                      </a: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会议</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New Fracture Parameters Inversion Model Based on the Pressure of Shut-in Under Pressure-dependent Leak-off Conditions</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a:noFill/>
                    </a:lnL>
                    <a:lnR>
                      <a:noFill/>
                    </a:lnR>
                    <a:lnT>
                      <a:noFill/>
                    </a:lnT>
                    <a:lnB>
                      <a:noFill/>
                    </a:lnB>
                    <a:lnTlToBr w="12700" cmpd="sng">
                      <a:noFill/>
                      <a:prstDash val="solid"/>
                    </a:lnTlToBr>
                    <a:lnBlToTr w="12700" cmpd="sng">
                      <a:noFill/>
                      <a:prstDash val="solid"/>
                    </a:lnBlToTr>
                  </a:tcPr>
                </a:tc>
              </a:tr>
              <a:tr h="267737">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2021</a:t>
                      </a:r>
                      <a:endPar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一种基于压降曲线分析的裂缝参数反演及评价方法</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r>
              <a:tr h="267737">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一种基于</a:t>
                      </a:r>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函数曲线分析的多裂缝参数反演方法和装置</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r>
              <a:tr h="267737">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2020</a:t>
                      </a:r>
                      <a:endPar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小型压裂测试压降曲线分析软件</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圆角 4"/>
          <p:cNvSpPr/>
          <p:nvPr/>
        </p:nvSpPr>
        <p:spPr>
          <a:xfrm>
            <a:off x="326268" y="4032410"/>
            <a:ext cx="11388310" cy="2520161"/>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551384" y="4093550"/>
            <a:ext cx="11061126" cy="2459021"/>
            <a:chOff x="551385" y="4217958"/>
            <a:chExt cx="11061126" cy="2459021"/>
          </a:xfrm>
        </p:grpSpPr>
        <p:pic>
          <p:nvPicPr>
            <p:cNvPr id="7" name="图片 6"/>
            <p:cNvPicPr>
              <a:picLocks noChangeAspect="1"/>
            </p:cNvPicPr>
            <p:nvPr/>
          </p:nvPicPr>
          <p:blipFill>
            <a:blip r:embed="rId1"/>
            <a:stretch>
              <a:fillRect/>
            </a:stretch>
          </p:blipFill>
          <p:spPr>
            <a:xfrm>
              <a:off x="9960867" y="4345496"/>
              <a:ext cx="1651644" cy="2288898"/>
            </a:xfrm>
            <a:prstGeom prst="rect">
              <a:avLst/>
            </a:prstGeom>
          </p:spPr>
        </p:pic>
        <p:pic>
          <p:nvPicPr>
            <p:cNvPr id="8" name="图片 7"/>
            <p:cNvPicPr>
              <a:picLocks noChangeAspect="1"/>
            </p:cNvPicPr>
            <p:nvPr/>
          </p:nvPicPr>
          <p:blipFill>
            <a:blip r:embed="rId2"/>
            <a:stretch>
              <a:fillRect/>
            </a:stretch>
          </p:blipFill>
          <p:spPr>
            <a:xfrm>
              <a:off x="8077308" y="4217958"/>
              <a:ext cx="1907124" cy="2459021"/>
            </a:xfrm>
            <a:prstGeom prst="rect">
              <a:avLst/>
            </a:prstGeom>
          </p:spPr>
        </p:pic>
        <p:pic>
          <p:nvPicPr>
            <p:cNvPr id="9" name="图片 8"/>
            <p:cNvPicPr>
              <a:picLocks noChangeAspect="1"/>
            </p:cNvPicPr>
            <p:nvPr/>
          </p:nvPicPr>
          <p:blipFill rotWithShape="1">
            <a:blip r:embed="rId3"/>
            <a:srcRect l="1857" t="1454" r="1552"/>
            <a:stretch>
              <a:fillRect/>
            </a:stretch>
          </p:blipFill>
          <p:spPr bwMode="auto">
            <a:xfrm>
              <a:off x="6277107" y="4217958"/>
              <a:ext cx="1907125" cy="2459021"/>
            </a:xfrm>
            <a:prstGeom prst="rect">
              <a:avLst/>
            </a:prstGeom>
            <a:ln>
              <a:noFill/>
            </a:ln>
          </p:spPr>
        </p:pic>
        <p:pic>
          <p:nvPicPr>
            <p:cNvPr id="10" name="图片 9"/>
            <p:cNvPicPr>
              <a:picLocks noChangeAspect="1"/>
            </p:cNvPicPr>
            <p:nvPr/>
          </p:nvPicPr>
          <p:blipFill rotWithShape="1">
            <a:blip r:embed="rId4"/>
            <a:srcRect t="1" b="18397"/>
            <a:stretch>
              <a:fillRect/>
            </a:stretch>
          </p:blipFill>
          <p:spPr bwMode="auto">
            <a:xfrm>
              <a:off x="4323547" y="4224063"/>
              <a:ext cx="1898800" cy="2385610"/>
            </a:xfrm>
            <a:prstGeom prst="rect">
              <a:avLst/>
            </a:prstGeom>
            <a:ln>
              <a:solidFill>
                <a:schemeClr val="tx1"/>
              </a:solidFill>
            </a:ln>
          </p:spPr>
        </p:pic>
        <p:grpSp>
          <p:nvGrpSpPr>
            <p:cNvPr id="11" name="组合 10"/>
            <p:cNvGrpSpPr/>
            <p:nvPr/>
          </p:nvGrpSpPr>
          <p:grpSpPr>
            <a:xfrm>
              <a:off x="551385" y="4217958"/>
              <a:ext cx="1666467" cy="2416436"/>
              <a:chOff x="183520" y="4224063"/>
              <a:chExt cx="1592262" cy="2057400"/>
            </a:xfrm>
          </p:grpSpPr>
          <p:grpSp>
            <p:nvGrpSpPr>
              <p:cNvPr id="16" name="组合 7189"/>
              <p:cNvGrpSpPr/>
              <p:nvPr/>
            </p:nvGrpSpPr>
            <p:grpSpPr bwMode="auto">
              <a:xfrm>
                <a:off x="183520" y="4224063"/>
                <a:ext cx="1592262" cy="2057400"/>
                <a:chOff x="3657600" y="4572000"/>
                <a:chExt cx="1592230" cy="2113867"/>
              </a:xfrm>
            </p:grpSpPr>
            <p:pic>
              <p:nvPicPr>
                <p:cNvPr id="18" name="图片 718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57600" y="4572000"/>
                  <a:ext cx="1592230" cy="21138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9" name="图片 6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4572000"/>
                  <a:ext cx="50165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TextBox 44042"/>
              <p:cNvSpPr txBox="1">
                <a:spLocks noChangeArrowheads="1"/>
              </p:cNvSpPr>
              <p:nvPr/>
            </p:nvSpPr>
            <p:spPr bwMode="auto">
              <a:xfrm>
                <a:off x="412120" y="5671863"/>
                <a:ext cx="1143000"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小类</a:t>
                </a: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1</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区</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a:p>
                <a:pPr algn="ctr">
                  <a:spcBef>
                    <a:spcPct val="0"/>
                  </a:spcBef>
                  <a:buFontTx/>
                  <a:buNone/>
                </a:pP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TOP</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期刊</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p:txBody>
          </p:sp>
        </p:grpSp>
        <p:grpSp>
          <p:nvGrpSpPr>
            <p:cNvPr id="12" name="组合 11"/>
            <p:cNvGrpSpPr/>
            <p:nvPr/>
          </p:nvGrpSpPr>
          <p:grpSpPr>
            <a:xfrm>
              <a:off x="2397473" y="4217958"/>
              <a:ext cx="1797081" cy="2385610"/>
              <a:chOff x="5334000" y="4572000"/>
              <a:chExt cx="1600200" cy="2057400"/>
            </a:xfrm>
          </p:grpSpPr>
          <p:pic>
            <p:nvPicPr>
              <p:cNvPr id="13" name="图片 7190"/>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34000" y="4572000"/>
                <a:ext cx="1600200" cy="205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4" name="图片 6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432550" y="4572000"/>
                <a:ext cx="501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44042"/>
              <p:cNvSpPr txBox="1">
                <a:spLocks noChangeArrowheads="1"/>
              </p:cNvSpPr>
              <p:nvPr/>
            </p:nvSpPr>
            <p:spPr bwMode="auto">
              <a:xfrm>
                <a:off x="5562600" y="5943600"/>
                <a:ext cx="1143000"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小类</a:t>
                </a: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1</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区</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a:p>
                <a:pPr algn="ctr">
                  <a:spcBef>
                    <a:spcPct val="0"/>
                  </a:spcBef>
                  <a:buFontTx/>
                  <a:buNone/>
                </a:pP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TOP</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期刊</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p:txBody>
          </p:sp>
        </p:grpSp>
      </p:grpSp>
      <p:sp>
        <p:nvSpPr>
          <p:cNvPr id="21"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2</a:t>
            </a:r>
            <a:r>
              <a:rPr lang="zh-CN" altLang="en-US" sz="2000" kern="0" dirty="0">
                <a:solidFill>
                  <a:srgbClr val="FF0000"/>
                </a:solidFill>
                <a:latin typeface="方正大黑简体" panose="02010601030101010101" pitchFamily="65" charset="-122"/>
                <a:ea typeface="方正大黑简体" panose="02010601030101010101" pitchFamily="65" charset="-122"/>
              </a:rPr>
              <a:t>、前期研究基础</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91744" y="4649935"/>
            <a:ext cx="2350968" cy="1659385"/>
          </a:xfrm>
          <a:prstGeom prst="rect">
            <a:avLst/>
          </a:prstGeom>
        </p:spPr>
      </p:pic>
      <p:sp>
        <p:nvSpPr>
          <p:cNvPr id="2"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rPr>
              <a:t>（二）团队研究基础</a:t>
            </a:r>
            <a:endParaRPr kumimoji="0" lang="zh-CN" altLang="en-US" sz="2800" b="0" i="0" u="none" strike="noStrike" kern="1200" cap="none" spc="0" normalizeH="0" baseline="0" noProof="1">
              <a:ln>
                <a:noFill/>
              </a:ln>
              <a:solidFill>
                <a:schemeClr val="bg1">
                  <a:lumMod val="75000"/>
                </a:schemeClr>
              </a:solidFill>
              <a:effectLst/>
              <a:uLnTx/>
              <a:uFillTx/>
              <a:latin typeface="方正大黑简体" panose="02010601030101010101" pitchFamily="65" charset="-122"/>
              <a:ea typeface="方正大黑简体" panose="02010601030101010101" pitchFamily="65" charset="-122"/>
              <a:cs typeface="+mn-cs"/>
            </a:endParaRPr>
          </a:p>
        </p:txBody>
      </p:sp>
      <p:sp>
        <p:nvSpPr>
          <p:cNvPr id="3" name="Rectangle 11"/>
          <p:cNvSpPr>
            <a:spLocks noChangeArrowheads="1"/>
          </p:cNvSpPr>
          <p:nvPr/>
        </p:nvSpPr>
        <p:spPr bwMode="auto">
          <a:xfrm>
            <a:off x="407368" y="876627"/>
            <a:ext cx="11592545" cy="1872436"/>
          </a:xfrm>
          <a:prstGeom prst="rect">
            <a:avLst/>
          </a:prstGeom>
          <a:noFill/>
          <a:ln w="9525">
            <a:noFill/>
          </a:ln>
        </p:spPr>
        <p:txBody>
          <a:bodyPr wrap="square">
            <a:spAutoFit/>
          </a:bodyPr>
          <a:lstStyle/>
          <a:p>
            <a:pPr marL="802005" indent="-802005" eaLnBrk="0" fontAlgn="base" hangingPunct="0">
              <a:spcBef>
                <a:spcPct val="0"/>
              </a:spcBef>
              <a:spcAft>
                <a:spcPct val="0"/>
              </a:spcAft>
              <a:buClr>
                <a:srgbClr val="FF0000"/>
              </a:buClr>
            </a:pPr>
            <a:endParaRPr lang="en-US" altLang="zh-CN" sz="2000" kern="0" dirty="0">
              <a:solidFill>
                <a:srgbClr val="FF0000"/>
              </a:solidFill>
              <a:latin typeface="方正大黑简体" panose="02010601030101010101" pitchFamily="65" charset="-122"/>
              <a:ea typeface="方正大黑简体" panose="02010601030101010101" pitchFamily="65" charset="-122"/>
              <a:sym typeface="Arial" panose="020B0604020202020204" pitchFamily="34" charset="0"/>
            </a:endParaRPr>
          </a:p>
          <a:p>
            <a:pPr indent="457200" algn="just" eaLnBrk="0" fontAlgn="base" hangingPunct="0">
              <a:lnSpc>
                <a:spcPct val="150000"/>
              </a:lnSpc>
              <a:spcBef>
                <a:spcPts val="300"/>
              </a:spcBef>
              <a:spcAft>
                <a:spcPct val="0"/>
              </a:spcAft>
              <a:buClr>
                <a:srgbClr val="FF0000"/>
              </a:buCl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本团队提出的新一代压降曲线分析技术和</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函数反演裂缝尺寸计算模型先后应用于</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塔里木油田</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某压裂井、</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新疆石西</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161H</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压裂井、</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海能发</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海上</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口压裂井和</a:t>
            </a:r>
            <a:r>
              <a:rPr kumimoji="1" lang="zh-CN" altLang="en-US" sz="1600"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西南油气田</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宁</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209H5</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平台某压裂井，结果表明计算结果均与现场微震解释结果和广域电磁裂缝波及长宽解释结果相符，具有良好的反演效果。运用本模型能够解释压后裂缝形态及规模</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从而为后续现场优化压裂施工参数、改进压裂施工方案、合理部署开发提供技术指导。</a:t>
            </a:r>
            <a:endParaRPr kumimoji="1" lang="zh-CN" altLang="en-US" sz="16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3</a:t>
            </a:r>
            <a:r>
              <a:rPr lang="zh-CN" altLang="en-US" sz="2000" kern="0" dirty="0">
                <a:solidFill>
                  <a:srgbClr val="FF0000"/>
                </a:solidFill>
                <a:latin typeface="方正大黑简体" panose="02010601030101010101" pitchFamily="65" charset="-122"/>
                <a:ea typeface="方正大黑简体" panose="02010601030101010101" pitchFamily="65" charset="-122"/>
              </a:rPr>
              <a:t>、现场应用案例</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grpSp>
        <p:nvGrpSpPr>
          <p:cNvPr id="20" name="组合 19"/>
          <p:cNvGrpSpPr/>
          <p:nvPr/>
        </p:nvGrpSpPr>
        <p:grpSpPr>
          <a:xfrm>
            <a:off x="9480376" y="3085951"/>
            <a:ext cx="2598715" cy="1495177"/>
            <a:chOff x="4405296" y="2654294"/>
            <a:chExt cx="4242923" cy="1940668"/>
          </a:xfrm>
        </p:grpSpPr>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5296" y="2687706"/>
              <a:ext cx="2344099" cy="1758073"/>
            </a:xfrm>
            <a:prstGeom prst="rect">
              <a:avLst/>
            </a:prstGeom>
          </p:spPr>
        </p:pic>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03943" y="2654294"/>
              <a:ext cx="2237759" cy="1678319"/>
            </a:xfrm>
            <a:prstGeom prst="rect">
              <a:avLst/>
            </a:prstGeom>
          </p:spPr>
        </p:pic>
        <p:sp>
          <p:nvSpPr>
            <p:cNvPr id="24" name="文本框 23"/>
            <p:cNvSpPr txBox="1"/>
            <p:nvPr/>
          </p:nvSpPr>
          <p:spPr>
            <a:xfrm>
              <a:off x="6286376" y="4208383"/>
              <a:ext cx="2361843" cy="38657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dirty="0"/>
            </a:p>
          </p:txBody>
        </p:sp>
      </p:grpSp>
      <p:grpSp>
        <p:nvGrpSpPr>
          <p:cNvPr id="25" name="组合 24"/>
          <p:cNvGrpSpPr/>
          <p:nvPr/>
        </p:nvGrpSpPr>
        <p:grpSpPr>
          <a:xfrm>
            <a:off x="6304991" y="2996991"/>
            <a:ext cx="3250466" cy="3175268"/>
            <a:chOff x="119457" y="3429000"/>
            <a:chExt cx="4490739" cy="3159308"/>
          </a:xfrm>
        </p:grpSpPr>
        <p:pic>
          <p:nvPicPr>
            <p:cNvPr id="26" name="图片 25"/>
            <p:cNvPicPr>
              <a:picLocks noChangeAspect="1"/>
            </p:cNvPicPr>
            <p:nvPr/>
          </p:nvPicPr>
          <p:blipFill>
            <a:blip r:embed="rId4"/>
            <a:stretch>
              <a:fillRect/>
            </a:stretch>
          </p:blipFill>
          <p:spPr>
            <a:xfrm>
              <a:off x="119457" y="3429000"/>
              <a:ext cx="4490739" cy="3159308"/>
            </a:xfrm>
            <a:prstGeom prst="rect">
              <a:avLst/>
            </a:prstGeom>
          </p:spPr>
        </p:pic>
        <p:sp>
          <p:nvSpPr>
            <p:cNvPr id="27" name="椭圆 26"/>
            <p:cNvSpPr/>
            <p:nvPr/>
          </p:nvSpPr>
          <p:spPr>
            <a:xfrm>
              <a:off x="3675520" y="5311627"/>
              <a:ext cx="788531" cy="325714"/>
            </a:xfrm>
            <a:prstGeom prst="ellipse">
              <a:avLst/>
            </a:prstGeom>
            <a:noFill/>
            <a:ln w="25400">
              <a:solidFill>
                <a:srgbClr val="171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8" name="图片 27"/>
          <p:cNvPicPr>
            <a:picLocks noChangeAspect="1"/>
          </p:cNvPicPr>
          <p:nvPr/>
        </p:nvPicPr>
        <p:blipFill>
          <a:blip r:embed="rId5"/>
          <a:stretch>
            <a:fillRect/>
          </a:stretch>
        </p:blipFill>
        <p:spPr>
          <a:xfrm>
            <a:off x="9716896" y="4730033"/>
            <a:ext cx="2283017" cy="1391531"/>
          </a:xfrm>
          <a:prstGeom prst="rect">
            <a:avLst/>
          </a:prstGeom>
        </p:spPr>
      </p:pic>
      <p:cxnSp>
        <p:nvCxnSpPr>
          <p:cNvPr id="29" name="直接箭头连接符 28"/>
          <p:cNvCxnSpPr/>
          <p:nvPr/>
        </p:nvCxnSpPr>
        <p:spPr>
          <a:xfrm flipV="1">
            <a:off x="9227679" y="4393145"/>
            <a:ext cx="526166" cy="5188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表格 29"/>
          <p:cNvGraphicFramePr>
            <a:graphicFrameLocks noGrp="1"/>
          </p:cNvGraphicFramePr>
          <p:nvPr/>
        </p:nvGraphicFramePr>
        <p:xfrm>
          <a:off x="47328" y="4710562"/>
          <a:ext cx="3582137" cy="1454742"/>
        </p:xfrm>
        <a:graphic>
          <a:graphicData uri="http://schemas.openxmlformats.org/drawingml/2006/table">
            <a:tbl>
              <a:tblPr firstRow="1" firstCol="1" bandRow="1"/>
              <a:tblGrid>
                <a:gridCol w="1208481"/>
                <a:gridCol w="572201"/>
                <a:gridCol w="600485"/>
                <a:gridCol w="600485"/>
                <a:gridCol w="600485"/>
              </a:tblGrid>
              <a:tr h="196960">
                <a:tc>
                  <a:txBody>
                    <a:bodyPr/>
                    <a:lstStyle/>
                    <a:p>
                      <a:pPr algn="ctr">
                        <a:lnSpc>
                          <a:spcPct val="150000"/>
                        </a:lnSpc>
                      </a:pPr>
                      <a:r>
                        <a:rPr lang="zh-CN" sz="1050" b="1" kern="100">
                          <a:solidFill>
                            <a:srgbClr val="000000"/>
                          </a:solidFill>
                          <a:effectLst/>
                          <a:latin typeface="Times New Roman" panose="02020603050405020304" pitchFamily="18" charset="0"/>
                          <a:ea typeface="宋体" panose="02010600030101010101" pitchFamily="2" charset="-122"/>
                        </a:rPr>
                        <a:t>参数</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1050" b="1" kern="100" dirty="0">
                          <a:solidFill>
                            <a:srgbClr val="000000"/>
                          </a:solidFill>
                          <a:effectLst/>
                          <a:latin typeface="Times New Roman" panose="02020603050405020304" pitchFamily="18" charset="0"/>
                          <a:ea typeface="宋体" panose="02010600030101010101" pitchFamily="2" charset="-122"/>
                        </a:rPr>
                        <a:t>第</a:t>
                      </a:r>
                      <a:r>
                        <a:rPr lang="en-US" sz="1050" b="1" kern="100" dirty="0">
                          <a:solidFill>
                            <a:srgbClr val="000000"/>
                          </a:solidFill>
                          <a:effectLst/>
                          <a:latin typeface="Times New Roman" panose="02020603050405020304" pitchFamily="18" charset="0"/>
                          <a:ea typeface="宋体" panose="02010600030101010101" pitchFamily="2" charset="-122"/>
                        </a:rPr>
                        <a:t>1</a:t>
                      </a:r>
                      <a:r>
                        <a:rPr lang="zh-CN" sz="1050" b="1" kern="100" dirty="0">
                          <a:solidFill>
                            <a:srgbClr val="000000"/>
                          </a:solidFill>
                          <a:effectLst/>
                          <a:latin typeface="Times New Roman" panose="02020603050405020304" pitchFamily="18" charset="0"/>
                          <a:ea typeface="宋体" panose="02010600030101010101" pitchFamily="2" charset="-122"/>
                        </a:rPr>
                        <a:t>段</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1050" b="1" kern="100" dirty="0">
                          <a:solidFill>
                            <a:srgbClr val="000000"/>
                          </a:solidFill>
                          <a:effectLst/>
                          <a:latin typeface="Times New Roman" panose="02020603050405020304" pitchFamily="18" charset="0"/>
                          <a:ea typeface="宋体" panose="02010600030101010101" pitchFamily="2" charset="-122"/>
                        </a:rPr>
                        <a:t>第</a:t>
                      </a:r>
                      <a:r>
                        <a:rPr lang="en-US" sz="1050" b="1" kern="100" dirty="0">
                          <a:solidFill>
                            <a:srgbClr val="000000"/>
                          </a:solidFill>
                          <a:effectLst/>
                          <a:latin typeface="Times New Roman" panose="02020603050405020304" pitchFamily="18" charset="0"/>
                          <a:ea typeface="宋体" panose="02010600030101010101" pitchFamily="2" charset="-122"/>
                        </a:rPr>
                        <a:t>7</a:t>
                      </a:r>
                      <a:r>
                        <a:rPr lang="zh-CN" sz="1050" b="1" kern="100" dirty="0">
                          <a:solidFill>
                            <a:srgbClr val="000000"/>
                          </a:solidFill>
                          <a:effectLst/>
                          <a:latin typeface="Times New Roman" panose="02020603050405020304" pitchFamily="18" charset="0"/>
                          <a:ea typeface="宋体" panose="02010600030101010101" pitchFamily="2" charset="-122"/>
                        </a:rPr>
                        <a:t>段</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1050" b="1" kern="100">
                          <a:solidFill>
                            <a:srgbClr val="000000"/>
                          </a:solidFill>
                          <a:effectLst/>
                          <a:latin typeface="Times New Roman" panose="02020603050405020304" pitchFamily="18" charset="0"/>
                          <a:ea typeface="宋体" panose="02010600030101010101" pitchFamily="2" charset="-122"/>
                        </a:rPr>
                        <a:t>第</a:t>
                      </a:r>
                      <a:r>
                        <a:rPr lang="en-US" sz="1050" b="1" kern="100">
                          <a:solidFill>
                            <a:srgbClr val="000000"/>
                          </a:solidFill>
                          <a:effectLst/>
                          <a:latin typeface="Times New Roman" panose="02020603050405020304" pitchFamily="18" charset="0"/>
                          <a:ea typeface="宋体" panose="02010600030101010101" pitchFamily="2" charset="-122"/>
                        </a:rPr>
                        <a:t>8</a:t>
                      </a:r>
                      <a:r>
                        <a:rPr lang="zh-CN" sz="1050" b="1" kern="100">
                          <a:solidFill>
                            <a:srgbClr val="000000"/>
                          </a:solidFill>
                          <a:effectLst/>
                          <a:latin typeface="Times New Roman" panose="02020603050405020304" pitchFamily="18" charset="0"/>
                          <a:ea typeface="宋体" panose="02010600030101010101" pitchFamily="2" charset="-122"/>
                        </a:rPr>
                        <a:t>段</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pPr>
                      <a:r>
                        <a:rPr lang="zh-CN" sz="1050" b="1" kern="100">
                          <a:solidFill>
                            <a:srgbClr val="000000"/>
                          </a:solidFill>
                          <a:effectLst/>
                          <a:latin typeface="Times New Roman" panose="02020603050405020304" pitchFamily="18" charset="0"/>
                          <a:ea typeface="宋体" panose="02010600030101010101" pitchFamily="2" charset="-122"/>
                        </a:rPr>
                        <a:t>第</a:t>
                      </a:r>
                      <a:r>
                        <a:rPr lang="en-US" sz="1050" b="1" kern="100">
                          <a:solidFill>
                            <a:srgbClr val="000000"/>
                          </a:solidFill>
                          <a:effectLst/>
                          <a:latin typeface="Times New Roman" panose="02020603050405020304" pitchFamily="18" charset="0"/>
                          <a:ea typeface="宋体" panose="02010600030101010101" pitchFamily="2" charset="-122"/>
                        </a:rPr>
                        <a:t>9</a:t>
                      </a:r>
                      <a:r>
                        <a:rPr lang="zh-CN" sz="1050" b="1" kern="100">
                          <a:solidFill>
                            <a:srgbClr val="000000"/>
                          </a:solidFill>
                          <a:effectLst/>
                          <a:latin typeface="Times New Roman" panose="02020603050405020304" pitchFamily="18" charset="0"/>
                          <a:ea typeface="宋体" panose="02010600030101010101" pitchFamily="2" charset="-122"/>
                        </a:rPr>
                        <a:t>段</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282">
                <a:tc>
                  <a:txBody>
                    <a:bodyPr/>
                    <a:lstStyle/>
                    <a:p>
                      <a:pPr algn="ctr">
                        <a:lnSpc>
                          <a:spcPct val="150000"/>
                        </a:lnSpc>
                      </a:pPr>
                      <a:r>
                        <a:rPr lang="zh-CN" sz="1050" kern="100" dirty="0">
                          <a:solidFill>
                            <a:srgbClr val="000000"/>
                          </a:solidFill>
                          <a:effectLst/>
                          <a:latin typeface="Times New Roman" panose="02020603050405020304" pitchFamily="18" charset="0"/>
                          <a:ea typeface="宋体" panose="02010600030101010101" pitchFamily="2" charset="-122"/>
                        </a:rPr>
                        <a:t>裂缝长度，</a:t>
                      </a:r>
                      <a:r>
                        <a:rPr lang="en-US" sz="1050" kern="100" dirty="0">
                          <a:effectLst/>
                          <a:latin typeface="Times New Roman" panose="02020603050405020304" pitchFamily="18" charset="0"/>
                          <a:ea typeface="宋体" panose="02010600030101010101" pitchFamily="2" charset="-122"/>
                        </a:rPr>
                        <a:t>m</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1050" kern="100">
                          <a:solidFill>
                            <a:srgbClr val="000000"/>
                          </a:solidFill>
                          <a:effectLst/>
                          <a:latin typeface="Times New Roman" panose="02020603050405020304" pitchFamily="18" charset="0"/>
                          <a:ea typeface="宋体" panose="02010600030101010101" pitchFamily="2" charset="-122"/>
                        </a:rPr>
                        <a:t>146.108</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322.727</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253.941</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264.428</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11282">
                <a:tc>
                  <a:txBody>
                    <a:bodyPr/>
                    <a:lstStyle/>
                    <a:p>
                      <a:pPr algn="ctr">
                        <a:lnSpc>
                          <a:spcPct val="150000"/>
                        </a:lnSpc>
                      </a:pPr>
                      <a:r>
                        <a:rPr lang="zh-CN" sz="1050" kern="100">
                          <a:solidFill>
                            <a:srgbClr val="000000"/>
                          </a:solidFill>
                          <a:effectLst/>
                          <a:latin typeface="Times New Roman" panose="02020603050405020304" pitchFamily="18" charset="0"/>
                          <a:ea typeface="宋体" panose="02010600030101010101" pitchFamily="2" charset="-122"/>
                        </a:rPr>
                        <a:t>最大缝宽，</a:t>
                      </a:r>
                      <a:r>
                        <a:rPr lang="en-US" sz="1050" kern="100">
                          <a:effectLst/>
                          <a:latin typeface="Times New Roman" panose="02020603050405020304" pitchFamily="18" charset="0"/>
                          <a:ea typeface="宋体" panose="02010600030101010101" pitchFamily="2" charset="-122"/>
                        </a:rPr>
                        <a:t>m</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a:solidFill>
                            <a:srgbClr val="000000"/>
                          </a:solidFill>
                          <a:effectLst/>
                          <a:latin typeface="Times New Roman" panose="02020603050405020304" pitchFamily="18" charset="0"/>
                          <a:ea typeface="宋体" panose="02010600030101010101" pitchFamily="2" charset="-122"/>
                        </a:rPr>
                        <a:t>0.0188</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0.0242</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0.0166</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0.0165</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1050" kern="100" dirty="0">
                          <a:solidFill>
                            <a:srgbClr val="000000"/>
                          </a:solidFill>
                          <a:effectLst/>
                          <a:latin typeface="Times New Roman" panose="02020603050405020304" pitchFamily="18" charset="0"/>
                          <a:ea typeface="宋体" panose="02010600030101010101" pitchFamily="2" charset="-122"/>
                        </a:rPr>
                        <a:t>压裂液效率，</a:t>
                      </a:r>
                      <a:r>
                        <a:rPr lang="en-US" sz="1050" kern="100" dirty="0">
                          <a:effectLst/>
                          <a:latin typeface="Times New Roman" panose="02020603050405020304" pitchFamily="18" charset="0"/>
                          <a:ea typeface="宋体" panose="02010600030101010101" pitchFamily="2" charset="-122"/>
                        </a:rPr>
                        <a:t>%</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21.835</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20.298</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21.968</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en-US" sz="1050" kern="100">
                          <a:solidFill>
                            <a:srgbClr val="000000"/>
                          </a:solidFill>
                          <a:effectLst/>
                          <a:latin typeface="Times New Roman" panose="02020603050405020304" pitchFamily="18" charset="0"/>
                          <a:ea typeface="宋体" panose="02010600030101010101" pitchFamily="2" charset="-122"/>
                        </a:rPr>
                        <a:t>22.674</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tr>
              <a:tr h="311282">
                <a:tc>
                  <a:txBody>
                    <a:bodyPr/>
                    <a:lstStyle/>
                    <a:p>
                      <a:pPr algn="ctr">
                        <a:lnSpc>
                          <a:spcPct val="150000"/>
                        </a:lnSpc>
                      </a:pPr>
                      <a:r>
                        <a:rPr lang="zh-CN" sz="1050" kern="100">
                          <a:solidFill>
                            <a:srgbClr val="000000"/>
                          </a:solidFill>
                          <a:effectLst/>
                          <a:latin typeface="Times New Roman" panose="02020603050405020304" pitchFamily="18" charset="0"/>
                          <a:ea typeface="宋体" panose="02010600030101010101" pitchFamily="2" charset="-122"/>
                        </a:rPr>
                        <a:t>滤失系数，</a:t>
                      </a:r>
                      <a:r>
                        <a:rPr lang="en-US" sz="1050" kern="100">
                          <a:effectLst/>
                          <a:latin typeface="Times New Roman" panose="02020603050405020304" pitchFamily="18" charset="0"/>
                          <a:ea typeface="宋体" panose="02010600030101010101" pitchFamily="2" charset="-122"/>
                        </a:rPr>
                        <a:t>m/s</a:t>
                      </a:r>
                      <a:r>
                        <a:rPr lang="en-US" sz="1050" kern="100" baseline="30000">
                          <a:effectLst/>
                          <a:latin typeface="Times New Roman" panose="02020603050405020304" pitchFamily="18" charset="0"/>
                          <a:ea typeface="宋体" panose="02010600030101010101" pitchFamily="2" charset="-122"/>
                        </a:rPr>
                        <a:t>0.5</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1050" kern="100">
                          <a:solidFill>
                            <a:srgbClr val="000000"/>
                          </a:solidFill>
                          <a:effectLst/>
                          <a:latin typeface="Times New Roman" panose="02020603050405020304" pitchFamily="18" charset="0"/>
                          <a:ea typeface="宋体" panose="02010600030101010101" pitchFamily="2" charset="-122"/>
                        </a:rPr>
                        <a:t>0.00037</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0.00047</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0.00027</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pPr>
                      <a:r>
                        <a:rPr lang="en-US" sz="1050" kern="100" dirty="0">
                          <a:solidFill>
                            <a:srgbClr val="000000"/>
                          </a:solidFill>
                          <a:effectLst/>
                          <a:latin typeface="Times New Roman" panose="02020603050405020304" pitchFamily="18" charset="0"/>
                          <a:ea typeface="宋体" panose="02010600030101010101" pitchFamily="2" charset="-122"/>
                        </a:rPr>
                        <a:t>0.00026</a:t>
                      </a:r>
                      <a:endParaRPr lang="zh-CN" sz="105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grpSp>
        <p:nvGrpSpPr>
          <p:cNvPr id="46" name="组合 45"/>
          <p:cNvGrpSpPr/>
          <p:nvPr/>
        </p:nvGrpSpPr>
        <p:grpSpPr>
          <a:xfrm>
            <a:off x="47329" y="2924944"/>
            <a:ext cx="3293821" cy="1659681"/>
            <a:chOff x="93585" y="2924944"/>
            <a:chExt cx="3803441" cy="1659681"/>
          </a:xfrm>
        </p:grpSpPr>
        <p:pic>
          <p:nvPicPr>
            <p:cNvPr id="32" name="图片 21"/>
            <p:cNvPicPr>
              <a:picLocks noChangeAspect="1" noChangeArrowheads="1"/>
            </p:cNvPicPr>
            <p:nvPr/>
          </p:nvPicPr>
          <p:blipFill>
            <a:blip r:embed="rId6" cstate="print">
              <a:extLst>
                <a:ext uri="{28A0092B-C50C-407E-A947-70E740481C1C}">
                  <a14:useLocalDpi xmlns:a14="http://schemas.microsoft.com/office/drawing/2010/main" val="0"/>
                </a:ext>
              </a:extLst>
            </a:blip>
            <a:srcRect l="4121" t="10498" r="9720" b="2789"/>
            <a:stretch>
              <a:fillRect/>
            </a:stretch>
          </p:blipFill>
          <p:spPr bwMode="auto">
            <a:xfrm>
              <a:off x="118386" y="2924944"/>
              <a:ext cx="1887744" cy="815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图片 22"/>
            <p:cNvPicPr>
              <a:picLocks noChangeAspect="1" noChangeArrowheads="1"/>
            </p:cNvPicPr>
            <p:nvPr/>
          </p:nvPicPr>
          <p:blipFill>
            <a:blip r:embed="rId7" cstate="print">
              <a:extLst>
                <a:ext uri="{28A0092B-C50C-407E-A947-70E740481C1C}">
                  <a14:useLocalDpi xmlns:a14="http://schemas.microsoft.com/office/drawing/2010/main" val="0"/>
                </a:ext>
              </a:extLst>
            </a:blip>
            <a:srcRect t="11154" r="11195" b="2625"/>
            <a:stretch>
              <a:fillRect/>
            </a:stretch>
          </p:blipFill>
          <p:spPr bwMode="auto">
            <a:xfrm>
              <a:off x="2019944" y="2924944"/>
              <a:ext cx="1864110" cy="80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图片 24"/>
            <p:cNvPicPr>
              <a:picLocks noChangeAspect="1" noChangeArrowheads="1"/>
            </p:cNvPicPr>
            <p:nvPr/>
          </p:nvPicPr>
          <p:blipFill>
            <a:blip r:embed="rId8" cstate="print">
              <a:extLst>
                <a:ext uri="{28A0092B-C50C-407E-A947-70E740481C1C}">
                  <a14:useLocalDpi xmlns:a14="http://schemas.microsoft.com/office/drawing/2010/main" val="0"/>
                </a:ext>
              </a:extLst>
            </a:blip>
            <a:srcRect l="2829" t="10252" r="10950"/>
            <a:stretch>
              <a:fillRect/>
            </a:stretch>
          </p:blipFill>
          <p:spPr bwMode="auto">
            <a:xfrm>
              <a:off x="2041952" y="3729779"/>
              <a:ext cx="1855074"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图片 23"/>
            <p:cNvPicPr>
              <a:picLocks noChangeAspect="1" noChangeArrowheads="1"/>
            </p:cNvPicPr>
            <p:nvPr/>
          </p:nvPicPr>
          <p:blipFill>
            <a:blip r:embed="rId9" cstate="print">
              <a:extLst>
                <a:ext uri="{28A0092B-C50C-407E-A947-70E740481C1C}">
                  <a14:useLocalDpi xmlns:a14="http://schemas.microsoft.com/office/drawing/2010/main" val="0"/>
                </a:ext>
              </a:extLst>
            </a:blip>
            <a:srcRect l="2829" t="10580" r="11380" b="2953"/>
            <a:stretch>
              <a:fillRect/>
            </a:stretch>
          </p:blipFill>
          <p:spPr bwMode="auto">
            <a:xfrm>
              <a:off x="93585" y="3729779"/>
              <a:ext cx="1887744" cy="85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 name="组合 47"/>
          <p:cNvGrpSpPr/>
          <p:nvPr/>
        </p:nvGrpSpPr>
        <p:grpSpPr>
          <a:xfrm>
            <a:off x="3503712" y="2865637"/>
            <a:ext cx="2760126" cy="2136506"/>
            <a:chOff x="3791744" y="2865637"/>
            <a:chExt cx="3034399" cy="2136506"/>
          </a:xfrm>
        </p:grpSpPr>
        <p:pic>
          <p:nvPicPr>
            <p:cNvPr id="37" name="图片 19"/>
            <p:cNvPicPr>
              <a:picLocks noChangeAspect="1" noChangeArrowheads="1"/>
            </p:cNvPicPr>
            <p:nvPr/>
          </p:nvPicPr>
          <p:blipFill>
            <a:blip r:embed="rId10" cstate="print">
              <a:extLst>
                <a:ext uri="{28A0092B-C50C-407E-A947-70E740481C1C}">
                  <a14:useLocalDpi xmlns:a14="http://schemas.microsoft.com/office/drawing/2010/main" val="0"/>
                </a:ext>
              </a:extLst>
            </a:blip>
            <a:srcRect l="9686" t="2521" r="4675" b="9604"/>
            <a:stretch>
              <a:fillRect/>
            </a:stretch>
          </p:blipFill>
          <p:spPr bwMode="auto">
            <a:xfrm rot="16200000">
              <a:off x="4085369" y="2572012"/>
              <a:ext cx="813342" cy="1400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20"/>
            <p:cNvPicPr>
              <a:picLocks noChangeAspect="1" noChangeArrowheads="1"/>
            </p:cNvPicPr>
            <p:nvPr/>
          </p:nvPicPr>
          <p:blipFill>
            <a:blip r:embed="rId11" cstate="print">
              <a:extLst>
                <a:ext uri="{28A0092B-C50C-407E-A947-70E740481C1C}">
                  <a14:useLocalDpi xmlns:a14="http://schemas.microsoft.com/office/drawing/2010/main" val="0"/>
                </a:ext>
              </a:extLst>
            </a:blip>
            <a:srcRect l="9975" t="2724" r="2805" b="9676"/>
            <a:stretch>
              <a:fillRect/>
            </a:stretch>
          </p:blipFill>
          <p:spPr bwMode="auto">
            <a:xfrm rot="16200000">
              <a:off x="5473130" y="2589887"/>
              <a:ext cx="815208" cy="1376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26"/>
            <p:cNvPicPr>
              <a:picLocks noChangeAspect="1" noChangeArrowheads="1"/>
            </p:cNvPicPr>
            <p:nvPr/>
          </p:nvPicPr>
          <p:blipFill>
            <a:blip r:embed="rId12" cstate="print">
              <a:extLst>
                <a:ext uri="{28A0092B-C50C-407E-A947-70E740481C1C}">
                  <a14:useLocalDpi xmlns:a14="http://schemas.microsoft.com/office/drawing/2010/main" val="0"/>
                </a:ext>
              </a:extLst>
            </a:blip>
            <a:srcRect l="9448" t="3175" r="3650" b="9735"/>
            <a:stretch>
              <a:fillRect/>
            </a:stretch>
          </p:blipFill>
          <p:spPr bwMode="auto">
            <a:xfrm rot="16200000">
              <a:off x="4083228" y="3399660"/>
              <a:ext cx="822878" cy="13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27"/>
            <p:cNvPicPr>
              <a:picLocks noChangeAspect="1" noChangeArrowheads="1"/>
            </p:cNvPicPr>
            <p:nvPr/>
          </p:nvPicPr>
          <p:blipFill>
            <a:blip r:embed="rId13" cstate="print">
              <a:extLst>
                <a:ext uri="{28A0092B-C50C-407E-A947-70E740481C1C}">
                  <a14:useLocalDpi xmlns:a14="http://schemas.microsoft.com/office/drawing/2010/main" val="0"/>
                </a:ext>
              </a:extLst>
            </a:blip>
            <a:srcRect l="9103" t="3740" r="5135" b="8919"/>
            <a:stretch>
              <a:fillRect/>
            </a:stretch>
          </p:blipFill>
          <p:spPr bwMode="auto">
            <a:xfrm rot="16200000">
              <a:off x="5469292" y="3408930"/>
              <a:ext cx="822880" cy="137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文本框 40"/>
            <p:cNvSpPr txBox="1"/>
            <p:nvPr/>
          </p:nvSpPr>
          <p:spPr>
            <a:xfrm>
              <a:off x="4678970" y="4270343"/>
              <a:ext cx="2147173"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微地震解释结果</a:t>
              </a:r>
              <a:endParaRPr lang="zh-CN" altLang="en-US" sz="1200" dirty="0"/>
            </a:p>
          </p:txBody>
        </p:sp>
        <p:sp>
          <p:nvSpPr>
            <p:cNvPr id="31" name="文本框 30"/>
            <p:cNvSpPr txBox="1"/>
            <p:nvPr/>
          </p:nvSpPr>
          <p:spPr>
            <a:xfrm>
              <a:off x="4108398" y="4725144"/>
              <a:ext cx="2147174"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准确性对比</a:t>
              </a:r>
              <a:endParaRPr lang="zh-CN" altLang="en-US" sz="1200" dirty="0"/>
            </a:p>
          </p:txBody>
        </p:sp>
      </p:grpSp>
      <p:sp>
        <p:nvSpPr>
          <p:cNvPr id="43" name="矩形 22"/>
          <p:cNvSpPr>
            <a:spLocks noChangeArrowheads="1"/>
          </p:cNvSpPr>
          <p:nvPr/>
        </p:nvSpPr>
        <p:spPr bwMode="auto">
          <a:xfrm>
            <a:off x="1634986" y="6320353"/>
            <a:ext cx="2954655"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b="1" dirty="0">
                <a:latin typeface="微软雅黑" panose="020B0503020204020204" pitchFamily="34" charset="-122"/>
                <a:ea typeface="微软雅黑" panose="020B0503020204020204" pitchFamily="34" charset="-122"/>
              </a:rPr>
              <a:t>压降模型反演结果与微地震解释结果对比</a:t>
            </a:r>
            <a:endParaRPr lang="zh-CN" altLang="en-US" sz="1200" b="1" dirty="0">
              <a:latin typeface="微软雅黑" panose="020B0503020204020204" pitchFamily="34" charset="-122"/>
              <a:ea typeface="微软雅黑" panose="020B0503020204020204" pitchFamily="34" charset="-122"/>
            </a:endParaRPr>
          </a:p>
        </p:txBody>
      </p:sp>
      <p:sp>
        <p:nvSpPr>
          <p:cNvPr id="50" name="矩形 22"/>
          <p:cNvSpPr>
            <a:spLocks noChangeArrowheads="1"/>
          </p:cNvSpPr>
          <p:nvPr/>
        </p:nvSpPr>
        <p:spPr bwMode="auto">
          <a:xfrm>
            <a:off x="7884001" y="6248345"/>
            <a:ext cx="3108543"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b="1" dirty="0">
                <a:latin typeface="微软雅黑" panose="020B0503020204020204" pitchFamily="34" charset="-122"/>
                <a:ea typeface="微软雅黑" panose="020B0503020204020204" pitchFamily="34" charset="-122"/>
              </a:rPr>
              <a:t>压降模型反演结果与广域电磁解释结果对比</a:t>
            </a:r>
            <a:endParaRPr lang="zh-CN" altLang="en-US" sz="1200" b="1" dirty="0">
              <a:latin typeface="微软雅黑" panose="020B0503020204020204" pitchFamily="34" charset="-122"/>
              <a:ea typeface="微软雅黑" panose="020B0503020204020204" pitchFamily="34" charset="-122"/>
            </a:endParaRPr>
          </a:p>
        </p:txBody>
      </p:sp>
      <p:sp>
        <p:nvSpPr>
          <p:cNvPr id="51" name="文本框 50"/>
          <p:cNvSpPr txBox="1"/>
          <p:nvPr/>
        </p:nvSpPr>
        <p:spPr>
          <a:xfrm>
            <a:off x="1560159" y="4305279"/>
            <a:ext cx="1848457"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压降模型反演结果</a:t>
            </a:r>
            <a:endParaRPr lang="zh-CN" altLang="en-US" sz="1200" b="1" dirty="0"/>
          </a:p>
        </p:txBody>
      </p:sp>
      <p:sp>
        <p:nvSpPr>
          <p:cNvPr id="52" name="文本框 51"/>
          <p:cNvSpPr txBox="1"/>
          <p:nvPr/>
        </p:nvSpPr>
        <p:spPr>
          <a:xfrm>
            <a:off x="10745413" y="5877272"/>
            <a:ext cx="1446587" cy="276999"/>
          </a:xfrm>
          <a:prstGeom prst="rect">
            <a:avLst/>
          </a:prstGeom>
          <a:noFill/>
        </p:spPr>
        <p:txBody>
          <a:bodyPr wrap="squar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广域电磁解释结果</a:t>
            </a:r>
            <a:endParaRPr lang="zh-CN" alt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5" name="表格 3"/>
          <p:cNvGraphicFramePr>
            <a:graphicFrameLocks noGrp="1"/>
          </p:cNvGraphicFramePr>
          <p:nvPr/>
        </p:nvGraphicFramePr>
        <p:xfrm>
          <a:off x="407368" y="1700808"/>
          <a:ext cx="11377263" cy="4657188"/>
        </p:xfrm>
        <a:graphic>
          <a:graphicData uri="http://schemas.openxmlformats.org/drawingml/2006/table">
            <a:tbl>
              <a:tblPr/>
              <a:tblGrid>
                <a:gridCol w="3792421"/>
                <a:gridCol w="3792421"/>
                <a:gridCol w="3792421"/>
              </a:tblGrid>
              <a:tr h="438594">
                <a:tc gridSpan="2">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编号与类型</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hMerge="1">
                  <a:tcPr marL="9525" marR="9525" marT="9525" marB="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r>
              <a:tr h="438594">
                <a:tc>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编号</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名称</a:t>
                      </a:r>
                      <a:endParaRPr lang="zh-CN" altLang="en-US" sz="1400" b="1"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65000"/>
                      </a:schemeClr>
                    </a:solidFill>
                  </a:tcPr>
                </a:tc>
                <a:tc vMerge="1">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54000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设计制图费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50.13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图书资料费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出版</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文献</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知识产权费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办公费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差旅费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5.37</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咨询评审费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管理费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9.23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税费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2.07</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gridSpan="2">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合计（万元）</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cPr marL="9525" marR="9525" marT="9525" marB="0" anchor="ctr">
                    <a:lnL w="6350" cap="flat" cmpd="sng" algn="ctr">
                      <a:solidFill>
                        <a:schemeClr val="tx1"/>
                      </a:solidFill>
                      <a:prstDash val="solid"/>
                      <a:round/>
                      <a:headEnd type="none" w="med" len="med"/>
                      <a:tailEnd type="none" w="med" len="med"/>
                    </a:lnL>
                    <a:lnR>
                      <a:noFill/>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71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1048826"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（三）经费安排</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4" name="Rectangle 11"/>
          <p:cNvSpPr>
            <a:spLocks noChangeArrowheads="1"/>
          </p:cNvSpPr>
          <p:nvPr/>
        </p:nvSpPr>
        <p:spPr bwMode="auto">
          <a:xfrm>
            <a:off x="326269" y="876627"/>
            <a:ext cx="9802180" cy="764440"/>
          </a:xfrm>
          <a:prstGeom prst="rect">
            <a:avLst/>
          </a:prstGeom>
          <a:noFill/>
          <a:ln w="9525">
            <a:noFill/>
          </a:ln>
        </p:spPr>
        <p:txBody>
          <a:bodyPr wrap="square">
            <a:spAutoFit/>
          </a:bodyPr>
          <a:lstStyle/>
          <a:p>
            <a:pPr marL="802005" indent="-802005" eaLnBrk="0" fontAlgn="base" hangingPunct="0">
              <a:spcBef>
                <a:spcPct val="0"/>
              </a:spcBef>
              <a:spcAft>
                <a:spcPct val="0"/>
              </a:spcAft>
              <a:buClr>
                <a:srgbClr val="FF0000"/>
              </a:buClr>
            </a:pPr>
            <a:endParaRPr lang="en-US" altLang="zh-CN" sz="2000" kern="0" dirty="0">
              <a:solidFill>
                <a:srgbClr val="FF0000"/>
              </a:solidFill>
              <a:latin typeface="方正大黑简体" panose="02010601030101010101" pitchFamily="65" charset="-122"/>
              <a:ea typeface="方正大黑简体" panose="02010601030101010101" pitchFamily="65" charset="-122"/>
              <a:sym typeface="Arial" panose="020B0604020202020204" pitchFamily="34" charset="0"/>
            </a:endParaRPr>
          </a:p>
          <a:p>
            <a:pPr algn="just" eaLnBrk="0" fontAlgn="base" hangingPunct="0">
              <a:lnSpc>
                <a:spcPct val="150000"/>
              </a:lnSpc>
              <a:spcBef>
                <a:spcPts val="300"/>
              </a:spcBef>
              <a:spcAft>
                <a:spcPct val="0"/>
              </a:spcAft>
              <a:buClr>
                <a:srgbClr val="FF0000"/>
              </a:buClr>
            </a:pP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项目总预算共计</a:t>
            </a:r>
            <a:r>
              <a:rPr kumimoji="1"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71</a:t>
            </a:r>
            <a:r>
              <a:rPr kumimoji="1" lang="zh-CN" altLang="en-US"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万。</a:t>
            </a:r>
            <a:endParaRPr kumimoji="1" lang="zh-CN" altLang="en-US" sz="16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4</a:t>
            </a:r>
            <a:r>
              <a:rPr lang="zh-CN" altLang="en-US" sz="2000" kern="0" dirty="0">
                <a:solidFill>
                  <a:srgbClr val="FF0000"/>
                </a:solidFill>
                <a:latin typeface="方正大黑简体" panose="02010601030101010101" pitchFamily="65" charset="-122"/>
                <a:ea typeface="方正大黑简体" panose="02010601030101010101" pitchFamily="65" charset="-122"/>
              </a:rPr>
              <a:t>、经费预算</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7" name="TextBox 45"/>
          <p:cNvSpPr txBox="1"/>
          <p:nvPr/>
        </p:nvSpPr>
        <p:spPr>
          <a:xfrm>
            <a:off x="1524001" y="91434"/>
            <a:ext cx="9129713"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（四）</a:t>
            </a:r>
            <a:r>
              <a:rPr lang="en-US" altLang="zh-CN" sz="2800" noProof="1">
                <a:solidFill>
                  <a:schemeClr val="bg1">
                    <a:lumMod val="75000"/>
                  </a:schemeClr>
                </a:solidFill>
                <a:latin typeface="方正大黑简体" panose="02010601030101010101" pitchFamily="65" charset="-122"/>
                <a:ea typeface="方正大黑简体" panose="02010601030101010101" pitchFamily="65" charset="-122"/>
              </a:rPr>
              <a:t>HSE</a:t>
            </a: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管理</a:t>
            </a:r>
            <a:endPar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endParaRPr>
          </a:p>
        </p:txBody>
      </p:sp>
      <p:sp>
        <p:nvSpPr>
          <p:cNvPr id="1048828" name="矩形 5"/>
          <p:cNvSpPr>
            <a:spLocks noChangeArrowheads="1"/>
          </p:cNvSpPr>
          <p:nvPr/>
        </p:nvSpPr>
        <p:spPr bwMode="auto">
          <a:xfrm>
            <a:off x="1524001" y="1735662"/>
            <a:ext cx="9129713" cy="1310640"/>
          </a:xfrm>
          <a:prstGeom prst="rect">
            <a:avLst/>
          </a:prstGeom>
          <a:noFill/>
          <a:ln>
            <a:noFill/>
          </a:ln>
        </p:spPr>
        <p:txBody>
          <a:bodyPr wrap="square">
            <a:spAutoFit/>
          </a:bodyPr>
          <a:lstStyle>
            <a:lvl1pPr indent="457200"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200000"/>
              </a:lnSpc>
              <a:buClr>
                <a:srgbClr val="FF3399"/>
              </a:buClr>
            </a:pPr>
            <a:r>
              <a:rPr lang="zh-CN" altLang="en-US" sz="1400" dirty="0">
                <a:solidFill>
                  <a:srgbClr val="000000"/>
                </a:solidFill>
                <a:latin typeface="微软雅黑" panose="020B0503020204020204" pitchFamily="34" charset="-122"/>
                <a:ea typeface="微软雅黑" panose="020B0503020204020204" pitchFamily="34" charset="-122"/>
              </a:rPr>
              <a:t>项目涉及到室内实验，需对实验设备使用安全高度重视，保证室内电路安全，防止火灾，提升涉及现场施工跟踪作业，施工过程可能出现停泵管线整改等安全隐患，编制了</a:t>
            </a:r>
            <a:r>
              <a:rPr lang="en-US" altLang="zh-CN" sz="1400" dirty="0">
                <a:solidFill>
                  <a:srgbClr val="000000"/>
                </a:solidFill>
                <a:latin typeface="微软雅黑" panose="020B0503020204020204" pitchFamily="34" charset="-122"/>
                <a:ea typeface="微软雅黑" panose="020B0503020204020204" pitchFamily="34" charset="-122"/>
              </a:rPr>
              <a:t>HSE</a:t>
            </a:r>
            <a:r>
              <a:rPr lang="zh-CN" altLang="en-US" sz="1400" dirty="0">
                <a:solidFill>
                  <a:srgbClr val="000000"/>
                </a:solidFill>
                <a:latin typeface="微软雅黑" panose="020B0503020204020204" pitchFamily="34" charset="-122"/>
                <a:ea typeface="微软雅黑" panose="020B0503020204020204" pitchFamily="34" charset="-122"/>
              </a:rPr>
              <a:t>管理预案，要求设备保养准备到位，责任落实到位</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048829" name="矩形 7"/>
          <p:cNvSpPr>
            <a:spLocks noChangeArrowheads="1"/>
          </p:cNvSpPr>
          <p:nvPr/>
        </p:nvSpPr>
        <p:spPr bwMode="auto">
          <a:xfrm>
            <a:off x="1073150" y="1172100"/>
            <a:ext cx="8909050" cy="646331"/>
          </a:xfrm>
          <a:prstGeom prst="rect">
            <a:avLst/>
          </a:prstGeom>
          <a:noFill/>
          <a:ln>
            <a:noFill/>
          </a:ln>
        </p:spPr>
        <p:txBody>
          <a:bodyPr lIns="360000" rIns="360000">
            <a:spAutoFit/>
          </a:bodyPr>
          <a:lstStyle>
            <a:lvl1pPr indent="-358775"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200000"/>
              </a:lnSpc>
              <a:buClr>
                <a:srgbClr val="FF0000"/>
              </a:buClr>
              <a:buFont typeface="Wingdings" panose="05000000000000000000" pitchFamily="2" charset="2"/>
              <a:buChar char="l"/>
            </a:pPr>
            <a:r>
              <a:rPr lang="en-US" altLang="zh-CN" b="1" spc="-50" dirty="0">
                <a:solidFill>
                  <a:srgbClr val="000000"/>
                </a:solidFill>
                <a:latin typeface="微软雅黑" panose="020B0503020204020204" pitchFamily="34" charset="-122"/>
                <a:ea typeface="微软雅黑" panose="020B0503020204020204" pitchFamily="34" charset="-122"/>
              </a:rPr>
              <a:t>HSE</a:t>
            </a:r>
            <a:r>
              <a:rPr lang="zh-CN" altLang="en-US" b="1" spc="-50" dirty="0">
                <a:solidFill>
                  <a:srgbClr val="000000"/>
                </a:solidFill>
                <a:latin typeface="微软雅黑" panose="020B0503020204020204" pitchFamily="34" charset="-122"/>
                <a:ea typeface="微软雅黑" panose="020B0503020204020204" pitchFamily="34" charset="-122"/>
              </a:rPr>
              <a:t>风险识别</a:t>
            </a:r>
            <a:endParaRPr lang="zh-CN" altLang="en-US" b="1" spc="-50" dirty="0">
              <a:solidFill>
                <a:srgbClr val="000000"/>
              </a:solidFill>
              <a:latin typeface="微软雅黑" panose="020B0503020204020204" pitchFamily="34" charset="-122"/>
              <a:ea typeface="微软雅黑" panose="020B0503020204020204" pitchFamily="34" charset="-122"/>
            </a:endParaRPr>
          </a:p>
        </p:txBody>
      </p:sp>
      <p:sp>
        <p:nvSpPr>
          <p:cNvPr id="1048830" name="矩形 8"/>
          <p:cNvSpPr>
            <a:spLocks noChangeArrowheads="1"/>
          </p:cNvSpPr>
          <p:nvPr/>
        </p:nvSpPr>
        <p:spPr bwMode="auto">
          <a:xfrm>
            <a:off x="1073150" y="3399363"/>
            <a:ext cx="8909050" cy="646331"/>
          </a:xfrm>
          <a:prstGeom prst="rect">
            <a:avLst/>
          </a:prstGeom>
          <a:noFill/>
          <a:ln>
            <a:noFill/>
          </a:ln>
        </p:spPr>
        <p:txBody>
          <a:bodyPr lIns="360000" rIns="360000">
            <a:spAutoFit/>
          </a:bodyPr>
          <a:lstStyle>
            <a:lvl1pPr indent="-358775"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200000"/>
              </a:lnSpc>
              <a:buClr>
                <a:srgbClr val="FF0000"/>
              </a:buClr>
              <a:buFont typeface="Wingdings" panose="05000000000000000000" pitchFamily="2" charset="2"/>
              <a:buChar char="l"/>
            </a:pPr>
            <a:r>
              <a:rPr lang="zh-CN" altLang="en-US" b="1" spc="-50" dirty="0">
                <a:solidFill>
                  <a:srgbClr val="000000"/>
                </a:solidFill>
                <a:latin typeface="微软雅黑" panose="020B0503020204020204" pitchFamily="34" charset="-122"/>
                <a:ea typeface="微软雅黑" panose="020B0503020204020204" pitchFamily="34" charset="-122"/>
              </a:rPr>
              <a:t>应对措施预案</a:t>
            </a:r>
            <a:endParaRPr lang="zh-CN" altLang="en-US" b="1" spc="-50" dirty="0">
              <a:solidFill>
                <a:srgbClr val="000000"/>
              </a:solidFill>
              <a:latin typeface="微软雅黑" panose="020B0503020204020204" pitchFamily="34" charset="-122"/>
              <a:ea typeface="微软雅黑" panose="020B0503020204020204" pitchFamily="34" charset="-122"/>
            </a:endParaRPr>
          </a:p>
        </p:txBody>
      </p:sp>
      <p:sp>
        <p:nvSpPr>
          <p:cNvPr id="1048831" name="矩形 9"/>
          <p:cNvSpPr>
            <a:spLocks noChangeArrowheads="1"/>
          </p:cNvSpPr>
          <p:nvPr/>
        </p:nvSpPr>
        <p:spPr bwMode="auto">
          <a:xfrm>
            <a:off x="1524001" y="3939113"/>
            <a:ext cx="9031549" cy="1310640"/>
          </a:xfrm>
          <a:prstGeom prst="rect">
            <a:avLst/>
          </a:prstGeom>
          <a:noFill/>
          <a:ln>
            <a:noFill/>
          </a:ln>
        </p:spPr>
        <p:txBody>
          <a:bodyPr wrap="square">
            <a:spAutoFit/>
          </a:bodyPr>
          <a:lstStyle>
            <a:lvl1pPr indent="457200" defTabSz="457200">
              <a:defRPr>
                <a:solidFill>
                  <a:schemeClr val="tx1"/>
                </a:solidFill>
                <a:latin typeface="Arial" panose="020B0604020202020204" pitchFamily="34" charset="0"/>
                <a:ea typeface="宋体" panose="02010600030101010101" pitchFamily="2" charset="-122"/>
              </a:defRPr>
            </a:lvl1pPr>
            <a:lvl2pPr marL="742950" indent="-285750" defTabSz="457200">
              <a:defRPr>
                <a:solidFill>
                  <a:schemeClr val="tx1"/>
                </a:solidFill>
                <a:latin typeface="Arial" panose="020B0604020202020204" pitchFamily="34" charset="0"/>
                <a:ea typeface="宋体" panose="02010600030101010101" pitchFamily="2" charset="-122"/>
              </a:defRPr>
            </a:lvl2pPr>
            <a:lvl3pPr marL="1143000" indent="-228600" defTabSz="457200">
              <a:defRPr>
                <a:solidFill>
                  <a:schemeClr val="tx1"/>
                </a:solidFill>
                <a:latin typeface="Arial" panose="020B0604020202020204" pitchFamily="34" charset="0"/>
                <a:ea typeface="宋体" panose="02010600030101010101" pitchFamily="2" charset="-122"/>
              </a:defRPr>
            </a:lvl3pPr>
            <a:lvl4pPr marL="1600200" indent="-228600" defTabSz="457200">
              <a:defRPr>
                <a:solidFill>
                  <a:schemeClr val="tx1"/>
                </a:solidFill>
                <a:latin typeface="Arial" panose="020B0604020202020204" pitchFamily="34" charset="0"/>
                <a:ea typeface="宋体" panose="02010600030101010101" pitchFamily="2" charset="-122"/>
              </a:defRPr>
            </a:lvl4pPr>
            <a:lvl5pPr marL="2057400" indent="-228600" defTabSz="4572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200000"/>
              </a:lnSpc>
              <a:buClr>
                <a:srgbClr val="FF3399"/>
              </a:buClr>
            </a:pPr>
            <a:r>
              <a:rPr lang="zh-CN" altLang="en-US" sz="1400" dirty="0">
                <a:solidFill>
                  <a:srgbClr val="000000"/>
                </a:solidFill>
                <a:latin typeface="微软雅黑" panose="020B0503020204020204" pitchFamily="34" charset="-122"/>
                <a:ea typeface="微软雅黑" panose="020B0503020204020204" pitchFamily="34" charset="-122"/>
              </a:rPr>
              <a:t>项目应对措施预案涉及信息报告、现场作业应急处置程序、实验人员高温灼伤与中毒应急处理程序、人员触电应急处置程序、电器及其他火灾应急处置程序、碰伤</a:t>
            </a:r>
            <a:r>
              <a:rPr lang="en-US" altLang="zh-CN" sz="1400" dirty="0">
                <a:solidFill>
                  <a:srgbClr val="000000"/>
                </a:solidFill>
                <a:latin typeface="微软雅黑" panose="020B0503020204020204" pitchFamily="34" charset="-122"/>
                <a:ea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rPr>
              <a:t>撞伤</a:t>
            </a:r>
            <a:r>
              <a:rPr lang="en-US" altLang="zh-CN" sz="1400" dirty="0">
                <a:solidFill>
                  <a:srgbClr val="000000"/>
                </a:solidFill>
                <a:latin typeface="微软雅黑" panose="020B0503020204020204" pitchFamily="34" charset="-122"/>
                <a:ea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rPr>
              <a:t>砸伤</a:t>
            </a:r>
            <a:r>
              <a:rPr lang="en-US" altLang="zh-CN" sz="1400" dirty="0">
                <a:solidFill>
                  <a:srgbClr val="000000"/>
                </a:solidFill>
                <a:latin typeface="微软雅黑" panose="020B0503020204020204" pitchFamily="34" charset="-122"/>
                <a:ea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rPr>
              <a:t>划伤</a:t>
            </a:r>
            <a:r>
              <a:rPr lang="en-US" altLang="zh-CN" sz="1400" dirty="0">
                <a:solidFill>
                  <a:srgbClr val="000000"/>
                </a:solidFill>
                <a:latin typeface="微软雅黑" panose="020B0503020204020204" pitchFamily="34" charset="-122"/>
                <a:ea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rPr>
              <a:t>割伤</a:t>
            </a:r>
            <a:r>
              <a:rPr lang="en-US" altLang="zh-CN" sz="1400" dirty="0">
                <a:solidFill>
                  <a:srgbClr val="000000"/>
                </a:solidFill>
                <a:latin typeface="微软雅黑" panose="020B0503020204020204" pitchFamily="34" charset="-122"/>
                <a:ea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rPr>
              <a:t>滑倒摔伤应急处置程序、上下班或出差途中发生交通事故应急处置程序和发生资料被盗或泄密事件应急处置程序等</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5" name="TextBox 7"/>
          <p:cNvSpPr txBox="1"/>
          <p:nvPr/>
        </p:nvSpPr>
        <p:spPr bwMode="auto">
          <a:xfrm>
            <a:off x="326269" y="773307"/>
            <a:ext cx="11551878" cy="40011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000" kern="0" dirty="0">
                <a:solidFill>
                  <a:srgbClr val="FF0000"/>
                </a:solidFill>
                <a:latin typeface="方正大黑简体" panose="02010601030101010101" pitchFamily="65" charset="-122"/>
                <a:ea typeface="方正大黑简体" panose="02010601030101010101" pitchFamily="65" charset="-122"/>
              </a:rPr>
              <a:t>5</a:t>
            </a:r>
            <a:r>
              <a:rPr lang="zh-CN" altLang="en-US" sz="2000" kern="0" dirty="0">
                <a:solidFill>
                  <a:srgbClr val="FF0000"/>
                </a:solidFill>
                <a:latin typeface="方正大黑简体" panose="02010601030101010101" pitchFamily="65" charset="-122"/>
                <a:ea typeface="方正大黑简体" panose="02010601030101010101" pitchFamily="65" charset="-122"/>
              </a:rPr>
              <a:t>、</a:t>
            </a:r>
            <a:r>
              <a:rPr lang="en-US" altLang="zh-CN" sz="2000" kern="0" dirty="0">
                <a:solidFill>
                  <a:srgbClr val="FF0000"/>
                </a:solidFill>
                <a:latin typeface="方正大黑简体" panose="02010601030101010101" pitchFamily="65" charset="-122"/>
                <a:ea typeface="方正大黑简体" panose="02010601030101010101" pitchFamily="65" charset="-122"/>
              </a:rPr>
              <a:t>HSE</a:t>
            </a:r>
            <a:r>
              <a:rPr lang="zh-CN" altLang="en-US" sz="2000" kern="0" dirty="0">
                <a:solidFill>
                  <a:srgbClr val="FF0000"/>
                </a:solidFill>
                <a:latin typeface="方正大黑简体" panose="02010601030101010101" pitchFamily="65" charset="-122"/>
                <a:ea typeface="方正大黑简体" panose="02010601030101010101" pitchFamily="65" charset="-122"/>
              </a:rPr>
              <a:t>管理</a:t>
            </a:r>
            <a:endParaRPr lang="zh-CN" altLang="en-US" sz="2000" kern="0" dirty="0">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p:cNvGrpSpPr/>
          <p:nvPr/>
        </p:nvGrpSpPr>
        <p:grpSpPr>
          <a:xfrm>
            <a:off x="-96688" y="4077072"/>
            <a:ext cx="12288688" cy="2780928"/>
            <a:chOff x="911424" y="386982"/>
            <a:chExt cx="11352294" cy="2857500"/>
          </a:xfrm>
        </p:grpSpPr>
        <p:pic>
          <p:nvPicPr>
            <p:cNvPr id="1027" name="Picture 3" descr="F:\邹源红\熊猫办公素材\5c87839b7050b.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61863"/>
            <a:stretch>
              <a:fillRect/>
            </a:stretch>
          </p:blipFill>
          <p:spPr bwMode="auto">
            <a:xfrm>
              <a:off x="911424" y="386982"/>
              <a:ext cx="232483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 descr="F:\邹源红\熊猫办公素材\5c87839b7050b.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63872"/>
            <a:stretch>
              <a:fillRect/>
            </a:stretch>
          </p:blipFill>
          <p:spPr bwMode="auto">
            <a:xfrm>
              <a:off x="3236259" y="386982"/>
              <a:ext cx="2202342"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3" descr="F:\邹源红\熊猫办公素材\5c87839b7050b.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61863"/>
            <a:stretch>
              <a:fillRect/>
            </a:stretch>
          </p:blipFill>
          <p:spPr bwMode="auto">
            <a:xfrm>
              <a:off x="5411707" y="386982"/>
              <a:ext cx="232483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3" descr="F:\邹源红\熊猫办公素材\5c87839b7050b.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63872"/>
            <a:stretch>
              <a:fillRect/>
            </a:stretch>
          </p:blipFill>
          <p:spPr bwMode="auto">
            <a:xfrm>
              <a:off x="7736542" y="386982"/>
              <a:ext cx="2202342"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3" descr="F:\邹源红\熊猫办公素材\5c87839b7050b.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61863"/>
            <a:stretch>
              <a:fillRect/>
            </a:stretch>
          </p:blipFill>
          <p:spPr bwMode="auto">
            <a:xfrm>
              <a:off x="9938883" y="386982"/>
              <a:ext cx="2324835" cy="285750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矩形 10"/>
          <p:cNvSpPr/>
          <p:nvPr/>
        </p:nvSpPr>
        <p:spPr>
          <a:xfrm>
            <a:off x="7453326" y="6090742"/>
            <a:ext cx="4668882" cy="368627"/>
          </a:xfrm>
          <a:prstGeom prst="rect">
            <a:avLst/>
          </a:prstGeom>
        </p:spPr>
        <p:txBody>
          <a:bodyPr wrap="square">
            <a:spAutoFit/>
          </a:bodyPr>
          <a:lstStyle/>
          <a:p>
            <a:pPr marL="0" marR="0" lvl="0" indent="0" algn="just" defTabSz="1218565"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CCECFF"/>
                </a:solidFill>
                <a:effectLst>
                  <a:outerShdw blurRad="38100" dist="38100" dir="2700000" algn="tl">
                    <a:srgbClr val="000000">
                      <a:alpha val="43137"/>
                    </a:srgbClr>
                  </a:outerShdw>
                </a:effectLst>
                <a:uLnTx/>
                <a:uFillTx/>
                <a:latin typeface="Calibri" panose="020F0502020204030204"/>
                <a:ea typeface="等线" panose="02010600030101010101" pitchFamily="2" charset="-122"/>
                <a:cs typeface="+mn-cs"/>
              </a:rPr>
              <a:t>基于页岩气井压裂施工资料的压裂评估方法与应用</a:t>
            </a:r>
            <a:endParaRPr kumimoji="0" lang="zh-CN" altLang="en-US" sz="1600" b="0" i="0" u="none" strike="noStrike" kern="1200" cap="none" spc="0" normalizeH="0" baseline="0" noProof="0" dirty="0">
              <a:ln>
                <a:noFill/>
              </a:ln>
              <a:solidFill>
                <a:srgbClr val="CCECFF"/>
              </a:solidFill>
              <a:effectLst>
                <a:outerShdw blurRad="38100" dist="38100" dir="2700000" algn="tl">
                  <a:srgbClr val="000000">
                    <a:alpha val="43137"/>
                  </a:srgbClr>
                </a:outerShdw>
              </a:effectLst>
              <a:uLnTx/>
              <a:uFillTx/>
              <a:latin typeface="Calibri" panose="020F0502020204030204"/>
              <a:ea typeface="等线" panose="02010600030101010101" pitchFamily="2" charset="-122"/>
              <a:cs typeface="+mn-cs"/>
            </a:endParaRPr>
          </a:p>
        </p:txBody>
      </p:sp>
      <p:grpSp>
        <p:nvGrpSpPr>
          <p:cNvPr id="13" name="i$ḻiḓê"/>
          <p:cNvGrpSpPr/>
          <p:nvPr/>
        </p:nvGrpSpPr>
        <p:grpSpPr bwMode="auto">
          <a:xfrm rot="-5400000">
            <a:off x="6890270" y="5879454"/>
            <a:ext cx="814388" cy="333375"/>
            <a:chOff x="4218782" y="2217715"/>
            <a:chExt cx="3823305" cy="2416386"/>
          </a:xfrm>
        </p:grpSpPr>
        <p:sp>
          <p:nvSpPr>
            <p:cNvPr id="14" name="íṥḻïḍê"/>
            <p:cNvSpPr/>
            <p:nvPr/>
          </p:nvSpPr>
          <p:spPr bwMode="auto">
            <a:xfrm rot="5400000">
              <a:off x="4328064" y="3222980"/>
              <a:ext cx="1093131" cy="417359"/>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îṩ1ïďè"/>
            <p:cNvSpPr/>
            <p:nvPr/>
          </p:nvSpPr>
          <p:spPr bwMode="auto">
            <a:xfrm rot="5400000">
              <a:off x="4224128" y="2775407"/>
              <a:ext cx="540814" cy="760189"/>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îślïďé"/>
            <p:cNvSpPr/>
            <p:nvPr/>
          </p:nvSpPr>
          <p:spPr bwMode="auto">
            <a:xfrm rot="5400000">
              <a:off x="4212625" y="3281697"/>
              <a:ext cx="563820" cy="760189"/>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ṡ1íďê"/>
            <p:cNvSpPr/>
            <p:nvPr/>
          </p:nvSpPr>
          <p:spPr bwMode="auto">
            <a:xfrm rot="5400000">
              <a:off x="4875836" y="3295482"/>
              <a:ext cx="1749003" cy="26085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ïṡlïḋé"/>
            <p:cNvSpPr/>
            <p:nvPr/>
          </p:nvSpPr>
          <p:spPr bwMode="auto">
            <a:xfrm rot="5400000">
              <a:off x="4947898" y="2627194"/>
              <a:ext cx="874502" cy="722927"/>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îşlïdé"/>
            <p:cNvSpPr/>
            <p:nvPr/>
          </p:nvSpPr>
          <p:spPr bwMode="auto">
            <a:xfrm rot="5400000">
              <a:off x="4942147" y="3484434"/>
              <a:ext cx="886005" cy="722927"/>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ï$1îďé"/>
            <p:cNvSpPr/>
            <p:nvPr/>
          </p:nvSpPr>
          <p:spPr bwMode="auto">
            <a:xfrm rot="5400000">
              <a:off x="5561900" y="2439685"/>
              <a:ext cx="1196686" cy="75273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00B0F0"/>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ṥļîďè"/>
            <p:cNvSpPr/>
            <p:nvPr/>
          </p:nvSpPr>
          <p:spPr bwMode="auto">
            <a:xfrm rot="5400000">
              <a:off x="5556149" y="3630620"/>
              <a:ext cx="1208189" cy="75273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0070C0"/>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ṣḷiḍe"/>
            <p:cNvSpPr/>
            <p:nvPr/>
          </p:nvSpPr>
          <p:spPr bwMode="auto">
            <a:xfrm rot="5400000">
              <a:off x="7589161" y="3155905"/>
              <a:ext cx="11503" cy="551510"/>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ïṡḻïḋè"/>
            <p:cNvSpPr/>
            <p:nvPr/>
          </p:nvSpPr>
          <p:spPr bwMode="auto">
            <a:xfrm rot="5400000">
              <a:off x="6828974" y="3133546"/>
              <a:ext cx="11503" cy="596227"/>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2" name="íSlïḋe"/>
            <p:cNvSpPr/>
            <p:nvPr/>
          </p:nvSpPr>
          <p:spPr bwMode="auto">
            <a:xfrm rot="5400000">
              <a:off x="4384443" y="3155905"/>
              <a:ext cx="11503" cy="551510"/>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3" name="íṩľîḋê"/>
            <p:cNvSpPr/>
            <p:nvPr/>
          </p:nvSpPr>
          <p:spPr bwMode="auto">
            <a:xfrm rot="5400000">
              <a:off x="5144634" y="3133546"/>
              <a:ext cx="11503" cy="596227"/>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4" name="iş1ïďè"/>
            <p:cNvSpPr/>
            <p:nvPr/>
          </p:nvSpPr>
          <p:spPr bwMode="auto">
            <a:xfrm rot="5400000">
              <a:off x="6154492" y="3055290"/>
              <a:ext cx="11503" cy="75273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5" name="íşḻïḋè"/>
            <p:cNvSpPr/>
            <p:nvPr/>
          </p:nvSpPr>
          <p:spPr bwMode="auto">
            <a:xfrm rot="5400000">
              <a:off x="7327829" y="3263970"/>
              <a:ext cx="1093131" cy="335380"/>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6" name="i$liḓe"/>
            <p:cNvSpPr/>
            <p:nvPr/>
          </p:nvSpPr>
          <p:spPr bwMode="auto">
            <a:xfrm rot="5400000">
              <a:off x="6843395" y="3323595"/>
              <a:ext cx="1093131" cy="216130"/>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7" name="ïṥlïdé"/>
            <p:cNvSpPr/>
            <p:nvPr/>
          </p:nvSpPr>
          <p:spPr bwMode="auto">
            <a:xfrm rot="5400000">
              <a:off x="3906980" y="3263972"/>
              <a:ext cx="1093131" cy="335375"/>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8" name="işľîḍè"/>
            <p:cNvSpPr/>
            <p:nvPr/>
          </p:nvSpPr>
          <p:spPr bwMode="auto">
            <a:xfrm rot="5400000">
              <a:off x="4391414" y="3323592"/>
              <a:ext cx="1093131" cy="216134"/>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9" name="îŝḷîḓê"/>
            <p:cNvSpPr/>
            <p:nvPr/>
          </p:nvSpPr>
          <p:spPr bwMode="auto">
            <a:xfrm rot="5400000">
              <a:off x="4111922" y="3291757"/>
              <a:ext cx="1749003" cy="2683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40" name="ïṡḷiḍè"/>
            <p:cNvSpPr/>
            <p:nvPr/>
          </p:nvSpPr>
          <p:spPr bwMode="auto">
            <a:xfrm rot="5400000">
              <a:off x="4801308" y="3355105"/>
              <a:ext cx="1749003" cy="141606"/>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41" name="iṡḻiḍê"/>
            <p:cNvSpPr/>
            <p:nvPr/>
          </p:nvSpPr>
          <p:spPr bwMode="auto">
            <a:xfrm rot="5400000">
              <a:off x="5257617" y="3355101"/>
              <a:ext cx="2416386" cy="141606"/>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42" name="iSḷíďê"/>
            <p:cNvSpPr/>
            <p:nvPr/>
          </p:nvSpPr>
          <p:spPr bwMode="auto">
            <a:xfrm rot="5400000">
              <a:off x="4646484" y="3355101"/>
              <a:ext cx="2416386" cy="141606"/>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21913" tIns="60956" rIns="121913" bIns="60956"/>
            <a:lstStyle/>
            <a:p>
              <a:pPr marL="0" marR="0" lvl="0" indent="0" algn="just" defTabSz="1218565" rtl="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cxnSp>
        <p:nvCxnSpPr>
          <p:cNvPr id="47" name="直接连接符 46"/>
          <p:cNvCxnSpPr/>
          <p:nvPr/>
        </p:nvCxnSpPr>
        <p:spPr>
          <a:xfrm>
            <a:off x="-26895" y="4005064"/>
            <a:ext cx="12255402" cy="0"/>
          </a:xfrm>
          <a:prstGeom prst="line">
            <a:avLst/>
          </a:prstGeom>
          <a:ln w="12700">
            <a:solidFill>
              <a:srgbClr val="C00000"/>
            </a:solidFill>
            <a:prstDash val="solid"/>
          </a:ln>
          <a:effectLst>
            <a:outerShdw blurRad="50800"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8" name="TextBox 13"/>
          <p:cNvSpPr txBox="1"/>
          <p:nvPr/>
        </p:nvSpPr>
        <p:spPr>
          <a:xfrm>
            <a:off x="2234840" y="2639601"/>
            <a:ext cx="8208641" cy="1023353"/>
          </a:xfrm>
          <a:prstGeom prst="rect">
            <a:avLst/>
          </a:prstGeom>
          <a:noFill/>
          <a:ln>
            <a:noFill/>
          </a:ln>
          <a:effectLst>
            <a:outerShdw blurRad="149987" dist="19050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99056" tIns="49528" rIns="99056" bIns="49528">
            <a:spAutoFit/>
          </a:bodyPr>
          <a:lstStyle/>
          <a:p>
            <a:pPr marL="0" marR="0" lvl="0" indent="0" algn="dist" defTabSz="990600" rtl="0" eaLnBrk="1" fontAlgn="auto" latinLnBrk="0" hangingPunct="1">
              <a:lnSpc>
                <a:spcPct val="100000"/>
              </a:lnSpc>
              <a:spcBef>
                <a:spcPts val="0"/>
              </a:spcBef>
              <a:spcAft>
                <a:spcPts val="0"/>
              </a:spcAft>
              <a:buClrTx/>
              <a:buSzTx/>
              <a:buFontTx/>
              <a:buNone/>
              <a:defRPr/>
            </a:pPr>
            <a:r>
              <a:rPr kumimoji="0" lang="zh-CN" altLang="en-US" sz="6000" b="0" i="0" u="none" strike="noStrike" kern="0" cap="none" spc="0" normalizeH="0" baseline="0" noProof="0" dirty="0">
                <a:ln w="9525">
                  <a:solidFill>
                    <a:srgbClr val="FFFFFF"/>
                  </a:solidFill>
                  <a:prstDash val="solid"/>
                </a:ln>
                <a:solidFill>
                  <a:srgbClr val="FF0000"/>
                </a:solidFill>
                <a:effectLst>
                  <a:outerShdw blurRad="63500" sx="102000" sy="102000" algn="ctr" rotWithShape="0">
                    <a:prstClr val="black">
                      <a:alpha val="40000"/>
                    </a:prstClr>
                  </a:outerShdw>
                </a:effectLst>
                <a:uLnTx/>
                <a:uFillTx/>
                <a:latin typeface="方正超粗黑简体" panose="03000509000000000000" pitchFamily="65" charset="-122"/>
                <a:ea typeface="方正超粗黑简体" panose="03000509000000000000" pitchFamily="65" charset="-122"/>
                <a:cs typeface="+mn-cs"/>
              </a:rPr>
              <a:t>汇报结束 敬请批评指正</a:t>
            </a:r>
            <a:endParaRPr kumimoji="0" lang="zh-CN" altLang="en-US" sz="6000" b="0" i="0" u="none" strike="noStrike" kern="0" cap="none" spc="0" normalizeH="0" baseline="0" noProof="0" dirty="0">
              <a:ln w="9525">
                <a:solidFill>
                  <a:srgbClr val="FFFFFF"/>
                </a:solidFill>
                <a:prstDash val="solid"/>
              </a:ln>
              <a:solidFill>
                <a:srgbClr val="FF0000"/>
              </a:solidFill>
              <a:effectLst>
                <a:outerShdw blurRad="63500" sx="102000" sy="102000" algn="ctr" rotWithShape="0">
                  <a:prstClr val="black">
                    <a:alpha val="40000"/>
                  </a:prstClr>
                </a:outerShdw>
              </a:effectLst>
              <a:uLnTx/>
              <a:uFillTx/>
              <a:latin typeface="方正超粗黑简体" panose="03000509000000000000" pitchFamily="65" charset="-122"/>
              <a:ea typeface="方正超粗黑简体" panose="03000509000000000000" pitchFamily="65" charset="-122"/>
              <a:cs typeface="+mn-cs"/>
            </a:endParaRPr>
          </a:p>
        </p:txBody>
      </p:sp>
      <p:pic>
        <p:nvPicPr>
          <p:cNvPr id="49"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27848" y="692696"/>
            <a:ext cx="3259137"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Freeform 5"/>
          <p:cNvSpPr>
            <a:spLocks noEditPoints="1"/>
          </p:cNvSpPr>
          <p:nvPr/>
        </p:nvSpPr>
        <p:spPr bwMode="auto">
          <a:xfrm>
            <a:off x="-550462" y="2636067"/>
            <a:ext cx="12218895" cy="4213663"/>
          </a:xfrm>
          <a:custGeom>
            <a:avLst/>
            <a:gdLst>
              <a:gd name="T0" fmla="*/ 2708 w 3126"/>
              <a:gd name="T1" fmla="*/ 681 h 709"/>
              <a:gd name="T2" fmla="*/ 2518 w 3126"/>
              <a:gd name="T3" fmla="*/ 615 h 709"/>
              <a:gd name="T4" fmla="*/ 2299 w 3126"/>
              <a:gd name="T5" fmla="*/ 623 h 709"/>
              <a:gd name="T6" fmla="*/ 2822 w 3126"/>
              <a:gd name="T7" fmla="*/ 569 h 709"/>
              <a:gd name="T8" fmla="*/ 2696 w 3126"/>
              <a:gd name="T9" fmla="*/ 543 h 709"/>
              <a:gd name="T10" fmla="*/ 2666 w 3126"/>
              <a:gd name="T11" fmla="*/ 470 h 709"/>
              <a:gd name="T12" fmla="*/ 2356 w 3126"/>
              <a:gd name="T13" fmla="*/ 472 h 709"/>
              <a:gd name="T14" fmla="*/ 1845 w 3126"/>
              <a:gd name="T15" fmla="*/ 445 h 709"/>
              <a:gd name="T16" fmla="*/ 1282 w 3126"/>
              <a:gd name="T17" fmla="*/ 426 h 709"/>
              <a:gd name="T18" fmla="*/ 347 w 3126"/>
              <a:gd name="T19" fmla="*/ 413 h 709"/>
              <a:gd name="T20" fmla="*/ 552 w 3126"/>
              <a:gd name="T21" fmla="*/ 378 h 709"/>
              <a:gd name="T22" fmla="*/ 989 w 3126"/>
              <a:gd name="T23" fmla="*/ 289 h 709"/>
              <a:gd name="T24" fmla="*/ 989 w 3126"/>
              <a:gd name="T25" fmla="*/ 272 h 709"/>
              <a:gd name="T26" fmla="*/ 1409 w 3126"/>
              <a:gd name="T27" fmla="*/ 237 h 709"/>
              <a:gd name="T28" fmla="*/ 886 w 3126"/>
              <a:gd name="T29" fmla="*/ 217 h 709"/>
              <a:gd name="T30" fmla="*/ 660 w 3126"/>
              <a:gd name="T31" fmla="*/ 217 h 709"/>
              <a:gd name="T32" fmla="*/ 1344 w 3126"/>
              <a:gd name="T33" fmla="*/ 146 h 709"/>
              <a:gd name="T34" fmla="*/ 1276 w 3126"/>
              <a:gd name="T35" fmla="*/ 122 h 709"/>
              <a:gd name="T36" fmla="*/ 785 w 3126"/>
              <a:gd name="T37" fmla="*/ 22 h 709"/>
              <a:gd name="T38" fmla="*/ 1780 w 3126"/>
              <a:gd name="T39" fmla="*/ 668 h 709"/>
              <a:gd name="T40" fmla="*/ 2300 w 3126"/>
              <a:gd name="T41" fmla="*/ 603 h 709"/>
              <a:gd name="T42" fmla="*/ 2577 w 3126"/>
              <a:gd name="T43" fmla="*/ 539 h 709"/>
              <a:gd name="T44" fmla="*/ 2219 w 3126"/>
              <a:gd name="T45" fmla="*/ 479 h 709"/>
              <a:gd name="T46" fmla="*/ 1565 w 3126"/>
              <a:gd name="T47" fmla="*/ 452 h 709"/>
              <a:gd name="T48" fmla="*/ 1398 w 3126"/>
              <a:gd name="T49" fmla="*/ 523 h 709"/>
              <a:gd name="T50" fmla="*/ 1213 w 3126"/>
              <a:gd name="T51" fmla="*/ 385 h 709"/>
              <a:gd name="T52" fmla="*/ 1362 w 3126"/>
              <a:gd name="T53" fmla="*/ 350 h 709"/>
              <a:gd name="T54" fmla="*/ 1121 w 3126"/>
              <a:gd name="T55" fmla="*/ 355 h 709"/>
              <a:gd name="T56" fmla="*/ 267 w 3126"/>
              <a:gd name="T57" fmla="*/ 487 h 709"/>
              <a:gd name="T58" fmla="*/ 337 w 3126"/>
              <a:gd name="T59" fmla="*/ 402 h 709"/>
              <a:gd name="T60" fmla="*/ 530 w 3126"/>
              <a:gd name="T61" fmla="*/ 326 h 709"/>
              <a:gd name="T62" fmla="*/ 603 w 3126"/>
              <a:gd name="T63" fmla="*/ 247 h 709"/>
              <a:gd name="T64" fmla="*/ 923 w 3126"/>
              <a:gd name="T65" fmla="*/ 134 h 709"/>
              <a:gd name="T66" fmla="*/ 961 w 3126"/>
              <a:gd name="T67" fmla="*/ 70 h 709"/>
              <a:gd name="T68" fmla="*/ 792 w 3126"/>
              <a:gd name="T69" fmla="*/ 53 h 709"/>
              <a:gd name="T70" fmla="*/ 2345 w 3126"/>
              <a:gd name="T71" fmla="*/ 675 h 709"/>
              <a:gd name="T72" fmla="*/ 1998 w 3126"/>
              <a:gd name="T73" fmla="*/ 642 h 709"/>
              <a:gd name="T74" fmla="*/ 2101 w 3126"/>
              <a:gd name="T75" fmla="*/ 643 h 709"/>
              <a:gd name="T76" fmla="*/ 920 w 3126"/>
              <a:gd name="T77" fmla="*/ 104 h 709"/>
              <a:gd name="T78" fmla="*/ 448 w 3126"/>
              <a:gd name="T79" fmla="*/ 346 h 709"/>
              <a:gd name="T80" fmla="*/ 106 w 3126"/>
              <a:gd name="T81" fmla="*/ 486 h 709"/>
              <a:gd name="T82" fmla="*/ 39 w 3126"/>
              <a:gd name="T83" fmla="*/ 486 h 709"/>
              <a:gd name="T84" fmla="*/ 159 w 3126"/>
              <a:gd name="T85" fmla="*/ 459 h 709"/>
              <a:gd name="T86" fmla="*/ 983 w 3126"/>
              <a:gd name="T87" fmla="*/ 440 h 709"/>
              <a:gd name="T88" fmla="*/ 1108 w 3126"/>
              <a:gd name="T89" fmla="*/ 575 h 709"/>
              <a:gd name="T90" fmla="*/ 1469 w 3126"/>
              <a:gd name="T91" fmla="*/ 555 h 709"/>
              <a:gd name="T92" fmla="*/ 1657 w 3126"/>
              <a:gd name="T93" fmla="*/ 565 h 709"/>
              <a:gd name="T94" fmla="*/ 1792 w 3126"/>
              <a:gd name="T95" fmla="*/ 462 h 709"/>
              <a:gd name="T96" fmla="*/ 2049 w 3126"/>
              <a:gd name="T97" fmla="*/ 589 h 709"/>
              <a:gd name="T98" fmla="*/ 2784 w 3126"/>
              <a:gd name="T99" fmla="*/ 454 h 709"/>
              <a:gd name="T100" fmla="*/ 2570 w 3126"/>
              <a:gd name="T101" fmla="*/ 642 h 709"/>
              <a:gd name="T102" fmla="*/ 2737 w 3126"/>
              <a:gd name="T103" fmla="*/ 535 h 709"/>
              <a:gd name="T104" fmla="*/ 2562 w 3126"/>
              <a:gd name="T105" fmla="*/ 479 h 709"/>
              <a:gd name="T106" fmla="*/ 1481 w 3126"/>
              <a:gd name="T107" fmla="*/ 392 h 709"/>
              <a:gd name="T108" fmla="*/ 765 w 3126"/>
              <a:gd name="T109" fmla="*/ 320 h 709"/>
              <a:gd name="T110" fmla="*/ 1771 w 3126"/>
              <a:gd name="T111" fmla="*/ 185 h 709"/>
              <a:gd name="T112" fmla="*/ 1068 w 3126"/>
              <a:gd name="T113" fmla="*/ 144 h 709"/>
              <a:gd name="T114" fmla="*/ 3039 w 3126"/>
              <a:gd name="T115" fmla="*/ 611 h 709"/>
              <a:gd name="T116" fmla="*/ 2835 w 3126"/>
              <a:gd name="T117" fmla="*/ 608 h 709"/>
              <a:gd name="T118" fmla="*/ 2973 w 3126"/>
              <a:gd name="T119" fmla="*/ 559 h 709"/>
              <a:gd name="T120" fmla="*/ 2668 w 3126"/>
              <a:gd name="T121" fmla="*/ 546 h 709"/>
              <a:gd name="T122" fmla="*/ 855 w 3126"/>
              <a:gd name="T123" fmla="*/ 333 h 709"/>
              <a:gd name="T124" fmla="*/ 1215 w 3126"/>
              <a:gd name="T125" fmla="*/ 124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26" h="709">
                <a:moveTo>
                  <a:pt x="2926" y="709"/>
                </a:moveTo>
                <a:cubicBezTo>
                  <a:pt x="2925" y="704"/>
                  <a:pt x="2934" y="709"/>
                  <a:pt x="2932" y="703"/>
                </a:cubicBezTo>
                <a:cubicBezTo>
                  <a:pt x="2922" y="702"/>
                  <a:pt x="2917" y="701"/>
                  <a:pt x="2910" y="698"/>
                </a:cubicBezTo>
                <a:cubicBezTo>
                  <a:pt x="2904" y="698"/>
                  <a:pt x="2903" y="703"/>
                  <a:pt x="2898" y="705"/>
                </a:cubicBezTo>
                <a:cubicBezTo>
                  <a:pt x="2899" y="706"/>
                  <a:pt x="2899" y="708"/>
                  <a:pt x="2899" y="709"/>
                </a:cubicBezTo>
                <a:lnTo>
                  <a:pt x="2926" y="709"/>
                </a:lnTo>
                <a:close/>
                <a:moveTo>
                  <a:pt x="2821" y="709"/>
                </a:moveTo>
                <a:cubicBezTo>
                  <a:pt x="2818" y="705"/>
                  <a:pt x="2814" y="701"/>
                  <a:pt x="2808" y="705"/>
                </a:cubicBezTo>
                <a:cubicBezTo>
                  <a:pt x="2808" y="707"/>
                  <a:pt x="2807" y="708"/>
                  <a:pt x="2807" y="709"/>
                </a:cubicBezTo>
                <a:lnTo>
                  <a:pt x="2821" y="709"/>
                </a:lnTo>
                <a:close/>
                <a:moveTo>
                  <a:pt x="3042" y="709"/>
                </a:moveTo>
                <a:cubicBezTo>
                  <a:pt x="3043" y="708"/>
                  <a:pt x="3043" y="707"/>
                  <a:pt x="3043" y="707"/>
                </a:cubicBezTo>
                <a:cubicBezTo>
                  <a:pt x="3038" y="708"/>
                  <a:pt x="3035" y="705"/>
                  <a:pt x="3033" y="707"/>
                </a:cubicBezTo>
                <a:cubicBezTo>
                  <a:pt x="3032" y="708"/>
                  <a:pt x="3033" y="708"/>
                  <a:pt x="3033" y="709"/>
                </a:cubicBezTo>
                <a:lnTo>
                  <a:pt x="3042" y="709"/>
                </a:lnTo>
                <a:close/>
                <a:moveTo>
                  <a:pt x="2983" y="709"/>
                </a:moveTo>
                <a:cubicBezTo>
                  <a:pt x="2982" y="706"/>
                  <a:pt x="2979" y="705"/>
                  <a:pt x="2976" y="706"/>
                </a:cubicBezTo>
                <a:cubicBezTo>
                  <a:pt x="2976" y="707"/>
                  <a:pt x="2977" y="708"/>
                  <a:pt x="2979" y="709"/>
                </a:cubicBezTo>
                <a:lnTo>
                  <a:pt x="2983" y="709"/>
                </a:lnTo>
                <a:close/>
                <a:moveTo>
                  <a:pt x="2782" y="701"/>
                </a:moveTo>
                <a:cubicBezTo>
                  <a:pt x="2784" y="704"/>
                  <a:pt x="2788" y="706"/>
                  <a:pt x="2790" y="708"/>
                </a:cubicBezTo>
                <a:cubicBezTo>
                  <a:pt x="2791" y="708"/>
                  <a:pt x="2792" y="707"/>
                  <a:pt x="2793" y="707"/>
                </a:cubicBezTo>
                <a:cubicBezTo>
                  <a:pt x="2793" y="704"/>
                  <a:pt x="2793" y="704"/>
                  <a:pt x="2793" y="704"/>
                </a:cubicBezTo>
                <a:cubicBezTo>
                  <a:pt x="2790" y="704"/>
                  <a:pt x="2787" y="703"/>
                  <a:pt x="2785" y="702"/>
                </a:cubicBezTo>
                <a:cubicBezTo>
                  <a:pt x="2790" y="699"/>
                  <a:pt x="2784" y="699"/>
                  <a:pt x="2784" y="694"/>
                </a:cubicBezTo>
                <a:cubicBezTo>
                  <a:pt x="2775" y="697"/>
                  <a:pt x="2778" y="687"/>
                  <a:pt x="2776" y="686"/>
                </a:cubicBezTo>
                <a:cubicBezTo>
                  <a:pt x="2777" y="686"/>
                  <a:pt x="2768" y="695"/>
                  <a:pt x="2772" y="686"/>
                </a:cubicBezTo>
                <a:cubicBezTo>
                  <a:pt x="2765" y="686"/>
                  <a:pt x="2754" y="684"/>
                  <a:pt x="2747" y="687"/>
                </a:cubicBezTo>
                <a:cubicBezTo>
                  <a:pt x="2752" y="700"/>
                  <a:pt x="2770" y="704"/>
                  <a:pt x="2782" y="701"/>
                </a:cubicBezTo>
                <a:close/>
                <a:moveTo>
                  <a:pt x="3117" y="691"/>
                </a:moveTo>
                <a:cubicBezTo>
                  <a:pt x="3117" y="695"/>
                  <a:pt x="3122" y="694"/>
                  <a:pt x="3125" y="693"/>
                </a:cubicBezTo>
                <a:cubicBezTo>
                  <a:pt x="3126" y="688"/>
                  <a:pt x="3119" y="689"/>
                  <a:pt x="3117" y="691"/>
                </a:cubicBezTo>
                <a:close/>
                <a:moveTo>
                  <a:pt x="2868" y="681"/>
                </a:moveTo>
                <a:cubicBezTo>
                  <a:pt x="2853" y="679"/>
                  <a:pt x="2851" y="682"/>
                  <a:pt x="2839" y="682"/>
                </a:cubicBezTo>
                <a:cubicBezTo>
                  <a:pt x="2837" y="687"/>
                  <a:pt x="2844" y="682"/>
                  <a:pt x="2843" y="686"/>
                </a:cubicBezTo>
                <a:cubicBezTo>
                  <a:pt x="2843" y="690"/>
                  <a:pt x="2841" y="685"/>
                  <a:pt x="2838" y="686"/>
                </a:cubicBezTo>
                <a:cubicBezTo>
                  <a:pt x="2838" y="688"/>
                  <a:pt x="2840" y="693"/>
                  <a:pt x="2836" y="691"/>
                </a:cubicBezTo>
                <a:cubicBezTo>
                  <a:pt x="2839" y="695"/>
                  <a:pt x="2837" y="697"/>
                  <a:pt x="2840" y="701"/>
                </a:cubicBezTo>
                <a:cubicBezTo>
                  <a:pt x="2848" y="694"/>
                  <a:pt x="2858" y="696"/>
                  <a:pt x="2869" y="691"/>
                </a:cubicBezTo>
                <a:cubicBezTo>
                  <a:pt x="2869" y="689"/>
                  <a:pt x="2865" y="691"/>
                  <a:pt x="2865" y="687"/>
                </a:cubicBezTo>
                <a:cubicBezTo>
                  <a:pt x="2865" y="685"/>
                  <a:pt x="2870" y="687"/>
                  <a:pt x="2872" y="686"/>
                </a:cubicBezTo>
                <a:cubicBezTo>
                  <a:pt x="2872" y="684"/>
                  <a:pt x="2870" y="685"/>
                  <a:pt x="2869" y="685"/>
                </a:cubicBezTo>
                <a:cubicBezTo>
                  <a:pt x="2866" y="684"/>
                  <a:pt x="2871" y="682"/>
                  <a:pt x="2868" y="681"/>
                </a:cubicBezTo>
                <a:close/>
                <a:moveTo>
                  <a:pt x="2914" y="687"/>
                </a:moveTo>
                <a:cubicBezTo>
                  <a:pt x="2911" y="686"/>
                  <a:pt x="2907" y="685"/>
                  <a:pt x="2907" y="690"/>
                </a:cubicBezTo>
                <a:cubicBezTo>
                  <a:pt x="2910" y="690"/>
                  <a:pt x="2914" y="691"/>
                  <a:pt x="2914" y="687"/>
                </a:cubicBezTo>
                <a:close/>
                <a:moveTo>
                  <a:pt x="2614" y="695"/>
                </a:moveTo>
                <a:cubicBezTo>
                  <a:pt x="2605" y="692"/>
                  <a:pt x="2610" y="684"/>
                  <a:pt x="2598" y="684"/>
                </a:cubicBezTo>
                <a:cubicBezTo>
                  <a:pt x="2594" y="692"/>
                  <a:pt x="2603" y="700"/>
                  <a:pt x="2614" y="695"/>
                </a:cubicBezTo>
                <a:close/>
                <a:moveTo>
                  <a:pt x="2050" y="709"/>
                </a:moveTo>
                <a:cubicBezTo>
                  <a:pt x="2048" y="707"/>
                  <a:pt x="2047" y="708"/>
                  <a:pt x="2047" y="709"/>
                </a:cubicBezTo>
                <a:lnTo>
                  <a:pt x="2050" y="709"/>
                </a:lnTo>
                <a:close/>
                <a:moveTo>
                  <a:pt x="2538" y="691"/>
                </a:moveTo>
                <a:cubicBezTo>
                  <a:pt x="2534" y="689"/>
                  <a:pt x="2526" y="685"/>
                  <a:pt x="2523" y="686"/>
                </a:cubicBezTo>
                <a:cubicBezTo>
                  <a:pt x="2523" y="694"/>
                  <a:pt x="2533" y="692"/>
                  <a:pt x="2538" y="691"/>
                </a:cubicBezTo>
                <a:close/>
                <a:moveTo>
                  <a:pt x="2542" y="682"/>
                </a:moveTo>
                <a:cubicBezTo>
                  <a:pt x="2543" y="683"/>
                  <a:pt x="2546" y="684"/>
                  <a:pt x="2550" y="684"/>
                </a:cubicBezTo>
                <a:cubicBezTo>
                  <a:pt x="2550" y="687"/>
                  <a:pt x="2545" y="689"/>
                  <a:pt x="2549" y="692"/>
                </a:cubicBezTo>
                <a:cubicBezTo>
                  <a:pt x="2550" y="691"/>
                  <a:pt x="2550" y="689"/>
                  <a:pt x="2553" y="689"/>
                </a:cubicBezTo>
                <a:cubicBezTo>
                  <a:pt x="2554" y="683"/>
                  <a:pt x="2550" y="682"/>
                  <a:pt x="2549" y="677"/>
                </a:cubicBezTo>
                <a:cubicBezTo>
                  <a:pt x="2547" y="683"/>
                  <a:pt x="2548" y="679"/>
                  <a:pt x="2543" y="677"/>
                </a:cubicBezTo>
                <a:cubicBezTo>
                  <a:pt x="2543" y="679"/>
                  <a:pt x="2543" y="681"/>
                  <a:pt x="2542" y="682"/>
                </a:cubicBezTo>
                <a:close/>
                <a:moveTo>
                  <a:pt x="2728" y="681"/>
                </a:moveTo>
                <a:cubicBezTo>
                  <a:pt x="2728" y="679"/>
                  <a:pt x="2727" y="678"/>
                  <a:pt x="2725" y="677"/>
                </a:cubicBezTo>
                <a:cubicBezTo>
                  <a:pt x="2720" y="677"/>
                  <a:pt x="2726" y="679"/>
                  <a:pt x="2723" y="682"/>
                </a:cubicBezTo>
                <a:cubicBezTo>
                  <a:pt x="2717" y="681"/>
                  <a:pt x="2716" y="681"/>
                  <a:pt x="2708" y="681"/>
                </a:cubicBezTo>
                <a:cubicBezTo>
                  <a:pt x="2710" y="688"/>
                  <a:pt x="2722" y="682"/>
                  <a:pt x="2728" y="681"/>
                </a:cubicBezTo>
                <a:close/>
                <a:moveTo>
                  <a:pt x="2504" y="686"/>
                </a:moveTo>
                <a:cubicBezTo>
                  <a:pt x="2504" y="688"/>
                  <a:pt x="2506" y="687"/>
                  <a:pt x="2508" y="687"/>
                </a:cubicBezTo>
                <a:cubicBezTo>
                  <a:pt x="2508" y="680"/>
                  <a:pt x="2508" y="680"/>
                  <a:pt x="2508" y="680"/>
                </a:cubicBezTo>
                <a:cubicBezTo>
                  <a:pt x="2502" y="678"/>
                  <a:pt x="2507" y="686"/>
                  <a:pt x="2504" y="686"/>
                </a:cubicBezTo>
                <a:close/>
                <a:moveTo>
                  <a:pt x="2501" y="685"/>
                </a:moveTo>
                <a:cubicBezTo>
                  <a:pt x="2498" y="681"/>
                  <a:pt x="2495" y="679"/>
                  <a:pt x="2489" y="679"/>
                </a:cubicBezTo>
                <a:cubicBezTo>
                  <a:pt x="2490" y="683"/>
                  <a:pt x="2496" y="684"/>
                  <a:pt x="2501" y="685"/>
                </a:cubicBezTo>
                <a:close/>
                <a:moveTo>
                  <a:pt x="2714" y="663"/>
                </a:moveTo>
                <a:cubicBezTo>
                  <a:pt x="2715" y="668"/>
                  <a:pt x="2720" y="669"/>
                  <a:pt x="2722" y="672"/>
                </a:cubicBezTo>
                <a:cubicBezTo>
                  <a:pt x="2724" y="671"/>
                  <a:pt x="2727" y="671"/>
                  <a:pt x="2729" y="669"/>
                </a:cubicBezTo>
                <a:cubicBezTo>
                  <a:pt x="2728" y="662"/>
                  <a:pt x="2726" y="656"/>
                  <a:pt x="2721" y="651"/>
                </a:cubicBezTo>
                <a:cubicBezTo>
                  <a:pt x="2716" y="654"/>
                  <a:pt x="2720" y="663"/>
                  <a:pt x="2714" y="663"/>
                </a:cubicBezTo>
                <a:close/>
                <a:moveTo>
                  <a:pt x="2703" y="668"/>
                </a:moveTo>
                <a:cubicBezTo>
                  <a:pt x="2707" y="669"/>
                  <a:pt x="2710" y="669"/>
                  <a:pt x="2713" y="666"/>
                </a:cubicBezTo>
                <a:cubicBezTo>
                  <a:pt x="2713" y="661"/>
                  <a:pt x="2701" y="663"/>
                  <a:pt x="2703" y="668"/>
                </a:cubicBezTo>
                <a:close/>
                <a:moveTo>
                  <a:pt x="2647" y="670"/>
                </a:moveTo>
                <a:cubicBezTo>
                  <a:pt x="2651" y="669"/>
                  <a:pt x="2648" y="665"/>
                  <a:pt x="2646" y="663"/>
                </a:cubicBezTo>
                <a:cubicBezTo>
                  <a:pt x="2643" y="664"/>
                  <a:pt x="2646" y="669"/>
                  <a:pt x="2647" y="670"/>
                </a:cubicBezTo>
                <a:close/>
                <a:moveTo>
                  <a:pt x="2545" y="662"/>
                </a:moveTo>
                <a:cubicBezTo>
                  <a:pt x="2556" y="666"/>
                  <a:pt x="2567" y="675"/>
                  <a:pt x="2569" y="657"/>
                </a:cubicBezTo>
                <a:cubicBezTo>
                  <a:pt x="2559" y="654"/>
                  <a:pt x="2554" y="656"/>
                  <a:pt x="2544" y="656"/>
                </a:cubicBezTo>
                <a:lnTo>
                  <a:pt x="2545" y="662"/>
                </a:lnTo>
                <a:close/>
                <a:moveTo>
                  <a:pt x="2466" y="663"/>
                </a:moveTo>
                <a:cubicBezTo>
                  <a:pt x="2466" y="660"/>
                  <a:pt x="2460" y="663"/>
                  <a:pt x="2457" y="662"/>
                </a:cubicBezTo>
                <a:cubicBezTo>
                  <a:pt x="2457" y="670"/>
                  <a:pt x="2457" y="670"/>
                  <a:pt x="2457" y="670"/>
                </a:cubicBezTo>
                <a:cubicBezTo>
                  <a:pt x="2463" y="667"/>
                  <a:pt x="2473" y="673"/>
                  <a:pt x="2473" y="666"/>
                </a:cubicBezTo>
                <a:cubicBezTo>
                  <a:pt x="2470" y="668"/>
                  <a:pt x="2462" y="667"/>
                  <a:pt x="2466" y="663"/>
                </a:cubicBezTo>
                <a:close/>
                <a:moveTo>
                  <a:pt x="2578" y="657"/>
                </a:moveTo>
                <a:cubicBezTo>
                  <a:pt x="2575" y="658"/>
                  <a:pt x="2578" y="664"/>
                  <a:pt x="2579" y="665"/>
                </a:cubicBezTo>
                <a:cubicBezTo>
                  <a:pt x="2583" y="664"/>
                  <a:pt x="2580" y="659"/>
                  <a:pt x="2578" y="657"/>
                </a:cubicBezTo>
                <a:close/>
                <a:moveTo>
                  <a:pt x="2432" y="654"/>
                </a:moveTo>
                <a:cubicBezTo>
                  <a:pt x="2432" y="657"/>
                  <a:pt x="2427" y="657"/>
                  <a:pt x="2428" y="661"/>
                </a:cubicBezTo>
                <a:cubicBezTo>
                  <a:pt x="2434" y="660"/>
                  <a:pt x="2435" y="664"/>
                  <a:pt x="2437" y="667"/>
                </a:cubicBezTo>
                <a:cubicBezTo>
                  <a:pt x="2440" y="667"/>
                  <a:pt x="2436" y="653"/>
                  <a:pt x="2446" y="659"/>
                </a:cubicBezTo>
                <a:cubicBezTo>
                  <a:pt x="2447" y="654"/>
                  <a:pt x="2448" y="656"/>
                  <a:pt x="2451" y="654"/>
                </a:cubicBezTo>
                <a:cubicBezTo>
                  <a:pt x="2445" y="652"/>
                  <a:pt x="2440" y="655"/>
                  <a:pt x="2432" y="654"/>
                </a:cubicBezTo>
                <a:close/>
                <a:moveTo>
                  <a:pt x="2459" y="658"/>
                </a:moveTo>
                <a:cubicBezTo>
                  <a:pt x="2462" y="659"/>
                  <a:pt x="2463" y="657"/>
                  <a:pt x="2465" y="657"/>
                </a:cubicBezTo>
                <a:cubicBezTo>
                  <a:pt x="2464" y="652"/>
                  <a:pt x="2462" y="651"/>
                  <a:pt x="2460" y="649"/>
                </a:cubicBezTo>
                <a:cubicBezTo>
                  <a:pt x="2458" y="651"/>
                  <a:pt x="2461" y="654"/>
                  <a:pt x="2459" y="658"/>
                </a:cubicBezTo>
                <a:close/>
                <a:moveTo>
                  <a:pt x="2028" y="665"/>
                </a:moveTo>
                <a:cubicBezTo>
                  <a:pt x="2025" y="667"/>
                  <a:pt x="2020" y="667"/>
                  <a:pt x="2017" y="668"/>
                </a:cubicBezTo>
                <a:cubicBezTo>
                  <a:pt x="2022" y="673"/>
                  <a:pt x="2035" y="678"/>
                  <a:pt x="2039" y="669"/>
                </a:cubicBezTo>
                <a:cubicBezTo>
                  <a:pt x="2034" y="669"/>
                  <a:pt x="2027" y="674"/>
                  <a:pt x="2028" y="665"/>
                </a:cubicBezTo>
                <a:close/>
                <a:moveTo>
                  <a:pt x="2714" y="644"/>
                </a:moveTo>
                <a:cubicBezTo>
                  <a:pt x="2720" y="640"/>
                  <a:pt x="2704" y="637"/>
                  <a:pt x="2706" y="644"/>
                </a:cubicBezTo>
                <a:cubicBezTo>
                  <a:pt x="2707" y="643"/>
                  <a:pt x="2714" y="641"/>
                  <a:pt x="2714" y="644"/>
                </a:cubicBezTo>
                <a:close/>
                <a:moveTo>
                  <a:pt x="2740" y="633"/>
                </a:moveTo>
                <a:cubicBezTo>
                  <a:pt x="2732" y="629"/>
                  <a:pt x="2718" y="633"/>
                  <a:pt x="2709" y="634"/>
                </a:cubicBezTo>
                <a:cubicBezTo>
                  <a:pt x="2711" y="640"/>
                  <a:pt x="2721" y="630"/>
                  <a:pt x="2722" y="638"/>
                </a:cubicBezTo>
                <a:cubicBezTo>
                  <a:pt x="2723" y="633"/>
                  <a:pt x="2733" y="634"/>
                  <a:pt x="2740" y="633"/>
                </a:cubicBezTo>
                <a:close/>
                <a:moveTo>
                  <a:pt x="2599" y="640"/>
                </a:moveTo>
                <a:cubicBezTo>
                  <a:pt x="2602" y="640"/>
                  <a:pt x="2604" y="642"/>
                  <a:pt x="2609" y="641"/>
                </a:cubicBezTo>
                <a:cubicBezTo>
                  <a:pt x="2608" y="639"/>
                  <a:pt x="2598" y="635"/>
                  <a:pt x="2599" y="640"/>
                </a:cubicBezTo>
                <a:close/>
                <a:moveTo>
                  <a:pt x="1767" y="673"/>
                </a:moveTo>
                <a:cubicBezTo>
                  <a:pt x="1768" y="672"/>
                  <a:pt x="1769" y="671"/>
                  <a:pt x="1771" y="671"/>
                </a:cubicBezTo>
                <a:cubicBezTo>
                  <a:pt x="1771" y="669"/>
                  <a:pt x="1769" y="668"/>
                  <a:pt x="1769" y="666"/>
                </a:cubicBezTo>
                <a:cubicBezTo>
                  <a:pt x="1765" y="666"/>
                  <a:pt x="1765" y="666"/>
                  <a:pt x="1765" y="666"/>
                </a:cubicBezTo>
                <a:cubicBezTo>
                  <a:pt x="1765" y="669"/>
                  <a:pt x="1766" y="671"/>
                  <a:pt x="1767" y="673"/>
                </a:cubicBezTo>
                <a:close/>
                <a:moveTo>
                  <a:pt x="2535" y="602"/>
                </a:moveTo>
                <a:cubicBezTo>
                  <a:pt x="2536" y="599"/>
                  <a:pt x="2542" y="601"/>
                  <a:pt x="2545" y="600"/>
                </a:cubicBezTo>
                <a:cubicBezTo>
                  <a:pt x="2543" y="594"/>
                  <a:pt x="2532" y="599"/>
                  <a:pt x="2528" y="596"/>
                </a:cubicBezTo>
                <a:cubicBezTo>
                  <a:pt x="2522" y="597"/>
                  <a:pt x="2531" y="603"/>
                  <a:pt x="2523" y="603"/>
                </a:cubicBezTo>
                <a:cubicBezTo>
                  <a:pt x="2525" y="607"/>
                  <a:pt x="2526" y="614"/>
                  <a:pt x="2518" y="612"/>
                </a:cubicBezTo>
                <a:cubicBezTo>
                  <a:pt x="2519" y="613"/>
                  <a:pt x="2520" y="615"/>
                  <a:pt x="2518" y="615"/>
                </a:cubicBezTo>
                <a:cubicBezTo>
                  <a:pt x="2521" y="619"/>
                  <a:pt x="2525" y="614"/>
                  <a:pt x="2527" y="620"/>
                </a:cubicBezTo>
                <a:cubicBezTo>
                  <a:pt x="2527" y="623"/>
                  <a:pt x="2520" y="620"/>
                  <a:pt x="2523" y="624"/>
                </a:cubicBezTo>
                <a:cubicBezTo>
                  <a:pt x="2530" y="626"/>
                  <a:pt x="2535" y="630"/>
                  <a:pt x="2539" y="634"/>
                </a:cubicBezTo>
                <a:cubicBezTo>
                  <a:pt x="2543" y="631"/>
                  <a:pt x="2547" y="627"/>
                  <a:pt x="2551" y="623"/>
                </a:cubicBezTo>
                <a:cubicBezTo>
                  <a:pt x="2543" y="618"/>
                  <a:pt x="2540" y="608"/>
                  <a:pt x="2535" y="602"/>
                </a:cubicBezTo>
                <a:close/>
                <a:moveTo>
                  <a:pt x="2658" y="620"/>
                </a:moveTo>
                <a:cubicBezTo>
                  <a:pt x="2653" y="615"/>
                  <a:pt x="2639" y="619"/>
                  <a:pt x="2635" y="623"/>
                </a:cubicBezTo>
                <a:cubicBezTo>
                  <a:pt x="2639" y="632"/>
                  <a:pt x="2645" y="624"/>
                  <a:pt x="2649" y="628"/>
                </a:cubicBezTo>
                <a:cubicBezTo>
                  <a:pt x="2653" y="626"/>
                  <a:pt x="2654" y="621"/>
                  <a:pt x="2658" y="620"/>
                </a:cubicBezTo>
                <a:close/>
                <a:moveTo>
                  <a:pt x="2585" y="627"/>
                </a:moveTo>
                <a:cubicBezTo>
                  <a:pt x="2575" y="622"/>
                  <a:pt x="2575" y="633"/>
                  <a:pt x="2585" y="627"/>
                </a:cubicBezTo>
                <a:close/>
                <a:moveTo>
                  <a:pt x="2424" y="622"/>
                </a:moveTo>
                <a:cubicBezTo>
                  <a:pt x="2420" y="618"/>
                  <a:pt x="2422" y="625"/>
                  <a:pt x="2417" y="625"/>
                </a:cubicBezTo>
                <a:cubicBezTo>
                  <a:pt x="2417" y="629"/>
                  <a:pt x="2420" y="630"/>
                  <a:pt x="2422" y="633"/>
                </a:cubicBezTo>
                <a:cubicBezTo>
                  <a:pt x="2424" y="629"/>
                  <a:pt x="2420" y="625"/>
                  <a:pt x="2424" y="622"/>
                </a:cubicBezTo>
                <a:close/>
                <a:moveTo>
                  <a:pt x="1893" y="635"/>
                </a:moveTo>
                <a:cubicBezTo>
                  <a:pt x="1890" y="647"/>
                  <a:pt x="1868" y="644"/>
                  <a:pt x="1862" y="643"/>
                </a:cubicBezTo>
                <a:cubicBezTo>
                  <a:pt x="1862" y="650"/>
                  <a:pt x="1862" y="650"/>
                  <a:pt x="1862" y="650"/>
                </a:cubicBezTo>
                <a:cubicBezTo>
                  <a:pt x="1881" y="650"/>
                  <a:pt x="1907" y="652"/>
                  <a:pt x="1926" y="652"/>
                </a:cubicBezTo>
                <a:cubicBezTo>
                  <a:pt x="1925" y="648"/>
                  <a:pt x="1923" y="645"/>
                  <a:pt x="1927" y="643"/>
                </a:cubicBezTo>
                <a:cubicBezTo>
                  <a:pt x="1919" y="634"/>
                  <a:pt x="1906" y="641"/>
                  <a:pt x="1893" y="635"/>
                </a:cubicBezTo>
                <a:close/>
                <a:moveTo>
                  <a:pt x="2660" y="614"/>
                </a:moveTo>
                <a:cubicBezTo>
                  <a:pt x="2662" y="618"/>
                  <a:pt x="2659" y="618"/>
                  <a:pt x="2659" y="621"/>
                </a:cubicBezTo>
                <a:cubicBezTo>
                  <a:pt x="2666" y="618"/>
                  <a:pt x="2672" y="620"/>
                  <a:pt x="2680" y="620"/>
                </a:cubicBezTo>
                <a:cubicBezTo>
                  <a:pt x="2679" y="615"/>
                  <a:pt x="2679" y="611"/>
                  <a:pt x="2683" y="610"/>
                </a:cubicBezTo>
                <a:cubicBezTo>
                  <a:pt x="2683" y="606"/>
                  <a:pt x="2669" y="608"/>
                  <a:pt x="2673" y="603"/>
                </a:cubicBezTo>
                <a:cubicBezTo>
                  <a:pt x="2668" y="602"/>
                  <a:pt x="2662" y="604"/>
                  <a:pt x="2650" y="602"/>
                </a:cubicBezTo>
                <a:cubicBezTo>
                  <a:pt x="2650" y="608"/>
                  <a:pt x="2650" y="606"/>
                  <a:pt x="2651" y="612"/>
                </a:cubicBezTo>
                <a:cubicBezTo>
                  <a:pt x="2655" y="612"/>
                  <a:pt x="2656" y="614"/>
                  <a:pt x="2660" y="614"/>
                </a:cubicBezTo>
                <a:close/>
                <a:moveTo>
                  <a:pt x="1798" y="647"/>
                </a:moveTo>
                <a:cubicBezTo>
                  <a:pt x="1794" y="648"/>
                  <a:pt x="1800" y="650"/>
                  <a:pt x="1799" y="654"/>
                </a:cubicBezTo>
                <a:cubicBezTo>
                  <a:pt x="1802" y="655"/>
                  <a:pt x="1822" y="657"/>
                  <a:pt x="1824" y="650"/>
                </a:cubicBezTo>
                <a:cubicBezTo>
                  <a:pt x="1818" y="649"/>
                  <a:pt x="1804" y="654"/>
                  <a:pt x="1798" y="647"/>
                </a:cubicBezTo>
                <a:close/>
                <a:moveTo>
                  <a:pt x="1933" y="641"/>
                </a:moveTo>
                <a:cubicBezTo>
                  <a:pt x="1929" y="641"/>
                  <a:pt x="1926" y="645"/>
                  <a:pt x="1930" y="648"/>
                </a:cubicBezTo>
                <a:cubicBezTo>
                  <a:pt x="1934" y="648"/>
                  <a:pt x="1934" y="645"/>
                  <a:pt x="1933" y="641"/>
                </a:cubicBezTo>
                <a:close/>
                <a:moveTo>
                  <a:pt x="2219" y="634"/>
                </a:moveTo>
                <a:cubicBezTo>
                  <a:pt x="2217" y="629"/>
                  <a:pt x="2211" y="630"/>
                  <a:pt x="2205" y="630"/>
                </a:cubicBezTo>
                <a:cubicBezTo>
                  <a:pt x="2206" y="633"/>
                  <a:pt x="2212" y="633"/>
                  <a:pt x="2219" y="634"/>
                </a:cubicBezTo>
                <a:close/>
                <a:moveTo>
                  <a:pt x="2438" y="604"/>
                </a:moveTo>
                <a:cubicBezTo>
                  <a:pt x="2431" y="606"/>
                  <a:pt x="2414" y="609"/>
                  <a:pt x="2412" y="599"/>
                </a:cubicBezTo>
                <a:cubicBezTo>
                  <a:pt x="2410" y="601"/>
                  <a:pt x="2410" y="604"/>
                  <a:pt x="2410" y="608"/>
                </a:cubicBezTo>
                <a:cubicBezTo>
                  <a:pt x="2406" y="608"/>
                  <a:pt x="2406" y="605"/>
                  <a:pt x="2401" y="607"/>
                </a:cubicBezTo>
                <a:cubicBezTo>
                  <a:pt x="2399" y="605"/>
                  <a:pt x="2397" y="604"/>
                  <a:pt x="2397" y="600"/>
                </a:cubicBezTo>
                <a:cubicBezTo>
                  <a:pt x="2389" y="604"/>
                  <a:pt x="2383" y="610"/>
                  <a:pt x="2375" y="615"/>
                </a:cubicBezTo>
                <a:cubicBezTo>
                  <a:pt x="2371" y="614"/>
                  <a:pt x="2370" y="610"/>
                  <a:pt x="2365" y="611"/>
                </a:cubicBezTo>
                <a:cubicBezTo>
                  <a:pt x="2371" y="615"/>
                  <a:pt x="2368" y="619"/>
                  <a:pt x="2367" y="626"/>
                </a:cubicBezTo>
                <a:cubicBezTo>
                  <a:pt x="2370" y="624"/>
                  <a:pt x="2375" y="623"/>
                  <a:pt x="2379" y="627"/>
                </a:cubicBezTo>
                <a:cubicBezTo>
                  <a:pt x="2382" y="626"/>
                  <a:pt x="2382" y="624"/>
                  <a:pt x="2381" y="622"/>
                </a:cubicBezTo>
                <a:cubicBezTo>
                  <a:pt x="2390" y="623"/>
                  <a:pt x="2388" y="618"/>
                  <a:pt x="2398" y="618"/>
                </a:cubicBezTo>
                <a:cubicBezTo>
                  <a:pt x="2397" y="614"/>
                  <a:pt x="2395" y="612"/>
                  <a:pt x="2400" y="612"/>
                </a:cubicBezTo>
                <a:cubicBezTo>
                  <a:pt x="2403" y="612"/>
                  <a:pt x="2401" y="618"/>
                  <a:pt x="2403" y="619"/>
                </a:cubicBezTo>
                <a:cubicBezTo>
                  <a:pt x="2407" y="617"/>
                  <a:pt x="2407" y="620"/>
                  <a:pt x="2410" y="620"/>
                </a:cubicBezTo>
                <a:cubicBezTo>
                  <a:pt x="2409" y="616"/>
                  <a:pt x="2411" y="615"/>
                  <a:pt x="2411" y="612"/>
                </a:cubicBezTo>
                <a:cubicBezTo>
                  <a:pt x="2424" y="613"/>
                  <a:pt x="2433" y="617"/>
                  <a:pt x="2441" y="610"/>
                </a:cubicBezTo>
                <a:cubicBezTo>
                  <a:pt x="2439" y="609"/>
                  <a:pt x="2439" y="605"/>
                  <a:pt x="2438" y="604"/>
                </a:cubicBezTo>
                <a:close/>
                <a:moveTo>
                  <a:pt x="2693" y="611"/>
                </a:moveTo>
                <a:cubicBezTo>
                  <a:pt x="2708" y="611"/>
                  <a:pt x="2708" y="611"/>
                  <a:pt x="2708" y="611"/>
                </a:cubicBezTo>
                <a:cubicBezTo>
                  <a:pt x="2707" y="603"/>
                  <a:pt x="2697" y="613"/>
                  <a:pt x="2695" y="606"/>
                </a:cubicBezTo>
                <a:cubicBezTo>
                  <a:pt x="2693" y="607"/>
                  <a:pt x="2693" y="609"/>
                  <a:pt x="2693" y="611"/>
                </a:cubicBezTo>
                <a:close/>
                <a:moveTo>
                  <a:pt x="2295" y="614"/>
                </a:moveTo>
                <a:cubicBezTo>
                  <a:pt x="2295" y="612"/>
                  <a:pt x="2296" y="610"/>
                  <a:pt x="2297" y="609"/>
                </a:cubicBezTo>
                <a:cubicBezTo>
                  <a:pt x="2296" y="603"/>
                  <a:pt x="2293" y="615"/>
                  <a:pt x="2291" y="609"/>
                </a:cubicBezTo>
                <a:cubicBezTo>
                  <a:pt x="2287" y="608"/>
                  <a:pt x="2292" y="615"/>
                  <a:pt x="2288" y="614"/>
                </a:cubicBezTo>
                <a:cubicBezTo>
                  <a:pt x="2291" y="616"/>
                  <a:pt x="2295" y="617"/>
                  <a:pt x="2299" y="618"/>
                </a:cubicBezTo>
                <a:cubicBezTo>
                  <a:pt x="2299" y="622"/>
                  <a:pt x="2297" y="621"/>
                  <a:pt x="2299" y="623"/>
                </a:cubicBezTo>
                <a:cubicBezTo>
                  <a:pt x="2305" y="622"/>
                  <a:pt x="2306" y="625"/>
                  <a:pt x="2312" y="624"/>
                </a:cubicBezTo>
                <a:cubicBezTo>
                  <a:pt x="2311" y="620"/>
                  <a:pt x="2312" y="618"/>
                  <a:pt x="2313" y="615"/>
                </a:cubicBezTo>
                <a:cubicBezTo>
                  <a:pt x="2309" y="613"/>
                  <a:pt x="2300" y="610"/>
                  <a:pt x="2299" y="617"/>
                </a:cubicBezTo>
                <a:cubicBezTo>
                  <a:pt x="2298" y="616"/>
                  <a:pt x="2298" y="614"/>
                  <a:pt x="2295" y="614"/>
                </a:cubicBezTo>
                <a:close/>
                <a:moveTo>
                  <a:pt x="2349" y="621"/>
                </a:moveTo>
                <a:cubicBezTo>
                  <a:pt x="2357" y="621"/>
                  <a:pt x="2357" y="621"/>
                  <a:pt x="2357" y="621"/>
                </a:cubicBezTo>
                <a:cubicBezTo>
                  <a:pt x="2357" y="616"/>
                  <a:pt x="2351" y="618"/>
                  <a:pt x="2350" y="614"/>
                </a:cubicBezTo>
                <a:cubicBezTo>
                  <a:pt x="2347" y="614"/>
                  <a:pt x="2350" y="619"/>
                  <a:pt x="2349" y="621"/>
                </a:cubicBezTo>
                <a:close/>
                <a:moveTo>
                  <a:pt x="2618" y="609"/>
                </a:moveTo>
                <a:cubicBezTo>
                  <a:pt x="2620" y="606"/>
                  <a:pt x="2628" y="609"/>
                  <a:pt x="2630" y="606"/>
                </a:cubicBezTo>
                <a:cubicBezTo>
                  <a:pt x="2623" y="604"/>
                  <a:pt x="2617" y="606"/>
                  <a:pt x="2607" y="602"/>
                </a:cubicBezTo>
                <a:cubicBezTo>
                  <a:pt x="2607" y="608"/>
                  <a:pt x="2617" y="604"/>
                  <a:pt x="2618" y="609"/>
                </a:cubicBezTo>
                <a:close/>
                <a:moveTo>
                  <a:pt x="1732" y="624"/>
                </a:moveTo>
                <a:cubicBezTo>
                  <a:pt x="1729" y="627"/>
                  <a:pt x="1730" y="628"/>
                  <a:pt x="1726" y="629"/>
                </a:cubicBezTo>
                <a:cubicBezTo>
                  <a:pt x="1729" y="632"/>
                  <a:pt x="1735" y="633"/>
                  <a:pt x="1741" y="633"/>
                </a:cubicBezTo>
                <a:cubicBezTo>
                  <a:pt x="1738" y="637"/>
                  <a:pt x="1743" y="639"/>
                  <a:pt x="1747" y="640"/>
                </a:cubicBezTo>
                <a:cubicBezTo>
                  <a:pt x="1745" y="641"/>
                  <a:pt x="1744" y="643"/>
                  <a:pt x="1743" y="644"/>
                </a:cubicBezTo>
                <a:cubicBezTo>
                  <a:pt x="1743" y="646"/>
                  <a:pt x="1746" y="645"/>
                  <a:pt x="1746" y="647"/>
                </a:cubicBezTo>
                <a:cubicBezTo>
                  <a:pt x="1751" y="648"/>
                  <a:pt x="1748" y="641"/>
                  <a:pt x="1754" y="642"/>
                </a:cubicBezTo>
                <a:cubicBezTo>
                  <a:pt x="1751" y="638"/>
                  <a:pt x="1749" y="636"/>
                  <a:pt x="1745" y="636"/>
                </a:cubicBezTo>
                <a:cubicBezTo>
                  <a:pt x="1747" y="633"/>
                  <a:pt x="1756" y="635"/>
                  <a:pt x="1759" y="633"/>
                </a:cubicBezTo>
                <a:cubicBezTo>
                  <a:pt x="1753" y="630"/>
                  <a:pt x="1745" y="628"/>
                  <a:pt x="1742" y="632"/>
                </a:cubicBezTo>
                <a:cubicBezTo>
                  <a:pt x="1739" y="629"/>
                  <a:pt x="1736" y="626"/>
                  <a:pt x="1732" y="624"/>
                </a:cubicBezTo>
                <a:close/>
                <a:moveTo>
                  <a:pt x="2450" y="613"/>
                </a:moveTo>
                <a:cubicBezTo>
                  <a:pt x="2452" y="607"/>
                  <a:pt x="2446" y="610"/>
                  <a:pt x="2445" y="607"/>
                </a:cubicBezTo>
                <a:cubicBezTo>
                  <a:pt x="2441" y="609"/>
                  <a:pt x="2448" y="612"/>
                  <a:pt x="2450" y="613"/>
                </a:cubicBezTo>
                <a:close/>
                <a:moveTo>
                  <a:pt x="2566" y="595"/>
                </a:moveTo>
                <a:cubicBezTo>
                  <a:pt x="2564" y="598"/>
                  <a:pt x="2563" y="601"/>
                  <a:pt x="2562" y="605"/>
                </a:cubicBezTo>
                <a:cubicBezTo>
                  <a:pt x="2565" y="605"/>
                  <a:pt x="2566" y="606"/>
                  <a:pt x="2567" y="607"/>
                </a:cubicBezTo>
                <a:cubicBezTo>
                  <a:pt x="2571" y="605"/>
                  <a:pt x="2567" y="600"/>
                  <a:pt x="2566" y="595"/>
                </a:cubicBezTo>
                <a:close/>
                <a:moveTo>
                  <a:pt x="1805" y="635"/>
                </a:moveTo>
                <a:cubicBezTo>
                  <a:pt x="1802" y="633"/>
                  <a:pt x="1799" y="630"/>
                  <a:pt x="1795" y="630"/>
                </a:cubicBezTo>
                <a:cubicBezTo>
                  <a:pt x="1796" y="634"/>
                  <a:pt x="1799" y="636"/>
                  <a:pt x="1805" y="635"/>
                </a:cubicBezTo>
                <a:close/>
                <a:moveTo>
                  <a:pt x="1783" y="631"/>
                </a:moveTo>
                <a:cubicBezTo>
                  <a:pt x="1780" y="627"/>
                  <a:pt x="1775" y="629"/>
                  <a:pt x="1769" y="629"/>
                </a:cubicBezTo>
                <a:cubicBezTo>
                  <a:pt x="1771" y="634"/>
                  <a:pt x="1778" y="633"/>
                  <a:pt x="1783" y="631"/>
                </a:cubicBezTo>
                <a:close/>
                <a:moveTo>
                  <a:pt x="2502" y="594"/>
                </a:moveTo>
                <a:cubicBezTo>
                  <a:pt x="2501" y="590"/>
                  <a:pt x="2497" y="595"/>
                  <a:pt x="2494" y="594"/>
                </a:cubicBezTo>
                <a:cubicBezTo>
                  <a:pt x="2495" y="599"/>
                  <a:pt x="2501" y="596"/>
                  <a:pt x="2502" y="594"/>
                </a:cubicBezTo>
                <a:close/>
                <a:moveTo>
                  <a:pt x="2692" y="587"/>
                </a:moveTo>
                <a:cubicBezTo>
                  <a:pt x="2696" y="583"/>
                  <a:pt x="2703" y="577"/>
                  <a:pt x="2709" y="578"/>
                </a:cubicBezTo>
                <a:cubicBezTo>
                  <a:pt x="2708" y="571"/>
                  <a:pt x="2696" y="576"/>
                  <a:pt x="2690" y="575"/>
                </a:cubicBezTo>
                <a:cubicBezTo>
                  <a:pt x="2697" y="578"/>
                  <a:pt x="2690" y="577"/>
                  <a:pt x="2690" y="583"/>
                </a:cubicBezTo>
                <a:cubicBezTo>
                  <a:pt x="2684" y="583"/>
                  <a:pt x="2681" y="585"/>
                  <a:pt x="2678" y="586"/>
                </a:cubicBezTo>
                <a:cubicBezTo>
                  <a:pt x="2684" y="589"/>
                  <a:pt x="2685" y="585"/>
                  <a:pt x="2692" y="587"/>
                </a:cubicBezTo>
                <a:close/>
                <a:moveTo>
                  <a:pt x="2059" y="610"/>
                </a:moveTo>
                <a:cubicBezTo>
                  <a:pt x="2061" y="609"/>
                  <a:pt x="2060" y="607"/>
                  <a:pt x="2062" y="607"/>
                </a:cubicBezTo>
                <a:cubicBezTo>
                  <a:pt x="2065" y="607"/>
                  <a:pt x="2062" y="613"/>
                  <a:pt x="2065" y="613"/>
                </a:cubicBezTo>
                <a:cubicBezTo>
                  <a:pt x="2068" y="613"/>
                  <a:pt x="2068" y="610"/>
                  <a:pt x="2067" y="607"/>
                </a:cubicBezTo>
                <a:cubicBezTo>
                  <a:pt x="2065" y="606"/>
                  <a:pt x="2057" y="603"/>
                  <a:pt x="2059" y="610"/>
                </a:cubicBezTo>
                <a:close/>
                <a:moveTo>
                  <a:pt x="2410" y="589"/>
                </a:moveTo>
                <a:cubicBezTo>
                  <a:pt x="2399" y="589"/>
                  <a:pt x="2399" y="589"/>
                  <a:pt x="2399" y="589"/>
                </a:cubicBezTo>
                <a:cubicBezTo>
                  <a:pt x="2405" y="587"/>
                  <a:pt x="2399" y="583"/>
                  <a:pt x="2400" y="582"/>
                </a:cubicBezTo>
                <a:cubicBezTo>
                  <a:pt x="2386" y="580"/>
                  <a:pt x="2376" y="586"/>
                  <a:pt x="2363" y="583"/>
                </a:cubicBezTo>
                <a:cubicBezTo>
                  <a:pt x="2361" y="587"/>
                  <a:pt x="2371" y="591"/>
                  <a:pt x="2364" y="592"/>
                </a:cubicBezTo>
                <a:cubicBezTo>
                  <a:pt x="2365" y="595"/>
                  <a:pt x="2372" y="592"/>
                  <a:pt x="2375" y="593"/>
                </a:cubicBezTo>
                <a:cubicBezTo>
                  <a:pt x="2376" y="589"/>
                  <a:pt x="2373" y="589"/>
                  <a:pt x="2374" y="586"/>
                </a:cubicBezTo>
                <a:cubicBezTo>
                  <a:pt x="2380" y="588"/>
                  <a:pt x="2392" y="583"/>
                  <a:pt x="2393" y="593"/>
                </a:cubicBezTo>
                <a:cubicBezTo>
                  <a:pt x="2401" y="592"/>
                  <a:pt x="2406" y="598"/>
                  <a:pt x="2409" y="598"/>
                </a:cubicBezTo>
                <a:cubicBezTo>
                  <a:pt x="2409" y="592"/>
                  <a:pt x="2409" y="597"/>
                  <a:pt x="2410" y="589"/>
                </a:cubicBezTo>
                <a:close/>
                <a:moveTo>
                  <a:pt x="2811" y="571"/>
                </a:moveTo>
                <a:cubicBezTo>
                  <a:pt x="2812" y="577"/>
                  <a:pt x="2805" y="575"/>
                  <a:pt x="2805" y="581"/>
                </a:cubicBezTo>
                <a:cubicBezTo>
                  <a:pt x="2813" y="575"/>
                  <a:pt x="2825" y="579"/>
                  <a:pt x="2831" y="577"/>
                </a:cubicBezTo>
                <a:cubicBezTo>
                  <a:pt x="2829" y="569"/>
                  <a:pt x="2833" y="571"/>
                  <a:pt x="2836" y="570"/>
                </a:cubicBezTo>
                <a:cubicBezTo>
                  <a:pt x="2837" y="564"/>
                  <a:pt x="2830" y="566"/>
                  <a:pt x="2830" y="562"/>
                </a:cubicBezTo>
                <a:cubicBezTo>
                  <a:pt x="2826" y="563"/>
                  <a:pt x="2823" y="565"/>
                  <a:pt x="2822" y="569"/>
                </a:cubicBezTo>
                <a:cubicBezTo>
                  <a:pt x="2819" y="567"/>
                  <a:pt x="2816" y="565"/>
                  <a:pt x="2814" y="563"/>
                </a:cubicBezTo>
                <a:cubicBezTo>
                  <a:pt x="2814" y="561"/>
                  <a:pt x="2816" y="561"/>
                  <a:pt x="2818" y="561"/>
                </a:cubicBezTo>
                <a:cubicBezTo>
                  <a:pt x="2815" y="540"/>
                  <a:pt x="2842" y="554"/>
                  <a:pt x="2853" y="546"/>
                </a:cubicBezTo>
                <a:cubicBezTo>
                  <a:pt x="2851" y="539"/>
                  <a:pt x="2843" y="541"/>
                  <a:pt x="2849" y="537"/>
                </a:cubicBezTo>
                <a:cubicBezTo>
                  <a:pt x="2839" y="540"/>
                  <a:pt x="2840" y="530"/>
                  <a:pt x="2842" y="525"/>
                </a:cubicBezTo>
                <a:cubicBezTo>
                  <a:pt x="2845" y="524"/>
                  <a:pt x="2845" y="527"/>
                  <a:pt x="2849" y="526"/>
                </a:cubicBezTo>
                <a:cubicBezTo>
                  <a:pt x="2844" y="521"/>
                  <a:pt x="2841" y="517"/>
                  <a:pt x="2833" y="521"/>
                </a:cubicBezTo>
                <a:cubicBezTo>
                  <a:pt x="2833" y="525"/>
                  <a:pt x="2836" y="524"/>
                  <a:pt x="2838" y="525"/>
                </a:cubicBezTo>
                <a:cubicBezTo>
                  <a:pt x="2830" y="538"/>
                  <a:pt x="2821" y="520"/>
                  <a:pt x="2809" y="526"/>
                </a:cubicBezTo>
                <a:cubicBezTo>
                  <a:pt x="2812" y="534"/>
                  <a:pt x="2823" y="533"/>
                  <a:pt x="2827" y="538"/>
                </a:cubicBezTo>
                <a:cubicBezTo>
                  <a:pt x="2823" y="543"/>
                  <a:pt x="2823" y="548"/>
                  <a:pt x="2817" y="546"/>
                </a:cubicBezTo>
                <a:cubicBezTo>
                  <a:pt x="2815" y="549"/>
                  <a:pt x="2815" y="555"/>
                  <a:pt x="2811" y="556"/>
                </a:cubicBezTo>
                <a:cubicBezTo>
                  <a:pt x="2813" y="559"/>
                  <a:pt x="2808" y="564"/>
                  <a:pt x="2814" y="565"/>
                </a:cubicBezTo>
                <a:cubicBezTo>
                  <a:pt x="2811" y="571"/>
                  <a:pt x="2805" y="567"/>
                  <a:pt x="2800" y="566"/>
                </a:cubicBezTo>
                <a:cubicBezTo>
                  <a:pt x="2802" y="569"/>
                  <a:pt x="2805" y="572"/>
                  <a:pt x="2811" y="571"/>
                </a:cubicBezTo>
                <a:close/>
                <a:moveTo>
                  <a:pt x="2834" y="574"/>
                </a:moveTo>
                <a:cubicBezTo>
                  <a:pt x="2835" y="579"/>
                  <a:pt x="2848" y="581"/>
                  <a:pt x="2848" y="575"/>
                </a:cubicBezTo>
                <a:cubicBezTo>
                  <a:pt x="2845" y="572"/>
                  <a:pt x="2839" y="574"/>
                  <a:pt x="2834" y="574"/>
                </a:cubicBezTo>
                <a:close/>
                <a:moveTo>
                  <a:pt x="3031" y="570"/>
                </a:moveTo>
                <a:cubicBezTo>
                  <a:pt x="3030" y="567"/>
                  <a:pt x="3025" y="565"/>
                  <a:pt x="3022" y="568"/>
                </a:cubicBezTo>
                <a:cubicBezTo>
                  <a:pt x="3023" y="572"/>
                  <a:pt x="3027" y="571"/>
                  <a:pt x="3031" y="570"/>
                </a:cubicBezTo>
                <a:close/>
                <a:moveTo>
                  <a:pt x="2851" y="577"/>
                </a:moveTo>
                <a:cubicBezTo>
                  <a:pt x="2853" y="576"/>
                  <a:pt x="2858" y="578"/>
                  <a:pt x="2858" y="575"/>
                </a:cubicBezTo>
                <a:cubicBezTo>
                  <a:pt x="2859" y="571"/>
                  <a:pt x="2847" y="572"/>
                  <a:pt x="2851" y="577"/>
                </a:cubicBezTo>
                <a:close/>
                <a:moveTo>
                  <a:pt x="1858" y="619"/>
                </a:moveTo>
                <a:cubicBezTo>
                  <a:pt x="1862" y="617"/>
                  <a:pt x="1860" y="611"/>
                  <a:pt x="1859" y="608"/>
                </a:cubicBezTo>
                <a:cubicBezTo>
                  <a:pt x="1856" y="609"/>
                  <a:pt x="1859" y="615"/>
                  <a:pt x="1858" y="619"/>
                </a:cubicBezTo>
                <a:close/>
                <a:moveTo>
                  <a:pt x="2527" y="589"/>
                </a:moveTo>
                <a:cubicBezTo>
                  <a:pt x="2531" y="588"/>
                  <a:pt x="2532" y="585"/>
                  <a:pt x="2533" y="582"/>
                </a:cubicBezTo>
                <a:cubicBezTo>
                  <a:pt x="2530" y="583"/>
                  <a:pt x="2526" y="584"/>
                  <a:pt x="2527" y="589"/>
                </a:cubicBezTo>
                <a:close/>
                <a:moveTo>
                  <a:pt x="2544" y="588"/>
                </a:moveTo>
                <a:cubicBezTo>
                  <a:pt x="2549" y="583"/>
                  <a:pt x="2537" y="582"/>
                  <a:pt x="2537" y="582"/>
                </a:cubicBezTo>
                <a:cubicBezTo>
                  <a:pt x="2533" y="586"/>
                  <a:pt x="2543" y="586"/>
                  <a:pt x="2544" y="588"/>
                </a:cubicBezTo>
                <a:close/>
                <a:moveTo>
                  <a:pt x="2406" y="586"/>
                </a:moveTo>
                <a:cubicBezTo>
                  <a:pt x="2410" y="586"/>
                  <a:pt x="2412" y="584"/>
                  <a:pt x="2413" y="580"/>
                </a:cubicBezTo>
                <a:cubicBezTo>
                  <a:pt x="2411" y="582"/>
                  <a:pt x="2409" y="582"/>
                  <a:pt x="2408" y="579"/>
                </a:cubicBezTo>
                <a:cubicBezTo>
                  <a:pt x="2405" y="580"/>
                  <a:pt x="2406" y="583"/>
                  <a:pt x="2406" y="586"/>
                </a:cubicBezTo>
                <a:close/>
                <a:moveTo>
                  <a:pt x="2429" y="577"/>
                </a:moveTo>
                <a:cubicBezTo>
                  <a:pt x="2426" y="577"/>
                  <a:pt x="2423" y="578"/>
                  <a:pt x="2423" y="576"/>
                </a:cubicBezTo>
                <a:cubicBezTo>
                  <a:pt x="2420" y="577"/>
                  <a:pt x="2419" y="582"/>
                  <a:pt x="2421" y="584"/>
                </a:cubicBezTo>
                <a:cubicBezTo>
                  <a:pt x="2425" y="584"/>
                  <a:pt x="2428" y="581"/>
                  <a:pt x="2429" y="577"/>
                </a:cubicBezTo>
                <a:close/>
                <a:moveTo>
                  <a:pt x="3033" y="555"/>
                </a:moveTo>
                <a:cubicBezTo>
                  <a:pt x="3032" y="552"/>
                  <a:pt x="3028" y="553"/>
                  <a:pt x="3024" y="553"/>
                </a:cubicBezTo>
                <a:cubicBezTo>
                  <a:pt x="3023" y="558"/>
                  <a:pt x="3030" y="555"/>
                  <a:pt x="3033" y="555"/>
                </a:cubicBezTo>
                <a:close/>
                <a:moveTo>
                  <a:pt x="1986" y="597"/>
                </a:moveTo>
                <a:cubicBezTo>
                  <a:pt x="1982" y="592"/>
                  <a:pt x="1974" y="595"/>
                  <a:pt x="1973" y="595"/>
                </a:cubicBezTo>
                <a:cubicBezTo>
                  <a:pt x="1969" y="599"/>
                  <a:pt x="1982" y="596"/>
                  <a:pt x="1986" y="597"/>
                </a:cubicBezTo>
                <a:close/>
                <a:moveTo>
                  <a:pt x="2622" y="567"/>
                </a:moveTo>
                <a:cubicBezTo>
                  <a:pt x="2624" y="565"/>
                  <a:pt x="2629" y="566"/>
                  <a:pt x="2632" y="565"/>
                </a:cubicBezTo>
                <a:cubicBezTo>
                  <a:pt x="2632" y="556"/>
                  <a:pt x="2620" y="568"/>
                  <a:pt x="2619" y="559"/>
                </a:cubicBezTo>
                <a:cubicBezTo>
                  <a:pt x="2614" y="562"/>
                  <a:pt x="2621" y="565"/>
                  <a:pt x="2622" y="567"/>
                </a:cubicBezTo>
                <a:close/>
                <a:moveTo>
                  <a:pt x="1954" y="586"/>
                </a:moveTo>
                <a:cubicBezTo>
                  <a:pt x="1952" y="583"/>
                  <a:pt x="1949" y="582"/>
                  <a:pt x="1946" y="581"/>
                </a:cubicBezTo>
                <a:cubicBezTo>
                  <a:pt x="1945" y="582"/>
                  <a:pt x="1945" y="583"/>
                  <a:pt x="1943" y="584"/>
                </a:cubicBezTo>
                <a:cubicBezTo>
                  <a:pt x="1944" y="588"/>
                  <a:pt x="1950" y="586"/>
                  <a:pt x="1954" y="586"/>
                </a:cubicBezTo>
                <a:close/>
                <a:moveTo>
                  <a:pt x="2348" y="563"/>
                </a:moveTo>
                <a:cubicBezTo>
                  <a:pt x="2348" y="566"/>
                  <a:pt x="2350" y="568"/>
                  <a:pt x="2354" y="568"/>
                </a:cubicBezTo>
                <a:cubicBezTo>
                  <a:pt x="2352" y="564"/>
                  <a:pt x="2353" y="564"/>
                  <a:pt x="2356" y="563"/>
                </a:cubicBezTo>
                <a:cubicBezTo>
                  <a:pt x="2353" y="562"/>
                  <a:pt x="2355" y="557"/>
                  <a:pt x="2351" y="557"/>
                </a:cubicBezTo>
                <a:cubicBezTo>
                  <a:pt x="2350" y="560"/>
                  <a:pt x="2352" y="564"/>
                  <a:pt x="2348" y="563"/>
                </a:cubicBezTo>
                <a:close/>
                <a:moveTo>
                  <a:pt x="2687" y="540"/>
                </a:moveTo>
                <a:cubicBezTo>
                  <a:pt x="2687" y="534"/>
                  <a:pt x="2696" y="542"/>
                  <a:pt x="2695" y="534"/>
                </a:cubicBezTo>
                <a:cubicBezTo>
                  <a:pt x="2689" y="534"/>
                  <a:pt x="2685" y="535"/>
                  <a:pt x="2681" y="537"/>
                </a:cubicBezTo>
                <a:cubicBezTo>
                  <a:pt x="2684" y="547"/>
                  <a:pt x="2702" y="547"/>
                  <a:pt x="2710" y="547"/>
                </a:cubicBezTo>
                <a:cubicBezTo>
                  <a:pt x="2705" y="542"/>
                  <a:pt x="2704" y="541"/>
                  <a:pt x="2701" y="534"/>
                </a:cubicBezTo>
                <a:cubicBezTo>
                  <a:pt x="2698" y="535"/>
                  <a:pt x="2698" y="540"/>
                  <a:pt x="2696" y="543"/>
                </a:cubicBezTo>
                <a:cubicBezTo>
                  <a:pt x="2693" y="540"/>
                  <a:pt x="2692" y="542"/>
                  <a:pt x="2687" y="540"/>
                </a:cubicBezTo>
                <a:close/>
                <a:moveTo>
                  <a:pt x="2611" y="547"/>
                </a:moveTo>
                <a:cubicBezTo>
                  <a:pt x="2613" y="548"/>
                  <a:pt x="2614" y="549"/>
                  <a:pt x="2617" y="548"/>
                </a:cubicBezTo>
                <a:cubicBezTo>
                  <a:pt x="2612" y="544"/>
                  <a:pt x="2615" y="537"/>
                  <a:pt x="2611" y="535"/>
                </a:cubicBezTo>
                <a:cubicBezTo>
                  <a:pt x="2609" y="535"/>
                  <a:pt x="2610" y="538"/>
                  <a:pt x="2610" y="539"/>
                </a:cubicBezTo>
                <a:cubicBezTo>
                  <a:pt x="2606" y="539"/>
                  <a:pt x="2606" y="539"/>
                  <a:pt x="2606" y="539"/>
                </a:cubicBezTo>
                <a:cubicBezTo>
                  <a:pt x="2608" y="541"/>
                  <a:pt x="2613" y="540"/>
                  <a:pt x="2611" y="547"/>
                </a:cubicBezTo>
                <a:close/>
                <a:moveTo>
                  <a:pt x="2426" y="555"/>
                </a:moveTo>
                <a:cubicBezTo>
                  <a:pt x="2432" y="555"/>
                  <a:pt x="2432" y="555"/>
                  <a:pt x="2432" y="555"/>
                </a:cubicBezTo>
                <a:cubicBezTo>
                  <a:pt x="2431" y="552"/>
                  <a:pt x="2429" y="551"/>
                  <a:pt x="2433" y="550"/>
                </a:cubicBezTo>
                <a:cubicBezTo>
                  <a:pt x="2428" y="546"/>
                  <a:pt x="2426" y="555"/>
                  <a:pt x="2426" y="547"/>
                </a:cubicBezTo>
                <a:cubicBezTo>
                  <a:pt x="2421" y="548"/>
                  <a:pt x="2425" y="553"/>
                  <a:pt x="2426" y="555"/>
                </a:cubicBezTo>
                <a:close/>
                <a:moveTo>
                  <a:pt x="2803" y="533"/>
                </a:moveTo>
                <a:cubicBezTo>
                  <a:pt x="2800" y="534"/>
                  <a:pt x="2796" y="535"/>
                  <a:pt x="2796" y="539"/>
                </a:cubicBezTo>
                <a:cubicBezTo>
                  <a:pt x="2799" y="537"/>
                  <a:pt x="2802" y="537"/>
                  <a:pt x="2803" y="533"/>
                </a:cubicBezTo>
                <a:close/>
                <a:moveTo>
                  <a:pt x="2797" y="528"/>
                </a:moveTo>
                <a:cubicBezTo>
                  <a:pt x="2800" y="528"/>
                  <a:pt x="2805" y="531"/>
                  <a:pt x="2805" y="525"/>
                </a:cubicBezTo>
                <a:cubicBezTo>
                  <a:pt x="2802" y="526"/>
                  <a:pt x="2796" y="523"/>
                  <a:pt x="2797" y="528"/>
                </a:cubicBezTo>
                <a:close/>
                <a:moveTo>
                  <a:pt x="2700" y="527"/>
                </a:moveTo>
                <a:cubicBezTo>
                  <a:pt x="2699" y="531"/>
                  <a:pt x="2704" y="529"/>
                  <a:pt x="2704" y="532"/>
                </a:cubicBezTo>
                <a:cubicBezTo>
                  <a:pt x="2707" y="529"/>
                  <a:pt x="2707" y="528"/>
                  <a:pt x="2713" y="529"/>
                </a:cubicBezTo>
                <a:cubicBezTo>
                  <a:pt x="2717" y="526"/>
                  <a:pt x="2716" y="523"/>
                  <a:pt x="2710" y="522"/>
                </a:cubicBezTo>
                <a:cubicBezTo>
                  <a:pt x="2710" y="528"/>
                  <a:pt x="2701" y="520"/>
                  <a:pt x="2700" y="527"/>
                </a:cubicBezTo>
                <a:close/>
                <a:moveTo>
                  <a:pt x="2577" y="537"/>
                </a:moveTo>
                <a:cubicBezTo>
                  <a:pt x="2575" y="534"/>
                  <a:pt x="2577" y="535"/>
                  <a:pt x="2577" y="531"/>
                </a:cubicBezTo>
                <a:cubicBezTo>
                  <a:pt x="2575" y="531"/>
                  <a:pt x="2574" y="531"/>
                  <a:pt x="2574" y="530"/>
                </a:cubicBezTo>
                <a:cubicBezTo>
                  <a:pt x="2571" y="530"/>
                  <a:pt x="2574" y="535"/>
                  <a:pt x="2573" y="537"/>
                </a:cubicBezTo>
                <a:lnTo>
                  <a:pt x="2577" y="537"/>
                </a:lnTo>
                <a:close/>
                <a:moveTo>
                  <a:pt x="2599" y="517"/>
                </a:moveTo>
                <a:cubicBezTo>
                  <a:pt x="2598" y="522"/>
                  <a:pt x="2593" y="524"/>
                  <a:pt x="2592" y="529"/>
                </a:cubicBezTo>
                <a:cubicBezTo>
                  <a:pt x="2590" y="534"/>
                  <a:pt x="2596" y="530"/>
                  <a:pt x="2594" y="534"/>
                </a:cubicBezTo>
                <a:cubicBezTo>
                  <a:pt x="2597" y="532"/>
                  <a:pt x="2595" y="526"/>
                  <a:pt x="2598" y="525"/>
                </a:cubicBezTo>
                <a:cubicBezTo>
                  <a:pt x="2601" y="525"/>
                  <a:pt x="2604" y="527"/>
                  <a:pt x="2606" y="524"/>
                </a:cubicBezTo>
                <a:cubicBezTo>
                  <a:pt x="2606" y="522"/>
                  <a:pt x="2602" y="524"/>
                  <a:pt x="2602" y="522"/>
                </a:cubicBezTo>
                <a:cubicBezTo>
                  <a:pt x="2603" y="519"/>
                  <a:pt x="2609" y="522"/>
                  <a:pt x="2608" y="526"/>
                </a:cubicBezTo>
                <a:cubicBezTo>
                  <a:pt x="2611" y="524"/>
                  <a:pt x="2617" y="525"/>
                  <a:pt x="2615" y="519"/>
                </a:cubicBezTo>
                <a:cubicBezTo>
                  <a:pt x="2611" y="518"/>
                  <a:pt x="2606" y="518"/>
                  <a:pt x="2599" y="517"/>
                </a:cubicBezTo>
                <a:close/>
                <a:moveTo>
                  <a:pt x="2789" y="524"/>
                </a:moveTo>
                <a:cubicBezTo>
                  <a:pt x="2790" y="519"/>
                  <a:pt x="2785" y="520"/>
                  <a:pt x="2782" y="519"/>
                </a:cubicBezTo>
                <a:cubicBezTo>
                  <a:pt x="2782" y="523"/>
                  <a:pt x="2785" y="525"/>
                  <a:pt x="2789" y="524"/>
                </a:cubicBezTo>
                <a:close/>
                <a:moveTo>
                  <a:pt x="1320" y="580"/>
                </a:moveTo>
                <a:cubicBezTo>
                  <a:pt x="1319" y="577"/>
                  <a:pt x="1316" y="576"/>
                  <a:pt x="1311" y="577"/>
                </a:cubicBezTo>
                <a:cubicBezTo>
                  <a:pt x="1313" y="579"/>
                  <a:pt x="1317" y="584"/>
                  <a:pt x="1320" y="580"/>
                </a:cubicBezTo>
                <a:close/>
                <a:moveTo>
                  <a:pt x="2594" y="520"/>
                </a:moveTo>
                <a:cubicBezTo>
                  <a:pt x="2593" y="518"/>
                  <a:pt x="2592" y="517"/>
                  <a:pt x="2592" y="516"/>
                </a:cubicBezTo>
                <a:cubicBezTo>
                  <a:pt x="2586" y="516"/>
                  <a:pt x="2586" y="516"/>
                  <a:pt x="2586" y="516"/>
                </a:cubicBezTo>
                <a:cubicBezTo>
                  <a:pt x="2587" y="517"/>
                  <a:pt x="2587" y="519"/>
                  <a:pt x="2587" y="521"/>
                </a:cubicBezTo>
                <a:cubicBezTo>
                  <a:pt x="2591" y="522"/>
                  <a:pt x="2591" y="519"/>
                  <a:pt x="2594" y="520"/>
                </a:cubicBezTo>
                <a:close/>
                <a:moveTo>
                  <a:pt x="1507" y="544"/>
                </a:moveTo>
                <a:cubicBezTo>
                  <a:pt x="1510" y="542"/>
                  <a:pt x="1509" y="541"/>
                  <a:pt x="1514" y="542"/>
                </a:cubicBezTo>
                <a:cubicBezTo>
                  <a:pt x="1512" y="535"/>
                  <a:pt x="1509" y="539"/>
                  <a:pt x="1503" y="537"/>
                </a:cubicBezTo>
                <a:cubicBezTo>
                  <a:pt x="1502" y="541"/>
                  <a:pt x="1506" y="540"/>
                  <a:pt x="1507" y="544"/>
                </a:cubicBezTo>
                <a:close/>
                <a:moveTo>
                  <a:pt x="956" y="563"/>
                </a:moveTo>
                <a:cubicBezTo>
                  <a:pt x="953" y="564"/>
                  <a:pt x="950" y="563"/>
                  <a:pt x="945" y="565"/>
                </a:cubicBezTo>
                <a:cubicBezTo>
                  <a:pt x="946" y="569"/>
                  <a:pt x="956" y="567"/>
                  <a:pt x="956" y="563"/>
                </a:cubicBezTo>
                <a:close/>
                <a:moveTo>
                  <a:pt x="2700" y="481"/>
                </a:moveTo>
                <a:cubicBezTo>
                  <a:pt x="2691" y="481"/>
                  <a:pt x="2691" y="481"/>
                  <a:pt x="2691" y="481"/>
                </a:cubicBezTo>
                <a:cubicBezTo>
                  <a:pt x="2692" y="487"/>
                  <a:pt x="2701" y="488"/>
                  <a:pt x="2700" y="481"/>
                </a:cubicBezTo>
                <a:close/>
                <a:moveTo>
                  <a:pt x="2810" y="475"/>
                </a:moveTo>
                <a:cubicBezTo>
                  <a:pt x="2806" y="471"/>
                  <a:pt x="2801" y="473"/>
                  <a:pt x="2798" y="475"/>
                </a:cubicBezTo>
                <a:cubicBezTo>
                  <a:pt x="2800" y="480"/>
                  <a:pt x="2803" y="476"/>
                  <a:pt x="2808" y="478"/>
                </a:cubicBezTo>
                <a:cubicBezTo>
                  <a:pt x="2808" y="476"/>
                  <a:pt x="2809" y="475"/>
                  <a:pt x="2810" y="475"/>
                </a:cubicBezTo>
                <a:close/>
                <a:moveTo>
                  <a:pt x="1061" y="553"/>
                </a:moveTo>
                <a:cubicBezTo>
                  <a:pt x="1068" y="552"/>
                  <a:pt x="1068" y="546"/>
                  <a:pt x="1067" y="540"/>
                </a:cubicBezTo>
                <a:cubicBezTo>
                  <a:pt x="1059" y="539"/>
                  <a:pt x="1058" y="548"/>
                  <a:pt x="1061" y="553"/>
                </a:cubicBezTo>
                <a:close/>
                <a:moveTo>
                  <a:pt x="2666" y="470"/>
                </a:moveTo>
                <a:cubicBezTo>
                  <a:pt x="2665" y="468"/>
                  <a:pt x="2663" y="468"/>
                  <a:pt x="2659" y="468"/>
                </a:cubicBezTo>
                <a:cubicBezTo>
                  <a:pt x="2658" y="472"/>
                  <a:pt x="2659" y="472"/>
                  <a:pt x="2661" y="475"/>
                </a:cubicBezTo>
                <a:cubicBezTo>
                  <a:pt x="2664" y="474"/>
                  <a:pt x="2663" y="471"/>
                  <a:pt x="2666" y="470"/>
                </a:cubicBezTo>
                <a:close/>
                <a:moveTo>
                  <a:pt x="1635" y="508"/>
                </a:moveTo>
                <a:cubicBezTo>
                  <a:pt x="1639" y="515"/>
                  <a:pt x="1631" y="515"/>
                  <a:pt x="1634" y="519"/>
                </a:cubicBezTo>
                <a:cubicBezTo>
                  <a:pt x="1639" y="520"/>
                  <a:pt x="1640" y="508"/>
                  <a:pt x="1635" y="508"/>
                </a:cubicBezTo>
                <a:close/>
                <a:moveTo>
                  <a:pt x="2601" y="476"/>
                </a:moveTo>
                <a:cubicBezTo>
                  <a:pt x="2597" y="473"/>
                  <a:pt x="2600" y="469"/>
                  <a:pt x="2594" y="468"/>
                </a:cubicBezTo>
                <a:cubicBezTo>
                  <a:pt x="2594" y="471"/>
                  <a:pt x="2594" y="475"/>
                  <a:pt x="2596" y="476"/>
                </a:cubicBezTo>
                <a:lnTo>
                  <a:pt x="2601" y="476"/>
                </a:lnTo>
                <a:close/>
                <a:moveTo>
                  <a:pt x="2604" y="468"/>
                </a:moveTo>
                <a:cubicBezTo>
                  <a:pt x="2602" y="468"/>
                  <a:pt x="2602" y="470"/>
                  <a:pt x="2600" y="471"/>
                </a:cubicBezTo>
                <a:cubicBezTo>
                  <a:pt x="2600" y="472"/>
                  <a:pt x="2602" y="472"/>
                  <a:pt x="2604" y="472"/>
                </a:cubicBezTo>
                <a:cubicBezTo>
                  <a:pt x="2604" y="473"/>
                  <a:pt x="2603" y="473"/>
                  <a:pt x="2603" y="473"/>
                </a:cubicBezTo>
                <a:cubicBezTo>
                  <a:pt x="2606" y="478"/>
                  <a:pt x="2606" y="468"/>
                  <a:pt x="2604" y="468"/>
                </a:cubicBezTo>
                <a:close/>
                <a:moveTo>
                  <a:pt x="2690" y="468"/>
                </a:moveTo>
                <a:cubicBezTo>
                  <a:pt x="2688" y="464"/>
                  <a:pt x="2671" y="469"/>
                  <a:pt x="2667" y="469"/>
                </a:cubicBezTo>
                <a:cubicBezTo>
                  <a:pt x="2672" y="471"/>
                  <a:pt x="2685" y="472"/>
                  <a:pt x="2690" y="468"/>
                </a:cubicBezTo>
                <a:close/>
                <a:moveTo>
                  <a:pt x="2560" y="463"/>
                </a:moveTo>
                <a:cubicBezTo>
                  <a:pt x="2557" y="455"/>
                  <a:pt x="2546" y="452"/>
                  <a:pt x="2541" y="457"/>
                </a:cubicBezTo>
                <a:cubicBezTo>
                  <a:pt x="2542" y="460"/>
                  <a:pt x="2544" y="461"/>
                  <a:pt x="2545" y="464"/>
                </a:cubicBezTo>
                <a:cubicBezTo>
                  <a:pt x="2545" y="465"/>
                  <a:pt x="2543" y="466"/>
                  <a:pt x="2543" y="468"/>
                </a:cubicBezTo>
                <a:cubicBezTo>
                  <a:pt x="2537" y="469"/>
                  <a:pt x="2532" y="464"/>
                  <a:pt x="2529" y="467"/>
                </a:cubicBezTo>
                <a:cubicBezTo>
                  <a:pt x="2530" y="478"/>
                  <a:pt x="2537" y="467"/>
                  <a:pt x="2544" y="469"/>
                </a:cubicBezTo>
                <a:cubicBezTo>
                  <a:pt x="2547" y="469"/>
                  <a:pt x="2547" y="472"/>
                  <a:pt x="2547" y="476"/>
                </a:cubicBezTo>
                <a:cubicBezTo>
                  <a:pt x="2554" y="474"/>
                  <a:pt x="2553" y="465"/>
                  <a:pt x="2560" y="463"/>
                </a:cubicBezTo>
                <a:close/>
                <a:moveTo>
                  <a:pt x="2725" y="468"/>
                </a:moveTo>
                <a:cubicBezTo>
                  <a:pt x="2726" y="463"/>
                  <a:pt x="2718" y="467"/>
                  <a:pt x="2720" y="461"/>
                </a:cubicBezTo>
                <a:cubicBezTo>
                  <a:pt x="2712" y="461"/>
                  <a:pt x="2706" y="462"/>
                  <a:pt x="2705" y="467"/>
                </a:cubicBezTo>
                <a:cubicBezTo>
                  <a:pt x="2709" y="470"/>
                  <a:pt x="2719" y="467"/>
                  <a:pt x="2725" y="468"/>
                </a:cubicBezTo>
                <a:close/>
                <a:moveTo>
                  <a:pt x="1468" y="514"/>
                </a:moveTo>
                <a:cubicBezTo>
                  <a:pt x="1464" y="515"/>
                  <a:pt x="1463" y="516"/>
                  <a:pt x="1463" y="520"/>
                </a:cubicBezTo>
                <a:cubicBezTo>
                  <a:pt x="1466" y="519"/>
                  <a:pt x="1466" y="522"/>
                  <a:pt x="1469" y="521"/>
                </a:cubicBezTo>
                <a:cubicBezTo>
                  <a:pt x="1470" y="518"/>
                  <a:pt x="1467" y="518"/>
                  <a:pt x="1468" y="514"/>
                </a:cubicBezTo>
                <a:close/>
                <a:moveTo>
                  <a:pt x="1435" y="514"/>
                </a:moveTo>
                <a:cubicBezTo>
                  <a:pt x="1435" y="511"/>
                  <a:pt x="1442" y="513"/>
                  <a:pt x="1440" y="509"/>
                </a:cubicBezTo>
                <a:cubicBezTo>
                  <a:pt x="1435" y="507"/>
                  <a:pt x="1429" y="510"/>
                  <a:pt x="1421" y="510"/>
                </a:cubicBezTo>
                <a:cubicBezTo>
                  <a:pt x="1423" y="511"/>
                  <a:pt x="1431" y="515"/>
                  <a:pt x="1424" y="516"/>
                </a:cubicBezTo>
                <a:cubicBezTo>
                  <a:pt x="1430" y="518"/>
                  <a:pt x="1439" y="515"/>
                  <a:pt x="1445" y="517"/>
                </a:cubicBezTo>
                <a:cubicBezTo>
                  <a:pt x="1443" y="513"/>
                  <a:pt x="1439" y="513"/>
                  <a:pt x="1435" y="514"/>
                </a:cubicBezTo>
                <a:close/>
                <a:moveTo>
                  <a:pt x="2451" y="464"/>
                </a:moveTo>
                <a:cubicBezTo>
                  <a:pt x="2450" y="461"/>
                  <a:pt x="2447" y="461"/>
                  <a:pt x="2446" y="458"/>
                </a:cubicBezTo>
                <a:cubicBezTo>
                  <a:pt x="2444" y="460"/>
                  <a:pt x="2443" y="463"/>
                  <a:pt x="2443" y="467"/>
                </a:cubicBezTo>
                <a:cubicBezTo>
                  <a:pt x="2445" y="468"/>
                  <a:pt x="2447" y="470"/>
                  <a:pt x="2448" y="472"/>
                </a:cubicBezTo>
                <a:cubicBezTo>
                  <a:pt x="2456" y="470"/>
                  <a:pt x="2440" y="464"/>
                  <a:pt x="2451" y="464"/>
                </a:cubicBezTo>
                <a:close/>
                <a:moveTo>
                  <a:pt x="2485" y="470"/>
                </a:moveTo>
                <a:cubicBezTo>
                  <a:pt x="2484" y="467"/>
                  <a:pt x="2480" y="468"/>
                  <a:pt x="2477" y="468"/>
                </a:cubicBezTo>
                <a:cubicBezTo>
                  <a:pt x="2477" y="471"/>
                  <a:pt x="2481" y="470"/>
                  <a:pt x="2485" y="470"/>
                </a:cubicBezTo>
                <a:close/>
                <a:moveTo>
                  <a:pt x="2523" y="455"/>
                </a:moveTo>
                <a:cubicBezTo>
                  <a:pt x="2519" y="456"/>
                  <a:pt x="2520" y="451"/>
                  <a:pt x="2516" y="454"/>
                </a:cubicBezTo>
                <a:cubicBezTo>
                  <a:pt x="2517" y="459"/>
                  <a:pt x="2520" y="463"/>
                  <a:pt x="2521" y="467"/>
                </a:cubicBezTo>
                <a:cubicBezTo>
                  <a:pt x="2526" y="467"/>
                  <a:pt x="2523" y="459"/>
                  <a:pt x="2523" y="455"/>
                </a:cubicBezTo>
                <a:close/>
                <a:moveTo>
                  <a:pt x="2592" y="457"/>
                </a:moveTo>
                <a:cubicBezTo>
                  <a:pt x="2591" y="458"/>
                  <a:pt x="2589" y="458"/>
                  <a:pt x="2588" y="456"/>
                </a:cubicBezTo>
                <a:cubicBezTo>
                  <a:pt x="2585" y="459"/>
                  <a:pt x="2586" y="464"/>
                  <a:pt x="2591" y="464"/>
                </a:cubicBezTo>
                <a:cubicBezTo>
                  <a:pt x="2590" y="460"/>
                  <a:pt x="2593" y="461"/>
                  <a:pt x="2592" y="457"/>
                </a:cubicBezTo>
                <a:close/>
                <a:moveTo>
                  <a:pt x="2628" y="463"/>
                </a:moveTo>
                <a:cubicBezTo>
                  <a:pt x="2632" y="459"/>
                  <a:pt x="2622" y="458"/>
                  <a:pt x="2619" y="458"/>
                </a:cubicBezTo>
                <a:cubicBezTo>
                  <a:pt x="2619" y="463"/>
                  <a:pt x="2626" y="460"/>
                  <a:pt x="2628" y="463"/>
                </a:cubicBezTo>
                <a:close/>
                <a:moveTo>
                  <a:pt x="2809" y="448"/>
                </a:moveTo>
                <a:cubicBezTo>
                  <a:pt x="2805" y="448"/>
                  <a:pt x="2803" y="448"/>
                  <a:pt x="2803" y="452"/>
                </a:cubicBezTo>
                <a:cubicBezTo>
                  <a:pt x="2805" y="450"/>
                  <a:pt x="2806" y="451"/>
                  <a:pt x="2806" y="453"/>
                </a:cubicBezTo>
                <a:cubicBezTo>
                  <a:pt x="2810" y="454"/>
                  <a:pt x="2808" y="450"/>
                  <a:pt x="2809" y="448"/>
                </a:cubicBezTo>
                <a:close/>
                <a:moveTo>
                  <a:pt x="2370" y="470"/>
                </a:moveTo>
                <a:cubicBezTo>
                  <a:pt x="2369" y="462"/>
                  <a:pt x="2361" y="470"/>
                  <a:pt x="2357" y="466"/>
                </a:cubicBezTo>
                <a:cubicBezTo>
                  <a:pt x="2356" y="468"/>
                  <a:pt x="2356" y="470"/>
                  <a:pt x="2356" y="472"/>
                </a:cubicBezTo>
                <a:cubicBezTo>
                  <a:pt x="2359" y="468"/>
                  <a:pt x="2365" y="469"/>
                  <a:pt x="2370" y="470"/>
                </a:cubicBezTo>
                <a:close/>
                <a:moveTo>
                  <a:pt x="3016" y="438"/>
                </a:moveTo>
                <a:cubicBezTo>
                  <a:pt x="3012" y="436"/>
                  <a:pt x="2999" y="438"/>
                  <a:pt x="2999" y="441"/>
                </a:cubicBezTo>
                <a:cubicBezTo>
                  <a:pt x="3005" y="442"/>
                  <a:pt x="3011" y="441"/>
                  <a:pt x="3016" y="438"/>
                </a:cubicBezTo>
                <a:close/>
                <a:moveTo>
                  <a:pt x="1884" y="479"/>
                </a:moveTo>
                <a:cubicBezTo>
                  <a:pt x="1884" y="475"/>
                  <a:pt x="1880" y="476"/>
                  <a:pt x="1876" y="476"/>
                </a:cubicBezTo>
                <a:cubicBezTo>
                  <a:pt x="1876" y="470"/>
                  <a:pt x="1876" y="470"/>
                  <a:pt x="1876" y="470"/>
                </a:cubicBezTo>
                <a:cubicBezTo>
                  <a:pt x="1876" y="468"/>
                  <a:pt x="1878" y="471"/>
                  <a:pt x="1880" y="470"/>
                </a:cubicBezTo>
                <a:cubicBezTo>
                  <a:pt x="1884" y="468"/>
                  <a:pt x="1874" y="464"/>
                  <a:pt x="1881" y="463"/>
                </a:cubicBezTo>
                <a:cubicBezTo>
                  <a:pt x="1880" y="460"/>
                  <a:pt x="1874" y="461"/>
                  <a:pt x="1871" y="460"/>
                </a:cubicBezTo>
                <a:cubicBezTo>
                  <a:pt x="1871" y="463"/>
                  <a:pt x="1868" y="463"/>
                  <a:pt x="1867" y="465"/>
                </a:cubicBezTo>
                <a:cubicBezTo>
                  <a:pt x="1867" y="469"/>
                  <a:pt x="1870" y="468"/>
                  <a:pt x="1870" y="471"/>
                </a:cubicBezTo>
                <a:cubicBezTo>
                  <a:pt x="1871" y="473"/>
                  <a:pt x="1869" y="474"/>
                  <a:pt x="1869" y="476"/>
                </a:cubicBezTo>
                <a:cubicBezTo>
                  <a:pt x="1864" y="477"/>
                  <a:pt x="1862" y="473"/>
                  <a:pt x="1857" y="474"/>
                </a:cubicBezTo>
                <a:cubicBezTo>
                  <a:pt x="1859" y="479"/>
                  <a:pt x="1863" y="475"/>
                  <a:pt x="1864" y="483"/>
                </a:cubicBezTo>
                <a:cubicBezTo>
                  <a:pt x="1873" y="483"/>
                  <a:pt x="1878" y="484"/>
                  <a:pt x="1884" y="479"/>
                </a:cubicBezTo>
                <a:close/>
                <a:moveTo>
                  <a:pt x="2787" y="443"/>
                </a:moveTo>
                <a:cubicBezTo>
                  <a:pt x="2785" y="441"/>
                  <a:pt x="2782" y="439"/>
                  <a:pt x="2778" y="438"/>
                </a:cubicBezTo>
                <a:cubicBezTo>
                  <a:pt x="2777" y="444"/>
                  <a:pt x="2782" y="444"/>
                  <a:pt x="2787" y="443"/>
                </a:cubicBezTo>
                <a:close/>
                <a:moveTo>
                  <a:pt x="1429" y="500"/>
                </a:moveTo>
                <a:cubicBezTo>
                  <a:pt x="1431" y="502"/>
                  <a:pt x="1435" y="502"/>
                  <a:pt x="1439" y="502"/>
                </a:cubicBezTo>
                <a:cubicBezTo>
                  <a:pt x="1439" y="497"/>
                  <a:pt x="1431" y="497"/>
                  <a:pt x="1429" y="500"/>
                </a:cubicBezTo>
                <a:close/>
                <a:moveTo>
                  <a:pt x="1845" y="483"/>
                </a:moveTo>
                <a:cubicBezTo>
                  <a:pt x="1842" y="481"/>
                  <a:pt x="1839" y="478"/>
                  <a:pt x="1835" y="476"/>
                </a:cubicBezTo>
                <a:cubicBezTo>
                  <a:pt x="1837" y="480"/>
                  <a:pt x="1834" y="480"/>
                  <a:pt x="1834" y="483"/>
                </a:cubicBezTo>
                <a:cubicBezTo>
                  <a:pt x="1838" y="484"/>
                  <a:pt x="1842" y="484"/>
                  <a:pt x="1845" y="483"/>
                </a:cubicBezTo>
                <a:close/>
                <a:moveTo>
                  <a:pt x="1897" y="467"/>
                </a:moveTo>
                <a:cubicBezTo>
                  <a:pt x="1904" y="466"/>
                  <a:pt x="1911" y="465"/>
                  <a:pt x="1916" y="463"/>
                </a:cubicBezTo>
                <a:cubicBezTo>
                  <a:pt x="1910" y="460"/>
                  <a:pt x="1906" y="453"/>
                  <a:pt x="1895" y="455"/>
                </a:cubicBezTo>
                <a:cubicBezTo>
                  <a:pt x="1896" y="459"/>
                  <a:pt x="1890" y="465"/>
                  <a:pt x="1896" y="467"/>
                </a:cubicBezTo>
                <a:cubicBezTo>
                  <a:pt x="1894" y="469"/>
                  <a:pt x="1892" y="472"/>
                  <a:pt x="1891" y="475"/>
                </a:cubicBezTo>
                <a:cubicBezTo>
                  <a:pt x="1894" y="477"/>
                  <a:pt x="1892" y="477"/>
                  <a:pt x="1893" y="482"/>
                </a:cubicBezTo>
                <a:cubicBezTo>
                  <a:pt x="1898" y="479"/>
                  <a:pt x="1894" y="475"/>
                  <a:pt x="1902" y="473"/>
                </a:cubicBezTo>
                <a:cubicBezTo>
                  <a:pt x="1902" y="469"/>
                  <a:pt x="1898" y="470"/>
                  <a:pt x="1897" y="467"/>
                </a:cubicBezTo>
                <a:close/>
                <a:moveTo>
                  <a:pt x="1914" y="477"/>
                </a:moveTo>
                <a:cubicBezTo>
                  <a:pt x="1917" y="475"/>
                  <a:pt x="1920" y="474"/>
                  <a:pt x="1922" y="472"/>
                </a:cubicBezTo>
                <a:cubicBezTo>
                  <a:pt x="1922" y="468"/>
                  <a:pt x="1913" y="470"/>
                  <a:pt x="1911" y="471"/>
                </a:cubicBezTo>
                <a:cubicBezTo>
                  <a:pt x="1912" y="473"/>
                  <a:pt x="1913" y="475"/>
                  <a:pt x="1914" y="477"/>
                </a:cubicBezTo>
                <a:close/>
                <a:moveTo>
                  <a:pt x="1989" y="467"/>
                </a:moveTo>
                <a:cubicBezTo>
                  <a:pt x="1980" y="460"/>
                  <a:pt x="1961" y="451"/>
                  <a:pt x="1948" y="462"/>
                </a:cubicBezTo>
                <a:cubicBezTo>
                  <a:pt x="1948" y="464"/>
                  <a:pt x="1950" y="464"/>
                  <a:pt x="1950" y="467"/>
                </a:cubicBezTo>
                <a:cubicBezTo>
                  <a:pt x="1946" y="468"/>
                  <a:pt x="1943" y="464"/>
                  <a:pt x="1942" y="469"/>
                </a:cubicBezTo>
                <a:cubicBezTo>
                  <a:pt x="1949" y="476"/>
                  <a:pt x="1969" y="464"/>
                  <a:pt x="1979" y="471"/>
                </a:cubicBezTo>
                <a:cubicBezTo>
                  <a:pt x="1982" y="467"/>
                  <a:pt x="1982" y="465"/>
                  <a:pt x="1989" y="467"/>
                </a:cubicBezTo>
                <a:close/>
                <a:moveTo>
                  <a:pt x="1729" y="478"/>
                </a:moveTo>
                <a:cubicBezTo>
                  <a:pt x="1729" y="475"/>
                  <a:pt x="1720" y="475"/>
                  <a:pt x="1719" y="477"/>
                </a:cubicBezTo>
                <a:cubicBezTo>
                  <a:pt x="1718" y="482"/>
                  <a:pt x="1728" y="479"/>
                  <a:pt x="1729" y="478"/>
                </a:cubicBezTo>
                <a:close/>
                <a:moveTo>
                  <a:pt x="2558" y="443"/>
                </a:moveTo>
                <a:cubicBezTo>
                  <a:pt x="2556" y="438"/>
                  <a:pt x="2555" y="439"/>
                  <a:pt x="2556" y="433"/>
                </a:cubicBezTo>
                <a:cubicBezTo>
                  <a:pt x="2553" y="433"/>
                  <a:pt x="2552" y="436"/>
                  <a:pt x="2548" y="435"/>
                </a:cubicBezTo>
                <a:cubicBezTo>
                  <a:pt x="2549" y="437"/>
                  <a:pt x="2552" y="438"/>
                  <a:pt x="2551" y="443"/>
                </a:cubicBezTo>
                <a:lnTo>
                  <a:pt x="2558" y="443"/>
                </a:lnTo>
                <a:close/>
                <a:moveTo>
                  <a:pt x="2004" y="465"/>
                </a:moveTo>
                <a:cubicBezTo>
                  <a:pt x="2003" y="462"/>
                  <a:pt x="2000" y="461"/>
                  <a:pt x="1996" y="461"/>
                </a:cubicBezTo>
                <a:cubicBezTo>
                  <a:pt x="1995" y="462"/>
                  <a:pt x="1994" y="463"/>
                  <a:pt x="1995" y="465"/>
                </a:cubicBezTo>
                <a:cubicBezTo>
                  <a:pt x="1998" y="466"/>
                  <a:pt x="2000" y="466"/>
                  <a:pt x="2004" y="465"/>
                </a:cubicBezTo>
                <a:close/>
                <a:moveTo>
                  <a:pt x="1567" y="476"/>
                </a:moveTo>
                <a:cubicBezTo>
                  <a:pt x="1571" y="480"/>
                  <a:pt x="1577" y="479"/>
                  <a:pt x="1584" y="478"/>
                </a:cubicBezTo>
                <a:cubicBezTo>
                  <a:pt x="1581" y="472"/>
                  <a:pt x="1573" y="475"/>
                  <a:pt x="1567" y="476"/>
                </a:cubicBezTo>
                <a:close/>
                <a:moveTo>
                  <a:pt x="2133" y="449"/>
                </a:moveTo>
                <a:cubicBezTo>
                  <a:pt x="2129" y="447"/>
                  <a:pt x="2124" y="451"/>
                  <a:pt x="2121" y="451"/>
                </a:cubicBezTo>
                <a:cubicBezTo>
                  <a:pt x="2122" y="455"/>
                  <a:pt x="2135" y="455"/>
                  <a:pt x="2133" y="449"/>
                </a:cubicBezTo>
                <a:close/>
                <a:moveTo>
                  <a:pt x="1848" y="453"/>
                </a:moveTo>
                <a:cubicBezTo>
                  <a:pt x="1851" y="454"/>
                  <a:pt x="1855" y="454"/>
                  <a:pt x="1860" y="453"/>
                </a:cubicBezTo>
                <a:cubicBezTo>
                  <a:pt x="1856" y="449"/>
                  <a:pt x="1862" y="444"/>
                  <a:pt x="1860" y="441"/>
                </a:cubicBezTo>
                <a:cubicBezTo>
                  <a:pt x="1853" y="441"/>
                  <a:pt x="1848" y="442"/>
                  <a:pt x="1845" y="445"/>
                </a:cubicBezTo>
                <a:cubicBezTo>
                  <a:pt x="1844" y="449"/>
                  <a:pt x="1849" y="448"/>
                  <a:pt x="1848" y="453"/>
                </a:cubicBezTo>
                <a:close/>
                <a:moveTo>
                  <a:pt x="1835" y="446"/>
                </a:moveTo>
                <a:cubicBezTo>
                  <a:pt x="1831" y="445"/>
                  <a:pt x="1823" y="445"/>
                  <a:pt x="1819" y="447"/>
                </a:cubicBezTo>
                <a:cubicBezTo>
                  <a:pt x="1824" y="448"/>
                  <a:pt x="1834" y="455"/>
                  <a:pt x="1835" y="446"/>
                </a:cubicBezTo>
                <a:close/>
                <a:moveTo>
                  <a:pt x="1868" y="449"/>
                </a:moveTo>
                <a:cubicBezTo>
                  <a:pt x="1871" y="449"/>
                  <a:pt x="1869" y="445"/>
                  <a:pt x="1872" y="445"/>
                </a:cubicBezTo>
                <a:cubicBezTo>
                  <a:pt x="1872" y="442"/>
                  <a:pt x="1868" y="442"/>
                  <a:pt x="1865" y="442"/>
                </a:cubicBezTo>
                <a:cubicBezTo>
                  <a:pt x="1864" y="445"/>
                  <a:pt x="1868" y="448"/>
                  <a:pt x="1868" y="445"/>
                </a:cubicBezTo>
                <a:cubicBezTo>
                  <a:pt x="1870" y="446"/>
                  <a:pt x="1867" y="447"/>
                  <a:pt x="1868" y="449"/>
                </a:cubicBezTo>
                <a:close/>
                <a:moveTo>
                  <a:pt x="1873" y="441"/>
                </a:moveTo>
                <a:cubicBezTo>
                  <a:pt x="1873" y="435"/>
                  <a:pt x="1877" y="435"/>
                  <a:pt x="1877" y="430"/>
                </a:cubicBezTo>
                <a:cubicBezTo>
                  <a:pt x="1875" y="430"/>
                  <a:pt x="1874" y="430"/>
                  <a:pt x="1874" y="428"/>
                </a:cubicBezTo>
                <a:cubicBezTo>
                  <a:pt x="1870" y="428"/>
                  <a:pt x="1875" y="436"/>
                  <a:pt x="1872" y="435"/>
                </a:cubicBezTo>
                <a:cubicBezTo>
                  <a:pt x="1869" y="433"/>
                  <a:pt x="1873" y="431"/>
                  <a:pt x="1869" y="430"/>
                </a:cubicBezTo>
                <a:cubicBezTo>
                  <a:pt x="1867" y="430"/>
                  <a:pt x="1867" y="433"/>
                  <a:pt x="1869" y="433"/>
                </a:cubicBezTo>
                <a:cubicBezTo>
                  <a:pt x="1867" y="434"/>
                  <a:pt x="1865" y="435"/>
                  <a:pt x="1866" y="440"/>
                </a:cubicBezTo>
                <a:cubicBezTo>
                  <a:pt x="1870" y="439"/>
                  <a:pt x="1869" y="442"/>
                  <a:pt x="1873" y="441"/>
                </a:cubicBezTo>
                <a:close/>
                <a:moveTo>
                  <a:pt x="1854" y="436"/>
                </a:moveTo>
                <a:cubicBezTo>
                  <a:pt x="1855" y="439"/>
                  <a:pt x="1861" y="436"/>
                  <a:pt x="1863" y="437"/>
                </a:cubicBezTo>
                <a:cubicBezTo>
                  <a:pt x="1863" y="431"/>
                  <a:pt x="1856" y="433"/>
                  <a:pt x="1854" y="436"/>
                </a:cubicBezTo>
                <a:close/>
                <a:moveTo>
                  <a:pt x="1468" y="453"/>
                </a:moveTo>
                <a:cubicBezTo>
                  <a:pt x="1476" y="453"/>
                  <a:pt x="1476" y="453"/>
                  <a:pt x="1476" y="453"/>
                </a:cubicBezTo>
                <a:cubicBezTo>
                  <a:pt x="1476" y="448"/>
                  <a:pt x="1466" y="447"/>
                  <a:pt x="1468" y="453"/>
                </a:cubicBezTo>
                <a:close/>
                <a:moveTo>
                  <a:pt x="1519" y="446"/>
                </a:moveTo>
                <a:cubicBezTo>
                  <a:pt x="1519" y="451"/>
                  <a:pt x="1524" y="451"/>
                  <a:pt x="1530" y="451"/>
                </a:cubicBezTo>
                <a:cubicBezTo>
                  <a:pt x="1527" y="446"/>
                  <a:pt x="1535" y="444"/>
                  <a:pt x="1539" y="442"/>
                </a:cubicBezTo>
                <a:cubicBezTo>
                  <a:pt x="1540" y="436"/>
                  <a:pt x="1533" y="440"/>
                  <a:pt x="1532" y="437"/>
                </a:cubicBezTo>
                <a:cubicBezTo>
                  <a:pt x="1528" y="440"/>
                  <a:pt x="1527" y="446"/>
                  <a:pt x="1519" y="446"/>
                </a:cubicBezTo>
                <a:close/>
                <a:moveTo>
                  <a:pt x="1722" y="423"/>
                </a:moveTo>
                <a:cubicBezTo>
                  <a:pt x="1718" y="423"/>
                  <a:pt x="1714" y="418"/>
                  <a:pt x="1710" y="422"/>
                </a:cubicBezTo>
                <a:cubicBezTo>
                  <a:pt x="1711" y="427"/>
                  <a:pt x="1720" y="424"/>
                  <a:pt x="1720" y="430"/>
                </a:cubicBezTo>
                <a:cubicBezTo>
                  <a:pt x="1724" y="431"/>
                  <a:pt x="1722" y="426"/>
                  <a:pt x="1722" y="423"/>
                </a:cubicBezTo>
                <a:close/>
                <a:moveTo>
                  <a:pt x="1280" y="439"/>
                </a:moveTo>
                <a:cubicBezTo>
                  <a:pt x="1276" y="436"/>
                  <a:pt x="1272" y="433"/>
                  <a:pt x="1265" y="433"/>
                </a:cubicBezTo>
                <a:cubicBezTo>
                  <a:pt x="1265" y="436"/>
                  <a:pt x="1264" y="439"/>
                  <a:pt x="1261" y="440"/>
                </a:cubicBezTo>
                <a:cubicBezTo>
                  <a:pt x="1268" y="443"/>
                  <a:pt x="1271" y="441"/>
                  <a:pt x="1280" y="439"/>
                </a:cubicBezTo>
                <a:close/>
                <a:moveTo>
                  <a:pt x="1843" y="411"/>
                </a:moveTo>
                <a:cubicBezTo>
                  <a:pt x="1844" y="419"/>
                  <a:pt x="1848" y="414"/>
                  <a:pt x="1854" y="414"/>
                </a:cubicBezTo>
                <a:cubicBezTo>
                  <a:pt x="1852" y="409"/>
                  <a:pt x="1848" y="410"/>
                  <a:pt x="1843" y="411"/>
                </a:cubicBezTo>
                <a:close/>
                <a:moveTo>
                  <a:pt x="225" y="471"/>
                </a:moveTo>
                <a:cubicBezTo>
                  <a:pt x="218" y="471"/>
                  <a:pt x="212" y="471"/>
                  <a:pt x="209" y="474"/>
                </a:cubicBezTo>
                <a:cubicBezTo>
                  <a:pt x="211" y="484"/>
                  <a:pt x="220" y="486"/>
                  <a:pt x="230" y="487"/>
                </a:cubicBezTo>
                <a:cubicBezTo>
                  <a:pt x="231" y="484"/>
                  <a:pt x="225" y="477"/>
                  <a:pt x="225" y="471"/>
                </a:cubicBezTo>
                <a:close/>
                <a:moveTo>
                  <a:pt x="1533" y="426"/>
                </a:moveTo>
                <a:cubicBezTo>
                  <a:pt x="1545" y="426"/>
                  <a:pt x="1545" y="426"/>
                  <a:pt x="1545" y="426"/>
                </a:cubicBezTo>
                <a:cubicBezTo>
                  <a:pt x="1543" y="423"/>
                  <a:pt x="1533" y="418"/>
                  <a:pt x="1533" y="426"/>
                </a:cubicBezTo>
                <a:close/>
                <a:moveTo>
                  <a:pt x="1616" y="417"/>
                </a:moveTo>
                <a:cubicBezTo>
                  <a:pt x="1617" y="421"/>
                  <a:pt x="1622" y="419"/>
                  <a:pt x="1626" y="419"/>
                </a:cubicBezTo>
                <a:cubicBezTo>
                  <a:pt x="1625" y="416"/>
                  <a:pt x="1619" y="414"/>
                  <a:pt x="1616" y="417"/>
                </a:cubicBezTo>
                <a:close/>
                <a:moveTo>
                  <a:pt x="1509" y="418"/>
                </a:moveTo>
                <a:cubicBezTo>
                  <a:pt x="1516" y="419"/>
                  <a:pt x="1507" y="413"/>
                  <a:pt x="1512" y="412"/>
                </a:cubicBezTo>
                <a:cubicBezTo>
                  <a:pt x="1517" y="412"/>
                  <a:pt x="1515" y="420"/>
                  <a:pt x="1519" y="421"/>
                </a:cubicBezTo>
                <a:cubicBezTo>
                  <a:pt x="1526" y="420"/>
                  <a:pt x="1521" y="409"/>
                  <a:pt x="1525" y="405"/>
                </a:cubicBezTo>
                <a:cubicBezTo>
                  <a:pt x="1519" y="397"/>
                  <a:pt x="1510" y="401"/>
                  <a:pt x="1500" y="398"/>
                </a:cubicBezTo>
                <a:cubicBezTo>
                  <a:pt x="1499" y="400"/>
                  <a:pt x="1497" y="402"/>
                  <a:pt x="1498" y="407"/>
                </a:cubicBezTo>
                <a:cubicBezTo>
                  <a:pt x="1502" y="411"/>
                  <a:pt x="1510" y="409"/>
                  <a:pt x="1509" y="418"/>
                </a:cubicBezTo>
                <a:close/>
                <a:moveTo>
                  <a:pt x="287" y="468"/>
                </a:moveTo>
                <a:cubicBezTo>
                  <a:pt x="284" y="470"/>
                  <a:pt x="288" y="474"/>
                  <a:pt x="291" y="473"/>
                </a:cubicBezTo>
                <a:cubicBezTo>
                  <a:pt x="291" y="468"/>
                  <a:pt x="288" y="469"/>
                  <a:pt x="287" y="468"/>
                </a:cubicBezTo>
                <a:close/>
                <a:moveTo>
                  <a:pt x="187" y="469"/>
                </a:moveTo>
                <a:cubicBezTo>
                  <a:pt x="184" y="466"/>
                  <a:pt x="179" y="470"/>
                  <a:pt x="178" y="473"/>
                </a:cubicBezTo>
                <a:cubicBezTo>
                  <a:pt x="178" y="476"/>
                  <a:pt x="181" y="476"/>
                  <a:pt x="183" y="474"/>
                </a:cubicBezTo>
                <a:cubicBezTo>
                  <a:pt x="184" y="474"/>
                  <a:pt x="184" y="476"/>
                  <a:pt x="184" y="477"/>
                </a:cubicBezTo>
                <a:cubicBezTo>
                  <a:pt x="190" y="476"/>
                  <a:pt x="184" y="472"/>
                  <a:pt x="187" y="469"/>
                </a:cubicBezTo>
                <a:close/>
                <a:moveTo>
                  <a:pt x="1267" y="424"/>
                </a:moveTo>
                <a:cubicBezTo>
                  <a:pt x="1271" y="429"/>
                  <a:pt x="1278" y="427"/>
                  <a:pt x="1282" y="426"/>
                </a:cubicBezTo>
                <a:cubicBezTo>
                  <a:pt x="1278" y="424"/>
                  <a:pt x="1272" y="422"/>
                  <a:pt x="1267" y="424"/>
                </a:cubicBezTo>
                <a:close/>
                <a:moveTo>
                  <a:pt x="1631" y="404"/>
                </a:moveTo>
                <a:cubicBezTo>
                  <a:pt x="1631" y="401"/>
                  <a:pt x="1629" y="400"/>
                  <a:pt x="1625" y="400"/>
                </a:cubicBezTo>
                <a:cubicBezTo>
                  <a:pt x="1625" y="396"/>
                  <a:pt x="1630" y="396"/>
                  <a:pt x="1629" y="391"/>
                </a:cubicBezTo>
                <a:cubicBezTo>
                  <a:pt x="1624" y="388"/>
                  <a:pt x="1621" y="394"/>
                  <a:pt x="1621" y="399"/>
                </a:cubicBezTo>
                <a:cubicBezTo>
                  <a:pt x="1625" y="400"/>
                  <a:pt x="1625" y="405"/>
                  <a:pt x="1631" y="404"/>
                </a:cubicBezTo>
                <a:close/>
                <a:moveTo>
                  <a:pt x="1558" y="406"/>
                </a:moveTo>
                <a:cubicBezTo>
                  <a:pt x="1563" y="407"/>
                  <a:pt x="1560" y="400"/>
                  <a:pt x="1559" y="399"/>
                </a:cubicBezTo>
                <a:cubicBezTo>
                  <a:pt x="1554" y="401"/>
                  <a:pt x="1558" y="402"/>
                  <a:pt x="1558" y="406"/>
                </a:cubicBezTo>
                <a:close/>
                <a:moveTo>
                  <a:pt x="352" y="446"/>
                </a:moveTo>
                <a:cubicBezTo>
                  <a:pt x="345" y="445"/>
                  <a:pt x="348" y="455"/>
                  <a:pt x="340" y="451"/>
                </a:cubicBezTo>
                <a:cubicBezTo>
                  <a:pt x="342" y="462"/>
                  <a:pt x="353" y="452"/>
                  <a:pt x="358" y="453"/>
                </a:cubicBezTo>
                <a:cubicBezTo>
                  <a:pt x="358" y="448"/>
                  <a:pt x="350" y="453"/>
                  <a:pt x="352" y="446"/>
                </a:cubicBezTo>
                <a:close/>
                <a:moveTo>
                  <a:pt x="281" y="445"/>
                </a:moveTo>
                <a:cubicBezTo>
                  <a:pt x="277" y="444"/>
                  <a:pt x="277" y="447"/>
                  <a:pt x="274" y="447"/>
                </a:cubicBezTo>
                <a:cubicBezTo>
                  <a:pt x="277" y="456"/>
                  <a:pt x="282" y="454"/>
                  <a:pt x="293" y="454"/>
                </a:cubicBezTo>
                <a:cubicBezTo>
                  <a:pt x="289" y="445"/>
                  <a:pt x="283" y="454"/>
                  <a:pt x="281" y="445"/>
                </a:cubicBezTo>
                <a:close/>
                <a:moveTo>
                  <a:pt x="1295" y="407"/>
                </a:moveTo>
                <a:cubicBezTo>
                  <a:pt x="1295" y="403"/>
                  <a:pt x="1283" y="403"/>
                  <a:pt x="1284" y="409"/>
                </a:cubicBezTo>
                <a:cubicBezTo>
                  <a:pt x="1288" y="412"/>
                  <a:pt x="1291" y="407"/>
                  <a:pt x="1295" y="407"/>
                </a:cubicBezTo>
                <a:close/>
                <a:moveTo>
                  <a:pt x="1553" y="393"/>
                </a:moveTo>
                <a:cubicBezTo>
                  <a:pt x="1551" y="389"/>
                  <a:pt x="1548" y="388"/>
                  <a:pt x="1547" y="384"/>
                </a:cubicBezTo>
                <a:cubicBezTo>
                  <a:pt x="1543" y="387"/>
                  <a:pt x="1546" y="390"/>
                  <a:pt x="1546" y="396"/>
                </a:cubicBezTo>
                <a:cubicBezTo>
                  <a:pt x="1551" y="397"/>
                  <a:pt x="1550" y="393"/>
                  <a:pt x="1553" y="393"/>
                </a:cubicBezTo>
                <a:close/>
                <a:moveTo>
                  <a:pt x="223" y="451"/>
                </a:moveTo>
                <a:cubicBezTo>
                  <a:pt x="220" y="445"/>
                  <a:pt x="221" y="446"/>
                  <a:pt x="222" y="440"/>
                </a:cubicBezTo>
                <a:cubicBezTo>
                  <a:pt x="218" y="441"/>
                  <a:pt x="215" y="437"/>
                  <a:pt x="213" y="440"/>
                </a:cubicBezTo>
                <a:cubicBezTo>
                  <a:pt x="215" y="444"/>
                  <a:pt x="216" y="451"/>
                  <a:pt x="223" y="451"/>
                </a:cubicBezTo>
                <a:close/>
                <a:moveTo>
                  <a:pt x="1497" y="390"/>
                </a:moveTo>
                <a:cubicBezTo>
                  <a:pt x="1493" y="388"/>
                  <a:pt x="1484" y="386"/>
                  <a:pt x="1483" y="392"/>
                </a:cubicBezTo>
                <a:cubicBezTo>
                  <a:pt x="1486" y="393"/>
                  <a:pt x="1495" y="390"/>
                  <a:pt x="1497" y="390"/>
                </a:cubicBezTo>
                <a:close/>
                <a:moveTo>
                  <a:pt x="1542" y="388"/>
                </a:moveTo>
                <a:cubicBezTo>
                  <a:pt x="1538" y="386"/>
                  <a:pt x="1533" y="389"/>
                  <a:pt x="1531" y="383"/>
                </a:cubicBezTo>
                <a:cubicBezTo>
                  <a:pt x="1527" y="387"/>
                  <a:pt x="1538" y="395"/>
                  <a:pt x="1542" y="388"/>
                </a:cubicBezTo>
                <a:close/>
                <a:moveTo>
                  <a:pt x="280" y="439"/>
                </a:moveTo>
                <a:cubicBezTo>
                  <a:pt x="279" y="436"/>
                  <a:pt x="277" y="434"/>
                  <a:pt x="272" y="435"/>
                </a:cubicBezTo>
                <a:cubicBezTo>
                  <a:pt x="272" y="437"/>
                  <a:pt x="270" y="438"/>
                  <a:pt x="271" y="440"/>
                </a:cubicBezTo>
                <a:cubicBezTo>
                  <a:pt x="275" y="441"/>
                  <a:pt x="277" y="439"/>
                  <a:pt x="280" y="439"/>
                </a:cubicBezTo>
                <a:close/>
                <a:moveTo>
                  <a:pt x="1479" y="373"/>
                </a:moveTo>
                <a:cubicBezTo>
                  <a:pt x="1478" y="376"/>
                  <a:pt x="1478" y="379"/>
                  <a:pt x="1477" y="383"/>
                </a:cubicBezTo>
                <a:cubicBezTo>
                  <a:pt x="1479" y="382"/>
                  <a:pt x="1479" y="379"/>
                  <a:pt x="1483" y="380"/>
                </a:cubicBezTo>
                <a:cubicBezTo>
                  <a:pt x="1483" y="373"/>
                  <a:pt x="1479" y="374"/>
                  <a:pt x="1481" y="367"/>
                </a:cubicBezTo>
                <a:cubicBezTo>
                  <a:pt x="1487" y="368"/>
                  <a:pt x="1489" y="373"/>
                  <a:pt x="1491" y="377"/>
                </a:cubicBezTo>
                <a:cubicBezTo>
                  <a:pt x="1494" y="376"/>
                  <a:pt x="1493" y="373"/>
                  <a:pt x="1497" y="374"/>
                </a:cubicBezTo>
                <a:cubicBezTo>
                  <a:pt x="1494" y="370"/>
                  <a:pt x="1492" y="368"/>
                  <a:pt x="1491" y="363"/>
                </a:cubicBezTo>
                <a:cubicBezTo>
                  <a:pt x="1479" y="362"/>
                  <a:pt x="1470" y="364"/>
                  <a:pt x="1460" y="367"/>
                </a:cubicBezTo>
                <a:cubicBezTo>
                  <a:pt x="1463" y="376"/>
                  <a:pt x="1470" y="371"/>
                  <a:pt x="1479" y="373"/>
                </a:cubicBezTo>
                <a:close/>
                <a:moveTo>
                  <a:pt x="1550" y="364"/>
                </a:moveTo>
                <a:cubicBezTo>
                  <a:pt x="1550" y="370"/>
                  <a:pt x="1555" y="370"/>
                  <a:pt x="1554" y="376"/>
                </a:cubicBezTo>
                <a:cubicBezTo>
                  <a:pt x="1557" y="377"/>
                  <a:pt x="1556" y="374"/>
                  <a:pt x="1559" y="374"/>
                </a:cubicBezTo>
                <a:cubicBezTo>
                  <a:pt x="1558" y="372"/>
                  <a:pt x="1556" y="373"/>
                  <a:pt x="1556" y="371"/>
                </a:cubicBezTo>
                <a:cubicBezTo>
                  <a:pt x="1556" y="370"/>
                  <a:pt x="1557" y="370"/>
                  <a:pt x="1557" y="368"/>
                </a:cubicBezTo>
                <a:cubicBezTo>
                  <a:pt x="1564" y="370"/>
                  <a:pt x="1576" y="369"/>
                  <a:pt x="1581" y="363"/>
                </a:cubicBezTo>
                <a:cubicBezTo>
                  <a:pt x="1586" y="365"/>
                  <a:pt x="1592" y="364"/>
                  <a:pt x="1598" y="364"/>
                </a:cubicBezTo>
                <a:cubicBezTo>
                  <a:pt x="1586" y="355"/>
                  <a:pt x="1572" y="365"/>
                  <a:pt x="1559" y="356"/>
                </a:cubicBezTo>
                <a:cubicBezTo>
                  <a:pt x="1555" y="357"/>
                  <a:pt x="1556" y="364"/>
                  <a:pt x="1550" y="364"/>
                </a:cubicBezTo>
                <a:close/>
                <a:moveTo>
                  <a:pt x="1606" y="367"/>
                </a:moveTo>
                <a:cubicBezTo>
                  <a:pt x="1603" y="368"/>
                  <a:pt x="1603" y="365"/>
                  <a:pt x="1599" y="366"/>
                </a:cubicBezTo>
                <a:cubicBezTo>
                  <a:pt x="1599" y="368"/>
                  <a:pt x="1599" y="369"/>
                  <a:pt x="1598" y="369"/>
                </a:cubicBezTo>
                <a:cubicBezTo>
                  <a:pt x="1598" y="372"/>
                  <a:pt x="1602" y="370"/>
                  <a:pt x="1602" y="373"/>
                </a:cubicBezTo>
                <a:cubicBezTo>
                  <a:pt x="1604" y="372"/>
                  <a:pt x="1606" y="371"/>
                  <a:pt x="1606" y="367"/>
                </a:cubicBezTo>
                <a:close/>
                <a:moveTo>
                  <a:pt x="347" y="413"/>
                </a:moveTo>
                <a:cubicBezTo>
                  <a:pt x="347" y="411"/>
                  <a:pt x="348" y="413"/>
                  <a:pt x="351" y="412"/>
                </a:cubicBezTo>
                <a:cubicBezTo>
                  <a:pt x="348" y="406"/>
                  <a:pt x="346" y="414"/>
                  <a:pt x="340" y="413"/>
                </a:cubicBezTo>
                <a:cubicBezTo>
                  <a:pt x="344" y="416"/>
                  <a:pt x="346" y="421"/>
                  <a:pt x="353" y="422"/>
                </a:cubicBezTo>
                <a:cubicBezTo>
                  <a:pt x="353" y="416"/>
                  <a:pt x="348" y="417"/>
                  <a:pt x="347" y="413"/>
                </a:cubicBezTo>
                <a:close/>
                <a:moveTo>
                  <a:pt x="1608" y="363"/>
                </a:moveTo>
                <a:cubicBezTo>
                  <a:pt x="1609" y="357"/>
                  <a:pt x="1602" y="360"/>
                  <a:pt x="1600" y="362"/>
                </a:cubicBezTo>
                <a:cubicBezTo>
                  <a:pt x="1601" y="365"/>
                  <a:pt x="1606" y="363"/>
                  <a:pt x="1608" y="363"/>
                </a:cubicBezTo>
                <a:close/>
                <a:moveTo>
                  <a:pt x="434" y="405"/>
                </a:moveTo>
                <a:cubicBezTo>
                  <a:pt x="434" y="403"/>
                  <a:pt x="431" y="404"/>
                  <a:pt x="429" y="404"/>
                </a:cubicBezTo>
                <a:cubicBezTo>
                  <a:pt x="429" y="405"/>
                  <a:pt x="431" y="405"/>
                  <a:pt x="432" y="405"/>
                </a:cubicBezTo>
                <a:cubicBezTo>
                  <a:pt x="431" y="407"/>
                  <a:pt x="428" y="406"/>
                  <a:pt x="426" y="406"/>
                </a:cubicBezTo>
                <a:cubicBezTo>
                  <a:pt x="426" y="409"/>
                  <a:pt x="429" y="410"/>
                  <a:pt x="426" y="410"/>
                </a:cubicBezTo>
                <a:cubicBezTo>
                  <a:pt x="429" y="413"/>
                  <a:pt x="435" y="413"/>
                  <a:pt x="437" y="410"/>
                </a:cubicBezTo>
                <a:cubicBezTo>
                  <a:pt x="438" y="408"/>
                  <a:pt x="431" y="406"/>
                  <a:pt x="434" y="405"/>
                </a:cubicBezTo>
                <a:close/>
                <a:moveTo>
                  <a:pt x="379" y="404"/>
                </a:moveTo>
                <a:cubicBezTo>
                  <a:pt x="371" y="405"/>
                  <a:pt x="371" y="405"/>
                  <a:pt x="371" y="405"/>
                </a:cubicBezTo>
                <a:cubicBezTo>
                  <a:pt x="370" y="410"/>
                  <a:pt x="373" y="411"/>
                  <a:pt x="375" y="413"/>
                </a:cubicBezTo>
                <a:cubicBezTo>
                  <a:pt x="378" y="411"/>
                  <a:pt x="380" y="409"/>
                  <a:pt x="379" y="404"/>
                </a:cubicBezTo>
                <a:close/>
                <a:moveTo>
                  <a:pt x="274" y="413"/>
                </a:moveTo>
                <a:cubicBezTo>
                  <a:pt x="276" y="413"/>
                  <a:pt x="277" y="411"/>
                  <a:pt x="276" y="408"/>
                </a:cubicBezTo>
                <a:cubicBezTo>
                  <a:pt x="272" y="408"/>
                  <a:pt x="272" y="408"/>
                  <a:pt x="272" y="408"/>
                </a:cubicBezTo>
                <a:cubicBezTo>
                  <a:pt x="272" y="411"/>
                  <a:pt x="273" y="411"/>
                  <a:pt x="274" y="413"/>
                </a:cubicBezTo>
                <a:close/>
                <a:moveTo>
                  <a:pt x="1588" y="349"/>
                </a:moveTo>
                <a:cubicBezTo>
                  <a:pt x="1587" y="350"/>
                  <a:pt x="1586" y="352"/>
                  <a:pt x="1586" y="355"/>
                </a:cubicBezTo>
                <a:cubicBezTo>
                  <a:pt x="1591" y="355"/>
                  <a:pt x="1590" y="352"/>
                  <a:pt x="1594" y="353"/>
                </a:cubicBezTo>
                <a:cubicBezTo>
                  <a:pt x="1595" y="349"/>
                  <a:pt x="1590" y="350"/>
                  <a:pt x="1588" y="349"/>
                </a:cubicBezTo>
                <a:close/>
                <a:moveTo>
                  <a:pt x="1434" y="356"/>
                </a:moveTo>
                <a:cubicBezTo>
                  <a:pt x="1434" y="353"/>
                  <a:pt x="1439" y="351"/>
                  <a:pt x="1436" y="348"/>
                </a:cubicBezTo>
                <a:cubicBezTo>
                  <a:pt x="1435" y="351"/>
                  <a:pt x="1429" y="354"/>
                  <a:pt x="1434" y="356"/>
                </a:cubicBezTo>
                <a:close/>
                <a:moveTo>
                  <a:pt x="1440" y="349"/>
                </a:moveTo>
                <a:cubicBezTo>
                  <a:pt x="1439" y="355"/>
                  <a:pt x="1444" y="353"/>
                  <a:pt x="1446" y="356"/>
                </a:cubicBezTo>
                <a:cubicBezTo>
                  <a:pt x="1448" y="354"/>
                  <a:pt x="1444" y="348"/>
                  <a:pt x="1440" y="349"/>
                </a:cubicBezTo>
                <a:close/>
                <a:moveTo>
                  <a:pt x="372" y="397"/>
                </a:moveTo>
                <a:cubicBezTo>
                  <a:pt x="375" y="397"/>
                  <a:pt x="378" y="398"/>
                  <a:pt x="379" y="400"/>
                </a:cubicBezTo>
                <a:cubicBezTo>
                  <a:pt x="385" y="398"/>
                  <a:pt x="380" y="391"/>
                  <a:pt x="377" y="388"/>
                </a:cubicBezTo>
                <a:cubicBezTo>
                  <a:pt x="373" y="389"/>
                  <a:pt x="372" y="392"/>
                  <a:pt x="372" y="397"/>
                </a:cubicBezTo>
                <a:close/>
                <a:moveTo>
                  <a:pt x="443" y="381"/>
                </a:moveTo>
                <a:cubicBezTo>
                  <a:pt x="437" y="382"/>
                  <a:pt x="436" y="376"/>
                  <a:pt x="429" y="378"/>
                </a:cubicBezTo>
                <a:cubicBezTo>
                  <a:pt x="429" y="385"/>
                  <a:pt x="429" y="385"/>
                  <a:pt x="429" y="385"/>
                </a:cubicBezTo>
                <a:cubicBezTo>
                  <a:pt x="435" y="384"/>
                  <a:pt x="436" y="388"/>
                  <a:pt x="439" y="390"/>
                </a:cubicBezTo>
                <a:cubicBezTo>
                  <a:pt x="443" y="387"/>
                  <a:pt x="440" y="385"/>
                  <a:pt x="443" y="381"/>
                </a:cubicBezTo>
                <a:close/>
                <a:moveTo>
                  <a:pt x="972" y="360"/>
                </a:moveTo>
                <a:cubicBezTo>
                  <a:pt x="971" y="362"/>
                  <a:pt x="967" y="361"/>
                  <a:pt x="968" y="365"/>
                </a:cubicBezTo>
                <a:cubicBezTo>
                  <a:pt x="971" y="364"/>
                  <a:pt x="971" y="366"/>
                  <a:pt x="974" y="366"/>
                </a:cubicBezTo>
                <a:cubicBezTo>
                  <a:pt x="974" y="363"/>
                  <a:pt x="973" y="362"/>
                  <a:pt x="972" y="360"/>
                </a:cubicBezTo>
                <a:close/>
                <a:moveTo>
                  <a:pt x="659" y="374"/>
                </a:moveTo>
                <a:cubicBezTo>
                  <a:pt x="664" y="373"/>
                  <a:pt x="666" y="369"/>
                  <a:pt x="666" y="378"/>
                </a:cubicBezTo>
                <a:cubicBezTo>
                  <a:pt x="673" y="378"/>
                  <a:pt x="673" y="378"/>
                  <a:pt x="673" y="378"/>
                </a:cubicBezTo>
                <a:cubicBezTo>
                  <a:pt x="674" y="374"/>
                  <a:pt x="670" y="376"/>
                  <a:pt x="667" y="375"/>
                </a:cubicBezTo>
                <a:cubicBezTo>
                  <a:pt x="665" y="369"/>
                  <a:pt x="672" y="370"/>
                  <a:pt x="672" y="366"/>
                </a:cubicBezTo>
                <a:cubicBezTo>
                  <a:pt x="670" y="365"/>
                  <a:pt x="660" y="366"/>
                  <a:pt x="657" y="366"/>
                </a:cubicBezTo>
                <a:cubicBezTo>
                  <a:pt x="656" y="371"/>
                  <a:pt x="660" y="370"/>
                  <a:pt x="659" y="374"/>
                </a:cubicBezTo>
                <a:close/>
                <a:moveTo>
                  <a:pt x="1438" y="338"/>
                </a:moveTo>
                <a:cubicBezTo>
                  <a:pt x="1440" y="341"/>
                  <a:pt x="1444" y="341"/>
                  <a:pt x="1449" y="341"/>
                </a:cubicBezTo>
                <a:cubicBezTo>
                  <a:pt x="1446" y="338"/>
                  <a:pt x="1442" y="336"/>
                  <a:pt x="1438" y="338"/>
                </a:cubicBezTo>
                <a:close/>
                <a:moveTo>
                  <a:pt x="834" y="361"/>
                </a:moveTo>
                <a:cubicBezTo>
                  <a:pt x="835" y="372"/>
                  <a:pt x="844" y="361"/>
                  <a:pt x="847" y="363"/>
                </a:cubicBezTo>
                <a:cubicBezTo>
                  <a:pt x="851" y="358"/>
                  <a:pt x="836" y="356"/>
                  <a:pt x="834" y="361"/>
                </a:cubicBezTo>
                <a:close/>
                <a:moveTo>
                  <a:pt x="918" y="355"/>
                </a:moveTo>
                <a:cubicBezTo>
                  <a:pt x="921" y="350"/>
                  <a:pt x="927" y="360"/>
                  <a:pt x="927" y="352"/>
                </a:cubicBezTo>
                <a:cubicBezTo>
                  <a:pt x="915" y="352"/>
                  <a:pt x="915" y="352"/>
                  <a:pt x="915" y="352"/>
                </a:cubicBezTo>
                <a:cubicBezTo>
                  <a:pt x="916" y="356"/>
                  <a:pt x="913" y="356"/>
                  <a:pt x="914" y="359"/>
                </a:cubicBezTo>
                <a:cubicBezTo>
                  <a:pt x="919" y="360"/>
                  <a:pt x="921" y="364"/>
                  <a:pt x="928" y="362"/>
                </a:cubicBezTo>
                <a:cubicBezTo>
                  <a:pt x="926" y="358"/>
                  <a:pt x="922" y="357"/>
                  <a:pt x="918" y="355"/>
                </a:cubicBezTo>
                <a:close/>
                <a:moveTo>
                  <a:pt x="1074" y="355"/>
                </a:moveTo>
                <a:cubicBezTo>
                  <a:pt x="1079" y="353"/>
                  <a:pt x="1082" y="357"/>
                  <a:pt x="1084" y="354"/>
                </a:cubicBezTo>
                <a:cubicBezTo>
                  <a:pt x="1082" y="352"/>
                  <a:pt x="1073" y="348"/>
                  <a:pt x="1074" y="355"/>
                </a:cubicBezTo>
                <a:close/>
                <a:moveTo>
                  <a:pt x="555" y="375"/>
                </a:moveTo>
                <a:cubicBezTo>
                  <a:pt x="553" y="370"/>
                  <a:pt x="543" y="374"/>
                  <a:pt x="540" y="372"/>
                </a:cubicBezTo>
                <a:cubicBezTo>
                  <a:pt x="540" y="378"/>
                  <a:pt x="549" y="375"/>
                  <a:pt x="552" y="378"/>
                </a:cubicBezTo>
                <a:cubicBezTo>
                  <a:pt x="554" y="377"/>
                  <a:pt x="553" y="375"/>
                  <a:pt x="555" y="375"/>
                </a:cubicBezTo>
                <a:close/>
                <a:moveTo>
                  <a:pt x="614" y="368"/>
                </a:moveTo>
                <a:cubicBezTo>
                  <a:pt x="619" y="371"/>
                  <a:pt x="618" y="367"/>
                  <a:pt x="622" y="365"/>
                </a:cubicBezTo>
                <a:cubicBezTo>
                  <a:pt x="621" y="362"/>
                  <a:pt x="612" y="364"/>
                  <a:pt x="614" y="368"/>
                </a:cubicBezTo>
                <a:close/>
                <a:moveTo>
                  <a:pt x="730" y="359"/>
                </a:moveTo>
                <a:cubicBezTo>
                  <a:pt x="730" y="363"/>
                  <a:pt x="731" y="365"/>
                  <a:pt x="734" y="364"/>
                </a:cubicBezTo>
                <a:cubicBezTo>
                  <a:pt x="735" y="361"/>
                  <a:pt x="734" y="358"/>
                  <a:pt x="730" y="359"/>
                </a:cubicBezTo>
                <a:close/>
                <a:moveTo>
                  <a:pt x="777" y="357"/>
                </a:moveTo>
                <a:cubicBezTo>
                  <a:pt x="777" y="359"/>
                  <a:pt x="779" y="360"/>
                  <a:pt x="779" y="362"/>
                </a:cubicBezTo>
                <a:cubicBezTo>
                  <a:pt x="784" y="362"/>
                  <a:pt x="787" y="361"/>
                  <a:pt x="791" y="359"/>
                </a:cubicBezTo>
                <a:cubicBezTo>
                  <a:pt x="787" y="354"/>
                  <a:pt x="784" y="356"/>
                  <a:pt x="777" y="357"/>
                </a:cubicBezTo>
                <a:close/>
                <a:moveTo>
                  <a:pt x="898" y="353"/>
                </a:moveTo>
                <a:cubicBezTo>
                  <a:pt x="893" y="353"/>
                  <a:pt x="885" y="349"/>
                  <a:pt x="886" y="356"/>
                </a:cubicBezTo>
                <a:cubicBezTo>
                  <a:pt x="892" y="354"/>
                  <a:pt x="897" y="360"/>
                  <a:pt x="898" y="353"/>
                </a:cubicBezTo>
                <a:close/>
                <a:moveTo>
                  <a:pt x="1073" y="344"/>
                </a:moveTo>
                <a:cubicBezTo>
                  <a:pt x="1080" y="342"/>
                  <a:pt x="1088" y="350"/>
                  <a:pt x="1095" y="344"/>
                </a:cubicBezTo>
                <a:cubicBezTo>
                  <a:pt x="1095" y="338"/>
                  <a:pt x="1082" y="348"/>
                  <a:pt x="1082" y="339"/>
                </a:cubicBezTo>
                <a:cubicBezTo>
                  <a:pt x="1081" y="343"/>
                  <a:pt x="1072" y="338"/>
                  <a:pt x="1073" y="344"/>
                </a:cubicBezTo>
                <a:close/>
                <a:moveTo>
                  <a:pt x="1563" y="315"/>
                </a:moveTo>
                <a:cubicBezTo>
                  <a:pt x="1562" y="311"/>
                  <a:pt x="1555" y="312"/>
                  <a:pt x="1555" y="315"/>
                </a:cubicBezTo>
                <a:cubicBezTo>
                  <a:pt x="1554" y="321"/>
                  <a:pt x="1558" y="321"/>
                  <a:pt x="1558" y="325"/>
                </a:cubicBezTo>
                <a:cubicBezTo>
                  <a:pt x="1562" y="321"/>
                  <a:pt x="1559" y="317"/>
                  <a:pt x="1563" y="315"/>
                </a:cubicBezTo>
                <a:close/>
                <a:moveTo>
                  <a:pt x="1077" y="335"/>
                </a:moveTo>
                <a:cubicBezTo>
                  <a:pt x="1073" y="337"/>
                  <a:pt x="1070" y="338"/>
                  <a:pt x="1071" y="332"/>
                </a:cubicBezTo>
                <a:cubicBezTo>
                  <a:pt x="1068" y="335"/>
                  <a:pt x="1067" y="340"/>
                  <a:pt x="1066" y="345"/>
                </a:cubicBezTo>
                <a:cubicBezTo>
                  <a:pt x="1072" y="345"/>
                  <a:pt x="1072" y="345"/>
                  <a:pt x="1072" y="345"/>
                </a:cubicBezTo>
                <a:cubicBezTo>
                  <a:pt x="1067" y="342"/>
                  <a:pt x="1072" y="341"/>
                  <a:pt x="1070" y="340"/>
                </a:cubicBezTo>
                <a:cubicBezTo>
                  <a:pt x="1070" y="337"/>
                  <a:pt x="1074" y="341"/>
                  <a:pt x="1077" y="340"/>
                </a:cubicBezTo>
                <a:lnTo>
                  <a:pt x="1077" y="335"/>
                </a:lnTo>
                <a:close/>
                <a:moveTo>
                  <a:pt x="507" y="360"/>
                </a:moveTo>
                <a:cubicBezTo>
                  <a:pt x="507" y="363"/>
                  <a:pt x="511" y="362"/>
                  <a:pt x="512" y="365"/>
                </a:cubicBezTo>
                <a:cubicBezTo>
                  <a:pt x="513" y="360"/>
                  <a:pt x="510" y="358"/>
                  <a:pt x="515" y="352"/>
                </a:cubicBezTo>
                <a:cubicBezTo>
                  <a:pt x="510" y="354"/>
                  <a:pt x="512" y="349"/>
                  <a:pt x="508" y="350"/>
                </a:cubicBezTo>
                <a:cubicBezTo>
                  <a:pt x="507" y="353"/>
                  <a:pt x="510" y="359"/>
                  <a:pt x="507" y="360"/>
                </a:cubicBezTo>
                <a:close/>
                <a:moveTo>
                  <a:pt x="1456" y="319"/>
                </a:moveTo>
                <a:cubicBezTo>
                  <a:pt x="1452" y="316"/>
                  <a:pt x="1451" y="310"/>
                  <a:pt x="1442" y="311"/>
                </a:cubicBezTo>
                <a:cubicBezTo>
                  <a:pt x="1443" y="314"/>
                  <a:pt x="1450" y="312"/>
                  <a:pt x="1448" y="318"/>
                </a:cubicBezTo>
                <a:cubicBezTo>
                  <a:pt x="1452" y="316"/>
                  <a:pt x="1452" y="320"/>
                  <a:pt x="1456" y="319"/>
                </a:cubicBezTo>
                <a:close/>
                <a:moveTo>
                  <a:pt x="1122" y="316"/>
                </a:moveTo>
                <a:cubicBezTo>
                  <a:pt x="1117" y="316"/>
                  <a:pt x="1114" y="317"/>
                  <a:pt x="1114" y="322"/>
                </a:cubicBezTo>
                <a:cubicBezTo>
                  <a:pt x="1119" y="323"/>
                  <a:pt x="1119" y="321"/>
                  <a:pt x="1124" y="323"/>
                </a:cubicBezTo>
                <a:cubicBezTo>
                  <a:pt x="1124" y="319"/>
                  <a:pt x="1121" y="320"/>
                  <a:pt x="1122" y="316"/>
                </a:cubicBezTo>
                <a:close/>
                <a:moveTo>
                  <a:pt x="1073" y="318"/>
                </a:moveTo>
                <a:cubicBezTo>
                  <a:pt x="1071" y="315"/>
                  <a:pt x="1066" y="315"/>
                  <a:pt x="1061" y="316"/>
                </a:cubicBezTo>
                <a:cubicBezTo>
                  <a:pt x="1061" y="318"/>
                  <a:pt x="1061" y="320"/>
                  <a:pt x="1060" y="320"/>
                </a:cubicBezTo>
                <a:cubicBezTo>
                  <a:pt x="1064" y="323"/>
                  <a:pt x="1066" y="318"/>
                  <a:pt x="1073" y="318"/>
                </a:cubicBezTo>
                <a:close/>
                <a:moveTo>
                  <a:pt x="1442" y="298"/>
                </a:moveTo>
                <a:cubicBezTo>
                  <a:pt x="1440" y="303"/>
                  <a:pt x="1450" y="305"/>
                  <a:pt x="1449" y="299"/>
                </a:cubicBezTo>
                <a:cubicBezTo>
                  <a:pt x="1445" y="299"/>
                  <a:pt x="1446" y="296"/>
                  <a:pt x="1442" y="298"/>
                </a:cubicBezTo>
                <a:close/>
                <a:moveTo>
                  <a:pt x="1515" y="298"/>
                </a:moveTo>
                <a:cubicBezTo>
                  <a:pt x="1513" y="295"/>
                  <a:pt x="1506" y="297"/>
                  <a:pt x="1505" y="292"/>
                </a:cubicBezTo>
                <a:cubicBezTo>
                  <a:pt x="1501" y="296"/>
                  <a:pt x="1511" y="303"/>
                  <a:pt x="1515" y="298"/>
                </a:cubicBezTo>
                <a:close/>
                <a:moveTo>
                  <a:pt x="940" y="313"/>
                </a:moveTo>
                <a:cubicBezTo>
                  <a:pt x="941" y="312"/>
                  <a:pt x="942" y="309"/>
                  <a:pt x="941" y="306"/>
                </a:cubicBezTo>
                <a:cubicBezTo>
                  <a:pt x="940" y="308"/>
                  <a:pt x="939" y="308"/>
                  <a:pt x="939" y="305"/>
                </a:cubicBezTo>
                <a:cubicBezTo>
                  <a:pt x="935" y="303"/>
                  <a:pt x="932" y="309"/>
                  <a:pt x="931" y="305"/>
                </a:cubicBezTo>
                <a:cubicBezTo>
                  <a:pt x="928" y="315"/>
                  <a:pt x="938" y="322"/>
                  <a:pt x="947" y="316"/>
                </a:cubicBezTo>
                <a:cubicBezTo>
                  <a:pt x="946" y="314"/>
                  <a:pt x="944" y="313"/>
                  <a:pt x="940" y="313"/>
                </a:cubicBezTo>
                <a:close/>
                <a:moveTo>
                  <a:pt x="1012" y="315"/>
                </a:moveTo>
                <a:cubicBezTo>
                  <a:pt x="1016" y="313"/>
                  <a:pt x="1016" y="312"/>
                  <a:pt x="1015" y="308"/>
                </a:cubicBezTo>
                <a:cubicBezTo>
                  <a:pt x="1014" y="309"/>
                  <a:pt x="1013" y="310"/>
                  <a:pt x="1011" y="310"/>
                </a:cubicBezTo>
                <a:cubicBezTo>
                  <a:pt x="1012" y="311"/>
                  <a:pt x="1012" y="313"/>
                  <a:pt x="1012" y="315"/>
                </a:cubicBezTo>
                <a:close/>
                <a:moveTo>
                  <a:pt x="987" y="287"/>
                </a:moveTo>
                <a:cubicBezTo>
                  <a:pt x="988" y="287"/>
                  <a:pt x="988" y="288"/>
                  <a:pt x="989" y="289"/>
                </a:cubicBezTo>
                <a:cubicBezTo>
                  <a:pt x="989" y="288"/>
                  <a:pt x="988" y="287"/>
                  <a:pt x="987" y="287"/>
                </a:cubicBezTo>
                <a:close/>
                <a:moveTo>
                  <a:pt x="989" y="289"/>
                </a:moveTo>
                <a:cubicBezTo>
                  <a:pt x="991" y="293"/>
                  <a:pt x="985" y="299"/>
                  <a:pt x="982" y="295"/>
                </a:cubicBezTo>
                <a:cubicBezTo>
                  <a:pt x="981" y="299"/>
                  <a:pt x="983" y="302"/>
                  <a:pt x="981" y="306"/>
                </a:cubicBezTo>
                <a:cubicBezTo>
                  <a:pt x="989" y="308"/>
                  <a:pt x="994" y="314"/>
                  <a:pt x="1004" y="314"/>
                </a:cubicBezTo>
                <a:cubicBezTo>
                  <a:pt x="1004" y="312"/>
                  <a:pt x="1006" y="311"/>
                  <a:pt x="1005" y="309"/>
                </a:cubicBezTo>
                <a:cubicBezTo>
                  <a:pt x="996" y="306"/>
                  <a:pt x="996" y="296"/>
                  <a:pt x="989" y="289"/>
                </a:cubicBezTo>
                <a:close/>
                <a:moveTo>
                  <a:pt x="1066" y="312"/>
                </a:moveTo>
                <a:cubicBezTo>
                  <a:pt x="1066" y="303"/>
                  <a:pt x="1066" y="303"/>
                  <a:pt x="1066" y="303"/>
                </a:cubicBezTo>
                <a:cubicBezTo>
                  <a:pt x="1061" y="299"/>
                  <a:pt x="1059" y="304"/>
                  <a:pt x="1052" y="304"/>
                </a:cubicBezTo>
                <a:cubicBezTo>
                  <a:pt x="1056" y="307"/>
                  <a:pt x="1059" y="312"/>
                  <a:pt x="1066" y="312"/>
                </a:cubicBezTo>
                <a:close/>
                <a:moveTo>
                  <a:pt x="1493" y="284"/>
                </a:moveTo>
                <a:cubicBezTo>
                  <a:pt x="1494" y="287"/>
                  <a:pt x="1496" y="289"/>
                  <a:pt x="1497" y="291"/>
                </a:cubicBezTo>
                <a:cubicBezTo>
                  <a:pt x="1500" y="289"/>
                  <a:pt x="1497" y="282"/>
                  <a:pt x="1493" y="284"/>
                </a:cubicBezTo>
                <a:close/>
                <a:moveTo>
                  <a:pt x="1178" y="300"/>
                </a:moveTo>
                <a:cubicBezTo>
                  <a:pt x="1178" y="304"/>
                  <a:pt x="1184" y="301"/>
                  <a:pt x="1185" y="304"/>
                </a:cubicBezTo>
                <a:cubicBezTo>
                  <a:pt x="1188" y="299"/>
                  <a:pt x="1183" y="300"/>
                  <a:pt x="1178" y="300"/>
                </a:cubicBezTo>
                <a:close/>
                <a:moveTo>
                  <a:pt x="1609" y="285"/>
                </a:moveTo>
                <a:cubicBezTo>
                  <a:pt x="1608" y="281"/>
                  <a:pt x="1604" y="277"/>
                  <a:pt x="1601" y="281"/>
                </a:cubicBezTo>
                <a:cubicBezTo>
                  <a:pt x="1602" y="284"/>
                  <a:pt x="1604" y="286"/>
                  <a:pt x="1609" y="285"/>
                </a:cubicBezTo>
                <a:close/>
                <a:moveTo>
                  <a:pt x="1526" y="278"/>
                </a:moveTo>
                <a:cubicBezTo>
                  <a:pt x="1522" y="278"/>
                  <a:pt x="1520" y="281"/>
                  <a:pt x="1520" y="285"/>
                </a:cubicBezTo>
                <a:cubicBezTo>
                  <a:pt x="1522" y="284"/>
                  <a:pt x="1522" y="286"/>
                  <a:pt x="1523" y="287"/>
                </a:cubicBezTo>
                <a:cubicBezTo>
                  <a:pt x="1528" y="288"/>
                  <a:pt x="1526" y="282"/>
                  <a:pt x="1526" y="278"/>
                </a:cubicBezTo>
                <a:close/>
                <a:moveTo>
                  <a:pt x="1101" y="301"/>
                </a:moveTo>
                <a:cubicBezTo>
                  <a:pt x="1100" y="306"/>
                  <a:pt x="1106" y="304"/>
                  <a:pt x="1111" y="304"/>
                </a:cubicBezTo>
                <a:cubicBezTo>
                  <a:pt x="1110" y="297"/>
                  <a:pt x="1105" y="304"/>
                  <a:pt x="1101" y="301"/>
                </a:cubicBezTo>
                <a:close/>
                <a:moveTo>
                  <a:pt x="1439" y="290"/>
                </a:moveTo>
                <a:cubicBezTo>
                  <a:pt x="1446" y="289"/>
                  <a:pt x="1450" y="289"/>
                  <a:pt x="1454" y="288"/>
                </a:cubicBezTo>
                <a:cubicBezTo>
                  <a:pt x="1451" y="282"/>
                  <a:pt x="1447" y="279"/>
                  <a:pt x="1440" y="279"/>
                </a:cubicBezTo>
                <a:cubicBezTo>
                  <a:pt x="1437" y="283"/>
                  <a:pt x="1440" y="284"/>
                  <a:pt x="1439" y="290"/>
                </a:cubicBezTo>
                <a:close/>
                <a:moveTo>
                  <a:pt x="1486" y="283"/>
                </a:moveTo>
                <a:cubicBezTo>
                  <a:pt x="1485" y="282"/>
                  <a:pt x="1482" y="282"/>
                  <a:pt x="1482" y="284"/>
                </a:cubicBezTo>
                <a:cubicBezTo>
                  <a:pt x="1480" y="284"/>
                  <a:pt x="1481" y="282"/>
                  <a:pt x="1480" y="281"/>
                </a:cubicBezTo>
                <a:cubicBezTo>
                  <a:pt x="1479" y="281"/>
                  <a:pt x="1478" y="283"/>
                  <a:pt x="1476" y="284"/>
                </a:cubicBezTo>
                <a:cubicBezTo>
                  <a:pt x="1477" y="289"/>
                  <a:pt x="1484" y="286"/>
                  <a:pt x="1486" y="283"/>
                </a:cubicBezTo>
                <a:close/>
                <a:moveTo>
                  <a:pt x="1209" y="294"/>
                </a:moveTo>
                <a:cubicBezTo>
                  <a:pt x="1210" y="299"/>
                  <a:pt x="1214" y="296"/>
                  <a:pt x="1217" y="295"/>
                </a:cubicBezTo>
                <a:cubicBezTo>
                  <a:pt x="1214" y="293"/>
                  <a:pt x="1212" y="293"/>
                  <a:pt x="1209" y="294"/>
                </a:cubicBezTo>
                <a:close/>
                <a:moveTo>
                  <a:pt x="636" y="310"/>
                </a:moveTo>
                <a:cubicBezTo>
                  <a:pt x="636" y="317"/>
                  <a:pt x="642" y="317"/>
                  <a:pt x="644" y="321"/>
                </a:cubicBezTo>
                <a:cubicBezTo>
                  <a:pt x="650" y="316"/>
                  <a:pt x="644" y="305"/>
                  <a:pt x="636" y="310"/>
                </a:cubicBezTo>
                <a:close/>
                <a:moveTo>
                  <a:pt x="1306" y="281"/>
                </a:moveTo>
                <a:cubicBezTo>
                  <a:pt x="1304" y="276"/>
                  <a:pt x="1301" y="275"/>
                  <a:pt x="1307" y="272"/>
                </a:cubicBezTo>
                <a:cubicBezTo>
                  <a:pt x="1311" y="273"/>
                  <a:pt x="1304" y="275"/>
                  <a:pt x="1306" y="278"/>
                </a:cubicBezTo>
                <a:cubicBezTo>
                  <a:pt x="1310" y="279"/>
                  <a:pt x="1311" y="283"/>
                  <a:pt x="1318" y="281"/>
                </a:cubicBezTo>
                <a:cubicBezTo>
                  <a:pt x="1317" y="276"/>
                  <a:pt x="1312" y="276"/>
                  <a:pt x="1311" y="271"/>
                </a:cubicBezTo>
                <a:cubicBezTo>
                  <a:pt x="1318" y="266"/>
                  <a:pt x="1320" y="273"/>
                  <a:pt x="1322" y="279"/>
                </a:cubicBezTo>
                <a:cubicBezTo>
                  <a:pt x="1328" y="278"/>
                  <a:pt x="1326" y="274"/>
                  <a:pt x="1327" y="272"/>
                </a:cubicBezTo>
                <a:cubicBezTo>
                  <a:pt x="1330" y="271"/>
                  <a:pt x="1330" y="273"/>
                  <a:pt x="1330" y="275"/>
                </a:cubicBezTo>
                <a:cubicBezTo>
                  <a:pt x="1333" y="273"/>
                  <a:pt x="1333" y="267"/>
                  <a:pt x="1340" y="268"/>
                </a:cubicBezTo>
                <a:cubicBezTo>
                  <a:pt x="1336" y="260"/>
                  <a:pt x="1316" y="267"/>
                  <a:pt x="1313" y="255"/>
                </a:cubicBezTo>
                <a:cubicBezTo>
                  <a:pt x="1310" y="257"/>
                  <a:pt x="1310" y="254"/>
                  <a:pt x="1306" y="255"/>
                </a:cubicBezTo>
                <a:cubicBezTo>
                  <a:pt x="1307" y="256"/>
                  <a:pt x="1307" y="259"/>
                  <a:pt x="1309" y="259"/>
                </a:cubicBezTo>
                <a:cubicBezTo>
                  <a:pt x="1308" y="260"/>
                  <a:pt x="1306" y="260"/>
                  <a:pt x="1306" y="263"/>
                </a:cubicBezTo>
                <a:cubicBezTo>
                  <a:pt x="1301" y="265"/>
                  <a:pt x="1302" y="260"/>
                  <a:pt x="1298" y="261"/>
                </a:cubicBezTo>
                <a:cubicBezTo>
                  <a:pt x="1299" y="266"/>
                  <a:pt x="1295" y="261"/>
                  <a:pt x="1293" y="262"/>
                </a:cubicBezTo>
                <a:cubicBezTo>
                  <a:pt x="1291" y="268"/>
                  <a:pt x="1288" y="272"/>
                  <a:pt x="1288" y="279"/>
                </a:cubicBezTo>
                <a:cubicBezTo>
                  <a:pt x="1293" y="280"/>
                  <a:pt x="1301" y="283"/>
                  <a:pt x="1306" y="281"/>
                </a:cubicBezTo>
                <a:close/>
                <a:moveTo>
                  <a:pt x="983" y="265"/>
                </a:moveTo>
                <a:cubicBezTo>
                  <a:pt x="978" y="266"/>
                  <a:pt x="979" y="269"/>
                  <a:pt x="982" y="272"/>
                </a:cubicBezTo>
                <a:cubicBezTo>
                  <a:pt x="978" y="273"/>
                  <a:pt x="978" y="270"/>
                  <a:pt x="975" y="271"/>
                </a:cubicBezTo>
                <a:cubicBezTo>
                  <a:pt x="976" y="274"/>
                  <a:pt x="977" y="276"/>
                  <a:pt x="978" y="279"/>
                </a:cubicBezTo>
                <a:cubicBezTo>
                  <a:pt x="976" y="283"/>
                  <a:pt x="969" y="282"/>
                  <a:pt x="970" y="289"/>
                </a:cubicBezTo>
                <a:cubicBezTo>
                  <a:pt x="976" y="288"/>
                  <a:pt x="978" y="294"/>
                  <a:pt x="983" y="290"/>
                </a:cubicBezTo>
                <a:cubicBezTo>
                  <a:pt x="982" y="279"/>
                  <a:pt x="982" y="279"/>
                  <a:pt x="982" y="279"/>
                </a:cubicBezTo>
                <a:cubicBezTo>
                  <a:pt x="985" y="278"/>
                  <a:pt x="985" y="281"/>
                  <a:pt x="989" y="280"/>
                </a:cubicBezTo>
                <a:cubicBezTo>
                  <a:pt x="989" y="272"/>
                  <a:pt x="989" y="272"/>
                  <a:pt x="989" y="272"/>
                </a:cubicBezTo>
                <a:cubicBezTo>
                  <a:pt x="983" y="273"/>
                  <a:pt x="984" y="268"/>
                  <a:pt x="983" y="265"/>
                </a:cubicBezTo>
                <a:close/>
                <a:moveTo>
                  <a:pt x="990" y="280"/>
                </a:moveTo>
                <a:cubicBezTo>
                  <a:pt x="992" y="287"/>
                  <a:pt x="1000" y="288"/>
                  <a:pt x="1007" y="290"/>
                </a:cubicBezTo>
                <a:cubicBezTo>
                  <a:pt x="1009" y="288"/>
                  <a:pt x="1008" y="283"/>
                  <a:pt x="1008" y="279"/>
                </a:cubicBezTo>
                <a:cubicBezTo>
                  <a:pt x="1004" y="278"/>
                  <a:pt x="1002" y="276"/>
                  <a:pt x="1001" y="273"/>
                </a:cubicBezTo>
                <a:cubicBezTo>
                  <a:pt x="998" y="278"/>
                  <a:pt x="994" y="275"/>
                  <a:pt x="990" y="280"/>
                </a:cubicBezTo>
                <a:close/>
                <a:moveTo>
                  <a:pt x="770" y="292"/>
                </a:moveTo>
                <a:cubicBezTo>
                  <a:pt x="772" y="298"/>
                  <a:pt x="781" y="299"/>
                  <a:pt x="780" y="289"/>
                </a:cubicBezTo>
                <a:cubicBezTo>
                  <a:pt x="774" y="288"/>
                  <a:pt x="775" y="292"/>
                  <a:pt x="770" y="292"/>
                </a:cubicBezTo>
                <a:close/>
                <a:moveTo>
                  <a:pt x="808" y="296"/>
                </a:moveTo>
                <a:cubicBezTo>
                  <a:pt x="804" y="292"/>
                  <a:pt x="811" y="292"/>
                  <a:pt x="811" y="288"/>
                </a:cubicBezTo>
                <a:cubicBezTo>
                  <a:pt x="805" y="286"/>
                  <a:pt x="803" y="288"/>
                  <a:pt x="797" y="288"/>
                </a:cubicBezTo>
                <a:cubicBezTo>
                  <a:pt x="799" y="293"/>
                  <a:pt x="801" y="298"/>
                  <a:pt x="808" y="296"/>
                </a:cubicBezTo>
                <a:close/>
                <a:moveTo>
                  <a:pt x="1758" y="250"/>
                </a:moveTo>
                <a:cubicBezTo>
                  <a:pt x="1756" y="248"/>
                  <a:pt x="1753" y="247"/>
                  <a:pt x="1749" y="247"/>
                </a:cubicBezTo>
                <a:cubicBezTo>
                  <a:pt x="1749" y="251"/>
                  <a:pt x="1757" y="251"/>
                  <a:pt x="1758" y="250"/>
                </a:cubicBezTo>
                <a:close/>
                <a:moveTo>
                  <a:pt x="694" y="274"/>
                </a:moveTo>
                <a:cubicBezTo>
                  <a:pt x="689" y="274"/>
                  <a:pt x="688" y="270"/>
                  <a:pt x="683" y="270"/>
                </a:cubicBezTo>
                <a:cubicBezTo>
                  <a:pt x="677" y="275"/>
                  <a:pt x="673" y="283"/>
                  <a:pt x="680" y="290"/>
                </a:cubicBezTo>
                <a:cubicBezTo>
                  <a:pt x="682" y="289"/>
                  <a:pt x="689" y="291"/>
                  <a:pt x="689" y="288"/>
                </a:cubicBezTo>
                <a:cubicBezTo>
                  <a:pt x="692" y="294"/>
                  <a:pt x="700" y="295"/>
                  <a:pt x="707" y="296"/>
                </a:cubicBezTo>
                <a:cubicBezTo>
                  <a:pt x="708" y="288"/>
                  <a:pt x="710" y="288"/>
                  <a:pt x="709" y="277"/>
                </a:cubicBezTo>
                <a:cubicBezTo>
                  <a:pt x="701" y="276"/>
                  <a:pt x="698" y="280"/>
                  <a:pt x="694" y="284"/>
                </a:cubicBezTo>
                <a:cubicBezTo>
                  <a:pt x="688" y="282"/>
                  <a:pt x="695" y="279"/>
                  <a:pt x="694" y="274"/>
                </a:cubicBezTo>
                <a:close/>
                <a:moveTo>
                  <a:pt x="1133" y="269"/>
                </a:moveTo>
                <a:cubicBezTo>
                  <a:pt x="1131" y="269"/>
                  <a:pt x="1131" y="271"/>
                  <a:pt x="1129" y="271"/>
                </a:cubicBezTo>
                <a:cubicBezTo>
                  <a:pt x="1129" y="274"/>
                  <a:pt x="1129" y="274"/>
                  <a:pt x="1129" y="274"/>
                </a:cubicBezTo>
                <a:cubicBezTo>
                  <a:pt x="1133" y="274"/>
                  <a:pt x="1135" y="276"/>
                  <a:pt x="1138" y="273"/>
                </a:cubicBezTo>
                <a:cubicBezTo>
                  <a:pt x="1138" y="270"/>
                  <a:pt x="1131" y="274"/>
                  <a:pt x="1133" y="269"/>
                </a:cubicBezTo>
                <a:close/>
                <a:moveTo>
                  <a:pt x="1042" y="276"/>
                </a:moveTo>
                <a:cubicBezTo>
                  <a:pt x="1041" y="274"/>
                  <a:pt x="1043" y="273"/>
                  <a:pt x="1043" y="271"/>
                </a:cubicBezTo>
                <a:cubicBezTo>
                  <a:pt x="1033" y="275"/>
                  <a:pt x="1030" y="265"/>
                  <a:pt x="1023" y="258"/>
                </a:cubicBezTo>
                <a:cubicBezTo>
                  <a:pt x="1023" y="263"/>
                  <a:pt x="1021" y="266"/>
                  <a:pt x="1022" y="272"/>
                </a:cubicBezTo>
                <a:cubicBezTo>
                  <a:pt x="1028" y="274"/>
                  <a:pt x="1034" y="276"/>
                  <a:pt x="1042" y="276"/>
                </a:cubicBezTo>
                <a:close/>
                <a:moveTo>
                  <a:pt x="902" y="273"/>
                </a:moveTo>
                <a:cubicBezTo>
                  <a:pt x="901" y="278"/>
                  <a:pt x="905" y="277"/>
                  <a:pt x="906" y="279"/>
                </a:cubicBezTo>
                <a:cubicBezTo>
                  <a:pt x="909" y="278"/>
                  <a:pt x="909" y="275"/>
                  <a:pt x="909" y="271"/>
                </a:cubicBezTo>
                <a:cubicBezTo>
                  <a:pt x="906" y="271"/>
                  <a:pt x="906" y="274"/>
                  <a:pt x="902" y="273"/>
                </a:cubicBezTo>
                <a:close/>
                <a:moveTo>
                  <a:pt x="1787" y="233"/>
                </a:moveTo>
                <a:cubicBezTo>
                  <a:pt x="1785" y="235"/>
                  <a:pt x="1785" y="238"/>
                  <a:pt x="1784" y="240"/>
                </a:cubicBezTo>
                <a:cubicBezTo>
                  <a:pt x="1787" y="240"/>
                  <a:pt x="1787" y="236"/>
                  <a:pt x="1791" y="237"/>
                </a:cubicBezTo>
                <a:cubicBezTo>
                  <a:pt x="1791" y="234"/>
                  <a:pt x="1787" y="236"/>
                  <a:pt x="1787" y="233"/>
                </a:cubicBezTo>
                <a:close/>
                <a:moveTo>
                  <a:pt x="1296" y="253"/>
                </a:moveTo>
                <a:cubicBezTo>
                  <a:pt x="1298" y="247"/>
                  <a:pt x="1292" y="246"/>
                  <a:pt x="1289" y="249"/>
                </a:cubicBezTo>
                <a:cubicBezTo>
                  <a:pt x="1291" y="251"/>
                  <a:pt x="1292" y="253"/>
                  <a:pt x="1296" y="253"/>
                </a:cubicBezTo>
                <a:close/>
                <a:moveTo>
                  <a:pt x="770" y="265"/>
                </a:moveTo>
                <a:cubicBezTo>
                  <a:pt x="769" y="266"/>
                  <a:pt x="766" y="267"/>
                  <a:pt x="767" y="271"/>
                </a:cubicBezTo>
                <a:cubicBezTo>
                  <a:pt x="772" y="271"/>
                  <a:pt x="772" y="271"/>
                  <a:pt x="772" y="271"/>
                </a:cubicBezTo>
                <a:cubicBezTo>
                  <a:pt x="771" y="269"/>
                  <a:pt x="770" y="268"/>
                  <a:pt x="770" y="265"/>
                </a:cubicBezTo>
                <a:close/>
                <a:moveTo>
                  <a:pt x="678" y="257"/>
                </a:moveTo>
                <a:cubicBezTo>
                  <a:pt x="671" y="256"/>
                  <a:pt x="666" y="258"/>
                  <a:pt x="660" y="254"/>
                </a:cubicBezTo>
                <a:cubicBezTo>
                  <a:pt x="646" y="265"/>
                  <a:pt x="667" y="280"/>
                  <a:pt x="677" y="272"/>
                </a:cubicBezTo>
                <a:cubicBezTo>
                  <a:pt x="677" y="272"/>
                  <a:pt x="676" y="265"/>
                  <a:pt x="683" y="269"/>
                </a:cubicBezTo>
                <a:cubicBezTo>
                  <a:pt x="681" y="265"/>
                  <a:pt x="677" y="264"/>
                  <a:pt x="678" y="257"/>
                </a:cubicBezTo>
                <a:close/>
                <a:moveTo>
                  <a:pt x="705" y="264"/>
                </a:moveTo>
                <a:cubicBezTo>
                  <a:pt x="706" y="266"/>
                  <a:pt x="705" y="266"/>
                  <a:pt x="704" y="267"/>
                </a:cubicBezTo>
                <a:cubicBezTo>
                  <a:pt x="705" y="270"/>
                  <a:pt x="714" y="272"/>
                  <a:pt x="717" y="269"/>
                </a:cubicBezTo>
                <a:cubicBezTo>
                  <a:pt x="715" y="266"/>
                  <a:pt x="711" y="265"/>
                  <a:pt x="705" y="264"/>
                </a:cubicBezTo>
                <a:close/>
                <a:moveTo>
                  <a:pt x="1432" y="238"/>
                </a:moveTo>
                <a:cubicBezTo>
                  <a:pt x="1432" y="235"/>
                  <a:pt x="1435" y="235"/>
                  <a:pt x="1433" y="232"/>
                </a:cubicBezTo>
                <a:cubicBezTo>
                  <a:pt x="1427" y="231"/>
                  <a:pt x="1427" y="231"/>
                  <a:pt x="1421" y="231"/>
                </a:cubicBezTo>
                <a:cubicBezTo>
                  <a:pt x="1424" y="234"/>
                  <a:pt x="1425" y="240"/>
                  <a:pt x="1432" y="238"/>
                </a:cubicBezTo>
                <a:close/>
                <a:moveTo>
                  <a:pt x="1424" y="221"/>
                </a:moveTo>
                <a:cubicBezTo>
                  <a:pt x="1421" y="213"/>
                  <a:pt x="1415" y="221"/>
                  <a:pt x="1410" y="222"/>
                </a:cubicBezTo>
                <a:cubicBezTo>
                  <a:pt x="1412" y="232"/>
                  <a:pt x="1406" y="227"/>
                  <a:pt x="1404" y="233"/>
                </a:cubicBezTo>
                <a:cubicBezTo>
                  <a:pt x="1403" y="237"/>
                  <a:pt x="1409" y="234"/>
                  <a:pt x="1409" y="237"/>
                </a:cubicBezTo>
                <a:cubicBezTo>
                  <a:pt x="1420" y="235"/>
                  <a:pt x="1413" y="217"/>
                  <a:pt x="1424" y="221"/>
                </a:cubicBezTo>
                <a:close/>
                <a:moveTo>
                  <a:pt x="1458" y="228"/>
                </a:moveTo>
                <a:cubicBezTo>
                  <a:pt x="1454" y="228"/>
                  <a:pt x="1454" y="230"/>
                  <a:pt x="1451" y="231"/>
                </a:cubicBezTo>
                <a:cubicBezTo>
                  <a:pt x="1454" y="234"/>
                  <a:pt x="1457" y="235"/>
                  <a:pt x="1463" y="234"/>
                </a:cubicBezTo>
                <a:cubicBezTo>
                  <a:pt x="1462" y="229"/>
                  <a:pt x="1458" y="231"/>
                  <a:pt x="1458" y="228"/>
                </a:cubicBezTo>
                <a:close/>
                <a:moveTo>
                  <a:pt x="1347" y="235"/>
                </a:moveTo>
                <a:cubicBezTo>
                  <a:pt x="1347" y="230"/>
                  <a:pt x="1340" y="232"/>
                  <a:pt x="1335" y="232"/>
                </a:cubicBezTo>
                <a:cubicBezTo>
                  <a:pt x="1339" y="236"/>
                  <a:pt x="1340" y="234"/>
                  <a:pt x="1347" y="235"/>
                </a:cubicBezTo>
                <a:close/>
                <a:moveTo>
                  <a:pt x="1447" y="226"/>
                </a:moveTo>
                <a:cubicBezTo>
                  <a:pt x="1440" y="220"/>
                  <a:pt x="1443" y="237"/>
                  <a:pt x="1448" y="230"/>
                </a:cubicBezTo>
                <a:cubicBezTo>
                  <a:pt x="1449" y="228"/>
                  <a:pt x="1443" y="227"/>
                  <a:pt x="1447" y="226"/>
                </a:cubicBezTo>
                <a:close/>
                <a:moveTo>
                  <a:pt x="1834" y="211"/>
                </a:moveTo>
                <a:cubicBezTo>
                  <a:pt x="1837" y="214"/>
                  <a:pt x="1842" y="214"/>
                  <a:pt x="1847" y="213"/>
                </a:cubicBezTo>
                <a:cubicBezTo>
                  <a:pt x="1843" y="209"/>
                  <a:pt x="1841" y="212"/>
                  <a:pt x="1834" y="211"/>
                </a:cubicBezTo>
                <a:close/>
                <a:moveTo>
                  <a:pt x="1860" y="203"/>
                </a:moveTo>
                <a:cubicBezTo>
                  <a:pt x="1857" y="197"/>
                  <a:pt x="1843" y="201"/>
                  <a:pt x="1845" y="194"/>
                </a:cubicBezTo>
                <a:cubicBezTo>
                  <a:pt x="1840" y="196"/>
                  <a:pt x="1839" y="193"/>
                  <a:pt x="1835" y="193"/>
                </a:cubicBezTo>
                <a:cubicBezTo>
                  <a:pt x="1840" y="200"/>
                  <a:pt x="1848" y="203"/>
                  <a:pt x="1860" y="203"/>
                </a:cubicBezTo>
                <a:close/>
                <a:moveTo>
                  <a:pt x="1642" y="201"/>
                </a:moveTo>
                <a:cubicBezTo>
                  <a:pt x="1648" y="198"/>
                  <a:pt x="1654" y="203"/>
                  <a:pt x="1653" y="208"/>
                </a:cubicBezTo>
                <a:cubicBezTo>
                  <a:pt x="1656" y="208"/>
                  <a:pt x="1656" y="208"/>
                  <a:pt x="1656" y="208"/>
                </a:cubicBezTo>
                <a:cubicBezTo>
                  <a:pt x="1655" y="207"/>
                  <a:pt x="1656" y="207"/>
                  <a:pt x="1657" y="207"/>
                </a:cubicBezTo>
                <a:cubicBezTo>
                  <a:pt x="1650" y="203"/>
                  <a:pt x="1661" y="205"/>
                  <a:pt x="1661" y="200"/>
                </a:cubicBezTo>
                <a:cubicBezTo>
                  <a:pt x="1651" y="204"/>
                  <a:pt x="1644" y="192"/>
                  <a:pt x="1642" y="201"/>
                </a:cubicBezTo>
                <a:close/>
                <a:moveTo>
                  <a:pt x="1491" y="213"/>
                </a:moveTo>
                <a:cubicBezTo>
                  <a:pt x="1489" y="206"/>
                  <a:pt x="1478" y="208"/>
                  <a:pt x="1473" y="204"/>
                </a:cubicBezTo>
                <a:cubicBezTo>
                  <a:pt x="1473" y="206"/>
                  <a:pt x="1477" y="205"/>
                  <a:pt x="1476" y="209"/>
                </a:cubicBezTo>
                <a:cubicBezTo>
                  <a:pt x="1483" y="208"/>
                  <a:pt x="1482" y="215"/>
                  <a:pt x="1491" y="213"/>
                </a:cubicBezTo>
                <a:close/>
                <a:moveTo>
                  <a:pt x="1459" y="202"/>
                </a:moveTo>
                <a:cubicBezTo>
                  <a:pt x="1461" y="200"/>
                  <a:pt x="1463" y="199"/>
                  <a:pt x="1463" y="195"/>
                </a:cubicBezTo>
                <a:cubicBezTo>
                  <a:pt x="1453" y="196"/>
                  <a:pt x="1453" y="196"/>
                  <a:pt x="1453" y="196"/>
                </a:cubicBezTo>
                <a:cubicBezTo>
                  <a:pt x="1454" y="197"/>
                  <a:pt x="1455" y="196"/>
                  <a:pt x="1456" y="197"/>
                </a:cubicBezTo>
                <a:cubicBezTo>
                  <a:pt x="1457" y="201"/>
                  <a:pt x="1452" y="201"/>
                  <a:pt x="1454" y="206"/>
                </a:cubicBezTo>
                <a:cubicBezTo>
                  <a:pt x="1454" y="208"/>
                  <a:pt x="1451" y="207"/>
                  <a:pt x="1451" y="209"/>
                </a:cubicBezTo>
                <a:cubicBezTo>
                  <a:pt x="1444" y="210"/>
                  <a:pt x="1447" y="199"/>
                  <a:pt x="1439" y="200"/>
                </a:cubicBezTo>
                <a:cubicBezTo>
                  <a:pt x="1441" y="213"/>
                  <a:pt x="1454" y="211"/>
                  <a:pt x="1462" y="210"/>
                </a:cubicBezTo>
                <a:cubicBezTo>
                  <a:pt x="1463" y="208"/>
                  <a:pt x="1466" y="206"/>
                  <a:pt x="1466" y="203"/>
                </a:cubicBezTo>
                <a:cubicBezTo>
                  <a:pt x="1463" y="204"/>
                  <a:pt x="1461" y="203"/>
                  <a:pt x="1459" y="202"/>
                </a:cubicBezTo>
                <a:close/>
                <a:moveTo>
                  <a:pt x="1397" y="205"/>
                </a:moveTo>
                <a:cubicBezTo>
                  <a:pt x="1404" y="209"/>
                  <a:pt x="1416" y="211"/>
                  <a:pt x="1428" y="212"/>
                </a:cubicBezTo>
                <a:cubicBezTo>
                  <a:pt x="1428" y="210"/>
                  <a:pt x="1425" y="207"/>
                  <a:pt x="1430" y="207"/>
                </a:cubicBezTo>
                <a:cubicBezTo>
                  <a:pt x="1429" y="204"/>
                  <a:pt x="1428" y="201"/>
                  <a:pt x="1424" y="201"/>
                </a:cubicBezTo>
                <a:cubicBezTo>
                  <a:pt x="1422" y="203"/>
                  <a:pt x="1423" y="206"/>
                  <a:pt x="1423" y="209"/>
                </a:cubicBezTo>
                <a:cubicBezTo>
                  <a:pt x="1415" y="210"/>
                  <a:pt x="1412" y="205"/>
                  <a:pt x="1408" y="200"/>
                </a:cubicBezTo>
                <a:cubicBezTo>
                  <a:pt x="1404" y="202"/>
                  <a:pt x="1402" y="205"/>
                  <a:pt x="1397" y="205"/>
                </a:cubicBezTo>
                <a:close/>
                <a:moveTo>
                  <a:pt x="854" y="229"/>
                </a:moveTo>
                <a:cubicBezTo>
                  <a:pt x="849" y="228"/>
                  <a:pt x="849" y="233"/>
                  <a:pt x="846" y="233"/>
                </a:cubicBezTo>
                <a:cubicBezTo>
                  <a:pt x="848" y="236"/>
                  <a:pt x="852" y="236"/>
                  <a:pt x="856" y="236"/>
                </a:cubicBezTo>
                <a:cubicBezTo>
                  <a:pt x="856" y="232"/>
                  <a:pt x="853" y="233"/>
                  <a:pt x="854" y="229"/>
                </a:cubicBezTo>
                <a:close/>
                <a:moveTo>
                  <a:pt x="1351" y="206"/>
                </a:moveTo>
                <a:cubicBezTo>
                  <a:pt x="1349" y="208"/>
                  <a:pt x="1352" y="209"/>
                  <a:pt x="1353" y="212"/>
                </a:cubicBezTo>
                <a:cubicBezTo>
                  <a:pt x="1355" y="212"/>
                  <a:pt x="1355" y="208"/>
                  <a:pt x="1358" y="208"/>
                </a:cubicBezTo>
                <a:cubicBezTo>
                  <a:pt x="1358" y="206"/>
                  <a:pt x="1355" y="207"/>
                  <a:pt x="1355" y="208"/>
                </a:cubicBezTo>
                <a:cubicBezTo>
                  <a:pt x="1354" y="207"/>
                  <a:pt x="1354" y="205"/>
                  <a:pt x="1351" y="206"/>
                </a:cubicBezTo>
                <a:close/>
                <a:moveTo>
                  <a:pt x="1380" y="207"/>
                </a:moveTo>
                <a:cubicBezTo>
                  <a:pt x="1382" y="209"/>
                  <a:pt x="1387" y="209"/>
                  <a:pt x="1386" y="204"/>
                </a:cubicBezTo>
                <a:cubicBezTo>
                  <a:pt x="1384" y="202"/>
                  <a:pt x="1379" y="203"/>
                  <a:pt x="1380" y="207"/>
                </a:cubicBezTo>
                <a:close/>
                <a:moveTo>
                  <a:pt x="1811" y="177"/>
                </a:moveTo>
                <a:cubicBezTo>
                  <a:pt x="1810" y="177"/>
                  <a:pt x="1810" y="180"/>
                  <a:pt x="1809" y="180"/>
                </a:cubicBezTo>
                <a:cubicBezTo>
                  <a:pt x="1810" y="184"/>
                  <a:pt x="1813" y="186"/>
                  <a:pt x="1816" y="189"/>
                </a:cubicBezTo>
                <a:cubicBezTo>
                  <a:pt x="1822" y="185"/>
                  <a:pt x="1810" y="183"/>
                  <a:pt x="1811" y="177"/>
                </a:cubicBezTo>
                <a:close/>
                <a:moveTo>
                  <a:pt x="1363" y="206"/>
                </a:moveTo>
                <a:cubicBezTo>
                  <a:pt x="1365" y="207"/>
                  <a:pt x="1366" y="208"/>
                  <a:pt x="1369" y="207"/>
                </a:cubicBezTo>
                <a:cubicBezTo>
                  <a:pt x="1369" y="203"/>
                  <a:pt x="1369" y="203"/>
                  <a:pt x="1369" y="203"/>
                </a:cubicBezTo>
                <a:cubicBezTo>
                  <a:pt x="1366" y="204"/>
                  <a:pt x="1362" y="202"/>
                  <a:pt x="1363" y="206"/>
                </a:cubicBezTo>
                <a:close/>
                <a:moveTo>
                  <a:pt x="886" y="217"/>
                </a:moveTo>
                <a:cubicBezTo>
                  <a:pt x="884" y="212"/>
                  <a:pt x="883" y="220"/>
                  <a:pt x="879" y="218"/>
                </a:cubicBezTo>
                <a:cubicBezTo>
                  <a:pt x="880" y="224"/>
                  <a:pt x="880" y="224"/>
                  <a:pt x="880" y="224"/>
                </a:cubicBezTo>
                <a:cubicBezTo>
                  <a:pt x="883" y="225"/>
                  <a:pt x="882" y="224"/>
                  <a:pt x="886" y="225"/>
                </a:cubicBezTo>
                <a:cubicBezTo>
                  <a:pt x="888" y="221"/>
                  <a:pt x="882" y="219"/>
                  <a:pt x="886" y="217"/>
                </a:cubicBezTo>
                <a:close/>
                <a:moveTo>
                  <a:pt x="690" y="219"/>
                </a:moveTo>
                <a:cubicBezTo>
                  <a:pt x="688" y="221"/>
                  <a:pt x="687" y="225"/>
                  <a:pt x="688" y="230"/>
                </a:cubicBezTo>
                <a:cubicBezTo>
                  <a:pt x="694" y="234"/>
                  <a:pt x="699" y="230"/>
                  <a:pt x="704" y="228"/>
                </a:cubicBezTo>
                <a:cubicBezTo>
                  <a:pt x="701" y="222"/>
                  <a:pt x="696" y="220"/>
                  <a:pt x="690" y="219"/>
                </a:cubicBezTo>
                <a:close/>
                <a:moveTo>
                  <a:pt x="877" y="224"/>
                </a:moveTo>
                <a:cubicBezTo>
                  <a:pt x="876" y="220"/>
                  <a:pt x="878" y="219"/>
                  <a:pt x="878" y="216"/>
                </a:cubicBezTo>
                <a:cubicBezTo>
                  <a:pt x="873" y="214"/>
                  <a:pt x="869" y="213"/>
                  <a:pt x="863" y="212"/>
                </a:cubicBezTo>
                <a:cubicBezTo>
                  <a:pt x="858" y="221"/>
                  <a:pt x="867" y="227"/>
                  <a:pt x="877" y="224"/>
                </a:cubicBezTo>
                <a:close/>
                <a:moveTo>
                  <a:pt x="1508" y="194"/>
                </a:moveTo>
                <a:cubicBezTo>
                  <a:pt x="1505" y="191"/>
                  <a:pt x="1503" y="187"/>
                  <a:pt x="1496" y="188"/>
                </a:cubicBezTo>
                <a:cubicBezTo>
                  <a:pt x="1498" y="192"/>
                  <a:pt x="1503" y="193"/>
                  <a:pt x="1508" y="194"/>
                </a:cubicBezTo>
                <a:close/>
                <a:moveTo>
                  <a:pt x="1403" y="176"/>
                </a:moveTo>
                <a:cubicBezTo>
                  <a:pt x="1399" y="176"/>
                  <a:pt x="1402" y="181"/>
                  <a:pt x="1399" y="182"/>
                </a:cubicBezTo>
                <a:cubicBezTo>
                  <a:pt x="1396" y="178"/>
                  <a:pt x="1395" y="172"/>
                  <a:pt x="1389" y="173"/>
                </a:cubicBezTo>
                <a:cubicBezTo>
                  <a:pt x="1391" y="170"/>
                  <a:pt x="1396" y="169"/>
                  <a:pt x="1393" y="164"/>
                </a:cubicBezTo>
                <a:cubicBezTo>
                  <a:pt x="1380" y="163"/>
                  <a:pt x="1373" y="155"/>
                  <a:pt x="1365" y="149"/>
                </a:cubicBezTo>
                <a:cubicBezTo>
                  <a:pt x="1363" y="152"/>
                  <a:pt x="1361" y="155"/>
                  <a:pt x="1361" y="160"/>
                </a:cubicBezTo>
                <a:cubicBezTo>
                  <a:pt x="1371" y="163"/>
                  <a:pt x="1373" y="172"/>
                  <a:pt x="1385" y="172"/>
                </a:cubicBezTo>
                <a:cubicBezTo>
                  <a:pt x="1384" y="174"/>
                  <a:pt x="1378" y="172"/>
                  <a:pt x="1380" y="177"/>
                </a:cubicBezTo>
                <a:cubicBezTo>
                  <a:pt x="1380" y="179"/>
                  <a:pt x="1383" y="182"/>
                  <a:pt x="1387" y="184"/>
                </a:cubicBezTo>
                <a:cubicBezTo>
                  <a:pt x="1383" y="187"/>
                  <a:pt x="1372" y="185"/>
                  <a:pt x="1374" y="177"/>
                </a:cubicBezTo>
                <a:cubicBezTo>
                  <a:pt x="1368" y="187"/>
                  <a:pt x="1363" y="182"/>
                  <a:pt x="1350" y="185"/>
                </a:cubicBezTo>
                <a:cubicBezTo>
                  <a:pt x="1370" y="192"/>
                  <a:pt x="1396" y="198"/>
                  <a:pt x="1417" y="196"/>
                </a:cubicBezTo>
                <a:cubicBezTo>
                  <a:pt x="1417" y="193"/>
                  <a:pt x="1415" y="193"/>
                  <a:pt x="1415" y="190"/>
                </a:cubicBezTo>
                <a:cubicBezTo>
                  <a:pt x="1409" y="192"/>
                  <a:pt x="1408" y="188"/>
                  <a:pt x="1402" y="188"/>
                </a:cubicBezTo>
                <a:cubicBezTo>
                  <a:pt x="1400" y="184"/>
                  <a:pt x="1405" y="186"/>
                  <a:pt x="1407" y="185"/>
                </a:cubicBezTo>
                <a:cubicBezTo>
                  <a:pt x="1407" y="180"/>
                  <a:pt x="1401" y="183"/>
                  <a:pt x="1403" y="176"/>
                </a:cubicBezTo>
                <a:close/>
                <a:moveTo>
                  <a:pt x="1399" y="187"/>
                </a:moveTo>
                <a:cubicBezTo>
                  <a:pt x="1395" y="187"/>
                  <a:pt x="1389" y="189"/>
                  <a:pt x="1388" y="185"/>
                </a:cubicBezTo>
                <a:cubicBezTo>
                  <a:pt x="1390" y="183"/>
                  <a:pt x="1398" y="184"/>
                  <a:pt x="1399" y="187"/>
                </a:cubicBezTo>
                <a:close/>
                <a:moveTo>
                  <a:pt x="556" y="229"/>
                </a:moveTo>
                <a:cubicBezTo>
                  <a:pt x="557" y="223"/>
                  <a:pt x="550" y="225"/>
                  <a:pt x="545" y="225"/>
                </a:cubicBezTo>
                <a:cubicBezTo>
                  <a:pt x="545" y="231"/>
                  <a:pt x="552" y="229"/>
                  <a:pt x="556" y="229"/>
                </a:cubicBezTo>
                <a:close/>
                <a:moveTo>
                  <a:pt x="1321" y="178"/>
                </a:moveTo>
                <a:cubicBezTo>
                  <a:pt x="1322" y="181"/>
                  <a:pt x="1325" y="189"/>
                  <a:pt x="1322" y="192"/>
                </a:cubicBezTo>
                <a:cubicBezTo>
                  <a:pt x="1330" y="196"/>
                  <a:pt x="1334" y="185"/>
                  <a:pt x="1345" y="187"/>
                </a:cubicBezTo>
                <a:cubicBezTo>
                  <a:pt x="1338" y="183"/>
                  <a:pt x="1329" y="177"/>
                  <a:pt x="1321" y="178"/>
                </a:cubicBezTo>
                <a:close/>
                <a:moveTo>
                  <a:pt x="588" y="218"/>
                </a:moveTo>
                <a:cubicBezTo>
                  <a:pt x="587" y="219"/>
                  <a:pt x="587" y="221"/>
                  <a:pt x="587" y="223"/>
                </a:cubicBezTo>
                <a:cubicBezTo>
                  <a:pt x="590" y="226"/>
                  <a:pt x="592" y="224"/>
                  <a:pt x="595" y="223"/>
                </a:cubicBezTo>
                <a:cubicBezTo>
                  <a:pt x="594" y="220"/>
                  <a:pt x="593" y="217"/>
                  <a:pt x="588" y="218"/>
                </a:cubicBezTo>
                <a:close/>
                <a:moveTo>
                  <a:pt x="1831" y="165"/>
                </a:moveTo>
                <a:cubicBezTo>
                  <a:pt x="1829" y="159"/>
                  <a:pt x="1819" y="168"/>
                  <a:pt x="1815" y="165"/>
                </a:cubicBezTo>
                <a:cubicBezTo>
                  <a:pt x="1818" y="174"/>
                  <a:pt x="1824" y="166"/>
                  <a:pt x="1831" y="165"/>
                </a:cubicBezTo>
                <a:close/>
                <a:moveTo>
                  <a:pt x="582" y="224"/>
                </a:moveTo>
                <a:cubicBezTo>
                  <a:pt x="583" y="217"/>
                  <a:pt x="575" y="215"/>
                  <a:pt x="571" y="219"/>
                </a:cubicBezTo>
                <a:cubicBezTo>
                  <a:pt x="573" y="222"/>
                  <a:pt x="576" y="224"/>
                  <a:pt x="582" y="224"/>
                </a:cubicBezTo>
                <a:close/>
                <a:moveTo>
                  <a:pt x="1739" y="169"/>
                </a:moveTo>
                <a:cubicBezTo>
                  <a:pt x="1737" y="150"/>
                  <a:pt x="1720" y="156"/>
                  <a:pt x="1706" y="149"/>
                </a:cubicBezTo>
                <a:cubicBezTo>
                  <a:pt x="1704" y="153"/>
                  <a:pt x="1711" y="155"/>
                  <a:pt x="1701" y="155"/>
                </a:cubicBezTo>
                <a:cubicBezTo>
                  <a:pt x="1702" y="158"/>
                  <a:pt x="1707" y="157"/>
                  <a:pt x="1709" y="158"/>
                </a:cubicBezTo>
                <a:cubicBezTo>
                  <a:pt x="1709" y="161"/>
                  <a:pt x="1705" y="160"/>
                  <a:pt x="1706" y="164"/>
                </a:cubicBezTo>
                <a:cubicBezTo>
                  <a:pt x="1700" y="164"/>
                  <a:pt x="1696" y="162"/>
                  <a:pt x="1693" y="159"/>
                </a:cubicBezTo>
                <a:cubicBezTo>
                  <a:pt x="1689" y="166"/>
                  <a:pt x="1707" y="162"/>
                  <a:pt x="1704" y="172"/>
                </a:cubicBezTo>
                <a:cubicBezTo>
                  <a:pt x="1706" y="172"/>
                  <a:pt x="1709" y="171"/>
                  <a:pt x="1710" y="173"/>
                </a:cubicBezTo>
                <a:cubicBezTo>
                  <a:pt x="1712" y="172"/>
                  <a:pt x="1712" y="168"/>
                  <a:pt x="1713" y="166"/>
                </a:cubicBezTo>
                <a:cubicBezTo>
                  <a:pt x="1724" y="165"/>
                  <a:pt x="1732" y="167"/>
                  <a:pt x="1739" y="169"/>
                </a:cubicBezTo>
                <a:close/>
                <a:moveTo>
                  <a:pt x="1250" y="187"/>
                </a:moveTo>
                <a:cubicBezTo>
                  <a:pt x="1252" y="190"/>
                  <a:pt x="1257" y="194"/>
                  <a:pt x="1261" y="191"/>
                </a:cubicBezTo>
                <a:cubicBezTo>
                  <a:pt x="1260" y="187"/>
                  <a:pt x="1254" y="184"/>
                  <a:pt x="1250" y="187"/>
                </a:cubicBezTo>
                <a:close/>
                <a:moveTo>
                  <a:pt x="638" y="214"/>
                </a:moveTo>
                <a:cubicBezTo>
                  <a:pt x="644" y="217"/>
                  <a:pt x="651" y="218"/>
                  <a:pt x="660" y="217"/>
                </a:cubicBezTo>
                <a:cubicBezTo>
                  <a:pt x="656" y="213"/>
                  <a:pt x="646" y="214"/>
                  <a:pt x="638" y="214"/>
                </a:cubicBezTo>
                <a:close/>
                <a:moveTo>
                  <a:pt x="1298" y="188"/>
                </a:moveTo>
                <a:cubicBezTo>
                  <a:pt x="1292" y="185"/>
                  <a:pt x="1287" y="179"/>
                  <a:pt x="1281" y="182"/>
                </a:cubicBezTo>
                <a:cubicBezTo>
                  <a:pt x="1284" y="188"/>
                  <a:pt x="1292" y="187"/>
                  <a:pt x="1298" y="188"/>
                </a:cubicBezTo>
                <a:close/>
                <a:moveTo>
                  <a:pt x="1581" y="170"/>
                </a:moveTo>
                <a:cubicBezTo>
                  <a:pt x="1591" y="171"/>
                  <a:pt x="1603" y="171"/>
                  <a:pt x="1616" y="172"/>
                </a:cubicBezTo>
                <a:cubicBezTo>
                  <a:pt x="1605" y="168"/>
                  <a:pt x="1592" y="168"/>
                  <a:pt x="1581" y="161"/>
                </a:cubicBezTo>
                <a:cubicBezTo>
                  <a:pt x="1579" y="165"/>
                  <a:pt x="1579" y="166"/>
                  <a:pt x="1581" y="170"/>
                </a:cubicBezTo>
                <a:close/>
                <a:moveTo>
                  <a:pt x="574" y="204"/>
                </a:moveTo>
                <a:cubicBezTo>
                  <a:pt x="574" y="206"/>
                  <a:pt x="575" y="207"/>
                  <a:pt x="573" y="208"/>
                </a:cubicBezTo>
                <a:cubicBezTo>
                  <a:pt x="575" y="213"/>
                  <a:pt x="582" y="213"/>
                  <a:pt x="590" y="212"/>
                </a:cubicBezTo>
                <a:cubicBezTo>
                  <a:pt x="587" y="207"/>
                  <a:pt x="580" y="205"/>
                  <a:pt x="574" y="204"/>
                </a:cubicBezTo>
                <a:close/>
                <a:moveTo>
                  <a:pt x="851" y="193"/>
                </a:moveTo>
                <a:cubicBezTo>
                  <a:pt x="849" y="194"/>
                  <a:pt x="844" y="197"/>
                  <a:pt x="847" y="200"/>
                </a:cubicBezTo>
                <a:cubicBezTo>
                  <a:pt x="852" y="200"/>
                  <a:pt x="852" y="196"/>
                  <a:pt x="851" y="193"/>
                </a:cubicBezTo>
                <a:close/>
                <a:moveTo>
                  <a:pt x="1216" y="175"/>
                </a:moveTo>
                <a:cubicBezTo>
                  <a:pt x="1217" y="180"/>
                  <a:pt x="1225" y="177"/>
                  <a:pt x="1228" y="180"/>
                </a:cubicBezTo>
                <a:cubicBezTo>
                  <a:pt x="1232" y="175"/>
                  <a:pt x="1222" y="174"/>
                  <a:pt x="1216" y="175"/>
                </a:cubicBezTo>
                <a:close/>
                <a:moveTo>
                  <a:pt x="1301" y="177"/>
                </a:moveTo>
                <a:cubicBezTo>
                  <a:pt x="1294" y="169"/>
                  <a:pt x="1281" y="174"/>
                  <a:pt x="1272" y="171"/>
                </a:cubicBezTo>
                <a:cubicBezTo>
                  <a:pt x="1279" y="182"/>
                  <a:pt x="1292" y="172"/>
                  <a:pt x="1301" y="177"/>
                </a:cubicBezTo>
                <a:close/>
                <a:moveTo>
                  <a:pt x="763" y="197"/>
                </a:moveTo>
                <a:cubicBezTo>
                  <a:pt x="767" y="195"/>
                  <a:pt x="768" y="198"/>
                  <a:pt x="772" y="198"/>
                </a:cubicBezTo>
                <a:cubicBezTo>
                  <a:pt x="769" y="194"/>
                  <a:pt x="765" y="192"/>
                  <a:pt x="760" y="190"/>
                </a:cubicBezTo>
                <a:cubicBezTo>
                  <a:pt x="760" y="193"/>
                  <a:pt x="763" y="194"/>
                  <a:pt x="763" y="197"/>
                </a:cubicBezTo>
                <a:close/>
                <a:moveTo>
                  <a:pt x="1173" y="178"/>
                </a:moveTo>
                <a:cubicBezTo>
                  <a:pt x="1177" y="175"/>
                  <a:pt x="1181" y="179"/>
                  <a:pt x="1182" y="172"/>
                </a:cubicBezTo>
                <a:cubicBezTo>
                  <a:pt x="1171" y="175"/>
                  <a:pt x="1171" y="164"/>
                  <a:pt x="1157" y="165"/>
                </a:cubicBezTo>
                <a:cubicBezTo>
                  <a:pt x="1159" y="167"/>
                  <a:pt x="1162" y="169"/>
                  <a:pt x="1164" y="171"/>
                </a:cubicBezTo>
                <a:cubicBezTo>
                  <a:pt x="1159" y="171"/>
                  <a:pt x="1149" y="173"/>
                  <a:pt x="1142" y="170"/>
                </a:cubicBezTo>
                <a:cubicBezTo>
                  <a:pt x="1145" y="176"/>
                  <a:pt x="1164" y="173"/>
                  <a:pt x="1173" y="178"/>
                </a:cubicBezTo>
                <a:close/>
                <a:moveTo>
                  <a:pt x="1271" y="159"/>
                </a:moveTo>
                <a:cubicBezTo>
                  <a:pt x="1266" y="159"/>
                  <a:pt x="1263" y="157"/>
                  <a:pt x="1258" y="157"/>
                </a:cubicBezTo>
                <a:cubicBezTo>
                  <a:pt x="1256" y="154"/>
                  <a:pt x="1253" y="153"/>
                  <a:pt x="1249" y="153"/>
                </a:cubicBezTo>
                <a:cubicBezTo>
                  <a:pt x="1251" y="160"/>
                  <a:pt x="1247" y="161"/>
                  <a:pt x="1241" y="160"/>
                </a:cubicBezTo>
                <a:cubicBezTo>
                  <a:pt x="1243" y="162"/>
                  <a:pt x="1246" y="169"/>
                  <a:pt x="1241" y="170"/>
                </a:cubicBezTo>
                <a:cubicBezTo>
                  <a:pt x="1249" y="174"/>
                  <a:pt x="1256" y="174"/>
                  <a:pt x="1266" y="174"/>
                </a:cubicBezTo>
                <a:cubicBezTo>
                  <a:pt x="1263" y="168"/>
                  <a:pt x="1255" y="169"/>
                  <a:pt x="1248" y="168"/>
                </a:cubicBezTo>
                <a:cubicBezTo>
                  <a:pt x="1250" y="164"/>
                  <a:pt x="1262" y="165"/>
                  <a:pt x="1254" y="160"/>
                </a:cubicBezTo>
                <a:cubicBezTo>
                  <a:pt x="1258" y="160"/>
                  <a:pt x="1279" y="161"/>
                  <a:pt x="1271" y="159"/>
                </a:cubicBezTo>
                <a:close/>
                <a:moveTo>
                  <a:pt x="1359" y="169"/>
                </a:moveTo>
                <a:cubicBezTo>
                  <a:pt x="1361" y="167"/>
                  <a:pt x="1366" y="168"/>
                  <a:pt x="1365" y="164"/>
                </a:cubicBezTo>
                <a:cubicBezTo>
                  <a:pt x="1361" y="164"/>
                  <a:pt x="1358" y="162"/>
                  <a:pt x="1359" y="169"/>
                </a:cubicBezTo>
                <a:close/>
                <a:moveTo>
                  <a:pt x="1476" y="150"/>
                </a:moveTo>
                <a:cubicBezTo>
                  <a:pt x="1477" y="148"/>
                  <a:pt x="1478" y="149"/>
                  <a:pt x="1483" y="148"/>
                </a:cubicBezTo>
                <a:cubicBezTo>
                  <a:pt x="1481" y="146"/>
                  <a:pt x="1472" y="143"/>
                  <a:pt x="1468" y="146"/>
                </a:cubicBezTo>
                <a:cubicBezTo>
                  <a:pt x="1469" y="149"/>
                  <a:pt x="1472" y="148"/>
                  <a:pt x="1474" y="150"/>
                </a:cubicBezTo>
                <a:cubicBezTo>
                  <a:pt x="1470" y="152"/>
                  <a:pt x="1474" y="154"/>
                  <a:pt x="1474" y="159"/>
                </a:cubicBezTo>
                <a:cubicBezTo>
                  <a:pt x="1478" y="159"/>
                  <a:pt x="1479" y="162"/>
                  <a:pt x="1482" y="159"/>
                </a:cubicBezTo>
                <a:cubicBezTo>
                  <a:pt x="1478" y="157"/>
                  <a:pt x="1478" y="153"/>
                  <a:pt x="1476" y="150"/>
                </a:cubicBezTo>
                <a:close/>
                <a:moveTo>
                  <a:pt x="1439" y="150"/>
                </a:moveTo>
                <a:cubicBezTo>
                  <a:pt x="1435" y="149"/>
                  <a:pt x="1434" y="152"/>
                  <a:pt x="1430" y="152"/>
                </a:cubicBezTo>
                <a:cubicBezTo>
                  <a:pt x="1430" y="157"/>
                  <a:pt x="1437" y="154"/>
                  <a:pt x="1440" y="157"/>
                </a:cubicBezTo>
                <a:cubicBezTo>
                  <a:pt x="1444" y="156"/>
                  <a:pt x="1441" y="152"/>
                  <a:pt x="1439" y="150"/>
                </a:cubicBezTo>
                <a:close/>
                <a:moveTo>
                  <a:pt x="1358" y="150"/>
                </a:moveTo>
                <a:cubicBezTo>
                  <a:pt x="1356" y="150"/>
                  <a:pt x="1353" y="151"/>
                  <a:pt x="1353" y="149"/>
                </a:cubicBezTo>
                <a:cubicBezTo>
                  <a:pt x="1349" y="151"/>
                  <a:pt x="1356" y="152"/>
                  <a:pt x="1356" y="155"/>
                </a:cubicBezTo>
                <a:cubicBezTo>
                  <a:pt x="1360" y="156"/>
                  <a:pt x="1358" y="152"/>
                  <a:pt x="1358" y="150"/>
                </a:cubicBezTo>
                <a:close/>
                <a:moveTo>
                  <a:pt x="1397" y="153"/>
                </a:moveTo>
                <a:cubicBezTo>
                  <a:pt x="1400" y="151"/>
                  <a:pt x="1397" y="148"/>
                  <a:pt x="1393" y="148"/>
                </a:cubicBezTo>
                <a:cubicBezTo>
                  <a:pt x="1393" y="152"/>
                  <a:pt x="1394" y="154"/>
                  <a:pt x="1397" y="153"/>
                </a:cubicBezTo>
                <a:close/>
                <a:moveTo>
                  <a:pt x="1241" y="154"/>
                </a:moveTo>
                <a:cubicBezTo>
                  <a:pt x="1241" y="155"/>
                  <a:pt x="1239" y="155"/>
                  <a:pt x="1238" y="155"/>
                </a:cubicBezTo>
                <a:cubicBezTo>
                  <a:pt x="1240" y="157"/>
                  <a:pt x="1242" y="159"/>
                  <a:pt x="1246" y="159"/>
                </a:cubicBezTo>
                <a:cubicBezTo>
                  <a:pt x="1246" y="155"/>
                  <a:pt x="1244" y="154"/>
                  <a:pt x="1241" y="154"/>
                </a:cubicBezTo>
                <a:close/>
                <a:moveTo>
                  <a:pt x="1344" y="146"/>
                </a:moveTo>
                <a:cubicBezTo>
                  <a:pt x="1339" y="147"/>
                  <a:pt x="1329" y="143"/>
                  <a:pt x="1323" y="145"/>
                </a:cubicBezTo>
                <a:cubicBezTo>
                  <a:pt x="1327" y="151"/>
                  <a:pt x="1338" y="151"/>
                  <a:pt x="1346" y="154"/>
                </a:cubicBezTo>
                <a:cubicBezTo>
                  <a:pt x="1347" y="150"/>
                  <a:pt x="1344" y="150"/>
                  <a:pt x="1344" y="146"/>
                </a:cubicBezTo>
                <a:close/>
                <a:moveTo>
                  <a:pt x="1388" y="147"/>
                </a:moveTo>
                <a:cubicBezTo>
                  <a:pt x="1384" y="146"/>
                  <a:pt x="1381" y="145"/>
                  <a:pt x="1377" y="145"/>
                </a:cubicBezTo>
                <a:cubicBezTo>
                  <a:pt x="1377" y="150"/>
                  <a:pt x="1384" y="149"/>
                  <a:pt x="1385" y="153"/>
                </a:cubicBezTo>
                <a:cubicBezTo>
                  <a:pt x="1388" y="152"/>
                  <a:pt x="1388" y="150"/>
                  <a:pt x="1388" y="147"/>
                </a:cubicBezTo>
                <a:close/>
                <a:moveTo>
                  <a:pt x="1757" y="136"/>
                </a:moveTo>
                <a:cubicBezTo>
                  <a:pt x="1756" y="133"/>
                  <a:pt x="1752" y="133"/>
                  <a:pt x="1751" y="129"/>
                </a:cubicBezTo>
                <a:cubicBezTo>
                  <a:pt x="1748" y="131"/>
                  <a:pt x="1752" y="138"/>
                  <a:pt x="1757" y="136"/>
                </a:cubicBezTo>
                <a:close/>
                <a:moveTo>
                  <a:pt x="1420" y="144"/>
                </a:moveTo>
                <a:cubicBezTo>
                  <a:pt x="1419" y="141"/>
                  <a:pt x="1413" y="141"/>
                  <a:pt x="1411" y="143"/>
                </a:cubicBezTo>
                <a:cubicBezTo>
                  <a:pt x="1411" y="145"/>
                  <a:pt x="1413" y="145"/>
                  <a:pt x="1413" y="147"/>
                </a:cubicBezTo>
                <a:cubicBezTo>
                  <a:pt x="1418" y="148"/>
                  <a:pt x="1416" y="143"/>
                  <a:pt x="1420" y="144"/>
                </a:cubicBezTo>
                <a:close/>
                <a:moveTo>
                  <a:pt x="1431" y="146"/>
                </a:moveTo>
                <a:cubicBezTo>
                  <a:pt x="1430" y="145"/>
                  <a:pt x="1429" y="144"/>
                  <a:pt x="1429" y="142"/>
                </a:cubicBezTo>
                <a:cubicBezTo>
                  <a:pt x="1425" y="144"/>
                  <a:pt x="1424" y="140"/>
                  <a:pt x="1421" y="143"/>
                </a:cubicBezTo>
                <a:cubicBezTo>
                  <a:pt x="1422" y="147"/>
                  <a:pt x="1428" y="145"/>
                  <a:pt x="1431" y="146"/>
                </a:cubicBezTo>
                <a:close/>
                <a:moveTo>
                  <a:pt x="899" y="167"/>
                </a:moveTo>
                <a:cubicBezTo>
                  <a:pt x="895" y="164"/>
                  <a:pt x="893" y="166"/>
                  <a:pt x="888" y="164"/>
                </a:cubicBezTo>
                <a:cubicBezTo>
                  <a:pt x="888" y="163"/>
                  <a:pt x="889" y="162"/>
                  <a:pt x="889" y="160"/>
                </a:cubicBezTo>
                <a:cubicBezTo>
                  <a:pt x="884" y="161"/>
                  <a:pt x="885" y="154"/>
                  <a:pt x="881" y="155"/>
                </a:cubicBezTo>
                <a:cubicBezTo>
                  <a:pt x="882" y="156"/>
                  <a:pt x="881" y="157"/>
                  <a:pt x="881" y="159"/>
                </a:cubicBezTo>
                <a:cubicBezTo>
                  <a:pt x="879" y="158"/>
                  <a:pt x="877" y="157"/>
                  <a:pt x="875" y="155"/>
                </a:cubicBezTo>
                <a:cubicBezTo>
                  <a:pt x="874" y="155"/>
                  <a:pt x="874" y="156"/>
                  <a:pt x="874" y="156"/>
                </a:cubicBezTo>
                <a:cubicBezTo>
                  <a:pt x="874" y="158"/>
                  <a:pt x="873" y="158"/>
                  <a:pt x="873" y="158"/>
                </a:cubicBezTo>
                <a:cubicBezTo>
                  <a:pt x="874" y="161"/>
                  <a:pt x="880" y="159"/>
                  <a:pt x="878" y="166"/>
                </a:cubicBezTo>
                <a:cubicBezTo>
                  <a:pt x="884" y="167"/>
                  <a:pt x="890" y="169"/>
                  <a:pt x="899" y="167"/>
                </a:cubicBezTo>
                <a:close/>
                <a:moveTo>
                  <a:pt x="1586" y="131"/>
                </a:moveTo>
                <a:cubicBezTo>
                  <a:pt x="1582" y="133"/>
                  <a:pt x="1583" y="132"/>
                  <a:pt x="1579" y="132"/>
                </a:cubicBezTo>
                <a:cubicBezTo>
                  <a:pt x="1580" y="134"/>
                  <a:pt x="1581" y="135"/>
                  <a:pt x="1582" y="137"/>
                </a:cubicBezTo>
                <a:cubicBezTo>
                  <a:pt x="1586" y="137"/>
                  <a:pt x="1586" y="135"/>
                  <a:pt x="1586" y="131"/>
                </a:cubicBezTo>
                <a:close/>
                <a:moveTo>
                  <a:pt x="743" y="173"/>
                </a:moveTo>
                <a:cubicBezTo>
                  <a:pt x="745" y="172"/>
                  <a:pt x="748" y="171"/>
                  <a:pt x="747" y="167"/>
                </a:cubicBezTo>
                <a:cubicBezTo>
                  <a:pt x="742" y="168"/>
                  <a:pt x="739" y="163"/>
                  <a:pt x="735" y="167"/>
                </a:cubicBezTo>
                <a:cubicBezTo>
                  <a:pt x="737" y="170"/>
                  <a:pt x="742" y="169"/>
                  <a:pt x="743" y="173"/>
                </a:cubicBezTo>
                <a:close/>
                <a:moveTo>
                  <a:pt x="914" y="144"/>
                </a:moveTo>
                <a:cubicBezTo>
                  <a:pt x="917" y="147"/>
                  <a:pt x="921" y="148"/>
                  <a:pt x="925" y="146"/>
                </a:cubicBezTo>
                <a:cubicBezTo>
                  <a:pt x="927" y="148"/>
                  <a:pt x="924" y="149"/>
                  <a:pt x="925" y="154"/>
                </a:cubicBezTo>
                <a:cubicBezTo>
                  <a:pt x="931" y="158"/>
                  <a:pt x="939" y="159"/>
                  <a:pt x="946" y="161"/>
                </a:cubicBezTo>
                <a:cubicBezTo>
                  <a:pt x="947" y="161"/>
                  <a:pt x="947" y="159"/>
                  <a:pt x="947" y="157"/>
                </a:cubicBezTo>
                <a:cubicBezTo>
                  <a:pt x="937" y="159"/>
                  <a:pt x="928" y="148"/>
                  <a:pt x="922" y="141"/>
                </a:cubicBezTo>
                <a:cubicBezTo>
                  <a:pt x="917" y="140"/>
                  <a:pt x="918" y="144"/>
                  <a:pt x="914" y="144"/>
                </a:cubicBezTo>
                <a:close/>
                <a:moveTo>
                  <a:pt x="1313" y="144"/>
                </a:moveTo>
                <a:cubicBezTo>
                  <a:pt x="1309" y="135"/>
                  <a:pt x="1299" y="133"/>
                  <a:pt x="1288" y="131"/>
                </a:cubicBezTo>
                <a:cubicBezTo>
                  <a:pt x="1291" y="139"/>
                  <a:pt x="1298" y="134"/>
                  <a:pt x="1306" y="137"/>
                </a:cubicBezTo>
                <a:cubicBezTo>
                  <a:pt x="1307" y="141"/>
                  <a:pt x="1302" y="141"/>
                  <a:pt x="1305" y="144"/>
                </a:cubicBezTo>
                <a:cubicBezTo>
                  <a:pt x="1310" y="143"/>
                  <a:pt x="1311" y="146"/>
                  <a:pt x="1316" y="145"/>
                </a:cubicBezTo>
                <a:cubicBezTo>
                  <a:pt x="1318" y="144"/>
                  <a:pt x="1315" y="143"/>
                  <a:pt x="1313" y="144"/>
                </a:cubicBezTo>
                <a:close/>
                <a:moveTo>
                  <a:pt x="918" y="149"/>
                </a:moveTo>
                <a:cubicBezTo>
                  <a:pt x="917" y="147"/>
                  <a:pt x="912" y="149"/>
                  <a:pt x="911" y="147"/>
                </a:cubicBezTo>
                <a:cubicBezTo>
                  <a:pt x="910" y="152"/>
                  <a:pt x="909" y="156"/>
                  <a:pt x="908" y="162"/>
                </a:cubicBezTo>
                <a:cubicBezTo>
                  <a:pt x="915" y="161"/>
                  <a:pt x="915" y="161"/>
                  <a:pt x="915" y="161"/>
                </a:cubicBezTo>
                <a:cubicBezTo>
                  <a:pt x="914" y="157"/>
                  <a:pt x="918" y="156"/>
                  <a:pt x="918" y="149"/>
                </a:cubicBezTo>
                <a:close/>
                <a:moveTo>
                  <a:pt x="1148" y="140"/>
                </a:moveTo>
                <a:cubicBezTo>
                  <a:pt x="1148" y="136"/>
                  <a:pt x="1142" y="138"/>
                  <a:pt x="1138" y="138"/>
                </a:cubicBezTo>
                <a:cubicBezTo>
                  <a:pt x="1139" y="142"/>
                  <a:pt x="1144" y="140"/>
                  <a:pt x="1148" y="140"/>
                </a:cubicBezTo>
                <a:close/>
                <a:moveTo>
                  <a:pt x="1161" y="140"/>
                </a:moveTo>
                <a:cubicBezTo>
                  <a:pt x="1162" y="139"/>
                  <a:pt x="1164" y="138"/>
                  <a:pt x="1165" y="138"/>
                </a:cubicBezTo>
                <a:cubicBezTo>
                  <a:pt x="1163" y="134"/>
                  <a:pt x="1158" y="132"/>
                  <a:pt x="1150" y="133"/>
                </a:cubicBezTo>
                <a:cubicBezTo>
                  <a:pt x="1153" y="137"/>
                  <a:pt x="1162" y="133"/>
                  <a:pt x="1161" y="140"/>
                </a:cubicBezTo>
                <a:close/>
                <a:moveTo>
                  <a:pt x="1296" y="123"/>
                </a:moveTo>
                <a:cubicBezTo>
                  <a:pt x="1292" y="118"/>
                  <a:pt x="1293" y="121"/>
                  <a:pt x="1294" y="115"/>
                </a:cubicBezTo>
                <a:cubicBezTo>
                  <a:pt x="1284" y="115"/>
                  <a:pt x="1281" y="108"/>
                  <a:pt x="1274" y="112"/>
                </a:cubicBezTo>
                <a:cubicBezTo>
                  <a:pt x="1277" y="116"/>
                  <a:pt x="1282" y="118"/>
                  <a:pt x="1288" y="120"/>
                </a:cubicBezTo>
                <a:cubicBezTo>
                  <a:pt x="1286" y="124"/>
                  <a:pt x="1279" y="124"/>
                  <a:pt x="1276" y="122"/>
                </a:cubicBezTo>
                <a:cubicBezTo>
                  <a:pt x="1275" y="129"/>
                  <a:pt x="1285" y="125"/>
                  <a:pt x="1287" y="129"/>
                </a:cubicBezTo>
                <a:cubicBezTo>
                  <a:pt x="1289" y="126"/>
                  <a:pt x="1289" y="121"/>
                  <a:pt x="1296" y="123"/>
                </a:cubicBezTo>
                <a:close/>
                <a:moveTo>
                  <a:pt x="1211" y="125"/>
                </a:moveTo>
                <a:cubicBezTo>
                  <a:pt x="1208" y="117"/>
                  <a:pt x="1196" y="123"/>
                  <a:pt x="1199" y="131"/>
                </a:cubicBezTo>
                <a:cubicBezTo>
                  <a:pt x="1206" y="131"/>
                  <a:pt x="1206" y="131"/>
                  <a:pt x="1206" y="131"/>
                </a:cubicBezTo>
                <a:cubicBezTo>
                  <a:pt x="1207" y="128"/>
                  <a:pt x="1203" y="122"/>
                  <a:pt x="1211" y="125"/>
                </a:cubicBezTo>
                <a:close/>
                <a:moveTo>
                  <a:pt x="1171" y="117"/>
                </a:moveTo>
                <a:cubicBezTo>
                  <a:pt x="1169" y="118"/>
                  <a:pt x="1168" y="120"/>
                  <a:pt x="1169" y="123"/>
                </a:cubicBezTo>
                <a:cubicBezTo>
                  <a:pt x="1170" y="124"/>
                  <a:pt x="1172" y="125"/>
                  <a:pt x="1176" y="124"/>
                </a:cubicBezTo>
                <a:cubicBezTo>
                  <a:pt x="1178" y="118"/>
                  <a:pt x="1170" y="122"/>
                  <a:pt x="1171" y="117"/>
                </a:cubicBezTo>
                <a:close/>
                <a:moveTo>
                  <a:pt x="1148" y="123"/>
                </a:moveTo>
                <a:cubicBezTo>
                  <a:pt x="1149" y="114"/>
                  <a:pt x="1138" y="116"/>
                  <a:pt x="1133" y="118"/>
                </a:cubicBezTo>
                <a:cubicBezTo>
                  <a:pt x="1139" y="120"/>
                  <a:pt x="1143" y="125"/>
                  <a:pt x="1148" y="123"/>
                </a:cubicBezTo>
                <a:close/>
                <a:moveTo>
                  <a:pt x="1272" y="110"/>
                </a:moveTo>
                <a:cubicBezTo>
                  <a:pt x="1269" y="110"/>
                  <a:pt x="1265" y="108"/>
                  <a:pt x="1259" y="108"/>
                </a:cubicBezTo>
                <a:cubicBezTo>
                  <a:pt x="1259" y="112"/>
                  <a:pt x="1259" y="112"/>
                  <a:pt x="1259" y="112"/>
                </a:cubicBezTo>
                <a:cubicBezTo>
                  <a:pt x="1264" y="115"/>
                  <a:pt x="1269" y="108"/>
                  <a:pt x="1269" y="116"/>
                </a:cubicBezTo>
                <a:cubicBezTo>
                  <a:pt x="1274" y="117"/>
                  <a:pt x="1267" y="111"/>
                  <a:pt x="1272" y="110"/>
                </a:cubicBezTo>
                <a:close/>
                <a:moveTo>
                  <a:pt x="1128" y="118"/>
                </a:moveTo>
                <a:cubicBezTo>
                  <a:pt x="1127" y="117"/>
                  <a:pt x="1126" y="116"/>
                  <a:pt x="1125" y="114"/>
                </a:cubicBezTo>
                <a:cubicBezTo>
                  <a:pt x="1121" y="116"/>
                  <a:pt x="1126" y="119"/>
                  <a:pt x="1127" y="121"/>
                </a:cubicBezTo>
                <a:cubicBezTo>
                  <a:pt x="1128" y="120"/>
                  <a:pt x="1128" y="119"/>
                  <a:pt x="1129" y="119"/>
                </a:cubicBezTo>
                <a:cubicBezTo>
                  <a:pt x="1129" y="117"/>
                  <a:pt x="1129" y="117"/>
                  <a:pt x="1129" y="117"/>
                </a:cubicBezTo>
                <a:cubicBezTo>
                  <a:pt x="1128" y="116"/>
                  <a:pt x="1128" y="117"/>
                  <a:pt x="1128" y="118"/>
                </a:cubicBezTo>
                <a:close/>
                <a:moveTo>
                  <a:pt x="1362" y="106"/>
                </a:moveTo>
                <a:cubicBezTo>
                  <a:pt x="1356" y="99"/>
                  <a:pt x="1345" y="98"/>
                  <a:pt x="1333" y="98"/>
                </a:cubicBezTo>
                <a:cubicBezTo>
                  <a:pt x="1342" y="101"/>
                  <a:pt x="1351" y="109"/>
                  <a:pt x="1362" y="106"/>
                </a:cubicBezTo>
                <a:close/>
                <a:moveTo>
                  <a:pt x="1134" y="111"/>
                </a:moveTo>
                <a:cubicBezTo>
                  <a:pt x="1130" y="112"/>
                  <a:pt x="1129" y="110"/>
                  <a:pt x="1126" y="110"/>
                </a:cubicBezTo>
                <a:cubicBezTo>
                  <a:pt x="1126" y="113"/>
                  <a:pt x="1135" y="117"/>
                  <a:pt x="1134" y="111"/>
                </a:cubicBezTo>
                <a:close/>
                <a:moveTo>
                  <a:pt x="1112" y="113"/>
                </a:moveTo>
                <a:cubicBezTo>
                  <a:pt x="1111" y="107"/>
                  <a:pt x="1101" y="110"/>
                  <a:pt x="1098" y="107"/>
                </a:cubicBezTo>
                <a:cubicBezTo>
                  <a:pt x="1099" y="114"/>
                  <a:pt x="1106" y="113"/>
                  <a:pt x="1112" y="113"/>
                </a:cubicBezTo>
                <a:close/>
                <a:moveTo>
                  <a:pt x="1241" y="102"/>
                </a:moveTo>
                <a:cubicBezTo>
                  <a:pt x="1242" y="95"/>
                  <a:pt x="1222" y="97"/>
                  <a:pt x="1221" y="87"/>
                </a:cubicBezTo>
                <a:cubicBezTo>
                  <a:pt x="1218" y="92"/>
                  <a:pt x="1215" y="91"/>
                  <a:pt x="1217" y="102"/>
                </a:cubicBezTo>
                <a:cubicBezTo>
                  <a:pt x="1221" y="102"/>
                  <a:pt x="1223" y="100"/>
                  <a:pt x="1224" y="97"/>
                </a:cubicBezTo>
                <a:cubicBezTo>
                  <a:pt x="1227" y="105"/>
                  <a:pt x="1236" y="97"/>
                  <a:pt x="1241" y="102"/>
                </a:cubicBezTo>
                <a:close/>
                <a:moveTo>
                  <a:pt x="1045" y="99"/>
                </a:moveTo>
                <a:cubicBezTo>
                  <a:pt x="1040" y="103"/>
                  <a:pt x="1049" y="104"/>
                  <a:pt x="1053" y="104"/>
                </a:cubicBezTo>
                <a:cubicBezTo>
                  <a:pt x="1053" y="101"/>
                  <a:pt x="1052" y="99"/>
                  <a:pt x="1051" y="97"/>
                </a:cubicBezTo>
                <a:cubicBezTo>
                  <a:pt x="1046" y="96"/>
                  <a:pt x="1047" y="105"/>
                  <a:pt x="1045" y="99"/>
                </a:cubicBezTo>
                <a:close/>
                <a:moveTo>
                  <a:pt x="1086" y="85"/>
                </a:moveTo>
                <a:cubicBezTo>
                  <a:pt x="1086" y="79"/>
                  <a:pt x="1086" y="79"/>
                  <a:pt x="1086" y="79"/>
                </a:cubicBezTo>
                <a:cubicBezTo>
                  <a:pt x="1074" y="79"/>
                  <a:pt x="1072" y="77"/>
                  <a:pt x="1064" y="75"/>
                </a:cubicBezTo>
                <a:cubicBezTo>
                  <a:pt x="1063" y="84"/>
                  <a:pt x="1078" y="82"/>
                  <a:pt x="1086" y="85"/>
                </a:cubicBezTo>
                <a:close/>
                <a:moveTo>
                  <a:pt x="1046" y="81"/>
                </a:moveTo>
                <a:cubicBezTo>
                  <a:pt x="1048" y="80"/>
                  <a:pt x="1048" y="78"/>
                  <a:pt x="1050" y="78"/>
                </a:cubicBezTo>
                <a:cubicBezTo>
                  <a:pt x="1048" y="73"/>
                  <a:pt x="1046" y="78"/>
                  <a:pt x="1042" y="76"/>
                </a:cubicBezTo>
                <a:cubicBezTo>
                  <a:pt x="1041" y="80"/>
                  <a:pt x="1047" y="77"/>
                  <a:pt x="1046" y="81"/>
                </a:cubicBezTo>
                <a:close/>
                <a:moveTo>
                  <a:pt x="1023" y="70"/>
                </a:moveTo>
                <a:cubicBezTo>
                  <a:pt x="1021" y="70"/>
                  <a:pt x="1020" y="77"/>
                  <a:pt x="1018" y="73"/>
                </a:cubicBezTo>
                <a:cubicBezTo>
                  <a:pt x="1014" y="78"/>
                  <a:pt x="1033" y="78"/>
                  <a:pt x="1035" y="76"/>
                </a:cubicBezTo>
                <a:cubicBezTo>
                  <a:pt x="1034" y="71"/>
                  <a:pt x="1024" y="79"/>
                  <a:pt x="1023" y="70"/>
                </a:cubicBezTo>
                <a:close/>
                <a:moveTo>
                  <a:pt x="1078" y="70"/>
                </a:moveTo>
                <a:cubicBezTo>
                  <a:pt x="1072" y="69"/>
                  <a:pt x="1065" y="65"/>
                  <a:pt x="1057" y="66"/>
                </a:cubicBezTo>
                <a:cubicBezTo>
                  <a:pt x="1055" y="72"/>
                  <a:pt x="1060" y="70"/>
                  <a:pt x="1061" y="74"/>
                </a:cubicBezTo>
                <a:cubicBezTo>
                  <a:pt x="1066" y="68"/>
                  <a:pt x="1072" y="72"/>
                  <a:pt x="1078" y="70"/>
                </a:cubicBezTo>
                <a:close/>
                <a:moveTo>
                  <a:pt x="902" y="21"/>
                </a:moveTo>
                <a:cubicBezTo>
                  <a:pt x="901" y="8"/>
                  <a:pt x="886" y="3"/>
                  <a:pt x="877" y="7"/>
                </a:cubicBezTo>
                <a:cubicBezTo>
                  <a:pt x="878" y="10"/>
                  <a:pt x="882" y="9"/>
                  <a:pt x="882" y="13"/>
                </a:cubicBezTo>
                <a:cubicBezTo>
                  <a:pt x="881" y="17"/>
                  <a:pt x="876" y="17"/>
                  <a:pt x="875" y="21"/>
                </a:cubicBezTo>
                <a:cubicBezTo>
                  <a:pt x="879" y="37"/>
                  <a:pt x="889" y="22"/>
                  <a:pt x="902" y="21"/>
                </a:cubicBezTo>
                <a:close/>
                <a:moveTo>
                  <a:pt x="814" y="22"/>
                </a:moveTo>
                <a:cubicBezTo>
                  <a:pt x="807" y="18"/>
                  <a:pt x="802" y="11"/>
                  <a:pt x="793" y="8"/>
                </a:cubicBezTo>
                <a:cubicBezTo>
                  <a:pt x="789" y="12"/>
                  <a:pt x="786" y="16"/>
                  <a:pt x="785" y="22"/>
                </a:cubicBezTo>
                <a:cubicBezTo>
                  <a:pt x="795" y="24"/>
                  <a:pt x="804" y="20"/>
                  <a:pt x="814" y="22"/>
                </a:cubicBezTo>
                <a:close/>
                <a:moveTo>
                  <a:pt x="866" y="5"/>
                </a:moveTo>
                <a:cubicBezTo>
                  <a:pt x="862" y="5"/>
                  <a:pt x="861" y="8"/>
                  <a:pt x="856" y="7"/>
                </a:cubicBezTo>
                <a:cubicBezTo>
                  <a:pt x="856" y="11"/>
                  <a:pt x="860" y="9"/>
                  <a:pt x="859" y="14"/>
                </a:cubicBezTo>
                <a:cubicBezTo>
                  <a:pt x="865" y="13"/>
                  <a:pt x="868" y="10"/>
                  <a:pt x="866" y="5"/>
                </a:cubicBezTo>
                <a:close/>
                <a:moveTo>
                  <a:pt x="0" y="370"/>
                </a:moveTo>
                <a:cubicBezTo>
                  <a:pt x="29" y="377"/>
                  <a:pt x="61" y="380"/>
                  <a:pt x="92" y="381"/>
                </a:cubicBezTo>
                <a:cubicBezTo>
                  <a:pt x="81" y="390"/>
                  <a:pt x="58" y="395"/>
                  <a:pt x="39" y="397"/>
                </a:cubicBezTo>
                <a:cubicBezTo>
                  <a:pt x="36" y="399"/>
                  <a:pt x="40" y="399"/>
                  <a:pt x="40" y="402"/>
                </a:cubicBezTo>
                <a:cubicBezTo>
                  <a:pt x="27" y="407"/>
                  <a:pt x="13" y="412"/>
                  <a:pt x="0" y="417"/>
                </a:cubicBezTo>
                <a:cubicBezTo>
                  <a:pt x="0" y="709"/>
                  <a:pt x="0" y="709"/>
                  <a:pt x="0" y="709"/>
                </a:cubicBezTo>
                <a:cubicBezTo>
                  <a:pt x="440" y="709"/>
                  <a:pt x="1799" y="709"/>
                  <a:pt x="1799" y="709"/>
                </a:cubicBezTo>
                <a:cubicBezTo>
                  <a:pt x="1799" y="708"/>
                  <a:pt x="1798" y="707"/>
                  <a:pt x="1798" y="707"/>
                </a:cubicBezTo>
                <a:cubicBezTo>
                  <a:pt x="1805" y="709"/>
                  <a:pt x="1802" y="702"/>
                  <a:pt x="1806" y="702"/>
                </a:cubicBezTo>
                <a:cubicBezTo>
                  <a:pt x="1808" y="704"/>
                  <a:pt x="1808" y="706"/>
                  <a:pt x="1809" y="709"/>
                </a:cubicBezTo>
                <a:cubicBezTo>
                  <a:pt x="1879" y="709"/>
                  <a:pt x="1879" y="709"/>
                  <a:pt x="1879" y="709"/>
                </a:cubicBezTo>
                <a:cubicBezTo>
                  <a:pt x="1877" y="708"/>
                  <a:pt x="1876" y="706"/>
                  <a:pt x="1875" y="703"/>
                </a:cubicBezTo>
                <a:cubicBezTo>
                  <a:pt x="1877" y="703"/>
                  <a:pt x="1877" y="702"/>
                  <a:pt x="1878" y="700"/>
                </a:cubicBezTo>
                <a:cubicBezTo>
                  <a:pt x="1882" y="699"/>
                  <a:pt x="1881" y="704"/>
                  <a:pt x="1886" y="703"/>
                </a:cubicBezTo>
                <a:cubicBezTo>
                  <a:pt x="1886" y="697"/>
                  <a:pt x="1886" y="697"/>
                  <a:pt x="1886" y="697"/>
                </a:cubicBezTo>
                <a:cubicBezTo>
                  <a:pt x="1890" y="699"/>
                  <a:pt x="1889" y="697"/>
                  <a:pt x="1894" y="697"/>
                </a:cubicBezTo>
                <a:cubicBezTo>
                  <a:pt x="1893" y="701"/>
                  <a:pt x="1896" y="702"/>
                  <a:pt x="1896" y="705"/>
                </a:cubicBezTo>
                <a:cubicBezTo>
                  <a:pt x="1891" y="705"/>
                  <a:pt x="1892" y="707"/>
                  <a:pt x="1893" y="709"/>
                </a:cubicBezTo>
                <a:cubicBezTo>
                  <a:pt x="1974" y="709"/>
                  <a:pt x="1974" y="709"/>
                  <a:pt x="1974" y="709"/>
                </a:cubicBezTo>
                <a:cubicBezTo>
                  <a:pt x="1973" y="707"/>
                  <a:pt x="1973" y="704"/>
                  <a:pt x="1973" y="702"/>
                </a:cubicBezTo>
                <a:cubicBezTo>
                  <a:pt x="1952" y="696"/>
                  <a:pt x="1990" y="674"/>
                  <a:pt x="1995" y="688"/>
                </a:cubicBezTo>
                <a:cubicBezTo>
                  <a:pt x="1997" y="688"/>
                  <a:pt x="2005" y="686"/>
                  <a:pt x="2007" y="684"/>
                </a:cubicBezTo>
                <a:cubicBezTo>
                  <a:pt x="2007" y="679"/>
                  <a:pt x="2002" y="681"/>
                  <a:pt x="2000" y="679"/>
                </a:cubicBezTo>
                <a:cubicBezTo>
                  <a:pt x="1990" y="685"/>
                  <a:pt x="1965" y="680"/>
                  <a:pt x="1950" y="685"/>
                </a:cubicBezTo>
                <a:cubicBezTo>
                  <a:pt x="1951" y="688"/>
                  <a:pt x="1954" y="687"/>
                  <a:pt x="1956" y="689"/>
                </a:cubicBezTo>
                <a:cubicBezTo>
                  <a:pt x="1954" y="693"/>
                  <a:pt x="1946" y="692"/>
                  <a:pt x="1942" y="691"/>
                </a:cubicBezTo>
                <a:cubicBezTo>
                  <a:pt x="1940" y="686"/>
                  <a:pt x="1948" y="690"/>
                  <a:pt x="1946" y="685"/>
                </a:cubicBezTo>
                <a:cubicBezTo>
                  <a:pt x="1938" y="685"/>
                  <a:pt x="1934" y="683"/>
                  <a:pt x="1923" y="683"/>
                </a:cubicBezTo>
                <a:cubicBezTo>
                  <a:pt x="1924" y="681"/>
                  <a:pt x="1924" y="678"/>
                  <a:pt x="1926" y="677"/>
                </a:cubicBezTo>
                <a:cubicBezTo>
                  <a:pt x="1924" y="676"/>
                  <a:pt x="1917" y="677"/>
                  <a:pt x="1915" y="673"/>
                </a:cubicBezTo>
                <a:cubicBezTo>
                  <a:pt x="1906" y="676"/>
                  <a:pt x="1901" y="682"/>
                  <a:pt x="1895" y="687"/>
                </a:cubicBezTo>
                <a:cubicBezTo>
                  <a:pt x="1893" y="687"/>
                  <a:pt x="1895" y="686"/>
                  <a:pt x="1895" y="683"/>
                </a:cubicBezTo>
                <a:cubicBezTo>
                  <a:pt x="1892" y="685"/>
                  <a:pt x="1891" y="688"/>
                  <a:pt x="1885" y="688"/>
                </a:cubicBezTo>
                <a:cubicBezTo>
                  <a:pt x="1881" y="688"/>
                  <a:pt x="1882" y="683"/>
                  <a:pt x="1877" y="684"/>
                </a:cubicBezTo>
                <a:cubicBezTo>
                  <a:pt x="1878" y="679"/>
                  <a:pt x="1886" y="685"/>
                  <a:pt x="1885" y="677"/>
                </a:cubicBezTo>
                <a:cubicBezTo>
                  <a:pt x="1878" y="677"/>
                  <a:pt x="1878" y="677"/>
                  <a:pt x="1878" y="677"/>
                </a:cubicBezTo>
                <a:cubicBezTo>
                  <a:pt x="1880" y="667"/>
                  <a:pt x="1872" y="666"/>
                  <a:pt x="1865" y="664"/>
                </a:cubicBezTo>
                <a:cubicBezTo>
                  <a:pt x="1861" y="673"/>
                  <a:pt x="1824" y="675"/>
                  <a:pt x="1828" y="665"/>
                </a:cubicBezTo>
                <a:cubicBezTo>
                  <a:pt x="1822" y="664"/>
                  <a:pt x="1826" y="671"/>
                  <a:pt x="1825" y="674"/>
                </a:cubicBezTo>
                <a:cubicBezTo>
                  <a:pt x="1827" y="673"/>
                  <a:pt x="1827" y="671"/>
                  <a:pt x="1829" y="671"/>
                </a:cubicBezTo>
                <a:cubicBezTo>
                  <a:pt x="1830" y="673"/>
                  <a:pt x="1825" y="681"/>
                  <a:pt x="1822" y="684"/>
                </a:cubicBezTo>
                <a:cubicBezTo>
                  <a:pt x="1811" y="683"/>
                  <a:pt x="1823" y="672"/>
                  <a:pt x="1814" y="671"/>
                </a:cubicBezTo>
                <a:cubicBezTo>
                  <a:pt x="1815" y="666"/>
                  <a:pt x="1818" y="671"/>
                  <a:pt x="1821" y="668"/>
                </a:cubicBezTo>
                <a:cubicBezTo>
                  <a:pt x="1816" y="665"/>
                  <a:pt x="1806" y="667"/>
                  <a:pt x="1801" y="665"/>
                </a:cubicBezTo>
                <a:cubicBezTo>
                  <a:pt x="1799" y="666"/>
                  <a:pt x="1798" y="668"/>
                  <a:pt x="1798" y="671"/>
                </a:cubicBezTo>
                <a:cubicBezTo>
                  <a:pt x="1802" y="666"/>
                  <a:pt x="1811" y="676"/>
                  <a:pt x="1808" y="670"/>
                </a:cubicBezTo>
                <a:cubicBezTo>
                  <a:pt x="1812" y="669"/>
                  <a:pt x="1809" y="679"/>
                  <a:pt x="1814" y="673"/>
                </a:cubicBezTo>
                <a:cubicBezTo>
                  <a:pt x="1813" y="675"/>
                  <a:pt x="1809" y="684"/>
                  <a:pt x="1816" y="683"/>
                </a:cubicBezTo>
                <a:cubicBezTo>
                  <a:pt x="1808" y="687"/>
                  <a:pt x="1797" y="680"/>
                  <a:pt x="1793" y="688"/>
                </a:cubicBezTo>
                <a:cubicBezTo>
                  <a:pt x="1796" y="689"/>
                  <a:pt x="1798" y="695"/>
                  <a:pt x="1797" y="697"/>
                </a:cubicBezTo>
                <a:cubicBezTo>
                  <a:pt x="1791" y="698"/>
                  <a:pt x="1791" y="693"/>
                  <a:pt x="1787" y="692"/>
                </a:cubicBezTo>
                <a:cubicBezTo>
                  <a:pt x="1785" y="697"/>
                  <a:pt x="1769" y="698"/>
                  <a:pt x="1760" y="696"/>
                </a:cubicBezTo>
                <a:cubicBezTo>
                  <a:pt x="1761" y="695"/>
                  <a:pt x="1762" y="694"/>
                  <a:pt x="1760" y="693"/>
                </a:cubicBezTo>
                <a:cubicBezTo>
                  <a:pt x="1765" y="690"/>
                  <a:pt x="1770" y="687"/>
                  <a:pt x="1774" y="683"/>
                </a:cubicBezTo>
                <a:cubicBezTo>
                  <a:pt x="1781" y="682"/>
                  <a:pt x="1783" y="687"/>
                  <a:pt x="1789" y="687"/>
                </a:cubicBezTo>
                <a:cubicBezTo>
                  <a:pt x="1791" y="682"/>
                  <a:pt x="1785" y="686"/>
                  <a:pt x="1786" y="681"/>
                </a:cubicBezTo>
                <a:cubicBezTo>
                  <a:pt x="1787" y="679"/>
                  <a:pt x="1797" y="675"/>
                  <a:pt x="1797" y="681"/>
                </a:cubicBezTo>
                <a:cubicBezTo>
                  <a:pt x="1802" y="681"/>
                  <a:pt x="1797" y="676"/>
                  <a:pt x="1800" y="675"/>
                </a:cubicBezTo>
                <a:cubicBezTo>
                  <a:pt x="1798" y="672"/>
                  <a:pt x="1793" y="675"/>
                  <a:pt x="1787" y="673"/>
                </a:cubicBezTo>
                <a:cubicBezTo>
                  <a:pt x="1788" y="671"/>
                  <a:pt x="1790" y="671"/>
                  <a:pt x="1793" y="670"/>
                </a:cubicBezTo>
                <a:cubicBezTo>
                  <a:pt x="1790" y="668"/>
                  <a:pt x="1785" y="668"/>
                  <a:pt x="1780" y="668"/>
                </a:cubicBezTo>
                <a:cubicBezTo>
                  <a:pt x="1779" y="669"/>
                  <a:pt x="1779" y="671"/>
                  <a:pt x="1779" y="674"/>
                </a:cubicBezTo>
                <a:cubicBezTo>
                  <a:pt x="1774" y="675"/>
                  <a:pt x="1777" y="669"/>
                  <a:pt x="1772" y="670"/>
                </a:cubicBezTo>
                <a:cubicBezTo>
                  <a:pt x="1773" y="671"/>
                  <a:pt x="1774" y="673"/>
                  <a:pt x="1774" y="675"/>
                </a:cubicBezTo>
                <a:cubicBezTo>
                  <a:pt x="1763" y="673"/>
                  <a:pt x="1760" y="676"/>
                  <a:pt x="1751" y="674"/>
                </a:cubicBezTo>
                <a:cubicBezTo>
                  <a:pt x="1751" y="669"/>
                  <a:pt x="1751" y="665"/>
                  <a:pt x="1753" y="663"/>
                </a:cubicBezTo>
                <a:cubicBezTo>
                  <a:pt x="1753" y="666"/>
                  <a:pt x="1758" y="668"/>
                  <a:pt x="1762" y="672"/>
                </a:cubicBezTo>
                <a:cubicBezTo>
                  <a:pt x="1765" y="671"/>
                  <a:pt x="1762" y="666"/>
                  <a:pt x="1761" y="665"/>
                </a:cubicBezTo>
                <a:cubicBezTo>
                  <a:pt x="1765" y="665"/>
                  <a:pt x="1771" y="663"/>
                  <a:pt x="1771" y="667"/>
                </a:cubicBezTo>
                <a:cubicBezTo>
                  <a:pt x="1775" y="663"/>
                  <a:pt x="1775" y="658"/>
                  <a:pt x="1774" y="654"/>
                </a:cubicBezTo>
                <a:cubicBezTo>
                  <a:pt x="1761" y="652"/>
                  <a:pt x="1740" y="655"/>
                  <a:pt x="1729" y="643"/>
                </a:cubicBezTo>
                <a:cubicBezTo>
                  <a:pt x="1725" y="646"/>
                  <a:pt x="1723" y="642"/>
                  <a:pt x="1720" y="645"/>
                </a:cubicBezTo>
                <a:cubicBezTo>
                  <a:pt x="1719" y="641"/>
                  <a:pt x="1721" y="640"/>
                  <a:pt x="1721" y="637"/>
                </a:cubicBezTo>
                <a:cubicBezTo>
                  <a:pt x="1717" y="641"/>
                  <a:pt x="1711" y="644"/>
                  <a:pt x="1705" y="646"/>
                </a:cubicBezTo>
                <a:cubicBezTo>
                  <a:pt x="1700" y="641"/>
                  <a:pt x="1692" y="643"/>
                  <a:pt x="1684" y="641"/>
                </a:cubicBezTo>
                <a:cubicBezTo>
                  <a:pt x="1684" y="637"/>
                  <a:pt x="1684" y="637"/>
                  <a:pt x="1684" y="637"/>
                </a:cubicBezTo>
                <a:cubicBezTo>
                  <a:pt x="1686" y="638"/>
                  <a:pt x="1698" y="630"/>
                  <a:pt x="1702" y="635"/>
                </a:cubicBezTo>
                <a:cubicBezTo>
                  <a:pt x="1705" y="635"/>
                  <a:pt x="1701" y="631"/>
                  <a:pt x="1700" y="631"/>
                </a:cubicBezTo>
                <a:cubicBezTo>
                  <a:pt x="1701" y="630"/>
                  <a:pt x="1703" y="630"/>
                  <a:pt x="1703" y="628"/>
                </a:cubicBezTo>
                <a:cubicBezTo>
                  <a:pt x="1712" y="629"/>
                  <a:pt x="1716" y="631"/>
                  <a:pt x="1726" y="629"/>
                </a:cubicBezTo>
                <a:cubicBezTo>
                  <a:pt x="1725" y="623"/>
                  <a:pt x="1721" y="627"/>
                  <a:pt x="1719" y="625"/>
                </a:cubicBezTo>
                <a:cubicBezTo>
                  <a:pt x="1744" y="617"/>
                  <a:pt x="1775" y="616"/>
                  <a:pt x="1805" y="616"/>
                </a:cubicBezTo>
                <a:cubicBezTo>
                  <a:pt x="1808" y="608"/>
                  <a:pt x="1815" y="612"/>
                  <a:pt x="1821" y="609"/>
                </a:cubicBezTo>
                <a:cubicBezTo>
                  <a:pt x="1820" y="608"/>
                  <a:pt x="1819" y="607"/>
                  <a:pt x="1821" y="607"/>
                </a:cubicBezTo>
                <a:cubicBezTo>
                  <a:pt x="1820" y="603"/>
                  <a:pt x="1813" y="606"/>
                  <a:pt x="1813" y="602"/>
                </a:cubicBezTo>
                <a:cubicBezTo>
                  <a:pt x="1820" y="593"/>
                  <a:pt x="1836" y="593"/>
                  <a:pt x="1844" y="602"/>
                </a:cubicBezTo>
                <a:cubicBezTo>
                  <a:pt x="1844" y="603"/>
                  <a:pt x="1840" y="604"/>
                  <a:pt x="1840" y="602"/>
                </a:cubicBezTo>
                <a:cubicBezTo>
                  <a:pt x="1835" y="607"/>
                  <a:pt x="1846" y="607"/>
                  <a:pt x="1848" y="610"/>
                </a:cubicBezTo>
                <a:cubicBezTo>
                  <a:pt x="1851" y="609"/>
                  <a:pt x="1851" y="605"/>
                  <a:pt x="1853" y="604"/>
                </a:cubicBezTo>
                <a:cubicBezTo>
                  <a:pt x="1858" y="604"/>
                  <a:pt x="1860" y="608"/>
                  <a:pt x="1864" y="609"/>
                </a:cubicBezTo>
                <a:cubicBezTo>
                  <a:pt x="1862" y="606"/>
                  <a:pt x="1865" y="607"/>
                  <a:pt x="1866" y="605"/>
                </a:cubicBezTo>
                <a:cubicBezTo>
                  <a:pt x="1899" y="605"/>
                  <a:pt x="1937" y="601"/>
                  <a:pt x="1971" y="597"/>
                </a:cubicBezTo>
                <a:cubicBezTo>
                  <a:pt x="1962" y="592"/>
                  <a:pt x="1954" y="598"/>
                  <a:pt x="1947" y="592"/>
                </a:cubicBezTo>
                <a:cubicBezTo>
                  <a:pt x="1946" y="599"/>
                  <a:pt x="1939" y="590"/>
                  <a:pt x="1935" y="591"/>
                </a:cubicBezTo>
                <a:cubicBezTo>
                  <a:pt x="1936" y="586"/>
                  <a:pt x="1945" y="585"/>
                  <a:pt x="1939" y="580"/>
                </a:cubicBezTo>
                <a:cubicBezTo>
                  <a:pt x="1951" y="574"/>
                  <a:pt x="1962" y="580"/>
                  <a:pt x="1973" y="586"/>
                </a:cubicBezTo>
                <a:cubicBezTo>
                  <a:pt x="1980" y="583"/>
                  <a:pt x="1988" y="585"/>
                  <a:pt x="1993" y="588"/>
                </a:cubicBezTo>
                <a:cubicBezTo>
                  <a:pt x="2001" y="584"/>
                  <a:pt x="2017" y="576"/>
                  <a:pt x="2022" y="587"/>
                </a:cubicBezTo>
                <a:cubicBezTo>
                  <a:pt x="2021" y="591"/>
                  <a:pt x="2013" y="588"/>
                  <a:pt x="2014" y="594"/>
                </a:cubicBezTo>
                <a:cubicBezTo>
                  <a:pt x="2037" y="594"/>
                  <a:pt x="2050" y="594"/>
                  <a:pt x="2069" y="596"/>
                </a:cubicBezTo>
                <a:cubicBezTo>
                  <a:pt x="2070" y="600"/>
                  <a:pt x="2071" y="601"/>
                  <a:pt x="2074" y="605"/>
                </a:cubicBezTo>
                <a:cubicBezTo>
                  <a:pt x="2077" y="603"/>
                  <a:pt x="2076" y="599"/>
                  <a:pt x="2080" y="599"/>
                </a:cubicBezTo>
                <a:cubicBezTo>
                  <a:pt x="2075" y="597"/>
                  <a:pt x="2082" y="595"/>
                  <a:pt x="2081" y="590"/>
                </a:cubicBezTo>
                <a:cubicBezTo>
                  <a:pt x="2086" y="593"/>
                  <a:pt x="2092" y="596"/>
                  <a:pt x="2099" y="596"/>
                </a:cubicBezTo>
                <a:cubicBezTo>
                  <a:pt x="2097" y="600"/>
                  <a:pt x="2100" y="601"/>
                  <a:pt x="2098" y="607"/>
                </a:cubicBezTo>
                <a:cubicBezTo>
                  <a:pt x="2104" y="605"/>
                  <a:pt x="2111" y="604"/>
                  <a:pt x="2110" y="597"/>
                </a:cubicBezTo>
                <a:cubicBezTo>
                  <a:pt x="2112" y="599"/>
                  <a:pt x="2118" y="596"/>
                  <a:pt x="2118" y="600"/>
                </a:cubicBezTo>
                <a:cubicBezTo>
                  <a:pt x="2118" y="604"/>
                  <a:pt x="2115" y="599"/>
                  <a:pt x="2113" y="601"/>
                </a:cubicBezTo>
                <a:cubicBezTo>
                  <a:pt x="2115" y="606"/>
                  <a:pt x="2113" y="604"/>
                  <a:pt x="2112" y="609"/>
                </a:cubicBezTo>
                <a:cubicBezTo>
                  <a:pt x="2117" y="609"/>
                  <a:pt x="2119" y="609"/>
                  <a:pt x="2123" y="607"/>
                </a:cubicBezTo>
                <a:cubicBezTo>
                  <a:pt x="2124" y="603"/>
                  <a:pt x="2116" y="608"/>
                  <a:pt x="2117" y="604"/>
                </a:cubicBezTo>
                <a:cubicBezTo>
                  <a:pt x="2118" y="602"/>
                  <a:pt x="2121" y="606"/>
                  <a:pt x="2120" y="600"/>
                </a:cubicBezTo>
                <a:cubicBezTo>
                  <a:pt x="2124" y="607"/>
                  <a:pt x="2135" y="597"/>
                  <a:pt x="2140" y="593"/>
                </a:cubicBezTo>
                <a:cubicBezTo>
                  <a:pt x="2147" y="594"/>
                  <a:pt x="2152" y="593"/>
                  <a:pt x="2159" y="592"/>
                </a:cubicBezTo>
                <a:cubicBezTo>
                  <a:pt x="2163" y="593"/>
                  <a:pt x="2159" y="594"/>
                  <a:pt x="2160" y="598"/>
                </a:cubicBezTo>
                <a:cubicBezTo>
                  <a:pt x="2169" y="594"/>
                  <a:pt x="2174" y="598"/>
                  <a:pt x="2182" y="599"/>
                </a:cubicBezTo>
                <a:cubicBezTo>
                  <a:pt x="2181" y="604"/>
                  <a:pt x="2179" y="607"/>
                  <a:pt x="2181" y="611"/>
                </a:cubicBezTo>
                <a:cubicBezTo>
                  <a:pt x="2189" y="610"/>
                  <a:pt x="2190" y="609"/>
                  <a:pt x="2196" y="608"/>
                </a:cubicBezTo>
                <a:cubicBezTo>
                  <a:pt x="2193" y="606"/>
                  <a:pt x="2188" y="606"/>
                  <a:pt x="2184" y="605"/>
                </a:cubicBezTo>
                <a:cubicBezTo>
                  <a:pt x="2183" y="600"/>
                  <a:pt x="2183" y="600"/>
                  <a:pt x="2183" y="600"/>
                </a:cubicBezTo>
                <a:cubicBezTo>
                  <a:pt x="2197" y="601"/>
                  <a:pt x="2214" y="600"/>
                  <a:pt x="2226" y="606"/>
                </a:cubicBezTo>
                <a:cubicBezTo>
                  <a:pt x="2229" y="611"/>
                  <a:pt x="2225" y="613"/>
                  <a:pt x="2231" y="614"/>
                </a:cubicBezTo>
                <a:cubicBezTo>
                  <a:pt x="2230" y="612"/>
                  <a:pt x="2230" y="611"/>
                  <a:pt x="2231" y="609"/>
                </a:cubicBezTo>
                <a:cubicBezTo>
                  <a:pt x="2249" y="609"/>
                  <a:pt x="2264" y="607"/>
                  <a:pt x="2274" y="606"/>
                </a:cubicBezTo>
                <a:cubicBezTo>
                  <a:pt x="2276" y="605"/>
                  <a:pt x="2275" y="602"/>
                  <a:pt x="2275" y="600"/>
                </a:cubicBezTo>
                <a:cubicBezTo>
                  <a:pt x="2277" y="600"/>
                  <a:pt x="2277" y="602"/>
                  <a:pt x="2277" y="604"/>
                </a:cubicBezTo>
                <a:cubicBezTo>
                  <a:pt x="2282" y="601"/>
                  <a:pt x="2290" y="604"/>
                  <a:pt x="2300" y="603"/>
                </a:cubicBezTo>
                <a:cubicBezTo>
                  <a:pt x="2305" y="603"/>
                  <a:pt x="2316" y="600"/>
                  <a:pt x="2319" y="597"/>
                </a:cubicBezTo>
                <a:cubicBezTo>
                  <a:pt x="2319" y="597"/>
                  <a:pt x="2318" y="590"/>
                  <a:pt x="2324" y="592"/>
                </a:cubicBezTo>
                <a:cubicBezTo>
                  <a:pt x="2320" y="588"/>
                  <a:pt x="2314" y="586"/>
                  <a:pt x="2306" y="587"/>
                </a:cubicBezTo>
                <a:cubicBezTo>
                  <a:pt x="2305" y="582"/>
                  <a:pt x="2308" y="582"/>
                  <a:pt x="2307" y="578"/>
                </a:cubicBezTo>
                <a:cubicBezTo>
                  <a:pt x="2303" y="580"/>
                  <a:pt x="2299" y="580"/>
                  <a:pt x="2296" y="576"/>
                </a:cubicBezTo>
                <a:cubicBezTo>
                  <a:pt x="2289" y="577"/>
                  <a:pt x="2292" y="582"/>
                  <a:pt x="2285" y="578"/>
                </a:cubicBezTo>
                <a:cubicBezTo>
                  <a:pt x="2284" y="581"/>
                  <a:pt x="2285" y="586"/>
                  <a:pt x="2280" y="586"/>
                </a:cubicBezTo>
                <a:cubicBezTo>
                  <a:pt x="2281" y="589"/>
                  <a:pt x="2282" y="585"/>
                  <a:pt x="2284" y="587"/>
                </a:cubicBezTo>
                <a:cubicBezTo>
                  <a:pt x="2276" y="593"/>
                  <a:pt x="2275" y="577"/>
                  <a:pt x="2266" y="575"/>
                </a:cubicBezTo>
                <a:cubicBezTo>
                  <a:pt x="2279" y="569"/>
                  <a:pt x="2299" y="572"/>
                  <a:pt x="2314" y="566"/>
                </a:cubicBezTo>
                <a:cubicBezTo>
                  <a:pt x="2310" y="562"/>
                  <a:pt x="2304" y="561"/>
                  <a:pt x="2302" y="564"/>
                </a:cubicBezTo>
                <a:cubicBezTo>
                  <a:pt x="2301" y="563"/>
                  <a:pt x="2300" y="563"/>
                  <a:pt x="2299" y="561"/>
                </a:cubicBezTo>
                <a:cubicBezTo>
                  <a:pt x="2304" y="557"/>
                  <a:pt x="2317" y="554"/>
                  <a:pt x="2323" y="552"/>
                </a:cubicBezTo>
                <a:cubicBezTo>
                  <a:pt x="2320" y="550"/>
                  <a:pt x="2319" y="547"/>
                  <a:pt x="2315" y="547"/>
                </a:cubicBezTo>
                <a:cubicBezTo>
                  <a:pt x="2315" y="552"/>
                  <a:pt x="2315" y="552"/>
                  <a:pt x="2315" y="552"/>
                </a:cubicBezTo>
                <a:cubicBezTo>
                  <a:pt x="2312" y="551"/>
                  <a:pt x="2315" y="543"/>
                  <a:pt x="2308" y="546"/>
                </a:cubicBezTo>
                <a:cubicBezTo>
                  <a:pt x="2310" y="541"/>
                  <a:pt x="2308" y="541"/>
                  <a:pt x="2308" y="536"/>
                </a:cubicBezTo>
                <a:cubicBezTo>
                  <a:pt x="2311" y="532"/>
                  <a:pt x="2315" y="536"/>
                  <a:pt x="2318" y="533"/>
                </a:cubicBezTo>
                <a:cubicBezTo>
                  <a:pt x="2321" y="539"/>
                  <a:pt x="2316" y="543"/>
                  <a:pt x="2320" y="548"/>
                </a:cubicBezTo>
                <a:cubicBezTo>
                  <a:pt x="2325" y="549"/>
                  <a:pt x="2323" y="544"/>
                  <a:pt x="2327" y="545"/>
                </a:cubicBezTo>
                <a:cubicBezTo>
                  <a:pt x="2335" y="551"/>
                  <a:pt x="2340" y="556"/>
                  <a:pt x="2353" y="555"/>
                </a:cubicBezTo>
                <a:cubicBezTo>
                  <a:pt x="2353" y="546"/>
                  <a:pt x="2364" y="548"/>
                  <a:pt x="2370" y="546"/>
                </a:cubicBezTo>
                <a:cubicBezTo>
                  <a:pt x="2368" y="543"/>
                  <a:pt x="2363" y="544"/>
                  <a:pt x="2363" y="538"/>
                </a:cubicBezTo>
                <a:cubicBezTo>
                  <a:pt x="2361" y="541"/>
                  <a:pt x="2359" y="542"/>
                  <a:pt x="2354" y="542"/>
                </a:cubicBezTo>
                <a:cubicBezTo>
                  <a:pt x="2352" y="537"/>
                  <a:pt x="2355" y="532"/>
                  <a:pt x="2363" y="530"/>
                </a:cubicBezTo>
                <a:cubicBezTo>
                  <a:pt x="2368" y="530"/>
                  <a:pt x="2365" y="536"/>
                  <a:pt x="2365" y="539"/>
                </a:cubicBezTo>
                <a:cubicBezTo>
                  <a:pt x="2375" y="537"/>
                  <a:pt x="2378" y="542"/>
                  <a:pt x="2384" y="544"/>
                </a:cubicBezTo>
                <a:cubicBezTo>
                  <a:pt x="2375" y="559"/>
                  <a:pt x="2400" y="553"/>
                  <a:pt x="2410" y="553"/>
                </a:cubicBezTo>
                <a:cubicBezTo>
                  <a:pt x="2404" y="549"/>
                  <a:pt x="2389" y="550"/>
                  <a:pt x="2387" y="549"/>
                </a:cubicBezTo>
                <a:cubicBezTo>
                  <a:pt x="2389" y="540"/>
                  <a:pt x="2388" y="538"/>
                  <a:pt x="2385" y="530"/>
                </a:cubicBezTo>
                <a:cubicBezTo>
                  <a:pt x="2393" y="523"/>
                  <a:pt x="2399" y="525"/>
                  <a:pt x="2406" y="532"/>
                </a:cubicBezTo>
                <a:cubicBezTo>
                  <a:pt x="2406" y="529"/>
                  <a:pt x="2400" y="523"/>
                  <a:pt x="2399" y="519"/>
                </a:cubicBezTo>
                <a:cubicBezTo>
                  <a:pt x="2402" y="515"/>
                  <a:pt x="2405" y="520"/>
                  <a:pt x="2410" y="518"/>
                </a:cubicBezTo>
                <a:cubicBezTo>
                  <a:pt x="2405" y="524"/>
                  <a:pt x="2410" y="524"/>
                  <a:pt x="2414" y="530"/>
                </a:cubicBezTo>
                <a:cubicBezTo>
                  <a:pt x="2415" y="533"/>
                  <a:pt x="2413" y="533"/>
                  <a:pt x="2410" y="533"/>
                </a:cubicBezTo>
                <a:cubicBezTo>
                  <a:pt x="2413" y="537"/>
                  <a:pt x="2410" y="538"/>
                  <a:pt x="2412" y="541"/>
                </a:cubicBezTo>
                <a:cubicBezTo>
                  <a:pt x="2427" y="540"/>
                  <a:pt x="2444" y="546"/>
                  <a:pt x="2451" y="558"/>
                </a:cubicBezTo>
                <a:cubicBezTo>
                  <a:pt x="2458" y="555"/>
                  <a:pt x="2470" y="558"/>
                  <a:pt x="2476" y="556"/>
                </a:cubicBezTo>
                <a:cubicBezTo>
                  <a:pt x="2478" y="550"/>
                  <a:pt x="2474" y="549"/>
                  <a:pt x="2472" y="547"/>
                </a:cubicBezTo>
                <a:cubicBezTo>
                  <a:pt x="2478" y="542"/>
                  <a:pt x="2486" y="547"/>
                  <a:pt x="2492" y="542"/>
                </a:cubicBezTo>
                <a:cubicBezTo>
                  <a:pt x="2495" y="542"/>
                  <a:pt x="2494" y="545"/>
                  <a:pt x="2497" y="544"/>
                </a:cubicBezTo>
                <a:cubicBezTo>
                  <a:pt x="2496" y="548"/>
                  <a:pt x="2498" y="552"/>
                  <a:pt x="2499" y="556"/>
                </a:cubicBezTo>
                <a:cubicBezTo>
                  <a:pt x="2503" y="556"/>
                  <a:pt x="2508" y="555"/>
                  <a:pt x="2510" y="557"/>
                </a:cubicBezTo>
                <a:cubicBezTo>
                  <a:pt x="2510" y="562"/>
                  <a:pt x="2509" y="564"/>
                  <a:pt x="2505" y="565"/>
                </a:cubicBezTo>
                <a:cubicBezTo>
                  <a:pt x="2512" y="569"/>
                  <a:pt x="2521" y="562"/>
                  <a:pt x="2526" y="569"/>
                </a:cubicBezTo>
                <a:cubicBezTo>
                  <a:pt x="2521" y="570"/>
                  <a:pt x="2510" y="574"/>
                  <a:pt x="2508" y="569"/>
                </a:cubicBezTo>
                <a:cubicBezTo>
                  <a:pt x="2511" y="577"/>
                  <a:pt x="2494" y="577"/>
                  <a:pt x="2492" y="576"/>
                </a:cubicBezTo>
                <a:cubicBezTo>
                  <a:pt x="2489" y="576"/>
                  <a:pt x="2494" y="578"/>
                  <a:pt x="2492" y="581"/>
                </a:cubicBezTo>
                <a:cubicBezTo>
                  <a:pt x="2500" y="579"/>
                  <a:pt x="2503" y="582"/>
                  <a:pt x="2504" y="589"/>
                </a:cubicBezTo>
                <a:cubicBezTo>
                  <a:pt x="2513" y="591"/>
                  <a:pt x="2511" y="588"/>
                  <a:pt x="2522" y="588"/>
                </a:cubicBezTo>
                <a:cubicBezTo>
                  <a:pt x="2520" y="585"/>
                  <a:pt x="2522" y="586"/>
                  <a:pt x="2522" y="582"/>
                </a:cubicBezTo>
                <a:cubicBezTo>
                  <a:pt x="2519" y="586"/>
                  <a:pt x="2516" y="581"/>
                  <a:pt x="2513" y="580"/>
                </a:cubicBezTo>
                <a:cubicBezTo>
                  <a:pt x="2522" y="575"/>
                  <a:pt x="2527" y="580"/>
                  <a:pt x="2538" y="576"/>
                </a:cubicBezTo>
                <a:cubicBezTo>
                  <a:pt x="2540" y="571"/>
                  <a:pt x="2539" y="563"/>
                  <a:pt x="2541" y="558"/>
                </a:cubicBezTo>
                <a:cubicBezTo>
                  <a:pt x="2551" y="562"/>
                  <a:pt x="2560" y="551"/>
                  <a:pt x="2568" y="557"/>
                </a:cubicBezTo>
                <a:cubicBezTo>
                  <a:pt x="2568" y="561"/>
                  <a:pt x="2570" y="568"/>
                  <a:pt x="2566" y="568"/>
                </a:cubicBezTo>
                <a:cubicBezTo>
                  <a:pt x="2567" y="571"/>
                  <a:pt x="2573" y="569"/>
                  <a:pt x="2572" y="565"/>
                </a:cubicBezTo>
                <a:cubicBezTo>
                  <a:pt x="2573" y="568"/>
                  <a:pt x="2576" y="569"/>
                  <a:pt x="2579" y="570"/>
                </a:cubicBezTo>
                <a:cubicBezTo>
                  <a:pt x="2583" y="568"/>
                  <a:pt x="2584" y="567"/>
                  <a:pt x="2586" y="567"/>
                </a:cubicBezTo>
                <a:cubicBezTo>
                  <a:pt x="2588" y="566"/>
                  <a:pt x="2592" y="557"/>
                  <a:pt x="2585" y="559"/>
                </a:cubicBezTo>
                <a:cubicBezTo>
                  <a:pt x="2593" y="553"/>
                  <a:pt x="2602" y="555"/>
                  <a:pt x="2612" y="553"/>
                </a:cubicBezTo>
                <a:cubicBezTo>
                  <a:pt x="2610" y="548"/>
                  <a:pt x="2607" y="549"/>
                  <a:pt x="2602" y="550"/>
                </a:cubicBezTo>
                <a:cubicBezTo>
                  <a:pt x="2601" y="543"/>
                  <a:pt x="2606" y="543"/>
                  <a:pt x="2601" y="538"/>
                </a:cubicBezTo>
                <a:cubicBezTo>
                  <a:pt x="2598" y="539"/>
                  <a:pt x="2596" y="541"/>
                  <a:pt x="2596" y="545"/>
                </a:cubicBezTo>
                <a:cubicBezTo>
                  <a:pt x="2591" y="544"/>
                  <a:pt x="2587" y="541"/>
                  <a:pt x="2584" y="546"/>
                </a:cubicBezTo>
                <a:cubicBezTo>
                  <a:pt x="2581" y="544"/>
                  <a:pt x="2578" y="543"/>
                  <a:pt x="2577" y="539"/>
                </a:cubicBezTo>
                <a:cubicBezTo>
                  <a:pt x="2566" y="541"/>
                  <a:pt x="2559" y="542"/>
                  <a:pt x="2551" y="538"/>
                </a:cubicBezTo>
                <a:cubicBezTo>
                  <a:pt x="2551" y="535"/>
                  <a:pt x="2555" y="536"/>
                  <a:pt x="2554" y="532"/>
                </a:cubicBezTo>
                <a:cubicBezTo>
                  <a:pt x="2551" y="532"/>
                  <a:pt x="2551" y="535"/>
                  <a:pt x="2547" y="534"/>
                </a:cubicBezTo>
                <a:cubicBezTo>
                  <a:pt x="2543" y="528"/>
                  <a:pt x="2540" y="523"/>
                  <a:pt x="2544" y="515"/>
                </a:cubicBezTo>
                <a:cubicBezTo>
                  <a:pt x="2554" y="518"/>
                  <a:pt x="2560" y="511"/>
                  <a:pt x="2567" y="515"/>
                </a:cubicBezTo>
                <a:cubicBezTo>
                  <a:pt x="2571" y="513"/>
                  <a:pt x="2562" y="512"/>
                  <a:pt x="2561" y="510"/>
                </a:cubicBezTo>
                <a:cubicBezTo>
                  <a:pt x="2561" y="509"/>
                  <a:pt x="2563" y="507"/>
                  <a:pt x="2565" y="507"/>
                </a:cubicBezTo>
                <a:cubicBezTo>
                  <a:pt x="2561" y="506"/>
                  <a:pt x="2556" y="499"/>
                  <a:pt x="2550" y="504"/>
                </a:cubicBezTo>
                <a:cubicBezTo>
                  <a:pt x="2548" y="495"/>
                  <a:pt x="2534" y="498"/>
                  <a:pt x="2537" y="488"/>
                </a:cubicBezTo>
                <a:cubicBezTo>
                  <a:pt x="2533" y="488"/>
                  <a:pt x="2525" y="491"/>
                  <a:pt x="2525" y="486"/>
                </a:cubicBezTo>
                <a:cubicBezTo>
                  <a:pt x="2526" y="484"/>
                  <a:pt x="2529" y="483"/>
                  <a:pt x="2533" y="483"/>
                </a:cubicBezTo>
                <a:cubicBezTo>
                  <a:pt x="2527" y="482"/>
                  <a:pt x="2526" y="477"/>
                  <a:pt x="2524" y="473"/>
                </a:cubicBezTo>
                <a:cubicBezTo>
                  <a:pt x="2521" y="475"/>
                  <a:pt x="2521" y="472"/>
                  <a:pt x="2519" y="474"/>
                </a:cubicBezTo>
                <a:cubicBezTo>
                  <a:pt x="2519" y="478"/>
                  <a:pt x="2522" y="479"/>
                  <a:pt x="2524" y="481"/>
                </a:cubicBezTo>
                <a:cubicBezTo>
                  <a:pt x="2519" y="486"/>
                  <a:pt x="2529" y="495"/>
                  <a:pt x="2527" y="505"/>
                </a:cubicBezTo>
                <a:cubicBezTo>
                  <a:pt x="2524" y="505"/>
                  <a:pt x="2519" y="503"/>
                  <a:pt x="2513" y="503"/>
                </a:cubicBezTo>
                <a:cubicBezTo>
                  <a:pt x="2513" y="497"/>
                  <a:pt x="2515" y="494"/>
                  <a:pt x="2520" y="493"/>
                </a:cubicBezTo>
                <a:cubicBezTo>
                  <a:pt x="2519" y="485"/>
                  <a:pt x="2519" y="485"/>
                  <a:pt x="2519" y="485"/>
                </a:cubicBezTo>
                <a:cubicBezTo>
                  <a:pt x="2513" y="486"/>
                  <a:pt x="2518" y="490"/>
                  <a:pt x="2513" y="492"/>
                </a:cubicBezTo>
                <a:cubicBezTo>
                  <a:pt x="2509" y="490"/>
                  <a:pt x="2510" y="482"/>
                  <a:pt x="2505" y="480"/>
                </a:cubicBezTo>
                <a:cubicBezTo>
                  <a:pt x="2504" y="482"/>
                  <a:pt x="2501" y="482"/>
                  <a:pt x="2497" y="482"/>
                </a:cubicBezTo>
                <a:cubicBezTo>
                  <a:pt x="2498" y="477"/>
                  <a:pt x="2505" y="479"/>
                  <a:pt x="2509" y="479"/>
                </a:cubicBezTo>
                <a:cubicBezTo>
                  <a:pt x="2512" y="473"/>
                  <a:pt x="2496" y="479"/>
                  <a:pt x="2502" y="474"/>
                </a:cubicBezTo>
                <a:cubicBezTo>
                  <a:pt x="2497" y="473"/>
                  <a:pt x="2487" y="469"/>
                  <a:pt x="2486" y="473"/>
                </a:cubicBezTo>
                <a:cubicBezTo>
                  <a:pt x="2490" y="473"/>
                  <a:pt x="2493" y="475"/>
                  <a:pt x="2496" y="479"/>
                </a:cubicBezTo>
                <a:cubicBezTo>
                  <a:pt x="2493" y="492"/>
                  <a:pt x="2477" y="483"/>
                  <a:pt x="2473" y="482"/>
                </a:cubicBezTo>
                <a:cubicBezTo>
                  <a:pt x="2471" y="476"/>
                  <a:pt x="2476" y="475"/>
                  <a:pt x="2478" y="473"/>
                </a:cubicBezTo>
                <a:cubicBezTo>
                  <a:pt x="2473" y="473"/>
                  <a:pt x="2470" y="468"/>
                  <a:pt x="2464" y="468"/>
                </a:cubicBezTo>
                <a:cubicBezTo>
                  <a:pt x="2465" y="472"/>
                  <a:pt x="2467" y="478"/>
                  <a:pt x="2464" y="483"/>
                </a:cubicBezTo>
                <a:cubicBezTo>
                  <a:pt x="2451" y="485"/>
                  <a:pt x="2443" y="480"/>
                  <a:pt x="2432" y="479"/>
                </a:cubicBezTo>
                <a:cubicBezTo>
                  <a:pt x="2432" y="477"/>
                  <a:pt x="2434" y="476"/>
                  <a:pt x="2433" y="474"/>
                </a:cubicBezTo>
                <a:cubicBezTo>
                  <a:pt x="2430" y="472"/>
                  <a:pt x="2426" y="471"/>
                  <a:pt x="2425" y="466"/>
                </a:cubicBezTo>
                <a:cubicBezTo>
                  <a:pt x="2418" y="470"/>
                  <a:pt x="2403" y="472"/>
                  <a:pt x="2404" y="479"/>
                </a:cubicBezTo>
                <a:cubicBezTo>
                  <a:pt x="2399" y="479"/>
                  <a:pt x="2400" y="472"/>
                  <a:pt x="2393" y="474"/>
                </a:cubicBezTo>
                <a:cubicBezTo>
                  <a:pt x="2392" y="479"/>
                  <a:pt x="2397" y="477"/>
                  <a:pt x="2396" y="481"/>
                </a:cubicBezTo>
                <a:cubicBezTo>
                  <a:pt x="2396" y="483"/>
                  <a:pt x="2394" y="483"/>
                  <a:pt x="2393" y="485"/>
                </a:cubicBezTo>
                <a:cubicBezTo>
                  <a:pt x="2390" y="484"/>
                  <a:pt x="2387" y="483"/>
                  <a:pt x="2385" y="480"/>
                </a:cubicBezTo>
                <a:cubicBezTo>
                  <a:pt x="2381" y="483"/>
                  <a:pt x="2378" y="481"/>
                  <a:pt x="2377" y="489"/>
                </a:cubicBezTo>
                <a:cubicBezTo>
                  <a:pt x="2362" y="489"/>
                  <a:pt x="2362" y="489"/>
                  <a:pt x="2362" y="489"/>
                </a:cubicBezTo>
                <a:cubicBezTo>
                  <a:pt x="2358" y="495"/>
                  <a:pt x="2363" y="498"/>
                  <a:pt x="2363" y="505"/>
                </a:cubicBezTo>
                <a:cubicBezTo>
                  <a:pt x="2354" y="508"/>
                  <a:pt x="2325" y="506"/>
                  <a:pt x="2329" y="525"/>
                </a:cubicBezTo>
                <a:cubicBezTo>
                  <a:pt x="2326" y="529"/>
                  <a:pt x="2322" y="525"/>
                  <a:pt x="2321" y="530"/>
                </a:cubicBezTo>
                <a:cubicBezTo>
                  <a:pt x="2316" y="531"/>
                  <a:pt x="2315" y="526"/>
                  <a:pt x="2311" y="525"/>
                </a:cubicBezTo>
                <a:cubicBezTo>
                  <a:pt x="2311" y="522"/>
                  <a:pt x="2320" y="526"/>
                  <a:pt x="2319" y="522"/>
                </a:cubicBezTo>
                <a:cubicBezTo>
                  <a:pt x="2317" y="518"/>
                  <a:pt x="2310" y="517"/>
                  <a:pt x="2307" y="519"/>
                </a:cubicBezTo>
                <a:cubicBezTo>
                  <a:pt x="2307" y="522"/>
                  <a:pt x="2310" y="524"/>
                  <a:pt x="2307" y="527"/>
                </a:cubicBezTo>
                <a:cubicBezTo>
                  <a:pt x="2305" y="527"/>
                  <a:pt x="2304" y="525"/>
                  <a:pt x="2302" y="526"/>
                </a:cubicBezTo>
                <a:cubicBezTo>
                  <a:pt x="2302" y="524"/>
                  <a:pt x="2305" y="525"/>
                  <a:pt x="2307" y="524"/>
                </a:cubicBezTo>
                <a:cubicBezTo>
                  <a:pt x="2300" y="524"/>
                  <a:pt x="2303" y="520"/>
                  <a:pt x="2299" y="518"/>
                </a:cubicBezTo>
                <a:cubicBezTo>
                  <a:pt x="2299" y="515"/>
                  <a:pt x="2304" y="517"/>
                  <a:pt x="2307" y="516"/>
                </a:cubicBezTo>
                <a:cubicBezTo>
                  <a:pt x="2306" y="508"/>
                  <a:pt x="2306" y="508"/>
                  <a:pt x="2306" y="508"/>
                </a:cubicBezTo>
                <a:cubicBezTo>
                  <a:pt x="2311" y="513"/>
                  <a:pt x="2317" y="517"/>
                  <a:pt x="2327" y="515"/>
                </a:cubicBezTo>
                <a:cubicBezTo>
                  <a:pt x="2325" y="512"/>
                  <a:pt x="2322" y="514"/>
                  <a:pt x="2320" y="509"/>
                </a:cubicBezTo>
                <a:cubicBezTo>
                  <a:pt x="2321" y="507"/>
                  <a:pt x="2324" y="507"/>
                  <a:pt x="2327" y="506"/>
                </a:cubicBezTo>
                <a:cubicBezTo>
                  <a:pt x="2320" y="496"/>
                  <a:pt x="2312" y="506"/>
                  <a:pt x="2302" y="503"/>
                </a:cubicBezTo>
                <a:cubicBezTo>
                  <a:pt x="2307" y="511"/>
                  <a:pt x="2290" y="518"/>
                  <a:pt x="2289" y="510"/>
                </a:cubicBezTo>
                <a:cubicBezTo>
                  <a:pt x="2284" y="507"/>
                  <a:pt x="2280" y="515"/>
                  <a:pt x="2277" y="517"/>
                </a:cubicBezTo>
                <a:cubicBezTo>
                  <a:pt x="2272" y="518"/>
                  <a:pt x="2272" y="513"/>
                  <a:pt x="2267" y="512"/>
                </a:cubicBezTo>
                <a:cubicBezTo>
                  <a:pt x="2268" y="510"/>
                  <a:pt x="2274" y="512"/>
                  <a:pt x="2271" y="507"/>
                </a:cubicBezTo>
                <a:cubicBezTo>
                  <a:pt x="2262" y="513"/>
                  <a:pt x="2256" y="503"/>
                  <a:pt x="2248" y="502"/>
                </a:cubicBezTo>
                <a:cubicBezTo>
                  <a:pt x="2248" y="499"/>
                  <a:pt x="2255" y="502"/>
                  <a:pt x="2257" y="501"/>
                </a:cubicBezTo>
                <a:cubicBezTo>
                  <a:pt x="2254" y="497"/>
                  <a:pt x="2249" y="493"/>
                  <a:pt x="2253" y="490"/>
                </a:cubicBezTo>
                <a:cubicBezTo>
                  <a:pt x="2252" y="487"/>
                  <a:pt x="2247" y="490"/>
                  <a:pt x="2248" y="492"/>
                </a:cubicBezTo>
                <a:cubicBezTo>
                  <a:pt x="2246" y="489"/>
                  <a:pt x="2242" y="488"/>
                  <a:pt x="2242" y="484"/>
                </a:cubicBezTo>
                <a:cubicBezTo>
                  <a:pt x="2237" y="483"/>
                  <a:pt x="2238" y="487"/>
                  <a:pt x="2237" y="489"/>
                </a:cubicBezTo>
                <a:cubicBezTo>
                  <a:pt x="2230" y="487"/>
                  <a:pt x="2226" y="481"/>
                  <a:pt x="2219" y="479"/>
                </a:cubicBezTo>
                <a:cubicBezTo>
                  <a:pt x="2219" y="486"/>
                  <a:pt x="2200" y="486"/>
                  <a:pt x="2202" y="479"/>
                </a:cubicBezTo>
                <a:cubicBezTo>
                  <a:pt x="2202" y="483"/>
                  <a:pt x="2195" y="481"/>
                  <a:pt x="2196" y="487"/>
                </a:cubicBezTo>
                <a:cubicBezTo>
                  <a:pt x="2192" y="487"/>
                  <a:pt x="2187" y="484"/>
                  <a:pt x="2184" y="488"/>
                </a:cubicBezTo>
                <a:cubicBezTo>
                  <a:pt x="2183" y="477"/>
                  <a:pt x="2160" y="487"/>
                  <a:pt x="2157" y="474"/>
                </a:cubicBezTo>
                <a:cubicBezTo>
                  <a:pt x="2154" y="477"/>
                  <a:pt x="2148" y="475"/>
                  <a:pt x="2145" y="473"/>
                </a:cubicBezTo>
                <a:cubicBezTo>
                  <a:pt x="2145" y="479"/>
                  <a:pt x="2123" y="474"/>
                  <a:pt x="2114" y="475"/>
                </a:cubicBezTo>
                <a:cubicBezTo>
                  <a:pt x="2094" y="476"/>
                  <a:pt x="2073" y="484"/>
                  <a:pt x="2060" y="480"/>
                </a:cubicBezTo>
                <a:cubicBezTo>
                  <a:pt x="2054" y="478"/>
                  <a:pt x="2050" y="473"/>
                  <a:pt x="2046" y="472"/>
                </a:cubicBezTo>
                <a:cubicBezTo>
                  <a:pt x="2046" y="472"/>
                  <a:pt x="2039" y="477"/>
                  <a:pt x="2041" y="470"/>
                </a:cubicBezTo>
                <a:cubicBezTo>
                  <a:pt x="2039" y="471"/>
                  <a:pt x="2038" y="473"/>
                  <a:pt x="2038" y="475"/>
                </a:cubicBezTo>
                <a:cubicBezTo>
                  <a:pt x="2041" y="477"/>
                  <a:pt x="2042" y="474"/>
                  <a:pt x="2047" y="476"/>
                </a:cubicBezTo>
                <a:cubicBezTo>
                  <a:pt x="2046" y="480"/>
                  <a:pt x="2040" y="479"/>
                  <a:pt x="2037" y="482"/>
                </a:cubicBezTo>
                <a:cubicBezTo>
                  <a:pt x="2033" y="477"/>
                  <a:pt x="2027" y="476"/>
                  <a:pt x="2020" y="480"/>
                </a:cubicBezTo>
                <a:cubicBezTo>
                  <a:pt x="2015" y="478"/>
                  <a:pt x="2024" y="476"/>
                  <a:pt x="2019" y="473"/>
                </a:cubicBezTo>
                <a:cubicBezTo>
                  <a:pt x="1995" y="479"/>
                  <a:pt x="1957" y="481"/>
                  <a:pt x="1935" y="489"/>
                </a:cubicBezTo>
                <a:cubicBezTo>
                  <a:pt x="1934" y="487"/>
                  <a:pt x="1928" y="490"/>
                  <a:pt x="1928" y="487"/>
                </a:cubicBezTo>
                <a:cubicBezTo>
                  <a:pt x="1930" y="494"/>
                  <a:pt x="1912" y="495"/>
                  <a:pt x="1904" y="496"/>
                </a:cubicBezTo>
                <a:cubicBezTo>
                  <a:pt x="1901" y="496"/>
                  <a:pt x="1903" y="490"/>
                  <a:pt x="1901" y="490"/>
                </a:cubicBezTo>
                <a:cubicBezTo>
                  <a:pt x="1883" y="488"/>
                  <a:pt x="1874" y="498"/>
                  <a:pt x="1858" y="493"/>
                </a:cubicBezTo>
                <a:cubicBezTo>
                  <a:pt x="1848" y="500"/>
                  <a:pt x="1840" y="499"/>
                  <a:pt x="1828" y="501"/>
                </a:cubicBezTo>
                <a:cubicBezTo>
                  <a:pt x="1827" y="500"/>
                  <a:pt x="1826" y="498"/>
                  <a:pt x="1825" y="496"/>
                </a:cubicBezTo>
                <a:cubicBezTo>
                  <a:pt x="1830" y="493"/>
                  <a:pt x="1833" y="490"/>
                  <a:pt x="1836" y="490"/>
                </a:cubicBezTo>
                <a:cubicBezTo>
                  <a:pt x="1833" y="486"/>
                  <a:pt x="1830" y="493"/>
                  <a:pt x="1827" y="493"/>
                </a:cubicBezTo>
                <a:cubicBezTo>
                  <a:pt x="1827" y="488"/>
                  <a:pt x="1828" y="488"/>
                  <a:pt x="1825" y="485"/>
                </a:cubicBezTo>
                <a:cubicBezTo>
                  <a:pt x="1825" y="481"/>
                  <a:pt x="1830" y="482"/>
                  <a:pt x="1832" y="480"/>
                </a:cubicBezTo>
                <a:cubicBezTo>
                  <a:pt x="1830" y="477"/>
                  <a:pt x="1824" y="480"/>
                  <a:pt x="1823" y="475"/>
                </a:cubicBezTo>
                <a:cubicBezTo>
                  <a:pt x="1825" y="470"/>
                  <a:pt x="1831" y="467"/>
                  <a:pt x="1833" y="459"/>
                </a:cubicBezTo>
                <a:cubicBezTo>
                  <a:pt x="1829" y="458"/>
                  <a:pt x="1830" y="461"/>
                  <a:pt x="1827" y="460"/>
                </a:cubicBezTo>
                <a:cubicBezTo>
                  <a:pt x="1826" y="457"/>
                  <a:pt x="1827" y="455"/>
                  <a:pt x="1830" y="455"/>
                </a:cubicBezTo>
                <a:cubicBezTo>
                  <a:pt x="1828" y="450"/>
                  <a:pt x="1821" y="451"/>
                  <a:pt x="1815" y="453"/>
                </a:cubicBezTo>
                <a:cubicBezTo>
                  <a:pt x="1814" y="451"/>
                  <a:pt x="1814" y="445"/>
                  <a:pt x="1816" y="441"/>
                </a:cubicBezTo>
                <a:cubicBezTo>
                  <a:pt x="1827" y="443"/>
                  <a:pt x="1834" y="441"/>
                  <a:pt x="1847" y="438"/>
                </a:cubicBezTo>
                <a:cubicBezTo>
                  <a:pt x="1850" y="436"/>
                  <a:pt x="1840" y="436"/>
                  <a:pt x="1838" y="436"/>
                </a:cubicBezTo>
                <a:cubicBezTo>
                  <a:pt x="1844" y="432"/>
                  <a:pt x="1853" y="432"/>
                  <a:pt x="1856" y="425"/>
                </a:cubicBezTo>
                <a:cubicBezTo>
                  <a:pt x="1858" y="427"/>
                  <a:pt x="1862" y="429"/>
                  <a:pt x="1864" y="426"/>
                </a:cubicBezTo>
                <a:cubicBezTo>
                  <a:pt x="1860" y="423"/>
                  <a:pt x="1860" y="424"/>
                  <a:pt x="1863" y="420"/>
                </a:cubicBezTo>
                <a:cubicBezTo>
                  <a:pt x="1857" y="417"/>
                  <a:pt x="1845" y="419"/>
                  <a:pt x="1840" y="421"/>
                </a:cubicBezTo>
                <a:cubicBezTo>
                  <a:pt x="1840" y="424"/>
                  <a:pt x="1840" y="426"/>
                  <a:pt x="1839" y="427"/>
                </a:cubicBezTo>
                <a:cubicBezTo>
                  <a:pt x="1834" y="429"/>
                  <a:pt x="1833" y="425"/>
                  <a:pt x="1828" y="426"/>
                </a:cubicBezTo>
                <a:cubicBezTo>
                  <a:pt x="1828" y="429"/>
                  <a:pt x="1832" y="429"/>
                  <a:pt x="1832" y="432"/>
                </a:cubicBezTo>
                <a:cubicBezTo>
                  <a:pt x="1824" y="440"/>
                  <a:pt x="1818" y="439"/>
                  <a:pt x="1816" y="426"/>
                </a:cubicBezTo>
                <a:cubicBezTo>
                  <a:pt x="1819" y="421"/>
                  <a:pt x="1828" y="421"/>
                  <a:pt x="1834" y="418"/>
                </a:cubicBezTo>
                <a:cubicBezTo>
                  <a:pt x="1828" y="407"/>
                  <a:pt x="1809" y="413"/>
                  <a:pt x="1806" y="422"/>
                </a:cubicBezTo>
                <a:cubicBezTo>
                  <a:pt x="1789" y="420"/>
                  <a:pt x="1776" y="408"/>
                  <a:pt x="1754" y="414"/>
                </a:cubicBezTo>
                <a:cubicBezTo>
                  <a:pt x="1752" y="425"/>
                  <a:pt x="1732" y="421"/>
                  <a:pt x="1735" y="437"/>
                </a:cubicBezTo>
                <a:cubicBezTo>
                  <a:pt x="1736" y="439"/>
                  <a:pt x="1739" y="438"/>
                  <a:pt x="1739" y="440"/>
                </a:cubicBezTo>
                <a:cubicBezTo>
                  <a:pt x="1738" y="444"/>
                  <a:pt x="1736" y="447"/>
                  <a:pt x="1731" y="447"/>
                </a:cubicBezTo>
                <a:cubicBezTo>
                  <a:pt x="1730" y="451"/>
                  <a:pt x="1734" y="450"/>
                  <a:pt x="1734" y="452"/>
                </a:cubicBezTo>
                <a:cubicBezTo>
                  <a:pt x="1725" y="454"/>
                  <a:pt x="1712" y="458"/>
                  <a:pt x="1699" y="453"/>
                </a:cubicBezTo>
                <a:cubicBezTo>
                  <a:pt x="1700" y="449"/>
                  <a:pt x="1703" y="448"/>
                  <a:pt x="1708" y="448"/>
                </a:cubicBezTo>
                <a:cubicBezTo>
                  <a:pt x="1708" y="444"/>
                  <a:pt x="1701" y="447"/>
                  <a:pt x="1700" y="443"/>
                </a:cubicBezTo>
                <a:cubicBezTo>
                  <a:pt x="1701" y="438"/>
                  <a:pt x="1709" y="437"/>
                  <a:pt x="1705" y="431"/>
                </a:cubicBezTo>
                <a:cubicBezTo>
                  <a:pt x="1701" y="431"/>
                  <a:pt x="1700" y="433"/>
                  <a:pt x="1702" y="435"/>
                </a:cubicBezTo>
                <a:cubicBezTo>
                  <a:pt x="1699" y="435"/>
                  <a:pt x="1698" y="433"/>
                  <a:pt x="1698" y="430"/>
                </a:cubicBezTo>
                <a:cubicBezTo>
                  <a:pt x="1688" y="432"/>
                  <a:pt x="1685" y="422"/>
                  <a:pt x="1676" y="421"/>
                </a:cubicBezTo>
                <a:cubicBezTo>
                  <a:pt x="1664" y="420"/>
                  <a:pt x="1651" y="431"/>
                  <a:pt x="1639" y="435"/>
                </a:cubicBezTo>
                <a:cubicBezTo>
                  <a:pt x="1640" y="446"/>
                  <a:pt x="1647" y="450"/>
                  <a:pt x="1654" y="455"/>
                </a:cubicBezTo>
                <a:cubicBezTo>
                  <a:pt x="1651" y="461"/>
                  <a:pt x="1640" y="458"/>
                  <a:pt x="1632" y="458"/>
                </a:cubicBezTo>
                <a:cubicBezTo>
                  <a:pt x="1633" y="457"/>
                  <a:pt x="1634" y="456"/>
                  <a:pt x="1636" y="455"/>
                </a:cubicBezTo>
                <a:cubicBezTo>
                  <a:pt x="1632" y="450"/>
                  <a:pt x="1622" y="449"/>
                  <a:pt x="1625" y="441"/>
                </a:cubicBezTo>
                <a:cubicBezTo>
                  <a:pt x="1627" y="439"/>
                  <a:pt x="1631" y="439"/>
                  <a:pt x="1633" y="438"/>
                </a:cubicBezTo>
                <a:cubicBezTo>
                  <a:pt x="1630" y="435"/>
                  <a:pt x="1633" y="433"/>
                  <a:pt x="1636" y="432"/>
                </a:cubicBezTo>
                <a:cubicBezTo>
                  <a:pt x="1608" y="417"/>
                  <a:pt x="1575" y="437"/>
                  <a:pt x="1545" y="431"/>
                </a:cubicBezTo>
                <a:cubicBezTo>
                  <a:pt x="1543" y="433"/>
                  <a:pt x="1543" y="436"/>
                  <a:pt x="1541" y="438"/>
                </a:cubicBezTo>
                <a:cubicBezTo>
                  <a:pt x="1549" y="444"/>
                  <a:pt x="1552" y="440"/>
                  <a:pt x="1563" y="440"/>
                </a:cubicBezTo>
                <a:cubicBezTo>
                  <a:pt x="1563" y="441"/>
                  <a:pt x="1562" y="447"/>
                  <a:pt x="1565" y="452"/>
                </a:cubicBezTo>
                <a:cubicBezTo>
                  <a:pt x="1568" y="451"/>
                  <a:pt x="1569" y="453"/>
                  <a:pt x="1571" y="453"/>
                </a:cubicBezTo>
                <a:cubicBezTo>
                  <a:pt x="1572" y="457"/>
                  <a:pt x="1566" y="454"/>
                  <a:pt x="1568" y="458"/>
                </a:cubicBezTo>
                <a:cubicBezTo>
                  <a:pt x="1575" y="453"/>
                  <a:pt x="1580" y="464"/>
                  <a:pt x="1584" y="458"/>
                </a:cubicBezTo>
                <a:cubicBezTo>
                  <a:pt x="1586" y="460"/>
                  <a:pt x="1588" y="462"/>
                  <a:pt x="1591" y="463"/>
                </a:cubicBezTo>
                <a:cubicBezTo>
                  <a:pt x="1591" y="466"/>
                  <a:pt x="1589" y="468"/>
                  <a:pt x="1588" y="470"/>
                </a:cubicBezTo>
                <a:cubicBezTo>
                  <a:pt x="1588" y="477"/>
                  <a:pt x="1596" y="476"/>
                  <a:pt x="1596" y="484"/>
                </a:cubicBezTo>
                <a:cubicBezTo>
                  <a:pt x="1607" y="483"/>
                  <a:pt x="1624" y="477"/>
                  <a:pt x="1629" y="466"/>
                </a:cubicBezTo>
                <a:cubicBezTo>
                  <a:pt x="1638" y="467"/>
                  <a:pt x="1638" y="464"/>
                  <a:pt x="1644" y="460"/>
                </a:cubicBezTo>
                <a:cubicBezTo>
                  <a:pt x="1645" y="470"/>
                  <a:pt x="1644" y="478"/>
                  <a:pt x="1645" y="491"/>
                </a:cubicBezTo>
                <a:cubicBezTo>
                  <a:pt x="1645" y="493"/>
                  <a:pt x="1640" y="491"/>
                  <a:pt x="1637" y="493"/>
                </a:cubicBezTo>
                <a:cubicBezTo>
                  <a:pt x="1640" y="498"/>
                  <a:pt x="1645" y="495"/>
                  <a:pt x="1650" y="497"/>
                </a:cubicBezTo>
                <a:cubicBezTo>
                  <a:pt x="1649" y="500"/>
                  <a:pt x="1642" y="501"/>
                  <a:pt x="1643" y="497"/>
                </a:cubicBezTo>
                <a:cubicBezTo>
                  <a:pt x="1640" y="498"/>
                  <a:pt x="1640" y="499"/>
                  <a:pt x="1642" y="501"/>
                </a:cubicBezTo>
                <a:cubicBezTo>
                  <a:pt x="1629" y="499"/>
                  <a:pt x="1602" y="487"/>
                  <a:pt x="1603" y="504"/>
                </a:cubicBezTo>
                <a:cubicBezTo>
                  <a:pt x="1590" y="501"/>
                  <a:pt x="1578" y="494"/>
                  <a:pt x="1562" y="499"/>
                </a:cubicBezTo>
                <a:cubicBezTo>
                  <a:pt x="1563" y="504"/>
                  <a:pt x="1561" y="506"/>
                  <a:pt x="1558" y="508"/>
                </a:cubicBezTo>
                <a:cubicBezTo>
                  <a:pt x="1550" y="503"/>
                  <a:pt x="1541" y="508"/>
                  <a:pt x="1534" y="511"/>
                </a:cubicBezTo>
                <a:cubicBezTo>
                  <a:pt x="1547" y="510"/>
                  <a:pt x="1553" y="522"/>
                  <a:pt x="1567" y="525"/>
                </a:cubicBezTo>
                <a:cubicBezTo>
                  <a:pt x="1566" y="526"/>
                  <a:pt x="1566" y="527"/>
                  <a:pt x="1566" y="529"/>
                </a:cubicBezTo>
                <a:cubicBezTo>
                  <a:pt x="1565" y="532"/>
                  <a:pt x="1559" y="530"/>
                  <a:pt x="1556" y="531"/>
                </a:cubicBezTo>
                <a:cubicBezTo>
                  <a:pt x="1559" y="536"/>
                  <a:pt x="1563" y="539"/>
                  <a:pt x="1566" y="542"/>
                </a:cubicBezTo>
                <a:cubicBezTo>
                  <a:pt x="1561" y="550"/>
                  <a:pt x="1567" y="554"/>
                  <a:pt x="1562" y="561"/>
                </a:cubicBezTo>
                <a:cubicBezTo>
                  <a:pt x="1548" y="556"/>
                  <a:pt x="1540" y="565"/>
                  <a:pt x="1525" y="566"/>
                </a:cubicBezTo>
                <a:cubicBezTo>
                  <a:pt x="1529" y="569"/>
                  <a:pt x="1533" y="567"/>
                  <a:pt x="1538" y="565"/>
                </a:cubicBezTo>
                <a:cubicBezTo>
                  <a:pt x="1538" y="569"/>
                  <a:pt x="1538" y="569"/>
                  <a:pt x="1538" y="569"/>
                </a:cubicBezTo>
                <a:cubicBezTo>
                  <a:pt x="1534" y="573"/>
                  <a:pt x="1524" y="570"/>
                  <a:pt x="1518" y="572"/>
                </a:cubicBezTo>
                <a:cubicBezTo>
                  <a:pt x="1519" y="567"/>
                  <a:pt x="1523" y="566"/>
                  <a:pt x="1521" y="558"/>
                </a:cubicBezTo>
                <a:cubicBezTo>
                  <a:pt x="1517" y="558"/>
                  <a:pt x="1511" y="557"/>
                  <a:pt x="1503" y="557"/>
                </a:cubicBezTo>
                <a:cubicBezTo>
                  <a:pt x="1502" y="557"/>
                  <a:pt x="1502" y="554"/>
                  <a:pt x="1499" y="555"/>
                </a:cubicBezTo>
                <a:cubicBezTo>
                  <a:pt x="1500" y="552"/>
                  <a:pt x="1504" y="552"/>
                  <a:pt x="1503" y="548"/>
                </a:cubicBezTo>
                <a:cubicBezTo>
                  <a:pt x="1500" y="548"/>
                  <a:pt x="1499" y="548"/>
                  <a:pt x="1499" y="551"/>
                </a:cubicBezTo>
                <a:cubicBezTo>
                  <a:pt x="1495" y="547"/>
                  <a:pt x="1500" y="541"/>
                  <a:pt x="1497" y="536"/>
                </a:cubicBezTo>
                <a:cubicBezTo>
                  <a:pt x="1511" y="531"/>
                  <a:pt x="1533" y="530"/>
                  <a:pt x="1553" y="527"/>
                </a:cubicBezTo>
                <a:cubicBezTo>
                  <a:pt x="1548" y="523"/>
                  <a:pt x="1544" y="519"/>
                  <a:pt x="1536" y="518"/>
                </a:cubicBezTo>
                <a:cubicBezTo>
                  <a:pt x="1534" y="520"/>
                  <a:pt x="1534" y="523"/>
                  <a:pt x="1533" y="525"/>
                </a:cubicBezTo>
                <a:cubicBezTo>
                  <a:pt x="1527" y="521"/>
                  <a:pt x="1515" y="524"/>
                  <a:pt x="1512" y="516"/>
                </a:cubicBezTo>
                <a:cubicBezTo>
                  <a:pt x="1514" y="513"/>
                  <a:pt x="1516" y="514"/>
                  <a:pt x="1519" y="515"/>
                </a:cubicBezTo>
                <a:cubicBezTo>
                  <a:pt x="1514" y="507"/>
                  <a:pt x="1492" y="512"/>
                  <a:pt x="1487" y="516"/>
                </a:cubicBezTo>
                <a:cubicBezTo>
                  <a:pt x="1487" y="519"/>
                  <a:pt x="1487" y="523"/>
                  <a:pt x="1488" y="524"/>
                </a:cubicBezTo>
                <a:cubicBezTo>
                  <a:pt x="1469" y="531"/>
                  <a:pt x="1435" y="511"/>
                  <a:pt x="1428" y="532"/>
                </a:cubicBezTo>
                <a:cubicBezTo>
                  <a:pt x="1427" y="537"/>
                  <a:pt x="1431" y="536"/>
                  <a:pt x="1434" y="537"/>
                </a:cubicBezTo>
                <a:cubicBezTo>
                  <a:pt x="1433" y="543"/>
                  <a:pt x="1428" y="543"/>
                  <a:pt x="1427" y="549"/>
                </a:cubicBezTo>
                <a:cubicBezTo>
                  <a:pt x="1431" y="545"/>
                  <a:pt x="1430" y="545"/>
                  <a:pt x="1437" y="545"/>
                </a:cubicBezTo>
                <a:cubicBezTo>
                  <a:pt x="1431" y="552"/>
                  <a:pt x="1421" y="555"/>
                  <a:pt x="1417" y="563"/>
                </a:cubicBezTo>
                <a:cubicBezTo>
                  <a:pt x="1416" y="560"/>
                  <a:pt x="1411" y="560"/>
                  <a:pt x="1409" y="559"/>
                </a:cubicBezTo>
                <a:cubicBezTo>
                  <a:pt x="1409" y="556"/>
                  <a:pt x="1412" y="557"/>
                  <a:pt x="1411" y="553"/>
                </a:cubicBezTo>
                <a:cubicBezTo>
                  <a:pt x="1409" y="554"/>
                  <a:pt x="1405" y="551"/>
                  <a:pt x="1408" y="551"/>
                </a:cubicBezTo>
                <a:cubicBezTo>
                  <a:pt x="1408" y="547"/>
                  <a:pt x="1405" y="552"/>
                  <a:pt x="1406" y="555"/>
                </a:cubicBezTo>
                <a:cubicBezTo>
                  <a:pt x="1398" y="556"/>
                  <a:pt x="1396" y="548"/>
                  <a:pt x="1388" y="553"/>
                </a:cubicBezTo>
                <a:cubicBezTo>
                  <a:pt x="1387" y="551"/>
                  <a:pt x="1384" y="550"/>
                  <a:pt x="1384" y="546"/>
                </a:cubicBezTo>
                <a:cubicBezTo>
                  <a:pt x="1373" y="547"/>
                  <a:pt x="1373" y="547"/>
                  <a:pt x="1373" y="547"/>
                </a:cubicBezTo>
                <a:cubicBezTo>
                  <a:pt x="1374" y="554"/>
                  <a:pt x="1369" y="556"/>
                  <a:pt x="1368" y="565"/>
                </a:cubicBezTo>
                <a:cubicBezTo>
                  <a:pt x="1364" y="558"/>
                  <a:pt x="1361" y="574"/>
                  <a:pt x="1352" y="567"/>
                </a:cubicBezTo>
                <a:cubicBezTo>
                  <a:pt x="1359" y="567"/>
                  <a:pt x="1351" y="562"/>
                  <a:pt x="1356" y="564"/>
                </a:cubicBezTo>
                <a:cubicBezTo>
                  <a:pt x="1358" y="564"/>
                  <a:pt x="1356" y="558"/>
                  <a:pt x="1355" y="557"/>
                </a:cubicBezTo>
                <a:cubicBezTo>
                  <a:pt x="1357" y="552"/>
                  <a:pt x="1368" y="554"/>
                  <a:pt x="1371" y="552"/>
                </a:cubicBezTo>
                <a:cubicBezTo>
                  <a:pt x="1369" y="547"/>
                  <a:pt x="1357" y="552"/>
                  <a:pt x="1354" y="548"/>
                </a:cubicBezTo>
                <a:cubicBezTo>
                  <a:pt x="1355" y="544"/>
                  <a:pt x="1362" y="545"/>
                  <a:pt x="1366" y="543"/>
                </a:cubicBezTo>
                <a:cubicBezTo>
                  <a:pt x="1365" y="532"/>
                  <a:pt x="1351" y="535"/>
                  <a:pt x="1344" y="531"/>
                </a:cubicBezTo>
                <a:cubicBezTo>
                  <a:pt x="1348" y="528"/>
                  <a:pt x="1357" y="530"/>
                  <a:pt x="1361" y="527"/>
                </a:cubicBezTo>
                <a:cubicBezTo>
                  <a:pt x="1361" y="526"/>
                  <a:pt x="1360" y="525"/>
                  <a:pt x="1360" y="523"/>
                </a:cubicBezTo>
                <a:cubicBezTo>
                  <a:pt x="1366" y="522"/>
                  <a:pt x="1368" y="525"/>
                  <a:pt x="1371" y="528"/>
                </a:cubicBezTo>
                <a:cubicBezTo>
                  <a:pt x="1371" y="531"/>
                  <a:pt x="1367" y="526"/>
                  <a:pt x="1366" y="530"/>
                </a:cubicBezTo>
                <a:cubicBezTo>
                  <a:pt x="1377" y="545"/>
                  <a:pt x="1395" y="533"/>
                  <a:pt x="1414" y="534"/>
                </a:cubicBezTo>
                <a:cubicBezTo>
                  <a:pt x="1412" y="528"/>
                  <a:pt x="1405" y="530"/>
                  <a:pt x="1398" y="531"/>
                </a:cubicBezTo>
                <a:cubicBezTo>
                  <a:pt x="1394" y="529"/>
                  <a:pt x="1396" y="526"/>
                  <a:pt x="1398" y="523"/>
                </a:cubicBezTo>
                <a:cubicBezTo>
                  <a:pt x="1402" y="524"/>
                  <a:pt x="1402" y="522"/>
                  <a:pt x="1407" y="524"/>
                </a:cubicBezTo>
                <a:cubicBezTo>
                  <a:pt x="1405" y="516"/>
                  <a:pt x="1415" y="519"/>
                  <a:pt x="1420" y="518"/>
                </a:cubicBezTo>
                <a:cubicBezTo>
                  <a:pt x="1411" y="504"/>
                  <a:pt x="1398" y="526"/>
                  <a:pt x="1388" y="515"/>
                </a:cubicBezTo>
                <a:cubicBezTo>
                  <a:pt x="1384" y="514"/>
                  <a:pt x="1385" y="518"/>
                  <a:pt x="1383" y="518"/>
                </a:cubicBezTo>
                <a:cubicBezTo>
                  <a:pt x="1380" y="515"/>
                  <a:pt x="1376" y="512"/>
                  <a:pt x="1371" y="510"/>
                </a:cubicBezTo>
                <a:cubicBezTo>
                  <a:pt x="1364" y="518"/>
                  <a:pt x="1358" y="513"/>
                  <a:pt x="1350" y="517"/>
                </a:cubicBezTo>
                <a:cubicBezTo>
                  <a:pt x="1323" y="502"/>
                  <a:pt x="1387" y="508"/>
                  <a:pt x="1395" y="501"/>
                </a:cubicBezTo>
                <a:cubicBezTo>
                  <a:pt x="1401" y="501"/>
                  <a:pt x="1400" y="507"/>
                  <a:pt x="1404" y="509"/>
                </a:cubicBezTo>
                <a:cubicBezTo>
                  <a:pt x="1411" y="507"/>
                  <a:pt x="1415" y="501"/>
                  <a:pt x="1425" y="501"/>
                </a:cubicBezTo>
                <a:cubicBezTo>
                  <a:pt x="1421" y="499"/>
                  <a:pt x="1414" y="498"/>
                  <a:pt x="1406" y="497"/>
                </a:cubicBezTo>
                <a:cubicBezTo>
                  <a:pt x="1414" y="495"/>
                  <a:pt x="1426" y="491"/>
                  <a:pt x="1431" y="490"/>
                </a:cubicBezTo>
                <a:cubicBezTo>
                  <a:pt x="1431" y="486"/>
                  <a:pt x="1434" y="485"/>
                  <a:pt x="1432" y="481"/>
                </a:cubicBezTo>
                <a:cubicBezTo>
                  <a:pt x="1440" y="480"/>
                  <a:pt x="1444" y="479"/>
                  <a:pt x="1446" y="475"/>
                </a:cubicBezTo>
                <a:cubicBezTo>
                  <a:pt x="1447" y="477"/>
                  <a:pt x="1449" y="490"/>
                  <a:pt x="1442" y="492"/>
                </a:cubicBezTo>
                <a:cubicBezTo>
                  <a:pt x="1443" y="494"/>
                  <a:pt x="1444" y="495"/>
                  <a:pt x="1447" y="495"/>
                </a:cubicBezTo>
                <a:cubicBezTo>
                  <a:pt x="1446" y="498"/>
                  <a:pt x="1441" y="495"/>
                  <a:pt x="1441" y="499"/>
                </a:cubicBezTo>
                <a:cubicBezTo>
                  <a:pt x="1442" y="506"/>
                  <a:pt x="1444" y="497"/>
                  <a:pt x="1447" y="498"/>
                </a:cubicBezTo>
                <a:cubicBezTo>
                  <a:pt x="1446" y="502"/>
                  <a:pt x="1443" y="505"/>
                  <a:pt x="1445" y="511"/>
                </a:cubicBezTo>
                <a:cubicBezTo>
                  <a:pt x="1449" y="513"/>
                  <a:pt x="1452" y="515"/>
                  <a:pt x="1457" y="516"/>
                </a:cubicBezTo>
                <a:cubicBezTo>
                  <a:pt x="1456" y="512"/>
                  <a:pt x="1456" y="512"/>
                  <a:pt x="1457" y="508"/>
                </a:cubicBezTo>
                <a:cubicBezTo>
                  <a:pt x="1464" y="507"/>
                  <a:pt x="1470" y="509"/>
                  <a:pt x="1474" y="507"/>
                </a:cubicBezTo>
                <a:cubicBezTo>
                  <a:pt x="1474" y="503"/>
                  <a:pt x="1468" y="505"/>
                  <a:pt x="1465" y="505"/>
                </a:cubicBezTo>
                <a:cubicBezTo>
                  <a:pt x="1466" y="500"/>
                  <a:pt x="1474" y="501"/>
                  <a:pt x="1463" y="501"/>
                </a:cubicBezTo>
                <a:cubicBezTo>
                  <a:pt x="1466" y="498"/>
                  <a:pt x="1464" y="489"/>
                  <a:pt x="1461" y="487"/>
                </a:cubicBezTo>
                <a:cubicBezTo>
                  <a:pt x="1461" y="482"/>
                  <a:pt x="1470" y="484"/>
                  <a:pt x="1466" y="478"/>
                </a:cubicBezTo>
                <a:cubicBezTo>
                  <a:pt x="1474" y="477"/>
                  <a:pt x="1474" y="477"/>
                  <a:pt x="1474" y="477"/>
                </a:cubicBezTo>
                <a:cubicBezTo>
                  <a:pt x="1470" y="473"/>
                  <a:pt x="1472" y="472"/>
                  <a:pt x="1479" y="472"/>
                </a:cubicBezTo>
                <a:cubicBezTo>
                  <a:pt x="1474" y="468"/>
                  <a:pt x="1464" y="471"/>
                  <a:pt x="1456" y="465"/>
                </a:cubicBezTo>
                <a:cubicBezTo>
                  <a:pt x="1458" y="459"/>
                  <a:pt x="1465" y="458"/>
                  <a:pt x="1473" y="459"/>
                </a:cubicBezTo>
                <a:cubicBezTo>
                  <a:pt x="1474" y="453"/>
                  <a:pt x="1468" y="455"/>
                  <a:pt x="1464" y="455"/>
                </a:cubicBezTo>
                <a:cubicBezTo>
                  <a:pt x="1452" y="449"/>
                  <a:pt x="1442" y="447"/>
                  <a:pt x="1429" y="440"/>
                </a:cubicBezTo>
                <a:cubicBezTo>
                  <a:pt x="1422" y="443"/>
                  <a:pt x="1417" y="445"/>
                  <a:pt x="1411" y="452"/>
                </a:cubicBezTo>
                <a:cubicBezTo>
                  <a:pt x="1405" y="451"/>
                  <a:pt x="1403" y="446"/>
                  <a:pt x="1398" y="443"/>
                </a:cubicBezTo>
                <a:cubicBezTo>
                  <a:pt x="1395" y="443"/>
                  <a:pt x="1394" y="445"/>
                  <a:pt x="1392" y="446"/>
                </a:cubicBezTo>
                <a:cubicBezTo>
                  <a:pt x="1393" y="453"/>
                  <a:pt x="1389" y="456"/>
                  <a:pt x="1394" y="459"/>
                </a:cubicBezTo>
                <a:cubicBezTo>
                  <a:pt x="1385" y="461"/>
                  <a:pt x="1380" y="449"/>
                  <a:pt x="1375" y="443"/>
                </a:cubicBezTo>
                <a:cubicBezTo>
                  <a:pt x="1355" y="440"/>
                  <a:pt x="1336" y="448"/>
                  <a:pt x="1319" y="455"/>
                </a:cubicBezTo>
                <a:cubicBezTo>
                  <a:pt x="1314" y="454"/>
                  <a:pt x="1311" y="452"/>
                  <a:pt x="1312" y="445"/>
                </a:cubicBezTo>
                <a:cubicBezTo>
                  <a:pt x="1303" y="441"/>
                  <a:pt x="1280" y="436"/>
                  <a:pt x="1275" y="448"/>
                </a:cubicBezTo>
                <a:cubicBezTo>
                  <a:pt x="1274" y="454"/>
                  <a:pt x="1279" y="452"/>
                  <a:pt x="1278" y="456"/>
                </a:cubicBezTo>
                <a:cubicBezTo>
                  <a:pt x="1269" y="463"/>
                  <a:pt x="1261" y="454"/>
                  <a:pt x="1247" y="458"/>
                </a:cubicBezTo>
                <a:cubicBezTo>
                  <a:pt x="1243" y="457"/>
                  <a:pt x="1246" y="456"/>
                  <a:pt x="1246" y="452"/>
                </a:cubicBezTo>
                <a:cubicBezTo>
                  <a:pt x="1238" y="452"/>
                  <a:pt x="1232" y="456"/>
                  <a:pt x="1226" y="460"/>
                </a:cubicBezTo>
                <a:cubicBezTo>
                  <a:pt x="1216" y="456"/>
                  <a:pt x="1212" y="458"/>
                  <a:pt x="1207" y="462"/>
                </a:cubicBezTo>
                <a:cubicBezTo>
                  <a:pt x="1210" y="457"/>
                  <a:pt x="1214" y="453"/>
                  <a:pt x="1217" y="448"/>
                </a:cubicBezTo>
                <a:cubicBezTo>
                  <a:pt x="1216" y="436"/>
                  <a:pt x="1201" y="440"/>
                  <a:pt x="1197" y="430"/>
                </a:cubicBezTo>
                <a:cubicBezTo>
                  <a:pt x="1185" y="434"/>
                  <a:pt x="1171" y="441"/>
                  <a:pt x="1158" y="447"/>
                </a:cubicBezTo>
                <a:cubicBezTo>
                  <a:pt x="1157" y="452"/>
                  <a:pt x="1161" y="452"/>
                  <a:pt x="1161" y="458"/>
                </a:cubicBezTo>
                <a:cubicBezTo>
                  <a:pt x="1168" y="456"/>
                  <a:pt x="1167" y="462"/>
                  <a:pt x="1172" y="464"/>
                </a:cubicBezTo>
                <a:cubicBezTo>
                  <a:pt x="1172" y="467"/>
                  <a:pt x="1169" y="467"/>
                  <a:pt x="1168" y="469"/>
                </a:cubicBezTo>
                <a:cubicBezTo>
                  <a:pt x="1164" y="467"/>
                  <a:pt x="1167" y="466"/>
                  <a:pt x="1165" y="461"/>
                </a:cubicBezTo>
                <a:cubicBezTo>
                  <a:pt x="1147" y="460"/>
                  <a:pt x="1131" y="459"/>
                  <a:pt x="1122" y="443"/>
                </a:cubicBezTo>
                <a:cubicBezTo>
                  <a:pt x="1122" y="440"/>
                  <a:pt x="1127" y="442"/>
                  <a:pt x="1129" y="441"/>
                </a:cubicBezTo>
                <a:cubicBezTo>
                  <a:pt x="1125" y="439"/>
                  <a:pt x="1120" y="438"/>
                  <a:pt x="1119" y="432"/>
                </a:cubicBezTo>
                <a:cubicBezTo>
                  <a:pt x="1120" y="427"/>
                  <a:pt x="1128" y="428"/>
                  <a:pt x="1129" y="424"/>
                </a:cubicBezTo>
                <a:cubicBezTo>
                  <a:pt x="1129" y="418"/>
                  <a:pt x="1123" y="420"/>
                  <a:pt x="1120" y="417"/>
                </a:cubicBezTo>
                <a:cubicBezTo>
                  <a:pt x="1128" y="395"/>
                  <a:pt x="1104" y="397"/>
                  <a:pt x="1094" y="394"/>
                </a:cubicBezTo>
                <a:cubicBezTo>
                  <a:pt x="1099" y="387"/>
                  <a:pt x="1108" y="391"/>
                  <a:pt x="1116" y="387"/>
                </a:cubicBezTo>
                <a:cubicBezTo>
                  <a:pt x="1118" y="391"/>
                  <a:pt x="1121" y="397"/>
                  <a:pt x="1127" y="398"/>
                </a:cubicBezTo>
                <a:cubicBezTo>
                  <a:pt x="1135" y="423"/>
                  <a:pt x="1168" y="429"/>
                  <a:pt x="1190" y="413"/>
                </a:cubicBezTo>
                <a:cubicBezTo>
                  <a:pt x="1195" y="404"/>
                  <a:pt x="1194" y="389"/>
                  <a:pt x="1208" y="388"/>
                </a:cubicBezTo>
                <a:cubicBezTo>
                  <a:pt x="1210" y="388"/>
                  <a:pt x="1206" y="394"/>
                  <a:pt x="1208" y="397"/>
                </a:cubicBezTo>
                <a:cubicBezTo>
                  <a:pt x="1218" y="398"/>
                  <a:pt x="1216" y="388"/>
                  <a:pt x="1225" y="392"/>
                </a:cubicBezTo>
                <a:cubicBezTo>
                  <a:pt x="1225" y="391"/>
                  <a:pt x="1224" y="391"/>
                  <a:pt x="1223" y="391"/>
                </a:cubicBezTo>
                <a:cubicBezTo>
                  <a:pt x="1221" y="391"/>
                  <a:pt x="1223" y="389"/>
                  <a:pt x="1223" y="387"/>
                </a:cubicBezTo>
                <a:cubicBezTo>
                  <a:pt x="1219" y="386"/>
                  <a:pt x="1216" y="386"/>
                  <a:pt x="1213" y="385"/>
                </a:cubicBezTo>
                <a:cubicBezTo>
                  <a:pt x="1217" y="381"/>
                  <a:pt x="1221" y="381"/>
                  <a:pt x="1228" y="383"/>
                </a:cubicBezTo>
                <a:cubicBezTo>
                  <a:pt x="1229" y="380"/>
                  <a:pt x="1230" y="377"/>
                  <a:pt x="1233" y="376"/>
                </a:cubicBezTo>
                <a:cubicBezTo>
                  <a:pt x="1240" y="377"/>
                  <a:pt x="1230" y="381"/>
                  <a:pt x="1230" y="383"/>
                </a:cubicBezTo>
                <a:cubicBezTo>
                  <a:pt x="1231" y="384"/>
                  <a:pt x="1235" y="387"/>
                  <a:pt x="1235" y="387"/>
                </a:cubicBezTo>
                <a:cubicBezTo>
                  <a:pt x="1232" y="395"/>
                  <a:pt x="1221" y="394"/>
                  <a:pt x="1223" y="405"/>
                </a:cubicBezTo>
                <a:cubicBezTo>
                  <a:pt x="1216" y="406"/>
                  <a:pt x="1201" y="405"/>
                  <a:pt x="1199" y="415"/>
                </a:cubicBezTo>
                <a:cubicBezTo>
                  <a:pt x="1201" y="420"/>
                  <a:pt x="1207" y="421"/>
                  <a:pt x="1209" y="424"/>
                </a:cubicBezTo>
                <a:cubicBezTo>
                  <a:pt x="1200" y="436"/>
                  <a:pt x="1235" y="441"/>
                  <a:pt x="1242" y="431"/>
                </a:cubicBezTo>
                <a:cubicBezTo>
                  <a:pt x="1240" y="426"/>
                  <a:pt x="1244" y="418"/>
                  <a:pt x="1252" y="418"/>
                </a:cubicBezTo>
                <a:cubicBezTo>
                  <a:pt x="1244" y="416"/>
                  <a:pt x="1237" y="413"/>
                  <a:pt x="1234" y="406"/>
                </a:cubicBezTo>
                <a:cubicBezTo>
                  <a:pt x="1235" y="401"/>
                  <a:pt x="1240" y="406"/>
                  <a:pt x="1243" y="402"/>
                </a:cubicBezTo>
                <a:cubicBezTo>
                  <a:pt x="1245" y="396"/>
                  <a:pt x="1248" y="390"/>
                  <a:pt x="1255" y="388"/>
                </a:cubicBezTo>
                <a:cubicBezTo>
                  <a:pt x="1254" y="382"/>
                  <a:pt x="1250" y="379"/>
                  <a:pt x="1248" y="374"/>
                </a:cubicBezTo>
                <a:cubicBezTo>
                  <a:pt x="1248" y="373"/>
                  <a:pt x="1249" y="372"/>
                  <a:pt x="1249" y="371"/>
                </a:cubicBezTo>
                <a:cubicBezTo>
                  <a:pt x="1256" y="370"/>
                  <a:pt x="1256" y="377"/>
                  <a:pt x="1261" y="377"/>
                </a:cubicBezTo>
                <a:cubicBezTo>
                  <a:pt x="1261" y="382"/>
                  <a:pt x="1259" y="383"/>
                  <a:pt x="1259" y="388"/>
                </a:cubicBezTo>
                <a:cubicBezTo>
                  <a:pt x="1266" y="393"/>
                  <a:pt x="1271" y="391"/>
                  <a:pt x="1279" y="389"/>
                </a:cubicBezTo>
                <a:cubicBezTo>
                  <a:pt x="1277" y="384"/>
                  <a:pt x="1270" y="381"/>
                  <a:pt x="1273" y="374"/>
                </a:cubicBezTo>
                <a:cubicBezTo>
                  <a:pt x="1269" y="372"/>
                  <a:pt x="1261" y="369"/>
                  <a:pt x="1265" y="362"/>
                </a:cubicBezTo>
                <a:cubicBezTo>
                  <a:pt x="1275" y="379"/>
                  <a:pt x="1303" y="377"/>
                  <a:pt x="1324" y="381"/>
                </a:cubicBezTo>
                <a:cubicBezTo>
                  <a:pt x="1316" y="389"/>
                  <a:pt x="1340" y="384"/>
                  <a:pt x="1343" y="383"/>
                </a:cubicBezTo>
                <a:cubicBezTo>
                  <a:pt x="1342" y="381"/>
                  <a:pt x="1341" y="379"/>
                  <a:pt x="1337" y="379"/>
                </a:cubicBezTo>
                <a:cubicBezTo>
                  <a:pt x="1337" y="375"/>
                  <a:pt x="1340" y="374"/>
                  <a:pt x="1342" y="372"/>
                </a:cubicBezTo>
                <a:cubicBezTo>
                  <a:pt x="1346" y="376"/>
                  <a:pt x="1345" y="384"/>
                  <a:pt x="1349" y="391"/>
                </a:cubicBezTo>
                <a:cubicBezTo>
                  <a:pt x="1356" y="387"/>
                  <a:pt x="1359" y="392"/>
                  <a:pt x="1366" y="393"/>
                </a:cubicBezTo>
                <a:cubicBezTo>
                  <a:pt x="1367" y="401"/>
                  <a:pt x="1367" y="401"/>
                  <a:pt x="1367" y="401"/>
                </a:cubicBezTo>
                <a:cubicBezTo>
                  <a:pt x="1372" y="403"/>
                  <a:pt x="1377" y="408"/>
                  <a:pt x="1384" y="404"/>
                </a:cubicBezTo>
                <a:cubicBezTo>
                  <a:pt x="1389" y="408"/>
                  <a:pt x="1386" y="412"/>
                  <a:pt x="1386" y="418"/>
                </a:cubicBezTo>
                <a:cubicBezTo>
                  <a:pt x="1381" y="417"/>
                  <a:pt x="1380" y="420"/>
                  <a:pt x="1376" y="420"/>
                </a:cubicBezTo>
                <a:cubicBezTo>
                  <a:pt x="1376" y="418"/>
                  <a:pt x="1379" y="418"/>
                  <a:pt x="1378" y="415"/>
                </a:cubicBezTo>
                <a:cubicBezTo>
                  <a:pt x="1375" y="416"/>
                  <a:pt x="1376" y="413"/>
                  <a:pt x="1374" y="413"/>
                </a:cubicBezTo>
                <a:cubicBezTo>
                  <a:pt x="1368" y="412"/>
                  <a:pt x="1369" y="418"/>
                  <a:pt x="1366" y="420"/>
                </a:cubicBezTo>
                <a:cubicBezTo>
                  <a:pt x="1358" y="420"/>
                  <a:pt x="1355" y="419"/>
                  <a:pt x="1351" y="413"/>
                </a:cubicBezTo>
                <a:cubicBezTo>
                  <a:pt x="1353" y="408"/>
                  <a:pt x="1357" y="400"/>
                  <a:pt x="1353" y="394"/>
                </a:cubicBezTo>
                <a:cubicBezTo>
                  <a:pt x="1348" y="392"/>
                  <a:pt x="1320" y="398"/>
                  <a:pt x="1316" y="387"/>
                </a:cubicBezTo>
                <a:cubicBezTo>
                  <a:pt x="1308" y="391"/>
                  <a:pt x="1305" y="393"/>
                  <a:pt x="1295" y="393"/>
                </a:cubicBezTo>
                <a:cubicBezTo>
                  <a:pt x="1294" y="401"/>
                  <a:pt x="1300" y="401"/>
                  <a:pt x="1301" y="408"/>
                </a:cubicBezTo>
                <a:cubicBezTo>
                  <a:pt x="1319" y="415"/>
                  <a:pt x="1309" y="439"/>
                  <a:pt x="1334" y="438"/>
                </a:cubicBezTo>
                <a:cubicBezTo>
                  <a:pt x="1339" y="437"/>
                  <a:pt x="1344" y="433"/>
                  <a:pt x="1350" y="433"/>
                </a:cubicBezTo>
                <a:cubicBezTo>
                  <a:pt x="1357" y="432"/>
                  <a:pt x="1363" y="436"/>
                  <a:pt x="1371" y="436"/>
                </a:cubicBezTo>
                <a:cubicBezTo>
                  <a:pt x="1412" y="438"/>
                  <a:pt x="1450" y="430"/>
                  <a:pt x="1487" y="435"/>
                </a:cubicBezTo>
                <a:cubicBezTo>
                  <a:pt x="1487" y="433"/>
                  <a:pt x="1485" y="432"/>
                  <a:pt x="1483" y="432"/>
                </a:cubicBezTo>
                <a:cubicBezTo>
                  <a:pt x="1501" y="425"/>
                  <a:pt x="1513" y="429"/>
                  <a:pt x="1531" y="426"/>
                </a:cubicBezTo>
                <a:cubicBezTo>
                  <a:pt x="1514" y="424"/>
                  <a:pt x="1494" y="423"/>
                  <a:pt x="1472" y="432"/>
                </a:cubicBezTo>
                <a:cubicBezTo>
                  <a:pt x="1467" y="433"/>
                  <a:pt x="1467" y="428"/>
                  <a:pt x="1461" y="429"/>
                </a:cubicBezTo>
                <a:cubicBezTo>
                  <a:pt x="1461" y="425"/>
                  <a:pt x="1461" y="425"/>
                  <a:pt x="1461" y="425"/>
                </a:cubicBezTo>
                <a:cubicBezTo>
                  <a:pt x="1464" y="423"/>
                  <a:pt x="1469" y="423"/>
                  <a:pt x="1473" y="422"/>
                </a:cubicBezTo>
                <a:cubicBezTo>
                  <a:pt x="1460" y="418"/>
                  <a:pt x="1443" y="418"/>
                  <a:pt x="1435" y="409"/>
                </a:cubicBezTo>
                <a:cubicBezTo>
                  <a:pt x="1439" y="399"/>
                  <a:pt x="1446" y="393"/>
                  <a:pt x="1461" y="393"/>
                </a:cubicBezTo>
                <a:cubicBezTo>
                  <a:pt x="1455" y="391"/>
                  <a:pt x="1459" y="386"/>
                  <a:pt x="1455" y="385"/>
                </a:cubicBezTo>
                <a:cubicBezTo>
                  <a:pt x="1452" y="384"/>
                  <a:pt x="1453" y="387"/>
                  <a:pt x="1453" y="389"/>
                </a:cubicBezTo>
                <a:cubicBezTo>
                  <a:pt x="1447" y="391"/>
                  <a:pt x="1444" y="384"/>
                  <a:pt x="1440" y="387"/>
                </a:cubicBezTo>
                <a:cubicBezTo>
                  <a:pt x="1440" y="383"/>
                  <a:pt x="1444" y="383"/>
                  <a:pt x="1448" y="383"/>
                </a:cubicBezTo>
                <a:cubicBezTo>
                  <a:pt x="1443" y="381"/>
                  <a:pt x="1433" y="377"/>
                  <a:pt x="1427" y="381"/>
                </a:cubicBezTo>
                <a:cubicBezTo>
                  <a:pt x="1422" y="380"/>
                  <a:pt x="1421" y="375"/>
                  <a:pt x="1417" y="374"/>
                </a:cubicBezTo>
                <a:cubicBezTo>
                  <a:pt x="1418" y="373"/>
                  <a:pt x="1420" y="372"/>
                  <a:pt x="1422" y="370"/>
                </a:cubicBezTo>
                <a:cubicBezTo>
                  <a:pt x="1426" y="372"/>
                  <a:pt x="1428" y="375"/>
                  <a:pt x="1432" y="376"/>
                </a:cubicBezTo>
                <a:cubicBezTo>
                  <a:pt x="1438" y="376"/>
                  <a:pt x="1437" y="369"/>
                  <a:pt x="1445" y="370"/>
                </a:cubicBezTo>
                <a:cubicBezTo>
                  <a:pt x="1442" y="368"/>
                  <a:pt x="1444" y="366"/>
                  <a:pt x="1445" y="362"/>
                </a:cubicBezTo>
                <a:cubicBezTo>
                  <a:pt x="1433" y="365"/>
                  <a:pt x="1424" y="352"/>
                  <a:pt x="1419" y="362"/>
                </a:cubicBezTo>
                <a:cubicBezTo>
                  <a:pt x="1415" y="362"/>
                  <a:pt x="1413" y="358"/>
                  <a:pt x="1409" y="357"/>
                </a:cubicBezTo>
                <a:cubicBezTo>
                  <a:pt x="1412" y="351"/>
                  <a:pt x="1421" y="356"/>
                  <a:pt x="1427" y="355"/>
                </a:cubicBezTo>
                <a:cubicBezTo>
                  <a:pt x="1428" y="349"/>
                  <a:pt x="1421" y="351"/>
                  <a:pt x="1422" y="344"/>
                </a:cubicBezTo>
                <a:cubicBezTo>
                  <a:pt x="1413" y="349"/>
                  <a:pt x="1408" y="342"/>
                  <a:pt x="1403" y="339"/>
                </a:cubicBezTo>
                <a:cubicBezTo>
                  <a:pt x="1401" y="342"/>
                  <a:pt x="1393" y="343"/>
                  <a:pt x="1397" y="350"/>
                </a:cubicBezTo>
                <a:cubicBezTo>
                  <a:pt x="1384" y="350"/>
                  <a:pt x="1376" y="357"/>
                  <a:pt x="1362" y="350"/>
                </a:cubicBezTo>
                <a:cubicBezTo>
                  <a:pt x="1364" y="348"/>
                  <a:pt x="1366" y="343"/>
                  <a:pt x="1360" y="343"/>
                </a:cubicBezTo>
                <a:cubicBezTo>
                  <a:pt x="1359" y="348"/>
                  <a:pt x="1365" y="345"/>
                  <a:pt x="1362" y="348"/>
                </a:cubicBezTo>
                <a:cubicBezTo>
                  <a:pt x="1357" y="344"/>
                  <a:pt x="1349" y="347"/>
                  <a:pt x="1345" y="351"/>
                </a:cubicBezTo>
                <a:cubicBezTo>
                  <a:pt x="1343" y="349"/>
                  <a:pt x="1343" y="347"/>
                  <a:pt x="1341" y="345"/>
                </a:cubicBezTo>
                <a:cubicBezTo>
                  <a:pt x="1337" y="345"/>
                  <a:pt x="1340" y="350"/>
                  <a:pt x="1337" y="351"/>
                </a:cubicBezTo>
                <a:cubicBezTo>
                  <a:pt x="1332" y="347"/>
                  <a:pt x="1330" y="348"/>
                  <a:pt x="1322" y="348"/>
                </a:cubicBezTo>
                <a:cubicBezTo>
                  <a:pt x="1312" y="340"/>
                  <a:pt x="1320" y="327"/>
                  <a:pt x="1322" y="316"/>
                </a:cubicBezTo>
                <a:cubicBezTo>
                  <a:pt x="1346" y="311"/>
                  <a:pt x="1356" y="322"/>
                  <a:pt x="1382" y="315"/>
                </a:cubicBezTo>
                <a:cubicBezTo>
                  <a:pt x="1381" y="320"/>
                  <a:pt x="1376" y="319"/>
                  <a:pt x="1379" y="325"/>
                </a:cubicBezTo>
                <a:cubicBezTo>
                  <a:pt x="1365" y="320"/>
                  <a:pt x="1356" y="320"/>
                  <a:pt x="1339" y="322"/>
                </a:cubicBezTo>
                <a:cubicBezTo>
                  <a:pt x="1340" y="326"/>
                  <a:pt x="1345" y="326"/>
                  <a:pt x="1347" y="329"/>
                </a:cubicBezTo>
                <a:cubicBezTo>
                  <a:pt x="1351" y="329"/>
                  <a:pt x="1351" y="324"/>
                  <a:pt x="1356" y="326"/>
                </a:cubicBezTo>
                <a:cubicBezTo>
                  <a:pt x="1362" y="331"/>
                  <a:pt x="1352" y="335"/>
                  <a:pt x="1360" y="342"/>
                </a:cubicBezTo>
                <a:cubicBezTo>
                  <a:pt x="1362" y="341"/>
                  <a:pt x="1368" y="336"/>
                  <a:pt x="1371" y="340"/>
                </a:cubicBezTo>
                <a:cubicBezTo>
                  <a:pt x="1372" y="346"/>
                  <a:pt x="1367" y="338"/>
                  <a:pt x="1367" y="343"/>
                </a:cubicBezTo>
                <a:cubicBezTo>
                  <a:pt x="1368" y="349"/>
                  <a:pt x="1377" y="342"/>
                  <a:pt x="1382" y="342"/>
                </a:cubicBezTo>
                <a:cubicBezTo>
                  <a:pt x="1381" y="338"/>
                  <a:pt x="1377" y="339"/>
                  <a:pt x="1373" y="338"/>
                </a:cubicBezTo>
                <a:cubicBezTo>
                  <a:pt x="1376" y="336"/>
                  <a:pt x="1380" y="334"/>
                  <a:pt x="1385" y="334"/>
                </a:cubicBezTo>
                <a:cubicBezTo>
                  <a:pt x="1388" y="336"/>
                  <a:pt x="1382" y="337"/>
                  <a:pt x="1386" y="341"/>
                </a:cubicBezTo>
                <a:cubicBezTo>
                  <a:pt x="1400" y="343"/>
                  <a:pt x="1409" y="330"/>
                  <a:pt x="1414" y="319"/>
                </a:cubicBezTo>
                <a:cubicBezTo>
                  <a:pt x="1427" y="320"/>
                  <a:pt x="1432" y="314"/>
                  <a:pt x="1441" y="318"/>
                </a:cubicBezTo>
                <a:cubicBezTo>
                  <a:pt x="1437" y="310"/>
                  <a:pt x="1430" y="306"/>
                  <a:pt x="1420" y="301"/>
                </a:cubicBezTo>
                <a:cubicBezTo>
                  <a:pt x="1421" y="297"/>
                  <a:pt x="1423" y="294"/>
                  <a:pt x="1425" y="290"/>
                </a:cubicBezTo>
                <a:cubicBezTo>
                  <a:pt x="1436" y="290"/>
                  <a:pt x="1436" y="290"/>
                  <a:pt x="1436" y="290"/>
                </a:cubicBezTo>
                <a:cubicBezTo>
                  <a:pt x="1433" y="282"/>
                  <a:pt x="1426" y="284"/>
                  <a:pt x="1422" y="279"/>
                </a:cubicBezTo>
                <a:cubicBezTo>
                  <a:pt x="1419" y="283"/>
                  <a:pt x="1418" y="284"/>
                  <a:pt x="1420" y="289"/>
                </a:cubicBezTo>
                <a:cubicBezTo>
                  <a:pt x="1405" y="285"/>
                  <a:pt x="1419" y="278"/>
                  <a:pt x="1401" y="271"/>
                </a:cubicBezTo>
                <a:cubicBezTo>
                  <a:pt x="1401" y="268"/>
                  <a:pt x="1402" y="266"/>
                  <a:pt x="1404" y="265"/>
                </a:cubicBezTo>
                <a:cubicBezTo>
                  <a:pt x="1400" y="263"/>
                  <a:pt x="1395" y="262"/>
                  <a:pt x="1393" y="259"/>
                </a:cubicBezTo>
                <a:cubicBezTo>
                  <a:pt x="1395" y="265"/>
                  <a:pt x="1392" y="273"/>
                  <a:pt x="1399" y="278"/>
                </a:cubicBezTo>
                <a:cubicBezTo>
                  <a:pt x="1397" y="283"/>
                  <a:pt x="1395" y="288"/>
                  <a:pt x="1393" y="293"/>
                </a:cubicBezTo>
                <a:cubicBezTo>
                  <a:pt x="1386" y="290"/>
                  <a:pt x="1385" y="281"/>
                  <a:pt x="1372" y="284"/>
                </a:cubicBezTo>
                <a:cubicBezTo>
                  <a:pt x="1378" y="292"/>
                  <a:pt x="1394" y="288"/>
                  <a:pt x="1393" y="302"/>
                </a:cubicBezTo>
                <a:cubicBezTo>
                  <a:pt x="1399" y="305"/>
                  <a:pt x="1407" y="304"/>
                  <a:pt x="1407" y="296"/>
                </a:cubicBezTo>
                <a:cubicBezTo>
                  <a:pt x="1412" y="296"/>
                  <a:pt x="1410" y="304"/>
                  <a:pt x="1415" y="304"/>
                </a:cubicBezTo>
                <a:cubicBezTo>
                  <a:pt x="1410" y="309"/>
                  <a:pt x="1403" y="304"/>
                  <a:pt x="1400" y="310"/>
                </a:cubicBezTo>
                <a:cubicBezTo>
                  <a:pt x="1391" y="306"/>
                  <a:pt x="1382" y="308"/>
                  <a:pt x="1370" y="305"/>
                </a:cubicBezTo>
                <a:cubicBezTo>
                  <a:pt x="1369" y="299"/>
                  <a:pt x="1372" y="297"/>
                  <a:pt x="1373" y="293"/>
                </a:cubicBezTo>
                <a:cubicBezTo>
                  <a:pt x="1363" y="289"/>
                  <a:pt x="1363" y="279"/>
                  <a:pt x="1362" y="273"/>
                </a:cubicBezTo>
                <a:cubicBezTo>
                  <a:pt x="1365" y="269"/>
                  <a:pt x="1373" y="271"/>
                  <a:pt x="1373" y="264"/>
                </a:cubicBezTo>
                <a:cubicBezTo>
                  <a:pt x="1366" y="264"/>
                  <a:pt x="1364" y="259"/>
                  <a:pt x="1361" y="255"/>
                </a:cubicBezTo>
                <a:cubicBezTo>
                  <a:pt x="1358" y="259"/>
                  <a:pt x="1355" y="254"/>
                  <a:pt x="1349" y="256"/>
                </a:cubicBezTo>
                <a:cubicBezTo>
                  <a:pt x="1348" y="268"/>
                  <a:pt x="1331" y="281"/>
                  <a:pt x="1323" y="280"/>
                </a:cubicBezTo>
                <a:cubicBezTo>
                  <a:pt x="1318" y="285"/>
                  <a:pt x="1316" y="295"/>
                  <a:pt x="1309" y="299"/>
                </a:cubicBezTo>
                <a:cubicBezTo>
                  <a:pt x="1311" y="301"/>
                  <a:pt x="1312" y="305"/>
                  <a:pt x="1314" y="307"/>
                </a:cubicBezTo>
                <a:cubicBezTo>
                  <a:pt x="1307" y="311"/>
                  <a:pt x="1297" y="311"/>
                  <a:pt x="1287" y="311"/>
                </a:cubicBezTo>
                <a:cubicBezTo>
                  <a:pt x="1289" y="318"/>
                  <a:pt x="1277" y="327"/>
                  <a:pt x="1270" y="326"/>
                </a:cubicBezTo>
                <a:cubicBezTo>
                  <a:pt x="1268" y="332"/>
                  <a:pt x="1261" y="332"/>
                  <a:pt x="1262" y="341"/>
                </a:cubicBezTo>
                <a:cubicBezTo>
                  <a:pt x="1262" y="342"/>
                  <a:pt x="1255" y="340"/>
                  <a:pt x="1250" y="341"/>
                </a:cubicBezTo>
                <a:cubicBezTo>
                  <a:pt x="1250" y="346"/>
                  <a:pt x="1245" y="346"/>
                  <a:pt x="1245" y="351"/>
                </a:cubicBezTo>
                <a:cubicBezTo>
                  <a:pt x="1250" y="352"/>
                  <a:pt x="1252" y="356"/>
                  <a:pt x="1256" y="357"/>
                </a:cubicBezTo>
                <a:cubicBezTo>
                  <a:pt x="1247" y="366"/>
                  <a:pt x="1235" y="354"/>
                  <a:pt x="1230" y="364"/>
                </a:cubicBezTo>
                <a:cubicBezTo>
                  <a:pt x="1222" y="358"/>
                  <a:pt x="1217" y="363"/>
                  <a:pt x="1208" y="363"/>
                </a:cubicBezTo>
                <a:cubicBezTo>
                  <a:pt x="1210" y="365"/>
                  <a:pt x="1215" y="367"/>
                  <a:pt x="1217" y="364"/>
                </a:cubicBezTo>
                <a:cubicBezTo>
                  <a:pt x="1214" y="375"/>
                  <a:pt x="1201" y="374"/>
                  <a:pt x="1202" y="385"/>
                </a:cubicBezTo>
                <a:cubicBezTo>
                  <a:pt x="1191" y="382"/>
                  <a:pt x="1186" y="375"/>
                  <a:pt x="1190" y="363"/>
                </a:cubicBezTo>
                <a:cubicBezTo>
                  <a:pt x="1183" y="365"/>
                  <a:pt x="1186" y="356"/>
                  <a:pt x="1179" y="358"/>
                </a:cubicBezTo>
                <a:cubicBezTo>
                  <a:pt x="1180" y="362"/>
                  <a:pt x="1184" y="362"/>
                  <a:pt x="1180" y="365"/>
                </a:cubicBezTo>
                <a:cubicBezTo>
                  <a:pt x="1177" y="363"/>
                  <a:pt x="1178" y="361"/>
                  <a:pt x="1176" y="357"/>
                </a:cubicBezTo>
                <a:cubicBezTo>
                  <a:pt x="1170" y="358"/>
                  <a:pt x="1165" y="357"/>
                  <a:pt x="1162" y="355"/>
                </a:cubicBezTo>
                <a:cubicBezTo>
                  <a:pt x="1163" y="363"/>
                  <a:pt x="1153" y="361"/>
                  <a:pt x="1150" y="365"/>
                </a:cubicBezTo>
                <a:cubicBezTo>
                  <a:pt x="1146" y="361"/>
                  <a:pt x="1146" y="356"/>
                  <a:pt x="1145" y="353"/>
                </a:cubicBezTo>
                <a:cubicBezTo>
                  <a:pt x="1138" y="355"/>
                  <a:pt x="1129" y="354"/>
                  <a:pt x="1130" y="348"/>
                </a:cubicBezTo>
                <a:cubicBezTo>
                  <a:pt x="1128" y="348"/>
                  <a:pt x="1127" y="350"/>
                  <a:pt x="1125" y="350"/>
                </a:cubicBezTo>
                <a:cubicBezTo>
                  <a:pt x="1123" y="354"/>
                  <a:pt x="1125" y="353"/>
                  <a:pt x="1125" y="358"/>
                </a:cubicBezTo>
                <a:cubicBezTo>
                  <a:pt x="1123" y="358"/>
                  <a:pt x="1122" y="357"/>
                  <a:pt x="1121" y="355"/>
                </a:cubicBezTo>
                <a:cubicBezTo>
                  <a:pt x="1117" y="357"/>
                  <a:pt x="1122" y="361"/>
                  <a:pt x="1125" y="359"/>
                </a:cubicBezTo>
                <a:cubicBezTo>
                  <a:pt x="1125" y="362"/>
                  <a:pt x="1125" y="366"/>
                  <a:pt x="1127" y="367"/>
                </a:cubicBezTo>
                <a:cubicBezTo>
                  <a:pt x="1120" y="368"/>
                  <a:pt x="1119" y="363"/>
                  <a:pt x="1113" y="364"/>
                </a:cubicBezTo>
                <a:cubicBezTo>
                  <a:pt x="1116" y="370"/>
                  <a:pt x="1106" y="366"/>
                  <a:pt x="1101" y="366"/>
                </a:cubicBezTo>
                <a:cubicBezTo>
                  <a:pt x="1102" y="363"/>
                  <a:pt x="1104" y="361"/>
                  <a:pt x="1103" y="357"/>
                </a:cubicBezTo>
                <a:cubicBezTo>
                  <a:pt x="1098" y="354"/>
                  <a:pt x="1099" y="351"/>
                  <a:pt x="1094" y="350"/>
                </a:cubicBezTo>
                <a:cubicBezTo>
                  <a:pt x="1090" y="348"/>
                  <a:pt x="1091" y="353"/>
                  <a:pt x="1091" y="355"/>
                </a:cubicBezTo>
                <a:cubicBezTo>
                  <a:pt x="1086" y="352"/>
                  <a:pt x="1084" y="358"/>
                  <a:pt x="1079" y="360"/>
                </a:cubicBezTo>
                <a:cubicBezTo>
                  <a:pt x="1079" y="364"/>
                  <a:pt x="1083" y="366"/>
                  <a:pt x="1081" y="369"/>
                </a:cubicBezTo>
                <a:cubicBezTo>
                  <a:pt x="1068" y="365"/>
                  <a:pt x="1077" y="358"/>
                  <a:pt x="1069" y="348"/>
                </a:cubicBezTo>
                <a:cubicBezTo>
                  <a:pt x="1066" y="352"/>
                  <a:pt x="1065" y="347"/>
                  <a:pt x="1061" y="347"/>
                </a:cubicBezTo>
                <a:cubicBezTo>
                  <a:pt x="1063" y="353"/>
                  <a:pt x="1058" y="354"/>
                  <a:pt x="1053" y="354"/>
                </a:cubicBezTo>
                <a:cubicBezTo>
                  <a:pt x="1053" y="357"/>
                  <a:pt x="1056" y="356"/>
                  <a:pt x="1056" y="358"/>
                </a:cubicBezTo>
                <a:cubicBezTo>
                  <a:pt x="1055" y="364"/>
                  <a:pt x="1051" y="358"/>
                  <a:pt x="1045" y="360"/>
                </a:cubicBezTo>
                <a:cubicBezTo>
                  <a:pt x="1046" y="364"/>
                  <a:pt x="1054" y="361"/>
                  <a:pt x="1052" y="368"/>
                </a:cubicBezTo>
                <a:cubicBezTo>
                  <a:pt x="1051" y="373"/>
                  <a:pt x="1048" y="368"/>
                  <a:pt x="1043" y="369"/>
                </a:cubicBezTo>
                <a:cubicBezTo>
                  <a:pt x="1046" y="377"/>
                  <a:pt x="1038" y="375"/>
                  <a:pt x="1040" y="380"/>
                </a:cubicBezTo>
                <a:cubicBezTo>
                  <a:pt x="1035" y="377"/>
                  <a:pt x="1031" y="376"/>
                  <a:pt x="1035" y="370"/>
                </a:cubicBezTo>
                <a:cubicBezTo>
                  <a:pt x="1030" y="372"/>
                  <a:pt x="1021" y="367"/>
                  <a:pt x="1018" y="361"/>
                </a:cubicBezTo>
                <a:cubicBezTo>
                  <a:pt x="1006" y="365"/>
                  <a:pt x="992" y="361"/>
                  <a:pt x="980" y="360"/>
                </a:cubicBezTo>
                <a:cubicBezTo>
                  <a:pt x="979" y="366"/>
                  <a:pt x="974" y="368"/>
                  <a:pt x="977" y="375"/>
                </a:cubicBezTo>
                <a:cubicBezTo>
                  <a:pt x="976" y="381"/>
                  <a:pt x="969" y="379"/>
                  <a:pt x="962" y="380"/>
                </a:cubicBezTo>
                <a:cubicBezTo>
                  <a:pt x="961" y="374"/>
                  <a:pt x="960" y="373"/>
                  <a:pt x="955" y="369"/>
                </a:cubicBezTo>
                <a:cubicBezTo>
                  <a:pt x="955" y="366"/>
                  <a:pt x="956" y="365"/>
                  <a:pt x="959" y="365"/>
                </a:cubicBezTo>
                <a:cubicBezTo>
                  <a:pt x="953" y="359"/>
                  <a:pt x="949" y="374"/>
                  <a:pt x="943" y="377"/>
                </a:cubicBezTo>
                <a:cubicBezTo>
                  <a:pt x="940" y="377"/>
                  <a:pt x="938" y="377"/>
                  <a:pt x="938" y="374"/>
                </a:cubicBezTo>
                <a:cubicBezTo>
                  <a:pt x="936" y="377"/>
                  <a:pt x="935" y="381"/>
                  <a:pt x="934" y="385"/>
                </a:cubicBezTo>
                <a:cubicBezTo>
                  <a:pt x="927" y="383"/>
                  <a:pt x="931" y="377"/>
                  <a:pt x="930" y="373"/>
                </a:cubicBezTo>
                <a:cubicBezTo>
                  <a:pt x="909" y="369"/>
                  <a:pt x="887" y="371"/>
                  <a:pt x="869" y="370"/>
                </a:cubicBezTo>
                <a:cubicBezTo>
                  <a:pt x="870" y="378"/>
                  <a:pt x="861" y="376"/>
                  <a:pt x="861" y="383"/>
                </a:cubicBezTo>
                <a:cubicBezTo>
                  <a:pt x="857" y="380"/>
                  <a:pt x="851" y="378"/>
                  <a:pt x="847" y="382"/>
                </a:cubicBezTo>
                <a:cubicBezTo>
                  <a:pt x="847" y="376"/>
                  <a:pt x="855" y="377"/>
                  <a:pt x="856" y="372"/>
                </a:cubicBezTo>
                <a:cubicBezTo>
                  <a:pt x="854" y="368"/>
                  <a:pt x="849" y="362"/>
                  <a:pt x="843" y="366"/>
                </a:cubicBezTo>
                <a:cubicBezTo>
                  <a:pt x="849" y="371"/>
                  <a:pt x="842" y="376"/>
                  <a:pt x="838" y="379"/>
                </a:cubicBezTo>
                <a:cubicBezTo>
                  <a:pt x="835" y="377"/>
                  <a:pt x="833" y="375"/>
                  <a:pt x="832" y="371"/>
                </a:cubicBezTo>
                <a:cubicBezTo>
                  <a:pt x="828" y="372"/>
                  <a:pt x="830" y="374"/>
                  <a:pt x="824" y="372"/>
                </a:cubicBezTo>
                <a:cubicBezTo>
                  <a:pt x="822" y="387"/>
                  <a:pt x="810" y="374"/>
                  <a:pt x="800" y="379"/>
                </a:cubicBezTo>
                <a:cubicBezTo>
                  <a:pt x="800" y="371"/>
                  <a:pt x="806" y="378"/>
                  <a:pt x="812" y="376"/>
                </a:cubicBezTo>
                <a:cubicBezTo>
                  <a:pt x="808" y="370"/>
                  <a:pt x="801" y="367"/>
                  <a:pt x="793" y="366"/>
                </a:cubicBezTo>
                <a:cubicBezTo>
                  <a:pt x="792" y="370"/>
                  <a:pt x="797" y="370"/>
                  <a:pt x="798" y="372"/>
                </a:cubicBezTo>
                <a:cubicBezTo>
                  <a:pt x="798" y="375"/>
                  <a:pt x="797" y="378"/>
                  <a:pt x="795" y="379"/>
                </a:cubicBezTo>
                <a:cubicBezTo>
                  <a:pt x="792" y="380"/>
                  <a:pt x="791" y="378"/>
                  <a:pt x="789" y="378"/>
                </a:cubicBezTo>
                <a:cubicBezTo>
                  <a:pt x="785" y="377"/>
                  <a:pt x="793" y="375"/>
                  <a:pt x="789" y="373"/>
                </a:cubicBezTo>
                <a:cubicBezTo>
                  <a:pt x="783" y="373"/>
                  <a:pt x="783" y="373"/>
                  <a:pt x="783" y="373"/>
                </a:cubicBezTo>
                <a:cubicBezTo>
                  <a:pt x="784" y="369"/>
                  <a:pt x="784" y="370"/>
                  <a:pt x="783" y="366"/>
                </a:cubicBezTo>
                <a:cubicBezTo>
                  <a:pt x="777" y="367"/>
                  <a:pt x="775" y="373"/>
                  <a:pt x="780" y="377"/>
                </a:cubicBezTo>
                <a:cubicBezTo>
                  <a:pt x="781" y="383"/>
                  <a:pt x="774" y="382"/>
                  <a:pt x="772" y="384"/>
                </a:cubicBezTo>
                <a:cubicBezTo>
                  <a:pt x="765" y="380"/>
                  <a:pt x="763" y="372"/>
                  <a:pt x="755" y="370"/>
                </a:cubicBezTo>
                <a:cubicBezTo>
                  <a:pt x="755" y="376"/>
                  <a:pt x="751" y="377"/>
                  <a:pt x="754" y="382"/>
                </a:cubicBezTo>
                <a:cubicBezTo>
                  <a:pt x="751" y="386"/>
                  <a:pt x="748" y="383"/>
                  <a:pt x="742" y="384"/>
                </a:cubicBezTo>
                <a:cubicBezTo>
                  <a:pt x="743" y="379"/>
                  <a:pt x="746" y="379"/>
                  <a:pt x="744" y="373"/>
                </a:cubicBezTo>
                <a:cubicBezTo>
                  <a:pt x="739" y="374"/>
                  <a:pt x="740" y="380"/>
                  <a:pt x="736" y="382"/>
                </a:cubicBezTo>
                <a:cubicBezTo>
                  <a:pt x="733" y="382"/>
                  <a:pt x="735" y="377"/>
                  <a:pt x="732" y="377"/>
                </a:cubicBezTo>
                <a:cubicBezTo>
                  <a:pt x="726" y="384"/>
                  <a:pt x="718" y="390"/>
                  <a:pt x="710" y="395"/>
                </a:cubicBezTo>
                <a:cubicBezTo>
                  <a:pt x="713" y="385"/>
                  <a:pt x="691" y="397"/>
                  <a:pt x="691" y="384"/>
                </a:cubicBezTo>
                <a:cubicBezTo>
                  <a:pt x="687" y="385"/>
                  <a:pt x="687" y="385"/>
                  <a:pt x="681" y="386"/>
                </a:cubicBezTo>
                <a:cubicBezTo>
                  <a:pt x="681" y="389"/>
                  <a:pt x="688" y="384"/>
                  <a:pt x="688" y="388"/>
                </a:cubicBezTo>
                <a:cubicBezTo>
                  <a:pt x="662" y="392"/>
                  <a:pt x="634" y="394"/>
                  <a:pt x="606" y="400"/>
                </a:cubicBezTo>
                <a:cubicBezTo>
                  <a:pt x="594" y="402"/>
                  <a:pt x="577" y="401"/>
                  <a:pt x="570" y="404"/>
                </a:cubicBezTo>
                <a:cubicBezTo>
                  <a:pt x="501" y="429"/>
                  <a:pt x="421" y="442"/>
                  <a:pt x="353" y="467"/>
                </a:cubicBezTo>
                <a:cubicBezTo>
                  <a:pt x="351" y="466"/>
                  <a:pt x="350" y="464"/>
                  <a:pt x="346" y="464"/>
                </a:cubicBezTo>
                <a:cubicBezTo>
                  <a:pt x="339" y="471"/>
                  <a:pt x="318" y="473"/>
                  <a:pt x="305" y="473"/>
                </a:cubicBezTo>
                <a:cubicBezTo>
                  <a:pt x="304" y="477"/>
                  <a:pt x="307" y="476"/>
                  <a:pt x="306" y="479"/>
                </a:cubicBezTo>
                <a:cubicBezTo>
                  <a:pt x="302" y="480"/>
                  <a:pt x="298" y="480"/>
                  <a:pt x="297" y="477"/>
                </a:cubicBezTo>
                <a:cubicBezTo>
                  <a:pt x="291" y="486"/>
                  <a:pt x="274" y="491"/>
                  <a:pt x="261" y="490"/>
                </a:cubicBezTo>
                <a:cubicBezTo>
                  <a:pt x="261" y="484"/>
                  <a:pt x="264" y="489"/>
                  <a:pt x="267" y="487"/>
                </a:cubicBezTo>
                <a:cubicBezTo>
                  <a:pt x="264" y="481"/>
                  <a:pt x="253" y="483"/>
                  <a:pt x="246" y="482"/>
                </a:cubicBezTo>
                <a:cubicBezTo>
                  <a:pt x="247" y="487"/>
                  <a:pt x="250" y="491"/>
                  <a:pt x="254" y="494"/>
                </a:cubicBezTo>
                <a:cubicBezTo>
                  <a:pt x="253" y="498"/>
                  <a:pt x="245" y="497"/>
                  <a:pt x="240" y="497"/>
                </a:cubicBezTo>
                <a:cubicBezTo>
                  <a:pt x="241" y="501"/>
                  <a:pt x="240" y="501"/>
                  <a:pt x="238" y="504"/>
                </a:cubicBezTo>
                <a:cubicBezTo>
                  <a:pt x="224" y="508"/>
                  <a:pt x="217" y="518"/>
                  <a:pt x="204" y="516"/>
                </a:cubicBezTo>
                <a:cubicBezTo>
                  <a:pt x="205" y="507"/>
                  <a:pt x="219" y="516"/>
                  <a:pt x="220" y="505"/>
                </a:cubicBezTo>
                <a:cubicBezTo>
                  <a:pt x="211" y="508"/>
                  <a:pt x="220" y="497"/>
                  <a:pt x="214" y="501"/>
                </a:cubicBezTo>
                <a:cubicBezTo>
                  <a:pt x="220" y="497"/>
                  <a:pt x="213" y="493"/>
                  <a:pt x="218" y="490"/>
                </a:cubicBezTo>
                <a:cubicBezTo>
                  <a:pt x="216" y="488"/>
                  <a:pt x="213" y="487"/>
                  <a:pt x="209" y="486"/>
                </a:cubicBezTo>
                <a:cubicBezTo>
                  <a:pt x="211" y="481"/>
                  <a:pt x="203" y="473"/>
                  <a:pt x="210" y="472"/>
                </a:cubicBezTo>
                <a:cubicBezTo>
                  <a:pt x="200" y="464"/>
                  <a:pt x="204" y="453"/>
                  <a:pt x="210" y="444"/>
                </a:cubicBezTo>
                <a:cubicBezTo>
                  <a:pt x="208" y="442"/>
                  <a:pt x="204" y="441"/>
                  <a:pt x="199" y="442"/>
                </a:cubicBezTo>
                <a:cubicBezTo>
                  <a:pt x="198" y="439"/>
                  <a:pt x="200" y="439"/>
                  <a:pt x="200" y="437"/>
                </a:cubicBezTo>
                <a:cubicBezTo>
                  <a:pt x="210" y="439"/>
                  <a:pt x="216" y="432"/>
                  <a:pt x="226" y="437"/>
                </a:cubicBezTo>
                <a:cubicBezTo>
                  <a:pt x="225" y="438"/>
                  <a:pt x="223" y="439"/>
                  <a:pt x="223" y="441"/>
                </a:cubicBezTo>
                <a:cubicBezTo>
                  <a:pt x="227" y="440"/>
                  <a:pt x="227" y="443"/>
                  <a:pt x="230" y="442"/>
                </a:cubicBezTo>
                <a:cubicBezTo>
                  <a:pt x="228" y="445"/>
                  <a:pt x="233" y="447"/>
                  <a:pt x="227" y="448"/>
                </a:cubicBezTo>
                <a:cubicBezTo>
                  <a:pt x="235" y="451"/>
                  <a:pt x="243" y="449"/>
                  <a:pt x="250" y="456"/>
                </a:cubicBezTo>
                <a:cubicBezTo>
                  <a:pt x="250" y="461"/>
                  <a:pt x="242" y="460"/>
                  <a:pt x="246" y="465"/>
                </a:cubicBezTo>
                <a:cubicBezTo>
                  <a:pt x="243" y="463"/>
                  <a:pt x="242" y="459"/>
                  <a:pt x="239" y="458"/>
                </a:cubicBezTo>
                <a:cubicBezTo>
                  <a:pt x="237" y="459"/>
                  <a:pt x="237" y="462"/>
                  <a:pt x="233" y="461"/>
                </a:cubicBezTo>
                <a:cubicBezTo>
                  <a:pt x="233" y="469"/>
                  <a:pt x="233" y="469"/>
                  <a:pt x="233" y="469"/>
                </a:cubicBezTo>
                <a:cubicBezTo>
                  <a:pt x="241" y="472"/>
                  <a:pt x="265" y="474"/>
                  <a:pt x="268" y="465"/>
                </a:cubicBezTo>
                <a:cubicBezTo>
                  <a:pt x="271" y="466"/>
                  <a:pt x="274" y="467"/>
                  <a:pt x="277" y="469"/>
                </a:cubicBezTo>
                <a:cubicBezTo>
                  <a:pt x="277" y="463"/>
                  <a:pt x="269" y="466"/>
                  <a:pt x="273" y="459"/>
                </a:cubicBezTo>
                <a:cubicBezTo>
                  <a:pt x="271" y="463"/>
                  <a:pt x="265" y="463"/>
                  <a:pt x="261" y="461"/>
                </a:cubicBezTo>
                <a:cubicBezTo>
                  <a:pt x="262" y="460"/>
                  <a:pt x="263" y="458"/>
                  <a:pt x="265" y="457"/>
                </a:cubicBezTo>
                <a:cubicBezTo>
                  <a:pt x="266" y="453"/>
                  <a:pt x="259" y="453"/>
                  <a:pt x="263" y="452"/>
                </a:cubicBezTo>
                <a:cubicBezTo>
                  <a:pt x="262" y="449"/>
                  <a:pt x="256" y="453"/>
                  <a:pt x="254" y="453"/>
                </a:cubicBezTo>
                <a:cubicBezTo>
                  <a:pt x="249" y="449"/>
                  <a:pt x="243" y="447"/>
                  <a:pt x="237" y="445"/>
                </a:cubicBezTo>
                <a:cubicBezTo>
                  <a:pt x="239" y="437"/>
                  <a:pt x="234" y="436"/>
                  <a:pt x="234" y="430"/>
                </a:cubicBezTo>
                <a:cubicBezTo>
                  <a:pt x="235" y="428"/>
                  <a:pt x="239" y="430"/>
                  <a:pt x="240" y="427"/>
                </a:cubicBezTo>
                <a:cubicBezTo>
                  <a:pt x="240" y="424"/>
                  <a:pt x="235" y="427"/>
                  <a:pt x="232" y="426"/>
                </a:cubicBezTo>
                <a:cubicBezTo>
                  <a:pt x="236" y="420"/>
                  <a:pt x="245" y="426"/>
                  <a:pt x="248" y="420"/>
                </a:cubicBezTo>
                <a:cubicBezTo>
                  <a:pt x="255" y="423"/>
                  <a:pt x="250" y="436"/>
                  <a:pt x="260" y="438"/>
                </a:cubicBezTo>
                <a:cubicBezTo>
                  <a:pt x="256" y="433"/>
                  <a:pt x="265" y="432"/>
                  <a:pt x="275" y="432"/>
                </a:cubicBezTo>
                <a:cubicBezTo>
                  <a:pt x="274" y="430"/>
                  <a:pt x="271" y="429"/>
                  <a:pt x="272" y="425"/>
                </a:cubicBezTo>
                <a:cubicBezTo>
                  <a:pt x="277" y="425"/>
                  <a:pt x="279" y="433"/>
                  <a:pt x="284" y="429"/>
                </a:cubicBezTo>
                <a:cubicBezTo>
                  <a:pt x="284" y="424"/>
                  <a:pt x="282" y="426"/>
                  <a:pt x="283" y="417"/>
                </a:cubicBezTo>
                <a:cubicBezTo>
                  <a:pt x="275" y="416"/>
                  <a:pt x="269" y="414"/>
                  <a:pt x="267" y="407"/>
                </a:cubicBezTo>
                <a:cubicBezTo>
                  <a:pt x="264" y="408"/>
                  <a:pt x="263" y="411"/>
                  <a:pt x="259" y="410"/>
                </a:cubicBezTo>
                <a:cubicBezTo>
                  <a:pt x="258" y="413"/>
                  <a:pt x="265" y="409"/>
                  <a:pt x="263" y="414"/>
                </a:cubicBezTo>
                <a:cubicBezTo>
                  <a:pt x="260" y="419"/>
                  <a:pt x="252" y="407"/>
                  <a:pt x="257" y="407"/>
                </a:cubicBezTo>
                <a:cubicBezTo>
                  <a:pt x="253" y="402"/>
                  <a:pt x="250" y="405"/>
                  <a:pt x="243" y="404"/>
                </a:cubicBezTo>
                <a:cubicBezTo>
                  <a:pt x="244" y="407"/>
                  <a:pt x="243" y="407"/>
                  <a:pt x="242" y="409"/>
                </a:cubicBezTo>
                <a:cubicBezTo>
                  <a:pt x="232" y="407"/>
                  <a:pt x="242" y="399"/>
                  <a:pt x="239" y="394"/>
                </a:cubicBezTo>
                <a:cubicBezTo>
                  <a:pt x="247" y="399"/>
                  <a:pt x="261" y="397"/>
                  <a:pt x="273" y="397"/>
                </a:cubicBezTo>
                <a:cubicBezTo>
                  <a:pt x="275" y="399"/>
                  <a:pt x="276" y="402"/>
                  <a:pt x="276" y="406"/>
                </a:cubicBezTo>
                <a:cubicBezTo>
                  <a:pt x="282" y="408"/>
                  <a:pt x="287" y="405"/>
                  <a:pt x="291" y="410"/>
                </a:cubicBezTo>
                <a:cubicBezTo>
                  <a:pt x="291" y="413"/>
                  <a:pt x="289" y="414"/>
                  <a:pt x="287" y="415"/>
                </a:cubicBezTo>
                <a:cubicBezTo>
                  <a:pt x="289" y="419"/>
                  <a:pt x="294" y="419"/>
                  <a:pt x="298" y="420"/>
                </a:cubicBezTo>
                <a:cubicBezTo>
                  <a:pt x="296" y="425"/>
                  <a:pt x="300" y="431"/>
                  <a:pt x="307" y="429"/>
                </a:cubicBezTo>
                <a:cubicBezTo>
                  <a:pt x="309" y="427"/>
                  <a:pt x="308" y="424"/>
                  <a:pt x="307" y="423"/>
                </a:cubicBezTo>
                <a:cubicBezTo>
                  <a:pt x="312" y="426"/>
                  <a:pt x="316" y="423"/>
                  <a:pt x="323" y="425"/>
                </a:cubicBezTo>
                <a:cubicBezTo>
                  <a:pt x="321" y="423"/>
                  <a:pt x="320" y="421"/>
                  <a:pt x="319" y="419"/>
                </a:cubicBezTo>
                <a:cubicBezTo>
                  <a:pt x="320" y="414"/>
                  <a:pt x="331" y="417"/>
                  <a:pt x="337" y="416"/>
                </a:cubicBezTo>
                <a:cubicBezTo>
                  <a:pt x="330" y="411"/>
                  <a:pt x="321" y="416"/>
                  <a:pt x="313" y="411"/>
                </a:cubicBezTo>
                <a:cubicBezTo>
                  <a:pt x="313" y="408"/>
                  <a:pt x="315" y="409"/>
                  <a:pt x="313" y="406"/>
                </a:cubicBezTo>
                <a:cubicBezTo>
                  <a:pt x="299" y="413"/>
                  <a:pt x="304" y="399"/>
                  <a:pt x="295" y="397"/>
                </a:cubicBezTo>
                <a:cubicBezTo>
                  <a:pt x="296" y="395"/>
                  <a:pt x="299" y="393"/>
                  <a:pt x="296" y="391"/>
                </a:cubicBezTo>
                <a:cubicBezTo>
                  <a:pt x="304" y="391"/>
                  <a:pt x="303" y="383"/>
                  <a:pt x="312" y="387"/>
                </a:cubicBezTo>
                <a:cubicBezTo>
                  <a:pt x="309" y="393"/>
                  <a:pt x="309" y="396"/>
                  <a:pt x="310" y="403"/>
                </a:cubicBezTo>
                <a:cubicBezTo>
                  <a:pt x="311" y="406"/>
                  <a:pt x="323" y="403"/>
                  <a:pt x="318" y="407"/>
                </a:cubicBezTo>
                <a:cubicBezTo>
                  <a:pt x="321" y="409"/>
                  <a:pt x="325" y="405"/>
                  <a:pt x="329" y="405"/>
                </a:cubicBezTo>
                <a:cubicBezTo>
                  <a:pt x="333" y="407"/>
                  <a:pt x="335" y="416"/>
                  <a:pt x="340" y="412"/>
                </a:cubicBezTo>
                <a:cubicBezTo>
                  <a:pt x="333" y="409"/>
                  <a:pt x="340" y="407"/>
                  <a:pt x="337" y="402"/>
                </a:cubicBezTo>
                <a:cubicBezTo>
                  <a:pt x="332" y="403"/>
                  <a:pt x="329" y="405"/>
                  <a:pt x="325" y="403"/>
                </a:cubicBezTo>
                <a:cubicBezTo>
                  <a:pt x="326" y="396"/>
                  <a:pt x="330" y="396"/>
                  <a:pt x="337" y="397"/>
                </a:cubicBezTo>
                <a:cubicBezTo>
                  <a:pt x="337" y="393"/>
                  <a:pt x="327" y="395"/>
                  <a:pt x="332" y="392"/>
                </a:cubicBezTo>
                <a:cubicBezTo>
                  <a:pt x="327" y="395"/>
                  <a:pt x="325" y="387"/>
                  <a:pt x="317" y="387"/>
                </a:cubicBezTo>
                <a:cubicBezTo>
                  <a:pt x="328" y="381"/>
                  <a:pt x="345" y="384"/>
                  <a:pt x="356" y="381"/>
                </a:cubicBezTo>
                <a:cubicBezTo>
                  <a:pt x="350" y="380"/>
                  <a:pt x="347" y="377"/>
                  <a:pt x="342" y="375"/>
                </a:cubicBezTo>
                <a:cubicBezTo>
                  <a:pt x="350" y="371"/>
                  <a:pt x="356" y="373"/>
                  <a:pt x="364" y="371"/>
                </a:cubicBezTo>
                <a:cubicBezTo>
                  <a:pt x="366" y="373"/>
                  <a:pt x="366" y="378"/>
                  <a:pt x="368" y="379"/>
                </a:cubicBezTo>
                <a:cubicBezTo>
                  <a:pt x="373" y="377"/>
                  <a:pt x="380" y="380"/>
                  <a:pt x="384" y="376"/>
                </a:cubicBezTo>
                <a:cubicBezTo>
                  <a:pt x="387" y="373"/>
                  <a:pt x="384" y="373"/>
                  <a:pt x="383" y="370"/>
                </a:cubicBezTo>
                <a:cubicBezTo>
                  <a:pt x="389" y="371"/>
                  <a:pt x="393" y="371"/>
                  <a:pt x="396" y="371"/>
                </a:cubicBezTo>
                <a:cubicBezTo>
                  <a:pt x="397" y="377"/>
                  <a:pt x="392" y="379"/>
                  <a:pt x="391" y="384"/>
                </a:cubicBezTo>
                <a:cubicBezTo>
                  <a:pt x="407" y="394"/>
                  <a:pt x="394" y="409"/>
                  <a:pt x="392" y="420"/>
                </a:cubicBezTo>
                <a:cubicBezTo>
                  <a:pt x="395" y="419"/>
                  <a:pt x="398" y="417"/>
                  <a:pt x="400" y="414"/>
                </a:cubicBezTo>
                <a:cubicBezTo>
                  <a:pt x="408" y="421"/>
                  <a:pt x="412" y="411"/>
                  <a:pt x="422" y="412"/>
                </a:cubicBezTo>
                <a:cubicBezTo>
                  <a:pt x="419" y="409"/>
                  <a:pt x="422" y="405"/>
                  <a:pt x="426" y="405"/>
                </a:cubicBezTo>
                <a:cubicBezTo>
                  <a:pt x="426" y="403"/>
                  <a:pt x="423" y="404"/>
                  <a:pt x="421" y="404"/>
                </a:cubicBezTo>
                <a:cubicBezTo>
                  <a:pt x="421" y="403"/>
                  <a:pt x="422" y="402"/>
                  <a:pt x="422" y="400"/>
                </a:cubicBezTo>
                <a:cubicBezTo>
                  <a:pt x="429" y="402"/>
                  <a:pt x="442" y="395"/>
                  <a:pt x="448" y="401"/>
                </a:cubicBezTo>
                <a:cubicBezTo>
                  <a:pt x="451" y="396"/>
                  <a:pt x="440" y="396"/>
                  <a:pt x="439" y="391"/>
                </a:cubicBezTo>
                <a:cubicBezTo>
                  <a:pt x="433" y="395"/>
                  <a:pt x="424" y="395"/>
                  <a:pt x="421" y="388"/>
                </a:cubicBezTo>
                <a:cubicBezTo>
                  <a:pt x="420" y="391"/>
                  <a:pt x="422" y="393"/>
                  <a:pt x="418" y="396"/>
                </a:cubicBezTo>
                <a:cubicBezTo>
                  <a:pt x="413" y="394"/>
                  <a:pt x="414" y="386"/>
                  <a:pt x="408" y="387"/>
                </a:cubicBezTo>
                <a:cubicBezTo>
                  <a:pt x="410" y="381"/>
                  <a:pt x="424" y="387"/>
                  <a:pt x="426" y="381"/>
                </a:cubicBezTo>
                <a:cubicBezTo>
                  <a:pt x="423" y="374"/>
                  <a:pt x="429" y="370"/>
                  <a:pt x="435" y="368"/>
                </a:cubicBezTo>
                <a:cubicBezTo>
                  <a:pt x="442" y="369"/>
                  <a:pt x="432" y="374"/>
                  <a:pt x="438" y="375"/>
                </a:cubicBezTo>
                <a:cubicBezTo>
                  <a:pt x="441" y="370"/>
                  <a:pt x="449" y="370"/>
                  <a:pt x="456" y="369"/>
                </a:cubicBezTo>
                <a:cubicBezTo>
                  <a:pt x="456" y="365"/>
                  <a:pt x="453" y="366"/>
                  <a:pt x="454" y="362"/>
                </a:cubicBezTo>
                <a:cubicBezTo>
                  <a:pt x="461" y="360"/>
                  <a:pt x="458" y="369"/>
                  <a:pt x="464" y="368"/>
                </a:cubicBezTo>
                <a:cubicBezTo>
                  <a:pt x="465" y="366"/>
                  <a:pt x="465" y="363"/>
                  <a:pt x="466" y="361"/>
                </a:cubicBezTo>
                <a:cubicBezTo>
                  <a:pt x="472" y="362"/>
                  <a:pt x="475" y="360"/>
                  <a:pt x="477" y="357"/>
                </a:cubicBezTo>
                <a:cubicBezTo>
                  <a:pt x="482" y="366"/>
                  <a:pt x="482" y="380"/>
                  <a:pt x="497" y="378"/>
                </a:cubicBezTo>
                <a:cubicBezTo>
                  <a:pt x="497" y="374"/>
                  <a:pt x="495" y="369"/>
                  <a:pt x="498" y="368"/>
                </a:cubicBezTo>
                <a:cubicBezTo>
                  <a:pt x="496" y="365"/>
                  <a:pt x="489" y="367"/>
                  <a:pt x="488" y="363"/>
                </a:cubicBezTo>
                <a:cubicBezTo>
                  <a:pt x="493" y="357"/>
                  <a:pt x="484" y="353"/>
                  <a:pt x="485" y="347"/>
                </a:cubicBezTo>
                <a:cubicBezTo>
                  <a:pt x="477" y="347"/>
                  <a:pt x="477" y="346"/>
                  <a:pt x="470" y="346"/>
                </a:cubicBezTo>
                <a:cubicBezTo>
                  <a:pt x="472" y="343"/>
                  <a:pt x="475" y="340"/>
                  <a:pt x="482" y="340"/>
                </a:cubicBezTo>
                <a:cubicBezTo>
                  <a:pt x="479" y="336"/>
                  <a:pt x="475" y="340"/>
                  <a:pt x="469" y="338"/>
                </a:cubicBezTo>
                <a:cubicBezTo>
                  <a:pt x="469" y="333"/>
                  <a:pt x="479" y="336"/>
                  <a:pt x="477" y="330"/>
                </a:cubicBezTo>
                <a:cubicBezTo>
                  <a:pt x="472" y="330"/>
                  <a:pt x="471" y="325"/>
                  <a:pt x="465" y="326"/>
                </a:cubicBezTo>
                <a:cubicBezTo>
                  <a:pt x="465" y="323"/>
                  <a:pt x="468" y="322"/>
                  <a:pt x="471" y="322"/>
                </a:cubicBezTo>
                <a:cubicBezTo>
                  <a:pt x="474" y="312"/>
                  <a:pt x="468" y="313"/>
                  <a:pt x="468" y="303"/>
                </a:cubicBezTo>
                <a:cubicBezTo>
                  <a:pt x="469" y="301"/>
                  <a:pt x="472" y="300"/>
                  <a:pt x="474" y="299"/>
                </a:cubicBezTo>
                <a:cubicBezTo>
                  <a:pt x="473" y="293"/>
                  <a:pt x="468" y="290"/>
                  <a:pt x="466" y="286"/>
                </a:cubicBezTo>
                <a:cubicBezTo>
                  <a:pt x="480" y="271"/>
                  <a:pt x="493" y="284"/>
                  <a:pt x="513" y="285"/>
                </a:cubicBezTo>
                <a:cubicBezTo>
                  <a:pt x="511" y="289"/>
                  <a:pt x="510" y="291"/>
                  <a:pt x="512" y="294"/>
                </a:cubicBezTo>
                <a:cubicBezTo>
                  <a:pt x="497" y="299"/>
                  <a:pt x="483" y="304"/>
                  <a:pt x="475" y="318"/>
                </a:cubicBezTo>
                <a:cubicBezTo>
                  <a:pt x="475" y="324"/>
                  <a:pt x="481" y="326"/>
                  <a:pt x="485" y="328"/>
                </a:cubicBezTo>
                <a:cubicBezTo>
                  <a:pt x="483" y="329"/>
                  <a:pt x="481" y="330"/>
                  <a:pt x="478" y="332"/>
                </a:cubicBezTo>
                <a:cubicBezTo>
                  <a:pt x="483" y="336"/>
                  <a:pt x="488" y="330"/>
                  <a:pt x="491" y="335"/>
                </a:cubicBezTo>
                <a:cubicBezTo>
                  <a:pt x="493" y="339"/>
                  <a:pt x="486" y="336"/>
                  <a:pt x="488" y="340"/>
                </a:cubicBezTo>
                <a:cubicBezTo>
                  <a:pt x="500" y="339"/>
                  <a:pt x="508" y="341"/>
                  <a:pt x="518" y="340"/>
                </a:cubicBezTo>
                <a:cubicBezTo>
                  <a:pt x="517" y="347"/>
                  <a:pt x="517" y="350"/>
                  <a:pt x="521" y="353"/>
                </a:cubicBezTo>
                <a:cubicBezTo>
                  <a:pt x="524" y="354"/>
                  <a:pt x="524" y="352"/>
                  <a:pt x="524" y="351"/>
                </a:cubicBezTo>
                <a:cubicBezTo>
                  <a:pt x="534" y="354"/>
                  <a:pt x="529" y="361"/>
                  <a:pt x="533" y="366"/>
                </a:cubicBezTo>
                <a:cubicBezTo>
                  <a:pt x="538" y="361"/>
                  <a:pt x="550" y="362"/>
                  <a:pt x="560" y="360"/>
                </a:cubicBezTo>
                <a:cubicBezTo>
                  <a:pt x="558" y="355"/>
                  <a:pt x="555" y="361"/>
                  <a:pt x="554" y="356"/>
                </a:cubicBezTo>
                <a:cubicBezTo>
                  <a:pt x="554" y="353"/>
                  <a:pt x="556" y="351"/>
                  <a:pt x="559" y="350"/>
                </a:cubicBezTo>
                <a:cubicBezTo>
                  <a:pt x="557" y="343"/>
                  <a:pt x="551" y="348"/>
                  <a:pt x="547" y="342"/>
                </a:cubicBezTo>
                <a:cubicBezTo>
                  <a:pt x="548" y="340"/>
                  <a:pt x="550" y="339"/>
                  <a:pt x="549" y="335"/>
                </a:cubicBezTo>
                <a:cubicBezTo>
                  <a:pt x="544" y="334"/>
                  <a:pt x="544" y="338"/>
                  <a:pt x="541" y="339"/>
                </a:cubicBezTo>
                <a:cubicBezTo>
                  <a:pt x="538" y="338"/>
                  <a:pt x="545" y="334"/>
                  <a:pt x="541" y="331"/>
                </a:cubicBezTo>
                <a:cubicBezTo>
                  <a:pt x="536" y="330"/>
                  <a:pt x="539" y="336"/>
                  <a:pt x="534" y="334"/>
                </a:cubicBezTo>
                <a:cubicBezTo>
                  <a:pt x="535" y="336"/>
                  <a:pt x="536" y="337"/>
                  <a:pt x="538" y="336"/>
                </a:cubicBezTo>
                <a:cubicBezTo>
                  <a:pt x="536" y="339"/>
                  <a:pt x="538" y="344"/>
                  <a:pt x="533" y="343"/>
                </a:cubicBezTo>
                <a:cubicBezTo>
                  <a:pt x="530" y="340"/>
                  <a:pt x="535" y="330"/>
                  <a:pt x="530" y="326"/>
                </a:cubicBezTo>
                <a:cubicBezTo>
                  <a:pt x="530" y="316"/>
                  <a:pt x="545" y="319"/>
                  <a:pt x="548" y="310"/>
                </a:cubicBezTo>
                <a:cubicBezTo>
                  <a:pt x="553" y="309"/>
                  <a:pt x="556" y="311"/>
                  <a:pt x="559" y="313"/>
                </a:cubicBezTo>
                <a:cubicBezTo>
                  <a:pt x="556" y="330"/>
                  <a:pt x="568" y="340"/>
                  <a:pt x="570" y="351"/>
                </a:cubicBezTo>
                <a:cubicBezTo>
                  <a:pt x="571" y="349"/>
                  <a:pt x="573" y="347"/>
                  <a:pt x="575" y="346"/>
                </a:cubicBezTo>
                <a:cubicBezTo>
                  <a:pt x="580" y="347"/>
                  <a:pt x="585" y="348"/>
                  <a:pt x="588" y="352"/>
                </a:cubicBezTo>
                <a:cubicBezTo>
                  <a:pt x="584" y="353"/>
                  <a:pt x="585" y="358"/>
                  <a:pt x="585" y="363"/>
                </a:cubicBezTo>
                <a:cubicBezTo>
                  <a:pt x="594" y="365"/>
                  <a:pt x="595" y="375"/>
                  <a:pt x="606" y="374"/>
                </a:cubicBezTo>
                <a:cubicBezTo>
                  <a:pt x="606" y="370"/>
                  <a:pt x="604" y="367"/>
                  <a:pt x="611" y="366"/>
                </a:cubicBezTo>
                <a:cubicBezTo>
                  <a:pt x="611" y="360"/>
                  <a:pt x="605" y="359"/>
                  <a:pt x="601" y="357"/>
                </a:cubicBezTo>
                <a:cubicBezTo>
                  <a:pt x="605" y="350"/>
                  <a:pt x="619" y="359"/>
                  <a:pt x="619" y="348"/>
                </a:cubicBezTo>
                <a:cubicBezTo>
                  <a:pt x="617" y="349"/>
                  <a:pt x="611" y="347"/>
                  <a:pt x="612" y="349"/>
                </a:cubicBezTo>
                <a:cubicBezTo>
                  <a:pt x="605" y="340"/>
                  <a:pt x="589" y="339"/>
                  <a:pt x="586" y="323"/>
                </a:cubicBezTo>
                <a:cubicBezTo>
                  <a:pt x="583" y="321"/>
                  <a:pt x="577" y="322"/>
                  <a:pt x="573" y="320"/>
                </a:cubicBezTo>
                <a:cubicBezTo>
                  <a:pt x="575" y="318"/>
                  <a:pt x="580" y="317"/>
                  <a:pt x="585" y="317"/>
                </a:cubicBezTo>
                <a:cubicBezTo>
                  <a:pt x="581" y="314"/>
                  <a:pt x="578" y="307"/>
                  <a:pt x="584" y="305"/>
                </a:cubicBezTo>
                <a:cubicBezTo>
                  <a:pt x="585" y="300"/>
                  <a:pt x="576" y="305"/>
                  <a:pt x="578" y="297"/>
                </a:cubicBezTo>
                <a:cubicBezTo>
                  <a:pt x="571" y="299"/>
                  <a:pt x="565" y="302"/>
                  <a:pt x="558" y="304"/>
                </a:cubicBezTo>
                <a:cubicBezTo>
                  <a:pt x="554" y="303"/>
                  <a:pt x="559" y="300"/>
                  <a:pt x="558" y="298"/>
                </a:cubicBezTo>
                <a:cubicBezTo>
                  <a:pt x="550" y="290"/>
                  <a:pt x="542" y="301"/>
                  <a:pt x="538" y="305"/>
                </a:cubicBezTo>
                <a:cubicBezTo>
                  <a:pt x="534" y="297"/>
                  <a:pt x="532" y="285"/>
                  <a:pt x="521" y="284"/>
                </a:cubicBezTo>
                <a:cubicBezTo>
                  <a:pt x="522" y="279"/>
                  <a:pt x="530" y="285"/>
                  <a:pt x="534" y="281"/>
                </a:cubicBezTo>
                <a:cubicBezTo>
                  <a:pt x="535" y="277"/>
                  <a:pt x="532" y="276"/>
                  <a:pt x="531" y="273"/>
                </a:cubicBezTo>
                <a:cubicBezTo>
                  <a:pt x="540" y="264"/>
                  <a:pt x="551" y="277"/>
                  <a:pt x="564" y="276"/>
                </a:cubicBezTo>
                <a:cubicBezTo>
                  <a:pt x="563" y="279"/>
                  <a:pt x="561" y="281"/>
                  <a:pt x="562" y="285"/>
                </a:cubicBezTo>
                <a:cubicBezTo>
                  <a:pt x="570" y="290"/>
                  <a:pt x="582" y="287"/>
                  <a:pt x="591" y="287"/>
                </a:cubicBezTo>
                <a:cubicBezTo>
                  <a:pt x="590" y="291"/>
                  <a:pt x="588" y="293"/>
                  <a:pt x="582" y="293"/>
                </a:cubicBezTo>
                <a:cubicBezTo>
                  <a:pt x="581" y="301"/>
                  <a:pt x="591" y="298"/>
                  <a:pt x="596" y="300"/>
                </a:cubicBezTo>
                <a:cubicBezTo>
                  <a:pt x="594" y="310"/>
                  <a:pt x="597" y="316"/>
                  <a:pt x="605" y="319"/>
                </a:cubicBezTo>
                <a:cubicBezTo>
                  <a:pt x="607" y="324"/>
                  <a:pt x="601" y="323"/>
                  <a:pt x="601" y="328"/>
                </a:cubicBezTo>
                <a:cubicBezTo>
                  <a:pt x="608" y="328"/>
                  <a:pt x="603" y="333"/>
                  <a:pt x="605" y="338"/>
                </a:cubicBezTo>
                <a:cubicBezTo>
                  <a:pt x="608" y="341"/>
                  <a:pt x="615" y="341"/>
                  <a:pt x="620" y="342"/>
                </a:cubicBezTo>
                <a:cubicBezTo>
                  <a:pt x="620" y="347"/>
                  <a:pt x="622" y="348"/>
                  <a:pt x="621" y="353"/>
                </a:cubicBezTo>
                <a:cubicBezTo>
                  <a:pt x="626" y="352"/>
                  <a:pt x="625" y="357"/>
                  <a:pt x="630" y="355"/>
                </a:cubicBezTo>
                <a:cubicBezTo>
                  <a:pt x="628" y="359"/>
                  <a:pt x="629" y="362"/>
                  <a:pt x="631" y="365"/>
                </a:cubicBezTo>
                <a:cubicBezTo>
                  <a:pt x="632" y="369"/>
                  <a:pt x="624" y="366"/>
                  <a:pt x="626" y="372"/>
                </a:cubicBezTo>
                <a:cubicBezTo>
                  <a:pt x="633" y="374"/>
                  <a:pt x="630" y="367"/>
                  <a:pt x="634" y="366"/>
                </a:cubicBezTo>
                <a:cubicBezTo>
                  <a:pt x="638" y="371"/>
                  <a:pt x="639" y="370"/>
                  <a:pt x="645" y="372"/>
                </a:cubicBezTo>
                <a:cubicBezTo>
                  <a:pt x="648" y="365"/>
                  <a:pt x="642" y="364"/>
                  <a:pt x="647" y="359"/>
                </a:cubicBezTo>
                <a:cubicBezTo>
                  <a:pt x="643" y="358"/>
                  <a:pt x="642" y="353"/>
                  <a:pt x="638" y="352"/>
                </a:cubicBezTo>
                <a:cubicBezTo>
                  <a:pt x="639" y="349"/>
                  <a:pt x="646" y="349"/>
                  <a:pt x="641" y="344"/>
                </a:cubicBezTo>
                <a:cubicBezTo>
                  <a:pt x="644" y="344"/>
                  <a:pt x="644" y="346"/>
                  <a:pt x="647" y="345"/>
                </a:cubicBezTo>
                <a:cubicBezTo>
                  <a:pt x="648" y="335"/>
                  <a:pt x="645" y="334"/>
                  <a:pt x="646" y="328"/>
                </a:cubicBezTo>
                <a:cubicBezTo>
                  <a:pt x="642" y="328"/>
                  <a:pt x="640" y="326"/>
                  <a:pt x="637" y="325"/>
                </a:cubicBezTo>
                <a:cubicBezTo>
                  <a:pt x="637" y="324"/>
                  <a:pt x="639" y="323"/>
                  <a:pt x="640" y="322"/>
                </a:cubicBezTo>
                <a:cubicBezTo>
                  <a:pt x="637" y="319"/>
                  <a:pt x="636" y="321"/>
                  <a:pt x="631" y="322"/>
                </a:cubicBezTo>
                <a:cubicBezTo>
                  <a:pt x="628" y="321"/>
                  <a:pt x="630" y="316"/>
                  <a:pt x="629" y="313"/>
                </a:cubicBezTo>
                <a:cubicBezTo>
                  <a:pt x="623" y="315"/>
                  <a:pt x="622" y="310"/>
                  <a:pt x="616" y="311"/>
                </a:cubicBezTo>
                <a:cubicBezTo>
                  <a:pt x="612" y="303"/>
                  <a:pt x="616" y="300"/>
                  <a:pt x="622" y="296"/>
                </a:cubicBezTo>
                <a:cubicBezTo>
                  <a:pt x="617" y="291"/>
                  <a:pt x="622" y="293"/>
                  <a:pt x="623" y="287"/>
                </a:cubicBezTo>
                <a:cubicBezTo>
                  <a:pt x="610" y="278"/>
                  <a:pt x="596" y="286"/>
                  <a:pt x="584" y="279"/>
                </a:cubicBezTo>
                <a:cubicBezTo>
                  <a:pt x="590" y="260"/>
                  <a:pt x="608" y="275"/>
                  <a:pt x="623" y="270"/>
                </a:cubicBezTo>
                <a:cubicBezTo>
                  <a:pt x="626" y="271"/>
                  <a:pt x="624" y="276"/>
                  <a:pt x="626" y="277"/>
                </a:cubicBezTo>
                <a:cubicBezTo>
                  <a:pt x="633" y="277"/>
                  <a:pt x="634" y="278"/>
                  <a:pt x="640" y="276"/>
                </a:cubicBezTo>
                <a:cubicBezTo>
                  <a:pt x="639" y="271"/>
                  <a:pt x="633" y="273"/>
                  <a:pt x="633" y="267"/>
                </a:cubicBezTo>
                <a:cubicBezTo>
                  <a:pt x="633" y="263"/>
                  <a:pt x="636" y="265"/>
                  <a:pt x="639" y="266"/>
                </a:cubicBezTo>
                <a:cubicBezTo>
                  <a:pt x="637" y="261"/>
                  <a:pt x="633" y="259"/>
                  <a:pt x="628" y="258"/>
                </a:cubicBezTo>
                <a:cubicBezTo>
                  <a:pt x="628" y="263"/>
                  <a:pt x="630" y="269"/>
                  <a:pt x="627" y="272"/>
                </a:cubicBezTo>
                <a:cubicBezTo>
                  <a:pt x="623" y="261"/>
                  <a:pt x="613" y="256"/>
                  <a:pt x="609" y="249"/>
                </a:cubicBezTo>
                <a:cubicBezTo>
                  <a:pt x="608" y="248"/>
                  <a:pt x="607" y="248"/>
                  <a:pt x="607" y="247"/>
                </a:cubicBezTo>
                <a:cubicBezTo>
                  <a:pt x="608" y="248"/>
                  <a:pt x="608" y="248"/>
                  <a:pt x="609" y="249"/>
                </a:cubicBezTo>
                <a:cubicBezTo>
                  <a:pt x="611" y="251"/>
                  <a:pt x="614" y="252"/>
                  <a:pt x="613" y="247"/>
                </a:cubicBezTo>
                <a:cubicBezTo>
                  <a:pt x="624" y="246"/>
                  <a:pt x="632" y="256"/>
                  <a:pt x="651" y="252"/>
                </a:cubicBezTo>
                <a:cubicBezTo>
                  <a:pt x="641" y="241"/>
                  <a:pt x="628" y="235"/>
                  <a:pt x="615" y="229"/>
                </a:cubicBezTo>
                <a:cubicBezTo>
                  <a:pt x="610" y="228"/>
                  <a:pt x="612" y="232"/>
                  <a:pt x="609" y="233"/>
                </a:cubicBezTo>
                <a:cubicBezTo>
                  <a:pt x="604" y="229"/>
                  <a:pt x="602" y="230"/>
                  <a:pt x="594" y="228"/>
                </a:cubicBezTo>
                <a:cubicBezTo>
                  <a:pt x="600" y="234"/>
                  <a:pt x="604" y="237"/>
                  <a:pt x="603" y="247"/>
                </a:cubicBezTo>
                <a:cubicBezTo>
                  <a:pt x="601" y="251"/>
                  <a:pt x="592" y="250"/>
                  <a:pt x="593" y="257"/>
                </a:cubicBezTo>
                <a:cubicBezTo>
                  <a:pt x="586" y="257"/>
                  <a:pt x="580" y="259"/>
                  <a:pt x="577" y="263"/>
                </a:cubicBezTo>
                <a:cubicBezTo>
                  <a:pt x="573" y="263"/>
                  <a:pt x="573" y="256"/>
                  <a:pt x="577" y="256"/>
                </a:cubicBezTo>
                <a:cubicBezTo>
                  <a:pt x="574" y="254"/>
                  <a:pt x="570" y="252"/>
                  <a:pt x="569" y="247"/>
                </a:cubicBezTo>
                <a:cubicBezTo>
                  <a:pt x="560" y="245"/>
                  <a:pt x="549" y="241"/>
                  <a:pt x="541" y="248"/>
                </a:cubicBezTo>
                <a:cubicBezTo>
                  <a:pt x="530" y="248"/>
                  <a:pt x="532" y="234"/>
                  <a:pt x="521" y="233"/>
                </a:cubicBezTo>
                <a:cubicBezTo>
                  <a:pt x="519" y="223"/>
                  <a:pt x="531" y="221"/>
                  <a:pt x="527" y="214"/>
                </a:cubicBezTo>
                <a:cubicBezTo>
                  <a:pt x="534" y="218"/>
                  <a:pt x="536" y="207"/>
                  <a:pt x="545" y="212"/>
                </a:cubicBezTo>
                <a:cubicBezTo>
                  <a:pt x="545" y="203"/>
                  <a:pt x="538" y="203"/>
                  <a:pt x="537" y="196"/>
                </a:cubicBezTo>
                <a:cubicBezTo>
                  <a:pt x="548" y="194"/>
                  <a:pt x="550" y="186"/>
                  <a:pt x="564" y="188"/>
                </a:cubicBezTo>
                <a:cubicBezTo>
                  <a:pt x="566" y="193"/>
                  <a:pt x="574" y="192"/>
                  <a:pt x="571" y="197"/>
                </a:cubicBezTo>
                <a:cubicBezTo>
                  <a:pt x="577" y="198"/>
                  <a:pt x="579" y="197"/>
                  <a:pt x="585" y="199"/>
                </a:cubicBezTo>
                <a:cubicBezTo>
                  <a:pt x="584" y="192"/>
                  <a:pt x="579" y="194"/>
                  <a:pt x="575" y="189"/>
                </a:cubicBezTo>
                <a:cubicBezTo>
                  <a:pt x="597" y="186"/>
                  <a:pt x="624" y="199"/>
                  <a:pt x="648" y="196"/>
                </a:cubicBezTo>
                <a:cubicBezTo>
                  <a:pt x="636" y="187"/>
                  <a:pt x="624" y="192"/>
                  <a:pt x="614" y="187"/>
                </a:cubicBezTo>
                <a:cubicBezTo>
                  <a:pt x="620" y="178"/>
                  <a:pt x="632" y="187"/>
                  <a:pt x="638" y="186"/>
                </a:cubicBezTo>
                <a:cubicBezTo>
                  <a:pt x="640" y="185"/>
                  <a:pt x="634" y="180"/>
                  <a:pt x="631" y="178"/>
                </a:cubicBezTo>
                <a:cubicBezTo>
                  <a:pt x="634" y="175"/>
                  <a:pt x="639" y="183"/>
                  <a:pt x="645" y="181"/>
                </a:cubicBezTo>
                <a:cubicBezTo>
                  <a:pt x="637" y="171"/>
                  <a:pt x="656" y="169"/>
                  <a:pt x="661" y="174"/>
                </a:cubicBezTo>
                <a:cubicBezTo>
                  <a:pt x="666" y="169"/>
                  <a:pt x="660" y="165"/>
                  <a:pt x="655" y="163"/>
                </a:cubicBezTo>
                <a:cubicBezTo>
                  <a:pt x="653" y="159"/>
                  <a:pt x="660" y="161"/>
                  <a:pt x="663" y="160"/>
                </a:cubicBezTo>
                <a:cubicBezTo>
                  <a:pt x="663" y="168"/>
                  <a:pt x="675" y="164"/>
                  <a:pt x="678" y="168"/>
                </a:cubicBezTo>
                <a:cubicBezTo>
                  <a:pt x="677" y="169"/>
                  <a:pt x="675" y="169"/>
                  <a:pt x="676" y="172"/>
                </a:cubicBezTo>
                <a:cubicBezTo>
                  <a:pt x="682" y="176"/>
                  <a:pt x="689" y="179"/>
                  <a:pt x="699" y="178"/>
                </a:cubicBezTo>
                <a:cubicBezTo>
                  <a:pt x="699" y="175"/>
                  <a:pt x="700" y="175"/>
                  <a:pt x="700" y="172"/>
                </a:cubicBezTo>
                <a:cubicBezTo>
                  <a:pt x="704" y="174"/>
                  <a:pt x="705" y="171"/>
                  <a:pt x="707" y="175"/>
                </a:cubicBezTo>
                <a:cubicBezTo>
                  <a:pt x="710" y="174"/>
                  <a:pt x="705" y="171"/>
                  <a:pt x="708" y="169"/>
                </a:cubicBezTo>
                <a:cubicBezTo>
                  <a:pt x="717" y="168"/>
                  <a:pt x="719" y="175"/>
                  <a:pt x="728" y="172"/>
                </a:cubicBezTo>
                <a:cubicBezTo>
                  <a:pt x="725" y="170"/>
                  <a:pt x="731" y="169"/>
                  <a:pt x="732" y="167"/>
                </a:cubicBezTo>
                <a:cubicBezTo>
                  <a:pt x="728" y="164"/>
                  <a:pt x="726" y="164"/>
                  <a:pt x="729" y="159"/>
                </a:cubicBezTo>
                <a:cubicBezTo>
                  <a:pt x="727" y="157"/>
                  <a:pt x="723" y="158"/>
                  <a:pt x="721" y="156"/>
                </a:cubicBezTo>
                <a:cubicBezTo>
                  <a:pt x="729" y="150"/>
                  <a:pt x="743" y="162"/>
                  <a:pt x="747" y="153"/>
                </a:cubicBezTo>
                <a:cubicBezTo>
                  <a:pt x="752" y="155"/>
                  <a:pt x="752" y="158"/>
                  <a:pt x="751" y="165"/>
                </a:cubicBezTo>
                <a:cubicBezTo>
                  <a:pt x="760" y="167"/>
                  <a:pt x="770" y="159"/>
                  <a:pt x="785" y="164"/>
                </a:cubicBezTo>
                <a:cubicBezTo>
                  <a:pt x="778" y="160"/>
                  <a:pt x="783" y="154"/>
                  <a:pt x="788" y="151"/>
                </a:cubicBezTo>
                <a:cubicBezTo>
                  <a:pt x="792" y="154"/>
                  <a:pt x="794" y="158"/>
                  <a:pt x="800" y="160"/>
                </a:cubicBezTo>
                <a:cubicBezTo>
                  <a:pt x="804" y="158"/>
                  <a:pt x="801" y="158"/>
                  <a:pt x="801" y="154"/>
                </a:cubicBezTo>
                <a:cubicBezTo>
                  <a:pt x="808" y="153"/>
                  <a:pt x="816" y="153"/>
                  <a:pt x="821" y="149"/>
                </a:cubicBezTo>
                <a:cubicBezTo>
                  <a:pt x="822" y="150"/>
                  <a:pt x="822" y="151"/>
                  <a:pt x="824" y="151"/>
                </a:cubicBezTo>
                <a:cubicBezTo>
                  <a:pt x="821" y="157"/>
                  <a:pt x="823" y="156"/>
                  <a:pt x="827" y="161"/>
                </a:cubicBezTo>
                <a:cubicBezTo>
                  <a:pt x="826" y="163"/>
                  <a:pt x="824" y="163"/>
                  <a:pt x="824" y="165"/>
                </a:cubicBezTo>
                <a:cubicBezTo>
                  <a:pt x="818" y="167"/>
                  <a:pt x="821" y="159"/>
                  <a:pt x="816" y="159"/>
                </a:cubicBezTo>
                <a:cubicBezTo>
                  <a:pt x="817" y="165"/>
                  <a:pt x="819" y="168"/>
                  <a:pt x="826" y="168"/>
                </a:cubicBezTo>
                <a:cubicBezTo>
                  <a:pt x="825" y="175"/>
                  <a:pt x="830" y="177"/>
                  <a:pt x="836" y="177"/>
                </a:cubicBezTo>
                <a:cubicBezTo>
                  <a:pt x="834" y="175"/>
                  <a:pt x="830" y="176"/>
                  <a:pt x="831" y="170"/>
                </a:cubicBezTo>
                <a:cubicBezTo>
                  <a:pt x="840" y="173"/>
                  <a:pt x="850" y="181"/>
                  <a:pt x="860" y="181"/>
                </a:cubicBezTo>
                <a:cubicBezTo>
                  <a:pt x="861" y="177"/>
                  <a:pt x="855" y="178"/>
                  <a:pt x="856" y="173"/>
                </a:cubicBezTo>
                <a:cubicBezTo>
                  <a:pt x="858" y="169"/>
                  <a:pt x="865" y="178"/>
                  <a:pt x="868" y="173"/>
                </a:cubicBezTo>
                <a:cubicBezTo>
                  <a:pt x="865" y="169"/>
                  <a:pt x="858" y="167"/>
                  <a:pt x="850" y="167"/>
                </a:cubicBezTo>
                <a:cubicBezTo>
                  <a:pt x="854" y="158"/>
                  <a:pt x="862" y="169"/>
                  <a:pt x="870" y="165"/>
                </a:cubicBezTo>
                <a:cubicBezTo>
                  <a:pt x="870" y="162"/>
                  <a:pt x="864" y="164"/>
                  <a:pt x="863" y="161"/>
                </a:cubicBezTo>
                <a:cubicBezTo>
                  <a:pt x="866" y="158"/>
                  <a:pt x="872" y="160"/>
                  <a:pt x="871" y="154"/>
                </a:cubicBezTo>
                <a:cubicBezTo>
                  <a:pt x="863" y="153"/>
                  <a:pt x="862" y="147"/>
                  <a:pt x="861" y="142"/>
                </a:cubicBezTo>
                <a:cubicBezTo>
                  <a:pt x="871" y="149"/>
                  <a:pt x="879" y="149"/>
                  <a:pt x="886" y="155"/>
                </a:cubicBezTo>
                <a:cubicBezTo>
                  <a:pt x="889" y="154"/>
                  <a:pt x="886" y="149"/>
                  <a:pt x="887" y="146"/>
                </a:cubicBezTo>
                <a:cubicBezTo>
                  <a:pt x="875" y="141"/>
                  <a:pt x="870" y="142"/>
                  <a:pt x="858" y="137"/>
                </a:cubicBezTo>
                <a:cubicBezTo>
                  <a:pt x="866" y="132"/>
                  <a:pt x="877" y="130"/>
                  <a:pt x="887" y="136"/>
                </a:cubicBezTo>
                <a:cubicBezTo>
                  <a:pt x="891" y="136"/>
                  <a:pt x="889" y="131"/>
                  <a:pt x="894" y="132"/>
                </a:cubicBezTo>
                <a:cubicBezTo>
                  <a:pt x="892" y="129"/>
                  <a:pt x="886" y="128"/>
                  <a:pt x="885" y="123"/>
                </a:cubicBezTo>
                <a:cubicBezTo>
                  <a:pt x="887" y="122"/>
                  <a:pt x="890" y="123"/>
                  <a:pt x="893" y="119"/>
                </a:cubicBezTo>
                <a:cubicBezTo>
                  <a:pt x="896" y="120"/>
                  <a:pt x="890" y="124"/>
                  <a:pt x="894" y="126"/>
                </a:cubicBezTo>
                <a:cubicBezTo>
                  <a:pt x="900" y="125"/>
                  <a:pt x="902" y="128"/>
                  <a:pt x="907" y="129"/>
                </a:cubicBezTo>
                <a:cubicBezTo>
                  <a:pt x="906" y="133"/>
                  <a:pt x="907" y="136"/>
                  <a:pt x="908" y="137"/>
                </a:cubicBezTo>
                <a:cubicBezTo>
                  <a:pt x="912" y="136"/>
                  <a:pt x="917" y="131"/>
                  <a:pt x="918" y="138"/>
                </a:cubicBezTo>
                <a:cubicBezTo>
                  <a:pt x="928" y="135"/>
                  <a:pt x="940" y="141"/>
                  <a:pt x="953" y="139"/>
                </a:cubicBezTo>
                <a:cubicBezTo>
                  <a:pt x="946" y="134"/>
                  <a:pt x="935" y="128"/>
                  <a:pt x="923" y="134"/>
                </a:cubicBezTo>
                <a:cubicBezTo>
                  <a:pt x="917" y="129"/>
                  <a:pt x="918" y="124"/>
                  <a:pt x="912" y="120"/>
                </a:cubicBezTo>
                <a:cubicBezTo>
                  <a:pt x="911" y="116"/>
                  <a:pt x="915" y="118"/>
                  <a:pt x="915" y="115"/>
                </a:cubicBezTo>
                <a:cubicBezTo>
                  <a:pt x="921" y="121"/>
                  <a:pt x="929" y="127"/>
                  <a:pt x="936" y="121"/>
                </a:cubicBezTo>
                <a:cubicBezTo>
                  <a:pt x="936" y="124"/>
                  <a:pt x="938" y="128"/>
                  <a:pt x="933" y="127"/>
                </a:cubicBezTo>
                <a:cubicBezTo>
                  <a:pt x="943" y="135"/>
                  <a:pt x="959" y="122"/>
                  <a:pt x="964" y="135"/>
                </a:cubicBezTo>
                <a:cubicBezTo>
                  <a:pt x="963" y="138"/>
                  <a:pt x="955" y="137"/>
                  <a:pt x="955" y="134"/>
                </a:cubicBezTo>
                <a:cubicBezTo>
                  <a:pt x="952" y="137"/>
                  <a:pt x="959" y="141"/>
                  <a:pt x="964" y="140"/>
                </a:cubicBezTo>
                <a:cubicBezTo>
                  <a:pt x="965" y="147"/>
                  <a:pt x="965" y="155"/>
                  <a:pt x="977" y="153"/>
                </a:cubicBezTo>
                <a:cubicBezTo>
                  <a:pt x="975" y="152"/>
                  <a:pt x="975" y="150"/>
                  <a:pt x="975" y="146"/>
                </a:cubicBezTo>
                <a:cubicBezTo>
                  <a:pt x="979" y="146"/>
                  <a:pt x="978" y="150"/>
                  <a:pt x="983" y="149"/>
                </a:cubicBezTo>
                <a:cubicBezTo>
                  <a:pt x="982" y="154"/>
                  <a:pt x="985" y="154"/>
                  <a:pt x="986" y="157"/>
                </a:cubicBezTo>
                <a:cubicBezTo>
                  <a:pt x="993" y="156"/>
                  <a:pt x="998" y="155"/>
                  <a:pt x="1001" y="156"/>
                </a:cubicBezTo>
                <a:cubicBezTo>
                  <a:pt x="997" y="146"/>
                  <a:pt x="974" y="148"/>
                  <a:pt x="973" y="133"/>
                </a:cubicBezTo>
                <a:cubicBezTo>
                  <a:pt x="976" y="131"/>
                  <a:pt x="987" y="133"/>
                  <a:pt x="984" y="142"/>
                </a:cubicBezTo>
                <a:cubicBezTo>
                  <a:pt x="987" y="143"/>
                  <a:pt x="990" y="145"/>
                  <a:pt x="992" y="143"/>
                </a:cubicBezTo>
                <a:cubicBezTo>
                  <a:pt x="993" y="139"/>
                  <a:pt x="989" y="139"/>
                  <a:pt x="989" y="135"/>
                </a:cubicBezTo>
                <a:cubicBezTo>
                  <a:pt x="997" y="128"/>
                  <a:pt x="1006" y="135"/>
                  <a:pt x="1014" y="138"/>
                </a:cubicBezTo>
                <a:cubicBezTo>
                  <a:pt x="1012" y="132"/>
                  <a:pt x="1016" y="132"/>
                  <a:pt x="1017" y="128"/>
                </a:cubicBezTo>
                <a:cubicBezTo>
                  <a:pt x="1021" y="128"/>
                  <a:pt x="1022" y="131"/>
                  <a:pt x="1024" y="132"/>
                </a:cubicBezTo>
                <a:cubicBezTo>
                  <a:pt x="1027" y="139"/>
                  <a:pt x="1018" y="136"/>
                  <a:pt x="1019" y="142"/>
                </a:cubicBezTo>
                <a:cubicBezTo>
                  <a:pt x="1022" y="142"/>
                  <a:pt x="1024" y="141"/>
                  <a:pt x="1023" y="139"/>
                </a:cubicBezTo>
                <a:cubicBezTo>
                  <a:pt x="1026" y="149"/>
                  <a:pt x="1031" y="153"/>
                  <a:pt x="1038" y="163"/>
                </a:cubicBezTo>
                <a:cubicBezTo>
                  <a:pt x="1046" y="162"/>
                  <a:pt x="1046" y="162"/>
                  <a:pt x="1046" y="162"/>
                </a:cubicBezTo>
                <a:cubicBezTo>
                  <a:pt x="1047" y="154"/>
                  <a:pt x="1054" y="149"/>
                  <a:pt x="1060" y="149"/>
                </a:cubicBezTo>
                <a:cubicBezTo>
                  <a:pt x="1059" y="145"/>
                  <a:pt x="1057" y="148"/>
                  <a:pt x="1054" y="148"/>
                </a:cubicBezTo>
                <a:cubicBezTo>
                  <a:pt x="1054" y="144"/>
                  <a:pt x="1053" y="143"/>
                  <a:pt x="1054" y="138"/>
                </a:cubicBezTo>
                <a:cubicBezTo>
                  <a:pt x="1047" y="138"/>
                  <a:pt x="1044" y="133"/>
                  <a:pt x="1043" y="126"/>
                </a:cubicBezTo>
                <a:cubicBezTo>
                  <a:pt x="1038" y="129"/>
                  <a:pt x="1037" y="122"/>
                  <a:pt x="1029" y="124"/>
                </a:cubicBezTo>
                <a:cubicBezTo>
                  <a:pt x="1031" y="113"/>
                  <a:pt x="1044" y="130"/>
                  <a:pt x="1045" y="119"/>
                </a:cubicBezTo>
                <a:cubicBezTo>
                  <a:pt x="1053" y="122"/>
                  <a:pt x="1059" y="126"/>
                  <a:pt x="1064" y="132"/>
                </a:cubicBezTo>
                <a:cubicBezTo>
                  <a:pt x="1060" y="136"/>
                  <a:pt x="1057" y="128"/>
                  <a:pt x="1053" y="128"/>
                </a:cubicBezTo>
                <a:cubicBezTo>
                  <a:pt x="1053" y="131"/>
                  <a:pt x="1051" y="131"/>
                  <a:pt x="1052" y="134"/>
                </a:cubicBezTo>
                <a:cubicBezTo>
                  <a:pt x="1058" y="137"/>
                  <a:pt x="1067" y="132"/>
                  <a:pt x="1071" y="137"/>
                </a:cubicBezTo>
                <a:cubicBezTo>
                  <a:pt x="1074" y="135"/>
                  <a:pt x="1067" y="134"/>
                  <a:pt x="1068" y="132"/>
                </a:cubicBezTo>
                <a:cubicBezTo>
                  <a:pt x="1071" y="128"/>
                  <a:pt x="1082" y="130"/>
                  <a:pt x="1077" y="139"/>
                </a:cubicBezTo>
                <a:cubicBezTo>
                  <a:pt x="1085" y="140"/>
                  <a:pt x="1086" y="142"/>
                  <a:pt x="1092" y="141"/>
                </a:cubicBezTo>
                <a:cubicBezTo>
                  <a:pt x="1093" y="139"/>
                  <a:pt x="1091" y="138"/>
                  <a:pt x="1091" y="136"/>
                </a:cubicBezTo>
                <a:cubicBezTo>
                  <a:pt x="1095" y="136"/>
                  <a:pt x="1102" y="140"/>
                  <a:pt x="1106" y="137"/>
                </a:cubicBezTo>
                <a:cubicBezTo>
                  <a:pt x="1110" y="137"/>
                  <a:pt x="1109" y="144"/>
                  <a:pt x="1114" y="143"/>
                </a:cubicBezTo>
                <a:cubicBezTo>
                  <a:pt x="1108" y="137"/>
                  <a:pt x="1119" y="140"/>
                  <a:pt x="1124" y="140"/>
                </a:cubicBezTo>
                <a:cubicBezTo>
                  <a:pt x="1122" y="136"/>
                  <a:pt x="1122" y="136"/>
                  <a:pt x="1123" y="132"/>
                </a:cubicBezTo>
                <a:cubicBezTo>
                  <a:pt x="1126" y="132"/>
                  <a:pt x="1127" y="134"/>
                  <a:pt x="1131" y="133"/>
                </a:cubicBezTo>
                <a:cubicBezTo>
                  <a:pt x="1131" y="130"/>
                  <a:pt x="1134" y="130"/>
                  <a:pt x="1132" y="126"/>
                </a:cubicBezTo>
                <a:cubicBezTo>
                  <a:pt x="1125" y="127"/>
                  <a:pt x="1119" y="126"/>
                  <a:pt x="1112" y="123"/>
                </a:cubicBezTo>
                <a:cubicBezTo>
                  <a:pt x="1108" y="125"/>
                  <a:pt x="1114" y="128"/>
                  <a:pt x="1115" y="129"/>
                </a:cubicBezTo>
                <a:cubicBezTo>
                  <a:pt x="1114" y="136"/>
                  <a:pt x="1100" y="125"/>
                  <a:pt x="1100" y="131"/>
                </a:cubicBezTo>
                <a:cubicBezTo>
                  <a:pt x="1098" y="130"/>
                  <a:pt x="1098" y="126"/>
                  <a:pt x="1097" y="123"/>
                </a:cubicBezTo>
                <a:cubicBezTo>
                  <a:pt x="1100" y="123"/>
                  <a:pt x="1106" y="126"/>
                  <a:pt x="1106" y="119"/>
                </a:cubicBezTo>
                <a:cubicBezTo>
                  <a:pt x="1098" y="124"/>
                  <a:pt x="1091" y="114"/>
                  <a:pt x="1084" y="115"/>
                </a:cubicBezTo>
                <a:cubicBezTo>
                  <a:pt x="1082" y="109"/>
                  <a:pt x="1079" y="104"/>
                  <a:pt x="1072" y="104"/>
                </a:cubicBezTo>
                <a:cubicBezTo>
                  <a:pt x="1073" y="99"/>
                  <a:pt x="1079" y="98"/>
                  <a:pt x="1078" y="90"/>
                </a:cubicBezTo>
                <a:cubicBezTo>
                  <a:pt x="1076" y="91"/>
                  <a:pt x="1075" y="89"/>
                  <a:pt x="1073" y="89"/>
                </a:cubicBezTo>
                <a:cubicBezTo>
                  <a:pt x="1074" y="93"/>
                  <a:pt x="1073" y="92"/>
                  <a:pt x="1074" y="97"/>
                </a:cubicBezTo>
                <a:cubicBezTo>
                  <a:pt x="1070" y="94"/>
                  <a:pt x="1068" y="83"/>
                  <a:pt x="1063" y="84"/>
                </a:cubicBezTo>
                <a:cubicBezTo>
                  <a:pt x="1059" y="87"/>
                  <a:pt x="1057" y="93"/>
                  <a:pt x="1063" y="94"/>
                </a:cubicBezTo>
                <a:cubicBezTo>
                  <a:pt x="1053" y="98"/>
                  <a:pt x="1057" y="108"/>
                  <a:pt x="1059" y="116"/>
                </a:cubicBezTo>
                <a:cubicBezTo>
                  <a:pt x="1050" y="114"/>
                  <a:pt x="1045" y="101"/>
                  <a:pt x="1037" y="103"/>
                </a:cubicBezTo>
                <a:cubicBezTo>
                  <a:pt x="1035" y="99"/>
                  <a:pt x="1036" y="100"/>
                  <a:pt x="1036" y="95"/>
                </a:cubicBezTo>
                <a:cubicBezTo>
                  <a:pt x="1027" y="93"/>
                  <a:pt x="1025" y="87"/>
                  <a:pt x="1016" y="86"/>
                </a:cubicBezTo>
                <a:cubicBezTo>
                  <a:pt x="1013" y="90"/>
                  <a:pt x="1019" y="93"/>
                  <a:pt x="1021" y="96"/>
                </a:cubicBezTo>
                <a:cubicBezTo>
                  <a:pt x="1020" y="100"/>
                  <a:pt x="1018" y="96"/>
                  <a:pt x="1016" y="99"/>
                </a:cubicBezTo>
                <a:cubicBezTo>
                  <a:pt x="1015" y="103"/>
                  <a:pt x="1018" y="102"/>
                  <a:pt x="1018" y="105"/>
                </a:cubicBezTo>
                <a:cubicBezTo>
                  <a:pt x="1015" y="107"/>
                  <a:pt x="1012" y="105"/>
                  <a:pt x="1014" y="112"/>
                </a:cubicBezTo>
                <a:cubicBezTo>
                  <a:pt x="1001" y="104"/>
                  <a:pt x="991" y="93"/>
                  <a:pt x="970" y="94"/>
                </a:cubicBezTo>
                <a:cubicBezTo>
                  <a:pt x="969" y="92"/>
                  <a:pt x="971" y="91"/>
                  <a:pt x="972" y="91"/>
                </a:cubicBezTo>
                <a:cubicBezTo>
                  <a:pt x="964" y="84"/>
                  <a:pt x="962" y="79"/>
                  <a:pt x="961" y="70"/>
                </a:cubicBezTo>
                <a:cubicBezTo>
                  <a:pt x="956" y="71"/>
                  <a:pt x="961" y="74"/>
                  <a:pt x="960" y="80"/>
                </a:cubicBezTo>
                <a:cubicBezTo>
                  <a:pt x="955" y="81"/>
                  <a:pt x="954" y="78"/>
                  <a:pt x="952" y="77"/>
                </a:cubicBezTo>
                <a:cubicBezTo>
                  <a:pt x="956" y="76"/>
                  <a:pt x="957" y="69"/>
                  <a:pt x="955" y="65"/>
                </a:cubicBezTo>
                <a:cubicBezTo>
                  <a:pt x="952" y="65"/>
                  <a:pt x="950" y="65"/>
                  <a:pt x="948" y="64"/>
                </a:cubicBezTo>
                <a:cubicBezTo>
                  <a:pt x="948" y="61"/>
                  <a:pt x="950" y="61"/>
                  <a:pt x="949" y="58"/>
                </a:cubicBezTo>
                <a:cubicBezTo>
                  <a:pt x="955" y="58"/>
                  <a:pt x="960" y="59"/>
                  <a:pt x="960" y="54"/>
                </a:cubicBezTo>
                <a:cubicBezTo>
                  <a:pt x="972" y="60"/>
                  <a:pt x="983" y="59"/>
                  <a:pt x="994" y="64"/>
                </a:cubicBezTo>
                <a:cubicBezTo>
                  <a:pt x="995" y="58"/>
                  <a:pt x="990" y="58"/>
                  <a:pt x="987" y="55"/>
                </a:cubicBezTo>
                <a:cubicBezTo>
                  <a:pt x="986" y="56"/>
                  <a:pt x="986" y="58"/>
                  <a:pt x="986" y="59"/>
                </a:cubicBezTo>
                <a:cubicBezTo>
                  <a:pt x="979" y="58"/>
                  <a:pt x="982" y="54"/>
                  <a:pt x="976" y="50"/>
                </a:cubicBezTo>
                <a:cubicBezTo>
                  <a:pt x="978" y="46"/>
                  <a:pt x="985" y="48"/>
                  <a:pt x="992" y="48"/>
                </a:cubicBezTo>
                <a:cubicBezTo>
                  <a:pt x="987" y="45"/>
                  <a:pt x="994" y="35"/>
                  <a:pt x="988" y="34"/>
                </a:cubicBezTo>
                <a:cubicBezTo>
                  <a:pt x="989" y="29"/>
                  <a:pt x="993" y="28"/>
                  <a:pt x="993" y="25"/>
                </a:cubicBezTo>
                <a:cubicBezTo>
                  <a:pt x="990" y="22"/>
                  <a:pt x="987" y="29"/>
                  <a:pt x="980" y="27"/>
                </a:cubicBezTo>
                <a:cubicBezTo>
                  <a:pt x="978" y="32"/>
                  <a:pt x="981" y="33"/>
                  <a:pt x="984" y="36"/>
                </a:cubicBezTo>
                <a:cubicBezTo>
                  <a:pt x="983" y="38"/>
                  <a:pt x="982" y="38"/>
                  <a:pt x="982" y="39"/>
                </a:cubicBezTo>
                <a:cubicBezTo>
                  <a:pt x="976" y="41"/>
                  <a:pt x="978" y="34"/>
                  <a:pt x="974" y="33"/>
                </a:cubicBezTo>
                <a:cubicBezTo>
                  <a:pt x="969" y="34"/>
                  <a:pt x="967" y="39"/>
                  <a:pt x="966" y="44"/>
                </a:cubicBezTo>
                <a:cubicBezTo>
                  <a:pt x="970" y="44"/>
                  <a:pt x="973" y="47"/>
                  <a:pt x="976" y="48"/>
                </a:cubicBezTo>
                <a:cubicBezTo>
                  <a:pt x="961" y="52"/>
                  <a:pt x="946" y="37"/>
                  <a:pt x="934" y="43"/>
                </a:cubicBezTo>
                <a:cubicBezTo>
                  <a:pt x="928" y="42"/>
                  <a:pt x="926" y="36"/>
                  <a:pt x="920" y="35"/>
                </a:cubicBezTo>
                <a:cubicBezTo>
                  <a:pt x="921" y="41"/>
                  <a:pt x="920" y="41"/>
                  <a:pt x="922" y="45"/>
                </a:cubicBezTo>
                <a:cubicBezTo>
                  <a:pt x="926" y="43"/>
                  <a:pt x="927" y="43"/>
                  <a:pt x="930" y="46"/>
                </a:cubicBezTo>
                <a:cubicBezTo>
                  <a:pt x="927" y="50"/>
                  <a:pt x="917" y="45"/>
                  <a:pt x="922" y="51"/>
                </a:cubicBezTo>
                <a:cubicBezTo>
                  <a:pt x="917" y="52"/>
                  <a:pt x="918" y="46"/>
                  <a:pt x="917" y="41"/>
                </a:cubicBezTo>
                <a:cubicBezTo>
                  <a:pt x="912" y="45"/>
                  <a:pt x="910" y="39"/>
                  <a:pt x="907" y="40"/>
                </a:cubicBezTo>
                <a:cubicBezTo>
                  <a:pt x="907" y="39"/>
                  <a:pt x="910" y="38"/>
                  <a:pt x="909" y="36"/>
                </a:cubicBezTo>
                <a:cubicBezTo>
                  <a:pt x="900" y="37"/>
                  <a:pt x="898" y="48"/>
                  <a:pt x="902" y="54"/>
                </a:cubicBezTo>
                <a:cubicBezTo>
                  <a:pt x="914" y="54"/>
                  <a:pt x="924" y="63"/>
                  <a:pt x="933" y="55"/>
                </a:cubicBezTo>
                <a:cubicBezTo>
                  <a:pt x="935" y="56"/>
                  <a:pt x="936" y="58"/>
                  <a:pt x="937" y="60"/>
                </a:cubicBezTo>
                <a:cubicBezTo>
                  <a:pt x="933" y="60"/>
                  <a:pt x="927" y="59"/>
                  <a:pt x="924" y="65"/>
                </a:cubicBezTo>
                <a:cubicBezTo>
                  <a:pt x="917" y="58"/>
                  <a:pt x="908" y="59"/>
                  <a:pt x="895" y="57"/>
                </a:cubicBezTo>
                <a:cubicBezTo>
                  <a:pt x="896" y="53"/>
                  <a:pt x="897" y="55"/>
                  <a:pt x="901" y="55"/>
                </a:cubicBezTo>
                <a:cubicBezTo>
                  <a:pt x="900" y="53"/>
                  <a:pt x="898" y="52"/>
                  <a:pt x="895" y="53"/>
                </a:cubicBezTo>
                <a:cubicBezTo>
                  <a:pt x="898" y="50"/>
                  <a:pt x="895" y="49"/>
                  <a:pt x="893" y="47"/>
                </a:cubicBezTo>
                <a:cubicBezTo>
                  <a:pt x="894" y="41"/>
                  <a:pt x="900" y="37"/>
                  <a:pt x="897" y="31"/>
                </a:cubicBezTo>
                <a:cubicBezTo>
                  <a:pt x="892" y="33"/>
                  <a:pt x="893" y="28"/>
                  <a:pt x="888" y="29"/>
                </a:cubicBezTo>
                <a:cubicBezTo>
                  <a:pt x="885" y="35"/>
                  <a:pt x="880" y="41"/>
                  <a:pt x="873" y="44"/>
                </a:cubicBezTo>
                <a:cubicBezTo>
                  <a:pt x="872" y="50"/>
                  <a:pt x="876" y="59"/>
                  <a:pt x="871" y="60"/>
                </a:cubicBezTo>
                <a:cubicBezTo>
                  <a:pt x="867" y="62"/>
                  <a:pt x="868" y="57"/>
                  <a:pt x="865" y="57"/>
                </a:cubicBezTo>
                <a:cubicBezTo>
                  <a:pt x="866" y="54"/>
                  <a:pt x="871" y="56"/>
                  <a:pt x="872" y="54"/>
                </a:cubicBezTo>
                <a:cubicBezTo>
                  <a:pt x="872" y="50"/>
                  <a:pt x="862" y="44"/>
                  <a:pt x="872" y="43"/>
                </a:cubicBezTo>
                <a:cubicBezTo>
                  <a:pt x="868" y="37"/>
                  <a:pt x="868" y="27"/>
                  <a:pt x="863" y="23"/>
                </a:cubicBezTo>
                <a:cubicBezTo>
                  <a:pt x="856" y="23"/>
                  <a:pt x="852" y="29"/>
                  <a:pt x="845" y="25"/>
                </a:cubicBezTo>
                <a:cubicBezTo>
                  <a:pt x="849" y="12"/>
                  <a:pt x="837" y="0"/>
                  <a:pt x="824" y="8"/>
                </a:cubicBezTo>
                <a:cubicBezTo>
                  <a:pt x="828" y="21"/>
                  <a:pt x="815" y="18"/>
                  <a:pt x="817" y="28"/>
                </a:cubicBezTo>
                <a:cubicBezTo>
                  <a:pt x="824" y="26"/>
                  <a:pt x="835" y="27"/>
                  <a:pt x="842" y="24"/>
                </a:cubicBezTo>
                <a:cubicBezTo>
                  <a:pt x="840" y="29"/>
                  <a:pt x="840" y="31"/>
                  <a:pt x="844" y="35"/>
                </a:cubicBezTo>
                <a:cubicBezTo>
                  <a:pt x="844" y="38"/>
                  <a:pt x="839" y="35"/>
                  <a:pt x="837" y="36"/>
                </a:cubicBezTo>
                <a:cubicBezTo>
                  <a:pt x="838" y="48"/>
                  <a:pt x="839" y="49"/>
                  <a:pt x="842" y="58"/>
                </a:cubicBezTo>
                <a:cubicBezTo>
                  <a:pt x="847" y="58"/>
                  <a:pt x="846" y="53"/>
                  <a:pt x="849" y="52"/>
                </a:cubicBezTo>
                <a:cubicBezTo>
                  <a:pt x="853" y="53"/>
                  <a:pt x="854" y="57"/>
                  <a:pt x="859" y="54"/>
                </a:cubicBezTo>
                <a:cubicBezTo>
                  <a:pt x="856" y="52"/>
                  <a:pt x="860" y="49"/>
                  <a:pt x="854" y="49"/>
                </a:cubicBezTo>
                <a:cubicBezTo>
                  <a:pt x="856" y="43"/>
                  <a:pt x="863" y="49"/>
                  <a:pt x="864" y="53"/>
                </a:cubicBezTo>
                <a:cubicBezTo>
                  <a:pt x="863" y="55"/>
                  <a:pt x="860" y="56"/>
                  <a:pt x="856" y="56"/>
                </a:cubicBezTo>
                <a:cubicBezTo>
                  <a:pt x="859" y="62"/>
                  <a:pt x="865" y="64"/>
                  <a:pt x="873" y="64"/>
                </a:cubicBezTo>
                <a:cubicBezTo>
                  <a:pt x="865" y="65"/>
                  <a:pt x="856" y="67"/>
                  <a:pt x="851" y="69"/>
                </a:cubicBezTo>
                <a:cubicBezTo>
                  <a:pt x="849" y="66"/>
                  <a:pt x="847" y="62"/>
                  <a:pt x="840" y="63"/>
                </a:cubicBezTo>
                <a:cubicBezTo>
                  <a:pt x="837" y="66"/>
                  <a:pt x="842" y="68"/>
                  <a:pt x="843" y="71"/>
                </a:cubicBezTo>
                <a:cubicBezTo>
                  <a:pt x="839" y="71"/>
                  <a:pt x="838" y="69"/>
                  <a:pt x="839" y="74"/>
                </a:cubicBezTo>
                <a:cubicBezTo>
                  <a:pt x="829" y="67"/>
                  <a:pt x="819" y="64"/>
                  <a:pt x="819" y="49"/>
                </a:cubicBezTo>
                <a:cubicBezTo>
                  <a:pt x="819" y="46"/>
                  <a:pt x="822" y="46"/>
                  <a:pt x="826" y="46"/>
                </a:cubicBezTo>
                <a:cubicBezTo>
                  <a:pt x="820" y="43"/>
                  <a:pt x="826" y="42"/>
                  <a:pt x="827" y="38"/>
                </a:cubicBezTo>
                <a:cubicBezTo>
                  <a:pt x="819" y="36"/>
                  <a:pt x="817" y="27"/>
                  <a:pt x="807" y="27"/>
                </a:cubicBezTo>
                <a:cubicBezTo>
                  <a:pt x="806" y="37"/>
                  <a:pt x="801" y="43"/>
                  <a:pt x="790" y="45"/>
                </a:cubicBezTo>
                <a:cubicBezTo>
                  <a:pt x="790" y="49"/>
                  <a:pt x="796" y="49"/>
                  <a:pt x="792" y="53"/>
                </a:cubicBezTo>
                <a:cubicBezTo>
                  <a:pt x="792" y="56"/>
                  <a:pt x="787" y="51"/>
                  <a:pt x="784" y="51"/>
                </a:cubicBezTo>
                <a:cubicBezTo>
                  <a:pt x="788" y="36"/>
                  <a:pt x="771" y="23"/>
                  <a:pt x="764" y="38"/>
                </a:cubicBezTo>
                <a:cubicBezTo>
                  <a:pt x="764" y="35"/>
                  <a:pt x="759" y="37"/>
                  <a:pt x="758" y="34"/>
                </a:cubicBezTo>
                <a:cubicBezTo>
                  <a:pt x="758" y="32"/>
                  <a:pt x="762" y="36"/>
                  <a:pt x="766" y="34"/>
                </a:cubicBezTo>
                <a:cubicBezTo>
                  <a:pt x="766" y="25"/>
                  <a:pt x="770" y="20"/>
                  <a:pt x="781" y="21"/>
                </a:cubicBezTo>
                <a:cubicBezTo>
                  <a:pt x="778" y="12"/>
                  <a:pt x="765" y="6"/>
                  <a:pt x="752" y="12"/>
                </a:cubicBezTo>
                <a:cubicBezTo>
                  <a:pt x="757" y="27"/>
                  <a:pt x="735" y="44"/>
                  <a:pt x="717" y="43"/>
                </a:cubicBezTo>
                <a:cubicBezTo>
                  <a:pt x="716" y="47"/>
                  <a:pt x="719" y="46"/>
                  <a:pt x="719" y="50"/>
                </a:cubicBezTo>
                <a:cubicBezTo>
                  <a:pt x="712" y="49"/>
                  <a:pt x="706" y="47"/>
                  <a:pt x="704" y="41"/>
                </a:cubicBezTo>
                <a:cubicBezTo>
                  <a:pt x="704" y="29"/>
                  <a:pt x="717" y="31"/>
                  <a:pt x="726" y="33"/>
                </a:cubicBezTo>
                <a:cubicBezTo>
                  <a:pt x="733" y="33"/>
                  <a:pt x="733" y="25"/>
                  <a:pt x="741" y="26"/>
                </a:cubicBezTo>
                <a:cubicBezTo>
                  <a:pt x="743" y="5"/>
                  <a:pt x="721" y="17"/>
                  <a:pt x="705" y="12"/>
                </a:cubicBezTo>
                <a:cubicBezTo>
                  <a:pt x="701" y="15"/>
                  <a:pt x="699" y="25"/>
                  <a:pt x="708" y="23"/>
                </a:cubicBezTo>
                <a:cubicBezTo>
                  <a:pt x="705" y="27"/>
                  <a:pt x="699" y="25"/>
                  <a:pt x="695" y="30"/>
                </a:cubicBezTo>
                <a:cubicBezTo>
                  <a:pt x="688" y="28"/>
                  <a:pt x="695" y="22"/>
                  <a:pt x="694" y="17"/>
                </a:cubicBezTo>
                <a:cubicBezTo>
                  <a:pt x="691" y="15"/>
                  <a:pt x="687" y="14"/>
                  <a:pt x="681" y="15"/>
                </a:cubicBezTo>
                <a:cubicBezTo>
                  <a:pt x="681" y="19"/>
                  <a:pt x="681" y="19"/>
                  <a:pt x="681" y="19"/>
                </a:cubicBezTo>
                <a:cubicBezTo>
                  <a:pt x="658" y="11"/>
                  <a:pt x="633" y="23"/>
                  <a:pt x="605" y="20"/>
                </a:cubicBezTo>
                <a:cubicBezTo>
                  <a:pt x="602" y="21"/>
                  <a:pt x="599" y="22"/>
                  <a:pt x="597" y="24"/>
                </a:cubicBezTo>
                <a:cubicBezTo>
                  <a:pt x="583" y="19"/>
                  <a:pt x="575" y="28"/>
                  <a:pt x="557" y="24"/>
                </a:cubicBezTo>
                <a:cubicBezTo>
                  <a:pt x="553" y="24"/>
                  <a:pt x="553" y="28"/>
                  <a:pt x="550" y="29"/>
                </a:cubicBezTo>
                <a:cubicBezTo>
                  <a:pt x="476" y="27"/>
                  <a:pt x="416" y="71"/>
                  <a:pt x="346" y="84"/>
                </a:cubicBezTo>
                <a:cubicBezTo>
                  <a:pt x="338" y="85"/>
                  <a:pt x="329" y="85"/>
                  <a:pt x="321" y="86"/>
                </a:cubicBezTo>
                <a:cubicBezTo>
                  <a:pt x="276" y="94"/>
                  <a:pt x="231" y="111"/>
                  <a:pt x="188" y="123"/>
                </a:cubicBezTo>
                <a:cubicBezTo>
                  <a:pt x="134" y="139"/>
                  <a:pt x="74" y="161"/>
                  <a:pt x="16" y="180"/>
                </a:cubicBezTo>
                <a:cubicBezTo>
                  <a:pt x="10" y="181"/>
                  <a:pt x="5" y="183"/>
                  <a:pt x="0" y="185"/>
                </a:cubicBezTo>
                <a:lnTo>
                  <a:pt x="0" y="370"/>
                </a:lnTo>
                <a:close/>
                <a:moveTo>
                  <a:pt x="2033" y="709"/>
                </a:moveTo>
                <a:cubicBezTo>
                  <a:pt x="2032" y="707"/>
                  <a:pt x="2032" y="702"/>
                  <a:pt x="2032" y="702"/>
                </a:cubicBezTo>
                <a:cubicBezTo>
                  <a:pt x="2041" y="701"/>
                  <a:pt x="2048" y="702"/>
                  <a:pt x="2051" y="706"/>
                </a:cubicBezTo>
                <a:cubicBezTo>
                  <a:pt x="2058" y="703"/>
                  <a:pt x="2062" y="705"/>
                  <a:pt x="2066" y="709"/>
                </a:cubicBezTo>
                <a:cubicBezTo>
                  <a:pt x="2352" y="709"/>
                  <a:pt x="2352" y="709"/>
                  <a:pt x="2352" y="709"/>
                </a:cubicBezTo>
                <a:cubicBezTo>
                  <a:pt x="2349" y="704"/>
                  <a:pt x="2344" y="703"/>
                  <a:pt x="2337" y="703"/>
                </a:cubicBezTo>
                <a:cubicBezTo>
                  <a:pt x="2346" y="700"/>
                  <a:pt x="2359" y="696"/>
                  <a:pt x="2369" y="697"/>
                </a:cubicBezTo>
                <a:cubicBezTo>
                  <a:pt x="2369" y="700"/>
                  <a:pt x="2367" y="700"/>
                  <a:pt x="2368" y="703"/>
                </a:cubicBezTo>
                <a:cubicBezTo>
                  <a:pt x="2368" y="706"/>
                  <a:pt x="2360" y="702"/>
                  <a:pt x="2363" y="707"/>
                </a:cubicBezTo>
                <a:cubicBezTo>
                  <a:pt x="2366" y="707"/>
                  <a:pt x="2368" y="708"/>
                  <a:pt x="2370" y="709"/>
                </a:cubicBezTo>
                <a:cubicBezTo>
                  <a:pt x="2376" y="709"/>
                  <a:pt x="2376" y="709"/>
                  <a:pt x="2376" y="709"/>
                </a:cubicBezTo>
                <a:cubicBezTo>
                  <a:pt x="2374" y="704"/>
                  <a:pt x="2375" y="696"/>
                  <a:pt x="2383" y="697"/>
                </a:cubicBezTo>
                <a:cubicBezTo>
                  <a:pt x="2382" y="703"/>
                  <a:pt x="2379" y="705"/>
                  <a:pt x="2379" y="709"/>
                </a:cubicBezTo>
                <a:cubicBezTo>
                  <a:pt x="2446" y="709"/>
                  <a:pt x="2446" y="709"/>
                  <a:pt x="2446" y="709"/>
                </a:cubicBezTo>
                <a:cubicBezTo>
                  <a:pt x="2447" y="709"/>
                  <a:pt x="2447" y="708"/>
                  <a:pt x="2447" y="706"/>
                </a:cubicBezTo>
                <a:cubicBezTo>
                  <a:pt x="2442" y="703"/>
                  <a:pt x="2439" y="707"/>
                  <a:pt x="2434" y="705"/>
                </a:cubicBezTo>
                <a:cubicBezTo>
                  <a:pt x="2434" y="702"/>
                  <a:pt x="2436" y="703"/>
                  <a:pt x="2438" y="702"/>
                </a:cubicBezTo>
                <a:cubicBezTo>
                  <a:pt x="2436" y="700"/>
                  <a:pt x="2436" y="696"/>
                  <a:pt x="2430" y="697"/>
                </a:cubicBezTo>
                <a:cubicBezTo>
                  <a:pt x="2436" y="691"/>
                  <a:pt x="2447" y="695"/>
                  <a:pt x="2455" y="691"/>
                </a:cubicBezTo>
                <a:cubicBezTo>
                  <a:pt x="2459" y="694"/>
                  <a:pt x="2453" y="693"/>
                  <a:pt x="2454" y="698"/>
                </a:cubicBezTo>
                <a:cubicBezTo>
                  <a:pt x="2464" y="699"/>
                  <a:pt x="2471" y="695"/>
                  <a:pt x="2480" y="695"/>
                </a:cubicBezTo>
                <a:cubicBezTo>
                  <a:pt x="2483" y="698"/>
                  <a:pt x="2486" y="706"/>
                  <a:pt x="2483" y="709"/>
                </a:cubicBezTo>
                <a:cubicBezTo>
                  <a:pt x="2494" y="709"/>
                  <a:pt x="2494" y="709"/>
                  <a:pt x="2494" y="709"/>
                </a:cubicBezTo>
                <a:cubicBezTo>
                  <a:pt x="2493" y="707"/>
                  <a:pt x="2491" y="706"/>
                  <a:pt x="2489" y="707"/>
                </a:cubicBezTo>
                <a:cubicBezTo>
                  <a:pt x="2492" y="704"/>
                  <a:pt x="2487" y="702"/>
                  <a:pt x="2491" y="696"/>
                </a:cubicBezTo>
                <a:cubicBezTo>
                  <a:pt x="2482" y="690"/>
                  <a:pt x="2472" y="696"/>
                  <a:pt x="2463" y="692"/>
                </a:cubicBezTo>
                <a:cubicBezTo>
                  <a:pt x="2466" y="689"/>
                  <a:pt x="2474" y="691"/>
                  <a:pt x="2478" y="690"/>
                </a:cubicBezTo>
                <a:cubicBezTo>
                  <a:pt x="2477" y="684"/>
                  <a:pt x="2471" y="687"/>
                  <a:pt x="2469" y="689"/>
                </a:cubicBezTo>
                <a:cubicBezTo>
                  <a:pt x="2467" y="682"/>
                  <a:pt x="2474" y="684"/>
                  <a:pt x="2474" y="679"/>
                </a:cubicBezTo>
                <a:cubicBezTo>
                  <a:pt x="2465" y="673"/>
                  <a:pt x="2449" y="680"/>
                  <a:pt x="2445" y="664"/>
                </a:cubicBezTo>
                <a:cubicBezTo>
                  <a:pt x="2442" y="665"/>
                  <a:pt x="2444" y="671"/>
                  <a:pt x="2445" y="672"/>
                </a:cubicBezTo>
                <a:cubicBezTo>
                  <a:pt x="2440" y="673"/>
                  <a:pt x="2435" y="671"/>
                  <a:pt x="2438" y="677"/>
                </a:cubicBezTo>
                <a:cubicBezTo>
                  <a:pt x="2430" y="672"/>
                  <a:pt x="2419" y="671"/>
                  <a:pt x="2411" y="663"/>
                </a:cubicBezTo>
                <a:cubicBezTo>
                  <a:pt x="2405" y="671"/>
                  <a:pt x="2395" y="668"/>
                  <a:pt x="2385" y="667"/>
                </a:cubicBezTo>
                <a:cubicBezTo>
                  <a:pt x="2389" y="676"/>
                  <a:pt x="2398" y="681"/>
                  <a:pt x="2394" y="691"/>
                </a:cubicBezTo>
                <a:cubicBezTo>
                  <a:pt x="2392" y="692"/>
                  <a:pt x="2385" y="688"/>
                  <a:pt x="2380" y="691"/>
                </a:cubicBezTo>
                <a:cubicBezTo>
                  <a:pt x="2380" y="686"/>
                  <a:pt x="2376" y="683"/>
                  <a:pt x="2374" y="677"/>
                </a:cubicBezTo>
                <a:cubicBezTo>
                  <a:pt x="2372" y="679"/>
                  <a:pt x="2364" y="680"/>
                  <a:pt x="2365" y="675"/>
                </a:cubicBezTo>
                <a:cubicBezTo>
                  <a:pt x="2360" y="682"/>
                  <a:pt x="2355" y="677"/>
                  <a:pt x="2345" y="675"/>
                </a:cubicBezTo>
                <a:cubicBezTo>
                  <a:pt x="2347" y="670"/>
                  <a:pt x="2354" y="676"/>
                  <a:pt x="2359" y="676"/>
                </a:cubicBezTo>
                <a:cubicBezTo>
                  <a:pt x="2362" y="676"/>
                  <a:pt x="2359" y="671"/>
                  <a:pt x="2360" y="669"/>
                </a:cubicBezTo>
                <a:cubicBezTo>
                  <a:pt x="2357" y="675"/>
                  <a:pt x="2350" y="671"/>
                  <a:pt x="2347" y="669"/>
                </a:cubicBezTo>
                <a:cubicBezTo>
                  <a:pt x="2348" y="672"/>
                  <a:pt x="2346" y="671"/>
                  <a:pt x="2346" y="669"/>
                </a:cubicBezTo>
                <a:cubicBezTo>
                  <a:pt x="2344" y="670"/>
                  <a:pt x="2344" y="673"/>
                  <a:pt x="2344" y="676"/>
                </a:cubicBezTo>
                <a:cubicBezTo>
                  <a:pt x="2339" y="676"/>
                  <a:pt x="2340" y="674"/>
                  <a:pt x="2336" y="676"/>
                </a:cubicBezTo>
                <a:cubicBezTo>
                  <a:pt x="2334" y="672"/>
                  <a:pt x="2337" y="672"/>
                  <a:pt x="2337" y="669"/>
                </a:cubicBezTo>
                <a:cubicBezTo>
                  <a:pt x="2338" y="670"/>
                  <a:pt x="2342" y="669"/>
                  <a:pt x="2341" y="673"/>
                </a:cubicBezTo>
                <a:cubicBezTo>
                  <a:pt x="2344" y="671"/>
                  <a:pt x="2338" y="667"/>
                  <a:pt x="2338" y="665"/>
                </a:cubicBezTo>
                <a:cubicBezTo>
                  <a:pt x="2340" y="662"/>
                  <a:pt x="2346" y="662"/>
                  <a:pt x="2351" y="662"/>
                </a:cubicBezTo>
                <a:cubicBezTo>
                  <a:pt x="2346" y="655"/>
                  <a:pt x="2326" y="660"/>
                  <a:pt x="2324" y="653"/>
                </a:cubicBezTo>
                <a:cubicBezTo>
                  <a:pt x="2323" y="651"/>
                  <a:pt x="2320" y="657"/>
                  <a:pt x="2314" y="655"/>
                </a:cubicBezTo>
                <a:cubicBezTo>
                  <a:pt x="2312" y="652"/>
                  <a:pt x="2311" y="646"/>
                  <a:pt x="2306" y="646"/>
                </a:cubicBezTo>
                <a:cubicBezTo>
                  <a:pt x="2303" y="646"/>
                  <a:pt x="2303" y="648"/>
                  <a:pt x="2303" y="650"/>
                </a:cubicBezTo>
                <a:cubicBezTo>
                  <a:pt x="2299" y="647"/>
                  <a:pt x="2299" y="647"/>
                  <a:pt x="2292" y="648"/>
                </a:cubicBezTo>
                <a:cubicBezTo>
                  <a:pt x="2291" y="643"/>
                  <a:pt x="2298" y="644"/>
                  <a:pt x="2299" y="641"/>
                </a:cubicBezTo>
                <a:cubicBezTo>
                  <a:pt x="2304" y="645"/>
                  <a:pt x="2306" y="645"/>
                  <a:pt x="2312" y="643"/>
                </a:cubicBezTo>
                <a:cubicBezTo>
                  <a:pt x="2308" y="640"/>
                  <a:pt x="2304" y="639"/>
                  <a:pt x="2296" y="640"/>
                </a:cubicBezTo>
                <a:cubicBezTo>
                  <a:pt x="2296" y="637"/>
                  <a:pt x="2298" y="637"/>
                  <a:pt x="2297" y="634"/>
                </a:cubicBezTo>
                <a:cubicBezTo>
                  <a:pt x="2303" y="634"/>
                  <a:pt x="2307" y="639"/>
                  <a:pt x="2311" y="634"/>
                </a:cubicBezTo>
                <a:cubicBezTo>
                  <a:pt x="2303" y="631"/>
                  <a:pt x="2297" y="630"/>
                  <a:pt x="2293" y="637"/>
                </a:cubicBezTo>
                <a:cubicBezTo>
                  <a:pt x="2289" y="636"/>
                  <a:pt x="2286" y="633"/>
                  <a:pt x="2282" y="632"/>
                </a:cubicBezTo>
                <a:cubicBezTo>
                  <a:pt x="2278" y="634"/>
                  <a:pt x="2284" y="638"/>
                  <a:pt x="2288" y="636"/>
                </a:cubicBezTo>
                <a:cubicBezTo>
                  <a:pt x="2290" y="643"/>
                  <a:pt x="2282" y="642"/>
                  <a:pt x="2280" y="646"/>
                </a:cubicBezTo>
                <a:cubicBezTo>
                  <a:pt x="2277" y="646"/>
                  <a:pt x="2276" y="646"/>
                  <a:pt x="2276" y="643"/>
                </a:cubicBezTo>
                <a:cubicBezTo>
                  <a:pt x="2272" y="644"/>
                  <a:pt x="2273" y="649"/>
                  <a:pt x="2268" y="649"/>
                </a:cubicBezTo>
                <a:cubicBezTo>
                  <a:pt x="2269" y="652"/>
                  <a:pt x="2272" y="652"/>
                  <a:pt x="2272" y="654"/>
                </a:cubicBezTo>
                <a:cubicBezTo>
                  <a:pt x="2271" y="657"/>
                  <a:pt x="2269" y="658"/>
                  <a:pt x="2270" y="663"/>
                </a:cubicBezTo>
                <a:cubicBezTo>
                  <a:pt x="2265" y="664"/>
                  <a:pt x="2264" y="659"/>
                  <a:pt x="2259" y="660"/>
                </a:cubicBezTo>
                <a:cubicBezTo>
                  <a:pt x="2255" y="658"/>
                  <a:pt x="2255" y="651"/>
                  <a:pt x="2249" y="651"/>
                </a:cubicBezTo>
                <a:cubicBezTo>
                  <a:pt x="2255" y="661"/>
                  <a:pt x="2243" y="656"/>
                  <a:pt x="2243" y="665"/>
                </a:cubicBezTo>
                <a:cubicBezTo>
                  <a:pt x="2235" y="667"/>
                  <a:pt x="2231" y="666"/>
                  <a:pt x="2225" y="663"/>
                </a:cubicBezTo>
                <a:cubicBezTo>
                  <a:pt x="2226" y="658"/>
                  <a:pt x="2222" y="656"/>
                  <a:pt x="2226" y="655"/>
                </a:cubicBezTo>
                <a:cubicBezTo>
                  <a:pt x="2225" y="651"/>
                  <a:pt x="2221" y="656"/>
                  <a:pt x="2220" y="657"/>
                </a:cubicBezTo>
                <a:cubicBezTo>
                  <a:pt x="2218" y="656"/>
                  <a:pt x="2218" y="653"/>
                  <a:pt x="2218" y="651"/>
                </a:cubicBezTo>
                <a:cubicBezTo>
                  <a:pt x="2214" y="655"/>
                  <a:pt x="2209" y="655"/>
                  <a:pt x="2205" y="656"/>
                </a:cubicBezTo>
                <a:cubicBezTo>
                  <a:pt x="2206" y="663"/>
                  <a:pt x="2215" y="661"/>
                  <a:pt x="2219" y="665"/>
                </a:cubicBezTo>
                <a:cubicBezTo>
                  <a:pt x="2213" y="670"/>
                  <a:pt x="2199" y="668"/>
                  <a:pt x="2193" y="665"/>
                </a:cubicBezTo>
                <a:cubicBezTo>
                  <a:pt x="2190" y="665"/>
                  <a:pt x="2190" y="668"/>
                  <a:pt x="2188" y="669"/>
                </a:cubicBezTo>
                <a:cubicBezTo>
                  <a:pt x="2185" y="669"/>
                  <a:pt x="2183" y="668"/>
                  <a:pt x="2182" y="666"/>
                </a:cubicBezTo>
                <a:cubicBezTo>
                  <a:pt x="2188" y="661"/>
                  <a:pt x="2191" y="653"/>
                  <a:pt x="2198" y="648"/>
                </a:cubicBezTo>
                <a:cubicBezTo>
                  <a:pt x="2192" y="648"/>
                  <a:pt x="2184" y="650"/>
                  <a:pt x="2180" y="648"/>
                </a:cubicBezTo>
                <a:cubicBezTo>
                  <a:pt x="2186" y="634"/>
                  <a:pt x="2205" y="646"/>
                  <a:pt x="2215" y="638"/>
                </a:cubicBezTo>
                <a:cubicBezTo>
                  <a:pt x="2211" y="634"/>
                  <a:pt x="2208" y="637"/>
                  <a:pt x="2204" y="638"/>
                </a:cubicBezTo>
                <a:cubicBezTo>
                  <a:pt x="2201" y="635"/>
                  <a:pt x="2202" y="637"/>
                  <a:pt x="2197" y="636"/>
                </a:cubicBezTo>
                <a:cubicBezTo>
                  <a:pt x="2196" y="633"/>
                  <a:pt x="2196" y="629"/>
                  <a:pt x="2193" y="625"/>
                </a:cubicBezTo>
                <a:cubicBezTo>
                  <a:pt x="2184" y="627"/>
                  <a:pt x="2175" y="622"/>
                  <a:pt x="2164" y="627"/>
                </a:cubicBezTo>
                <a:cubicBezTo>
                  <a:pt x="2165" y="635"/>
                  <a:pt x="2165" y="635"/>
                  <a:pt x="2166" y="641"/>
                </a:cubicBezTo>
                <a:cubicBezTo>
                  <a:pt x="2160" y="644"/>
                  <a:pt x="2162" y="637"/>
                  <a:pt x="2162" y="634"/>
                </a:cubicBezTo>
                <a:cubicBezTo>
                  <a:pt x="2159" y="634"/>
                  <a:pt x="2157" y="633"/>
                  <a:pt x="2156" y="631"/>
                </a:cubicBezTo>
                <a:cubicBezTo>
                  <a:pt x="2154" y="632"/>
                  <a:pt x="2152" y="633"/>
                  <a:pt x="2152" y="637"/>
                </a:cubicBezTo>
                <a:cubicBezTo>
                  <a:pt x="2150" y="635"/>
                  <a:pt x="2147" y="635"/>
                  <a:pt x="2145" y="632"/>
                </a:cubicBezTo>
                <a:cubicBezTo>
                  <a:pt x="2142" y="632"/>
                  <a:pt x="2144" y="637"/>
                  <a:pt x="2140" y="637"/>
                </a:cubicBezTo>
                <a:cubicBezTo>
                  <a:pt x="2138" y="635"/>
                  <a:pt x="2138" y="630"/>
                  <a:pt x="2136" y="628"/>
                </a:cubicBezTo>
                <a:cubicBezTo>
                  <a:pt x="2128" y="629"/>
                  <a:pt x="2123" y="626"/>
                  <a:pt x="2114" y="628"/>
                </a:cubicBezTo>
                <a:cubicBezTo>
                  <a:pt x="2114" y="633"/>
                  <a:pt x="2114" y="633"/>
                  <a:pt x="2114" y="633"/>
                </a:cubicBezTo>
                <a:cubicBezTo>
                  <a:pt x="2106" y="631"/>
                  <a:pt x="2098" y="635"/>
                  <a:pt x="2094" y="628"/>
                </a:cubicBezTo>
                <a:cubicBezTo>
                  <a:pt x="2090" y="630"/>
                  <a:pt x="2096" y="632"/>
                  <a:pt x="2094" y="635"/>
                </a:cubicBezTo>
                <a:cubicBezTo>
                  <a:pt x="2081" y="634"/>
                  <a:pt x="2073" y="634"/>
                  <a:pt x="2061" y="629"/>
                </a:cubicBezTo>
                <a:cubicBezTo>
                  <a:pt x="2058" y="628"/>
                  <a:pt x="2059" y="631"/>
                  <a:pt x="2058" y="633"/>
                </a:cubicBezTo>
                <a:cubicBezTo>
                  <a:pt x="2049" y="630"/>
                  <a:pt x="2045" y="631"/>
                  <a:pt x="2038" y="627"/>
                </a:cubicBezTo>
                <a:cubicBezTo>
                  <a:pt x="2031" y="630"/>
                  <a:pt x="2024" y="639"/>
                  <a:pt x="2016" y="636"/>
                </a:cubicBezTo>
                <a:cubicBezTo>
                  <a:pt x="2011" y="639"/>
                  <a:pt x="2020" y="640"/>
                  <a:pt x="2020" y="643"/>
                </a:cubicBezTo>
                <a:cubicBezTo>
                  <a:pt x="2014" y="643"/>
                  <a:pt x="2013" y="636"/>
                  <a:pt x="2006" y="636"/>
                </a:cubicBezTo>
                <a:cubicBezTo>
                  <a:pt x="2007" y="638"/>
                  <a:pt x="2009" y="638"/>
                  <a:pt x="2010" y="639"/>
                </a:cubicBezTo>
                <a:cubicBezTo>
                  <a:pt x="2008" y="644"/>
                  <a:pt x="2002" y="638"/>
                  <a:pt x="1998" y="642"/>
                </a:cubicBezTo>
                <a:cubicBezTo>
                  <a:pt x="1999" y="649"/>
                  <a:pt x="2015" y="646"/>
                  <a:pt x="2019" y="644"/>
                </a:cubicBezTo>
                <a:cubicBezTo>
                  <a:pt x="2025" y="655"/>
                  <a:pt x="2037" y="646"/>
                  <a:pt x="2045" y="651"/>
                </a:cubicBezTo>
                <a:cubicBezTo>
                  <a:pt x="2049" y="650"/>
                  <a:pt x="2048" y="644"/>
                  <a:pt x="2051" y="641"/>
                </a:cubicBezTo>
                <a:cubicBezTo>
                  <a:pt x="2058" y="645"/>
                  <a:pt x="2061" y="644"/>
                  <a:pt x="2070" y="646"/>
                </a:cubicBezTo>
                <a:cubicBezTo>
                  <a:pt x="2068" y="654"/>
                  <a:pt x="2075" y="648"/>
                  <a:pt x="2081" y="651"/>
                </a:cubicBezTo>
                <a:cubicBezTo>
                  <a:pt x="2081" y="647"/>
                  <a:pt x="2079" y="647"/>
                  <a:pt x="2078" y="644"/>
                </a:cubicBezTo>
                <a:cubicBezTo>
                  <a:pt x="2089" y="654"/>
                  <a:pt x="2084" y="636"/>
                  <a:pt x="2088" y="649"/>
                </a:cubicBezTo>
                <a:cubicBezTo>
                  <a:pt x="2096" y="649"/>
                  <a:pt x="2102" y="651"/>
                  <a:pt x="2111" y="649"/>
                </a:cubicBezTo>
                <a:cubicBezTo>
                  <a:pt x="2109" y="652"/>
                  <a:pt x="2106" y="652"/>
                  <a:pt x="2102" y="652"/>
                </a:cubicBezTo>
                <a:cubicBezTo>
                  <a:pt x="2102" y="658"/>
                  <a:pt x="2105" y="660"/>
                  <a:pt x="2109" y="660"/>
                </a:cubicBezTo>
                <a:cubicBezTo>
                  <a:pt x="2108" y="661"/>
                  <a:pt x="2108" y="663"/>
                  <a:pt x="2108" y="664"/>
                </a:cubicBezTo>
                <a:cubicBezTo>
                  <a:pt x="2105" y="663"/>
                  <a:pt x="2102" y="660"/>
                  <a:pt x="2099" y="658"/>
                </a:cubicBezTo>
                <a:cubicBezTo>
                  <a:pt x="2095" y="658"/>
                  <a:pt x="2096" y="662"/>
                  <a:pt x="2093" y="662"/>
                </a:cubicBezTo>
                <a:cubicBezTo>
                  <a:pt x="2089" y="663"/>
                  <a:pt x="2088" y="660"/>
                  <a:pt x="2086" y="660"/>
                </a:cubicBezTo>
                <a:cubicBezTo>
                  <a:pt x="2088" y="654"/>
                  <a:pt x="2093" y="660"/>
                  <a:pt x="2095" y="655"/>
                </a:cubicBezTo>
                <a:cubicBezTo>
                  <a:pt x="2084" y="652"/>
                  <a:pt x="2071" y="652"/>
                  <a:pt x="2060" y="657"/>
                </a:cubicBezTo>
                <a:cubicBezTo>
                  <a:pt x="2061" y="660"/>
                  <a:pt x="2064" y="661"/>
                  <a:pt x="2068" y="661"/>
                </a:cubicBezTo>
                <a:cubicBezTo>
                  <a:pt x="2068" y="664"/>
                  <a:pt x="2069" y="669"/>
                  <a:pt x="2066" y="669"/>
                </a:cubicBezTo>
                <a:cubicBezTo>
                  <a:pt x="2063" y="667"/>
                  <a:pt x="2058" y="663"/>
                  <a:pt x="2055" y="669"/>
                </a:cubicBezTo>
                <a:cubicBezTo>
                  <a:pt x="2054" y="665"/>
                  <a:pt x="2046" y="667"/>
                  <a:pt x="2044" y="670"/>
                </a:cubicBezTo>
                <a:cubicBezTo>
                  <a:pt x="2045" y="676"/>
                  <a:pt x="2054" y="673"/>
                  <a:pt x="2057" y="673"/>
                </a:cubicBezTo>
                <a:cubicBezTo>
                  <a:pt x="2060" y="673"/>
                  <a:pt x="2059" y="678"/>
                  <a:pt x="2061" y="680"/>
                </a:cubicBezTo>
                <a:cubicBezTo>
                  <a:pt x="2053" y="677"/>
                  <a:pt x="2052" y="683"/>
                  <a:pt x="2045" y="679"/>
                </a:cubicBezTo>
                <a:cubicBezTo>
                  <a:pt x="2045" y="684"/>
                  <a:pt x="2040" y="687"/>
                  <a:pt x="2036" y="684"/>
                </a:cubicBezTo>
                <a:cubicBezTo>
                  <a:pt x="2039" y="677"/>
                  <a:pt x="2017" y="679"/>
                  <a:pt x="2008" y="682"/>
                </a:cubicBezTo>
                <a:cubicBezTo>
                  <a:pt x="2014" y="689"/>
                  <a:pt x="2024" y="691"/>
                  <a:pt x="2027" y="700"/>
                </a:cubicBezTo>
                <a:cubicBezTo>
                  <a:pt x="2026" y="703"/>
                  <a:pt x="2015" y="700"/>
                  <a:pt x="2019" y="698"/>
                </a:cubicBezTo>
                <a:cubicBezTo>
                  <a:pt x="2007" y="695"/>
                  <a:pt x="1980" y="696"/>
                  <a:pt x="1979" y="709"/>
                </a:cubicBezTo>
                <a:lnTo>
                  <a:pt x="2033" y="709"/>
                </a:lnTo>
                <a:close/>
                <a:moveTo>
                  <a:pt x="2357" y="709"/>
                </a:moveTo>
                <a:cubicBezTo>
                  <a:pt x="2356" y="708"/>
                  <a:pt x="2355" y="707"/>
                  <a:pt x="2355" y="706"/>
                </a:cubicBezTo>
                <a:cubicBezTo>
                  <a:pt x="2352" y="706"/>
                  <a:pt x="2352" y="707"/>
                  <a:pt x="2352" y="709"/>
                </a:cubicBezTo>
                <a:lnTo>
                  <a:pt x="2357" y="709"/>
                </a:lnTo>
                <a:close/>
                <a:moveTo>
                  <a:pt x="2469" y="709"/>
                </a:moveTo>
                <a:cubicBezTo>
                  <a:pt x="2464" y="706"/>
                  <a:pt x="2465" y="698"/>
                  <a:pt x="2456" y="700"/>
                </a:cubicBezTo>
                <a:cubicBezTo>
                  <a:pt x="2456" y="705"/>
                  <a:pt x="2460" y="707"/>
                  <a:pt x="2462" y="709"/>
                </a:cubicBezTo>
                <a:lnTo>
                  <a:pt x="2469" y="709"/>
                </a:lnTo>
                <a:close/>
                <a:moveTo>
                  <a:pt x="2480" y="709"/>
                </a:moveTo>
                <a:cubicBezTo>
                  <a:pt x="2479" y="705"/>
                  <a:pt x="2472" y="706"/>
                  <a:pt x="2470" y="709"/>
                </a:cubicBezTo>
                <a:lnTo>
                  <a:pt x="2480" y="709"/>
                </a:lnTo>
                <a:close/>
                <a:moveTo>
                  <a:pt x="2423" y="691"/>
                </a:moveTo>
                <a:cubicBezTo>
                  <a:pt x="2426" y="685"/>
                  <a:pt x="2423" y="683"/>
                  <a:pt x="2425" y="677"/>
                </a:cubicBezTo>
                <a:cubicBezTo>
                  <a:pt x="2430" y="677"/>
                  <a:pt x="2430" y="677"/>
                  <a:pt x="2430" y="677"/>
                </a:cubicBezTo>
                <a:cubicBezTo>
                  <a:pt x="2430" y="682"/>
                  <a:pt x="2433" y="683"/>
                  <a:pt x="2440" y="681"/>
                </a:cubicBezTo>
                <a:cubicBezTo>
                  <a:pt x="2439" y="685"/>
                  <a:pt x="2445" y="684"/>
                  <a:pt x="2444" y="689"/>
                </a:cubicBezTo>
                <a:cubicBezTo>
                  <a:pt x="2436" y="693"/>
                  <a:pt x="2429" y="689"/>
                  <a:pt x="2423" y="691"/>
                </a:cubicBezTo>
                <a:close/>
                <a:moveTo>
                  <a:pt x="1814" y="695"/>
                </a:moveTo>
                <a:cubicBezTo>
                  <a:pt x="1807" y="694"/>
                  <a:pt x="1806" y="698"/>
                  <a:pt x="1805" y="701"/>
                </a:cubicBezTo>
                <a:cubicBezTo>
                  <a:pt x="1805" y="695"/>
                  <a:pt x="1801" y="696"/>
                  <a:pt x="1802" y="690"/>
                </a:cubicBezTo>
                <a:cubicBezTo>
                  <a:pt x="1807" y="687"/>
                  <a:pt x="1812" y="690"/>
                  <a:pt x="1814" y="695"/>
                </a:cubicBezTo>
                <a:close/>
                <a:moveTo>
                  <a:pt x="1955" y="701"/>
                </a:moveTo>
                <a:cubicBezTo>
                  <a:pt x="1953" y="698"/>
                  <a:pt x="1950" y="703"/>
                  <a:pt x="1948" y="699"/>
                </a:cubicBezTo>
                <a:cubicBezTo>
                  <a:pt x="1950" y="695"/>
                  <a:pt x="1961" y="697"/>
                  <a:pt x="1955" y="701"/>
                </a:cubicBezTo>
                <a:close/>
                <a:moveTo>
                  <a:pt x="1966" y="700"/>
                </a:moveTo>
                <a:cubicBezTo>
                  <a:pt x="1962" y="700"/>
                  <a:pt x="1960" y="699"/>
                  <a:pt x="1958" y="697"/>
                </a:cubicBezTo>
                <a:cubicBezTo>
                  <a:pt x="1962" y="697"/>
                  <a:pt x="1966" y="696"/>
                  <a:pt x="1966" y="700"/>
                </a:cubicBezTo>
                <a:close/>
                <a:moveTo>
                  <a:pt x="2099" y="676"/>
                </a:moveTo>
                <a:cubicBezTo>
                  <a:pt x="2095" y="674"/>
                  <a:pt x="2089" y="674"/>
                  <a:pt x="2088" y="671"/>
                </a:cubicBezTo>
                <a:cubicBezTo>
                  <a:pt x="2089" y="670"/>
                  <a:pt x="2090" y="668"/>
                  <a:pt x="2090" y="665"/>
                </a:cubicBezTo>
                <a:cubicBezTo>
                  <a:pt x="2095" y="666"/>
                  <a:pt x="2095" y="665"/>
                  <a:pt x="2098" y="666"/>
                </a:cubicBezTo>
                <a:cubicBezTo>
                  <a:pt x="2097" y="671"/>
                  <a:pt x="2101" y="673"/>
                  <a:pt x="2099" y="676"/>
                </a:cubicBezTo>
                <a:close/>
                <a:moveTo>
                  <a:pt x="2100" y="646"/>
                </a:moveTo>
                <a:cubicBezTo>
                  <a:pt x="2097" y="646"/>
                  <a:pt x="2092" y="647"/>
                  <a:pt x="2092" y="643"/>
                </a:cubicBezTo>
                <a:cubicBezTo>
                  <a:pt x="2095" y="644"/>
                  <a:pt x="2101" y="641"/>
                  <a:pt x="2100" y="646"/>
                </a:cubicBezTo>
                <a:close/>
                <a:moveTo>
                  <a:pt x="2115" y="644"/>
                </a:moveTo>
                <a:cubicBezTo>
                  <a:pt x="2111" y="644"/>
                  <a:pt x="2103" y="648"/>
                  <a:pt x="2101" y="643"/>
                </a:cubicBezTo>
                <a:cubicBezTo>
                  <a:pt x="2107" y="644"/>
                  <a:pt x="2114" y="639"/>
                  <a:pt x="2115" y="644"/>
                </a:cubicBezTo>
                <a:close/>
                <a:moveTo>
                  <a:pt x="2177" y="667"/>
                </a:moveTo>
                <a:cubicBezTo>
                  <a:pt x="2169" y="668"/>
                  <a:pt x="2163" y="665"/>
                  <a:pt x="2158" y="659"/>
                </a:cubicBezTo>
                <a:cubicBezTo>
                  <a:pt x="2165" y="662"/>
                  <a:pt x="2161" y="653"/>
                  <a:pt x="2167" y="654"/>
                </a:cubicBezTo>
                <a:cubicBezTo>
                  <a:pt x="2171" y="657"/>
                  <a:pt x="2174" y="662"/>
                  <a:pt x="2177" y="667"/>
                </a:cubicBezTo>
                <a:close/>
                <a:moveTo>
                  <a:pt x="2215" y="673"/>
                </a:moveTo>
                <a:cubicBezTo>
                  <a:pt x="2208" y="673"/>
                  <a:pt x="2200" y="675"/>
                  <a:pt x="2206" y="680"/>
                </a:cubicBezTo>
                <a:cubicBezTo>
                  <a:pt x="2200" y="679"/>
                  <a:pt x="2201" y="684"/>
                  <a:pt x="2195" y="683"/>
                </a:cubicBezTo>
                <a:cubicBezTo>
                  <a:pt x="2195" y="680"/>
                  <a:pt x="2195" y="677"/>
                  <a:pt x="2192" y="677"/>
                </a:cubicBezTo>
                <a:cubicBezTo>
                  <a:pt x="2189" y="678"/>
                  <a:pt x="2181" y="676"/>
                  <a:pt x="2180" y="679"/>
                </a:cubicBezTo>
                <a:cubicBezTo>
                  <a:pt x="2177" y="681"/>
                  <a:pt x="2183" y="688"/>
                  <a:pt x="2181" y="691"/>
                </a:cubicBezTo>
                <a:cubicBezTo>
                  <a:pt x="2171" y="688"/>
                  <a:pt x="2168" y="684"/>
                  <a:pt x="2164" y="678"/>
                </a:cubicBezTo>
                <a:cubicBezTo>
                  <a:pt x="2179" y="673"/>
                  <a:pt x="2201" y="667"/>
                  <a:pt x="2215" y="673"/>
                </a:cubicBezTo>
                <a:close/>
                <a:moveTo>
                  <a:pt x="2245" y="672"/>
                </a:moveTo>
                <a:cubicBezTo>
                  <a:pt x="2250" y="669"/>
                  <a:pt x="2252" y="670"/>
                  <a:pt x="2254" y="665"/>
                </a:cubicBezTo>
                <a:cubicBezTo>
                  <a:pt x="2256" y="668"/>
                  <a:pt x="2254" y="667"/>
                  <a:pt x="2256" y="671"/>
                </a:cubicBezTo>
                <a:cubicBezTo>
                  <a:pt x="2254" y="673"/>
                  <a:pt x="2246" y="675"/>
                  <a:pt x="2245" y="672"/>
                </a:cubicBezTo>
                <a:close/>
                <a:moveTo>
                  <a:pt x="2243" y="691"/>
                </a:moveTo>
                <a:cubicBezTo>
                  <a:pt x="2242" y="684"/>
                  <a:pt x="2251" y="687"/>
                  <a:pt x="2251" y="690"/>
                </a:cubicBezTo>
                <a:cubicBezTo>
                  <a:pt x="2247" y="692"/>
                  <a:pt x="2247" y="692"/>
                  <a:pt x="2243" y="691"/>
                </a:cubicBezTo>
                <a:close/>
                <a:moveTo>
                  <a:pt x="2201" y="697"/>
                </a:moveTo>
                <a:cubicBezTo>
                  <a:pt x="2203" y="693"/>
                  <a:pt x="2207" y="692"/>
                  <a:pt x="2205" y="684"/>
                </a:cubicBezTo>
                <a:cubicBezTo>
                  <a:pt x="2208" y="683"/>
                  <a:pt x="2208" y="687"/>
                  <a:pt x="2210" y="687"/>
                </a:cubicBezTo>
                <a:cubicBezTo>
                  <a:pt x="2215" y="682"/>
                  <a:pt x="2208" y="681"/>
                  <a:pt x="2207" y="678"/>
                </a:cubicBezTo>
                <a:cubicBezTo>
                  <a:pt x="2214" y="677"/>
                  <a:pt x="2225" y="680"/>
                  <a:pt x="2223" y="670"/>
                </a:cubicBezTo>
                <a:cubicBezTo>
                  <a:pt x="2241" y="669"/>
                  <a:pt x="2241" y="669"/>
                  <a:pt x="2241" y="669"/>
                </a:cubicBezTo>
                <a:cubicBezTo>
                  <a:pt x="2242" y="673"/>
                  <a:pt x="2243" y="678"/>
                  <a:pt x="2244" y="683"/>
                </a:cubicBezTo>
                <a:cubicBezTo>
                  <a:pt x="2237" y="683"/>
                  <a:pt x="2238" y="687"/>
                  <a:pt x="2228" y="687"/>
                </a:cubicBezTo>
                <a:cubicBezTo>
                  <a:pt x="2227" y="683"/>
                  <a:pt x="2227" y="680"/>
                  <a:pt x="2226" y="679"/>
                </a:cubicBezTo>
                <a:cubicBezTo>
                  <a:pt x="2223" y="679"/>
                  <a:pt x="2223" y="682"/>
                  <a:pt x="2219" y="681"/>
                </a:cubicBezTo>
                <a:cubicBezTo>
                  <a:pt x="2224" y="686"/>
                  <a:pt x="2214" y="686"/>
                  <a:pt x="2212" y="690"/>
                </a:cubicBezTo>
                <a:cubicBezTo>
                  <a:pt x="2214" y="689"/>
                  <a:pt x="2215" y="691"/>
                  <a:pt x="2217" y="691"/>
                </a:cubicBezTo>
                <a:cubicBezTo>
                  <a:pt x="2217" y="689"/>
                  <a:pt x="2218" y="688"/>
                  <a:pt x="2218" y="687"/>
                </a:cubicBezTo>
                <a:cubicBezTo>
                  <a:pt x="2222" y="686"/>
                  <a:pt x="2223" y="689"/>
                  <a:pt x="2227" y="689"/>
                </a:cubicBezTo>
                <a:cubicBezTo>
                  <a:pt x="2225" y="693"/>
                  <a:pt x="2227" y="694"/>
                  <a:pt x="2226" y="697"/>
                </a:cubicBezTo>
                <a:cubicBezTo>
                  <a:pt x="2215" y="696"/>
                  <a:pt x="2210" y="699"/>
                  <a:pt x="2201" y="697"/>
                </a:cubicBezTo>
                <a:close/>
                <a:moveTo>
                  <a:pt x="1733" y="661"/>
                </a:moveTo>
                <a:cubicBezTo>
                  <a:pt x="1736" y="660"/>
                  <a:pt x="1738" y="658"/>
                  <a:pt x="1739" y="655"/>
                </a:cubicBezTo>
                <a:cubicBezTo>
                  <a:pt x="1740" y="659"/>
                  <a:pt x="1741" y="660"/>
                  <a:pt x="1745" y="663"/>
                </a:cubicBezTo>
                <a:cubicBezTo>
                  <a:pt x="1743" y="664"/>
                  <a:pt x="1738" y="662"/>
                  <a:pt x="1738" y="665"/>
                </a:cubicBezTo>
                <a:cubicBezTo>
                  <a:pt x="1740" y="665"/>
                  <a:pt x="1741" y="667"/>
                  <a:pt x="1742" y="667"/>
                </a:cubicBezTo>
                <a:cubicBezTo>
                  <a:pt x="1745" y="666"/>
                  <a:pt x="1750" y="664"/>
                  <a:pt x="1751" y="668"/>
                </a:cubicBezTo>
                <a:cubicBezTo>
                  <a:pt x="1748" y="670"/>
                  <a:pt x="1746" y="673"/>
                  <a:pt x="1741" y="673"/>
                </a:cubicBezTo>
                <a:cubicBezTo>
                  <a:pt x="1739" y="673"/>
                  <a:pt x="1739" y="669"/>
                  <a:pt x="1736" y="670"/>
                </a:cubicBezTo>
                <a:cubicBezTo>
                  <a:pt x="1736" y="664"/>
                  <a:pt x="1737" y="663"/>
                  <a:pt x="1733" y="661"/>
                </a:cubicBezTo>
                <a:close/>
                <a:moveTo>
                  <a:pt x="1699" y="662"/>
                </a:moveTo>
                <a:cubicBezTo>
                  <a:pt x="1704" y="661"/>
                  <a:pt x="1702" y="653"/>
                  <a:pt x="1707" y="651"/>
                </a:cubicBezTo>
                <a:cubicBezTo>
                  <a:pt x="1706" y="659"/>
                  <a:pt x="1704" y="659"/>
                  <a:pt x="1707" y="666"/>
                </a:cubicBezTo>
                <a:cubicBezTo>
                  <a:pt x="1702" y="667"/>
                  <a:pt x="1700" y="665"/>
                  <a:pt x="1699" y="662"/>
                </a:cubicBezTo>
                <a:close/>
                <a:moveTo>
                  <a:pt x="1061" y="124"/>
                </a:moveTo>
                <a:cubicBezTo>
                  <a:pt x="1066" y="123"/>
                  <a:pt x="1069" y="124"/>
                  <a:pt x="1069" y="129"/>
                </a:cubicBezTo>
                <a:cubicBezTo>
                  <a:pt x="1065" y="131"/>
                  <a:pt x="1061" y="129"/>
                  <a:pt x="1061" y="124"/>
                </a:cubicBezTo>
                <a:close/>
                <a:moveTo>
                  <a:pt x="1035" y="107"/>
                </a:moveTo>
                <a:cubicBezTo>
                  <a:pt x="1039" y="104"/>
                  <a:pt x="1045" y="110"/>
                  <a:pt x="1045" y="115"/>
                </a:cubicBezTo>
                <a:cubicBezTo>
                  <a:pt x="1038" y="116"/>
                  <a:pt x="1036" y="112"/>
                  <a:pt x="1035" y="107"/>
                </a:cubicBezTo>
                <a:close/>
                <a:moveTo>
                  <a:pt x="1005" y="122"/>
                </a:moveTo>
                <a:cubicBezTo>
                  <a:pt x="1008" y="122"/>
                  <a:pt x="1008" y="120"/>
                  <a:pt x="1010" y="121"/>
                </a:cubicBezTo>
                <a:cubicBezTo>
                  <a:pt x="1011" y="127"/>
                  <a:pt x="1013" y="130"/>
                  <a:pt x="1011" y="135"/>
                </a:cubicBezTo>
                <a:cubicBezTo>
                  <a:pt x="1010" y="129"/>
                  <a:pt x="1004" y="130"/>
                  <a:pt x="1005" y="122"/>
                </a:cubicBezTo>
                <a:close/>
                <a:moveTo>
                  <a:pt x="934" y="50"/>
                </a:moveTo>
                <a:cubicBezTo>
                  <a:pt x="933" y="46"/>
                  <a:pt x="936" y="46"/>
                  <a:pt x="935" y="43"/>
                </a:cubicBezTo>
                <a:cubicBezTo>
                  <a:pt x="941" y="42"/>
                  <a:pt x="945" y="44"/>
                  <a:pt x="948" y="48"/>
                </a:cubicBezTo>
                <a:cubicBezTo>
                  <a:pt x="946" y="48"/>
                  <a:pt x="946" y="50"/>
                  <a:pt x="946" y="52"/>
                </a:cubicBezTo>
                <a:cubicBezTo>
                  <a:pt x="941" y="53"/>
                  <a:pt x="937" y="51"/>
                  <a:pt x="934" y="50"/>
                </a:cubicBezTo>
                <a:close/>
                <a:moveTo>
                  <a:pt x="907" y="99"/>
                </a:moveTo>
                <a:cubicBezTo>
                  <a:pt x="911" y="95"/>
                  <a:pt x="920" y="95"/>
                  <a:pt x="920" y="104"/>
                </a:cubicBezTo>
                <a:cubicBezTo>
                  <a:pt x="918" y="107"/>
                  <a:pt x="911" y="104"/>
                  <a:pt x="915" y="110"/>
                </a:cubicBezTo>
                <a:cubicBezTo>
                  <a:pt x="913" y="110"/>
                  <a:pt x="911" y="110"/>
                  <a:pt x="910" y="109"/>
                </a:cubicBezTo>
                <a:cubicBezTo>
                  <a:pt x="912" y="104"/>
                  <a:pt x="910" y="101"/>
                  <a:pt x="907" y="99"/>
                </a:cubicBezTo>
                <a:close/>
                <a:moveTo>
                  <a:pt x="897" y="90"/>
                </a:moveTo>
                <a:cubicBezTo>
                  <a:pt x="898" y="95"/>
                  <a:pt x="895" y="95"/>
                  <a:pt x="893" y="96"/>
                </a:cubicBezTo>
                <a:cubicBezTo>
                  <a:pt x="890" y="93"/>
                  <a:pt x="892" y="88"/>
                  <a:pt x="897" y="90"/>
                </a:cubicBezTo>
                <a:close/>
                <a:moveTo>
                  <a:pt x="879" y="93"/>
                </a:moveTo>
                <a:cubicBezTo>
                  <a:pt x="882" y="92"/>
                  <a:pt x="882" y="95"/>
                  <a:pt x="886" y="94"/>
                </a:cubicBezTo>
                <a:cubicBezTo>
                  <a:pt x="886" y="97"/>
                  <a:pt x="886" y="100"/>
                  <a:pt x="884" y="102"/>
                </a:cubicBezTo>
                <a:cubicBezTo>
                  <a:pt x="882" y="99"/>
                  <a:pt x="878" y="99"/>
                  <a:pt x="879" y="93"/>
                </a:cubicBezTo>
                <a:close/>
                <a:moveTo>
                  <a:pt x="873" y="112"/>
                </a:moveTo>
                <a:cubicBezTo>
                  <a:pt x="873" y="110"/>
                  <a:pt x="874" y="109"/>
                  <a:pt x="874" y="108"/>
                </a:cubicBezTo>
                <a:cubicBezTo>
                  <a:pt x="877" y="108"/>
                  <a:pt x="877" y="108"/>
                  <a:pt x="877" y="108"/>
                </a:cubicBezTo>
                <a:cubicBezTo>
                  <a:pt x="876" y="110"/>
                  <a:pt x="881" y="112"/>
                  <a:pt x="877" y="113"/>
                </a:cubicBezTo>
                <a:cubicBezTo>
                  <a:pt x="877" y="111"/>
                  <a:pt x="875" y="112"/>
                  <a:pt x="873" y="112"/>
                </a:cubicBezTo>
                <a:close/>
                <a:moveTo>
                  <a:pt x="851" y="78"/>
                </a:moveTo>
                <a:cubicBezTo>
                  <a:pt x="852" y="80"/>
                  <a:pt x="858" y="84"/>
                  <a:pt x="855" y="87"/>
                </a:cubicBezTo>
                <a:cubicBezTo>
                  <a:pt x="852" y="86"/>
                  <a:pt x="844" y="79"/>
                  <a:pt x="851" y="78"/>
                </a:cubicBezTo>
                <a:close/>
                <a:moveTo>
                  <a:pt x="820" y="76"/>
                </a:moveTo>
                <a:cubicBezTo>
                  <a:pt x="832" y="79"/>
                  <a:pt x="844" y="81"/>
                  <a:pt x="851" y="88"/>
                </a:cubicBezTo>
                <a:cubicBezTo>
                  <a:pt x="846" y="90"/>
                  <a:pt x="854" y="95"/>
                  <a:pt x="850" y="97"/>
                </a:cubicBezTo>
                <a:cubicBezTo>
                  <a:pt x="845" y="92"/>
                  <a:pt x="843" y="103"/>
                  <a:pt x="839" y="104"/>
                </a:cubicBezTo>
                <a:cubicBezTo>
                  <a:pt x="838" y="101"/>
                  <a:pt x="840" y="96"/>
                  <a:pt x="837" y="96"/>
                </a:cubicBezTo>
                <a:cubicBezTo>
                  <a:pt x="833" y="96"/>
                  <a:pt x="836" y="103"/>
                  <a:pt x="832" y="103"/>
                </a:cubicBezTo>
                <a:cubicBezTo>
                  <a:pt x="831" y="97"/>
                  <a:pt x="827" y="95"/>
                  <a:pt x="828" y="88"/>
                </a:cubicBezTo>
                <a:cubicBezTo>
                  <a:pt x="831" y="86"/>
                  <a:pt x="836" y="90"/>
                  <a:pt x="836" y="88"/>
                </a:cubicBezTo>
                <a:cubicBezTo>
                  <a:pt x="833" y="84"/>
                  <a:pt x="832" y="80"/>
                  <a:pt x="826" y="80"/>
                </a:cubicBezTo>
                <a:cubicBezTo>
                  <a:pt x="826" y="82"/>
                  <a:pt x="824" y="81"/>
                  <a:pt x="823" y="83"/>
                </a:cubicBezTo>
                <a:cubicBezTo>
                  <a:pt x="823" y="87"/>
                  <a:pt x="827" y="87"/>
                  <a:pt x="826" y="92"/>
                </a:cubicBezTo>
                <a:cubicBezTo>
                  <a:pt x="816" y="92"/>
                  <a:pt x="824" y="84"/>
                  <a:pt x="820" y="76"/>
                </a:cubicBezTo>
                <a:close/>
                <a:moveTo>
                  <a:pt x="786" y="56"/>
                </a:moveTo>
                <a:cubicBezTo>
                  <a:pt x="794" y="56"/>
                  <a:pt x="794" y="56"/>
                  <a:pt x="794" y="56"/>
                </a:cubicBezTo>
                <a:cubicBezTo>
                  <a:pt x="794" y="59"/>
                  <a:pt x="797" y="61"/>
                  <a:pt x="793" y="63"/>
                </a:cubicBezTo>
                <a:cubicBezTo>
                  <a:pt x="790" y="60"/>
                  <a:pt x="787" y="59"/>
                  <a:pt x="786" y="56"/>
                </a:cubicBezTo>
                <a:close/>
                <a:moveTo>
                  <a:pt x="669" y="33"/>
                </a:moveTo>
                <a:cubicBezTo>
                  <a:pt x="671" y="31"/>
                  <a:pt x="675" y="26"/>
                  <a:pt x="676" y="31"/>
                </a:cubicBezTo>
                <a:cubicBezTo>
                  <a:pt x="674" y="31"/>
                  <a:pt x="671" y="37"/>
                  <a:pt x="669" y="33"/>
                </a:cubicBezTo>
                <a:close/>
                <a:moveTo>
                  <a:pt x="523" y="214"/>
                </a:moveTo>
                <a:cubicBezTo>
                  <a:pt x="523" y="213"/>
                  <a:pt x="524" y="211"/>
                  <a:pt x="525" y="213"/>
                </a:cubicBezTo>
                <a:cubicBezTo>
                  <a:pt x="529" y="212"/>
                  <a:pt x="526" y="205"/>
                  <a:pt x="528" y="203"/>
                </a:cubicBezTo>
                <a:cubicBezTo>
                  <a:pt x="532" y="203"/>
                  <a:pt x="537" y="202"/>
                  <a:pt x="536" y="207"/>
                </a:cubicBezTo>
                <a:cubicBezTo>
                  <a:pt x="530" y="207"/>
                  <a:pt x="530" y="214"/>
                  <a:pt x="523" y="214"/>
                </a:cubicBezTo>
                <a:close/>
                <a:moveTo>
                  <a:pt x="508" y="336"/>
                </a:moveTo>
                <a:cubicBezTo>
                  <a:pt x="505" y="337"/>
                  <a:pt x="502" y="337"/>
                  <a:pt x="500" y="335"/>
                </a:cubicBezTo>
                <a:cubicBezTo>
                  <a:pt x="499" y="330"/>
                  <a:pt x="510" y="332"/>
                  <a:pt x="508" y="336"/>
                </a:cubicBezTo>
                <a:close/>
                <a:moveTo>
                  <a:pt x="450" y="327"/>
                </a:moveTo>
                <a:cubicBezTo>
                  <a:pt x="446" y="326"/>
                  <a:pt x="443" y="331"/>
                  <a:pt x="440" y="327"/>
                </a:cubicBezTo>
                <a:cubicBezTo>
                  <a:pt x="449" y="321"/>
                  <a:pt x="437" y="320"/>
                  <a:pt x="438" y="310"/>
                </a:cubicBezTo>
                <a:cubicBezTo>
                  <a:pt x="440" y="307"/>
                  <a:pt x="445" y="308"/>
                  <a:pt x="445" y="304"/>
                </a:cubicBezTo>
                <a:cubicBezTo>
                  <a:pt x="442" y="302"/>
                  <a:pt x="441" y="297"/>
                  <a:pt x="443" y="293"/>
                </a:cubicBezTo>
                <a:cubicBezTo>
                  <a:pt x="445" y="293"/>
                  <a:pt x="447" y="293"/>
                  <a:pt x="450" y="293"/>
                </a:cubicBezTo>
                <a:cubicBezTo>
                  <a:pt x="457" y="302"/>
                  <a:pt x="440" y="316"/>
                  <a:pt x="450" y="327"/>
                </a:cubicBezTo>
                <a:close/>
                <a:moveTo>
                  <a:pt x="471" y="222"/>
                </a:moveTo>
                <a:cubicBezTo>
                  <a:pt x="473" y="214"/>
                  <a:pt x="488" y="216"/>
                  <a:pt x="491" y="222"/>
                </a:cubicBezTo>
                <a:cubicBezTo>
                  <a:pt x="486" y="226"/>
                  <a:pt x="480" y="222"/>
                  <a:pt x="475" y="226"/>
                </a:cubicBezTo>
                <a:cubicBezTo>
                  <a:pt x="475" y="222"/>
                  <a:pt x="471" y="224"/>
                  <a:pt x="471" y="222"/>
                </a:cubicBezTo>
                <a:close/>
                <a:moveTo>
                  <a:pt x="457" y="237"/>
                </a:moveTo>
                <a:cubicBezTo>
                  <a:pt x="455" y="234"/>
                  <a:pt x="452" y="233"/>
                  <a:pt x="452" y="229"/>
                </a:cubicBezTo>
                <a:cubicBezTo>
                  <a:pt x="459" y="228"/>
                  <a:pt x="462" y="231"/>
                  <a:pt x="465" y="234"/>
                </a:cubicBezTo>
                <a:cubicBezTo>
                  <a:pt x="460" y="236"/>
                  <a:pt x="460" y="232"/>
                  <a:pt x="457" y="237"/>
                </a:cubicBezTo>
                <a:close/>
                <a:moveTo>
                  <a:pt x="452" y="335"/>
                </a:moveTo>
                <a:cubicBezTo>
                  <a:pt x="455" y="333"/>
                  <a:pt x="462" y="332"/>
                  <a:pt x="464" y="336"/>
                </a:cubicBezTo>
                <a:cubicBezTo>
                  <a:pt x="461" y="339"/>
                  <a:pt x="454" y="337"/>
                  <a:pt x="452" y="335"/>
                </a:cubicBezTo>
                <a:close/>
                <a:moveTo>
                  <a:pt x="432" y="361"/>
                </a:moveTo>
                <a:cubicBezTo>
                  <a:pt x="437" y="356"/>
                  <a:pt x="438" y="350"/>
                  <a:pt x="435" y="340"/>
                </a:cubicBezTo>
                <a:cubicBezTo>
                  <a:pt x="443" y="339"/>
                  <a:pt x="445" y="342"/>
                  <a:pt x="448" y="346"/>
                </a:cubicBezTo>
                <a:cubicBezTo>
                  <a:pt x="450" y="343"/>
                  <a:pt x="448" y="341"/>
                  <a:pt x="448" y="338"/>
                </a:cubicBezTo>
                <a:cubicBezTo>
                  <a:pt x="451" y="340"/>
                  <a:pt x="459" y="336"/>
                  <a:pt x="460" y="341"/>
                </a:cubicBezTo>
                <a:cubicBezTo>
                  <a:pt x="456" y="344"/>
                  <a:pt x="448" y="347"/>
                  <a:pt x="452" y="354"/>
                </a:cubicBezTo>
                <a:cubicBezTo>
                  <a:pt x="447" y="356"/>
                  <a:pt x="448" y="351"/>
                  <a:pt x="444" y="351"/>
                </a:cubicBezTo>
                <a:cubicBezTo>
                  <a:pt x="442" y="348"/>
                  <a:pt x="447" y="346"/>
                  <a:pt x="444" y="346"/>
                </a:cubicBezTo>
                <a:cubicBezTo>
                  <a:pt x="440" y="347"/>
                  <a:pt x="439" y="350"/>
                  <a:pt x="439" y="354"/>
                </a:cubicBezTo>
                <a:cubicBezTo>
                  <a:pt x="443" y="354"/>
                  <a:pt x="445" y="356"/>
                  <a:pt x="446" y="360"/>
                </a:cubicBezTo>
                <a:cubicBezTo>
                  <a:pt x="445" y="363"/>
                  <a:pt x="441" y="364"/>
                  <a:pt x="438" y="367"/>
                </a:cubicBezTo>
                <a:cubicBezTo>
                  <a:pt x="439" y="362"/>
                  <a:pt x="433" y="365"/>
                  <a:pt x="432" y="361"/>
                </a:cubicBezTo>
                <a:close/>
                <a:moveTo>
                  <a:pt x="301" y="385"/>
                </a:moveTo>
                <a:cubicBezTo>
                  <a:pt x="303" y="381"/>
                  <a:pt x="299" y="379"/>
                  <a:pt x="302" y="377"/>
                </a:cubicBezTo>
                <a:cubicBezTo>
                  <a:pt x="303" y="380"/>
                  <a:pt x="310" y="379"/>
                  <a:pt x="310" y="383"/>
                </a:cubicBezTo>
                <a:cubicBezTo>
                  <a:pt x="310" y="386"/>
                  <a:pt x="304" y="384"/>
                  <a:pt x="301" y="385"/>
                </a:cubicBezTo>
                <a:close/>
                <a:moveTo>
                  <a:pt x="283" y="390"/>
                </a:moveTo>
                <a:cubicBezTo>
                  <a:pt x="286" y="388"/>
                  <a:pt x="286" y="382"/>
                  <a:pt x="290" y="381"/>
                </a:cubicBezTo>
                <a:cubicBezTo>
                  <a:pt x="293" y="384"/>
                  <a:pt x="288" y="394"/>
                  <a:pt x="283" y="390"/>
                </a:cubicBezTo>
                <a:close/>
                <a:moveTo>
                  <a:pt x="234" y="381"/>
                </a:moveTo>
                <a:cubicBezTo>
                  <a:pt x="237" y="380"/>
                  <a:pt x="233" y="379"/>
                  <a:pt x="236" y="377"/>
                </a:cubicBezTo>
                <a:cubicBezTo>
                  <a:pt x="240" y="378"/>
                  <a:pt x="240" y="378"/>
                  <a:pt x="244" y="377"/>
                </a:cubicBezTo>
                <a:cubicBezTo>
                  <a:pt x="243" y="385"/>
                  <a:pt x="248" y="388"/>
                  <a:pt x="251" y="393"/>
                </a:cubicBezTo>
                <a:cubicBezTo>
                  <a:pt x="249" y="393"/>
                  <a:pt x="247" y="393"/>
                  <a:pt x="246" y="394"/>
                </a:cubicBezTo>
                <a:cubicBezTo>
                  <a:pt x="241" y="393"/>
                  <a:pt x="239" y="386"/>
                  <a:pt x="234" y="381"/>
                </a:cubicBezTo>
                <a:close/>
                <a:moveTo>
                  <a:pt x="177" y="501"/>
                </a:moveTo>
                <a:cubicBezTo>
                  <a:pt x="167" y="504"/>
                  <a:pt x="154" y="505"/>
                  <a:pt x="148" y="512"/>
                </a:cubicBezTo>
                <a:cubicBezTo>
                  <a:pt x="148" y="510"/>
                  <a:pt x="147" y="509"/>
                  <a:pt x="147" y="508"/>
                </a:cubicBezTo>
                <a:cubicBezTo>
                  <a:pt x="152" y="505"/>
                  <a:pt x="156" y="502"/>
                  <a:pt x="155" y="494"/>
                </a:cubicBezTo>
                <a:cubicBezTo>
                  <a:pt x="164" y="493"/>
                  <a:pt x="169" y="497"/>
                  <a:pt x="175" y="499"/>
                </a:cubicBezTo>
                <a:cubicBezTo>
                  <a:pt x="173" y="497"/>
                  <a:pt x="173" y="494"/>
                  <a:pt x="176" y="493"/>
                </a:cubicBezTo>
                <a:cubicBezTo>
                  <a:pt x="178" y="496"/>
                  <a:pt x="175" y="497"/>
                  <a:pt x="177" y="501"/>
                </a:cubicBezTo>
                <a:close/>
                <a:moveTo>
                  <a:pt x="155" y="493"/>
                </a:moveTo>
                <a:cubicBezTo>
                  <a:pt x="153" y="490"/>
                  <a:pt x="149" y="485"/>
                  <a:pt x="154" y="482"/>
                </a:cubicBezTo>
                <a:cubicBezTo>
                  <a:pt x="156" y="486"/>
                  <a:pt x="161" y="480"/>
                  <a:pt x="166" y="482"/>
                </a:cubicBezTo>
                <a:cubicBezTo>
                  <a:pt x="164" y="487"/>
                  <a:pt x="150" y="485"/>
                  <a:pt x="155" y="493"/>
                </a:cubicBezTo>
                <a:close/>
                <a:moveTo>
                  <a:pt x="158" y="519"/>
                </a:moveTo>
                <a:cubicBezTo>
                  <a:pt x="152" y="517"/>
                  <a:pt x="149" y="522"/>
                  <a:pt x="146" y="519"/>
                </a:cubicBezTo>
                <a:cubicBezTo>
                  <a:pt x="147" y="514"/>
                  <a:pt x="152" y="513"/>
                  <a:pt x="158" y="513"/>
                </a:cubicBezTo>
                <a:cubicBezTo>
                  <a:pt x="158" y="517"/>
                  <a:pt x="156" y="516"/>
                  <a:pt x="158" y="519"/>
                </a:cubicBezTo>
                <a:close/>
                <a:moveTo>
                  <a:pt x="166" y="526"/>
                </a:moveTo>
                <a:cubicBezTo>
                  <a:pt x="171" y="527"/>
                  <a:pt x="170" y="524"/>
                  <a:pt x="174" y="525"/>
                </a:cubicBezTo>
                <a:cubicBezTo>
                  <a:pt x="176" y="530"/>
                  <a:pt x="167" y="530"/>
                  <a:pt x="166" y="526"/>
                </a:cubicBezTo>
                <a:close/>
                <a:moveTo>
                  <a:pt x="72" y="571"/>
                </a:moveTo>
                <a:cubicBezTo>
                  <a:pt x="73" y="567"/>
                  <a:pt x="70" y="567"/>
                  <a:pt x="71" y="563"/>
                </a:cubicBezTo>
                <a:cubicBezTo>
                  <a:pt x="86" y="552"/>
                  <a:pt x="109" y="553"/>
                  <a:pt x="124" y="544"/>
                </a:cubicBezTo>
                <a:cubicBezTo>
                  <a:pt x="126" y="539"/>
                  <a:pt x="120" y="538"/>
                  <a:pt x="125" y="534"/>
                </a:cubicBezTo>
                <a:cubicBezTo>
                  <a:pt x="127" y="537"/>
                  <a:pt x="129" y="541"/>
                  <a:pt x="133" y="543"/>
                </a:cubicBezTo>
                <a:cubicBezTo>
                  <a:pt x="148" y="540"/>
                  <a:pt x="160" y="535"/>
                  <a:pt x="172" y="534"/>
                </a:cubicBezTo>
                <a:cubicBezTo>
                  <a:pt x="140" y="550"/>
                  <a:pt x="101" y="574"/>
                  <a:pt x="66" y="575"/>
                </a:cubicBezTo>
                <a:cubicBezTo>
                  <a:pt x="61" y="572"/>
                  <a:pt x="72" y="573"/>
                  <a:pt x="72" y="571"/>
                </a:cubicBezTo>
                <a:close/>
                <a:moveTo>
                  <a:pt x="140" y="479"/>
                </a:moveTo>
                <a:cubicBezTo>
                  <a:pt x="136" y="479"/>
                  <a:pt x="129" y="478"/>
                  <a:pt x="129" y="482"/>
                </a:cubicBezTo>
                <a:cubicBezTo>
                  <a:pt x="136" y="484"/>
                  <a:pt x="129" y="489"/>
                  <a:pt x="127" y="491"/>
                </a:cubicBezTo>
                <a:cubicBezTo>
                  <a:pt x="129" y="493"/>
                  <a:pt x="131" y="493"/>
                  <a:pt x="131" y="497"/>
                </a:cubicBezTo>
                <a:cubicBezTo>
                  <a:pt x="128" y="497"/>
                  <a:pt x="124" y="504"/>
                  <a:pt x="121" y="500"/>
                </a:cubicBezTo>
                <a:cubicBezTo>
                  <a:pt x="122" y="499"/>
                  <a:pt x="123" y="498"/>
                  <a:pt x="123" y="496"/>
                </a:cubicBezTo>
                <a:cubicBezTo>
                  <a:pt x="119" y="496"/>
                  <a:pt x="117" y="494"/>
                  <a:pt x="114" y="493"/>
                </a:cubicBezTo>
                <a:cubicBezTo>
                  <a:pt x="114" y="485"/>
                  <a:pt x="119" y="492"/>
                  <a:pt x="121" y="489"/>
                </a:cubicBezTo>
                <a:cubicBezTo>
                  <a:pt x="121" y="487"/>
                  <a:pt x="119" y="488"/>
                  <a:pt x="119" y="486"/>
                </a:cubicBezTo>
                <a:cubicBezTo>
                  <a:pt x="133" y="488"/>
                  <a:pt x="119" y="464"/>
                  <a:pt x="131" y="470"/>
                </a:cubicBezTo>
                <a:cubicBezTo>
                  <a:pt x="128" y="474"/>
                  <a:pt x="142" y="471"/>
                  <a:pt x="140" y="479"/>
                </a:cubicBezTo>
                <a:close/>
                <a:moveTo>
                  <a:pt x="145" y="511"/>
                </a:moveTo>
                <a:cubicBezTo>
                  <a:pt x="142" y="515"/>
                  <a:pt x="133" y="517"/>
                  <a:pt x="128" y="513"/>
                </a:cubicBezTo>
                <a:cubicBezTo>
                  <a:pt x="128" y="515"/>
                  <a:pt x="125" y="514"/>
                  <a:pt x="125" y="517"/>
                </a:cubicBezTo>
                <a:cubicBezTo>
                  <a:pt x="122" y="517"/>
                  <a:pt x="116" y="519"/>
                  <a:pt x="116" y="515"/>
                </a:cubicBezTo>
                <a:cubicBezTo>
                  <a:pt x="123" y="512"/>
                  <a:pt x="126" y="505"/>
                  <a:pt x="131" y="501"/>
                </a:cubicBezTo>
                <a:cubicBezTo>
                  <a:pt x="131" y="515"/>
                  <a:pt x="142" y="506"/>
                  <a:pt x="145" y="511"/>
                </a:cubicBezTo>
                <a:close/>
                <a:moveTo>
                  <a:pt x="106" y="486"/>
                </a:moveTo>
                <a:cubicBezTo>
                  <a:pt x="101" y="486"/>
                  <a:pt x="101" y="482"/>
                  <a:pt x="99" y="479"/>
                </a:cubicBezTo>
                <a:cubicBezTo>
                  <a:pt x="101" y="478"/>
                  <a:pt x="107" y="474"/>
                  <a:pt x="110" y="477"/>
                </a:cubicBezTo>
                <a:cubicBezTo>
                  <a:pt x="103" y="477"/>
                  <a:pt x="106" y="481"/>
                  <a:pt x="106" y="486"/>
                </a:cubicBezTo>
                <a:close/>
                <a:moveTo>
                  <a:pt x="98" y="509"/>
                </a:moveTo>
                <a:cubicBezTo>
                  <a:pt x="90" y="511"/>
                  <a:pt x="81" y="511"/>
                  <a:pt x="72" y="513"/>
                </a:cubicBezTo>
                <a:cubicBezTo>
                  <a:pt x="72" y="505"/>
                  <a:pt x="75" y="502"/>
                  <a:pt x="74" y="498"/>
                </a:cubicBezTo>
                <a:cubicBezTo>
                  <a:pt x="76" y="495"/>
                  <a:pt x="85" y="498"/>
                  <a:pt x="85" y="493"/>
                </a:cubicBezTo>
                <a:cubicBezTo>
                  <a:pt x="86" y="489"/>
                  <a:pt x="81" y="491"/>
                  <a:pt x="82" y="487"/>
                </a:cubicBezTo>
                <a:cubicBezTo>
                  <a:pt x="85" y="485"/>
                  <a:pt x="85" y="487"/>
                  <a:pt x="87" y="484"/>
                </a:cubicBezTo>
                <a:cubicBezTo>
                  <a:pt x="89" y="486"/>
                  <a:pt x="92" y="486"/>
                  <a:pt x="94" y="488"/>
                </a:cubicBezTo>
                <a:cubicBezTo>
                  <a:pt x="96" y="501"/>
                  <a:pt x="80" y="499"/>
                  <a:pt x="76" y="509"/>
                </a:cubicBezTo>
                <a:cubicBezTo>
                  <a:pt x="85" y="507"/>
                  <a:pt x="90" y="503"/>
                  <a:pt x="95" y="498"/>
                </a:cubicBezTo>
                <a:cubicBezTo>
                  <a:pt x="100" y="503"/>
                  <a:pt x="93" y="505"/>
                  <a:pt x="98" y="509"/>
                </a:cubicBezTo>
                <a:close/>
                <a:moveTo>
                  <a:pt x="62" y="467"/>
                </a:moveTo>
                <a:cubicBezTo>
                  <a:pt x="68" y="468"/>
                  <a:pt x="72" y="465"/>
                  <a:pt x="74" y="467"/>
                </a:cubicBezTo>
                <a:cubicBezTo>
                  <a:pt x="75" y="472"/>
                  <a:pt x="66" y="470"/>
                  <a:pt x="68" y="476"/>
                </a:cubicBezTo>
                <a:cubicBezTo>
                  <a:pt x="64" y="478"/>
                  <a:pt x="64" y="474"/>
                  <a:pt x="60" y="476"/>
                </a:cubicBezTo>
                <a:cubicBezTo>
                  <a:pt x="60" y="471"/>
                  <a:pt x="66" y="473"/>
                  <a:pt x="62" y="467"/>
                </a:cubicBezTo>
                <a:close/>
                <a:moveTo>
                  <a:pt x="54" y="520"/>
                </a:moveTo>
                <a:cubicBezTo>
                  <a:pt x="53" y="520"/>
                  <a:pt x="52" y="519"/>
                  <a:pt x="52" y="518"/>
                </a:cubicBezTo>
                <a:cubicBezTo>
                  <a:pt x="58" y="519"/>
                  <a:pt x="61" y="511"/>
                  <a:pt x="62" y="519"/>
                </a:cubicBezTo>
                <a:cubicBezTo>
                  <a:pt x="60" y="520"/>
                  <a:pt x="55" y="517"/>
                  <a:pt x="55" y="520"/>
                </a:cubicBezTo>
                <a:cubicBezTo>
                  <a:pt x="57" y="523"/>
                  <a:pt x="59" y="518"/>
                  <a:pt x="59" y="523"/>
                </a:cubicBezTo>
                <a:cubicBezTo>
                  <a:pt x="50" y="524"/>
                  <a:pt x="47" y="527"/>
                  <a:pt x="39" y="522"/>
                </a:cubicBezTo>
                <a:cubicBezTo>
                  <a:pt x="45" y="520"/>
                  <a:pt x="51" y="520"/>
                  <a:pt x="54" y="520"/>
                </a:cubicBezTo>
                <a:close/>
                <a:moveTo>
                  <a:pt x="46" y="549"/>
                </a:moveTo>
                <a:cubicBezTo>
                  <a:pt x="38" y="551"/>
                  <a:pt x="33" y="555"/>
                  <a:pt x="28" y="559"/>
                </a:cubicBezTo>
                <a:cubicBezTo>
                  <a:pt x="25" y="553"/>
                  <a:pt x="40" y="544"/>
                  <a:pt x="46" y="549"/>
                </a:cubicBezTo>
                <a:close/>
                <a:moveTo>
                  <a:pt x="26" y="534"/>
                </a:moveTo>
                <a:cubicBezTo>
                  <a:pt x="25" y="532"/>
                  <a:pt x="24" y="530"/>
                  <a:pt x="24" y="527"/>
                </a:cubicBezTo>
                <a:cubicBezTo>
                  <a:pt x="27" y="526"/>
                  <a:pt x="30" y="523"/>
                  <a:pt x="35" y="524"/>
                </a:cubicBezTo>
                <a:cubicBezTo>
                  <a:pt x="35" y="529"/>
                  <a:pt x="35" y="534"/>
                  <a:pt x="26" y="534"/>
                </a:cubicBezTo>
                <a:close/>
                <a:moveTo>
                  <a:pt x="48" y="534"/>
                </a:moveTo>
                <a:cubicBezTo>
                  <a:pt x="52" y="534"/>
                  <a:pt x="60" y="530"/>
                  <a:pt x="64" y="534"/>
                </a:cubicBezTo>
                <a:cubicBezTo>
                  <a:pt x="60" y="536"/>
                  <a:pt x="54" y="544"/>
                  <a:pt x="48" y="540"/>
                </a:cubicBezTo>
                <a:cubicBezTo>
                  <a:pt x="52" y="539"/>
                  <a:pt x="46" y="537"/>
                  <a:pt x="48" y="534"/>
                </a:cubicBezTo>
                <a:close/>
                <a:moveTo>
                  <a:pt x="78" y="477"/>
                </a:moveTo>
                <a:cubicBezTo>
                  <a:pt x="79" y="482"/>
                  <a:pt x="69" y="484"/>
                  <a:pt x="68" y="479"/>
                </a:cubicBezTo>
                <a:cubicBezTo>
                  <a:pt x="71" y="479"/>
                  <a:pt x="73" y="477"/>
                  <a:pt x="78" y="477"/>
                </a:cubicBezTo>
                <a:close/>
                <a:moveTo>
                  <a:pt x="76" y="532"/>
                </a:moveTo>
                <a:cubicBezTo>
                  <a:pt x="75" y="528"/>
                  <a:pt x="78" y="529"/>
                  <a:pt x="77" y="525"/>
                </a:cubicBezTo>
                <a:cubicBezTo>
                  <a:pt x="85" y="526"/>
                  <a:pt x="89" y="522"/>
                  <a:pt x="92" y="519"/>
                </a:cubicBezTo>
                <a:cubicBezTo>
                  <a:pt x="94" y="520"/>
                  <a:pt x="94" y="526"/>
                  <a:pt x="92" y="528"/>
                </a:cubicBezTo>
                <a:cubicBezTo>
                  <a:pt x="89" y="527"/>
                  <a:pt x="86" y="527"/>
                  <a:pt x="84" y="530"/>
                </a:cubicBezTo>
                <a:cubicBezTo>
                  <a:pt x="92" y="530"/>
                  <a:pt x="92" y="530"/>
                  <a:pt x="92" y="530"/>
                </a:cubicBezTo>
                <a:cubicBezTo>
                  <a:pt x="92" y="531"/>
                  <a:pt x="93" y="533"/>
                  <a:pt x="94" y="534"/>
                </a:cubicBezTo>
                <a:cubicBezTo>
                  <a:pt x="91" y="535"/>
                  <a:pt x="89" y="537"/>
                  <a:pt x="84" y="537"/>
                </a:cubicBezTo>
                <a:cubicBezTo>
                  <a:pt x="86" y="530"/>
                  <a:pt x="78" y="535"/>
                  <a:pt x="76" y="532"/>
                </a:cubicBezTo>
                <a:close/>
                <a:moveTo>
                  <a:pt x="52" y="549"/>
                </a:moveTo>
                <a:cubicBezTo>
                  <a:pt x="59" y="541"/>
                  <a:pt x="70" y="537"/>
                  <a:pt x="82" y="537"/>
                </a:cubicBezTo>
                <a:cubicBezTo>
                  <a:pt x="79" y="544"/>
                  <a:pt x="64" y="541"/>
                  <a:pt x="59" y="546"/>
                </a:cubicBezTo>
                <a:cubicBezTo>
                  <a:pt x="59" y="549"/>
                  <a:pt x="64" y="547"/>
                  <a:pt x="63" y="551"/>
                </a:cubicBezTo>
                <a:cubicBezTo>
                  <a:pt x="57" y="552"/>
                  <a:pt x="58" y="545"/>
                  <a:pt x="52" y="549"/>
                </a:cubicBezTo>
                <a:close/>
                <a:moveTo>
                  <a:pt x="4" y="597"/>
                </a:moveTo>
                <a:cubicBezTo>
                  <a:pt x="14" y="587"/>
                  <a:pt x="33" y="586"/>
                  <a:pt x="40" y="574"/>
                </a:cubicBezTo>
                <a:cubicBezTo>
                  <a:pt x="45" y="575"/>
                  <a:pt x="49" y="579"/>
                  <a:pt x="51" y="584"/>
                </a:cubicBezTo>
                <a:cubicBezTo>
                  <a:pt x="35" y="593"/>
                  <a:pt x="18" y="594"/>
                  <a:pt x="4" y="597"/>
                </a:cubicBezTo>
                <a:close/>
                <a:moveTo>
                  <a:pt x="31" y="471"/>
                </a:moveTo>
                <a:cubicBezTo>
                  <a:pt x="31" y="471"/>
                  <a:pt x="31" y="470"/>
                  <a:pt x="30" y="470"/>
                </a:cubicBezTo>
                <a:cubicBezTo>
                  <a:pt x="28" y="475"/>
                  <a:pt x="31" y="475"/>
                  <a:pt x="32" y="479"/>
                </a:cubicBezTo>
                <a:cubicBezTo>
                  <a:pt x="26" y="477"/>
                  <a:pt x="21" y="480"/>
                  <a:pt x="18" y="480"/>
                </a:cubicBezTo>
                <a:cubicBezTo>
                  <a:pt x="22" y="480"/>
                  <a:pt x="18" y="475"/>
                  <a:pt x="18" y="475"/>
                </a:cubicBezTo>
                <a:cubicBezTo>
                  <a:pt x="21" y="473"/>
                  <a:pt x="33" y="466"/>
                  <a:pt x="31" y="471"/>
                </a:cubicBezTo>
                <a:close/>
                <a:moveTo>
                  <a:pt x="39" y="486"/>
                </a:moveTo>
                <a:cubicBezTo>
                  <a:pt x="32" y="490"/>
                  <a:pt x="24" y="492"/>
                  <a:pt x="15" y="494"/>
                </a:cubicBezTo>
                <a:cubicBezTo>
                  <a:pt x="19" y="486"/>
                  <a:pt x="31" y="484"/>
                  <a:pt x="39" y="486"/>
                </a:cubicBezTo>
                <a:close/>
                <a:moveTo>
                  <a:pt x="41" y="507"/>
                </a:moveTo>
                <a:cubicBezTo>
                  <a:pt x="34" y="508"/>
                  <a:pt x="37" y="509"/>
                  <a:pt x="39" y="513"/>
                </a:cubicBezTo>
                <a:cubicBezTo>
                  <a:pt x="35" y="516"/>
                  <a:pt x="28" y="512"/>
                  <a:pt x="29" y="505"/>
                </a:cubicBezTo>
                <a:cubicBezTo>
                  <a:pt x="33" y="503"/>
                  <a:pt x="38" y="505"/>
                  <a:pt x="41" y="507"/>
                </a:cubicBezTo>
                <a:close/>
                <a:moveTo>
                  <a:pt x="50" y="460"/>
                </a:moveTo>
                <a:cubicBezTo>
                  <a:pt x="49" y="463"/>
                  <a:pt x="49" y="467"/>
                  <a:pt x="46" y="468"/>
                </a:cubicBezTo>
                <a:cubicBezTo>
                  <a:pt x="44" y="466"/>
                  <a:pt x="45" y="459"/>
                  <a:pt x="50" y="460"/>
                </a:cubicBezTo>
                <a:close/>
                <a:moveTo>
                  <a:pt x="52" y="484"/>
                </a:moveTo>
                <a:cubicBezTo>
                  <a:pt x="49" y="484"/>
                  <a:pt x="45" y="484"/>
                  <a:pt x="45" y="480"/>
                </a:cubicBezTo>
                <a:cubicBezTo>
                  <a:pt x="49" y="479"/>
                  <a:pt x="51" y="482"/>
                  <a:pt x="52" y="484"/>
                </a:cubicBezTo>
                <a:close/>
                <a:moveTo>
                  <a:pt x="56" y="507"/>
                </a:moveTo>
                <a:cubicBezTo>
                  <a:pt x="54" y="511"/>
                  <a:pt x="49" y="512"/>
                  <a:pt x="44" y="513"/>
                </a:cubicBezTo>
                <a:cubicBezTo>
                  <a:pt x="45" y="508"/>
                  <a:pt x="50" y="507"/>
                  <a:pt x="56" y="507"/>
                </a:cubicBezTo>
                <a:close/>
                <a:moveTo>
                  <a:pt x="98" y="452"/>
                </a:moveTo>
                <a:cubicBezTo>
                  <a:pt x="95" y="451"/>
                  <a:pt x="94" y="448"/>
                  <a:pt x="91" y="446"/>
                </a:cubicBezTo>
                <a:cubicBezTo>
                  <a:pt x="89" y="451"/>
                  <a:pt x="85" y="448"/>
                  <a:pt x="82" y="450"/>
                </a:cubicBezTo>
                <a:cubicBezTo>
                  <a:pt x="84" y="458"/>
                  <a:pt x="95" y="457"/>
                  <a:pt x="96" y="466"/>
                </a:cubicBezTo>
                <a:cubicBezTo>
                  <a:pt x="93" y="465"/>
                  <a:pt x="87" y="468"/>
                  <a:pt x="87" y="465"/>
                </a:cubicBezTo>
                <a:cubicBezTo>
                  <a:pt x="89" y="458"/>
                  <a:pt x="78" y="462"/>
                  <a:pt x="74" y="457"/>
                </a:cubicBezTo>
                <a:cubicBezTo>
                  <a:pt x="70" y="461"/>
                  <a:pt x="64" y="462"/>
                  <a:pt x="58" y="465"/>
                </a:cubicBezTo>
                <a:cubicBezTo>
                  <a:pt x="57" y="461"/>
                  <a:pt x="60" y="461"/>
                  <a:pt x="59" y="457"/>
                </a:cubicBezTo>
                <a:cubicBezTo>
                  <a:pt x="67" y="453"/>
                  <a:pt x="78" y="453"/>
                  <a:pt x="79" y="444"/>
                </a:cubicBezTo>
                <a:cubicBezTo>
                  <a:pt x="83" y="442"/>
                  <a:pt x="84" y="442"/>
                  <a:pt x="88" y="443"/>
                </a:cubicBezTo>
                <a:cubicBezTo>
                  <a:pt x="89" y="440"/>
                  <a:pt x="94" y="434"/>
                  <a:pt x="96" y="437"/>
                </a:cubicBezTo>
                <a:cubicBezTo>
                  <a:pt x="95" y="441"/>
                  <a:pt x="116" y="449"/>
                  <a:pt x="98" y="452"/>
                </a:cubicBezTo>
                <a:close/>
                <a:moveTo>
                  <a:pt x="134" y="430"/>
                </a:moveTo>
                <a:cubicBezTo>
                  <a:pt x="132" y="437"/>
                  <a:pt x="130" y="443"/>
                  <a:pt x="126" y="447"/>
                </a:cubicBezTo>
                <a:cubicBezTo>
                  <a:pt x="119" y="444"/>
                  <a:pt x="110" y="450"/>
                  <a:pt x="108" y="441"/>
                </a:cubicBezTo>
                <a:cubicBezTo>
                  <a:pt x="104" y="441"/>
                  <a:pt x="104" y="441"/>
                  <a:pt x="104" y="441"/>
                </a:cubicBezTo>
                <a:cubicBezTo>
                  <a:pt x="109" y="433"/>
                  <a:pt x="119" y="423"/>
                  <a:pt x="130" y="428"/>
                </a:cubicBezTo>
                <a:cubicBezTo>
                  <a:pt x="125" y="430"/>
                  <a:pt x="132" y="434"/>
                  <a:pt x="134" y="430"/>
                </a:cubicBezTo>
                <a:close/>
                <a:moveTo>
                  <a:pt x="140" y="446"/>
                </a:moveTo>
                <a:cubicBezTo>
                  <a:pt x="135" y="445"/>
                  <a:pt x="135" y="450"/>
                  <a:pt x="129" y="452"/>
                </a:cubicBezTo>
                <a:cubicBezTo>
                  <a:pt x="129" y="447"/>
                  <a:pt x="129" y="447"/>
                  <a:pt x="129" y="447"/>
                </a:cubicBezTo>
                <a:cubicBezTo>
                  <a:pt x="139" y="448"/>
                  <a:pt x="130" y="440"/>
                  <a:pt x="135" y="440"/>
                </a:cubicBezTo>
                <a:cubicBezTo>
                  <a:pt x="136" y="443"/>
                  <a:pt x="140" y="442"/>
                  <a:pt x="140" y="446"/>
                </a:cubicBezTo>
                <a:close/>
                <a:moveTo>
                  <a:pt x="146" y="413"/>
                </a:moveTo>
                <a:cubicBezTo>
                  <a:pt x="142" y="414"/>
                  <a:pt x="138" y="413"/>
                  <a:pt x="137" y="410"/>
                </a:cubicBezTo>
                <a:cubicBezTo>
                  <a:pt x="140" y="408"/>
                  <a:pt x="148" y="406"/>
                  <a:pt x="146" y="413"/>
                </a:cubicBezTo>
                <a:close/>
                <a:moveTo>
                  <a:pt x="169" y="408"/>
                </a:moveTo>
                <a:cubicBezTo>
                  <a:pt x="170" y="417"/>
                  <a:pt x="161" y="409"/>
                  <a:pt x="159" y="413"/>
                </a:cubicBezTo>
                <a:cubicBezTo>
                  <a:pt x="158" y="408"/>
                  <a:pt x="150" y="410"/>
                  <a:pt x="148" y="407"/>
                </a:cubicBezTo>
                <a:cubicBezTo>
                  <a:pt x="152" y="406"/>
                  <a:pt x="159" y="401"/>
                  <a:pt x="161" y="403"/>
                </a:cubicBezTo>
                <a:cubicBezTo>
                  <a:pt x="159" y="404"/>
                  <a:pt x="159" y="406"/>
                  <a:pt x="158" y="409"/>
                </a:cubicBezTo>
                <a:cubicBezTo>
                  <a:pt x="161" y="412"/>
                  <a:pt x="167" y="406"/>
                  <a:pt x="169" y="408"/>
                </a:cubicBezTo>
                <a:close/>
                <a:moveTo>
                  <a:pt x="170" y="431"/>
                </a:moveTo>
                <a:cubicBezTo>
                  <a:pt x="161" y="434"/>
                  <a:pt x="156" y="426"/>
                  <a:pt x="149" y="431"/>
                </a:cubicBezTo>
                <a:cubicBezTo>
                  <a:pt x="148" y="435"/>
                  <a:pt x="156" y="429"/>
                  <a:pt x="154" y="435"/>
                </a:cubicBezTo>
                <a:cubicBezTo>
                  <a:pt x="147" y="438"/>
                  <a:pt x="140" y="436"/>
                  <a:pt x="137" y="433"/>
                </a:cubicBezTo>
                <a:cubicBezTo>
                  <a:pt x="144" y="424"/>
                  <a:pt x="162" y="421"/>
                  <a:pt x="170" y="431"/>
                </a:cubicBezTo>
                <a:close/>
                <a:moveTo>
                  <a:pt x="171" y="452"/>
                </a:moveTo>
                <a:cubicBezTo>
                  <a:pt x="163" y="449"/>
                  <a:pt x="161" y="461"/>
                  <a:pt x="166" y="467"/>
                </a:cubicBezTo>
                <a:cubicBezTo>
                  <a:pt x="161" y="469"/>
                  <a:pt x="165" y="476"/>
                  <a:pt x="163" y="480"/>
                </a:cubicBezTo>
                <a:cubicBezTo>
                  <a:pt x="156" y="481"/>
                  <a:pt x="158" y="474"/>
                  <a:pt x="151" y="478"/>
                </a:cubicBezTo>
                <a:cubicBezTo>
                  <a:pt x="150" y="474"/>
                  <a:pt x="144" y="471"/>
                  <a:pt x="147" y="466"/>
                </a:cubicBezTo>
                <a:cubicBezTo>
                  <a:pt x="145" y="466"/>
                  <a:pt x="143" y="464"/>
                  <a:pt x="141" y="462"/>
                </a:cubicBezTo>
                <a:cubicBezTo>
                  <a:pt x="140" y="465"/>
                  <a:pt x="136" y="464"/>
                  <a:pt x="135" y="467"/>
                </a:cubicBezTo>
                <a:cubicBezTo>
                  <a:pt x="131" y="466"/>
                  <a:pt x="128" y="463"/>
                  <a:pt x="123" y="463"/>
                </a:cubicBezTo>
                <a:cubicBezTo>
                  <a:pt x="122" y="457"/>
                  <a:pt x="127" y="465"/>
                  <a:pt x="127" y="460"/>
                </a:cubicBezTo>
                <a:cubicBezTo>
                  <a:pt x="125" y="458"/>
                  <a:pt x="119" y="459"/>
                  <a:pt x="119" y="454"/>
                </a:cubicBezTo>
                <a:cubicBezTo>
                  <a:pt x="125" y="453"/>
                  <a:pt x="127" y="453"/>
                  <a:pt x="128" y="456"/>
                </a:cubicBezTo>
                <a:cubicBezTo>
                  <a:pt x="136" y="456"/>
                  <a:pt x="136" y="456"/>
                  <a:pt x="136" y="456"/>
                </a:cubicBezTo>
                <a:cubicBezTo>
                  <a:pt x="139" y="454"/>
                  <a:pt x="138" y="449"/>
                  <a:pt x="143" y="449"/>
                </a:cubicBezTo>
                <a:cubicBezTo>
                  <a:pt x="144" y="455"/>
                  <a:pt x="143" y="456"/>
                  <a:pt x="142" y="462"/>
                </a:cubicBezTo>
                <a:cubicBezTo>
                  <a:pt x="150" y="460"/>
                  <a:pt x="150" y="466"/>
                  <a:pt x="156" y="467"/>
                </a:cubicBezTo>
                <a:cubicBezTo>
                  <a:pt x="158" y="465"/>
                  <a:pt x="159" y="463"/>
                  <a:pt x="159" y="459"/>
                </a:cubicBezTo>
                <a:cubicBezTo>
                  <a:pt x="154" y="458"/>
                  <a:pt x="148" y="458"/>
                  <a:pt x="146" y="454"/>
                </a:cubicBezTo>
                <a:cubicBezTo>
                  <a:pt x="148" y="454"/>
                  <a:pt x="152" y="455"/>
                  <a:pt x="151" y="451"/>
                </a:cubicBezTo>
                <a:cubicBezTo>
                  <a:pt x="154" y="451"/>
                  <a:pt x="154" y="453"/>
                  <a:pt x="155" y="454"/>
                </a:cubicBezTo>
                <a:cubicBezTo>
                  <a:pt x="157" y="452"/>
                  <a:pt x="163" y="453"/>
                  <a:pt x="162" y="448"/>
                </a:cubicBezTo>
                <a:cubicBezTo>
                  <a:pt x="154" y="448"/>
                  <a:pt x="151" y="452"/>
                  <a:pt x="148" y="446"/>
                </a:cubicBezTo>
                <a:cubicBezTo>
                  <a:pt x="151" y="445"/>
                  <a:pt x="150" y="441"/>
                  <a:pt x="154" y="442"/>
                </a:cubicBezTo>
                <a:cubicBezTo>
                  <a:pt x="161" y="449"/>
                  <a:pt x="165" y="439"/>
                  <a:pt x="169" y="444"/>
                </a:cubicBezTo>
                <a:cubicBezTo>
                  <a:pt x="162" y="444"/>
                  <a:pt x="169" y="450"/>
                  <a:pt x="171" y="452"/>
                </a:cubicBezTo>
                <a:close/>
                <a:moveTo>
                  <a:pt x="181" y="431"/>
                </a:moveTo>
                <a:cubicBezTo>
                  <a:pt x="186" y="432"/>
                  <a:pt x="187" y="437"/>
                  <a:pt x="193" y="433"/>
                </a:cubicBezTo>
                <a:cubicBezTo>
                  <a:pt x="193" y="442"/>
                  <a:pt x="183" y="437"/>
                  <a:pt x="179" y="435"/>
                </a:cubicBezTo>
                <a:cubicBezTo>
                  <a:pt x="180" y="435"/>
                  <a:pt x="180" y="432"/>
                  <a:pt x="181" y="431"/>
                </a:cubicBezTo>
                <a:close/>
                <a:moveTo>
                  <a:pt x="188" y="413"/>
                </a:moveTo>
                <a:cubicBezTo>
                  <a:pt x="191" y="404"/>
                  <a:pt x="185" y="407"/>
                  <a:pt x="182" y="400"/>
                </a:cubicBezTo>
                <a:cubicBezTo>
                  <a:pt x="192" y="401"/>
                  <a:pt x="197" y="397"/>
                  <a:pt x="200" y="391"/>
                </a:cubicBezTo>
                <a:cubicBezTo>
                  <a:pt x="199" y="389"/>
                  <a:pt x="193" y="391"/>
                  <a:pt x="194" y="387"/>
                </a:cubicBezTo>
                <a:cubicBezTo>
                  <a:pt x="201" y="389"/>
                  <a:pt x="202" y="395"/>
                  <a:pt x="212" y="392"/>
                </a:cubicBezTo>
                <a:cubicBezTo>
                  <a:pt x="212" y="401"/>
                  <a:pt x="202" y="401"/>
                  <a:pt x="202" y="410"/>
                </a:cubicBezTo>
                <a:cubicBezTo>
                  <a:pt x="203" y="411"/>
                  <a:pt x="207" y="410"/>
                  <a:pt x="207" y="412"/>
                </a:cubicBezTo>
                <a:cubicBezTo>
                  <a:pt x="204" y="417"/>
                  <a:pt x="193" y="415"/>
                  <a:pt x="188" y="413"/>
                </a:cubicBezTo>
                <a:close/>
                <a:moveTo>
                  <a:pt x="203" y="518"/>
                </a:moveTo>
                <a:cubicBezTo>
                  <a:pt x="194" y="520"/>
                  <a:pt x="194" y="518"/>
                  <a:pt x="188" y="516"/>
                </a:cubicBezTo>
                <a:cubicBezTo>
                  <a:pt x="185" y="518"/>
                  <a:pt x="183" y="521"/>
                  <a:pt x="180" y="523"/>
                </a:cubicBezTo>
                <a:cubicBezTo>
                  <a:pt x="176" y="514"/>
                  <a:pt x="192" y="515"/>
                  <a:pt x="194" y="507"/>
                </a:cubicBezTo>
                <a:cubicBezTo>
                  <a:pt x="185" y="508"/>
                  <a:pt x="195" y="505"/>
                  <a:pt x="194" y="501"/>
                </a:cubicBezTo>
                <a:cubicBezTo>
                  <a:pt x="189" y="499"/>
                  <a:pt x="184" y="505"/>
                  <a:pt x="184" y="500"/>
                </a:cubicBezTo>
                <a:cubicBezTo>
                  <a:pt x="183" y="496"/>
                  <a:pt x="186" y="489"/>
                  <a:pt x="187" y="481"/>
                </a:cubicBezTo>
                <a:cubicBezTo>
                  <a:pt x="180" y="479"/>
                  <a:pt x="173" y="484"/>
                  <a:pt x="168" y="482"/>
                </a:cubicBezTo>
                <a:cubicBezTo>
                  <a:pt x="171" y="477"/>
                  <a:pt x="174" y="479"/>
                  <a:pt x="178" y="477"/>
                </a:cubicBezTo>
                <a:cubicBezTo>
                  <a:pt x="174" y="476"/>
                  <a:pt x="171" y="474"/>
                  <a:pt x="172" y="468"/>
                </a:cubicBezTo>
                <a:cubicBezTo>
                  <a:pt x="176" y="464"/>
                  <a:pt x="185" y="465"/>
                  <a:pt x="184" y="456"/>
                </a:cubicBezTo>
                <a:cubicBezTo>
                  <a:pt x="178" y="461"/>
                  <a:pt x="180" y="453"/>
                  <a:pt x="175" y="453"/>
                </a:cubicBezTo>
                <a:cubicBezTo>
                  <a:pt x="174" y="449"/>
                  <a:pt x="178" y="450"/>
                  <a:pt x="178" y="447"/>
                </a:cubicBezTo>
                <a:cubicBezTo>
                  <a:pt x="175" y="448"/>
                  <a:pt x="175" y="446"/>
                  <a:pt x="172" y="446"/>
                </a:cubicBezTo>
                <a:cubicBezTo>
                  <a:pt x="173" y="438"/>
                  <a:pt x="177" y="441"/>
                  <a:pt x="181" y="438"/>
                </a:cubicBezTo>
                <a:cubicBezTo>
                  <a:pt x="181" y="447"/>
                  <a:pt x="193" y="437"/>
                  <a:pt x="194" y="447"/>
                </a:cubicBezTo>
                <a:cubicBezTo>
                  <a:pt x="193" y="448"/>
                  <a:pt x="189" y="447"/>
                  <a:pt x="189" y="449"/>
                </a:cubicBezTo>
                <a:cubicBezTo>
                  <a:pt x="188" y="455"/>
                  <a:pt x="192" y="456"/>
                  <a:pt x="197" y="456"/>
                </a:cubicBezTo>
                <a:cubicBezTo>
                  <a:pt x="196" y="464"/>
                  <a:pt x="191" y="469"/>
                  <a:pt x="189" y="477"/>
                </a:cubicBezTo>
                <a:cubicBezTo>
                  <a:pt x="191" y="479"/>
                  <a:pt x="192" y="480"/>
                  <a:pt x="190" y="485"/>
                </a:cubicBezTo>
                <a:cubicBezTo>
                  <a:pt x="193" y="487"/>
                  <a:pt x="203" y="489"/>
                  <a:pt x="200" y="494"/>
                </a:cubicBezTo>
                <a:cubicBezTo>
                  <a:pt x="199" y="492"/>
                  <a:pt x="192" y="495"/>
                  <a:pt x="192" y="498"/>
                </a:cubicBezTo>
                <a:cubicBezTo>
                  <a:pt x="197" y="497"/>
                  <a:pt x="195" y="505"/>
                  <a:pt x="201" y="504"/>
                </a:cubicBezTo>
                <a:cubicBezTo>
                  <a:pt x="196" y="511"/>
                  <a:pt x="202" y="510"/>
                  <a:pt x="203" y="518"/>
                </a:cubicBezTo>
                <a:close/>
                <a:moveTo>
                  <a:pt x="870" y="395"/>
                </a:moveTo>
                <a:cubicBezTo>
                  <a:pt x="873" y="399"/>
                  <a:pt x="877" y="402"/>
                  <a:pt x="881" y="405"/>
                </a:cubicBezTo>
                <a:cubicBezTo>
                  <a:pt x="881" y="409"/>
                  <a:pt x="881" y="413"/>
                  <a:pt x="879" y="415"/>
                </a:cubicBezTo>
                <a:cubicBezTo>
                  <a:pt x="867" y="413"/>
                  <a:pt x="861" y="405"/>
                  <a:pt x="857" y="395"/>
                </a:cubicBezTo>
                <a:cubicBezTo>
                  <a:pt x="864" y="397"/>
                  <a:pt x="859" y="383"/>
                  <a:pt x="861" y="387"/>
                </a:cubicBezTo>
                <a:cubicBezTo>
                  <a:pt x="864" y="386"/>
                  <a:pt x="861" y="393"/>
                  <a:pt x="865" y="391"/>
                </a:cubicBezTo>
                <a:cubicBezTo>
                  <a:pt x="865" y="383"/>
                  <a:pt x="865" y="383"/>
                  <a:pt x="865" y="383"/>
                </a:cubicBezTo>
                <a:cubicBezTo>
                  <a:pt x="869" y="382"/>
                  <a:pt x="868" y="386"/>
                  <a:pt x="872" y="385"/>
                </a:cubicBezTo>
                <a:cubicBezTo>
                  <a:pt x="872" y="389"/>
                  <a:pt x="868" y="389"/>
                  <a:pt x="870" y="395"/>
                </a:cubicBezTo>
                <a:close/>
                <a:moveTo>
                  <a:pt x="885" y="432"/>
                </a:moveTo>
                <a:cubicBezTo>
                  <a:pt x="877" y="433"/>
                  <a:pt x="873" y="431"/>
                  <a:pt x="872" y="424"/>
                </a:cubicBezTo>
                <a:cubicBezTo>
                  <a:pt x="874" y="422"/>
                  <a:pt x="878" y="423"/>
                  <a:pt x="882" y="423"/>
                </a:cubicBezTo>
                <a:cubicBezTo>
                  <a:pt x="883" y="425"/>
                  <a:pt x="884" y="429"/>
                  <a:pt x="885" y="432"/>
                </a:cubicBezTo>
                <a:close/>
                <a:moveTo>
                  <a:pt x="937" y="549"/>
                </a:moveTo>
                <a:cubicBezTo>
                  <a:pt x="968" y="536"/>
                  <a:pt x="981" y="556"/>
                  <a:pt x="995" y="572"/>
                </a:cubicBezTo>
                <a:cubicBezTo>
                  <a:pt x="982" y="579"/>
                  <a:pt x="962" y="572"/>
                  <a:pt x="945" y="573"/>
                </a:cubicBezTo>
                <a:cubicBezTo>
                  <a:pt x="943" y="564"/>
                  <a:pt x="934" y="557"/>
                  <a:pt x="927" y="559"/>
                </a:cubicBezTo>
                <a:cubicBezTo>
                  <a:pt x="929" y="554"/>
                  <a:pt x="938" y="558"/>
                  <a:pt x="937" y="549"/>
                </a:cubicBezTo>
                <a:close/>
                <a:moveTo>
                  <a:pt x="1015" y="469"/>
                </a:moveTo>
                <a:cubicBezTo>
                  <a:pt x="1007" y="476"/>
                  <a:pt x="990" y="475"/>
                  <a:pt x="984" y="468"/>
                </a:cubicBezTo>
                <a:cubicBezTo>
                  <a:pt x="984" y="460"/>
                  <a:pt x="977" y="460"/>
                  <a:pt x="975" y="454"/>
                </a:cubicBezTo>
                <a:cubicBezTo>
                  <a:pt x="979" y="451"/>
                  <a:pt x="980" y="444"/>
                  <a:pt x="983" y="440"/>
                </a:cubicBezTo>
                <a:cubicBezTo>
                  <a:pt x="986" y="439"/>
                  <a:pt x="992" y="441"/>
                  <a:pt x="993" y="438"/>
                </a:cubicBezTo>
                <a:cubicBezTo>
                  <a:pt x="987" y="438"/>
                  <a:pt x="994" y="435"/>
                  <a:pt x="995" y="434"/>
                </a:cubicBezTo>
                <a:cubicBezTo>
                  <a:pt x="986" y="433"/>
                  <a:pt x="970" y="432"/>
                  <a:pt x="966" y="423"/>
                </a:cubicBezTo>
                <a:cubicBezTo>
                  <a:pt x="967" y="420"/>
                  <a:pt x="974" y="423"/>
                  <a:pt x="975" y="420"/>
                </a:cubicBezTo>
                <a:cubicBezTo>
                  <a:pt x="956" y="412"/>
                  <a:pt x="934" y="408"/>
                  <a:pt x="927" y="387"/>
                </a:cubicBezTo>
                <a:cubicBezTo>
                  <a:pt x="937" y="392"/>
                  <a:pt x="945" y="398"/>
                  <a:pt x="954" y="403"/>
                </a:cubicBezTo>
                <a:cubicBezTo>
                  <a:pt x="957" y="399"/>
                  <a:pt x="967" y="398"/>
                  <a:pt x="961" y="391"/>
                </a:cubicBezTo>
                <a:cubicBezTo>
                  <a:pt x="968" y="391"/>
                  <a:pt x="972" y="387"/>
                  <a:pt x="978" y="390"/>
                </a:cubicBezTo>
                <a:cubicBezTo>
                  <a:pt x="967" y="419"/>
                  <a:pt x="1003" y="428"/>
                  <a:pt x="1017" y="444"/>
                </a:cubicBezTo>
                <a:cubicBezTo>
                  <a:pt x="1018" y="457"/>
                  <a:pt x="1011" y="460"/>
                  <a:pt x="1015" y="469"/>
                </a:cubicBezTo>
                <a:close/>
                <a:moveTo>
                  <a:pt x="1415" y="399"/>
                </a:moveTo>
                <a:cubicBezTo>
                  <a:pt x="1418" y="399"/>
                  <a:pt x="1418" y="396"/>
                  <a:pt x="1422" y="397"/>
                </a:cubicBezTo>
                <a:cubicBezTo>
                  <a:pt x="1423" y="402"/>
                  <a:pt x="1429" y="408"/>
                  <a:pt x="1428" y="412"/>
                </a:cubicBezTo>
                <a:cubicBezTo>
                  <a:pt x="1424" y="413"/>
                  <a:pt x="1424" y="409"/>
                  <a:pt x="1421" y="412"/>
                </a:cubicBezTo>
                <a:cubicBezTo>
                  <a:pt x="1423" y="404"/>
                  <a:pt x="1416" y="405"/>
                  <a:pt x="1415" y="399"/>
                </a:cubicBezTo>
                <a:close/>
                <a:moveTo>
                  <a:pt x="1412" y="385"/>
                </a:moveTo>
                <a:cubicBezTo>
                  <a:pt x="1417" y="383"/>
                  <a:pt x="1419" y="386"/>
                  <a:pt x="1425" y="384"/>
                </a:cubicBezTo>
                <a:cubicBezTo>
                  <a:pt x="1426" y="388"/>
                  <a:pt x="1423" y="388"/>
                  <a:pt x="1424" y="392"/>
                </a:cubicBezTo>
                <a:cubicBezTo>
                  <a:pt x="1420" y="392"/>
                  <a:pt x="1420" y="392"/>
                  <a:pt x="1420" y="392"/>
                </a:cubicBezTo>
                <a:cubicBezTo>
                  <a:pt x="1421" y="386"/>
                  <a:pt x="1414" y="388"/>
                  <a:pt x="1412" y="385"/>
                </a:cubicBezTo>
                <a:close/>
                <a:moveTo>
                  <a:pt x="1398" y="387"/>
                </a:moveTo>
                <a:cubicBezTo>
                  <a:pt x="1400" y="390"/>
                  <a:pt x="1409" y="389"/>
                  <a:pt x="1411" y="387"/>
                </a:cubicBezTo>
                <a:cubicBezTo>
                  <a:pt x="1410" y="390"/>
                  <a:pt x="1410" y="394"/>
                  <a:pt x="1405" y="394"/>
                </a:cubicBezTo>
                <a:cubicBezTo>
                  <a:pt x="1403" y="391"/>
                  <a:pt x="1402" y="392"/>
                  <a:pt x="1399" y="393"/>
                </a:cubicBezTo>
                <a:cubicBezTo>
                  <a:pt x="1400" y="390"/>
                  <a:pt x="1394" y="389"/>
                  <a:pt x="1398" y="387"/>
                </a:cubicBezTo>
                <a:close/>
                <a:moveTo>
                  <a:pt x="1259" y="345"/>
                </a:moveTo>
                <a:cubicBezTo>
                  <a:pt x="1260" y="345"/>
                  <a:pt x="1261" y="344"/>
                  <a:pt x="1262" y="343"/>
                </a:cubicBezTo>
                <a:cubicBezTo>
                  <a:pt x="1262" y="347"/>
                  <a:pt x="1265" y="346"/>
                  <a:pt x="1264" y="350"/>
                </a:cubicBezTo>
                <a:cubicBezTo>
                  <a:pt x="1260" y="351"/>
                  <a:pt x="1260" y="347"/>
                  <a:pt x="1259" y="345"/>
                </a:cubicBezTo>
                <a:close/>
                <a:moveTo>
                  <a:pt x="1131" y="375"/>
                </a:moveTo>
                <a:cubicBezTo>
                  <a:pt x="1133" y="371"/>
                  <a:pt x="1135" y="369"/>
                  <a:pt x="1138" y="367"/>
                </a:cubicBezTo>
                <a:cubicBezTo>
                  <a:pt x="1137" y="371"/>
                  <a:pt x="1139" y="371"/>
                  <a:pt x="1139" y="375"/>
                </a:cubicBezTo>
                <a:lnTo>
                  <a:pt x="1131" y="375"/>
                </a:lnTo>
                <a:close/>
                <a:moveTo>
                  <a:pt x="1072" y="536"/>
                </a:moveTo>
                <a:cubicBezTo>
                  <a:pt x="1070" y="537"/>
                  <a:pt x="1069" y="538"/>
                  <a:pt x="1070" y="540"/>
                </a:cubicBezTo>
                <a:cubicBezTo>
                  <a:pt x="1071" y="540"/>
                  <a:pt x="1071" y="541"/>
                  <a:pt x="1072" y="541"/>
                </a:cubicBezTo>
                <a:cubicBezTo>
                  <a:pt x="1073" y="538"/>
                  <a:pt x="1077" y="538"/>
                  <a:pt x="1082" y="538"/>
                </a:cubicBezTo>
                <a:cubicBezTo>
                  <a:pt x="1081" y="547"/>
                  <a:pt x="1079" y="549"/>
                  <a:pt x="1084" y="556"/>
                </a:cubicBezTo>
                <a:cubicBezTo>
                  <a:pt x="1076" y="563"/>
                  <a:pt x="1065" y="558"/>
                  <a:pt x="1057" y="558"/>
                </a:cubicBezTo>
                <a:cubicBezTo>
                  <a:pt x="1053" y="553"/>
                  <a:pt x="1049" y="544"/>
                  <a:pt x="1042" y="547"/>
                </a:cubicBezTo>
                <a:cubicBezTo>
                  <a:pt x="1043" y="542"/>
                  <a:pt x="1039" y="544"/>
                  <a:pt x="1039" y="542"/>
                </a:cubicBezTo>
                <a:cubicBezTo>
                  <a:pt x="1048" y="534"/>
                  <a:pt x="1060" y="530"/>
                  <a:pt x="1072" y="536"/>
                </a:cubicBezTo>
                <a:close/>
                <a:moveTo>
                  <a:pt x="1082" y="395"/>
                </a:moveTo>
                <a:cubicBezTo>
                  <a:pt x="1077" y="398"/>
                  <a:pt x="1075" y="404"/>
                  <a:pt x="1068" y="405"/>
                </a:cubicBezTo>
                <a:cubicBezTo>
                  <a:pt x="1063" y="392"/>
                  <a:pt x="1044" y="395"/>
                  <a:pt x="1042" y="379"/>
                </a:cubicBezTo>
                <a:cubicBezTo>
                  <a:pt x="1043" y="379"/>
                  <a:pt x="1045" y="379"/>
                  <a:pt x="1045" y="377"/>
                </a:cubicBezTo>
                <a:cubicBezTo>
                  <a:pt x="1049" y="381"/>
                  <a:pt x="1053" y="385"/>
                  <a:pt x="1061" y="384"/>
                </a:cubicBezTo>
                <a:cubicBezTo>
                  <a:pt x="1064" y="386"/>
                  <a:pt x="1062" y="393"/>
                  <a:pt x="1066" y="394"/>
                </a:cubicBezTo>
                <a:cubicBezTo>
                  <a:pt x="1071" y="393"/>
                  <a:pt x="1077" y="393"/>
                  <a:pt x="1078" y="388"/>
                </a:cubicBezTo>
                <a:cubicBezTo>
                  <a:pt x="1080" y="383"/>
                  <a:pt x="1071" y="381"/>
                  <a:pt x="1077" y="380"/>
                </a:cubicBezTo>
                <a:cubicBezTo>
                  <a:pt x="1086" y="380"/>
                  <a:pt x="1077" y="391"/>
                  <a:pt x="1082" y="395"/>
                </a:cubicBezTo>
                <a:close/>
                <a:moveTo>
                  <a:pt x="1096" y="580"/>
                </a:moveTo>
                <a:cubicBezTo>
                  <a:pt x="1094" y="582"/>
                  <a:pt x="1097" y="588"/>
                  <a:pt x="1092" y="588"/>
                </a:cubicBezTo>
                <a:cubicBezTo>
                  <a:pt x="1093" y="584"/>
                  <a:pt x="1090" y="584"/>
                  <a:pt x="1090" y="580"/>
                </a:cubicBezTo>
                <a:lnTo>
                  <a:pt x="1096" y="580"/>
                </a:lnTo>
                <a:close/>
                <a:moveTo>
                  <a:pt x="1147" y="547"/>
                </a:moveTo>
                <a:cubicBezTo>
                  <a:pt x="1138" y="543"/>
                  <a:pt x="1126" y="543"/>
                  <a:pt x="1126" y="529"/>
                </a:cubicBezTo>
                <a:cubicBezTo>
                  <a:pt x="1129" y="525"/>
                  <a:pt x="1133" y="528"/>
                  <a:pt x="1139" y="528"/>
                </a:cubicBezTo>
                <a:cubicBezTo>
                  <a:pt x="1139" y="536"/>
                  <a:pt x="1152" y="543"/>
                  <a:pt x="1147" y="547"/>
                </a:cubicBezTo>
                <a:close/>
                <a:moveTo>
                  <a:pt x="1179" y="562"/>
                </a:moveTo>
                <a:cubicBezTo>
                  <a:pt x="1181" y="567"/>
                  <a:pt x="1179" y="575"/>
                  <a:pt x="1176" y="579"/>
                </a:cubicBezTo>
                <a:cubicBezTo>
                  <a:pt x="1172" y="577"/>
                  <a:pt x="1178" y="575"/>
                  <a:pt x="1174" y="573"/>
                </a:cubicBezTo>
                <a:cubicBezTo>
                  <a:pt x="1168" y="582"/>
                  <a:pt x="1158" y="581"/>
                  <a:pt x="1145" y="584"/>
                </a:cubicBezTo>
                <a:cubicBezTo>
                  <a:pt x="1144" y="576"/>
                  <a:pt x="1137" y="575"/>
                  <a:pt x="1133" y="571"/>
                </a:cubicBezTo>
                <a:cubicBezTo>
                  <a:pt x="1127" y="580"/>
                  <a:pt x="1107" y="593"/>
                  <a:pt x="1098" y="578"/>
                </a:cubicBezTo>
                <a:cubicBezTo>
                  <a:pt x="1103" y="578"/>
                  <a:pt x="1107" y="578"/>
                  <a:pt x="1108" y="575"/>
                </a:cubicBezTo>
                <a:cubicBezTo>
                  <a:pt x="1103" y="574"/>
                  <a:pt x="1094" y="577"/>
                  <a:pt x="1091" y="574"/>
                </a:cubicBezTo>
                <a:cubicBezTo>
                  <a:pt x="1126" y="567"/>
                  <a:pt x="1150" y="571"/>
                  <a:pt x="1179" y="562"/>
                </a:cubicBezTo>
                <a:close/>
                <a:moveTo>
                  <a:pt x="1183" y="532"/>
                </a:moveTo>
                <a:cubicBezTo>
                  <a:pt x="1181" y="533"/>
                  <a:pt x="1175" y="531"/>
                  <a:pt x="1175" y="534"/>
                </a:cubicBezTo>
                <a:cubicBezTo>
                  <a:pt x="1177" y="542"/>
                  <a:pt x="1185" y="534"/>
                  <a:pt x="1187" y="542"/>
                </a:cubicBezTo>
                <a:cubicBezTo>
                  <a:pt x="1183" y="546"/>
                  <a:pt x="1178" y="550"/>
                  <a:pt x="1172" y="550"/>
                </a:cubicBezTo>
                <a:cubicBezTo>
                  <a:pt x="1174" y="545"/>
                  <a:pt x="1171" y="548"/>
                  <a:pt x="1169" y="545"/>
                </a:cubicBezTo>
                <a:cubicBezTo>
                  <a:pt x="1176" y="543"/>
                  <a:pt x="1172" y="534"/>
                  <a:pt x="1172" y="529"/>
                </a:cubicBezTo>
                <a:cubicBezTo>
                  <a:pt x="1177" y="526"/>
                  <a:pt x="1181" y="523"/>
                  <a:pt x="1186" y="520"/>
                </a:cubicBezTo>
                <a:cubicBezTo>
                  <a:pt x="1188" y="526"/>
                  <a:pt x="1185" y="529"/>
                  <a:pt x="1183" y="532"/>
                </a:cubicBezTo>
                <a:close/>
                <a:moveTo>
                  <a:pt x="1251" y="513"/>
                </a:moveTo>
                <a:cubicBezTo>
                  <a:pt x="1257" y="525"/>
                  <a:pt x="1250" y="535"/>
                  <a:pt x="1255" y="545"/>
                </a:cubicBezTo>
                <a:cubicBezTo>
                  <a:pt x="1251" y="546"/>
                  <a:pt x="1251" y="546"/>
                  <a:pt x="1251" y="546"/>
                </a:cubicBezTo>
                <a:cubicBezTo>
                  <a:pt x="1251" y="542"/>
                  <a:pt x="1250" y="540"/>
                  <a:pt x="1248" y="539"/>
                </a:cubicBezTo>
                <a:cubicBezTo>
                  <a:pt x="1237" y="547"/>
                  <a:pt x="1228" y="539"/>
                  <a:pt x="1218" y="539"/>
                </a:cubicBezTo>
                <a:cubicBezTo>
                  <a:pt x="1217" y="534"/>
                  <a:pt x="1224" y="537"/>
                  <a:pt x="1226" y="536"/>
                </a:cubicBezTo>
                <a:cubicBezTo>
                  <a:pt x="1226" y="534"/>
                  <a:pt x="1225" y="534"/>
                  <a:pt x="1225" y="532"/>
                </a:cubicBezTo>
                <a:cubicBezTo>
                  <a:pt x="1230" y="532"/>
                  <a:pt x="1236" y="532"/>
                  <a:pt x="1234" y="526"/>
                </a:cubicBezTo>
                <a:cubicBezTo>
                  <a:pt x="1233" y="526"/>
                  <a:pt x="1232" y="525"/>
                  <a:pt x="1231" y="525"/>
                </a:cubicBezTo>
                <a:cubicBezTo>
                  <a:pt x="1230" y="529"/>
                  <a:pt x="1222" y="526"/>
                  <a:pt x="1224" y="532"/>
                </a:cubicBezTo>
                <a:cubicBezTo>
                  <a:pt x="1218" y="527"/>
                  <a:pt x="1215" y="528"/>
                  <a:pt x="1204" y="529"/>
                </a:cubicBezTo>
                <a:cubicBezTo>
                  <a:pt x="1202" y="525"/>
                  <a:pt x="1199" y="522"/>
                  <a:pt x="1201" y="518"/>
                </a:cubicBezTo>
                <a:cubicBezTo>
                  <a:pt x="1218" y="516"/>
                  <a:pt x="1231" y="515"/>
                  <a:pt x="1251" y="513"/>
                </a:cubicBezTo>
                <a:close/>
                <a:moveTo>
                  <a:pt x="1251" y="512"/>
                </a:moveTo>
                <a:cubicBezTo>
                  <a:pt x="1245" y="511"/>
                  <a:pt x="1236" y="512"/>
                  <a:pt x="1235" y="506"/>
                </a:cubicBezTo>
                <a:cubicBezTo>
                  <a:pt x="1236" y="504"/>
                  <a:pt x="1239" y="503"/>
                  <a:pt x="1240" y="501"/>
                </a:cubicBezTo>
                <a:cubicBezTo>
                  <a:pt x="1236" y="500"/>
                  <a:pt x="1234" y="498"/>
                  <a:pt x="1230" y="498"/>
                </a:cubicBezTo>
                <a:cubicBezTo>
                  <a:pt x="1230" y="487"/>
                  <a:pt x="1245" y="493"/>
                  <a:pt x="1253" y="494"/>
                </a:cubicBezTo>
                <a:cubicBezTo>
                  <a:pt x="1257" y="502"/>
                  <a:pt x="1250" y="503"/>
                  <a:pt x="1251" y="512"/>
                </a:cubicBezTo>
                <a:close/>
                <a:moveTo>
                  <a:pt x="1337" y="549"/>
                </a:moveTo>
                <a:cubicBezTo>
                  <a:pt x="1327" y="551"/>
                  <a:pt x="1325" y="569"/>
                  <a:pt x="1336" y="570"/>
                </a:cubicBezTo>
                <a:cubicBezTo>
                  <a:pt x="1337" y="573"/>
                  <a:pt x="1335" y="573"/>
                  <a:pt x="1335" y="576"/>
                </a:cubicBezTo>
                <a:cubicBezTo>
                  <a:pt x="1333" y="577"/>
                  <a:pt x="1327" y="574"/>
                  <a:pt x="1327" y="577"/>
                </a:cubicBezTo>
                <a:cubicBezTo>
                  <a:pt x="1327" y="579"/>
                  <a:pt x="1331" y="578"/>
                  <a:pt x="1330" y="581"/>
                </a:cubicBezTo>
                <a:cubicBezTo>
                  <a:pt x="1327" y="584"/>
                  <a:pt x="1326" y="582"/>
                  <a:pt x="1324" y="580"/>
                </a:cubicBezTo>
                <a:cubicBezTo>
                  <a:pt x="1320" y="587"/>
                  <a:pt x="1309" y="590"/>
                  <a:pt x="1303" y="588"/>
                </a:cubicBezTo>
                <a:cubicBezTo>
                  <a:pt x="1310" y="583"/>
                  <a:pt x="1307" y="574"/>
                  <a:pt x="1304" y="572"/>
                </a:cubicBezTo>
                <a:cubicBezTo>
                  <a:pt x="1298" y="572"/>
                  <a:pt x="1298" y="572"/>
                  <a:pt x="1298" y="572"/>
                </a:cubicBezTo>
                <a:cubicBezTo>
                  <a:pt x="1300" y="574"/>
                  <a:pt x="1302" y="576"/>
                  <a:pt x="1303" y="578"/>
                </a:cubicBezTo>
                <a:cubicBezTo>
                  <a:pt x="1300" y="581"/>
                  <a:pt x="1298" y="578"/>
                  <a:pt x="1296" y="580"/>
                </a:cubicBezTo>
                <a:cubicBezTo>
                  <a:pt x="1298" y="581"/>
                  <a:pt x="1297" y="586"/>
                  <a:pt x="1300" y="587"/>
                </a:cubicBezTo>
                <a:cubicBezTo>
                  <a:pt x="1298" y="589"/>
                  <a:pt x="1288" y="593"/>
                  <a:pt x="1287" y="589"/>
                </a:cubicBezTo>
                <a:cubicBezTo>
                  <a:pt x="1294" y="589"/>
                  <a:pt x="1294" y="578"/>
                  <a:pt x="1290" y="576"/>
                </a:cubicBezTo>
                <a:cubicBezTo>
                  <a:pt x="1288" y="576"/>
                  <a:pt x="1288" y="578"/>
                  <a:pt x="1285" y="578"/>
                </a:cubicBezTo>
                <a:cubicBezTo>
                  <a:pt x="1283" y="573"/>
                  <a:pt x="1290" y="577"/>
                  <a:pt x="1289" y="574"/>
                </a:cubicBezTo>
                <a:cubicBezTo>
                  <a:pt x="1285" y="572"/>
                  <a:pt x="1286" y="568"/>
                  <a:pt x="1285" y="567"/>
                </a:cubicBezTo>
                <a:cubicBezTo>
                  <a:pt x="1282" y="568"/>
                  <a:pt x="1277" y="566"/>
                  <a:pt x="1277" y="569"/>
                </a:cubicBezTo>
                <a:cubicBezTo>
                  <a:pt x="1276" y="574"/>
                  <a:pt x="1280" y="574"/>
                  <a:pt x="1282" y="577"/>
                </a:cubicBezTo>
                <a:cubicBezTo>
                  <a:pt x="1274" y="577"/>
                  <a:pt x="1274" y="577"/>
                  <a:pt x="1274" y="577"/>
                </a:cubicBezTo>
                <a:cubicBezTo>
                  <a:pt x="1275" y="566"/>
                  <a:pt x="1269" y="559"/>
                  <a:pt x="1253" y="562"/>
                </a:cubicBezTo>
                <a:cubicBezTo>
                  <a:pt x="1254" y="556"/>
                  <a:pt x="1253" y="554"/>
                  <a:pt x="1254" y="551"/>
                </a:cubicBezTo>
                <a:cubicBezTo>
                  <a:pt x="1284" y="559"/>
                  <a:pt x="1316" y="543"/>
                  <a:pt x="1337" y="549"/>
                </a:cubicBezTo>
                <a:close/>
                <a:moveTo>
                  <a:pt x="1417" y="477"/>
                </a:moveTo>
                <a:cubicBezTo>
                  <a:pt x="1422" y="478"/>
                  <a:pt x="1425" y="481"/>
                  <a:pt x="1426" y="485"/>
                </a:cubicBezTo>
                <a:cubicBezTo>
                  <a:pt x="1420" y="485"/>
                  <a:pt x="1419" y="481"/>
                  <a:pt x="1417" y="477"/>
                </a:cubicBezTo>
                <a:close/>
                <a:moveTo>
                  <a:pt x="1384" y="481"/>
                </a:moveTo>
                <a:cubicBezTo>
                  <a:pt x="1387" y="477"/>
                  <a:pt x="1392" y="474"/>
                  <a:pt x="1400" y="477"/>
                </a:cubicBezTo>
                <a:cubicBezTo>
                  <a:pt x="1398" y="484"/>
                  <a:pt x="1399" y="492"/>
                  <a:pt x="1405" y="495"/>
                </a:cubicBezTo>
                <a:cubicBezTo>
                  <a:pt x="1400" y="498"/>
                  <a:pt x="1399" y="500"/>
                  <a:pt x="1394" y="499"/>
                </a:cubicBezTo>
                <a:cubicBezTo>
                  <a:pt x="1393" y="494"/>
                  <a:pt x="1398" y="495"/>
                  <a:pt x="1396" y="490"/>
                </a:cubicBezTo>
                <a:cubicBezTo>
                  <a:pt x="1393" y="494"/>
                  <a:pt x="1392" y="488"/>
                  <a:pt x="1387" y="489"/>
                </a:cubicBezTo>
                <a:cubicBezTo>
                  <a:pt x="1390" y="483"/>
                  <a:pt x="1387" y="486"/>
                  <a:pt x="1384" y="481"/>
                </a:cubicBezTo>
                <a:close/>
                <a:moveTo>
                  <a:pt x="1472" y="570"/>
                </a:moveTo>
                <a:cubicBezTo>
                  <a:pt x="1473" y="572"/>
                  <a:pt x="1475" y="573"/>
                  <a:pt x="1476" y="576"/>
                </a:cubicBezTo>
                <a:cubicBezTo>
                  <a:pt x="1472" y="577"/>
                  <a:pt x="1468" y="572"/>
                  <a:pt x="1472" y="570"/>
                </a:cubicBezTo>
                <a:close/>
                <a:moveTo>
                  <a:pt x="1469" y="555"/>
                </a:moveTo>
                <a:cubicBezTo>
                  <a:pt x="1471" y="560"/>
                  <a:pt x="1465" y="559"/>
                  <a:pt x="1460" y="559"/>
                </a:cubicBezTo>
                <a:cubicBezTo>
                  <a:pt x="1459" y="554"/>
                  <a:pt x="1466" y="552"/>
                  <a:pt x="1469" y="555"/>
                </a:cubicBezTo>
                <a:close/>
                <a:moveTo>
                  <a:pt x="1492" y="536"/>
                </a:moveTo>
                <a:cubicBezTo>
                  <a:pt x="1491" y="540"/>
                  <a:pt x="1485" y="540"/>
                  <a:pt x="1482" y="542"/>
                </a:cubicBezTo>
                <a:cubicBezTo>
                  <a:pt x="1483" y="544"/>
                  <a:pt x="1486" y="543"/>
                  <a:pt x="1485" y="546"/>
                </a:cubicBezTo>
                <a:cubicBezTo>
                  <a:pt x="1485" y="548"/>
                  <a:pt x="1481" y="547"/>
                  <a:pt x="1483" y="551"/>
                </a:cubicBezTo>
                <a:cubicBezTo>
                  <a:pt x="1477" y="551"/>
                  <a:pt x="1476" y="554"/>
                  <a:pt x="1472" y="552"/>
                </a:cubicBezTo>
                <a:cubicBezTo>
                  <a:pt x="1472" y="549"/>
                  <a:pt x="1473" y="549"/>
                  <a:pt x="1473" y="546"/>
                </a:cubicBezTo>
                <a:cubicBezTo>
                  <a:pt x="1469" y="542"/>
                  <a:pt x="1461" y="549"/>
                  <a:pt x="1457" y="543"/>
                </a:cubicBezTo>
                <a:cubicBezTo>
                  <a:pt x="1464" y="543"/>
                  <a:pt x="1466" y="542"/>
                  <a:pt x="1462" y="538"/>
                </a:cubicBezTo>
                <a:cubicBezTo>
                  <a:pt x="1469" y="537"/>
                  <a:pt x="1472" y="534"/>
                  <a:pt x="1477" y="538"/>
                </a:cubicBezTo>
                <a:cubicBezTo>
                  <a:pt x="1473" y="535"/>
                  <a:pt x="1492" y="532"/>
                  <a:pt x="1492" y="536"/>
                </a:cubicBezTo>
                <a:close/>
                <a:moveTo>
                  <a:pt x="1516" y="572"/>
                </a:moveTo>
                <a:cubicBezTo>
                  <a:pt x="1509" y="570"/>
                  <a:pt x="1506" y="566"/>
                  <a:pt x="1502" y="564"/>
                </a:cubicBezTo>
                <a:cubicBezTo>
                  <a:pt x="1507" y="564"/>
                  <a:pt x="1508" y="561"/>
                  <a:pt x="1513" y="562"/>
                </a:cubicBezTo>
                <a:cubicBezTo>
                  <a:pt x="1510" y="568"/>
                  <a:pt x="1516" y="566"/>
                  <a:pt x="1516" y="572"/>
                </a:cubicBezTo>
                <a:close/>
                <a:moveTo>
                  <a:pt x="1580" y="642"/>
                </a:moveTo>
                <a:cubicBezTo>
                  <a:pt x="1575" y="643"/>
                  <a:pt x="1571" y="644"/>
                  <a:pt x="1571" y="638"/>
                </a:cubicBezTo>
                <a:cubicBezTo>
                  <a:pt x="1574" y="639"/>
                  <a:pt x="1578" y="639"/>
                  <a:pt x="1580" y="642"/>
                </a:cubicBezTo>
                <a:close/>
                <a:moveTo>
                  <a:pt x="1594" y="444"/>
                </a:moveTo>
                <a:cubicBezTo>
                  <a:pt x="1592" y="444"/>
                  <a:pt x="1590" y="444"/>
                  <a:pt x="1589" y="443"/>
                </a:cubicBezTo>
                <a:cubicBezTo>
                  <a:pt x="1587" y="439"/>
                  <a:pt x="1592" y="440"/>
                  <a:pt x="1594" y="440"/>
                </a:cubicBezTo>
                <a:lnTo>
                  <a:pt x="1594" y="444"/>
                </a:lnTo>
                <a:close/>
                <a:moveTo>
                  <a:pt x="1589" y="452"/>
                </a:moveTo>
                <a:cubicBezTo>
                  <a:pt x="1591" y="450"/>
                  <a:pt x="1595" y="450"/>
                  <a:pt x="1597" y="448"/>
                </a:cubicBezTo>
                <a:cubicBezTo>
                  <a:pt x="1600" y="453"/>
                  <a:pt x="1590" y="458"/>
                  <a:pt x="1589" y="452"/>
                </a:cubicBezTo>
                <a:close/>
                <a:moveTo>
                  <a:pt x="1689" y="632"/>
                </a:moveTo>
                <a:cubicBezTo>
                  <a:pt x="1690" y="630"/>
                  <a:pt x="1689" y="627"/>
                  <a:pt x="1691" y="626"/>
                </a:cubicBezTo>
                <a:cubicBezTo>
                  <a:pt x="1696" y="631"/>
                  <a:pt x="1692" y="622"/>
                  <a:pt x="1696" y="623"/>
                </a:cubicBezTo>
                <a:cubicBezTo>
                  <a:pt x="1698" y="624"/>
                  <a:pt x="1695" y="627"/>
                  <a:pt x="1697" y="630"/>
                </a:cubicBezTo>
                <a:cubicBezTo>
                  <a:pt x="1694" y="630"/>
                  <a:pt x="1694" y="632"/>
                  <a:pt x="1689" y="632"/>
                </a:cubicBezTo>
                <a:close/>
                <a:moveTo>
                  <a:pt x="1671" y="634"/>
                </a:moveTo>
                <a:cubicBezTo>
                  <a:pt x="1672" y="631"/>
                  <a:pt x="1671" y="630"/>
                  <a:pt x="1673" y="626"/>
                </a:cubicBezTo>
                <a:cubicBezTo>
                  <a:pt x="1680" y="625"/>
                  <a:pt x="1680" y="625"/>
                  <a:pt x="1680" y="625"/>
                </a:cubicBezTo>
                <a:cubicBezTo>
                  <a:pt x="1680" y="630"/>
                  <a:pt x="1676" y="630"/>
                  <a:pt x="1677" y="635"/>
                </a:cubicBezTo>
                <a:cubicBezTo>
                  <a:pt x="1679" y="635"/>
                  <a:pt x="1679" y="634"/>
                  <a:pt x="1680" y="633"/>
                </a:cubicBezTo>
                <a:cubicBezTo>
                  <a:pt x="1679" y="638"/>
                  <a:pt x="1682" y="639"/>
                  <a:pt x="1683" y="641"/>
                </a:cubicBezTo>
                <a:cubicBezTo>
                  <a:pt x="1677" y="641"/>
                  <a:pt x="1677" y="634"/>
                  <a:pt x="1671" y="634"/>
                </a:cubicBezTo>
                <a:close/>
                <a:moveTo>
                  <a:pt x="1632" y="641"/>
                </a:moveTo>
                <a:cubicBezTo>
                  <a:pt x="1635" y="642"/>
                  <a:pt x="1638" y="639"/>
                  <a:pt x="1634" y="638"/>
                </a:cubicBezTo>
                <a:cubicBezTo>
                  <a:pt x="1634" y="639"/>
                  <a:pt x="1633" y="640"/>
                  <a:pt x="1633" y="638"/>
                </a:cubicBezTo>
                <a:cubicBezTo>
                  <a:pt x="1639" y="634"/>
                  <a:pt x="1646" y="639"/>
                  <a:pt x="1650" y="633"/>
                </a:cubicBezTo>
                <a:cubicBezTo>
                  <a:pt x="1651" y="636"/>
                  <a:pt x="1654" y="643"/>
                  <a:pt x="1656" y="640"/>
                </a:cubicBezTo>
                <a:cubicBezTo>
                  <a:pt x="1654" y="637"/>
                  <a:pt x="1652" y="634"/>
                  <a:pt x="1656" y="632"/>
                </a:cubicBezTo>
                <a:cubicBezTo>
                  <a:pt x="1653" y="631"/>
                  <a:pt x="1650" y="632"/>
                  <a:pt x="1650" y="628"/>
                </a:cubicBezTo>
                <a:cubicBezTo>
                  <a:pt x="1656" y="628"/>
                  <a:pt x="1664" y="625"/>
                  <a:pt x="1668" y="630"/>
                </a:cubicBezTo>
                <a:cubicBezTo>
                  <a:pt x="1665" y="631"/>
                  <a:pt x="1657" y="628"/>
                  <a:pt x="1658" y="633"/>
                </a:cubicBezTo>
                <a:cubicBezTo>
                  <a:pt x="1663" y="633"/>
                  <a:pt x="1668" y="632"/>
                  <a:pt x="1669" y="635"/>
                </a:cubicBezTo>
                <a:cubicBezTo>
                  <a:pt x="1667" y="636"/>
                  <a:pt x="1664" y="641"/>
                  <a:pt x="1668" y="638"/>
                </a:cubicBezTo>
                <a:cubicBezTo>
                  <a:pt x="1669" y="642"/>
                  <a:pt x="1667" y="643"/>
                  <a:pt x="1667" y="646"/>
                </a:cubicBezTo>
                <a:cubicBezTo>
                  <a:pt x="1658" y="644"/>
                  <a:pt x="1640" y="647"/>
                  <a:pt x="1641" y="638"/>
                </a:cubicBezTo>
                <a:cubicBezTo>
                  <a:pt x="1639" y="640"/>
                  <a:pt x="1635" y="645"/>
                  <a:pt x="1632" y="641"/>
                </a:cubicBezTo>
                <a:close/>
                <a:moveTo>
                  <a:pt x="1645" y="611"/>
                </a:moveTo>
                <a:cubicBezTo>
                  <a:pt x="1651" y="611"/>
                  <a:pt x="1651" y="610"/>
                  <a:pt x="1655" y="611"/>
                </a:cubicBezTo>
                <a:cubicBezTo>
                  <a:pt x="1656" y="618"/>
                  <a:pt x="1645" y="616"/>
                  <a:pt x="1645" y="611"/>
                </a:cubicBezTo>
                <a:close/>
                <a:moveTo>
                  <a:pt x="1628" y="640"/>
                </a:moveTo>
                <a:cubicBezTo>
                  <a:pt x="1621" y="640"/>
                  <a:pt x="1621" y="640"/>
                  <a:pt x="1621" y="640"/>
                </a:cubicBezTo>
                <a:cubicBezTo>
                  <a:pt x="1619" y="636"/>
                  <a:pt x="1629" y="636"/>
                  <a:pt x="1628" y="640"/>
                </a:cubicBezTo>
                <a:close/>
                <a:moveTo>
                  <a:pt x="1610" y="570"/>
                </a:moveTo>
                <a:cubicBezTo>
                  <a:pt x="1611" y="569"/>
                  <a:pt x="1620" y="567"/>
                  <a:pt x="1622" y="570"/>
                </a:cubicBezTo>
                <a:cubicBezTo>
                  <a:pt x="1618" y="569"/>
                  <a:pt x="1612" y="574"/>
                  <a:pt x="1610" y="570"/>
                </a:cubicBezTo>
                <a:close/>
                <a:moveTo>
                  <a:pt x="1586" y="562"/>
                </a:moveTo>
                <a:cubicBezTo>
                  <a:pt x="1598" y="559"/>
                  <a:pt x="1606" y="559"/>
                  <a:pt x="1621" y="556"/>
                </a:cubicBezTo>
                <a:cubicBezTo>
                  <a:pt x="1624" y="558"/>
                  <a:pt x="1627" y="561"/>
                  <a:pt x="1630" y="564"/>
                </a:cubicBezTo>
                <a:cubicBezTo>
                  <a:pt x="1637" y="561"/>
                  <a:pt x="1651" y="563"/>
                  <a:pt x="1652" y="572"/>
                </a:cubicBezTo>
                <a:cubicBezTo>
                  <a:pt x="1651" y="568"/>
                  <a:pt x="1655" y="568"/>
                  <a:pt x="1657" y="565"/>
                </a:cubicBezTo>
                <a:cubicBezTo>
                  <a:pt x="1656" y="565"/>
                  <a:pt x="1654" y="565"/>
                  <a:pt x="1654" y="564"/>
                </a:cubicBezTo>
                <a:cubicBezTo>
                  <a:pt x="1661" y="564"/>
                  <a:pt x="1660" y="572"/>
                  <a:pt x="1665" y="574"/>
                </a:cubicBezTo>
                <a:cubicBezTo>
                  <a:pt x="1661" y="576"/>
                  <a:pt x="1661" y="576"/>
                  <a:pt x="1657" y="575"/>
                </a:cubicBezTo>
                <a:cubicBezTo>
                  <a:pt x="1655" y="572"/>
                  <a:pt x="1660" y="570"/>
                  <a:pt x="1657" y="569"/>
                </a:cubicBezTo>
                <a:cubicBezTo>
                  <a:pt x="1655" y="571"/>
                  <a:pt x="1655" y="575"/>
                  <a:pt x="1653" y="576"/>
                </a:cubicBezTo>
                <a:cubicBezTo>
                  <a:pt x="1642" y="581"/>
                  <a:pt x="1635" y="574"/>
                  <a:pt x="1625" y="579"/>
                </a:cubicBezTo>
                <a:cubicBezTo>
                  <a:pt x="1620" y="574"/>
                  <a:pt x="1622" y="573"/>
                  <a:pt x="1623" y="567"/>
                </a:cubicBezTo>
                <a:cubicBezTo>
                  <a:pt x="1618" y="564"/>
                  <a:pt x="1607" y="569"/>
                  <a:pt x="1606" y="561"/>
                </a:cubicBezTo>
                <a:cubicBezTo>
                  <a:pt x="1603" y="561"/>
                  <a:pt x="1601" y="563"/>
                  <a:pt x="1597" y="563"/>
                </a:cubicBezTo>
                <a:cubicBezTo>
                  <a:pt x="1605" y="568"/>
                  <a:pt x="1596" y="571"/>
                  <a:pt x="1599" y="577"/>
                </a:cubicBezTo>
                <a:cubicBezTo>
                  <a:pt x="1595" y="580"/>
                  <a:pt x="1594" y="577"/>
                  <a:pt x="1588" y="578"/>
                </a:cubicBezTo>
                <a:cubicBezTo>
                  <a:pt x="1587" y="573"/>
                  <a:pt x="1596" y="577"/>
                  <a:pt x="1595" y="572"/>
                </a:cubicBezTo>
                <a:cubicBezTo>
                  <a:pt x="1589" y="573"/>
                  <a:pt x="1588" y="570"/>
                  <a:pt x="1585" y="567"/>
                </a:cubicBezTo>
                <a:cubicBezTo>
                  <a:pt x="1587" y="567"/>
                  <a:pt x="1586" y="564"/>
                  <a:pt x="1586" y="562"/>
                </a:cubicBezTo>
                <a:close/>
                <a:moveTo>
                  <a:pt x="1660" y="523"/>
                </a:moveTo>
                <a:cubicBezTo>
                  <a:pt x="1646" y="527"/>
                  <a:pt x="1622" y="523"/>
                  <a:pt x="1610" y="530"/>
                </a:cubicBezTo>
                <a:cubicBezTo>
                  <a:pt x="1616" y="531"/>
                  <a:pt x="1618" y="528"/>
                  <a:pt x="1623" y="530"/>
                </a:cubicBezTo>
                <a:cubicBezTo>
                  <a:pt x="1621" y="535"/>
                  <a:pt x="1619" y="539"/>
                  <a:pt x="1615" y="542"/>
                </a:cubicBezTo>
                <a:cubicBezTo>
                  <a:pt x="1611" y="535"/>
                  <a:pt x="1606" y="531"/>
                  <a:pt x="1598" y="529"/>
                </a:cubicBezTo>
                <a:cubicBezTo>
                  <a:pt x="1598" y="526"/>
                  <a:pt x="1600" y="526"/>
                  <a:pt x="1599" y="523"/>
                </a:cubicBezTo>
                <a:cubicBezTo>
                  <a:pt x="1587" y="529"/>
                  <a:pt x="1596" y="513"/>
                  <a:pt x="1592" y="507"/>
                </a:cubicBezTo>
                <a:cubicBezTo>
                  <a:pt x="1609" y="502"/>
                  <a:pt x="1617" y="522"/>
                  <a:pt x="1634" y="510"/>
                </a:cubicBezTo>
                <a:cubicBezTo>
                  <a:pt x="1633" y="508"/>
                  <a:pt x="1632" y="507"/>
                  <a:pt x="1632" y="504"/>
                </a:cubicBezTo>
                <a:cubicBezTo>
                  <a:pt x="1640" y="505"/>
                  <a:pt x="1642" y="506"/>
                  <a:pt x="1649" y="503"/>
                </a:cubicBezTo>
                <a:cubicBezTo>
                  <a:pt x="1651" y="506"/>
                  <a:pt x="1649" y="507"/>
                  <a:pt x="1649" y="510"/>
                </a:cubicBezTo>
                <a:cubicBezTo>
                  <a:pt x="1652" y="510"/>
                  <a:pt x="1651" y="506"/>
                  <a:pt x="1654" y="506"/>
                </a:cubicBezTo>
                <a:cubicBezTo>
                  <a:pt x="1659" y="511"/>
                  <a:pt x="1660" y="518"/>
                  <a:pt x="1660" y="523"/>
                </a:cubicBezTo>
                <a:close/>
                <a:moveTo>
                  <a:pt x="1698" y="512"/>
                </a:moveTo>
                <a:cubicBezTo>
                  <a:pt x="1692" y="515"/>
                  <a:pt x="1688" y="521"/>
                  <a:pt x="1682" y="516"/>
                </a:cubicBezTo>
                <a:cubicBezTo>
                  <a:pt x="1678" y="519"/>
                  <a:pt x="1672" y="522"/>
                  <a:pt x="1666" y="523"/>
                </a:cubicBezTo>
                <a:cubicBezTo>
                  <a:pt x="1662" y="515"/>
                  <a:pt x="1658" y="509"/>
                  <a:pt x="1659" y="502"/>
                </a:cubicBezTo>
                <a:cubicBezTo>
                  <a:pt x="1668" y="508"/>
                  <a:pt x="1678" y="517"/>
                  <a:pt x="1691" y="514"/>
                </a:cubicBezTo>
                <a:cubicBezTo>
                  <a:pt x="1689" y="509"/>
                  <a:pt x="1697" y="508"/>
                  <a:pt x="1698" y="512"/>
                </a:cubicBezTo>
                <a:close/>
                <a:moveTo>
                  <a:pt x="1786" y="606"/>
                </a:moveTo>
                <a:cubicBezTo>
                  <a:pt x="1786" y="602"/>
                  <a:pt x="1797" y="599"/>
                  <a:pt x="1797" y="605"/>
                </a:cubicBezTo>
                <a:lnTo>
                  <a:pt x="1786" y="606"/>
                </a:lnTo>
                <a:close/>
                <a:moveTo>
                  <a:pt x="1748" y="607"/>
                </a:moveTo>
                <a:cubicBezTo>
                  <a:pt x="1750" y="607"/>
                  <a:pt x="1749" y="603"/>
                  <a:pt x="1750" y="602"/>
                </a:cubicBezTo>
                <a:cubicBezTo>
                  <a:pt x="1757" y="600"/>
                  <a:pt x="1760" y="601"/>
                  <a:pt x="1767" y="602"/>
                </a:cubicBezTo>
                <a:cubicBezTo>
                  <a:pt x="1767" y="608"/>
                  <a:pt x="1767" y="608"/>
                  <a:pt x="1767" y="608"/>
                </a:cubicBezTo>
                <a:cubicBezTo>
                  <a:pt x="1764" y="609"/>
                  <a:pt x="1756" y="609"/>
                  <a:pt x="1760" y="614"/>
                </a:cubicBezTo>
                <a:cubicBezTo>
                  <a:pt x="1756" y="614"/>
                  <a:pt x="1756" y="614"/>
                  <a:pt x="1756" y="614"/>
                </a:cubicBezTo>
                <a:cubicBezTo>
                  <a:pt x="1758" y="606"/>
                  <a:pt x="1748" y="613"/>
                  <a:pt x="1748" y="607"/>
                </a:cubicBezTo>
                <a:close/>
                <a:moveTo>
                  <a:pt x="1754" y="562"/>
                </a:moveTo>
                <a:cubicBezTo>
                  <a:pt x="1757" y="559"/>
                  <a:pt x="1764" y="561"/>
                  <a:pt x="1765" y="565"/>
                </a:cubicBezTo>
                <a:cubicBezTo>
                  <a:pt x="1761" y="564"/>
                  <a:pt x="1755" y="567"/>
                  <a:pt x="1754" y="562"/>
                </a:cubicBezTo>
                <a:close/>
                <a:moveTo>
                  <a:pt x="1740" y="552"/>
                </a:moveTo>
                <a:cubicBezTo>
                  <a:pt x="1740" y="548"/>
                  <a:pt x="1741" y="545"/>
                  <a:pt x="1745" y="544"/>
                </a:cubicBezTo>
                <a:cubicBezTo>
                  <a:pt x="1746" y="546"/>
                  <a:pt x="1747" y="549"/>
                  <a:pt x="1749" y="550"/>
                </a:cubicBezTo>
                <a:cubicBezTo>
                  <a:pt x="1745" y="553"/>
                  <a:pt x="1743" y="549"/>
                  <a:pt x="1740" y="552"/>
                </a:cubicBezTo>
                <a:close/>
                <a:moveTo>
                  <a:pt x="1709" y="604"/>
                </a:moveTo>
                <a:cubicBezTo>
                  <a:pt x="1715" y="600"/>
                  <a:pt x="1727" y="602"/>
                  <a:pt x="1733" y="607"/>
                </a:cubicBezTo>
                <a:cubicBezTo>
                  <a:pt x="1733" y="601"/>
                  <a:pt x="1733" y="601"/>
                  <a:pt x="1733" y="601"/>
                </a:cubicBezTo>
                <a:cubicBezTo>
                  <a:pt x="1737" y="603"/>
                  <a:pt x="1739" y="600"/>
                  <a:pt x="1745" y="601"/>
                </a:cubicBezTo>
                <a:cubicBezTo>
                  <a:pt x="1751" y="609"/>
                  <a:pt x="1739" y="618"/>
                  <a:pt x="1732" y="608"/>
                </a:cubicBezTo>
                <a:cubicBezTo>
                  <a:pt x="1731" y="613"/>
                  <a:pt x="1719" y="610"/>
                  <a:pt x="1718" y="606"/>
                </a:cubicBezTo>
                <a:cubicBezTo>
                  <a:pt x="1716" y="608"/>
                  <a:pt x="1715" y="610"/>
                  <a:pt x="1711" y="610"/>
                </a:cubicBezTo>
                <a:cubicBezTo>
                  <a:pt x="1711" y="608"/>
                  <a:pt x="1708" y="608"/>
                  <a:pt x="1709" y="604"/>
                </a:cubicBezTo>
                <a:close/>
                <a:moveTo>
                  <a:pt x="1729" y="466"/>
                </a:moveTo>
                <a:cubicBezTo>
                  <a:pt x="1728" y="466"/>
                  <a:pt x="1726" y="466"/>
                  <a:pt x="1725" y="465"/>
                </a:cubicBezTo>
                <a:cubicBezTo>
                  <a:pt x="1725" y="467"/>
                  <a:pt x="1726" y="470"/>
                  <a:pt x="1723" y="469"/>
                </a:cubicBezTo>
                <a:cubicBezTo>
                  <a:pt x="1723" y="464"/>
                  <a:pt x="1723" y="464"/>
                  <a:pt x="1723" y="464"/>
                </a:cubicBezTo>
                <a:cubicBezTo>
                  <a:pt x="1725" y="464"/>
                  <a:pt x="1731" y="461"/>
                  <a:pt x="1729" y="466"/>
                </a:cubicBezTo>
                <a:close/>
                <a:moveTo>
                  <a:pt x="1805" y="471"/>
                </a:moveTo>
                <a:cubicBezTo>
                  <a:pt x="1800" y="484"/>
                  <a:pt x="1780" y="472"/>
                  <a:pt x="1773" y="468"/>
                </a:cubicBezTo>
                <a:cubicBezTo>
                  <a:pt x="1779" y="461"/>
                  <a:pt x="1785" y="469"/>
                  <a:pt x="1792" y="462"/>
                </a:cubicBezTo>
                <a:cubicBezTo>
                  <a:pt x="1790" y="472"/>
                  <a:pt x="1797" y="472"/>
                  <a:pt x="1805" y="471"/>
                </a:cubicBezTo>
                <a:close/>
                <a:moveTo>
                  <a:pt x="1807" y="469"/>
                </a:moveTo>
                <a:cubicBezTo>
                  <a:pt x="1806" y="463"/>
                  <a:pt x="1806" y="463"/>
                  <a:pt x="1806" y="463"/>
                </a:cubicBezTo>
                <a:cubicBezTo>
                  <a:pt x="1812" y="462"/>
                  <a:pt x="1811" y="470"/>
                  <a:pt x="1807" y="469"/>
                </a:cubicBezTo>
                <a:close/>
                <a:moveTo>
                  <a:pt x="1824" y="498"/>
                </a:moveTo>
                <a:cubicBezTo>
                  <a:pt x="1803" y="513"/>
                  <a:pt x="1772" y="502"/>
                  <a:pt x="1748" y="511"/>
                </a:cubicBezTo>
                <a:cubicBezTo>
                  <a:pt x="1750" y="514"/>
                  <a:pt x="1757" y="512"/>
                  <a:pt x="1756" y="518"/>
                </a:cubicBezTo>
                <a:cubicBezTo>
                  <a:pt x="1750" y="522"/>
                  <a:pt x="1757" y="527"/>
                  <a:pt x="1759" y="530"/>
                </a:cubicBezTo>
                <a:cubicBezTo>
                  <a:pt x="1757" y="532"/>
                  <a:pt x="1750" y="535"/>
                  <a:pt x="1753" y="538"/>
                </a:cubicBezTo>
                <a:cubicBezTo>
                  <a:pt x="1742" y="537"/>
                  <a:pt x="1743" y="533"/>
                  <a:pt x="1733" y="536"/>
                </a:cubicBezTo>
                <a:cubicBezTo>
                  <a:pt x="1731" y="530"/>
                  <a:pt x="1737" y="531"/>
                  <a:pt x="1742" y="530"/>
                </a:cubicBezTo>
                <a:cubicBezTo>
                  <a:pt x="1741" y="534"/>
                  <a:pt x="1743" y="535"/>
                  <a:pt x="1746" y="534"/>
                </a:cubicBezTo>
                <a:cubicBezTo>
                  <a:pt x="1741" y="530"/>
                  <a:pt x="1749" y="530"/>
                  <a:pt x="1748" y="526"/>
                </a:cubicBezTo>
                <a:cubicBezTo>
                  <a:pt x="1742" y="527"/>
                  <a:pt x="1742" y="527"/>
                  <a:pt x="1735" y="527"/>
                </a:cubicBezTo>
                <a:cubicBezTo>
                  <a:pt x="1739" y="512"/>
                  <a:pt x="1724" y="507"/>
                  <a:pt x="1711" y="517"/>
                </a:cubicBezTo>
                <a:cubicBezTo>
                  <a:pt x="1711" y="510"/>
                  <a:pt x="1702" y="512"/>
                  <a:pt x="1699" y="511"/>
                </a:cubicBezTo>
                <a:cubicBezTo>
                  <a:pt x="1699" y="497"/>
                  <a:pt x="1717" y="502"/>
                  <a:pt x="1720" y="494"/>
                </a:cubicBezTo>
                <a:cubicBezTo>
                  <a:pt x="1714" y="492"/>
                  <a:pt x="1707" y="493"/>
                  <a:pt x="1706" y="486"/>
                </a:cubicBezTo>
                <a:cubicBezTo>
                  <a:pt x="1711" y="484"/>
                  <a:pt x="1719" y="483"/>
                  <a:pt x="1715" y="476"/>
                </a:cubicBezTo>
                <a:cubicBezTo>
                  <a:pt x="1721" y="471"/>
                  <a:pt x="1725" y="477"/>
                  <a:pt x="1734" y="473"/>
                </a:cubicBezTo>
                <a:cubicBezTo>
                  <a:pt x="1736" y="477"/>
                  <a:pt x="1729" y="474"/>
                  <a:pt x="1731" y="478"/>
                </a:cubicBezTo>
                <a:cubicBezTo>
                  <a:pt x="1742" y="483"/>
                  <a:pt x="1756" y="462"/>
                  <a:pt x="1766" y="471"/>
                </a:cubicBezTo>
                <a:cubicBezTo>
                  <a:pt x="1764" y="473"/>
                  <a:pt x="1760" y="475"/>
                  <a:pt x="1760" y="478"/>
                </a:cubicBezTo>
                <a:cubicBezTo>
                  <a:pt x="1761" y="483"/>
                  <a:pt x="1764" y="487"/>
                  <a:pt x="1766" y="492"/>
                </a:cubicBezTo>
                <a:cubicBezTo>
                  <a:pt x="1764" y="492"/>
                  <a:pt x="1764" y="494"/>
                  <a:pt x="1762" y="494"/>
                </a:cubicBezTo>
                <a:cubicBezTo>
                  <a:pt x="1758" y="490"/>
                  <a:pt x="1755" y="485"/>
                  <a:pt x="1749" y="484"/>
                </a:cubicBezTo>
                <a:cubicBezTo>
                  <a:pt x="1744" y="484"/>
                  <a:pt x="1743" y="488"/>
                  <a:pt x="1741" y="491"/>
                </a:cubicBezTo>
                <a:cubicBezTo>
                  <a:pt x="1741" y="489"/>
                  <a:pt x="1742" y="486"/>
                  <a:pt x="1740" y="486"/>
                </a:cubicBezTo>
                <a:cubicBezTo>
                  <a:pt x="1739" y="491"/>
                  <a:pt x="1742" y="491"/>
                  <a:pt x="1742" y="495"/>
                </a:cubicBezTo>
                <a:cubicBezTo>
                  <a:pt x="1760" y="499"/>
                  <a:pt x="1776" y="500"/>
                  <a:pt x="1787" y="503"/>
                </a:cubicBezTo>
                <a:cubicBezTo>
                  <a:pt x="1784" y="501"/>
                  <a:pt x="1781" y="500"/>
                  <a:pt x="1781" y="496"/>
                </a:cubicBezTo>
                <a:cubicBezTo>
                  <a:pt x="1783" y="496"/>
                  <a:pt x="1782" y="493"/>
                  <a:pt x="1783" y="492"/>
                </a:cubicBezTo>
                <a:cubicBezTo>
                  <a:pt x="1790" y="491"/>
                  <a:pt x="1797" y="497"/>
                  <a:pt x="1798" y="497"/>
                </a:cubicBezTo>
                <a:cubicBezTo>
                  <a:pt x="1799" y="493"/>
                  <a:pt x="1795" y="494"/>
                  <a:pt x="1795" y="490"/>
                </a:cubicBezTo>
                <a:cubicBezTo>
                  <a:pt x="1797" y="485"/>
                  <a:pt x="1808" y="490"/>
                  <a:pt x="1807" y="483"/>
                </a:cubicBezTo>
                <a:cubicBezTo>
                  <a:pt x="1804" y="487"/>
                  <a:pt x="1802" y="485"/>
                  <a:pt x="1799" y="482"/>
                </a:cubicBezTo>
                <a:cubicBezTo>
                  <a:pt x="1805" y="483"/>
                  <a:pt x="1807" y="480"/>
                  <a:pt x="1813" y="480"/>
                </a:cubicBezTo>
                <a:cubicBezTo>
                  <a:pt x="1814" y="483"/>
                  <a:pt x="1816" y="484"/>
                  <a:pt x="1816" y="488"/>
                </a:cubicBezTo>
                <a:cubicBezTo>
                  <a:pt x="1814" y="488"/>
                  <a:pt x="1811" y="488"/>
                  <a:pt x="1810" y="490"/>
                </a:cubicBezTo>
                <a:cubicBezTo>
                  <a:pt x="1809" y="494"/>
                  <a:pt x="1813" y="494"/>
                  <a:pt x="1815" y="495"/>
                </a:cubicBezTo>
                <a:cubicBezTo>
                  <a:pt x="1814" y="491"/>
                  <a:pt x="1816" y="490"/>
                  <a:pt x="1818" y="489"/>
                </a:cubicBezTo>
                <a:cubicBezTo>
                  <a:pt x="1817" y="496"/>
                  <a:pt x="1825" y="493"/>
                  <a:pt x="1824" y="498"/>
                </a:cubicBezTo>
                <a:close/>
                <a:moveTo>
                  <a:pt x="1828" y="574"/>
                </a:moveTo>
                <a:cubicBezTo>
                  <a:pt x="1821" y="575"/>
                  <a:pt x="1817" y="571"/>
                  <a:pt x="1814" y="568"/>
                </a:cubicBezTo>
                <a:cubicBezTo>
                  <a:pt x="1816" y="568"/>
                  <a:pt x="1817" y="567"/>
                  <a:pt x="1818" y="565"/>
                </a:cubicBezTo>
                <a:cubicBezTo>
                  <a:pt x="1822" y="567"/>
                  <a:pt x="1828" y="567"/>
                  <a:pt x="1828" y="574"/>
                </a:cubicBezTo>
                <a:close/>
                <a:moveTo>
                  <a:pt x="1853" y="590"/>
                </a:moveTo>
                <a:cubicBezTo>
                  <a:pt x="1855" y="593"/>
                  <a:pt x="1857" y="597"/>
                  <a:pt x="1859" y="600"/>
                </a:cubicBezTo>
                <a:cubicBezTo>
                  <a:pt x="1854" y="599"/>
                  <a:pt x="1852" y="595"/>
                  <a:pt x="1853" y="603"/>
                </a:cubicBezTo>
                <a:cubicBezTo>
                  <a:pt x="1849" y="603"/>
                  <a:pt x="1850" y="599"/>
                  <a:pt x="1846" y="599"/>
                </a:cubicBezTo>
                <a:cubicBezTo>
                  <a:pt x="1846" y="596"/>
                  <a:pt x="1848" y="596"/>
                  <a:pt x="1847" y="593"/>
                </a:cubicBezTo>
                <a:cubicBezTo>
                  <a:pt x="1842" y="598"/>
                  <a:pt x="1830" y="588"/>
                  <a:pt x="1831" y="594"/>
                </a:cubicBezTo>
                <a:cubicBezTo>
                  <a:pt x="1826" y="595"/>
                  <a:pt x="1824" y="592"/>
                  <a:pt x="1824" y="586"/>
                </a:cubicBezTo>
                <a:cubicBezTo>
                  <a:pt x="1829" y="584"/>
                  <a:pt x="1827" y="591"/>
                  <a:pt x="1832" y="589"/>
                </a:cubicBezTo>
                <a:cubicBezTo>
                  <a:pt x="1831" y="582"/>
                  <a:pt x="1838" y="581"/>
                  <a:pt x="1843" y="583"/>
                </a:cubicBezTo>
                <a:cubicBezTo>
                  <a:pt x="1844" y="586"/>
                  <a:pt x="1841" y="586"/>
                  <a:pt x="1842" y="590"/>
                </a:cubicBezTo>
                <a:cubicBezTo>
                  <a:pt x="1844" y="589"/>
                  <a:pt x="1849" y="593"/>
                  <a:pt x="1850" y="589"/>
                </a:cubicBezTo>
                <a:cubicBezTo>
                  <a:pt x="1847" y="586"/>
                  <a:pt x="1847" y="585"/>
                  <a:pt x="1848" y="581"/>
                </a:cubicBezTo>
                <a:cubicBezTo>
                  <a:pt x="1851" y="582"/>
                  <a:pt x="1855" y="581"/>
                  <a:pt x="1856" y="584"/>
                </a:cubicBezTo>
                <a:cubicBezTo>
                  <a:pt x="1853" y="584"/>
                  <a:pt x="1856" y="588"/>
                  <a:pt x="1857" y="589"/>
                </a:cubicBezTo>
                <a:cubicBezTo>
                  <a:pt x="1855" y="589"/>
                  <a:pt x="1853" y="589"/>
                  <a:pt x="1853" y="590"/>
                </a:cubicBezTo>
                <a:close/>
                <a:moveTo>
                  <a:pt x="1906" y="596"/>
                </a:moveTo>
                <a:cubicBezTo>
                  <a:pt x="1902" y="597"/>
                  <a:pt x="1900" y="596"/>
                  <a:pt x="1900" y="592"/>
                </a:cubicBezTo>
                <a:cubicBezTo>
                  <a:pt x="1902" y="590"/>
                  <a:pt x="1905" y="593"/>
                  <a:pt x="1906" y="596"/>
                </a:cubicBezTo>
                <a:close/>
                <a:moveTo>
                  <a:pt x="2053" y="584"/>
                </a:moveTo>
                <a:cubicBezTo>
                  <a:pt x="2050" y="585"/>
                  <a:pt x="2052" y="589"/>
                  <a:pt x="2049" y="589"/>
                </a:cubicBezTo>
                <a:cubicBezTo>
                  <a:pt x="2040" y="588"/>
                  <a:pt x="2040" y="589"/>
                  <a:pt x="2032" y="584"/>
                </a:cubicBezTo>
                <a:cubicBezTo>
                  <a:pt x="2032" y="586"/>
                  <a:pt x="2034" y="587"/>
                  <a:pt x="2034" y="589"/>
                </a:cubicBezTo>
                <a:cubicBezTo>
                  <a:pt x="2031" y="589"/>
                  <a:pt x="2028" y="589"/>
                  <a:pt x="2026" y="587"/>
                </a:cubicBezTo>
                <a:cubicBezTo>
                  <a:pt x="2028" y="586"/>
                  <a:pt x="2027" y="584"/>
                  <a:pt x="2026" y="583"/>
                </a:cubicBezTo>
                <a:cubicBezTo>
                  <a:pt x="2033" y="581"/>
                  <a:pt x="2046" y="582"/>
                  <a:pt x="2053" y="584"/>
                </a:cubicBezTo>
                <a:close/>
                <a:moveTo>
                  <a:pt x="2157" y="590"/>
                </a:moveTo>
                <a:cubicBezTo>
                  <a:pt x="2148" y="593"/>
                  <a:pt x="2142" y="587"/>
                  <a:pt x="2138" y="591"/>
                </a:cubicBezTo>
                <a:cubicBezTo>
                  <a:pt x="2139" y="584"/>
                  <a:pt x="2157" y="583"/>
                  <a:pt x="2157" y="590"/>
                </a:cubicBezTo>
                <a:close/>
                <a:moveTo>
                  <a:pt x="2206" y="495"/>
                </a:moveTo>
                <a:cubicBezTo>
                  <a:pt x="2200" y="498"/>
                  <a:pt x="2200" y="501"/>
                  <a:pt x="2202" y="509"/>
                </a:cubicBezTo>
                <a:cubicBezTo>
                  <a:pt x="2194" y="508"/>
                  <a:pt x="2195" y="499"/>
                  <a:pt x="2191" y="494"/>
                </a:cubicBezTo>
                <a:cubicBezTo>
                  <a:pt x="2193" y="488"/>
                  <a:pt x="2204" y="490"/>
                  <a:pt x="2206" y="495"/>
                </a:cubicBezTo>
                <a:close/>
                <a:moveTo>
                  <a:pt x="2267" y="586"/>
                </a:moveTo>
                <a:cubicBezTo>
                  <a:pt x="2270" y="586"/>
                  <a:pt x="2273" y="586"/>
                  <a:pt x="2272" y="591"/>
                </a:cubicBezTo>
                <a:cubicBezTo>
                  <a:pt x="2266" y="592"/>
                  <a:pt x="2265" y="590"/>
                  <a:pt x="2267" y="586"/>
                </a:cubicBezTo>
                <a:close/>
                <a:moveTo>
                  <a:pt x="2264" y="582"/>
                </a:moveTo>
                <a:cubicBezTo>
                  <a:pt x="2264" y="587"/>
                  <a:pt x="2264" y="587"/>
                  <a:pt x="2264" y="587"/>
                </a:cubicBezTo>
                <a:cubicBezTo>
                  <a:pt x="2254" y="587"/>
                  <a:pt x="2254" y="587"/>
                  <a:pt x="2254" y="587"/>
                </a:cubicBezTo>
                <a:cubicBezTo>
                  <a:pt x="2254" y="582"/>
                  <a:pt x="2254" y="582"/>
                  <a:pt x="2254" y="582"/>
                </a:cubicBezTo>
                <a:cubicBezTo>
                  <a:pt x="2259" y="585"/>
                  <a:pt x="2258" y="583"/>
                  <a:pt x="2264" y="582"/>
                </a:cubicBezTo>
                <a:close/>
                <a:moveTo>
                  <a:pt x="2266" y="518"/>
                </a:moveTo>
                <a:cubicBezTo>
                  <a:pt x="2263" y="518"/>
                  <a:pt x="2258" y="519"/>
                  <a:pt x="2258" y="516"/>
                </a:cubicBezTo>
                <a:cubicBezTo>
                  <a:pt x="2261" y="516"/>
                  <a:pt x="2264" y="510"/>
                  <a:pt x="2265" y="513"/>
                </a:cubicBezTo>
                <a:cubicBezTo>
                  <a:pt x="2262" y="515"/>
                  <a:pt x="2265" y="515"/>
                  <a:pt x="2266" y="518"/>
                </a:cubicBezTo>
                <a:close/>
                <a:moveTo>
                  <a:pt x="2305" y="545"/>
                </a:moveTo>
                <a:cubicBezTo>
                  <a:pt x="2300" y="543"/>
                  <a:pt x="2294" y="546"/>
                  <a:pt x="2288" y="543"/>
                </a:cubicBezTo>
                <a:cubicBezTo>
                  <a:pt x="2289" y="542"/>
                  <a:pt x="2289" y="541"/>
                  <a:pt x="2289" y="540"/>
                </a:cubicBezTo>
                <a:cubicBezTo>
                  <a:pt x="2294" y="545"/>
                  <a:pt x="2303" y="536"/>
                  <a:pt x="2305" y="545"/>
                </a:cubicBezTo>
                <a:close/>
                <a:moveTo>
                  <a:pt x="2437" y="485"/>
                </a:moveTo>
                <a:cubicBezTo>
                  <a:pt x="2437" y="489"/>
                  <a:pt x="2432" y="488"/>
                  <a:pt x="2429" y="489"/>
                </a:cubicBezTo>
                <a:cubicBezTo>
                  <a:pt x="2429" y="487"/>
                  <a:pt x="2423" y="484"/>
                  <a:pt x="2427" y="482"/>
                </a:cubicBezTo>
                <a:cubicBezTo>
                  <a:pt x="2429" y="484"/>
                  <a:pt x="2433" y="484"/>
                  <a:pt x="2437" y="485"/>
                </a:cubicBezTo>
                <a:close/>
                <a:moveTo>
                  <a:pt x="2536" y="521"/>
                </a:moveTo>
                <a:cubicBezTo>
                  <a:pt x="2532" y="522"/>
                  <a:pt x="2532" y="519"/>
                  <a:pt x="2529" y="520"/>
                </a:cubicBezTo>
                <a:cubicBezTo>
                  <a:pt x="2528" y="515"/>
                  <a:pt x="2538" y="516"/>
                  <a:pt x="2536" y="521"/>
                </a:cubicBezTo>
                <a:close/>
                <a:moveTo>
                  <a:pt x="2471" y="494"/>
                </a:moveTo>
                <a:cubicBezTo>
                  <a:pt x="2468" y="499"/>
                  <a:pt x="2461" y="495"/>
                  <a:pt x="2460" y="490"/>
                </a:cubicBezTo>
                <a:cubicBezTo>
                  <a:pt x="2464" y="491"/>
                  <a:pt x="2468" y="492"/>
                  <a:pt x="2471" y="494"/>
                </a:cubicBezTo>
                <a:close/>
                <a:moveTo>
                  <a:pt x="2483" y="519"/>
                </a:moveTo>
                <a:cubicBezTo>
                  <a:pt x="2483" y="527"/>
                  <a:pt x="2492" y="530"/>
                  <a:pt x="2498" y="535"/>
                </a:cubicBezTo>
                <a:cubicBezTo>
                  <a:pt x="2494" y="545"/>
                  <a:pt x="2482" y="539"/>
                  <a:pt x="2474" y="540"/>
                </a:cubicBezTo>
                <a:cubicBezTo>
                  <a:pt x="2473" y="533"/>
                  <a:pt x="2466" y="529"/>
                  <a:pt x="2459" y="532"/>
                </a:cubicBezTo>
                <a:cubicBezTo>
                  <a:pt x="2462" y="528"/>
                  <a:pt x="2461" y="526"/>
                  <a:pt x="2459" y="522"/>
                </a:cubicBezTo>
                <a:cubicBezTo>
                  <a:pt x="2465" y="516"/>
                  <a:pt x="2474" y="523"/>
                  <a:pt x="2483" y="519"/>
                </a:cubicBezTo>
                <a:close/>
                <a:moveTo>
                  <a:pt x="2510" y="495"/>
                </a:moveTo>
                <a:cubicBezTo>
                  <a:pt x="2509" y="501"/>
                  <a:pt x="2505" y="505"/>
                  <a:pt x="2508" y="513"/>
                </a:cubicBezTo>
                <a:cubicBezTo>
                  <a:pt x="2500" y="514"/>
                  <a:pt x="2498" y="508"/>
                  <a:pt x="2489" y="511"/>
                </a:cubicBezTo>
                <a:cubicBezTo>
                  <a:pt x="2488" y="507"/>
                  <a:pt x="2492" y="508"/>
                  <a:pt x="2492" y="505"/>
                </a:cubicBezTo>
                <a:cubicBezTo>
                  <a:pt x="2488" y="503"/>
                  <a:pt x="2484" y="502"/>
                  <a:pt x="2481" y="499"/>
                </a:cubicBezTo>
                <a:cubicBezTo>
                  <a:pt x="2487" y="501"/>
                  <a:pt x="2482" y="493"/>
                  <a:pt x="2487" y="495"/>
                </a:cubicBezTo>
                <a:cubicBezTo>
                  <a:pt x="2489" y="499"/>
                  <a:pt x="2493" y="493"/>
                  <a:pt x="2495" y="498"/>
                </a:cubicBezTo>
                <a:cubicBezTo>
                  <a:pt x="2496" y="496"/>
                  <a:pt x="2505" y="492"/>
                  <a:pt x="2510" y="495"/>
                </a:cubicBezTo>
                <a:close/>
                <a:moveTo>
                  <a:pt x="2515" y="520"/>
                </a:moveTo>
                <a:cubicBezTo>
                  <a:pt x="2510" y="523"/>
                  <a:pt x="2505" y="524"/>
                  <a:pt x="2502" y="520"/>
                </a:cubicBezTo>
                <a:cubicBezTo>
                  <a:pt x="2504" y="518"/>
                  <a:pt x="2514" y="513"/>
                  <a:pt x="2515" y="520"/>
                </a:cubicBezTo>
                <a:close/>
                <a:moveTo>
                  <a:pt x="2527" y="513"/>
                </a:moveTo>
                <a:cubicBezTo>
                  <a:pt x="2520" y="512"/>
                  <a:pt x="2516" y="517"/>
                  <a:pt x="2514" y="511"/>
                </a:cubicBezTo>
                <a:cubicBezTo>
                  <a:pt x="2520" y="511"/>
                  <a:pt x="2525" y="505"/>
                  <a:pt x="2527" y="513"/>
                </a:cubicBezTo>
                <a:close/>
                <a:moveTo>
                  <a:pt x="2528" y="531"/>
                </a:moveTo>
                <a:cubicBezTo>
                  <a:pt x="2524" y="530"/>
                  <a:pt x="2520" y="535"/>
                  <a:pt x="2519" y="530"/>
                </a:cubicBezTo>
                <a:cubicBezTo>
                  <a:pt x="2520" y="528"/>
                  <a:pt x="2528" y="527"/>
                  <a:pt x="2528" y="531"/>
                </a:cubicBezTo>
                <a:close/>
                <a:moveTo>
                  <a:pt x="2539" y="559"/>
                </a:moveTo>
                <a:cubicBezTo>
                  <a:pt x="2538" y="562"/>
                  <a:pt x="2537" y="564"/>
                  <a:pt x="2538" y="568"/>
                </a:cubicBezTo>
                <a:cubicBezTo>
                  <a:pt x="2534" y="569"/>
                  <a:pt x="2534" y="566"/>
                  <a:pt x="2530" y="567"/>
                </a:cubicBezTo>
                <a:cubicBezTo>
                  <a:pt x="2530" y="562"/>
                  <a:pt x="2532" y="558"/>
                  <a:pt x="2539" y="559"/>
                </a:cubicBezTo>
                <a:close/>
                <a:moveTo>
                  <a:pt x="2784" y="454"/>
                </a:moveTo>
                <a:cubicBezTo>
                  <a:pt x="2784" y="449"/>
                  <a:pt x="2796" y="457"/>
                  <a:pt x="2795" y="448"/>
                </a:cubicBezTo>
                <a:cubicBezTo>
                  <a:pt x="2776" y="444"/>
                  <a:pt x="2748" y="448"/>
                  <a:pt x="2744" y="465"/>
                </a:cubicBezTo>
                <a:cubicBezTo>
                  <a:pt x="2749" y="467"/>
                  <a:pt x="2754" y="467"/>
                  <a:pt x="2758" y="469"/>
                </a:cubicBezTo>
                <a:cubicBezTo>
                  <a:pt x="2755" y="475"/>
                  <a:pt x="2748" y="478"/>
                  <a:pt x="2749" y="488"/>
                </a:cubicBezTo>
                <a:cubicBezTo>
                  <a:pt x="2755" y="493"/>
                  <a:pt x="2761" y="495"/>
                  <a:pt x="2769" y="494"/>
                </a:cubicBezTo>
                <a:cubicBezTo>
                  <a:pt x="2769" y="498"/>
                  <a:pt x="2764" y="499"/>
                  <a:pt x="2768" y="502"/>
                </a:cubicBezTo>
                <a:cubicBezTo>
                  <a:pt x="2762" y="503"/>
                  <a:pt x="2762" y="503"/>
                  <a:pt x="2762" y="503"/>
                </a:cubicBezTo>
                <a:cubicBezTo>
                  <a:pt x="2763" y="510"/>
                  <a:pt x="2772" y="501"/>
                  <a:pt x="2772" y="510"/>
                </a:cubicBezTo>
                <a:cubicBezTo>
                  <a:pt x="2780" y="511"/>
                  <a:pt x="2781" y="510"/>
                  <a:pt x="2788" y="511"/>
                </a:cubicBezTo>
                <a:cubicBezTo>
                  <a:pt x="2789" y="508"/>
                  <a:pt x="2789" y="506"/>
                  <a:pt x="2788" y="503"/>
                </a:cubicBezTo>
                <a:cubicBezTo>
                  <a:pt x="2793" y="503"/>
                  <a:pt x="2797" y="502"/>
                  <a:pt x="2793" y="498"/>
                </a:cubicBezTo>
                <a:cubicBezTo>
                  <a:pt x="2801" y="500"/>
                  <a:pt x="2809" y="503"/>
                  <a:pt x="2814" y="503"/>
                </a:cubicBezTo>
                <a:cubicBezTo>
                  <a:pt x="2815" y="502"/>
                  <a:pt x="2815" y="500"/>
                  <a:pt x="2815" y="498"/>
                </a:cubicBezTo>
                <a:cubicBezTo>
                  <a:pt x="2816" y="498"/>
                  <a:pt x="2817" y="499"/>
                  <a:pt x="2818" y="500"/>
                </a:cubicBezTo>
                <a:cubicBezTo>
                  <a:pt x="2822" y="499"/>
                  <a:pt x="2816" y="497"/>
                  <a:pt x="2815" y="496"/>
                </a:cubicBezTo>
                <a:cubicBezTo>
                  <a:pt x="2815" y="492"/>
                  <a:pt x="2818" y="497"/>
                  <a:pt x="2820" y="496"/>
                </a:cubicBezTo>
                <a:cubicBezTo>
                  <a:pt x="2822" y="487"/>
                  <a:pt x="2811" y="491"/>
                  <a:pt x="2809" y="486"/>
                </a:cubicBezTo>
                <a:cubicBezTo>
                  <a:pt x="2798" y="487"/>
                  <a:pt x="2788" y="480"/>
                  <a:pt x="2778" y="483"/>
                </a:cubicBezTo>
                <a:cubicBezTo>
                  <a:pt x="2776" y="478"/>
                  <a:pt x="2785" y="482"/>
                  <a:pt x="2786" y="479"/>
                </a:cubicBezTo>
                <a:cubicBezTo>
                  <a:pt x="2785" y="470"/>
                  <a:pt x="2785" y="470"/>
                  <a:pt x="2785" y="470"/>
                </a:cubicBezTo>
                <a:cubicBezTo>
                  <a:pt x="2788" y="467"/>
                  <a:pt x="2795" y="467"/>
                  <a:pt x="2798" y="464"/>
                </a:cubicBezTo>
                <a:cubicBezTo>
                  <a:pt x="2794" y="461"/>
                  <a:pt x="2788" y="458"/>
                  <a:pt x="2784" y="454"/>
                </a:cubicBezTo>
                <a:close/>
                <a:moveTo>
                  <a:pt x="2775" y="482"/>
                </a:moveTo>
                <a:cubicBezTo>
                  <a:pt x="2772" y="484"/>
                  <a:pt x="2768" y="482"/>
                  <a:pt x="2767" y="479"/>
                </a:cubicBezTo>
                <a:cubicBezTo>
                  <a:pt x="2769" y="476"/>
                  <a:pt x="2774" y="479"/>
                  <a:pt x="2775" y="482"/>
                </a:cubicBezTo>
                <a:close/>
                <a:moveTo>
                  <a:pt x="2781" y="503"/>
                </a:moveTo>
                <a:cubicBezTo>
                  <a:pt x="2780" y="504"/>
                  <a:pt x="2778" y="505"/>
                  <a:pt x="2775" y="505"/>
                </a:cubicBezTo>
                <a:cubicBezTo>
                  <a:pt x="2773" y="500"/>
                  <a:pt x="2781" y="499"/>
                  <a:pt x="2781" y="503"/>
                </a:cubicBezTo>
                <a:close/>
                <a:moveTo>
                  <a:pt x="2726" y="709"/>
                </a:moveTo>
                <a:cubicBezTo>
                  <a:pt x="2726" y="709"/>
                  <a:pt x="2727" y="709"/>
                  <a:pt x="2727" y="708"/>
                </a:cubicBezTo>
                <a:cubicBezTo>
                  <a:pt x="2729" y="703"/>
                  <a:pt x="2719" y="700"/>
                  <a:pt x="2726" y="699"/>
                </a:cubicBezTo>
                <a:cubicBezTo>
                  <a:pt x="2726" y="696"/>
                  <a:pt x="2722" y="699"/>
                  <a:pt x="2720" y="698"/>
                </a:cubicBezTo>
                <a:cubicBezTo>
                  <a:pt x="2719" y="703"/>
                  <a:pt x="2724" y="702"/>
                  <a:pt x="2725" y="706"/>
                </a:cubicBezTo>
                <a:cubicBezTo>
                  <a:pt x="2719" y="706"/>
                  <a:pt x="2720" y="705"/>
                  <a:pt x="2714" y="706"/>
                </a:cubicBezTo>
                <a:cubicBezTo>
                  <a:pt x="2713" y="706"/>
                  <a:pt x="2713" y="704"/>
                  <a:pt x="2713" y="702"/>
                </a:cubicBezTo>
                <a:cubicBezTo>
                  <a:pt x="2707" y="707"/>
                  <a:pt x="2705" y="698"/>
                  <a:pt x="2698" y="700"/>
                </a:cubicBezTo>
                <a:cubicBezTo>
                  <a:pt x="2687" y="690"/>
                  <a:pt x="2679" y="699"/>
                  <a:pt x="2673" y="709"/>
                </a:cubicBezTo>
                <a:lnTo>
                  <a:pt x="2726" y="709"/>
                </a:lnTo>
                <a:close/>
                <a:moveTo>
                  <a:pt x="2617" y="646"/>
                </a:moveTo>
                <a:cubicBezTo>
                  <a:pt x="2617" y="644"/>
                  <a:pt x="2614" y="645"/>
                  <a:pt x="2614" y="643"/>
                </a:cubicBezTo>
                <a:cubicBezTo>
                  <a:pt x="2632" y="646"/>
                  <a:pt x="2660" y="665"/>
                  <a:pt x="2673" y="651"/>
                </a:cubicBezTo>
                <a:cubicBezTo>
                  <a:pt x="2682" y="655"/>
                  <a:pt x="2690" y="653"/>
                  <a:pt x="2701" y="654"/>
                </a:cubicBezTo>
                <a:cubicBezTo>
                  <a:pt x="2700" y="652"/>
                  <a:pt x="2697" y="651"/>
                  <a:pt x="2693" y="652"/>
                </a:cubicBezTo>
                <a:cubicBezTo>
                  <a:pt x="2690" y="644"/>
                  <a:pt x="2700" y="647"/>
                  <a:pt x="2699" y="642"/>
                </a:cubicBezTo>
                <a:cubicBezTo>
                  <a:pt x="2694" y="642"/>
                  <a:pt x="2692" y="645"/>
                  <a:pt x="2686" y="644"/>
                </a:cubicBezTo>
                <a:cubicBezTo>
                  <a:pt x="2685" y="648"/>
                  <a:pt x="2689" y="648"/>
                  <a:pt x="2686" y="651"/>
                </a:cubicBezTo>
                <a:cubicBezTo>
                  <a:pt x="2685" y="643"/>
                  <a:pt x="2673" y="649"/>
                  <a:pt x="2666" y="642"/>
                </a:cubicBezTo>
                <a:cubicBezTo>
                  <a:pt x="2675" y="636"/>
                  <a:pt x="2694" y="640"/>
                  <a:pt x="2699" y="637"/>
                </a:cubicBezTo>
                <a:cubicBezTo>
                  <a:pt x="2691" y="630"/>
                  <a:pt x="2677" y="639"/>
                  <a:pt x="2672" y="634"/>
                </a:cubicBezTo>
                <a:cubicBezTo>
                  <a:pt x="2660" y="638"/>
                  <a:pt x="2646" y="632"/>
                  <a:pt x="2633" y="633"/>
                </a:cubicBezTo>
                <a:cubicBezTo>
                  <a:pt x="2636" y="627"/>
                  <a:pt x="2629" y="628"/>
                  <a:pt x="2623" y="628"/>
                </a:cubicBezTo>
                <a:cubicBezTo>
                  <a:pt x="2621" y="630"/>
                  <a:pt x="2622" y="634"/>
                  <a:pt x="2617" y="634"/>
                </a:cubicBezTo>
                <a:cubicBezTo>
                  <a:pt x="2612" y="636"/>
                  <a:pt x="2622" y="634"/>
                  <a:pt x="2622" y="636"/>
                </a:cubicBezTo>
                <a:cubicBezTo>
                  <a:pt x="2619" y="640"/>
                  <a:pt x="2616" y="638"/>
                  <a:pt x="2611" y="638"/>
                </a:cubicBezTo>
                <a:cubicBezTo>
                  <a:pt x="2611" y="634"/>
                  <a:pt x="2617" y="631"/>
                  <a:pt x="2610" y="631"/>
                </a:cubicBezTo>
                <a:cubicBezTo>
                  <a:pt x="2614" y="626"/>
                  <a:pt x="2606" y="622"/>
                  <a:pt x="2609" y="619"/>
                </a:cubicBezTo>
                <a:cubicBezTo>
                  <a:pt x="2607" y="617"/>
                  <a:pt x="2603" y="617"/>
                  <a:pt x="2600" y="617"/>
                </a:cubicBezTo>
                <a:cubicBezTo>
                  <a:pt x="2598" y="613"/>
                  <a:pt x="2602" y="614"/>
                  <a:pt x="2603" y="612"/>
                </a:cubicBezTo>
                <a:cubicBezTo>
                  <a:pt x="2600" y="610"/>
                  <a:pt x="2591" y="613"/>
                  <a:pt x="2586" y="612"/>
                </a:cubicBezTo>
                <a:cubicBezTo>
                  <a:pt x="2591" y="618"/>
                  <a:pt x="2599" y="613"/>
                  <a:pt x="2602" y="621"/>
                </a:cubicBezTo>
                <a:cubicBezTo>
                  <a:pt x="2603" y="625"/>
                  <a:pt x="2595" y="622"/>
                  <a:pt x="2593" y="625"/>
                </a:cubicBezTo>
                <a:cubicBezTo>
                  <a:pt x="2595" y="632"/>
                  <a:pt x="2603" y="630"/>
                  <a:pt x="2605" y="626"/>
                </a:cubicBezTo>
                <a:cubicBezTo>
                  <a:pt x="2609" y="631"/>
                  <a:pt x="2612" y="641"/>
                  <a:pt x="2609" y="646"/>
                </a:cubicBezTo>
                <a:cubicBezTo>
                  <a:pt x="2613" y="645"/>
                  <a:pt x="2614" y="649"/>
                  <a:pt x="2617" y="646"/>
                </a:cubicBezTo>
                <a:close/>
                <a:moveTo>
                  <a:pt x="2571" y="644"/>
                </a:moveTo>
                <a:cubicBezTo>
                  <a:pt x="2568" y="645"/>
                  <a:pt x="2565" y="642"/>
                  <a:pt x="2570" y="642"/>
                </a:cubicBezTo>
                <a:cubicBezTo>
                  <a:pt x="2566" y="636"/>
                  <a:pt x="2564" y="644"/>
                  <a:pt x="2562" y="645"/>
                </a:cubicBezTo>
                <a:cubicBezTo>
                  <a:pt x="2557" y="641"/>
                  <a:pt x="2548" y="648"/>
                  <a:pt x="2548" y="641"/>
                </a:cubicBezTo>
                <a:cubicBezTo>
                  <a:pt x="2546" y="641"/>
                  <a:pt x="2546" y="643"/>
                  <a:pt x="2544" y="644"/>
                </a:cubicBezTo>
                <a:cubicBezTo>
                  <a:pt x="2540" y="642"/>
                  <a:pt x="2541" y="636"/>
                  <a:pt x="2534" y="639"/>
                </a:cubicBezTo>
                <a:cubicBezTo>
                  <a:pt x="2537" y="642"/>
                  <a:pt x="2543" y="642"/>
                  <a:pt x="2541" y="650"/>
                </a:cubicBezTo>
                <a:cubicBezTo>
                  <a:pt x="2557" y="650"/>
                  <a:pt x="2565" y="655"/>
                  <a:pt x="2571" y="644"/>
                </a:cubicBezTo>
                <a:close/>
                <a:moveTo>
                  <a:pt x="1888" y="628"/>
                </a:moveTo>
                <a:cubicBezTo>
                  <a:pt x="1887" y="626"/>
                  <a:pt x="1882" y="630"/>
                  <a:pt x="1880" y="631"/>
                </a:cubicBezTo>
                <a:cubicBezTo>
                  <a:pt x="1875" y="632"/>
                  <a:pt x="1875" y="626"/>
                  <a:pt x="1871" y="626"/>
                </a:cubicBezTo>
                <a:cubicBezTo>
                  <a:pt x="1873" y="623"/>
                  <a:pt x="1880" y="628"/>
                  <a:pt x="1880" y="620"/>
                </a:cubicBezTo>
                <a:cubicBezTo>
                  <a:pt x="1872" y="620"/>
                  <a:pt x="1868" y="624"/>
                  <a:pt x="1866" y="617"/>
                </a:cubicBezTo>
                <a:cubicBezTo>
                  <a:pt x="1862" y="620"/>
                  <a:pt x="1857" y="623"/>
                  <a:pt x="1852" y="626"/>
                </a:cubicBezTo>
                <a:cubicBezTo>
                  <a:pt x="1854" y="631"/>
                  <a:pt x="1856" y="638"/>
                  <a:pt x="1862" y="640"/>
                </a:cubicBezTo>
                <a:cubicBezTo>
                  <a:pt x="1865" y="635"/>
                  <a:pt x="1870" y="636"/>
                  <a:pt x="1875" y="640"/>
                </a:cubicBezTo>
                <a:cubicBezTo>
                  <a:pt x="1881" y="634"/>
                  <a:pt x="1892" y="632"/>
                  <a:pt x="1898" y="634"/>
                </a:cubicBezTo>
                <a:cubicBezTo>
                  <a:pt x="1900" y="634"/>
                  <a:pt x="1897" y="632"/>
                  <a:pt x="1899" y="632"/>
                </a:cubicBezTo>
                <a:cubicBezTo>
                  <a:pt x="1897" y="627"/>
                  <a:pt x="1885" y="634"/>
                  <a:pt x="1888" y="628"/>
                </a:cubicBezTo>
                <a:close/>
                <a:moveTo>
                  <a:pt x="1988" y="595"/>
                </a:moveTo>
                <a:cubicBezTo>
                  <a:pt x="1997" y="596"/>
                  <a:pt x="2009" y="599"/>
                  <a:pt x="2010" y="590"/>
                </a:cubicBezTo>
                <a:cubicBezTo>
                  <a:pt x="2004" y="590"/>
                  <a:pt x="2001" y="591"/>
                  <a:pt x="2000" y="595"/>
                </a:cubicBezTo>
                <a:cubicBezTo>
                  <a:pt x="1996" y="593"/>
                  <a:pt x="1991" y="593"/>
                  <a:pt x="1988" y="590"/>
                </a:cubicBezTo>
                <a:cubicBezTo>
                  <a:pt x="1985" y="591"/>
                  <a:pt x="1995" y="593"/>
                  <a:pt x="1988" y="595"/>
                </a:cubicBezTo>
                <a:close/>
                <a:moveTo>
                  <a:pt x="2737" y="491"/>
                </a:moveTo>
                <a:cubicBezTo>
                  <a:pt x="2734" y="485"/>
                  <a:pt x="2729" y="492"/>
                  <a:pt x="2727" y="495"/>
                </a:cubicBezTo>
                <a:cubicBezTo>
                  <a:pt x="2724" y="494"/>
                  <a:pt x="2723" y="491"/>
                  <a:pt x="2721" y="490"/>
                </a:cubicBezTo>
                <a:cubicBezTo>
                  <a:pt x="2716" y="490"/>
                  <a:pt x="2716" y="490"/>
                  <a:pt x="2716" y="490"/>
                </a:cubicBezTo>
                <a:cubicBezTo>
                  <a:pt x="2715" y="492"/>
                  <a:pt x="2712" y="493"/>
                  <a:pt x="2713" y="498"/>
                </a:cubicBezTo>
                <a:cubicBezTo>
                  <a:pt x="2710" y="497"/>
                  <a:pt x="2706" y="490"/>
                  <a:pt x="2709" y="487"/>
                </a:cubicBezTo>
                <a:cubicBezTo>
                  <a:pt x="2705" y="492"/>
                  <a:pt x="2683" y="490"/>
                  <a:pt x="2684" y="480"/>
                </a:cubicBezTo>
                <a:cubicBezTo>
                  <a:pt x="2669" y="486"/>
                  <a:pt x="2659" y="482"/>
                  <a:pt x="2642" y="485"/>
                </a:cubicBezTo>
                <a:cubicBezTo>
                  <a:pt x="2637" y="483"/>
                  <a:pt x="2636" y="476"/>
                  <a:pt x="2632" y="472"/>
                </a:cubicBezTo>
                <a:cubicBezTo>
                  <a:pt x="2633" y="474"/>
                  <a:pt x="2631" y="479"/>
                  <a:pt x="2626" y="480"/>
                </a:cubicBezTo>
                <a:cubicBezTo>
                  <a:pt x="2622" y="478"/>
                  <a:pt x="2623" y="475"/>
                  <a:pt x="2627" y="473"/>
                </a:cubicBezTo>
                <a:cubicBezTo>
                  <a:pt x="2626" y="468"/>
                  <a:pt x="2620" y="476"/>
                  <a:pt x="2621" y="467"/>
                </a:cubicBezTo>
                <a:cubicBezTo>
                  <a:pt x="2612" y="473"/>
                  <a:pt x="2607" y="464"/>
                  <a:pt x="2611" y="473"/>
                </a:cubicBezTo>
                <a:cubicBezTo>
                  <a:pt x="2613" y="475"/>
                  <a:pt x="2617" y="476"/>
                  <a:pt x="2619" y="478"/>
                </a:cubicBezTo>
                <a:cubicBezTo>
                  <a:pt x="2615" y="482"/>
                  <a:pt x="2610" y="476"/>
                  <a:pt x="2615" y="482"/>
                </a:cubicBezTo>
                <a:cubicBezTo>
                  <a:pt x="2610" y="485"/>
                  <a:pt x="2605" y="481"/>
                  <a:pt x="2600" y="477"/>
                </a:cubicBezTo>
                <a:cubicBezTo>
                  <a:pt x="2596" y="478"/>
                  <a:pt x="2594" y="481"/>
                  <a:pt x="2595" y="486"/>
                </a:cubicBezTo>
                <a:cubicBezTo>
                  <a:pt x="2590" y="484"/>
                  <a:pt x="2587" y="483"/>
                  <a:pt x="2582" y="486"/>
                </a:cubicBezTo>
                <a:cubicBezTo>
                  <a:pt x="2581" y="490"/>
                  <a:pt x="2586" y="488"/>
                  <a:pt x="2585" y="493"/>
                </a:cubicBezTo>
                <a:cubicBezTo>
                  <a:pt x="2579" y="493"/>
                  <a:pt x="2581" y="485"/>
                  <a:pt x="2576" y="485"/>
                </a:cubicBezTo>
                <a:cubicBezTo>
                  <a:pt x="2576" y="490"/>
                  <a:pt x="2578" y="494"/>
                  <a:pt x="2579" y="497"/>
                </a:cubicBezTo>
                <a:cubicBezTo>
                  <a:pt x="2584" y="496"/>
                  <a:pt x="2586" y="499"/>
                  <a:pt x="2590" y="498"/>
                </a:cubicBezTo>
                <a:cubicBezTo>
                  <a:pt x="2595" y="513"/>
                  <a:pt x="2614" y="511"/>
                  <a:pt x="2625" y="511"/>
                </a:cubicBezTo>
                <a:cubicBezTo>
                  <a:pt x="2635" y="498"/>
                  <a:pt x="2644" y="513"/>
                  <a:pt x="2655" y="515"/>
                </a:cubicBezTo>
                <a:cubicBezTo>
                  <a:pt x="2656" y="521"/>
                  <a:pt x="2647" y="517"/>
                  <a:pt x="2647" y="520"/>
                </a:cubicBezTo>
                <a:cubicBezTo>
                  <a:pt x="2650" y="525"/>
                  <a:pt x="2657" y="520"/>
                  <a:pt x="2659" y="517"/>
                </a:cubicBezTo>
                <a:cubicBezTo>
                  <a:pt x="2657" y="515"/>
                  <a:pt x="2655" y="514"/>
                  <a:pt x="2652" y="514"/>
                </a:cubicBezTo>
                <a:cubicBezTo>
                  <a:pt x="2657" y="497"/>
                  <a:pt x="2678" y="510"/>
                  <a:pt x="2691" y="508"/>
                </a:cubicBezTo>
                <a:cubicBezTo>
                  <a:pt x="2689" y="512"/>
                  <a:pt x="2686" y="515"/>
                  <a:pt x="2686" y="520"/>
                </a:cubicBezTo>
                <a:cubicBezTo>
                  <a:pt x="2695" y="515"/>
                  <a:pt x="2699" y="520"/>
                  <a:pt x="2709" y="517"/>
                </a:cubicBezTo>
                <a:cubicBezTo>
                  <a:pt x="2706" y="513"/>
                  <a:pt x="2697" y="516"/>
                  <a:pt x="2691" y="515"/>
                </a:cubicBezTo>
                <a:cubicBezTo>
                  <a:pt x="2692" y="510"/>
                  <a:pt x="2691" y="509"/>
                  <a:pt x="2692" y="506"/>
                </a:cubicBezTo>
                <a:cubicBezTo>
                  <a:pt x="2697" y="506"/>
                  <a:pt x="2699" y="509"/>
                  <a:pt x="2704" y="508"/>
                </a:cubicBezTo>
                <a:cubicBezTo>
                  <a:pt x="2706" y="509"/>
                  <a:pt x="2704" y="511"/>
                  <a:pt x="2707" y="513"/>
                </a:cubicBezTo>
                <a:cubicBezTo>
                  <a:pt x="2710" y="508"/>
                  <a:pt x="2719" y="519"/>
                  <a:pt x="2718" y="510"/>
                </a:cubicBezTo>
                <a:cubicBezTo>
                  <a:pt x="2726" y="511"/>
                  <a:pt x="2724" y="521"/>
                  <a:pt x="2725" y="526"/>
                </a:cubicBezTo>
                <a:cubicBezTo>
                  <a:pt x="2727" y="524"/>
                  <a:pt x="2730" y="519"/>
                  <a:pt x="2732" y="524"/>
                </a:cubicBezTo>
                <a:cubicBezTo>
                  <a:pt x="2734" y="520"/>
                  <a:pt x="2741" y="521"/>
                  <a:pt x="2738" y="513"/>
                </a:cubicBezTo>
                <a:cubicBezTo>
                  <a:pt x="2748" y="524"/>
                  <a:pt x="2772" y="519"/>
                  <a:pt x="2775" y="537"/>
                </a:cubicBezTo>
                <a:cubicBezTo>
                  <a:pt x="2770" y="540"/>
                  <a:pt x="2771" y="547"/>
                  <a:pt x="2766" y="548"/>
                </a:cubicBezTo>
                <a:cubicBezTo>
                  <a:pt x="2761" y="548"/>
                  <a:pt x="2761" y="542"/>
                  <a:pt x="2758" y="539"/>
                </a:cubicBezTo>
                <a:cubicBezTo>
                  <a:pt x="2759" y="536"/>
                  <a:pt x="2764" y="539"/>
                  <a:pt x="2764" y="535"/>
                </a:cubicBezTo>
                <a:cubicBezTo>
                  <a:pt x="2758" y="523"/>
                  <a:pt x="2736" y="536"/>
                  <a:pt x="2730" y="532"/>
                </a:cubicBezTo>
                <a:cubicBezTo>
                  <a:pt x="2729" y="537"/>
                  <a:pt x="2735" y="537"/>
                  <a:pt x="2737" y="535"/>
                </a:cubicBezTo>
                <a:cubicBezTo>
                  <a:pt x="2736" y="539"/>
                  <a:pt x="2737" y="542"/>
                  <a:pt x="2736" y="543"/>
                </a:cubicBezTo>
                <a:cubicBezTo>
                  <a:pt x="2738" y="547"/>
                  <a:pt x="2738" y="539"/>
                  <a:pt x="2739" y="539"/>
                </a:cubicBezTo>
                <a:cubicBezTo>
                  <a:pt x="2743" y="540"/>
                  <a:pt x="2741" y="541"/>
                  <a:pt x="2741" y="544"/>
                </a:cubicBezTo>
                <a:cubicBezTo>
                  <a:pt x="2757" y="543"/>
                  <a:pt x="2765" y="562"/>
                  <a:pt x="2778" y="552"/>
                </a:cubicBezTo>
                <a:cubicBezTo>
                  <a:pt x="2782" y="552"/>
                  <a:pt x="2782" y="556"/>
                  <a:pt x="2788" y="554"/>
                </a:cubicBezTo>
                <a:cubicBezTo>
                  <a:pt x="2788" y="543"/>
                  <a:pt x="2799" y="549"/>
                  <a:pt x="2805" y="551"/>
                </a:cubicBezTo>
                <a:cubicBezTo>
                  <a:pt x="2805" y="547"/>
                  <a:pt x="2804" y="544"/>
                  <a:pt x="2802" y="543"/>
                </a:cubicBezTo>
                <a:cubicBezTo>
                  <a:pt x="2797" y="543"/>
                  <a:pt x="2801" y="544"/>
                  <a:pt x="2801" y="547"/>
                </a:cubicBezTo>
                <a:cubicBezTo>
                  <a:pt x="2797" y="545"/>
                  <a:pt x="2795" y="540"/>
                  <a:pt x="2790" y="543"/>
                </a:cubicBezTo>
                <a:cubicBezTo>
                  <a:pt x="2786" y="540"/>
                  <a:pt x="2792" y="540"/>
                  <a:pt x="2791" y="535"/>
                </a:cubicBezTo>
                <a:cubicBezTo>
                  <a:pt x="2779" y="533"/>
                  <a:pt x="2777" y="524"/>
                  <a:pt x="2780" y="513"/>
                </a:cubicBezTo>
                <a:cubicBezTo>
                  <a:pt x="2774" y="515"/>
                  <a:pt x="2756" y="506"/>
                  <a:pt x="2752" y="511"/>
                </a:cubicBezTo>
                <a:cubicBezTo>
                  <a:pt x="2750" y="501"/>
                  <a:pt x="2740" y="501"/>
                  <a:pt x="2734" y="496"/>
                </a:cubicBezTo>
                <a:cubicBezTo>
                  <a:pt x="2733" y="493"/>
                  <a:pt x="2734" y="491"/>
                  <a:pt x="2737" y="491"/>
                </a:cubicBezTo>
                <a:close/>
                <a:moveTo>
                  <a:pt x="2597" y="494"/>
                </a:moveTo>
                <a:cubicBezTo>
                  <a:pt x="2591" y="495"/>
                  <a:pt x="2588" y="493"/>
                  <a:pt x="2588" y="489"/>
                </a:cubicBezTo>
                <a:cubicBezTo>
                  <a:pt x="2593" y="488"/>
                  <a:pt x="2598" y="488"/>
                  <a:pt x="2597" y="494"/>
                </a:cubicBezTo>
                <a:close/>
                <a:moveTo>
                  <a:pt x="2613" y="490"/>
                </a:moveTo>
                <a:cubicBezTo>
                  <a:pt x="2612" y="493"/>
                  <a:pt x="2613" y="496"/>
                  <a:pt x="2609" y="496"/>
                </a:cubicBezTo>
                <a:cubicBezTo>
                  <a:pt x="2609" y="495"/>
                  <a:pt x="2609" y="494"/>
                  <a:pt x="2608" y="495"/>
                </a:cubicBezTo>
                <a:cubicBezTo>
                  <a:pt x="2607" y="491"/>
                  <a:pt x="2610" y="491"/>
                  <a:pt x="2613" y="490"/>
                </a:cubicBezTo>
                <a:close/>
                <a:moveTo>
                  <a:pt x="2632" y="503"/>
                </a:moveTo>
                <a:cubicBezTo>
                  <a:pt x="2630" y="502"/>
                  <a:pt x="2624" y="505"/>
                  <a:pt x="2623" y="502"/>
                </a:cubicBezTo>
                <a:cubicBezTo>
                  <a:pt x="2624" y="502"/>
                  <a:pt x="2627" y="502"/>
                  <a:pt x="2627" y="500"/>
                </a:cubicBezTo>
                <a:cubicBezTo>
                  <a:pt x="2623" y="498"/>
                  <a:pt x="2612" y="497"/>
                  <a:pt x="2616" y="492"/>
                </a:cubicBezTo>
                <a:cubicBezTo>
                  <a:pt x="2621" y="496"/>
                  <a:pt x="2627" y="490"/>
                  <a:pt x="2632" y="495"/>
                </a:cubicBezTo>
                <a:cubicBezTo>
                  <a:pt x="2631" y="499"/>
                  <a:pt x="2631" y="499"/>
                  <a:pt x="2632" y="503"/>
                </a:cubicBezTo>
                <a:close/>
                <a:moveTo>
                  <a:pt x="2654" y="497"/>
                </a:moveTo>
                <a:cubicBezTo>
                  <a:pt x="2654" y="500"/>
                  <a:pt x="2649" y="497"/>
                  <a:pt x="2647" y="498"/>
                </a:cubicBezTo>
                <a:cubicBezTo>
                  <a:pt x="2644" y="493"/>
                  <a:pt x="2655" y="492"/>
                  <a:pt x="2654" y="497"/>
                </a:cubicBezTo>
                <a:close/>
                <a:moveTo>
                  <a:pt x="2856" y="544"/>
                </a:moveTo>
                <a:cubicBezTo>
                  <a:pt x="2865" y="546"/>
                  <a:pt x="2867" y="546"/>
                  <a:pt x="2879" y="545"/>
                </a:cubicBezTo>
                <a:cubicBezTo>
                  <a:pt x="2877" y="534"/>
                  <a:pt x="2860" y="545"/>
                  <a:pt x="2856" y="539"/>
                </a:cubicBezTo>
                <a:cubicBezTo>
                  <a:pt x="2852" y="539"/>
                  <a:pt x="2858" y="541"/>
                  <a:pt x="2856" y="544"/>
                </a:cubicBezTo>
                <a:close/>
                <a:moveTo>
                  <a:pt x="2892" y="533"/>
                </a:moveTo>
                <a:cubicBezTo>
                  <a:pt x="2898" y="534"/>
                  <a:pt x="2897" y="537"/>
                  <a:pt x="2897" y="543"/>
                </a:cubicBezTo>
                <a:cubicBezTo>
                  <a:pt x="2899" y="543"/>
                  <a:pt x="2901" y="543"/>
                  <a:pt x="2902" y="545"/>
                </a:cubicBezTo>
                <a:cubicBezTo>
                  <a:pt x="2903" y="538"/>
                  <a:pt x="2907" y="537"/>
                  <a:pt x="2911" y="530"/>
                </a:cubicBezTo>
                <a:cubicBezTo>
                  <a:pt x="2905" y="531"/>
                  <a:pt x="2906" y="531"/>
                  <a:pt x="2903" y="527"/>
                </a:cubicBezTo>
                <a:cubicBezTo>
                  <a:pt x="2898" y="528"/>
                  <a:pt x="2894" y="530"/>
                  <a:pt x="2892" y="533"/>
                </a:cubicBezTo>
                <a:close/>
                <a:moveTo>
                  <a:pt x="2890" y="546"/>
                </a:moveTo>
                <a:cubicBezTo>
                  <a:pt x="2888" y="539"/>
                  <a:pt x="2891" y="537"/>
                  <a:pt x="2892" y="533"/>
                </a:cubicBezTo>
                <a:cubicBezTo>
                  <a:pt x="2891" y="530"/>
                  <a:pt x="2884" y="532"/>
                  <a:pt x="2885" y="526"/>
                </a:cubicBezTo>
                <a:cubicBezTo>
                  <a:pt x="2881" y="531"/>
                  <a:pt x="2882" y="539"/>
                  <a:pt x="2880" y="545"/>
                </a:cubicBezTo>
                <a:cubicBezTo>
                  <a:pt x="2885" y="543"/>
                  <a:pt x="2886" y="546"/>
                  <a:pt x="2890" y="546"/>
                </a:cubicBezTo>
                <a:close/>
                <a:moveTo>
                  <a:pt x="2568" y="525"/>
                </a:moveTo>
                <a:cubicBezTo>
                  <a:pt x="2567" y="522"/>
                  <a:pt x="2561" y="528"/>
                  <a:pt x="2561" y="521"/>
                </a:cubicBezTo>
                <a:cubicBezTo>
                  <a:pt x="2559" y="526"/>
                  <a:pt x="2552" y="522"/>
                  <a:pt x="2549" y="524"/>
                </a:cubicBezTo>
                <a:cubicBezTo>
                  <a:pt x="2551" y="529"/>
                  <a:pt x="2555" y="531"/>
                  <a:pt x="2562" y="530"/>
                </a:cubicBezTo>
                <a:cubicBezTo>
                  <a:pt x="2561" y="532"/>
                  <a:pt x="2561" y="533"/>
                  <a:pt x="2559" y="533"/>
                </a:cubicBezTo>
                <a:cubicBezTo>
                  <a:pt x="2562" y="537"/>
                  <a:pt x="2564" y="532"/>
                  <a:pt x="2567" y="534"/>
                </a:cubicBezTo>
                <a:cubicBezTo>
                  <a:pt x="2568" y="531"/>
                  <a:pt x="2565" y="532"/>
                  <a:pt x="2563" y="532"/>
                </a:cubicBezTo>
                <a:cubicBezTo>
                  <a:pt x="2564" y="531"/>
                  <a:pt x="2565" y="529"/>
                  <a:pt x="2564" y="528"/>
                </a:cubicBezTo>
                <a:cubicBezTo>
                  <a:pt x="2566" y="528"/>
                  <a:pt x="2567" y="529"/>
                  <a:pt x="2569" y="529"/>
                </a:cubicBezTo>
                <a:cubicBezTo>
                  <a:pt x="2570" y="525"/>
                  <a:pt x="2562" y="526"/>
                  <a:pt x="2568" y="525"/>
                </a:cubicBezTo>
                <a:close/>
                <a:moveTo>
                  <a:pt x="2573" y="497"/>
                </a:moveTo>
                <a:cubicBezTo>
                  <a:pt x="2568" y="498"/>
                  <a:pt x="2567" y="495"/>
                  <a:pt x="2564" y="494"/>
                </a:cubicBezTo>
                <a:cubicBezTo>
                  <a:pt x="2560" y="494"/>
                  <a:pt x="2567" y="500"/>
                  <a:pt x="2563" y="499"/>
                </a:cubicBezTo>
                <a:cubicBezTo>
                  <a:pt x="2565" y="500"/>
                  <a:pt x="2568" y="499"/>
                  <a:pt x="2571" y="502"/>
                </a:cubicBezTo>
                <a:cubicBezTo>
                  <a:pt x="2570" y="503"/>
                  <a:pt x="2571" y="508"/>
                  <a:pt x="2568" y="509"/>
                </a:cubicBezTo>
                <a:cubicBezTo>
                  <a:pt x="2569" y="512"/>
                  <a:pt x="2576" y="508"/>
                  <a:pt x="2576" y="512"/>
                </a:cubicBezTo>
                <a:cubicBezTo>
                  <a:pt x="2576" y="513"/>
                  <a:pt x="2575" y="514"/>
                  <a:pt x="2575" y="514"/>
                </a:cubicBezTo>
                <a:cubicBezTo>
                  <a:pt x="2571" y="515"/>
                  <a:pt x="2577" y="515"/>
                  <a:pt x="2577" y="514"/>
                </a:cubicBezTo>
                <a:cubicBezTo>
                  <a:pt x="2577" y="509"/>
                  <a:pt x="2572" y="505"/>
                  <a:pt x="2577" y="507"/>
                </a:cubicBezTo>
                <a:cubicBezTo>
                  <a:pt x="2581" y="503"/>
                  <a:pt x="2569" y="505"/>
                  <a:pt x="2573" y="497"/>
                </a:cubicBezTo>
                <a:close/>
                <a:moveTo>
                  <a:pt x="2562" y="479"/>
                </a:moveTo>
                <a:cubicBezTo>
                  <a:pt x="2565" y="477"/>
                  <a:pt x="2567" y="475"/>
                  <a:pt x="2570" y="475"/>
                </a:cubicBezTo>
                <a:cubicBezTo>
                  <a:pt x="2568" y="471"/>
                  <a:pt x="2565" y="478"/>
                  <a:pt x="2561" y="476"/>
                </a:cubicBezTo>
                <a:cubicBezTo>
                  <a:pt x="2561" y="484"/>
                  <a:pt x="2554" y="485"/>
                  <a:pt x="2557" y="493"/>
                </a:cubicBezTo>
                <a:cubicBezTo>
                  <a:pt x="2555" y="495"/>
                  <a:pt x="2550" y="493"/>
                  <a:pt x="2550" y="499"/>
                </a:cubicBezTo>
                <a:cubicBezTo>
                  <a:pt x="2552" y="496"/>
                  <a:pt x="2555" y="499"/>
                  <a:pt x="2560" y="498"/>
                </a:cubicBezTo>
                <a:cubicBezTo>
                  <a:pt x="2560" y="494"/>
                  <a:pt x="2560" y="491"/>
                  <a:pt x="2564" y="491"/>
                </a:cubicBezTo>
                <a:cubicBezTo>
                  <a:pt x="2564" y="486"/>
                  <a:pt x="2561" y="485"/>
                  <a:pt x="2562" y="479"/>
                </a:cubicBezTo>
                <a:close/>
                <a:moveTo>
                  <a:pt x="2274" y="509"/>
                </a:moveTo>
                <a:cubicBezTo>
                  <a:pt x="2276" y="502"/>
                  <a:pt x="2276" y="498"/>
                  <a:pt x="2280" y="492"/>
                </a:cubicBezTo>
                <a:cubicBezTo>
                  <a:pt x="2271" y="492"/>
                  <a:pt x="2271" y="492"/>
                  <a:pt x="2271" y="492"/>
                </a:cubicBezTo>
                <a:cubicBezTo>
                  <a:pt x="2269" y="493"/>
                  <a:pt x="2271" y="497"/>
                  <a:pt x="2268" y="498"/>
                </a:cubicBezTo>
                <a:cubicBezTo>
                  <a:pt x="2268" y="499"/>
                  <a:pt x="2269" y="498"/>
                  <a:pt x="2269" y="497"/>
                </a:cubicBezTo>
                <a:cubicBezTo>
                  <a:pt x="2276" y="498"/>
                  <a:pt x="2272" y="503"/>
                  <a:pt x="2274" y="509"/>
                </a:cubicBezTo>
                <a:close/>
                <a:moveTo>
                  <a:pt x="1492" y="502"/>
                </a:moveTo>
                <a:cubicBezTo>
                  <a:pt x="1488" y="505"/>
                  <a:pt x="1485" y="506"/>
                  <a:pt x="1481" y="504"/>
                </a:cubicBezTo>
                <a:cubicBezTo>
                  <a:pt x="1480" y="512"/>
                  <a:pt x="1491" y="505"/>
                  <a:pt x="1492" y="502"/>
                </a:cubicBezTo>
                <a:close/>
                <a:moveTo>
                  <a:pt x="1491" y="456"/>
                </a:moveTo>
                <a:cubicBezTo>
                  <a:pt x="1493" y="453"/>
                  <a:pt x="1494" y="449"/>
                  <a:pt x="1500" y="451"/>
                </a:cubicBezTo>
                <a:cubicBezTo>
                  <a:pt x="1499" y="449"/>
                  <a:pt x="1498" y="447"/>
                  <a:pt x="1497" y="445"/>
                </a:cubicBezTo>
                <a:cubicBezTo>
                  <a:pt x="1492" y="446"/>
                  <a:pt x="1487" y="447"/>
                  <a:pt x="1482" y="449"/>
                </a:cubicBezTo>
                <a:cubicBezTo>
                  <a:pt x="1482" y="452"/>
                  <a:pt x="1483" y="452"/>
                  <a:pt x="1484" y="454"/>
                </a:cubicBezTo>
                <a:cubicBezTo>
                  <a:pt x="1481" y="456"/>
                  <a:pt x="1480" y="454"/>
                  <a:pt x="1476" y="456"/>
                </a:cubicBezTo>
                <a:cubicBezTo>
                  <a:pt x="1479" y="459"/>
                  <a:pt x="1477" y="459"/>
                  <a:pt x="1478" y="465"/>
                </a:cubicBezTo>
                <a:cubicBezTo>
                  <a:pt x="1483" y="465"/>
                  <a:pt x="1483" y="465"/>
                  <a:pt x="1483" y="465"/>
                </a:cubicBezTo>
                <a:cubicBezTo>
                  <a:pt x="1480" y="470"/>
                  <a:pt x="1486" y="471"/>
                  <a:pt x="1484" y="474"/>
                </a:cubicBezTo>
                <a:cubicBezTo>
                  <a:pt x="1490" y="473"/>
                  <a:pt x="1496" y="481"/>
                  <a:pt x="1507" y="480"/>
                </a:cubicBezTo>
                <a:cubicBezTo>
                  <a:pt x="1504" y="483"/>
                  <a:pt x="1503" y="487"/>
                  <a:pt x="1503" y="492"/>
                </a:cubicBezTo>
                <a:cubicBezTo>
                  <a:pt x="1509" y="493"/>
                  <a:pt x="1509" y="489"/>
                  <a:pt x="1514" y="489"/>
                </a:cubicBezTo>
                <a:cubicBezTo>
                  <a:pt x="1516" y="486"/>
                  <a:pt x="1511" y="483"/>
                  <a:pt x="1514" y="482"/>
                </a:cubicBezTo>
                <a:cubicBezTo>
                  <a:pt x="1513" y="481"/>
                  <a:pt x="1510" y="481"/>
                  <a:pt x="1508" y="481"/>
                </a:cubicBezTo>
                <a:cubicBezTo>
                  <a:pt x="1510" y="479"/>
                  <a:pt x="1514" y="478"/>
                  <a:pt x="1511" y="474"/>
                </a:cubicBezTo>
                <a:cubicBezTo>
                  <a:pt x="1517" y="473"/>
                  <a:pt x="1521" y="473"/>
                  <a:pt x="1527" y="475"/>
                </a:cubicBezTo>
                <a:cubicBezTo>
                  <a:pt x="1517" y="495"/>
                  <a:pt x="1535" y="512"/>
                  <a:pt x="1552" y="500"/>
                </a:cubicBezTo>
                <a:cubicBezTo>
                  <a:pt x="1549" y="491"/>
                  <a:pt x="1551" y="483"/>
                  <a:pt x="1561" y="480"/>
                </a:cubicBezTo>
                <a:cubicBezTo>
                  <a:pt x="1556" y="477"/>
                  <a:pt x="1563" y="472"/>
                  <a:pt x="1564" y="468"/>
                </a:cubicBezTo>
                <a:cubicBezTo>
                  <a:pt x="1568" y="468"/>
                  <a:pt x="1570" y="470"/>
                  <a:pt x="1573" y="468"/>
                </a:cubicBezTo>
                <a:cubicBezTo>
                  <a:pt x="1568" y="463"/>
                  <a:pt x="1561" y="468"/>
                  <a:pt x="1556" y="463"/>
                </a:cubicBezTo>
                <a:cubicBezTo>
                  <a:pt x="1554" y="456"/>
                  <a:pt x="1566" y="462"/>
                  <a:pt x="1565" y="456"/>
                </a:cubicBezTo>
                <a:cubicBezTo>
                  <a:pt x="1558" y="459"/>
                  <a:pt x="1551" y="456"/>
                  <a:pt x="1549" y="447"/>
                </a:cubicBezTo>
                <a:cubicBezTo>
                  <a:pt x="1540" y="447"/>
                  <a:pt x="1537" y="452"/>
                  <a:pt x="1536" y="458"/>
                </a:cubicBezTo>
                <a:cubicBezTo>
                  <a:pt x="1538" y="460"/>
                  <a:pt x="1542" y="459"/>
                  <a:pt x="1541" y="464"/>
                </a:cubicBezTo>
                <a:cubicBezTo>
                  <a:pt x="1532" y="467"/>
                  <a:pt x="1528" y="462"/>
                  <a:pt x="1517" y="465"/>
                </a:cubicBezTo>
                <a:cubicBezTo>
                  <a:pt x="1516" y="459"/>
                  <a:pt x="1526" y="465"/>
                  <a:pt x="1525" y="459"/>
                </a:cubicBezTo>
                <a:cubicBezTo>
                  <a:pt x="1523" y="458"/>
                  <a:pt x="1522" y="458"/>
                  <a:pt x="1522" y="460"/>
                </a:cubicBezTo>
                <a:cubicBezTo>
                  <a:pt x="1514" y="454"/>
                  <a:pt x="1503" y="457"/>
                  <a:pt x="1495" y="460"/>
                </a:cubicBezTo>
                <a:cubicBezTo>
                  <a:pt x="1493" y="460"/>
                  <a:pt x="1494" y="456"/>
                  <a:pt x="1491" y="456"/>
                </a:cubicBezTo>
                <a:close/>
                <a:moveTo>
                  <a:pt x="1535" y="421"/>
                </a:moveTo>
                <a:cubicBezTo>
                  <a:pt x="1535" y="415"/>
                  <a:pt x="1539" y="417"/>
                  <a:pt x="1542" y="418"/>
                </a:cubicBezTo>
                <a:cubicBezTo>
                  <a:pt x="1537" y="415"/>
                  <a:pt x="1534" y="410"/>
                  <a:pt x="1527" y="410"/>
                </a:cubicBezTo>
                <a:cubicBezTo>
                  <a:pt x="1528" y="415"/>
                  <a:pt x="1530" y="420"/>
                  <a:pt x="1535" y="421"/>
                </a:cubicBezTo>
                <a:close/>
                <a:moveTo>
                  <a:pt x="327" y="460"/>
                </a:moveTo>
                <a:cubicBezTo>
                  <a:pt x="322" y="456"/>
                  <a:pt x="316" y="454"/>
                  <a:pt x="318" y="446"/>
                </a:cubicBezTo>
                <a:cubicBezTo>
                  <a:pt x="311" y="444"/>
                  <a:pt x="305" y="447"/>
                  <a:pt x="301" y="443"/>
                </a:cubicBezTo>
                <a:cubicBezTo>
                  <a:pt x="299" y="444"/>
                  <a:pt x="301" y="445"/>
                  <a:pt x="302" y="444"/>
                </a:cubicBezTo>
                <a:cubicBezTo>
                  <a:pt x="301" y="447"/>
                  <a:pt x="297" y="454"/>
                  <a:pt x="300" y="457"/>
                </a:cubicBezTo>
                <a:cubicBezTo>
                  <a:pt x="304" y="457"/>
                  <a:pt x="303" y="452"/>
                  <a:pt x="304" y="450"/>
                </a:cubicBezTo>
                <a:cubicBezTo>
                  <a:pt x="310" y="451"/>
                  <a:pt x="311" y="457"/>
                  <a:pt x="315" y="460"/>
                </a:cubicBezTo>
                <a:cubicBezTo>
                  <a:pt x="317" y="457"/>
                  <a:pt x="321" y="459"/>
                  <a:pt x="324" y="460"/>
                </a:cubicBezTo>
                <a:cubicBezTo>
                  <a:pt x="322" y="463"/>
                  <a:pt x="322" y="464"/>
                  <a:pt x="323" y="468"/>
                </a:cubicBezTo>
                <a:cubicBezTo>
                  <a:pt x="332" y="467"/>
                  <a:pt x="332" y="467"/>
                  <a:pt x="332" y="467"/>
                </a:cubicBezTo>
                <a:cubicBezTo>
                  <a:pt x="331" y="466"/>
                  <a:pt x="330" y="466"/>
                  <a:pt x="329" y="466"/>
                </a:cubicBezTo>
                <a:cubicBezTo>
                  <a:pt x="327" y="466"/>
                  <a:pt x="325" y="459"/>
                  <a:pt x="327" y="460"/>
                </a:cubicBezTo>
                <a:close/>
                <a:moveTo>
                  <a:pt x="224" y="461"/>
                </a:moveTo>
                <a:cubicBezTo>
                  <a:pt x="228" y="460"/>
                  <a:pt x="231" y="457"/>
                  <a:pt x="232" y="453"/>
                </a:cubicBezTo>
                <a:cubicBezTo>
                  <a:pt x="228" y="454"/>
                  <a:pt x="226" y="457"/>
                  <a:pt x="224" y="461"/>
                </a:cubicBezTo>
                <a:close/>
                <a:moveTo>
                  <a:pt x="1481" y="392"/>
                </a:moveTo>
                <a:cubicBezTo>
                  <a:pt x="1481" y="388"/>
                  <a:pt x="1480" y="383"/>
                  <a:pt x="1485" y="384"/>
                </a:cubicBezTo>
                <a:cubicBezTo>
                  <a:pt x="1485" y="382"/>
                  <a:pt x="1484" y="382"/>
                  <a:pt x="1483" y="382"/>
                </a:cubicBezTo>
                <a:cubicBezTo>
                  <a:pt x="1482" y="383"/>
                  <a:pt x="1482" y="382"/>
                  <a:pt x="1482" y="381"/>
                </a:cubicBezTo>
                <a:cubicBezTo>
                  <a:pt x="1481" y="383"/>
                  <a:pt x="1474" y="391"/>
                  <a:pt x="1481" y="392"/>
                </a:cubicBezTo>
                <a:close/>
                <a:moveTo>
                  <a:pt x="1499" y="365"/>
                </a:moveTo>
                <a:cubicBezTo>
                  <a:pt x="1500" y="368"/>
                  <a:pt x="1501" y="371"/>
                  <a:pt x="1503" y="372"/>
                </a:cubicBezTo>
                <a:cubicBezTo>
                  <a:pt x="1500" y="374"/>
                  <a:pt x="1500" y="382"/>
                  <a:pt x="1501" y="384"/>
                </a:cubicBezTo>
                <a:cubicBezTo>
                  <a:pt x="1503" y="384"/>
                  <a:pt x="1504" y="384"/>
                  <a:pt x="1504" y="385"/>
                </a:cubicBezTo>
                <a:cubicBezTo>
                  <a:pt x="1502" y="385"/>
                  <a:pt x="1505" y="371"/>
                  <a:pt x="1515" y="370"/>
                </a:cubicBezTo>
                <a:cubicBezTo>
                  <a:pt x="1516" y="360"/>
                  <a:pt x="1504" y="362"/>
                  <a:pt x="1499" y="365"/>
                </a:cubicBezTo>
                <a:close/>
                <a:moveTo>
                  <a:pt x="1458" y="356"/>
                </a:moveTo>
                <a:cubicBezTo>
                  <a:pt x="1459" y="356"/>
                  <a:pt x="1460" y="355"/>
                  <a:pt x="1462" y="355"/>
                </a:cubicBezTo>
                <a:cubicBezTo>
                  <a:pt x="1462" y="353"/>
                  <a:pt x="1462" y="351"/>
                  <a:pt x="1463" y="351"/>
                </a:cubicBezTo>
                <a:cubicBezTo>
                  <a:pt x="1461" y="346"/>
                  <a:pt x="1454" y="351"/>
                  <a:pt x="1452" y="349"/>
                </a:cubicBezTo>
                <a:cubicBezTo>
                  <a:pt x="1449" y="351"/>
                  <a:pt x="1458" y="352"/>
                  <a:pt x="1458" y="356"/>
                </a:cubicBezTo>
                <a:close/>
                <a:moveTo>
                  <a:pt x="351" y="395"/>
                </a:moveTo>
                <a:cubicBezTo>
                  <a:pt x="343" y="397"/>
                  <a:pt x="341" y="391"/>
                  <a:pt x="336" y="389"/>
                </a:cubicBezTo>
                <a:cubicBezTo>
                  <a:pt x="338" y="390"/>
                  <a:pt x="338" y="395"/>
                  <a:pt x="338" y="398"/>
                </a:cubicBezTo>
                <a:cubicBezTo>
                  <a:pt x="345" y="398"/>
                  <a:pt x="349" y="404"/>
                  <a:pt x="352" y="404"/>
                </a:cubicBezTo>
                <a:cubicBezTo>
                  <a:pt x="354" y="404"/>
                  <a:pt x="350" y="399"/>
                  <a:pt x="351" y="395"/>
                </a:cubicBezTo>
                <a:close/>
                <a:moveTo>
                  <a:pt x="529" y="382"/>
                </a:moveTo>
                <a:cubicBezTo>
                  <a:pt x="525" y="376"/>
                  <a:pt x="526" y="373"/>
                  <a:pt x="527" y="365"/>
                </a:cubicBezTo>
                <a:cubicBezTo>
                  <a:pt x="523" y="365"/>
                  <a:pt x="520" y="364"/>
                  <a:pt x="516" y="363"/>
                </a:cubicBezTo>
                <a:cubicBezTo>
                  <a:pt x="520" y="369"/>
                  <a:pt x="512" y="374"/>
                  <a:pt x="518" y="378"/>
                </a:cubicBezTo>
                <a:cubicBezTo>
                  <a:pt x="518" y="381"/>
                  <a:pt x="511" y="378"/>
                  <a:pt x="512" y="382"/>
                </a:cubicBezTo>
                <a:cubicBezTo>
                  <a:pt x="508" y="384"/>
                  <a:pt x="514" y="384"/>
                  <a:pt x="513" y="381"/>
                </a:cubicBezTo>
                <a:cubicBezTo>
                  <a:pt x="520" y="381"/>
                  <a:pt x="523" y="384"/>
                  <a:pt x="529" y="382"/>
                </a:cubicBezTo>
                <a:close/>
                <a:moveTo>
                  <a:pt x="777" y="330"/>
                </a:moveTo>
                <a:cubicBezTo>
                  <a:pt x="778" y="334"/>
                  <a:pt x="778" y="334"/>
                  <a:pt x="778" y="334"/>
                </a:cubicBezTo>
                <a:cubicBezTo>
                  <a:pt x="774" y="334"/>
                  <a:pt x="771" y="334"/>
                  <a:pt x="769" y="333"/>
                </a:cubicBezTo>
                <a:cubicBezTo>
                  <a:pt x="772" y="330"/>
                  <a:pt x="774" y="327"/>
                  <a:pt x="779" y="327"/>
                </a:cubicBezTo>
                <a:cubicBezTo>
                  <a:pt x="772" y="314"/>
                  <a:pt x="751" y="315"/>
                  <a:pt x="736" y="314"/>
                </a:cubicBezTo>
                <a:cubicBezTo>
                  <a:pt x="744" y="312"/>
                  <a:pt x="750" y="310"/>
                  <a:pt x="759" y="309"/>
                </a:cubicBezTo>
                <a:cubicBezTo>
                  <a:pt x="760" y="304"/>
                  <a:pt x="755" y="305"/>
                  <a:pt x="756" y="301"/>
                </a:cubicBezTo>
                <a:cubicBezTo>
                  <a:pt x="749" y="304"/>
                  <a:pt x="744" y="295"/>
                  <a:pt x="733" y="298"/>
                </a:cubicBezTo>
                <a:cubicBezTo>
                  <a:pt x="732" y="293"/>
                  <a:pt x="732" y="293"/>
                  <a:pt x="732" y="293"/>
                </a:cubicBezTo>
                <a:cubicBezTo>
                  <a:pt x="741" y="286"/>
                  <a:pt x="753" y="296"/>
                  <a:pt x="765" y="294"/>
                </a:cubicBezTo>
                <a:cubicBezTo>
                  <a:pt x="760" y="282"/>
                  <a:pt x="761" y="265"/>
                  <a:pt x="749" y="259"/>
                </a:cubicBezTo>
                <a:cubicBezTo>
                  <a:pt x="736" y="258"/>
                  <a:pt x="727" y="265"/>
                  <a:pt x="719" y="268"/>
                </a:cubicBezTo>
                <a:cubicBezTo>
                  <a:pt x="726" y="278"/>
                  <a:pt x="716" y="283"/>
                  <a:pt x="712" y="291"/>
                </a:cubicBezTo>
                <a:cubicBezTo>
                  <a:pt x="719" y="292"/>
                  <a:pt x="722" y="298"/>
                  <a:pt x="725" y="304"/>
                </a:cubicBezTo>
                <a:cubicBezTo>
                  <a:pt x="725" y="306"/>
                  <a:pt x="720" y="302"/>
                  <a:pt x="718" y="305"/>
                </a:cubicBezTo>
                <a:cubicBezTo>
                  <a:pt x="722" y="318"/>
                  <a:pt x="722" y="321"/>
                  <a:pt x="726" y="331"/>
                </a:cubicBezTo>
                <a:cubicBezTo>
                  <a:pt x="725" y="334"/>
                  <a:pt x="722" y="335"/>
                  <a:pt x="718" y="335"/>
                </a:cubicBezTo>
                <a:cubicBezTo>
                  <a:pt x="719" y="343"/>
                  <a:pt x="725" y="348"/>
                  <a:pt x="731" y="345"/>
                </a:cubicBezTo>
                <a:cubicBezTo>
                  <a:pt x="729" y="340"/>
                  <a:pt x="725" y="339"/>
                  <a:pt x="729" y="333"/>
                </a:cubicBezTo>
                <a:cubicBezTo>
                  <a:pt x="734" y="332"/>
                  <a:pt x="734" y="337"/>
                  <a:pt x="740" y="336"/>
                </a:cubicBezTo>
                <a:cubicBezTo>
                  <a:pt x="741" y="330"/>
                  <a:pt x="735" y="333"/>
                  <a:pt x="734" y="329"/>
                </a:cubicBezTo>
                <a:cubicBezTo>
                  <a:pt x="739" y="324"/>
                  <a:pt x="744" y="335"/>
                  <a:pt x="749" y="330"/>
                </a:cubicBezTo>
                <a:cubicBezTo>
                  <a:pt x="750" y="331"/>
                  <a:pt x="751" y="334"/>
                  <a:pt x="752" y="338"/>
                </a:cubicBezTo>
                <a:cubicBezTo>
                  <a:pt x="759" y="337"/>
                  <a:pt x="759" y="337"/>
                  <a:pt x="759" y="337"/>
                </a:cubicBezTo>
                <a:cubicBezTo>
                  <a:pt x="759" y="333"/>
                  <a:pt x="760" y="330"/>
                  <a:pt x="762" y="328"/>
                </a:cubicBezTo>
                <a:cubicBezTo>
                  <a:pt x="766" y="330"/>
                  <a:pt x="761" y="334"/>
                  <a:pt x="767" y="334"/>
                </a:cubicBezTo>
                <a:cubicBezTo>
                  <a:pt x="765" y="338"/>
                  <a:pt x="764" y="342"/>
                  <a:pt x="765" y="348"/>
                </a:cubicBezTo>
                <a:cubicBezTo>
                  <a:pt x="769" y="350"/>
                  <a:pt x="773" y="354"/>
                  <a:pt x="780" y="354"/>
                </a:cubicBezTo>
                <a:cubicBezTo>
                  <a:pt x="783" y="354"/>
                  <a:pt x="780" y="349"/>
                  <a:pt x="781" y="347"/>
                </a:cubicBezTo>
                <a:cubicBezTo>
                  <a:pt x="775" y="354"/>
                  <a:pt x="776" y="344"/>
                  <a:pt x="772" y="340"/>
                </a:cubicBezTo>
                <a:cubicBezTo>
                  <a:pt x="769" y="339"/>
                  <a:pt x="772" y="345"/>
                  <a:pt x="767" y="344"/>
                </a:cubicBezTo>
                <a:cubicBezTo>
                  <a:pt x="766" y="337"/>
                  <a:pt x="775" y="337"/>
                  <a:pt x="784" y="336"/>
                </a:cubicBezTo>
                <a:cubicBezTo>
                  <a:pt x="783" y="333"/>
                  <a:pt x="781" y="331"/>
                  <a:pt x="777" y="330"/>
                </a:cubicBezTo>
                <a:close/>
                <a:moveTo>
                  <a:pt x="762" y="321"/>
                </a:moveTo>
                <a:cubicBezTo>
                  <a:pt x="761" y="325"/>
                  <a:pt x="755" y="321"/>
                  <a:pt x="753" y="321"/>
                </a:cubicBezTo>
                <a:cubicBezTo>
                  <a:pt x="752" y="314"/>
                  <a:pt x="762" y="319"/>
                  <a:pt x="762" y="321"/>
                </a:cubicBezTo>
                <a:close/>
                <a:moveTo>
                  <a:pt x="765" y="320"/>
                </a:moveTo>
                <a:cubicBezTo>
                  <a:pt x="769" y="320"/>
                  <a:pt x="773" y="320"/>
                  <a:pt x="773" y="325"/>
                </a:cubicBezTo>
                <a:cubicBezTo>
                  <a:pt x="769" y="325"/>
                  <a:pt x="765" y="324"/>
                  <a:pt x="765" y="320"/>
                </a:cubicBezTo>
                <a:close/>
                <a:moveTo>
                  <a:pt x="746" y="350"/>
                </a:moveTo>
                <a:cubicBezTo>
                  <a:pt x="744" y="344"/>
                  <a:pt x="749" y="344"/>
                  <a:pt x="751" y="347"/>
                </a:cubicBezTo>
                <a:cubicBezTo>
                  <a:pt x="753" y="344"/>
                  <a:pt x="745" y="340"/>
                  <a:pt x="740" y="340"/>
                </a:cubicBezTo>
                <a:cubicBezTo>
                  <a:pt x="740" y="345"/>
                  <a:pt x="740" y="351"/>
                  <a:pt x="746" y="350"/>
                </a:cubicBezTo>
                <a:close/>
                <a:moveTo>
                  <a:pt x="905" y="336"/>
                </a:moveTo>
                <a:cubicBezTo>
                  <a:pt x="903" y="337"/>
                  <a:pt x="901" y="334"/>
                  <a:pt x="901" y="337"/>
                </a:cubicBezTo>
                <a:cubicBezTo>
                  <a:pt x="898" y="335"/>
                  <a:pt x="898" y="331"/>
                  <a:pt x="901" y="330"/>
                </a:cubicBezTo>
                <a:cubicBezTo>
                  <a:pt x="900" y="328"/>
                  <a:pt x="899" y="329"/>
                  <a:pt x="899" y="330"/>
                </a:cubicBezTo>
                <a:cubicBezTo>
                  <a:pt x="897" y="332"/>
                  <a:pt x="893" y="328"/>
                  <a:pt x="891" y="326"/>
                </a:cubicBezTo>
                <a:cubicBezTo>
                  <a:pt x="888" y="327"/>
                  <a:pt x="891" y="333"/>
                  <a:pt x="890" y="336"/>
                </a:cubicBezTo>
                <a:cubicBezTo>
                  <a:pt x="896" y="338"/>
                  <a:pt x="904" y="341"/>
                  <a:pt x="910" y="336"/>
                </a:cubicBezTo>
                <a:cubicBezTo>
                  <a:pt x="911" y="332"/>
                  <a:pt x="906" y="334"/>
                  <a:pt x="906" y="331"/>
                </a:cubicBezTo>
                <a:cubicBezTo>
                  <a:pt x="902" y="332"/>
                  <a:pt x="905" y="333"/>
                  <a:pt x="905" y="336"/>
                </a:cubicBezTo>
                <a:close/>
                <a:moveTo>
                  <a:pt x="978" y="256"/>
                </a:moveTo>
                <a:cubicBezTo>
                  <a:pt x="977" y="253"/>
                  <a:pt x="975" y="245"/>
                  <a:pt x="967" y="247"/>
                </a:cubicBezTo>
                <a:cubicBezTo>
                  <a:pt x="968" y="251"/>
                  <a:pt x="973" y="254"/>
                  <a:pt x="965" y="254"/>
                </a:cubicBezTo>
                <a:cubicBezTo>
                  <a:pt x="966" y="260"/>
                  <a:pt x="962" y="264"/>
                  <a:pt x="966" y="269"/>
                </a:cubicBezTo>
                <a:cubicBezTo>
                  <a:pt x="961" y="269"/>
                  <a:pt x="956" y="257"/>
                  <a:pt x="961" y="255"/>
                </a:cubicBezTo>
                <a:cubicBezTo>
                  <a:pt x="958" y="237"/>
                  <a:pt x="901" y="239"/>
                  <a:pt x="923" y="264"/>
                </a:cubicBezTo>
                <a:cubicBezTo>
                  <a:pt x="918" y="266"/>
                  <a:pt x="912" y="267"/>
                  <a:pt x="910" y="271"/>
                </a:cubicBezTo>
                <a:cubicBezTo>
                  <a:pt x="911" y="274"/>
                  <a:pt x="916" y="276"/>
                  <a:pt x="910" y="278"/>
                </a:cubicBezTo>
                <a:cubicBezTo>
                  <a:pt x="911" y="280"/>
                  <a:pt x="915" y="276"/>
                  <a:pt x="915" y="282"/>
                </a:cubicBezTo>
                <a:cubicBezTo>
                  <a:pt x="918" y="281"/>
                  <a:pt x="923" y="278"/>
                  <a:pt x="923" y="284"/>
                </a:cubicBezTo>
                <a:cubicBezTo>
                  <a:pt x="925" y="284"/>
                  <a:pt x="924" y="281"/>
                  <a:pt x="924" y="279"/>
                </a:cubicBezTo>
                <a:cubicBezTo>
                  <a:pt x="921" y="279"/>
                  <a:pt x="920" y="276"/>
                  <a:pt x="917" y="279"/>
                </a:cubicBezTo>
                <a:cubicBezTo>
                  <a:pt x="917" y="274"/>
                  <a:pt x="923" y="272"/>
                  <a:pt x="919" y="268"/>
                </a:cubicBezTo>
                <a:cubicBezTo>
                  <a:pt x="938" y="261"/>
                  <a:pt x="947" y="282"/>
                  <a:pt x="966" y="274"/>
                </a:cubicBezTo>
                <a:cubicBezTo>
                  <a:pt x="966" y="274"/>
                  <a:pt x="965" y="270"/>
                  <a:pt x="966" y="270"/>
                </a:cubicBezTo>
                <a:cubicBezTo>
                  <a:pt x="968" y="271"/>
                  <a:pt x="970" y="273"/>
                  <a:pt x="974" y="272"/>
                </a:cubicBezTo>
                <a:cubicBezTo>
                  <a:pt x="970" y="270"/>
                  <a:pt x="971" y="266"/>
                  <a:pt x="973" y="263"/>
                </a:cubicBezTo>
                <a:cubicBezTo>
                  <a:pt x="976" y="267"/>
                  <a:pt x="980" y="260"/>
                  <a:pt x="982" y="264"/>
                </a:cubicBezTo>
                <a:cubicBezTo>
                  <a:pt x="988" y="261"/>
                  <a:pt x="977" y="254"/>
                  <a:pt x="978" y="256"/>
                </a:cubicBezTo>
                <a:close/>
                <a:moveTo>
                  <a:pt x="1863" y="237"/>
                </a:moveTo>
                <a:cubicBezTo>
                  <a:pt x="1864" y="236"/>
                  <a:pt x="1858" y="233"/>
                  <a:pt x="1854" y="233"/>
                </a:cubicBezTo>
                <a:cubicBezTo>
                  <a:pt x="1854" y="226"/>
                  <a:pt x="1854" y="226"/>
                  <a:pt x="1854" y="226"/>
                </a:cubicBezTo>
                <a:cubicBezTo>
                  <a:pt x="1843" y="224"/>
                  <a:pt x="1833" y="227"/>
                  <a:pt x="1828" y="217"/>
                </a:cubicBezTo>
                <a:cubicBezTo>
                  <a:pt x="1822" y="222"/>
                  <a:pt x="1812" y="215"/>
                  <a:pt x="1805" y="214"/>
                </a:cubicBezTo>
                <a:cubicBezTo>
                  <a:pt x="1814" y="214"/>
                  <a:pt x="1803" y="206"/>
                  <a:pt x="1799" y="213"/>
                </a:cubicBezTo>
                <a:cubicBezTo>
                  <a:pt x="1797" y="213"/>
                  <a:pt x="1797" y="211"/>
                  <a:pt x="1795" y="211"/>
                </a:cubicBezTo>
                <a:cubicBezTo>
                  <a:pt x="1794" y="204"/>
                  <a:pt x="1808" y="205"/>
                  <a:pt x="1813" y="207"/>
                </a:cubicBezTo>
                <a:cubicBezTo>
                  <a:pt x="1812" y="208"/>
                  <a:pt x="1812" y="209"/>
                  <a:pt x="1810" y="209"/>
                </a:cubicBezTo>
                <a:cubicBezTo>
                  <a:pt x="1812" y="210"/>
                  <a:pt x="1812" y="214"/>
                  <a:pt x="1816" y="213"/>
                </a:cubicBezTo>
                <a:cubicBezTo>
                  <a:pt x="1810" y="205"/>
                  <a:pt x="1822" y="205"/>
                  <a:pt x="1827" y="206"/>
                </a:cubicBezTo>
                <a:cubicBezTo>
                  <a:pt x="1822" y="198"/>
                  <a:pt x="1810" y="205"/>
                  <a:pt x="1812" y="192"/>
                </a:cubicBezTo>
                <a:cubicBezTo>
                  <a:pt x="1809" y="192"/>
                  <a:pt x="1805" y="192"/>
                  <a:pt x="1804" y="193"/>
                </a:cubicBezTo>
                <a:cubicBezTo>
                  <a:pt x="1805" y="188"/>
                  <a:pt x="1802" y="186"/>
                  <a:pt x="1802" y="181"/>
                </a:cubicBezTo>
                <a:cubicBezTo>
                  <a:pt x="1795" y="183"/>
                  <a:pt x="1791" y="168"/>
                  <a:pt x="1787" y="175"/>
                </a:cubicBezTo>
                <a:cubicBezTo>
                  <a:pt x="1786" y="174"/>
                  <a:pt x="1785" y="173"/>
                  <a:pt x="1784" y="171"/>
                </a:cubicBezTo>
                <a:cubicBezTo>
                  <a:pt x="1791" y="169"/>
                  <a:pt x="1798" y="167"/>
                  <a:pt x="1807" y="170"/>
                </a:cubicBezTo>
                <a:cubicBezTo>
                  <a:pt x="1811" y="171"/>
                  <a:pt x="1810" y="167"/>
                  <a:pt x="1813" y="166"/>
                </a:cubicBezTo>
                <a:cubicBezTo>
                  <a:pt x="1809" y="165"/>
                  <a:pt x="1799" y="165"/>
                  <a:pt x="1796" y="160"/>
                </a:cubicBezTo>
                <a:cubicBezTo>
                  <a:pt x="1792" y="161"/>
                  <a:pt x="1798" y="163"/>
                  <a:pt x="1795" y="165"/>
                </a:cubicBezTo>
                <a:cubicBezTo>
                  <a:pt x="1790" y="164"/>
                  <a:pt x="1789" y="158"/>
                  <a:pt x="1785" y="156"/>
                </a:cubicBezTo>
                <a:cubicBezTo>
                  <a:pt x="1786" y="153"/>
                  <a:pt x="1794" y="155"/>
                  <a:pt x="1794" y="157"/>
                </a:cubicBezTo>
                <a:cubicBezTo>
                  <a:pt x="1797" y="156"/>
                  <a:pt x="1792" y="152"/>
                  <a:pt x="1792" y="149"/>
                </a:cubicBezTo>
                <a:cubicBezTo>
                  <a:pt x="1786" y="150"/>
                  <a:pt x="1783" y="154"/>
                  <a:pt x="1776" y="154"/>
                </a:cubicBezTo>
                <a:cubicBezTo>
                  <a:pt x="1773" y="145"/>
                  <a:pt x="1765" y="149"/>
                  <a:pt x="1764" y="140"/>
                </a:cubicBezTo>
                <a:cubicBezTo>
                  <a:pt x="1757" y="142"/>
                  <a:pt x="1752" y="138"/>
                  <a:pt x="1745" y="138"/>
                </a:cubicBezTo>
                <a:cubicBezTo>
                  <a:pt x="1741" y="150"/>
                  <a:pt x="1751" y="155"/>
                  <a:pt x="1746" y="172"/>
                </a:cubicBezTo>
                <a:cubicBezTo>
                  <a:pt x="1753" y="168"/>
                  <a:pt x="1756" y="180"/>
                  <a:pt x="1765" y="175"/>
                </a:cubicBezTo>
                <a:cubicBezTo>
                  <a:pt x="1764" y="174"/>
                  <a:pt x="1762" y="174"/>
                  <a:pt x="1762" y="171"/>
                </a:cubicBezTo>
                <a:cubicBezTo>
                  <a:pt x="1763" y="170"/>
                  <a:pt x="1763" y="168"/>
                  <a:pt x="1765" y="168"/>
                </a:cubicBezTo>
                <a:cubicBezTo>
                  <a:pt x="1770" y="169"/>
                  <a:pt x="1765" y="174"/>
                  <a:pt x="1768" y="176"/>
                </a:cubicBezTo>
                <a:cubicBezTo>
                  <a:pt x="1775" y="176"/>
                  <a:pt x="1780" y="177"/>
                  <a:pt x="1784" y="179"/>
                </a:cubicBezTo>
                <a:cubicBezTo>
                  <a:pt x="1782" y="184"/>
                  <a:pt x="1771" y="182"/>
                  <a:pt x="1767" y="182"/>
                </a:cubicBezTo>
                <a:cubicBezTo>
                  <a:pt x="1762" y="184"/>
                  <a:pt x="1770" y="184"/>
                  <a:pt x="1771" y="185"/>
                </a:cubicBezTo>
                <a:cubicBezTo>
                  <a:pt x="1768" y="189"/>
                  <a:pt x="1769" y="195"/>
                  <a:pt x="1763" y="197"/>
                </a:cubicBezTo>
                <a:cubicBezTo>
                  <a:pt x="1758" y="198"/>
                  <a:pt x="1754" y="188"/>
                  <a:pt x="1753" y="197"/>
                </a:cubicBezTo>
                <a:cubicBezTo>
                  <a:pt x="1749" y="195"/>
                  <a:pt x="1747" y="190"/>
                  <a:pt x="1740" y="191"/>
                </a:cubicBezTo>
                <a:cubicBezTo>
                  <a:pt x="1739" y="196"/>
                  <a:pt x="1743" y="195"/>
                  <a:pt x="1743" y="199"/>
                </a:cubicBezTo>
                <a:cubicBezTo>
                  <a:pt x="1755" y="199"/>
                  <a:pt x="1757" y="212"/>
                  <a:pt x="1772" y="212"/>
                </a:cubicBezTo>
                <a:cubicBezTo>
                  <a:pt x="1767" y="208"/>
                  <a:pt x="1778" y="205"/>
                  <a:pt x="1782" y="208"/>
                </a:cubicBezTo>
                <a:cubicBezTo>
                  <a:pt x="1782" y="212"/>
                  <a:pt x="1782" y="217"/>
                  <a:pt x="1776" y="216"/>
                </a:cubicBezTo>
                <a:cubicBezTo>
                  <a:pt x="1776" y="234"/>
                  <a:pt x="1800" y="224"/>
                  <a:pt x="1811" y="230"/>
                </a:cubicBezTo>
                <a:cubicBezTo>
                  <a:pt x="1811" y="231"/>
                  <a:pt x="1811" y="232"/>
                  <a:pt x="1810" y="232"/>
                </a:cubicBezTo>
                <a:cubicBezTo>
                  <a:pt x="1823" y="240"/>
                  <a:pt x="1850" y="239"/>
                  <a:pt x="1863" y="237"/>
                </a:cubicBezTo>
                <a:close/>
                <a:moveTo>
                  <a:pt x="1788" y="193"/>
                </a:moveTo>
                <a:cubicBezTo>
                  <a:pt x="1796" y="192"/>
                  <a:pt x="1797" y="198"/>
                  <a:pt x="1800" y="202"/>
                </a:cubicBezTo>
                <a:cubicBezTo>
                  <a:pt x="1793" y="207"/>
                  <a:pt x="1791" y="196"/>
                  <a:pt x="1788" y="193"/>
                </a:cubicBezTo>
                <a:close/>
                <a:moveTo>
                  <a:pt x="1805" y="220"/>
                </a:moveTo>
                <a:cubicBezTo>
                  <a:pt x="1804" y="218"/>
                  <a:pt x="1800" y="220"/>
                  <a:pt x="1801" y="215"/>
                </a:cubicBezTo>
                <a:cubicBezTo>
                  <a:pt x="1804" y="214"/>
                  <a:pt x="1809" y="218"/>
                  <a:pt x="1805" y="220"/>
                </a:cubicBezTo>
                <a:close/>
                <a:moveTo>
                  <a:pt x="1837" y="229"/>
                </a:moveTo>
                <a:cubicBezTo>
                  <a:pt x="1836" y="230"/>
                  <a:pt x="1837" y="232"/>
                  <a:pt x="1835" y="233"/>
                </a:cubicBezTo>
                <a:cubicBezTo>
                  <a:pt x="1836" y="229"/>
                  <a:pt x="1828" y="234"/>
                  <a:pt x="1830" y="229"/>
                </a:cubicBezTo>
                <a:lnTo>
                  <a:pt x="1837" y="229"/>
                </a:lnTo>
                <a:close/>
                <a:moveTo>
                  <a:pt x="1739" y="217"/>
                </a:moveTo>
                <a:cubicBezTo>
                  <a:pt x="1739" y="220"/>
                  <a:pt x="1731" y="221"/>
                  <a:pt x="1731" y="218"/>
                </a:cubicBezTo>
                <a:cubicBezTo>
                  <a:pt x="1727" y="223"/>
                  <a:pt x="1739" y="222"/>
                  <a:pt x="1737" y="230"/>
                </a:cubicBezTo>
                <a:cubicBezTo>
                  <a:pt x="1741" y="232"/>
                  <a:pt x="1741" y="230"/>
                  <a:pt x="1746" y="230"/>
                </a:cubicBezTo>
                <a:cubicBezTo>
                  <a:pt x="1744" y="228"/>
                  <a:pt x="1745" y="228"/>
                  <a:pt x="1746" y="226"/>
                </a:cubicBezTo>
                <a:cubicBezTo>
                  <a:pt x="1749" y="226"/>
                  <a:pt x="1749" y="225"/>
                  <a:pt x="1751" y="224"/>
                </a:cubicBezTo>
                <a:cubicBezTo>
                  <a:pt x="1753" y="227"/>
                  <a:pt x="1755" y="229"/>
                  <a:pt x="1761" y="228"/>
                </a:cubicBezTo>
                <a:cubicBezTo>
                  <a:pt x="1755" y="225"/>
                  <a:pt x="1762" y="221"/>
                  <a:pt x="1763" y="217"/>
                </a:cubicBezTo>
                <a:cubicBezTo>
                  <a:pt x="1760" y="217"/>
                  <a:pt x="1755" y="211"/>
                  <a:pt x="1748" y="215"/>
                </a:cubicBezTo>
                <a:cubicBezTo>
                  <a:pt x="1747" y="213"/>
                  <a:pt x="1749" y="212"/>
                  <a:pt x="1751" y="212"/>
                </a:cubicBezTo>
                <a:cubicBezTo>
                  <a:pt x="1741" y="210"/>
                  <a:pt x="1732" y="210"/>
                  <a:pt x="1731" y="201"/>
                </a:cubicBezTo>
                <a:cubicBezTo>
                  <a:pt x="1718" y="202"/>
                  <a:pt x="1731" y="215"/>
                  <a:pt x="1739" y="217"/>
                </a:cubicBezTo>
                <a:close/>
                <a:moveTo>
                  <a:pt x="1305" y="239"/>
                </a:moveTo>
                <a:cubicBezTo>
                  <a:pt x="1308" y="239"/>
                  <a:pt x="1307" y="242"/>
                  <a:pt x="1311" y="241"/>
                </a:cubicBezTo>
                <a:cubicBezTo>
                  <a:pt x="1311" y="239"/>
                  <a:pt x="1310" y="236"/>
                  <a:pt x="1312" y="236"/>
                </a:cubicBezTo>
                <a:cubicBezTo>
                  <a:pt x="1310" y="234"/>
                  <a:pt x="1307" y="232"/>
                  <a:pt x="1305" y="231"/>
                </a:cubicBezTo>
                <a:cubicBezTo>
                  <a:pt x="1302" y="228"/>
                  <a:pt x="1309" y="235"/>
                  <a:pt x="1305" y="239"/>
                </a:cubicBezTo>
                <a:close/>
                <a:moveTo>
                  <a:pt x="1500" y="230"/>
                </a:moveTo>
                <a:cubicBezTo>
                  <a:pt x="1497" y="225"/>
                  <a:pt x="1489" y="226"/>
                  <a:pt x="1486" y="225"/>
                </a:cubicBezTo>
                <a:cubicBezTo>
                  <a:pt x="1486" y="229"/>
                  <a:pt x="1493" y="228"/>
                  <a:pt x="1500" y="230"/>
                </a:cubicBezTo>
                <a:close/>
                <a:moveTo>
                  <a:pt x="1836" y="192"/>
                </a:moveTo>
                <a:cubicBezTo>
                  <a:pt x="1835" y="188"/>
                  <a:pt x="1831" y="189"/>
                  <a:pt x="1831" y="184"/>
                </a:cubicBezTo>
                <a:cubicBezTo>
                  <a:pt x="1826" y="185"/>
                  <a:pt x="1830" y="191"/>
                  <a:pt x="1828" y="191"/>
                </a:cubicBezTo>
                <a:cubicBezTo>
                  <a:pt x="1828" y="194"/>
                  <a:pt x="1833" y="192"/>
                  <a:pt x="1832" y="195"/>
                </a:cubicBezTo>
                <a:cubicBezTo>
                  <a:pt x="1834" y="195"/>
                  <a:pt x="1833" y="193"/>
                  <a:pt x="1832" y="194"/>
                </a:cubicBezTo>
                <a:cubicBezTo>
                  <a:pt x="1832" y="192"/>
                  <a:pt x="1835" y="192"/>
                  <a:pt x="1836" y="192"/>
                </a:cubicBezTo>
                <a:close/>
                <a:moveTo>
                  <a:pt x="578" y="232"/>
                </a:moveTo>
                <a:cubicBezTo>
                  <a:pt x="574" y="232"/>
                  <a:pt x="574" y="235"/>
                  <a:pt x="574" y="239"/>
                </a:cubicBezTo>
                <a:cubicBezTo>
                  <a:pt x="577" y="239"/>
                  <a:pt x="578" y="240"/>
                  <a:pt x="579" y="241"/>
                </a:cubicBezTo>
                <a:cubicBezTo>
                  <a:pt x="580" y="240"/>
                  <a:pt x="580" y="236"/>
                  <a:pt x="578" y="232"/>
                </a:cubicBezTo>
                <a:close/>
                <a:moveTo>
                  <a:pt x="1373" y="206"/>
                </a:moveTo>
                <a:cubicBezTo>
                  <a:pt x="1377" y="205"/>
                  <a:pt x="1374" y="197"/>
                  <a:pt x="1379" y="196"/>
                </a:cubicBezTo>
                <a:cubicBezTo>
                  <a:pt x="1376" y="193"/>
                  <a:pt x="1372" y="201"/>
                  <a:pt x="1373" y="206"/>
                </a:cubicBezTo>
                <a:close/>
                <a:moveTo>
                  <a:pt x="1671" y="166"/>
                </a:moveTo>
                <a:cubicBezTo>
                  <a:pt x="1673" y="160"/>
                  <a:pt x="1660" y="159"/>
                  <a:pt x="1660" y="151"/>
                </a:cubicBezTo>
                <a:cubicBezTo>
                  <a:pt x="1657" y="154"/>
                  <a:pt x="1653" y="157"/>
                  <a:pt x="1648" y="158"/>
                </a:cubicBezTo>
                <a:cubicBezTo>
                  <a:pt x="1650" y="165"/>
                  <a:pt x="1656" y="166"/>
                  <a:pt x="1663" y="166"/>
                </a:cubicBezTo>
                <a:cubicBezTo>
                  <a:pt x="1664" y="164"/>
                  <a:pt x="1662" y="164"/>
                  <a:pt x="1662" y="162"/>
                </a:cubicBezTo>
                <a:cubicBezTo>
                  <a:pt x="1664" y="164"/>
                  <a:pt x="1669" y="163"/>
                  <a:pt x="1671" y="166"/>
                </a:cubicBezTo>
                <a:close/>
                <a:moveTo>
                  <a:pt x="697" y="199"/>
                </a:moveTo>
                <a:cubicBezTo>
                  <a:pt x="702" y="196"/>
                  <a:pt x="695" y="192"/>
                  <a:pt x="694" y="190"/>
                </a:cubicBezTo>
                <a:cubicBezTo>
                  <a:pt x="691" y="192"/>
                  <a:pt x="698" y="196"/>
                  <a:pt x="697" y="199"/>
                </a:cubicBezTo>
                <a:close/>
                <a:moveTo>
                  <a:pt x="1098" y="155"/>
                </a:moveTo>
                <a:cubicBezTo>
                  <a:pt x="1100" y="160"/>
                  <a:pt x="1093" y="160"/>
                  <a:pt x="1090" y="158"/>
                </a:cubicBezTo>
                <a:cubicBezTo>
                  <a:pt x="1089" y="153"/>
                  <a:pt x="1095" y="156"/>
                  <a:pt x="1093" y="152"/>
                </a:cubicBezTo>
                <a:cubicBezTo>
                  <a:pt x="1085" y="146"/>
                  <a:pt x="1079" y="147"/>
                  <a:pt x="1068" y="144"/>
                </a:cubicBezTo>
                <a:cubicBezTo>
                  <a:pt x="1061" y="166"/>
                  <a:pt x="1087" y="170"/>
                  <a:pt x="1103" y="173"/>
                </a:cubicBezTo>
                <a:cubicBezTo>
                  <a:pt x="1103" y="168"/>
                  <a:pt x="1099" y="165"/>
                  <a:pt x="1097" y="160"/>
                </a:cubicBezTo>
                <a:cubicBezTo>
                  <a:pt x="1097" y="157"/>
                  <a:pt x="1103" y="159"/>
                  <a:pt x="1105" y="158"/>
                </a:cubicBezTo>
                <a:cubicBezTo>
                  <a:pt x="1106" y="154"/>
                  <a:pt x="1101" y="156"/>
                  <a:pt x="1098" y="155"/>
                </a:cubicBezTo>
                <a:close/>
                <a:moveTo>
                  <a:pt x="1358" y="167"/>
                </a:moveTo>
                <a:cubicBezTo>
                  <a:pt x="1355" y="160"/>
                  <a:pt x="1347" y="162"/>
                  <a:pt x="1337" y="160"/>
                </a:cubicBezTo>
                <a:cubicBezTo>
                  <a:pt x="1333" y="158"/>
                  <a:pt x="1335" y="157"/>
                  <a:pt x="1332" y="152"/>
                </a:cubicBezTo>
                <a:cubicBezTo>
                  <a:pt x="1330" y="153"/>
                  <a:pt x="1328" y="152"/>
                  <a:pt x="1328" y="150"/>
                </a:cubicBezTo>
                <a:cubicBezTo>
                  <a:pt x="1323" y="153"/>
                  <a:pt x="1318" y="148"/>
                  <a:pt x="1318" y="154"/>
                </a:cubicBezTo>
                <a:cubicBezTo>
                  <a:pt x="1316" y="154"/>
                  <a:pt x="1316" y="151"/>
                  <a:pt x="1316" y="149"/>
                </a:cubicBezTo>
                <a:cubicBezTo>
                  <a:pt x="1311" y="153"/>
                  <a:pt x="1311" y="146"/>
                  <a:pt x="1305" y="149"/>
                </a:cubicBezTo>
                <a:cubicBezTo>
                  <a:pt x="1307" y="152"/>
                  <a:pt x="1310" y="154"/>
                  <a:pt x="1314" y="154"/>
                </a:cubicBezTo>
                <a:cubicBezTo>
                  <a:pt x="1313" y="158"/>
                  <a:pt x="1312" y="161"/>
                  <a:pt x="1313" y="165"/>
                </a:cubicBezTo>
                <a:cubicBezTo>
                  <a:pt x="1319" y="167"/>
                  <a:pt x="1318" y="161"/>
                  <a:pt x="1323" y="162"/>
                </a:cubicBezTo>
                <a:cubicBezTo>
                  <a:pt x="1327" y="163"/>
                  <a:pt x="1322" y="164"/>
                  <a:pt x="1325" y="166"/>
                </a:cubicBezTo>
                <a:cubicBezTo>
                  <a:pt x="1337" y="161"/>
                  <a:pt x="1345" y="173"/>
                  <a:pt x="1358" y="167"/>
                </a:cubicBezTo>
                <a:close/>
                <a:moveTo>
                  <a:pt x="1397" y="143"/>
                </a:moveTo>
                <a:cubicBezTo>
                  <a:pt x="1396" y="138"/>
                  <a:pt x="1391" y="137"/>
                  <a:pt x="1387" y="135"/>
                </a:cubicBezTo>
                <a:cubicBezTo>
                  <a:pt x="1388" y="133"/>
                  <a:pt x="1385" y="128"/>
                  <a:pt x="1388" y="128"/>
                </a:cubicBezTo>
                <a:cubicBezTo>
                  <a:pt x="1378" y="127"/>
                  <a:pt x="1388" y="149"/>
                  <a:pt x="1397" y="143"/>
                </a:cubicBezTo>
                <a:close/>
                <a:moveTo>
                  <a:pt x="1324" y="105"/>
                </a:moveTo>
                <a:cubicBezTo>
                  <a:pt x="1325" y="101"/>
                  <a:pt x="1329" y="107"/>
                  <a:pt x="1330" y="104"/>
                </a:cubicBezTo>
                <a:cubicBezTo>
                  <a:pt x="1324" y="102"/>
                  <a:pt x="1322" y="100"/>
                  <a:pt x="1315" y="102"/>
                </a:cubicBezTo>
                <a:cubicBezTo>
                  <a:pt x="1316" y="108"/>
                  <a:pt x="1326" y="106"/>
                  <a:pt x="1331" y="109"/>
                </a:cubicBezTo>
                <a:cubicBezTo>
                  <a:pt x="1332" y="104"/>
                  <a:pt x="1325" y="108"/>
                  <a:pt x="1324" y="105"/>
                </a:cubicBezTo>
                <a:close/>
                <a:moveTo>
                  <a:pt x="1196" y="91"/>
                </a:moveTo>
                <a:cubicBezTo>
                  <a:pt x="1183" y="81"/>
                  <a:pt x="1162" y="90"/>
                  <a:pt x="1148" y="78"/>
                </a:cubicBezTo>
                <a:cubicBezTo>
                  <a:pt x="1143" y="81"/>
                  <a:pt x="1152" y="82"/>
                  <a:pt x="1151" y="86"/>
                </a:cubicBezTo>
                <a:cubicBezTo>
                  <a:pt x="1166" y="82"/>
                  <a:pt x="1168" y="97"/>
                  <a:pt x="1181" y="99"/>
                </a:cubicBezTo>
                <a:cubicBezTo>
                  <a:pt x="1178" y="96"/>
                  <a:pt x="1183" y="93"/>
                  <a:pt x="1178" y="91"/>
                </a:cubicBezTo>
                <a:cubicBezTo>
                  <a:pt x="1178" y="90"/>
                  <a:pt x="1179" y="90"/>
                  <a:pt x="1179" y="89"/>
                </a:cubicBezTo>
                <a:cubicBezTo>
                  <a:pt x="1187" y="93"/>
                  <a:pt x="1187" y="90"/>
                  <a:pt x="1196" y="91"/>
                </a:cubicBezTo>
                <a:close/>
                <a:moveTo>
                  <a:pt x="1019" y="80"/>
                </a:moveTo>
                <a:cubicBezTo>
                  <a:pt x="1017" y="85"/>
                  <a:pt x="1025" y="80"/>
                  <a:pt x="1025" y="83"/>
                </a:cubicBezTo>
                <a:cubicBezTo>
                  <a:pt x="1028" y="87"/>
                  <a:pt x="1025" y="76"/>
                  <a:pt x="1019" y="80"/>
                </a:cubicBezTo>
                <a:close/>
                <a:moveTo>
                  <a:pt x="979" y="75"/>
                </a:moveTo>
                <a:cubicBezTo>
                  <a:pt x="980" y="78"/>
                  <a:pt x="982" y="72"/>
                  <a:pt x="985" y="73"/>
                </a:cubicBezTo>
                <a:cubicBezTo>
                  <a:pt x="981" y="71"/>
                  <a:pt x="980" y="65"/>
                  <a:pt x="971" y="67"/>
                </a:cubicBezTo>
                <a:cubicBezTo>
                  <a:pt x="973" y="70"/>
                  <a:pt x="982" y="71"/>
                  <a:pt x="979" y="75"/>
                </a:cubicBezTo>
                <a:close/>
                <a:moveTo>
                  <a:pt x="1022" y="52"/>
                </a:moveTo>
                <a:cubicBezTo>
                  <a:pt x="1021" y="46"/>
                  <a:pt x="1012" y="48"/>
                  <a:pt x="1011" y="41"/>
                </a:cubicBezTo>
                <a:cubicBezTo>
                  <a:pt x="1012" y="37"/>
                  <a:pt x="1014" y="42"/>
                  <a:pt x="1016" y="40"/>
                </a:cubicBezTo>
                <a:cubicBezTo>
                  <a:pt x="1015" y="34"/>
                  <a:pt x="1006" y="41"/>
                  <a:pt x="1004" y="42"/>
                </a:cubicBezTo>
                <a:cubicBezTo>
                  <a:pt x="1006" y="50"/>
                  <a:pt x="1014" y="51"/>
                  <a:pt x="1022" y="52"/>
                </a:cubicBezTo>
                <a:close/>
                <a:moveTo>
                  <a:pt x="996" y="17"/>
                </a:moveTo>
                <a:cubicBezTo>
                  <a:pt x="994" y="14"/>
                  <a:pt x="990" y="19"/>
                  <a:pt x="989" y="16"/>
                </a:cubicBezTo>
                <a:cubicBezTo>
                  <a:pt x="985" y="17"/>
                  <a:pt x="993" y="18"/>
                  <a:pt x="991" y="21"/>
                </a:cubicBezTo>
                <a:cubicBezTo>
                  <a:pt x="995" y="21"/>
                  <a:pt x="997" y="21"/>
                  <a:pt x="996" y="17"/>
                </a:cubicBezTo>
                <a:close/>
                <a:moveTo>
                  <a:pt x="3113" y="709"/>
                </a:moveTo>
                <a:cubicBezTo>
                  <a:pt x="3114" y="707"/>
                  <a:pt x="3116" y="706"/>
                  <a:pt x="3116" y="703"/>
                </a:cubicBezTo>
                <a:cubicBezTo>
                  <a:pt x="3111" y="704"/>
                  <a:pt x="3108" y="702"/>
                  <a:pt x="3105" y="700"/>
                </a:cubicBezTo>
                <a:cubicBezTo>
                  <a:pt x="3101" y="700"/>
                  <a:pt x="3101" y="703"/>
                  <a:pt x="3097" y="704"/>
                </a:cubicBezTo>
                <a:cubicBezTo>
                  <a:pt x="3100" y="690"/>
                  <a:pt x="3100" y="679"/>
                  <a:pt x="3111" y="674"/>
                </a:cubicBezTo>
                <a:cubicBezTo>
                  <a:pt x="3103" y="667"/>
                  <a:pt x="3102" y="653"/>
                  <a:pt x="3096" y="645"/>
                </a:cubicBezTo>
                <a:cubicBezTo>
                  <a:pt x="3099" y="640"/>
                  <a:pt x="3107" y="641"/>
                  <a:pt x="3108" y="635"/>
                </a:cubicBezTo>
                <a:cubicBezTo>
                  <a:pt x="3099" y="637"/>
                  <a:pt x="3104" y="624"/>
                  <a:pt x="3099" y="623"/>
                </a:cubicBezTo>
                <a:cubicBezTo>
                  <a:pt x="3102" y="620"/>
                  <a:pt x="3109" y="622"/>
                  <a:pt x="3114" y="621"/>
                </a:cubicBezTo>
                <a:cubicBezTo>
                  <a:pt x="3112" y="614"/>
                  <a:pt x="3093" y="608"/>
                  <a:pt x="3092" y="616"/>
                </a:cubicBezTo>
                <a:cubicBezTo>
                  <a:pt x="3084" y="612"/>
                  <a:pt x="3080" y="610"/>
                  <a:pt x="3073" y="608"/>
                </a:cubicBezTo>
                <a:cubicBezTo>
                  <a:pt x="3072" y="605"/>
                  <a:pt x="3073" y="604"/>
                  <a:pt x="3075" y="604"/>
                </a:cubicBezTo>
                <a:cubicBezTo>
                  <a:pt x="3074" y="599"/>
                  <a:pt x="3067" y="602"/>
                  <a:pt x="3064" y="600"/>
                </a:cubicBezTo>
                <a:cubicBezTo>
                  <a:pt x="3063" y="604"/>
                  <a:pt x="3065" y="604"/>
                  <a:pt x="3063" y="607"/>
                </a:cubicBezTo>
                <a:cubicBezTo>
                  <a:pt x="3054" y="607"/>
                  <a:pt x="3054" y="607"/>
                  <a:pt x="3054" y="607"/>
                </a:cubicBezTo>
                <a:cubicBezTo>
                  <a:pt x="3052" y="604"/>
                  <a:pt x="3059" y="603"/>
                  <a:pt x="3055" y="602"/>
                </a:cubicBezTo>
                <a:cubicBezTo>
                  <a:pt x="3047" y="602"/>
                  <a:pt x="3052" y="613"/>
                  <a:pt x="3053" y="617"/>
                </a:cubicBezTo>
                <a:cubicBezTo>
                  <a:pt x="3045" y="618"/>
                  <a:pt x="3046" y="610"/>
                  <a:pt x="3039" y="611"/>
                </a:cubicBezTo>
                <a:cubicBezTo>
                  <a:pt x="3039" y="606"/>
                  <a:pt x="3046" y="608"/>
                  <a:pt x="3046" y="604"/>
                </a:cubicBezTo>
                <a:cubicBezTo>
                  <a:pt x="3035" y="602"/>
                  <a:pt x="3027" y="597"/>
                  <a:pt x="3017" y="595"/>
                </a:cubicBezTo>
                <a:cubicBezTo>
                  <a:pt x="3016" y="592"/>
                  <a:pt x="3019" y="592"/>
                  <a:pt x="3018" y="589"/>
                </a:cubicBezTo>
                <a:cubicBezTo>
                  <a:pt x="3013" y="587"/>
                  <a:pt x="3010" y="583"/>
                  <a:pt x="3007" y="580"/>
                </a:cubicBezTo>
                <a:cubicBezTo>
                  <a:pt x="3010" y="579"/>
                  <a:pt x="3019" y="577"/>
                  <a:pt x="3021" y="576"/>
                </a:cubicBezTo>
                <a:cubicBezTo>
                  <a:pt x="3025" y="573"/>
                  <a:pt x="3018" y="569"/>
                  <a:pt x="3016" y="568"/>
                </a:cubicBezTo>
                <a:cubicBezTo>
                  <a:pt x="3018" y="565"/>
                  <a:pt x="3021" y="563"/>
                  <a:pt x="3026" y="563"/>
                </a:cubicBezTo>
                <a:cubicBezTo>
                  <a:pt x="3024" y="561"/>
                  <a:pt x="3022" y="559"/>
                  <a:pt x="3019" y="557"/>
                </a:cubicBezTo>
                <a:cubicBezTo>
                  <a:pt x="3022" y="555"/>
                  <a:pt x="3020" y="553"/>
                  <a:pt x="3021" y="547"/>
                </a:cubicBezTo>
                <a:cubicBezTo>
                  <a:pt x="3040" y="538"/>
                  <a:pt x="3052" y="529"/>
                  <a:pt x="3075" y="527"/>
                </a:cubicBezTo>
                <a:cubicBezTo>
                  <a:pt x="3071" y="522"/>
                  <a:pt x="3061" y="517"/>
                  <a:pt x="3055" y="518"/>
                </a:cubicBezTo>
                <a:cubicBezTo>
                  <a:pt x="3053" y="514"/>
                  <a:pt x="3060" y="517"/>
                  <a:pt x="3058" y="512"/>
                </a:cubicBezTo>
                <a:cubicBezTo>
                  <a:pt x="3047" y="507"/>
                  <a:pt x="3033" y="513"/>
                  <a:pt x="3025" y="508"/>
                </a:cubicBezTo>
                <a:cubicBezTo>
                  <a:pt x="3036" y="503"/>
                  <a:pt x="3047" y="497"/>
                  <a:pt x="3061" y="495"/>
                </a:cubicBezTo>
                <a:cubicBezTo>
                  <a:pt x="3062" y="490"/>
                  <a:pt x="3057" y="491"/>
                  <a:pt x="3053" y="491"/>
                </a:cubicBezTo>
                <a:cubicBezTo>
                  <a:pt x="3052" y="487"/>
                  <a:pt x="3060" y="492"/>
                  <a:pt x="3058" y="487"/>
                </a:cubicBezTo>
                <a:cubicBezTo>
                  <a:pt x="3046" y="490"/>
                  <a:pt x="3031" y="485"/>
                  <a:pt x="3037" y="470"/>
                </a:cubicBezTo>
                <a:cubicBezTo>
                  <a:pt x="3027" y="458"/>
                  <a:pt x="3010" y="459"/>
                  <a:pt x="2995" y="452"/>
                </a:cubicBezTo>
                <a:cubicBezTo>
                  <a:pt x="3000" y="444"/>
                  <a:pt x="2993" y="434"/>
                  <a:pt x="3001" y="430"/>
                </a:cubicBezTo>
                <a:cubicBezTo>
                  <a:pt x="2991" y="417"/>
                  <a:pt x="2959" y="421"/>
                  <a:pt x="2956" y="437"/>
                </a:cubicBezTo>
                <a:cubicBezTo>
                  <a:pt x="2952" y="437"/>
                  <a:pt x="2948" y="437"/>
                  <a:pt x="2946" y="439"/>
                </a:cubicBezTo>
                <a:cubicBezTo>
                  <a:pt x="2942" y="438"/>
                  <a:pt x="2941" y="434"/>
                  <a:pt x="2942" y="428"/>
                </a:cubicBezTo>
                <a:cubicBezTo>
                  <a:pt x="2910" y="421"/>
                  <a:pt x="2874" y="436"/>
                  <a:pt x="2844" y="433"/>
                </a:cubicBezTo>
                <a:cubicBezTo>
                  <a:pt x="2833" y="439"/>
                  <a:pt x="2818" y="442"/>
                  <a:pt x="2817" y="458"/>
                </a:cubicBezTo>
                <a:cubicBezTo>
                  <a:pt x="2817" y="461"/>
                  <a:pt x="2814" y="461"/>
                  <a:pt x="2812" y="462"/>
                </a:cubicBezTo>
                <a:cubicBezTo>
                  <a:pt x="2810" y="467"/>
                  <a:pt x="2816" y="470"/>
                  <a:pt x="2812" y="472"/>
                </a:cubicBezTo>
                <a:cubicBezTo>
                  <a:pt x="2815" y="480"/>
                  <a:pt x="2835" y="473"/>
                  <a:pt x="2830" y="485"/>
                </a:cubicBezTo>
                <a:cubicBezTo>
                  <a:pt x="2823" y="483"/>
                  <a:pt x="2816" y="481"/>
                  <a:pt x="2813" y="481"/>
                </a:cubicBezTo>
                <a:cubicBezTo>
                  <a:pt x="2815" y="491"/>
                  <a:pt x="2827" y="489"/>
                  <a:pt x="2828" y="500"/>
                </a:cubicBezTo>
                <a:cubicBezTo>
                  <a:pt x="2836" y="500"/>
                  <a:pt x="2834" y="493"/>
                  <a:pt x="2839" y="491"/>
                </a:cubicBezTo>
                <a:cubicBezTo>
                  <a:pt x="2845" y="498"/>
                  <a:pt x="2849" y="500"/>
                  <a:pt x="2859" y="496"/>
                </a:cubicBezTo>
                <a:cubicBezTo>
                  <a:pt x="2850" y="494"/>
                  <a:pt x="2852" y="491"/>
                  <a:pt x="2847" y="483"/>
                </a:cubicBezTo>
                <a:cubicBezTo>
                  <a:pt x="2849" y="479"/>
                  <a:pt x="2856" y="483"/>
                  <a:pt x="2858" y="485"/>
                </a:cubicBezTo>
                <a:cubicBezTo>
                  <a:pt x="2866" y="475"/>
                  <a:pt x="2881" y="482"/>
                  <a:pt x="2894" y="479"/>
                </a:cubicBezTo>
                <a:cubicBezTo>
                  <a:pt x="2896" y="483"/>
                  <a:pt x="2898" y="488"/>
                  <a:pt x="2901" y="491"/>
                </a:cubicBezTo>
                <a:cubicBezTo>
                  <a:pt x="2900" y="499"/>
                  <a:pt x="2894" y="501"/>
                  <a:pt x="2885" y="503"/>
                </a:cubicBezTo>
                <a:cubicBezTo>
                  <a:pt x="2886" y="508"/>
                  <a:pt x="2886" y="512"/>
                  <a:pt x="2885" y="516"/>
                </a:cubicBezTo>
                <a:cubicBezTo>
                  <a:pt x="2890" y="515"/>
                  <a:pt x="2897" y="514"/>
                  <a:pt x="2898" y="521"/>
                </a:cubicBezTo>
                <a:cubicBezTo>
                  <a:pt x="2907" y="519"/>
                  <a:pt x="2911" y="522"/>
                  <a:pt x="2919" y="525"/>
                </a:cubicBezTo>
                <a:cubicBezTo>
                  <a:pt x="2920" y="529"/>
                  <a:pt x="2916" y="528"/>
                  <a:pt x="2915" y="530"/>
                </a:cubicBezTo>
                <a:cubicBezTo>
                  <a:pt x="2917" y="533"/>
                  <a:pt x="2918" y="538"/>
                  <a:pt x="2920" y="542"/>
                </a:cubicBezTo>
                <a:cubicBezTo>
                  <a:pt x="2929" y="541"/>
                  <a:pt x="2929" y="541"/>
                  <a:pt x="2929" y="541"/>
                </a:cubicBezTo>
                <a:cubicBezTo>
                  <a:pt x="2928" y="546"/>
                  <a:pt x="2924" y="548"/>
                  <a:pt x="2920" y="550"/>
                </a:cubicBezTo>
                <a:cubicBezTo>
                  <a:pt x="2927" y="550"/>
                  <a:pt x="2942" y="559"/>
                  <a:pt x="2929" y="566"/>
                </a:cubicBezTo>
                <a:cubicBezTo>
                  <a:pt x="2920" y="562"/>
                  <a:pt x="2919" y="559"/>
                  <a:pt x="2917" y="550"/>
                </a:cubicBezTo>
                <a:cubicBezTo>
                  <a:pt x="2911" y="550"/>
                  <a:pt x="2911" y="550"/>
                  <a:pt x="2911" y="550"/>
                </a:cubicBezTo>
                <a:cubicBezTo>
                  <a:pt x="2910" y="553"/>
                  <a:pt x="2911" y="557"/>
                  <a:pt x="2912" y="558"/>
                </a:cubicBezTo>
                <a:cubicBezTo>
                  <a:pt x="2899" y="561"/>
                  <a:pt x="2887" y="558"/>
                  <a:pt x="2882" y="570"/>
                </a:cubicBezTo>
                <a:cubicBezTo>
                  <a:pt x="2874" y="567"/>
                  <a:pt x="2873" y="557"/>
                  <a:pt x="2865" y="555"/>
                </a:cubicBezTo>
                <a:cubicBezTo>
                  <a:pt x="2863" y="557"/>
                  <a:pt x="2856" y="555"/>
                  <a:pt x="2857" y="559"/>
                </a:cubicBezTo>
                <a:cubicBezTo>
                  <a:pt x="2861" y="560"/>
                  <a:pt x="2861" y="557"/>
                  <a:pt x="2865" y="558"/>
                </a:cubicBezTo>
                <a:cubicBezTo>
                  <a:pt x="2867" y="561"/>
                  <a:pt x="2865" y="566"/>
                  <a:pt x="2872" y="567"/>
                </a:cubicBezTo>
                <a:cubicBezTo>
                  <a:pt x="2872" y="571"/>
                  <a:pt x="2865" y="568"/>
                  <a:pt x="2865" y="572"/>
                </a:cubicBezTo>
                <a:cubicBezTo>
                  <a:pt x="2865" y="581"/>
                  <a:pt x="2875" y="580"/>
                  <a:pt x="2879" y="583"/>
                </a:cubicBezTo>
                <a:cubicBezTo>
                  <a:pt x="2881" y="588"/>
                  <a:pt x="2874" y="586"/>
                  <a:pt x="2873" y="590"/>
                </a:cubicBezTo>
                <a:cubicBezTo>
                  <a:pt x="2868" y="589"/>
                  <a:pt x="2866" y="584"/>
                  <a:pt x="2859" y="585"/>
                </a:cubicBezTo>
                <a:cubicBezTo>
                  <a:pt x="2864" y="590"/>
                  <a:pt x="2863" y="590"/>
                  <a:pt x="2861" y="597"/>
                </a:cubicBezTo>
                <a:cubicBezTo>
                  <a:pt x="2869" y="605"/>
                  <a:pt x="2880" y="603"/>
                  <a:pt x="2891" y="608"/>
                </a:cubicBezTo>
                <a:cubicBezTo>
                  <a:pt x="2887" y="613"/>
                  <a:pt x="2875" y="607"/>
                  <a:pt x="2871" y="610"/>
                </a:cubicBezTo>
                <a:cubicBezTo>
                  <a:pt x="2867" y="609"/>
                  <a:pt x="2872" y="607"/>
                  <a:pt x="2871" y="605"/>
                </a:cubicBezTo>
                <a:cubicBezTo>
                  <a:pt x="2867" y="604"/>
                  <a:pt x="2865" y="607"/>
                  <a:pt x="2864" y="610"/>
                </a:cubicBezTo>
                <a:cubicBezTo>
                  <a:pt x="2865" y="614"/>
                  <a:pt x="2869" y="615"/>
                  <a:pt x="2870" y="618"/>
                </a:cubicBezTo>
                <a:cubicBezTo>
                  <a:pt x="2860" y="623"/>
                  <a:pt x="2849" y="624"/>
                  <a:pt x="2842" y="617"/>
                </a:cubicBezTo>
                <a:cubicBezTo>
                  <a:pt x="2841" y="614"/>
                  <a:pt x="2847" y="616"/>
                  <a:pt x="2848" y="615"/>
                </a:cubicBezTo>
                <a:cubicBezTo>
                  <a:pt x="2848" y="611"/>
                  <a:pt x="2841" y="614"/>
                  <a:pt x="2843" y="607"/>
                </a:cubicBezTo>
                <a:cubicBezTo>
                  <a:pt x="2835" y="608"/>
                  <a:pt x="2835" y="608"/>
                  <a:pt x="2835" y="608"/>
                </a:cubicBezTo>
                <a:cubicBezTo>
                  <a:pt x="2834" y="613"/>
                  <a:pt x="2837" y="613"/>
                  <a:pt x="2834" y="616"/>
                </a:cubicBezTo>
                <a:cubicBezTo>
                  <a:pt x="2834" y="620"/>
                  <a:pt x="2838" y="622"/>
                  <a:pt x="2837" y="628"/>
                </a:cubicBezTo>
                <a:cubicBezTo>
                  <a:pt x="2830" y="628"/>
                  <a:pt x="2828" y="624"/>
                  <a:pt x="2824" y="622"/>
                </a:cubicBezTo>
                <a:cubicBezTo>
                  <a:pt x="2827" y="619"/>
                  <a:pt x="2831" y="617"/>
                  <a:pt x="2832" y="613"/>
                </a:cubicBezTo>
                <a:cubicBezTo>
                  <a:pt x="2824" y="612"/>
                  <a:pt x="2814" y="612"/>
                  <a:pt x="2813" y="603"/>
                </a:cubicBezTo>
                <a:cubicBezTo>
                  <a:pt x="2803" y="604"/>
                  <a:pt x="2803" y="604"/>
                  <a:pt x="2803" y="604"/>
                </a:cubicBezTo>
                <a:cubicBezTo>
                  <a:pt x="2803" y="606"/>
                  <a:pt x="2805" y="606"/>
                  <a:pt x="2805" y="609"/>
                </a:cubicBezTo>
                <a:cubicBezTo>
                  <a:pt x="2789" y="611"/>
                  <a:pt x="2768" y="607"/>
                  <a:pt x="2754" y="615"/>
                </a:cubicBezTo>
                <a:cubicBezTo>
                  <a:pt x="2757" y="621"/>
                  <a:pt x="2765" y="626"/>
                  <a:pt x="2770" y="624"/>
                </a:cubicBezTo>
                <a:cubicBezTo>
                  <a:pt x="2773" y="620"/>
                  <a:pt x="2769" y="619"/>
                  <a:pt x="2773" y="616"/>
                </a:cubicBezTo>
                <a:cubicBezTo>
                  <a:pt x="2776" y="616"/>
                  <a:pt x="2788" y="621"/>
                  <a:pt x="2778" y="622"/>
                </a:cubicBezTo>
                <a:cubicBezTo>
                  <a:pt x="2780" y="625"/>
                  <a:pt x="2787" y="623"/>
                  <a:pt x="2788" y="626"/>
                </a:cubicBezTo>
                <a:cubicBezTo>
                  <a:pt x="2785" y="629"/>
                  <a:pt x="2779" y="628"/>
                  <a:pt x="2780" y="634"/>
                </a:cubicBezTo>
                <a:cubicBezTo>
                  <a:pt x="2774" y="635"/>
                  <a:pt x="2774" y="628"/>
                  <a:pt x="2767" y="631"/>
                </a:cubicBezTo>
                <a:cubicBezTo>
                  <a:pt x="2770" y="636"/>
                  <a:pt x="2776" y="637"/>
                  <a:pt x="2775" y="643"/>
                </a:cubicBezTo>
                <a:cubicBezTo>
                  <a:pt x="2767" y="645"/>
                  <a:pt x="2760" y="648"/>
                  <a:pt x="2755" y="654"/>
                </a:cubicBezTo>
                <a:cubicBezTo>
                  <a:pt x="2750" y="654"/>
                  <a:pt x="2750" y="649"/>
                  <a:pt x="2744" y="650"/>
                </a:cubicBezTo>
                <a:cubicBezTo>
                  <a:pt x="2743" y="651"/>
                  <a:pt x="2741" y="652"/>
                  <a:pt x="2739" y="654"/>
                </a:cubicBezTo>
                <a:cubicBezTo>
                  <a:pt x="2740" y="666"/>
                  <a:pt x="2759" y="659"/>
                  <a:pt x="2760" y="672"/>
                </a:cubicBezTo>
                <a:cubicBezTo>
                  <a:pt x="2770" y="671"/>
                  <a:pt x="2770" y="671"/>
                  <a:pt x="2770" y="671"/>
                </a:cubicBezTo>
                <a:cubicBezTo>
                  <a:pt x="2769" y="670"/>
                  <a:pt x="2768" y="669"/>
                  <a:pt x="2768" y="667"/>
                </a:cubicBezTo>
                <a:cubicBezTo>
                  <a:pt x="2774" y="666"/>
                  <a:pt x="2773" y="671"/>
                  <a:pt x="2777" y="672"/>
                </a:cubicBezTo>
                <a:cubicBezTo>
                  <a:pt x="2782" y="673"/>
                  <a:pt x="2783" y="670"/>
                  <a:pt x="2789" y="671"/>
                </a:cubicBezTo>
                <a:cubicBezTo>
                  <a:pt x="2788" y="669"/>
                  <a:pt x="2787" y="667"/>
                  <a:pt x="2786" y="665"/>
                </a:cubicBezTo>
                <a:cubicBezTo>
                  <a:pt x="2806" y="678"/>
                  <a:pt x="2842" y="668"/>
                  <a:pt x="2859" y="670"/>
                </a:cubicBezTo>
                <a:cubicBezTo>
                  <a:pt x="2858" y="667"/>
                  <a:pt x="2862" y="668"/>
                  <a:pt x="2862" y="666"/>
                </a:cubicBezTo>
                <a:cubicBezTo>
                  <a:pt x="2899" y="662"/>
                  <a:pt x="2940" y="668"/>
                  <a:pt x="2978" y="661"/>
                </a:cubicBezTo>
                <a:cubicBezTo>
                  <a:pt x="2982" y="661"/>
                  <a:pt x="2983" y="664"/>
                  <a:pt x="2986" y="666"/>
                </a:cubicBezTo>
                <a:cubicBezTo>
                  <a:pt x="3011" y="662"/>
                  <a:pt x="3020" y="675"/>
                  <a:pt x="3044" y="671"/>
                </a:cubicBezTo>
                <a:cubicBezTo>
                  <a:pt x="3045" y="677"/>
                  <a:pt x="3037" y="675"/>
                  <a:pt x="3038" y="681"/>
                </a:cubicBezTo>
                <a:cubicBezTo>
                  <a:pt x="3035" y="681"/>
                  <a:pt x="3036" y="677"/>
                  <a:pt x="3033" y="679"/>
                </a:cubicBezTo>
                <a:cubicBezTo>
                  <a:pt x="3026" y="689"/>
                  <a:pt x="3037" y="704"/>
                  <a:pt x="3050" y="695"/>
                </a:cubicBezTo>
                <a:cubicBezTo>
                  <a:pt x="3048" y="693"/>
                  <a:pt x="3045" y="691"/>
                  <a:pt x="3039" y="692"/>
                </a:cubicBezTo>
                <a:cubicBezTo>
                  <a:pt x="3038" y="686"/>
                  <a:pt x="3039" y="683"/>
                  <a:pt x="3041" y="680"/>
                </a:cubicBezTo>
                <a:cubicBezTo>
                  <a:pt x="3047" y="679"/>
                  <a:pt x="3050" y="682"/>
                  <a:pt x="3053" y="678"/>
                </a:cubicBezTo>
                <a:cubicBezTo>
                  <a:pt x="3055" y="678"/>
                  <a:pt x="3052" y="679"/>
                  <a:pt x="3053" y="682"/>
                </a:cubicBezTo>
                <a:cubicBezTo>
                  <a:pt x="3056" y="681"/>
                  <a:pt x="3060" y="677"/>
                  <a:pt x="3062" y="680"/>
                </a:cubicBezTo>
                <a:cubicBezTo>
                  <a:pt x="3064" y="687"/>
                  <a:pt x="3058" y="688"/>
                  <a:pt x="3058" y="694"/>
                </a:cubicBezTo>
                <a:cubicBezTo>
                  <a:pt x="3063" y="694"/>
                  <a:pt x="3066" y="691"/>
                  <a:pt x="3072" y="692"/>
                </a:cubicBezTo>
                <a:cubicBezTo>
                  <a:pt x="3072" y="696"/>
                  <a:pt x="3070" y="697"/>
                  <a:pt x="3070" y="701"/>
                </a:cubicBezTo>
                <a:cubicBezTo>
                  <a:pt x="3062" y="702"/>
                  <a:pt x="3056" y="698"/>
                  <a:pt x="3053" y="705"/>
                </a:cubicBezTo>
                <a:cubicBezTo>
                  <a:pt x="3051" y="705"/>
                  <a:pt x="3052" y="701"/>
                  <a:pt x="3050" y="701"/>
                </a:cubicBezTo>
                <a:cubicBezTo>
                  <a:pt x="3044" y="702"/>
                  <a:pt x="3047" y="706"/>
                  <a:pt x="3047" y="709"/>
                </a:cubicBezTo>
                <a:lnTo>
                  <a:pt x="3113" y="709"/>
                </a:lnTo>
                <a:close/>
                <a:moveTo>
                  <a:pt x="2790" y="642"/>
                </a:moveTo>
                <a:cubicBezTo>
                  <a:pt x="2787" y="641"/>
                  <a:pt x="2782" y="642"/>
                  <a:pt x="2783" y="637"/>
                </a:cubicBezTo>
                <a:cubicBezTo>
                  <a:pt x="2787" y="637"/>
                  <a:pt x="2791" y="637"/>
                  <a:pt x="2790" y="642"/>
                </a:cubicBezTo>
                <a:close/>
                <a:moveTo>
                  <a:pt x="3006" y="509"/>
                </a:moveTo>
                <a:cubicBezTo>
                  <a:pt x="3006" y="504"/>
                  <a:pt x="3018" y="505"/>
                  <a:pt x="3018" y="510"/>
                </a:cubicBezTo>
                <a:cubicBezTo>
                  <a:pt x="3013" y="511"/>
                  <a:pt x="3012" y="508"/>
                  <a:pt x="3006" y="509"/>
                </a:cubicBezTo>
                <a:close/>
                <a:moveTo>
                  <a:pt x="2912" y="514"/>
                </a:moveTo>
                <a:cubicBezTo>
                  <a:pt x="2916" y="512"/>
                  <a:pt x="2916" y="506"/>
                  <a:pt x="2921" y="504"/>
                </a:cubicBezTo>
                <a:cubicBezTo>
                  <a:pt x="2922" y="504"/>
                  <a:pt x="2930" y="508"/>
                  <a:pt x="2933" y="503"/>
                </a:cubicBezTo>
                <a:cubicBezTo>
                  <a:pt x="2936" y="515"/>
                  <a:pt x="2919" y="520"/>
                  <a:pt x="2912" y="514"/>
                </a:cubicBezTo>
                <a:close/>
                <a:moveTo>
                  <a:pt x="2957" y="510"/>
                </a:moveTo>
                <a:cubicBezTo>
                  <a:pt x="2953" y="510"/>
                  <a:pt x="2953" y="510"/>
                  <a:pt x="2953" y="510"/>
                </a:cubicBezTo>
                <a:cubicBezTo>
                  <a:pt x="2954" y="504"/>
                  <a:pt x="2941" y="512"/>
                  <a:pt x="2941" y="505"/>
                </a:cubicBezTo>
                <a:cubicBezTo>
                  <a:pt x="2945" y="500"/>
                  <a:pt x="2950" y="505"/>
                  <a:pt x="2957" y="503"/>
                </a:cubicBezTo>
                <a:cubicBezTo>
                  <a:pt x="2957" y="508"/>
                  <a:pt x="2960" y="507"/>
                  <a:pt x="2957" y="510"/>
                </a:cubicBezTo>
                <a:close/>
                <a:moveTo>
                  <a:pt x="2968" y="543"/>
                </a:moveTo>
                <a:cubicBezTo>
                  <a:pt x="2969" y="550"/>
                  <a:pt x="2969" y="550"/>
                  <a:pt x="2969" y="550"/>
                </a:cubicBezTo>
                <a:cubicBezTo>
                  <a:pt x="2967" y="552"/>
                  <a:pt x="2959" y="553"/>
                  <a:pt x="2959" y="549"/>
                </a:cubicBezTo>
                <a:cubicBezTo>
                  <a:pt x="2961" y="549"/>
                  <a:pt x="2963" y="549"/>
                  <a:pt x="2963" y="548"/>
                </a:cubicBezTo>
                <a:cubicBezTo>
                  <a:pt x="2955" y="547"/>
                  <a:pt x="2947" y="547"/>
                  <a:pt x="2941" y="543"/>
                </a:cubicBezTo>
                <a:cubicBezTo>
                  <a:pt x="2951" y="546"/>
                  <a:pt x="2958" y="542"/>
                  <a:pt x="2968" y="543"/>
                </a:cubicBezTo>
                <a:close/>
                <a:moveTo>
                  <a:pt x="2973" y="559"/>
                </a:moveTo>
                <a:cubicBezTo>
                  <a:pt x="2969" y="561"/>
                  <a:pt x="2970" y="558"/>
                  <a:pt x="2966" y="558"/>
                </a:cubicBezTo>
                <a:cubicBezTo>
                  <a:pt x="2965" y="554"/>
                  <a:pt x="2976" y="554"/>
                  <a:pt x="2973" y="559"/>
                </a:cubicBezTo>
                <a:close/>
                <a:moveTo>
                  <a:pt x="2974" y="507"/>
                </a:moveTo>
                <a:cubicBezTo>
                  <a:pt x="2970" y="509"/>
                  <a:pt x="2963" y="512"/>
                  <a:pt x="2961" y="506"/>
                </a:cubicBezTo>
                <a:cubicBezTo>
                  <a:pt x="2964" y="503"/>
                  <a:pt x="2972" y="503"/>
                  <a:pt x="2974" y="507"/>
                </a:cubicBezTo>
                <a:close/>
                <a:moveTo>
                  <a:pt x="2987" y="567"/>
                </a:moveTo>
                <a:cubicBezTo>
                  <a:pt x="2982" y="566"/>
                  <a:pt x="2984" y="571"/>
                  <a:pt x="2982" y="573"/>
                </a:cubicBezTo>
                <a:cubicBezTo>
                  <a:pt x="2974" y="570"/>
                  <a:pt x="2972" y="571"/>
                  <a:pt x="2964" y="568"/>
                </a:cubicBezTo>
                <a:cubicBezTo>
                  <a:pt x="2969" y="563"/>
                  <a:pt x="2982" y="560"/>
                  <a:pt x="2987" y="567"/>
                </a:cubicBezTo>
                <a:close/>
                <a:moveTo>
                  <a:pt x="2994" y="567"/>
                </a:moveTo>
                <a:cubicBezTo>
                  <a:pt x="2992" y="567"/>
                  <a:pt x="2992" y="568"/>
                  <a:pt x="2990" y="568"/>
                </a:cubicBezTo>
                <a:cubicBezTo>
                  <a:pt x="2989" y="566"/>
                  <a:pt x="2988" y="566"/>
                  <a:pt x="2988" y="563"/>
                </a:cubicBezTo>
                <a:cubicBezTo>
                  <a:pt x="2992" y="562"/>
                  <a:pt x="2993" y="565"/>
                  <a:pt x="2994" y="567"/>
                </a:cubicBezTo>
                <a:close/>
                <a:moveTo>
                  <a:pt x="3003" y="588"/>
                </a:moveTo>
                <a:cubicBezTo>
                  <a:pt x="2994" y="590"/>
                  <a:pt x="2986" y="590"/>
                  <a:pt x="2980" y="592"/>
                </a:cubicBezTo>
                <a:cubicBezTo>
                  <a:pt x="2981" y="594"/>
                  <a:pt x="2984" y="594"/>
                  <a:pt x="2984" y="597"/>
                </a:cubicBezTo>
                <a:cubicBezTo>
                  <a:pt x="2979" y="601"/>
                  <a:pt x="2970" y="603"/>
                  <a:pt x="2968" y="595"/>
                </a:cubicBezTo>
                <a:cubicBezTo>
                  <a:pt x="2973" y="584"/>
                  <a:pt x="2989" y="576"/>
                  <a:pt x="3003" y="581"/>
                </a:cubicBezTo>
                <a:cubicBezTo>
                  <a:pt x="2996" y="582"/>
                  <a:pt x="3004" y="585"/>
                  <a:pt x="3003" y="588"/>
                </a:cubicBezTo>
                <a:close/>
                <a:moveTo>
                  <a:pt x="3047" y="671"/>
                </a:moveTo>
                <a:cubicBezTo>
                  <a:pt x="3053" y="672"/>
                  <a:pt x="3052" y="671"/>
                  <a:pt x="3058" y="671"/>
                </a:cubicBezTo>
                <a:cubicBezTo>
                  <a:pt x="3058" y="677"/>
                  <a:pt x="3048" y="675"/>
                  <a:pt x="3047" y="671"/>
                </a:cubicBezTo>
                <a:close/>
                <a:moveTo>
                  <a:pt x="3057" y="625"/>
                </a:moveTo>
                <a:cubicBezTo>
                  <a:pt x="3055" y="632"/>
                  <a:pt x="3047" y="633"/>
                  <a:pt x="3048" y="640"/>
                </a:cubicBezTo>
                <a:cubicBezTo>
                  <a:pt x="3045" y="642"/>
                  <a:pt x="3040" y="642"/>
                  <a:pt x="3035" y="642"/>
                </a:cubicBezTo>
                <a:cubicBezTo>
                  <a:pt x="3032" y="643"/>
                  <a:pt x="3036" y="649"/>
                  <a:pt x="3033" y="650"/>
                </a:cubicBezTo>
                <a:cubicBezTo>
                  <a:pt x="3031" y="643"/>
                  <a:pt x="3021" y="645"/>
                  <a:pt x="3019" y="637"/>
                </a:cubicBezTo>
                <a:cubicBezTo>
                  <a:pt x="3035" y="634"/>
                  <a:pt x="3041" y="628"/>
                  <a:pt x="3057" y="625"/>
                </a:cubicBezTo>
                <a:close/>
                <a:moveTo>
                  <a:pt x="2603" y="709"/>
                </a:moveTo>
                <a:cubicBezTo>
                  <a:pt x="2604" y="707"/>
                  <a:pt x="2606" y="705"/>
                  <a:pt x="2606" y="703"/>
                </a:cubicBezTo>
                <a:cubicBezTo>
                  <a:pt x="2603" y="697"/>
                  <a:pt x="2590" y="697"/>
                  <a:pt x="2586" y="704"/>
                </a:cubicBezTo>
                <a:cubicBezTo>
                  <a:pt x="2577" y="701"/>
                  <a:pt x="2563" y="696"/>
                  <a:pt x="2556" y="704"/>
                </a:cubicBezTo>
                <a:cubicBezTo>
                  <a:pt x="2559" y="705"/>
                  <a:pt x="2562" y="707"/>
                  <a:pt x="2565" y="709"/>
                </a:cubicBezTo>
                <a:lnTo>
                  <a:pt x="2603" y="709"/>
                </a:lnTo>
                <a:close/>
                <a:moveTo>
                  <a:pt x="2689" y="676"/>
                </a:moveTo>
                <a:cubicBezTo>
                  <a:pt x="2693" y="669"/>
                  <a:pt x="2704" y="684"/>
                  <a:pt x="2708" y="677"/>
                </a:cubicBezTo>
                <a:cubicBezTo>
                  <a:pt x="2702" y="675"/>
                  <a:pt x="2698" y="672"/>
                  <a:pt x="2696" y="665"/>
                </a:cubicBezTo>
                <a:cubicBezTo>
                  <a:pt x="2687" y="664"/>
                  <a:pt x="2677" y="669"/>
                  <a:pt x="2675" y="662"/>
                </a:cubicBezTo>
                <a:cubicBezTo>
                  <a:pt x="2670" y="665"/>
                  <a:pt x="2673" y="673"/>
                  <a:pt x="2671" y="678"/>
                </a:cubicBezTo>
                <a:cubicBezTo>
                  <a:pt x="2667" y="686"/>
                  <a:pt x="2656" y="684"/>
                  <a:pt x="2654" y="677"/>
                </a:cubicBezTo>
                <a:cubicBezTo>
                  <a:pt x="2650" y="677"/>
                  <a:pt x="2650" y="680"/>
                  <a:pt x="2650" y="684"/>
                </a:cubicBezTo>
                <a:cubicBezTo>
                  <a:pt x="2654" y="686"/>
                  <a:pt x="2663" y="683"/>
                  <a:pt x="2664" y="690"/>
                </a:cubicBezTo>
                <a:cubicBezTo>
                  <a:pt x="2677" y="689"/>
                  <a:pt x="2689" y="686"/>
                  <a:pt x="2700" y="685"/>
                </a:cubicBezTo>
                <a:cubicBezTo>
                  <a:pt x="2697" y="682"/>
                  <a:pt x="2693" y="679"/>
                  <a:pt x="2689" y="676"/>
                </a:cubicBezTo>
                <a:close/>
                <a:moveTo>
                  <a:pt x="2462" y="636"/>
                </a:moveTo>
                <a:cubicBezTo>
                  <a:pt x="2458" y="643"/>
                  <a:pt x="2451" y="636"/>
                  <a:pt x="2444" y="641"/>
                </a:cubicBezTo>
                <a:cubicBezTo>
                  <a:pt x="2444" y="648"/>
                  <a:pt x="2463" y="648"/>
                  <a:pt x="2460" y="642"/>
                </a:cubicBezTo>
                <a:cubicBezTo>
                  <a:pt x="2463" y="642"/>
                  <a:pt x="2458" y="646"/>
                  <a:pt x="2464" y="644"/>
                </a:cubicBezTo>
                <a:cubicBezTo>
                  <a:pt x="2465" y="640"/>
                  <a:pt x="2462" y="641"/>
                  <a:pt x="2462" y="636"/>
                </a:cubicBezTo>
                <a:close/>
                <a:moveTo>
                  <a:pt x="2061" y="619"/>
                </a:moveTo>
                <a:cubicBezTo>
                  <a:pt x="2059" y="606"/>
                  <a:pt x="2034" y="602"/>
                  <a:pt x="2027" y="612"/>
                </a:cubicBezTo>
                <a:cubicBezTo>
                  <a:pt x="2028" y="629"/>
                  <a:pt x="2054" y="623"/>
                  <a:pt x="2061" y="619"/>
                </a:cubicBezTo>
                <a:close/>
                <a:moveTo>
                  <a:pt x="2738" y="558"/>
                </a:moveTo>
                <a:cubicBezTo>
                  <a:pt x="2737" y="551"/>
                  <a:pt x="2732" y="546"/>
                  <a:pt x="2734" y="540"/>
                </a:cubicBezTo>
                <a:cubicBezTo>
                  <a:pt x="2727" y="539"/>
                  <a:pt x="2726" y="529"/>
                  <a:pt x="2715" y="532"/>
                </a:cubicBezTo>
                <a:cubicBezTo>
                  <a:pt x="2716" y="547"/>
                  <a:pt x="2705" y="553"/>
                  <a:pt x="2696" y="554"/>
                </a:cubicBezTo>
                <a:cubicBezTo>
                  <a:pt x="2700" y="561"/>
                  <a:pt x="2694" y="562"/>
                  <a:pt x="2691" y="565"/>
                </a:cubicBezTo>
                <a:cubicBezTo>
                  <a:pt x="2692" y="569"/>
                  <a:pt x="2698" y="562"/>
                  <a:pt x="2699" y="568"/>
                </a:cubicBezTo>
                <a:cubicBezTo>
                  <a:pt x="2703" y="567"/>
                  <a:pt x="2699" y="565"/>
                  <a:pt x="2704" y="563"/>
                </a:cubicBezTo>
                <a:cubicBezTo>
                  <a:pt x="2705" y="560"/>
                  <a:pt x="2701" y="562"/>
                  <a:pt x="2701" y="559"/>
                </a:cubicBezTo>
                <a:cubicBezTo>
                  <a:pt x="2711" y="555"/>
                  <a:pt x="2714" y="559"/>
                  <a:pt x="2711" y="564"/>
                </a:cubicBezTo>
                <a:cubicBezTo>
                  <a:pt x="2713" y="566"/>
                  <a:pt x="2720" y="563"/>
                  <a:pt x="2720" y="559"/>
                </a:cubicBezTo>
                <a:cubicBezTo>
                  <a:pt x="2726" y="562"/>
                  <a:pt x="2731" y="555"/>
                  <a:pt x="2738" y="558"/>
                </a:cubicBezTo>
                <a:close/>
                <a:moveTo>
                  <a:pt x="2672" y="553"/>
                </a:moveTo>
                <a:cubicBezTo>
                  <a:pt x="2672" y="550"/>
                  <a:pt x="2674" y="550"/>
                  <a:pt x="2676" y="550"/>
                </a:cubicBezTo>
                <a:cubicBezTo>
                  <a:pt x="2675" y="546"/>
                  <a:pt x="2668" y="551"/>
                  <a:pt x="2668" y="546"/>
                </a:cubicBezTo>
                <a:cubicBezTo>
                  <a:pt x="2668" y="543"/>
                  <a:pt x="2673" y="543"/>
                  <a:pt x="2676" y="543"/>
                </a:cubicBezTo>
                <a:cubicBezTo>
                  <a:pt x="2675" y="541"/>
                  <a:pt x="2675" y="538"/>
                  <a:pt x="2673" y="536"/>
                </a:cubicBezTo>
                <a:cubicBezTo>
                  <a:pt x="2663" y="540"/>
                  <a:pt x="2666" y="536"/>
                  <a:pt x="2655" y="536"/>
                </a:cubicBezTo>
                <a:cubicBezTo>
                  <a:pt x="2654" y="538"/>
                  <a:pt x="2652" y="540"/>
                  <a:pt x="2653" y="545"/>
                </a:cubicBezTo>
                <a:cubicBezTo>
                  <a:pt x="2648" y="546"/>
                  <a:pt x="2649" y="541"/>
                  <a:pt x="2647" y="537"/>
                </a:cubicBezTo>
                <a:cubicBezTo>
                  <a:pt x="2637" y="539"/>
                  <a:pt x="2634" y="528"/>
                  <a:pt x="2624" y="532"/>
                </a:cubicBezTo>
                <a:cubicBezTo>
                  <a:pt x="2627" y="544"/>
                  <a:pt x="2618" y="544"/>
                  <a:pt x="2614" y="552"/>
                </a:cubicBezTo>
                <a:cubicBezTo>
                  <a:pt x="2631" y="550"/>
                  <a:pt x="2648" y="556"/>
                  <a:pt x="2666" y="550"/>
                </a:cubicBezTo>
                <a:cubicBezTo>
                  <a:pt x="2661" y="552"/>
                  <a:pt x="2661" y="555"/>
                  <a:pt x="2661" y="559"/>
                </a:cubicBezTo>
                <a:cubicBezTo>
                  <a:pt x="2654" y="560"/>
                  <a:pt x="2662" y="555"/>
                  <a:pt x="2658" y="555"/>
                </a:cubicBezTo>
                <a:cubicBezTo>
                  <a:pt x="2654" y="555"/>
                  <a:pt x="2654" y="559"/>
                  <a:pt x="2653" y="562"/>
                </a:cubicBezTo>
                <a:cubicBezTo>
                  <a:pt x="2647" y="561"/>
                  <a:pt x="2639" y="557"/>
                  <a:pt x="2639" y="565"/>
                </a:cubicBezTo>
                <a:cubicBezTo>
                  <a:pt x="2652" y="564"/>
                  <a:pt x="2661" y="568"/>
                  <a:pt x="2667" y="579"/>
                </a:cubicBezTo>
                <a:cubicBezTo>
                  <a:pt x="2672" y="576"/>
                  <a:pt x="2681" y="577"/>
                  <a:pt x="2688" y="576"/>
                </a:cubicBezTo>
                <a:cubicBezTo>
                  <a:pt x="2689" y="568"/>
                  <a:pt x="2681" y="560"/>
                  <a:pt x="2687" y="556"/>
                </a:cubicBezTo>
                <a:cubicBezTo>
                  <a:pt x="2681" y="557"/>
                  <a:pt x="2678" y="553"/>
                  <a:pt x="2672" y="553"/>
                </a:cubicBezTo>
                <a:close/>
                <a:moveTo>
                  <a:pt x="589" y="380"/>
                </a:moveTo>
                <a:cubicBezTo>
                  <a:pt x="588" y="379"/>
                  <a:pt x="587" y="377"/>
                  <a:pt x="587" y="375"/>
                </a:cubicBezTo>
                <a:cubicBezTo>
                  <a:pt x="583" y="375"/>
                  <a:pt x="577" y="374"/>
                  <a:pt x="575" y="377"/>
                </a:cubicBezTo>
                <a:cubicBezTo>
                  <a:pt x="579" y="381"/>
                  <a:pt x="584" y="386"/>
                  <a:pt x="589" y="380"/>
                </a:cubicBezTo>
                <a:close/>
                <a:moveTo>
                  <a:pt x="647" y="284"/>
                </a:moveTo>
                <a:cubicBezTo>
                  <a:pt x="644" y="291"/>
                  <a:pt x="645" y="295"/>
                  <a:pt x="645" y="306"/>
                </a:cubicBezTo>
                <a:cubicBezTo>
                  <a:pt x="658" y="306"/>
                  <a:pt x="680" y="322"/>
                  <a:pt x="661" y="331"/>
                </a:cubicBezTo>
                <a:cubicBezTo>
                  <a:pt x="660" y="336"/>
                  <a:pt x="669" y="329"/>
                  <a:pt x="668" y="337"/>
                </a:cubicBezTo>
                <a:cubicBezTo>
                  <a:pt x="664" y="339"/>
                  <a:pt x="667" y="333"/>
                  <a:pt x="663" y="335"/>
                </a:cubicBezTo>
                <a:cubicBezTo>
                  <a:pt x="660" y="338"/>
                  <a:pt x="661" y="345"/>
                  <a:pt x="655" y="345"/>
                </a:cubicBezTo>
                <a:cubicBezTo>
                  <a:pt x="656" y="353"/>
                  <a:pt x="667" y="351"/>
                  <a:pt x="668" y="359"/>
                </a:cubicBezTo>
                <a:cubicBezTo>
                  <a:pt x="675" y="358"/>
                  <a:pt x="681" y="354"/>
                  <a:pt x="688" y="357"/>
                </a:cubicBezTo>
                <a:cubicBezTo>
                  <a:pt x="684" y="349"/>
                  <a:pt x="673" y="356"/>
                  <a:pt x="669" y="348"/>
                </a:cubicBezTo>
                <a:cubicBezTo>
                  <a:pt x="669" y="347"/>
                  <a:pt x="672" y="347"/>
                  <a:pt x="671" y="344"/>
                </a:cubicBezTo>
                <a:cubicBezTo>
                  <a:pt x="680" y="347"/>
                  <a:pt x="684" y="353"/>
                  <a:pt x="694" y="350"/>
                </a:cubicBezTo>
                <a:cubicBezTo>
                  <a:pt x="688" y="348"/>
                  <a:pt x="690" y="338"/>
                  <a:pt x="683" y="337"/>
                </a:cubicBezTo>
                <a:cubicBezTo>
                  <a:pt x="685" y="331"/>
                  <a:pt x="696" y="332"/>
                  <a:pt x="703" y="330"/>
                </a:cubicBezTo>
                <a:cubicBezTo>
                  <a:pt x="700" y="327"/>
                  <a:pt x="694" y="327"/>
                  <a:pt x="692" y="323"/>
                </a:cubicBezTo>
                <a:cubicBezTo>
                  <a:pt x="693" y="321"/>
                  <a:pt x="696" y="321"/>
                  <a:pt x="698" y="320"/>
                </a:cubicBezTo>
                <a:cubicBezTo>
                  <a:pt x="699" y="317"/>
                  <a:pt x="694" y="319"/>
                  <a:pt x="692" y="319"/>
                </a:cubicBezTo>
                <a:cubicBezTo>
                  <a:pt x="692" y="312"/>
                  <a:pt x="693" y="310"/>
                  <a:pt x="692" y="300"/>
                </a:cubicBezTo>
                <a:cubicBezTo>
                  <a:pt x="685" y="299"/>
                  <a:pt x="678" y="296"/>
                  <a:pt x="672" y="301"/>
                </a:cubicBezTo>
                <a:cubicBezTo>
                  <a:pt x="680" y="307"/>
                  <a:pt x="665" y="307"/>
                  <a:pt x="661" y="304"/>
                </a:cubicBezTo>
                <a:cubicBezTo>
                  <a:pt x="663" y="302"/>
                  <a:pt x="663" y="297"/>
                  <a:pt x="668" y="298"/>
                </a:cubicBezTo>
                <a:cubicBezTo>
                  <a:pt x="660" y="295"/>
                  <a:pt x="668" y="294"/>
                  <a:pt x="669" y="289"/>
                </a:cubicBezTo>
                <a:cubicBezTo>
                  <a:pt x="667" y="285"/>
                  <a:pt x="662" y="284"/>
                  <a:pt x="660" y="281"/>
                </a:cubicBezTo>
                <a:cubicBezTo>
                  <a:pt x="656" y="282"/>
                  <a:pt x="653" y="285"/>
                  <a:pt x="647" y="284"/>
                </a:cubicBezTo>
                <a:close/>
                <a:moveTo>
                  <a:pt x="863" y="285"/>
                </a:moveTo>
                <a:cubicBezTo>
                  <a:pt x="859" y="285"/>
                  <a:pt x="857" y="282"/>
                  <a:pt x="851" y="283"/>
                </a:cubicBezTo>
                <a:cubicBezTo>
                  <a:pt x="856" y="277"/>
                  <a:pt x="853" y="273"/>
                  <a:pt x="850" y="266"/>
                </a:cubicBezTo>
                <a:cubicBezTo>
                  <a:pt x="845" y="265"/>
                  <a:pt x="846" y="269"/>
                  <a:pt x="844" y="270"/>
                </a:cubicBezTo>
                <a:cubicBezTo>
                  <a:pt x="843" y="267"/>
                  <a:pt x="838" y="266"/>
                  <a:pt x="836" y="269"/>
                </a:cubicBezTo>
                <a:cubicBezTo>
                  <a:pt x="836" y="265"/>
                  <a:pt x="834" y="263"/>
                  <a:pt x="834" y="260"/>
                </a:cubicBezTo>
                <a:cubicBezTo>
                  <a:pt x="828" y="260"/>
                  <a:pt x="825" y="257"/>
                  <a:pt x="819" y="258"/>
                </a:cubicBezTo>
                <a:cubicBezTo>
                  <a:pt x="818" y="263"/>
                  <a:pt x="813" y="265"/>
                  <a:pt x="811" y="269"/>
                </a:cubicBezTo>
                <a:cubicBezTo>
                  <a:pt x="812" y="275"/>
                  <a:pt x="814" y="280"/>
                  <a:pt x="817" y="283"/>
                </a:cubicBezTo>
                <a:cubicBezTo>
                  <a:pt x="817" y="285"/>
                  <a:pt x="815" y="287"/>
                  <a:pt x="813" y="288"/>
                </a:cubicBezTo>
                <a:cubicBezTo>
                  <a:pt x="818" y="289"/>
                  <a:pt x="824" y="290"/>
                  <a:pt x="823" y="298"/>
                </a:cubicBezTo>
                <a:cubicBezTo>
                  <a:pt x="820" y="302"/>
                  <a:pt x="814" y="303"/>
                  <a:pt x="817" y="310"/>
                </a:cubicBezTo>
                <a:cubicBezTo>
                  <a:pt x="824" y="315"/>
                  <a:pt x="837" y="311"/>
                  <a:pt x="838" y="322"/>
                </a:cubicBezTo>
                <a:cubicBezTo>
                  <a:pt x="834" y="322"/>
                  <a:pt x="833" y="320"/>
                  <a:pt x="834" y="317"/>
                </a:cubicBezTo>
                <a:cubicBezTo>
                  <a:pt x="830" y="317"/>
                  <a:pt x="824" y="316"/>
                  <a:pt x="824" y="320"/>
                </a:cubicBezTo>
                <a:cubicBezTo>
                  <a:pt x="826" y="326"/>
                  <a:pt x="836" y="323"/>
                  <a:pt x="838" y="328"/>
                </a:cubicBezTo>
                <a:cubicBezTo>
                  <a:pt x="839" y="333"/>
                  <a:pt x="835" y="332"/>
                  <a:pt x="833" y="334"/>
                </a:cubicBezTo>
                <a:cubicBezTo>
                  <a:pt x="836" y="346"/>
                  <a:pt x="838" y="352"/>
                  <a:pt x="853" y="352"/>
                </a:cubicBezTo>
                <a:cubicBezTo>
                  <a:pt x="853" y="349"/>
                  <a:pt x="857" y="349"/>
                  <a:pt x="857" y="345"/>
                </a:cubicBezTo>
                <a:cubicBezTo>
                  <a:pt x="853" y="346"/>
                  <a:pt x="850" y="346"/>
                  <a:pt x="848" y="344"/>
                </a:cubicBezTo>
                <a:cubicBezTo>
                  <a:pt x="851" y="339"/>
                  <a:pt x="846" y="339"/>
                  <a:pt x="847" y="332"/>
                </a:cubicBezTo>
                <a:cubicBezTo>
                  <a:pt x="854" y="330"/>
                  <a:pt x="853" y="338"/>
                  <a:pt x="858" y="340"/>
                </a:cubicBezTo>
                <a:cubicBezTo>
                  <a:pt x="854" y="338"/>
                  <a:pt x="861" y="333"/>
                  <a:pt x="855" y="333"/>
                </a:cubicBezTo>
                <a:cubicBezTo>
                  <a:pt x="857" y="331"/>
                  <a:pt x="862" y="331"/>
                  <a:pt x="863" y="327"/>
                </a:cubicBezTo>
                <a:cubicBezTo>
                  <a:pt x="858" y="325"/>
                  <a:pt x="856" y="319"/>
                  <a:pt x="853" y="316"/>
                </a:cubicBezTo>
                <a:cubicBezTo>
                  <a:pt x="853" y="314"/>
                  <a:pt x="856" y="314"/>
                  <a:pt x="858" y="314"/>
                </a:cubicBezTo>
                <a:cubicBezTo>
                  <a:pt x="860" y="314"/>
                  <a:pt x="859" y="317"/>
                  <a:pt x="859" y="318"/>
                </a:cubicBezTo>
                <a:cubicBezTo>
                  <a:pt x="861" y="316"/>
                  <a:pt x="864" y="316"/>
                  <a:pt x="863" y="311"/>
                </a:cubicBezTo>
                <a:cubicBezTo>
                  <a:pt x="858" y="309"/>
                  <a:pt x="858" y="313"/>
                  <a:pt x="852" y="313"/>
                </a:cubicBezTo>
                <a:cubicBezTo>
                  <a:pt x="848" y="312"/>
                  <a:pt x="853" y="308"/>
                  <a:pt x="846" y="309"/>
                </a:cubicBezTo>
                <a:cubicBezTo>
                  <a:pt x="846" y="306"/>
                  <a:pt x="848" y="305"/>
                  <a:pt x="845" y="302"/>
                </a:cubicBezTo>
                <a:cubicBezTo>
                  <a:pt x="841" y="305"/>
                  <a:pt x="839" y="309"/>
                  <a:pt x="838" y="314"/>
                </a:cubicBezTo>
                <a:cubicBezTo>
                  <a:pt x="835" y="307"/>
                  <a:pt x="836" y="301"/>
                  <a:pt x="840" y="296"/>
                </a:cubicBezTo>
                <a:cubicBezTo>
                  <a:pt x="839" y="291"/>
                  <a:pt x="835" y="291"/>
                  <a:pt x="834" y="287"/>
                </a:cubicBezTo>
                <a:cubicBezTo>
                  <a:pt x="829" y="286"/>
                  <a:pt x="827" y="288"/>
                  <a:pt x="824" y="290"/>
                </a:cubicBezTo>
                <a:cubicBezTo>
                  <a:pt x="821" y="291"/>
                  <a:pt x="825" y="284"/>
                  <a:pt x="820" y="286"/>
                </a:cubicBezTo>
                <a:cubicBezTo>
                  <a:pt x="826" y="280"/>
                  <a:pt x="837" y="282"/>
                  <a:pt x="845" y="278"/>
                </a:cubicBezTo>
                <a:cubicBezTo>
                  <a:pt x="846" y="278"/>
                  <a:pt x="847" y="277"/>
                  <a:pt x="848" y="277"/>
                </a:cubicBezTo>
                <a:cubicBezTo>
                  <a:pt x="847" y="277"/>
                  <a:pt x="846" y="278"/>
                  <a:pt x="845" y="278"/>
                </a:cubicBezTo>
                <a:cubicBezTo>
                  <a:pt x="843" y="281"/>
                  <a:pt x="852" y="286"/>
                  <a:pt x="846" y="288"/>
                </a:cubicBezTo>
                <a:cubicBezTo>
                  <a:pt x="847" y="291"/>
                  <a:pt x="851" y="291"/>
                  <a:pt x="852" y="294"/>
                </a:cubicBezTo>
                <a:cubicBezTo>
                  <a:pt x="857" y="295"/>
                  <a:pt x="861" y="290"/>
                  <a:pt x="862" y="295"/>
                </a:cubicBezTo>
                <a:cubicBezTo>
                  <a:pt x="865" y="292"/>
                  <a:pt x="862" y="290"/>
                  <a:pt x="863" y="285"/>
                </a:cubicBezTo>
                <a:close/>
                <a:moveTo>
                  <a:pt x="825" y="305"/>
                </a:moveTo>
                <a:cubicBezTo>
                  <a:pt x="826" y="309"/>
                  <a:pt x="822" y="309"/>
                  <a:pt x="818" y="309"/>
                </a:cubicBezTo>
                <a:cubicBezTo>
                  <a:pt x="818" y="305"/>
                  <a:pt x="821" y="305"/>
                  <a:pt x="825" y="305"/>
                </a:cubicBezTo>
                <a:close/>
                <a:moveTo>
                  <a:pt x="871" y="272"/>
                </a:moveTo>
                <a:cubicBezTo>
                  <a:pt x="879" y="274"/>
                  <a:pt x="890" y="284"/>
                  <a:pt x="898" y="277"/>
                </a:cubicBezTo>
                <a:cubicBezTo>
                  <a:pt x="897" y="273"/>
                  <a:pt x="892" y="275"/>
                  <a:pt x="889" y="273"/>
                </a:cubicBezTo>
                <a:cubicBezTo>
                  <a:pt x="894" y="268"/>
                  <a:pt x="882" y="266"/>
                  <a:pt x="880" y="259"/>
                </a:cubicBezTo>
                <a:cubicBezTo>
                  <a:pt x="875" y="261"/>
                  <a:pt x="868" y="262"/>
                  <a:pt x="871" y="272"/>
                </a:cubicBezTo>
                <a:close/>
                <a:moveTo>
                  <a:pt x="1466" y="173"/>
                </a:moveTo>
                <a:cubicBezTo>
                  <a:pt x="1464" y="168"/>
                  <a:pt x="1444" y="170"/>
                  <a:pt x="1440" y="169"/>
                </a:cubicBezTo>
                <a:cubicBezTo>
                  <a:pt x="1438" y="151"/>
                  <a:pt x="1418" y="165"/>
                  <a:pt x="1415" y="150"/>
                </a:cubicBezTo>
                <a:cubicBezTo>
                  <a:pt x="1408" y="149"/>
                  <a:pt x="1405" y="150"/>
                  <a:pt x="1400" y="149"/>
                </a:cubicBezTo>
                <a:cubicBezTo>
                  <a:pt x="1403" y="155"/>
                  <a:pt x="1403" y="159"/>
                  <a:pt x="1409" y="164"/>
                </a:cubicBezTo>
                <a:cubicBezTo>
                  <a:pt x="1408" y="166"/>
                  <a:pt x="1403" y="166"/>
                  <a:pt x="1404" y="171"/>
                </a:cubicBezTo>
                <a:cubicBezTo>
                  <a:pt x="1423" y="173"/>
                  <a:pt x="1432" y="187"/>
                  <a:pt x="1445" y="196"/>
                </a:cubicBezTo>
                <a:cubicBezTo>
                  <a:pt x="1451" y="196"/>
                  <a:pt x="1446" y="195"/>
                  <a:pt x="1447" y="192"/>
                </a:cubicBezTo>
                <a:cubicBezTo>
                  <a:pt x="1455" y="195"/>
                  <a:pt x="1462" y="190"/>
                  <a:pt x="1472" y="195"/>
                </a:cubicBezTo>
                <a:cubicBezTo>
                  <a:pt x="1470" y="190"/>
                  <a:pt x="1478" y="194"/>
                  <a:pt x="1476" y="189"/>
                </a:cubicBezTo>
                <a:cubicBezTo>
                  <a:pt x="1465" y="186"/>
                  <a:pt x="1456" y="180"/>
                  <a:pt x="1444" y="176"/>
                </a:cubicBezTo>
                <a:cubicBezTo>
                  <a:pt x="1446" y="174"/>
                  <a:pt x="1462" y="175"/>
                  <a:pt x="1466" y="173"/>
                </a:cubicBezTo>
                <a:close/>
                <a:moveTo>
                  <a:pt x="673" y="196"/>
                </a:moveTo>
                <a:cubicBezTo>
                  <a:pt x="682" y="196"/>
                  <a:pt x="676" y="204"/>
                  <a:pt x="684" y="204"/>
                </a:cubicBezTo>
                <a:cubicBezTo>
                  <a:pt x="677" y="199"/>
                  <a:pt x="688" y="194"/>
                  <a:pt x="683" y="188"/>
                </a:cubicBezTo>
                <a:cubicBezTo>
                  <a:pt x="679" y="190"/>
                  <a:pt x="673" y="191"/>
                  <a:pt x="673" y="196"/>
                </a:cubicBezTo>
                <a:close/>
                <a:moveTo>
                  <a:pt x="1383" y="128"/>
                </a:moveTo>
                <a:cubicBezTo>
                  <a:pt x="1380" y="123"/>
                  <a:pt x="1361" y="113"/>
                  <a:pt x="1357" y="119"/>
                </a:cubicBezTo>
                <a:cubicBezTo>
                  <a:pt x="1355" y="118"/>
                  <a:pt x="1355" y="116"/>
                  <a:pt x="1355" y="115"/>
                </a:cubicBezTo>
                <a:cubicBezTo>
                  <a:pt x="1349" y="114"/>
                  <a:pt x="1346" y="118"/>
                  <a:pt x="1340" y="115"/>
                </a:cubicBezTo>
                <a:cubicBezTo>
                  <a:pt x="1340" y="120"/>
                  <a:pt x="1343" y="120"/>
                  <a:pt x="1342" y="125"/>
                </a:cubicBezTo>
                <a:cubicBezTo>
                  <a:pt x="1341" y="127"/>
                  <a:pt x="1335" y="126"/>
                  <a:pt x="1337" y="132"/>
                </a:cubicBezTo>
                <a:cubicBezTo>
                  <a:pt x="1330" y="133"/>
                  <a:pt x="1333" y="124"/>
                  <a:pt x="1326" y="127"/>
                </a:cubicBezTo>
                <a:cubicBezTo>
                  <a:pt x="1326" y="136"/>
                  <a:pt x="1326" y="136"/>
                  <a:pt x="1326" y="136"/>
                </a:cubicBezTo>
                <a:cubicBezTo>
                  <a:pt x="1334" y="136"/>
                  <a:pt x="1342" y="134"/>
                  <a:pt x="1347" y="139"/>
                </a:cubicBezTo>
                <a:cubicBezTo>
                  <a:pt x="1351" y="138"/>
                  <a:pt x="1351" y="135"/>
                  <a:pt x="1349" y="131"/>
                </a:cubicBezTo>
                <a:cubicBezTo>
                  <a:pt x="1361" y="129"/>
                  <a:pt x="1375" y="128"/>
                  <a:pt x="1381" y="139"/>
                </a:cubicBezTo>
                <a:cubicBezTo>
                  <a:pt x="1385" y="139"/>
                  <a:pt x="1379" y="128"/>
                  <a:pt x="1379" y="130"/>
                </a:cubicBezTo>
                <a:cubicBezTo>
                  <a:pt x="1379" y="129"/>
                  <a:pt x="1382" y="127"/>
                  <a:pt x="1383" y="128"/>
                </a:cubicBezTo>
                <a:close/>
                <a:moveTo>
                  <a:pt x="1249" y="123"/>
                </a:moveTo>
                <a:cubicBezTo>
                  <a:pt x="1250" y="121"/>
                  <a:pt x="1253" y="118"/>
                  <a:pt x="1250" y="115"/>
                </a:cubicBezTo>
                <a:cubicBezTo>
                  <a:pt x="1252" y="114"/>
                  <a:pt x="1253" y="111"/>
                  <a:pt x="1255" y="108"/>
                </a:cubicBezTo>
                <a:cubicBezTo>
                  <a:pt x="1251" y="107"/>
                  <a:pt x="1251" y="105"/>
                  <a:pt x="1250" y="103"/>
                </a:cubicBezTo>
                <a:cubicBezTo>
                  <a:pt x="1245" y="104"/>
                  <a:pt x="1246" y="110"/>
                  <a:pt x="1240" y="110"/>
                </a:cubicBezTo>
                <a:cubicBezTo>
                  <a:pt x="1242" y="115"/>
                  <a:pt x="1240" y="115"/>
                  <a:pt x="1242" y="120"/>
                </a:cubicBezTo>
                <a:cubicBezTo>
                  <a:pt x="1240" y="123"/>
                  <a:pt x="1233" y="120"/>
                  <a:pt x="1231" y="120"/>
                </a:cubicBezTo>
                <a:cubicBezTo>
                  <a:pt x="1231" y="124"/>
                  <a:pt x="1236" y="122"/>
                  <a:pt x="1237" y="125"/>
                </a:cubicBezTo>
                <a:cubicBezTo>
                  <a:pt x="1231" y="126"/>
                  <a:pt x="1224" y="124"/>
                  <a:pt x="1215" y="124"/>
                </a:cubicBezTo>
                <a:cubicBezTo>
                  <a:pt x="1214" y="128"/>
                  <a:pt x="1222" y="130"/>
                  <a:pt x="1218" y="133"/>
                </a:cubicBezTo>
                <a:cubicBezTo>
                  <a:pt x="1219" y="136"/>
                  <a:pt x="1224" y="135"/>
                  <a:pt x="1229" y="135"/>
                </a:cubicBezTo>
                <a:cubicBezTo>
                  <a:pt x="1227" y="133"/>
                  <a:pt x="1222" y="134"/>
                  <a:pt x="1222" y="130"/>
                </a:cubicBezTo>
                <a:cubicBezTo>
                  <a:pt x="1224" y="127"/>
                  <a:pt x="1228" y="131"/>
                  <a:pt x="1234" y="131"/>
                </a:cubicBezTo>
                <a:cubicBezTo>
                  <a:pt x="1234" y="130"/>
                  <a:pt x="1233" y="130"/>
                  <a:pt x="1233" y="128"/>
                </a:cubicBezTo>
                <a:cubicBezTo>
                  <a:pt x="1239" y="129"/>
                  <a:pt x="1247" y="128"/>
                  <a:pt x="1246" y="136"/>
                </a:cubicBezTo>
                <a:cubicBezTo>
                  <a:pt x="1253" y="135"/>
                  <a:pt x="1252" y="133"/>
                  <a:pt x="1257" y="133"/>
                </a:cubicBezTo>
                <a:cubicBezTo>
                  <a:pt x="1256" y="128"/>
                  <a:pt x="1254" y="123"/>
                  <a:pt x="1249" y="123"/>
                </a:cubicBezTo>
                <a:close/>
                <a:moveTo>
                  <a:pt x="1082" y="96"/>
                </a:moveTo>
                <a:cubicBezTo>
                  <a:pt x="1099" y="100"/>
                  <a:pt x="1109" y="100"/>
                  <a:pt x="1122" y="105"/>
                </a:cubicBezTo>
                <a:cubicBezTo>
                  <a:pt x="1117" y="94"/>
                  <a:pt x="1101" y="95"/>
                  <a:pt x="1090" y="95"/>
                </a:cubicBezTo>
                <a:cubicBezTo>
                  <a:pt x="1089" y="95"/>
                  <a:pt x="1089" y="93"/>
                  <a:pt x="1089" y="91"/>
                </a:cubicBezTo>
                <a:cubicBezTo>
                  <a:pt x="1085" y="92"/>
                  <a:pt x="1082" y="92"/>
                  <a:pt x="1082" y="96"/>
                </a:cubicBezTo>
                <a:close/>
                <a:moveTo>
                  <a:pt x="991" y="78"/>
                </a:moveTo>
                <a:cubicBezTo>
                  <a:pt x="990" y="76"/>
                  <a:pt x="986" y="75"/>
                  <a:pt x="983" y="76"/>
                </a:cubicBezTo>
                <a:cubicBezTo>
                  <a:pt x="984" y="81"/>
                  <a:pt x="980" y="81"/>
                  <a:pt x="980" y="85"/>
                </a:cubicBezTo>
                <a:cubicBezTo>
                  <a:pt x="984" y="87"/>
                  <a:pt x="990" y="87"/>
                  <a:pt x="990" y="92"/>
                </a:cubicBezTo>
                <a:cubicBezTo>
                  <a:pt x="999" y="90"/>
                  <a:pt x="987" y="81"/>
                  <a:pt x="991" y="78"/>
                </a:cubicBezTo>
                <a:close/>
                <a:moveTo>
                  <a:pt x="1110" y="73"/>
                </a:moveTo>
                <a:cubicBezTo>
                  <a:pt x="1108" y="68"/>
                  <a:pt x="1104" y="70"/>
                  <a:pt x="1100" y="71"/>
                </a:cubicBezTo>
                <a:cubicBezTo>
                  <a:pt x="1101" y="73"/>
                  <a:pt x="1107" y="77"/>
                  <a:pt x="1110" y="73"/>
                </a:cubicBezTo>
                <a:close/>
                <a:moveTo>
                  <a:pt x="1036" y="63"/>
                </a:moveTo>
                <a:cubicBezTo>
                  <a:pt x="1043" y="64"/>
                  <a:pt x="1047" y="68"/>
                  <a:pt x="1054" y="69"/>
                </a:cubicBezTo>
                <a:cubicBezTo>
                  <a:pt x="1051" y="63"/>
                  <a:pt x="1053" y="60"/>
                  <a:pt x="1049" y="55"/>
                </a:cubicBezTo>
                <a:cubicBezTo>
                  <a:pt x="1045" y="55"/>
                  <a:pt x="1050" y="59"/>
                  <a:pt x="1044" y="60"/>
                </a:cubicBezTo>
                <a:cubicBezTo>
                  <a:pt x="1041" y="53"/>
                  <a:pt x="1035" y="53"/>
                  <a:pt x="1033" y="48"/>
                </a:cubicBezTo>
                <a:cubicBezTo>
                  <a:pt x="1025" y="51"/>
                  <a:pt x="1027" y="57"/>
                  <a:pt x="1028" y="64"/>
                </a:cubicBezTo>
                <a:cubicBezTo>
                  <a:pt x="1031" y="65"/>
                  <a:pt x="1034" y="67"/>
                  <a:pt x="1038" y="67"/>
                </a:cubicBezTo>
                <a:cubicBezTo>
                  <a:pt x="1037" y="65"/>
                  <a:pt x="1036" y="64"/>
                  <a:pt x="1036" y="63"/>
                </a:cubicBezTo>
                <a:close/>
              </a:path>
            </a:pathLst>
          </a:custGeom>
          <a:solidFill>
            <a:schemeClr val="bg1">
              <a:lumMod val="85000"/>
              <a:alpha val="14000"/>
            </a:schemeClr>
          </a:solidFill>
          <a:ln>
            <a:noFill/>
          </a:ln>
        </p:spPr>
        <p:txBody>
          <a:bodyPr/>
          <a:lstStyle/>
          <a:p>
            <a:pPr marL="0" marR="0" lvl="0" indent="0" algn="l"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cSld>
  <p:clrMapOvr>
    <a:masterClrMapping/>
  </p:clrMapOvr>
  <p:transition spd="slow"/>
</p:sld>
</file>

<file path=ppt/tags/tag1.xml><?xml version="1.0" encoding="utf-8"?>
<p:tagLst xmlns:p="http://schemas.openxmlformats.org/presentationml/2006/main">
  <p:tag name="KSO_WM_UNIT_TABLE_BEAUTIFY" val="smartTable{f0e4097f-b1ba-44a3-b032-4f0fd3d194cf}"/>
  <p:tag name="TABLE_ENDDRAG_ORIGIN_RECT" val="694*445"/>
  <p:tag name="TABLE_ENDDRAG_RECT" val="13*84*694*445"/>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5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10601030101010101"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10601030101010101" pitchFamily="65" charset="-122"/>
            <a:ea typeface="方正大黑简体" panose="02010601030101010101"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2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solidFill>
            <a:srgbClr val="C00000"/>
          </a:solidFill>
        </a:ln>
      </a:spPr>
      <a:bodyPr rtlCol="0" anchor="ctr"/>
      <a:lstStyle>
        <a:defPPr algn="ct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7_Blend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8945</Words>
  <Application>WPS 演示</Application>
  <PresentationFormat>宽屏</PresentationFormat>
  <Paragraphs>1013</Paragraphs>
  <Slides>44</Slides>
  <Notes>1</Notes>
  <HiddenSlides>0</HiddenSlides>
  <MMClips>0</MMClips>
  <ScaleCrop>false</ScaleCrop>
  <HeadingPairs>
    <vt:vector size="6" baseType="variant">
      <vt:variant>
        <vt:lpstr>已用的字体</vt:lpstr>
      </vt:variant>
      <vt:variant>
        <vt:i4>20</vt:i4>
      </vt:variant>
      <vt:variant>
        <vt:lpstr>主题</vt:lpstr>
      </vt:variant>
      <vt:variant>
        <vt:i4>6</vt:i4>
      </vt:variant>
      <vt:variant>
        <vt:lpstr>幻灯片标题</vt:lpstr>
      </vt:variant>
      <vt:variant>
        <vt:i4>44</vt:i4>
      </vt:variant>
    </vt:vector>
  </HeadingPairs>
  <TitlesOfParts>
    <vt:vector size="70" baseType="lpstr">
      <vt:lpstr>Arial</vt:lpstr>
      <vt:lpstr>宋体</vt:lpstr>
      <vt:lpstr>Wingdings</vt:lpstr>
      <vt:lpstr>Tahoma</vt:lpstr>
      <vt:lpstr>方正大黑简体</vt:lpstr>
      <vt:lpstr>黑体</vt:lpstr>
      <vt:lpstr>Tahoma</vt:lpstr>
      <vt:lpstr>Calibri</vt:lpstr>
      <vt:lpstr>Arial</vt:lpstr>
      <vt:lpstr>等线</vt:lpstr>
      <vt:lpstr>微软雅黑</vt:lpstr>
      <vt:lpstr>楷体</vt:lpstr>
      <vt:lpstr>方正粗宋简体</vt:lpstr>
      <vt:lpstr>Times New Roman</vt:lpstr>
      <vt:lpstr>Times New Roman Regular</vt:lpstr>
      <vt:lpstr>Arial Unicode MS</vt:lpstr>
      <vt:lpstr>Impact</vt:lpstr>
      <vt:lpstr>方正超粗黑简体</vt:lpstr>
      <vt:lpstr>等线 Light</vt:lpstr>
      <vt:lpstr>Calibri Light</vt:lpstr>
      <vt:lpstr>1_Office 主题​​</vt:lpstr>
      <vt:lpstr>15_Blends</vt:lpstr>
      <vt:lpstr>4_默认设计模板</vt:lpstr>
      <vt:lpstr>12_默认设计模板</vt:lpstr>
      <vt:lpstr>自定义设计方案</vt:lpstr>
      <vt:lpstr>7_Blends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c:creator>
  <cp:lastModifiedBy>Tan Wenlu</cp:lastModifiedBy>
  <cp:revision>187</cp:revision>
  <dcterms:created xsi:type="dcterms:W3CDTF">2023-04-07T09:37:00Z</dcterms:created>
  <dcterms:modified xsi:type="dcterms:W3CDTF">2025-12-11T05:20:12Z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7fa7778223474e9cbb443c995ad976e6</vt:lpwstr>
  </property>
  <property fmtid="{D5CDD505-2E9C-101B-9397-08002B2CF9AE}" pid="3" name="KSOProductBuildVer">
    <vt:lpwstr>2052-12.1.0.24034</vt:lpwstr>
  </property>
</Properties>
</file>