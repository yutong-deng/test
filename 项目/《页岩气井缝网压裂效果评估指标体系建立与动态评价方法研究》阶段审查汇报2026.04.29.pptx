
<file path=[Content_Types].xml><?xml version="1.0" encoding="utf-8"?>
<Types xmlns="http://schemas.openxmlformats.org/package/2006/content-types">
  <Default Extension="png" ContentType="image/png"/>
  <Default Extension="gif" ContentType="image/gi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76"/>
  </p:handoutMasterIdLst>
  <p:sldIdLst>
    <p:sldId id="389" r:id="rId3"/>
    <p:sldId id="7337" r:id="rId5"/>
    <p:sldId id="7308" r:id="rId6"/>
    <p:sldId id="7309" r:id="rId7"/>
    <p:sldId id="7310" r:id="rId8"/>
    <p:sldId id="7311" r:id="rId9"/>
    <p:sldId id="7316" r:id="rId10"/>
    <p:sldId id="7465" r:id="rId11"/>
    <p:sldId id="7319" r:id="rId12"/>
    <p:sldId id="7588" r:id="rId13"/>
    <p:sldId id="7589" r:id="rId14"/>
    <p:sldId id="7466" r:id="rId15"/>
    <p:sldId id="7590" r:id="rId16"/>
    <p:sldId id="7591" r:id="rId17"/>
    <p:sldId id="7592" r:id="rId18"/>
    <p:sldId id="7593" r:id="rId19"/>
    <p:sldId id="7594" r:id="rId20"/>
    <p:sldId id="7595" r:id="rId21"/>
    <p:sldId id="7596" r:id="rId22"/>
    <p:sldId id="7597" r:id="rId23"/>
    <p:sldId id="7598" r:id="rId24"/>
    <p:sldId id="7599" r:id="rId25"/>
    <p:sldId id="7600" r:id="rId26"/>
    <p:sldId id="7601" r:id="rId27"/>
    <p:sldId id="7602" r:id="rId28"/>
    <p:sldId id="7603" r:id="rId29"/>
    <p:sldId id="7604" r:id="rId30"/>
    <p:sldId id="7605" r:id="rId31"/>
    <p:sldId id="7606" r:id="rId32"/>
    <p:sldId id="7607" r:id="rId33"/>
    <p:sldId id="7608" r:id="rId34"/>
    <p:sldId id="7609" r:id="rId35"/>
    <p:sldId id="7610" r:id="rId36"/>
    <p:sldId id="7611" r:id="rId37"/>
    <p:sldId id="7612" r:id="rId38"/>
    <p:sldId id="7613" r:id="rId39"/>
    <p:sldId id="7614" r:id="rId40"/>
    <p:sldId id="7615" r:id="rId41"/>
    <p:sldId id="7616" r:id="rId42"/>
    <p:sldId id="7679" r:id="rId43"/>
    <p:sldId id="7680" r:id="rId44"/>
    <p:sldId id="7681" r:id="rId45"/>
    <p:sldId id="7682" r:id="rId46"/>
    <p:sldId id="7683" r:id="rId47"/>
    <p:sldId id="7684" r:id="rId48"/>
    <p:sldId id="7685" r:id="rId49"/>
    <p:sldId id="7686" r:id="rId50"/>
    <p:sldId id="7687" r:id="rId51"/>
    <p:sldId id="7654" r:id="rId52"/>
    <p:sldId id="7655" r:id="rId53"/>
    <p:sldId id="7656" r:id="rId54"/>
    <p:sldId id="7657" r:id="rId55"/>
    <p:sldId id="7658" r:id="rId56"/>
    <p:sldId id="7659" r:id="rId57"/>
    <p:sldId id="7660" r:id="rId58"/>
    <p:sldId id="7661" r:id="rId59"/>
    <p:sldId id="7662" r:id="rId60"/>
    <p:sldId id="7663" r:id="rId61"/>
    <p:sldId id="7664" r:id="rId62"/>
    <p:sldId id="7688" r:id="rId63"/>
    <p:sldId id="7665" r:id="rId64"/>
    <p:sldId id="7467" r:id="rId65"/>
    <p:sldId id="7476" r:id="rId66"/>
    <p:sldId id="7469" r:id="rId67"/>
    <p:sldId id="7470" r:id="rId68"/>
    <p:sldId id="7471" r:id="rId69"/>
    <p:sldId id="7472" r:id="rId70"/>
    <p:sldId id="7473" r:id="rId71"/>
    <p:sldId id="7320" r:id="rId72"/>
    <p:sldId id="7474" r:id="rId73"/>
    <p:sldId id="7475" r:id="rId74"/>
    <p:sldId id="7315" r:id="rId75"/>
  </p:sldIdLst>
  <p:sldSz cx="12192000" cy="6858000"/>
  <p:notesSz cx="6858000" cy="9144000"/>
  <p:custDataLst>
    <p:tags r:id="rId8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8F2C84F-378A-4105-B54C-D81CDCC09504}">
          <p14:sldIdLst>
            <p14:sldId id="389"/>
            <p14:sldId id="7337"/>
            <p14:sldId id="7308"/>
            <p14:sldId id="7309"/>
            <p14:sldId id="7310"/>
            <p14:sldId id="7311"/>
            <p14:sldId id="7316"/>
            <p14:sldId id="7465"/>
            <p14:sldId id="7319"/>
            <p14:sldId id="7588"/>
            <p14:sldId id="7589"/>
            <p14:sldId id="7466"/>
            <p14:sldId id="7590"/>
            <p14:sldId id="7591"/>
            <p14:sldId id="7592"/>
            <p14:sldId id="7593"/>
            <p14:sldId id="7594"/>
            <p14:sldId id="7595"/>
            <p14:sldId id="7596"/>
            <p14:sldId id="7597"/>
            <p14:sldId id="7598"/>
            <p14:sldId id="7599"/>
            <p14:sldId id="7600"/>
            <p14:sldId id="7601"/>
            <p14:sldId id="7602"/>
            <p14:sldId id="7603"/>
            <p14:sldId id="7604"/>
            <p14:sldId id="7605"/>
            <p14:sldId id="7606"/>
            <p14:sldId id="7607"/>
            <p14:sldId id="7608"/>
            <p14:sldId id="7609"/>
            <p14:sldId id="7610"/>
            <p14:sldId id="7611"/>
            <p14:sldId id="7612"/>
            <p14:sldId id="7613"/>
            <p14:sldId id="7614"/>
            <p14:sldId id="7615"/>
            <p14:sldId id="7616"/>
            <p14:sldId id="7679"/>
            <p14:sldId id="7680"/>
            <p14:sldId id="7681"/>
            <p14:sldId id="7682"/>
            <p14:sldId id="7683"/>
            <p14:sldId id="7684"/>
            <p14:sldId id="7685"/>
            <p14:sldId id="7686"/>
            <p14:sldId id="7687"/>
            <p14:sldId id="7654"/>
            <p14:sldId id="7655"/>
            <p14:sldId id="7656"/>
            <p14:sldId id="7657"/>
            <p14:sldId id="7658"/>
            <p14:sldId id="7659"/>
            <p14:sldId id="7660"/>
            <p14:sldId id="7661"/>
            <p14:sldId id="7662"/>
            <p14:sldId id="7663"/>
            <p14:sldId id="7664"/>
            <p14:sldId id="7688"/>
            <p14:sldId id="7665"/>
            <p14:sldId id="7467"/>
            <p14:sldId id="7476"/>
            <p14:sldId id="7469"/>
            <p14:sldId id="7470"/>
            <p14:sldId id="7471"/>
            <p14:sldId id="7472"/>
            <p14:sldId id="7473"/>
            <p14:sldId id="7320"/>
            <p14:sldId id="7474"/>
            <p14:sldId id="7475"/>
            <p14:sldId id="7315"/>
          </p14:sldIdLst>
        </p14:section>
      </p14:sectionLst>
    </p:ext>
    <p:ext uri="{EFAFB233-063F-42B5-8137-9DF3F51BA10A}">
      <p15:sldGuideLst xmlns:p15="http://schemas.microsoft.com/office/powerpoint/2012/main">
        <p15:guide id="2" orient="horz" pos="845" userDrawn="1">
          <p15:clr>
            <a:srgbClr val="A4A3A4"/>
          </p15:clr>
        </p15:guide>
        <p15:guide id="5" orient="horz" pos="3837" userDrawn="1">
          <p15:clr>
            <a:srgbClr val="A4A3A4"/>
          </p15:clr>
        </p15:guide>
        <p15:guide id="7" orient="horz" pos="576" userDrawn="1">
          <p15:clr>
            <a:srgbClr val="A4A3A4"/>
          </p15:clr>
        </p15:guide>
        <p15:guide id="9" pos="237" userDrawn="1">
          <p15:clr>
            <a:srgbClr val="A4A3A4"/>
          </p15:clr>
        </p15:guide>
        <p15:guide id="11" pos="7467" userDrawn="1">
          <p15:clr>
            <a:srgbClr val="A4A3A4"/>
          </p15:clr>
        </p15:guide>
        <p15:guide id="1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白 亚超" initials="白"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62673"/>
    <a:srgbClr val="E1E3E5"/>
    <a:srgbClr val="C00000"/>
    <a:srgbClr val="F2F2F2"/>
    <a:srgbClr val="54CAF5"/>
    <a:srgbClr val="FFFF6B"/>
    <a:srgbClr val="FF00FF"/>
    <a:srgbClr val="000066"/>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25CCF9B-3BEF-4FDE-95DA-B136F59D0E50}" styleName="表样式 1 25">
    <a:wholeTbl>
      <a:tcTxStyle>
        <a:fontRef idx="none">
          <a:schemeClr val="tx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w="9525" cmpd="sng">
              <a:solidFill>
                <a:schemeClr val="accent4">
                  <a:lumMod val="40000"/>
                  <a:lumOff val="60000"/>
                </a:schemeClr>
              </a:solidFill>
              <a:prstDash val="solid"/>
            </a:ln>
          </a:insideV>
        </a:tcBdr>
        <a:fill>
          <a:solidFill>
            <a:schemeClr val="bg1">
              <a:alpha val="0"/>
            </a:schemeClr>
          </a:solidFill>
        </a:fill>
      </a:tcStyle>
    </a:wholeTbl>
    <a:band2H>
      <a:tcStyle>
        <a:tcBdr/>
        <a:fill>
          <a:solidFill>
            <a:schemeClr val="accent4">
              <a:alpha val="25000"/>
              <a:lumMod val="40000"/>
              <a:lumOff val="60000"/>
            </a:schemeClr>
          </a:solidFill>
        </a:fill>
      </a:tcStyle>
    </a:band2H>
    <a:band1V>
      <a:tcStyle>
        <a:tcBdr/>
        <a:fill>
          <a:solidFill>
            <a:schemeClr val="accent4">
              <a:alpha val="25000"/>
              <a:lumMod val="40000"/>
              <a:lumOff val="60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alpha val="40000"/>
              <a:lumMod val="40000"/>
              <a:lumOff val="60000"/>
            </a:schemeClr>
          </a:solidFill>
        </a:fill>
      </a:tcStyle>
    </a:lastCol>
    <a:firstCol>
      <a:tcTxStyle b="on">
        <a:fontRef idx="none">
          <a:schemeClr val="tx1"/>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w="9525" cmpd="sng">
              <a:solidFill>
                <a:schemeClr val="accent4">
                  <a:lumMod val="40000"/>
                  <a:lumOff val="60000"/>
                </a:schemeClr>
              </a:solidFill>
              <a:prstDash val="solid"/>
            </a:ln>
          </a:insideH>
          <a:insideV>
            <a:ln>
              <a:noFill/>
            </a:ln>
          </a:insideV>
        </a:tcBdr>
        <a:fill>
          <a:solidFill>
            <a:schemeClr val="accent4">
              <a:alpha val="40000"/>
              <a:lumMod val="40000"/>
              <a:lumOff val="60000"/>
            </a:schemeClr>
          </a:solidFill>
        </a:fill>
      </a:tcStyle>
    </a:firstCol>
    <a:lastRow>
      <a:tcTxStyle b="on">
        <a:fontRef idx="none">
          <a:schemeClr val="accent4"/>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eCell>
    <a:swCell>
      <a:tcTxStyle b="on">
        <a:fontRef idx="none">
          <a:schemeClr val="accent4"/>
        </a:fontRef>
      </a:tcTxStyle>
      <a:tcStyle>
        <a:tcBdr>
          <a:left>
            <a:ln w="9525" cmpd="sng">
              <a:solidFill>
                <a:schemeClr val="accent4"/>
              </a:solidFill>
              <a:prstDash val="solid"/>
            </a:ln>
          </a:left>
          <a:right>
            <a:ln w="9525" cmpd="sng">
              <a:solidFill>
                <a:schemeClr val="accent4">
                  <a:lumMod val="40000"/>
                  <a:lumOff val="60000"/>
                </a:schemeClr>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4"/>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solidFill>
              <a:prstDash val="solid"/>
            </a:ln>
          </a:bottom>
          <a:insideH>
            <a:ln>
              <a:noFill/>
            </a:ln>
          </a:insideH>
          <a:insideV>
            <a:ln w="9525" cmpd="sng">
              <a:solidFill>
                <a:schemeClr val="accent4">
                  <a:lumMod val="40000"/>
                  <a:lumOff val="60000"/>
                </a:schemeClr>
              </a:solidFill>
              <a:prstDash val="solid"/>
            </a:ln>
          </a:insideV>
        </a:tcBdr>
        <a:fill>
          <a:solidFill>
            <a:schemeClr val="accent4"/>
          </a:solidFill>
        </a:fill>
      </a:tcStyle>
    </a:firstRow>
    <a:neCell>
      <a:tcStyle>
        <a:tcBdr>
          <a:left>
            <a:ln w="9525" cmpd="sng">
              <a:solidFill>
                <a:schemeClr val="accent4">
                  <a:lumMod val="40000"/>
                  <a:lumOff val="60000"/>
                </a:schemeClr>
              </a:solidFill>
              <a:prstDash val="solid"/>
            </a:ln>
          </a:left>
          <a:right>
            <a:ln w="9525" cmpd="sng">
              <a:solidFill>
                <a:schemeClr val="accent4"/>
              </a:solidFill>
              <a:prstDash val="solid"/>
            </a:ln>
          </a:right>
          <a:top>
            <a:ln w="9525" cmpd="sng">
              <a:solidFill>
                <a:schemeClr val="accent4"/>
              </a:solidFill>
              <a:prstDash val="solid"/>
            </a:ln>
          </a:top>
          <a:bottom>
            <a:ln w="9525" cmpd="sng">
              <a:solidFill>
                <a:schemeClr val="accent4">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91" autoAdjust="0"/>
    <p:restoredTop sz="90369" autoAdjust="0"/>
  </p:normalViewPr>
  <p:slideViewPr>
    <p:cSldViewPr snapToGrid="0" showGuides="1">
      <p:cViewPr varScale="1">
        <p:scale>
          <a:sx n="78" d="100"/>
          <a:sy n="78" d="100"/>
        </p:scale>
        <p:origin x="907" y="43"/>
      </p:cViewPr>
      <p:guideLst>
        <p:guide orient="horz" pos="845"/>
        <p:guide orient="horz" pos="3837"/>
        <p:guide orient="horz" pos="576"/>
        <p:guide pos="237"/>
        <p:guide pos="7467"/>
        <p:guide pos="3839"/>
      </p:guideLst>
    </p:cSldViewPr>
  </p:slideViewPr>
  <p:notesTextViewPr>
    <p:cViewPr>
      <p:scale>
        <a:sx n="150" d="100"/>
        <a:sy n="150" d="100"/>
      </p:scale>
      <p:origin x="0" y="0"/>
    </p:cViewPr>
  </p:notesTextViewPr>
  <p:sorterViewPr>
    <p:cViewPr>
      <p:scale>
        <a:sx n="150" d="100"/>
        <a:sy n="150" d="100"/>
      </p:scale>
      <p:origin x="0" y="0"/>
    </p:cViewPr>
  </p:sorterViewPr>
  <p:notesViewPr>
    <p:cSldViewPr snapToGrid="0">
      <p:cViewPr varScale="1">
        <p:scale>
          <a:sx n="86" d="100"/>
          <a:sy n="86" d="100"/>
        </p:scale>
        <p:origin x="3864" y="72"/>
      </p:cViewPr>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1" Type="http://schemas.openxmlformats.org/officeDocument/2006/relationships/tags" Target="tags/tag87.xml"/><Relationship Id="rId80" Type="http://schemas.openxmlformats.org/officeDocument/2006/relationships/commentAuthors" Target="commentAuthors.xml"/><Relationship Id="rId8" Type="http://schemas.openxmlformats.org/officeDocument/2006/relationships/slide" Target="slides/slide5.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handoutMaster" Target="handoutMasters/handoutMaster1.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themeOverride" Target="../theme/themeOverride1.xml"/><Relationship Id="rId1" Type="http://schemas.openxmlformats.org/officeDocument/2006/relationships/oleObject" Target="file:///E:\BaiduSyncdisk\&#39033;&#30446;\&#35199;&#21335;&#39029;&#23721;&#38498;&#12298;&#39029;&#23721;&#27668;&#20117;&#32541;&#32593;&#21387;&#35010;&#25928;&#26524;&#35780;&#20272;&#25351;&#26631;&#20307;&#31995;&#24314;&#31435;&#19982;&#21160;&#24577;&#35780;&#20215;&#26041;&#27861;&#30740;&#31350;&#12299;\04&#12289;&#38454;&#27573;&#20132;&#27969;\ppt&#26448;&#26009;\&#32479;&#35745;&#34920;.xlsx" TargetMode="External"/></Relationships>
</file>

<file path=ppt/charts/_rels/chart2.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themeOverride" Target="../theme/themeOverride2.xml"/><Relationship Id="rId1" Type="http://schemas.openxmlformats.org/officeDocument/2006/relationships/oleObject" Target="file:///E:\BaiduSyncdisk\&#39033;&#30446;\&#35199;&#21335;&#39029;&#23721;&#38498;&#12298;&#39029;&#23721;&#27668;&#20117;&#32541;&#32593;&#21387;&#35010;&#25928;&#26524;&#35780;&#20272;&#25351;&#26631;&#20307;&#31995;&#24314;&#31435;&#19982;&#21160;&#24577;&#35780;&#20215;&#26041;&#27861;&#30740;&#31350;&#12299;\04&#12289;&#38454;&#27573;&#20132;&#27969;\ppt&#26448;&#26009;\&#32479;&#35745;&#34920;.xlsx" TargetMode="External"/></Relationships>
</file>

<file path=ppt/charts/_rels/chart3.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themeOverride" Target="../theme/themeOverride3.xml"/><Relationship Id="rId1" Type="http://schemas.openxmlformats.org/officeDocument/2006/relationships/oleObject" Target="file:///E:\BaiduSyncdisk\&#39033;&#30446;\&#35199;&#21335;&#39029;&#23721;&#38498;&#12298;&#39029;&#23721;&#27668;&#20117;&#32541;&#32593;&#21387;&#35010;&#25928;&#26524;&#35780;&#20272;&#25351;&#26631;&#20307;&#31995;&#24314;&#31435;&#19982;&#21160;&#24577;&#35780;&#20215;&#26041;&#27861;&#30740;&#31350;&#12299;\04&#12289;&#38454;&#27573;&#20132;&#27969;\ppt&#26448;&#26009;\&#32479;&#35745;&#34920;.xlsx" TargetMode="External"/></Relationships>
</file>

<file path=ppt/charts/_rels/chart4.xml.rels><?xml version="1.0" encoding="UTF-8" standalone="yes"?>
<Relationships xmlns="http://schemas.openxmlformats.org/package/2006/relationships"><Relationship Id="rId4" Type="http://schemas.microsoft.com/office/2011/relationships/chartColorStyle" Target="colors4.xml"/><Relationship Id="rId3" Type="http://schemas.microsoft.com/office/2011/relationships/chartStyle" Target="style4.xml"/><Relationship Id="rId2" Type="http://schemas.openxmlformats.org/officeDocument/2006/relationships/themeOverride" Target="../theme/themeOverride4.xml"/><Relationship Id="rId1" Type="http://schemas.openxmlformats.org/officeDocument/2006/relationships/oleObject" Target="file:///E:\BaiduSyncdisk\&#39033;&#30446;\&#35199;&#21335;&#39029;&#23721;&#38498;&#12298;&#39029;&#23721;&#27668;&#20117;&#32541;&#32593;&#21387;&#35010;&#25928;&#26524;&#35780;&#20272;&#25351;&#26631;&#20307;&#31995;&#24314;&#31435;&#19982;&#21160;&#24577;&#35780;&#20215;&#26041;&#27861;&#30740;&#31350;&#12299;\04&#12289;&#38454;&#27573;&#20132;&#27969;\ppt&#26448;&#26009;\&#32479;&#35745;&#34920;.xlsx" TargetMode="External"/></Relationships>
</file>

<file path=ppt/charts/_rels/chart5.xml.rels><?xml version="1.0" encoding="UTF-8" standalone="yes"?>
<Relationships xmlns="http://schemas.openxmlformats.org/package/2006/relationships"><Relationship Id="rId4" Type="http://schemas.microsoft.com/office/2011/relationships/chartColorStyle" Target="colors5.xml"/><Relationship Id="rId3" Type="http://schemas.microsoft.com/office/2011/relationships/chartStyle" Target="style5.xml"/><Relationship Id="rId2" Type="http://schemas.openxmlformats.org/officeDocument/2006/relationships/themeOverride" Target="../theme/themeOverride5.xml"/><Relationship Id="rId1" Type="http://schemas.openxmlformats.org/officeDocument/2006/relationships/oleObject" Target="file:///E:\BaiduSyncdisk\&#39033;&#30446;\&#35199;&#21335;&#39029;&#23721;&#38498;&#12298;&#39029;&#23721;&#27668;&#20117;&#32541;&#32593;&#21387;&#35010;&#25928;&#26524;&#35780;&#20272;&#25351;&#26631;&#20307;&#31995;&#24314;&#31435;&#19982;&#21160;&#24577;&#35780;&#20215;&#26041;&#27861;&#30740;&#31350;&#12299;\04&#12289;&#38454;&#27573;&#20132;&#27969;\ppt&#26448;&#26009;\&#32479;&#35745;&#34920;.xlsx" TargetMode="External"/></Relationships>
</file>

<file path=ppt/charts/_rels/chart6.xml.rels><?xml version="1.0" encoding="UTF-8" standalone="yes"?>
<Relationships xmlns="http://schemas.openxmlformats.org/package/2006/relationships"><Relationship Id="rId4" Type="http://schemas.microsoft.com/office/2011/relationships/chartColorStyle" Target="colors6.xml"/><Relationship Id="rId3" Type="http://schemas.microsoft.com/office/2011/relationships/chartStyle" Target="style6.xml"/><Relationship Id="rId2" Type="http://schemas.openxmlformats.org/officeDocument/2006/relationships/themeOverride" Target="../theme/themeOverride6.xml"/><Relationship Id="rId1" Type="http://schemas.openxmlformats.org/officeDocument/2006/relationships/oleObject" Target="file:///E:\BaiduSyncdisk\&#39033;&#30446;\&#35199;&#21335;&#39029;&#23721;&#38498;&#12298;&#39029;&#23721;&#27668;&#20117;&#32541;&#32593;&#21387;&#35010;&#25928;&#26524;&#35780;&#20272;&#25351;&#26631;&#20307;&#31995;&#24314;&#31435;&#19982;&#21160;&#24577;&#35780;&#20215;&#26041;&#27861;&#30740;&#31350;&#12299;\04&#12289;&#38454;&#27573;&#20132;&#27969;\ppt&#26448;&#26009;\&#32479;&#35745;&#34920;.xlsx" TargetMode="External"/></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file:///E:\BaiduSyncdisk\&#39033;&#30446;\&#35199;&#21335;&#39029;&#23721;&#38498;&#12298;&#39029;&#23721;&#27668;&#20117;&#32541;&#32593;&#21387;&#35010;&#25928;&#26524;&#35780;&#20272;&#25351;&#26631;&#20307;&#31995;&#24314;&#31435;&#19982;&#21160;&#24577;&#35780;&#20215;&#26041;&#27861;&#30740;&#31350;&#12299;\04&#12289;&#38454;&#27573;&#20132;&#27969;\ppt&#26448;&#26009;\&#32479;&#35745;&#34920;.xlsx" TargetMode="External"/></Relationships>
</file>

<file path=ppt/charts/_rels/chart8.xml.rels><?xml version="1.0" encoding="UTF-8" standalone="yes"?>
<Relationships xmlns="http://schemas.openxmlformats.org/package/2006/relationships"><Relationship Id="rId4" Type="http://schemas.microsoft.com/office/2011/relationships/chartColorStyle" Target="colors8.xml"/><Relationship Id="rId3" Type="http://schemas.microsoft.com/office/2011/relationships/chartStyle" Target="style8.xml"/><Relationship Id="rId2" Type="http://schemas.openxmlformats.org/officeDocument/2006/relationships/themeOverride" Target="../theme/themeOverride7.xml"/><Relationship Id="rId1" Type="http://schemas.openxmlformats.org/officeDocument/2006/relationships/oleObject" Target="file:///E:\BaiduSyncdisk\&#39033;&#30446;\&#35199;&#21335;&#39029;&#23721;&#38498;&#12298;&#39029;&#23721;&#27668;&#20117;&#32541;&#32593;&#21387;&#35010;&#25928;&#26524;&#35780;&#20272;&#25351;&#26631;&#20307;&#31995;&#24314;&#31435;&#19982;&#21160;&#24577;&#35780;&#20215;&#26041;&#27861;&#30740;&#31350;&#12299;\04&#12289;&#38454;&#27573;&#20132;&#27969;\ppt&#26448;&#26009;\&#32479;&#35745;&#34920;.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defTabSz="914400">
              <a:defRPr lang="zh-CN" sz="1400" b="1" i="0" u="none" strike="noStrike" kern="1200" baseline="0">
                <a:solidFill>
                  <a:schemeClr val="tx1"/>
                </a:solidFill>
                <a:latin typeface="+mn-lt"/>
                <a:ea typeface="+mn-ea"/>
                <a:cs typeface="+mn-cs"/>
              </a:defRPr>
            </a:pPr>
            <a:r>
              <a:rPr lang="en-US" altLang="zh-CN"/>
              <a:t>5</a:t>
            </a:r>
            <a:r>
              <a:rPr lang="zh-CN" altLang="en-US"/>
              <a:t>平台</a:t>
            </a:r>
            <a:r>
              <a:rPr lang="en-US" altLang="zh-CN"/>
              <a:t>23</a:t>
            </a:r>
            <a:r>
              <a:rPr lang="zh-CN" altLang="en-US"/>
              <a:t>井小波分析得分</a:t>
            </a:r>
            <a:endParaRPr lang="zh-CN" altLang="en-US"/>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Lbls>
            <c:delete val="1"/>
          </c:dLbls>
          <c:cat>
            <c:strRef>
              <c:f>[统计表.xlsx]Sheet1!$C$2:$C$24</c:f>
              <c:strCache>
                <c:ptCount val="23"/>
                <c:pt idx="0">
                  <c:v>泸203H10-1</c:v>
                </c:pt>
                <c:pt idx="1">
                  <c:v>泸203H10-2</c:v>
                </c:pt>
                <c:pt idx="2">
                  <c:v>泸203H10-3</c:v>
                </c:pt>
                <c:pt idx="3">
                  <c:v>泸203H10-4</c:v>
                </c:pt>
                <c:pt idx="4">
                  <c:v>泸203H10-5</c:v>
                </c:pt>
                <c:pt idx="5">
                  <c:v>泸203H10-6</c:v>
                </c:pt>
                <c:pt idx="6">
                  <c:v>泸203H123-1</c:v>
                </c:pt>
                <c:pt idx="7">
                  <c:v>泸203H123-2</c:v>
                </c:pt>
                <c:pt idx="8">
                  <c:v>泸203H123-3</c:v>
                </c:pt>
                <c:pt idx="9">
                  <c:v>泸203H123-4</c:v>
                </c:pt>
                <c:pt idx="10">
                  <c:v>泸206H7-1</c:v>
                </c:pt>
                <c:pt idx="11">
                  <c:v>泸206H7-2</c:v>
                </c:pt>
                <c:pt idx="12">
                  <c:v>泸206H7-4</c:v>
                </c:pt>
                <c:pt idx="13">
                  <c:v>泸206H7-5</c:v>
                </c:pt>
                <c:pt idx="14">
                  <c:v>泸206H8-6</c:v>
                </c:pt>
                <c:pt idx="15">
                  <c:v>泸206H8-7</c:v>
                </c:pt>
                <c:pt idx="16">
                  <c:v>泸206H8-8</c:v>
                </c:pt>
                <c:pt idx="17">
                  <c:v>足201H21-1</c:v>
                </c:pt>
                <c:pt idx="18">
                  <c:v>足201H21-2</c:v>
                </c:pt>
                <c:pt idx="19">
                  <c:v>足201H21-3</c:v>
                </c:pt>
                <c:pt idx="20">
                  <c:v>足201H21-4</c:v>
                </c:pt>
                <c:pt idx="21">
                  <c:v>足201H21-5</c:v>
                </c:pt>
                <c:pt idx="22">
                  <c:v>足201H21-6</c:v>
                </c:pt>
              </c:strCache>
            </c:strRef>
          </c:cat>
          <c:val>
            <c:numRef>
              <c:f>[统计表.xlsx]Sheet1!$D$2:$D$24</c:f>
              <c:numCache>
                <c:formatCode>0.00</c:formatCode>
                <c:ptCount val="23"/>
                <c:pt idx="0">
                  <c:v>86.11</c:v>
                </c:pt>
                <c:pt idx="1">
                  <c:v>85.3</c:v>
                </c:pt>
                <c:pt idx="2">
                  <c:v>87.51</c:v>
                </c:pt>
                <c:pt idx="3">
                  <c:v>85.97</c:v>
                </c:pt>
                <c:pt idx="4">
                  <c:v>88.43</c:v>
                </c:pt>
                <c:pt idx="5">
                  <c:v>85.99</c:v>
                </c:pt>
                <c:pt idx="6">
                  <c:v>88.2</c:v>
                </c:pt>
                <c:pt idx="7">
                  <c:v>88.53</c:v>
                </c:pt>
                <c:pt idx="8">
                  <c:v>87.53</c:v>
                </c:pt>
                <c:pt idx="9">
                  <c:v>87.39</c:v>
                </c:pt>
                <c:pt idx="10">
                  <c:v>88.16</c:v>
                </c:pt>
                <c:pt idx="11">
                  <c:v>88.08</c:v>
                </c:pt>
                <c:pt idx="12">
                  <c:v>87.45</c:v>
                </c:pt>
                <c:pt idx="13">
                  <c:v>89.15</c:v>
                </c:pt>
                <c:pt idx="14">
                  <c:v>88.54</c:v>
                </c:pt>
                <c:pt idx="15">
                  <c:v>88.28</c:v>
                </c:pt>
                <c:pt idx="16">
                  <c:v>88.15</c:v>
                </c:pt>
                <c:pt idx="17">
                  <c:v>92.04</c:v>
                </c:pt>
                <c:pt idx="18">
                  <c:v>91.71</c:v>
                </c:pt>
                <c:pt idx="19">
                  <c:v>92.53</c:v>
                </c:pt>
                <c:pt idx="20">
                  <c:v>91.59</c:v>
                </c:pt>
                <c:pt idx="21">
                  <c:v>91.82</c:v>
                </c:pt>
                <c:pt idx="22">
                  <c:v>91.62</c:v>
                </c:pt>
              </c:numCache>
            </c:numRef>
          </c:val>
        </c:ser>
        <c:dLbls>
          <c:showLegendKey val="0"/>
          <c:showVal val="0"/>
          <c:showCatName val="0"/>
          <c:showSerName val="0"/>
          <c:showPercent val="0"/>
          <c:showBubbleSize val="0"/>
        </c:dLbls>
        <c:gapWidth val="246"/>
        <c:overlap val="-28"/>
        <c:axId val="366100138"/>
        <c:axId val="428107316"/>
      </c:barChart>
      <c:catAx>
        <c:axId val="366100138"/>
        <c:scaling>
          <c:orientation val="minMax"/>
        </c:scaling>
        <c:delete val="0"/>
        <c:axPos val="b"/>
        <c:numFmt formatCode="General" sourceLinked="0"/>
        <c:majorTickMark val="none"/>
        <c:minorTickMark val="none"/>
        <c:tickLblPos val="nextTo"/>
        <c:spPr>
          <a:noFill/>
          <a:ln w="9525" cap="flat" cmpd="sng" algn="ctr">
            <a:solidFill>
              <a:schemeClr val="tx1"/>
            </a:solidFill>
            <a:round/>
          </a:ln>
          <a:effectLst/>
        </c:spPr>
        <c:txPr>
          <a:bodyPr rot="-60000000" spcFirstLastPara="0" vertOverflow="ellipsis" vert="horz" wrap="square" anchor="ctr" anchorCtr="1" forceAA="0"/>
          <a:lstStyle/>
          <a:p>
            <a:pPr>
              <a:defRPr lang="zh-CN" sz="900" b="0" i="0" u="none" strike="noStrike" kern="1200" baseline="0">
                <a:solidFill>
                  <a:schemeClr val="tx1"/>
                </a:solidFill>
                <a:latin typeface="+mn-lt"/>
                <a:ea typeface="+mn-ea"/>
                <a:cs typeface="+mn-cs"/>
              </a:defRPr>
            </a:pPr>
          </a:p>
        </c:txPr>
        <c:crossAx val="428107316"/>
        <c:crosses val="autoZero"/>
        <c:auto val="1"/>
        <c:lblAlgn val="ctr"/>
        <c:lblOffset val="100"/>
        <c:noMultiLvlLbl val="0"/>
      </c:catAx>
      <c:valAx>
        <c:axId val="428107316"/>
        <c:scaling>
          <c:orientation val="minMax"/>
        </c:scaling>
        <c:delete val="0"/>
        <c:axPos val="l"/>
        <c:numFmt formatCode="0.00" sourceLinked="1"/>
        <c:majorTickMark val="in"/>
        <c:minorTickMark val="none"/>
        <c:tickLblPos val="nextTo"/>
        <c:spPr>
          <a:noFill/>
          <a:ln>
            <a:solidFill>
              <a:schemeClr val="tx1"/>
            </a:solidFill>
          </a:ln>
          <a:effectLst/>
        </c:spPr>
        <c:txPr>
          <a:bodyPr rot="-60000000" spcFirstLastPara="0" vertOverflow="ellipsis" vert="horz" wrap="square" anchor="ctr" anchorCtr="1" forceAA="0"/>
          <a:lstStyle/>
          <a:p>
            <a:pPr>
              <a:defRPr lang="zh-CN" sz="900" b="0" i="0" u="none" strike="noStrike" kern="1200" baseline="0">
                <a:solidFill>
                  <a:schemeClr val="tx1"/>
                </a:solidFill>
                <a:latin typeface="+mn-lt"/>
                <a:ea typeface="+mn-ea"/>
                <a:cs typeface="+mn-cs"/>
              </a:defRPr>
            </a:pPr>
          </a:p>
        </c:txPr>
        <c:crossAx val="366100138"/>
        <c:crosses val="autoZero"/>
        <c:crossBetween val="between"/>
      </c:valAx>
      <c:spPr>
        <a:noFill/>
        <a:ln>
          <a:noFill/>
        </a:ln>
        <a:effectLst/>
      </c:spPr>
    </c:plotArea>
    <c:plotVisOnly val="1"/>
    <c:dispBlanksAs val="gap"/>
    <c:showDLblsOverMax val="0"/>
    <c:extLst>
      <c:ext uri="{0b15fc19-7d7d-44ad-8c2d-2c3a37ce22c3}">
        <chartProps xmlns="https://web.wps.cn/et/2018/main" chartId="{8cf82ec1-d989-4839-9b70-78cd89e8ef4a}"/>
      </c:ext>
    </c:extLst>
  </c:chart>
  <c:spPr>
    <a:solidFill>
      <a:schemeClr val="bg1"/>
    </a:solidFill>
    <a:ln w="9525" cap="flat" cmpd="sng" algn="ctr">
      <a:solidFill>
        <a:srgbClr val="000000"/>
      </a:solidFill>
      <a:round/>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defTabSz="914400">
              <a:defRPr lang="zh-CN" sz="1400" b="1" i="0" u="none" strike="noStrike" kern="1200" baseline="0">
                <a:solidFill>
                  <a:schemeClr val="tx1"/>
                </a:solidFill>
                <a:latin typeface="+mn-lt"/>
                <a:ea typeface="+mn-ea"/>
                <a:cs typeface="+mn-cs"/>
              </a:defRPr>
            </a:pPr>
            <a:r>
              <a:rPr lang="en-US" altLang="zh-CN"/>
              <a:t>5</a:t>
            </a:r>
            <a:r>
              <a:rPr lang="zh-CN" altLang="en-US"/>
              <a:t>平台</a:t>
            </a:r>
            <a:r>
              <a:rPr lang="en-US" altLang="zh-CN"/>
              <a:t>23</a:t>
            </a:r>
            <a:r>
              <a:rPr lang="zh-CN" altLang="en-US"/>
              <a:t>井</a:t>
            </a:r>
            <a:r>
              <a:rPr lang="en-US" altLang="zh-CN"/>
              <a:t>G</a:t>
            </a:r>
            <a:r>
              <a:rPr lang="zh-CN" altLang="en-US"/>
              <a:t>函数曲线量化得分</a:t>
            </a:r>
            <a:endParaRPr lang="zh-CN" altLang="en-US"/>
          </a:p>
        </c:rich>
      </c:tx>
      <c:layout/>
      <c:overlay val="0"/>
      <c:spPr>
        <a:noFill/>
        <a:ln>
          <a:noFill/>
        </a:ln>
        <a:effectLst/>
      </c:spPr>
    </c:title>
    <c:autoTitleDeleted val="0"/>
    <c:plotArea>
      <c:layout/>
      <c:barChart>
        <c:barDir val="col"/>
        <c:grouping val="clustered"/>
        <c:varyColors val="0"/>
        <c:ser>
          <c:idx val="0"/>
          <c:order val="0"/>
          <c:tx>
            <c:strRef>
              <c:f>[统计表.xlsx]Sheet1!$E$1</c:f>
              <c:strCache>
                <c:ptCount val="1"/>
                <c:pt idx="0">
                  <c:v>复杂度均值</c:v>
                </c:pt>
              </c:strCache>
            </c:strRef>
          </c:tx>
          <c:spPr>
            <a:solidFill>
              <a:schemeClr val="accent1"/>
            </a:solidFill>
            <a:ln>
              <a:noFill/>
            </a:ln>
            <a:effectLst/>
          </c:spPr>
          <c:invertIfNegative val="0"/>
          <c:dLbls>
            <c:delete val="1"/>
          </c:dLbls>
          <c:cat>
            <c:strRef>
              <c:f>[统计表.xlsx]Sheet1!$C$2:$C$24</c:f>
              <c:strCache>
                <c:ptCount val="23"/>
                <c:pt idx="0">
                  <c:v>泸203H10-1</c:v>
                </c:pt>
                <c:pt idx="1">
                  <c:v>泸203H10-2</c:v>
                </c:pt>
                <c:pt idx="2">
                  <c:v>泸203H10-3</c:v>
                </c:pt>
                <c:pt idx="3">
                  <c:v>泸203H10-4</c:v>
                </c:pt>
                <c:pt idx="4">
                  <c:v>泸203H10-5</c:v>
                </c:pt>
                <c:pt idx="5">
                  <c:v>泸203H10-6</c:v>
                </c:pt>
                <c:pt idx="6">
                  <c:v>泸203H123-1</c:v>
                </c:pt>
                <c:pt idx="7">
                  <c:v>泸203H123-2</c:v>
                </c:pt>
                <c:pt idx="8">
                  <c:v>泸203H123-3</c:v>
                </c:pt>
                <c:pt idx="9">
                  <c:v>泸203H123-4</c:v>
                </c:pt>
                <c:pt idx="10">
                  <c:v>泸206H7-1</c:v>
                </c:pt>
                <c:pt idx="11">
                  <c:v>泸206H7-2</c:v>
                </c:pt>
                <c:pt idx="12">
                  <c:v>泸206H7-4</c:v>
                </c:pt>
                <c:pt idx="13">
                  <c:v>泸206H7-5</c:v>
                </c:pt>
                <c:pt idx="14">
                  <c:v>泸206H8-6</c:v>
                </c:pt>
                <c:pt idx="15">
                  <c:v>泸206H8-7</c:v>
                </c:pt>
                <c:pt idx="16">
                  <c:v>泸206H8-8</c:v>
                </c:pt>
                <c:pt idx="17">
                  <c:v>足201H21-1</c:v>
                </c:pt>
                <c:pt idx="18">
                  <c:v>足201H21-2</c:v>
                </c:pt>
                <c:pt idx="19">
                  <c:v>足201H21-3</c:v>
                </c:pt>
                <c:pt idx="20">
                  <c:v>足201H21-4</c:v>
                </c:pt>
                <c:pt idx="21">
                  <c:v>足201H21-5</c:v>
                </c:pt>
                <c:pt idx="22">
                  <c:v>足201H21-6</c:v>
                </c:pt>
              </c:strCache>
            </c:strRef>
          </c:cat>
          <c:val>
            <c:numRef>
              <c:f>[统计表.xlsx]Sheet1!$E$2:$E$24</c:f>
              <c:numCache>
                <c:formatCode>0.00</c:formatCode>
                <c:ptCount val="23"/>
                <c:pt idx="0">
                  <c:v>89.58</c:v>
                </c:pt>
                <c:pt idx="1">
                  <c:v>90.3</c:v>
                </c:pt>
                <c:pt idx="2">
                  <c:v>89.98</c:v>
                </c:pt>
                <c:pt idx="3">
                  <c:v>90.28</c:v>
                </c:pt>
                <c:pt idx="4">
                  <c:v>90.3</c:v>
                </c:pt>
                <c:pt idx="5">
                  <c:v>90.19</c:v>
                </c:pt>
                <c:pt idx="6">
                  <c:v>90.66</c:v>
                </c:pt>
                <c:pt idx="7">
                  <c:v>90.63</c:v>
                </c:pt>
                <c:pt idx="8">
                  <c:v>90.59</c:v>
                </c:pt>
                <c:pt idx="9">
                  <c:v>90.4</c:v>
                </c:pt>
                <c:pt idx="10">
                  <c:v>87.91</c:v>
                </c:pt>
                <c:pt idx="11">
                  <c:v>89.67</c:v>
                </c:pt>
                <c:pt idx="12">
                  <c:v>89.94</c:v>
                </c:pt>
                <c:pt idx="13">
                  <c:v>88.82</c:v>
                </c:pt>
                <c:pt idx="14">
                  <c:v>90.08</c:v>
                </c:pt>
                <c:pt idx="15">
                  <c:v>90.23</c:v>
                </c:pt>
                <c:pt idx="16">
                  <c:v>90.15</c:v>
                </c:pt>
                <c:pt idx="17">
                  <c:v>90.4</c:v>
                </c:pt>
                <c:pt idx="18">
                  <c:v>90.4</c:v>
                </c:pt>
                <c:pt idx="19">
                  <c:v>90.28</c:v>
                </c:pt>
                <c:pt idx="20">
                  <c:v>89.93</c:v>
                </c:pt>
                <c:pt idx="21">
                  <c:v>89.65</c:v>
                </c:pt>
                <c:pt idx="22">
                  <c:v>89.86</c:v>
                </c:pt>
              </c:numCache>
            </c:numRef>
          </c:val>
        </c:ser>
        <c:dLbls>
          <c:showLegendKey val="0"/>
          <c:showVal val="0"/>
          <c:showCatName val="0"/>
          <c:showSerName val="0"/>
          <c:showPercent val="0"/>
          <c:showBubbleSize val="0"/>
        </c:dLbls>
        <c:gapWidth val="246"/>
        <c:overlap val="-28"/>
        <c:axId val="545466080"/>
        <c:axId val="983652799"/>
      </c:barChart>
      <c:catAx>
        <c:axId val="545466080"/>
        <c:scaling>
          <c:orientation val="minMax"/>
        </c:scaling>
        <c:delete val="0"/>
        <c:axPos val="b"/>
        <c:numFmt formatCode="General" sourceLinked="0"/>
        <c:majorTickMark val="none"/>
        <c:minorTickMark val="none"/>
        <c:tickLblPos val="nextTo"/>
        <c:spPr>
          <a:noFill/>
          <a:ln w="9525" cap="flat" cmpd="sng" algn="ctr">
            <a:solidFill>
              <a:schemeClr val="tx1"/>
            </a:solidFill>
            <a:round/>
          </a:ln>
          <a:effectLst/>
        </c:spPr>
        <c:txPr>
          <a:bodyPr rot="-60000000" spcFirstLastPara="0" vertOverflow="ellipsis" vert="horz" wrap="square" anchor="ctr" anchorCtr="1" forceAA="0"/>
          <a:lstStyle/>
          <a:p>
            <a:pPr>
              <a:defRPr lang="zh-CN" sz="900" b="0" i="0" u="none" strike="noStrike" kern="1200" baseline="0">
                <a:solidFill>
                  <a:schemeClr val="tx1"/>
                </a:solidFill>
                <a:latin typeface="+mn-lt"/>
                <a:ea typeface="+mn-ea"/>
                <a:cs typeface="+mn-cs"/>
              </a:defRPr>
            </a:pPr>
          </a:p>
        </c:txPr>
        <c:crossAx val="983652799"/>
        <c:crosses val="autoZero"/>
        <c:auto val="1"/>
        <c:lblAlgn val="ctr"/>
        <c:lblOffset val="100"/>
        <c:noMultiLvlLbl val="0"/>
      </c:catAx>
      <c:valAx>
        <c:axId val="983652799"/>
        <c:scaling>
          <c:orientation val="minMax"/>
        </c:scaling>
        <c:delete val="0"/>
        <c:axPos val="l"/>
        <c:numFmt formatCode="0.00" sourceLinked="1"/>
        <c:majorTickMark val="in"/>
        <c:minorTickMark val="none"/>
        <c:tickLblPos val="nextTo"/>
        <c:spPr>
          <a:noFill/>
          <a:ln>
            <a:solidFill>
              <a:schemeClr val="tx1"/>
            </a:solidFill>
          </a:ln>
          <a:effectLst/>
        </c:spPr>
        <c:txPr>
          <a:bodyPr rot="-60000000" spcFirstLastPara="0" vertOverflow="ellipsis" vert="horz" wrap="square" anchor="ctr" anchorCtr="1" forceAA="0"/>
          <a:lstStyle/>
          <a:p>
            <a:pPr>
              <a:defRPr lang="zh-CN" sz="900" b="0" i="0" u="none" strike="noStrike" kern="1200" baseline="0">
                <a:solidFill>
                  <a:schemeClr val="tx1"/>
                </a:solidFill>
                <a:latin typeface="+mn-lt"/>
                <a:ea typeface="+mn-ea"/>
                <a:cs typeface="+mn-cs"/>
              </a:defRPr>
            </a:pPr>
          </a:p>
        </c:txPr>
        <c:crossAx val="545466080"/>
        <c:crosses val="autoZero"/>
        <c:crossBetween val="between"/>
      </c:valAx>
      <c:spPr>
        <a:noFill/>
        <a:ln>
          <a:noFill/>
        </a:ln>
        <a:effectLst/>
      </c:spPr>
    </c:plotArea>
    <c:plotVisOnly val="1"/>
    <c:dispBlanksAs val="gap"/>
    <c:showDLblsOverMax val="0"/>
    <c:extLst>
      <c:ext uri="{0b15fc19-7d7d-44ad-8c2d-2c3a37ce22c3}">
        <chartProps xmlns="https://web.wps.cn/et/2018/main" chartId="{ac36e718-20f5-45f4-be3c-a2db839df7e2}"/>
      </c:ext>
    </c:extLst>
  </c:chart>
  <c:spPr>
    <a:solidFill>
      <a:schemeClr val="bg1"/>
    </a:solidFill>
    <a:ln w="9525" cap="flat" cmpd="sng" algn="ctr">
      <a:solidFill>
        <a:srgbClr val="000000"/>
      </a:solidFill>
      <a:round/>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defTabSz="914400">
              <a:defRPr lang="zh-CN" sz="1680" b="1"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水击边界指数</a:t>
            </a:r>
            <a:r>
              <a:rPr lang="en-US" altLang="zh-CN"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en-US"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微地震缝高</a:t>
            </a:r>
            <a:endParaRPr lang="zh-CN" altLang="en-US"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manualLayout>
          <c:xMode val="edge"/>
          <c:yMode val="edge"/>
          <c:x val="0.288088142677835"/>
          <c:y val="0.018830722521046"/>
        </c:manualLayout>
      </c:layout>
      <c:overlay val="0"/>
      <c:spPr>
        <a:noFill/>
        <a:ln>
          <a:noFill/>
        </a:ln>
        <a:effectLst/>
      </c:spPr>
    </c:title>
    <c:autoTitleDeleted val="0"/>
    <c:plotArea>
      <c:layout>
        <c:manualLayout>
          <c:layoutTarget val="inner"/>
          <c:xMode val="edge"/>
          <c:yMode val="edge"/>
          <c:x val="0.158820406750171"/>
          <c:y val="0.152466146721908"/>
          <c:w val="0.79141066498593"/>
          <c:h val="0.636521357876319"/>
        </c:manualLayout>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dLbls>
            <c:delete val="1"/>
          </c:dLbls>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1"/>
            <c:dispEq val="1"/>
            <c:trendlineLbl>
              <c:layout>
                <c:manualLayout>
                  <c:x val="-0.307091273140625"/>
                  <c:y val="0.00677995499290281"/>
                </c:manualLayout>
              </c:layout>
              <c:numFmt formatCode="General" sourceLinked="0"/>
              <c:spPr>
                <a:noFill/>
                <a:ln>
                  <a:noFill/>
                </a:ln>
                <a:effectLst/>
              </c:spPr>
              <c:txPr>
                <a:bodyPr rot="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trendlineLbl>
          </c:trendline>
          <c:xVal>
            <c:numRef>
              <c:f>'[统计表.xlsx]边界指数-缝高'!$B$2:$B$9</c:f>
              <c:numCache>
                <c:formatCode>0.00_);[Red]\(0.00\)</c:formatCode>
                <c:ptCount val="8"/>
                <c:pt idx="0">
                  <c:v>8.97431557558554</c:v>
                </c:pt>
                <c:pt idx="1">
                  <c:v>8.78059230218353</c:v>
                </c:pt>
                <c:pt idx="2">
                  <c:v>8.63556366500972</c:v>
                </c:pt>
                <c:pt idx="3">
                  <c:v>8.78630769637412</c:v>
                </c:pt>
                <c:pt idx="4">
                  <c:v>7.77953157580365</c:v>
                </c:pt>
                <c:pt idx="5">
                  <c:v>8.56475419906235</c:v>
                </c:pt>
                <c:pt idx="6">
                  <c:v>7.79276130779908</c:v>
                </c:pt>
                <c:pt idx="7">
                  <c:v>8.13136751823124</c:v>
                </c:pt>
              </c:numCache>
            </c:numRef>
          </c:xVal>
          <c:yVal>
            <c:numRef>
              <c:f>'[统计表.xlsx]边界指数-缝高'!$C$2:$C$9</c:f>
              <c:numCache>
                <c:formatCode>0.00_);[Red]\(0.00\)</c:formatCode>
                <c:ptCount val="8"/>
                <c:pt idx="0">
                  <c:v>128.428571428571</c:v>
                </c:pt>
                <c:pt idx="1">
                  <c:v>125.823529411765</c:v>
                </c:pt>
                <c:pt idx="2">
                  <c:v>132</c:v>
                </c:pt>
                <c:pt idx="3">
                  <c:v>132.666666666667</c:v>
                </c:pt>
                <c:pt idx="4">
                  <c:v>93.5384615384615</c:v>
                </c:pt>
                <c:pt idx="5">
                  <c:v>99.0476190476191</c:v>
                </c:pt>
                <c:pt idx="6">
                  <c:v>109.25</c:v>
                </c:pt>
                <c:pt idx="7">
                  <c:v>102.789473684211</c:v>
                </c:pt>
              </c:numCache>
            </c:numRef>
          </c:yVal>
          <c:smooth val="0"/>
        </c:ser>
        <c:dLbls>
          <c:showLegendKey val="0"/>
          <c:showVal val="0"/>
          <c:showCatName val="0"/>
          <c:showSerName val="0"/>
          <c:showPercent val="0"/>
          <c:showBubbleSize val="0"/>
        </c:dLbls>
        <c:axId val="527018164"/>
        <c:axId val="471499144"/>
      </c:scatterChart>
      <c:valAx>
        <c:axId val="527018164"/>
        <c:scaling>
          <c:orientation val="minMax"/>
          <c:max val="9.1"/>
        </c:scaling>
        <c:delete val="0"/>
        <c:axPos val="b"/>
        <c:title>
          <c:tx>
            <c:rich>
              <a:bodyPr rot="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水击边界指数得分</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manualLayout>
              <c:xMode val="edge"/>
              <c:yMode val="edge"/>
              <c:x val="0.40092166600424"/>
              <c:y val="0.908498263355616"/>
            </c:manualLayout>
          </c:layout>
          <c:overlay val="0"/>
          <c:spPr>
            <a:noFill/>
            <a:ln>
              <a:noFill/>
            </a:ln>
            <a:effectLst/>
          </c:spPr>
        </c:title>
        <c:numFmt formatCode="0.00_);[Red]\(0.00\)" sourceLinked="1"/>
        <c:majorTickMark val="in"/>
        <c:minorTickMark val="none"/>
        <c:tickLblPos val="nextTo"/>
        <c:spPr>
          <a:noFill/>
          <a:ln w="9525" cap="flat" cmpd="sng" algn="ctr">
            <a:solidFill>
              <a:schemeClr val="tx1"/>
            </a:solidFill>
            <a:round/>
          </a:ln>
          <a:effectLst/>
        </c:spPr>
        <c:txPr>
          <a:bodyPr rot="-6000000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471499144"/>
        <c:crosses val="autoZero"/>
        <c:crossBetween val="midCat"/>
        <c:majorUnit val="0.2"/>
      </c:valAx>
      <c:valAx>
        <c:axId val="471499144"/>
        <c:scaling>
          <c:orientation val="minMax"/>
          <c:min val="80"/>
        </c:scaling>
        <c:delete val="0"/>
        <c:axPos val="l"/>
        <c:title>
          <c:tx>
            <c:rich>
              <a:bodyPr rot="-540000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微地震缝高</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overlay val="0"/>
          <c:spPr>
            <a:noFill/>
            <a:ln>
              <a:noFill/>
            </a:ln>
            <a:effectLst/>
          </c:spPr>
        </c:title>
        <c:numFmt formatCode="0_);[Red]\(0\)" sourceLinked="0"/>
        <c:majorTickMark val="in"/>
        <c:minorTickMark val="none"/>
        <c:tickLblPos val="nextTo"/>
        <c:spPr>
          <a:noFill/>
          <a:ln w="9525" cap="flat" cmpd="sng" algn="ctr">
            <a:solidFill>
              <a:schemeClr val="tx1"/>
            </a:solidFill>
            <a:round/>
          </a:ln>
          <a:effectLst/>
        </c:spPr>
        <c:txPr>
          <a:bodyPr rot="-6000000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527018164"/>
        <c:crosses val="autoZero"/>
        <c:crossBetween val="midCat"/>
      </c:valAx>
      <c:spPr>
        <a:noFill/>
        <a:ln w="9525" cap="flat" cmpd="sng" algn="ctr">
          <a:solidFill>
            <a:schemeClr val="bg1"/>
          </a:solidFill>
          <a:round/>
        </a:ln>
        <a:effectLst/>
      </c:spPr>
    </c:plotArea>
    <c:plotVisOnly val="1"/>
    <c:dispBlanksAs val="gap"/>
    <c:showDLblsOverMax val="0"/>
    <c:extLst>
      <c:ext uri="{0b15fc19-7d7d-44ad-8c2d-2c3a37ce22c3}">
        <chartProps xmlns="https://web.wps.cn/et/2018/main" chartId="{8a77de58-5a60-4bfa-bf27-f966f1e3bd1b}"/>
      </c:ext>
    </c:extLst>
  </c:chart>
  <c:spPr>
    <a:solidFill>
      <a:schemeClr val="bg1"/>
    </a:solidFill>
    <a:ln w="9525" cap="flat" cmpd="sng" algn="ctr">
      <a:solidFill>
        <a:srgbClr val="000000"/>
      </a:solidFill>
      <a:round/>
    </a:ln>
    <a:effectLst/>
  </c:spPr>
  <c:txPr>
    <a:bodyPr/>
    <a:lstStyle/>
    <a:p>
      <a:pPr>
        <a:defRPr lang="zh-CN"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defTabSz="914400">
              <a:defRPr lang="zh-CN" sz="1680" b="1"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水击衰减系数</a:t>
            </a:r>
            <a:r>
              <a:rPr lang="en-US" altLang="zh-CN"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en-US"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微地震缝长</a:t>
            </a:r>
            <a:endParaRPr lang="zh-CN" altLang="en-US"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manualLayout>
          <c:xMode val="edge"/>
          <c:yMode val="edge"/>
          <c:x val="0.272802226115634"/>
          <c:y val="0.0212635452872623"/>
        </c:manualLayout>
      </c:layout>
      <c:overlay val="0"/>
      <c:spPr>
        <a:noFill/>
        <a:ln>
          <a:noFill/>
        </a:ln>
        <a:effectLst/>
      </c:spPr>
    </c:title>
    <c:autoTitleDeleted val="0"/>
    <c:plotArea>
      <c:layout>
        <c:manualLayout>
          <c:layoutTarget val="inner"/>
          <c:xMode val="edge"/>
          <c:yMode val="edge"/>
          <c:x val="0.144385137298704"/>
          <c:y val="0.149285395265744"/>
          <c:w val="0.808496189859066"/>
          <c:h val="0.63776239392586"/>
        </c:manualLayout>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dLbls>
            <c:delete val="1"/>
          </c:dLbls>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1"/>
            <c:dispEq val="1"/>
            <c:trendlineLbl>
              <c:layout>
                <c:manualLayout>
                  <c:x val="-0.243764199228555"/>
                  <c:y val="0.0712742229061029"/>
                </c:manualLayout>
              </c:layout>
              <c:numFmt formatCode="General" sourceLinked="0"/>
              <c:spPr>
                <a:noFill/>
                <a:ln>
                  <a:noFill/>
                </a:ln>
                <a:effectLst/>
              </c:spPr>
              <c:txPr>
                <a:bodyPr rot="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trendlineLbl>
          </c:trendline>
          <c:xVal>
            <c:numRef>
              <c:f>'[统计表.xlsx]衰减指数-缝长'!$B$2:$B$9</c:f>
              <c:numCache>
                <c:formatCode>0.00_);[Red]\(0.00\)</c:formatCode>
                <c:ptCount val="8"/>
                <c:pt idx="0">
                  <c:v>9.12711632111213</c:v>
                </c:pt>
                <c:pt idx="1">
                  <c:v>9.3890095813307</c:v>
                </c:pt>
                <c:pt idx="2">
                  <c:v>8.62882129912044</c:v>
                </c:pt>
                <c:pt idx="3">
                  <c:v>9.13604054205881</c:v>
                </c:pt>
                <c:pt idx="4">
                  <c:v>9.16455425076383</c:v>
                </c:pt>
                <c:pt idx="5">
                  <c:v>9.38947638750138</c:v>
                </c:pt>
                <c:pt idx="6">
                  <c:v>9.25569452433461</c:v>
                </c:pt>
                <c:pt idx="7">
                  <c:v>9.13434261770077</c:v>
                </c:pt>
              </c:numCache>
            </c:numRef>
          </c:xVal>
          <c:yVal>
            <c:numRef>
              <c:f>'[统计表.xlsx]衰减指数-缝长'!$C$2:$C$9</c:f>
              <c:numCache>
                <c:formatCode>0.00_);[Red]\(0.00\)</c:formatCode>
                <c:ptCount val="8"/>
                <c:pt idx="0">
                  <c:v>383.857142857143</c:v>
                </c:pt>
                <c:pt idx="1">
                  <c:v>351.611111111111</c:v>
                </c:pt>
                <c:pt idx="2">
                  <c:v>389.210526315789</c:v>
                </c:pt>
                <c:pt idx="3">
                  <c:v>376.761904761905</c:v>
                </c:pt>
                <c:pt idx="4">
                  <c:v>279.846153846154</c:v>
                </c:pt>
                <c:pt idx="5">
                  <c:v>272.619047619048</c:v>
                </c:pt>
                <c:pt idx="6">
                  <c:v>291.5625</c:v>
                </c:pt>
                <c:pt idx="7">
                  <c:v>308.263157894737</c:v>
                </c:pt>
              </c:numCache>
            </c:numRef>
          </c:yVal>
          <c:smooth val="0"/>
        </c:ser>
        <c:dLbls>
          <c:showLegendKey val="0"/>
          <c:showVal val="0"/>
          <c:showCatName val="0"/>
          <c:showSerName val="0"/>
          <c:showPercent val="0"/>
          <c:showBubbleSize val="0"/>
        </c:dLbls>
        <c:axId val="187349131"/>
        <c:axId val="914549598"/>
      </c:scatterChart>
      <c:valAx>
        <c:axId val="187349131"/>
        <c:scaling>
          <c:orientation val="minMax"/>
          <c:max val="9.5"/>
          <c:min val="8.6"/>
        </c:scaling>
        <c:delete val="0"/>
        <c:axPos val="b"/>
        <c:title>
          <c:tx>
            <c:rich>
              <a:bodyPr rot="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水击衰减系数得分</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manualLayout>
              <c:xMode val="edge"/>
              <c:yMode val="edge"/>
              <c:x val="0.388210166180984"/>
              <c:y val="0.907324698526128"/>
            </c:manualLayout>
          </c:layout>
          <c:overlay val="0"/>
          <c:spPr>
            <a:noFill/>
            <a:ln>
              <a:noFill/>
            </a:ln>
            <a:effectLst/>
          </c:spPr>
        </c:title>
        <c:numFmt formatCode="0.00_);[Red]\(0.00\)" sourceLinked="1"/>
        <c:majorTickMark val="in"/>
        <c:minorTickMark val="none"/>
        <c:tickLblPos val="nextTo"/>
        <c:spPr>
          <a:noFill/>
          <a:ln w="9525" cap="flat" cmpd="sng" algn="ctr">
            <a:solidFill>
              <a:schemeClr val="tx1"/>
            </a:solidFill>
            <a:round/>
          </a:ln>
          <a:effectLst/>
        </c:spPr>
        <c:txPr>
          <a:bodyPr rot="-6000000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914549598"/>
        <c:crosses val="autoZero"/>
        <c:crossBetween val="midCat"/>
        <c:majorUnit val="0.1"/>
      </c:valAx>
      <c:valAx>
        <c:axId val="914549598"/>
        <c:scaling>
          <c:orientation val="minMax"/>
          <c:min val="200"/>
        </c:scaling>
        <c:delete val="0"/>
        <c:axPos val="l"/>
        <c:title>
          <c:tx>
            <c:rich>
              <a:bodyPr rot="-540000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微地震缝长</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overlay val="0"/>
          <c:spPr>
            <a:noFill/>
            <a:ln>
              <a:noFill/>
            </a:ln>
            <a:effectLst/>
          </c:spPr>
        </c:title>
        <c:numFmt formatCode="0_);[Red]\(0\)" sourceLinked="0"/>
        <c:majorTickMark val="in"/>
        <c:minorTickMark val="none"/>
        <c:tickLblPos val="nextTo"/>
        <c:spPr>
          <a:noFill/>
          <a:ln w="9525" cap="flat" cmpd="sng" algn="ctr">
            <a:solidFill>
              <a:schemeClr val="tx1"/>
            </a:solidFill>
            <a:round/>
          </a:ln>
          <a:effectLst/>
        </c:spPr>
        <c:txPr>
          <a:bodyPr rot="-6000000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187349131"/>
        <c:crosses val="autoZero"/>
        <c:crossBetween val="midCat"/>
      </c:valAx>
      <c:spPr>
        <a:noFill/>
        <a:ln w="9525" cap="flat" cmpd="sng" algn="ctr">
          <a:solidFill>
            <a:schemeClr val="bg1"/>
          </a:solidFill>
          <a:round/>
        </a:ln>
        <a:effectLst/>
      </c:spPr>
    </c:plotArea>
    <c:plotVisOnly val="1"/>
    <c:dispBlanksAs val="gap"/>
    <c:showDLblsOverMax val="0"/>
    <c:extLst>
      <c:ext uri="{0b15fc19-7d7d-44ad-8c2d-2c3a37ce22c3}">
        <chartProps xmlns="https://web.wps.cn/et/2018/main" chartId="{51afc5e5-0f5f-45e2-b864-3d631c211e95}"/>
      </c:ext>
    </c:extLst>
  </c:chart>
  <c:spPr>
    <a:solidFill>
      <a:schemeClr val="bg1"/>
    </a:solidFill>
    <a:ln w="9525" cap="flat" cmpd="sng" algn="ctr">
      <a:solidFill>
        <a:srgbClr val="000000"/>
      </a:solidFill>
      <a:round/>
    </a:ln>
    <a:effectLst/>
  </c:spPr>
  <c:txPr>
    <a:bodyPr/>
    <a:lstStyle/>
    <a:p>
      <a:pPr>
        <a:defRPr lang="zh-CN"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defTabSz="914400">
              <a:defRPr lang="zh-CN" sz="1680" b="1"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G</a:t>
            </a:r>
            <a:r>
              <a:rPr lang="zh-CN" altLang="en-US"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函数曲线量化</a:t>
            </a:r>
            <a:r>
              <a:rPr lang="en-US" altLang="zh-CN"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en-US"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裂缝复杂度</a:t>
            </a:r>
            <a:endParaRPr lang="zh-CN" altLang="en-US"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overlay val="0"/>
      <c:spPr>
        <a:noFill/>
        <a:ln>
          <a:noFill/>
        </a:ln>
        <a:effectLst/>
      </c:spPr>
    </c:title>
    <c:autoTitleDeleted val="0"/>
    <c:plotArea>
      <c:layout>
        <c:manualLayout>
          <c:layoutTarget val="inner"/>
          <c:xMode val="edge"/>
          <c:yMode val="edge"/>
          <c:x val="0.0885001876859365"/>
          <c:y val="0.168511519393409"/>
          <c:w val="0.885636876877308"/>
          <c:h val="0.517407990667833"/>
        </c:manualLayout>
      </c:layout>
      <c:barChart>
        <c:barDir val="col"/>
        <c:grouping val="clustered"/>
        <c:varyColors val="0"/>
        <c:ser>
          <c:idx val="0"/>
          <c:order val="0"/>
          <c:tx>
            <c:strRef>
              <c:f>[统计表.xlsx]Sheet4!$B$1</c:f>
              <c:strCache>
                <c:ptCount val="1"/>
                <c:pt idx="0">
                  <c:v>G函数曲线量化得分-天然裂缝发育</c:v>
                </c:pt>
              </c:strCache>
            </c:strRef>
          </c:tx>
          <c:spPr>
            <a:solidFill>
              <a:schemeClr val="accent1"/>
            </a:solidFill>
            <a:ln>
              <a:noFill/>
            </a:ln>
            <a:effectLst/>
          </c:spPr>
          <c:invertIfNegative val="0"/>
          <c:dLbls>
            <c:delete val="1"/>
          </c:dLbls>
          <c:cat>
            <c:strRef>
              <c:f>[统计表.xlsx]Sheet4!$A$2:$A$3</c:f>
              <c:strCache>
                <c:ptCount val="2"/>
                <c:pt idx="0">
                  <c:v>泸203H10-6</c:v>
                </c:pt>
                <c:pt idx="1">
                  <c:v>泸203H123-3</c:v>
                </c:pt>
              </c:strCache>
            </c:strRef>
          </c:cat>
          <c:val>
            <c:numRef>
              <c:f>[统计表.xlsx]Sheet4!$B$2:$B$3</c:f>
              <c:numCache>
                <c:formatCode>General</c:formatCode>
                <c:ptCount val="2"/>
                <c:pt idx="0">
                  <c:v>9</c:v>
                </c:pt>
                <c:pt idx="1">
                  <c:v>9.025</c:v>
                </c:pt>
              </c:numCache>
            </c:numRef>
          </c:val>
        </c:ser>
        <c:ser>
          <c:idx val="1"/>
          <c:order val="1"/>
          <c:tx>
            <c:strRef>
              <c:f>[统计表.xlsx]Sheet4!$C$1</c:f>
              <c:strCache>
                <c:ptCount val="1"/>
                <c:pt idx="0">
                  <c:v>G函数曲线量化得分-天然裂缝不发育</c:v>
                </c:pt>
              </c:strCache>
            </c:strRef>
          </c:tx>
          <c:spPr>
            <a:solidFill>
              <a:schemeClr val="accent2"/>
            </a:solidFill>
            <a:ln>
              <a:noFill/>
            </a:ln>
            <a:effectLst/>
          </c:spPr>
          <c:invertIfNegative val="0"/>
          <c:dLbls>
            <c:delete val="1"/>
          </c:dLbls>
          <c:cat>
            <c:strRef>
              <c:f>[统计表.xlsx]Sheet4!$A$2:$A$3</c:f>
              <c:strCache>
                <c:ptCount val="2"/>
                <c:pt idx="0">
                  <c:v>泸203H10-6</c:v>
                </c:pt>
                <c:pt idx="1">
                  <c:v>泸203H123-3</c:v>
                </c:pt>
              </c:strCache>
            </c:strRef>
          </c:cat>
          <c:val>
            <c:numRef>
              <c:f>[统计表.xlsx]Sheet4!$C$2:$C$3</c:f>
              <c:numCache>
                <c:formatCode>General</c:formatCode>
                <c:ptCount val="2"/>
                <c:pt idx="0">
                  <c:v>7.77</c:v>
                </c:pt>
                <c:pt idx="1">
                  <c:v>7.996</c:v>
                </c:pt>
              </c:numCache>
            </c:numRef>
          </c:val>
        </c:ser>
        <c:dLbls>
          <c:showLegendKey val="0"/>
          <c:showVal val="0"/>
          <c:showCatName val="0"/>
          <c:showSerName val="0"/>
          <c:showPercent val="0"/>
          <c:showBubbleSize val="0"/>
        </c:dLbls>
        <c:gapWidth val="246"/>
        <c:overlap val="-28"/>
        <c:axId val="107307619"/>
        <c:axId val="342209942"/>
      </c:barChart>
      <c:catAx>
        <c:axId val="107307619"/>
        <c:scaling>
          <c:orientation val="minMax"/>
        </c:scaling>
        <c:delete val="0"/>
        <c:axPos val="b"/>
        <c:numFmt formatCode="General" sourceLinked="0"/>
        <c:majorTickMark val="none"/>
        <c:minorTickMark val="none"/>
        <c:tickLblPos val="nextTo"/>
        <c:spPr>
          <a:noFill/>
          <a:ln w="9525" cap="flat" cmpd="sng" algn="ctr">
            <a:solidFill>
              <a:schemeClr val="tx1"/>
            </a:solidFill>
            <a:round/>
          </a:ln>
          <a:effectLst/>
        </c:spPr>
        <c:txPr>
          <a:bodyPr rot="-6000000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342209942"/>
        <c:crosses val="autoZero"/>
        <c:auto val="1"/>
        <c:lblAlgn val="ctr"/>
        <c:lblOffset val="100"/>
        <c:noMultiLvlLbl val="0"/>
      </c:catAx>
      <c:valAx>
        <c:axId val="342209942"/>
        <c:scaling>
          <c:orientation val="minMax"/>
        </c:scaling>
        <c:delete val="0"/>
        <c:axPos val="l"/>
        <c:numFmt formatCode="General" sourceLinked="1"/>
        <c:majorTickMark val="in"/>
        <c:minorTickMark val="none"/>
        <c:tickLblPos val="nextTo"/>
        <c:spPr>
          <a:noFill/>
          <a:ln>
            <a:solidFill>
              <a:schemeClr val="tx1"/>
            </a:solidFill>
          </a:ln>
          <a:effectLst/>
        </c:spPr>
        <c:txPr>
          <a:bodyPr rot="-6000000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107307619"/>
        <c:crosses val="autoZero"/>
        <c:crossBetween val="between"/>
      </c:valAx>
      <c:spPr>
        <a:noFill/>
        <a:ln>
          <a:noFill/>
        </a:ln>
        <a:effectLst/>
      </c:spPr>
    </c:plotArea>
    <c:legend>
      <c:legendPos val="b"/>
      <c:legendEntry>
        <c:idx val="0"/>
        <c:txPr>
          <a:bodyPr rot="0" spcFirstLastPara="0" vertOverflow="ellipsis" vert="horz" wrap="square" anchor="ctr" anchorCtr="1"/>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legendEntry>
      <c:legendEntry>
        <c:idx val="1"/>
        <c:txPr>
          <a:bodyPr rot="0" spcFirstLastPara="0" vertOverflow="ellipsis" vert="horz" wrap="square" anchor="ctr" anchorCtr="1"/>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legendEntry>
      <c:layout>
        <c:manualLayout>
          <c:xMode val="edge"/>
          <c:yMode val="edge"/>
          <c:x val="0.0212517356469543"/>
          <c:y val="0.803368912219306"/>
          <c:w val="0.955305775715604"/>
          <c:h val="0.174408865558472"/>
        </c:manualLayout>
      </c:layout>
      <c:overlay val="0"/>
      <c:spPr>
        <a:noFill/>
        <a:ln>
          <a:noFill/>
        </a:ln>
        <a:effectLst/>
      </c:spPr>
      <c:txPr>
        <a:bodyPr rot="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legend>
    <c:plotVisOnly val="1"/>
    <c:dispBlanksAs val="gap"/>
    <c:showDLblsOverMax val="0"/>
    <c:extLst>
      <c:ext uri="{0b15fc19-7d7d-44ad-8c2d-2c3a37ce22c3}">
        <chartProps xmlns="https://web.wps.cn/et/2018/main" chartId="{862ab34e-349f-4a55-b534-17e93d651ba8}"/>
      </c:ext>
    </c:extLst>
  </c:chart>
  <c:spPr>
    <a:solidFill>
      <a:schemeClr val="bg1"/>
    </a:solidFill>
    <a:ln w="9525" cap="flat" cmpd="sng" algn="ctr">
      <a:solidFill>
        <a:srgbClr val="000000"/>
      </a:solidFill>
      <a:round/>
    </a:ln>
    <a:effectLst/>
  </c:spPr>
  <c:txPr>
    <a:bodyPr/>
    <a:lstStyle/>
    <a:p>
      <a:pPr>
        <a:defRPr lang="zh-CN"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defTabSz="914400">
              <a:defRPr lang="zh-CN" sz="1680" b="1"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停泵压降</a:t>
            </a:r>
            <a:r>
              <a:rPr lang="en-US" altLang="zh-CN"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en-US"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停泵</a:t>
            </a:r>
            <a:r>
              <a:rPr lang="en-US" altLang="zh-CN"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15min</a:t>
            </a:r>
            <a:r>
              <a:rPr lang="zh-CN" altLang="en-US"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压降</a:t>
            </a:r>
            <a:endParaRPr lang="zh-CN" altLang="en-US"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manualLayout>
          <c:xMode val="edge"/>
          <c:yMode val="edge"/>
          <c:x val="0.287117405207857"/>
          <c:y val="0.0233963735620979"/>
        </c:manualLayout>
      </c:layout>
      <c:overlay val="0"/>
      <c:spPr>
        <a:noFill/>
        <a:ln>
          <a:noFill/>
        </a:ln>
        <a:effectLst/>
      </c:spPr>
    </c:title>
    <c:autoTitleDeleted val="0"/>
    <c:plotArea>
      <c:layout>
        <c:manualLayout>
          <c:layoutTarget val="inner"/>
          <c:xMode val="edge"/>
          <c:yMode val="edge"/>
          <c:x val="0.149173210361039"/>
          <c:y val="0.152662037037037"/>
          <c:w val="0.800409887663083"/>
          <c:h val="0.626134259259259"/>
        </c:manualLayout>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dLbls>
            <c:delete val="1"/>
          </c:dLbls>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1"/>
            <c:dispEq val="1"/>
            <c:trendlineLbl>
              <c:layout>
                <c:manualLayout>
                  <c:x val="-0.229362606414792"/>
                  <c:y val="0.0477391739937589"/>
                </c:manualLayout>
              </c:layout>
              <c:numFmt formatCode="General" sourceLinked="0"/>
              <c:spPr>
                <a:noFill/>
                <a:ln>
                  <a:noFill/>
                </a:ln>
                <a:effectLst/>
              </c:spPr>
              <c:txPr>
                <a:bodyPr rot="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trendlineLbl>
          </c:trendline>
          <c:xVal>
            <c:numRef>
              <c:f>'[统计表.xlsx]停泵15-停泵得分'!$B$2:$B$11</c:f>
              <c:numCache>
                <c:formatCode>0.00_);[Red]\(0.00\)</c:formatCode>
                <c:ptCount val="10"/>
                <c:pt idx="0">
                  <c:v>1.33857142857143</c:v>
                </c:pt>
                <c:pt idx="1">
                  <c:v>1.84166666666667</c:v>
                </c:pt>
                <c:pt idx="2">
                  <c:v>1.14105263157895</c:v>
                </c:pt>
                <c:pt idx="3">
                  <c:v>2.2455</c:v>
                </c:pt>
                <c:pt idx="4">
                  <c:v>1.75181818181818</c:v>
                </c:pt>
                <c:pt idx="5">
                  <c:v>1.43772727272727</c:v>
                </c:pt>
                <c:pt idx="6">
                  <c:v>3.98571428571429</c:v>
                </c:pt>
                <c:pt idx="7">
                  <c:v>5.036</c:v>
                </c:pt>
                <c:pt idx="8">
                  <c:v>4.4</c:v>
                </c:pt>
                <c:pt idx="9">
                  <c:v>4.78636363636364</c:v>
                </c:pt>
              </c:numCache>
            </c:numRef>
          </c:xVal>
          <c:yVal>
            <c:numRef>
              <c:f>'[统计表.xlsx]停泵15-停泵得分'!$C$2:$C$11</c:f>
              <c:numCache>
                <c:formatCode>0.00_);[Red]\(0.00\)</c:formatCode>
                <c:ptCount val="10"/>
                <c:pt idx="0">
                  <c:v>7.57315394600504</c:v>
                </c:pt>
                <c:pt idx="1">
                  <c:v>8.11017614599486</c:v>
                </c:pt>
                <c:pt idx="2">
                  <c:v>7.41564080604519</c:v>
                </c:pt>
                <c:pt idx="3">
                  <c:v>7.9503158409365</c:v>
                </c:pt>
                <c:pt idx="4">
                  <c:v>8.10904239011165</c:v>
                </c:pt>
                <c:pt idx="5">
                  <c:v>7.69171631861601</c:v>
                </c:pt>
                <c:pt idx="6">
                  <c:v>9.28356665737826</c:v>
                </c:pt>
                <c:pt idx="7">
                  <c:v>9.61418051552323</c:v>
                </c:pt>
                <c:pt idx="8">
                  <c:v>9.47953853181724</c:v>
                </c:pt>
                <c:pt idx="9">
                  <c:v>9.65338929707262</c:v>
                </c:pt>
              </c:numCache>
            </c:numRef>
          </c:yVal>
          <c:smooth val="0"/>
        </c:ser>
        <c:dLbls>
          <c:showLegendKey val="0"/>
          <c:showVal val="0"/>
          <c:showCatName val="0"/>
          <c:showSerName val="0"/>
          <c:showPercent val="0"/>
          <c:showBubbleSize val="0"/>
        </c:dLbls>
        <c:axId val="52167548"/>
        <c:axId val="418082813"/>
      </c:scatterChart>
      <c:valAx>
        <c:axId val="52167548"/>
        <c:scaling>
          <c:orientation val="minMax"/>
          <c:min val="0.5"/>
        </c:scaling>
        <c:delete val="0"/>
        <c:axPos val="b"/>
        <c:title>
          <c:tx>
            <c:rich>
              <a:bodyPr rot="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停泵</a:t>
                </a:r>
                <a:r>
                  <a:rPr lang="en-US" altLang="zh-CN"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15min</a:t>
                </a: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压降</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manualLayout>
              <c:xMode val="edge"/>
              <c:yMode val="edge"/>
              <c:x val="0.421704148224486"/>
              <c:y val="0.906999415090661"/>
            </c:manualLayout>
          </c:layout>
          <c:overlay val="0"/>
          <c:spPr>
            <a:noFill/>
            <a:ln>
              <a:noFill/>
            </a:ln>
            <a:effectLst/>
          </c:spPr>
        </c:title>
        <c:numFmt formatCode="0.00_);[Red]\(0.00\)" sourceLinked="1"/>
        <c:majorTickMark val="in"/>
        <c:minorTickMark val="none"/>
        <c:tickLblPos val="nextTo"/>
        <c:spPr>
          <a:noFill/>
          <a:ln w="9525" cap="flat" cmpd="sng" algn="ctr">
            <a:solidFill>
              <a:schemeClr val="tx1"/>
            </a:solidFill>
            <a:round/>
          </a:ln>
          <a:effectLst/>
        </c:spPr>
        <c:txPr>
          <a:bodyPr rot="-6000000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418082813"/>
        <c:crosses val="autoZero"/>
        <c:crossBetween val="midCat"/>
      </c:valAx>
      <c:valAx>
        <c:axId val="418082813"/>
        <c:scaling>
          <c:orientation val="minMax"/>
          <c:min val="7"/>
        </c:scaling>
        <c:delete val="0"/>
        <c:axPos val="l"/>
        <c:title>
          <c:tx>
            <c:rich>
              <a:bodyPr rot="-540000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停泵压降得分</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overlay val="0"/>
          <c:spPr>
            <a:noFill/>
            <a:ln>
              <a:noFill/>
            </a:ln>
            <a:effectLst/>
          </c:spPr>
        </c:title>
        <c:numFmt formatCode="0.0_);[Red]\(0.0\)" sourceLinked="0"/>
        <c:majorTickMark val="in"/>
        <c:minorTickMark val="none"/>
        <c:tickLblPos val="nextTo"/>
        <c:spPr>
          <a:noFill/>
          <a:ln w="9525" cap="flat" cmpd="sng" algn="ctr">
            <a:solidFill>
              <a:schemeClr val="tx1"/>
            </a:solidFill>
            <a:round/>
          </a:ln>
          <a:effectLst/>
        </c:spPr>
        <c:txPr>
          <a:bodyPr rot="-6000000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52167548"/>
        <c:crosses val="autoZero"/>
        <c:crossBetween val="midCat"/>
        <c:majorUnit val="0.5"/>
      </c:valAx>
      <c:spPr>
        <a:noFill/>
        <a:ln w="9525" cap="flat" cmpd="sng" algn="ctr">
          <a:solidFill>
            <a:schemeClr val="bg1"/>
          </a:solidFill>
          <a:round/>
        </a:ln>
        <a:effectLst/>
      </c:spPr>
    </c:plotArea>
    <c:plotVisOnly val="1"/>
    <c:dispBlanksAs val="gap"/>
    <c:showDLblsOverMax val="0"/>
    <c:extLst>
      <c:ext uri="{0b15fc19-7d7d-44ad-8c2d-2c3a37ce22c3}">
        <chartProps xmlns="https://web.wps.cn/et/2018/main" chartId="{f9e80241-fa69-4f45-9b45-c135fc4c7fc0}"/>
      </c:ext>
    </c:extLst>
  </c:chart>
  <c:spPr>
    <a:solidFill>
      <a:schemeClr val="bg1"/>
    </a:solidFill>
    <a:ln w="9525" cap="flat" cmpd="sng" algn="ctr">
      <a:solidFill>
        <a:srgbClr val="000000"/>
      </a:solidFill>
      <a:round/>
    </a:ln>
    <a:effectLst/>
  </c:spPr>
  <c:txPr>
    <a:bodyPr/>
    <a:lstStyle/>
    <a:p>
      <a:pPr>
        <a:defRPr lang="zh-CN"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680" b="1"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6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停泵压降</a:t>
            </a:r>
            <a:r>
              <a:rPr lang="en-US" altLang="zh-CN" sz="16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en-US" sz="16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停泵</a:t>
            </a:r>
            <a:r>
              <a:rPr lang="en-US" altLang="zh-CN" sz="16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15min</a:t>
            </a:r>
            <a:r>
              <a:rPr lang="zh-CN" altLang="en-US" sz="16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压降</a:t>
            </a:r>
            <a:endParaRPr lang="zh-CN" altLang="en-US" sz="16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overlay val="0"/>
      <c:spPr>
        <a:noFill/>
        <a:ln>
          <a:noFill/>
        </a:ln>
        <a:effectLst/>
      </c:spPr>
    </c:title>
    <c:autoTitleDeleted val="0"/>
    <c:plotArea>
      <c:layout>
        <c:manualLayout>
          <c:layoutTarget val="inner"/>
          <c:xMode val="edge"/>
          <c:yMode val="edge"/>
          <c:x val="0.123352687410266"/>
          <c:y val="0.136186391109378"/>
          <c:w val="0.800088317524683"/>
          <c:h val="0.422869955156951"/>
        </c:manualLayout>
      </c:layout>
      <c:areaChart>
        <c:grouping val="stacked"/>
        <c:varyColors val="0"/>
        <c:dLbls>
          <c:showLegendKey val="0"/>
          <c:showVal val="0"/>
          <c:showCatName val="0"/>
          <c:showSerName val="0"/>
          <c:showPercent val="0"/>
          <c:showBubbleSize val="0"/>
        </c:dLbls>
        <c:axId val="321001951"/>
        <c:axId val="736096626"/>
      </c:areaChart>
      <c:barChart>
        <c:barDir val="col"/>
        <c:grouping val="clustered"/>
        <c:varyColors val="0"/>
        <c:ser>
          <c:idx val="0"/>
          <c:order val="0"/>
          <c:tx>
            <c:strRef>
              <c:f>'[统计表.xlsx]停泵15-停泵得分'!$B$1</c:f>
              <c:strCache>
                <c:ptCount val="1"/>
                <c:pt idx="0">
                  <c:v>停泵15min压降</c:v>
                </c:pt>
              </c:strCache>
            </c:strRef>
          </c:tx>
          <c:spPr>
            <a:solidFill>
              <a:schemeClr val="accent1"/>
            </a:solidFill>
            <a:ln>
              <a:noFill/>
            </a:ln>
            <a:effectLst/>
          </c:spPr>
          <c:invertIfNegative val="0"/>
          <c:dLbls>
            <c:delete val="1"/>
          </c:dLbls>
          <c:cat>
            <c:strRef>
              <c:f>'[统计表.xlsx]停泵15-停泵得分'!$A$2:$A$11</c:f>
              <c:strCache>
                <c:ptCount val="10"/>
                <c:pt idx="0">
                  <c:v>泸203H10-1</c:v>
                </c:pt>
                <c:pt idx="1">
                  <c:v>泸203H10-2</c:v>
                </c:pt>
                <c:pt idx="2">
                  <c:v>泸203H10-3</c:v>
                </c:pt>
                <c:pt idx="3">
                  <c:v>泸203H10-4</c:v>
                </c:pt>
                <c:pt idx="4">
                  <c:v>泸203H10-5</c:v>
                </c:pt>
                <c:pt idx="5">
                  <c:v>泸203H10-6</c:v>
                </c:pt>
                <c:pt idx="6">
                  <c:v>泸203H123-1</c:v>
                </c:pt>
                <c:pt idx="7">
                  <c:v>泸203H123-2</c:v>
                </c:pt>
                <c:pt idx="8">
                  <c:v>泸203H123-3</c:v>
                </c:pt>
                <c:pt idx="9">
                  <c:v>泸203H123-4</c:v>
                </c:pt>
              </c:strCache>
            </c:strRef>
          </c:cat>
          <c:val>
            <c:numRef>
              <c:f>'[统计表.xlsx]停泵15-停泵得分'!$B$2:$B$11</c:f>
              <c:numCache>
                <c:formatCode>0.00_);[Red]\(0.00\)</c:formatCode>
                <c:ptCount val="10"/>
                <c:pt idx="0">
                  <c:v>1.33857142857143</c:v>
                </c:pt>
                <c:pt idx="1">
                  <c:v>1.84166666666667</c:v>
                </c:pt>
                <c:pt idx="2">
                  <c:v>1.14105263157895</c:v>
                </c:pt>
                <c:pt idx="3">
                  <c:v>2.2455</c:v>
                </c:pt>
                <c:pt idx="4">
                  <c:v>1.75181818181818</c:v>
                </c:pt>
                <c:pt idx="5">
                  <c:v>1.43772727272727</c:v>
                </c:pt>
                <c:pt idx="6">
                  <c:v>3.98571428571429</c:v>
                </c:pt>
                <c:pt idx="7">
                  <c:v>5.036</c:v>
                </c:pt>
                <c:pt idx="8">
                  <c:v>4.4</c:v>
                </c:pt>
                <c:pt idx="9">
                  <c:v>4.78636363636364</c:v>
                </c:pt>
              </c:numCache>
            </c:numRef>
          </c:val>
        </c:ser>
        <c:ser>
          <c:idx val="1"/>
          <c:order val="1"/>
          <c:tx>
            <c:strRef>
              <c:f>'[统计表.xlsx]停泵15-停泵得分'!$C$1</c:f>
              <c:strCache>
                <c:ptCount val="1"/>
                <c:pt idx="0">
                  <c:v>停泵压降得分</c:v>
                </c:pt>
              </c:strCache>
            </c:strRef>
          </c:tx>
          <c:spPr>
            <a:solidFill>
              <a:schemeClr val="accent2"/>
            </a:solidFill>
            <a:ln>
              <a:noFill/>
            </a:ln>
            <a:effectLst/>
          </c:spPr>
          <c:invertIfNegative val="0"/>
          <c:dLbls>
            <c:delete val="1"/>
          </c:dLbls>
          <c:cat>
            <c:strRef>
              <c:f>'[统计表.xlsx]停泵15-停泵得分'!$A$2:$A$11</c:f>
              <c:strCache>
                <c:ptCount val="10"/>
                <c:pt idx="0">
                  <c:v>泸203H10-1</c:v>
                </c:pt>
                <c:pt idx="1">
                  <c:v>泸203H10-2</c:v>
                </c:pt>
                <c:pt idx="2">
                  <c:v>泸203H10-3</c:v>
                </c:pt>
                <c:pt idx="3">
                  <c:v>泸203H10-4</c:v>
                </c:pt>
                <c:pt idx="4">
                  <c:v>泸203H10-5</c:v>
                </c:pt>
                <c:pt idx="5">
                  <c:v>泸203H10-6</c:v>
                </c:pt>
                <c:pt idx="6">
                  <c:v>泸203H123-1</c:v>
                </c:pt>
                <c:pt idx="7">
                  <c:v>泸203H123-2</c:v>
                </c:pt>
                <c:pt idx="8">
                  <c:v>泸203H123-3</c:v>
                </c:pt>
                <c:pt idx="9">
                  <c:v>泸203H123-4</c:v>
                </c:pt>
              </c:strCache>
            </c:strRef>
          </c:cat>
          <c:val>
            <c:numRef>
              <c:f>'[统计表.xlsx]停泵15-停泵得分'!$C$2:$C$11</c:f>
              <c:numCache>
                <c:formatCode>0.00_);[Red]\(0.00\)</c:formatCode>
                <c:ptCount val="10"/>
                <c:pt idx="0">
                  <c:v>7.57315394600504</c:v>
                </c:pt>
                <c:pt idx="1">
                  <c:v>8.11017614599486</c:v>
                </c:pt>
                <c:pt idx="2">
                  <c:v>7.41564080604519</c:v>
                </c:pt>
                <c:pt idx="3">
                  <c:v>7.9503158409365</c:v>
                </c:pt>
                <c:pt idx="4">
                  <c:v>8.10904239011165</c:v>
                </c:pt>
                <c:pt idx="5">
                  <c:v>7.69171631861601</c:v>
                </c:pt>
                <c:pt idx="6">
                  <c:v>9.28356665737826</c:v>
                </c:pt>
                <c:pt idx="7">
                  <c:v>9.61418051552323</c:v>
                </c:pt>
                <c:pt idx="8">
                  <c:v>9.47953853181724</c:v>
                </c:pt>
                <c:pt idx="9">
                  <c:v>9.65338929707262</c:v>
                </c:pt>
              </c:numCache>
            </c:numRef>
          </c:val>
        </c:ser>
        <c:dLbls>
          <c:showLegendKey val="0"/>
          <c:showVal val="0"/>
          <c:showCatName val="0"/>
          <c:showSerName val="0"/>
          <c:showPercent val="0"/>
          <c:showBubbleSize val="0"/>
        </c:dLbls>
        <c:gapWidth val="246"/>
        <c:overlap val="-28"/>
        <c:axId val="321001951"/>
        <c:axId val="736096626"/>
      </c:barChart>
      <c:barChart>
        <c:barDir val="col"/>
        <c:grouping val="clustered"/>
        <c:varyColors val="0"/>
        <c:dLbls>
          <c:showLegendKey val="0"/>
          <c:showVal val="0"/>
          <c:showCatName val="0"/>
          <c:showSerName val="0"/>
          <c:showPercent val="0"/>
          <c:showBubbleSize val="0"/>
        </c:dLbls>
        <c:gapWidth val="246"/>
        <c:overlap val="-28"/>
        <c:axId val="883612760"/>
        <c:axId val="756840970"/>
      </c:barChart>
      <c:catAx>
        <c:axId val="321001951"/>
        <c:scaling>
          <c:orientation val="minMax"/>
        </c:scaling>
        <c:delete val="0"/>
        <c:axPos val="b"/>
        <c:majorTickMark val="none"/>
        <c:minorTickMark val="none"/>
        <c:tickLblPos val="nextTo"/>
        <c:spPr>
          <a:noFill/>
          <a:ln w="9525" cap="flat" cmpd="sng" algn="ctr">
            <a:solidFill>
              <a:schemeClr val="tx1"/>
            </a:solidFill>
            <a:round/>
          </a:ln>
          <a:effectLst/>
        </c:spPr>
        <c:txPr>
          <a:bodyPr rot="-60000000" spcFirstLastPara="0" vertOverflow="ellipsis" vert="horz" wrap="square" anchor="ctr" anchorCtr="1"/>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736096626"/>
        <c:crosses val="autoZero"/>
        <c:auto val="1"/>
        <c:lblAlgn val="ctr"/>
        <c:lblOffset val="100"/>
        <c:noMultiLvlLbl val="0"/>
      </c:catAx>
      <c:valAx>
        <c:axId val="736096626"/>
        <c:scaling>
          <c:orientation val="minMax"/>
        </c:scaling>
        <c:delete val="0"/>
        <c:axPos val="l"/>
        <c:numFmt formatCode="0.0_);[Red]\(0.0\)" sourceLinked="0"/>
        <c:majorTickMark val="in"/>
        <c:minorTickMark val="none"/>
        <c:tickLblPos val="nextTo"/>
        <c:spPr>
          <a:noFill/>
          <a:ln>
            <a:solidFill>
              <a:schemeClr val="tx1"/>
            </a:solidFill>
          </a:ln>
          <a:effectLst/>
        </c:spPr>
        <c:txPr>
          <a:bodyPr rot="-60000000" spcFirstLastPara="0" vertOverflow="ellipsis" vert="horz" wrap="square" anchor="ctr" anchorCtr="1"/>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321001951"/>
        <c:crosses val="autoZero"/>
        <c:crossBetween val="between"/>
      </c:valAx>
      <c:catAx>
        <c:axId val="883612760"/>
        <c:scaling>
          <c:orientation val="minMax"/>
        </c:scaling>
        <c:delete val="1"/>
        <c:axPos val="b"/>
        <c:majorTickMark val="none"/>
        <c:minorTickMark val="none"/>
        <c:tickLblPos val="nextTo"/>
        <c:txPr>
          <a:bodyPr rot="-60000000" spcFirstLastPara="0" vertOverflow="ellipsis" vert="horz" wrap="square" anchor="ctr" anchorCtr="1"/>
          <a:lstStyle/>
          <a:p>
            <a:pPr>
              <a:defRPr lang="zh-CN"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756840970"/>
        <c:crosses val="autoZero"/>
        <c:auto val="1"/>
        <c:lblAlgn val="ctr"/>
        <c:lblOffset val="100"/>
        <c:noMultiLvlLbl val="0"/>
      </c:catAx>
      <c:valAx>
        <c:axId val="756840970"/>
        <c:scaling>
          <c:orientation val="minMax"/>
        </c:scaling>
        <c:delete val="0"/>
        <c:axPos val="r"/>
        <c:majorTickMark val="in"/>
        <c:minorTickMark val="none"/>
        <c:tickLblPos val="nextTo"/>
        <c:spPr>
          <a:noFill/>
          <a:ln>
            <a:solidFill>
              <a:schemeClr val="tx1"/>
            </a:solidFill>
          </a:ln>
          <a:effectLst/>
        </c:spPr>
        <c:txPr>
          <a:bodyPr rot="-60000000" spcFirstLastPara="0" vertOverflow="ellipsis" vert="horz" wrap="square" anchor="ctr" anchorCtr="1"/>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883612760"/>
        <c:crosses val="max"/>
        <c:crossBetween val="between"/>
      </c:valAx>
      <c:spPr>
        <a:noFill/>
        <a:ln>
          <a:noFill/>
        </a:ln>
        <a:effectLst/>
      </c:spPr>
    </c:plotArea>
    <c:legend>
      <c:legendPos val="b"/>
      <c:legendEntry>
        <c:idx val="0"/>
        <c:txPr>
          <a:bodyPr rot="0" spcFirstLastPara="0" vertOverflow="ellipsis" vert="horz" wrap="square" anchor="ctr" anchorCtr="1"/>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legendEntry>
      <c:legendEntry>
        <c:idx val="1"/>
        <c:txPr>
          <a:bodyPr rot="0" spcFirstLastPara="0" vertOverflow="ellipsis" vert="horz" wrap="square" anchor="ctr" anchorCtr="1"/>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legendEntry>
      <c:layout>
        <c:manualLayout>
          <c:xMode val="edge"/>
          <c:yMode val="edge"/>
          <c:x val="0.227119784656797"/>
          <c:y val="0.883018132189511"/>
        </c:manualLayout>
      </c:layout>
      <c:overlay val="0"/>
      <c:spPr>
        <a:noFill/>
        <a:ln>
          <a:noFill/>
        </a:ln>
        <a:effectLst/>
      </c:spPr>
      <c:txPr>
        <a:bodyPr rot="0" spcFirstLastPara="0" vertOverflow="ellipsis" vert="horz" wrap="square" anchor="ctr" anchorCtr="1"/>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legend>
    <c:plotVisOnly val="1"/>
    <c:dispBlanksAs val="gap"/>
    <c:showDLblsOverMax val="0"/>
    <c:extLst>
      <c:ext uri="{0b15fc19-7d7d-44ad-8c2d-2c3a37ce22c3}">
        <chartProps xmlns="https://web.wps.cn/et/2018/main" chartId="{feff9d7a-f98e-42b5-b10f-a8c3efa84a8a}"/>
      </c:ext>
    </c:extLst>
  </c:chart>
  <c:spPr>
    <a:solidFill>
      <a:schemeClr val="bg1"/>
    </a:solidFill>
    <a:ln w="9525" cap="flat" cmpd="sng" algn="ctr">
      <a:solidFill>
        <a:schemeClr val="tx1"/>
      </a:solidFill>
      <a:round/>
    </a:ln>
    <a:effectLst/>
  </c:spPr>
  <c:txPr>
    <a:bodyPr/>
    <a:lstStyle/>
    <a:p>
      <a:pPr>
        <a:defRPr lang="zh-CN"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defTabSz="914400">
              <a:defRPr lang="zh-CN" sz="1680" b="1"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en-US"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施工曲线诊断得分</a:t>
            </a:r>
            <a:endParaRPr lang="zh-CN" altLang="en-US" sz="168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manualLayout>
          <c:xMode val="edge"/>
          <c:yMode val="edge"/>
          <c:x val="0.362001383444778"/>
          <c:y val="0.0113747793685036"/>
        </c:manualLayout>
      </c:layout>
      <c:overlay val="0"/>
      <c:spPr>
        <a:noFill/>
        <a:ln>
          <a:noFill/>
        </a:ln>
        <a:effectLst/>
      </c:spPr>
    </c:title>
    <c:autoTitleDeleted val="0"/>
    <c:plotArea>
      <c:layout>
        <c:manualLayout>
          <c:layoutTarget val="inner"/>
          <c:xMode val="edge"/>
          <c:yMode val="edge"/>
          <c:x val="0.125637281273837"/>
          <c:y val="0.116591488527162"/>
          <c:w val="0.853495759998932"/>
          <c:h val="0.512629927436752"/>
        </c:manualLayout>
      </c:layout>
      <c:barChart>
        <c:barDir val="col"/>
        <c:grouping val="clustered"/>
        <c:varyColors val="0"/>
        <c:ser>
          <c:idx val="0"/>
          <c:order val="0"/>
          <c:tx>
            <c:strRef>
              <c:f>[统计表.xlsx]施工曲线诊断!$B$1</c:f>
              <c:strCache>
                <c:ptCount val="1"/>
                <c:pt idx="0">
                  <c:v>施工曲线诊断得分</c:v>
                </c:pt>
              </c:strCache>
            </c:strRef>
          </c:tx>
          <c:spPr>
            <a:solidFill>
              <a:schemeClr val="accent1"/>
            </a:solidFill>
            <a:ln>
              <a:noFill/>
            </a:ln>
            <a:effectLst/>
          </c:spPr>
          <c:invertIfNegative val="0"/>
          <c:dLbls>
            <c:delete val="1"/>
          </c:dLbls>
          <c:cat>
            <c:strRef>
              <c:f>[统计表.xlsx]施工曲线诊断!$A$2:$A$11</c:f>
              <c:strCache>
                <c:ptCount val="10"/>
                <c:pt idx="0">
                  <c:v>泸203H10-1</c:v>
                </c:pt>
                <c:pt idx="1">
                  <c:v>泸203H10-2</c:v>
                </c:pt>
                <c:pt idx="2">
                  <c:v>泸203H10-3</c:v>
                </c:pt>
                <c:pt idx="3">
                  <c:v>泸203H10-4</c:v>
                </c:pt>
                <c:pt idx="4">
                  <c:v>泸203H10-5</c:v>
                </c:pt>
                <c:pt idx="5">
                  <c:v>泸203H10-6</c:v>
                </c:pt>
                <c:pt idx="6">
                  <c:v>泸203H123-1</c:v>
                </c:pt>
                <c:pt idx="7">
                  <c:v>泸203H123-2</c:v>
                </c:pt>
                <c:pt idx="8">
                  <c:v>泸203H123-3</c:v>
                </c:pt>
                <c:pt idx="9">
                  <c:v>泸203H123-4</c:v>
                </c:pt>
              </c:strCache>
            </c:strRef>
          </c:cat>
          <c:val>
            <c:numRef>
              <c:f>[统计表.xlsx]施工曲线诊断!$B$2:$B$11</c:f>
              <c:numCache>
                <c:formatCode>0.00_);[Red]\(0.00\)</c:formatCode>
                <c:ptCount val="10"/>
                <c:pt idx="0">
                  <c:v>8.37632974520869</c:v>
                </c:pt>
                <c:pt idx="1">
                  <c:v>8.35382682531947</c:v>
                </c:pt>
                <c:pt idx="2">
                  <c:v>8.37875411705635</c:v>
                </c:pt>
                <c:pt idx="3">
                  <c:v>8.40395352158692</c:v>
                </c:pt>
                <c:pt idx="4">
                  <c:v>8.37309465316301</c:v>
                </c:pt>
                <c:pt idx="5">
                  <c:v>8.45123769467151</c:v>
                </c:pt>
                <c:pt idx="6">
                  <c:v>8.66978323685505</c:v>
                </c:pt>
                <c:pt idx="7">
                  <c:v>8.30051368386143</c:v>
                </c:pt>
                <c:pt idx="8">
                  <c:v>8.48914412513446</c:v>
                </c:pt>
                <c:pt idx="9">
                  <c:v>8.47547589682685</c:v>
                </c:pt>
              </c:numCache>
            </c:numRef>
          </c:val>
        </c:ser>
        <c:dLbls>
          <c:showLegendKey val="0"/>
          <c:showVal val="0"/>
          <c:showCatName val="0"/>
          <c:showSerName val="0"/>
          <c:showPercent val="0"/>
          <c:showBubbleSize val="0"/>
        </c:dLbls>
        <c:gapWidth val="246"/>
        <c:overlap val="-28"/>
        <c:axId val="662440538"/>
        <c:axId val="842412250"/>
      </c:barChart>
      <c:catAx>
        <c:axId val="662440538"/>
        <c:scaling>
          <c:orientation val="minMax"/>
        </c:scaling>
        <c:delete val="0"/>
        <c:axPos val="b"/>
        <c:numFmt formatCode="General" sourceLinked="0"/>
        <c:majorTickMark val="none"/>
        <c:minorTickMark val="none"/>
        <c:tickLblPos val="nextTo"/>
        <c:spPr>
          <a:noFill/>
          <a:ln w="9525" cap="flat" cmpd="sng" algn="ctr">
            <a:solidFill>
              <a:schemeClr val="tx1"/>
            </a:solidFill>
            <a:round/>
          </a:ln>
          <a:effectLst/>
        </c:spPr>
        <c:txPr>
          <a:bodyPr rot="-6000000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842412250"/>
        <c:crosses val="autoZero"/>
        <c:auto val="1"/>
        <c:lblAlgn val="ctr"/>
        <c:lblOffset val="100"/>
        <c:noMultiLvlLbl val="0"/>
      </c:catAx>
      <c:valAx>
        <c:axId val="842412250"/>
        <c:scaling>
          <c:orientation val="minMax"/>
          <c:min val="0"/>
        </c:scaling>
        <c:delete val="0"/>
        <c:axPos val="l"/>
        <c:numFmt formatCode="0.00_);[Red]\(0.00\)" sourceLinked="1"/>
        <c:majorTickMark val="in"/>
        <c:minorTickMark val="none"/>
        <c:tickLblPos val="nextTo"/>
        <c:spPr>
          <a:noFill/>
          <a:ln>
            <a:solidFill>
              <a:schemeClr val="tx1"/>
            </a:solidFill>
          </a:ln>
          <a:effectLst/>
        </c:spPr>
        <c:txPr>
          <a:bodyPr rot="-60000000" spcFirstLastPara="0" vertOverflow="ellipsis" vert="horz" wrap="square" anchor="ctr" anchorCtr="1" forceAA="0"/>
          <a:lstStyle/>
          <a:p>
            <a:pPr>
              <a:defRPr lang="zh-CN" sz="14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crossAx val="662440538"/>
        <c:crosses val="autoZero"/>
        <c:crossBetween val="between"/>
      </c:valAx>
      <c:spPr>
        <a:noFill/>
        <a:ln>
          <a:noFill/>
        </a:ln>
        <a:effectLst/>
      </c:spPr>
    </c:plotArea>
    <c:plotVisOnly val="1"/>
    <c:dispBlanksAs val="gap"/>
    <c:showDLblsOverMax val="0"/>
    <c:extLst>
      <c:ext uri="{0b15fc19-7d7d-44ad-8c2d-2c3a37ce22c3}">
        <chartProps xmlns="https://web.wps.cn/et/2018/main" chartId="{7bdc09a0-01a3-429d-a5c6-69b5b454226c}"/>
      </c:ext>
    </c:extLst>
  </c:chart>
  <c:spPr>
    <a:solidFill>
      <a:schemeClr val="bg1"/>
    </a:solidFill>
    <a:ln w="9525" cap="flat" cmpd="sng" algn="ctr">
      <a:solidFill>
        <a:srgbClr val="000000"/>
      </a:solidFill>
      <a:round/>
    </a:ln>
    <a:effectLst/>
  </c:spPr>
  <c:txPr>
    <a:bodyPr/>
    <a:lstStyle/>
    <a:p>
      <a:pPr>
        <a:defRPr lang="zh-CN" sz="14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17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w="19050" cap="rnd">
        <a:noFill/>
        <a:round/>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spPr>
      <a:ln w="9525" cap="flat" cmpd="sng" algn="ctr">
        <a:solidFill>
          <a:schemeClr val="tx1">
            <a:lumMod val="15000"/>
            <a:lumOff val="85000"/>
          </a:schemeClr>
        </a:solidFill>
        <a:round/>
      </a:ln>
    </cs:spPr>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17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w="19050" cap="rnd">
        <a:noFill/>
        <a:round/>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spPr>
      <a:ln w="9525" cap="flat" cmpd="sng" algn="ctr">
        <a:solidFill>
          <a:schemeClr val="tx1">
            <a:lumMod val="15000"/>
            <a:lumOff val="85000"/>
          </a:schemeClr>
        </a:solidFill>
        <a:round/>
      </a:ln>
    </cs:spPr>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1017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w="19050" cap="rnd">
        <a:noFill/>
        <a:round/>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spPr>
      <a:ln w="9525" cap="flat" cmpd="sng" algn="ctr">
        <a:solidFill>
          <a:schemeClr val="tx1">
            <a:lumMod val="15000"/>
            <a:lumOff val="85000"/>
          </a:schemeClr>
        </a:solidFill>
        <a:round/>
      </a:ln>
    </cs:spPr>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AD318E-B422-411C-B047-DCD95D3A32B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F2D27F2-61DB-4CA3-9344-190B6BB4669D}"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FC9FFD-D8AA-488B-9BFA-098B695BC29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00846-457A-42D0-BAE3-D1C1DA28179F}"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08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C411882-E5A8-4688-96CF-E31BAE27AF2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cxnSp>
        <p:nvCxnSpPr>
          <p:cNvPr id="2" name="直接连接符 1"/>
          <p:cNvCxnSpPr/>
          <p:nvPr userDrawn="1"/>
        </p:nvCxnSpPr>
        <p:spPr bwMode="auto">
          <a:xfrm>
            <a:off x="375072" y="1270536"/>
            <a:ext cx="11441856"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B1E82A9-6DD8-4235-A121-77FAC356052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3F500D6-CA77-4CC9-8011-02986DED2B4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0" y="764704"/>
            <a:ext cx="121920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lIns="121869" tIns="60935" rIns="121869" bIns="60935"/>
          <a:lstStyle/>
          <a:p>
            <a:pPr marL="0" marR="0" lvl="0" indent="0" algn="l" defTabSz="1218565"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charset="-122"/>
              <a:cs typeface="+mn-cs"/>
            </a:endParaRPr>
          </a:p>
        </p:txBody>
      </p:sp>
      <p:pic>
        <p:nvPicPr>
          <p:cNvPr id="6" name="Picture 17" descr="logo"/>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141629" y="106728"/>
            <a:ext cx="960108" cy="576377"/>
          </a:xfrm>
          <a:prstGeom prst="rect">
            <a:avLst/>
          </a:prstGeom>
          <a:noFill/>
          <a:ln>
            <a:noFill/>
          </a:ln>
          <a:effectLst>
            <a:outerShdw blurRad="50800" dist="38100" dir="2700000" algn="tl" rotWithShape="0">
              <a:prstClr val="black">
                <a:alpha val="40000"/>
              </a:prstClr>
            </a:outerShdw>
          </a:effectLst>
        </p:spPr>
      </p:pic>
      <p:sp>
        <p:nvSpPr>
          <p:cNvPr id="5" name="页脚占位符 14"/>
          <p:cNvSpPr txBox="1"/>
          <p:nvPr userDrawn="1"/>
        </p:nvSpPr>
        <p:spPr>
          <a:xfrm>
            <a:off x="0" y="6552723"/>
            <a:ext cx="12192000" cy="315912"/>
          </a:xfrm>
          <a:prstGeom prst="rect">
            <a:avLst/>
          </a:prstGeom>
        </p:spPr>
        <p:txBody>
          <a:bodyPr lIns="121860" tIns="60929" rIns="121860" bIns="6092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第</a:t>
            </a:r>
            <a:fld id="{59289A8C-BE81-4798-AA0F-338892BB7184}" type="slidenum">
              <a:rPr kumimoji="1" lang="zh-CN" altLang="en-US" sz="1300" b="0" i="0" u="none" strike="noStrike" kern="1200" cap="none" spc="0" normalizeH="0" baseline="0" noProof="0" dirty="0" smtClean="0">
                <a:ln>
                  <a:noFill/>
                </a:ln>
                <a:solidFill>
                  <a:srgbClr val="898989"/>
                </a:solidFill>
                <a:effectLst/>
                <a:uLnTx/>
                <a:uFillTx/>
                <a:latin typeface="Arial" panose="020B0604020202020204"/>
                <a:ea typeface="黑体" panose="02010609060101010101" charset="-122"/>
                <a:cs typeface="+mn-cs"/>
              </a:rPr>
            </a:fld>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共</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72</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endPar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rtl="0" eaLnBrk="0" fontAlgn="base" hangingPunct="0">
        <a:spcBef>
          <a:spcPct val="0"/>
        </a:spcBef>
        <a:spcAft>
          <a:spcPct val="0"/>
        </a:spcAft>
        <a:defRPr sz="4800" b="1">
          <a:solidFill>
            <a:schemeClr val="hlink"/>
          </a:solidFill>
          <a:latin typeface="+mj-lt"/>
          <a:ea typeface="+mj-ea"/>
          <a:cs typeface="+mj-cs"/>
        </a:defRPr>
      </a:lvl1pPr>
      <a:lvl2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5pPr>
      <a:lvl6pPr marL="609600"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6pPr>
      <a:lvl7pPr marL="12185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7pPr>
      <a:lvl8pPr marL="18281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8pPr>
      <a:lvl9pPr marL="24377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Clr>
          <a:schemeClr val="folHlink"/>
        </a:buClr>
        <a:buSzPct val="60000"/>
        <a:buFont typeface="Wingdings" panose="05000000000000000000" pitchFamily="2" charset="2"/>
        <a:buChar char="n"/>
        <a:defRPr sz="4265" b="1">
          <a:solidFill>
            <a:srgbClr val="0000FF"/>
          </a:solidFill>
          <a:latin typeface="+mn-lt"/>
          <a:ea typeface="+mn-ea"/>
          <a:cs typeface="+mn-cs"/>
        </a:defRPr>
      </a:lvl1pPr>
      <a:lvl2pPr marL="989965" indent="-381000" algn="l" rtl="0" eaLnBrk="0" fontAlgn="base" hangingPunct="0">
        <a:spcBef>
          <a:spcPct val="20000"/>
        </a:spcBef>
        <a:spcAft>
          <a:spcPct val="0"/>
        </a:spcAft>
        <a:buClr>
          <a:schemeClr val="hlink"/>
        </a:buClr>
        <a:buSzPct val="55000"/>
        <a:buFont typeface="Wingdings" panose="05000000000000000000" pitchFamily="2" charset="2"/>
        <a:buChar char="n"/>
        <a:defRPr sz="3735" b="1">
          <a:solidFill>
            <a:schemeClr val="tx1"/>
          </a:solidFill>
          <a:latin typeface="+mn-lt"/>
          <a:ea typeface="+mn-ea"/>
        </a:defRPr>
      </a:lvl2pPr>
      <a:lvl3pPr marL="1523365" indent="-304800" algn="l" rtl="0" eaLnBrk="0" fontAlgn="base" hangingPunct="0">
        <a:spcBef>
          <a:spcPct val="20000"/>
        </a:spcBef>
        <a:spcAft>
          <a:spcPct val="0"/>
        </a:spcAft>
        <a:buClr>
          <a:schemeClr val="folHlink"/>
        </a:buClr>
        <a:buSzPct val="50000"/>
        <a:buFont typeface="Wingdings" panose="05000000000000000000" pitchFamily="2" charset="2"/>
        <a:buChar char="n"/>
        <a:defRPr sz="3200" b="1">
          <a:solidFill>
            <a:schemeClr val="tx1"/>
          </a:solidFill>
          <a:latin typeface="+mn-lt"/>
          <a:ea typeface="+mn-ea"/>
        </a:defRPr>
      </a:lvl3pPr>
      <a:lvl4pPr marL="2132965" indent="-304800" algn="l" rtl="0" eaLnBrk="0" fontAlgn="base" hangingPunct="0">
        <a:spcBef>
          <a:spcPct val="20000"/>
        </a:spcBef>
        <a:spcAft>
          <a:spcPct val="0"/>
        </a:spcAft>
        <a:buClr>
          <a:schemeClr val="accent2"/>
        </a:buClr>
        <a:buSzPct val="55000"/>
        <a:buFont typeface="Wingdings" panose="05000000000000000000" pitchFamily="2" charset="2"/>
        <a:buChar char="n"/>
        <a:defRPr sz="2665" b="1">
          <a:solidFill>
            <a:schemeClr val="tx1"/>
          </a:solidFill>
          <a:latin typeface="+mn-lt"/>
          <a:ea typeface="+mn-ea"/>
        </a:defRPr>
      </a:lvl4pPr>
      <a:lvl5pPr marL="27412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5pPr>
      <a:lvl6pPr marL="33508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6pPr>
      <a:lvl7pPr marL="39604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7pPr>
      <a:lvl8pPr marL="45694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8pPr>
      <a:lvl9pPr marL="51790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095" algn="l" defTabSz="1218565" rtl="0" eaLnBrk="1" latinLnBrk="0" hangingPunct="1">
        <a:defRPr sz="2400" kern="1200">
          <a:solidFill>
            <a:schemeClr val="tx1"/>
          </a:solidFill>
          <a:latin typeface="+mn-lt"/>
          <a:ea typeface="+mn-ea"/>
          <a:cs typeface="+mn-cs"/>
        </a:defRPr>
      </a:lvl6pPr>
      <a:lvl7pPr marL="3655695" algn="l" defTabSz="1218565" rtl="0" eaLnBrk="1" latinLnBrk="0" hangingPunct="1">
        <a:defRPr sz="2400" kern="1200">
          <a:solidFill>
            <a:schemeClr val="tx1"/>
          </a:solidFill>
          <a:latin typeface="+mn-lt"/>
          <a:ea typeface="+mn-ea"/>
          <a:cs typeface="+mn-cs"/>
        </a:defRPr>
      </a:lvl7pPr>
      <a:lvl8pPr marL="4265295" algn="l" defTabSz="1218565" rtl="0" eaLnBrk="1" latinLnBrk="0" hangingPunct="1">
        <a:defRPr sz="2400" kern="1200">
          <a:solidFill>
            <a:schemeClr val="tx1"/>
          </a:solidFill>
          <a:latin typeface="+mn-lt"/>
          <a:ea typeface="+mn-ea"/>
          <a:cs typeface="+mn-cs"/>
        </a:defRPr>
      </a:lvl8pPr>
      <a:lvl9pPr marL="4874260"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tags" Target="../tags/tag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1.xml"/><Relationship Id="rId7" Type="http://schemas.openxmlformats.org/officeDocument/2006/relationships/tags" Target="../tags/tag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xml"/><Relationship Id="rId5" Type="http://schemas.openxmlformats.org/officeDocument/2006/relationships/tags" Target="../tags/tag8.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tags" Target="../tags/tag7.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image" Target="../media/image14.png"/><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16.png"/><Relationship Id="rId3" Type="http://schemas.openxmlformats.org/officeDocument/2006/relationships/tags" Target="../tags/tag12.xml"/><Relationship Id="rId2" Type="http://schemas.openxmlformats.org/officeDocument/2006/relationships/image" Target="../media/image15.png"/><Relationship Id="rId1" Type="http://schemas.openxmlformats.org/officeDocument/2006/relationships/tags" Target="../tags/tag11.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tags" Target="../tags/tag14.xml"/><Relationship Id="rId1" Type="http://schemas.openxmlformats.org/officeDocument/2006/relationships/tags" Target="../tags/tag13.xml"/></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image" Target="../media/image20.png"/><Relationship Id="rId3" Type="http://schemas.openxmlformats.org/officeDocument/2006/relationships/image" Target="../media/image19.GIF"/><Relationship Id="rId2" Type="http://schemas.openxmlformats.org/officeDocument/2006/relationships/tags" Target="../tags/tag16.xml"/><Relationship Id="rId1" Type="http://schemas.openxmlformats.org/officeDocument/2006/relationships/tags" Target="../tags/tag15.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tags" Target="../tags/tag20.xml"/><Relationship Id="rId1" Type="http://schemas.openxmlformats.org/officeDocument/2006/relationships/tags" Target="../tags/tag19.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tags" Target="../tags/tag21.xml"/><Relationship Id="rId1" Type="http://schemas.openxmlformats.org/officeDocument/2006/relationships/chart" Target="../charts/chart1.xml"/></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1.xml"/><Relationship Id="rId5" Type="http://schemas.openxmlformats.org/officeDocument/2006/relationships/tags" Target="../tags/tag24.xml"/><Relationship Id="rId4" Type="http://schemas.openxmlformats.org/officeDocument/2006/relationships/image" Target="../media/image22.png"/><Relationship Id="rId3" Type="http://schemas.openxmlformats.org/officeDocument/2006/relationships/tags" Target="../tags/tag23.xml"/><Relationship Id="rId2" Type="http://schemas.openxmlformats.org/officeDocument/2006/relationships/image" Target="../media/image21.png"/><Relationship Id="rId1" Type="http://schemas.openxmlformats.org/officeDocument/2006/relationships/tags" Target="../tags/tag22.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tags" Target="../tags/tag28.xml"/><Relationship Id="rId4" Type="http://schemas.openxmlformats.org/officeDocument/2006/relationships/image" Target="../media/image26.png"/><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tags" Target="../tags/tag32.xml"/><Relationship Id="rId4" Type="http://schemas.openxmlformats.org/officeDocument/2006/relationships/image" Target="../media/image28.png"/><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image" Target="../media/image35.png"/><Relationship Id="rId7" Type="http://schemas.openxmlformats.org/officeDocument/2006/relationships/image" Target="../media/image34.png"/><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tags" Target="../tags/tag34.xml"/><Relationship Id="rId2" Type="http://schemas.openxmlformats.org/officeDocument/2006/relationships/tags" Target="../tags/tag33.xml"/><Relationship Id="rId11" Type="http://schemas.openxmlformats.org/officeDocument/2006/relationships/notesSlide" Target="../notesSlides/notesSlide26.xml"/><Relationship Id="rId10" Type="http://schemas.openxmlformats.org/officeDocument/2006/relationships/slideLayout" Target="../slideLayouts/slideLayout1.xml"/><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image" Target="../media/image37.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tags" Target="../tags/tag37.xml"/><Relationship Id="rId1" Type="http://schemas.openxmlformats.org/officeDocument/2006/relationships/chart" Target="../charts/chart2.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xml"/><Relationship Id="rId3" Type="http://schemas.openxmlformats.org/officeDocument/2006/relationships/tags" Target="../tags/tag39.xml"/><Relationship Id="rId2" Type="http://schemas.openxmlformats.org/officeDocument/2006/relationships/image" Target="../media/image41.png"/><Relationship Id="rId1" Type="http://schemas.openxmlformats.org/officeDocument/2006/relationships/tags" Target="../tags/tag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ags" Target="../tags/tag4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tags" Target="../tags/tag4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tags" Target="../tags/tag46.xml"/><Relationship Id="rId1" Type="http://schemas.openxmlformats.org/officeDocument/2006/relationships/tags" Target="../tags/tag4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tags" Target="../tags/tag47.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tags" Target="../tags/tag49.xml"/><Relationship Id="rId1" Type="http://schemas.openxmlformats.org/officeDocument/2006/relationships/tags" Target="../tags/tag48.xml"/></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tags" Target="../tags/tag51.xml"/><Relationship Id="rId1" Type="http://schemas.openxmlformats.org/officeDocument/2006/relationships/tags" Target="../tags/tag50.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tags" Target="../tags/tag53.xml"/><Relationship Id="rId1" Type="http://schemas.openxmlformats.org/officeDocument/2006/relationships/tags" Target="../tags/tag52.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xml"/><Relationship Id="rId2" Type="http://schemas.openxmlformats.org/officeDocument/2006/relationships/tags" Target="../tags/tag55.xml"/><Relationship Id="rId1" Type="http://schemas.openxmlformats.org/officeDocument/2006/relationships/tags" Target="../tags/tag54.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xml"/><Relationship Id="rId2" Type="http://schemas.openxmlformats.org/officeDocument/2006/relationships/tags" Target="../tags/tag57.xml"/><Relationship Id="rId1" Type="http://schemas.openxmlformats.org/officeDocument/2006/relationships/tags" Target="../tags/tag56.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tags" Target="../tags/tag59.xml"/><Relationship Id="rId1" Type="http://schemas.openxmlformats.org/officeDocument/2006/relationships/tags" Target="../tags/tag58.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1.xml"/><Relationship Id="rId2" Type="http://schemas.openxmlformats.org/officeDocument/2006/relationships/tags" Target="../tags/tag61.xml"/><Relationship Id="rId1" Type="http://schemas.openxmlformats.org/officeDocument/2006/relationships/tags" Target="../tags/tag60.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xml"/><Relationship Id="rId2" Type="http://schemas.openxmlformats.org/officeDocument/2006/relationships/image" Target="../media/image42.png"/><Relationship Id="rId1" Type="http://schemas.openxmlformats.org/officeDocument/2006/relationships/tags" Target="../tags/tag62.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xml"/><Relationship Id="rId2" Type="http://schemas.openxmlformats.org/officeDocument/2006/relationships/image" Target="../media/image43.png"/><Relationship Id="rId1" Type="http://schemas.openxmlformats.org/officeDocument/2006/relationships/tags" Target="../tags/tag63.xml"/></Relationships>
</file>

<file path=ppt/slides/_rels/slide51.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slideLayout" Target="../slideLayouts/slideLayout1.xml"/><Relationship Id="rId4" Type="http://schemas.openxmlformats.org/officeDocument/2006/relationships/image" Target="../media/image45.png"/><Relationship Id="rId3" Type="http://schemas.openxmlformats.org/officeDocument/2006/relationships/tags" Target="../tags/tag65.xml"/><Relationship Id="rId2" Type="http://schemas.openxmlformats.org/officeDocument/2006/relationships/image" Target="../media/image44.png"/><Relationship Id="rId1" Type="http://schemas.openxmlformats.org/officeDocument/2006/relationships/tags" Target="../tags/tag64.xml"/></Relationships>
</file>

<file path=ppt/slides/_rels/slide52.xml.rels><?xml version="1.0" encoding="UTF-8" standalone="yes"?>
<Relationships xmlns="http://schemas.openxmlformats.org/package/2006/relationships"><Relationship Id="rId8" Type="http://schemas.openxmlformats.org/officeDocument/2006/relationships/notesSlide" Target="../notesSlides/notesSlide45.xml"/><Relationship Id="rId7"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tags" Target="../tags/tag68.xml"/><Relationship Id="rId4" Type="http://schemas.openxmlformats.org/officeDocument/2006/relationships/image" Target="../media/image38.png"/><Relationship Id="rId3" Type="http://schemas.openxmlformats.org/officeDocument/2006/relationships/image" Target="../media/image27.png"/><Relationship Id="rId2" Type="http://schemas.openxmlformats.org/officeDocument/2006/relationships/tags" Target="../tags/tag67.xml"/><Relationship Id="rId1" Type="http://schemas.openxmlformats.org/officeDocument/2006/relationships/tags" Target="../tags/tag66.xml"/></Relationships>
</file>

<file path=ppt/slides/_rels/slide53.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1.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chart" Target="../charts/chart3.xml"/></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slideLayout" Target="../slideLayouts/slideLayout1.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chart" Target="../charts/chart4.xml"/></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1.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chart" Target="../charts/chart5.xml"/></Relationships>
</file>

<file path=ppt/slides/_rels/slide56.xml.rels><?xml version="1.0" encoding="UTF-8" standalone="yes"?>
<Relationships xmlns="http://schemas.openxmlformats.org/package/2006/relationships"><Relationship Id="rId6" Type="http://schemas.openxmlformats.org/officeDocument/2006/relationships/notesSlide" Target="../notesSlides/notesSlide49.xml"/><Relationship Id="rId5" Type="http://schemas.openxmlformats.org/officeDocument/2006/relationships/slideLayout" Target="../slideLayouts/slideLayout1.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chart" Target="../charts/chart7.xml"/><Relationship Id="rId1" Type="http://schemas.openxmlformats.org/officeDocument/2006/relationships/chart" Target="../charts/chart6.xml"/></Relationships>
</file>

<file path=ppt/slides/_rels/slide57.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chart" Target="../charts/chart8.xml"/></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xml"/><Relationship Id="rId2" Type="http://schemas.openxmlformats.org/officeDocument/2006/relationships/image" Target="../media/image47.png"/><Relationship Id="rId1" Type="http://schemas.openxmlformats.org/officeDocument/2006/relationships/tags" Target="../tags/tag81.xml"/></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1.xml"/><Relationship Id="rId2" Type="http://schemas.openxmlformats.org/officeDocument/2006/relationships/image" Target="../media/image48.png"/><Relationship Id="rId1" Type="http://schemas.openxmlformats.org/officeDocument/2006/relationships/tags" Target="../tags/tag8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xml"/><Relationship Id="rId1" Type="http://schemas.openxmlformats.org/officeDocument/2006/relationships/image" Target="../media/image4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tags" Target="../tags/tag84.xml"/></Relationships>
</file>

<file path=ppt/slides/_rels/slide66.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image" Target="../media/image56.png"/><Relationship Id="rId7" Type="http://schemas.openxmlformats.org/officeDocument/2006/relationships/image" Target="../media/image55.png"/><Relationship Id="rId6" Type="http://schemas.openxmlformats.org/officeDocument/2006/relationships/tags" Target="../tags/tag85.xml"/><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1" Type="http://schemas.openxmlformats.org/officeDocument/2006/relationships/notesSlide" Target="../notesSlides/notesSlide56.xml"/><Relationship Id="rId10" Type="http://schemas.openxmlformats.org/officeDocument/2006/relationships/slideLayout" Target="../slideLayouts/slideLayout1.xml"/><Relationship Id="rId1" Type="http://schemas.openxmlformats.org/officeDocument/2006/relationships/image" Target="../media/image5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64.png"/><Relationship Id="rId7" Type="http://schemas.openxmlformats.org/officeDocument/2006/relationships/image" Target="../media/image63.png"/><Relationship Id="rId6" Type="http://schemas.openxmlformats.org/officeDocument/2006/relationships/image" Target="../media/image62.jpeg"/><Relationship Id="rId5" Type="http://schemas.openxmlformats.org/officeDocument/2006/relationships/image" Target="../media/image61.jpeg"/><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jpeg"/><Relationship Id="rId10" Type="http://schemas.openxmlformats.org/officeDocument/2006/relationships/notesSlide" Target="../notesSlides/notesSlide59.xml"/><Relationship Id="rId1" Type="http://schemas.openxmlformats.org/officeDocument/2006/relationships/image" Target="../media/image5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0" y="1673225"/>
            <a:ext cx="12192000" cy="230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600" b="1" dirty="0">
                <a:solidFill>
                  <a:srgbClr val="FF0000"/>
                </a:solidFill>
                <a:latin typeface="方正大黑简体" panose="02000000000000000000" pitchFamily="65" charset="-122"/>
                <a:ea typeface="方正大黑简体" panose="02000000000000000000" pitchFamily="65" charset="-122"/>
              </a:rPr>
              <a:t>《页岩气井缝网压裂效果评估指标体系建立</a:t>
            </a:r>
            <a:endParaRPr lang="zh-CN" altLang="en-US" sz="3600" b="1" dirty="0">
              <a:solidFill>
                <a:srgbClr val="FF0000"/>
              </a:solidFill>
              <a:latin typeface="方正大黑简体" panose="02000000000000000000" pitchFamily="65" charset="-122"/>
              <a:ea typeface="方正大黑简体" panose="02000000000000000000" pitchFamily="65" charset="-122"/>
            </a:endParaRPr>
          </a:p>
          <a:p>
            <a:pPr algn="ctr" eaLnBrk="1" hangingPunct="1">
              <a:spcBef>
                <a:spcPct val="50000"/>
              </a:spcBef>
            </a:pPr>
            <a:r>
              <a:rPr lang="zh-CN" altLang="en-US" sz="3600" b="1" dirty="0">
                <a:solidFill>
                  <a:srgbClr val="FF0000"/>
                </a:solidFill>
                <a:latin typeface="方正大黑简体" panose="02000000000000000000" pitchFamily="65" charset="-122"/>
                <a:ea typeface="方正大黑简体" panose="02000000000000000000" pitchFamily="65" charset="-122"/>
              </a:rPr>
              <a:t>与动态评价方法研究》</a:t>
            </a:r>
            <a:endParaRPr lang="zh-CN" altLang="en-US" sz="3600" b="1" dirty="0">
              <a:solidFill>
                <a:srgbClr val="FF0000"/>
              </a:solidFill>
              <a:latin typeface="方正大黑简体" panose="02000000000000000000" pitchFamily="65" charset="-122"/>
              <a:ea typeface="方正大黑简体" panose="02000000000000000000" pitchFamily="65" charset="-122"/>
            </a:endParaRPr>
          </a:p>
          <a:p>
            <a:pPr algn="ctr" eaLnBrk="1" hangingPunct="1">
              <a:spcBef>
                <a:spcPct val="50000"/>
              </a:spcBef>
            </a:pPr>
            <a:r>
              <a:rPr lang="zh-CN" altLang="en-US" sz="3600" b="1" dirty="0">
                <a:solidFill>
                  <a:srgbClr val="FF0000"/>
                </a:solidFill>
                <a:latin typeface="方正大黑简体" panose="02000000000000000000" pitchFamily="65" charset="-122"/>
                <a:ea typeface="方正大黑简体" panose="02000000000000000000" pitchFamily="65" charset="-122"/>
                <a:sym typeface="+mn-ea"/>
              </a:rPr>
              <a:t>阶段审查汇报</a:t>
            </a:r>
            <a:endParaRPr lang="zh-CN" altLang="en-US" sz="3600" b="1" dirty="0">
              <a:solidFill>
                <a:srgbClr val="FF0000"/>
              </a:solidFill>
              <a:latin typeface="方正大黑简体" panose="02000000000000000000" pitchFamily="65" charset="-122"/>
              <a:ea typeface="方正大黑简体" panose="02000000000000000000" pitchFamily="65" charset="-122"/>
            </a:endParaRPr>
          </a:p>
        </p:txBody>
      </p:sp>
      <p:sp>
        <p:nvSpPr>
          <p:cNvPr id="10" name="Text Box 4"/>
          <p:cNvSpPr txBox="1">
            <a:spLocks noChangeArrowheads="1"/>
          </p:cNvSpPr>
          <p:nvPr/>
        </p:nvSpPr>
        <p:spPr bwMode="auto">
          <a:xfrm>
            <a:off x="1" y="5581364"/>
            <a:ext cx="12192000" cy="783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b="1" dirty="0">
                <a:solidFill>
                  <a:srgbClr val="000000"/>
                </a:solidFill>
                <a:latin typeface="楷体" panose="02010609060101010101" pitchFamily="49" charset="-122"/>
                <a:ea typeface="楷体" panose="02010609060101010101" pitchFamily="49" charset="-122"/>
              </a:rPr>
              <a:t>承担单位：中国石油大学（北京）</a:t>
            </a:r>
            <a:endParaRPr lang="en-US" altLang="zh-CN" b="1" dirty="0">
              <a:solidFill>
                <a:srgbClr val="000000"/>
              </a:solidFill>
              <a:latin typeface="楷体" panose="02010609060101010101" pitchFamily="49" charset="-122"/>
              <a:ea typeface="楷体" panose="02010609060101010101" pitchFamily="49" charset="-122"/>
            </a:endParaRPr>
          </a:p>
          <a:p>
            <a:pPr algn="ctr" eaLnBrk="1" hangingPunct="1">
              <a:spcBef>
                <a:spcPct val="50000"/>
              </a:spcBef>
            </a:pPr>
            <a:r>
              <a:rPr lang="en-US" altLang="zh-CN" b="1" dirty="0">
                <a:solidFill>
                  <a:srgbClr val="000000"/>
                </a:solidFill>
                <a:latin typeface="楷体" panose="02010609060101010101" pitchFamily="49" charset="-122"/>
                <a:ea typeface="楷体" panose="02010609060101010101" pitchFamily="49" charset="-122"/>
              </a:rPr>
              <a:t>2026</a:t>
            </a:r>
            <a:r>
              <a:rPr lang="zh-CN" altLang="en-US" b="1" dirty="0">
                <a:solidFill>
                  <a:srgbClr val="000000"/>
                </a:solidFill>
                <a:latin typeface="楷体" panose="02010609060101010101" pitchFamily="49" charset="-122"/>
                <a:ea typeface="楷体" panose="02010609060101010101" pitchFamily="49" charset="-122"/>
              </a:rPr>
              <a:t>年</a:t>
            </a:r>
            <a:r>
              <a:rPr lang="en-US" altLang="zh-CN" b="1" dirty="0">
                <a:solidFill>
                  <a:srgbClr val="000000"/>
                </a:solidFill>
                <a:latin typeface="楷体" panose="02010609060101010101" pitchFamily="49" charset="-122"/>
                <a:ea typeface="楷体" panose="02010609060101010101" pitchFamily="49" charset="-122"/>
              </a:rPr>
              <a:t>04</a:t>
            </a:r>
            <a:r>
              <a:rPr lang="zh-CN" altLang="en-US" b="1" dirty="0">
                <a:solidFill>
                  <a:srgbClr val="000000"/>
                </a:solidFill>
                <a:latin typeface="楷体" panose="02010609060101010101" pitchFamily="49" charset="-122"/>
                <a:ea typeface="楷体" panose="02010609060101010101" pitchFamily="49" charset="-122"/>
              </a:rPr>
              <a:t>月</a:t>
            </a:r>
            <a:r>
              <a:rPr lang="en-US" altLang="zh-CN" b="1" dirty="0">
                <a:solidFill>
                  <a:srgbClr val="000000"/>
                </a:solidFill>
                <a:latin typeface="楷体" panose="02010609060101010101" pitchFamily="49" charset="-122"/>
                <a:ea typeface="楷体" panose="02010609060101010101" pitchFamily="49" charset="-122"/>
              </a:rPr>
              <a:t>29</a:t>
            </a:r>
            <a:r>
              <a:rPr lang="zh-CN" altLang="en-US" b="1" dirty="0">
                <a:solidFill>
                  <a:srgbClr val="000000"/>
                </a:solidFill>
                <a:latin typeface="楷体" panose="02010609060101010101" pitchFamily="49" charset="-122"/>
                <a:ea typeface="楷体" panose="02010609060101010101" pitchFamily="49" charset="-122"/>
              </a:rPr>
              <a:t>日</a:t>
            </a:r>
            <a:endParaRPr lang="zh-CN" altLang="en-US" b="1" dirty="0">
              <a:solidFill>
                <a:srgbClr val="000000"/>
              </a:solidFill>
              <a:latin typeface="楷体" panose="02010609060101010101" pitchFamily="49" charset="-122"/>
              <a:ea typeface="楷体" panose="02010609060101010101" pitchFamily="49" charset="-122"/>
            </a:endParaRPr>
          </a:p>
        </p:txBody>
      </p:sp>
      <p:sp>
        <p:nvSpPr>
          <p:cNvPr id="2" name="矩形 3"/>
          <p:cNvSpPr>
            <a:spLocks noChangeArrowheads="1"/>
          </p:cNvSpPr>
          <p:nvPr/>
        </p:nvSpPr>
        <p:spPr bwMode="auto">
          <a:xfrm>
            <a:off x="0" y="4294579"/>
            <a:ext cx="12192000"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0000"/>
                </a:solidFill>
                <a:latin typeface="方正大黑简体" panose="02000000000000000000" pitchFamily="65" charset="-122"/>
                <a:ea typeface="方正大黑简体" panose="02000000000000000000" pitchFamily="65" charset="-122"/>
              </a:rPr>
              <a:t>项目经理：胡晓东（研究员）</a:t>
            </a:r>
            <a:endParaRPr lang="en-US" altLang="zh-CN" sz="2400" b="1" dirty="0">
              <a:solidFill>
                <a:srgbClr val="000000"/>
              </a:solidFill>
              <a:latin typeface="方正大黑简体" panose="02000000000000000000" pitchFamily="65" charset="-122"/>
              <a:ea typeface="方正大黑简体" panose="02000000000000000000" pitchFamily="65" charset="-122"/>
            </a:endParaRPr>
          </a:p>
          <a:p>
            <a:pPr algn="ctr" eaLnBrk="1" hangingPunct="1">
              <a:spcBef>
                <a:spcPct val="50000"/>
              </a:spcBef>
            </a:pPr>
            <a:r>
              <a:rPr lang="zh-CN" altLang="en-US" sz="2400" b="1" dirty="0">
                <a:solidFill>
                  <a:srgbClr val="000000"/>
                </a:solidFill>
                <a:latin typeface="方正大黑简体" panose="02000000000000000000" pitchFamily="65" charset="-122"/>
                <a:ea typeface="方正大黑简体" panose="02000000000000000000" pitchFamily="65" charset="-122"/>
              </a:rPr>
              <a:t>汇 报 人：胡晓东（研究员）</a:t>
            </a:r>
            <a:endParaRPr lang="zh-CN" altLang="en-US" sz="2400" b="1"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098" name="Text Box 6"/>
          <p:cNvSpPr txBox="1"/>
          <p:nvPr/>
        </p:nvSpPr>
        <p:spPr>
          <a:xfrm>
            <a:off x="1187133" y="788035"/>
            <a:ext cx="10226675" cy="5678805"/>
          </a:xfrm>
          <a:prstGeom prst="rect">
            <a:avLst/>
          </a:prstGeom>
          <a:noFill/>
          <a:ln w="9525">
            <a:noFill/>
          </a:ln>
          <a:effectLst>
            <a:prstShdw prst="shdw17" dist="17961" dir="13499999">
              <a:srgbClr val="708688"/>
            </a:prstShdw>
          </a:effectLst>
        </p:spPr>
        <p:txBody>
          <a:bodyPr tIns="254400" bIns="254400" anchor="ctr" anchorCtr="1">
            <a:spAutoFit/>
          </a:bodyPr>
          <a:lstStyle/>
          <a:p>
            <a:pPr>
              <a:lnSpc>
                <a:spcPct val="150000"/>
              </a:lnSpc>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一、项目概要</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二、阶段任务完成情况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三、取得的阶段成果及应用情况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四、经费管理及使用情况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五、项目组织管理</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六、存在问题、解决措施及建议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七、下步工作安排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p:cNvGraphicFramePr>
            <a:graphicFrameLocks noGrp="1"/>
          </p:cNvGraphicFramePr>
          <p:nvPr/>
        </p:nvGraphicFramePr>
        <p:xfrm>
          <a:off x="506095" y="1866900"/>
          <a:ext cx="11192510" cy="4102735"/>
        </p:xfrm>
        <a:graphic>
          <a:graphicData uri="http://schemas.openxmlformats.org/drawingml/2006/table">
            <a:tbl>
              <a:tblPr bandRow="1">
                <a:tableStyleId>{5940675A-B579-460E-94D1-54222C63F5DA}</a:tableStyleId>
              </a:tblPr>
              <a:tblGrid>
                <a:gridCol w="2611755"/>
                <a:gridCol w="8580755"/>
              </a:tblGrid>
              <a:tr h="586105">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项目名称</a:t>
                      </a:r>
                      <a:endParaRPr lang="zh-CN" altLang="en-US" sz="1200" b="1" u="none" strike="noStrike" dirty="0">
                        <a:solidFill>
                          <a:schemeClr val="bg1"/>
                        </a:solidFill>
                        <a:effectLst/>
                        <a:latin typeface="微软雅黑" panose="020B0503020204020204" pitchFamily="34" charset="-122"/>
                        <a:ea typeface="微软雅黑" panose="020B0503020204020204" pitchFamily="34" charset="-122"/>
                      </a:endParaRPr>
                    </a:p>
                  </a:txBody>
                  <a:tcPr marL="36000" marR="36000" marT="9525" marB="0" anchor="ctr">
                    <a:solidFill>
                      <a:srgbClr val="FFC000"/>
                    </a:solidFill>
                  </a:tcPr>
                </a:tc>
                <a:tc>
                  <a:txBody>
                    <a:bodyPr/>
                    <a:lstStyle/>
                    <a:p>
                      <a:pPr marL="0" algn="ctr" fontAlgn="ctr">
                        <a:lnSpc>
                          <a:spcPct val="100000"/>
                        </a:lnSpc>
                      </a:pPr>
                      <a:r>
                        <a:rPr lang="zh-CN" altLang="en-US" sz="1200" u="none" strike="noStrike" dirty="0">
                          <a:effectLst/>
                          <a:latin typeface="微软雅黑" panose="020B0503020204020204" pitchFamily="34" charset="-122"/>
                          <a:ea typeface="微软雅黑" panose="020B0503020204020204" pitchFamily="34" charset="-122"/>
                        </a:rPr>
                        <a:t>页岩气井缝网压裂效果评估指标体系建立与动态评价方法研究</a:t>
                      </a:r>
                      <a:endParaRPr lang="zh-CN" altLang="en-US" sz="1200" u="none" strike="noStrike" dirty="0">
                        <a:effectLst/>
                        <a:latin typeface="微软雅黑" panose="020B0503020204020204" pitchFamily="34" charset="-122"/>
                        <a:ea typeface="微软雅黑" panose="020B0503020204020204" pitchFamily="34" charset="-122"/>
                      </a:endParaRPr>
                    </a:p>
                  </a:txBody>
                  <a:tcPr marL="9525" marR="9525" marT="9525" marB="0" anchor="ctr"/>
                </a:tc>
              </a:tr>
              <a:tr h="586105">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合同编号</a:t>
                      </a:r>
                      <a:endParaRPr lang="zh-CN" altLang="en-US" sz="1200" b="1" u="none" strike="noStrike" dirty="0">
                        <a:solidFill>
                          <a:schemeClr val="bg1"/>
                        </a:solidFill>
                        <a:effectLst/>
                        <a:latin typeface="微软雅黑" panose="020B0503020204020204" pitchFamily="34" charset="-122"/>
                        <a:ea typeface="微软雅黑" panose="020B0503020204020204" pitchFamily="34" charset="-122"/>
                      </a:endParaRPr>
                    </a:p>
                  </a:txBody>
                  <a:tcPr marL="36000" marR="36000" marT="9525" marB="0" anchor="ctr">
                    <a:solidFill>
                      <a:srgbClr val="FFC000"/>
                    </a:solidFill>
                  </a:tcPr>
                </a:tc>
                <a:tc>
                  <a:txBody>
                    <a:bodyPr/>
                    <a:lstStyle/>
                    <a:p>
                      <a:pPr marL="0" algn="ctr" fontAlgn="ctr">
                        <a:lnSpc>
                          <a:spcPct val="100000"/>
                        </a:lnSpc>
                      </a:pPr>
                      <a:r>
                        <a:rPr 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XNS</a:t>
                      </a:r>
                      <a:r>
                        <a:rPr lang="zh-CN" alt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页岩院</a:t>
                      </a:r>
                      <a:r>
                        <a:rPr lang="en-US" altLang="zh-CN"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 JS2025-38</a:t>
                      </a:r>
                      <a:endParaRPr lang="en-US" altLang="zh-CN"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9525" marR="9525" marT="9525" marB="0" anchor="ctr"/>
                </a:tc>
              </a:tr>
              <a:tr h="586105">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项目编号</a:t>
                      </a:r>
                      <a:endParaRPr lang="zh-CN" altLang="en-US" sz="1200" b="1" u="none" strike="noStrike" dirty="0">
                        <a:solidFill>
                          <a:schemeClr val="bg1"/>
                        </a:solidFill>
                        <a:effectLst/>
                        <a:latin typeface="微软雅黑" panose="020B0503020204020204" pitchFamily="34" charset="-122"/>
                        <a:ea typeface="微软雅黑" panose="020B0503020204020204" pitchFamily="34" charset="-122"/>
                      </a:endParaRPr>
                    </a:p>
                  </a:txBody>
                  <a:tcPr marL="36000" marR="36000" marT="9525" marB="0" anchor="ctr">
                    <a:solidFill>
                      <a:srgbClr val="FFC000"/>
                    </a:solidFill>
                  </a:tcPr>
                </a:tc>
                <a:tc>
                  <a:txBody>
                    <a:bodyPr/>
                    <a:lstStyle/>
                    <a:p>
                      <a:pPr marL="0" algn="ctr" fontAlgn="ctr">
                        <a:lnSpc>
                          <a:spcPct val="100000"/>
                        </a:lnSpc>
                      </a:pPr>
                      <a:r>
                        <a:rPr lang="en-US" sz="1200" u="none" strike="noStrike" dirty="0">
                          <a:effectLst/>
                          <a:latin typeface="微软雅黑" panose="020B0503020204020204" pitchFamily="34" charset="-122"/>
                          <a:ea typeface="微软雅黑" panose="020B0503020204020204" pitchFamily="34" charset="-122"/>
                        </a:rPr>
                        <a:t>2025-9710</a:t>
                      </a:r>
                      <a:endParaRPr lang="en-US" sz="1200" u="none" strike="noStrike" dirty="0">
                        <a:effectLst/>
                        <a:latin typeface="微软雅黑" panose="020B0503020204020204" pitchFamily="34" charset="-122"/>
                        <a:ea typeface="微软雅黑" panose="020B0503020204020204" pitchFamily="34" charset="-122"/>
                      </a:endParaRPr>
                    </a:p>
                  </a:txBody>
                  <a:tcPr marL="9525" marR="9525" marT="9525" marB="0" anchor="ctr"/>
                </a:tc>
              </a:tr>
              <a:tr h="586105">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项目隶属关系</a:t>
                      </a:r>
                      <a:endParaRPr lang="zh-CN" altLang="en-US" sz="1200" b="1" u="none" strike="noStrike" dirty="0">
                        <a:solidFill>
                          <a:schemeClr val="bg1"/>
                        </a:solidFill>
                        <a:effectLst/>
                        <a:latin typeface="微软雅黑" panose="020B0503020204020204" pitchFamily="34" charset="-122"/>
                        <a:ea typeface="微软雅黑" panose="020B0503020204020204" pitchFamily="34" charset="-122"/>
                      </a:endParaRPr>
                    </a:p>
                  </a:txBody>
                  <a:tcPr marL="36000" marR="36000" marT="9525" marB="0" anchor="ctr">
                    <a:solidFill>
                      <a:srgbClr val="FFC000"/>
                    </a:solidFill>
                  </a:tcPr>
                </a:tc>
                <a:tc>
                  <a:txBody>
                    <a:bodyPr/>
                    <a:lstStyle/>
                    <a:p>
                      <a:pPr marL="0" algn="ctr" fontAlgn="ctr">
                        <a:lnSpc>
                          <a:spcPct val="10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西南油气田页研院</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年对外合作项目</a:t>
                      </a:r>
                      <a:endParaRPr lang="zh-CN" alt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9525" marR="9525" marT="9525" marB="0" anchor="ctr"/>
                </a:tc>
              </a:tr>
              <a:tr h="586105">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承担单位</a:t>
                      </a:r>
                      <a:endParaRPr lang="zh-CN" altLang="en-US" sz="1200" b="1" u="none" strike="noStrike" dirty="0">
                        <a:solidFill>
                          <a:schemeClr val="bg1"/>
                        </a:solidFill>
                        <a:effectLst/>
                        <a:latin typeface="微软雅黑" panose="020B0503020204020204" pitchFamily="34" charset="-122"/>
                        <a:ea typeface="微软雅黑" panose="020B0503020204020204" pitchFamily="34" charset="-122"/>
                      </a:endParaRPr>
                    </a:p>
                  </a:txBody>
                  <a:tcPr marL="36000" marR="36000" marT="9525" marB="0" anchor="ctr">
                    <a:solidFill>
                      <a:srgbClr val="FFC000"/>
                    </a:solidFill>
                  </a:tcPr>
                </a:tc>
                <a:tc>
                  <a:txBody>
                    <a:bodyPr/>
                    <a:lstStyle/>
                    <a:p>
                      <a:pPr marL="0" algn="ctr" fontAlgn="ctr">
                        <a:lnSpc>
                          <a:spcPct val="100000"/>
                        </a:lnSpc>
                      </a:pPr>
                      <a:r>
                        <a:rPr lang="zh-CN" altLang="en-US" sz="1200" u="none" strike="noStrike" dirty="0">
                          <a:effectLst/>
                          <a:latin typeface="微软雅黑" panose="020B0503020204020204" pitchFamily="34" charset="-122"/>
                          <a:ea typeface="微软雅黑" panose="020B0503020204020204" pitchFamily="34" charset="-122"/>
                        </a:rPr>
                        <a:t>中国石油大学（北京）</a:t>
                      </a:r>
                      <a:endParaRPr lang="zh-CN" altLang="en-US" sz="1200" u="none" strike="noStrike" dirty="0">
                        <a:effectLst/>
                        <a:latin typeface="微软雅黑" panose="020B0503020204020204" pitchFamily="34" charset="-122"/>
                        <a:ea typeface="微软雅黑" panose="020B0503020204020204" pitchFamily="34" charset="-122"/>
                      </a:endParaRPr>
                    </a:p>
                  </a:txBody>
                  <a:tcPr marL="9525" marR="9525" marT="9525" marB="0" anchor="ctr"/>
                </a:tc>
              </a:tr>
              <a:tr h="586105">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涉及学科</a:t>
                      </a:r>
                      <a:r>
                        <a:rPr lang="en-US" altLang="zh-CN" sz="1200" b="1" u="none" strike="noStrike"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u="none" strike="noStrike"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专业</a:t>
                      </a:r>
                      <a:endParaRPr lang="zh-CN" altLang="en-US" sz="1200" b="1" u="none" strike="noStrike"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36000" marR="36000" marT="9525" marB="0" anchor="ctr">
                    <a:solidFill>
                      <a:srgbClr val="FFC000"/>
                    </a:solidFill>
                  </a:tcPr>
                </a:tc>
                <a:tc>
                  <a:txBody>
                    <a:bodyPr/>
                    <a:lstStyle/>
                    <a:p>
                      <a:pPr marL="0" algn="ctr" fontAlgn="ctr">
                        <a:lnSpc>
                          <a:spcPct val="100000"/>
                        </a:lnSpc>
                      </a:pPr>
                      <a:r>
                        <a:rPr lang="zh-CN" altLang="en-US" sz="1200" u="none" strike="noStrike" dirty="0">
                          <a:effectLst/>
                          <a:latin typeface="微软雅黑" panose="020B0503020204020204" pitchFamily="34" charset="-122"/>
                          <a:ea typeface="微软雅黑" panose="020B0503020204020204" pitchFamily="34" charset="-122"/>
                        </a:rPr>
                        <a:t>石油与天然气工程</a:t>
                      </a:r>
                      <a:endParaRPr lang="zh-CN" altLang="en-US" sz="1200" u="none" strike="noStrike" dirty="0">
                        <a:effectLst/>
                        <a:latin typeface="微软雅黑" panose="020B0503020204020204" pitchFamily="34" charset="-122"/>
                        <a:ea typeface="微软雅黑" panose="020B0503020204020204" pitchFamily="34" charset="-122"/>
                      </a:endParaRPr>
                    </a:p>
                  </a:txBody>
                  <a:tcPr marL="9525" marR="9525" marT="9525" marB="0" anchor="ctr"/>
                </a:tc>
              </a:tr>
              <a:tr h="586105">
                <a:tc>
                  <a:txBody>
                    <a:bodyPr/>
                    <a:lstStyle/>
                    <a:p>
                      <a:pPr marL="0" algn="ctr" fontAlgn="ctr">
                        <a:lnSpc>
                          <a:spcPct val="100000"/>
                        </a:lnSpc>
                      </a:pPr>
                      <a:r>
                        <a:rPr lang="zh-CN" altLang="en-US" sz="1200" b="1" u="none" strike="noStrike" dirty="0">
                          <a:solidFill>
                            <a:schemeClr val="bg1"/>
                          </a:solidFill>
                          <a:effectLst/>
                          <a:latin typeface="微软雅黑" panose="020B0503020204020204" pitchFamily="34" charset="-122"/>
                          <a:ea typeface="微软雅黑" panose="020B0503020204020204" pitchFamily="34" charset="-122"/>
                        </a:rPr>
                        <a:t>项目起止时间</a:t>
                      </a:r>
                      <a:endParaRPr lang="zh-CN" altLang="en-US" sz="1200" b="1" u="none" strike="noStrike" dirty="0">
                        <a:solidFill>
                          <a:schemeClr val="bg1"/>
                        </a:solidFill>
                        <a:effectLst/>
                        <a:latin typeface="微软雅黑" panose="020B0503020204020204" pitchFamily="34" charset="-122"/>
                        <a:ea typeface="微软雅黑" panose="020B0503020204020204" pitchFamily="34" charset="-122"/>
                      </a:endParaRPr>
                    </a:p>
                  </a:txBody>
                  <a:tcPr marL="36000" marR="36000" marT="9525" marB="0" anchor="ctr">
                    <a:solidFill>
                      <a:srgbClr val="FFC000"/>
                    </a:solidFill>
                  </a:tcPr>
                </a:tc>
                <a:tc>
                  <a:txBody>
                    <a:bodyPr/>
                    <a:lstStyle/>
                    <a:p>
                      <a:pPr marL="0" algn="ctr" fontAlgn="ctr">
                        <a:lnSpc>
                          <a:spcPct val="100000"/>
                        </a:lnSpc>
                      </a:pPr>
                      <a:r>
                        <a:rPr lang="en-US" altLang="zh-CN"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月</a:t>
                      </a:r>
                      <a:r>
                        <a:rPr lang="en-US" altLang="zh-CN"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rPr>
                        <a:t>月 </a:t>
                      </a:r>
                      <a:endParaRPr lang="zh-CN" altLang="en-US" sz="1200" u="none" strike="noStrike"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9525" marR="9525" marT="9525" marB="0" anchor="ctr"/>
                </a:tc>
              </a:tr>
            </a:tbl>
          </a:graphicData>
        </a:graphic>
      </p:graphicFrame>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一、项目</a:t>
            </a: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来源</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334963" y="915408"/>
            <a:ext cx="11641883" cy="829945"/>
          </a:xfrm>
          <a:prstGeom prst="rect">
            <a:avLst/>
          </a:prstGeom>
          <a:noFill/>
        </p:spPr>
        <p:txBody>
          <a:bodyPr wrap="square">
            <a:spAutoFit/>
          </a:bodyPr>
          <a:lstStyle/>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本项目来源于院级科研项目</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页岩气井缝网压裂效果评估指标体系建立与动态评价方法研究</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，由西南油气田分公司页岩气研究院委托中国石油大学（北京）承担，研究时间 </a:t>
            </a:r>
            <a:r>
              <a:rPr lang="en-US" altLang="zh-CN" sz="1600" dirty="0">
                <a:solidFill>
                  <a:srgbClr val="FF0000"/>
                </a:solidFill>
                <a:latin typeface="微软雅黑" panose="020B0503020204020204" pitchFamily="34" charset="-122"/>
                <a:ea typeface="微软雅黑" panose="020B0503020204020204" pitchFamily="34" charset="-122"/>
              </a:rPr>
              <a:t>2025</a:t>
            </a:r>
            <a:r>
              <a:rPr lang="zh-CN" altLang="en-US" sz="1600" dirty="0">
                <a:solidFill>
                  <a:srgbClr val="FF0000"/>
                </a:solidFill>
                <a:latin typeface="微软雅黑" panose="020B0503020204020204" pitchFamily="34" charset="-122"/>
                <a:ea typeface="微软雅黑" panose="020B0503020204020204" pitchFamily="34" charset="-122"/>
              </a:rPr>
              <a:t>年</a:t>
            </a:r>
            <a:r>
              <a:rPr lang="en-US" altLang="zh-CN" sz="1600" dirty="0">
                <a:solidFill>
                  <a:srgbClr val="FF0000"/>
                </a:solidFill>
                <a:latin typeface="微软雅黑" panose="020B0503020204020204" pitchFamily="34" charset="-122"/>
                <a:ea typeface="微软雅黑" panose="020B0503020204020204" pitchFamily="34" charset="-122"/>
              </a:rPr>
              <a:t>7</a:t>
            </a:r>
            <a:r>
              <a:rPr lang="zh-CN" altLang="en-US" sz="1600" dirty="0">
                <a:solidFill>
                  <a:srgbClr val="FF0000"/>
                </a:solidFill>
                <a:latin typeface="微软雅黑" panose="020B0503020204020204" pitchFamily="34" charset="-122"/>
                <a:ea typeface="微软雅黑" panose="020B0503020204020204" pitchFamily="34" charset="-122"/>
              </a:rPr>
              <a:t>月</a:t>
            </a:r>
            <a:r>
              <a:rPr lang="en-US" altLang="zh-CN" sz="1600" dirty="0">
                <a:solidFill>
                  <a:srgbClr val="FF0000"/>
                </a:solidFill>
                <a:latin typeface="微软雅黑" panose="020B0503020204020204" pitchFamily="34" charset="-122"/>
                <a:ea typeface="微软雅黑" panose="020B0503020204020204" pitchFamily="34" charset="-122"/>
              </a:rPr>
              <a:t>~2026</a:t>
            </a:r>
            <a:r>
              <a:rPr lang="zh-CN" altLang="en-US" sz="1600" dirty="0">
                <a:solidFill>
                  <a:srgbClr val="FF0000"/>
                </a:solidFill>
                <a:latin typeface="微软雅黑" panose="020B0503020204020204" pitchFamily="34" charset="-122"/>
                <a:ea typeface="微软雅黑" panose="020B0503020204020204" pitchFamily="34" charset="-122"/>
              </a:rPr>
              <a:t>年</a:t>
            </a:r>
            <a:r>
              <a:rPr lang="en-US" altLang="zh-CN" sz="1600" dirty="0">
                <a:solidFill>
                  <a:srgbClr val="FF0000"/>
                </a:solidFill>
                <a:latin typeface="微软雅黑" panose="020B0503020204020204" pitchFamily="34" charset="-122"/>
                <a:ea typeface="微软雅黑" panose="020B0503020204020204" pitchFamily="34" charset="-122"/>
              </a:rPr>
              <a:t>12</a:t>
            </a:r>
            <a:r>
              <a:rPr lang="zh-CN" altLang="en-US" sz="1600" dirty="0">
                <a:solidFill>
                  <a:srgbClr val="FF0000"/>
                </a:solidFill>
                <a:latin typeface="微软雅黑" panose="020B0503020204020204" pitchFamily="34" charset="-122"/>
                <a:ea typeface="微软雅黑" panose="020B0503020204020204" pitchFamily="34" charset="-122"/>
              </a:rPr>
              <a:t>月</a:t>
            </a:r>
            <a:r>
              <a:rPr lang="zh-CN" altLang="en-US" sz="1600" dirty="0">
                <a:solidFill>
                  <a:prstClr val="black"/>
                </a:solidFill>
                <a:latin typeface="微软雅黑" panose="020B0503020204020204" pitchFamily="34" charset="-122"/>
                <a:ea typeface="微软雅黑" panose="020B0503020204020204" pitchFamily="34" charset="-122"/>
              </a:rPr>
              <a:t>。主要研究工区位于</a:t>
            </a:r>
            <a:r>
              <a:rPr lang="zh-CN" altLang="en-US" sz="1600" dirty="0">
                <a:solidFill>
                  <a:srgbClr val="FF0000"/>
                </a:solidFill>
                <a:latin typeface="微软雅黑" panose="020B0503020204020204" pitchFamily="34" charset="-122"/>
                <a:ea typeface="微软雅黑" panose="020B0503020204020204" pitchFamily="34" charset="-122"/>
              </a:rPr>
              <a:t>川南页岩区块</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二、项目</a:t>
            </a:r>
            <a:r>
              <a:rPr lang="zh-CN" altLang="en-US" sz="2400" b="1" kern="0" dirty="0">
                <a:solidFill>
                  <a:srgbClr val="FF0000"/>
                </a:solidFill>
                <a:latin typeface="微软雅黑" panose="020B0503020204020204" pitchFamily="34" charset="-122"/>
                <a:ea typeface="微软雅黑" panose="020B0503020204020204" pitchFamily="34" charset="-122"/>
                <a:sym typeface="+mn-ea"/>
              </a:rPr>
              <a:t>研究内容与目标</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334963" y="915408"/>
            <a:ext cx="11641883" cy="2306955"/>
          </a:xfrm>
          <a:prstGeom prst="rect">
            <a:avLst/>
          </a:prstGeom>
          <a:noFill/>
        </p:spPr>
        <p:txBody>
          <a:bodyPr wrap="square">
            <a:spAutoFit/>
          </a:bodyPr>
          <a:lstStyle/>
          <a:p>
            <a:pPr marL="342265" indent="-342900">
              <a:lnSpc>
                <a:spcPct val="150000"/>
              </a:lnSpc>
              <a:buClr>
                <a:srgbClr val="FF0000"/>
              </a:buClr>
              <a:buFont typeface="Wingdings" panose="05000000000000000000" pitchFamily="2" charset="2"/>
              <a:buChar char="l"/>
            </a:pPr>
            <a:r>
              <a:rPr lang="zh-CN" altLang="en-US" sz="1600" b="1" dirty="0">
                <a:solidFill>
                  <a:prstClr val="black"/>
                </a:solidFill>
                <a:latin typeface="微软雅黑" panose="020B0503020204020204" pitchFamily="34" charset="-122"/>
                <a:ea typeface="微软雅黑" panose="020B0503020204020204" pitchFamily="34" charset="-122"/>
                <a:sym typeface="+mn-ea"/>
              </a:rPr>
              <a:t>研究内容：</a:t>
            </a:r>
            <a:r>
              <a:rPr lang="zh-CN" altLang="en-US" sz="1600" dirty="0">
                <a:solidFill>
                  <a:prstClr val="black"/>
                </a:solidFill>
                <a:latin typeface="微软雅黑" panose="020B0503020204020204" pitchFamily="34" charset="-122"/>
                <a:ea typeface="微软雅黑" panose="020B0503020204020204" pitchFamily="34" charset="-122"/>
                <a:sym typeface="+mn-ea"/>
              </a:rPr>
              <a:t>针对川南地区页岩气高效开发面临的压裂评估诊断技术难点，设置</a:t>
            </a:r>
            <a:r>
              <a:rPr lang="en-US" altLang="zh-CN" sz="1600" dirty="0">
                <a:solidFill>
                  <a:srgbClr val="FF0000"/>
                </a:solidFill>
                <a:latin typeface="微软雅黑" panose="020B0503020204020204" pitchFamily="34" charset="-122"/>
                <a:ea typeface="微软雅黑" panose="020B0503020204020204" pitchFamily="34" charset="-122"/>
                <a:sym typeface="+mn-ea"/>
              </a:rPr>
              <a:t>4</a:t>
            </a:r>
            <a:r>
              <a:rPr lang="zh-CN" altLang="en-US" sz="1600" dirty="0">
                <a:solidFill>
                  <a:prstClr val="black"/>
                </a:solidFill>
                <a:latin typeface="微软雅黑" panose="020B0503020204020204" pitchFamily="34" charset="-122"/>
                <a:ea typeface="微软雅黑" panose="020B0503020204020204" pitchFamily="34" charset="-122"/>
                <a:sym typeface="+mn-ea"/>
              </a:rPr>
              <a:t>个研究内容，开展</a:t>
            </a:r>
            <a:r>
              <a:rPr lang="zh-CN" altLang="en-US" sz="1600" dirty="0">
                <a:solidFill>
                  <a:srgbClr val="FF0000"/>
                </a:solidFill>
                <a:latin typeface="微软雅黑" panose="020B0503020204020204" pitchFamily="34" charset="-122"/>
                <a:ea typeface="微软雅黑" panose="020B0503020204020204" pitchFamily="34" charset="-122"/>
                <a:sym typeface="+mn-ea"/>
              </a:rPr>
              <a:t>页岩气井压裂效果评价技术体系研究、页岩气井压裂效果量化评价指标权重分析、压裂效果综合量化评价指标建立与验证、压裂效果综合评估方法应用及优化</a:t>
            </a:r>
            <a:r>
              <a:rPr lang="zh-CN" altLang="en-US" sz="1600" dirty="0">
                <a:solidFill>
                  <a:prstClr val="black"/>
                </a:solidFill>
                <a:latin typeface="微软雅黑" panose="020B0503020204020204" pitchFamily="34" charset="-122"/>
                <a:ea typeface="微软雅黑" panose="020B0503020204020204" pitchFamily="34" charset="-122"/>
                <a:sym typeface="+mn-ea"/>
              </a:rPr>
              <a:t>研究</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nSpc>
                <a:spcPct val="150000"/>
              </a:lnSpc>
              <a:buClr>
                <a:srgbClr val="FF0000"/>
              </a:buClr>
              <a:buFont typeface="Wingdings" panose="05000000000000000000" pitchFamily="2" charset="2"/>
              <a:buChar char="l"/>
            </a:pPr>
            <a:r>
              <a:rPr lang="zh-CN" altLang="en-US" sz="1600" b="1" dirty="0">
                <a:solidFill>
                  <a:prstClr val="black"/>
                </a:solidFill>
                <a:latin typeface="微软雅黑" panose="020B0503020204020204" pitchFamily="34" charset="-122"/>
                <a:ea typeface="微软雅黑" panose="020B0503020204020204" pitchFamily="34" charset="-122"/>
                <a:sym typeface="+mn-ea"/>
              </a:rPr>
              <a:t>研究目标：</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针对川南地区页岩气井</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压裂现场施工资料</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开展诊断评估研究。结合所内现有压裂评估技术，引入小波分析与</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 G </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函数理论，揭示施工曲线特征与井下压裂事件的响应机理。围绕</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改造体积、裂缝复杂度与导流能力</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三大指标，</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建立</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多源融合的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压裂效果量化评价体系</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，形成经济高效、可推广的压裂效果评估技术，精准</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量化改造效果</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支撑川南页岩气高效开发</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048649" name="TextBox 7"/>
          <p:cNvSpPr txBox="1"/>
          <p:nvPr/>
        </p:nvSpPr>
        <p:spPr bwMode="auto">
          <a:xfrm>
            <a:off x="3258820" y="3222625"/>
            <a:ext cx="5673725" cy="2853690"/>
          </a:xfrm>
          <a:prstGeom prst="rect">
            <a:avLst/>
          </a:prstGeom>
          <a:noFill/>
          <a:ln>
            <a:noFill/>
          </a:ln>
        </p:spPr>
        <p:txBody>
          <a:bodyPr wrap="square">
            <a:noAutofit/>
          </a:bodyPr>
          <a:lstStyle>
            <a:defPPr>
              <a:defRPr lang="zh-CN"/>
            </a:defPPr>
            <a:lvl1pPr marL="802005" indent="-802005">
              <a:lnSpc>
                <a:spcPct val="150000"/>
              </a:lnSpc>
              <a:buClr>
                <a:srgbClr val="FF0000"/>
              </a:buClr>
              <a:defRPr>
                <a:solidFill>
                  <a:prstClr val="black"/>
                </a:solidFill>
                <a:latin typeface="方正粗宋简体" panose="02000000000000000000" pitchFamily="65" charset="-122"/>
                <a:ea typeface="方正粗宋简体" panose="02000000000000000000" pitchFamily="65" charset="-122"/>
              </a:defRPr>
            </a:lvl1pPr>
          </a:lstStyle>
          <a:p>
            <a:pPr>
              <a:lnSpc>
                <a:spcPct val="2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sym typeface="+mn-ea"/>
              </a:rPr>
              <a:t>研究内容一：</a:t>
            </a:r>
            <a:r>
              <a:rPr lang="zh-CN" altLang="en-US" kern="0" dirty="0">
                <a:solidFill>
                  <a:schemeClr val="tx1"/>
                </a:solidFill>
                <a:latin typeface="微软雅黑" panose="020B0503020204020204" pitchFamily="34" charset="-122"/>
                <a:ea typeface="微软雅黑" panose="020B0503020204020204" pitchFamily="34" charset="-122"/>
              </a:rPr>
              <a:t>页岩气井压裂效果评价技术体系研究</a:t>
            </a:r>
            <a:endParaRPr lang="zh-CN" altLang="en-US" kern="0" dirty="0">
              <a:solidFill>
                <a:schemeClr val="tx1"/>
              </a:solidFill>
              <a:latin typeface="微软雅黑" panose="020B0503020204020204" pitchFamily="34" charset="-122"/>
              <a:ea typeface="微软雅黑" panose="020B0503020204020204" pitchFamily="34" charset="-122"/>
            </a:endParaRPr>
          </a:p>
          <a:p>
            <a:pPr>
              <a:lnSpc>
                <a:spcPct val="2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sym typeface="+mn-ea"/>
              </a:rPr>
              <a:t>研究内容二：</a:t>
            </a:r>
            <a:r>
              <a:rPr lang="zh-CN" altLang="en-US" kern="0" dirty="0">
                <a:solidFill>
                  <a:schemeClr val="tx1"/>
                </a:solidFill>
                <a:latin typeface="微软雅黑" panose="020B0503020204020204" pitchFamily="34" charset="-122"/>
                <a:ea typeface="微软雅黑" panose="020B0503020204020204" pitchFamily="34" charset="-122"/>
              </a:rPr>
              <a:t>页岩气井压裂效果量化评价指标权重分析</a:t>
            </a:r>
            <a:endParaRPr lang="zh-CN" altLang="en-US" kern="0" dirty="0">
              <a:solidFill>
                <a:schemeClr val="tx1"/>
              </a:solidFill>
              <a:latin typeface="微软雅黑" panose="020B0503020204020204" pitchFamily="34" charset="-122"/>
              <a:ea typeface="微软雅黑" panose="020B0503020204020204" pitchFamily="34" charset="-122"/>
            </a:endParaRPr>
          </a:p>
          <a:p>
            <a:pPr>
              <a:lnSpc>
                <a:spcPct val="2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sym typeface="+mn-ea"/>
              </a:rPr>
              <a:t>研究内容三：</a:t>
            </a:r>
            <a:r>
              <a:rPr lang="zh-CN" altLang="en-US" kern="0" dirty="0">
                <a:solidFill>
                  <a:schemeClr val="tx1"/>
                </a:solidFill>
                <a:latin typeface="微软雅黑" panose="020B0503020204020204" pitchFamily="34" charset="-122"/>
                <a:ea typeface="微软雅黑" panose="020B0503020204020204" pitchFamily="34" charset="-122"/>
              </a:rPr>
              <a:t>压裂效果综合量化评价指标建立与验证</a:t>
            </a:r>
            <a:endParaRPr lang="zh-CN" altLang="en-US" kern="0" dirty="0">
              <a:solidFill>
                <a:schemeClr val="tx1"/>
              </a:solidFill>
              <a:latin typeface="微软雅黑" panose="020B0503020204020204" pitchFamily="34" charset="-122"/>
              <a:ea typeface="微软雅黑" panose="020B0503020204020204" pitchFamily="34" charset="-122"/>
            </a:endParaRPr>
          </a:p>
          <a:p>
            <a:pPr>
              <a:lnSpc>
                <a:spcPct val="2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sym typeface="+mn-ea"/>
              </a:rPr>
              <a:t>研究内容四：</a:t>
            </a:r>
            <a:r>
              <a:rPr lang="zh-CN" altLang="en-US" kern="0" dirty="0">
                <a:solidFill>
                  <a:schemeClr val="tx1"/>
                </a:solidFill>
                <a:latin typeface="微软雅黑" panose="020B0503020204020204" pitchFamily="34" charset="-122"/>
                <a:ea typeface="微软雅黑" panose="020B0503020204020204" pitchFamily="34" charset="-122"/>
              </a:rPr>
              <a:t>压裂效果综合评估方法应用及优化</a:t>
            </a:r>
            <a:endParaRPr lang="zh-CN" altLang="en-US"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bwMode="auto">
          <a:xfrm>
            <a:off x="431799" y="927848"/>
            <a:ext cx="11658600" cy="411203"/>
          </a:xfrm>
          <a:prstGeom prst="rect">
            <a:avLst/>
          </a:prstGeom>
          <a:noFill/>
          <a:ln>
            <a:noFill/>
          </a:ln>
        </p:spPr>
        <p:txBody>
          <a:bodyPr wrap="square" lIns="0" tIns="0" rIns="0" bIns="0">
            <a:spAutoFit/>
          </a:bodyPr>
          <a:lstStyle>
            <a:defPPr>
              <a:defRPr lang="zh-CN"/>
            </a:defPPr>
            <a:lvl1pPr marL="802005" indent="-802005">
              <a:lnSpc>
                <a:spcPct val="150000"/>
              </a:lnSpc>
              <a:buClr>
                <a:srgbClr val="FF0000"/>
              </a:buClr>
              <a:defRPr>
                <a:solidFill>
                  <a:prstClr val="black"/>
                </a:solidFill>
                <a:latin typeface="方正粗宋简体" panose="02000000000000000000" pitchFamily="65" charset="-122"/>
                <a:ea typeface="方正粗宋简体" panose="02000000000000000000" pitchFamily="65" charset="-122"/>
              </a:defRPr>
            </a:lvl1pPr>
          </a:lstStyle>
          <a:p>
            <a:pPr marL="0" marR="0" lvl="0" indent="0" algn="just" defTabSz="914400" rtl="0" eaLnBrk="1" fontAlgn="auto" latinLnBrk="0" hangingPunct="1">
              <a:lnSpc>
                <a:spcPct val="150000"/>
              </a:lnSpc>
              <a:spcBef>
                <a:spcPts val="0"/>
              </a:spcBef>
              <a:spcAft>
                <a:spcPts val="0"/>
              </a:spcAft>
              <a:buClr>
                <a:srgbClr val="FF0000"/>
              </a:buClr>
              <a:buSzTx/>
              <a:buFontTx/>
              <a:buNone/>
              <a:defRPr/>
            </a:pP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方正大黑简体" panose="02000000000000000000" pitchFamily="65" charset="-122"/>
                <a:cs typeface="Times New Roman" panose="02020603050405020304" pitchFamily="18" charset="0"/>
              </a:rPr>
              <a:t> </a:t>
            </a: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方正大黑简体" panose="02000000000000000000" pitchFamily="65" charset="-122"/>
              <a:cs typeface="Times New Roman" panose="02020603050405020304" pitchFamily="18" charset="0"/>
            </a:endParaRPr>
          </a:p>
        </p:txBody>
      </p:sp>
      <p:sp>
        <p:nvSpPr>
          <p:cNvPr id="9"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三、主要技术经济考核指标</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11" name="矩形 6"/>
          <p:cNvSpPr>
            <a:spLocks noChangeArrowheads="1"/>
          </p:cNvSpPr>
          <p:nvPr/>
        </p:nvSpPr>
        <p:spPr bwMode="auto">
          <a:xfrm>
            <a:off x="668020" y="1743075"/>
            <a:ext cx="5073650" cy="1322070"/>
          </a:xfrm>
          <a:prstGeom prst="rect">
            <a:avLst/>
          </a:prstGeom>
          <a:noFill/>
          <a:ln>
            <a:noFill/>
          </a:ln>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0" fontAlgn="base" hangingPunct="0">
              <a:lnSpc>
                <a:spcPct val="250000"/>
              </a:lnSpc>
              <a:spcBef>
                <a:spcPct val="0"/>
              </a:spcBef>
              <a:spcAft>
                <a:spcPct val="0"/>
              </a:spcAft>
              <a:buFontTx/>
              <a:buNone/>
              <a:defRPr/>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、建立</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套压裂效果综合评估指标体系及方法</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eaLnBrk="0" fontAlgn="base" hangingPunct="0">
              <a:lnSpc>
                <a:spcPct val="250000"/>
              </a:lnSpc>
              <a:spcBef>
                <a:spcPct val="0"/>
              </a:spcBef>
              <a:spcAft>
                <a:spcPct val="0"/>
              </a:spcAft>
              <a:buFontTx/>
              <a:buNone/>
              <a:defRPr/>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、压裂效果综合评估方法现场应用不少于</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井次</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3" name="组合 12"/>
          <p:cNvGrpSpPr/>
          <p:nvPr/>
        </p:nvGrpSpPr>
        <p:grpSpPr>
          <a:xfrm>
            <a:off x="505644" y="1076441"/>
            <a:ext cx="1933164" cy="644388"/>
            <a:chOff x="503405" y="1575997"/>
            <a:chExt cx="1190552" cy="677869"/>
          </a:xfrm>
        </p:grpSpPr>
        <p:sp>
          <p:nvSpPr>
            <p:cNvPr id="14" name="矩形: 圆角 720"/>
            <p:cNvSpPr/>
            <p:nvPr/>
          </p:nvSpPr>
          <p:spPr>
            <a:xfrm>
              <a:off x="503405" y="1575997"/>
              <a:ext cx="620289" cy="632600"/>
            </a:xfrm>
            <a:prstGeom prst="roundRect">
              <a:avLst>
                <a:gd name="adj" fmla="val 9129"/>
              </a:avLst>
            </a:prstGeom>
            <a:solidFill>
              <a:srgbClr val="C00000"/>
            </a:solidFill>
            <a:ln>
              <a:noFill/>
            </a:ln>
            <a:effectLst>
              <a:outerShdw blurRad="50800" dist="38100" dir="5400000" algn="t" rotWithShape="0">
                <a:prstClr val="black">
                  <a:alpha val="40000"/>
                </a:prstClr>
              </a:outerShdw>
            </a:effectLst>
          </p:spPr>
          <p:txBody>
            <a:bodyPr wrap="square" lIns="36000" tIns="36000" rIns="36000" bIns="36000">
              <a:noAutofit/>
            </a:bodyPr>
            <a:lstStyle/>
            <a:p>
              <a:pPr algn="ctr">
                <a:buClr>
                  <a:srgbClr val="FF0000"/>
                </a:buClr>
                <a:defRPr/>
              </a:pPr>
              <a:endPar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矩形: 圆角 720"/>
            <p:cNvSpPr/>
            <p:nvPr/>
          </p:nvSpPr>
          <p:spPr>
            <a:xfrm>
              <a:off x="577957" y="1650774"/>
              <a:ext cx="1116000" cy="603092"/>
            </a:xfrm>
            <a:prstGeom prst="roundRect">
              <a:avLst>
                <a:gd name="adj" fmla="val 9129"/>
              </a:avLst>
            </a:prstGeom>
            <a:solidFill>
              <a:schemeClr val="bg1">
                <a:lumMod val="95000"/>
              </a:schemeClr>
            </a:solidFill>
            <a:ln>
              <a:solidFill>
                <a:srgbClr val="C00000"/>
              </a:solidFill>
            </a:ln>
            <a:effectLst>
              <a:outerShdw blurRad="50800" dist="38100" dir="5400000" algn="t" rotWithShape="0">
                <a:prstClr val="black">
                  <a:alpha val="40000"/>
                </a:prstClr>
              </a:outerShdw>
            </a:effectLst>
          </p:spPr>
          <p:txBody>
            <a:bodyPr wrap="square" lIns="36000" tIns="36000" rIns="36000" bIns="36000" anchor="ctr">
              <a:noAutofit/>
            </a:bodyPr>
            <a:lstStyle/>
            <a:p>
              <a:pPr lvl="0" algn="ctr">
                <a:buClr>
                  <a:srgbClr val="FF0000"/>
                </a:buClr>
                <a:defRPr/>
              </a:pPr>
              <a:r>
                <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技术经济指标</a:t>
              </a:r>
              <a:endPar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9" name="组合 18"/>
          <p:cNvGrpSpPr/>
          <p:nvPr/>
        </p:nvGrpSpPr>
        <p:grpSpPr>
          <a:xfrm>
            <a:off x="505643" y="3485639"/>
            <a:ext cx="1937625" cy="645875"/>
            <a:chOff x="503405" y="1575997"/>
            <a:chExt cx="1190552" cy="677869"/>
          </a:xfrm>
        </p:grpSpPr>
        <p:sp>
          <p:nvSpPr>
            <p:cNvPr id="20" name="矩形: 圆角 720"/>
            <p:cNvSpPr/>
            <p:nvPr/>
          </p:nvSpPr>
          <p:spPr>
            <a:xfrm>
              <a:off x="503405" y="1575997"/>
              <a:ext cx="620289" cy="632600"/>
            </a:xfrm>
            <a:prstGeom prst="roundRect">
              <a:avLst>
                <a:gd name="adj" fmla="val 9129"/>
              </a:avLst>
            </a:prstGeom>
            <a:solidFill>
              <a:srgbClr val="C00000"/>
            </a:solidFill>
            <a:ln>
              <a:noFill/>
            </a:ln>
            <a:effectLst>
              <a:outerShdw blurRad="50800" dist="38100" dir="5400000" algn="t" rotWithShape="0">
                <a:prstClr val="black">
                  <a:alpha val="40000"/>
                </a:prstClr>
              </a:outerShdw>
            </a:effectLst>
          </p:spPr>
          <p:txBody>
            <a:bodyPr wrap="square" lIns="36000" tIns="36000" rIns="36000" bIns="36000">
              <a:noAutofit/>
            </a:bodyPr>
            <a:lstStyle/>
            <a:p>
              <a:pPr algn="ctr">
                <a:buClr>
                  <a:srgbClr val="FF0000"/>
                </a:buClr>
                <a:defRPr/>
              </a:pPr>
              <a:endPar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矩形: 圆角 720"/>
            <p:cNvSpPr/>
            <p:nvPr/>
          </p:nvSpPr>
          <p:spPr>
            <a:xfrm>
              <a:off x="577957" y="1650774"/>
              <a:ext cx="1116000" cy="603092"/>
            </a:xfrm>
            <a:prstGeom prst="roundRect">
              <a:avLst>
                <a:gd name="adj" fmla="val 9129"/>
              </a:avLst>
            </a:prstGeom>
            <a:solidFill>
              <a:schemeClr val="bg1">
                <a:lumMod val="95000"/>
              </a:schemeClr>
            </a:solidFill>
            <a:ln>
              <a:solidFill>
                <a:srgbClr val="C00000"/>
              </a:solidFill>
            </a:ln>
            <a:effectLst>
              <a:outerShdw blurRad="50800" dist="38100" dir="5400000" algn="t" rotWithShape="0">
                <a:prstClr val="black">
                  <a:alpha val="40000"/>
                </a:prstClr>
              </a:outerShdw>
            </a:effectLst>
          </p:spPr>
          <p:txBody>
            <a:bodyPr wrap="square" lIns="36000" tIns="36000" rIns="36000" bIns="36000" anchor="ctr">
              <a:noAutofit/>
            </a:bodyPr>
            <a:lstStyle/>
            <a:p>
              <a:pPr lvl="0" algn="ctr">
                <a:buClr>
                  <a:srgbClr val="FF0000"/>
                </a:buClr>
                <a:defRPr/>
              </a:pPr>
              <a:r>
                <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知识产权指标</a:t>
              </a:r>
              <a:endParaRPr lang="zh-CN" altLang="en-US"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2" name="矩形 21"/>
          <p:cNvSpPr/>
          <p:nvPr/>
        </p:nvSpPr>
        <p:spPr>
          <a:xfrm>
            <a:off x="668020" y="4202430"/>
            <a:ext cx="5569585" cy="1322070"/>
          </a:xfrm>
          <a:prstGeom prst="rect">
            <a:avLst/>
          </a:prstGeom>
        </p:spPr>
        <p:txBody>
          <a:bodyPr wrap="square">
            <a:spAutoFit/>
          </a:bodyPr>
          <a:lstStyle/>
          <a:p>
            <a:pPr marL="88900" lvl="1" indent="-88900" algn="just" eaLnBrk="0" fontAlgn="base" hangingPunct="0">
              <a:lnSpc>
                <a:spcPct val="250000"/>
              </a:lnSpc>
              <a:spcBef>
                <a:spcPct val="0"/>
              </a:spcBef>
              <a:spcAft>
                <a:spcPct val="0"/>
              </a:spcAft>
              <a:defRPr/>
            </a:pP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、提交发明专利文本</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件</a:t>
            </a:r>
            <a:endPar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88900" lvl="1" indent="-88900" algn="just" eaLnBrk="0" fontAlgn="base" hangingPunct="0">
              <a:lnSpc>
                <a:spcPct val="250000"/>
              </a:lnSpc>
              <a:spcBef>
                <a:spcPct val="0"/>
              </a:spcBef>
              <a:spcAft>
                <a:spcPct val="0"/>
              </a:spcAft>
              <a:defRPr/>
            </a:pP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、提交论文文本</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篇</a:t>
            </a:r>
            <a:endPar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bwMode="auto">
          <a:xfrm>
            <a:off x="431799" y="927848"/>
            <a:ext cx="11658600" cy="411203"/>
          </a:xfrm>
          <a:prstGeom prst="rect">
            <a:avLst/>
          </a:prstGeom>
          <a:noFill/>
          <a:ln>
            <a:noFill/>
          </a:ln>
        </p:spPr>
        <p:txBody>
          <a:bodyPr wrap="square" lIns="0" tIns="0" rIns="0" bIns="0">
            <a:spAutoFit/>
          </a:bodyPr>
          <a:lstStyle>
            <a:defPPr>
              <a:defRPr lang="zh-CN"/>
            </a:defPPr>
            <a:lvl1pPr marL="802005" indent="-802005">
              <a:lnSpc>
                <a:spcPct val="150000"/>
              </a:lnSpc>
              <a:buClr>
                <a:srgbClr val="FF0000"/>
              </a:buClr>
              <a:defRPr>
                <a:solidFill>
                  <a:prstClr val="black"/>
                </a:solidFill>
                <a:latin typeface="方正粗宋简体" panose="02000000000000000000" pitchFamily="65" charset="-122"/>
                <a:ea typeface="方正粗宋简体" panose="02000000000000000000" pitchFamily="65" charset="-122"/>
              </a:defRPr>
            </a:lvl1pPr>
          </a:lstStyle>
          <a:p>
            <a:pPr marL="0" marR="0" lvl="0" indent="0" algn="just" defTabSz="914400" rtl="0" eaLnBrk="1" fontAlgn="auto" latinLnBrk="0" hangingPunct="1">
              <a:lnSpc>
                <a:spcPct val="150000"/>
              </a:lnSpc>
              <a:spcBef>
                <a:spcPts val="0"/>
              </a:spcBef>
              <a:spcAft>
                <a:spcPts val="0"/>
              </a:spcAft>
              <a:buClr>
                <a:srgbClr val="FF0000"/>
              </a:buClr>
              <a:buSzTx/>
              <a:buFontTx/>
              <a:buNone/>
              <a:defRPr/>
            </a:pP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方正大黑简体" panose="02000000000000000000" pitchFamily="65" charset="-122"/>
                <a:cs typeface="Times New Roman" panose="02020603050405020304" pitchFamily="18" charset="0"/>
              </a:rPr>
              <a:t> </a:t>
            </a: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方正大黑简体" panose="02000000000000000000" pitchFamily="65" charset="-122"/>
              <a:cs typeface="Times New Roman" panose="02020603050405020304" pitchFamily="18" charset="0"/>
            </a:endParaRPr>
          </a:p>
        </p:txBody>
      </p:sp>
      <p:sp>
        <p:nvSpPr>
          <p:cNvPr id="9"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四、项目研究技术路线</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963" y="915408"/>
            <a:ext cx="11641883" cy="46037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分为</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压裂效果评价技术调研、压裂资料分析方法研究、压裂效果评价体系确立、压裂效果综合评估方法应用</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四方面进行</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10" name="矩形 9"/>
          <p:cNvSpPr/>
          <p:nvPr/>
        </p:nvSpPr>
        <p:spPr>
          <a:xfrm>
            <a:off x="490345" y="2124075"/>
            <a:ext cx="2340000" cy="90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调研国内外压裂效果评价技术与发展现状</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 name="矩形 1"/>
          <p:cNvSpPr/>
          <p:nvPr/>
        </p:nvSpPr>
        <p:spPr>
          <a:xfrm>
            <a:off x="490345" y="3217750"/>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梳理所内现有评估方法，设计评价框架</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2" name="矩形 11"/>
          <p:cNvSpPr/>
          <p:nvPr/>
        </p:nvSpPr>
        <p:spPr>
          <a:xfrm>
            <a:off x="490345" y="4311220"/>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形成技术调研报告与研究路线</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3" name="矩形 2"/>
          <p:cNvSpPr/>
          <p:nvPr/>
        </p:nvSpPr>
        <p:spPr>
          <a:xfrm>
            <a:off x="3457837" y="2122170"/>
            <a:ext cx="2340000" cy="90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建立施工曲线</a:t>
            </a:r>
            <a:r>
              <a:rPr lang="zh-CN" altLang="en-US" dirty="0">
                <a:solidFill>
                  <a:schemeClr val="tx1"/>
                </a:solidFill>
                <a:latin typeface="微软雅黑" panose="020B0503020204020204" pitchFamily="34" charset="-122"/>
                <a:ea typeface="微软雅黑" panose="020B0503020204020204" pitchFamily="34" charset="-122"/>
              </a:rPr>
              <a:t>时频特征与改造体积关联</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4" name="矩形 3"/>
          <p:cNvSpPr/>
          <p:nvPr/>
        </p:nvSpPr>
        <p:spPr>
          <a:xfrm>
            <a:off x="3457837" y="3217115"/>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建立</a:t>
            </a:r>
            <a:r>
              <a:rPr lang="en-US" altLang="zh-CN" dirty="0">
                <a:solidFill>
                  <a:schemeClr val="tx1"/>
                </a:solidFill>
                <a:latin typeface="微软雅黑" panose="020B0503020204020204" pitchFamily="34" charset="-122"/>
                <a:ea typeface="微软雅黑" panose="020B0503020204020204" pitchFamily="34" charset="-122"/>
              </a:rPr>
              <a:t>G</a:t>
            </a:r>
            <a:r>
              <a:rPr lang="zh-CN" altLang="en-US" dirty="0">
                <a:solidFill>
                  <a:schemeClr val="tx1"/>
                </a:solidFill>
                <a:latin typeface="微软雅黑" panose="020B0503020204020204" pitchFamily="34" charset="-122"/>
                <a:ea typeface="微软雅黑" panose="020B0503020204020204" pitchFamily="34" charset="-122"/>
              </a:rPr>
              <a:t>函数</a:t>
            </a:r>
            <a:r>
              <a:rPr lang="zh-CN" altLang="en-US" dirty="0">
                <a:latin typeface="微软雅黑" panose="020B0503020204020204" pitchFamily="34" charset="-122"/>
                <a:ea typeface="微软雅黑" panose="020B0503020204020204" pitchFamily="34" charset="-122"/>
                <a:sym typeface="+mn-ea"/>
              </a:rPr>
              <a:t>曲线</a:t>
            </a:r>
            <a:r>
              <a:rPr lang="zh-CN" altLang="en-US" dirty="0">
                <a:solidFill>
                  <a:schemeClr val="tx1"/>
                </a:solidFill>
                <a:latin typeface="微软雅黑" panose="020B0503020204020204" pitchFamily="34" charset="-122"/>
                <a:ea typeface="微软雅黑" panose="020B0503020204020204" pitchFamily="34" charset="-122"/>
              </a:rPr>
              <a:t>特征与裂缝复杂度关联</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5" name="矩形 14"/>
          <p:cNvSpPr/>
          <p:nvPr/>
        </p:nvSpPr>
        <p:spPr>
          <a:xfrm>
            <a:off x="3458472" y="4311855"/>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建立施工曲线标准化分析流程</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7" name="矩形 16"/>
          <p:cNvSpPr/>
          <p:nvPr/>
        </p:nvSpPr>
        <p:spPr>
          <a:xfrm>
            <a:off x="6425192" y="2110105"/>
            <a:ext cx="2340000" cy="90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结合现有技术与小波、</a:t>
            </a:r>
            <a:r>
              <a:rPr lang="en-US" altLang="zh-CN" dirty="0">
                <a:solidFill>
                  <a:schemeClr val="tx1"/>
                </a:solidFill>
                <a:latin typeface="微软雅黑" panose="020B0503020204020204" pitchFamily="34" charset="-122"/>
                <a:ea typeface="微软雅黑" panose="020B0503020204020204" pitchFamily="34" charset="-122"/>
              </a:rPr>
              <a:t>G</a:t>
            </a:r>
            <a:r>
              <a:rPr lang="zh-CN" altLang="en-US" dirty="0">
                <a:solidFill>
                  <a:schemeClr val="tx1"/>
                </a:solidFill>
                <a:latin typeface="微软雅黑" panose="020B0503020204020204" pitchFamily="34" charset="-122"/>
                <a:ea typeface="微软雅黑" panose="020B0503020204020204" pitchFamily="34" charset="-122"/>
              </a:rPr>
              <a:t>函数分析结果</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5" name="矩形 4"/>
          <p:cNvSpPr/>
          <p:nvPr/>
        </p:nvSpPr>
        <p:spPr>
          <a:xfrm>
            <a:off x="6425192" y="3213940"/>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建立量化指标体系，确定权重分配机制</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6" name="矩形 5"/>
          <p:cNvSpPr/>
          <p:nvPr/>
        </p:nvSpPr>
        <p:spPr>
          <a:xfrm>
            <a:off x="6425192" y="4317570"/>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构建压裂效果综合评价模型并验证可靠性</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6" name="矩形 15"/>
          <p:cNvSpPr/>
          <p:nvPr/>
        </p:nvSpPr>
        <p:spPr>
          <a:xfrm>
            <a:off x="9392547" y="2104390"/>
            <a:ext cx="2340000" cy="90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选取典型井开展现场应用验证与精度评估</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3" name="矩形 22"/>
          <p:cNvSpPr/>
          <p:nvPr/>
        </p:nvSpPr>
        <p:spPr>
          <a:xfrm>
            <a:off x="9392547" y="3210130"/>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多井统计分析验证方法普适性与稳定性</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4" name="矩形 23"/>
          <p:cNvSpPr/>
          <p:nvPr/>
        </p:nvSpPr>
        <p:spPr>
          <a:xfrm>
            <a:off x="9392547" y="4315665"/>
            <a:ext cx="2340000" cy="899795"/>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不断优化模型参数，形成标准化技术体系</a:t>
            </a:r>
            <a:r>
              <a:rPr lang="en-US" altLang="zh-CN" dirty="0">
                <a:solidFill>
                  <a:schemeClr val="tx1"/>
                </a:solidFill>
                <a:latin typeface="微软雅黑" panose="020B0503020204020204" pitchFamily="34" charset="-122"/>
                <a:ea typeface="微软雅黑" panose="020B0503020204020204" pitchFamily="34" charset="-122"/>
              </a:rPr>
              <a:t> </a:t>
            </a: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26" name="文本框 1"/>
          <p:cNvSpPr txBox="1">
            <a:spLocks noChangeArrowheads="1"/>
          </p:cNvSpPr>
          <p:nvPr/>
        </p:nvSpPr>
        <p:spPr bwMode="auto">
          <a:xfrm>
            <a:off x="220345" y="1644015"/>
            <a:ext cx="2880000" cy="3960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rPr>
              <a:t>压裂效果评价技术调研</a:t>
            </a:r>
            <a:endPar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27" name="文本框 1"/>
          <p:cNvSpPr txBox="1">
            <a:spLocks noChangeArrowheads="1"/>
          </p:cNvSpPr>
          <p:nvPr/>
        </p:nvSpPr>
        <p:spPr bwMode="auto">
          <a:xfrm>
            <a:off x="3187975" y="1644015"/>
            <a:ext cx="2879725" cy="3960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rPr>
              <a:t>压裂资料分析</a:t>
            </a:r>
            <a:r>
              <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rPr>
              <a:t>方法研究</a:t>
            </a:r>
            <a:endPar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28" name="文本框 1"/>
          <p:cNvSpPr txBox="1">
            <a:spLocks noChangeArrowheads="1"/>
          </p:cNvSpPr>
          <p:nvPr/>
        </p:nvSpPr>
        <p:spPr bwMode="auto">
          <a:xfrm>
            <a:off x="6155330" y="1644015"/>
            <a:ext cx="2879725" cy="3960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rPr>
              <a:t>压裂效果评价体系</a:t>
            </a:r>
            <a:r>
              <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rPr>
              <a:t>确立</a:t>
            </a:r>
            <a:endPar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29" name="文本框 1"/>
          <p:cNvSpPr txBox="1">
            <a:spLocks noChangeArrowheads="1"/>
          </p:cNvSpPr>
          <p:nvPr/>
        </p:nvSpPr>
        <p:spPr bwMode="auto">
          <a:xfrm>
            <a:off x="9173210" y="1644015"/>
            <a:ext cx="3006725" cy="39624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rPr>
              <a:t>压裂效果综合评估方法</a:t>
            </a:r>
            <a:r>
              <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rPr>
              <a:t>应用</a:t>
            </a:r>
            <a:endParaRPr lang="zh-CN" altLang="en-US" b="1" dirty="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cxnSp>
        <p:nvCxnSpPr>
          <p:cNvPr id="30" name="直接箭头连接符 29"/>
          <p:cNvCxnSpPr>
            <a:stCxn id="10" idx="2"/>
            <a:endCxn id="2" idx="0"/>
          </p:cNvCxnSpPr>
          <p:nvPr/>
        </p:nvCxnSpPr>
        <p:spPr>
          <a:xfrm>
            <a:off x="1660345" y="3024075"/>
            <a:ext cx="0" cy="19367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1" name="直接箭头连接符 30"/>
          <p:cNvCxnSpPr>
            <a:stCxn id="2" idx="2"/>
            <a:endCxn id="12" idx="0"/>
          </p:cNvCxnSpPr>
          <p:nvPr/>
        </p:nvCxnSpPr>
        <p:spPr>
          <a:xfrm>
            <a:off x="1660345" y="4117545"/>
            <a:ext cx="0" cy="19367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2" name="直接箭头连接符 31"/>
          <p:cNvCxnSpPr>
            <a:stCxn id="3" idx="2"/>
            <a:endCxn id="4" idx="0"/>
          </p:cNvCxnSpPr>
          <p:nvPr/>
        </p:nvCxnSpPr>
        <p:spPr>
          <a:xfrm>
            <a:off x="4627837" y="3021965"/>
            <a:ext cx="0" cy="19494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3" name="直接箭头连接符 32"/>
          <p:cNvCxnSpPr>
            <a:stCxn id="4" idx="2"/>
            <a:endCxn id="15" idx="0"/>
          </p:cNvCxnSpPr>
          <p:nvPr/>
        </p:nvCxnSpPr>
        <p:spPr>
          <a:xfrm>
            <a:off x="4627837" y="4116705"/>
            <a:ext cx="635" cy="19494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4" name="直接箭头连接符 33"/>
          <p:cNvCxnSpPr>
            <a:stCxn id="17" idx="2"/>
            <a:endCxn id="5" idx="0"/>
          </p:cNvCxnSpPr>
          <p:nvPr/>
        </p:nvCxnSpPr>
        <p:spPr>
          <a:xfrm>
            <a:off x="7595192" y="3009900"/>
            <a:ext cx="0" cy="20383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35" name="直接箭头连接符 34"/>
          <p:cNvCxnSpPr>
            <a:stCxn id="5" idx="2"/>
            <a:endCxn id="6" idx="0"/>
          </p:cNvCxnSpPr>
          <p:nvPr/>
        </p:nvCxnSpPr>
        <p:spPr>
          <a:xfrm>
            <a:off x="7595192" y="4113530"/>
            <a:ext cx="0" cy="20383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66" name="直接箭头连接符 65"/>
          <p:cNvCxnSpPr>
            <a:stCxn id="16" idx="2"/>
            <a:endCxn id="23" idx="0"/>
          </p:cNvCxnSpPr>
          <p:nvPr/>
        </p:nvCxnSpPr>
        <p:spPr>
          <a:xfrm>
            <a:off x="10562547" y="3004185"/>
            <a:ext cx="0" cy="205740"/>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69" name="直接箭头连接符 68"/>
          <p:cNvCxnSpPr>
            <a:stCxn id="23" idx="2"/>
            <a:endCxn id="24" idx="0"/>
          </p:cNvCxnSpPr>
          <p:nvPr/>
        </p:nvCxnSpPr>
        <p:spPr>
          <a:xfrm>
            <a:off x="10562547" y="4109720"/>
            <a:ext cx="0" cy="205740"/>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sp>
        <p:nvSpPr>
          <p:cNvPr id="70" name="矩形 69"/>
          <p:cNvSpPr/>
          <p:nvPr/>
        </p:nvSpPr>
        <p:spPr>
          <a:xfrm>
            <a:off x="2495550" y="5798185"/>
            <a:ext cx="7200000" cy="37973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dirty="0">
                <a:solidFill>
                  <a:schemeClr val="tx1"/>
                </a:solidFill>
                <a:latin typeface="微软雅黑" panose="020B0503020204020204" pitchFamily="34" charset="-122"/>
                <a:ea typeface="微软雅黑" panose="020B0503020204020204" pitchFamily="34" charset="-122"/>
              </a:rPr>
              <a:t>建立一套压裂效果综合评估指标体系及方法</a:t>
            </a:r>
            <a:endParaRPr lang="zh-CN" altLang="en-US" dirty="0">
              <a:solidFill>
                <a:schemeClr val="tx1"/>
              </a:solidFill>
              <a:latin typeface="微软雅黑" panose="020B0503020204020204" pitchFamily="34" charset="-122"/>
              <a:ea typeface="微软雅黑" panose="020B0503020204020204" pitchFamily="34" charset="-122"/>
            </a:endParaRPr>
          </a:p>
        </p:txBody>
      </p:sp>
      <p:cxnSp>
        <p:nvCxnSpPr>
          <p:cNvPr id="82" name="肘形连接符 81"/>
          <p:cNvCxnSpPr>
            <a:stCxn id="12" idx="2"/>
            <a:endCxn id="70" idx="0"/>
          </p:cNvCxnSpPr>
          <p:nvPr/>
        </p:nvCxnSpPr>
        <p:spPr>
          <a:xfrm rot="5400000" flipV="1">
            <a:off x="3584575" y="3286760"/>
            <a:ext cx="587375" cy="4435475"/>
          </a:xfrm>
          <a:prstGeom prst="bentConnector3">
            <a:avLst>
              <a:gd name="adj1" fmla="val 50054"/>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83" name="肘形连接符 82"/>
          <p:cNvCxnSpPr>
            <a:stCxn id="24" idx="2"/>
            <a:endCxn id="70" idx="0"/>
          </p:cNvCxnSpPr>
          <p:nvPr/>
        </p:nvCxnSpPr>
        <p:spPr>
          <a:xfrm rot="5400000">
            <a:off x="8037830" y="3273425"/>
            <a:ext cx="582930" cy="4466590"/>
          </a:xfrm>
          <a:prstGeom prst="bentConnector3">
            <a:avLst>
              <a:gd name="adj1" fmla="val 50000"/>
            </a:avLst>
          </a:prstGeom>
          <a:ln>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11" name="右箭头 10"/>
          <p:cNvSpPr/>
          <p:nvPr/>
        </p:nvSpPr>
        <p:spPr>
          <a:xfrm>
            <a:off x="2967990" y="4649470"/>
            <a:ext cx="421005" cy="313690"/>
          </a:xfrm>
          <a:prstGeom prst="rightArrow">
            <a:avLst/>
          </a:prstGeom>
          <a:solidFill>
            <a:schemeClr val="tx1"/>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13" name="右箭头 12"/>
          <p:cNvSpPr/>
          <p:nvPr/>
        </p:nvSpPr>
        <p:spPr>
          <a:xfrm>
            <a:off x="5901055" y="4649470"/>
            <a:ext cx="421005" cy="313690"/>
          </a:xfrm>
          <a:prstGeom prst="rightArrow">
            <a:avLst/>
          </a:prstGeom>
          <a:solidFill>
            <a:schemeClr val="tx1"/>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14" name="右箭头 13"/>
          <p:cNvSpPr/>
          <p:nvPr/>
        </p:nvSpPr>
        <p:spPr>
          <a:xfrm>
            <a:off x="8868410" y="4649470"/>
            <a:ext cx="421005" cy="313690"/>
          </a:xfrm>
          <a:prstGeom prst="rightArrow">
            <a:avLst/>
          </a:prstGeom>
          <a:solidFill>
            <a:schemeClr val="tx1"/>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a:graphicFrameLocks noGrp="1"/>
          </p:cNvGraphicFramePr>
          <p:nvPr/>
        </p:nvGraphicFramePr>
        <p:xfrm>
          <a:off x="344170" y="1504315"/>
          <a:ext cx="11486515" cy="4748530"/>
        </p:xfrm>
        <a:graphic>
          <a:graphicData uri="http://schemas.openxmlformats.org/drawingml/2006/table">
            <a:tbl>
              <a:tblPr firstRow="1" bandRow="1">
                <a:effectLst/>
              </a:tblPr>
              <a:tblGrid>
                <a:gridCol w="874395"/>
                <a:gridCol w="1664335"/>
                <a:gridCol w="3399155"/>
                <a:gridCol w="4598670"/>
                <a:gridCol w="949960"/>
              </a:tblGrid>
              <a:tr h="369570">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研究阶段</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起止时间</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研究内容</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阶段目标</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altLang="en-US" sz="1200" b="1" kern="1200" dirty="0">
                          <a:solidFill>
                            <a:schemeClr val="bg1"/>
                          </a:solidFill>
                          <a:latin typeface="微软雅黑" panose="020B0503020204020204" pitchFamily="34" charset="-122"/>
                          <a:ea typeface="微软雅黑" panose="020B0503020204020204" pitchFamily="34" charset="-122"/>
                          <a:cs typeface="+mn-cs"/>
                        </a:rPr>
                        <a:t>负责人</a:t>
                      </a:r>
                      <a:endParaRPr lang="zh-CN" altLang="en-US"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673100">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2025.07~2025.08</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项目</a:t>
                      </a:r>
                      <a:r>
                        <a:rPr lang="zh-CN" sz="1200" kern="100" dirty="0">
                          <a:effectLst/>
                          <a:latin typeface="微软雅黑" panose="020B0503020204020204" pitchFamily="34" charset="-122"/>
                          <a:ea typeface="微软雅黑" panose="020B0503020204020204" pitchFamily="34" charset="-122"/>
                        </a:rPr>
                        <a:t>开题立项，文献调研</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a:effectLst/>
                          <a:latin typeface="微软雅黑" panose="020B0503020204020204" pitchFamily="34" charset="-122"/>
                          <a:ea typeface="微软雅黑" panose="020B0503020204020204" pitchFamily="34" charset="-122"/>
                        </a:rPr>
                        <a:t>调研国内外压裂效果评价技术，完成项目开题立项论证并形成项目研究目标与技术路线</a:t>
                      </a:r>
                      <a:endParaRPr lang="zh-CN" altLang="en-US" sz="1200" kern="10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胡晓东</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37820">
                <a:tc rowSpan="3">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noProof="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200" b="0" kern="1200" noProof="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2025.08~2025.09</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梳理所内压裂效果评估方法，针对现有技术空白，深入研究</a:t>
                      </a:r>
                      <a:r>
                        <a:rPr lang="en-US" altLang="zh-CN" sz="1200" kern="100" dirty="0">
                          <a:effectLst/>
                          <a:latin typeface="微软雅黑" panose="020B0503020204020204" pitchFamily="34" charset="-122"/>
                          <a:ea typeface="微软雅黑" panose="020B0503020204020204" pitchFamily="34" charset="-122"/>
                        </a:rPr>
                        <a:t>G</a:t>
                      </a:r>
                      <a:r>
                        <a:rPr lang="zh-CN" altLang="en-US" sz="1200" kern="100" dirty="0">
                          <a:effectLst/>
                          <a:latin typeface="微软雅黑" panose="020B0503020204020204" pitchFamily="34" charset="-122"/>
                          <a:ea typeface="微软雅黑" panose="020B0503020204020204" pitchFamily="34" charset="-122"/>
                        </a:rPr>
                        <a:t>函数分析和小波变换的理论基础</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整理数据，</a:t>
                      </a:r>
                      <a:r>
                        <a:rPr lang="zh-CN" altLang="en-US" sz="1200" kern="100" dirty="0">
                          <a:effectLst/>
                          <a:latin typeface="微软雅黑" panose="020B0503020204020204" pitchFamily="34" charset="-122"/>
                          <a:ea typeface="微软雅黑" panose="020B0503020204020204" pitchFamily="34" charset="-122"/>
                          <a:sym typeface="+mn-ea"/>
                        </a:rPr>
                        <a:t>梳理所内现有压裂效果评估方法</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3655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kern="100" dirty="0">
                          <a:effectLst/>
                          <a:latin typeface="微软雅黑" panose="020B0503020204020204" pitchFamily="34" charset="-122"/>
                          <a:ea typeface="微软雅黑" panose="020B0503020204020204" pitchFamily="34" charset="-122"/>
                        </a:rPr>
                        <a:t>明确</a:t>
                      </a:r>
                      <a:r>
                        <a:rPr lang="en-US" altLang="zh-CN" sz="1200" kern="100" dirty="0">
                          <a:effectLst/>
                          <a:latin typeface="微软雅黑" panose="020B0503020204020204" pitchFamily="34" charset="-122"/>
                          <a:ea typeface="微软雅黑" panose="020B0503020204020204" pitchFamily="34" charset="-122"/>
                        </a:rPr>
                        <a:t>G</a:t>
                      </a:r>
                      <a:r>
                        <a:rPr lang="zh-CN" altLang="en-US" sz="1200" kern="100" dirty="0">
                          <a:effectLst/>
                          <a:latin typeface="微软雅黑" panose="020B0503020204020204" pitchFamily="34" charset="-122"/>
                          <a:ea typeface="微软雅黑" panose="020B0503020204020204" pitchFamily="34" charset="-122"/>
                        </a:rPr>
                        <a:t>函数曲线特征识别裂缝复杂度的物理机理</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3655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kern="100" dirty="0">
                          <a:effectLst/>
                          <a:latin typeface="微软雅黑" panose="020B0503020204020204" pitchFamily="34" charset="-122"/>
                          <a:ea typeface="微软雅黑" panose="020B0503020204020204" pitchFamily="34" charset="-122"/>
                          <a:sym typeface="+mn-ea"/>
                        </a:rPr>
                        <a:t>明确连续小波变换评估改造体积的物理机理</a:t>
                      </a:r>
                      <a:endParaRPr lang="zh-CN" altLang="en-US" sz="1200" kern="100" dirty="0">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37185">
                <a:tc rowSpan="3">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2025.09~2025.10</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开发施工曲线</a:t>
                      </a:r>
                      <a:r>
                        <a:rPr lang="en-US" altLang="zh-CN" sz="1200" kern="100" dirty="0">
                          <a:effectLst/>
                          <a:latin typeface="微软雅黑" panose="020B0503020204020204" pitchFamily="34" charset="-122"/>
                          <a:ea typeface="微软雅黑" panose="020B0503020204020204" pitchFamily="34" charset="-122"/>
                        </a:rPr>
                        <a:t>G</a:t>
                      </a:r>
                      <a:r>
                        <a:rPr lang="zh-CN" altLang="en-US" sz="1200" kern="100" dirty="0">
                          <a:effectLst/>
                          <a:latin typeface="微软雅黑" panose="020B0503020204020204" pitchFamily="34" charset="-122"/>
                          <a:ea typeface="微软雅黑" panose="020B0503020204020204" pitchFamily="34" charset="-122"/>
                        </a:rPr>
                        <a:t>函数与</a:t>
                      </a:r>
                      <a:r>
                        <a:rPr lang="zh-CN" altLang="en-US" sz="1200" kern="100" dirty="0">
                          <a:effectLst/>
                          <a:latin typeface="微软雅黑" panose="020B0503020204020204" pitchFamily="34" charset="-122"/>
                          <a:ea typeface="微软雅黑" panose="020B0503020204020204" pitchFamily="34" charset="-122"/>
                          <a:sym typeface="+mn-ea"/>
                        </a:rPr>
                        <a:t>连续小波变换</a:t>
                      </a:r>
                      <a:r>
                        <a:rPr lang="zh-CN" altLang="en-US" sz="1200" kern="100" dirty="0">
                          <a:effectLst/>
                          <a:latin typeface="微软雅黑" panose="020B0503020204020204" pitchFamily="34" charset="-122"/>
                          <a:ea typeface="微软雅黑" panose="020B0503020204020204" pitchFamily="34" charset="-122"/>
                        </a:rPr>
                        <a:t>分析模型，建立评价指标权重分配机制和综合评估方法</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sym typeface="+mn-ea"/>
                        </a:rPr>
                        <a:t>建立施工曲线</a:t>
                      </a:r>
                      <a:r>
                        <a:rPr lang="en-US" altLang="zh-CN" sz="1200" kern="100" dirty="0">
                          <a:effectLst/>
                          <a:latin typeface="微软雅黑" panose="020B0503020204020204" pitchFamily="34" charset="-122"/>
                          <a:ea typeface="微软雅黑" panose="020B0503020204020204" pitchFamily="34" charset="-122"/>
                          <a:sym typeface="+mn-ea"/>
                        </a:rPr>
                        <a:t>G</a:t>
                      </a:r>
                      <a:r>
                        <a:rPr lang="zh-CN" altLang="en-US" sz="1200" kern="100" dirty="0">
                          <a:effectLst/>
                          <a:latin typeface="微软雅黑" panose="020B0503020204020204" pitchFamily="34" charset="-122"/>
                          <a:ea typeface="微软雅黑" panose="020B0503020204020204" pitchFamily="34" charset="-122"/>
                          <a:sym typeface="+mn-ea"/>
                        </a:rPr>
                        <a:t>函数分析模型</a:t>
                      </a:r>
                      <a:r>
                        <a:rPr lang="zh-CN" altLang="en-US" sz="1200" noProof="0" dirty="0">
                          <a:ln>
                            <a:noFill/>
                          </a:ln>
                          <a:effectLst/>
                          <a:uLnTx/>
                          <a:uFillTx/>
                          <a:latin typeface="微软雅黑" panose="020B0503020204020204" pitchFamily="34" charset="-122"/>
                          <a:ea typeface="微软雅黑" panose="020B0503020204020204" pitchFamily="34" charset="-122"/>
                          <a:sym typeface="+mn-ea"/>
                        </a:rPr>
                        <a:t>，实现裂缝复杂度定量评价</a:t>
                      </a:r>
                      <a:endParaRPr lang="zh-CN" altLang="en-US" sz="1200" noProof="0" dirty="0">
                        <a:ln>
                          <a:noFill/>
                        </a:ln>
                        <a:effectLst/>
                        <a:uLnTx/>
                        <a:uFillTx/>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3655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kern="100" dirty="0">
                          <a:effectLst/>
                          <a:latin typeface="微软雅黑" panose="020B0503020204020204" pitchFamily="34" charset="-122"/>
                          <a:ea typeface="微软雅黑" panose="020B0503020204020204" pitchFamily="34" charset="-122"/>
                          <a:sym typeface="+mn-ea"/>
                        </a:rPr>
                        <a:t>建立施工曲线连续小波变换分析模型，实现改造体积定量评价</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3655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noProof="0" dirty="0">
                          <a:ln>
                            <a:noFill/>
                          </a:ln>
                          <a:effectLst/>
                          <a:uLnTx/>
                          <a:uFillTx/>
                          <a:latin typeface="微软雅黑" panose="020B0503020204020204" pitchFamily="34" charset="-122"/>
                          <a:ea typeface="微软雅黑" panose="020B0503020204020204" pitchFamily="34" charset="-122"/>
                          <a:sym typeface="+mn-ea"/>
                        </a:rPr>
                        <a:t>建立压后综合定量评价指标，实现改造效果综合量化评估</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674370">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2025.10~2025.11</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选取具备微地震监测或</a:t>
                      </a:r>
                      <a:r>
                        <a:rPr lang="zh-CN" altLang="en-US" sz="1200" kern="100" dirty="0">
                          <a:effectLst/>
                          <a:latin typeface="微软雅黑" panose="020B0503020204020204" pitchFamily="34" charset="-122"/>
                          <a:ea typeface="微软雅黑" panose="020B0503020204020204" pitchFamily="34" charset="-122"/>
                          <a:sym typeface="+mn-ea"/>
                        </a:rPr>
                        <a:t>光纤监测</a:t>
                      </a:r>
                      <a:r>
                        <a:rPr lang="zh-CN" altLang="en-US" sz="1200" kern="100" dirty="0">
                          <a:effectLst/>
                          <a:latin typeface="微软雅黑" panose="020B0503020204020204" pitchFamily="34" charset="-122"/>
                          <a:ea typeface="微软雅黑" panose="020B0503020204020204" pitchFamily="34" charset="-122"/>
                        </a:rPr>
                        <a:t>等丰富资料的典型井开展应用验证</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cs typeface="微软雅黑" panose="020B0503020204020204" pitchFamily="34" charset="-122"/>
                        </a:rPr>
                        <a:t>形成典型井分析报告，</a:t>
                      </a:r>
                      <a:r>
                        <a:rPr lang="zh-CN" altLang="en-US" sz="1200" kern="100" dirty="0">
                          <a:effectLst/>
                          <a:latin typeface="微软雅黑" panose="020B0503020204020204" pitchFamily="34" charset="-122"/>
                          <a:ea typeface="微软雅黑" panose="020B0503020204020204" pitchFamily="34" charset="-122"/>
                          <a:sym typeface="+mn-ea"/>
                        </a:rPr>
                        <a:t>检验方法的工程适用性</a:t>
                      </a:r>
                      <a:endParaRPr lang="zh-CN" altLang="en-US" sz="1200" kern="10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673735">
                <a:tc rowSpan="2">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2">
                  <a:txBody>
                    <a:bodyPr/>
                    <a:lstStyle/>
                    <a:p>
                      <a:pPr algn="ctr">
                        <a:spcAft>
                          <a:spcPts val="0"/>
                        </a:spcAft>
                      </a:pPr>
                      <a:r>
                        <a:rPr lang="en-US" altLang="zh-CN"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2025.11</a:t>
                      </a: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kern="100" dirty="0">
                          <a:effectLst/>
                          <a:latin typeface="Times New Roman" panose="02020603050405020304" pitchFamily="18" charset="0"/>
                          <a:ea typeface="微软雅黑" panose="020B0503020204020204" pitchFamily="34" charset="-122"/>
                          <a:cs typeface="Times New Roman" panose="02020603050405020304" pitchFamily="18" charset="0"/>
                        </a:rPr>
                        <a:t>2026.12</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sym typeface="+mn-ea"/>
                        </a:rPr>
                        <a:t>收集大量井的压裂施工数据，开展统计分析以验证方法的普适性和稳定性</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sym typeface="+mn-ea"/>
                        </a:rPr>
                        <a:t>扩大验证范围，检验方法的普适性和稳定性</a:t>
                      </a:r>
                      <a:r>
                        <a:rPr lang="zh-CN" altLang="en-US" sz="1200" kern="100" dirty="0">
                          <a:effectLst/>
                          <a:latin typeface="微软雅黑" panose="020B0503020204020204" pitchFamily="34" charset="-122"/>
                          <a:ea typeface="微软雅黑" panose="020B0503020204020204" pitchFamily="34" charset="-122"/>
                        </a:rPr>
                        <a:t>，不断优化模型参数</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3655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sz="1200" kern="100" dirty="0">
                          <a:effectLst/>
                          <a:latin typeface="微软雅黑" panose="020B0503020204020204" pitchFamily="34" charset="-122"/>
                          <a:ea typeface="微软雅黑" panose="020B0503020204020204" pitchFamily="34" charset="-122"/>
                          <a:sym typeface="+mn-ea"/>
                        </a:rPr>
                        <a:t>编写项目结题报告，准备验收</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sym typeface="+mn-ea"/>
                        </a:rPr>
                        <a:t>建立</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sym typeface="+mn-ea"/>
                        </a:rPr>
                        <a:t>1</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sym typeface="+mn-ea"/>
                        </a:rPr>
                        <a:t>套压裂效果综合评估指标体系及方法，</a:t>
                      </a:r>
                      <a:r>
                        <a:rPr lang="zh-CN" altLang="en-US" sz="1200" kern="100" dirty="0">
                          <a:effectLst/>
                          <a:latin typeface="微软雅黑" panose="020B0503020204020204" pitchFamily="34" charset="-122"/>
                          <a:ea typeface="微软雅黑" panose="020B0503020204020204" pitchFamily="34" charset="-122"/>
                          <a:sym typeface="+mn-ea"/>
                        </a:rPr>
                        <a:t>完成项目验收及归档</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kern="1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胡晓东</a:t>
                      </a:r>
                      <a:endParaRPr kumimoji="0" lang="zh-CN" altLang="zh-CN" sz="12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bl>
          </a:graphicData>
        </a:graphic>
      </p:graphicFrame>
      <p:sp>
        <p:nvSpPr>
          <p:cNvPr id="11"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五、项目进度计划</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334963" y="915408"/>
            <a:ext cx="11641883" cy="46037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项目研究周期为</a:t>
            </a:r>
            <a:r>
              <a:rPr lang="en-US" altLang="zh-CN" sz="1600" dirty="0">
                <a:solidFill>
                  <a:srgbClr val="FF0000"/>
                </a:solidFill>
                <a:latin typeface="微软雅黑" panose="020B0503020204020204" pitchFamily="34" charset="-122"/>
                <a:ea typeface="微软雅黑" panose="020B0503020204020204" pitchFamily="34" charset="-122"/>
              </a:rPr>
              <a:t>17</a:t>
            </a:r>
            <a:r>
              <a:rPr lang="zh-CN" altLang="en-US" sz="1600" dirty="0">
                <a:solidFill>
                  <a:prstClr val="black"/>
                </a:solidFill>
                <a:latin typeface="微软雅黑" panose="020B0503020204020204" pitchFamily="34" charset="-122"/>
                <a:ea typeface="微软雅黑" panose="020B0503020204020204" pitchFamily="34" charset="-122"/>
              </a:rPr>
              <a:t>个月，按照项目研究内容，总共分为</a:t>
            </a:r>
            <a:r>
              <a:rPr lang="en-US" altLang="zh-CN" sz="1600" dirty="0">
                <a:solidFill>
                  <a:srgbClr val="FF0000"/>
                </a:solidFill>
                <a:latin typeface="微软雅黑" panose="020B0503020204020204" pitchFamily="34" charset="-122"/>
                <a:ea typeface="微软雅黑" panose="020B0503020204020204" pitchFamily="34" charset="-122"/>
              </a:rPr>
              <a:t>5</a:t>
            </a:r>
            <a:r>
              <a:rPr lang="zh-CN" altLang="en-US" sz="1600" dirty="0">
                <a:solidFill>
                  <a:prstClr val="black"/>
                </a:solidFill>
                <a:latin typeface="微软雅黑" panose="020B0503020204020204" pitchFamily="34" charset="-122"/>
                <a:ea typeface="微软雅黑" panose="020B0503020204020204" pitchFamily="34" charset="-122"/>
              </a:rPr>
              <a:t>个阶段有序开展</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098" name="Text Box 6"/>
          <p:cNvSpPr txBox="1"/>
          <p:nvPr/>
        </p:nvSpPr>
        <p:spPr>
          <a:xfrm>
            <a:off x="1187133" y="788035"/>
            <a:ext cx="10226675" cy="5678805"/>
          </a:xfrm>
          <a:prstGeom prst="rect">
            <a:avLst/>
          </a:prstGeom>
          <a:noFill/>
          <a:ln w="9525">
            <a:noFill/>
          </a:ln>
          <a:effectLst>
            <a:prstShdw prst="shdw17" dist="17961" dir="13499999">
              <a:srgbClr val="708688"/>
            </a:prstShdw>
          </a:effectLst>
        </p:spPr>
        <p:txBody>
          <a:bodyPr tIns="254400" bIns="254400" anchor="ctr" anchorCtr="1">
            <a:spAutoFit/>
          </a:bodyPr>
          <a:lstStyle/>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一、项目概要</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二、阶段任务完成情况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三、取得的阶段成果及应用情况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四、经费管理及使用情况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五、项目组织管理</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六、存在问题、解决措施及建议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七、下步工作安排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44365" y="915408"/>
            <a:ext cx="11594483" cy="398780"/>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sym typeface="+mn-ea"/>
              </a:rPr>
              <a:t>研究内容均对照合同要求，按照预定计划有序开展</a:t>
            </a:r>
            <a:endParaRPr lang="zh-CN" altLang="en-US" sz="1600" dirty="0">
              <a:solidFill>
                <a:prstClr val="black"/>
              </a:solidFill>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nvGraphicFramePr>
        <p:xfrm>
          <a:off x="344170" y="1416050"/>
          <a:ext cx="11486515" cy="4836795"/>
        </p:xfrm>
        <a:graphic>
          <a:graphicData uri="http://schemas.openxmlformats.org/drawingml/2006/table">
            <a:tbl>
              <a:tblPr firstRow="1" bandRow="1">
                <a:effectLst/>
              </a:tblPr>
              <a:tblGrid>
                <a:gridCol w="874395"/>
                <a:gridCol w="1664335"/>
                <a:gridCol w="3399155"/>
                <a:gridCol w="4598670"/>
                <a:gridCol w="949960"/>
              </a:tblGrid>
              <a:tr h="376555">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研究阶段</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起止时间</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研究内容</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sz="1200" b="1" kern="1200" dirty="0">
                          <a:solidFill>
                            <a:schemeClr val="bg1"/>
                          </a:solidFill>
                          <a:latin typeface="微软雅黑" panose="020B0503020204020204" pitchFamily="34" charset="-122"/>
                          <a:ea typeface="微软雅黑" panose="020B0503020204020204" pitchFamily="34" charset="-122"/>
                          <a:cs typeface="+mn-cs"/>
                        </a:rPr>
                        <a:t>阶段目标</a:t>
                      </a:r>
                      <a:endParaRPr lang="zh-CN"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218565" rtl="0" eaLnBrk="1" latinLnBrk="0" hangingPunct="1">
                        <a:defRPr sz="2400" b="1" kern="1200">
                          <a:solidFill>
                            <a:schemeClr val="lt1"/>
                          </a:solidFill>
                          <a:latin typeface="Arial" panose="020B0604020202020204"/>
                          <a:ea typeface="黑体" panose="02010609060101010101" charset="-122"/>
                        </a:defRPr>
                      </a:lvl1pPr>
                      <a:lvl2pPr marL="609600" algn="l" defTabSz="1218565" rtl="0" eaLnBrk="1" latinLnBrk="0" hangingPunct="1">
                        <a:defRPr sz="2400" b="1" kern="1200">
                          <a:solidFill>
                            <a:schemeClr val="lt1"/>
                          </a:solidFill>
                          <a:latin typeface="Arial" panose="020B0604020202020204"/>
                          <a:ea typeface="黑体" panose="02010609060101010101" charset="-122"/>
                        </a:defRPr>
                      </a:lvl2pPr>
                      <a:lvl3pPr marL="1218565" algn="l" defTabSz="1218565" rtl="0" eaLnBrk="1" latinLnBrk="0" hangingPunct="1">
                        <a:defRPr sz="2400" b="1" kern="1200">
                          <a:solidFill>
                            <a:schemeClr val="lt1"/>
                          </a:solidFill>
                          <a:latin typeface="Arial" panose="020B0604020202020204"/>
                          <a:ea typeface="黑体" panose="02010609060101010101" charset="-122"/>
                        </a:defRPr>
                      </a:lvl3pPr>
                      <a:lvl4pPr marL="1828165" algn="l" defTabSz="1218565" rtl="0" eaLnBrk="1" latinLnBrk="0" hangingPunct="1">
                        <a:defRPr sz="2400" b="1" kern="1200">
                          <a:solidFill>
                            <a:schemeClr val="lt1"/>
                          </a:solidFill>
                          <a:latin typeface="Arial" panose="020B0604020202020204"/>
                          <a:ea typeface="黑体" panose="02010609060101010101" charset="-122"/>
                        </a:defRPr>
                      </a:lvl4pPr>
                      <a:lvl5pPr marL="2437765" algn="l" defTabSz="1218565" rtl="0" eaLnBrk="1" latinLnBrk="0" hangingPunct="1">
                        <a:defRPr sz="2400" b="1" kern="1200">
                          <a:solidFill>
                            <a:schemeClr val="lt1"/>
                          </a:solidFill>
                          <a:latin typeface="Arial" panose="020B0604020202020204"/>
                          <a:ea typeface="黑体" panose="02010609060101010101" charset="-122"/>
                        </a:defRPr>
                      </a:lvl5pPr>
                      <a:lvl6pPr marL="3046095" algn="l" defTabSz="1218565" rtl="0" eaLnBrk="1" latinLnBrk="0" hangingPunct="1">
                        <a:defRPr sz="2400" b="1" kern="1200">
                          <a:solidFill>
                            <a:schemeClr val="lt1"/>
                          </a:solidFill>
                          <a:latin typeface="Arial" panose="020B0604020202020204"/>
                          <a:ea typeface="黑体" panose="02010609060101010101" charset="-122"/>
                        </a:defRPr>
                      </a:lvl6pPr>
                      <a:lvl7pPr marL="3655695" algn="l" defTabSz="1218565" rtl="0" eaLnBrk="1" latinLnBrk="0" hangingPunct="1">
                        <a:defRPr sz="2400" b="1" kern="1200">
                          <a:solidFill>
                            <a:schemeClr val="lt1"/>
                          </a:solidFill>
                          <a:latin typeface="Arial" panose="020B0604020202020204"/>
                          <a:ea typeface="黑体" panose="02010609060101010101" charset="-122"/>
                        </a:defRPr>
                      </a:lvl7pPr>
                      <a:lvl8pPr marL="4265295" algn="l" defTabSz="1218565" rtl="0" eaLnBrk="1" latinLnBrk="0" hangingPunct="1">
                        <a:defRPr sz="2400" b="1" kern="1200">
                          <a:solidFill>
                            <a:schemeClr val="lt1"/>
                          </a:solidFill>
                          <a:latin typeface="Arial" panose="020B0604020202020204"/>
                          <a:ea typeface="黑体" panose="02010609060101010101" charset="-122"/>
                        </a:defRPr>
                      </a:lvl8pPr>
                      <a:lvl9pPr marL="4874260" algn="l" defTabSz="1218565" rtl="0" eaLnBrk="1" latinLnBrk="0" hangingPunct="1">
                        <a:defRPr sz="2400" b="1" kern="1200">
                          <a:solidFill>
                            <a:schemeClr val="lt1"/>
                          </a:solidFill>
                          <a:latin typeface="Arial" panose="020B0604020202020204"/>
                          <a:ea typeface="黑体" panose="02010609060101010101" charset="-122"/>
                        </a:defRPr>
                      </a:lvl9pPr>
                    </a:lstStyle>
                    <a:p>
                      <a:pPr marL="0" algn="ctr" defTabSz="914400" rtl="0" eaLnBrk="1" latinLnBrk="0" hangingPunct="1">
                        <a:lnSpc>
                          <a:spcPct val="110000"/>
                        </a:lnSpc>
                        <a:spcAft>
                          <a:spcPts val="0"/>
                        </a:spcAft>
                      </a:pPr>
                      <a:r>
                        <a:rPr lang="zh-CN" altLang="en-US" sz="1200" b="1" kern="1200" dirty="0">
                          <a:solidFill>
                            <a:schemeClr val="bg1"/>
                          </a:solidFill>
                          <a:latin typeface="微软雅黑" panose="020B0503020204020204" pitchFamily="34" charset="-122"/>
                          <a:ea typeface="微软雅黑" panose="020B0503020204020204" pitchFamily="34" charset="-122"/>
                          <a:cs typeface="+mn-cs"/>
                        </a:rPr>
                        <a:t>完成情况</a:t>
                      </a:r>
                      <a:endParaRPr lang="zh-CN" altLang="en-US" sz="1200" b="1" kern="1200" dirty="0">
                        <a:solidFill>
                          <a:schemeClr val="bg1"/>
                        </a:solidFill>
                        <a:latin typeface="微软雅黑" panose="020B0503020204020204" pitchFamily="34" charset="-122"/>
                        <a:ea typeface="微软雅黑" panose="020B0503020204020204" pitchFamily="34" charset="-122"/>
                        <a:cs typeface="+mn-cs"/>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685800">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2025.07~2025.08</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项目</a:t>
                      </a:r>
                      <a:r>
                        <a:rPr lang="zh-CN" sz="1200" kern="100" dirty="0">
                          <a:effectLst/>
                          <a:latin typeface="微软雅黑" panose="020B0503020204020204" pitchFamily="34" charset="-122"/>
                          <a:ea typeface="微软雅黑" panose="020B0503020204020204" pitchFamily="34" charset="-122"/>
                        </a:rPr>
                        <a:t>开题立项，文献调研</a:t>
                      </a:r>
                      <a:endParaRPr lang="zh-CN"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a:effectLst/>
                          <a:latin typeface="微软雅黑" panose="020B0503020204020204" pitchFamily="34" charset="-122"/>
                          <a:ea typeface="微软雅黑" panose="020B0503020204020204" pitchFamily="34" charset="-122"/>
                        </a:rPr>
                        <a:t>调研国内外压裂效果评价技术，完成项目开题立项论证并形成项目研究目标与技术路线</a:t>
                      </a:r>
                      <a:endParaRPr lang="zh-CN" altLang="en-US" sz="1200" kern="10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sz="1200" kern="100" dirty="0">
                          <a:solidFill>
                            <a:srgbClr val="FF0000"/>
                          </a:solidFill>
                          <a:effectLst/>
                          <a:latin typeface="微软雅黑" panose="020B0503020204020204" pitchFamily="34" charset="-122"/>
                          <a:ea typeface="微软雅黑" panose="020B0503020204020204" pitchFamily="34" charset="-122"/>
                        </a:rPr>
                        <a:t>已完成</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3535">
                <a:tc rowSpan="3">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noProof="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200" b="0" kern="1200" noProof="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2025.08~2025.09</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梳理所内压裂效果评估方法，针对现有技术空白，深入研究</a:t>
                      </a:r>
                      <a:r>
                        <a:rPr lang="en-US" altLang="zh-CN" sz="1200" kern="100" dirty="0">
                          <a:effectLst/>
                          <a:latin typeface="微软雅黑" panose="020B0503020204020204" pitchFamily="34" charset="-122"/>
                          <a:ea typeface="微软雅黑" panose="020B0503020204020204" pitchFamily="34" charset="-122"/>
                        </a:rPr>
                        <a:t>G</a:t>
                      </a:r>
                      <a:r>
                        <a:rPr lang="zh-CN" altLang="en-US" sz="1200" kern="100" dirty="0">
                          <a:effectLst/>
                          <a:latin typeface="微软雅黑" panose="020B0503020204020204" pitchFamily="34" charset="-122"/>
                          <a:ea typeface="微软雅黑" panose="020B0503020204020204" pitchFamily="34" charset="-122"/>
                        </a:rPr>
                        <a:t>函数分析和小波变换的理论基础</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整理数据，</a:t>
                      </a:r>
                      <a:r>
                        <a:rPr lang="zh-CN" altLang="en-US" sz="1200" kern="100" dirty="0">
                          <a:effectLst/>
                          <a:latin typeface="微软雅黑" panose="020B0503020204020204" pitchFamily="34" charset="-122"/>
                          <a:ea typeface="微软雅黑" panose="020B0503020204020204" pitchFamily="34" charset="-122"/>
                          <a:sym typeface="+mn-ea"/>
                        </a:rPr>
                        <a:t>梳理所内现有压裂效果评估方法</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已完成</a:t>
                      </a:r>
                      <a:endPar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290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kern="100" dirty="0">
                          <a:effectLst/>
                          <a:latin typeface="微软雅黑" panose="020B0503020204020204" pitchFamily="34" charset="-122"/>
                          <a:ea typeface="微软雅黑" panose="020B0503020204020204" pitchFamily="34" charset="-122"/>
                        </a:rPr>
                        <a:t>明确</a:t>
                      </a:r>
                      <a:r>
                        <a:rPr lang="en-US" altLang="zh-CN" sz="1200" kern="100" dirty="0">
                          <a:effectLst/>
                          <a:latin typeface="微软雅黑" panose="020B0503020204020204" pitchFamily="34" charset="-122"/>
                          <a:ea typeface="微软雅黑" panose="020B0503020204020204" pitchFamily="34" charset="-122"/>
                        </a:rPr>
                        <a:t>G</a:t>
                      </a:r>
                      <a:r>
                        <a:rPr lang="zh-CN" altLang="en-US" sz="1200" kern="100" dirty="0">
                          <a:effectLst/>
                          <a:latin typeface="微软雅黑" panose="020B0503020204020204" pitchFamily="34" charset="-122"/>
                          <a:ea typeface="微软雅黑" panose="020B0503020204020204" pitchFamily="34" charset="-122"/>
                        </a:rPr>
                        <a:t>函数曲线特征识别裂缝复杂度的物理机理</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已完成</a:t>
                      </a:r>
                      <a:endPar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290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kern="100" dirty="0">
                          <a:effectLst/>
                          <a:latin typeface="微软雅黑" panose="020B0503020204020204" pitchFamily="34" charset="-122"/>
                          <a:ea typeface="微软雅黑" panose="020B0503020204020204" pitchFamily="34" charset="-122"/>
                          <a:sym typeface="+mn-ea"/>
                        </a:rPr>
                        <a:t>明确连续小波变换评估改造体积的物理机理</a:t>
                      </a:r>
                      <a:endParaRPr lang="zh-CN" altLang="en-US" sz="1200" kern="100" dirty="0">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已完成</a:t>
                      </a:r>
                      <a:endPar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3535">
                <a:tc rowSpan="3">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2025.09~2025.10</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3">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开发施工曲线</a:t>
                      </a:r>
                      <a:r>
                        <a:rPr lang="en-US" altLang="zh-CN" sz="1200" kern="100" dirty="0">
                          <a:effectLst/>
                          <a:latin typeface="微软雅黑" panose="020B0503020204020204" pitchFamily="34" charset="-122"/>
                          <a:ea typeface="微软雅黑" panose="020B0503020204020204" pitchFamily="34" charset="-122"/>
                        </a:rPr>
                        <a:t>G</a:t>
                      </a:r>
                      <a:r>
                        <a:rPr lang="zh-CN" altLang="en-US" sz="1200" kern="100" dirty="0">
                          <a:effectLst/>
                          <a:latin typeface="微软雅黑" panose="020B0503020204020204" pitchFamily="34" charset="-122"/>
                          <a:ea typeface="微软雅黑" panose="020B0503020204020204" pitchFamily="34" charset="-122"/>
                        </a:rPr>
                        <a:t>函数与</a:t>
                      </a:r>
                      <a:r>
                        <a:rPr lang="zh-CN" altLang="en-US" sz="1200" kern="100" dirty="0">
                          <a:effectLst/>
                          <a:latin typeface="微软雅黑" panose="020B0503020204020204" pitchFamily="34" charset="-122"/>
                          <a:ea typeface="微软雅黑" panose="020B0503020204020204" pitchFamily="34" charset="-122"/>
                          <a:sym typeface="+mn-ea"/>
                        </a:rPr>
                        <a:t>连续小波变换</a:t>
                      </a:r>
                      <a:r>
                        <a:rPr lang="zh-CN" altLang="en-US" sz="1200" kern="100" dirty="0">
                          <a:effectLst/>
                          <a:latin typeface="微软雅黑" panose="020B0503020204020204" pitchFamily="34" charset="-122"/>
                          <a:ea typeface="微软雅黑" panose="020B0503020204020204" pitchFamily="34" charset="-122"/>
                        </a:rPr>
                        <a:t>分析模型，建立评价指标权重分配机制和综合评估方法</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sym typeface="+mn-ea"/>
                        </a:rPr>
                        <a:t>建立施工曲线</a:t>
                      </a:r>
                      <a:r>
                        <a:rPr lang="en-US" altLang="zh-CN" sz="1200" kern="100" dirty="0">
                          <a:effectLst/>
                          <a:latin typeface="微软雅黑" panose="020B0503020204020204" pitchFamily="34" charset="-122"/>
                          <a:ea typeface="微软雅黑" panose="020B0503020204020204" pitchFamily="34" charset="-122"/>
                          <a:sym typeface="+mn-ea"/>
                        </a:rPr>
                        <a:t>G</a:t>
                      </a:r>
                      <a:r>
                        <a:rPr lang="zh-CN" altLang="en-US" sz="1200" kern="100" dirty="0">
                          <a:effectLst/>
                          <a:latin typeface="微软雅黑" panose="020B0503020204020204" pitchFamily="34" charset="-122"/>
                          <a:ea typeface="微软雅黑" panose="020B0503020204020204" pitchFamily="34" charset="-122"/>
                          <a:sym typeface="+mn-ea"/>
                        </a:rPr>
                        <a:t>函数分析模型</a:t>
                      </a:r>
                      <a:r>
                        <a:rPr lang="zh-CN" altLang="en-US" sz="1200" noProof="0" dirty="0">
                          <a:ln>
                            <a:noFill/>
                          </a:ln>
                          <a:effectLst/>
                          <a:uLnTx/>
                          <a:uFillTx/>
                          <a:latin typeface="微软雅黑" panose="020B0503020204020204" pitchFamily="34" charset="-122"/>
                          <a:ea typeface="微软雅黑" panose="020B0503020204020204" pitchFamily="34" charset="-122"/>
                          <a:sym typeface="+mn-ea"/>
                        </a:rPr>
                        <a:t>，实现裂缝复杂度定量评价</a:t>
                      </a:r>
                      <a:endParaRPr lang="zh-CN" altLang="en-US" sz="1200" noProof="0" dirty="0">
                        <a:ln>
                          <a:noFill/>
                        </a:ln>
                        <a:effectLst/>
                        <a:uLnTx/>
                        <a:uFillTx/>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已完成</a:t>
                      </a:r>
                      <a:endPar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290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kern="100" dirty="0">
                          <a:effectLst/>
                          <a:latin typeface="微软雅黑" panose="020B0503020204020204" pitchFamily="34" charset="-122"/>
                          <a:ea typeface="微软雅黑" panose="020B0503020204020204" pitchFamily="34" charset="-122"/>
                          <a:sym typeface="+mn-ea"/>
                        </a:rPr>
                        <a:t>建立施工曲线连续小波变换分析模型，实现改造体积定量评价</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已完成</a:t>
                      </a:r>
                      <a:endPar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290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noProof="0" dirty="0">
                          <a:ln>
                            <a:noFill/>
                          </a:ln>
                          <a:effectLst/>
                          <a:uLnTx/>
                          <a:uFillTx/>
                          <a:latin typeface="微软雅黑" panose="020B0503020204020204" pitchFamily="34" charset="-122"/>
                          <a:ea typeface="微软雅黑" panose="020B0503020204020204" pitchFamily="34" charset="-122"/>
                          <a:sym typeface="+mn-ea"/>
                        </a:rPr>
                        <a:t>建立压后综合定量评价指标，实现改造效果综合量化评估</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已完成</a:t>
                      </a:r>
                      <a:endPar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686435">
                <a:tc>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Bef>
                          <a:spcPts val="0"/>
                        </a:spcBef>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2025.10~2025.11</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选取具备微地震监测或</a:t>
                      </a:r>
                      <a:r>
                        <a:rPr lang="zh-CN" altLang="en-US" sz="1200" kern="100" dirty="0">
                          <a:effectLst/>
                          <a:latin typeface="微软雅黑" panose="020B0503020204020204" pitchFamily="34" charset="-122"/>
                          <a:ea typeface="微软雅黑" panose="020B0503020204020204" pitchFamily="34" charset="-122"/>
                          <a:sym typeface="+mn-ea"/>
                        </a:rPr>
                        <a:t>光纤监测</a:t>
                      </a:r>
                      <a:r>
                        <a:rPr lang="zh-CN" altLang="en-US" sz="1200" kern="100" dirty="0">
                          <a:effectLst/>
                          <a:latin typeface="微软雅黑" panose="020B0503020204020204" pitchFamily="34" charset="-122"/>
                          <a:ea typeface="微软雅黑" panose="020B0503020204020204" pitchFamily="34" charset="-122"/>
                        </a:rPr>
                        <a:t>等丰富资料的典型井开展应用验证</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cs typeface="微软雅黑" panose="020B0503020204020204" pitchFamily="34" charset="-122"/>
                        </a:rPr>
                        <a:t>形成典型井分析报告，</a:t>
                      </a:r>
                      <a:r>
                        <a:rPr lang="zh-CN" altLang="en-US" sz="1200" kern="100" dirty="0">
                          <a:effectLst/>
                          <a:latin typeface="微软雅黑" panose="020B0503020204020204" pitchFamily="34" charset="-122"/>
                          <a:ea typeface="微软雅黑" panose="020B0503020204020204" pitchFamily="34" charset="-122"/>
                          <a:sym typeface="+mn-ea"/>
                        </a:rPr>
                        <a:t>检验方法的工程适用性</a:t>
                      </a:r>
                      <a:endParaRPr lang="zh-CN" altLang="en-US" sz="1200" kern="10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已完成</a:t>
                      </a:r>
                      <a:endParaRPr kumimoji="0" lang="zh-CN" altLang="en-US" sz="12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686435">
                <a:tc rowSpan="2">
                  <a:txBody>
                    <a:bodyPr/>
                    <a:lstStyle>
                      <a:lvl1pPr marL="0" algn="l" defTabSz="1218565" rtl="0" eaLnBrk="1" latinLnBrk="0" hangingPunct="1">
                        <a:defRPr sz="2400" kern="1200">
                          <a:solidFill>
                            <a:schemeClr val="dk1"/>
                          </a:solidFill>
                          <a:latin typeface="Arial" panose="020B0604020202020204"/>
                          <a:ea typeface="黑体" panose="02010609060101010101" charset="-122"/>
                        </a:defRPr>
                      </a:lvl1pPr>
                      <a:lvl2pPr marL="609600" algn="l" defTabSz="1218565" rtl="0" eaLnBrk="1" latinLnBrk="0" hangingPunct="1">
                        <a:defRPr sz="2400" kern="1200">
                          <a:solidFill>
                            <a:schemeClr val="dk1"/>
                          </a:solidFill>
                          <a:latin typeface="Arial" panose="020B0604020202020204"/>
                          <a:ea typeface="黑体" panose="02010609060101010101" charset="-122"/>
                        </a:defRPr>
                      </a:lvl2pPr>
                      <a:lvl3pPr marL="1218565" algn="l" defTabSz="1218565" rtl="0" eaLnBrk="1" latinLnBrk="0" hangingPunct="1">
                        <a:defRPr sz="2400" kern="1200">
                          <a:solidFill>
                            <a:schemeClr val="dk1"/>
                          </a:solidFill>
                          <a:latin typeface="Arial" panose="020B0604020202020204"/>
                          <a:ea typeface="黑体" panose="02010609060101010101" charset="-122"/>
                        </a:defRPr>
                      </a:lvl3pPr>
                      <a:lvl4pPr marL="1828165" algn="l" defTabSz="1218565" rtl="0" eaLnBrk="1" latinLnBrk="0" hangingPunct="1">
                        <a:defRPr sz="2400" kern="1200">
                          <a:solidFill>
                            <a:schemeClr val="dk1"/>
                          </a:solidFill>
                          <a:latin typeface="Arial" panose="020B0604020202020204"/>
                          <a:ea typeface="黑体" panose="02010609060101010101" charset="-122"/>
                        </a:defRPr>
                      </a:lvl4pPr>
                      <a:lvl5pPr marL="2437765" algn="l" defTabSz="1218565" rtl="0" eaLnBrk="1" latinLnBrk="0" hangingPunct="1">
                        <a:defRPr sz="2400" kern="1200">
                          <a:solidFill>
                            <a:schemeClr val="dk1"/>
                          </a:solidFill>
                          <a:latin typeface="Arial" panose="020B0604020202020204"/>
                          <a:ea typeface="黑体" panose="02010609060101010101" charset="-122"/>
                        </a:defRPr>
                      </a:lvl5pPr>
                      <a:lvl6pPr marL="3046095" algn="l" defTabSz="1218565" rtl="0" eaLnBrk="1" latinLnBrk="0" hangingPunct="1">
                        <a:defRPr sz="2400" kern="1200">
                          <a:solidFill>
                            <a:schemeClr val="dk1"/>
                          </a:solidFill>
                          <a:latin typeface="Arial" panose="020B0604020202020204"/>
                          <a:ea typeface="黑体" panose="02010609060101010101" charset="-122"/>
                        </a:defRPr>
                      </a:lvl6pPr>
                      <a:lvl7pPr marL="3655695" algn="l" defTabSz="1218565" rtl="0" eaLnBrk="1" latinLnBrk="0" hangingPunct="1">
                        <a:defRPr sz="2400" kern="1200">
                          <a:solidFill>
                            <a:schemeClr val="dk1"/>
                          </a:solidFill>
                          <a:latin typeface="Arial" panose="020B0604020202020204"/>
                          <a:ea typeface="黑体" panose="02010609060101010101" charset="-122"/>
                        </a:defRPr>
                      </a:lvl7pPr>
                      <a:lvl8pPr marL="4265295" algn="l" defTabSz="1218565" rtl="0" eaLnBrk="1" latinLnBrk="0" hangingPunct="1">
                        <a:defRPr sz="2400" kern="1200">
                          <a:solidFill>
                            <a:schemeClr val="dk1"/>
                          </a:solidFill>
                          <a:latin typeface="Arial" panose="020B0604020202020204"/>
                          <a:ea typeface="黑体" panose="02010609060101010101" charset="-122"/>
                        </a:defRPr>
                      </a:lvl8pPr>
                      <a:lvl9pPr marL="4874260" algn="l" defTabSz="1218565" rtl="0" eaLnBrk="1" latinLnBrk="0" hangingPunct="1">
                        <a:defRPr sz="2400" kern="1200">
                          <a:solidFill>
                            <a:schemeClr val="dk1"/>
                          </a:solidFill>
                          <a:latin typeface="Arial" panose="020B0604020202020204"/>
                          <a:ea typeface="黑体" panose="02010609060101010101" charset="-122"/>
                        </a:defRPr>
                      </a:lvl9pPr>
                    </a:lstStyle>
                    <a:p>
                      <a:pPr marL="0" algn="ctr" defTabSz="914400" rtl="0" eaLnBrk="1" latinLnBrk="0" hangingPunct="1">
                        <a:lnSpc>
                          <a:spcPct val="125000"/>
                        </a:lnSpc>
                        <a:spcAft>
                          <a:spcPts val="0"/>
                        </a:spcAft>
                      </a:pPr>
                      <a:r>
                        <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2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2">
                  <a:txBody>
                    <a:bodyPr/>
                    <a:lstStyle/>
                    <a:p>
                      <a:pPr algn="ctr">
                        <a:spcAft>
                          <a:spcPts val="0"/>
                        </a:spcAft>
                      </a:pPr>
                      <a:r>
                        <a:rPr lang="en-US" altLang="zh-CN"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2025.12</a:t>
                      </a:r>
                      <a:r>
                        <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1200" kern="1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2026.12</a:t>
                      </a:r>
                      <a:endParaRPr lang="en-US"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sym typeface="+mn-ea"/>
                        </a:rPr>
                        <a:t>收集大量井的压裂施工数据，开展统计分析以验证方法的普适性和稳定性</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sym typeface="+mn-ea"/>
                        </a:rPr>
                        <a:t>扩大验证范围，检验方法的普适性和稳定性</a:t>
                      </a:r>
                      <a:r>
                        <a:rPr lang="zh-CN" altLang="en-US" sz="1200" kern="100" dirty="0">
                          <a:effectLst/>
                          <a:latin typeface="微软雅黑" panose="020B0503020204020204" pitchFamily="34" charset="-122"/>
                          <a:ea typeface="微软雅黑" panose="020B0503020204020204" pitchFamily="34" charset="-122"/>
                        </a:rPr>
                        <a:t>，不断优化模型参数</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正在开展</a:t>
                      </a:r>
                      <a:endParaRPr kumimoji="0" lang="zh-CN" altLang="en-US" sz="1200" b="0"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342900">
                <a:tc vMerge="1">
                  <a:tcPr marL="49740" marR="497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sz="1200" kern="100" dirty="0">
                          <a:effectLst/>
                          <a:latin typeface="微软雅黑" panose="020B0503020204020204" pitchFamily="34" charset="-122"/>
                          <a:ea typeface="微软雅黑" panose="020B0503020204020204" pitchFamily="34" charset="-122"/>
                          <a:sym typeface="+mn-ea"/>
                        </a:rPr>
                        <a:t>编写项目结题报告，准备验收</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spcAft>
                          <a:spcPts val="0"/>
                        </a:spcAft>
                        <a:buNone/>
                      </a:pP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sym typeface="+mn-ea"/>
                        </a:rPr>
                        <a:t>建立</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sym typeface="+mn-ea"/>
                        </a:rPr>
                        <a:t>1</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sym typeface="+mn-ea"/>
                        </a:rPr>
                        <a:t>套压裂效果综合评估指标体系及方法，</a:t>
                      </a:r>
                      <a:r>
                        <a:rPr lang="zh-CN" altLang="en-US" sz="1200" kern="100" dirty="0">
                          <a:effectLst/>
                          <a:latin typeface="微软雅黑" panose="020B0503020204020204" pitchFamily="34" charset="-122"/>
                          <a:ea typeface="微软雅黑" panose="020B0503020204020204" pitchFamily="34" charset="-122"/>
                          <a:sym typeface="+mn-ea"/>
                        </a:rPr>
                        <a:t>完成项目验收及归档</a:t>
                      </a:r>
                      <a:endParaRPr lang="zh-CN" altLang="en-US" sz="1200" kern="100" dirty="0">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zh-CN" sz="1200" b="0"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正在开展</a:t>
                      </a:r>
                      <a:endParaRPr kumimoji="0" lang="zh-CN" altLang="zh-CN" sz="1200" b="0"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bl>
          </a:graphicData>
        </a:graphic>
      </p:graphicFrame>
      <p:sp>
        <p:nvSpPr>
          <p:cNvPr id="11"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一、计划完成情况</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53216" y="917015"/>
            <a:ext cx="11467309"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按照项目研究内容要求，完成了</a:t>
            </a:r>
            <a:r>
              <a:rPr lang="zh-CN" altLang="en-US" sz="1600" kern="100">
                <a:effectLst/>
                <a:latin typeface="微软雅黑" panose="020B0503020204020204" pitchFamily="34" charset="-122"/>
                <a:ea typeface="微软雅黑" panose="020B0503020204020204" pitchFamily="34" charset="-122"/>
                <a:sym typeface="+mn-ea"/>
              </a:rPr>
              <a:t>国内外压裂效果评价技术</a:t>
            </a:r>
            <a:r>
              <a:rPr lang="zh-CN" altLang="en-US" sz="1600" dirty="0">
                <a:solidFill>
                  <a:srgbClr val="FF0000"/>
                </a:solidFill>
                <a:latin typeface="微软雅黑" panose="020B0503020204020204" pitchFamily="34" charset="-122"/>
                <a:ea typeface="微软雅黑" panose="020B0503020204020204" pitchFamily="34" charset="-122"/>
              </a:rPr>
              <a:t>调研</a:t>
            </a:r>
            <a:r>
              <a:rPr lang="zh-CN" altLang="en-US" sz="1600" dirty="0">
                <a:solidFill>
                  <a:prstClr val="black"/>
                </a:solidFill>
                <a:latin typeface="微软雅黑" panose="020B0503020204020204" pitchFamily="34" charset="-122"/>
                <a:ea typeface="微软雅黑" panose="020B0503020204020204" pitchFamily="34" charset="-122"/>
              </a:rPr>
              <a:t>，建立了</a:t>
            </a:r>
            <a:r>
              <a:rPr lang="zh-CN" altLang="en-US" sz="1600" kern="100" dirty="0">
                <a:effectLst/>
                <a:latin typeface="微软雅黑" panose="020B0503020204020204" pitchFamily="34" charset="-122"/>
                <a:ea typeface="微软雅黑" panose="020B0503020204020204" pitchFamily="34" charset="-122"/>
                <a:sym typeface="+mn-ea"/>
              </a:rPr>
              <a:t>基于连续小波变换的</a:t>
            </a:r>
            <a:r>
              <a:rPr lang="zh-CN" altLang="en-US" sz="1600" kern="100" dirty="0">
                <a:solidFill>
                  <a:srgbClr val="FF0000"/>
                </a:solidFill>
                <a:effectLst/>
                <a:latin typeface="微软雅黑" panose="020B0503020204020204" pitchFamily="34" charset="-122"/>
                <a:ea typeface="微软雅黑" panose="020B0503020204020204" pitchFamily="34" charset="-122"/>
                <a:sym typeface="+mn-ea"/>
              </a:rPr>
              <a:t>改造体积定量评价方法</a:t>
            </a:r>
            <a:r>
              <a:rPr lang="zh-CN" altLang="en-US"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sym typeface="+mn-ea"/>
              </a:rPr>
              <a:t>基于</a:t>
            </a:r>
            <a:r>
              <a:rPr lang="en-US" altLang="zh-CN" sz="1600" kern="100" dirty="0">
                <a:effectLst/>
                <a:latin typeface="微软雅黑" panose="020B0503020204020204" pitchFamily="34" charset="-122"/>
                <a:ea typeface="微软雅黑" panose="020B0503020204020204" pitchFamily="34" charset="-122"/>
                <a:sym typeface="+mn-ea"/>
              </a:rPr>
              <a:t>G</a:t>
            </a:r>
            <a:r>
              <a:rPr lang="zh-CN" altLang="en-US" sz="1600" kern="100" dirty="0">
                <a:effectLst/>
                <a:latin typeface="微软雅黑" panose="020B0503020204020204" pitchFamily="34" charset="-122"/>
                <a:ea typeface="微软雅黑" panose="020B0503020204020204" pitchFamily="34" charset="-122"/>
                <a:sym typeface="+mn-ea"/>
              </a:rPr>
              <a:t>函数的</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裂缝复杂度定量评价方法</a:t>
            </a:r>
            <a:r>
              <a:rPr lang="zh-CN" altLang="en-US" sz="1600" noProof="0" dirty="0">
                <a:ln>
                  <a:noFill/>
                </a:ln>
                <a:effectLst/>
                <a:uLnTx/>
                <a:uFillTx/>
                <a:latin typeface="微软雅黑" panose="020B0503020204020204" pitchFamily="34" charset="-122"/>
                <a:ea typeface="微软雅黑" panose="020B0503020204020204" pitchFamily="34" charset="-122"/>
                <a:sym typeface="+mn-ea"/>
              </a:rPr>
              <a:t>，形成了</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压裂效果综合评估指标体系及方法</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ea"/>
              </a:rPr>
              <a:t>，完成</a:t>
            </a:r>
            <a:r>
              <a:rPr lang="zh-CN" altLang="en-US" sz="1600" dirty="0">
                <a:solidFill>
                  <a:prstClr val="black"/>
                </a:solidFill>
                <a:latin typeface="微软雅黑" panose="020B0503020204020204" pitchFamily="34" charset="-122"/>
                <a:ea typeface="微软雅黑" panose="020B0503020204020204" pitchFamily="34" charset="-122"/>
              </a:rPr>
              <a:t>了与研究强相关的专利文本</a:t>
            </a:r>
            <a:r>
              <a:rPr lang="en-US" altLang="zh-CN" sz="1600" dirty="0">
                <a:solidFill>
                  <a:srgbClr val="FF0000"/>
                </a:solidFill>
                <a:latin typeface="微软雅黑" panose="020B0503020204020204" pitchFamily="34" charset="-122"/>
                <a:ea typeface="微软雅黑" panose="020B0503020204020204" pitchFamily="34" charset="-122"/>
              </a:rPr>
              <a:t>1</a:t>
            </a:r>
            <a:r>
              <a:rPr lang="zh-CN" altLang="en-US" sz="1600" dirty="0">
                <a:solidFill>
                  <a:prstClr val="black"/>
                </a:solidFill>
                <a:latin typeface="微软雅黑" panose="020B0503020204020204" pitchFamily="34" charset="-122"/>
                <a:ea typeface="微软雅黑" panose="020B0503020204020204" pitchFamily="34" charset="-122"/>
              </a:rPr>
              <a:t>件，论文文本</a:t>
            </a:r>
            <a:r>
              <a:rPr lang="en-US" altLang="zh-CN" sz="1600" dirty="0">
                <a:solidFill>
                  <a:srgbClr val="FF0000"/>
                </a:solidFill>
                <a:latin typeface="微软雅黑" panose="020B0503020204020204" pitchFamily="34" charset="-122"/>
                <a:ea typeface="微软雅黑" panose="020B0503020204020204" pitchFamily="34" charset="-122"/>
              </a:rPr>
              <a:t>1</a:t>
            </a:r>
            <a:r>
              <a:rPr lang="zh-CN" altLang="en-US" sz="1600" dirty="0">
                <a:solidFill>
                  <a:prstClr val="black"/>
                </a:solidFill>
                <a:latin typeface="微软雅黑" panose="020B0503020204020204" pitchFamily="34" charset="-122"/>
                <a:ea typeface="微软雅黑" panose="020B0503020204020204" pitchFamily="34" charset="-122"/>
              </a:rPr>
              <a:t>项，</a:t>
            </a:r>
            <a:r>
              <a:rPr lang="zh-CN" altLang="en-US" sz="1600" dirty="0">
                <a:solidFill>
                  <a:prstClr val="black"/>
                </a:solidFill>
                <a:latin typeface="微软雅黑" panose="020B0503020204020204" pitchFamily="34" charset="-122"/>
                <a:ea typeface="微软雅黑" panose="020B0503020204020204" pitchFamily="34" charset="-122"/>
                <a:sym typeface="+mn-ea"/>
              </a:rPr>
              <a:t>累计驻场办公</a:t>
            </a:r>
            <a:r>
              <a:rPr lang="en-US" altLang="zh-CN" sz="1600" dirty="0">
                <a:solidFill>
                  <a:srgbClr val="FF0000"/>
                </a:solidFill>
                <a:latin typeface="微软雅黑" panose="020B0503020204020204" pitchFamily="34" charset="-122"/>
                <a:ea typeface="微软雅黑" panose="020B0503020204020204" pitchFamily="34" charset="-122"/>
                <a:sym typeface="+mn-ea"/>
              </a:rPr>
              <a:t>100</a:t>
            </a:r>
            <a:r>
              <a:rPr lang="zh-CN" altLang="en-US" sz="1600" dirty="0">
                <a:solidFill>
                  <a:prstClr val="black"/>
                </a:solidFill>
                <a:latin typeface="微软雅黑" panose="020B0503020204020204" pitchFamily="34" charset="-122"/>
                <a:ea typeface="微软雅黑" panose="020B0503020204020204" pitchFamily="34" charset="-122"/>
                <a:sym typeface="+mn-ea"/>
              </a:rPr>
              <a:t>余人</a:t>
            </a:r>
            <a:r>
              <a:rPr lang="en-US" altLang="zh-CN" sz="1600" dirty="0">
                <a:solidFill>
                  <a:prstClr val="black"/>
                </a:solidFill>
                <a:latin typeface="微软雅黑" panose="020B0503020204020204" pitchFamily="34" charset="-122"/>
                <a:ea typeface="微软雅黑" panose="020B0503020204020204" pitchFamily="34" charset="-122"/>
                <a:sym typeface="+mn-ea"/>
              </a:rPr>
              <a:t>·</a:t>
            </a:r>
            <a:r>
              <a:rPr lang="zh-CN" altLang="en-US" sz="1600" dirty="0">
                <a:solidFill>
                  <a:prstClr val="black"/>
                </a:solidFill>
                <a:latin typeface="微软雅黑" panose="020B0503020204020204" pitchFamily="34" charset="-122"/>
                <a:ea typeface="微软雅黑" panose="020B0503020204020204" pitchFamily="34" charset="-122"/>
                <a:sym typeface="+mn-ea"/>
              </a:rPr>
              <a:t>天，计算分析</a:t>
            </a:r>
            <a:r>
              <a:rPr lang="en-US" altLang="zh-CN" sz="1600" dirty="0">
                <a:solidFill>
                  <a:srgbClr val="FF0000"/>
                </a:solidFill>
                <a:latin typeface="微软雅黑" panose="020B0503020204020204" pitchFamily="34" charset="-122"/>
                <a:ea typeface="微软雅黑" panose="020B0503020204020204" pitchFamily="34" charset="-122"/>
                <a:sym typeface="+mn-ea"/>
              </a:rPr>
              <a:t>23</a:t>
            </a:r>
            <a:r>
              <a:rPr lang="zh-CN" altLang="en-US" sz="1600" dirty="0">
                <a:solidFill>
                  <a:prstClr val="black"/>
                </a:solidFill>
                <a:latin typeface="微软雅黑" panose="020B0503020204020204" pitchFamily="34" charset="-122"/>
                <a:ea typeface="微软雅黑" panose="020B0503020204020204" pitchFamily="34" charset="-122"/>
                <a:sym typeface="+mn-ea"/>
              </a:rPr>
              <a:t>井次</a:t>
            </a:r>
            <a:endParaRPr lang="zh-CN" altLang="en-US" sz="1600" dirty="0">
              <a:solidFill>
                <a:prstClr val="black"/>
              </a:solidFill>
              <a:latin typeface="微软雅黑" panose="020B0503020204020204" pitchFamily="34" charset="-122"/>
              <a:ea typeface="微软雅黑" panose="020B0503020204020204" pitchFamily="34" charset="-122"/>
            </a:endParaRPr>
          </a:p>
        </p:txBody>
      </p:sp>
      <p:graphicFrame>
        <p:nvGraphicFramePr>
          <p:cNvPr id="43" name="表格 42"/>
          <p:cNvGraphicFramePr>
            <a:graphicFrameLocks noGrp="1"/>
          </p:cNvGraphicFramePr>
          <p:nvPr/>
        </p:nvGraphicFramePr>
        <p:xfrm>
          <a:off x="334963" y="2153772"/>
          <a:ext cx="11467309" cy="3938899"/>
        </p:xfrm>
        <a:graphic>
          <a:graphicData uri="http://schemas.openxmlformats.org/drawingml/2006/table">
            <a:tbl>
              <a:tblPr/>
              <a:tblGrid>
                <a:gridCol w="867787"/>
                <a:gridCol w="2464281"/>
                <a:gridCol w="4764277"/>
                <a:gridCol w="1851946"/>
                <a:gridCol w="1519018"/>
              </a:tblGrid>
              <a:tr h="674672">
                <a:tc>
                  <a:txBody>
                    <a:bodyPr/>
                    <a:lstStyle/>
                    <a:p>
                      <a:pPr algn="ctr" fontAlgn="ctr"/>
                      <a:r>
                        <a:rPr lang="zh-CN" altLang="en-US" sz="1800" b="1" i="0" u="none" strike="noStrike" dirty="0">
                          <a:solidFill>
                            <a:schemeClr val="bg1"/>
                          </a:solidFill>
                          <a:effectLst/>
                          <a:latin typeface="黑体" panose="02010609060101010101" charset="-122"/>
                          <a:ea typeface="黑体" panose="02010609060101010101" charset="-122"/>
                        </a:rPr>
                        <a:t>序号</a:t>
                      </a:r>
                      <a:endParaRPr lang="zh-CN" altLang="en-US" sz="1800" b="1" i="0" u="none" strike="noStrike" dirty="0">
                        <a:solidFill>
                          <a:schemeClr val="bg1"/>
                        </a:solidFill>
                        <a:effectLst/>
                        <a:latin typeface="黑体" panose="02010609060101010101" charset="-122"/>
                        <a:ea typeface="黑体" panose="02010609060101010101"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lstStyle/>
                    <a:p>
                      <a:pPr algn="ctr" fontAlgn="ctr"/>
                      <a:r>
                        <a:rPr lang="zh-CN" altLang="en-US" sz="1800" b="1" i="0" u="none" strike="noStrike" dirty="0">
                          <a:solidFill>
                            <a:schemeClr val="bg1"/>
                          </a:solidFill>
                          <a:effectLst/>
                          <a:latin typeface="黑体" panose="02010609060101010101" charset="-122"/>
                          <a:ea typeface="黑体" panose="02010609060101010101" charset="-122"/>
                        </a:rPr>
                        <a:t>分类</a:t>
                      </a:r>
                      <a:endParaRPr lang="zh-CN" altLang="en-US" sz="1800" b="1" i="0" u="none" strike="noStrike" dirty="0">
                        <a:solidFill>
                          <a:schemeClr val="bg1"/>
                        </a:solidFill>
                        <a:effectLst/>
                        <a:latin typeface="黑体" panose="02010609060101010101" charset="-122"/>
                        <a:ea typeface="黑体" panose="02010609060101010101"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lstStyle/>
                    <a:p>
                      <a:pPr algn="ctr" fontAlgn="ctr"/>
                      <a:r>
                        <a:rPr lang="zh-CN" altLang="en-US" sz="1800" b="1" i="0" u="none" strike="noStrike" dirty="0">
                          <a:solidFill>
                            <a:schemeClr val="bg1"/>
                          </a:solidFill>
                          <a:effectLst/>
                          <a:latin typeface="黑体" panose="02010609060101010101" charset="-122"/>
                          <a:ea typeface="黑体" panose="02010609060101010101" charset="-122"/>
                        </a:rPr>
                        <a:t>工作内容</a:t>
                      </a:r>
                      <a:endParaRPr lang="zh-CN" altLang="en-US" sz="1800" b="1" i="0" u="none" strike="noStrike" dirty="0">
                        <a:solidFill>
                          <a:schemeClr val="bg1"/>
                        </a:solidFill>
                        <a:effectLst/>
                        <a:latin typeface="黑体" panose="02010609060101010101" charset="-122"/>
                        <a:ea typeface="黑体" panose="02010609060101010101"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gridSpan="2">
                  <a:txBody>
                    <a:bodyPr/>
                    <a:lstStyle/>
                    <a:p>
                      <a:pPr algn="ctr" fontAlgn="ctr"/>
                      <a:r>
                        <a:rPr lang="zh-CN" altLang="en-US" sz="1800" b="1" i="0" u="none" strike="noStrike" dirty="0">
                          <a:solidFill>
                            <a:schemeClr val="bg1"/>
                          </a:solidFill>
                          <a:effectLst/>
                          <a:latin typeface="黑体" panose="02010609060101010101" charset="-122"/>
                          <a:ea typeface="黑体" panose="02010609060101010101" charset="-122"/>
                        </a:rPr>
                        <a:t>实物工作量</a:t>
                      </a:r>
                      <a:endParaRPr lang="zh-CN" altLang="en-US" sz="1800" b="1" i="0" u="none" strike="noStrike" dirty="0">
                        <a:solidFill>
                          <a:schemeClr val="bg1"/>
                        </a:solidFill>
                        <a:effectLst/>
                        <a:latin typeface="黑体" panose="02010609060101010101" charset="-122"/>
                        <a:ea typeface="黑体" panose="02010609060101010101" charset="-122"/>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hMerge="1">
                  <a:tcPr marL="5492" marR="5492" marT="5492" marB="0" anchor="ctr">
                    <a:lnL w="6350" cap="flat" cmpd="sng" algn="ctr">
                      <a:solidFill>
                        <a:srgbClr val="000000"/>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solidFill>
                      <a:srgbClr val="E7E6E6"/>
                    </a:solidFill>
                  </a:tcPr>
                </a:tc>
              </a:tr>
              <a:tr h="419558">
                <a:tc rowSpan="3">
                  <a:txBody>
                    <a:bodyPr/>
                    <a:lstStyle/>
                    <a:p>
                      <a:pPr algn="ctr" fontAlgn="ctr"/>
                      <a:r>
                        <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rPr>
                        <a:t>一</a:t>
                      </a:r>
                      <a:endParaRPr lang="en-US" altLang="zh-CN" sz="1400" b="0" kern="1200" dirty="0">
                        <a:solidFill>
                          <a:schemeClr val="tx1"/>
                        </a:solidFill>
                        <a:latin typeface="黑体" panose="02010609060101010101" charset="-122"/>
                        <a:ea typeface="黑体" panose="02010609060101010101" charset="-122"/>
                        <a:cs typeface="Times New Roman" panose="02020603050405020304" pitchFamily="18" charset="0"/>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rowSpan="3">
                  <a:txBody>
                    <a:bodyPr/>
                    <a:lstStyle/>
                    <a:p>
                      <a:pPr algn="ctr" fontAlgn="ctr"/>
                      <a:r>
                        <a:rPr lang="zh-CN" altLang="en-US" sz="1400" kern="100">
                          <a:effectLst/>
                          <a:latin typeface="微软雅黑" panose="020B0503020204020204" pitchFamily="34" charset="-122"/>
                          <a:ea typeface="微软雅黑" panose="020B0503020204020204" pitchFamily="34" charset="-122"/>
                          <a:sym typeface="+mn-ea"/>
                        </a:rPr>
                        <a:t>国内外压裂效果评价技术调研</a:t>
                      </a:r>
                      <a:endParaRPr lang="zh-CN" altLang="en-US" sz="1400" kern="100">
                        <a:effectLst/>
                        <a:latin typeface="微软雅黑" panose="020B0503020204020204" pitchFamily="34" charset="-122"/>
                        <a:ea typeface="微软雅黑" panose="020B0503020204020204" pitchFamily="34" charset="-122"/>
                        <a:sym typeface="+mn-ea"/>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井下监测技术</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研究现状</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42</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rowSpan="3">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90</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419558">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井口监测技术</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研究现状</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33</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19558">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12700">
                      <a:solidFill>
                        <a:schemeClr val="tx1"/>
                      </a:solidFill>
                      <a:prstDash val="solid"/>
                    </a:lnB>
                  </a:tcPr>
                </a:tc>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12700">
                      <a:solidFill>
                        <a:schemeClr val="tx1"/>
                      </a:solidFill>
                      <a:prstDash val="solid"/>
                    </a:lnB>
                  </a:tcPr>
                </a:tc>
                <a:tc>
                  <a:txBody>
                    <a:bodyPr/>
                    <a:lstStyle/>
                    <a:p>
                      <a:pPr algn="ctr" fontAlgn="ctr"/>
                      <a:r>
                        <a:rPr lang="zh-CN" altLang="en-US" sz="1400" dirty="0">
                          <a:effectLst/>
                          <a:latin typeface="Times New Roman" panose="02020603050405020304" pitchFamily="18" charset="0"/>
                          <a:ea typeface="微软雅黑" panose="020B0503020204020204" pitchFamily="34" charset="-122"/>
                          <a:cs typeface="Times New Roman" panose="02020603050405020304" pitchFamily="18" charset="0"/>
                          <a:sym typeface="+mn-ea"/>
                        </a:rPr>
                        <a:t>压裂施工曲线分析</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研究现状</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15</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vMerge="1">
                  <a:tcPr marL="5492" marR="5492" marT="5492" marB="0" anchor="ctr">
                    <a:lnL w="12700">
                      <a:solidFill>
                        <a:schemeClr val="tx1"/>
                      </a:solidFill>
                      <a:prstDash val="solid"/>
                    </a:lnL>
                    <a:lnR w="12700">
                      <a:solidFill>
                        <a:schemeClr val="tx1"/>
                      </a:solidFill>
                      <a:prstDash val="solid"/>
                    </a:lnR>
                    <a:lnT w="6350" cap="flat" cmpd="sng" algn="ctr">
                      <a:solidFill>
                        <a:srgbClr val="000000"/>
                      </a:solidFill>
                      <a:prstDash val="solid"/>
                      <a:round/>
                      <a:headEnd type="none" w="med" len="med"/>
                      <a:tailEnd type="none" w="med" len="med"/>
                    </a:lnT>
                    <a:lnB w="12700">
                      <a:solidFill>
                        <a:schemeClr val="tx1"/>
                      </a:solidFill>
                      <a:prstDash val="solid"/>
                    </a:lnB>
                  </a:tcPr>
                </a:tc>
              </a:tr>
              <a:tr h="419558">
                <a:tc>
                  <a:txBody>
                    <a:bodyPr/>
                    <a:lstStyle/>
                    <a:p>
                      <a:pPr algn="ctr" fontAlgn="ctr"/>
                      <a:r>
                        <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rPr>
                        <a:t>二</a:t>
                      </a:r>
                      <a:endParaRPr lang="en-US" altLang="zh-CN" sz="1400" b="0" kern="1200" dirty="0">
                        <a:solidFill>
                          <a:schemeClr val="tx1"/>
                        </a:solidFill>
                        <a:latin typeface="黑体" panose="02010609060101010101" charset="-122"/>
                        <a:ea typeface="黑体" panose="02010609060101010101" charset="-122"/>
                        <a:cs typeface="Times New Roman" panose="02020603050405020304" pitchFamily="18" charset="0"/>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400" kern="100" dirty="0">
                          <a:effectLst/>
                          <a:latin typeface="微软雅黑" panose="020B0503020204020204" pitchFamily="34" charset="-122"/>
                          <a:ea typeface="微软雅黑" panose="020B0503020204020204" pitchFamily="34" charset="-122"/>
                          <a:sym typeface="+mn-ea"/>
                        </a:rPr>
                        <a:t>基于连续小波变换的</a:t>
                      </a:r>
                      <a:endParaRPr lang="zh-CN" altLang="en-US" sz="1400" kern="100" dirty="0">
                        <a:effectLst/>
                        <a:latin typeface="微软雅黑" panose="020B0503020204020204" pitchFamily="34" charset="-122"/>
                        <a:ea typeface="微软雅黑" panose="020B0503020204020204" pitchFamily="34" charset="-122"/>
                        <a:sym typeface="+mn-ea"/>
                      </a:endParaRPr>
                    </a:p>
                    <a:p>
                      <a:pPr algn="ctr" fontAlgn="ctr"/>
                      <a:r>
                        <a:rPr lang="zh-CN" altLang="en-US" sz="1400" kern="100" dirty="0">
                          <a:effectLst/>
                          <a:latin typeface="微软雅黑" panose="020B0503020204020204" pitchFamily="34" charset="-122"/>
                          <a:ea typeface="微软雅黑" panose="020B0503020204020204" pitchFamily="34" charset="-122"/>
                          <a:sym typeface="+mn-ea"/>
                        </a:rPr>
                        <a:t>改造体积定量评价</a:t>
                      </a:r>
                      <a:endParaRPr lang="en-US" altLang="zh-CN"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完成</a:t>
                      </a:r>
                      <a:r>
                        <a:rPr lang="en-US" altLang="zh-CN" sz="1400" kern="1200" dirty="0">
                          <a:solidFill>
                            <a:prstClr val="black"/>
                          </a:solidFill>
                          <a:latin typeface="微软雅黑" panose="020B0503020204020204" pitchFamily="34" charset="-122"/>
                          <a:ea typeface="微软雅黑" panose="020B0503020204020204" pitchFamily="34" charset="-122"/>
                          <a:cs typeface="+mn-cs"/>
                        </a:rPr>
                        <a:t>5</a:t>
                      </a:r>
                      <a:r>
                        <a:rPr lang="zh-CN" altLang="en-US" sz="1400" kern="1200" dirty="0">
                          <a:solidFill>
                            <a:prstClr val="black"/>
                          </a:solidFill>
                          <a:latin typeface="微软雅黑" panose="020B0503020204020204" pitchFamily="34" charset="-122"/>
                          <a:ea typeface="微软雅黑" panose="020B0503020204020204" pitchFamily="34" charset="-122"/>
                          <a:cs typeface="+mn-cs"/>
                        </a:rPr>
                        <a:t>个平台，</a:t>
                      </a:r>
                      <a:r>
                        <a:rPr lang="en-US" altLang="zh-CN" sz="1400" kern="1200" dirty="0">
                          <a:solidFill>
                            <a:prstClr val="black"/>
                          </a:solidFill>
                          <a:latin typeface="微软雅黑" panose="020B0503020204020204" pitchFamily="34" charset="-122"/>
                          <a:ea typeface="微软雅黑" panose="020B0503020204020204" pitchFamily="34" charset="-122"/>
                          <a:cs typeface="+mn-cs"/>
                        </a:rPr>
                        <a:t>23</a:t>
                      </a:r>
                      <a:r>
                        <a:rPr lang="zh-CN" altLang="en-US" sz="1400" kern="1200" dirty="0">
                          <a:solidFill>
                            <a:prstClr val="black"/>
                          </a:solidFill>
                          <a:latin typeface="微软雅黑" panose="020B0503020204020204" pitchFamily="34" charset="-122"/>
                          <a:ea typeface="微软雅黑" panose="020B0503020204020204" pitchFamily="34" charset="-122"/>
                          <a:cs typeface="+mn-cs"/>
                        </a:rPr>
                        <a:t>口井的改造体积定量评价</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573</a:t>
                      </a:r>
                      <a:r>
                        <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组</a:t>
                      </a:r>
                      <a:endPar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573</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组</a:t>
                      </a:r>
                      <a:endPar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524447">
                <a:tc>
                  <a:txBody>
                    <a:bodyPr/>
                    <a:lstStyle/>
                    <a:p>
                      <a:pPr algn="ctr" fontAlgn="ctr"/>
                      <a:r>
                        <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rPr>
                        <a:t>三</a:t>
                      </a:r>
                      <a:endParaRPr lang="en-US" altLang="zh-CN" sz="1400" b="0" kern="1200" dirty="0">
                        <a:solidFill>
                          <a:schemeClr val="tx1"/>
                        </a:solidFill>
                        <a:latin typeface="黑体" panose="02010609060101010101" charset="-122"/>
                        <a:ea typeface="黑体" panose="02010609060101010101" charset="-122"/>
                        <a:cs typeface="Times New Roman" panose="02020603050405020304" pitchFamily="18" charset="0"/>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基于</a:t>
                      </a:r>
                      <a:r>
                        <a:rPr lang="en-US" altLang="zh-CN" sz="1400" kern="100" dirty="0">
                          <a:effectLst/>
                          <a:latin typeface="微软雅黑" panose="020B0503020204020204" pitchFamily="34" charset="-122"/>
                          <a:ea typeface="微软雅黑" panose="020B0503020204020204" pitchFamily="34" charset="-122"/>
                          <a:sym typeface="+mn-ea"/>
                        </a:rPr>
                        <a:t>G</a:t>
                      </a:r>
                      <a:r>
                        <a:rPr lang="zh-CN" altLang="en-US" sz="1400" kern="100" dirty="0">
                          <a:effectLst/>
                          <a:latin typeface="微软雅黑" panose="020B0503020204020204" pitchFamily="34" charset="-122"/>
                          <a:ea typeface="微软雅黑" panose="020B0503020204020204" pitchFamily="34" charset="-122"/>
                          <a:sym typeface="+mn-ea"/>
                        </a:rPr>
                        <a:t>函数的</a:t>
                      </a:r>
                      <a:r>
                        <a:rPr lang="zh-CN" altLang="en-US" sz="1400" noProof="0" dirty="0">
                          <a:ln>
                            <a:noFill/>
                          </a:ln>
                          <a:effectLst/>
                          <a:uLnTx/>
                          <a:uFillTx/>
                          <a:latin typeface="微软雅黑" panose="020B0503020204020204" pitchFamily="34" charset="-122"/>
                          <a:ea typeface="微软雅黑" panose="020B0503020204020204" pitchFamily="34" charset="-122"/>
                          <a:sym typeface="+mn-ea"/>
                        </a:rPr>
                        <a:t>裂缝</a:t>
                      </a:r>
                      <a:endParaRPr lang="zh-CN" altLang="en-US" sz="1400" noProof="0" dirty="0">
                        <a:ln>
                          <a:noFill/>
                        </a:ln>
                        <a:effectLst/>
                        <a:uLnTx/>
                        <a:uFillTx/>
                        <a:latin typeface="微软雅黑" panose="020B0503020204020204" pitchFamily="34" charset="-122"/>
                        <a:ea typeface="微软雅黑" panose="020B0503020204020204" pitchFamily="34" charset="-122"/>
                        <a:sym typeface="+mn-ea"/>
                      </a:endParaRPr>
                    </a:p>
                    <a:p>
                      <a:pPr algn="ctr" fontAlgn="ctr"/>
                      <a:r>
                        <a:rPr lang="zh-CN" altLang="en-US" sz="1400" noProof="0" dirty="0">
                          <a:ln>
                            <a:noFill/>
                          </a:ln>
                          <a:effectLst/>
                          <a:uLnTx/>
                          <a:uFillTx/>
                          <a:latin typeface="微软雅黑" panose="020B0503020204020204" pitchFamily="34" charset="-122"/>
                          <a:ea typeface="微软雅黑" panose="020B0503020204020204" pitchFamily="34" charset="-122"/>
                          <a:sym typeface="+mn-ea"/>
                        </a:rPr>
                        <a:t>复杂度定量评价</a:t>
                      </a:r>
                      <a:endParaRPr lang="en-US" altLang="zh-CN"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400" dirty="0">
                          <a:solidFill>
                            <a:prstClr val="black"/>
                          </a:solidFill>
                          <a:latin typeface="微软雅黑" panose="020B0503020204020204" pitchFamily="34" charset="-122"/>
                          <a:ea typeface="微软雅黑" panose="020B0503020204020204" pitchFamily="34" charset="-122"/>
                          <a:sym typeface="+mn-ea"/>
                        </a:rPr>
                        <a:t>完成</a:t>
                      </a:r>
                      <a:r>
                        <a:rPr lang="en-US" altLang="zh-CN" sz="1400" dirty="0">
                          <a:solidFill>
                            <a:prstClr val="black"/>
                          </a:solidFill>
                          <a:latin typeface="微软雅黑" panose="020B0503020204020204" pitchFamily="34" charset="-122"/>
                          <a:ea typeface="微软雅黑" panose="020B0503020204020204" pitchFamily="34" charset="-122"/>
                          <a:sym typeface="+mn-ea"/>
                        </a:rPr>
                        <a:t>5</a:t>
                      </a:r>
                      <a:r>
                        <a:rPr lang="zh-CN" altLang="en-US" sz="1400" dirty="0">
                          <a:solidFill>
                            <a:prstClr val="black"/>
                          </a:solidFill>
                          <a:latin typeface="微软雅黑" panose="020B0503020204020204" pitchFamily="34" charset="-122"/>
                          <a:ea typeface="微软雅黑" panose="020B0503020204020204" pitchFamily="34" charset="-122"/>
                          <a:sym typeface="+mn-ea"/>
                        </a:rPr>
                        <a:t>个平台，</a:t>
                      </a:r>
                      <a:r>
                        <a:rPr lang="en-US" altLang="zh-CN" sz="1400" dirty="0">
                          <a:solidFill>
                            <a:prstClr val="black"/>
                          </a:solidFill>
                          <a:latin typeface="微软雅黑" panose="020B0503020204020204" pitchFamily="34" charset="-122"/>
                          <a:ea typeface="微软雅黑" panose="020B0503020204020204" pitchFamily="34" charset="-122"/>
                          <a:sym typeface="+mn-ea"/>
                        </a:rPr>
                        <a:t>23</a:t>
                      </a:r>
                      <a:r>
                        <a:rPr lang="zh-CN" altLang="en-US" sz="1400" dirty="0">
                          <a:solidFill>
                            <a:prstClr val="black"/>
                          </a:solidFill>
                          <a:latin typeface="微软雅黑" panose="020B0503020204020204" pitchFamily="34" charset="-122"/>
                          <a:ea typeface="微软雅黑" panose="020B0503020204020204" pitchFamily="34" charset="-122"/>
                          <a:sym typeface="+mn-ea"/>
                        </a:rPr>
                        <a:t>口井的</a:t>
                      </a:r>
                      <a:r>
                        <a:rPr lang="zh-CN" altLang="en-US" sz="1400" noProof="0" dirty="0">
                          <a:ln>
                            <a:noFill/>
                          </a:ln>
                          <a:effectLst/>
                          <a:uLnTx/>
                          <a:uFillTx/>
                          <a:latin typeface="微软雅黑" panose="020B0503020204020204" pitchFamily="34" charset="-122"/>
                          <a:ea typeface="微软雅黑" panose="020B0503020204020204" pitchFamily="34" charset="-122"/>
                          <a:sym typeface="+mn-ea"/>
                        </a:rPr>
                        <a:t>裂缝复杂度</a:t>
                      </a:r>
                      <a:r>
                        <a:rPr lang="zh-CN" altLang="en-US" sz="1400" dirty="0">
                          <a:solidFill>
                            <a:prstClr val="black"/>
                          </a:solidFill>
                          <a:latin typeface="微软雅黑" panose="020B0503020204020204" pitchFamily="34" charset="-122"/>
                          <a:ea typeface="微软雅黑" panose="020B0503020204020204" pitchFamily="34" charset="-122"/>
                          <a:sym typeface="+mn-ea"/>
                        </a:rPr>
                        <a:t>定量评价</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400" noProof="0" dirty="0">
                          <a:ln>
                            <a:noFill/>
                          </a:ln>
                          <a:effectLst/>
                          <a:uLnTx/>
                          <a:uFillTx/>
                          <a:latin typeface="微软雅黑" panose="020B0503020204020204" pitchFamily="34" charset="-122"/>
                          <a:ea typeface="微软雅黑" panose="020B0503020204020204" pitchFamily="34" charset="-122"/>
                          <a:sym typeface="+mn-ea"/>
                        </a:rPr>
                        <a:t>573</a:t>
                      </a:r>
                      <a:r>
                        <a:rPr lang="zh-CN" altLang="en-US" sz="1400" noProof="0" dirty="0">
                          <a:ln>
                            <a:noFill/>
                          </a:ln>
                          <a:effectLst/>
                          <a:uLnTx/>
                          <a:uFillTx/>
                          <a:latin typeface="微软雅黑" panose="020B0503020204020204" pitchFamily="34" charset="-122"/>
                          <a:ea typeface="微软雅黑" panose="020B0503020204020204" pitchFamily="34" charset="-122"/>
                          <a:sym typeface="+mn-ea"/>
                        </a:rPr>
                        <a:t>组</a:t>
                      </a:r>
                      <a:endParaRPr lang="zh-CN" altLang="en-US" sz="1400" kern="1200" dirty="0">
                        <a:solidFill>
                          <a:schemeClr val="tx1"/>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400" noProof="0" dirty="0">
                          <a:ln>
                            <a:noFill/>
                          </a:ln>
                          <a:effectLst/>
                          <a:uLnTx/>
                          <a:uFillTx/>
                          <a:latin typeface="微软雅黑" panose="020B0503020204020204" pitchFamily="34" charset="-122"/>
                          <a:ea typeface="微软雅黑" panose="020B0503020204020204" pitchFamily="34" charset="-122"/>
                          <a:sym typeface="+mn-ea"/>
                        </a:rPr>
                        <a:t>573</a:t>
                      </a:r>
                      <a:r>
                        <a:rPr lang="zh-CN" altLang="en-US" sz="1400" noProof="0" dirty="0">
                          <a:ln>
                            <a:noFill/>
                          </a:ln>
                          <a:effectLst/>
                          <a:uLnTx/>
                          <a:uFillTx/>
                          <a:latin typeface="微软雅黑" panose="020B0503020204020204" pitchFamily="34" charset="-122"/>
                          <a:ea typeface="微软雅黑" panose="020B0503020204020204" pitchFamily="34" charset="-122"/>
                          <a:sym typeface="+mn-ea"/>
                        </a:rPr>
                        <a:t>组</a:t>
                      </a:r>
                      <a:endParaRPr lang="zh-CN" altLang="en-US" sz="1400" kern="1200" dirty="0">
                        <a:solidFill>
                          <a:schemeClr val="tx1"/>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524447">
                <a:tc>
                  <a:txBody>
                    <a:bodyPr/>
                    <a:lstStyle/>
                    <a:p>
                      <a:pPr algn="ctr" fontAlgn="ctr">
                        <a:buNone/>
                      </a:pPr>
                      <a:r>
                        <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rPr>
                        <a:t>四</a:t>
                      </a:r>
                      <a:endPar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buNone/>
                      </a:pPr>
                      <a:r>
                        <a:rPr lang="zh-CN" altLang="en-US" sz="1400" noProof="0" dirty="0">
                          <a:ln>
                            <a:noFill/>
                          </a:ln>
                          <a:effectLst/>
                          <a:uLnTx/>
                          <a:uFillTx/>
                          <a:latin typeface="微软雅黑" panose="020B0503020204020204" pitchFamily="34" charset="-122"/>
                          <a:ea typeface="微软雅黑" panose="020B0503020204020204" pitchFamily="34" charset="-122"/>
                          <a:sym typeface="+mn-ea"/>
                        </a:rPr>
                        <a:t>改造效果综合量化评估指标建立与优化</a:t>
                      </a:r>
                      <a:endParaRPr lang="zh-CN" altLang="en-US" sz="1400" noProof="0" dirty="0">
                        <a:ln>
                          <a:noFill/>
                        </a:ln>
                        <a:effectLst/>
                        <a:uLnTx/>
                        <a:uFillTx/>
                        <a:latin typeface="微软雅黑" panose="020B0503020204020204" pitchFamily="34" charset="-122"/>
                        <a:ea typeface="微软雅黑" panose="020B0503020204020204" pitchFamily="34" charset="-122"/>
                        <a:sym typeface="+mn-ea"/>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buNone/>
                      </a:pPr>
                      <a:r>
                        <a:rPr lang="zh-CN" altLang="en-US" sz="1400" kern="1200" dirty="0">
                          <a:solidFill>
                            <a:prstClr val="black"/>
                          </a:solidFill>
                          <a:latin typeface="微软雅黑" panose="020B0503020204020204" pitchFamily="34" charset="-122"/>
                          <a:ea typeface="微软雅黑" panose="020B0503020204020204" pitchFamily="34" charset="-122"/>
                          <a:cs typeface="+mn-cs"/>
                        </a:rPr>
                        <a:t>完成</a:t>
                      </a:r>
                      <a:r>
                        <a:rPr lang="en-US" altLang="zh-CN" sz="1400" kern="1200" dirty="0">
                          <a:solidFill>
                            <a:prstClr val="black"/>
                          </a:solidFill>
                          <a:latin typeface="微软雅黑" panose="020B0503020204020204" pitchFamily="34" charset="-122"/>
                          <a:ea typeface="微软雅黑" panose="020B0503020204020204" pitchFamily="34" charset="-122"/>
                          <a:cs typeface="+mn-cs"/>
                        </a:rPr>
                        <a:t>5</a:t>
                      </a:r>
                      <a:r>
                        <a:rPr lang="zh-CN" altLang="en-US" sz="1400" kern="1200" dirty="0">
                          <a:solidFill>
                            <a:prstClr val="black"/>
                          </a:solidFill>
                          <a:latin typeface="微软雅黑" panose="020B0503020204020204" pitchFamily="34" charset="-122"/>
                          <a:ea typeface="微软雅黑" panose="020B0503020204020204" pitchFamily="34" charset="-122"/>
                          <a:cs typeface="+mn-cs"/>
                        </a:rPr>
                        <a:t>个平台，</a:t>
                      </a:r>
                      <a:r>
                        <a:rPr lang="en-US" altLang="zh-CN" sz="1400" kern="1200" dirty="0">
                          <a:solidFill>
                            <a:prstClr val="black"/>
                          </a:solidFill>
                          <a:latin typeface="微软雅黑" panose="020B0503020204020204" pitchFamily="34" charset="-122"/>
                          <a:ea typeface="微软雅黑" panose="020B0503020204020204" pitchFamily="34" charset="-122"/>
                          <a:cs typeface="+mn-cs"/>
                        </a:rPr>
                        <a:t>23</a:t>
                      </a:r>
                      <a:r>
                        <a:rPr lang="zh-CN" altLang="en-US" sz="1400" kern="1200" dirty="0">
                          <a:solidFill>
                            <a:prstClr val="black"/>
                          </a:solidFill>
                          <a:latin typeface="微软雅黑" panose="020B0503020204020204" pitchFamily="34" charset="-122"/>
                          <a:ea typeface="微软雅黑" panose="020B0503020204020204" pitchFamily="34" charset="-122"/>
                          <a:cs typeface="+mn-cs"/>
                        </a:rPr>
                        <a:t>口井的改造效果综合量化评估指标建立</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400" noProof="0" dirty="0">
                          <a:ln>
                            <a:noFill/>
                          </a:ln>
                          <a:effectLst/>
                          <a:uLnTx/>
                          <a:uFillTx/>
                          <a:latin typeface="微软雅黑" panose="020B0503020204020204" pitchFamily="34" charset="-122"/>
                          <a:ea typeface="微软雅黑" panose="020B0503020204020204" pitchFamily="34" charset="-122"/>
                          <a:sym typeface="+mn-ea"/>
                        </a:rPr>
                        <a:t>573</a:t>
                      </a:r>
                      <a:r>
                        <a:rPr lang="zh-CN" altLang="en-US" sz="1400" noProof="0" dirty="0">
                          <a:ln>
                            <a:noFill/>
                          </a:ln>
                          <a:effectLst/>
                          <a:uLnTx/>
                          <a:uFillTx/>
                          <a:latin typeface="微软雅黑" panose="020B0503020204020204" pitchFamily="34" charset="-122"/>
                          <a:ea typeface="微软雅黑" panose="020B0503020204020204" pitchFamily="34" charset="-122"/>
                          <a:sym typeface="+mn-ea"/>
                        </a:rPr>
                        <a:t>组</a:t>
                      </a:r>
                      <a:endParaRPr lang="zh-CN" altLang="en-US" sz="1400" kern="1200" dirty="0">
                        <a:solidFill>
                          <a:schemeClr val="tx1"/>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400" noProof="0" dirty="0">
                          <a:ln>
                            <a:noFill/>
                          </a:ln>
                          <a:effectLst/>
                          <a:uLnTx/>
                          <a:uFillTx/>
                          <a:latin typeface="微软雅黑" panose="020B0503020204020204" pitchFamily="34" charset="-122"/>
                          <a:ea typeface="微软雅黑" panose="020B0503020204020204" pitchFamily="34" charset="-122"/>
                          <a:sym typeface="+mn-ea"/>
                        </a:rPr>
                        <a:t>573</a:t>
                      </a:r>
                      <a:r>
                        <a:rPr lang="zh-CN" altLang="en-US" sz="1400" noProof="0" dirty="0">
                          <a:ln>
                            <a:noFill/>
                          </a:ln>
                          <a:effectLst/>
                          <a:uLnTx/>
                          <a:uFillTx/>
                          <a:latin typeface="微软雅黑" panose="020B0503020204020204" pitchFamily="34" charset="-122"/>
                          <a:ea typeface="微软雅黑" panose="020B0503020204020204" pitchFamily="34" charset="-122"/>
                          <a:sym typeface="+mn-ea"/>
                        </a:rPr>
                        <a:t>组</a:t>
                      </a:r>
                      <a:endParaRPr lang="zh-CN" altLang="en-US" sz="1400" kern="1200" dirty="0">
                        <a:solidFill>
                          <a:schemeClr val="tx1"/>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524447">
                <a:tc>
                  <a:txBody>
                    <a:bodyPr/>
                    <a:lstStyle/>
                    <a:p>
                      <a:pPr algn="ctr" fontAlgn="ctr"/>
                      <a:r>
                        <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rPr>
                        <a:t>五</a:t>
                      </a:r>
                      <a:endParaRPr lang="zh-CN" altLang="en-US" sz="1400" b="0" kern="1200" dirty="0">
                        <a:solidFill>
                          <a:schemeClr val="tx1"/>
                        </a:solidFill>
                        <a:latin typeface="黑体" panose="02010609060101010101" charset="-122"/>
                        <a:ea typeface="黑体" panose="02010609060101010101" charset="-122"/>
                        <a:cs typeface="Times New Roman" panose="02020603050405020304" pitchFamily="18" charset="0"/>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知识产权</a:t>
                      </a:r>
                      <a:endParaRPr lang="en-US" altLang="zh-CN"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zh-CN" altLang="en-US" sz="1400" kern="1200" dirty="0">
                          <a:solidFill>
                            <a:prstClr val="black"/>
                          </a:solidFill>
                          <a:latin typeface="微软雅黑" panose="020B0503020204020204" pitchFamily="34" charset="-122"/>
                          <a:ea typeface="微软雅黑" panose="020B0503020204020204" pitchFamily="34" charset="-122"/>
                          <a:cs typeface="+mn-cs"/>
                        </a:rPr>
                        <a:t>专利文本，论文文本</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kern="1200" dirty="0">
                          <a:solidFill>
                            <a:prstClr val="black"/>
                          </a:solidFill>
                          <a:latin typeface="微软雅黑" panose="020B0503020204020204" pitchFamily="34" charset="-122"/>
                          <a:ea typeface="微软雅黑" panose="020B0503020204020204" pitchFamily="34" charset="-122"/>
                          <a:cs typeface="+mn-cs"/>
                        </a:rPr>
                        <a:t>1</a:t>
                      </a:r>
                      <a:r>
                        <a:rPr lang="zh-CN" altLang="en-US" sz="1400" kern="1200" dirty="0">
                          <a:solidFill>
                            <a:prstClr val="black"/>
                          </a:solidFill>
                          <a:latin typeface="微软雅黑" panose="020B0503020204020204" pitchFamily="34" charset="-122"/>
                          <a:ea typeface="微软雅黑" panose="020B0503020204020204" pitchFamily="34" charset="-122"/>
                          <a:cs typeface="+mn-cs"/>
                        </a:rPr>
                        <a:t>件，</a:t>
                      </a:r>
                      <a:r>
                        <a:rPr lang="en-US" altLang="zh-CN" sz="1400" kern="1200" dirty="0">
                          <a:solidFill>
                            <a:prstClr val="black"/>
                          </a:solidFill>
                          <a:latin typeface="微软雅黑" panose="020B0503020204020204" pitchFamily="34" charset="-122"/>
                          <a:ea typeface="微软雅黑" panose="020B0503020204020204" pitchFamily="34" charset="-122"/>
                          <a:cs typeface="+mn-cs"/>
                        </a:rPr>
                        <a:t>1</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400" kern="1200" dirty="0">
                          <a:solidFill>
                            <a:prstClr val="black"/>
                          </a:solidFill>
                          <a:latin typeface="微软雅黑" panose="020B0503020204020204" pitchFamily="34" charset="-122"/>
                          <a:ea typeface="微软雅黑" panose="020B0503020204020204" pitchFamily="34" charset="-122"/>
                          <a:cs typeface="+mn-cs"/>
                        </a:rPr>
                        <a:t>1</a:t>
                      </a:r>
                      <a:r>
                        <a:rPr lang="zh-CN" altLang="en-US" sz="1400" kern="1200" dirty="0">
                          <a:solidFill>
                            <a:prstClr val="black"/>
                          </a:solidFill>
                          <a:latin typeface="微软雅黑" panose="020B0503020204020204" pitchFamily="34" charset="-122"/>
                          <a:ea typeface="微软雅黑" panose="020B0503020204020204" pitchFamily="34" charset="-122"/>
                          <a:cs typeface="+mn-cs"/>
                        </a:rPr>
                        <a:t>件，</a:t>
                      </a:r>
                      <a:r>
                        <a:rPr lang="en-US" altLang="zh-CN" sz="1400" kern="1200" dirty="0">
                          <a:solidFill>
                            <a:prstClr val="black"/>
                          </a:solidFill>
                          <a:latin typeface="微软雅黑" panose="020B0503020204020204" pitchFamily="34" charset="-122"/>
                          <a:ea typeface="微软雅黑" panose="020B0503020204020204" pitchFamily="34" charset="-122"/>
                          <a:cs typeface="+mn-cs"/>
                        </a:rPr>
                        <a:t>1</a:t>
                      </a:r>
                      <a:r>
                        <a:rPr lang="zh-CN" altLang="en-US" sz="1400" kern="1200" dirty="0">
                          <a:solidFill>
                            <a:prstClr val="black"/>
                          </a:solidFill>
                          <a:latin typeface="微软雅黑" panose="020B0503020204020204" pitchFamily="34" charset="-122"/>
                          <a:ea typeface="微软雅黑" panose="020B0503020204020204" pitchFamily="34" charset="-122"/>
                          <a:cs typeface="+mn-cs"/>
                        </a:rPr>
                        <a:t>篇</a:t>
                      </a:r>
                      <a:endParaRPr lang="zh-CN" altLang="en-US" sz="1400" kern="1200" dirty="0">
                        <a:solidFill>
                          <a:prstClr val="black"/>
                        </a:solidFill>
                        <a:latin typeface="微软雅黑" panose="020B0503020204020204" pitchFamily="34" charset="-122"/>
                        <a:ea typeface="微软雅黑" panose="020B0503020204020204" pitchFamily="34" charset="-122"/>
                        <a:cs typeface="+mn-cs"/>
                      </a:endParaRPr>
                    </a:p>
                  </a:txBody>
                  <a:tcPr marL="5492" marR="5492" marT="549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bl>
          </a:graphicData>
        </a:graphic>
      </p:graphicFrame>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二、完成的主要工作量</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53216" y="917015"/>
            <a:ext cx="11467309"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对泸</a:t>
            </a:r>
            <a:r>
              <a:rPr lang="en-US" altLang="zh-CN" sz="1600" dirty="0">
                <a:solidFill>
                  <a:prstClr val="black"/>
                </a:solidFill>
                <a:latin typeface="微软雅黑" panose="020B0503020204020204" pitchFamily="34" charset="-122"/>
                <a:ea typeface="微软雅黑" panose="020B0503020204020204" pitchFamily="34" charset="-122"/>
              </a:rPr>
              <a:t>203</a:t>
            </a:r>
            <a:r>
              <a:rPr lang="zh-CN" altLang="en-US" sz="1600" dirty="0">
                <a:solidFill>
                  <a:prstClr val="black"/>
                </a:solidFill>
                <a:latin typeface="微软雅黑" panose="020B0503020204020204" pitchFamily="34" charset="-122"/>
                <a:ea typeface="微软雅黑" panose="020B0503020204020204" pitchFamily="34" charset="-122"/>
              </a:rPr>
              <a:t>、泸</a:t>
            </a:r>
            <a:r>
              <a:rPr lang="en-US" altLang="zh-CN" sz="1600" dirty="0">
                <a:solidFill>
                  <a:prstClr val="black"/>
                </a:solidFill>
                <a:latin typeface="微软雅黑" panose="020B0503020204020204" pitchFamily="34" charset="-122"/>
                <a:ea typeface="微软雅黑" panose="020B0503020204020204" pitchFamily="34" charset="-122"/>
              </a:rPr>
              <a:t>206</a:t>
            </a:r>
            <a:r>
              <a:rPr lang="zh-CN" altLang="en-US" sz="1600" dirty="0">
                <a:solidFill>
                  <a:prstClr val="black"/>
                </a:solidFill>
                <a:latin typeface="微软雅黑" panose="020B0503020204020204" pitchFamily="34" charset="-122"/>
                <a:ea typeface="微软雅黑" panose="020B0503020204020204" pitchFamily="34" charset="-122"/>
              </a:rPr>
              <a:t>、足</a:t>
            </a:r>
            <a:r>
              <a:rPr lang="en-US" altLang="zh-CN" sz="1600" dirty="0">
                <a:solidFill>
                  <a:prstClr val="black"/>
                </a:solidFill>
                <a:latin typeface="微软雅黑" panose="020B0503020204020204" pitchFamily="34" charset="-122"/>
                <a:ea typeface="微软雅黑" panose="020B0503020204020204" pitchFamily="34" charset="-122"/>
              </a:rPr>
              <a:t>201</a:t>
            </a:r>
            <a:r>
              <a:rPr lang="zh-CN" altLang="en-US" sz="1600" dirty="0">
                <a:solidFill>
                  <a:prstClr val="black"/>
                </a:solidFill>
                <a:latin typeface="微软雅黑" panose="020B0503020204020204" pitchFamily="34" charset="-122"/>
                <a:ea typeface="微软雅黑" panose="020B0503020204020204" pitchFamily="34" charset="-122"/>
              </a:rPr>
              <a:t>共</a:t>
            </a:r>
            <a:r>
              <a:rPr lang="en-US" altLang="zh-CN" sz="1600" dirty="0">
                <a:solidFill>
                  <a:srgbClr val="FF0000"/>
                </a:solidFill>
                <a:latin typeface="微软雅黑" panose="020B0503020204020204" pitchFamily="34" charset="-122"/>
                <a:ea typeface="微软雅黑" panose="020B0503020204020204" pitchFamily="34" charset="-122"/>
              </a:rPr>
              <a:t>3</a:t>
            </a:r>
            <a:r>
              <a:rPr lang="zh-CN" altLang="en-US" sz="1600" dirty="0">
                <a:solidFill>
                  <a:srgbClr val="FF0000"/>
                </a:solidFill>
                <a:latin typeface="微软雅黑" panose="020B0503020204020204" pitchFamily="34" charset="-122"/>
                <a:ea typeface="微软雅黑" panose="020B0503020204020204" pitchFamily="34" charset="-122"/>
              </a:rPr>
              <a:t>个井区，</a:t>
            </a:r>
            <a:r>
              <a:rPr lang="en-US" altLang="zh-CN" sz="1600" dirty="0">
                <a:solidFill>
                  <a:srgbClr val="FF0000"/>
                </a:solidFill>
                <a:latin typeface="微软雅黑" panose="020B0503020204020204" pitchFamily="34" charset="-122"/>
                <a:ea typeface="微软雅黑" panose="020B0503020204020204" pitchFamily="34" charset="-122"/>
              </a:rPr>
              <a:t>5</a:t>
            </a:r>
            <a:r>
              <a:rPr lang="zh-CN" altLang="en-US" sz="1600" dirty="0">
                <a:solidFill>
                  <a:srgbClr val="FF0000"/>
                </a:solidFill>
                <a:latin typeface="微软雅黑" panose="020B0503020204020204" pitchFamily="34" charset="-122"/>
                <a:ea typeface="微软雅黑" panose="020B0503020204020204" pitchFamily="34" charset="-122"/>
              </a:rPr>
              <a:t>个平台，</a:t>
            </a:r>
            <a:r>
              <a:rPr lang="en-US" altLang="zh-CN" sz="1600" dirty="0">
                <a:solidFill>
                  <a:srgbClr val="FF0000"/>
                </a:solidFill>
                <a:latin typeface="微软雅黑" panose="020B0503020204020204" pitchFamily="34" charset="-122"/>
                <a:ea typeface="微软雅黑" panose="020B0503020204020204" pitchFamily="34" charset="-122"/>
              </a:rPr>
              <a:t>23</a:t>
            </a:r>
            <a:r>
              <a:rPr lang="zh-CN" altLang="en-US" sz="1600" dirty="0">
                <a:solidFill>
                  <a:srgbClr val="FF0000"/>
                </a:solidFill>
                <a:latin typeface="微软雅黑" panose="020B0503020204020204" pitchFamily="34" charset="-122"/>
                <a:ea typeface="微软雅黑" panose="020B0503020204020204" pitchFamily="34" charset="-122"/>
              </a:rPr>
              <a:t>口井，</a:t>
            </a:r>
            <a:r>
              <a:rPr lang="en-US" altLang="zh-CN" sz="1600" dirty="0">
                <a:solidFill>
                  <a:srgbClr val="FF0000"/>
                </a:solidFill>
                <a:latin typeface="微软雅黑" panose="020B0503020204020204" pitchFamily="34" charset="-122"/>
                <a:ea typeface="微软雅黑" panose="020B0503020204020204" pitchFamily="34" charset="-122"/>
              </a:rPr>
              <a:t>573</a:t>
            </a:r>
            <a:r>
              <a:rPr lang="zh-CN" altLang="en-US" sz="1600" dirty="0">
                <a:solidFill>
                  <a:srgbClr val="FF0000"/>
                </a:solidFill>
                <a:latin typeface="微软雅黑" panose="020B0503020204020204" pitchFamily="34" charset="-122"/>
                <a:ea typeface="微软雅黑" panose="020B0503020204020204" pitchFamily="34" charset="-122"/>
              </a:rPr>
              <a:t>段</a:t>
            </a:r>
            <a:r>
              <a:rPr lang="zh-CN" altLang="en-US" sz="1600" dirty="0">
                <a:solidFill>
                  <a:prstClr val="black"/>
                </a:solidFill>
                <a:latin typeface="微软雅黑" panose="020B0503020204020204" pitchFamily="34" charset="-122"/>
                <a:ea typeface="微软雅黑" panose="020B0503020204020204" pitchFamily="34" charset="-122"/>
              </a:rPr>
              <a:t>压裂数据开展研究分析</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基于压裂设计、施工秒点、</a:t>
            </a:r>
            <a:r>
              <a:rPr lang="zh-CN" altLang="en-US" sz="1600" dirty="0">
                <a:solidFill>
                  <a:prstClr val="black"/>
                </a:solidFill>
                <a:latin typeface="微软雅黑" panose="020B0503020204020204" pitchFamily="34" charset="-122"/>
                <a:ea typeface="微软雅黑" panose="020B0503020204020204" pitchFamily="34" charset="-122"/>
                <a:sym typeface="+mn-ea"/>
              </a:rPr>
              <a:t>施工参数表等资料</a:t>
            </a:r>
            <a:r>
              <a:rPr lang="zh-CN" altLang="en-US" sz="1600" dirty="0">
                <a:solidFill>
                  <a:prstClr val="black"/>
                </a:solidFill>
                <a:latin typeface="微软雅黑" panose="020B0503020204020204" pitchFamily="34" charset="-122"/>
                <a:ea typeface="微软雅黑" panose="020B0503020204020204" pitchFamily="34" charset="-122"/>
              </a:rPr>
              <a:t>，明确了</a:t>
            </a:r>
            <a:r>
              <a:rPr lang="en-US" altLang="zh-CN" sz="1600" dirty="0">
                <a:solidFill>
                  <a:srgbClr val="FF0000"/>
                </a:solidFill>
                <a:latin typeface="微软雅黑" panose="020B0503020204020204" pitchFamily="34" charset="-122"/>
                <a:ea typeface="微软雅黑" panose="020B0503020204020204" pitchFamily="34" charset="-122"/>
              </a:rPr>
              <a:t>G</a:t>
            </a:r>
            <a:r>
              <a:rPr lang="zh-CN" altLang="en-US" sz="1600" dirty="0">
                <a:solidFill>
                  <a:srgbClr val="FF0000"/>
                </a:solidFill>
                <a:latin typeface="微软雅黑" panose="020B0503020204020204" pitchFamily="34" charset="-122"/>
                <a:ea typeface="微软雅黑" panose="020B0503020204020204" pitchFamily="34" charset="-122"/>
              </a:rPr>
              <a:t>函数、小波变换、水击、施工规模</a:t>
            </a:r>
            <a:r>
              <a:rPr lang="zh-CN" altLang="en-US" sz="1600" dirty="0">
                <a:solidFill>
                  <a:prstClr val="black"/>
                </a:solidFill>
                <a:latin typeface="微软雅黑" panose="020B0503020204020204" pitchFamily="34" charset="-122"/>
                <a:ea typeface="微软雅黑" panose="020B0503020204020204" pitchFamily="34" charset="-122"/>
              </a:rPr>
              <a:t>等指标与</a:t>
            </a:r>
            <a:r>
              <a:rPr lang="zh-CN" altLang="en-US" sz="1600" dirty="0">
                <a:solidFill>
                  <a:srgbClr val="FF0000"/>
                </a:solidFill>
                <a:latin typeface="微软雅黑" panose="020B0503020204020204" pitchFamily="34" charset="-122"/>
                <a:ea typeface="微软雅黑" panose="020B0503020204020204" pitchFamily="34" charset="-122"/>
              </a:rPr>
              <a:t>改造效果</a:t>
            </a:r>
            <a:r>
              <a:rPr lang="zh-CN" altLang="en-US" sz="1600" dirty="0">
                <a:solidFill>
                  <a:prstClr val="black"/>
                </a:solidFill>
                <a:latin typeface="微软雅黑" panose="020B0503020204020204" pitchFamily="34" charset="-122"/>
                <a:ea typeface="微软雅黑" panose="020B0503020204020204" pitchFamily="34" charset="-122"/>
              </a:rPr>
              <a:t>的关联规律</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gn="just">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构建了包含</a:t>
            </a:r>
            <a:r>
              <a:rPr lang="en-US" altLang="zh-CN" sz="1600" dirty="0">
                <a:solidFill>
                  <a:srgbClr val="FF0000"/>
                </a:solidFill>
                <a:latin typeface="微软雅黑" panose="020B0503020204020204" pitchFamily="34" charset="-122"/>
                <a:ea typeface="微软雅黑" panose="020B0503020204020204" pitchFamily="34" charset="-122"/>
              </a:rPr>
              <a:t>9</a:t>
            </a:r>
            <a:r>
              <a:rPr lang="zh-CN" altLang="en-US" sz="1600" dirty="0">
                <a:solidFill>
                  <a:prstClr val="black"/>
                </a:solidFill>
                <a:latin typeface="微软雅黑" panose="020B0503020204020204" pitchFamily="34" charset="-122"/>
                <a:ea typeface="微软雅黑" panose="020B0503020204020204" pitchFamily="34" charset="-122"/>
              </a:rPr>
              <a:t>项技术指标的</a:t>
            </a:r>
            <a:r>
              <a:rPr lang="zh-CN" altLang="en-US" sz="1600" dirty="0">
                <a:solidFill>
                  <a:srgbClr val="FF0000"/>
                </a:solidFill>
                <a:latin typeface="微软雅黑" panose="020B0503020204020204" pitchFamily="34" charset="-122"/>
                <a:ea typeface="微软雅黑" panose="020B0503020204020204" pitchFamily="34" charset="-122"/>
              </a:rPr>
              <a:t>三维两级评价体系</a:t>
            </a:r>
            <a:r>
              <a:rPr lang="zh-CN" altLang="en-US" sz="1600" dirty="0">
                <a:solidFill>
                  <a:prstClr val="black"/>
                </a:solidFill>
                <a:latin typeface="微软雅黑" panose="020B0503020204020204" pitchFamily="34" charset="-122"/>
                <a:ea typeface="微软雅黑" panose="020B0503020204020204" pitchFamily="34" charset="-122"/>
              </a:rPr>
              <a:t>，并开展权重量化处理，形成了</a:t>
            </a:r>
            <a:r>
              <a:rPr lang="zh-CN" altLang="en-US" sz="1600" dirty="0">
                <a:solidFill>
                  <a:srgbClr val="FF0000"/>
                </a:solidFill>
                <a:latin typeface="微软雅黑" panose="020B0503020204020204" pitchFamily="34" charset="-122"/>
                <a:ea typeface="微软雅黑" panose="020B0503020204020204" pitchFamily="34" charset="-122"/>
              </a:rPr>
              <a:t>压裂改造效果综合评估方法</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二、完成的主要工作量</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5" name="表格 4"/>
          <p:cNvGraphicFramePr/>
          <p:nvPr>
            <p:custDataLst>
              <p:tags r:id="rId1"/>
            </p:custDataLst>
          </p:nvPr>
        </p:nvGraphicFramePr>
        <p:xfrm>
          <a:off x="353060" y="2115820"/>
          <a:ext cx="11450320" cy="4469765"/>
        </p:xfrm>
        <a:graphic>
          <a:graphicData uri="http://schemas.openxmlformats.org/drawingml/2006/table">
            <a:tbl>
              <a:tblPr firstRow="1">
                <a:tableStyleId>{C25CCF9B-3BEF-4FDE-95DA-B136F59D0E50}</a:tableStyleId>
              </a:tblPr>
              <a:tblGrid>
                <a:gridCol w="708660"/>
                <a:gridCol w="709295"/>
                <a:gridCol w="708025"/>
                <a:gridCol w="1305560"/>
                <a:gridCol w="1604645"/>
                <a:gridCol w="1901190"/>
                <a:gridCol w="1604010"/>
                <a:gridCol w="1304925"/>
                <a:gridCol w="1604010"/>
              </a:tblGrid>
              <a:tr h="271145">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井区</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平台</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井号</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压裂设计</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压裂施工秒点</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微地震详细数据</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微地震小结</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压后总结</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lstStyle/>
                    <a:p>
                      <a:pPr algn="ctr" fontAlgn="ctr">
                        <a:lnSpc>
                          <a:spcPct val="120000"/>
                        </a:lnSpc>
                      </a:pPr>
                      <a:r>
                        <a:rPr lang="zh-CN" altLang="en-US" sz="900" spc="60" dirty="0">
                          <a:solidFill>
                            <a:schemeClr val="bg1"/>
                          </a:solidFill>
                          <a:latin typeface="微软雅黑" panose="020B0503020204020204" pitchFamily="34" charset="-122"/>
                          <a:ea typeface="微软雅黑" panose="020B0503020204020204" pitchFamily="34" charset="-122"/>
                        </a:rPr>
                        <a:t>施工参数表</a:t>
                      </a:r>
                      <a:endParaRPr lang="zh-CN" altLang="en-US" sz="900" spc="60" dirty="0">
                        <a:solidFill>
                          <a:schemeClr val="bg1"/>
                        </a:solidFill>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r>
              <a:tr h="182245">
                <a:tc rowSpan="10">
                  <a:txBody>
                    <a:bodyPr/>
                    <a:lstStyle/>
                    <a:p>
                      <a:pPr algn="ctr" fontAlgn="ctr">
                        <a:lnSpc>
                          <a:spcPct val="120000"/>
                        </a:lnSpc>
                      </a:pPr>
                      <a:r>
                        <a:rPr lang="zh-CN" altLang="en-US" sz="9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900">
                          <a:latin typeface="微软雅黑" panose="020B0503020204020204" pitchFamily="34" charset="-122"/>
                          <a:ea typeface="微软雅黑" panose="020B0503020204020204" pitchFamily="34" charset="-122"/>
                          <a:cs typeface="微软雅黑" panose="020B0503020204020204" pitchFamily="34" charset="-122"/>
                        </a:rPr>
                        <a:t>203</a:t>
                      </a:r>
                      <a:endParaRPr lang="en-US" altLang="zh-CN" sz="9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rowSpan="6">
                  <a:txBody>
                    <a:bodyPr/>
                    <a:lstStyle/>
                    <a:p>
                      <a:pPr algn="ctr" fontAlgn="ctr">
                        <a:lnSpc>
                          <a:spcPct val="120000"/>
                        </a:lnSpc>
                      </a:pPr>
                      <a:r>
                        <a:rPr lang="en-US" altLang="zh-CN" sz="900" dirty="0">
                          <a:latin typeface="微软雅黑" panose="020B0503020204020204" pitchFamily="34" charset="-122"/>
                          <a:ea typeface="微软雅黑" panose="020B0503020204020204" pitchFamily="34" charset="-122"/>
                        </a:rPr>
                        <a:t>H10</a:t>
                      </a:r>
                      <a:endParaRPr lang="en-US" altLang="zh-CN" sz="900" dirty="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1</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2</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3</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4</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5</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6</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rowSpan="4">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H123</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1</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2</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3</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4</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rowSpan="7">
                  <a:txBody>
                    <a:bodyPr/>
                    <a:lstStyle/>
                    <a:p>
                      <a:pPr algn="ctr" fontAlgn="ctr">
                        <a:lnSpc>
                          <a:spcPct val="120000"/>
                        </a:lnSpc>
                      </a:pPr>
                      <a:r>
                        <a:rPr lang="zh-CN" altLang="en-US" sz="9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900">
                          <a:latin typeface="微软雅黑" panose="020B0503020204020204" pitchFamily="34" charset="-122"/>
                          <a:ea typeface="微软雅黑" panose="020B0503020204020204" pitchFamily="34" charset="-122"/>
                          <a:cs typeface="微软雅黑" panose="020B0503020204020204" pitchFamily="34" charset="-122"/>
                        </a:rPr>
                        <a:t>206</a:t>
                      </a:r>
                      <a:endParaRPr lang="en-US" altLang="zh-CN" sz="9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rowSpan="4">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H7</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1</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2</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4</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5</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rowSpan="3">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H8</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6</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7</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8</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rowSpan="6">
                  <a:txBody>
                    <a:bodyPr/>
                    <a:lstStyle/>
                    <a:p>
                      <a:pPr algn="ctr" fontAlgn="ctr">
                        <a:lnSpc>
                          <a:spcPct val="120000"/>
                        </a:lnSpc>
                      </a:pPr>
                      <a:r>
                        <a:rPr lang="zh-CN" altLang="en-US" sz="900">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900">
                          <a:latin typeface="微软雅黑" panose="020B0503020204020204" pitchFamily="34" charset="-122"/>
                          <a:ea typeface="微软雅黑" panose="020B0503020204020204" pitchFamily="34" charset="-122"/>
                          <a:cs typeface="微软雅黑" panose="020B0503020204020204" pitchFamily="34" charset="-122"/>
                        </a:rPr>
                        <a:t>201</a:t>
                      </a:r>
                      <a:endParaRPr lang="en-US" altLang="zh-CN" sz="900">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rowSpan="6">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H21</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1</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2</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3</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endParaRPr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4</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880">
                <a:tc vMerge="1">
                  <a:tcPr>
                    <a:lnL w="12700" cmpd="sng">
                      <a:solidFill>
                        <a:schemeClr val="tx1"/>
                      </a:solidFill>
                      <a:prstDash val="solid"/>
                    </a:lnL>
                    <a:lnR w="12700" cmpd="sng">
                      <a:solidFill>
                        <a:schemeClr val="tx1"/>
                      </a:solidFill>
                      <a:prstDash val="solid"/>
                    </a:lnR>
                  </a:tcPr>
                </a:tc>
                <a:tc vMerge="1">
                  <a:tcPr>
                    <a:lnL w="12700" cmpd="sng">
                      <a:solidFill>
                        <a:schemeClr val="tx1"/>
                      </a:solidFill>
                      <a:prstDash val="solid"/>
                    </a:lnL>
                    <a:lnR w="12700" cmpd="sng">
                      <a:solidFill>
                        <a:schemeClr val="tx1"/>
                      </a:solidFill>
                      <a:prstDash val="solid"/>
                    </a:lnR>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5</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82245">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6</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a:latin typeface="微软雅黑" panose="020B0503020204020204" pitchFamily="34" charset="-122"/>
                          <a:ea typeface="微软雅黑" panose="020B0503020204020204" pitchFamily="34" charset="-122"/>
                        </a:rPr>
                        <a:t>√</a:t>
                      </a:r>
                      <a:endParaRPr lang="en-US" altLang="zh-CN" sz="90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lnSpc>
                          <a:spcPct val="120000"/>
                        </a:lnSpc>
                      </a:pPr>
                      <a:r>
                        <a:rPr lang="en-US" altLang="zh-CN" sz="900" dirty="0">
                          <a:latin typeface="微软雅黑" panose="020B0503020204020204" pitchFamily="34" charset="-122"/>
                          <a:ea typeface="微软雅黑" panose="020B0503020204020204" pitchFamily="34" charset="-122"/>
                        </a:rPr>
                        <a:t>√</a:t>
                      </a:r>
                      <a:endParaRPr lang="en-US" altLang="zh-CN" sz="900" dirty="0">
                        <a:latin typeface="微软雅黑" panose="020B0503020204020204" pitchFamily="34" charset="-122"/>
                        <a:ea typeface="微软雅黑" panose="020B0503020204020204" pitchFamily="34" charset="-122"/>
                      </a:endParaRPr>
                    </a:p>
                  </a:txBody>
                  <a:tcPr marL="25400" marR="25400" marT="6350" marB="63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098" name="Text Box 6"/>
          <p:cNvSpPr txBox="1"/>
          <p:nvPr/>
        </p:nvSpPr>
        <p:spPr>
          <a:xfrm>
            <a:off x="1187133" y="788035"/>
            <a:ext cx="10226675" cy="5678805"/>
          </a:xfrm>
          <a:prstGeom prst="rect">
            <a:avLst/>
          </a:prstGeom>
          <a:noFill/>
          <a:ln w="9525">
            <a:noFill/>
          </a:ln>
          <a:effectLst>
            <a:prstShdw prst="shdw17" dist="17961" dir="13499999">
              <a:srgbClr val="708688"/>
            </a:prstShdw>
          </a:effectLst>
        </p:spPr>
        <p:txBody>
          <a:bodyPr tIns="254400" bIns="254400" anchor="ctr" anchorCtr="1">
            <a:spAutoFit/>
          </a:bodyPr>
          <a:lstStyle/>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一、项目概要</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二、阶段任务完成情况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三、取得的阶段成果及应用情况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四、经费管理及使用情况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五、项目组织管理</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六、存在问题、解决措施及建议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七、下步工作安排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02055" y="2106930"/>
            <a:ext cx="9787255" cy="3192780"/>
            <a:chOff x="654367" y="2051504"/>
            <a:chExt cx="10770869" cy="4051435"/>
          </a:xfrm>
        </p:grpSpPr>
        <p:grpSp>
          <p:nvGrpSpPr>
            <p:cNvPr id="3" name="组合 2"/>
            <p:cNvGrpSpPr/>
            <p:nvPr/>
          </p:nvGrpSpPr>
          <p:grpSpPr>
            <a:xfrm>
              <a:off x="654367" y="2051504"/>
              <a:ext cx="2617469" cy="974408"/>
              <a:chOff x="654367" y="2051504"/>
              <a:chExt cx="2617469" cy="974408"/>
            </a:xfrm>
          </p:grpSpPr>
          <p:cxnSp>
            <p:nvCxnSpPr>
              <p:cNvPr id="4" name="直接连接符 3"/>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4" name="半闭框 13"/>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nvGrpSpPr>
            <p:cNvPr id="15" name="组合 14"/>
            <p:cNvGrpSpPr/>
            <p:nvPr/>
          </p:nvGrpSpPr>
          <p:grpSpPr>
            <a:xfrm rot="10800000">
              <a:off x="8807767" y="5128531"/>
              <a:ext cx="2617469" cy="974408"/>
              <a:chOff x="654367" y="2051504"/>
              <a:chExt cx="2617469" cy="974408"/>
            </a:xfrm>
          </p:grpSpPr>
          <p:cxnSp>
            <p:nvCxnSpPr>
              <p:cNvPr id="16" name="直接连接符 15"/>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7" name="半闭框 16"/>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8" name="矩形 17"/>
          <p:cNvSpPr/>
          <p:nvPr/>
        </p:nvSpPr>
        <p:spPr>
          <a:xfrm>
            <a:off x="1" y="932838"/>
            <a:ext cx="12191999" cy="744220"/>
          </a:xfrm>
          <a:prstGeom prst="rect">
            <a:avLst/>
          </a:prstGeom>
          <a:noFill/>
          <a:ln>
            <a:noFill/>
          </a:ln>
        </p:spPr>
        <p:txBody>
          <a:bodyPr wrap="square" lIns="68568" tIns="34284" rIns="6856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400" noProof="0" dirty="0">
                <a:ln>
                  <a:noFill/>
                </a:ln>
                <a:solidFill>
                  <a:srgbClr val="000000"/>
                </a:solidFill>
                <a:effectLst/>
                <a:uLnTx/>
                <a:uFillTx/>
                <a:latin typeface="方正大黑简体" panose="02000000000000000000" pitchFamily="65" charset="-122"/>
                <a:ea typeface="方正大黑简体" panose="02000000000000000000" pitchFamily="65" charset="-122"/>
                <a:sym typeface="+mn-ea"/>
              </a:rPr>
              <a:t>取得</a:t>
            </a:r>
            <a:r>
              <a:rPr lang="zh-CN" altLang="en-US" sz="4400" dirty="0">
                <a:solidFill>
                  <a:srgbClr val="FF0000"/>
                </a:solidFill>
                <a:latin typeface="方正大黑简体" panose="02000000000000000000" pitchFamily="65" charset="-122"/>
                <a:ea typeface="方正大黑简体" panose="02000000000000000000" pitchFamily="65" charset="-122"/>
                <a:sym typeface="+mn-ea"/>
              </a:rPr>
              <a:t>四</a:t>
            </a:r>
            <a:r>
              <a:rPr lang="zh-CN" altLang="en-US" sz="4400" noProof="0" dirty="0">
                <a:ln>
                  <a:noFill/>
                </a:ln>
                <a:solidFill>
                  <a:srgbClr val="000000"/>
                </a:solidFill>
                <a:effectLst/>
                <a:uLnTx/>
                <a:uFillTx/>
                <a:latin typeface="方正大黑简体" panose="02000000000000000000" pitchFamily="65" charset="-122"/>
                <a:ea typeface="方正大黑简体" panose="02000000000000000000" pitchFamily="65" charset="-122"/>
                <a:sym typeface="+mn-ea"/>
              </a:rPr>
              <a:t>项主要成果</a:t>
            </a:r>
            <a:endParaRPr kumimoji="0" lang="zh-CN" altLang="en-US" sz="36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p:txBody>
      </p:sp>
      <p:sp>
        <p:nvSpPr>
          <p:cNvPr id="19" name="Text Box 6"/>
          <p:cNvSpPr txBox="1">
            <a:spLocks noChangeArrowheads="1"/>
          </p:cNvSpPr>
          <p:nvPr/>
        </p:nvSpPr>
        <p:spPr bwMode="auto">
          <a:xfrm>
            <a:off x="1336675" y="2025650"/>
            <a:ext cx="9505950" cy="3117850"/>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成果一、开展压裂效果评价技术对比研究，确立多技术融合的综合评价技术体系框架</a:t>
            </a:r>
            <a:endParaRPr lang="zh-CN" altLang="en-US" noProof="0" dirty="0">
              <a:ln>
                <a:noFill/>
              </a:ln>
              <a:solidFill>
                <a:srgbClr val="FF0000"/>
              </a:solidFill>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成果二、建立“三维两级”综合评价体系，完成自研评价算法落地与9项技术指标集成</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成果三、建立”AHP—熵权法—相关性优化”权重修正体系，形成综合评分标准化计算流程</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成果四、依托泸</a:t>
            </a:r>
            <a:r>
              <a:rPr lang="en-US" altLang="zh-CN" noProof="0" dirty="0">
                <a:ln>
                  <a:noFill/>
                </a:ln>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effectLst/>
                <a:uLnTx/>
                <a:uFillTx/>
                <a:latin typeface="微软雅黑" panose="020B0503020204020204" pitchFamily="34" charset="-122"/>
                <a:ea typeface="微软雅黑" panose="020B0503020204020204" pitchFamily="34" charset="-122"/>
                <a:sym typeface="+mn-ea"/>
              </a:rPr>
              <a:t>H10</a:t>
            </a:r>
            <a:r>
              <a:rPr lang="zh-CN" altLang="en-US" noProof="0" dirty="0">
                <a:ln>
                  <a:noFill/>
                </a:ln>
                <a:effectLst/>
                <a:uLnTx/>
                <a:uFillTx/>
                <a:latin typeface="微软雅黑" panose="020B0503020204020204" pitchFamily="34" charset="-122"/>
                <a:ea typeface="微软雅黑" panose="020B0503020204020204" pitchFamily="34" charset="-122"/>
                <a:sym typeface="+mn-ea"/>
              </a:rPr>
              <a:t>、</a:t>
            </a:r>
            <a:r>
              <a:rPr lang="en-US" altLang="zh-CN" noProof="0" dirty="0">
                <a:ln>
                  <a:noFill/>
                </a:ln>
                <a:effectLst/>
                <a:uLnTx/>
                <a:uFillTx/>
                <a:latin typeface="微软雅黑" panose="020B0503020204020204" pitchFamily="34" charset="-122"/>
                <a:ea typeface="微软雅黑" panose="020B0503020204020204" pitchFamily="34" charset="-122"/>
                <a:sym typeface="+mn-ea"/>
              </a:rPr>
              <a:t>H123</a:t>
            </a:r>
            <a:r>
              <a:rPr lang="zh-CN" altLang="en-US" noProof="0" dirty="0">
                <a:ln>
                  <a:noFill/>
                </a:ln>
                <a:effectLst/>
                <a:uLnTx/>
                <a:uFillTx/>
                <a:latin typeface="微软雅黑" panose="020B0503020204020204" pitchFamily="34" charset="-122"/>
                <a:ea typeface="微软雅黑" panose="020B0503020204020204" pitchFamily="34" charset="-122"/>
                <a:sym typeface="+mn-ea"/>
              </a:rPr>
              <a:t>平台系统统计数据，开展评估方法验证与案例分析</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3912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、系统调研对比国内外压裂效果评价技术，明确多技术融合</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的综合评估方法研究路径</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成果一、开展压裂效果评价技术对比研究，确立多技术融合的综合评价技术体系框架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调研</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微地震、光纤、广域电磁、</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Notle-Smith</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MRP</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等</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主流</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压裂效果评价方法，从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技术成熟度、优缺点</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等方面展开对比</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微地震、光纤等监测手段</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成本高昂，规模化推广受限</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；Nolte-Smith等传统方法对</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裂缝形态和改造体积表征能力有限</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结合</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小波变换、</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函数分析、水击诊断、施工参数统计</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等低成本方法，</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构建</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兼顾经济性与准确性的压裂效果综合评估</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方法</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国内外主流压裂效果评价技术调研</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表格 2"/>
          <p:cNvGraphicFramePr/>
          <p:nvPr/>
        </p:nvGraphicFramePr>
        <p:xfrm>
          <a:off x="334645" y="2573020"/>
          <a:ext cx="11486515" cy="3464560"/>
        </p:xfrm>
        <a:graphic>
          <a:graphicData uri="http://schemas.openxmlformats.org/drawingml/2006/table">
            <a:tbl>
              <a:tblPr/>
              <a:tblGrid>
                <a:gridCol w="1551305"/>
                <a:gridCol w="1024890"/>
                <a:gridCol w="612775"/>
                <a:gridCol w="2914015"/>
                <a:gridCol w="2772410"/>
                <a:gridCol w="2611120"/>
              </a:tblGrid>
              <a:tr h="433070">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方法</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技术成熟度</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成本</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诊断目标</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优点</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缺点</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4330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微地震监测</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高</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裂缝展布、缝高缝长、复杂度</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可较直观刻画裂缝空间形态</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成本高，解释受模型与噪声影响大</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330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分布式光纤监测</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高</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流体进入位置、簇间动用、井筒响应</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连续监测、分辨率高、实时性较好</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主要反映井筒附近，远场表征有限</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330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广域电磁监测</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较高</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流体波及范围、电性变化、运移特征</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监测范围较大，对流体敏感</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分辨率有限，反演多解性较强</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3307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Nolte-Smith</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分析</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低</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裂缝延伸、滤失行为、净压力特征</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理论成熟、数据易得、实施简便</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对复杂裂缝网络表征不足</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3307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函数分析</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低</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闭合压力、滤失机理、停泵响应</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成本低，可有效补充压力分析</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依赖数据质量，空间刻画能力弱</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330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水击分析</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低</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裂缝连通性、进液位置、压后动态响应</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获取方便、测试成本低、可重复开展</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机理较复杂，解释标准不统一</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330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小波分析</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低</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信号特征提取、异常识别、效果评价</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可挖掘压裂施工信号中隐含时频域特征</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计算消耗较大，工程应用验证较少</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39126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、建立压裂效果评价关键参数数据集，支撑压裂效果综合</a:t>
            </a:r>
            <a:r>
              <a:rPr lang="zh-CN" altLang="en-US">
                <a:solidFill>
                  <a:prstClr val="black"/>
                </a:solidFill>
                <a:latin typeface="微软雅黑" panose="020B0503020204020204" pitchFamily="34" charset="-122"/>
                <a:ea typeface="微软雅黑" panose="020B0503020204020204" pitchFamily="34" charset="-122"/>
                <a:sym typeface="+mn-ea"/>
              </a:rPr>
              <a:t>评估</a:t>
            </a:r>
            <a:r>
              <a:rPr lang="zh-CN" altLang="en-US" noProof="0">
                <a:ln>
                  <a:noFill/>
                </a:ln>
                <a:solidFill>
                  <a:prstClr val="black"/>
                </a:solidFill>
                <a:effectLst/>
                <a:uLnTx/>
                <a:uFillTx/>
                <a:latin typeface="微软雅黑" panose="020B0503020204020204" pitchFamily="34" charset="-122"/>
                <a:ea typeface="微软雅黑" panose="020B0503020204020204" pitchFamily="34" charset="-122"/>
                <a:sym typeface="+mn-ea"/>
              </a:rPr>
              <a:t>方法</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研究</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成果一、开展压裂效果评价技术对比研究，确立多技术融合的综合评价技术体系框架</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整合</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试油设计、压裂设计、施工参数表、微地震监测</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等多源数据，构建</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平台级</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井级</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段级</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三层次统计大表</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围绕压裂效果评价需求，纳入</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地质条件、完井参数、施工参数、评价技术得分及产量等</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关键分析参数</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研究数据集涵盖</a:t>
            </a:r>
            <a:r>
              <a:rPr lang="zh-CN" altLang="en-US" sz="1600" dirty="0">
                <a:solidFill>
                  <a:srgbClr val="FF0000"/>
                </a:solidFill>
                <a:latin typeface="微软雅黑" panose="020B0503020204020204" pitchFamily="34" charset="-122"/>
                <a:ea typeface="微软雅黑" panose="020B0503020204020204" pitchFamily="34" charset="-122"/>
                <a:sym typeface="+mn-ea"/>
              </a:rPr>
              <a:t>川南页岩区块</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多个井区和平台</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，样本数量充足，为综合评估方法的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可靠建模和稳定应用</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提供了有力支撑</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82550" y="6074410"/>
            <a:ext cx="1203833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压裂效果综合评估方法数据体系框架</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 name="图片 4" descr="PPT页1_数据集构建"/>
          <p:cNvPicPr>
            <a:picLocks noChangeAspect="1"/>
          </p:cNvPicPr>
          <p:nvPr/>
        </p:nvPicPr>
        <p:blipFill>
          <a:blip r:embed="rId2"/>
          <a:srcRect l="1886" t="12998" r="1527" b="13921"/>
          <a:stretch>
            <a:fillRect/>
          </a:stretch>
        </p:blipFill>
        <p:spPr>
          <a:xfrm>
            <a:off x="83185" y="2792095"/>
            <a:ext cx="12037695" cy="3036570"/>
          </a:xfrm>
          <a:prstGeom prst="rect">
            <a:avLst/>
          </a:prstGeom>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02055" y="2106930"/>
            <a:ext cx="9787255" cy="3192780"/>
            <a:chOff x="654367" y="2051504"/>
            <a:chExt cx="10770869" cy="4051435"/>
          </a:xfrm>
        </p:grpSpPr>
        <p:grpSp>
          <p:nvGrpSpPr>
            <p:cNvPr id="3" name="组合 2"/>
            <p:cNvGrpSpPr/>
            <p:nvPr/>
          </p:nvGrpSpPr>
          <p:grpSpPr>
            <a:xfrm>
              <a:off x="654367" y="2051504"/>
              <a:ext cx="2617469" cy="974408"/>
              <a:chOff x="654367" y="2051504"/>
              <a:chExt cx="2617469" cy="974408"/>
            </a:xfrm>
          </p:grpSpPr>
          <p:cxnSp>
            <p:nvCxnSpPr>
              <p:cNvPr id="4" name="直接连接符 3"/>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4" name="半闭框 13"/>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nvGrpSpPr>
            <p:cNvPr id="15" name="组合 14"/>
            <p:cNvGrpSpPr/>
            <p:nvPr/>
          </p:nvGrpSpPr>
          <p:grpSpPr>
            <a:xfrm rot="10800000">
              <a:off x="8807767" y="5128531"/>
              <a:ext cx="2617469" cy="974408"/>
              <a:chOff x="654367" y="2051504"/>
              <a:chExt cx="2617469" cy="974408"/>
            </a:xfrm>
          </p:grpSpPr>
          <p:cxnSp>
            <p:nvCxnSpPr>
              <p:cNvPr id="16" name="直接连接符 15"/>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7" name="半闭框 16"/>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8" name="矩形 17"/>
          <p:cNvSpPr/>
          <p:nvPr/>
        </p:nvSpPr>
        <p:spPr>
          <a:xfrm>
            <a:off x="1" y="932838"/>
            <a:ext cx="12191999" cy="744220"/>
          </a:xfrm>
          <a:prstGeom prst="rect">
            <a:avLst/>
          </a:prstGeom>
          <a:noFill/>
          <a:ln>
            <a:noFill/>
          </a:ln>
        </p:spPr>
        <p:txBody>
          <a:bodyPr wrap="square" lIns="68568" tIns="34284" rIns="6856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400" noProof="0" dirty="0">
                <a:ln>
                  <a:noFill/>
                </a:ln>
                <a:solidFill>
                  <a:srgbClr val="000000"/>
                </a:solidFill>
                <a:effectLst/>
                <a:uLnTx/>
                <a:uFillTx/>
                <a:latin typeface="方正大黑简体" panose="02000000000000000000" pitchFamily="65" charset="-122"/>
                <a:ea typeface="方正大黑简体" panose="02000000000000000000" pitchFamily="65" charset="-122"/>
                <a:sym typeface="+mn-ea"/>
              </a:rPr>
              <a:t>取得</a:t>
            </a:r>
            <a:r>
              <a:rPr lang="zh-CN" altLang="en-US" sz="4400" dirty="0">
                <a:solidFill>
                  <a:srgbClr val="FF0000"/>
                </a:solidFill>
                <a:latin typeface="方正大黑简体" panose="02000000000000000000" pitchFamily="65" charset="-122"/>
                <a:ea typeface="方正大黑简体" panose="02000000000000000000" pitchFamily="65" charset="-122"/>
                <a:sym typeface="+mn-ea"/>
              </a:rPr>
              <a:t>四</a:t>
            </a:r>
            <a:r>
              <a:rPr lang="zh-CN" altLang="en-US" sz="4400" noProof="0" dirty="0">
                <a:ln>
                  <a:noFill/>
                </a:ln>
                <a:solidFill>
                  <a:srgbClr val="000000"/>
                </a:solidFill>
                <a:effectLst/>
                <a:uLnTx/>
                <a:uFillTx/>
                <a:latin typeface="方正大黑简体" panose="02000000000000000000" pitchFamily="65" charset="-122"/>
                <a:ea typeface="方正大黑简体" panose="02000000000000000000" pitchFamily="65" charset="-122"/>
                <a:sym typeface="+mn-ea"/>
              </a:rPr>
              <a:t>项主要成果</a:t>
            </a:r>
            <a:endParaRPr kumimoji="0" lang="zh-CN" altLang="en-US" sz="36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p:txBody>
      </p:sp>
      <p:sp>
        <p:nvSpPr>
          <p:cNvPr id="19" name="Text Box 6"/>
          <p:cNvSpPr txBox="1">
            <a:spLocks noChangeArrowheads="1"/>
          </p:cNvSpPr>
          <p:nvPr/>
        </p:nvSpPr>
        <p:spPr bwMode="auto">
          <a:xfrm>
            <a:off x="1336675" y="2025650"/>
            <a:ext cx="9505950" cy="3117850"/>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成果一、开展压裂效果评价技术对比研究，确立多技术融合的综合评价技术体系框架</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成果二、建立“三维两级”综合评价体系，完成自研评价算法落地与9项技术指标集成</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成果三、建立”AHP—熵权法—相关性优化”权重修正体系，形成综合评分标准化计算流程</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成果四、依托泸203井区H10、H123平台系统统计数据，开展评估方法验证与案例分析</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39063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、基于页岩气缝网压裂机理，建立</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改造体积</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裂缝复杂度</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裂缝导流能力</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三维评价框架</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成果二、建立</a:t>
            </a:r>
            <a:r>
              <a:rPr lang="en-US" altLang="zh-CN" sz="2000" b="1" kern="0" dirty="0">
                <a:solidFill>
                  <a:srgbClr val="FF0000"/>
                </a:solidFill>
                <a:latin typeface="微软雅黑" panose="020B0503020204020204" pitchFamily="34" charset="-122"/>
                <a:ea typeface="微软雅黑" panose="020B0503020204020204" pitchFamily="34" charset="-122"/>
                <a:sym typeface="+mn-ea"/>
              </a:rPr>
              <a:t>“</a:t>
            </a:r>
            <a:r>
              <a:rPr lang="zh-CN" altLang="en-US" sz="2000" b="1" kern="0" dirty="0">
                <a:solidFill>
                  <a:srgbClr val="FF0000"/>
                </a:solidFill>
                <a:latin typeface="微软雅黑" panose="020B0503020204020204" pitchFamily="34" charset="-122"/>
                <a:ea typeface="微软雅黑" panose="020B0503020204020204" pitchFamily="34" charset="-122"/>
                <a:sym typeface="+mn-ea"/>
              </a:rPr>
              <a:t>三维两级</a:t>
            </a:r>
            <a:r>
              <a:rPr lang="en-US" altLang="zh-CN" sz="2000" b="1" kern="0" dirty="0">
                <a:solidFill>
                  <a:srgbClr val="FF0000"/>
                </a:solidFill>
                <a:latin typeface="微软雅黑" panose="020B0503020204020204" pitchFamily="34" charset="-122"/>
                <a:ea typeface="微软雅黑" panose="020B0503020204020204" pitchFamily="34" charset="-122"/>
                <a:sym typeface="+mn-ea"/>
              </a:rPr>
              <a:t>”</a:t>
            </a:r>
            <a:r>
              <a:rPr lang="zh-CN" altLang="en-US" sz="2000" b="1" kern="0" dirty="0">
                <a:solidFill>
                  <a:srgbClr val="FF0000"/>
                </a:solidFill>
                <a:latin typeface="微软雅黑" panose="020B0503020204020204" pitchFamily="34" charset="-122"/>
                <a:ea typeface="微软雅黑" panose="020B0503020204020204" pitchFamily="34" charset="-122"/>
                <a:sym typeface="+mn-ea"/>
              </a:rPr>
              <a:t>综合评价体系，完成自研评价算法落地与</a:t>
            </a:r>
            <a:r>
              <a:rPr lang="en-US" altLang="zh-CN" sz="2000" b="1" kern="0" dirty="0">
                <a:solidFill>
                  <a:srgbClr val="FF0000"/>
                </a:solidFill>
                <a:latin typeface="微软雅黑" panose="020B0503020204020204" pitchFamily="34" charset="-122"/>
                <a:ea typeface="微软雅黑" panose="020B0503020204020204" pitchFamily="34" charset="-122"/>
                <a:sym typeface="+mn-ea"/>
              </a:rPr>
              <a:t>9</a:t>
            </a:r>
            <a:r>
              <a:rPr lang="zh-CN" altLang="en-US" sz="2000" b="1" kern="0" dirty="0">
                <a:solidFill>
                  <a:srgbClr val="FF0000"/>
                </a:solidFill>
                <a:latin typeface="微软雅黑" panose="020B0503020204020204" pitchFamily="34" charset="-122"/>
                <a:ea typeface="微软雅黑" panose="020B0503020204020204" pitchFamily="34" charset="-122"/>
                <a:sym typeface="+mn-ea"/>
              </a:rPr>
              <a:t>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页岩气井压后产能受</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储层改造范围、缝网连通程度和裂缝导流能力</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共同影响，压裂效果评价应覆盖缝网改造的全过程机理</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建立</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改造体积、裂缝复杂度和裂缝导流能力</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三维评价</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框架，充分考察储层动用程度、基质供气效率和裂缝输流能力</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三维评价框架相互关联耦合、缺一不可，高度契合川南页岩区块</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深层高闭合应力、强非均质性</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的地质特征的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评价要点</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en-US" altLang="zh-CN" sz="1200" dirty="0">
                <a:solidFill>
                  <a:prstClr val="black"/>
                </a:solidFill>
                <a:latin typeface="微软雅黑" panose="020B0503020204020204" pitchFamily="34" charset="-122"/>
                <a:ea typeface="微软雅黑" panose="020B0503020204020204" pitchFamily="34" charset="-122"/>
                <a:sym typeface="+mn-ea"/>
              </a:rPr>
              <a:t>“</a:t>
            </a:r>
            <a:r>
              <a:rPr lang="zh-CN" altLang="en-US" sz="1200" dirty="0">
                <a:solidFill>
                  <a:prstClr val="black"/>
                </a:solidFill>
                <a:latin typeface="微软雅黑" panose="020B0503020204020204" pitchFamily="34" charset="-122"/>
                <a:ea typeface="微软雅黑" panose="020B0503020204020204" pitchFamily="34" charset="-122"/>
                <a:sym typeface="+mn-ea"/>
              </a:rPr>
              <a:t>改造体积</a:t>
            </a:r>
            <a:r>
              <a:rPr lang="en-US" altLang="zh-CN" sz="1200" dirty="0">
                <a:solidFill>
                  <a:prstClr val="black"/>
                </a:solidFill>
                <a:latin typeface="微软雅黑" panose="020B0503020204020204" pitchFamily="34" charset="-122"/>
                <a:ea typeface="微软雅黑" panose="020B0503020204020204" pitchFamily="34" charset="-122"/>
                <a:sym typeface="+mn-ea"/>
              </a:rPr>
              <a:t>—</a:t>
            </a:r>
            <a:r>
              <a:rPr lang="zh-CN" altLang="en-US" sz="1200" dirty="0">
                <a:solidFill>
                  <a:prstClr val="black"/>
                </a:solidFill>
                <a:latin typeface="微软雅黑" panose="020B0503020204020204" pitchFamily="34" charset="-122"/>
                <a:ea typeface="微软雅黑" panose="020B0503020204020204" pitchFamily="34" charset="-122"/>
                <a:sym typeface="+mn-ea"/>
              </a:rPr>
              <a:t>裂缝复杂度</a:t>
            </a:r>
            <a:r>
              <a:rPr lang="en-US" altLang="zh-CN" sz="1200" dirty="0">
                <a:solidFill>
                  <a:prstClr val="black"/>
                </a:solidFill>
                <a:latin typeface="微软雅黑" panose="020B0503020204020204" pitchFamily="34" charset="-122"/>
                <a:ea typeface="微软雅黑" panose="020B0503020204020204" pitchFamily="34" charset="-122"/>
                <a:sym typeface="+mn-ea"/>
              </a:rPr>
              <a:t>—</a:t>
            </a:r>
            <a:r>
              <a:rPr lang="zh-CN" altLang="en-US" sz="1200" dirty="0">
                <a:solidFill>
                  <a:prstClr val="black"/>
                </a:solidFill>
                <a:latin typeface="微软雅黑" panose="020B0503020204020204" pitchFamily="34" charset="-122"/>
                <a:ea typeface="微软雅黑" panose="020B0503020204020204" pitchFamily="34" charset="-122"/>
                <a:sym typeface="+mn-ea"/>
              </a:rPr>
              <a:t>裂缝导流能力</a:t>
            </a:r>
            <a:r>
              <a:rPr lang="en-US" altLang="zh-CN" sz="1200" dirty="0">
                <a:solidFill>
                  <a:prstClr val="black"/>
                </a:solidFill>
                <a:latin typeface="微软雅黑" panose="020B0503020204020204" pitchFamily="34" charset="-122"/>
                <a:ea typeface="微软雅黑" panose="020B0503020204020204" pitchFamily="34" charset="-122"/>
                <a:sym typeface="+mn-ea"/>
              </a:rPr>
              <a:t>”</a:t>
            </a:r>
            <a:r>
              <a:rPr lang="zh-CN" altLang="en-US" sz="1200" dirty="0">
                <a:solidFill>
                  <a:prstClr val="black"/>
                </a:solidFill>
                <a:latin typeface="微软雅黑" panose="020B0503020204020204" pitchFamily="34" charset="-122"/>
                <a:ea typeface="微软雅黑" panose="020B0503020204020204" pitchFamily="34" charset="-122"/>
                <a:sym typeface="+mn-ea"/>
              </a:rPr>
              <a:t>三维评价框架</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8" name="图片 7" descr="PPT页2_三维评价框架 (2)"/>
          <p:cNvPicPr>
            <a:picLocks noChangeAspect="1"/>
          </p:cNvPicPr>
          <p:nvPr/>
        </p:nvPicPr>
        <p:blipFill>
          <a:blip r:embed="rId2"/>
          <a:stretch>
            <a:fillRect/>
          </a:stretch>
        </p:blipFill>
        <p:spPr>
          <a:xfrm>
            <a:off x="711200" y="2555240"/>
            <a:ext cx="10545445" cy="3515360"/>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39063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9</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项技术指标数据来源与计算方法，明确评价维度二级划分方案</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93675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改造体积维度（</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函数反演</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可评估</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裂缝几何尺寸</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小波变换</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可通过时频能量积分评估</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改造能量</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水击边界指数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可通过水击波边界反射时间定位</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裂缝空间边界</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有效用液指数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可</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量化</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施工规模</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裂缝复杂度维度（</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施工曲线诊断</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可评估泵入过程</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流态特征</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停泵压降诊断</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可量化液体</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滤失通量</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水击衰减系数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可量化水击波在裂缝网络中的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能量耗散</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函数曲线量化</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可通过裂缝多次闭合</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特征识别</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裂缝参与规模</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导流能力维度（</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裂缝支撑指数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可综合砂量、砂浓度、支撑剂类型与闭合应力</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特征，评估</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长期导流潜力</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评价维度二级划分方案</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表格 2"/>
          <p:cNvGraphicFramePr/>
          <p:nvPr/>
        </p:nvGraphicFramePr>
        <p:xfrm>
          <a:off x="334645" y="3333750"/>
          <a:ext cx="11485880" cy="2737485"/>
        </p:xfrm>
        <a:graphic>
          <a:graphicData uri="http://schemas.openxmlformats.org/drawingml/2006/table">
            <a:tbl>
              <a:tblPr/>
              <a:tblGrid>
                <a:gridCol w="2871470"/>
                <a:gridCol w="2871470"/>
                <a:gridCol w="2871470"/>
                <a:gridCol w="2871470"/>
              </a:tblGrid>
              <a:tr h="288290">
                <a:tc>
                  <a:txBody>
                    <a:bodyPr/>
                    <a:lstStyle/>
                    <a:p>
                      <a:pPr marL="0" indent="0" algn="ctr">
                        <a:spcBef>
                          <a:spcPct val="0"/>
                        </a:spcBef>
                        <a:spcAft>
                          <a:spcPct val="0"/>
                        </a:spcAft>
                      </a:pPr>
                      <a:r>
                        <a:rPr lang="zh-CN" altLang="en-US" sz="1200" b="1">
                          <a:solidFill>
                            <a:schemeClr val="bg1"/>
                          </a:solidFill>
                          <a:latin typeface="微软雅黑" panose="020B0503020204020204" pitchFamily="34" charset="-122"/>
                          <a:ea typeface="微软雅黑" panose="020B0503020204020204" pitchFamily="34" charset="-122"/>
                        </a:rPr>
                        <a:t>指标名称</a:t>
                      </a:r>
                      <a:endParaRPr lang="zh-CN" altLang="en-US" sz="1200" b="1">
                        <a:solidFill>
                          <a:schemeClr val="bg1"/>
                        </a:solidFill>
                        <a:latin typeface="微软雅黑" panose="020B0503020204020204" pitchFamily="34" charset="-122"/>
                        <a:ea typeface="微软雅黑" panose="020B0503020204020204" pitchFamily="34" charset="-122"/>
                      </a:endParaRPr>
                    </a:p>
                  </a:txBody>
                  <a:tcPr marL="99377" marR="99377" marT="46037" marB="4603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2"/>
                    </a:solidFill>
                  </a:tcPr>
                </a:tc>
                <a:tc>
                  <a:txBody>
                    <a:bodyPr/>
                    <a:lstStyle/>
                    <a:p>
                      <a:pPr marL="0" indent="0" algn="ctr">
                        <a:spcBef>
                          <a:spcPct val="0"/>
                        </a:spcBef>
                        <a:spcAft>
                          <a:spcPct val="0"/>
                        </a:spcAft>
                      </a:pPr>
                      <a:r>
                        <a:rPr lang="zh-CN" altLang="en-US" sz="1200" b="1">
                          <a:solidFill>
                            <a:schemeClr val="bg1"/>
                          </a:solidFill>
                          <a:latin typeface="微软雅黑" panose="020B0503020204020204" pitchFamily="34" charset="-122"/>
                          <a:ea typeface="微软雅黑" panose="020B0503020204020204" pitchFamily="34" charset="-122"/>
                        </a:rPr>
                        <a:t>所属维度</a:t>
                      </a:r>
                      <a:endParaRPr lang="zh-CN" altLang="en-US" sz="1200" b="1">
                        <a:solidFill>
                          <a:schemeClr val="bg1"/>
                        </a:solidFill>
                        <a:latin typeface="微软雅黑" panose="020B0503020204020204" pitchFamily="34" charset="-122"/>
                        <a:ea typeface="微软雅黑" panose="020B0503020204020204" pitchFamily="34" charset="-122"/>
                      </a:endParaRPr>
                    </a:p>
                  </a:txBody>
                  <a:tcPr marL="99377" marR="99377" marT="46037" marB="4603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2"/>
                    </a:solidFill>
                  </a:tcPr>
                </a:tc>
                <a:tc>
                  <a:txBody>
                    <a:bodyPr/>
                    <a:lstStyle/>
                    <a:p>
                      <a:pPr marL="0" indent="0" algn="ctr">
                        <a:spcBef>
                          <a:spcPct val="0"/>
                        </a:spcBef>
                        <a:spcAft>
                          <a:spcPct val="0"/>
                        </a:spcAft>
                      </a:pPr>
                      <a:r>
                        <a:rPr lang="zh-CN" altLang="en-US" sz="1200" b="1">
                          <a:solidFill>
                            <a:schemeClr val="bg1"/>
                          </a:solidFill>
                          <a:latin typeface="微软雅黑" panose="020B0503020204020204" pitchFamily="34" charset="-122"/>
                          <a:ea typeface="微软雅黑" panose="020B0503020204020204" pitchFamily="34" charset="-122"/>
                        </a:rPr>
                        <a:t>物理对应量</a:t>
                      </a:r>
                      <a:endParaRPr lang="zh-CN" altLang="en-US" sz="1200" b="1">
                        <a:solidFill>
                          <a:schemeClr val="bg1"/>
                        </a:solidFill>
                        <a:latin typeface="微软雅黑" panose="020B0503020204020204" pitchFamily="34" charset="-122"/>
                        <a:ea typeface="微软雅黑" panose="020B0503020204020204" pitchFamily="34" charset="-122"/>
                      </a:endParaRPr>
                    </a:p>
                  </a:txBody>
                  <a:tcPr marL="99377" marR="99377" marT="46037" marB="4603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2"/>
                    </a:solidFill>
                  </a:tcPr>
                </a:tc>
                <a:tc>
                  <a:txBody>
                    <a:bodyPr/>
                    <a:lstStyle/>
                    <a:p>
                      <a:pPr marL="0" indent="0" algn="ctr">
                        <a:spcBef>
                          <a:spcPct val="0"/>
                        </a:spcBef>
                        <a:spcAft>
                          <a:spcPct val="0"/>
                        </a:spcAft>
                      </a:pPr>
                      <a:r>
                        <a:rPr lang="zh-CN" altLang="en-US" sz="1200" b="1">
                          <a:solidFill>
                            <a:schemeClr val="bg1"/>
                          </a:solidFill>
                          <a:latin typeface="微软雅黑" panose="020B0503020204020204" pitchFamily="34" charset="-122"/>
                          <a:ea typeface="微软雅黑" panose="020B0503020204020204" pitchFamily="34" charset="-122"/>
                        </a:rPr>
                        <a:t>数据来源</a:t>
                      </a:r>
                      <a:endParaRPr lang="zh-CN" altLang="en-US" sz="1200" b="1">
                        <a:solidFill>
                          <a:schemeClr val="bg1"/>
                        </a:solidFill>
                        <a:latin typeface="微软雅黑" panose="020B0503020204020204" pitchFamily="34" charset="-122"/>
                        <a:ea typeface="微软雅黑" panose="020B0503020204020204" pitchFamily="34" charset="-122"/>
                      </a:endParaRPr>
                    </a:p>
                  </a:txBody>
                  <a:tcPr marL="99377" marR="99377" marT="46037" marB="4603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2"/>
                    </a:solidFill>
                  </a:tcPr>
                </a:tc>
              </a:tr>
              <a:tr h="27178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G</a:t>
                      </a:r>
                      <a:r>
                        <a:rPr lang="zh-CN" altLang="en-US" sz="1200" b="0" i="0">
                          <a:solidFill>
                            <a:srgbClr val="000000"/>
                          </a:solidFill>
                          <a:latin typeface="微软雅黑" panose="020B0503020204020204" pitchFamily="34" charset="-122"/>
                          <a:ea typeface="微软雅黑" panose="020B0503020204020204" pitchFamily="34" charset="-122"/>
                        </a:rPr>
                        <a:t>函数反演得分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rowSpan="4">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改造</a:t>
                      </a:r>
                      <a:r>
                        <a:rPr lang="zh-CN" altLang="en-US" sz="1200" b="0" i="0">
                          <a:solidFill>
                            <a:srgbClr val="000000"/>
                          </a:solidFill>
                          <a:latin typeface="微软雅黑" panose="020B0503020204020204" pitchFamily="34" charset="-122"/>
                          <a:ea typeface="微软雅黑" panose="020B0503020204020204" pitchFamily="34" charset="-122"/>
                        </a:rPr>
                        <a:t>体积</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停泵信号</a:t>
                      </a: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裂缝几何体积</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停泵压力曲线</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241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小波分析得分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vMerge="1">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时频能量积分</a:t>
                      </a: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有效改造体积</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压裂施工秒点</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241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水击边界指数得分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vMerge="1">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水击波边界反射</a:t>
                      </a: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裂缝空间边界</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停泵水击信号</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178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有效用液指数得分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vMerge="1">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施工体积贡献</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施工参数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241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施工曲线诊断得分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rowSpan="4">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裂缝复杂度</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泵入过程流态特征</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压裂施工曲线</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178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停泵压降诊断得分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vMerge="1">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液体滤失通量</a:t>
                      </a: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裂缝面积</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停泵压力曲线</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241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水击衰减系数得分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vMerge="1">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水击波能量耗散</a:t>
                      </a: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裂缝分叉</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停泵水击信号</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178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G</a:t>
                      </a:r>
                      <a:r>
                        <a:rPr lang="zh-CN" altLang="en-US" sz="1200" b="0" i="0">
                          <a:solidFill>
                            <a:srgbClr val="000000"/>
                          </a:solidFill>
                          <a:latin typeface="微软雅黑" panose="020B0503020204020204" pitchFamily="34" charset="-122"/>
                          <a:ea typeface="微软雅黑" panose="020B0503020204020204" pitchFamily="34" charset="-122"/>
                        </a:rPr>
                        <a:t>函数曲线量化得分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vMerge="1">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多次闭合峰值</a:t>
                      </a: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裂缝参与规模</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停泵</a:t>
                      </a:r>
                      <a:r>
                        <a:rPr lang="en-US" altLang="zh-CN" sz="1200" b="0" i="0">
                          <a:solidFill>
                            <a:srgbClr val="000000"/>
                          </a:solidFill>
                          <a:latin typeface="微软雅黑" panose="020B0503020204020204" pitchFamily="34" charset="-122"/>
                          <a:ea typeface="微软雅黑" panose="020B0503020204020204" pitchFamily="34" charset="-122"/>
                        </a:rPr>
                        <a:t>G</a:t>
                      </a:r>
                      <a:r>
                        <a:rPr lang="zh-CN" altLang="en-US" sz="1200" b="0" i="0">
                          <a:solidFill>
                            <a:srgbClr val="000000"/>
                          </a:solidFill>
                          <a:latin typeface="微软雅黑" panose="020B0503020204020204" pitchFamily="34" charset="-122"/>
                          <a:ea typeface="微软雅黑" panose="020B0503020204020204" pitchFamily="34" charset="-122"/>
                        </a:rPr>
                        <a:t>函数曲线</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241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裂缝支撑指数得分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导流能力</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支撑剂量</a:t>
                      </a: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类型</a:t>
                      </a: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长期导流</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施工参数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3912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、自研评价算法</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连续小波变换</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研究背景</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当前</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压裂</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施工曲线研究多集中在宏观趋势，缺乏对</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曲线时频特征</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的系统挖掘，难以捕捉到改造过程中的全部细节</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离散小波</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分析在</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尺度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选择上</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受限</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，难以准确反映施工信号中瞬态能量变化和裂缝扩展的细微过程</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现有方法缺乏将曲线时频特征与裂缝扩展行为进行</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定量关联</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的体系，评价结果依赖后期产能或微地震、光纤验证</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2" name="图片 51"/>
          <p:cNvPicPr>
            <a:picLocks noChangeAspect="1"/>
          </p:cNvPicPr>
          <p:nvPr/>
        </p:nvPicPr>
        <p:blipFill>
          <a:blip r:embed="rId1"/>
          <a:stretch>
            <a:fillRect/>
          </a:stretch>
        </p:blipFill>
        <p:spPr>
          <a:xfrm>
            <a:off x="6916420" y="2842260"/>
            <a:ext cx="4465955" cy="1275080"/>
          </a:xfrm>
          <a:prstGeom prst="rect">
            <a:avLst/>
          </a:prstGeom>
          <a:ln>
            <a:noFill/>
          </a:ln>
        </p:spPr>
      </p:pic>
      <p:sp>
        <p:nvSpPr>
          <p:cNvPr id="51" name="矩形 50"/>
          <p:cNvSpPr/>
          <p:nvPr/>
        </p:nvSpPr>
        <p:spPr>
          <a:xfrm>
            <a:off x="7847330" y="2552700"/>
            <a:ext cx="2880000" cy="286385"/>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EUR</a:t>
            </a: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标定周期长</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 name="图片 2"/>
          <p:cNvPicPr>
            <a:picLocks noChangeAspect="1"/>
          </p:cNvPicPr>
          <p:nvPr/>
        </p:nvPicPr>
        <p:blipFill>
          <a:blip r:embed="rId2"/>
          <a:stretch>
            <a:fillRect/>
          </a:stretch>
        </p:blipFill>
        <p:spPr>
          <a:xfrm>
            <a:off x="7037705" y="4459605"/>
            <a:ext cx="2028825" cy="1564005"/>
          </a:xfrm>
          <a:prstGeom prst="rect">
            <a:avLst/>
          </a:prstGeom>
          <a:ln>
            <a:noFill/>
          </a:ln>
        </p:spPr>
      </p:pic>
      <p:sp>
        <p:nvSpPr>
          <p:cNvPr id="5" name="矩形 4"/>
          <p:cNvSpPr/>
          <p:nvPr/>
        </p:nvSpPr>
        <p:spPr>
          <a:xfrm>
            <a:off x="7847330" y="4125595"/>
            <a:ext cx="2880000" cy="286385"/>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微地震、光纤等技术成本高昂</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 name="图片 11"/>
          <p:cNvPicPr>
            <a:picLocks noChangeAspect="1"/>
          </p:cNvPicPr>
          <p:nvPr/>
        </p:nvPicPr>
        <p:blipFill>
          <a:blip r:embed="rId3"/>
          <a:stretch>
            <a:fillRect/>
          </a:stretch>
        </p:blipFill>
        <p:spPr>
          <a:xfrm>
            <a:off x="9117965" y="4464685"/>
            <a:ext cx="2189480" cy="1551305"/>
          </a:xfrm>
          <a:prstGeom prst="rect">
            <a:avLst/>
          </a:prstGeom>
          <a:ln>
            <a:noFill/>
          </a:ln>
        </p:spPr>
      </p:pic>
      <p:pic>
        <p:nvPicPr>
          <p:cNvPr id="41" name="图片 4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1195" y="2837180"/>
            <a:ext cx="3096260" cy="1622425"/>
          </a:xfrm>
          <a:prstGeom prst="rect">
            <a:avLst/>
          </a:prstGeom>
          <a:ln>
            <a:noFill/>
          </a:ln>
        </p:spPr>
      </p:pic>
      <p:pic>
        <p:nvPicPr>
          <p:cNvPr id="40" name="图片 39"/>
          <p:cNvPicPr>
            <a:picLocks noChangeAspect="1"/>
          </p:cNvPicPr>
          <p:nvPr/>
        </p:nvPicPr>
        <p:blipFill>
          <a:blip r:embed="rId5"/>
          <a:stretch>
            <a:fillRect/>
          </a:stretch>
        </p:blipFill>
        <p:spPr>
          <a:xfrm>
            <a:off x="671195" y="4569460"/>
            <a:ext cx="3110865" cy="1434465"/>
          </a:xfrm>
          <a:prstGeom prst="rect">
            <a:avLst/>
          </a:prstGeom>
          <a:ln>
            <a:noFill/>
          </a:ln>
        </p:spPr>
      </p:pic>
      <p:pic>
        <p:nvPicPr>
          <p:cNvPr id="23" name="图片 22"/>
          <p:cNvPicPr>
            <a:picLocks noChangeAspect="1"/>
          </p:cNvPicPr>
          <p:nvPr/>
        </p:nvPicPr>
        <p:blipFill rotWithShape="1">
          <a:blip r:embed="rId6"/>
          <a:srcRect r="4202" b="2184"/>
          <a:stretch>
            <a:fillRect/>
          </a:stretch>
        </p:blipFill>
        <p:spPr>
          <a:xfrm>
            <a:off x="3794760" y="2837180"/>
            <a:ext cx="3065780" cy="3166110"/>
          </a:xfrm>
          <a:prstGeom prst="rect">
            <a:avLst/>
          </a:prstGeom>
        </p:spPr>
      </p:pic>
      <p:sp>
        <p:nvSpPr>
          <p:cNvPr id="24" name="矩形 23"/>
          <p:cNvSpPr/>
          <p:nvPr/>
        </p:nvSpPr>
        <p:spPr>
          <a:xfrm>
            <a:off x="1417320" y="2503805"/>
            <a:ext cx="4192270" cy="286385"/>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压裂曲线分析多数只在时域尺度，且难以定量</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TextBox 23"/>
          <p:cNvSpPr>
            <a:spLocks noChangeArrowheads="1"/>
          </p:cNvSpPr>
          <p:nvPr>
            <p:custDataLst>
              <p:tags r:id="rId7"/>
            </p:custDataLst>
          </p:nvPr>
        </p:nvSpPr>
        <p:spPr bwMode="auto">
          <a:xfrm>
            <a:off x="299720" y="6074410"/>
            <a:ext cx="1153985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施工曲线分析现状及存在问题</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、自研评价算法</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连续小波变换</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研究思路</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引入</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连续小波变换</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对施工期</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压力、排量、砂浓度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信号进行多尺度分析，突破离散小波变换在时间与频率分辨率上的局限性</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连续小波时频能量分布</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，识别裂缝长度扩展、高度扩展，</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宽度扩展不足</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等关键阶段，实现</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裂缝扩展模式</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的动态识别</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建立</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连续小波特征参数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（能量强度、模式时间分布等）与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改造体积</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之间的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定量关系</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，实现压后储层改造的精细评价</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1" name="组合 10"/>
          <p:cNvGrpSpPr/>
          <p:nvPr/>
        </p:nvGrpSpPr>
        <p:grpSpPr>
          <a:xfrm>
            <a:off x="376555" y="2587625"/>
            <a:ext cx="5281239" cy="3358515"/>
            <a:chOff x="9208" y="4086"/>
            <a:chExt cx="9118" cy="5399"/>
          </a:xfrm>
        </p:grpSpPr>
        <p:pic>
          <p:nvPicPr>
            <p:cNvPr id="6" name="图片 5"/>
            <p:cNvPicPr>
              <a:picLocks noChangeAspect="1"/>
            </p:cNvPicPr>
            <p:nvPr/>
          </p:nvPicPr>
          <p:blipFill>
            <a:blip r:embed="rId1"/>
            <a:srcRect t="169" b="7630"/>
            <a:stretch>
              <a:fillRect/>
            </a:stretch>
          </p:blipFill>
          <p:spPr>
            <a:xfrm>
              <a:off x="9208" y="4086"/>
              <a:ext cx="9117" cy="5254"/>
            </a:xfrm>
            <a:prstGeom prst="rect">
              <a:avLst/>
            </a:prstGeom>
          </p:spPr>
        </p:pic>
        <p:sp>
          <p:nvSpPr>
            <p:cNvPr id="7" name="文本框 6"/>
            <p:cNvSpPr txBox="1"/>
            <p:nvPr/>
          </p:nvSpPr>
          <p:spPr>
            <a:xfrm>
              <a:off x="10415" y="4350"/>
              <a:ext cx="2556" cy="680"/>
            </a:xfrm>
            <a:prstGeom prst="rect">
              <a:avLst/>
            </a:prstGeom>
            <a:noFill/>
            <a:ln>
              <a:noFill/>
            </a:ln>
          </p:spPr>
          <p:txBody>
            <a:bodyPr wrap="square"/>
            <a:lstStyle/>
            <a:p>
              <a:pPr marL="0" indent="0" algn="ctr">
                <a:lnSpc>
                  <a:spcPct val="100000"/>
                </a:lnSpc>
                <a:buClr>
                  <a:srgbClr val="FF0000"/>
                </a:buClr>
              </a:pPr>
              <a:r>
                <a:rPr lang="zh-CN" altLang="en-US" sz="2000" b="1" dirty="0">
                  <a:solidFill>
                    <a:schemeClr val="tx1"/>
                  </a:solidFill>
                  <a:latin typeface="微软雅黑" panose="020B0503020204020204" pitchFamily="34" charset="-122"/>
                  <a:ea typeface="微软雅黑" panose="020B0503020204020204" pitchFamily="34" charset="-122"/>
                </a:rPr>
                <a:t>频域图像</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5014" y="8805"/>
              <a:ext cx="2693" cy="680"/>
            </a:xfrm>
            <a:prstGeom prst="rect">
              <a:avLst/>
            </a:prstGeom>
            <a:noFill/>
            <a:ln>
              <a:noFill/>
            </a:ln>
          </p:spPr>
          <p:txBody>
            <a:bodyPr wrap="square"/>
            <a:lstStyle/>
            <a:p>
              <a:pPr marL="0" indent="0" algn="ctr">
                <a:lnSpc>
                  <a:spcPct val="100000"/>
                </a:lnSpc>
                <a:buClr>
                  <a:srgbClr val="FF0000"/>
                </a:buClr>
              </a:pPr>
              <a:r>
                <a:rPr lang="zh-CN" altLang="en-US" sz="2000" b="1" dirty="0">
                  <a:solidFill>
                    <a:schemeClr val="tx1"/>
                  </a:solidFill>
                  <a:latin typeface="微软雅黑" panose="020B0503020204020204" pitchFamily="34" charset="-122"/>
                  <a:ea typeface="微软雅黑" panose="020B0503020204020204" pitchFamily="34" charset="-122"/>
                </a:rPr>
                <a:t>频率方向</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9809" y="8667"/>
              <a:ext cx="2606" cy="680"/>
            </a:xfrm>
            <a:prstGeom prst="rect">
              <a:avLst/>
            </a:prstGeom>
            <a:noFill/>
            <a:ln>
              <a:noFill/>
            </a:ln>
          </p:spPr>
          <p:txBody>
            <a:bodyPr wrap="square"/>
            <a:lstStyle/>
            <a:p>
              <a:pPr marL="0" indent="0" algn="ctr">
                <a:lnSpc>
                  <a:spcPct val="100000"/>
                </a:lnSpc>
                <a:buClr>
                  <a:srgbClr val="FF0000"/>
                </a:buClr>
              </a:pPr>
              <a:r>
                <a:rPr lang="zh-CN" altLang="en-US" sz="2000" b="1" dirty="0">
                  <a:solidFill>
                    <a:schemeClr val="tx1"/>
                  </a:solidFill>
                  <a:latin typeface="微软雅黑" panose="020B0503020204020204" pitchFamily="34" charset="-122"/>
                  <a:ea typeface="微软雅黑" panose="020B0503020204020204" pitchFamily="34" charset="-122"/>
                </a:rPr>
                <a:t>时间方向</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17429" y="4350"/>
              <a:ext cx="897" cy="2022"/>
            </a:xfrm>
            <a:prstGeom prst="rect">
              <a:avLst/>
            </a:prstGeom>
            <a:noFill/>
            <a:ln>
              <a:noFill/>
            </a:ln>
          </p:spPr>
          <p:txBody>
            <a:bodyPr wrap="square"/>
            <a:lstStyle/>
            <a:p>
              <a:pPr marL="0" indent="0" algn="ctr">
                <a:lnSpc>
                  <a:spcPct val="100000"/>
                </a:lnSpc>
                <a:buClr>
                  <a:srgbClr val="FF0000"/>
                </a:buClr>
              </a:pPr>
              <a:r>
                <a:rPr lang="zh-CN" altLang="en-US" sz="2000" b="1" dirty="0">
                  <a:solidFill>
                    <a:schemeClr val="tx1"/>
                  </a:solidFill>
                  <a:latin typeface="微软雅黑" panose="020B0503020204020204" pitchFamily="34" charset="-122"/>
                  <a:ea typeface="微软雅黑" panose="020B0503020204020204" pitchFamily="34" charset="-122"/>
                </a:rPr>
                <a:t>时域图像</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grpSp>
      <p:sp>
        <p:nvSpPr>
          <p:cNvPr id="12" name="TextBox 23"/>
          <p:cNvSpPr>
            <a:spLocks noChangeArrowheads="1"/>
          </p:cNvSpPr>
          <p:nvPr>
            <p:custDataLst>
              <p:tags r:id="rId2"/>
            </p:custDataLst>
          </p:nvPr>
        </p:nvSpPr>
        <p:spPr bwMode="auto">
          <a:xfrm>
            <a:off x="299720" y="6074410"/>
            <a:ext cx="591947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信号在时域和频域上的分解</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4" name="图片 13" descr="05612ce7bba63670b8a93e9a065aeb7d"/>
          <p:cNvPicPr/>
          <p:nvPr/>
        </p:nvPicPr>
        <p:blipFill>
          <a:blip r:embed="rId3"/>
          <a:stretch>
            <a:fillRect/>
          </a:stretch>
        </p:blipFill>
        <p:spPr>
          <a:xfrm>
            <a:off x="5836285" y="2498090"/>
            <a:ext cx="5580000" cy="1800000"/>
          </a:xfrm>
          <a:prstGeom prst="rect">
            <a:avLst/>
          </a:prstGeom>
        </p:spPr>
      </p:pic>
      <p:pic>
        <p:nvPicPr>
          <p:cNvPr id="17" name="图片 16" descr="21cff485bec7653e85e10b7808d82f22"/>
          <p:cNvPicPr/>
          <p:nvPr/>
        </p:nvPicPr>
        <p:blipFill>
          <a:blip r:embed="rId4"/>
          <a:stretch>
            <a:fillRect/>
          </a:stretch>
        </p:blipFill>
        <p:spPr>
          <a:xfrm>
            <a:off x="5836285" y="4220210"/>
            <a:ext cx="5580000" cy="1800000"/>
          </a:xfrm>
          <a:prstGeom prst="rect">
            <a:avLst/>
          </a:prstGeom>
        </p:spPr>
      </p:pic>
      <p:sp>
        <p:nvSpPr>
          <p:cNvPr id="18" name="TextBox 23"/>
          <p:cNvSpPr>
            <a:spLocks noChangeArrowheads="1"/>
          </p:cNvSpPr>
          <p:nvPr>
            <p:custDataLst>
              <p:tags r:id="rId5"/>
            </p:custDataLst>
          </p:nvPr>
        </p:nvSpPr>
        <p:spPr bwMode="auto">
          <a:xfrm>
            <a:off x="5836285" y="6070600"/>
            <a:ext cx="591947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连续小波变换（上）与离散小波变换（下）尺度图</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、基于水力压裂施工信号特征，构建连续小波分析模型</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针对压裂施工中存在的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停泵、间断</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等问题，识别</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曲线突变与非连续边界</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选取</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排量连续且加砂时间超过</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分钟</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的施工段，确保分析结果稳定可靠</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有效泵注时段识别与拼接</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算法，实现多段信号的独立分析与结果整合</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descr="泸203井区H10平台1井加砂压裂第2段秒点-完整数据"/>
          <p:cNvPicPr>
            <a:picLocks noChangeAspect="1"/>
          </p:cNvPicPr>
          <p:nvPr/>
        </p:nvPicPr>
        <p:blipFill>
          <a:blip r:embed="rId1"/>
          <a:stretch>
            <a:fillRect/>
          </a:stretch>
        </p:blipFill>
        <p:spPr>
          <a:xfrm>
            <a:off x="90805" y="2668270"/>
            <a:ext cx="5975985" cy="3409315"/>
          </a:xfrm>
          <a:prstGeom prst="rect">
            <a:avLst/>
          </a:prstGeom>
        </p:spPr>
      </p:pic>
      <p:pic>
        <p:nvPicPr>
          <p:cNvPr id="12" name="图片 11" descr="泸203井区H123平台1井第12段施工数据-完整数据"/>
          <p:cNvPicPr>
            <a:picLocks noChangeAspect="1"/>
          </p:cNvPicPr>
          <p:nvPr/>
        </p:nvPicPr>
        <p:blipFill>
          <a:blip r:embed="rId2"/>
          <a:stretch>
            <a:fillRect/>
          </a:stretch>
        </p:blipFill>
        <p:spPr>
          <a:xfrm>
            <a:off x="6184265" y="2668905"/>
            <a:ext cx="5975985" cy="3409950"/>
          </a:xfrm>
          <a:prstGeom prst="rect">
            <a:avLst/>
          </a:prstGeom>
        </p:spPr>
      </p:pic>
      <p:sp>
        <p:nvSpPr>
          <p:cNvPr id="305" name="TextBox 23"/>
          <p:cNvSpPr>
            <a:spLocks noChangeArrowheads="1"/>
          </p:cNvSpPr>
          <p:nvPr>
            <p:custDataLst>
              <p:tags r:id="rId3"/>
            </p:custDataLst>
          </p:nvPr>
        </p:nvSpPr>
        <p:spPr bwMode="auto">
          <a:xfrm>
            <a:off x="6184900" y="6074410"/>
            <a:ext cx="597535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H123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井第</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段</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 name="TextBox 23"/>
          <p:cNvSpPr>
            <a:spLocks noChangeArrowheads="1"/>
          </p:cNvSpPr>
          <p:nvPr>
            <p:custDataLst>
              <p:tags r:id="rId4"/>
            </p:custDataLst>
          </p:nvPr>
        </p:nvSpPr>
        <p:spPr bwMode="auto">
          <a:xfrm>
            <a:off x="91440" y="6074410"/>
            <a:ext cx="597535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井第</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段</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、基于水力压裂施工信号特征，构建连续小波分析模型</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分析</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排量与砂浓度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变化对压力响应的影响，识别造成压力曲线波动的原因</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构建</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线性残差</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算法，去除</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提排量、暂堵及阶梯加砂</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等非平稳工况影响，实现压力信号校正</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修正后的压力展示为绿色曲线，反映</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地层</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真实</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压力响应</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，为后续连续小波变换提取</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特征</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提供可靠数据</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294005" y="6074410"/>
            <a:ext cx="580136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井第</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段</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10" name="组合 9"/>
          <p:cNvGrpSpPr/>
          <p:nvPr/>
        </p:nvGrpSpPr>
        <p:grpSpPr>
          <a:xfrm>
            <a:off x="161290" y="2681605"/>
            <a:ext cx="6066790" cy="3281680"/>
            <a:chOff x="472" y="4086"/>
            <a:chExt cx="11978" cy="5480"/>
          </a:xfrm>
        </p:grpSpPr>
        <p:pic>
          <p:nvPicPr>
            <p:cNvPr id="5" name="图片 4" descr="泸203井区H10平台3井加砂压裂第8段秒点-完整数据_single_plot"/>
            <p:cNvPicPr>
              <a:picLocks noChangeAspect="1"/>
            </p:cNvPicPr>
            <p:nvPr/>
          </p:nvPicPr>
          <p:blipFill>
            <a:blip r:embed="rId2"/>
            <a:stretch>
              <a:fillRect/>
            </a:stretch>
          </p:blipFill>
          <p:spPr>
            <a:xfrm>
              <a:off x="472" y="4086"/>
              <a:ext cx="11978" cy="5481"/>
            </a:xfrm>
            <a:prstGeom prst="rect">
              <a:avLst/>
            </a:prstGeom>
          </p:spPr>
        </p:pic>
        <p:sp>
          <p:nvSpPr>
            <p:cNvPr id="3" name="矩形 2"/>
            <p:cNvSpPr/>
            <p:nvPr/>
          </p:nvSpPr>
          <p:spPr>
            <a:xfrm>
              <a:off x="4272" y="4404"/>
              <a:ext cx="509" cy="4791"/>
            </a:xfrm>
            <a:prstGeom prst="rect">
              <a:avLst/>
            </a:prstGeom>
            <a:solidFill>
              <a:schemeClr val="tx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8" name="矩形 7"/>
            <p:cNvSpPr/>
            <p:nvPr/>
          </p:nvSpPr>
          <p:spPr>
            <a:xfrm>
              <a:off x="6555" y="4404"/>
              <a:ext cx="463" cy="4791"/>
            </a:xfrm>
            <a:prstGeom prst="rect">
              <a:avLst/>
            </a:prstGeom>
            <a:solidFill>
              <a:schemeClr val="tx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9" name="矩形 8"/>
            <p:cNvSpPr/>
            <p:nvPr/>
          </p:nvSpPr>
          <p:spPr>
            <a:xfrm>
              <a:off x="7172" y="4400"/>
              <a:ext cx="432" cy="4791"/>
            </a:xfrm>
            <a:prstGeom prst="rect">
              <a:avLst/>
            </a:prstGeom>
            <a:solidFill>
              <a:schemeClr val="tx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grpSp>
      <p:sp>
        <p:nvSpPr>
          <p:cNvPr id="18" name="TextBox 23"/>
          <p:cNvSpPr>
            <a:spLocks noChangeArrowheads="1"/>
          </p:cNvSpPr>
          <p:nvPr>
            <p:custDataLst>
              <p:tags r:id="rId3"/>
            </p:custDataLst>
          </p:nvPr>
        </p:nvSpPr>
        <p:spPr bwMode="auto">
          <a:xfrm>
            <a:off x="6227445" y="6074410"/>
            <a:ext cx="576008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井第</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段</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20" name="组合 19"/>
          <p:cNvGrpSpPr/>
          <p:nvPr/>
        </p:nvGrpSpPr>
        <p:grpSpPr>
          <a:xfrm>
            <a:off x="6227445" y="2671445"/>
            <a:ext cx="5759450" cy="3291840"/>
            <a:chOff x="9807" y="4207"/>
            <a:chExt cx="9070" cy="5184"/>
          </a:xfrm>
        </p:grpSpPr>
        <p:grpSp>
          <p:nvGrpSpPr>
            <p:cNvPr id="17" name="组合 16"/>
            <p:cNvGrpSpPr/>
            <p:nvPr/>
          </p:nvGrpSpPr>
          <p:grpSpPr>
            <a:xfrm>
              <a:off x="9807" y="4207"/>
              <a:ext cx="9071" cy="5185"/>
              <a:chOff x="9698" y="4634"/>
              <a:chExt cx="9318" cy="4896"/>
            </a:xfrm>
          </p:grpSpPr>
          <p:pic>
            <p:nvPicPr>
              <p:cNvPr id="7" name="图片 6" descr="泸203井区H10平台2井加砂压裂第16段秒点-完整数据_single_plot"/>
              <p:cNvPicPr>
                <a:picLocks noChangeAspect="1"/>
              </p:cNvPicPr>
              <p:nvPr/>
            </p:nvPicPr>
            <p:blipFill>
              <a:blip r:embed="rId4"/>
              <a:stretch>
                <a:fillRect/>
              </a:stretch>
            </p:blipFill>
            <p:spPr>
              <a:xfrm>
                <a:off x="9698" y="4634"/>
                <a:ext cx="9319" cy="4896"/>
              </a:xfrm>
              <a:prstGeom prst="rect">
                <a:avLst/>
              </a:prstGeom>
            </p:spPr>
          </p:pic>
          <p:sp>
            <p:nvSpPr>
              <p:cNvPr id="15" name="矩形 14"/>
              <p:cNvSpPr/>
              <p:nvPr/>
            </p:nvSpPr>
            <p:spPr>
              <a:xfrm>
                <a:off x="11938" y="4941"/>
                <a:ext cx="284" cy="4237"/>
              </a:xfrm>
              <a:prstGeom prst="rect">
                <a:avLst/>
              </a:prstGeom>
              <a:solidFill>
                <a:schemeClr val="tx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grpSp>
        <p:sp>
          <p:nvSpPr>
            <p:cNvPr id="19" name="矩形 18"/>
            <p:cNvSpPr/>
            <p:nvPr/>
          </p:nvSpPr>
          <p:spPr>
            <a:xfrm>
              <a:off x="15891" y="4543"/>
              <a:ext cx="352" cy="4508"/>
            </a:xfrm>
            <a:prstGeom prst="rect">
              <a:avLst/>
            </a:prstGeom>
            <a:solidFill>
              <a:schemeClr val="tx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gr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、基于水力压裂施工信号特征，构建连续小波分析模型</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采用连续小波变换，将施工信号在</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时间与频率域</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展开，揭示不同频段的能量分布特征</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通过母小波与</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施工</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信号的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卷积</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运算，提取不同尺度下的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压力瞬变</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特征，并识别</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能量集中</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时刻</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计算小波系数与能量谱图，实现信号时频特征的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可视化</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裂缝扩展模式识别</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提供基础</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05" name="TextBox 23"/>
          <p:cNvSpPr>
            <a:spLocks noChangeArrowheads="1"/>
          </p:cNvSpPr>
          <p:nvPr>
            <p:custDataLst>
              <p:tags r:id="rId1"/>
            </p:custDataLst>
          </p:nvPr>
        </p:nvSpPr>
        <p:spPr bwMode="auto">
          <a:xfrm>
            <a:off x="5607685" y="6074410"/>
            <a:ext cx="621220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井第</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段连续小波变换尺度图</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TextBox 23"/>
          <p:cNvSpPr>
            <a:spLocks noChangeArrowheads="1"/>
          </p:cNvSpPr>
          <p:nvPr>
            <p:custDataLst>
              <p:tags r:id="rId2"/>
            </p:custDataLst>
          </p:nvPr>
        </p:nvSpPr>
        <p:spPr bwMode="auto">
          <a:xfrm>
            <a:off x="299720" y="6074410"/>
            <a:ext cx="522414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连续小波变换分析流程</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5" name="图片 14"/>
          <p:cNvPicPr>
            <a:picLocks noChangeAspect="1"/>
          </p:cNvPicPr>
          <p:nvPr/>
        </p:nvPicPr>
        <p:blipFill>
          <a:blip r:embed="rId3"/>
          <a:stretch>
            <a:fillRect/>
          </a:stretch>
        </p:blipFill>
        <p:spPr>
          <a:xfrm>
            <a:off x="299720" y="2599055"/>
            <a:ext cx="5224145" cy="3474720"/>
          </a:xfrm>
          <a:prstGeom prst="rect">
            <a:avLst/>
          </a:prstGeom>
        </p:spPr>
      </p:pic>
      <p:pic>
        <p:nvPicPr>
          <p:cNvPr id="5" name="图片 4" descr="泸203井区H10平台1井加砂压裂第2段秒点-完整数据_三联图"/>
          <p:cNvPicPr>
            <a:picLocks noChangeAspect="1"/>
          </p:cNvPicPr>
          <p:nvPr/>
        </p:nvPicPr>
        <p:blipFill>
          <a:blip r:embed="rId4"/>
          <a:stretch>
            <a:fillRect/>
          </a:stretch>
        </p:blipFill>
        <p:spPr>
          <a:xfrm>
            <a:off x="5607685" y="2593975"/>
            <a:ext cx="6474460" cy="3457575"/>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0777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、基于微地震动态监测结果，验证连续小波分析模型的适用性</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将连续小波分析结果与</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微地震动态监测结果</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进行对比验证，确保模型具有工程可信度</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以泸</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203</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井区</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H10</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平台</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井第</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5</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段为例，施工</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前期</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，微地震监测结果显示以</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缝高扩展</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为主，连续小波尺度图呈现</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红色条带</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施工后期，微地震监测结果显示裂缝以</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缝长扩展</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为主，连续小波尺度图呈现</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绿色条带</a:t>
            </a:r>
            <a:endPar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endParaRPr>
          </a:p>
        </p:txBody>
      </p:sp>
      <p:sp>
        <p:nvSpPr>
          <p:cNvPr id="305" name="TextBox 23"/>
          <p:cNvSpPr>
            <a:spLocks noChangeArrowheads="1"/>
          </p:cNvSpPr>
          <p:nvPr>
            <p:custDataLst>
              <p:tags r:id="rId1"/>
            </p:custDataLst>
          </p:nvPr>
        </p:nvSpPr>
        <p:spPr bwMode="auto">
          <a:xfrm>
            <a:off x="5607685" y="6074410"/>
            <a:ext cx="621220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连续小波变换分析结果</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TextBox 23"/>
          <p:cNvSpPr>
            <a:spLocks noChangeArrowheads="1"/>
          </p:cNvSpPr>
          <p:nvPr>
            <p:custDataLst>
              <p:tags r:id="rId2"/>
            </p:custDataLst>
          </p:nvPr>
        </p:nvSpPr>
        <p:spPr bwMode="auto">
          <a:xfrm>
            <a:off x="240665" y="6074410"/>
            <a:ext cx="523367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泸</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井区</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H10</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平台</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井第</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段地面微地震监测现场结果</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6" name="图片 5"/>
          <p:cNvPicPr>
            <a:picLocks noChangeAspect="1"/>
          </p:cNvPicPr>
          <p:nvPr/>
        </p:nvPicPr>
        <p:blipFill>
          <a:blip r:embed="rId3"/>
          <a:stretch>
            <a:fillRect/>
          </a:stretch>
        </p:blipFill>
        <p:spPr>
          <a:xfrm>
            <a:off x="240665" y="2634615"/>
            <a:ext cx="5233035" cy="3103245"/>
          </a:xfrm>
          <a:prstGeom prst="rect">
            <a:avLst/>
          </a:prstGeom>
          <a:ln>
            <a:solidFill>
              <a:schemeClr val="tx1"/>
            </a:solidFill>
          </a:ln>
        </p:spPr>
      </p:pic>
      <p:pic>
        <p:nvPicPr>
          <p:cNvPr id="3" name="图片 2" descr="泸203井区H10平台2井加砂压裂第5段秒点-完整数据_三联图"/>
          <p:cNvPicPr>
            <a:picLocks noChangeAspect="1"/>
          </p:cNvPicPr>
          <p:nvPr/>
        </p:nvPicPr>
        <p:blipFill>
          <a:blip r:embed="rId4"/>
          <a:stretch>
            <a:fillRect/>
          </a:stretch>
        </p:blipFill>
        <p:spPr>
          <a:xfrm>
            <a:off x="5607685" y="2621915"/>
            <a:ext cx="6229985" cy="3115945"/>
          </a:xfrm>
          <a:prstGeom prst="rect">
            <a:avLst/>
          </a:prstGeom>
        </p:spPr>
      </p:pic>
      <p:sp>
        <p:nvSpPr>
          <p:cNvPr id="5" name="矩形 4"/>
          <p:cNvSpPr/>
          <p:nvPr/>
        </p:nvSpPr>
        <p:spPr>
          <a:xfrm>
            <a:off x="1007745" y="4649470"/>
            <a:ext cx="1675130" cy="1088390"/>
          </a:xfrm>
          <a:prstGeom prst="rect">
            <a:avLst/>
          </a:prstGeom>
          <a:solidFill>
            <a:srgbClr val="C00000">
              <a:alpha val="50000"/>
            </a:srgb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8" name="矩形 7"/>
          <p:cNvSpPr/>
          <p:nvPr/>
        </p:nvSpPr>
        <p:spPr>
          <a:xfrm>
            <a:off x="4247515" y="4649470"/>
            <a:ext cx="314325" cy="1088390"/>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12" name="矩形 11"/>
          <p:cNvSpPr/>
          <p:nvPr/>
        </p:nvSpPr>
        <p:spPr>
          <a:xfrm>
            <a:off x="3249295" y="4649470"/>
            <a:ext cx="567690" cy="1088390"/>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cxnSp>
        <p:nvCxnSpPr>
          <p:cNvPr id="18" name="肘形连接符 17"/>
          <p:cNvCxnSpPr>
            <a:stCxn id="5" idx="2"/>
          </p:cNvCxnSpPr>
          <p:nvPr/>
        </p:nvCxnSpPr>
        <p:spPr>
          <a:xfrm rot="5400000" flipH="1" flipV="1">
            <a:off x="4685665" y="2743200"/>
            <a:ext cx="154305" cy="5834380"/>
          </a:xfrm>
          <a:prstGeom prst="bentConnector4">
            <a:avLst>
              <a:gd name="adj1" fmla="val -154115"/>
              <a:gd name="adj2" fmla="val 100092"/>
            </a:avLst>
          </a:prstGeom>
          <a:ln>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19" name="TextBox 23"/>
          <p:cNvSpPr>
            <a:spLocks noChangeArrowheads="1"/>
          </p:cNvSpPr>
          <p:nvPr>
            <p:custDataLst>
              <p:tags r:id="rId5"/>
            </p:custDataLst>
          </p:nvPr>
        </p:nvSpPr>
        <p:spPr bwMode="auto">
          <a:xfrm>
            <a:off x="4933315" y="5632450"/>
            <a:ext cx="204914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缝高扩展为主</a:t>
            </a:r>
            <a:endPar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21" name="直接箭头连接符 20"/>
          <p:cNvCxnSpPr>
            <a:stCxn id="8" idx="3"/>
          </p:cNvCxnSpPr>
          <p:nvPr/>
        </p:nvCxnSpPr>
        <p:spPr>
          <a:xfrm>
            <a:off x="4561840" y="5193665"/>
            <a:ext cx="5175250" cy="184150"/>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cxnSp>
        <p:nvCxnSpPr>
          <p:cNvPr id="22" name="直接箭头连接符 21"/>
          <p:cNvCxnSpPr/>
          <p:nvPr/>
        </p:nvCxnSpPr>
        <p:spPr>
          <a:xfrm>
            <a:off x="3858895" y="4780280"/>
            <a:ext cx="5368925" cy="705485"/>
          </a:xfrm>
          <a:prstGeom prst="straightConnector1">
            <a:avLst/>
          </a:prstGeom>
          <a:ln>
            <a:solidFill>
              <a:schemeClr val="tx1"/>
            </a:solidFill>
            <a:headEnd type="none" w="med" len="med"/>
            <a:tailEnd type="arrow" w="med" len="med"/>
          </a:ln>
        </p:spPr>
        <p:style>
          <a:lnRef idx="2">
            <a:schemeClr val="accent1"/>
          </a:lnRef>
          <a:fillRef idx="0">
            <a:srgbClr val="FFFFFF"/>
          </a:fillRef>
          <a:effectRef idx="0">
            <a:srgbClr val="FFFFFF"/>
          </a:effectRef>
          <a:fontRef idx="minor">
            <a:schemeClr val="tx1"/>
          </a:fontRef>
        </p:style>
      </p:cxnSp>
      <p:sp>
        <p:nvSpPr>
          <p:cNvPr id="23" name="TextBox 23"/>
          <p:cNvSpPr>
            <a:spLocks noChangeArrowheads="1"/>
          </p:cNvSpPr>
          <p:nvPr>
            <p:custDataLst>
              <p:tags r:id="rId6"/>
            </p:custDataLst>
          </p:nvPr>
        </p:nvSpPr>
        <p:spPr bwMode="auto">
          <a:xfrm>
            <a:off x="8750300" y="5737225"/>
            <a:ext cx="163766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6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缝长扩展为主</a:t>
            </a:r>
            <a:endParaRPr lang="zh-CN" altLang="en-US" sz="16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、基于连续小波尺度图特征，构建改造体积评价指标</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基于连续小波变换尺度图特征，构建包含</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时域与频域统计参数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的改造体积评价指标</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提取</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有效泵注时长、缝长与缝高扩展时长与能量</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等</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个参数，量化裂缝扩展特征与储层改造效果</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综合现场认识确定各指标权重，构建</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加权评分模型</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，实现对压裂改造体积的精细定量表征</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05" name="TextBox 23"/>
          <p:cNvSpPr>
            <a:spLocks noChangeArrowheads="1"/>
          </p:cNvSpPr>
          <p:nvPr>
            <p:custDataLst>
              <p:tags r:id="rId1"/>
            </p:custDataLst>
          </p:nvPr>
        </p:nvSpPr>
        <p:spPr bwMode="auto">
          <a:xfrm>
            <a:off x="334645" y="6074410"/>
            <a:ext cx="1148524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连续小波变换分析参数</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表格 2"/>
          <p:cNvGraphicFramePr/>
          <p:nvPr>
            <p:custDataLst>
              <p:tags r:id="rId2"/>
            </p:custDataLst>
          </p:nvPr>
        </p:nvGraphicFramePr>
        <p:xfrm>
          <a:off x="335280" y="2554605"/>
          <a:ext cx="11480165" cy="3524250"/>
        </p:xfrm>
        <a:graphic>
          <a:graphicData uri="http://schemas.openxmlformats.org/drawingml/2006/table">
            <a:tbl>
              <a:tblPr firstRow="1" bandRow="1">
                <a:tableStyleId>{5940675A-B579-460E-94D1-54222C63F5DA}</a:tableStyleId>
              </a:tblPr>
              <a:tblGrid>
                <a:gridCol w="2104390"/>
                <a:gridCol w="9375775"/>
              </a:tblGrid>
              <a:tr h="352425">
                <a:tc>
                  <a:txBody>
                    <a:bodyPr/>
                    <a:lstStyle/>
                    <a:p>
                      <a:pPr algn="ctr">
                        <a:lnSpc>
                          <a:spcPct val="120000"/>
                        </a:lnSpc>
                        <a:buNone/>
                      </a:pPr>
                      <a:r>
                        <a:rPr lang="zh-CN" altLang="en-US" sz="1200" b="1" spc="120" dirty="0">
                          <a:solidFill>
                            <a:schemeClr val="bg1"/>
                          </a:solidFill>
                          <a:latin typeface="微软雅黑" panose="020B0503020204020204" pitchFamily="34" charset="-122"/>
                          <a:ea typeface="微软雅黑" panose="020B0503020204020204" pitchFamily="34" charset="-122"/>
                        </a:rPr>
                        <a:t>参数</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0" marR="254000" marT="25400" marB="25400" anchor="ctr">
                    <a:solidFill>
                      <a:srgbClr val="FFC000"/>
                    </a:solidFill>
                  </a:tcPr>
                </a:tc>
                <a:tc>
                  <a:txBody>
                    <a:bodyPr/>
                    <a:lstStyle/>
                    <a:p>
                      <a:pPr algn="ctr">
                        <a:lnSpc>
                          <a:spcPct val="120000"/>
                        </a:lnSpc>
                        <a:buNone/>
                      </a:pPr>
                      <a:r>
                        <a:rPr lang="zh-CN" altLang="en-US" sz="1200" b="1" spc="120" dirty="0">
                          <a:solidFill>
                            <a:schemeClr val="bg1"/>
                          </a:solidFill>
                          <a:latin typeface="微软雅黑" panose="020B0503020204020204" pitchFamily="34" charset="-122"/>
                          <a:ea typeface="微软雅黑" panose="020B0503020204020204" pitchFamily="34" charset="-122"/>
                        </a:rPr>
                        <a:t>说明</a:t>
                      </a:r>
                      <a:endParaRPr lang="zh-CN" altLang="en-US" sz="1200" b="1" spc="120" dirty="0">
                        <a:solidFill>
                          <a:schemeClr val="bg1"/>
                        </a:solidFill>
                        <a:latin typeface="微软雅黑" panose="020B0503020204020204" pitchFamily="34" charset="-122"/>
                        <a:ea typeface="微软雅黑" panose="020B0503020204020204" pitchFamily="34" charset="-122"/>
                      </a:endParaRPr>
                    </a:p>
                  </a:txBody>
                  <a:tcPr marL="254000" marR="254000" marT="25400" marB="25400" anchor="ctr">
                    <a:solidFill>
                      <a:srgbClr val="FFC000"/>
                    </a:solidFill>
                  </a:tcPr>
                </a:tc>
              </a:tr>
              <a:tr h="35242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有效泵注时长</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反映有效泵注时间的总长度。有效时间越长，说明压裂持续作用时间更久，裂缝网络形成与延伸的机会更多。</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5242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有效泵入体积</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有效泵注段内的累计泵入体积，反映压裂液量。液量越大，裂缝体积与改造半径通常更大。</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5242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有效加砂量</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有效泵注段内的累计加砂量，反映支撑剂投放量。砂量越高，裂缝支撑更充分，导流能力和改造体积更大。</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5242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缝长扩展时长</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表征以</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长度扩展</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为主的时段总长度。其值越大说明裂缝在水平方向上延伸更充分，有助于提高改造体积的展布。</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r>
              <a:tr h="35242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缝长扩展能量</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衡量裂缝延伸阶段的能量响应。能量越高，代表液体在主裂缝传播上的驱动力更强，裂缝更长、更连通。</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5242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缝高扩展时长</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表征以</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高度增长</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为主的时段总长度。其值越大说明裂缝在垂向方向上有更充分的扩展，有利于纵向连通与层间改造。</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r>
              <a:tr h="35242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缝高扩展能量</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衡量裂缝向上、向下扩展阶段的能量强度。能量高表示垂向裂缝更发育，改造体积更厚。</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r>
              <a:tr h="35242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缝宽扩展受限时长</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表征以</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宽度受限</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为主的时间比例。越多说明压裂流体在狭窄缝内循环、裂缝张开受限，是不利因素。</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254000" marR="254000" marT="25400" marB="25400" anchor="ctr"/>
                </a:tc>
              </a:tr>
              <a:tr h="352425">
                <a:tc>
                  <a:txBody>
                    <a:bodyPr/>
                    <a:lstStyle/>
                    <a:p>
                      <a:pPr algn="ctr">
                        <a:lnSpc>
                          <a:spcPct val="120000"/>
                        </a:lnSpc>
                        <a:buNone/>
                      </a:pPr>
                      <a:r>
                        <a:rPr lang="zh-CN" altLang="en-US" sz="1200">
                          <a:latin typeface="微软雅黑" panose="020B0503020204020204" pitchFamily="34" charset="-122"/>
                          <a:ea typeface="微软雅黑" panose="020B0503020204020204" pitchFamily="34" charset="-122"/>
                        </a:rPr>
                        <a:t>缝宽扩展受限能量</a:t>
                      </a:r>
                      <a:endParaRPr lang="zh-CN" altLang="en-US" sz="1200">
                        <a:latin typeface="微软雅黑" panose="020B0503020204020204" pitchFamily="34" charset="-122"/>
                        <a:ea typeface="微软雅黑" panose="020B0503020204020204" pitchFamily="34" charset="-122"/>
                      </a:endParaRPr>
                    </a:p>
                  </a:txBody>
                  <a:tcPr marL="254000" marR="254000" marT="25400" marB="25400" anchor="ctr"/>
                </a:tc>
                <a:tc>
                  <a:txBody>
                    <a:bodyPr/>
                    <a:lstStyle/>
                    <a:p>
                      <a:pPr algn="ctr">
                        <a:lnSpc>
                          <a:spcPct val="120000"/>
                        </a:lnSpc>
                        <a:buNone/>
                      </a:pPr>
                      <a:r>
                        <a:rPr lang="zh-CN" altLang="en-US" sz="1200" dirty="0">
                          <a:latin typeface="微软雅黑" panose="020B0503020204020204" pitchFamily="34" charset="-122"/>
                          <a:ea typeface="微软雅黑" panose="020B0503020204020204" pitchFamily="34" charset="-122"/>
                        </a:rPr>
                        <a:t>表征受限阶段的能量消耗。该值高说明能量主要耗在张开受限区域，改造效率较低，应作为惩罚项考虑。</a:t>
                      </a:r>
                      <a:endParaRPr lang="zh-CN" altLang="en-US" sz="1200" dirty="0">
                        <a:latin typeface="微软雅黑" panose="020B0503020204020204" pitchFamily="34" charset="-122"/>
                        <a:ea typeface="微软雅黑" panose="020B0503020204020204" pitchFamily="34" charset="-122"/>
                      </a:endParaRPr>
                    </a:p>
                  </a:txBody>
                  <a:tcPr marL="254000" marR="254000" marT="25400" marB="25400" anchor="ctr"/>
                </a:tc>
              </a:tr>
            </a:tbl>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3912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3.4</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、基于连续小波变换改造体积评价方法，开展现场数据验证</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基于构建的改造体积评价方法，对</a:t>
            </a:r>
            <a:r>
              <a:rPr lang="zh-CN" altLang="en-US" sz="1600" dirty="0">
                <a:solidFill>
                  <a:prstClr val="black"/>
                </a:solidFill>
                <a:latin typeface="微软雅黑" panose="020B0503020204020204" pitchFamily="34" charset="-122"/>
                <a:ea typeface="微软雅黑" panose="020B0503020204020204" pitchFamily="34" charset="-122"/>
                <a:sym typeface="+mn-ea"/>
              </a:rPr>
              <a:t>泸</a:t>
            </a:r>
            <a:r>
              <a:rPr lang="en-US" altLang="zh-CN" sz="1600" dirty="0">
                <a:solidFill>
                  <a:prstClr val="black"/>
                </a:solidFill>
                <a:latin typeface="微软雅黑" panose="020B0503020204020204" pitchFamily="34" charset="-122"/>
                <a:ea typeface="微软雅黑" panose="020B0503020204020204" pitchFamily="34" charset="-122"/>
                <a:sym typeface="+mn-ea"/>
              </a:rPr>
              <a:t>203</a:t>
            </a:r>
            <a:r>
              <a:rPr lang="zh-CN" altLang="en-US" sz="1600" dirty="0">
                <a:solidFill>
                  <a:prstClr val="black"/>
                </a:solidFill>
                <a:latin typeface="微软雅黑" panose="020B0503020204020204" pitchFamily="34" charset="-122"/>
                <a:ea typeface="微软雅黑" panose="020B0503020204020204" pitchFamily="34" charset="-122"/>
                <a:sym typeface="+mn-ea"/>
              </a:rPr>
              <a:t>、泸</a:t>
            </a:r>
            <a:r>
              <a:rPr lang="en-US" altLang="zh-CN" sz="1600" dirty="0">
                <a:solidFill>
                  <a:prstClr val="black"/>
                </a:solidFill>
                <a:latin typeface="微软雅黑" panose="020B0503020204020204" pitchFamily="34" charset="-122"/>
                <a:ea typeface="微软雅黑" panose="020B0503020204020204" pitchFamily="34" charset="-122"/>
                <a:sym typeface="+mn-ea"/>
              </a:rPr>
              <a:t>206</a:t>
            </a:r>
            <a:r>
              <a:rPr lang="zh-CN" altLang="en-US" sz="1600" dirty="0">
                <a:solidFill>
                  <a:prstClr val="black"/>
                </a:solidFill>
                <a:latin typeface="微软雅黑" panose="020B0503020204020204" pitchFamily="34" charset="-122"/>
                <a:ea typeface="微软雅黑" panose="020B0503020204020204" pitchFamily="34" charset="-122"/>
                <a:sym typeface="+mn-ea"/>
              </a:rPr>
              <a:t>、足</a:t>
            </a:r>
            <a:r>
              <a:rPr lang="en-US" altLang="zh-CN" sz="1600" dirty="0">
                <a:solidFill>
                  <a:prstClr val="black"/>
                </a:solidFill>
                <a:latin typeface="微软雅黑" panose="020B0503020204020204" pitchFamily="34" charset="-122"/>
                <a:ea typeface="微软雅黑" panose="020B0503020204020204" pitchFamily="34" charset="-122"/>
                <a:sym typeface="+mn-ea"/>
              </a:rPr>
              <a:t>201</a:t>
            </a:r>
            <a:r>
              <a:rPr lang="zh-CN" altLang="en-US" sz="1600" dirty="0">
                <a:solidFill>
                  <a:prstClr val="black"/>
                </a:solidFill>
                <a:latin typeface="微软雅黑" panose="020B0503020204020204" pitchFamily="34" charset="-122"/>
                <a:ea typeface="微软雅黑" panose="020B0503020204020204" pitchFamily="34" charset="-122"/>
                <a:sym typeface="+mn-ea"/>
              </a:rPr>
              <a:t>共</a:t>
            </a:r>
            <a:r>
              <a:rPr lang="en-US" altLang="zh-CN" sz="1600" dirty="0">
                <a:solidFill>
                  <a:srgbClr val="FF0000"/>
                </a:solidFill>
                <a:latin typeface="微软雅黑" panose="020B0503020204020204" pitchFamily="34" charset="-122"/>
                <a:ea typeface="微软雅黑" panose="020B0503020204020204" pitchFamily="34" charset="-122"/>
                <a:sym typeface="+mn-ea"/>
              </a:rPr>
              <a:t>3</a:t>
            </a:r>
            <a:r>
              <a:rPr lang="zh-CN" altLang="en-US" sz="1600" dirty="0">
                <a:solidFill>
                  <a:srgbClr val="FF0000"/>
                </a:solidFill>
                <a:latin typeface="微软雅黑" panose="020B0503020204020204" pitchFamily="34" charset="-122"/>
                <a:ea typeface="微软雅黑" panose="020B0503020204020204" pitchFamily="34" charset="-122"/>
                <a:sym typeface="+mn-ea"/>
              </a:rPr>
              <a:t>个井区，</a:t>
            </a:r>
            <a:r>
              <a:rPr lang="en-US" altLang="zh-CN" sz="1600" dirty="0">
                <a:solidFill>
                  <a:srgbClr val="FF0000"/>
                </a:solidFill>
                <a:latin typeface="微软雅黑" panose="020B0503020204020204" pitchFamily="34" charset="-122"/>
                <a:ea typeface="微软雅黑" panose="020B0503020204020204" pitchFamily="34" charset="-122"/>
                <a:sym typeface="+mn-ea"/>
              </a:rPr>
              <a:t>5</a:t>
            </a:r>
            <a:r>
              <a:rPr lang="zh-CN" altLang="en-US" sz="1600" dirty="0">
                <a:solidFill>
                  <a:srgbClr val="FF0000"/>
                </a:solidFill>
                <a:latin typeface="微软雅黑" panose="020B0503020204020204" pitchFamily="34" charset="-122"/>
                <a:ea typeface="微软雅黑" panose="020B0503020204020204" pitchFamily="34" charset="-122"/>
                <a:sym typeface="+mn-ea"/>
              </a:rPr>
              <a:t>个平台，</a:t>
            </a:r>
            <a:r>
              <a:rPr lang="en-US" altLang="zh-CN" sz="1600" dirty="0">
                <a:solidFill>
                  <a:srgbClr val="FF0000"/>
                </a:solidFill>
                <a:latin typeface="微软雅黑" panose="020B0503020204020204" pitchFamily="34" charset="-122"/>
                <a:ea typeface="微软雅黑" panose="020B0503020204020204" pitchFamily="34" charset="-122"/>
                <a:sym typeface="+mn-ea"/>
              </a:rPr>
              <a:t>23</a:t>
            </a:r>
            <a:r>
              <a:rPr lang="zh-CN" altLang="en-US" sz="1600" dirty="0">
                <a:solidFill>
                  <a:srgbClr val="FF0000"/>
                </a:solidFill>
                <a:latin typeface="微软雅黑" panose="020B0503020204020204" pitchFamily="34" charset="-122"/>
                <a:ea typeface="微软雅黑" panose="020B0503020204020204" pitchFamily="34" charset="-122"/>
                <a:sym typeface="+mn-ea"/>
              </a:rPr>
              <a:t>口井，</a:t>
            </a:r>
            <a:r>
              <a:rPr lang="en-US" altLang="zh-CN" sz="1600" dirty="0">
                <a:solidFill>
                  <a:srgbClr val="FF0000"/>
                </a:solidFill>
                <a:latin typeface="微软雅黑" panose="020B0503020204020204" pitchFamily="34" charset="-122"/>
                <a:ea typeface="微软雅黑" panose="020B0503020204020204" pitchFamily="34" charset="-122"/>
                <a:sym typeface="+mn-ea"/>
              </a:rPr>
              <a:t>573</a:t>
            </a:r>
            <a:r>
              <a:rPr lang="zh-CN" altLang="en-US" sz="1600" dirty="0">
                <a:solidFill>
                  <a:srgbClr val="FF0000"/>
                </a:solidFill>
                <a:latin typeface="微软雅黑" panose="020B0503020204020204" pitchFamily="34" charset="-122"/>
                <a:ea typeface="微软雅黑" panose="020B0503020204020204" pitchFamily="34" charset="-122"/>
                <a:sym typeface="+mn-ea"/>
              </a:rPr>
              <a:t>段</a:t>
            </a:r>
            <a:r>
              <a:rPr lang="zh-CN" altLang="en-US" sz="1600" dirty="0">
                <a:solidFill>
                  <a:prstClr val="black"/>
                </a:solidFill>
                <a:latin typeface="微软雅黑" panose="020B0503020204020204" pitchFamily="34" charset="-122"/>
                <a:ea typeface="微软雅黑" panose="020B0503020204020204" pitchFamily="34" charset="-122"/>
                <a:sym typeface="+mn-ea"/>
              </a:rPr>
              <a:t>压裂数据</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进行定量评价</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分段、分井及分平台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统计分析，实现改造效果的多尺度比较与综合排序</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采用归一化与加权平均等方法，确保不同尺度与信号特征在综合评价中的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可比性与一致性</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图表 4"/>
          <p:cNvGraphicFramePr/>
          <p:nvPr/>
        </p:nvGraphicFramePr>
        <p:xfrm>
          <a:off x="6145163" y="2555045"/>
          <a:ext cx="5824220" cy="351238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0" name="表格 9"/>
          <p:cNvGraphicFramePr/>
          <p:nvPr/>
        </p:nvGraphicFramePr>
        <p:xfrm>
          <a:off x="283845" y="2562030"/>
          <a:ext cx="2880000" cy="3505392"/>
        </p:xfrm>
        <a:graphic>
          <a:graphicData uri="http://schemas.openxmlformats.org/drawingml/2006/table">
            <a:tbl>
              <a:tblPr/>
              <a:tblGrid>
                <a:gridCol w="1440000"/>
                <a:gridCol w="1440000"/>
              </a:tblGrid>
              <a:tr h="318672">
                <a:tc>
                  <a:txBody>
                    <a:bodyPr/>
                    <a:lstStyle/>
                    <a:p>
                      <a:pPr algn="ctr" fontAlgn="ctr"/>
                      <a:r>
                        <a:rPr lang="zh-CN" altLang="en-US" sz="1200" b="1" i="0" dirty="0">
                          <a:solidFill>
                            <a:schemeClr val="bg1"/>
                          </a:solidFill>
                          <a:latin typeface="微软雅黑" panose="020B0503020204020204" pitchFamily="34" charset="-122"/>
                          <a:ea typeface="微软雅黑" panose="020B0503020204020204" pitchFamily="34" charset="-122"/>
                        </a:rPr>
                        <a:t>井号</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2"/>
                    </a:solidFill>
                  </a:tcPr>
                </a:tc>
                <a:tc>
                  <a:txBody>
                    <a:bodyPr/>
                    <a:lstStyle/>
                    <a:p>
                      <a:pPr algn="ctr" fontAlgn="ctr"/>
                      <a:r>
                        <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评分均值</a:t>
                      </a:r>
                      <a:endPar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2"/>
                    </a:solidFill>
                  </a:tcPr>
                </a:tc>
              </a:tr>
              <a:tr h="318672">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86.11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672">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203H10-2</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85.30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672">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203H10-3</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87.51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672">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203H10-4</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85.97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672">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203H10-5</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88.43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672">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85.99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672">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203H123-1</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88.20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672">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203H123-2</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88.53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672">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203H123-3</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87.53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672">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203H123-4</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dirty="0">
                          <a:solidFill>
                            <a:srgbClr val="000000"/>
                          </a:solidFill>
                          <a:latin typeface="微软雅黑" panose="020B0503020204020204" pitchFamily="34" charset="-122"/>
                          <a:ea typeface="微软雅黑" panose="020B0503020204020204" pitchFamily="34" charset="-122"/>
                        </a:rPr>
                        <a:t>87.39</a:t>
                      </a:r>
                      <a:endParaRPr lang="en-US" altLang="zh-CN" sz="12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graphicFrame>
        <p:nvGraphicFramePr>
          <p:cNvPr id="11" name="表格 10"/>
          <p:cNvGraphicFramePr/>
          <p:nvPr/>
        </p:nvGraphicFramePr>
        <p:xfrm>
          <a:off x="3205480" y="2555045"/>
          <a:ext cx="2879725" cy="3519360"/>
        </p:xfrm>
        <a:graphic>
          <a:graphicData uri="http://schemas.openxmlformats.org/drawingml/2006/table">
            <a:tbl>
              <a:tblPr/>
              <a:tblGrid>
                <a:gridCol w="1440180"/>
                <a:gridCol w="1439545"/>
              </a:tblGrid>
              <a:tr h="27072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206H7-1</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88.16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072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206H7-2</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88.08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072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206H7-4</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87.45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072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206H7-5</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89.15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072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206H8-6</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88.54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072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206H8-7</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88.28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072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206H8-8</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88.15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072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201H21-1</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92.04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072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201H21-2</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91.71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072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201H21-3</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92.53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072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201H21-4</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91.59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072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201H21-5</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a:solidFill>
                            <a:srgbClr val="000000"/>
                          </a:solidFill>
                          <a:latin typeface="微软雅黑" panose="020B0503020204020204" pitchFamily="34" charset="-122"/>
                          <a:ea typeface="微软雅黑" panose="020B0503020204020204" pitchFamily="34" charset="-122"/>
                        </a:rPr>
                        <a:t>91.82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70720">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201H21-6</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b"/>
                      <a:r>
                        <a:rPr lang="en-US" altLang="zh-CN" sz="1200" b="0" i="0" dirty="0">
                          <a:solidFill>
                            <a:srgbClr val="000000"/>
                          </a:solidFill>
                          <a:latin typeface="微软雅黑" panose="020B0503020204020204" pitchFamily="34" charset="-122"/>
                          <a:ea typeface="微软雅黑" panose="020B0503020204020204" pitchFamily="34" charset="-122"/>
                        </a:rPr>
                        <a:t>91.62</a:t>
                      </a:r>
                      <a:endParaRPr lang="en-US" altLang="zh-CN" sz="12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sp>
        <p:nvSpPr>
          <p:cNvPr id="305" name="TextBox 23"/>
          <p:cNvSpPr>
            <a:spLocks noChangeArrowheads="1"/>
          </p:cNvSpPr>
          <p:nvPr>
            <p:custDataLst>
              <p:tags r:id="rId2"/>
            </p:custDataLst>
          </p:nvPr>
        </p:nvSpPr>
        <p:spPr bwMode="auto">
          <a:xfrm>
            <a:off x="334645" y="6074410"/>
            <a:ext cx="1148524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井连续小波变换分析得分</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4</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、自研评价算法</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—G</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函数曲线量化</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研究</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背景</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形成复杂裂缝网络是非常规储层改造的核心之一，但对</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复杂程度的定量评价</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仍是当前压裂效果评估面临的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关键技术瓶颈</a:t>
            </a:r>
            <a:endPar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微地震技术</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成本高昂</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需专用设备及监测井，存在定位误差和空间分辨率限制，结果存在</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多解性</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，需多技术手段</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交叉验证</a:t>
            </a:r>
            <a:endPar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现有压降分析技术已取得一定进展，然而</a:t>
            </a:r>
            <a:r>
              <a:rPr lang="zh-CN" altLang="en-US" sz="1600" dirty="0">
                <a:latin typeface="微软雅黑" panose="020B0503020204020204" pitchFamily="34" charset="-122"/>
                <a:ea typeface="微软雅黑" panose="020B0503020204020204" pitchFamily="34" charset="-122"/>
              </a:rPr>
              <a:t>其诊断能力停留在</a:t>
            </a:r>
            <a:r>
              <a:rPr lang="zh-CN" altLang="en-US" sz="1600" dirty="0">
                <a:solidFill>
                  <a:srgbClr val="FF0000"/>
                </a:solidFill>
                <a:latin typeface="微软雅黑" panose="020B0503020204020204" pitchFamily="34" charset="-122"/>
                <a:ea typeface="微软雅黑" panose="020B0503020204020204" pitchFamily="34" charset="-122"/>
              </a:rPr>
              <a:t>现象识别</a:t>
            </a:r>
            <a:r>
              <a:rPr lang="zh-CN" altLang="en-US" sz="1600" dirty="0">
                <a:latin typeface="微软雅黑" panose="020B0503020204020204" pitchFamily="34" charset="-122"/>
                <a:ea typeface="微软雅黑" panose="020B0503020204020204" pitchFamily="34" charset="-122"/>
              </a:rPr>
              <a:t>层面，未能形成体系化的</a:t>
            </a:r>
            <a:r>
              <a:rPr lang="zh-CN" altLang="en-US" sz="1600" dirty="0">
                <a:solidFill>
                  <a:srgbClr val="FF0000"/>
                </a:solidFill>
                <a:latin typeface="微软雅黑" panose="020B0503020204020204" pitchFamily="34" charset="-122"/>
                <a:ea typeface="微软雅黑" panose="020B0503020204020204" pitchFamily="34" charset="-122"/>
              </a:rPr>
              <a:t>定量</a:t>
            </a:r>
            <a:r>
              <a:rPr lang="zh-CN" altLang="en-US" sz="1600" dirty="0">
                <a:latin typeface="微软雅黑" panose="020B0503020204020204" pitchFamily="34" charset="-122"/>
                <a:ea typeface="微软雅黑" panose="020B0503020204020204" pitchFamily="34" charset="-122"/>
              </a:rPr>
              <a:t>评价方法 </a:t>
            </a:r>
            <a:endParaRPr lang="en-US" altLang="zh-CN" sz="1600" dirty="0">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custDataLst>
              <p:tags r:id="rId1"/>
            </p:custDataLst>
          </p:nvPr>
        </p:nvPicPr>
        <p:blipFill>
          <a:blip r:embed="rId2"/>
          <a:srcRect/>
          <a:stretch>
            <a:fillRect/>
          </a:stretch>
        </p:blipFill>
        <p:spPr>
          <a:xfrm>
            <a:off x="543395" y="2719067"/>
            <a:ext cx="5290657" cy="3148691"/>
          </a:xfrm>
          <a:prstGeom prst="rect">
            <a:avLst/>
          </a:prstGeom>
          <a:ln>
            <a:solidFill>
              <a:schemeClr val="tx1"/>
            </a:solidFill>
          </a:ln>
        </p:spPr>
      </p:pic>
      <p:sp>
        <p:nvSpPr>
          <p:cNvPr id="6" name="文本框 38"/>
          <p:cNvSpPr txBox="1"/>
          <p:nvPr>
            <p:custDataLst>
              <p:tags r:id="rId3"/>
            </p:custDataLst>
          </p:nvPr>
        </p:nvSpPr>
        <p:spPr>
          <a:xfrm>
            <a:off x="543560" y="6091555"/>
            <a:ext cx="529018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泸</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203H10-1</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井第</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9</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段</a:t>
            </a: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停泵期压降曲线</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4"/>
          <a:stretch>
            <a:fillRect/>
          </a:stretch>
        </p:blipFill>
        <p:spPr>
          <a:xfrm>
            <a:off x="6432550" y="2643505"/>
            <a:ext cx="5015865" cy="3329940"/>
          </a:xfrm>
          <a:prstGeom prst="rect">
            <a:avLst/>
          </a:prstGeom>
        </p:spPr>
      </p:pic>
      <p:sp>
        <p:nvSpPr>
          <p:cNvPr id="8" name="文本框 38"/>
          <p:cNvSpPr txBox="1"/>
          <p:nvPr>
            <p:custDataLst>
              <p:tags r:id="rId5"/>
            </p:custDataLst>
          </p:nvPr>
        </p:nvSpPr>
        <p:spPr>
          <a:xfrm>
            <a:off x="6432550" y="6091555"/>
            <a:ext cx="501586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函数一般表达式</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429601" y="811428"/>
            <a:ext cx="10052311"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4</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、自研评价算法</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—G</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函数曲线量化</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研究思路</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645" y="1342390"/>
            <a:ext cx="11520170" cy="1250315"/>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spcBef>
                <a:spcPts val="0"/>
              </a:spcBef>
              <a:spcAft>
                <a:spcPts val="0"/>
              </a:spcAft>
              <a:buFont typeface="Wingdings" panose="05000000000000000000" pitchFamily="2" charset="2"/>
              <a:buChar char="l"/>
              <a:defRPr/>
            </a:pPr>
            <a:r>
              <a:rPr lang="zh-CN" altLang="en-US" sz="1600" dirty="0"/>
              <a:t>对停泵期压降曲线采用</a:t>
            </a:r>
            <a:r>
              <a:rPr lang="zh-CN" altLang="en-US" sz="1600" dirty="0">
                <a:solidFill>
                  <a:srgbClr val="FF0000"/>
                </a:solidFill>
              </a:rPr>
              <a:t>局部加权回归算法</a:t>
            </a:r>
            <a:r>
              <a:rPr lang="zh-CN" altLang="en-US" sz="1600" dirty="0"/>
              <a:t>进行高频水锤噪音去除</a:t>
            </a:r>
            <a:r>
              <a:rPr lang="zh-CN" altLang="en-US" sz="1600" dirty="0">
                <a:cs typeface="Times New Roman" panose="02020603050405020304" pitchFamily="18" charset="0"/>
                <a:sym typeface="+mn-ea"/>
              </a:rPr>
              <a:t>，确保后续分析的准确性</a:t>
            </a:r>
            <a:endParaRPr lang="zh-CN" altLang="en-US" sz="1600" dirty="0">
              <a:cs typeface="Times New Roman" panose="02020603050405020304" pitchFamily="18" charset="0"/>
              <a:sym typeface="+mn-ea"/>
            </a:endParaRPr>
          </a:p>
          <a:p>
            <a:pPr marL="342265" indent="-342265" fontAlgn="base">
              <a:spcBef>
                <a:spcPts val="0"/>
              </a:spcBef>
              <a:spcAft>
                <a:spcPts val="0"/>
              </a:spcAft>
              <a:buFont typeface="Wingdings" panose="05000000000000000000" pitchFamily="2" charset="2"/>
              <a:buChar char="l"/>
              <a:defRPr/>
            </a:pPr>
            <a:r>
              <a:rPr lang="zh-CN" altLang="en-US" sz="1600" dirty="0">
                <a:cs typeface="Times New Roman" panose="02020603050405020304" pitchFamily="18" charset="0"/>
                <a:sym typeface="+mn-ea"/>
              </a:rPr>
              <a:t>使用</a:t>
            </a:r>
            <a:r>
              <a:rPr lang="zh-CN" altLang="en-US" sz="1600" dirty="0">
                <a:solidFill>
                  <a:srgbClr val="FF0000"/>
                </a:solidFill>
                <a:cs typeface="Times New Roman" panose="02020603050405020304" pitchFamily="18" charset="0"/>
                <a:sym typeface="+mn-ea"/>
              </a:rPr>
              <a:t>双指数衰减模型</a:t>
            </a:r>
            <a:r>
              <a:rPr lang="zh-CN" altLang="en-US" sz="1600" dirty="0">
                <a:cs typeface="Times New Roman" panose="02020603050405020304" pitchFamily="18" charset="0"/>
                <a:sym typeface="+mn-ea"/>
              </a:rPr>
              <a:t>拟合压降曲线整体过程，修正</a:t>
            </a:r>
            <a:r>
              <a:rPr lang="zh-CN" altLang="en-US" sz="1600" dirty="0">
                <a:solidFill>
                  <a:srgbClr val="FF0000"/>
                </a:solidFill>
                <a:cs typeface="Times New Roman" panose="02020603050405020304" pitchFamily="18" charset="0"/>
                <a:sym typeface="+mn-ea"/>
              </a:rPr>
              <a:t>传感器精度不足</a:t>
            </a:r>
            <a:r>
              <a:rPr lang="zh-CN" altLang="en-US" sz="1600" dirty="0">
                <a:cs typeface="Times New Roman" panose="02020603050405020304" pitchFamily="18" charset="0"/>
                <a:sym typeface="+mn-ea"/>
              </a:rPr>
              <a:t>导致的数据</a:t>
            </a:r>
            <a:r>
              <a:rPr lang="zh-CN" altLang="en-US" sz="1600" dirty="0">
                <a:solidFill>
                  <a:srgbClr val="FF0000"/>
                </a:solidFill>
                <a:cs typeface="Times New Roman" panose="02020603050405020304" pitchFamily="18" charset="0"/>
                <a:sym typeface="+mn-ea"/>
              </a:rPr>
              <a:t>阶梯状下降</a:t>
            </a:r>
            <a:r>
              <a:rPr lang="zh-CN" altLang="en-US" sz="1600" dirty="0">
                <a:cs typeface="Times New Roman" panose="02020603050405020304" pitchFamily="18" charset="0"/>
                <a:sym typeface="+mn-ea"/>
              </a:rPr>
              <a:t>现象，恢复完整的压降演化序列</a:t>
            </a:r>
            <a:endParaRPr lang="en-US" altLang="zh-CN" sz="1600" dirty="0">
              <a:cs typeface="Times New Roman" panose="02020603050405020304" pitchFamily="18" charset="0"/>
              <a:sym typeface="+mn-ea"/>
            </a:endParaRPr>
          </a:p>
          <a:p>
            <a:pPr marL="342265" indent="-342265" fontAlgn="base">
              <a:spcBef>
                <a:spcPts val="0"/>
              </a:spcBef>
              <a:spcAft>
                <a:spcPts val="0"/>
              </a:spcAft>
              <a:buFont typeface="Wingdings" panose="05000000000000000000" pitchFamily="2" charset="2"/>
              <a:buChar char="l"/>
              <a:defRPr/>
            </a:pPr>
            <a:r>
              <a:rPr lang="zh-CN" altLang="en-US" sz="1600" dirty="0">
                <a:cs typeface="Times New Roman" panose="02020603050405020304" pitchFamily="18" charset="0"/>
                <a:sym typeface="+mn-ea"/>
              </a:rPr>
              <a:t>基于</a:t>
            </a:r>
            <a:r>
              <a:rPr lang="en-US" altLang="zh-CN" sz="1600" dirty="0">
                <a:solidFill>
                  <a:srgbClr val="FF0000"/>
                </a:solidFill>
                <a:cs typeface="Times New Roman" panose="02020603050405020304" pitchFamily="18" charset="0"/>
                <a:sym typeface="+mn-ea"/>
              </a:rPr>
              <a:t>G</a:t>
            </a:r>
            <a:r>
              <a:rPr lang="zh-CN" altLang="en-US" sz="1600" dirty="0">
                <a:solidFill>
                  <a:srgbClr val="FF0000"/>
                </a:solidFill>
                <a:cs typeface="Times New Roman" panose="02020603050405020304" pitchFamily="18" charset="0"/>
                <a:sym typeface="+mn-ea"/>
              </a:rPr>
              <a:t>函数</a:t>
            </a:r>
            <a:r>
              <a:rPr lang="zh-CN" altLang="en-US" sz="1600" dirty="0">
                <a:cs typeface="Times New Roman" panose="02020603050405020304" pitchFamily="18" charset="0"/>
                <a:sym typeface="+mn-ea"/>
              </a:rPr>
              <a:t>理论对处理后的压降曲线进行分析，提取</a:t>
            </a:r>
            <a:r>
              <a:rPr lang="zh-CN" altLang="en-US" sz="1600" dirty="0">
                <a:solidFill>
                  <a:srgbClr val="FF0000"/>
                </a:solidFill>
                <a:cs typeface="Times New Roman" panose="02020603050405020304" pitchFamily="18" charset="0"/>
                <a:sym typeface="+mn-ea"/>
              </a:rPr>
              <a:t>斜率变化</a:t>
            </a:r>
            <a:r>
              <a:rPr lang="zh-CN" altLang="en-US" sz="1600" dirty="0">
                <a:cs typeface="Times New Roman" panose="02020603050405020304" pitchFamily="18" charset="0"/>
                <a:sym typeface="+mn-ea"/>
              </a:rPr>
              <a:t>、</a:t>
            </a:r>
            <a:r>
              <a:rPr lang="zh-CN" altLang="en-US" sz="1600" dirty="0">
                <a:solidFill>
                  <a:srgbClr val="FF0000"/>
                </a:solidFill>
                <a:cs typeface="Times New Roman" panose="02020603050405020304" pitchFamily="18" charset="0"/>
                <a:sym typeface="+mn-ea"/>
              </a:rPr>
              <a:t>曲线拐点</a:t>
            </a:r>
            <a:r>
              <a:rPr lang="zh-CN" altLang="en-US" sz="1600" dirty="0">
                <a:cs typeface="Times New Roman" panose="02020603050405020304" pitchFamily="18" charset="0"/>
                <a:sym typeface="+mn-ea"/>
              </a:rPr>
              <a:t>等关键特征，刻画</a:t>
            </a:r>
            <a:r>
              <a:rPr lang="zh-CN" altLang="en-US" sz="1600" dirty="0">
                <a:solidFill>
                  <a:srgbClr val="FF0000"/>
                </a:solidFill>
                <a:cs typeface="Times New Roman" panose="02020603050405020304" pitchFamily="18" charset="0"/>
                <a:sym typeface="+mn-ea"/>
              </a:rPr>
              <a:t>滤失过程</a:t>
            </a:r>
            <a:r>
              <a:rPr lang="zh-CN" altLang="en-US" sz="1600" dirty="0">
                <a:cs typeface="Times New Roman" panose="02020603050405020304" pitchFamily="18" charset="0"/>
                <a:sym typeface="+mn-ea"/>
              </a:rPr>
              <a:t>的动态演化规律</a:t>
            </a:r>
            <a:endParaRPr lang="zh-CN" altLang="en-US" sz="1600" dirty="0">
              <a:cs typeface="Times New Roman" panose="02020603050405020304" pitchFamily="18" charset="0"/>
            </a:endParaRPr>
          </a:p>
        </p:txBody>
      </p:sp>
      <p:pic>
        <p:nvPicPr>
          <p:cNvPr id="6" name="图片 5"/>
          <p:cNvPicPr>
            <a:picLocks noChangeAspect="1"/>
          </p:cNvPicPr>
          <p:nvPr/>
        </p:nvPicPr>
        <p:blipFill>
          <a:blip r:embed="rId1"/>
          <a:srcRect/>
          <a:stretch>
            <a:fillRect/>
          </a:stretch>
        </p:blipFill>
        <p:spPr>
          <a:xfrm>
            <a:off x="5907405" y="2579370"/>
            <a:ext cx="5878195" cy="3419475"/>
          </a:xfrm>
          <a:prstGeom prst="rect">
            <a:avLst/>
          </a:prstGeom>
        </p:spPr>
      </p:pic>
      <p:pic>
        <p:nvPicPr>
          <p:cNvPr id="11" name="图片 10"/>
          <p:cNvPicPr>
            <a:picLocks noChangeAspect="1"/>
          </p:cNvPicPr>
          <p:nvPr/>
        </p:nvPicPr>
        <p:blipFill>
          <a:blip r:embed="rId2"/>
          <a:stretch>
            <a:fillRect/>
          </a:stretch>
        </p:blipFill>
        <p:spPr>
          <a:xfrm>
            <a:off x="3099435" y="2579370"/>
            <a:ext cx="2808000" cy="3369218"/>
          </a:xfrm>
          <a:prstGeom prst="rect">
            <a:avLst/>
          </a:prstGeom>
        </p:spPr>
      </p:pic>
      <p:pic>
        <p:nvPicPr>
          <p:cNvPr id="12" name="图片 11"/>
          <p:cNvPicPr>
            <a:picLocks noChangeAspect="1"/>
          </p:cNvPicPr>
          <p:nvPr/>
        </p:nvPicPr>
        <p:blipFill>
          <a:blip r:embed="rId3"/>
          <a:stretch>
            <a:fillRect/>
          </a:stretch>
        </p:blipFill>
        <p:spPr>
          <a:xfrm>
            <a:off x="334645" y="2560955"/>
            <a:ext cx="2808000" cy="3370344"/>
          </a:xfrm>
          <a:prstGeom prst="rect">
            <a:avLst/>
          </a:prstGeom>
        </p:spPr>
      </p:pic>
      <p:sp>
        <p:nvSpPr>
          <p:cNvPr id="17" name="文本框 38"/>
          <p:cNvSpPr txBox="1"/>
          <p:nvPr/>
        </p:nvSpPr>
        <p:spPr>
          <a:xfrm>
            <a:off x="430530" y="6091555"/>
            <a:ext cx="547751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实际停泵压力曲线（左）理想停泵压力曲线（右）</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矩形 18"/>
          <p:cNvSpPr/>
          <p:nvPr/>
        </p:nvSpPr>
        <p:spPr>
          <a:xfrm>
            <a:off x="786765" y="2707005"/>
            <a:ext cx="796290" cy="2865120"/>
          </a:xfrm>
          <a:prstGeom prst="rect">
            <a:avLst/>
          </a:prstGeom>
          <a:solidFill>
            <a:schemeClr val="accent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27" name="文本框 26"/>
          <p:cNvSpPr txBox="1"/>
          <p:nvPr/>
        </p:nvSpPr>
        <p:spPr>
          <a:xfrm>
            <a:off x="786765" y="2827020"/>
            <a:ext cx="796290" cy="392430"/>
          </a:xfrm>
          <a:prstGeom prst="rect">
            <a:avLst/>
          </a:prstGeom>
          <a:noFill/>
          <a:ln>
            <a:noFill/>
          </a:ln>
        </p:spPr>
        <p:txBody>
          <a:bodyPr wrap="square"/>
          <a:lstStyle/>
          <a:p>
            <a:pPr marL="0" indent="0">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水锤效应</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31" name="矩形 30"/>
          <p:cNvSpPr/>
          <p:nvPr/>
        </p:nvSpPr>
        <p:spPr>
          <a:xfrm>
            <a:off x="1576705" y="2707005"/>
            <a:ext cx="1499235" cy="2864485"/>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32" name="文本框 31"/>
          <p:cNvSpPr txBox="1"/>
          <p:nvPr/>
        </p:nvSpPr>
        <p:spPr>
          <a:xfrm>
            <a:off x="1790700" y="3943350"/>
            <a:ext cx="1089025" cy="392430"/>
          </a:xfrm>
          <a:prstGeom prst="rect">
            <a:avLst/>
          </a:prstGeom>
          <a:noFill/>
          <a:ln>
            <a:noFill/>
          </a:ln>
        </p:spPr>
        <p:txBody>
          <a:bodyPr wrap="square"/>
          <a:lstStyle/>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阶梯状下降</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33" name="文本框 38"/>
          <p:cNvSpPr txBox="1"/>
          <p:nvPr/>
        </p:nvSpPr>
        <p:spPr>
          <a:xfrm>
            <a:off x="6096000" y="6091555"/>
            <a:ext cx="568960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实际停泵压力曲线转化的</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dP</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dG</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 </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曲线图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4" name="矩形 33"/>
          <p:cNvSpPr/>
          <p:nvPr/>
        </p:nvSpPr>
        <p:spPr>
          <a:xfrm>
            <a:off x="6408420" y="2707640"/>
            <a:ext cx="1602105" cy="2894330"/>
          </a:xfrm>
          <a:prstGeom prst="rect">
            <a:avLst/>
          </a:prstGeom>
          <a:solidFill>
            <a:schemeClr val="accent2">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35" name="文本框 34"/>
          <p:cNvSpPr txBox="1"/>
          <p:nvPr/>
        </p:nvSpPr>
        <p:spPr>
          <a:xfrm>
            <a:off x="6945630" y="2986405"/>
            <a:ext cx="796290" cy="716280"/>
          </a:xfrm>
          <a:prstGeom prst="rect">
            <a:avLst/>
          </a:prstGeom>
          <a:noFill/>
          <a:ln>
            <a:noFill/>
          </a:ln>
        </p:spPr>
        <p:txBody>
          <a:bodyPr wrap="square"/>
          <a:lstStyle/>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导数值</a:t>
            </a:r>
            <a:endParaRPr lang="zh-CN" altLang="en-US" sz="1200" b="1" dirty="0">
              <a:solidFill>
                <a:srgbClr val="FF0000"/>
              </a:solidFill>
              <a:latin typeface="微软雅黑" panose="020B0503020204020204" pitchFamily="34" charset="-122"/>
              <a:ea typeface="微软雅黑" panose="020B0503020204020204" pitchFamily="34" charset="-122"/>
            </a:endParaRPr>
          </a:p>
          <a:p>
            <a:pPr marL="0" indent="0">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剧烈波动</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cxnSp>
        <p:nvCxnSpPr>
          <p:cNvPr id="36" name="直接箭头连接符 35"/>
          <p:cNvCxnSpPr/>
          <p:nvPr/>
        </p:nvCxnSpPr>
        <p:spPr>
          <a:xfrm flipH="1">
            <a:off x="8608060" y="4596765"/>
            <a:ext cx="406400" cy="86360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37" name="直接箭头连接符 36"/>
          <p:cNvCxnSpPr/>
          <p:nvPr/>
        </p:nvCxnSpPr>
        <p:spPr>
          <a:xfrm>
            <a:off x="9044940" y="4605655"/>
            <a:ext cx="75565" cy="83947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38" name="直接箭头连接符 37"/>
          <p:cNvCxnSpPr/>
          <p:nvPr/>
        </p:nvCxnSpPr>
        <p:spPr>
          <a:xfrm>
            <a:off x="9069070" y="4601210"/>
            <a:ext cx="479425" cy="843915"/>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39" name="文本框 38"/>
          <p:cNvSpPr txBox="1"/>
          <p:nvPr/>
        </p:nvSpPr>
        <p:spPr>
          <a:xfrm>
            <a:off x="8599805" y="3920490"/>
            <a:ext cx="949960" cy="593725"/>
          </a:xfrm>
          <a:prstGeom prst="rect">
            <a:avLst/>
          </a:prstGeom>
          <a:noFill/>
          <a:ln>
            <a:noFill/>
          </a:ln>
        </p:spPr>
        <p:txBody>
          <a:bodyPr wrap="square"/>
          <a:lstStyle/>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导数值</a:t>
            </a:r>
            <a:endParaRPr lang="zh-CN" altLang="en-US" sz="1200" b="1" dirty="0">
              <a:solidFill>
                <a:srgbClr val="FF0000"/>
              </a:solidFill>
              <a:latin typeface="微软雅黑" panose="020B0503020204020204" pitchFamily="34" charset="-122"/>
              <a:ea typeface="微软雅黑" panose="020B0503020204020204" pitchFamily="34" charset="-122"/>
            </a:endParaRPr>
          </a:p>
          <a:p>
            <a:pPr marL="0" indent="0">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长时间为</a:t>
            </a:r>
            <a:r>
              <a:rPr lang="en-US" altLang="zh-CN" sz="1200" b="1" dirty="0">
                <a:solidFill>
                  <a:srgbClr val="FF0000"/>
                </a:solidFill>
                <a:latin typeface="微软雅黑" panose="020B0503020204020204" pitchFamily="34" charset="-122"/>
                <a:ea typeface="微软雅黑" panose="020B0503020204020204" pitchFamily="34" charset="-122"/>
              </a:rPr>
              <a:t>0</a:t>
            </a:r>
            <a:endParaRPr lang="en-US" altLang="zh-CN" sz="1200" b="1" dirty="0">
              <a:solidFill>
                <a:srgbClr val="FF0000"/>
              </a:solidFill>
              <a:latin typeface="微软雅黑" panose="020B0503020204020204" pitchFamily="34" charset="-122"/>
              <a:ea typeface="微软雅黑" panose="020B0503020204020204" pitchFamily="34" charset="-122"/>
            </a:endParaRPr>
          </a:p>
        </p:txBody>
      </p:sp>
      <p:sp>
        <p:nvSpPr>
          <p:cNvPr id="40" name="矩形 39"/>
          <p:cNvSpPr/>
          <p:nvPr/>
        </p:nvSpPr>
        <p:spPr>
          <a:xfrm>
            <a:off x="10355580" y="5348605"/>
            <a:ext cx="359410" cy="158750"/>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41" name="矩形 40"/>
          <p:cNvSpPr/>
          <p:nvPr/>
        </p:nvSpPr>
        <p:spPr>
          <a:xfrm>
            <a:off x="9793605" y="5348605"/>
            <a:ext cx="225425" cy="158750"/>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42" name="矩形 41"/>
          <p:cNvSpPr/>
          <p:nvPr/>
        </p:nvSpPr>
        <p:spPr>
          <a:xfrm>
            <a:off x="10975975" y="5348605"/>
            <a:ext cx="347980" cy="158750"/>
          </a:xfrm>
          <a:prstGeom prst="rect">
            <a:avLst/>
          </a:prstGeom>
          <a:solidFill>
            <a:schemeClr val="accent1">
              <a:alpha val="50000"/>
            </a:scheme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43" name="文本框 42"/>
          <p:cNvSpPr txBox="1"/>
          <p:nvPr/>
        </p:nvSpPr>
        <p:spPr>
          <a:xfrm>
            <a:off x="10179685" y="4594860"/>
            <a:ext cx="796290" cy="716280"/>
          </a:xfrm>
          <a:prstGeom prst="rect">
            <a:avLst/>
          </a:prstGeom>
          <a:noFill/>
          <a:ln>
            <a:noFill/>
          </a:ln>
        </p:spPr>
        <p:txBody>
          <a:bodyPr wrap="square"/>
          <a:lstStyle/>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导数值</a:t>
            </a:r>
            <a:endParaRPr lang="zh-CN" altLang="en-US" sz="1200" b="1" dirty="0">
              <a:solidFill>
                <a:srgbClr val="FF0000"/>
              </a:solidFill>
              <a:latin typeface="微软雅黑" panose="020B0503020204020204" pitchFamily="34" charset="-122"/>
              <a:ea typeface="微软雅黑" panose="020B0503020204020204" pitchFamily="34" charset="-122"/>
            </a:endParaRPr>
          </a:p>
          <a:p>
            <a:pPr marL="0" indent="0" algn="ctr">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rPr>
              <a:t>突变</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3"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429601" y="811428"/>
            <a:ext cx="10052311"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4.1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a:t>
            </a:r>
            <a:r>
              <a:rPr lang="zh-CN" altLang="en-US" dirty="0">
                <a:solidFill>
                  <a:prstClr val="black"/>
                </a:solidFill>
                <a:latin typeface="微软雅黑" panose="020B0503020204020204" pitchFamily="34" charset="-122"/>
                <a:ea typeface="微软雅黑" panose="020B0503020204020204" pitchFamily="34" charset="-122"/>
                <a:sym typeface="+mn-ea"/>
              </a:rPr>
              <a:t>局部加权回归算法和双指数衰减模型拟合，构建可导压降曲线数据</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645" y="1342390"/>
            <a:ext cx="11520170" cy="1230630"/>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buFont typeface="Wingdings" panose="05000000000000000000" pitchFamily="2" charset="2"/>
              <a:buChar char="l"/>
              <a:defRPr/>
            </a:pPr>
            <a:r>
              <a:rPr lang="zh-CN" altLang="en-US" sz="1600" dirty="0"/>
              <a:t>采用</a:t>
            </a:r>
            <a:r>
              <a:rPr lang="zh-CN" altLang="en-US" sz="1600" dirty="0">
                <a:solidFill>
                  <a:srgbClr val="FF0000"/>
                </a:solidFill>
              </a:rPr>
              <a:t>局部加权回归算法</a:t>
            </a:r>
            <a:r>
              <a:rPr lang="zh-CN" altLang="en-US" sz="1600" dirty="0"/>
              <a:t>与</a:t>
            </a:r>
            <a:r>
              <a:rPr lang="zh-CN" altLang="en-US" sz="1600" dirty="0">
                <a:solidFill>
                  <a:srgbClr val="FF0000"/>
                </a:solidFill>
              </a:rPr>
              <a:t>双指数衰减模型</a:t>
            </a:r>
            <a:r>
              <a:rPr lang="zh-CN" altLang="en-US" sz="1600" dirty="0"/>
              <a:t>相结合的方法，对原始压降曲线数据实施系统性的</a:t>
            </a:r>
            <a:r>
              <a:rPr lang="zh-CN" altLang="en-US" sz="1600" dirty="0">
                <a:solidFill>
                  <a:srgbClr val="FF0000"/>
                </a:solidFill>
              </a:rPr>
              <a:t>平滑处理</a:t>
            </a:r>
            <a:r>
              <a:rPr lang="zh-CN" altLang="en-US" sz="1600" dirty="0"/>
              <a:t>与</a:t>
            </a:r>
            <a:r>
              <a:rPr lang="zh-CN" altLang="en-US" sz="1600" dirty="0">
                <a:solidFill>
                  <a:srgbClr val="FF0000"/>
                </a:solidFill>
              </a:rPr>
              <a:t>数据</a:t>
            </a:r>
            <a:r>
              <a:rPr lang="zh-CN" altLang="en-US" sz="1600" dirty="0">
                <a:solidFill>
                  <a:srgbClr val="FF0000"/>
                </a:solidFill>
              </a:rPr>
              <a:t>修复</a:t>
            </a:r>
            <a:endParaRPr lang="en-US" altLang="zh-CN" sz="1600" dirty="0">
              <a:solidFill>
                <a:srgbClr val="FF0000"/>
              </a:solidFill>
            </a:endParaRPr>
          </a:p>
          <a:p>
            <a:pPr marL="342265" indent="-342265" fontAlgn="base">
              <a:buFont typeface="Wingdings" panose="05000000000000000000" pitchFamily="2" charset="2"/>
              <a:buChar char="l"/>
              <a:defRPr/>
            </a:pPr>
            <a:r>
              <a:rPr lang="zh-CN" altLang="en-US" sz="1600" dirty="0">
                <a:cs typeface="Times New Roman" panose="02020603050405020304" pitchFamily="18" charset="0"/>
              </a:rPr>
              <a:t>采用</a:t>
            </a:r>
            <a:r>
              <a:rPr lang="zh-CN" altLang="en-US" sz="1600" dirty="0">
                <a:solidFill>
                  <a:srgbClr val="FF0000"/>
                </a:solidFill>
                <a:cs typeface="Times New Roman" panose="02020603050405020304" pitchFamily="18" charset="0"/>
              </a:rPr>
              <a:t>局部加权回归算法</a:t>
            </a:r>
            <a:r>
              <a:rPr lang="zh-CN" altLang="en-US" sz="1600" dirty="0">
                <a:cs typeface="Times New Roman" panose="02020603050405020304" pitchFamily="18" charset="0"/>
              </a:rPr>
              <a:t>对压降数据进行处理，去除</a:t>
            </a:r>
            <a:r>
              <a:rPr lang="zh-CN" altLang="en-US" sz="1600" dirty="0">
                <a:solidFill>
                  <a:srgbClr val="FF0000"/>
                </a:solidFill>
                <a:cs typeface="Times New Roman" panose="02020603050405020304" pitchFamily="18" charset="0"/>
              </a:rPr>
              <a:t>水锤效应</a:t>
            </a:r>
            <a:r>
              <a:rPr lang="zh-CN" altLang="en-US" sz="1600" dirty="0">
                <a:cs typeface="Times New Roman" panose="02020603050405020304" pitchFamily="18" charset="0"/>
              </a:rPr>
              <a:t>产生的</a:t>
            </a:r>
            <a:r>
              <a:rPr lang="zh-CN" altLang="en-US" sz="1600" dirty="0">
                <a:solidFill>
                  <a:srgbClr val="FF0000"/>
                </a:solidFill>
                <a:cs typeface="Times New Roman" panose="02020603050405020304" pitchFamily="18" charset="0"/>
              </a:rPr>
              <a:t>高频振荡噪音</a:t>
            </a:r>
            <a:r>
              <a:rPr lang="zh-CN" altLang="en-US" sz="1600" dirty="0">
                <a:cs typeface="Times New Roman" panose="02020603050405020304" pitchFamily="18" charset="0"/>
              </a:rPr>
              <a:t>，获得</a:t>
            </a:r>
            <a:r>
              <a:rPr lang="zh-CN" altLang="en-US" sz="1600" dirty="0">
                <a:solidFill>
                  <a:srgbClr val="FF0000"/>
                </a:solidFill>
                <a:cs typeface="Times New Roman" panose="02020603050405020304" pitchFamily="18" charset="0"/>
              </a:rPr>
              <a:t>相对平滑</a:t>
            </a:r>
            <a:r>
              <a:rPr lang="zh-CN" altLang="en-US" sz="1600" dirty="0">
                <a:cs typeface="Times New Roman" panose="02020603050405020304" pitchFamily="18" charset="0"/>
              </a:rPr>
              <a:t>的压降曲线</a:t>
            </a:r>
            <a:endParaRPr lang="en-US" altLang="zh-CN" sz="1600" dirty="0">
              <a:cs typeface="Times New Roman" panose="02020603050405020304" pitchFamily="18" charset="0"/>
            </a:endParaRPr>
          </a:p>
          <a:p>
            <a:pPr marL="342265" indent="-342265" fontAlgn="base">
              <a:buFont typeface="Wingdings" panose="05000000000000000000" pitchFamily="2" charset="2"/>
              <a:buChar char="l"/>
              <a:defRPr/>
            </a:pPr>
            <a:r>
              <a:rPr lang="zh-CN" altLang="en-US" sz="1600" dirty="0">
                <a:cs typeface="Times New Roman" panose="02020603050405020304" pitchFamily="18" charset="0"/>
              </a:rPr>
              <a:t>局部加权回归算法虽能</a:t>
            </a:r>
            <a:r>
              <a:rPr lang="zh-CN" altLang="en-US" sz="1600" dirty="0">
                <a:solidFill>
                  <a:srgbClr val="FF0000"/>
                </a:solidFill>
                <a:cs typeface="Times New Roman" panose="02020603050405020304" pitchFamily="18" charset="0"/>
              </a:rPr>
              <a:t>平滑随机噪声</a:t>
            </a:r>
            <a:r>
              <a:rPr lang="zh-CN" altLang="en-US" sz="1600" dirty="0">
                <a:cs typeface="Times New Roman" panose="02020603050405020304" pitchFamily="18" charset="0"/>
              </a:rPr>
              <a:t>，却</a:t>
            </a:r>
            <a:r>
              <a:rPr lang="zh-CN" altLang="en-US" sz="1600" dirty="0">
                <a:solidFill>
                  <a:srgbClr val="FF0000"/>
                </a:solidFill>
                <a:cs typeface="Times New Roman" panose="02020603050405020304" pitchFamily="18" charset="0"/>
              </a:rPr>
              <a:t>无法恢复</a:t>
            </a:r>
            <a:r>
              <a:rPr lang="zh-CN" altLang="en-US" sz="1600" dirty="0">
                <a:cs typeface="Times New Roman" panose="02020603050405020304" pitchFamily="18" charset="0"/>
              </a:rPr>
              <a:t>被</a:t>
            </a:r>
            <a:r>
              <a:rPr lang="zh-CN" altLang="en-US" sz="1600" dirty="0">
                <a:solidFill>
                  <a:srgbClr val="FF0000"/>
                </a:solidFill>
                <a:cs typeface="Times New Roman" panose="02020603050405020304" pitchFamily="18" charset="0"/>
              </a:rPr>
              <a:t>数据精度低</a:t>
            </a:r>
            <a:r>
              <a:rPr lang="zh-CN" altLang="en-US" sz="1600" dirty="0">
                <a:cs typeface="Times New Roman" panose="02020603050405020304" pitchFamily="18" charset="0"/>
              </a:rPr>
              <a:t>抹掉的细节，仍需要对</a:t>
            </a:r>
            <a:r>
              <a:rPr lang="zh-CN" altLang="en-US" sz="1600" dirty="0">
                <a:solidFill>
                  <a:srgbClr val="FF0000"/>
                </a:solidFill>
                <a:cs typeface="Times New Roman" panose="02020603050405020304" pitchFamily="18" charset="0"/>
              </a:rPr>
              <a:t>数据阶梯性下降</a:t>
            </a:r>
            <a:r>
              <a:rPr lang="zh-CN" altLang="en-US" sz="1600" dirty="0">
                <a:cs typeface="Times New Roman" panose="02020603050405020304" pitchFamily="18" charset="0"/>
              </a:rPr>
              <a:t>特征进行处理</a:t>
            </a:r>
            <a:endParaRPr lang="zh-CN" altLang="en-US" sz="1600" dirty="0">
              <a:cs typeface="Times New Roman" panose="02020603050405020304" pitchFamily="18" charset="0"/>
            </a:endParaRPr>
          </a:p>
        </p:txBody>
      </p:sp>
      <p:sp>
        <p:nvSpPr>
          <p:cNvPr id="6" name="文本框 38"/>
          <p:cNvSpPr txBox="1"/>
          <p:nvPr>
            <p:custDataLst>
              <p:tags r:id="rId1"/>
            </p:custDataLst>
          </p:nvPr>
        </p:nvSpPr>
        <p:spPr>
          <a:xfrm>
            <a:off x="564515" y="6091555"/>
            <a:ext cx="520446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局部加权回归算法处理后</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P-G</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文本框 38"/>
          <p:cNvSpPr txBox="1"/>
          <p:nvPr>
            <p:custDataLst>
              <p:tags r:id="rId2"/>
            </p:custDataLst>
          </p:nvPr>
        </p:nvSpPr>
        <p:spPr>
          <a:xfrm>
            <a:off x="6296660" y="6091555"/>
            <a:ext cx="5245735"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局部加权回归算法处理后</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dP</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dG</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图</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 name="图片 11"/>
          <p:cNvPicPr>
            <a:picLocks noChangeAspect="1"/>
          </p:cNvPicPr>
          <p:nvPr>
            <p:custDataLst>
              <p:tags r:id="rId3"/>
            </p:custDataLst>
          </p:nvPr>
        </p:nvPicPr>
        <p:blipFill>
          <a:blip r:embed="rId4"/>
          <a:srcRect/>
          <a:stretch>
            <a:fillRect/>
          </a:stretch>
        </p:blipFill>
        <p:spPr>
          <a:xfrm>
            <a:off x="564632" y="2713044"/>
            <a:ext cx="5203230" cy="3121938"/>
          </a:xfrm>
          <a:prstGeom prst="rect">
            <a:avLst/>
          </a:prstGeom>
          <a:ln>
            <a:solidFill>
              <a:schemeClr val="tx1"/>
            </a:solidFill>
          </a:ln>
        </p:spPr>
      </p:pic>
      <p:pic>
        <p:nvPicPr>
          <p:cNvPr id="17" name="图片 16"/>
          <p:cNvPicPr>
            <a:picLocks noChangeAspect="1"/>
          </p:cNvPicPr>
          <p:nvPr>
            <p:custDataLst>
              <p:tags r:id="rId5"/>
            </p:custDataLst>
          </p:nvPr>
        </p:nvPicPr>
        <p:blipFill>
          <a:blip r:embed="rId6"/>
          <a:srcRect/>
          <a:stretch>
            <a:fillRect/>
          </a:stretch>
        </p:blipFill>
        <p:spPr>
          <a:xfrm>
            <a:off x="6296766" y="2713044"/>
            <a:ext cx="5245703" cy="3147422"/>
          </a:xfrm>
          <a:prstGeom prst="rect">
            <a:avLst/>
          </a:prstGeom>
          <a:ln>
            <a:solidFill>
              <a:schemeClr val="tx1"/>
            </a:solidFill>
          </a:ln>
        </p:spPr>
      </p:pic>
      <p:sp>
        <p:nvSpPr>
          <p:cNvPr id="7"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429601" y="811428"/>
            <a:ext cx="10052311"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4.1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a:t>
            </a:r>
            <a:r>
              <a:rPr lang="zh-CN" altLang="en-US" dirty="0">
                <a:solidFill>
                  <a:prstClr val="black"/>
                </a:solidFill>
                <a:latin typeface="微软雅黑" panose="020B0503020204020204" pitchFamily="34" charset="-122"/>
                <a:ea typeface="微软雅黑" panose="020B0503020204020204" pitchFamily="34" charset="-122"/>
                <a:sym typeface="+mn-ea"/>
              </a:rPr>
              <a:t>局部加权回归算法和双指数衰减模型拟合，构建可导压降曲线数据</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TextBox 2"/>
          <p:cNvSpPr txBox="1">
            <a:spLocks noChangeArrowheads="1"/>
          </p:cNvSpPr>
          <p:nvPr/>
        </p:nvSpPr>
        <p:spPr bwMode="auto">
          <a:xfrm>
            <a:off x="334645" y="1342390"/>
            <a:ext cx="11520170" cy="1230630"/>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indent="-342265" fontAlgn="base">
              <a:buFont typeface="Wingdings" panose="05000000000000000000" pitchFamily="2" charset="2"/>
              <a:buChar char="l"/>
              <a:defRPr/>
            </a:pPr>
            <a:r>
              <a:rPr lang="zh-CN" altLang="en-US" sz="1600" dirty="0">
                <a:cs typeface="Times New Roman" panose="02020603050405020304" pitchFamily="18" charset="0"/>
              </a:rPr>
              <a:t>局部加权回归处理后数据仍存在的</a:t>
            </a:r>
            <a:r>
              <a:rPr lang="zh-CN" altLang="en-US" sz="1600" dirty="0">
                <a:solidFill>
                  <a:srgbClr val="FF0000"/>
                </a:solidFill>
                <a:cs typeface="Times New Roman" panose="02020603050405020304" pitchFamily="18" charset="0"/>
              </a:rPr>
              <a:t>阶梯状下降特征</a:t>
            </a:r>
            <a:r>
              <a:rPr lang="zh-CN" altLang="en-US" sz="1600" dirty="0">
                <a:cs typeface="Times New Roman" panose="02020603050405020304" pitchFamily="18" charset="0"/>
              </a:rPr>
              <a:t>，采用</a:t>
            </a:r>
            <a:r>
              <a:rPr lang="zh-CN" altLang="en-US" sz="1600" dirty="0">
                <a:solidFill>
                  <a:srgbClr val="FF0000"/>
                </a:solidFill>
                <a:cs typeface="Times New Roman" panose="02020603050405020304" pitchFamily="18" charset="0"/>
              </a:rPr>
              <a:t>双指数衰减模型</a:t>
            </a:r>
            <a:r>
              <a:rPr lang="zh-CN" altLang="en-US" sz="1600" dirty="0">
                <a:cs typeface="Times New Roman" panose="02020603050405020304" pitchFamily="18" charset="0"/>
              </a:rPr>
              <a:t>进行拟合，以</a:t>
            </a:r>
            <a:r>
              <a:rPr lang="zh-CN" altLang="en-US" sz="1600" dirty="0">
                <a:solidFill>
                  <a:srgbClr val="FF0000"/>
                </a:solidFill>
                <a:cs typeface="Times New Roman" panose="02020603050405020304" pitchFamily="18" charset="0"/>
              </a:rPr>
              <a:t>恢复</a:t>
            </a:r>
            <a:r>
              <a:rPr lang="zh-CN" altLang="en-US" sz="1600" dirty="0">
                <a:cs typeface="Times New Roman" panose="02020603050405020304" pitchFamily="18" charset="0"/>
              </a:rPr>
              <a:t>因数据精度低而丢失的</a:t>
            </a:r>
            <a:r>
              <a:rPr lang="zh-CN" altLang="en-US" sz="1600" dirty="0">
                <a:solidFill>
                  <a:srgbClr val="FF0000"/>
                </a:solidFill>
                <a:cs typeface="Times New Roman" panose="02020603050405020304" pitchFamily="18" charset="0"/>
              </a:rPr>
              <a:t>细节</a:t>
            </a:r>
            <a:endParaRPr lang="en-US" altLang="zh-CN" sz="1600" dirty="0">
              <a:solidFill>
                <a:srgbClr val="FF0000"/>
              </a:solidFill>
            </a:endParaRPr>
          </a:p>
          <a:p>
            <a:pPr marL="342265" indent="-342265" fontAlgn="base">
              <a:spcBef>
                <a:spcPts val="0"/>
              </a:spcBef>
              <a:spcAft>
                <a:spcPts val="0"/>
              </a:spcAft>
              <a:buFont typeface="Wingdings" panose="05000000000000000000" pitchFamily="2" charset="2"/>
              <a:buChar char="l"/>
              <a:defRPr/>
            </a:pPr>
            <a:r>
              <a:rPr lang="zh-CN" altLang="en-US" sz="1600" dirty="0"/>
              <a:t>左图为</a:t>
            </a:r>
            <a:r>
              <a:rPr lang="zh-CN" altLang="en-US" sz="1600" dirty="0">
                <a:solidFill>
                  <a:srgbClr val="FF0000"/>
                </a:solidFill>
              </a:rPr>
              <a:t>双指数模型</a:t>
            </a:r>
            <a:r>
              <a:rPr lang="zh-CN" altLang="en-US" sz="1600" dirty="0"/>
              <a:t>的压力拟合结果，曲线与实测点</a:t>
            </a:r>
            <a:r>
              <a:rPr lang="zh-CN" altLang="en-US" sz="1600" dirty="0">
                <a:solidFill>
                  <a:srgbClr val="FF0000"/>
                </a:solidFill>
              </a:rPr>
              <a:t>高度吻合</a:t>
            </a:r>
            <a:r>
              <a:rPr lang="en-US" altLang="zh-CN" sz="1600" dirty="0"/>
              <a:t>,</a:t>
            </a:r>
            <a:r>
              <a:rPr lang="zh-CN" altLang="en-US" sz="1600" dirty="0"/>
              <a:t>红色标记指示通过拟合得到</a:t>
            </a:r>
            <a:r>
              <a:rPr lang="zh-CN" altLang="en-US" sz="1600" dirty="0">
                <a:solidFill>
                  <a:srgbClr val="FF0000"/>
                </a:solidFill>
              </a:rPr>
              <a:t>瞬时停泵压力</a:t>
            </a:r>
            <a:r>
              <a:rPr lang="zh-CN" altLang="en-US" sz="1600" dirty="0"/>
              <a:t>为</a:t>
            </a:r>
            <a:r>
              <a:rPr lang="en-US" altLang="zh-CN" sz="1600" dirty="0"/>
              <a:t>62.86Mpa</a:t>
            </a:r>
            <a:endParaRPr lang="en-US" altLang="zh-CN" sz="1600" dirty="0">
              <a:cs typeface="Times New Roman" panose="02020603050405020304" pitchFamily="18" charset="0"/>
            </a:endParaRPr>
          </a:p>
          <a:p>
            <a:pPr marL="342265" indent="-342265" fontAlgn="base">
              <a:buFont typeface="Wingdings" panose="05000000000000000000" pitchFamily="2" charset="2"/>
              <a:buChar char="l"/>
              <a:defRPr/>
            </a:pPr>
            <a:r>
              <a:rPr lang="zh-CN" altLang="en-US" sz="1600" dirty="0"/>
              <a:t>采用</a:t>
            </a:r>
            <a:r>
              <a:rPr lang="zh-CN" altLang="en-US" sz="1600" dirty="0">
                <a:solidFill>
                  <a:srgbClr val="FF0000"/>
                </a:solidFill>
              </a:rPr>
              <a:t>局部加权回归算法</a:t>
            </a:r>
            <a:r>
              <a:rPr lang="zh-CN" altLang="en-US" sz="1600" dirty="0"/>
              <a:t>与</a:t>
            </a:r>
            <a:r>
              <a:rPr lang="zh-CN" altLang="en-US" sz="1600" dirty="0">
                <a:solidFill>
                  <a:srgbClr val="FF0000"/>
                </a:solidFill>
              </a:rPr>
              <a:t>双指数衰减模型</a:t>
            </a:r>
            <a:r>
              <a:rPr lang="zh-CN" altLang="en-US" sz="1600" dirty="0"/>
              <a:t>相结合的综合数据处理方法，最终获得的</a:t>
            </a:r>
            <a:r>
              <a:rPr lang="en-GB" altLang="zh-CN" sz="1600" dirty="0" err="1">
                <a:solidFill>
                  <a:srgbClr val="FF0000"/>
                </a:solidFill>
              </a:rPr>
              <a:t>Gdp</a:t>
            </a:r>
            <a:r>
              <a:rPr lang="en-GB" altLang="zh-CN" sz="1600" dirty="0">
                <a:solidFill>
                  <a:srgbClr val="FF0000"/>
                </a:solidFill>
              </a:rPr>
              <a:t>/dg-G</a:t>
            </a:r>
            <a:r>
              <a:rPr lang="zh-CN" altLang="en-US" sz="1600" dirty="0">
                <a:solidFill>
                  <a:srgbClr val="FF0000"/>
                </a:solidFill>
              </a:rPr>
              <a:t>诊断图版</a:t>
            </a:r>
            <a:r>
              <a:rPr lang="zh-CN" altLang="en-US" sz="1600" dirty="0"/>
              <a:t>具有</a:t>
            </a:r>
            <a:r>
              <a:rPr lang="zh-CN" altLang="en-US" sz="1600" dirty="0">
                <a:solidFill>
                  <a:srgbClr val="FF0000"/>
                </a:solidFill>
              </a:rPr>
              <a:t>良好的识别效果</a:t>
            </a:r>
            <a:endParaRPr lang="zh-CN" altLang="en-US" sz="1600" dirty="0">
              <a:solidFill>
                <a:srgbClr val="FF0000"/>
              </a:solidFill>
            </a:endParaRPr>
          </a:p>
        </p:txBody>
      </p:sp>
      <p:sp>
        <p:nvSpPr>
          <p:cNvPr id="6" name="文本框 38"/>
          <p:cNvSpPr txBox="1"/>
          <p:nvPr>
            <p:custDataLst>
              <p:tags r:id="rId1"/>
            </p:custDataLst>
          </p:nvPr>
        </p:nvSpPr>
        <p:spPr>
          <a:xfrm>
            <a:off x="564515" y="6091555"/>
            <a:ext cx="5204460" cy="260350"/>
          </a:xfrm>
          <a:prstGeom prst="rect">
            <a:avLst/>
          </a:prstGeom>
          <a:noFill/>
        </p:spPr>
        <p:txBody>
          <a:bodyPr wrap="square" rtlCol="0">
            <a:spAutoFit/>
          </a:bodyPr>
          <a:lstStyle/>
          <a:p>
            <a:pPr lvl="0" algn="ctr" defTabSz="457200" eaLnBrk="0" fontAlgn="base" hangingPunct="0"/>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局部加权回归算法</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双指数拟合处理后</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P-G</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文本框 38"/>
          <p:cNvSpPr txBox="1"/>
          <p:nvPr>
            <p:custDataLst>
              <p:tags r:id="rId2"/>
            </p:custDataLst>
          </p:nvPr>
        </p:nvSpPr>
        <p:spPr>
          <a:xfrm>
            <a:off x="6296660" y="6091555"/>
            <a:ext cx="5245735" cy="260350"/>
          </a:xfrm>
          <a:prstGeom prst="rect">
            <a:avLst/>
          </a:prstGeom>
          <a:noFill/>
        </p:spPr>
        <p:txBody>
          <a:bodyPr wrap="square" rtlCol="0">
            <a:spAutoFit/>
          </a:bodyPr>
          <a:lstStyle/>
          <a:p>
            <a:pPr algn="ctr" defTabSz="457200" eaLnBrk="0" fontAlgn="base" hangingPunct="0"/>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局部加权回归算法</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双指数拟合处理后</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dP</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dG</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 name="图片 11"/>
          <p:cNvPicPr>
            <a:picLocks noChangeAspect="1"/>
          </p:cNvPicPr>
          <p:nvPr>
            <p:custDataLst>
              <p:tags r:id="rId3"/>
            </p:custDataLst>
          </p:nvPr>
        </p:nvPicPr>
        <p:blipFill>
          <a:blip r:embed="rId4"/>
          <a:srcRect/>
          <a:stretch>
            <a:fillRect/>
          </a:stretch>
        </p:blipFill>
        <p:spPr>
          <a:xfrm>
            <a:off x="564632" y="2713044"/>
            <a:ext cx="5203230" cy="3121938"/>
          </a:xfrm>
          <a:prstGeom prst="rect">
            <a:avLst/>
          </a:prstGeom>
          <a:ln>
            <a:solidFill>
              <a:schemeClr val="tx1"/>
            </a:solidFill>
          </a:ln>
        </p:spPr>
      </p:pic>
      <p:pic>
        <p:nvPicPr>
          <p:cNvPr id="17" name="图片 16"/>
          <p:cNvPicPr>
            <a:picLocks noChangeAspect="1"/>
          </p:cNvPicPr>
          <p:nvPr>
            <p:custDataLst>
              <p:tags r:id="rId5"/>
            </p:custDataLst>
          </p:nvPr>
        </p:nvPicPr>
        <p:blipFill>
          <a:blip r:embed="rId6"/>
          <a:srcRect/>
          <a:stretch>
            <a:fillRect/>
          </a:stretch>
        </p:blipFill>
        <p:spPr>
          <a:xfrm>
            <a:off x="6296766" y="2713044"/>
            <a:ext cx="5245703" cy="3147422"/>
          </a:xfrm>
          <a:prstGeom prst="rect">
            <a:avLst/>
          </a:prstGeom>
          <a:ln>
            <a:solidFill>
              <a:schemeClr val="tx1"/>
            </a:solidFill>
          </a:ln>
        </p:spPr>
      </p:pic>
      <p:sp>
        <p:nvSpPr>
          <p:cNvPr id="3"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429601" y="811428"/>
            <a:ext cx="10052311" cy="506730"/>
          </a:xfrm>
          <a:prstGeom prst="rect">
            <a:avLst/>
          </a:prstGeom>
          <a:noFill/>
          <a:ln>
            <a:noFill/>
          </a:ln>
        </p:spPr>
        <p:txBody>
          <a:bodyPr wrap="square">
            <a:spAutoFit/>
          </a:bodyPr>
          <a:lstStyle/>
          <a:p>
            <a:pPr marL="802005" lvl="0" indent="-802005">
              <a:lnSpc>
                <a:spcPct val="150000"/>
              </a:lnSpc>
              <a:buClr>
                <a:srgbClr val="FF0000"/>
              </a:buClr>
              <a:defRPr/>
            </a:pPr>
            <a:r>
              <a:rPr lang="en-US" altLang="zh-CN" dirty="0">
                <a:solidFill>
                  <a:prstClr val="black"/>
                </a:solidFill>
                <a:latin typeface="微软雅黑" panose="020B0503020204020204" pitchFamily="34" charset="-122"/>
                <a:ea typeface="微软雅黑" panose="020B0503020204020204" pitchFamily="34" charset="-122"/>
                <a:sym typeface="+mn-ea"/>
              </a:rPr>
              <a:t>4.2</a:t>
            </a:r>
            <a:r>
              <a:rPr lang="zh-CN" altLang="en-US" dirty="0">
                <a:solidFill>
                  <a:prstClr val="black"/>
                </a:solidFill>
                <a:latin typeface="微软雅黑" panose="020B0503020204020204" pitchFamily="34" charset="-122"/>
                <a:ea typeface="微软雅黑" panose="020B0503020204020204" pitchFamily="34" charset="-122"/>
                <a:sym typeface="+mn-ea"/>
              </a:rPr>
              <a:t>、基于</a:t>
            </a:r>
            <a:r>
              <a:rPr lang="en-US" altLang="zh-CN" dirty="0">
                <a:solidFill>
                  <a:prstClr val="black"/>
                </a:solidFill>
                <a:latin typeface="微软雅黑" panose="020B0503020204020204" pitchFamily="34" charset="-122"/>
                <a:ea typeface="微软雅黑" panose="020B0503020204020204" pitchFamily="34" charset="-122"/>
                <a:sym typeface="+mn-ea"/>
              </a:rPr>
              <a:t>G</a:t>
            </a:r>
            <a:r>
              <a:rPr lang="zh-CN" altLang="en-US" dirty="0">
                <a:solidFill>
                  <a:prstClr val="black"/>
                </a:solidFill>
                <a:latin typeface="微软雅黑" panose="020B0503020204020204" pitchFamily="34" charset="-122"/>
                <a:ea typeface="微软雅黑" panose="020B0503020204020204" pitchFamily="34" charset="-122"/>
                <a:sym typeface="+mn-ea"/>
              </a:rPr>
              <a:t>函数曲线峰值特征，构建裂缝网络复杂度评价方法</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4" name="TextBox 2"/>
              <p:cNvSpPr txBox="1">
                <a:spLocks noChangeArrowheads="1"/>
              </p:cNvSpPr>
              <p:nvPr/>
            </p:nvSpPr>
            <p:spPr bwMode="auto">
              <a:xfrm>
                <a:off x="334645" y="1342390"/>
                <a:ext cx="11520170" cy="1230630"/>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buFont typeface="Wingdings" panose="05000000000000000000" charset="0"/>
                  <a:buChar char="l"/>
                </a:pPr>
                <a:r>
                  <a:rPr lang="zh-CN" altLang="en-US" sz="1600" dirty="0">
                    <a:cs typeface="Times New Roman" panose="02020603050405020304" pitchFamily="18" charset="0"/>
                  </a:rPr>
                  <a:t>峰值数量</a:t>
                </a:r>
                <a14:m>
                  <m:oMath xmlns:m="http://schemas.openxmlformats.org/officeDocument/2006/math">
                    <m:sSub>
                      <m:sSubPr>
                        <m:ctrlPr>
                          <a:rPr lang="en-US" altLang="zh-CN" sz="1600" i="1" dirty="0">
                            <a:latin typeface="Cambria Math" panose="02040503050406030204" pitchFamily="18" charset="0"/>
                            <a:cs typeface="Times New Roman" panose="02020603050405020304" pitchFamily="18" charset="0"/>
                          </a:rPr>
                        </m:ctrlPr>
                      </m:sSubPr>
                      <m:e>
                        <m:r>
                          <m:rPr>
                            <m:sty m:val="p"/>
                          </m:rPr>
                          <a:rPr lang="en-US" altLang="zh-CN" sz="1600" i="1" dirty="0">
                            <a:latin typeface="Cambria Math" panose="02040503050406030204" pitchFamily="18" charset="0"/>
                            <a:cs typeface="Times New Roman" panose="02020603050405020304" pitchFamily="18" charset="0"/>
                          </a:rPr>
                          <m:t>N</m:t>
                        </m:r>
                      </m:e>
                      <m:sub>
                        <m:r>
                          <m:rPr>
                            <m:sty m:val="p"/>
                          </m:rPr>
                          <a:rPr lang="en-US" altLang="zh-CN" sz="1600" i="1" dirty="0">
                            <a:latin typeface="Cambria Math" panose="02040503050406030204" pitchFamily="18" charset="0"/>
                            <a:cs typeface="Times New Roman" panose="02020603050405020304" pitchFamily="18" charset="0"/>
                          </a:rPr>
                          <m:t>peaks</m:t>
                        </m:r>
                      </m:sub>
                    </m:sSub>
                  </m:oMath>
                </a14:m>
                <a:r>
                  <a:rPr lang="zh-CN" altLang="en-US" sz="1600" dirty="0">
                    <a:cs typeface="Times New Roman" panose="02020603050405020304" pitchFamily="18" charset="0"/>
                  </a:rPr>
                  <a:t>反映裂缝闭合特征，</a:t>
                </a:r>
                <a:r>
                  <a:rPr lang="zh-CN" altLang="en-US" sz="1600" dirty="0">
                    <a:solidFill>
                      <a:srgbClr val="FF0000"/>
                    </a:solidFill>
                    <a:cs typeface="Times New Roman" panose="02020603050405020304" pitchFamily="18" charset="0"/>
                  </a:rPr>
                  <a:t>峰值数量</a:t>
                </a:r>
                <a:r>
                  <a:rPr lang="zh-CN" altLang="en-US" sz="1600" dirty="0">
                    <a:cs typeface="Times New Roman" panose="02020603050405020304" pitchFamily="18" charset="0"/>
                  </a:rPr>
                  <a:t>越多表明裂缝网络经历了更多次</a:t>
                </a:r>
                <a:r>
                  <a:rPr lang="zh-CN" altLang="en-US" sz="1600" dirty="0">
                    <a:solidFill>
                      <a:srgbClr val="FF0000"/>
                    </a:solidFill>
                    <a:cs typeface="Times New Roman" panose="02020603050405020304" pitchFamily="18" charset="0"/>
                  </a:rPr>
                  <a:t>闭合过程</a:t>
                </a:r>
                <a:r>
                  <a:rPr lang="zh-CN" altLang="en-US" sz="1600" dirty="0">
                    <a:cs typeface="Times New Roman" panose="02020603050405020304" pitchFamily="18" charset="0"/>
                  </a:rPr>
                  <a:t>，从而揭示出裂缝结构的</a:t>
                </a:r>
                <a:r>
                  <a:rPr lang="zh-CN" altLang="en-US" sz="1600" dirty="0">
                    <a:solidFill>
                      <a:srgbClr val="FF0000"/>
                    </a:solidFill>
                    <a:cs typeface="Times New Roman" panose="02020603050405020304" pitchFamily="18" charset="0"/>
                  </a:rPr>
                  <a:t>复杂程度</a:t>
                </a:r>
                <a:endParaRPr lang="en-US" altLang="zh-CN" sz="1600" dirty="0">
                  <a:cs typeface="Times New Roman" panose="02020603050405020304" pitchFamily="18" charset="0"/>
                </a:endParaRPr>
              </a:p>
              <a:p>
                <a:pPr marL="342900" indent="-342900">
                  <a:buFont typeface="Wingdings" panose="05000000000000000000" charset="0"/>
                  <a:buChar char="l"/>
                </a:pPr>
                <a:r>
                  <a:rPr lang="zh-CN" altLang="en-US" sz="1600" dirty="0"/>
                  <a:t>然而对实际数据集的统计分析发现，</a:t>
                </a:r>
                <a:r>
                  <a:rPr lang="zh-CN" altLang="en-US" sz="1600" dirty="0">
                    <a:solidFill>
                      <a:srgbClr val="FF0000"/>
                    </a:solidFill>
                  </a:rPr>
                  <a:t>峰值数量为零</a:t>
                </a:r>
                <a:r>
                  <a:rPr lang="zh-CN" altLang="en-US" sz="1600" dirty="0"/>
                  <a:t>的样本占比高达</a:t>
                </a:r>
                <a:r>
                  <a:rPr lang="en-US" altLang="zh-CN" sz="1600" dirty="0">
                    <a:solidFill>
                      <a:srgbClr val="FF0000"/>
                    </a:solidFill>
                  </a:rPr>
                  <a:t>38.6%</a:t>
                </a:r>
                <a:r>
                  <a:rPr lang="zh-CN" altLang="en-US" sz="1600" dirty="0"/>
                  <a:t>，且整体样本的峰值数量</a:t>
                </a:r>
                <a:r>
                  <a:rPr lang="zh-CN" altLang="en-US" sz="1600" dirty="0">
                    <a:solidFill>
                      <a:srgbClr val="FF0000"/>
                    </a:solidFill>
                  </a:rPr>
                  <a:t>差异较小</a:t>
                </a:r>
                <a:r>
                  <a:rPr lang="zh-CN" altLang="en-US" sz="1600" dirty="0"/>
                  <a:t>，</a:t>
                </a:r>
                <a:r>
                  <a:rPr lang="zh-CN" altLang="en-US" sz="1600" dirty="0">
                    <a:solidFill>
                      <a:srgbClr val="FF0000"/>
                    </a:solidFill>
                  </a:rPr>
                  <a:t>区分度不足</a:t>
                </a:r>
                <a:endParaRPr lang="en-US" altLang="zh-CN" sz="1600" dirty="0">
                  <a:solidFill>
                    <a:srgbClr val="FF0000"/>
                  </a:solidFill>
                </a:endParaRPr>
              </a:p>
              <a:p>
                <a:pPr marL="342900" indent="-342900">
                  <a:buFont typeface="Wingdings" panose="05000000000000000000" charset="0"/>
                  <a:buChar char="l"/>
                </a:pPr>
                <a:r>
                  <a:rPr lang="zh-CN" altLang="en-US" sz="1600" dirty="0"/>
                  <a:t>为此引入</a:t>
                </a:r>
                <a14:m>
                  <m:oMath xmlns:m="http://schemas.openxmlformats.org/officeDocument/2006/math">
                    <m:sSub>
                      <m:sSubPr>
                        <m:ctrlPr>
                          <a:rPr lang="ar-AE" altLang="zh-CN" i="1">
                            <a:latin typeface="Cambria Math" panose="02040503050406030204" pitchFamily="18" charset="0"/>
                          </a:rPr>
                        </m:ctrlPr>
                      </m:sSubPr>
                      <m:e>
                        <m:r>
                          <a:rPr lang="ar-AE" altLang="zh-CN" i="1">
                            <a:latin typeface="Cambria Math" panose="02040503050406030204" pitchFamily="18" charset="0"/>
                          </a:rPr>
                          <m:t>𝐶</m:t>
                        </m:r>
                      </m:e>
                      <m:sub>
                        <m:r>
                          <a:rPr lang="ar-AE" altLang="zh-CN" i="1">
                            <a:latin typeface="Cambria Math" panose="02040503050406030204" pitchFamily="18" charset="0"/>
                          </a:rPr>
                          <m:t>𝑝𝑟𝑜𝑓𝑖𝑙𝑒</m:t>
                        </m:r>
                      </m:sub>
                    </m:sSub>
                  </m:oMath>
                </a14:m>
                <a:r>
                  <a:rPr lang="zh-CN" altLang="en-US" sz="1600" dirty="0"/>
                  <a:t>参数刻画</a:t>
                </a:r>
                <a:r>
                  <a:rPr lang="zh-CN" altLang="en-US" sz="1600" dirty="0">
                    <a:solidFill>
                      <a:srgbClr val="FF0000"/>
                    </a:solidFill>
                  </a:rPr>
                  <a:t>曲线整体形态</a:t>
                </a:r>
                <a:r>
                  <a:rPr lang="zh-CN" altLang="en-US" sz="1600" dirty="0"/>
                  <a:t>以区分</a:t>
                </a:r>
                <a:r>
                  <a:rPr lang="zh-CN" altLang="en-US" sz="1600" dirty="0">
                    <a:solidFill>
                      <a:srgbClr val="FF0000"/>
                    </a:solidFill>
                  </a:rPr>
                  <a:t>零峰值情况</a:t>
                </a:r>
                <a:r>
                  <a:rPr lang="zh-CN" altLang="en-US" sz="1600" dirty="0"/>
                  <a:t>，并引入</a:t>
                </a:r>
                <a14:m>
                  <m:oMath xmlns:m="http://schemas.openxmlformats.org/officeDocument/2006/math">
                    <m:sSub>
                      <m:sSubPr>
                        <m:ctrlPr>
                          <a:rPr lang="ar-AE" altLang="zh-CN" i="1">
                            <a:latin typeface="Cambria Math" panose="02040503050406030204" pitchFamily="18" charset="0"/>
                          </a:rPr>
                        </m:ctrlPr>
                      </m:sSubPr>
                      <m:e>
                        <m:r>
                          <a:rPr lang="ar-AE" altLang="zh-CN" i="1">
                            <a:latin typeface="Cambria Math" panose="02040503050406030204" pitchFamily="18" charset="0"/>
                          </a:rPr>
                          <m:t>𝑄</m:t>
                        </m:r>
                      </m:e>
                      <m:sub>
                        <m:r>
                          <a:rPr lang="ar-AE" altLang="zh-CN" i="1">
                            <a:latin typeface="Cambria Math" panose="02040503050406030204" pitchFamily="18" charset="0"/>
                          </a:rPr>
                          <m:t>𝑝𝑒𝑎𝑘𝑠</m:t>
                        </m:r>
                      </m:sub>
                    </m:sSub>
                  </m:oMath>
                </a14:m>
                <a:r>
                  <a:rPr lang="zh-CN" altLang="en-US" sz="1600" dirty="0"/>
                  <a:t>参数量化</a:t>
                </a:r>
                <a:r>
                  <a:rPr lang="zh-CN" altLang="en-US" sz="1600" dirty="0">
                    <a:solidFill>
                      <a:srgbClr val="FF0000"/>
                    </a:solidFill>
                  </a:rPr>
                  <a:t>峰值影响力</a:t>
                </a:r>
                <a:r>
                  <a:rPr lang="zh-CN" altLang="en-US" sz="1600" dirty="0"/>
                  <a:t>以区分</a:t>
                </a:r>
                <a:r>
                  <a:rPr lang="zh-CN" altLang="en-US" sz="1600" dirty="0">
                    <a:solidFill>
                      <a:srgbClr val="FF0000"/>
                    </a:solidFill>
                  </a:rPr>
                  <a:t>相同峰值数量</a:t>
                </a:r>
                <a:r>
                  <a:rPr lang="zh-CN" altLang="en-US" sz="1600" dirty="0"/>
                  <a:t>的样本。</a:t>
                </a:r>
                <a:endParaRPr lang="zh-CN" altLang="en-US" sz="1600" dirty="0">
                  <a:cs typeface="Times New Roman" panose="02020603050405020304" pitchFamily="18" charset="0"/>
                </a:endParaRPr>
              </a:p>
            </p:txBody>
          </p:sp>
        </mc:Choice>
        <mc:Fallback>
          <p:sp>
            <p:nvSpPr>
              <p:cNvPr id="4" name="TextBox 2"/>
              <p:cNvSpPr txBox="1">
                <a:spLocks noRot="1" noChangeAspect="1" noMove="1" noResize="1" noEditPoints="1" noAdjustHandles="1" noChangeArrowheads="1" noChangeShapeType="1" noTextEdit="1"/>
              </p:cNvSpPr>
              <p:nvPr/>
            </p:nvSpPr>
            <p:spPr bwMode="auto">
              <a:xfrm>
                <a:off x="334645" y="1342390"/>
                <a:ext cx="11520170" cy="1230630"/>
              </a:xfrm>
              <a:prstGeom prst="rect">
                <a:avLst/>
              </a:prstGeom>
              <a:blipFill rotWithShape="1">
                <a:blip r:embed="rId1"/>
                <a:stretch>
                  <a:fillRect r="-154" b="-1032"/>
                </a:stretch>
              </a:blipFill>
              <a:ln w="9525">
                <a:noFill/>
                <a:miter lim="800000"/>
              </a:ln>
              <a:effectLst>
                <a:prstShdw prst="shdw17" dist="17961" dir="2700000">
                  <a:srgbClr val="4C7D23"/>
                </a:prstShdw>
              </a:effectLst>
            </p:spPr>
            <p:txBody>
              <a:bodyPr/>
              <a:lstStyle/>
              <a:p>
                <a:r>
                  <a:rPr lang="zh-CN" altLang="en-US">
                    <a:noFill/>
                  </a:rPr>
                  <a:t> </a:t>
                </a:r>
              </a:p>
            </p:txBody>
          </p:sp>
        </mc:Fallback>
      </mc:AlternateContent>
      <p:sp>
        <p:nvSpPr>
          <p:cNvPr id="6" name="文本框 38"/>
          <p:cNvSpPr txBox="1"/>
          <p:nvPr>
            <p:custDataLst>
              <p:tags r:id="rId2"/>
            </p:custDataLst>
          </p:nvPr>
        </p:nvSpPr>
        <p:spPr>
          <a:xfrm>
            <a:off x="564515" y="6091555"/>
            <a:ext cx="5204460" cy="260350"/>
          </a:xfrm>
          <a:prstGeom prst="rect">
            <a:avLst/>
          </a:prstGeom>
          <a:noFill/>
        </p:spPr>
        <p:txBody>
          <a:bodyPr wrap="square" rtlCol="0">
            <a:spAutoFit/>
          </a:bodyPr>
          <a:lstStyle/>
          <a:p>
            <a:pPr lvl="0" algn="ctr" defTabSz="457200" eaLnBrk="0" fontAlgn="base" hangingPunct="0"/>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峰值数量分布</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统计</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 name="图片 11"/>
          <p:cNvPicPr>
            <a:picLocks noChangeAspect="1"/>
          </p:cNvPicPr>
          <p:nvPr>
            <p:custDataLst>
              <p:tags r:id="rId3"/>
            </p:custDataLst>
          </p:nvPr>
        </p:nvPicPr>
        <p:blipFill>
          <a:blip r:embed="rId4"/>
          <a:srcRect/>
          <a:stretch>
            <a:fillRect/>
          </a:stretch>
        </p:blipFill>
        <p:spPr>
          <a:xfrm>
            <a:off x="659902" y="2713044"/>
            <a:ext cx="5012689" cy="3121938"/>
          </a:xfrm>
          <a:prstGeom prst="rect">
            <a:avLst/>
          </a:prstGeom>
          <a:ln>
            <a:solidFill>
              <a:schemeClr val="tx1"/>
            </a:solidFill>
          </a:ln>
        </p:spPr>
      </p:pic>
      <p:pic>
        <p:nvPicPr>
          <p:cNvPr id="8" name="图片 7"/>
          <p:cNvPicPr>
            <a:picLocks noChangeAspect="1"/>
          </p:cNvPicPr>
          <p:nvPr/>
        </p:nvPicPr>
        <p:blipFill>
          <a:blip r:embed="rId5"/>
          <a:srcRect t="43897" b="43165"/>
          <a:stretch>
            <a:fillRect/>
          </a:stretch>
        </p:blipFill>
        <p:spPr>
          <a:xfrm>
            <a:off x="5768975" y="2780665"/>
            <a:ext cx="5721985" cy="403860"/>
          </a:xfrm>
          <a:prstGeom prst="rect">
            <a:avLst/>
          </a:prstGeom>
        </p:spPr>
      </p:pic>
      <p:grpSp>
        <p:nvGrpSpPr>
          <p:cNvPr id="9" name="组合 8"/>
          <p:cNvGrpSpPr/>
          <p:nvPr/>
        </p:nvGrpSpPr>
        <p:grpSpPr>
          <a:xfrm>
            <a:off x="5768340" y="2713045"/>
            <a:ext cx="5701665" cy="3636645"/>
            <a:chOff x="382657" y="2919877"/>
            <a:chExt cx="3840463" cy="2478622"/>
          </a:xfrm>
        </p:grpSpPr>
        <p:sp>
          <p:nvSpPr>
            <p:cNvPr id="10" name="矩形: 圆角 38"/>
            <p:cNvSpPr/>
            <p:nvPr/>
          </p:nvSpPr>
          <p:spPr>
            <a:xfrm>
              <a:off x="383085" y="2919877"/>
              <a:ext cx="3840034" cy="2127813"/>
            </a:xfrm>
            <a:prstGeom prst="roundRect">
              <a:avLst>
                <a:gd name="adj" fmla="val 0"/>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82657" y="5210666"/>
              <a:ext cx="3840463" cy="187833"/>
            </a:xfrm>
            <a:prstGeom prst="rect">
              <a:avLst/>
            </a:prstGeom>
            <a:noFill/>
          </p:spPr>
          <p:txBody>
            <a:bodyPr wrap="square">
              <a:spAutoFit/>
            </a:bodyPr>
            <a:lstStyle/>
            <a:p>
              <a:pPr algn="ctr"/>
              <a:r>
                <a:rPr lang="zh-CN" altLang="en-US" sz="1200" dirty="0">
                  <a:latin typeface="微软雅黑" panose="020B0503020204020204" pitchFamily="34" charset="-122"/>
                  <a:ea typeface="微软雅黑" panose="020B0503020204020204" pitchFamily="34" charset="-122"/>
                </a:rPr>
                <a:t>裂缝复杂度指数</a:t>
              </a:r>
              <a:r>
                <a:rPr lang="zh-CN" altLang="en-US" sz="1200" dirty="0">
                  <a:latin typeface="微软雅黑" panose="020B0503020204020204" pitchFamily="34" charset="-122"/>
                  <a:ea typeface="微软雅黑" panose="020B0503020204020204" pitchFamily="34" charset="-122"/>
                </a:rPr>
                <a:t>计算公式</a:t>
              </a:r>
              <a:endParaRPr lang="zh-CN" altLang="en-US" sz="1200" dirty="0">
                <a:latin typeface="微软雅黑" panose="020B0503020204020204" pitchFamily="34" charset="-122"/>
                <a:ea typeface="微软雅黑" panose="020B0503020204020204" pitchFamily="34" charset="-122"/>
              </a:endParaRPr>
            </a:p>
          </p:txBody>
        </p:sp>
      </p:grpSp>
      <p:pic>
        <p:nvPicPr>
          <p:cNvPr id="15" name="图片 14"/>
          <p:cNvPicPr>
            <a:picLocks noChangeAspect="1"/>
          </p:cNvPicPr>
          <p:nvPr/>
        </p:nvPicPr>
        <p:blipFill>
          <a:blip r:embed="rId6"/>
          <a:srcRect t="39774" b="40032"/>
          <a:stretch>
            <a:fillRect/>
          </a:stretch>
        </p:blipFill>
        <p:spPr>
          <a:xfrm>
            <a:off x="5767705" y="3119120"/>
            <a:ext cx="5702300" cy="647700"/>
          </a:xfrm>
          <a:prstGeom prst="rect">
            <a:avLst/>
          </a:prstGeom>
        </p:spPr>
      </p:pic>
      <p:pic>
        <p:nvPicPr>
          <p:cNvPr id="18" name="图片 17"/>
          <p:cNvPicPr>
            <a:picLocks noChangeAspect="1"/>
          </p:cNvPicPr>
          <p:nvPr/>
        </p:nvPicPr>
        <p:blipFill>
          <a:blip r:embed="rId7"/>
          <a:srcRect t="18989" b="18834"/>
          <a:stretch>
            <a:fillRect/>
          </a:stretch>
        </p:blipFill>
        <p:spPr>
          <a:xfrm>
            <a:off x="5767705" y="3766820"/>
            <a:ext cx="2187575" cy="765175"/>
          </a:xfrm>
          <a:prstGeom prst="rect">
            <a:avLst/>
          </a:prstGeom>
        </p:spPr>
      </p:pic>
      <p:pic>
        <p:nvPicPr>
          <p:cNvPr id="21" name="图片 20"/>
          <p:cNvPicPr>
            <a:picLocks noChangeAspect="1"/>
          </p:cNvPicPr>
          <p:nvPr/>
        </p:nvPicPr>
        <p:blipFill>
          <a:blip r:embed="rId8"/>
          <a:srcRect t="28148" b="27867"/>
          <a:stretch>
            <a:fillRect/>
          </a:stretch>
        </p:blipFill>
        <p:spPr>
          <a:xfrm>
            <a:off x="5815330" y="4563110"/>
            <a:ext cx="3933190" cy="973455"/>
          </a:xfrm>
          <a:prstGeom prst="rect">
            <a:avLst/>
          </a:prstGeom>
        </p:spPr>
      </p:pic>
      <p:pic>
        <p:nvPicPr>
          <p:cNvPr id="23" name="图片 22"/>
          <p:cNvPicPr>
            <a:picLocks noChangeAspect="1"/>
          </p:cNvPicPr>
          <p:nvPr/>
        </p:nvPicPr>
        <p:blipFill>
          <a:blip r:embed="rId9"/>
          <a:stretch>
            <a:fillRect/>
          </a:stretch>
        </p:blipFill>
        <p:spPr>
          <a:xfrm>
            <a:off x="9891527" y="4646731"/>
            <a:ext cx="1538983" cy="865678"/>
          </a:xfrm>
          <a:prstGeom prst="rect">
            <a:avLst/>
          </a:prstGeom>
        </p:spPr>
      </p:pic>
      <p:sp>
        <p:nvSpPr>
          <p:cNvPr id="24"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429601" y="811428"/>
            <a:ext cx="10052311" cy="506730"/>
          </a:xfrm>
          <a:prstGeom prst="rect">
            <a:avLst/>
          </a:prstGeom>
          <a:noFill/>
          <a:ln>
            <a:noFill/>
          </a:ln>
        </p:spPr>
        <p:txBody>
          <a:bodyPr wrap="square">
            <a:spAutoFit/>
          </a:bodyPr>
          <a:lstStyle/>
          <a:p>
            <a:pPr marL="802005" lvl="0" indent="-802005">
              <a:lnSpc>
                <a:spcPct val="150000"/>
              </a:lnSpc>
              <a:buClr>
                <a:srgbClr val="FF0000"/>
              </a:buClr>
              <a:defRPr/>
            </a:pPr>
            <a:r>
              <a:rPr lang="en-US" altLang="zh-CN" dirty="0">
                <a:solidFill>
                  <a:prstClr val="black"/>
                </a:solidFill>
                <a:latin typeface="微软雅黑" panose="020B0503020204020204" pitchFamily="34" charset="-122"/>
                <a:ea typeface="微软雅黑" panose="020B0503020204020204" pitchFamily="34" charset="-122"/>
                <a:sym typeface="+mn-ea"/>
              </a:rPr>
              <a:t>4.2</a:t>
            </a:r>
            <a:r>
              <a:rPr lang="zh-CN" altLang="en-US" dirty="0">
                <a:solidFill>
                  <a:prstClr val="black"/>
                </a:solidFill>
                <a:latin typeface="微软雅黑" panose="020B0503020204020204" pitchFamily="34" charset="-122"/>
                <a:ea typeface="微软雅黑" panose="020B0503020204020204" pitchFamily="34" charset="-122"/>
                <a:sym typeface="+mn-ea"/>
              </a:rPr>
              <a:t>、基于</a:t>
            </a:r>
            <a:r>
              <a:rPr lang="en-US" altLang="zh-CN" dirty="0">
                <a:solidFill>
                  <a:prstClr val="black"/>
                </a:solidFill>
                <a:latin typeface="微软雅黑" panose="020B0503020204020204" pitchFamily="34" charset="-122"/>
                <a:ea typeface="微软雅黑" panose="020B0503020204020204" pitchFamily="34" charset="-122"/>
                <a:sym typeface="+mn-ea"/>
              </a:rPr>
              <a:t>G</a:t>
            </a:r>
            <a:r>
              <a:rPr lang="zh-CN" altLang="en-US" dirty="0">
                <a:solidFill>
                  <a:prstClr val="black"/>
                </a:solidFill>
                <a:latin typeface="微软雅黑" panose="020B0503020204020204" pitchFamily="34" charset="-122"/>
                <a:ea typeface="微软雅黑" panose="020B0503020204020204" pitchFamily="34" charset="-122"/>
                <a:sym typeface="+mn-ea"/>
              </a:rPr>
              <a:t>函数曲线峰值特征，构建裂缝网络复杂度评价方法</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4" name="TextBox 2"/>
              <p:cNvSpPr txBox="1">
                <a:spLocks noChangeArrowheads="1"/>
              </p:cNvSpPr>
              <p:nvPr/>
            </p:nvSpPr>
            <p:spPr bwMode="auto">
              <a:xfrm>
                <a:off x="334645" y="1342390"/>
                <a:ext cx="11520170" cy="1230630"/>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900" indent="-342900">
                  <a:buFont typeface="Wingdings" panose="05000000000000000000" charset="0"/>
                  <a:buChar char="l"/>
                </a:pPr>
                <a:r>
                  <a:rPr lang="zh-CN" altLang="en-US" sz="1600" dirty="0"/>
                  <a:t>构建了基于</a:t>
                </a:r>
                <a:r>
                  <a:rPr lang="en-GB" altLang="zh-CN" sz="1600" dirty="0">
                    <a:solidFill>
                      <a:srgbClr val="FF0000"/>
                    </a:solidFill>
                  </a:rPr>
                  <a:t>G</a:t>
                </a:r>
                <a:r>
                  <a:rPr lang="zh-CN" altLang="en-US" sz="1600" dirty="0">
                    <a:solidFill>
                      <a:srgbClr val="FF0000"/>
                    </a:solidFill>
                  </a:rPr>
                  <a:t>函数曲线特征</a:t>
                </a:r>
                <a:r>
                  <a:rPr lang="zh-CN" altLang="en-US" sz="1600" dirty="0"/>
                  <a:t>的裂缝复杂度评价</a:t>
                </a:r>
                <a:r>
                  <a:rPr lang="zh-CN" altLang="en-US" sz="1600" dirty="0"/>
                  <a:t>方法，建立了包括最大曲率、标准差等在内的</a:t>
                </a:r>
                <a:r>
                  <a:rPr lang="zh-CN" altLang="en-US" sz="1600" dirty="0">
                    <a:solidFill>
                      <a:srgbClr val="FF0000"/>
                    </a:solidFill>
                  </a:rPr>
                  <a:t>裂缝复杂度定量表征</a:t>
                </a:r>
                <a:r>
                  <a:rPr lang="zh-CN" altLang="en-US" sz="1600" dirty="0"/>
                  <a:t>参数</a:t>
                </a:r>
                <a:endParaRPr lang="en-US" altLang="zh-CN" sz="1600" dirty="0"/>
              </a:p>
              <a:p>
                <a:pPr marL="342900" indent="-342900">
                  <a:buFont typeface="Wingdings" panose="05000000000000000000" charset="0"/>
                  <a:buChar char="l"/>
                </a:pPr>
                <a:r>
                  <a:rPr lang="zh-CN" altLang="en-US" sz="1600" dirty="0"/>
                  <a:t>右图展示了压力、</a:t>
                </a:r>
                <a14:m>
                  <m:oMath xmlns:m="http://schemas.openxmlformats.org/officeDocument/2006/math">
                    <m:r>
                      <a:rPr lang="zh-CN" altLang="en-US" sz="1600">
                        <a:latin typeface="Cambria Math" panose="02040503050406030204" pitchFamily="18" charset="0"/>
                      </a:rPr>
                      <m:t>𝐺𝑑𝑃</m:t>
                    </m:r>
                    <m:r>
                      <a:rPr lang="en-US" altLang="zh-CN" sz="1600">
                        <a:latin typeface="Cambria Math" panose="02040503050406030204" pitchFamily="18" charset="0"/>
                      </a:rPr>
                      <m:t>/</m:t>
                    </m:r>
                    <m:r>
                      <a:rPr lang="zh-CN" altLang="en-US" sz="1600">
                        <a:latin typeface="Cambria Math" panose="02040503050406030204" pitchFamily="18" charset="0"/>
                      </a:rPr>
                      <m:t>𝑑𝐺</m:t>
                    </m:r>
                  </m:oMath>
                </a14:m>
                <a:r>
                  <a:rPr lang="zh-CN" altLang="en-US" sz="1600" dirty="0"/>
                  <a:t>和</a:t>
                </a:r>
                <a14:m>
                  <m:oMath xmlns:m="http://schemas.openxmlformats.org/officeDocument/2006/math">
                    <m:r>
                      <a:rPr lang="zh-CN" altLang="en-US" sz="1600">
                        <a:latin typeface="Cambria Math" panose="02040503050406030204" pitchFamily="18" charset="0"/>
                      </a:rPr>
                      <m:t>𝑑𝑃</m:t>
                    </m:r>
                    <m:r>
                      <a:rPr lang="en-US" altLang="zh-CN" sz="1600">
                        <a:latin typeface="Cambria Math" panose="02040503050406030204" pitchFamily="18" charset="0"/>
                      </a:rPr>
                      <m:t>/</m:t>
                    </m:r>
                    <m:r>
                      <a:rPr lang="zh-CN" altLang="en-US" sz="1600">
                        <a:latin typeface="Cambria Math" panose="02040503050406030204" pitchFamily="18" charset="0"/>
                      </a:rPr>
                      <m:t>𝑑𝐺</m:t>
                    </m:r>
                  </m:oMath>
                </a14:m>
                <a:r>
                  <a:rPr lang="zh-CN" altLang="en-US" sz="1600" dirty="0"/>
                  <a:t>三条曲线随</a:t>
                </a:r>
                <a:r>
                  <a:rPr lang="en-GB" altLang="zh-CN" sz="1600" dirty="0"/>
                  <a:t>G</a:t>
                </a:r>
                <a:r>
                  <a:rPr lang="zh-CN" altLang="en-US" sz="1600" dirty="0"/>
                  <a:t>函数时间的变化规律，识别出</a:t>
                </a:r>
                <a:r>
                  <a:rPr lang="zh-CN" altLang="en-US" sz="1600" dirty="0">
                    <a:solidFill>
                      <a:srgbClr val="FF0000"/>
                    </a:solidFill>
                  </a:rPr>
                  <a:t>两个显著的峰值特征点</a:t>
                </a:r>
                <a:endParaRPr lang="en-US" altLang="zh-CN" sz="1600" dirty="0"/>
              </a:p>
              <a:p>
                <a:pPr marL="342900" indent="-342900">
                  <a:buFont typeface="Wingdings" panose="05000000000000000000" charset="0"/>
                  <a:buChar char="l"/>
                </a:pPr>
                <a:r>
                  <a:rPr lang="zh-CN" altLang="en-US" sz="1600" dirty="0"/>
                  <a:t>分析结果表明</a:t>
                </a:r>
                <a:r>
                  <a:rPr lang="zh-CN" altLang="en-US" sz="1600" dirty="0">
                    <a:solidFill>
                      <a:srgbClr val="FF0000"/>
                    </a:solidFill>
                  </a:rPr>
                  <a:t>裂缝存在两个分支结构</a:t>
                </a:r>
                <a:r>
                  <a:rPr lang="zh-CN" altLang="en-US" sz="1600" dirty="0"/>
                  <a:t>，通过</a:t>
                </a:r>
                <a14:m>
                  <m:oMath xmlns:m="http://schemas.openxmlformats.org/officeDocument/2006/math">
                    <m:sSub>
                      <m:sSubPr>
                        <m:ctrlPr>
                          <a:rPr lang="en-GB" altLang="zh-CN" sz="1600" i="1" dirty="0" smtClean="0">
                            <a:latin typeface="Cambria Math" panose="02040503050406030204" pitchFamily="18" charset="0"/>
                          </a:rPr>
                        </m:ctrlPr>
                      </m:sSubPr>
                      <m:e>
                        <m:r>
                          <m:rPr>
                            <m:sty m:val="p"/>
                          </m:rPr>
                          <a:rPr lang="en-GB" altLang="zh-CN" sz="1600" i="1" dirty="0">
                            <a:latin typeface="Cambria Math" panose="02040503050406030204" pitchFamily="18" charset="0"/>
                          </a:rPr>
                          <m:t>C</m:t>
                        </m:r>
                      </m:e>
                      <m:sub>
                        <m:r>
                          <a:rPr lang="en-US" altLang="zh-CN" sz="1600" b="0" i="1" dirty="0" smtClean="0">
                            <a:latin typeface="Cambria Math" panose="02040503050406030204" pitchFamily="18" charset="0"/>
                          </a:rPr>
                          <m:t>𝑝𝑟𝑜𝑓𝑖𝑙𝑒</m:t>
                        </m:r>
                      </m:sub>
                    </m:sSub>
                  </m:oMath>
                </a14:m>
                <a:r>
                  <a:rPr lang="zh-CN" altLang="en-US" sz="1600" dirty="0"/>
                  <a:t>和</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b="0" i="1" dirty="0" smtClean="0">
                            <a:latin typeface="Cambria Math" panose="02040503050406030204" pitchFamily="18" charset="0"/>
                          </a:rPr>
                          <m:t>𝑄</m:t>
                        </m:r>
                      </m:e>
                      <m:sub>
                        <m:r>
                          <a:rPr lang="en-US" altLang="zh-CN" sz="1600" b="0" i="1" dirty="0" smtClean="0">
                            <a:latin typeface="Cambria Math" panose="02040503050406030204" pitchFamily="18" charset="0"/>
                          </a:rPr>
                          <m:t>𝑝𝑒𝑎𝑘𝑠</m:t>
                        </m:r>
                      </m:sub>
                    </m:sSub>
                  </m:oMath>
                </a14:m>
                <a:r>
                  <a:rPr lang="zh-CN" altLang="en-US" sz="1600" dirty="0"/>
                  <a:t>参数可定量描述</a:t>
                </a:r>
                <a:r>
                  <a:rPr lang="zh-CN" altLang="en-US" sz="1600" dirty="0">
                    <a:solidFill>
                      <a:srgbClr val="FF0000"/>
                    </a:solidFill>
                  </a:rPr>
                  <a:t>裂缝的复杂程度和各分支的相对贡献</a:t>
                </a:r>
                <a:endParaRPr lang="en-US" altLang="zh-CN" sz="1600" dirty="0">
                  <a:solidFill>
                    <a:srgbClr val="FF0000"/>
                  </a:solidFill>
                </a:endParaRPr>
              </a:p>
              <a:p>
                <a:pPr marL="0" indent="0">
                  <a:buNone/>
                </a:pPr>
                <a:endParaRPr lang="en-US" altLang="zh-CN" sz="1600" dirty="0">
                  <a:solidFill>
                    <a:srgbClr val="FF0000"/>
                  </a:solidFill>
                  <a:cs typeface="Times New Roman" panose="02020603050405020304" pitchFamily="18" charset="0"/>
                </a:endParaRPr>
              </a:p>
            </p:txBody>
          </p:sp>
        </mc:Choice>
        <mc:Fallback>
          <p:sp>
            <p:nvSpPr>
              <p:cNvPr id="4" name="TextBox 2"/>
              <p:cNvSpPr txBox="1">
                <a:spLocks noRot="1" noChangeAspect="1" noMove="1" noResize="1" noEditPoints="1" noAdjustHandles="1" noChangeArrowheads="1" noChangeShapeType="1" noTextEdit="1"/>
              </p:cNvSpPr>
              <p:nvPr/>
            </p:nvSpPr>
            <p:spPr bwMode="auto">
              <a:xfrm>
                <a:off x="334645" y="1342390"/>
                <a:ext cx="11520170" cy="1230630"/>
              </a:xfrm>
              <a:prstGeom prst="rect">
                <a:avLst/>
              </a:prstGeom>
              <a:blipFill rotWithShape="1">
                <a:blip r:embed="rId1"/>
                <a:stretch>
                  <a:fillRect r="-154" b="-23013"/>
                </a:stretch>
              </a:blipFill>
              <a:ln w="9525">
                <a:noFill/>
                <a:miter lim="800000"/>
              </a:ln>
              <a:effectLst>
                <a:prstShdw prst="shdw17" dist="17961" dir="2700000">
                  <a:srgbClr val="4C7D23"/>
                </a:prstShdw>
              </a:effectLst>
            </p:spPr>
            <p:txBody>
              <a:bodyPr/>
              <a:lstStyle/>
              <a:p>
                <a:r>
                  <a:rPr lang="zh-CN" altLang="en-US">
                    <a:noFill/>
                  </a:rPr>
                  <a:t> </a:t>
                </a:r>
              </a:p>
            </p:txBody>
          </p:sp>
        </mc:Fallback>
      </mc:AlternateContent>
      <p:sp>
        <p:nvSpPr>
          <p:cNvPr id="6" name="文本框 38"/>
          <p:cNvSpPr txBox="1"/>
          <p:nvPr>
            <p:custDataLst>
              <p:tags r:id="rId2"/>
            </p:custDataLst>
          </p:nvPr>
        </p:nvSpPr>
        <p:spPr>
          <a:xfrm>
            <a:off x="102870" y="6091555"/>
            <a:ext cx="6527165" cy="260350"/>
          </a:xfrm>
          <a:prstGeom prst="rect">
            <a:avLst/>
          </a:prstGeom>
          <a:noFill/>
        </p:spPr>
        <p:txBody>
          <a:bodyPr wrap="square" rtlCol="0">
            <a:spAutoFit/>
          </a:bodyPr>
          <a:lstStyle/>
          <a:p>
            <a:pPr lvl="0" algn="ctr" defTabSz="457200" eaLnBrk="0" fontAlgn="base" hangingPunct="0"/>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典型井段</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函数曲线</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量化参数计算</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结果</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文本框 38"/>
          <p:cNvSpPr txBox="1"/>
          <p:nvPr>
            <p:custDataLst>
              <p:tags r:id="rId3"/>
            </p:custDataLst>
          </p:nvPr>
        </p:nvSpPr>
        <p:spPr>
          <a:xfrm>
            <a:off x="6699250" y="6091555"/>
            <a:ext cx="5396230" cy="260350"/>
          </a:xfrm>
          <a:prstGeom prst="rect">
            <a:avLst/>
          </a:prstGeom>
          <a:noFill/>
        </p:spPr>
        <p:txBody>
          <a:bodyPr wrap="square" rtlCol="0">
            <a:spAutoFit/>
          </a:bodyPr>
          <a:lstStyle/>
          <a:p>
            <a:pPr algn="ctr" defTabSz="457200" eaLnBrk="0" fontAlgn="base" hangingPunct="0"/>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典型井段</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dP</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dG</a:t>
            </a:r>
            <a:r>
              <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图</a:t>
            </a:r>
            <a:endParaRPr lang="zh-CN" altLang="en-US"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4"/>
          <a:srcRect/>
          <a:stretch>
            <a:fillRect/>
          </a:stretch>
        </p:blipFill>
        <p:spPr>
          <a:xfrm>
            <a:off x="6630670" y="2645074"/>
            <a:ext cx="5465165" cy="3279099"/>
          </a:xfrm>
          <a:prstGeom prst="rect">
            <a:avLst/>
          </a:prstGeom>
        </p:spPr>
      </p:pic>
      <p:pic>
        <p:nvPicPr>
          <p:cNvPr id="23" name="图片 22"/>
          <p:cNvPicPr>
            <a:picLocks noChangeAspect="1"/>
          </p:cNvPicPr>
          <p:nvPr/>
        </p:nvPicPr>
        <p:blipFill>
          <a:blip r:embed="rId5"/>
          <a:srcRect/>
          <a:stretch>
            <a:fillRect/>
          </a:stretch>
        </p:blipFill>
        <p:spPr>
          <a:xfrm>
            <a:off x="102870" y="2757805"/>
            <a:ext cx="3162300" cy="2938780"/>
          </a:xfrm>
          <a:prstGeom prst="rect">
            <a:avLst/>
          </a:prstGeom>
        </p:spPr>
      </p:pic>
      <p:pic>
        <p:nvPicPr>
          <p:cNvPr id="25" name="图片 24"/>
          <p:cNvPicPr>
            <a:picLocks noChangeAspect="1"/>
          </p:cNvPicPr>
          <p:nvPr/>
        </p:nvPicPr>
        <p:blipFill>
          <a:blip r:embed="rId6"/>
          <a:srcRect/>
          <a:stretch>
            <a:fillRect/>
          </a:stretch>
        </p:blipFill>
        <p:spPr>
          <a:xfrm>
            <a:off x="3324225" y="2757170"/>
            <a:ext cx="3375025" cy="2940685"/>
          </a:xfrm>
          <a:prstGeom prst="rect">
            <a:avLst/>
          </a:prstGeom>
        </p:spPr>
      </p:pic>
      <p:sp>
        <p:nvSpPr>
          <p:cNvPr id="26"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3912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4.3</a:t>
            </a:r>
            <a:r>
              <a:rPr lang="zh-CN" altLang="en-US" dirty="0">
                <a:solidFill>
                  <a:prstClr val="black"/>
                </a:solidFill>
                <a:latin typeface="微软雅黑" panose="020B0503020204020204" pitchFamily="34" charset="-122"/>
                <a:ea typeface="微软雅黑" panose="020B0503020204020204" pitchFamily="34" charset="-122"/>
                <a:sym typeface="+mn-ea"/>
              </a:rPr>
              <a:t>、基于</a:t>
            </a:r>
            <a:r>
              <a:rPr lang="en-US" altLang="zh-CN" dirty="0">
                <a:solidFill>
                  <a:prstClr val="black"/>
                </a:solidFill>
                <a:latin typeface="微软雅黑" panose="020B0503020204020204" pitchFamily="34" charset="-122"/>
                <a:ea typeface="微软雅黑" panose="020B0503020204020204" pitchFamily="34" charset="-122"/>
                <a:sym typeface="+mn-ea"/>
              </a:rPr>
              <a:t>G</a:t>
            </a:r>
            <a:r>
              <a:rPr lang="zh-CN" altLang="en-US" dirty="0">
                <a:solidFill>
                  <a:prstClr val="black"/>
                </a:solidFill>
                <a:latin typeface="微软雅黑" panose="020B0503020204020204" pitchFamily="34" charset="-122"/>
                <a:ea typeface="微软雅黑" panose="020B0503020204020204" pitchFamily="34" charset="-122"/>
                <a:sym typeface="+mn-ea"/>
              </a:rPr>
              <a:t>函数曲线量化复杂度评价方法，</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开展现场数据验证</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基于构建的裂缝复杂度评价方法，</a:t>
            </a:r>
            <a:r>
              <a:rPr lang="zh-CN" altLang="en-US" sz="1600" dirty="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对</a:t>
            </a:r>
            <a:r>
              <a:rPr lang="zh-CN" altLang="en-US" sz="1600" dirty="0">
                <a:solidFill>
                  <a:prstClr val="black"/>
                </a:solidFill>
                <a:highlight>
                  <a:srgbClr val="000000">
                    <a:alpha val="0"/>
                  </a:srgbClr>
                </a:highlight>
                <a:latin typeface="微软雅黑" panose="020B0503020204020204" pitchFamily="34" charset="-122"/>
                <a:ea typeface="微软雅黑" panose="020B0503020204020204" pitchFamily="34" charset="-122"/>
                <a:sym typeface="+mn-ea"/>
              </a:rPr>
              <a:t>泸</a:t>
            </a:r>
            <a:r>
              <a:rPr lang="en-US" altLang="zh-CN" sz="1600" dirty="0">
                <a:solidFill>
                  <a:prstClr val="black"/>
                </a:solidFill>
                <a:highlight>
                  <a:srgbClr val="000000">
                    <a:alpha val="0"/>
                  </a:srgbClr>
                </a:highlight>
                <a:latin typeface="微软雅黑" panose="020B0503020204020204" pitchFamily="34" charset="-122"/>
                <a:ea typeface="微软雅黑" panose="020B0503020204020204" pitchFamily="34" charset="-122"/>
                <a:sym typeface="+mn-ea"/>
              </a:rPr>
              <a:t>203</a:t>
            </a:r>
            <a:r>
              <a:rPr lang="zh-CN" altLang="en-US" sz="1600" dirty="0">
                <a:solidFill>
                  <a:prstClr val="black"/>
                </a:solidFill>
                <a:highlight>
                  <a:srgbClr val="000000">
                    <a:alpha val="0"/>
                  </a:srgbClr>
                </a:highlight>
                <a:latin typeface="微软雅黑" panose="020B0503020204020204" pitchFamily="34" charset="-122"/>
                <a:ea typeface="微软雅黑" panose="020B0503020204020204" pitchFamily="34" charset="-122"/>
                <a:sym typeface="+mn-ea"/>
              </a:rPr>
              <a:t>、泸</a:t>
            </a:r>
            <a:r>
              <a:rPr lang="en-US" altLang="zh-CN" sz="1600" dirty="0">
                <a:solidFill>
                  <a:prstClr val="black"/>
                </a:solidFill>
                <a:highlight>
                  <a:srgbClr val="000000">
                    <a:alpha val="0"/>
                  </a:srgbClr>
                </a:highlight>
                <a:latin typeface="微软雅黑" panose="020B0503020204020204" pitchFamily="34" charset="-122"/>
                <a:ea typeface="微软雅黑" panose="020B0503020204020204" pitchFamily="34" charset="-122"/>
                <a:sym typeface="+mn-ea"/>
              </a:rPr>
              <a:t>206</a:t>
            </a:r>
            <a:r>
              <a:rPr lang="zh-CN" altLang="en-US" sz="1600" dirty="0">
                <a:solidFill>
                  <a:prstClr val="black"/>
                </a:solidFill>
                <a:highlight>
                  <a:srgbClr val="000000">
                    <a:alpha val="0"/>
                  </a:srgbClr>
                </a:highlight>
                <a:latin typeface="微软雅黑" panose="020B0503020204020204" pitchFamily="34" charset="-122"/>
                <a:ea typeface="微软雅黑" panose="020B0503020204020204" pitchFamily="34" charset="-122"/>
                <a:sym typeface="+mn-ea"/>
              </a:rPr>
              <a:t>、足</a:t>
            </a:r>
            <a:r>
              <a:rPr lang="en-US" altLang="zh-CN" sz="1600" dirty="0">
                <a:solidFill>
                  <a:prstClr val="black"/>
                </a:solidFill>
                <a:highlight>
                  <a:srgbClr val="000000">
                    <a:alpha val="0"/>
                  </a:srgbClr>
                </a:highlight>
                <a:latin typeface="微软雅黑" panose="020B0503020204020204" pitchFamily="34" charset="-122"/>
                <a:ea typeface="微软雅黑" panose="020B0503020204020204" pitchFamily="34" charset="-122"/>
                <a:sym typeface="+mn-ea"/>
              </a:rPr>
              <a:t>201</a:t>
            </a:r>
            <a:r>
              <a:rPr lang="zh-CN" altLang="en-US" sz="1600" dirty="0">
                <a:solidFill>
                  <a:prstClr val="black"/>
                </a:solidFill>
                <a:highlight>
                  <a:srgbClr val="000000">
                    <a:alpha val="0"/>
                  </a:srgbClr>
                </a:highlight>
                <a:latin typeface="微软雅黑" panose="020B0503020204020204" pitchFamily="34" charset="-122"/>
                <a:ea typeface="微软雅黑" panose="020B0503020204020204" pitchFamily="34" charset="-122"/>
                <a:sym typeface="+mn-ea"/>
              </a:rPr>
              <a:t>共</a:t>
            </a:r>
            <a:r>
              <a:rPr lang="en-US" altLang="zh-CN" sz="1600" dirty="0">
                <a:solidFill>
                  <a:srgbClr val="FF0000"/>
                </a:solidFill>
                <a:highlight>
                  <a:srgbClr val="000000">
                    <a:alpha val="0"/>
                  </a:srgbClr>
                </a:highlight>
                <a:latin typeface="微软雅黑" panose="020B0503020204020204" pitchFamily="34" charset="-122"/>
                <a:ea typeface="微软雅黑" panose="020B0503020204020204" pitchFamily="34" charset="-122"/>
                <a:sym typeface="+mn-ea"/>
              </a:rPr>
              <a:t>3</a:t>
            </a:r>
            <a:r>
              <a:rPr lang="zh-CN" altLang="en-US" sz="1600" dirty="0">
                <a:solidFill>
                  <a:srgbClr val="FF0000"/>
                </a:solidFill>
                <a:highlight>
                  <a:srgbClr val="000000">
                    <a:alpha val="0"/>
                  </a:srgbClr>
                </a:highlight>
                <a:latin typeface="微软雅黑" panose="020B0503020204020204" pitchFamily="34" charset="-122"/>
                <a:ea typeface="微软雅黑" panose="020B0503020204020204" pitchFamily="34" charset="-122"/>
                <a:sym typeface="+mn-ea"/>
              </a:rPr>
              <a:t>个井区，</a:t>
            </a:r>
            <a:r>
              <a:rPr lang="en-US" altLang="zh-CN" sz="1600" dirty="0">
                <a:solidFill>
                  <a:srgbClr val="FF0000"/>
                </a:solidFill>
                <a:highlight>
                  <a:srgbClr val="000000">
                    <a:alpha val="0"/>
                  </a:srgbClr>
                </a:highlight>
                <a:latin typeface="微软雅黑" panose="020B0503020204020204" pitchFamily="34" charset="-122"/>
                <a:ea typeface="微软雅黑" panose="020B0503020204020204" pitchFamily="34" charset="-122"/>
                <a:sym typeface="+mn-ea"/>
              </a:rPr>
              <a:t>5</a:t>
            </a:r>
            <a:r>
              <a:rPr lang="zh-CN" altLang="en-US" sz="1600" dirty="0">
                <a:solidFill>
                  <a:srgbClr val="FF0000"/>
                </a:solidFill>
                <a:highlight>
                  <a:srgbClr val="000000">
                    <a:alpha val="0"/>
                  </a:srgbClr>
                </a:highlight>
                <a:latin typeface="微软雅黑" panose="020B0503020204020204" pitchFamily="34" charset="-122"/>
                <a:ea typeface="微软雅黑" panose="020B0503020204020204" pitchFamily="34" charset="-122"/>
                <a:sym typeface="+mn-ea"/>
              </a:rPr>
              <a:t>个平台，</a:t>
            </a:r>
            <a:r>
              <a:rPr lang="en-US" altLang="zh-CN" sz="1600" dirty="0">
                <a:solidFill>
                  <a:srgbClr val="FF0000"/>
                </a:solidFill>
                <a:highlight>
                  <a:srgbClr val="000000">
                    <a:alpha val="0"/>
                  </a:srgbClr>
                </a:highlight>
                <a:latin typeface="微软雅黑" panose="020B0503020204020204" pitchFamily="34" charset="-122"/>
                <a:ea typeface="微软雅黑" panose="020B0503020204020204" pitchFamily="34" charset="-122"/>
                <a:sym typeface="+mn-ea"/>
              </a:rPr>
              <a:t>23</a:t>
            </a:r>
            <a:r>
              <a:rPr lang="zh-CN" altLang="en-US" sz="1600" dirty="0">
                <a:solidFill>
                  <a:srgbClr val="FF0000"/>
                </a:solidFill>
                <a:highlight>
                  <a:srgbClr val="000000">
                    <a:alpha val="0"/>
                  </a:srgbClr>
                </a:highlight>
                <a:latin typeface="微软雅黑" panose="020B0503020204020204" pitchFamily="34" charset="-122"/>
                <a:ea typeface="微软雅黑" panose="020B0503020204020204" pitchFamily="34" charset="-122"/>
                <a:sym typeface="+mn-ea"/>
              </a:rPr>
              <a:t>口井，</a:t>
            </a:r>
            <a:r>
              <a:rPr lang="en-US" altLang="zh-CN" sz="1600" dirty="0">
                <a:solidFill>
                  <a:srgbClr val="FF0000"/>
                </a:solidFill>
                <a:highlight>
                  <a:srgbClr val="000000">
                    <a:alpha val="0"/>
                  </a:srgbClr>
                </a:highlight>
                <a:latin typeface="微软雅黑" panose="020B0503020204020204" pitchFamily="34" charset="-122"/>
                <a:ea typeface="微软雅黑" panose="020B0503020204020204" pitchFamily="34" charset="-122"/>
                <a:sym typeface="+mn-ea"/>
              </a:rPr>
              <a:t>573</a:t>
            </a:r>
            <a:r>
              <a:rPr lang="zh-CN" altLang="en-US" sz="1600" dirty="0">
                <a:solidFill>
                  <a:srgbClr val="FF0000"/>
                </a:solidFill>
                <a:highlight>
                  <a:srgbClr val="000000">
                    <a:alpha val="0"/>
                  </a:srgbClr>
                </a:highlight>
                <a:latin typeface="微软雅黑" panose="020B0503020204020204" pitchFamily="34" charset="-122"/>
                <a:ea typeface="微软雅黑" panose="020B0503020204020204" pitchFamily="34" charset="-122"/>
                <a:sym typeface="+mn-ea"/>
              </a:rPr>
              <a:t>段</a:t>
            </a:r>
            <a:r>
              <a:rPr lang="zh-CN" altLang="en-US" sz="1600" dirty="0">
                <a:solidFill>
                  <a:prstClr val="black"/>
                </a:solidFill>
                <a:highlight>
                  <a:srgbClr val="000000">
                    <a:alpha val="0"/>
                  </a:srgbClr>
                </a:highlight>
                <a:latin typeface="微软雅黑" panose="020B0503020204020204" pitchFamily="34" charset="-122"/>
                <a:ea typeface="微软雅黑" panose="020B0503020204020204" pitchFamily="34" charset="-122"/>
                <a:sym typeface="+mn-ea"/>
              </a:rPr>
              <a:t>压裂数据</a:t>
            </a:r>
            <a:r>
              <a:rPr lang="zh-CN" altLang="en-US" sz="1600" dirty="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进行定量评价</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分段、分井及分平台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统计分析，实现改造效果的多尺度比较与综合排序</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采用归一化与加权平均等方法，确保不同尺度与信号特征在综合评价中的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可比性与一致性</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图表 4"/>
          <p:cNvGraphicFramePr/>
          <p:nvPr/>
        </p:nvGraphicFramePr>
        <p:xfrm>
          <a:off x="6096000" y="2555044"/>
          <a:ext cx="5782945" cy="3501586"/>
        </p:xfrm>
        <a:graphic>
          <a:graphicData uri="http://schemas.openxmlformats.org/drawingml/2006/chart">
            <c:chart xmlns:c="http://schemas.openxmlformats.org/drawingml/2006/chart" xmlns:r="http://schemas.openxmlformats.org/officeDocument/2006/relationships" r:id="rId1"/>
          </a:graphicData>
        </a:graphic>
      </p:graphicFrame>
      <p:sp>
        <p:nvSpPr>
          <p:cNvPr id="305" name="TextBox 23"/>
          <p:cNvSpPr>
            <a:spLocks noChangeArrowheads="1"/>
          </p:cNvSpPr>
          <p:nvPr>
            <p:custDataLst>
              <p:tags r:id="rId2"/>
            </p:custDataLst>
          </p:nvPr>
        </p:nvSpPr>
        <p:spPr bwMode="auto">
          <a:xfrm>
            <a:off x="334645" y="6074410"/>
            <a:ext cx="1148524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函数曲线量化得分</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7" name="表格 6"/>
          <p:cNvGraphicFramePr/>
          <p:nvPr/>
        </p:nvGraphicFramePr>
        <p:xfrm>
          <a:off x="221615" y="2555045"/>
          <a:ext cx="2879725" cy="3501586"/>
        </p:xfrm>
        <a:graphic>
          <a:graphicData uri="http://schemas.openxmlformats.org/drawingml/2006/table">
            <a:tbl>
              <a:tblPr/>
              <a:tblGrid>
                <a:gridCol w="1440180"/>
                <a:gridCol w="1439545"/>
              </a:tblGrid>
              <a:tr h="318326">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井号</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2"/>
                    </a:solidFill>
                  </a:tcPr>
                </a:tc>
                <a:tc>
                  <a:txBody>
                    <a:bodyPr/>
                    <a:lstStyle/>
                    <a:p>
                      <a:pPr algn="ctr" fontAlgn="ctr"/>
                      <a:r>
                        <a:rPr lang="zh-CN" altLang="en-US" sz="1200" b="1" i="0" dirty="0">
                          <a:solidFill>
                            <a:schemeClr val="bg1"/>
                          </a:solidFill>
                          <a:latin typeface="微软雅黑" panose="020B0503020204020204" pitchFamily="34" charset="-122"/>
                          <a:ea typeface="微软雅黑" panose="020B0503020204020204" pitchFamily="34" charset="-122"/>
                        </a:rPr>
                        <a:t>复杂度均值</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2"/>
                    </a:solidFill>
                  </a:tcPr>
                </a:tc>
              </a:tr>
              <a:tr h="318326">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89.58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326">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203H10-2</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90.30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326">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203H10-3</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89.98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326">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203H10-4</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90.28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326">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203H10-5</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90.30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326">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90.19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326">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203H123-1</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90.66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326">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203H123-2</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90.63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326">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203H123-3</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90.59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8326">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203H123-4</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dirty="0">
                          <a:solidFill>
                            <a:srgbClr val="000000"/>
                          </a:solidFill>
                          <a:latin typeface="微软雅黑" panose="020B0503020204020204" pitchFamily="34" charset="-122"/>
                          <a:ea typeface="微软雅黑" panose="020B0503020204020204" pitchFamily="34" charset="-122"/>
                        </a:rPr>
                        <a:t>90.40</a:t>
                      </a:r>
                      <a:endParaRPr lang="en-US" altLang="zh-CN" sz="12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graphicFrame>
        <p:nvGraphicFramePr>
          <p:cNvPr id="10" name="表格 9"/>
          <p:cNvGraphicFramePr/>
          <p:nvPr/>
        </p:nvGraphicFramePr>
        <p:xfrm>
          <a:off x="3162300" y="2555045"/>
          <a:ext cx="2879725" cy="3501589"/>
        </p:xfrm>
        <a:graphic>
          <a:graphicData uri="http://schemas.openxmlformats.org/drawingml/2006/table">
            <a:tbl>
              <a:tblPr/>
              <a:tblGrid>
                <a:gridCol w="1440180"/>
                <a:gridCol w="1439545"/>
              </a:tblGrid>
              <a:tr h="269353">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206H7-1</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87.91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353">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206H7-2</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89.67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353">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206H7-4</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89.94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353">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206H7-5</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88.82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353">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206H8-6</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90.08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353">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206H8-7</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90.23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353">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206H8-8</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90.15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353">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201H21-1</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90.40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353">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201H21-2</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90.40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353">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201H21-3</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90.28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353">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201H21-4</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89.93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353">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201H21-5</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89.65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353">
                <a:tc>
                  <a:txBody>
                    <a:bodyPr/>
                    <a:lstStyle/>
                    <a:p>
                      <a:pPr algn="ctr" fontAlgn="b"/>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足</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201H21-6</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dirty="0">
                          <a:solidFill>
                            <a:srgbClr val="000000"/>
                          </a:solidFill>
                          <a:latin typeface="微软雅黑" panose="020B0503020204020204" pitchFamily="34" charset="-122"/>
                          <a:ea typeface="微软雅黑" panose="020B0503020204020204" pitchFamily="34" charset="-122"/>
                        </a:rPr>
                        <a:t>89.86</a:t>
                      </a:r>
                      <a:endParaRPr lang="en-US" altLang="zh-CN" sz="12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3912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5</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、建立多指标相关性分析矩阵，明确</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三维两级</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综合评价体系的内在合理性</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成果二、建立“三维两级”综合评价体系，完成自研评价算法落地与9项技术指标集成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构建</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Spearman</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相关性</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a:t>
            </a:r>
            <a:r>
              <a:rPr lang="en-US"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矩阵；探究各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维度内指标的相关性</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维度间指标的独立性</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改造体积维度</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项指标和裂缝复杂度维度</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项指标在各自</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维度内部相关性均高于跨维度相关性</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、千米</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小波变换、</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函数、有效用液指数、停泵压降</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呈较高正相关，是评价压裂改造效果的关键敏感指标</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382397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多指标相关性分析矩阵</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1" name="组合 10"/>
          <p:cNvGrpSpPr/>
          <p:nvPr/>
        </p:nvGrpSpPr>
        <p:grpSpPr>
          <a:xfrm>
            <a:off x="4673600" y="2636520"/>
            <a:ext cx="7147560" cy="3403600"/>
            <a:chOff x="7464" y="4152"/>
            <a:chExt cx="11256" cy="5360"/>
          </a:xfrm>
        </p:grpSpPr>
        <p:sp>
          <p:nvSpPr>
            <p:cNvPr id="7" name="圆角矩形 6"/>
            <p:cNvSpPr/>
            <p:nvPr/>
          </p:nvSpPr>
          <p:spPr>
            <a:xfrm>
              <a:off x="8003" y="4166"/>
              <a:ext cx="2835" cy="85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改造体积</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1" name="圆角矩形 20"/>
            <p:cNvSpPr/>
            <p:nvPr/>
          </p:nvSpPr>
          <p:spPr>
            <a:xfrm>
              <a:off x="12281" y="4167"/>
              <a:ext cx="2835" cy="85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裂缝复杂度</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0" name="圆角矩形 29"/>
            <p:cNvSpPr/>
            <p:nvPr/>
          </p:nvSpPr>
          <p:spPr>
            <a:xfrm>
              <a:off x="16170" y="4152"/>
              <a:ext cx="2551" cy="850"/>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裂缝导流能力</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2" name="圆角矩形 31"/>
            <p:cNvSpPr/>
            <p:nvPr/>
          </p:nvSpPr>
          <p:spPr>
            <a:xfrm>
              <a:off x="8532" y="5544"/>
              <a:ext cx="850" cy="3969"/>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小波变换</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 name="圆角矩形 32"/>
            <p:cNvSpPr/>
            <p:nvPr/>
          </p:nvSpPr>
          <p:spPr>
            <a:xfrm>
              <a:off x="9600" y="5544"/>
              <a:ext cx="850" cy="3969"/>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水击边界指数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4" name="圆角矩形 33"/>
            <p:cNvSpPr/>
            <p:nvPr/>
          </p:nvSpPr>
          <p:spPr>
            <a:xfrm>
              <a:off x="10668" y="5544"/>
              <a:ext cx="850" cy="3969"/>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有效用液指数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5" name="圆角矩形 34"/>
            <p:cNvSpPr/>
            <p:nvPr/>
          </p:nvSpPr>
          <p:spPr>
            <a:xfrm>
              <a:off x="11605" y="5544"/>
              <a:ext cx="850" cy="3969"/>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施工曲线诊断</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6" name="圆角矩形 35"/>
            <p:cNvSpPr/>
            <p:nvPr/>
          </p:nvSpPr>
          <p:spPr>
            <a:xfrm>
              <a:off x="13741" y="5544"/>
              <a:ext cx="850" cy="3969"/>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水击衰减系数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14809" y="5544"/>
              <a:ext cx="850" cy="3969"/>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G函数曲线量化</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圆角矩形 38"/>
            <p:cNvSpPr/>
            <p:nvPr/>
          </p:nvSpPr>
          <p:spPr>
            <a:xfrm>
              <a:off x="16967" y="5529"/>
              <a:ext cx="850" cy="3969"/>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裂缝支撑指数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40" name="圆角矩形 39"/>
            <p:cNvSpPr/>
            <p:nvPr/>
          </p:nvSpPr>
          <p:spPr>
            <a:xfrm>
              <a:off x="7464" y="5544"/>
              <a:ext cx="850" cy="3969"/>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函数反演</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圆角矩形 40"/>
            <p:cNvSpPr/>
            <p:nvPr/>
          </p:nvSpPr>
          <p:spPr>
            <a:xfrm>
              <a:off x="12673" y="5544"/>
              <a:ext cx="850" cy="3969"/>
            </a:xfrm>
            <a:prstGeom prst="round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停泵压降</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 name="左大括号 2"/>
            <p:cNvSpPr/>
            <p:nvPr/>
          </p:nvSpPr>
          <p:spPr>
            <a:xfrm rot="5400000">
              <a:off x="9165" y="3578"/>
              <a:ext cx="513" cy="3402"/>
            </a:xfrm>
            <a:prstGeom prst="leftBrac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zh-CN" sz="160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0" name="左大括号 9"/>
            <p:cNvSpPr/>
            <p:nvPr/>
          </p:nvSpPr>
          <p:spPr>
            <a:xfrm rot="5400000">
              <a:off x="17125" y="4996"/>
              <a:ext cx="516" cy="565"/>
            </a:xfrm>
            <a:prstGeom prst="leftBrac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zh-CN" sz="160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5" name="左大括号 14"/>
            <p:cNvSpPr/>
            <p:nvPr/>
          </p:nvSpPr>
          <p:spPr>
            <a:xfrm rot="5400000">
              <a:off x="13440" y="3592"/>
              <a:ext cx="518" cy="3402"/>
            </a:xfrm>
            <a:prstGeom prst="leftBrace">
              <a:avLst>
                <a:gd name="adj1" fmla="val 8333"/>
                <a:gd name="adj2" fmla="val 49985"/>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zh-CN" sz="160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8" name="加号 7"/>
            <p:cNvSpPr/>
            <p:nvPr/>
          </p:nvSpPr>
          <p:spPr>
            <a:xfrm>
              <a:off x="11185" y="4167"/>
              <a:ext cx="749" cy="749"/>
            </a:xfrm>
            <a:prstGeom prst="mathPlus">
              <a:avLst>
                <a:gd name="adj1" fmla="val 21762"/>
              </a:avLst>
            </a:prstGeom>
            <a:solidFill>
              <a:schemeClr val="tx1"/>
            </a:solidFill>
            <a:ln w="12700">
              <a:solidFill>
                <a:schemeClr val="tx1"/>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sp>
          <p:nvSpPr>
            <p:cNvPr id="9" name="加号 8"/>
            <p:cNvSpPr/>
            <p:nvPr/>
          </p:nvSpPr>
          <p:spPr>
            <a:xfrm>
              <a:off x="15268" y="4167"/>
              <a:ext cx="749" cy="749"/>
            </a:xfrm>
            <a:prstGeom prst="mathPlus">
              <a:avLst>
                <a:gd name="adj1" fmla="val 21762"/>
              </a:avLst>
            </a:prstGeom>
            <a:solidFill>
              <a:schemeClr val="tx1"/>
            </a:solidFill>
            <a:ln w="12700">
              <a:solidFill>
                <a:schemeClr val="tx1"/>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65" charset="-122"/>
              </a:endParaRPr>
            </a:p>
          </p:txBody>
        </p:sp>
      </p:grpSp>
      <p:pic>
        <p:nvPicPr>
          <p:cNvPr id="12" name="图片 11" descr="指标相关性热力图"/>
          <p:cNvPicPr>
            <a:picLocks noChangeAspect="1"/>
          </p:cNvPicPr>
          <p:nvPr/>
        </p:nvPicPr>
        <p:blipFill>
          <a:blip r:embed="rId2"/>
          <a:stretch>
            <a:fillRect/>
          </a:stretch>
        </p:blipFill>
        <p:spPr>
          <a:xfrm>
            <a:off x="334645" y="2646045"/>
            <a:ext cx="3823335" cy="3429000"/>
          </a:xfrm>
          <a:prstGeom prst="rect">
            <a:avLst/>
          </a:prstGeom>
        </p:spPr>
      </p:pic>
      <p:sp>
        <p:nvSpPr>
          <p:cNvPr id="13" name="TextBox 23"/>
          <p:cNvSpPr>
            <a:spLocks noChangeArrowheads="1"/>
          </p:cNvSpPr>
          <p:nvPr>
            <p:custDataLst>
              <p:tags r:id="rId3"/>
            </p:custDataLst>
          </p:nvPr>
        </p:nvSpPr>
        <p:spPr bwMode="auto">
          <a:xfrm>
            <a:off x="4673600" y="6069965"/>
            <a:ext cx="714756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457200" rtl="0" eaLnBrk="0" fontAlgn="base" latinLnBrk="0" hangingPunct="0">
              <a:lnSpc>
                <a:spcPct val="100000"/>
              </a:lnSpc>
              <a:spcBef>
                <a:spcPts val="0"/>
              </a:spcBef>
              <a:spcAft>
                <a:spcPts val="0"/>
              </a:spcAft>
              <a:buClrTx/>
              <a:buSzTx/>
              <a:buFontTx/>
              <a:buNone/>
            </a:pP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三维两级综合评价指标整体架构图</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02055" y="2106930"/>
            <a:ext cx="9787255" cy="3192780"/>
            <a:chOff x="654367" y="2051504"/>
            <a:chExt cx="10770869" cy="4051435"/>
          </a:xfrm>
        </p:grpSpPr>
        <p:grpSp>
          <p:nvGrpSpPr>
            <p:cNvPr id="3" name="组合 2"/>
            <p:cNvGrpSpPr/>
            <p:nvPr/>
          </p:nvGrpSpPr>
          <p:grpSpPr>
            <a:xfrm>
              <a:off x="654367" y="2051504"/>
              <a:ext cx="2617469" cy="974408"/>
              <a:chOff x="654367" y="2051504"/>
              <a:chExt cx="2617469" cy="974408"/>
            </a:xfrm>
          </p:grpSpPr>
          <p:cxnSp>
            <p:nvCxnSpPr>
              <p:cNvPr id="4" name="直接连接符 3"/>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4" name="半闭框 13"/>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nvGrpSpPr>
            <p:cNvPr id="15" name="组合 14"/>
            <p:cNvGrpSpPr/>
            <p:nvPr/>
          </p:nvGrpSpPr>
          <p:grpSpPr>
            <a:xfrm rot="10800000">
              <a:off x="8807767" y="5128531"/>
              <a:ext cx="2617469" cy="974408"/>
              <a:chOff x="654367" y="2051504"/>
              <a:chExt cx="2617469" cy="974408"/>
            </a:xfrm>
          </p:grpSpPr>
          <p:cxnSp>
            <p:nvCxnSpPr>
              <p:cNvPr id="16" name="直接连接符 15"/>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7" name="半闭框 16"/>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8" name="矩形 17"/>
          <p:cNvSpPr/>
          <p:nvPr/>
        </p:nvSpPr>
        <p:spPr>
          <a:xfrm>
            <a:off x="1" y="932838"/>
            <a:ext cx="12191999" cy="744220"/>
          </a:xfrm>
          <a:prstGeom prst="rect">
            <a:avLst/>
          </a:prstGeom>
          <a:noFill/>
          <a:ln>
            <a:noFill/>
          </a:ln>
        </p:spPr>
        <p:txBody>
          <a:bodyPr wrap="square" lIns="68568" tIns="34284" rIns="6856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400" noProof="0" dirty="0">
                <a:ln>
                  <a:noFill/>
                </a:ln>
                <a:solidFill>
                  <a:srgbClr val="000000"/>
                </a:solidFill>
                <a:effectLst/>
                <a:uLnTx/>
                <a:uFillTx/>
                <a:latin typeface="方正大黑简体" panose="02000000000000000000" pitchFamily="65" charset="-122"/>
                <a:ea typeface="方正大黑简体" panose="02000000000000000000" pitchFamily="65" charset="-122"/>
                <a:sym typeface="+mn-ea"/>
              </a:rPr>
              <a:t>取得</a:t>
            </a:r>
            <a:r>
              <a:rPr lang="zh-CN" altLang="en-US" sz="4400" dirty="0">
                <a:solidFill>
                  <a:srgbClr val="FF0000"/>
                </a:solidFill>
                <a:latin typeface="方正大黑简体" panose="02000000000000000000" pitchFamily="65" charset="-122"/>
                <a:ea typeface="方正大黑简体" panose="02000000000000000000" pitchFamily="65" charset="-122"/>
                <a:sym typeface="+mn-ea"/>
              </a:rPr>
              <a:t>四</a:t>
            </a:r>
            <a:r>
              <a:rPr lang="zh-CN" altLang="en-US" sz="4400" noProof="0" dirty="0">
                <a:ln>
                  <a:noFill/>
                </a:ln>
                <a:solidFill>
                  <a:srgbClr val="000000"/>
                </a:solidFill>
                <a:effectLst/>
                <a:uLnTx/>
                <a:uFillTx/>
                <a:latin typeface="方正大黑简体" panose="02000000000000000000" pitchFamily="65" charset="-122"/>
                <a:ea typeface="方正大黑简体" panose="02000000000000000000" pitchFamily="65" charset="-122"/>
                <a:sym typeface="+mn-ea"/>
              </a:rPr>
              <a:t>项主要成果</a:t>
            </a:r>
            <a:endParaRPr kumimoji="0" lang="zh-CN" altLang="en-US" sz="36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p:txBody>
      </p:sp>
      <p:sp>
        <p:nvSpPr>
          <p:cNvPr id="19" name="Text Box 6"/>
          <p:cNvSpPr txBox="1">
            <a:spLocks noChangeArrowheads="1"/>
          </p:cNvSpPr>
          <p:nvPr/>
        </p:nvSpPr>
        <p:spPr bwMode="auto">
          <a:xfrm>
            <a:off x="1336675" y="2025650"/>
            <a:ext cx="9505950" cy="3117850"/>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成果一、开展压裂效果评价技术对比研究，确立多技术融合的综合评价技术体系框架</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成果二、建立“三维两级”综合评价体系，完成自研评价算法落地与9项技术指标集成</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成果三、建立”AHP—熵权法—相关性优化”权重修正体系，形成综合评分标准化计算流程</a:t>
            </a:r>
            <a:endParaRPr lang="zh-CN" altLang="en-US" noProof="0" dirty="0">
              <a:ln>
                <a:noFill/>
              </a:ln>
              <a:solidFill>
                <a:srgbClr val="FF0000"/>
              </a:solidFill>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成果四、依托泸203井区H10、H123平台系统统计数据，开展评估方法验证与案例分析</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3912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、采用层次分析法（</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AHP</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）建立</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指标权重初值，把控综合评分体系基本方向</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成果三、建立”AHP—熵权法—相关性优化”权重修正体系，形成综合评分标准化计算流程</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56718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层次分析法</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AHP</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）是一种</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多准则决策</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方法，适用于难以</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完全定量分析</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的问题，能够实现多因素分层比较与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权重确定</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页岩气井压裂改造评估中，</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改造体积</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表征储层动用范围（</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上限</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裂缝复杂度</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表征缝网发育程度和改造有效性（</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关键</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裂缝导流能力</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表征压后高效渗流与产能释放能力（</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保障</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兼顾</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工程认知先验与过拟合风险</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，设置改造体积权重</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、裂缝复杂度</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35%</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、导流能力</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25%</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；各准则层内</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指标初始等权</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AHP</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层次结构图（准则层：</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40%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35%</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25%</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，各维度内初始等权）</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1" name="矩形 30"/>
          <p:cNvSpPr/>
          <p:nvPr/>
        </p:nvSpPr>
        <p:spPr>
          <a:xfrm>
            <a:off x="2626995" y="2882900"/>
            <a:ext cx="1260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决策目标</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5" name="矩形 4"/>
          <p:cNvSpPr/>
          <p:nvPr/>
        </p:nvSpPr>
        <p:spPr>
          <a:xfrm>
            <a:off x="762635" y="3528695"/>
            <a:ext cx="900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7" name="矩形 6"/>
          <p:cNvSpPr/>
          <p:nvPr/>
        </p:nvSpPr>
        <p:spPr>
          <a:xfrm>
            <a:off x="2799920" y="3528695"/>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8" name="矩形 7"/>
          <p:cNvSpPr/>
          <p:nvPr/>
        </p:nvSpPr>
        <p:spPr>
          <a:xfrm>
            <a:off x="4837000" y="3528695"/>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2" name="矩形 31"/>
          <p:cNvSpPr/>
          <p:nvPr/>
        </p:nvSpPr>
        <p:spPr>
          <a:xfrm>
            <a:off x="313055" y="4438650"/>
            <a:ext cx="900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子准则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3" name="矩形 32"/>
          <p:cNvSpPr/>
          <p:nvPr/>
        </p:nvSpPr>
        <p:spPr>
          <a:xfrm>
            <a:off x="1308305" y="4438650"/>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子准则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4" name="矩形 33"/>
          <p:cNvSpPr/>
          <p:nvPr/>
        </p:nvSpPr>
        <p:spPr>
          <a:xfrm>
            <a:off x="2303350" y="4438650"/>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子准则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5" name="矩形 34"/>
          <p:cNvSpPr/>
          <p:nvPr/>
        </p:nvSpPr>
        <p:spPr>
          <a:xfrm>
            <a:off x="295275" y="5578475"/>
            <a:ext cx="900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样本</a:t>
            </a:r>
            <a:endParaRPr lang="en-US" altLang="zh-CN" sz="1600" dirty="0">
              <a:solidFill>
                <a:schemeClr val="tx1"/>
              </a:solidFill>
              <a:latin typeface="微软雅黑" panose="020B0503020204020204" pitchFamily="34" charset="-122"/>
              <a:ea typeface="微软雅黑" panose="020B0503020204020204" pitchFamily="34" charset="-122"/>
            </a:endParaRPr>
          </a:p>
        </p:txBody>
      </p:sp>
      <p:sp>
        <p:nvSpPr>
          <p:cNvPr id="36" name="矩形 35"/>
          <p:cNvSpPr/>
          <p:nvPr/>
        </p:nvSpPr>
        <p:spPr>
          <a:xfrm>
            <a:off x="2293190" y="5575300"/>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样本</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7" name="矩形 36"/>
          <p:cNvSpPr/>
          <p:nvPr/>
        </p:nvSpPr>
        <p:spPr>
          <a:xfrm>
            <a:off x="4290900" y="5578475"/>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sym typeface="+mn-ea"/>
              </a:rPr>
              <a:t>样本</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sp>
        <p:nvSpPr>
          <p:cNvPr id="38" name="矩形 37"/>
          <p:cNvSpPr/>
          <p:nvPr/>
        </p:nvSpPr>
        <p:spPr>
          <a:xfrm>
            <a:off x="3298395" y="4435475"/>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子准则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9" name="矩形 38"/>
          <p:cNvSpPr/>
          <p:nvPr/>
        </p:nvSpPr>
        <p:spPr>
          <a:xfrm>
            <a:off x="4293440" y="4438650"/>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子准则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40" name="矩形 39"/>
          <p:cNvSpPr/>
          <p:nvPr/>
        </p:nvSpPr>
        <p:spPr>
          <a:xfrm>
            <a:off x="5288485" y="4438650"/>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子准则</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41" name="矩形 40"/>
          <p:cNvSpPr/>
          <p:nvPr/>
        </p:nvSpPr>
        <p:spPr>
          <a:xfrm>
            <a:off x="1294335" y="5575300"/>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样本</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42" name="矩形 41"/>
          <p:cNvSpPr/>
          <p:nvPr/>
        </p:nvSpPr>
        <p:spPr>
          <a:xfrm>
            <a:off x="3292045" y="5575300"/>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sym typeface="+mn-ea"/>
              </a:rPr>
              <a:t>样本</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sp>
        <p:nvSpPr>
          <p:cNvPr id="43" name="矩形 42"/>
          <p:cNvSpPr/>
          <p:nvPr/>
        </p:nvSpPr>
        <p:spPr>
          <a:xfrm>
            <a:off x="5289755" y="5578475"/>
            <a:ext cx="89979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sym typeface="+mn-ea"/>
              </a:rPr>
              <a:t>样本</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cxnSp>
        <p:nvCxnSpPr>
          <p:cNvPr id="44" name="直接连接符 43"/>
          <p:cNvCxnSpPr>
            <a:stCxn id="5" idx="2"/>
            <a:endCxn id="32" idx="0"/>
          </p:cNvCxnSpPr>
          <p:nvPr/>
        </p:nvCxnSpPr>
        <p:spPr>
          <a:xfrm flipH="1">
            <a:off x="763270" y="3888740"/>
            <a:ext cx="44958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45" name="直接连接符 44"/>
          <p:cNvCxnSpPr>
            <a:stCxn id="5" idx="2"/>
            <a:endCxn id="33" idx="0"/>
          </p:cNvCxnSpPr>
          <p:nvPr/>
        </p:nvCxnSpPr>
        <p:spPr>
          <a:xfrm>
            <a:off x="1212850" y="3888740"/>
            <a:ext cx="545465"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46" name="直接连接符 45"/>
          <p:cNvCxnSpPr>
            <a:stCxn id="5" idx="2"/>
            <a:endCxn id="34" idx="0"/>
          </p:cNvCxnSpPr>
          <p:nvPr/>
        </p:nvCxnSpPr>
        <p:spPr>
          <a:xfrm>
            <a:off x="1212850" y="3888740"/>
            <a:ext cx="154051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47" name="直接连接符 46"/>
          <p:cNvCxnSpPr>
            <a:stCxn id="5" idx="2"/>
            <a:endCxn id="38" idx="0"/>
          </p:cNvCxnSpPr>
          <p:nvPr/>
        </p:nvCxnSpPr>
        <p:spPr>
          <a:xfrm>
            <a:off x="1212850" y="3888740"/>
            <a:ext cx="2535555" cy="54673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48" name="直接连接符 47"/>
          <p:cNvCxnSpPr>
            <a:stCxn id="5" idx="2"/>
            <a:endCxn id="39" idx="0"/>
          </p:cNvCxnSpPr>
          <p:nvPr/>
        </p:nvCxnSpPr>
        <p:spPr>
          <a:xfrm>
            <a:off x="1212850" y="3888740"/>
            <a:ext cx="353060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49" name="直接连接符 48"/>
          <p:cNvCxnSpPr>
            <a:stCxn id="5" idx="2"/>
            <a:endCxn id="40" idx="0"/>
          </p:cNvCxnSpPr>
          <p:nvPr/>
        </p:nvCxnSpPr>
        <p:spPr>
          <a:xfrm>
            <a:off x="1212850" y="3888740"/>
            <a:ext cx="4525645"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0" name="直接连接符 49"/>
          <p:cNvCxnSpPr>
            <a:stCxn id="32" idx="0"/>
            <a:endCxn id="7" idx="2"/>
          </p:cNvCxnSpPr>
          <p:nvPr/>
        </p:nvCxnSpPr>
        <p:spPr>
          <a:xfrm flipV="1">
            <a:off x="763270" y="3888740"/>
            <a:ext cx="248666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1" name="直接连接符 50"/>
          <p:cNvCxnSpPr>
            <a:stCxn id="33" idx="0"/>
            <a:endCxn id="7" idx="2"/>
          </p:cNvCxnSpPr>
          <p:nvPr/>
        </p:nvCxnSpPr>
        <p:spPr>
          <a:xfrm flipV="1">
            <a:off x="1758315" y="3888740"/>
            <a:ext cx="1491615"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2" name="直接连接符 51"/>
          <p:cNvCxnSpPr>
            <a:stCxn id="34" idx="0"/>
            <a:endCxn id="7" idx="2"/>
          </p:cNvCxnSpPr>
          <p:nvPr/>
        </p:nvCxnSpPr>
        <p:spPr>
          <a:xfrm flipV="1">
            <a:off x="2753360" y="3888740"/>
            <a:ext cx="49657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5" name="直接连接符 54"/>
          <p:cNvCxnSpPr>
            <a:stCxn id="40" idx="0"/>
            <a:endCxn id="7" idx="2"/>
          </p:cNvCxnSpPr>
          <p:nvPr/>
        </p:nvCxnSpPr>
        <p:spPr>
          <a:xfrm flipH="1" flipV="1">
            <a:off x="3249930" y="3888740"/>
            <a:ext cx="2488565"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6" name="直接连接符 55"/>
          <p:cNvCxnSpPr>
            <a:stCxn id="7" idx="2"/>
            <a:endCxn id="38" idx="0"/>
          </p:cNvCxnSpPr>
          <p:nvPr/>
        </p:nvCxnSpPr>
        <p:spPr>
          <a:xfrm>
            <a:off x="3249930" y="3888740"/>
            <a:ext cx="498475" cy="54673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9" name="直接连接符 58"/>
          <p:cNvCxnSpPr>
            <a:stCxn id="39" idx="0"/>
            <a:endCxn id="7" idx="2"/>
          </p:cNvCxnSpPr>
          <p:nvPr/>
        </p:nvCxnSpPr>
        <p:spPr>
          <a:xfrm flipH="1" flipV="1">
            <a:off x="3249930" y="3888740"/>
            <a:ext cx="149352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0" name="直接连接符 59"/>
          <p:cNvCxnSpPr>
            <a:stCxn id="8" idx="2"/>
            <a:endCxn id="32" idx="0"/>
          </p:cNvCxnSpPr>
          <p:nvPr/>
        </p:nvCxnSpPr>
        <p:spPr>
          <a:xfrm flipH="1">
            <a:off x="763270" y="3888740"/>
            <a:ext cx="452374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1" name="直接连接符 60"/>
          <p:cNvCxnSpPr>
            <a:stCxn id="8" idx="2"/>
            <a:endCxn id="33" idx="0"/>
          </p:cNvCxnSpPr>
          <p:nvPr/>
        </p:nvCxnSpPr>
        <p:spPr>
          <a:xfrm flipH="1">
            <a:off x="1758315" y="3888740"/>
            <a:ext cx="3528695"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2" name="直接连接符 61"/>
          <p:cNvCxnSpPr>
            <a:stCxn id="8" idx="2"/>
            <a:endCxn id="34" idx="0"/>
          </p:cNvCxnSpPr>
          <p:nvPr/>
        </p:nvCxnSpPr>
        <p:spPr>
          <a:xfrm flipH="1">
            <a:off x="2753360" y="3888740"/>
            <a:ext cx="253365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3" name="直接连接符 62"/>
          <p:cNvCxnSpPr>
            <a:stCxn id="8" idx="2"/>
            <a:endCxn id="38" idx="0"/>
          </p:cNvCxnSpPr>
          <p:nvPr/>
        </p:nvCxnSpPr>
        <p:spPr>
          <a:xfrm flipH="1">
            <a:off x="3748405" y="3888740"/>
            <a:ext cx="1538605" cy="54673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4" name="直接连接符 63"/>
          <p:cNvCxnSpPr>
            <a:stCxn id="8" idx="2"/>
            <a:endCxn id="39" idx="0"/>
          </p:cNvCxnSpPr>
          <p:nvPr/>
        </p:nvCxnSpPr>
        <p:spPr>
          <a:xfrm flipH="1">
            <a:off x="4743450" y="3888740"/>
            <a:ext cx="543560"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5" name="直接连接符 64"/>
          <p:cNvCxnSpPr>
            <a:stCxn id="8" idx="2"/>
            <a:endCxn id="40" idx="0"/>
          </p:cNvCxnSpPr>
          <p:nvPr/>
        </p:nvCxnSpPr>
        <p:spPr>
          <a:xfrm>
            <a:off x="5287010" y="3888740"/>
            <a:ext cx="451485" cy="54991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6" name="直接连接符 65"/>
          <p:cNvCxnSpPr>
            <a:stCxn id="31" idx="2"/>
            <a:endCxn id="5" idx="0"/>
          </p:cNvCxnSpPr>
          <p:nvPr/>
        </p:nvCxnSpPr>
        <p:spPr>
          <a:xfrm flipH="1">
            <a:off x="1212850" y="3242945"/>
            <a:ext cx="2044065" cy="285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7" name="直接连接符 66"/>
          <p:cNvCxnSpPr>
            <a:stCxn id="31" idx="2"/>
            <a:endCxn id="7" idx="0"/>
          </p:cNvCxnSpPr>
          <p:nvPr/>
        </p:nvCxnSpPr>
        <p:spPr>
          <a:xfrm flipH="1">
            <a:off x="3249930" y="3242945"/>
            <a:ext cx="6985" cy="285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8" name="直接连接符 67"/>
          <p:cNvCxnSpPr>
            <a:stCxn id="31" idx="2"/>
            <a:endCxn id="8" idx="0"/>
          </p:cNvCxnSpPr>
          <p:nvPr/>
        </p:nvCxnSpPr>
        <p:spPr>
          <a:xfrm>
            <a:off x="3256915" y="3242945"/>
            <a:ext cx="2030095" cy="285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0" name="直接连接符 69"/>
          <p:cNvCxnSpPr>
            <a:stCxn id="32" idx="2"/>
            <a:endCxn id="35" idx="0"/>
          </p:cNvCxnSpPr>
          <p:nvPr/>
        </p:nvCxnSpPr>
        <p:spPr>
          <a:xfrm flipH="1">
            <a:off x="745490" y="4798695"/>
            <a:ext cx="17780" cy="77978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1" name="直接连接符 70"/>
          <p:cNvCxnSpPr>
            <a:stCxn id="32" idx="2"/>
            <a:endCxn id="41" idx="0"/>
          </p:cNvCxnSpPr>
          <p:nvPr/>
        </p:nvCxnSpPr>
        <p:spPr>
          <a:xfrm>
            <a:off x="763270" y="4798695"/>
            <a:ext cx="981075" cy="77660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4" name="直接连接符 73"/>
          <p:cNvCxnSpPr>
            <a:stCxn id="32" idx="2"/>
            <a:endCxn id="36" idx="0"/>
          </p:cNvCxnSpPr>
          <p:nvPr/>
        </p:nvCxnSpPr>
        <p:spPr>
          <a:xfrm>
            <a:off x="763270" y="4798695"/>
            <a:ext cx="1979930" cy="77660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6" name="直接连接符 75"/>
          <p:cNvCxnSpPr>
            <a:stCxn id="32" idx="2"/>
            <a:endCxn id="42" idx="0"/>
          </p:cNvCxnSpPr>
          <p:nvPr/>
        </p:nvCxnSpPr>
        <p:spPr>
          <a:xfrm>
            <a:off x="763270" y="4798695"/>
            <a:ext cx="2978785" cy="77660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7" name="直接连接符 76"/>
          <p:cNvCxnSpPr>
            <a:stCxn id="32" idx="2"/>
            <a:endCxn id="37" idx="0"/>
          </p:cNvCxnSpPr>
          <p:nvPr/>
        </p:nvCxnSpPr>
        <p:spPr>
          <a:xfrm>
            <a:off x="763270" y="4798695"/>
            <a:ext cx="3977640" cy="77978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8" name="直接连接符 77"/>
          <p:cNvCxnSpPr>
            <a:stCxn id="32" idx="2"/>
            <a:endCxn id="43" idx="0"/>
          </p:cNvCxnSpPr>
          <p:nvPr/>
        </p:nvCxnSpPr>
        <p:spPr>
          <a:xfrm>
            <a:off x="763270" y="4798695"/>
            <a:ext cx="4976495" cy="77978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2" name="直接连接符 81"/>
          <p:cNvCxnSpPr>
            <a:stCxn id="40" idx="2"/>
            <a:endCxn id="35" idx="0"/>
          </p:cNvCxnSpPr>
          <p:nvPr/>
        </p:nvCxnSpPr>
        <p:spPr>
          <a:xfrm flipH="1">
            <a:off x="745490" y="4798695"/>
            <a:ext cx="4993005" cy="77978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3" name="直接连接符 82"/>
          <p:cNvCxnSpPr>
            <a:stCxn id="40" idx="2"/>
            <a:endCxn id="41" idx="0"/>
          </p:cNvCxnSpPr>
          <p:nvPr/>
        </p:nvCxnSpPr>
        <p:spPr>
          <a:xfrm flipH="1">
            <a:off x="1744345" y="4798695"/>
            <a:ext cx="3994150" cy="77660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4" name="直接连接符 83"/>
          <p:cNvCxnSpPr>
            <a:stCxn id="40" idx="2"/>
            <a:endCxn id="36" idx="0"/>
          </p:cNvCxnSpPr>
          <p:nvPr/>
        </p:nvCxnSpPr>
        <p:spPr>
          <a:xfrm flipH="1">
            <a:off x="2743200" y="4798695"/>
            <a:ext cx="2995295" cy="77660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5" name="直接连接符 84"/>
          <p:cNvCxnSpPr>
            <a:stCxn id="40" idx="2"/>
            <a:endCxn id="42" idx="0"/>
          </p:cNvCxnSpPr>
          <p:nvPr/>
        </p:nvCxnSpPr>
        <p:spPr>
          <a:xfrm flipH="1">
            <a:off x="3742055" y="4798695"/>
            <a:ext cx="1996440" cy="77660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6" name="直接连接符 85"/>
          <p:cNvCxnSpPr>
            <a:stCxn id="40" idx="2"/>
            <a:endCxn id="37" idx="0"/>
          </p:cNvCxnSpPr>
          <p:nvPr/>
        </p:nvCxnSpPr>
        <p:spPr>
          <a:xfrm flipH="1">
            <a:off x="4740910" y="4798695"/>
            <a:ext cx="997585" cy="77978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7" name="直接连接符 86"/>
          <p:cNvCxnSpPr>
            <a:stCxn id="40" idx="2"/>
            <a:endCxn id="43" idx="0"/>
          </p:cNvCxnSpPr>
          <p:nvPr/>
        </p:nvCxnSpPr>
        <p:spPr>
          <a:xfrm>
            <a:off x="5738495" y="4798695"/>
            <a:ext cx="1270" cy="77978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88" name="文本框 38"/>
          <p:cNvSpPr txBox="1"/>
          <p:nvPr>
            <p:custDataLst>
              <p:tags r:id="rId2"/>
            </p:custDataLst>
          </p:nvPr>
        </p:nvSpPr>
        <p:spPr>
          <a:xfrm>
            <a:off x="2489200" y="4587875"/>
            <a:ext cx="1504950" cy="544195"/>
          </a:xfrm>
          <a:prstGeom prst="rect">
            <a:avLst/>
          </a:prstGeom>
          <a:noFill/>
        </p:spPr>
        <p:txBody>
          <a:bodyPr wrap="square" rtlCol="0">
            <a:no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矩形 8"/>
          <p:cNvSpPr/>
          <p:nvPr/>
        </p:nvSpPr>
        <p:spPr>
          <a:xfrm>
            <a:off x="9310370" y="2882900"/>
            <a:ext cx="1260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改造效果</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2" name="矩形 11"/>
          <p:cNvSpPr/>
          <p:nvPr/>
        </p:nvSpPr>
        <p:spPr>
          <a:xfrm>
            <a:off x="7406640" y="3528695"/>
            <a:ext cx="1008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改造体积</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3" name="矩形 12"/>
          <p:cNvSpPr/>
          <p:nvPr/>
        </p:nvSpPr>
        <p:spPr>
          <a:xfrm>
            <a:off x="9435035" y="3528695"/>
            <a:ext cx="1008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复杂度</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4" name="矩形 13"/>
          <p:cNvSpPr/>
          <p:nvPr/>
        </p:nvSpPr>
        <p:spPr>
          <a:xfrm>
            <a:off x="10814255" y="3528695"/>
            <a:ext cx="1008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导流能力</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8" name="矩形 17"/>
          <p:cNvSpPr/>
          <p:nvPr/>
        </p:nvSpPr>
        <p:spPr>
          <a:xfrm>
            <a:off x="6710680" y="4238625"/>
            <a:ext cx="756000" cy="54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1600" dirty="0">
                <a:solidFill>
                  <a:schemeClr val="tx1"/>
                </a:solidFill>
                <a:latin typeface="微软雅黑" panose="020B0503020204020204" pitchFamily="34" charset="-122"/>
                <a:ea typeface="微软雅黑" panose="020B0503020204020204" pitchFamily="34" charset="-122"/>
              </a:rPr>
              <a:t>G</a:t>
            </a:r>
            <a:r>
              <a:rPr lang="zh-CN" altLang="en-US" sz="1600" dirty="0">
                <a:solidFill>
                  <a:schemeClr val="tx1"/>
                </a:solidFill>
                <a:latin typeface="微软雅黑" panose="020B0503020204020204" pitchFamily="34" charset="-122"/>
                <a:ea typeface="微软雅黑" panose="020B0503020204020204" pitchFamily="34" charset="-122"/>
              </a:rPr>
              <a:t>函数</a:t>
            </a:r>
            <a:endParaRPr lang="zh-CN" altLang="en-US" sz="1600" dirty="0">
              <a:solidFill>
                <a:schemeClr val="tx1"/>
              </a:solidFill>
              <a:latin typeface="微软雅黑" panose="020B0503020204020204" pitchFamily="34" charset="-122"/>
              <a:ea typeface="微软雅黑" panose="020B0503020204020204" pitchFamily="34" charset="-122"/>
            </a:endParaRPr>
          </a:p>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反演</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9" name="矩形 18"/>
          <p:cNvSpPr/>
          <p:nvPr/>
        </p:nvSpPr>
        <p:spPr>
          <a:xfrm>
            <a:off x="7533355" y="4238625"/>
            <a:ext cx="755650" cy="54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小波</a:t>
            </a:r>
            <a:endParaRPr lang="zh-CN" altLang="en-US" sz="1600" dirty="0">
              <a:solidFill>
                <a:schemeClr val="tx1"/>
              </a:solidFill>
              <a:latin typeface="微软雅黑" panose="020B0503020204020204" pitchFamily="34" charset="-122"/>
              <a:ea typeface="微软雅黑" panose="020B0503020204020204" pitchFamily="34" charset="-122"/>
            </a:endParaRPr>
          </a:p>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变换</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0" name="矩形 19"/>
          <p:cNvSpPr/>
          <p:nvPr/>
        </p:nvSpPr>
        <p:spPr>
          <a:xfrm>
            <a:off x="8355680" y="4238625"/>
            <a:ext cx="755650" cy="54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2800" dirty="0">
                <a:solidFill>
                  <a:schemeClr val="tx1"/>
                </a:solidFill>
                <a:latin typeface="微软雅黑" panose="020B0503020204020204" pitchFamily="34" charset="-122"/>
                <a:ea typeface="微软雅黑" panose="020B0503020204020204" pitchFamily="34" charset="-122"/>
              </a:rPr>
              <a:t>...</a:t>
            </a:r>
            <a:endParaRPr lang="en-US" altLang="zh-CN" sz="2800" dirty="0">
              <a:solidFill>
                <a:schemeClr val="tx1"/>
              </a:solidFill>
              <a:latin typeface="微软雅黑" panose="020B0503020204020204" pitchFamily="34" charset="-122"/>
              <a:ea typeface="微软雅黑" panose="020B0503020204020204" pitchFamily="34" charset="-122"/>
            </a:endParaRPr>
          </a:p>
        </p:txBody>
      </p:sp>
      <p:sp>
        <p:nvSpPr>
          <p:cNvPr id="22" name="矩形 21"/>
          <p:cNvSpPr/>
          <p:nvPr/>
        </p:nvSpPr>
        <p:spPr>
          <a:xfrm>
            <a:off x="6600825" y="5572125"/>
            <a:ext cx="1008000"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1600" dirty="0">
                <a:solidFill>
                  <a:schemeClr val="tx1"/>
                </a:solidFill>
                <a:latin typeface="微软雅黑" panose="020B0503020204020204" pitchFamily="34" charset="-122"/>
                <a:ea typeface="微软雅黑" panose="020B0503020204020204" pitchFamily="34" charset="-122"/>
              </a:rPr>
              <a:t>LH10-1</a:t>
            </a:r>
            <a:endParaRPr lang="en-US" altLang="zh-CN" sz="1600" dirty="0">
              <a:solidFill>
                <a:schemeClr val="tx1"/>
              </a:solidFill>
              <a:latin typeface="微软雅黑" panose="020B0503020204020204" pitchFamily="34" charset="-122"/>
              <a:ea typeface="微软雅黑" panose="020B0503020204020204" pitchFamily="34" charset="-122"/>
            </a:endParaRPr>
          </a:p>
        </p:txBody>
      </p:sp>
      <p:sp>
        <p:nvSpPr>
          <p:cNvPr id="23" name="矩形 22"/>
          <p:cNvSpPr/>
          <p:nvPr/>
        </p:nvSpPr>
        <p:spPr>
          <a:xfrm>
            <a:off x="8700390" y="5568950"/>
            <a:ext cx="100774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2800" dirty="0">
                <a:solidFill>
                  <a:schemeClr val="tx1"/>
                </a:solidFill>
                <a:latin typeface="微软雅黑" panose="020B0503020204020204" pitchFamily="34" charset="-122"/>
                <a:ea typeface="微软雅黑" panose="020B0503020204020204" pitchFamily="34" charset="-122"/>
              </a:rPr>
              <a:t>...</a:t>
            </a:r>
            <a:endParaRPr lang="en-US" altLang="zh-CN" sz="2800" dirty="0">
              <a:solidFill>
                <a:schemeClr val="tx1"/>
              </a:solidFill>
              <a:latin typeface="微软雅黑" panose="020B0503020204020204" pitchFamily="34" charset="-122"/>
              <a:ea typeface="微软雅黑" panose="020B0503020204020204" pitchFamily="34" charset="-122"/>
            </a:endParaRPr>
          </a:p>
        </p:txBody>
      </p:sp>
      <p:sp>
        <p:nvSpPr>
          <p:cNvPr id="10" name="矩形 9"/>
          <p:cNvSpPr/>
          <p:nvPr/>
        </p:nvSpPr>
        <p:spPr>
          <a:xfrm>
            <a:off x="9178005" y="4244975"/>
            <a:ext cx="755650" cy="54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施工</a:t>
            </a:r>
            <a:endParaRPr lang="zh-CN" altLang="en-US" sz="1600" dirty="0">
              <a:solidFill>
                <a:schemeClr val="tx1"/>
              </a:solidFill>
              <a:latin typeface="微软雅黑" panose="020B0503020204020204" pitchFamily="34" charset="-122"/>
              <a:ea typeface="微软雅黑" panose="020B0503020204020204" pitchFamily="34" charset="-122"/>
            </a:endParaRPr>
          </a:p>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曲线</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5" name="矩形 24"/>
          <p:cNvSpPr/>
          <p:nvPr/>
        </p:nvSpPr>
        <p:spPr>
          <a:xfrm>
            <a:off x="10000330" y="4238625"/>
            <a:ext cx="755650" cy="54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2800" dirty="0">
                <a:solidFill>
                  <a:schemeClr val="tx1"/>
                </a:solidFill>
                <a:latin typeface="微软雅黑" panose="020B0503020204020204" pitchFamily="34" charset="-122"/>
                <a:ea typeface="微软雅黑" panose="020B0503020204020204" pitchFamily="34" charset="-122"/>
              </a:rPr>
              <a:t>...</a:t>
            </a:r>
            <a:endParaRPr lang="en-US" altLang="zh-CN" sz="2800" dirty="0">
              <a:solidFill>
                <a:schemeClr val="tx1"/>
              </a:solidFill>
              <a:latin typeface="微软雅黑" panose="020B0503020204020204" pitchFamily="34" charset="-122"/>
              <a:ea typeface="微软雅黑" panose="020B0503020204020204" pitchFamily="34" charset="-122"/>
            </a:endParaRPr>
          </a:p>
        </p:txBody>
      </p:sp>
      <p:sp>
        <p:nvSpPr>
          <p:cNvPr id="26" name="矩形 25"/>
          <p:cNvSpPr/>
          <p:nvPr/>
        </p:nvSpPr>
        <p:spPr>
          <a:xfrm>
            <a:off x="10933000" y="4238625"/>
            <a:ext cx="756000" cy="54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支撑</a:t>
            </a:r>
            <a:endParaRPr lang="zh-CN" altLang="en-US" sz="1600" dirty="0">
              <a:solidFill>
                <a:schemeClr val="tx1"/>
              </a:solidFill>
              <a:latin typeface="微软雅黑" panose="020B0503020204020204" pitchFamily="34" charset="-122"/>
              <a:ea typeface="微软雅黑" panose="020B0503020204020204" pitchFamily="34" charset="-122"/>
            </a:endParaRPr>
          </a:p>
          <a:p>
            <a:pPr algn="ctr">
              <a:lnSpc>
                <a:spcPct val="100000"/>
              </a:lnSpc>
              <a:spcBef>
                <a:spcPct val="20000"/>
              </a:spcBef>
              <a:buClr>
                <a:srgbClr val="FF0000"/>
              </a:buClr>
              <a:buSzPct val="100000"/>
            </a:pPr>
            <a:r>
              <a:rPr lang="zh-CN" altLang="en-US" sz="1600" dirty="0">
                <a:solidFill>
                  <a:schemeClr val="tx1"/>
                </a:solidFill>
                <a:latin typeface="微软雅黑" panose="020B0503020204020204" pitchFamily="34" charset="-122"/>
                <a:ea typeface="微软雅黑" panose="020B0503020204020204" pitchFamily="34" charset="-122"/>
              </a:rPr>
              <a:t>指数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7" name="矩形 26"/>
          <p:cNvSpPr/>
          <p:nvPr/>
        </p:nvSpPr>
        <p:spPr>
          <a:xfrm>
            <a:off x="7650735" y="5568950"/>
            <a:ext cx="100774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1600" dirty="0">
                <a:solidFill>
                  <a:schemeClr val="tx1"/>
                </a:solidFill>
                <a:latin typeface="微软雅黑" panose="020B0503020204020204" pitchFamily="34" charset="-122"/>
                <a:ea typeface="微软雅黑" panose="020B0503020204020204" pitchFamily="34" charset="-122"/>
              </a:rPr>
              <a:t>LH10-2</a:t>
            </a:r>
            <a:endParaRPr lang="en-US" altLang="zh-CN" sz="1600" dirty="0">
              <a:solidFill>
                <a:schemeClr val="tx1"/>
              </a:solidFill>
              <a:latin typeface="微软雅黑" panose="020B0503020204020204" pitchFamily="34" charset="-122"/>
              <a:ea typeface="微软雅黑" panose="020B0503020204020204" pitchFamily="34" charset="-122"/>
            </a:endParaRPr>
          </a:p>
        </p:txBody>
      </p:sp>
      <p:sp>
        <p:nvSpPr>
          <p:cNvPr id="11" name="矩形 10"/>
          <p:cNvSpPr/>
          <p:nvPr/>
        </p:nvSpPr>
        <p:spPr>
          <a:xfrm>
            <a:off x="9750045" y="5568950"/>
            <a:ext cx="100774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1600" dirty="0">
                <a:solidFill>
                  <a:schemeClr val="tx1"/>
                </a:solidFill>
                <a:latin typeface="微软雅黑" panose="020B0503020204020204" pitchFamily="34" charset="-122"/>
                <a:ea typeface="微软雅黑" panose="020B0503020204020204" pitchFamily="34" charset="-122"/>
                <a:sym typeface="+mn-ea"/>
              </a:rPr>
              <a:t>YH42-1</a:t>
            </a:r>
            <a:endParaRPr lang="en-US" altLang="zh-CN" sz="1600" dirty="0">
              <a:solidFill>
                <a:schemeClr val="tx1"/>
              </a:solidFill>
              <a:latin typeface="微软雅黑" panose="020B0503020204020204" pitchFamily="34" charset="-122"/>
              <a:ea typeface="微软雅黑" panose="020B0503020204020204" pitchFamily="34" charset="-122"/>
              <a:sym typeface="+mn-ea"/>
            </a:endParaRPr>
          </a:p>
        </p:txBody>
      </p:sp>
      <p:sp>
        <p:nvSpPr>
          <p:cNvPr id="15" name="矩形 14"/>
          <p:cNvSpPr/>
          <p:nvPr/>
        </p:nvSpPr>
        <p:spPr>
          <a:xfrm>
            <a:off x="10799700" y="5568950"/>
            <a:ext cx="1007745" cy="360000"/>
          </a:xfrm>
          <a:prstGeom prst="rect">
            <a:avLst/>
          </a:prstGeom>
          <a:noFill/>
          <a:ln>
            <a:solidFill>
              <a:schemeClr val="tx1"/>
            </a:solidFill>
          </a:ln>
          <a:extLst>
            <a:ext uri="{909E8E84-426E-40DD-AFC4-6F175D3DCCD1}">
              <a14:hiddenFill xmlns:a14="http://schemas.microsoft.com/office/drawing/2010/main">
                <a:solidFill>
                  <a:srgbClr val="C00000"/>
                </a:solidFill>
              </a14:hiddenFill>
            </a:ext>
          </a:extLst>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2800" dirty="0">
                <a:latin typeface="微软雅黑" panose="020B0503020204020204" pitchFamily="34" charset="-122"/>
                <a:ea typeface="微软雅黑" panose="020B0503020204020204" pitchFamily="34" charset="-122"/>
                <a:sym typeface="+mn-ea"/>
              </a:rPr>
              <a:t>...</a:t>
            </a:r>
            <a:endParaRPr lang="zh-CN" altLang="en-US" sz="2800" dirty="0">
              <a:solidFill>
                <a:schemeClr val="tx1"/>
              </a:solidFill>
              <a:latin typeface="微软雅黑" panose="020B0503020204020204" pitchFamily="34" charset="-122"/>
              <a:ea typeface="微软雅黑" panose="020B0503020204020204" pitchFamily="34" charset="-122"/>
              <a:sym typeface="+mn-ea"/>
            </a:endParaRPr>
          </a:p>
        </p:txBody>
      </p:sp>
      <p:cxnSp>
        <p:nvCxnSpPr>
          <p:cNvPr id="17" name="直接连接符 16"/>
          <p:cNvCxnSpPr>
            <a:stCxn id="12" idx="2"/>
            <a:endCxn id="18" idx="0"/>
          </p:cNvCxnSpPr>
          <p:nvPr/>
        </p:nvCxnSpPr>
        <p:spPr>
          <a:xfrm flipH="1">
            <a:off x="7089140" y="3888740"/>
            <a:ext cx="821690" cy="34988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21" name="直接连接符 20"/>
          <p:cNvCxnSpPr>
            <a:stCxn id="12" idx="2"/>
            <a:endCxn id="19" idx="0"/>
          </p:cNvCxnSpPr>
          <p:nvPr/>
        </p:nvCxnSpPr>
        <p:spPr>
          <a:xfrm>
            <a:off x="7910830" y="3888740"/>
            <a:ext cx="635" cy="34988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24" name="直接连接符 23"/>
          <p:cNvCxnSpPr>
            <a:stCxn id="12" idx="2"/>
            <a:endCxn id="20" idx="0"/>
          </p:cNvCxnSpPr>
          <p:nvPr/>
        </p:nvCxnSpPr>
        <p:spPr>
          <a:xfrm>
            <a:off x="7910830" y="3888740"/>
            <a:ext cx="822960" cy="34988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28" name="直接连接符 27"/>
          <p:cNvCxnSpPr>
            <a:stCxn id="13" idx="2"/>
            <a:endCxn id="10" idx="0"/>
          </p:cNvCxnSpPr>
          <p:nvPr/>
        </p:nvCxnSpPr>
        <p:spPr>
          <a:xfrm flipH="1">
            <a:off x="9556115" y="3888740"/>
            <a:ext cx="382905" cy="35623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29" name="直接连接符 28"/>
          <p:cNvCxnSpPr>
            <a:stCxn id="25" idx="0"/>
            <a:endCxn id="13" idx="2"/>
          </p:cNvCxnSpPr>
          <p:nvPr/>
        </p:nvCxnSpPr>
        <p:spPr>
          <a:xfrm flipH="1" flipV="1">
            <a:off x="9939020" y="3888740"/>
            <a:ext cx="439420" cy="34988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30" name="直接连接符 29"/>
          <p:cNvCxnSpPr>
            <a:stCxn id="14" idx="2"/>
            <a:endCxn id="26" idx="0"/>
          </p:cNvCxnSpPr>
          <p:nvPr/>
        </p:nvCxnSpPr>
        <p:spPr>
          <a:xfrm flipH="1">
            <a:off x="11311255" y="3888740"/>
            <a:ext cx="6985" cy="34988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3" name="直接连接符 52"/>
          <p:cNvCxnSpPr>
            <a:stCxn id="9" idx="2"/>
            <a:endCxn id="12" idx="0"/>
          </p:cNvCxnSpPr>
          <p:nvPr/>
        </p:nvCxnSpPr>
        <p:spPr>
          <a:xfrm flipH="1">
            <a:off x="7910830" y="3242945"/>
            <a:ext cx="2029460" cy="285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4" name="直接连接符 53"/>
          <p:cNvCxnSpPr>
            <a:stCxn id="9" idx="2"/>
            <a:endCxn id="13" idx="0"/>
          </p:cNvCxnSpPr>
          <p:nvPr/>
        </p:nvCxnSpPr>
        <p:spPr>
          <a:xfrm flipH="1">
            <a:off x="9939020" y="3242945"/>
            <a:ext cx="1270" cy="285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7" name="直接连接符 56"/>
          <p:cNvCxnSpPr>
            <a:stCxn id="9" idx="2"/>
            <a:endCxn id="14" idx="0"/>
          </p:cNvCxnSpPr>
          <p:nvPr/>
        </p:nvCxnSpPr>
        <p:spPr>
          <a:xfrm>
            <a:off x="9940290" y="3242945"/>
            <a:ext cx="1377950" cy="285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58" name="直接连接符 57"/>
          <p:cNvCxnSpPr>
            <a:stCxn id="18" idx="2"/>
            <a:endCxn id="22" idx="0"/>
          </p:cNvCxnSpPr>
          <p:nvPr/>
        </p:nvCxnSpPr>
        <p:spPr>
          <a:xfrm>
            <a:off x="7089140" y="4778375"/>
            <a:ext cx="15875" cy="793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69" name="直接连接符 68"/>
          <p:cNvCxnSpPr>
            <a:stCxn id="18" idx="2"/>
            <a:endCxn id="27" idx="0"/>
          </p:cNvCxnSpPr>
          <p:nvPr/>
        </p:nvCxnSpPr>
        <p:spPr>
          <a:xfrm>
            <a:off x="7089140" y="4778375"/>
            <a:ext cx="1065530"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2" name="直接连接符 71"/>
          <p:cNvCxnSpPr>
            <a:stCxn id="18" idx="2"/>
            <a:endCxn id="23" idx="0"/>
          </p:cNvCxnSpPr>
          <p:nvPr/>
        </p:nvCxnSpPr>
        <p:spPr>
          <a:xfrm>
            <a:off x="7089140" y="4778375"/>
            <a:ext cx="2115185"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3" name="直接连接符 72"/>
          <p:cNvCxnSpPr>
            <a:stCxn id="18" idx="2"/>
            <a:endCxn id="11" idx="0"/>
          </p:cNvCxnSpPr>
          <p:nvPr/>
        </p:nvCxnSpPr>
        <p:spPr>
          <a:xfrm>
            <a:off x="7089140" y="4778375"/>
            <a:ext cx="3164840"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5" name="直接连接符 74"/>
          <p:cNvCxnSpPr>
            <a:stCxn id="18" idx="2"/>
            <a:endCxn id="15" idx="0"/>
          </p:cNvCxnSpPr>
          <p:nvPr/>
        </p:nvCxnSpPr>
        <p:spPr>
          <a:xfrm>
            <a:off x="7089140" y="4778375"/>
            <a:ext cx="4214495"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79" name="直接连接符 78"/>
          <p:cNvCxnSpPr>
            <a:stCxn id="26" idx="2"/>
            <a:endCxn id="22" idx="0"/>
          </p:cNvCxnSpPr>
          <p:nvPr/>
        </p:nvCxnSpPr>
        <p:spPr>
          <a:xfrm flipH="1">
            <a:off x="7105015" y="4778375"/>
            <a:ext cx="4206240" cy="793750"/>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0" name="直接连接符 79"/>
          <p:cNvCxnSpPr>
            <a:stCxn id="26" idx="2"/>
            <a:endCxn id="27" idx="0"/>
          </p:cNvCxnSpPr>
          <p:nvPr/>
        </p:nvCxnSpPr>
        <p:spPr>
          <a:xfrm flipH="1">
            <a:off x="8154670" y="4778375"/>
            <a:ext cx="3156585"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1" name="直接连接符 80"/>
          <p:cNvCxnSpPr>
            <a:stCxn id="26" idx="2"/>
            <a:endCxn id="23" idx="0"/>
          </p:cNvCxnSpPr>
          <p:nvPr/>
        </p:nvCxnSpPr>
        <p:spPr>
          <a:xfrm flipH="1">
            <a:off x="9204325" y="4778375"/>
            <a:ext cx="2106930"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89" name="直接连接符 88"/>
          <p:cNvCxnSpPr>
            <a:stCxn id="26" idx="2"/>
            <a:endCxn id="11" idx="0"/>
          </p:cNvCxnSpPr>
          <p:nvPr/>
        </p:nvCxnSpPr>
        <p:spPr>
          <a:xfrm flipH="1">
            <a:off x="10253980" y="4778375"/>
            <a:ext cx="1057275"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90" name="直接连接符 89"/>
          <p:cNvCxnSpPr>
            <a:stCxn id="26" idx="2"/>
            <a:endCxn id="15" idx="0"/>
          </p:cNvCxnSpPr>
          <p:nvPr/>
        </p:nvCxnSpPr>
        <p:spPr>
          <a:xfrm flipH="1">
            <a:off x="11303635" y="4778375"/>
            <a:ext cx="7620" cy="790575"/>
          </a:xfrm>
          <a:prstGeom prst="line">
            <a:avLst/>
          </a:prstGeom>
          <a:ln w="12700">
            <a:solidFill>
              <a:schemeClr val="tx1"/>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91" name="文本框 38"/>
          <p:cNvSpPr txBox="1"/>
          <p:nvPr>
            <p:custDataLst>
              <p:tags r:id="rId3"/>
            </p:custDataLst>
          </p:nvPr>
        </p:nvSpPr>
        <p:spPr>
          <a:xfrm>
            <a:off x="8754110" y="4568190"/>
            <a:ext cx="827405" cy="495300"/>
          </a:xfrm>
          <a:prstGeom prst="rect">
            <a:avLst/>
          </a:prstGeom>
          <a:noFill/>
        </p:spPr>
        <p:txBody>
          <a:bodyPr wrap="square" rtlCol="0">
            <a:no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391265"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、采用熵权法分析各指标区分度差异，客观修正综合评分权重</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成果三、建立”AHP—熵权法—相关性优化”权重修正体系，形成综合评分标准化计算流程</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56718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熵权法是一种基于信息论的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客观赋权</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方法，通过指标数据的标准化与信息熵计算，衡量</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指标差异性与信息贡献度</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根据熵值差异</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修正</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各指标权重，</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上调信息量大（熵值小）的指标权重</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AHP</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结合可</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综合考虑主观经验和客观</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数据规律</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以泸</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H123</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井数据计算</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项指标的信息熵，</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停泵压降诊断得分信息熵最低</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（区分度最高，范围</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7.42—9.65</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，跨度</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2.23</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分）；</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函数曲线量化得分信息熵最高</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（区分度最低，范围</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8.96~9.07</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，跨度仅</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0.11</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分）</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指标权重优化结果展示（</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AHP</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主观权重</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 AHP+</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熵权法修正权重）</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表格 2"/>
          <p:cNvGraphicFramePr/>
          <p:nvPr/>
        </p:nvGraphicFramePr>
        <p:xfrm>
          <a:off x="316865" y="2962275"/>
          <a:ext cx="11619960" cy="3117850"/>
        </p:xfrm>
        <a:graphic>
          <a:graphicData uri="http://schemas.openxmlformats.org/drawingml/2006/table">
            <a:tbl>
              <a:tblPr/>
              <a:tblGrid>
                <a:gridCol w="2876550"/>
                <a:gridCol w="2160000"/>
                <a:gridCol w="2160000"/>
                <a:gridCol w="4423410"/>
              </a:tblGrid>
              <a:tr h="311785">
                <a:tc>
                  <a:txBody>
                    <a:bodyPr/>
                    <a:lstStyle/>
                    <a:p>
                      <a:pPr marL="0" indent="0" algn="ctr">
                        <a:spcBef>
                          <a:spcPct val="0"/>
                        </a:spcBef>
                        <a:spcAft>
                          <a:spcPct val="0"/>
                        </a:spcAft>
                      </a:pPr>
                      <a:r>
                        <a:rPr lang="zh-CN" altLang="en-US" sz="1200" b="1" i="0">
                          <a:solidFill>
                            <a:schemeClr val="bg1"/>
                          </a:solidFill>
                          <a:latin typeface="微软雅黑" panose="020B0503020204020204" pitchFamily="34" charset="-122"/>
                          <a:ea typeface="微软雅黑" panose="020B0503020204020204" pitchFamily="34" charset="-122"/>
                        </a:rPr>
                        <a:t>指标</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99377" marR="99377" marT="46037" marB="4603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2"/>
                    </a:solidFill>
                  </a:tcPr>
                </a:tc>
                <a:tc>
                  <a:txBody>
                    <a:bodyPr/>
                    <a:lstStyle/>
                    <a:p>
                      <a:pPr marL="0" indent="0" algn="ctr">
                        <a:spcBef>
                          <a:spcPct val="0"/>
                        </a:spcBef>
                        <a:spcAft>
                          <a:spcPct val="0"/>
                        </a:spcAft>
                      </a:pPr>
                      <a:r>
                        <a:rPr lang="en-US" altLang="zh-CN" sz="1200" b="1" i="0">
                          <a:solidFill>
                            <a:schemeClr val="bg1"/>
                          </a:solidFill>
                          <a:latin typeface="微软雅黑" panose="020B0503020204020204" pitchFamily="34" charset="-122"/>
                          <a:ea typeface="微软雅黑" panose="020B0503020204020204" pitchFamily="34" charset="-122"/>
                        </a:rPr>
                        <a:t>AHP</a:t>
                      </a:r>
                      <a:r>
                        <a:rPr lang="zh-CN" altLang="en-US" sz="1200" b="1" i="0">
                          <a:solidFill>
                            <a:schemeClr val="bg1"/>
                          </a:solidFill>
                          <a:latin typeface="微软雅黑" panose="020B0503020204020204" pitchFamily="34" charset="-122"/>
                          <a:ea typeface="微软雅黑" panose="020B0503020204020204" pitchFamily="34" charset="-122"/>
                        </a:rPr>
                        <a:t>主观权重</a:t>
                      </a:r>
                      <a:r>
                        <a:rPr lang="en-US" altLang="zh-CN" sz="1200" b="1" i="0">
                          <a:solidFill>
                            <a:schemeClr val="bg1"/>
                          </a:solidFill>
                          <a:latin typeface="微软雅黑" panose="020B0503020204020204" pitchFamily="34" charset="-122"/>
                          <a:ea typeface="微软雅黑" panose="020B0503020204020204" pitchFamily="34" charset="-122"/>
                        </a:rPr>
                        <a:t>(%)</a:t>
                      </a:r>
                      <a:endParaRPr lang="en-US" altLang="zh-CN" sz="1200" b="1" i="0">
                        <a:solidFill>
                          <a:schemeClr val="bg1"/>
                        </a:solidFill>
                        <a:latin typeface="微软雅黑" panose="020B0503020204020204" pitchFamily="34" charset="-122"/>
                        <a:ea typeface="微软雅黑" panose="020B0503020204020204" pitchFamily="34" charset="-122"/>
                      </a:endParaRPr>
                    </a:p>
                  </a:txBody>
                  <a:tcPr marL="99377" marR="99377" marT="46037" marB="4603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2"/>
                    </a:solidFill>
                  </a:tcPr>
                </a:tc>
                <a:tc>
                  <a:txBody>
                    <a:bodyPr/>
                    <a:lstStyle/>
                    <a:p>
                      <a:pPr marL="0" indent="0" algn="ctr">
                        <a:spcBef>
                          <a:spcPct val="0"/>
                        </a:spcBef>
                        <a:spcAft>
                          <a:spcPct val="0"/>
                        </a:spcAft>
                      </a:pPr>
                      <a:r>
                        <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AHP+</a:t>
                      </a:r>
                      <a:r>
                        <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熵权法修正权重</a:t>
                      </a:r>
                      <a:r>
                        <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99377" marR="99377" marT="46037" marB="4603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2"/>
                    </a:solidFill>
                  </a:tcPr>
                </a:tc>
                <a:tc>
                  <a:txBody>
                    <a:bodyPr/>
                    <a:lstStyle/>
                    <a:p>
                      <a:pPr marL="0" indent="0" algn="ctr">
                        <a:spcBef>
                          <a:spcPct val="0"/>
                        </a:spcBef>
                        <a:spcAft>
                          <a:spcPct val="0"/>
                        </a:spcAft>
                      </a:pPr>
                      <a:r>
                        <a:rPr lang="zh-CN" altLang="en-US" sz="1200" b="1" i="0">
                          <a:solidFill>
                            <a:schemeClr val="bg1"/>
                          </a:solidFill>
                          <a:latin typeface="微软雅黑" panose="020B0503020204020204" pitchFamily="34" charset="-122"/>
                          <a:ea typeface="微软雅黑" panose="020B0503020204020204" pitchFamily="34" charset="-122"/>
                        </a:rPr>
                        <a:t>变化说明</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99377" marR="99377" marT="46037" marB="46037"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2"/>
                    </a:solidFill>
                  </a:tcPr>
                </a:tc>
              </a:tr>
              <a:tr h="31178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函数反演得分</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8.87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区分度偏低，小幅下调</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17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小波分析得分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11.03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区分度较好，小幅上调</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17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边界指数得分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11.58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跨度</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1.32</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分、区分度高，上调</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17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有效用液指数得分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10.06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区分度中等，基本持平</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17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施工曲线诊断得分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8.75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11.35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数据有效区分性高，上调</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17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停泵压降诊断得分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8.75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12.79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跨度</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2.24</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分（全样本最大），</a:t>
                      </a:r>
                      <a:r>
                        <a:rPr lang="zh-CN" altLang="en-US" sz="1200" b="0" i="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显著上调</a:t>
                      </a:r>
                      <a:endParaRPr lang="zh-CN" altLang="en-US" sz="1200" b="0" i="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17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衰减系数得分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8.75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9.53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区分度中等，小幅上调</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178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函数曲线量化得分</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8.75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7.96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跨度仅</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0.11</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分，区分度最低，</a:t>
                      </a:r>
                      <a:r>
                        <a:rPr lang="zh-CN" altLang="en-US" sz="1200" b="0" i="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下调</a:t>
                      </a:r>
                      <a:endParaRPr lang="zh-CN" altLang="en-US" sz="1200" b="0" i="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3117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裂缝支撑指数得分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16.84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原</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AHP</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权重最高，熵权修正后仍居前列</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39063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、以千米</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EUR</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最大相关性为目标完成权重优化，形成综合评分计算体系</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成果三、建立”AHP—熵权法—相关性优化”权重修正体系，形成综合评分标准化计算流程</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项指标</a:t>
            </a:r>
            <a:r>
              <a:rPr lang="en-US"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口井的指标矩阵，以</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Spearman</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相关系数最大化为目标进行差分进化优化</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最终优化权重前三为</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裂缝支撑指数</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24.99%</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、有效用液指数</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20.90%</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、小波分析</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15.51%</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最终综合评分与千米</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呈</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正相关</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，综合评分计算体系与现场产能认识基本对应、自洽性好</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各井综合评分</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ctr" fontAlgn="base">
              <a:spcBef>
                <a:spcPct val="0"/>
              </a:spcBef>
              <a:spcAft>
                <a:spcPct val="0"/>
              </a:spcAft>
              <a:defRP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函数反演</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4.57% /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小波</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15.51% /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边界指数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4.00% /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有效用液</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20.90% /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施工曲线</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9.37% /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停泵压降</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4.00% /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衰减系数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12.65% / G</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函数量化</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4.00% /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裂缝支撑</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24.99%</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表格 2"/>
          <p:cNvGraphicFramePr/>
          <p:nvPr/>
        </p:nvGraphicFramePr>
        <p:xfrm>
          <a:off x="334645" y="2564765"/>
          <a:ext cx="11537950" cy="3515995"/>
        </p:xfrm>
        <a:graphic>
          <a:graphicData uri="http://schemas.openxmlformats.org/drawingml/2006/table">
            <a:tbl>
              <a:tblPr>
                <a:tableStyleId>{5940675A-B579-460E-94D1-54222C63F5DA}</a:tableStyleId>
              </a:tblPr>
              <a:tblGrid>
                <a:gridCol w="1180465"/>
                <a:gridCol w="805180"/>
                <a:gridCol w="751205"/>
                <a:gridCol w="823595"/>
                <a:gridCol w="830580"/>
                <a:gridCol w="764540"/>
                <a:gridCol w="822960"/>
                <a:gridCol w="795655"/>
                <a:gridCol w="845185"/>
                <a:gridCol w="729615"/>
                <a:gridCol w="835025"/>
                <a:gridCol w="939165"/>
                <a:gridCol w="1414780"/>
              </a:tblGrid>
              <a:tr h="558165">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井号</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chemeClr val="accent2"/>
                    </a:solidFill>
                  </a:tcPr>
                </a:tc>
                <a:tc>
                  <a:txBody>
                    <a:bodyPr/>
                    <a:lstStyle/>
                    <a:p>
                      <a:pPr algn="ctr" fontAlgn="ctr"/>
                      <a:r>
                        <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函数反演</a:t>
                      </a:r>
                      <a:endPar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小波</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边界指数</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有效用液</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施工曲线</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停泵压降</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衰减系数</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chemeClr val="accent2"/>
                    </a:solidFill>
                  </a:tcPr>
                </a:tc>
                <a:tc>
                  <a:txBody>
                    <a:bodyPr/>
                    <a:lstStyle/>
                    <a:p>
                      <a:pPr algn="ctr" fontAlgn="ctr"/>
                      <a:r>
                        <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函数量化</a:t>
                      </a:r>
                      <a:endPar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导流项</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综合得分</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chemeClr val="accent2"/>
                    </a:solidFill>
                  </a:tcPr>
                </a:tc>
                <a:tc>
                  <a:txBody>
                    <a:bodyPr/>
                    <a:lstStyle/>
                    <a:p>
                      <a:pPr algn="ctr" fontAlgn="ctr"/>
                      <a:r>
                        <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EUR(</a:t>
                      </a:r>
                      <a:r>
                        <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亿方</a:t>
                      </a:r>
                      <a:r>
                        <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千米</a:t>
                      </a:r>
                      <a:r>
                        <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EUR(</a:t>
                      </a:r>
                      <a:r>
                        <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亿方</a:t>
                      </a:r>
                      <a:r>
                        <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/km)</a:t>
                      </a:r>
                      <a:endPar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solidFill>
                      <a:schemeClr val="accent2"/>
                    </a:solidFill>
                  </a:tcPr>
                </a:tc>
              </a:tr>
              <a:tr h="29591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203H123-2</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8.853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8.565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9.262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8.301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9.614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9.389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9.063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9.841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9.245</a:t>
                      </a:r>
                      <a:endParaRPr lang="en-US" altLang="zh-CN"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0.59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29591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203H123-3</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8.871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8.753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7.793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9.042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8.489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9.48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9.256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9.059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9.767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9.114</a:t>
                      </a:r>
                      <a:endParaRPr lang="en-US" altLang="zh-CN"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0.575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29527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203H10-5</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8.811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8.843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9.103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9.105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8.373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8.109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8.576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9.968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9.088</a:t>
                      </a:r>
                      <a:endParaRPr lang="en-US" altLang="zh-CN"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0.64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0.407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29591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203H10-3</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8.847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8.751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8.636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8.859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8.379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7.416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8.629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8.998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8.992</a:t>
                      </a:r>
                      <a:endParaRPr lang="en-US" altLang="zh-CN"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0.85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0.599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29527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203H123-1</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8.928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8.82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7.78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8.636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8.67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9.284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9.165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9.066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9.574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8.991</a:t>
                      </a:r>
                      <a:endParaRPr lang="en-US" altLang="zh-CN"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0.78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0.455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29654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203H10-4</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9.045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8.597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8.786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8.581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8.404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7.95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9.136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9.028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9.91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8.991</a:t>
                      </a:r>
                      <a:endParaRPr lang="en-US" altLang="zh-CN"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0.391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29591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203H123-4</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8.865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8.739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8.131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8.618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8.475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9.653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9.134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9.567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8.976</a:t>
                      </a:r>
                      <a:endParaRPr lang="en-US" altLang="zh-CN"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0.68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0.391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29527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8.369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8.599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8.974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8.601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8.451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7.692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9.029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9.019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9.909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8.952</a:t>
                      </a:r>
                      <a:endParaRPr lang="en-US" altLang="zh-CN"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0.79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0.458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29654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8.829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8.611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8.974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8.173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8.376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7.573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9.127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8.958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9.945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8.893</a:t>
                      </a:r>
                      <a:endParaRPr lang="en-US" altLang="zh-CN"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0.64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0.516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29527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203H10-2</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9.458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8.53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8.781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8.423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8.354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8.11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9.389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9.48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8.893</a:t>
                      </a:r>
                      <a:endParaRPr lang="en-US" altLang="zh-CN" sz="12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0.65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0.488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bl>
          </a:graphicData>
        </a:graphic>
      </p:graphicFrame>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02055" y="2106930"/>
            <a:ext cx="9787255" cy="3192780"/>
            <a:chOff x="654367" y="2051504"/>
            <a:chExt cx="10770869" cy="4051435"/>
          </a:xfrm>
        </p:grpSpPr>
        <p:grpSp>
          <p:nvGrpSpPr>
            <p:cNvPr id="3" name="组合 2"/>
            <p:cNvGrpSpPr/>
            <p:nvPr/>
          </p:nvGrpSpPr>
          <p:grpSpPr>
            <a:xfrm>
              <a:off x="654367" y="2051504"/>
              <a:ext cx="2617469" cy="974408"/>
              <a:chOff x="654367" y="2051504"/>
              <a:chExt cx="2617469" cy="974408"/>
            </a:xfrm>
          </p:grpSpPr>
          <p:cxnSp>
            <p:nvCxnSpPr>
              <p:cNvPr id="4" name="直接连接符 3"/>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4" name="半闭框 13"/>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nvGrpSpPr>
            <p:cNvPr id="15" name="组合 14"/>
            <p:cNvGrpSpPr/>
            <p:nvPr/>
          </p:nvGrpSpPr>
          <p:grpSpPr>
            <a:xfrm rot="10800000">
              <a:off x="8807767" y="5128531"/>
              <a:ext cx="2617469" cy="974408"/>
              <a:chOff x="654367" y="2051504"/>
              <a:chExt cx="2617469" cy="974408"/>
            </a:xfrm>
          </p:grpSpPr>
          <p:cxnSp>
            <p:nvCxnSpPr>
              <p:cNvPr id="16" name="直接连接符 15"/>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7" name="半闭框 16"/>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8" name="矩形 17"/>
          <p:cNvSpPr/>
          <p:nvPr/>
        </p:nvSpPr>
        <p:spPr>
          <a:xfrm>
            <a:off x="1" y="932838"/>
            <a:ext cx="12191999" cy="744220"/>
          </a:xfrm>
          <a:prstGeom prst="rect">
            <a:avLst/>
          </a:prstGeom>
          <a:noFill/>
          <a:ln>
            <a:noFill/>
          </a:ln>
        </p:spPr>
        <p:txBody>
          <a:bodyPr wrap="square" lIns="68568" tIns="34284" rIns="6856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400" noProof="0" dirty="0">
                <a:ln>
                  <a:noFill/>
                </a:ln>
                <a:solidFill>
                  <a:srgbClr val="000000"/>
                </a:solidFill>
                <a:effectLst/>
                <a:uLnTx/>
                <a:uFillTx/>
                <a:latin typeface="方正大黑简体" panose="02000000000000000000" pitchFamily="65" charset="-122"/>
                <a:ea typeface="方正大黑简体" panose="02000000000000000000" pitchFamily="65" charset="-122"/>
                <a:sym typeface="+mn-ea"/>
              </a:rPr>
              <a:t>取得</a:t>
            </a:r>
            <a:r>
              <a:rPr lang="zh-CN" altLang="en-US" sz="4400" dirty="0">
                <a:solidFill>
                  <a:srgbClr val="FF0000"/>
                </a:solidFill>
                <a:latin typeface="方正大黑简体" panose="02000000000000000000" pitchFamily="65" charset="-122"/>
                <a:ea typeface="方正大黑简体" panose="02000000000000000000" pitchFamily="65" charset="-122"/>
                <a:sym typeface="+mn-ea"/>
              </a:rPr>
              <a:t>四</a:t>
            </a:r>
            <a:r>
              <a:rPr lang="zh-CN" altLang="en-US" sz="4400" noProof="0" dirty="0">
                <a:ln>
                  <a:noFill/>
                </a:ln>
                <a:solidFill>
                  <a:srgbClr val="000000"/>
                </a:solidFill>
                <a:effectLst/>
                <a:uLnTx/>
                <a:uFillTx/>
                <a:latin typeface="方正大黑简体" panose="02000000000000000000" pitchFamily="65" charset="-122"/>
                <a:ea typeface="方正大黑简体" panose="02000000000000000000" pitchFamily="65" charset="-122"/>
                <a:sym typeface="+mn-ea"/>
              </a:rPr>
              <a:t>项主要成果</a:t>
            </a:r>
            <a:endParaRPr kumimoji="0" lang="zh-CN" altLang="en-US" sz="3600" b="0" i="0" u="none" strike="noStrike" kern="1200" cap="none" spc="0" normalizeH="0" baseline="0" noProof="0" dirty="0">
              <a:ln>
                <a:noFill/>
              </a:ln>
              <a:solidFill>
                <a:srgbClr val="000000"/>
              </a:solidFill>
              <a:effectLst/>
              <a:uLnTx/>
              <a:uFillTx/>
              <a:latin typeface="方正大黑简体" panose="02000000000000000000" pitchFamily="65" charset="-122"/>
              <a:ea typeface="方正大黑简体" panose="02000000000000000000" pitchFamily="65" charset="-122"/>
              <a:cs typeface="+mn-cs"/>
            </a:endParaRPr>
          </a:p>
        </p:txBody>
      </p:sp>
      <p:sp>
        <p:nvSpPr>
          <p:cNvPr id="19" name="Text Box 6"/>
          <p:cNvSpPr txBox="1">
            <a:spLocks noChangeArrowheads="1"/>
          </p:cNvSpPr>
          <p:nvPr/>
        </p:nvSpPr>
        <p:spPr bwMode="auto">
          <a:xfrm>
            <a:off x="1336675" y="2025650"/>
            <a:ext cx="9505950" cy="3117850"/>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成果一、开展压裂效果评价技术对比研究，确立多技术融合的综合评价技术体系框架</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成果二、建立“三维两级”综合评价体系，完成自研评价算法落地与9项技术指标集成</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effectLst/>
                <a:uLnTx/>
                <a:uFillTx/>
                <a:latin typeface="微软雅黑" panose="020B0503020204020204" pitchFamily="34" charset="-122"/>
                <a:ea typeface="微软雅黑" panose="020B0503020204020204" pitchFamily="34" charset="-122"/>
                <a:sym typeface="+mn-ea"/>
              </a:rPr>
              <a:t>成果三、建立”AHP—熵权法—相关性优化”权重修正体系，形成综合评分标准化计算流程</a:t>
            </a:r>
            <a:endParaRPr lang="zh-CN" altLang="en-US" noProof="0" dirty="0">
              <a:ln>
                <a:noFill/>
              </a:ln>
              <a:effectLst/>
              <a:uLnTx/>
              <a:uFillTx/>
              <a:latin typeface="微软雅黑" panose="020B0503020204020204" pitchFamily="34" charset="-122"/>
              <a:ea typeface="微软雅黑" panose="020B0503020204020204" pitchFamily="34" charset="-122"/>
              <a:sym typeface="+mn-ea"/>
            </a:endParaRPr>
          </a:p>
          <a:p>
            <a:pPr marL="0" marR="0" lvl="0" indent="0" algn="l" defTabSz="914400" rtl="0" eaLnBrk="1" fontAlgn="base" latinLnBrk="0" hangingPunct="1">
              <a:lnSpc>
                <a:spcPct val="250000"/>
              </a:lnSpc>
              <a:spcBef>
                <a:spcPct val="0"/>
              </a:spcBef>
              <a:spcAft>
                <a:spcPct val="0"/>
              </a:spcAft>
              <a:buClr>
                <a:srgbClr val="FF0000"/>
              </a:buClr>
              <a:buSzTx/>
              <a:buFontTx/>
              <a:buNone/>
              <a:defRPr/>
            </a:pPr>
            <a:r>
              <a:rPr lang="zh-CN" altLang="en-US"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成果四、依托泸203井区H10、H123平台系统统计数据，开展</a:t>
            </a:r>
            <a:r>
              <a:rPr lang="zh-CN" altLang="en-US"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综合评估方法验证与案例分析</a:t>
            </a:r>
            <a:endParaRPr lang="zh-CN" altLang="en-US" noProof="0" dirty="0">
              <a:ln>
                <a:noFill/>
              </a:ln>
              <a:solidFill>
                <a:srgbClr val="FF0000"/>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80800"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、基于多源压裂现场资料，构建泸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H10</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H123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平台系统分析数据库</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8286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基于试油地质设计、压裂设计、微地震监测结果、施工参数表等资料</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构建系统分析数据库</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142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项参数中，筛选出对压裂改造效果有显著影响的</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60</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，并分为地质参数、完井参数、施工参数等维度</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井段识别信息参数介绍</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1" name="表格 10"/>
          <p:cNvGraphicFramePr/>
          <p:nvPr>
            <p:custDataLst>
              <p:tags r:id="rId2"/>
            </p:custDataLst>
          </p:nvPr>
        </p:nvGraphicFramePr>
        <p:xfrm>
          <a:off x="334010" y="2185670"/>
          <a:ext cx="11486515" cy="3869690"/>
        </p:xfrm>
        <a:graphic>
          <a:graphicData uri="http://schemas.openxmlformats.org/drawingml/2006/table">
            <a:tbl>
              <a:tblPr/>
              <a:tblGrid>
                <a:gridCol w="735965"/>
                <a:gridCol w="1071245"/>
                <a:gridCol w="1141095"/>
                <a:gridCol w="1378585"/>
                <a:gridCol w="1903095"/>
                <a:gridCol w="5256530"/>
              </a:tblGrid>
              <a:tr h="433070">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序号</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参数名称</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层级</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来源文件</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含义</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取值大小对压裂效果的影响</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43243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1</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井区</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平台级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所在区块名称</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不同井区地质背景差异大，是平台间对比的分组依据</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3307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2</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平台</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平台级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所在平台编号</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同平台井共享相似区域地质条件</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3307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3</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井号</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井级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井的唯一编号</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识别用，无直接影响</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3307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4</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段号</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压裂段序号</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识别用，段号越小越靠近趾端</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85217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5</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段型</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主体段</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渐进防控段</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风险段</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段型直接决定施工规模：主体段排量最大砂量最多，风险段排量最小规模最小。是段间对比的核心分组变量</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85280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6</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层位</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施工参数表</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试油设计</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射孔所在小层</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（龙一</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1600" b="0" i="0" baseline="30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1600" b="0" i="0" baseline="30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1600" b="0" i="0" baseline="30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1600" b="0" i="0" baseline="30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不同小层的储层品质差异大：龙一</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11+12</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层脆性高但</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TOC</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和孔隙度相对低，龙一</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13</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是主力产层，龙一</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14</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品质最差</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井级基础参数介绍</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1" name="表格 10"/>
          <p:cNvGraphicFramePr/>
          <p:nvPr/>
        </p:nvGraphicFramePr>
        <p:xfrm>
          <a:off x="334010" y="2186305"/>
          <a:ext cx="11486515" cy="3888105"/>
        </p:xfrm>
        <a:graphic>
          <a:graphicData uri="http://schemas.openxmlformats.org/drawingml/2006/table">
            <a:tbl>
              <a:tblPr/>
              <a:tblGrid>
                <a:gridCol w="735965"/>
                <a:gridCol w="1250438"/>
                <a:gridCol w="961902"/>
                <a:gridCol w="1378585"/>
                <a:gridCol w="2162687"/>
                <a:gridCol w="4996938"/>
              </a:tblGrid>
              <a:tr h="737235">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序号</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参数名称</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层级</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来源文件</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含义</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取值大小对压裂效果的影响</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78740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7</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水平段长</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井级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试油地质设计</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水平段的实钻总长度</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千米</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EUR</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的计算分母，反映可改造空间大小</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78803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8</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平均垂深</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井级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井底到地面的垂直距离</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垂深越深地应力越高、地温越高，压裂施工压力越高，在同平台内基本一致</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78740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9</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压力系数</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平台级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试油地质设计</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地层压力与静液柱压力的比值</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压力系数</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&gt;1.8</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为超压储层，有利于气体驱出、初产高；同平台基本一致</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78803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10</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类小层钻遇率</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井级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试油地质设计</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龙一</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11+12</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小层在水平段中所占比例</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钻遇率越高说明经过的优质层越多，但本井区主力层是龙一</a:t>
                      </a:r>
                      <a:r>
                        <a:rPr lang="en-US" altLang="zh-CN"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13</a:t>
                      </a:r>
                      <a:r>
                        <a:rPr lang="zh-CN" altLang="en-US"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钻遇率反映的是水平井轨迹偏移情况</a:t>
                      </a:r>
                      <a:endParaRPr lang="zh-CN" altLang="en-US"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7" name="矩形 6"/>
          <p:cNvSpPr/>
          <p:nvPr/>
        </p:nvSpPr>
        <p:spPr>
          <a:xfrm>
            <a:off x="429895" y="811530"/>
            <a:ext cx="11480800"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、基于多源压裂现场资料，构建泸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H10</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H123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平台系统分析数据库</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8" name="TextBox 2"/>
          <p:cNvSpPr txBox="1">
            <a:spLocks noChangeArrowheads="1"/>
          </p:cNvSpPr>
          <p:nvPr/>
        </p:nvSpPr>
        <p:spPr bwMode="auto">
          <a:xfrm>
            <a:off x="334962" y="1357435"/>
            <a:ext cx="11485563" cy="8286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基于试油地质设计、压裂设计、微地震监测结果、施工参数表等资料</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构建系统分析数据库</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142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项参数中，筛选出对压裂改造效果有显著影响的</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60</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，并分为地质参数、完井参数、施工参数等维度</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段级地质参数介绍</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334010" y="2186940"/>
          <a:ext cx="11486515" cy="3887470"/>
        </p:xfrm>
        <a:graphic>
          <a:graphicData uri="http://schemas.openxmlformats.org/drawingml/2006/table">
            <a:tbl>
              <a:tblPr/>
              <a:tblGrid>
                <a:gridCol w="531229"/>
                <a:gridCol w="2035277"/>
                <a:gridCol w="570271"/>
                <a:gridCol w="1190113"/>
                <a:gridCol w="2091055"/>
                <a:gridCol w="5068570"/>
              </a:tblGrid>
              <a:tr h="262890">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序号</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参数名称</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层级</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来源文件</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含义</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取值大小对压裂效果的影响</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51752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11</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平均孔隙度</a:t>
                      </a:r>
                      <a:r>
                        <a:rPr lang="en-US" altLang="zh-CN"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dirty="0">
                          <a:solidFill>
                            <a:srgbClr val="000000"/>
                          </a:solidFill>
                          <a:latin typeface="微软雅黑" panose="020B0503020204020204" pitchFamily="34" charset="-122"/>
                          <a:ea typeface="微软雅黑" panose="020B0503020204020204" pitchFamily="34" charset="-122"/>
                        </a:rPr>
                        <a:t>段级</a:t>
                      </a:r>
                      <a:endParaRPr lang="zh-CN" altLang="en-US" sz="16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dirty="0">
                          <a:solidFill>
                            <a:srgbClr val="000000"/>
                          </a:solidFill>
                          <a:latin typeface="微软雅黑" panose="020B0503020204020204" pitchFamily="34" charset="-122"/>
                          <a:ea typeface="微软雅黑" panose="020B0503020204020204" pitchFamily="34" charset="-122"/>
                        </a:rPr>
                        <a:t>试油设计</a:t>
                      </a:r>
                      <a:endParaRPr lang="zh-CN" altLang="en-US" sz="1600" b="0" i="0" dirty="0">
                        <a:solidFill>
                          <a:srgbClr val="000000"/>
                        </a:solidFill>
                        <a:latin typeface="微软雅黑" panose="020B0503020204020204" pitchFamily="34" charset="-122"/>
                        <a:ea typeface="微软雅黑" panose="020B0503020204020204" pitchFamily="34" charset="-122"/>
                      </a:endParaRPr>
                    </a:p>
                    <a:p>
                      <a:pPr algn="ctr" fontAlgn="ctr"/>
                      <a:r>
                        <a:rPr lang="zh-CN" altLang="en-US" sz="1600" b="0" i="0" dirty="0">
                          <a:solidFill>
                            <a:srgbClr val="000000"/>
                          </a:solidFill>
                          <a:latin typeface="微软雅黑" panose="020B0503020204020204" pitchFamily="34" charset="-122"/>
                          <a:ea typeface="微软雅黑" panose="020B0503020204020204" pitchFamily="34" charset="-122"/>
                        </a:rPr>
                        <a:t>分段表</a:t>
                      </a:r>
                      <a:endParaRPr lang="zh-CN" altLang="en-US" sz="16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该段储层平均孔隙度</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孔隙度越大储集能力越强、含气性越好，有利于产能释放。同时孔隙度大的段液体滤失也可能更快</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816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12</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平均</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TOC(%)</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dirty="0">
                          <a:solidFill>
                            <a:srgbClr val="000000"/>
                          </a:solidFill>
                          <a:latin typeface="微软雅黑" panose="020B0503020204020204" pitchFamily="34" charset="-122"/>
                          <a:ea typeface="微软雅黑" panose="020B0503020204020204" pitchFamily="34" charset="-122"/>
                        </a:rPr>
                        <a:t>段级</a:t>
                      </a:r>
                      <a:endParaRPr lang="zh-CN" altLang="en-US" sz="16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试油设计</a:t>
                      </a:r>
                      <a:endParaRPr lang="zh-CN" altLang="en-US" sz="1600" b="0" i="0">
                        <a:solidFill>
                          <a:srgbClr val="000000"/>
                        </a:solidFill>
                        <a:latin typeface="微软雅黑" panose="020B0503020204020204" pitchFamily="34" charset="-122"/>
                        <a:ea typeface="微软雅黑" panose="020B0503020204020204" pitchFamily="34" charset="-122"/>
                      </a:endParaRPr>
                    </a:p>
                    <a:p>
                      <a:pPr algn="ctr" fontAlgn="ctr"/>
                      <a:r>
                        <a:rPr lang="zh-CN" altLang="en-US" sz="1600" b="0" i="0">
                          <a:solidFill>
                            <a:srgbClr val="000000"/>
                          </a:solidFill>
                          <a:latin typeface="微软雅黑" panose="020B0503020204020204" pitchFamily="34" charset="-122"/>
                          <a:ea typeface="微软雅黑" panose="020B0503020204020204" pitchFamily="34" charset="-122"/>
                        </a:rPr>
                        <a:t>分段表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该段总有机碳含量</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TOC</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越高页岩含气量越大、产气潜力越好。是判断储层</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甜点</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品质的核心指标</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752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13</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平均脆性矿物含量</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试油设计</a:t>
                      </a:r>
                      <a:endParaRPr lang="zh-CN" altLang="en-US" sz="1600" b="0" i="0">
                        <a:solidFill>
                          <a:srgbClr val="000000"/>
                        </a:solidFill>
                        <a:latin typeface="微软雅黑" panose="020B0503020204020204" pitchFamily="34" charset="-122"/>
                        <a:ea typeface="微软雅黑" panose="020B0503020204020204" pitchFamily="34" charset="-122"/>
                      </a:endParaRPr>
                    </a:p>
                    <a:p>
                      <a:pPr algn="ctr" fontAlgn="ctr"/>
                      <a:r>
                        <a:rPr lang="zh-CN" altLang="en-US" sz="1600" b="0" i="0">
                          <a:solidFill>
                            <a:srgbClr val="000000"/>
                          </a:solidFill>
                          <a:latin typeface="微软雅黑" panose="020B0503020204020204" pitchFamily="34" charset="-122"/>
                          <a:ea typeface="微软雅黑" panose="020B0503020204020204" pitchFamily="34" charset="-122"/>
                        </a:rPr>
                        <a:t>分段表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石英</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长石等脆性矿物占比</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脆性越高越容易形成复杂裂缝网络，有利于压裂改造。脆性低（粘土含量高）则裂缝趋于简单平面缝</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816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14</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设计地层破裂压力</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(MPa)</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试油设计</a:t>
                      </a:r>
                      <a:endParaRPr lang="zh-CN" altLang="en-US" sz="1600" b="0" i="0">
                        <a:solidFill>
                          <a:srgbClr val="000000"/>
                        </a:solidFill>
                        <a:latin typeface="微软雅黑" panose="020B0503020204020204" pitchFamily="34" charset="-122"/>
                        <a:ea typeface="微软雅黑" panose="020B0503020204020204" pitchFamily="34" charset="-122"/>
                      </a:endParaRPr>
                    </a:p>
                    <a:p>
                      <a:pPr algn="ctr" fontAlgn="ctr"/>
                      <a:r>
                        <a:rPr lang="zh-CN" altLang="en-US" sz="1600" b="0" i="0">
                          <a:solidFill>
                            <a:srgbClr val="000000"/>
                          </a:solidFill>
                          <a:latin typeface="微软雅黑" panose="020B0503020204020204" pitchFamily="34" charset="-122"/>
                          <a:ea typeface="微软雅黑" panose="020B0503020204020204" pitchFamily="34" charset="-122"/>
                        </a:rPr>
                        <a:t>分段表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测井解释计算的破裂压力均值</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破裂压力越高说明地应力越大、起裂难度越大。实际施工中如果远低于设计值，可能说明天然裂缝协助起裂</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752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15</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段内破裂压力差</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(MPa)</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试油设计</a:t>
                      </a:r>
                      <a:endParaRPr lang="zh-CN" altLang="en-US" sz="1600" b="0" i="0">
                        <a:solidFill>
                          <a:srgbClr val="000000"/>
                        </a:solidFill>
                        <a:latin typeface="微软雅黑" panose="020B0503020204020204" pitchFamily="34" charset="-122"/>
                        <a:ea typeface="微软雅黑" panose="020B0503020204020204" pitchFamily="34" charset="-122"/>
                      </a:endParaRPr>
                    </a:p>
                    <a:p>
                      <a:pPr algn="ctr" fontAlgn="ctr"/>
                      <a:r>
                        <a:rPr lang="zh-CN" altLang="en-US" sz="1600" b="0" i="0">
                          <a:solidFill>
                            <a:srgbClr val="000000"/>
                          </a:solidFill>
                          <a:latin typeface="微软雅黑" panose="020B0503020204020204" pitchFamily="34" charset="-122"/>
                          <a:ea typeface="微软雅黑" panose="020B0503020204020204" pitchFamily="34" charset="-122"/>
                        </a:rPr>
                        <a:t>分段表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段内各簇破裂压力的最大值与最小值之差</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差值越大说明段内各簇的应力条件越不均匀，容易出现部分簇不进液的</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簇效率低</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问题</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816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16</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天然裂缝发育等级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试油设计</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压裂设计</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发育</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较发育</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不发育</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天然裂缝发育有利于形成复杂缝网提升</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，但也可能导致液体滤失加大、砂堵风险增加、井间压窜</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752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17</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天然裂缝及地质描述</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试油设计</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压裂设计</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该段天然裂缝和特殊地质条件的详细文字描述</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用于汇报时解释该段为何设为风险段</a:t>
                      </a:r>
                      <a:r>
                        <a:rPr lang="en-US" altLang="zh-CN"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渐进段，以及评分差异的地质原因</a:t>
                      </a:r>
                      <a:endParaRPr lang="zh-CN" altLang="en-US"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7" name="矩形 6"/>
          <p:cNvSpPr/>
          <p:nvPr/>
        </p:nvSpPr>
        <p:spPr>
          <a:xfrm>
            <a:off x="429895" y="811530"/>
            <a:ext cx="11480800"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、基于多源压裂现场资料，构建泸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H10</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H123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平台系统分析数据库</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8" name="TextBox 2"/>
          <p:cNvSpPr txBox="1">
            <a:spLocks noChangeArrowheads="1"/>
          </p:cNvSpPr>
          <p:nvPr/>
        </p:nvSpPr>
        <p:spPr bwMode="auto">
          <a:xfrm>
            <a:off x="334962" y="1357435"/>
            <a:ext cx="11485563" cy="8286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基于试油地质设计、压裂设计、微地震监测结果、施工参数表等资料</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构建系统分析数据库</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142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项参数中，筛选出对压裂改造效果有显著影响的</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60</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，并分为地质参数、完井参数、施工参数等维度</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完井参数介绍</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334010" y="2186305"/>
          <a:ext cx="11486515" cy="3887470"/>
        </p:xfrm>
        <a:graphic>
          <a:graphicData uri="http://schemas.openxmlformats.org/drawingml/2006/table">
            <a:tbl>
              <a:tblPr/>
              <a:tblGrid>
                <a:gridCol w="735965"/>
                <a:gridCol w="1315085"/>
                <a:gridCol w="897255"/>
                <a:gridCol w="1378585"/>
                <a:gridCol w="2103694"/>
                <a:gridCol w="5055931"/>
              </a:tblGrid>
              <a:tr h="657225">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序号</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参数名称</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层级</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来源文件</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含义</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取值大小对压裂效果的影响</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85788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18</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实际段长</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该压裂段的实际长度</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段长越大需要改造的储层越多，需要更多液量和砂量才能充分改造。用液强度和加砂强度以此为分母</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85725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19</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实际簇数</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该段的射孔簇数</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dirty="0">
                          <a:solidFill>
                            <a:srgbClr val="000000"/>
                          </a:solidFill>
                          <a:latin typeface="微软雅黑" panose="020B0503020204020204" pitchFamily="34" charset="-122"/>
                          <a:ea typeface="微软雅黑" panose="020B0503020204020204" pitchFamily="34" charset="-122"/>
                        </a:rPr>
                        <a:t>簇数越多改造入口越多，有利于均匀改造，但每簇分配到的排量也越少</a:t>
                      </a:r>
                      <a:endParaRPr lang="zh-CN" altLang="en-US" sz="16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65722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20</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实际孔数</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该段总射孔数</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射孔孔数影响近井摩阻和每簇进液效率</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85788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21</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簇间距</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试油设计</a:t>
                      </a:r>
                      <a:endParaRPr lang="zh-CN" altLang="en-US" sz="1600" b="0" i="0">
                        <a:solidFill>
                          <a:srgbClr val="000000"/>
                        </a:solidFill>
                        <a:latin typeface="微软雅黑" panose="020B0503020204020204" pitchFamily="34" charset="-122"/>
                        <a:ea typeface="微软雅黑" panose="020B0503020204020204" pitchFamily="34" charset="-122"/>
                      </a:endParaRPr>
                    </a:p>
                    <a:p>
                      <a:pPr algn="ctr" fontAlgn="ctr"/>
                      <a:r>
                        <a:rPr lang="zh-CN" altLang="en-US" sz="1600" b="0" i="0">
                          <a:solidFill>
                            <a:srgbClr val="000000"/>
                          </a:solidFill>
                          <a:latin typeface="微软雅黑" panose="020B0503020204020204" pitchFamily="34" charset="-122"/>
                          <a:ea typeface="微软雅黑" panose="020B0503020204020204" pitchFamily="34" charset="-122"/>
                        </a:rPr>
                        <a:t>分段表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相邻射孔簇之间的距离</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簇间距越小应力干扰越强，有利于裂缝转向形成复杂缝网；风险段簇间距大（</a:t>
                      </a:r>
                      <a:r>
                        <a:rPr lang="en-US" altLang="zh-CN"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30m</a:t>
                      </a:r>
                      <a:r>
                        <a:rPr lang="zh-CN" altLang="en-US"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）是为了控制施工规模</a:t>
                      </a:r>
                      <a:endParaRPr lang="zh-CN" altLang="en-US"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7" name="矩形 6"/>
          <p:cNvSpPr/>
          <p:nvPr/>
        </p:nvSpPr>
        <p:spPr>
          <a:xfrm>
            <a:off x="429895" y="811530"/>
            <a:ext cx="11480800"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、基于多源压裂现场资料，构建泸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H10</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H123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平台系统分析数据库</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8" name="TextBox 2"/>
          <p:cNvSpPr txBox="1">
            <a:spLocks noChangeArrowheads="1"/>
          </p:cNvSpPr>
          <p:nvPr/>
        </p:nvSpPr>
        <p:spPr bwMode="auto">
          <a:xfrm>
            <a:off x="334962" y="1357435"/>
            <a:ext cx="11485563" cy="8286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基于试油地质设计、压裂设计、微地震监测结果、施工参数表等资料</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构建系统分析数据库</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142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项参数中，筛选出对压裂改造效果有显著影响的</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60</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，并分为地质参数、完井参数、施工参数等维度</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施工参数介绍</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334010" y="2186305"/>
          <a:ext cx="11486515" cy="3887470"/>
        </p:xfrm>
        <a:graphic>
          <a:graphicData uri="http://schemas.openxmlformats.org/drawingml/2006/table">
            <a:tbl>
              <a:tblPr/>
              <a:tblGrid>
                <a:gridCol w="656590"/>
                <a:gridCol w="1150620"/>
                <a:gridCol w="794385"/>
                <a:gridCol w="1725295"/>
                <a:gridCol w="1903095"/>
                <a:gridCol w="5256530"/>
              </a:tblGrid>
              <a:tr h="330200">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序号</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参数名称</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层级</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来源文件</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含义</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取值大小对压裂效果的影响</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56451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22</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平均排量</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(m³/min)</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该段施工过程平均泵入排量</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排量越大净压力越高、裂缝越宽，有利于支撑剂输送和缝长</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缝高扩展，但也可能导致缝高失控</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6451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23</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最高施工排量</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(m³/min)</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该段最大泵入排量</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反映施工能力上限，主体段一般</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18-20</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，风险段仅</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6</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6451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24</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平均施工压力</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(MPa)</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该段施工过程平均井口压力</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施工压力反映裂缝延伸阻力，压力越高可能说明裂缝宽度受限或摩阻大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6451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25</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最高施工压力</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(MPa)</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该段最高井口压力</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接近控制压力时需降排量或停泵，影响砂量完成度</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65024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26</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实际破裂压力</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(MPa)</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施工中实测的地层破裂压力</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实际破裂压力低于设计值说明天然裂缝帮助起裂；远高于设计值可能说明固井质量差或应力集中</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64897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27</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酸降</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(MPa)</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注酸后压力下降幅度</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酸降越大说明近井筒堵塞严重、酸液溶蚀效果明显，有利于后续施工</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7" name="矩形 6"/>
          <p:cNvSpPr/>
          <p:nvPr/>
        </p:nvSpPr>
        <p:spPr>
          <a:xfrm>
            <a:off x="429895" y="811530"/>
            <a:ext cx="11480800"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、基于多源压裂现场资料，构建泸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H10</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H123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平台系统分析数据库</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8" name="TextBox 2"/>
          <p:cNvSpPr txBox="1">
            <a:spLocks noChangeArrowheads="1"/>
          </p:cNvSpPr>
          <p:nvPr/>
        </p:nvSpPr>
        <p:spPr bwMode="auto">
          <a:xfrm>
            <a:off x="334962" y="1357435"/>
            <a:ext cx="11485563" cy="8286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基于试油地质设计、压裂设计、微地震监测结果、施工参数表等资料</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构建系统分析数据库</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142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项参数中，筛选出对压裂改造效果有显著影响的</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60</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，并分为地质参数、完井参数、施工参数等维度</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液量砂量参数介绍</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334010" y="2186305"/>
          <a:ext cx="11486515" cy="3887470"/>
        </p:xfrm>
        <a:graphic>
          <a:graphicData uri="http://schemas.openxmlformats.org/drawingml/2006/table">
            <a:tbl>
              <a:tblPr/>
              <a:tblGrid>
                <a:gridCol w="656590"/>
                <a:gridCol w="1150620"/>
                <a:gridCol w="794385"/>
                <a:gridCol w="1725295"/>
                <a:gridCol w="1903095"/>
                <a:gridCol w="5256530"/>
              </a:tblGrid>
              <a:tr h="330200">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序号</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参数名称</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层级</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来源文件</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含义</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取值大小对压裂效果的影响</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56451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28</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总液量</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(m³)</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该段实际泵入的总液体体积</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液量越大裂缝延伸越远、改造体积越大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6451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29</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用液强度</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(m³/m)</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总液量</a:t>
                      </a:r>
                      <a:r>
                        <a:rPr lang="en-US" altLang="zh-CN" sz="1600" b="0" i="0">
                          <a:solidFill>
                            <a:srgbClr val="000000"/>
                          </a:solidFill>
                          <a:latin typeface="微软雅黑" panose="020B0503020204020204" pitchFamily="34" charset="-122"/>
                          <a:ea typeface="微软雅黑" panose="020B0503020204020204" pitchFamily="34" charset="-122"/>
                        </a:rPr>
                        <a:t>÷</a:t>
                      </a:r>
                      <a:r>
                        <a:rPr lang="zh-CN" altLang="en-US" sz="1600" b="0" i="0">
                          <a:solidFill>
                            <a:srgbClr val="000000"/>
                          </a:solidFill>
                          <a:latin typeface="微软雅黑" panose="020B0503020204020204" pitchFamily="34" charset="-122"/>
                          <a:ea typeface="微软雅黑" panose="020B0503020204020204" pitchFamily="34" charset="-122"/>
                        </a:rPr>
                        <a:t>段长，单位段长液量</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统一了段长差异后的可比指标。主体段一般</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20-27m³/m</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，风险段仅</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5-6m³/m</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6451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30</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总砂量</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(t)</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实际泵入的支撑剂总量</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砂量越大裂缝支撑越充分、长期导流能力越好</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64515">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31</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加砂强度</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(t/m)</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总砂量</a:t>
                      </a:r>
                      <a:r>
                        <a:rPr lang="en-US" altLang="zh-CN" sz="1600" b="0" i="0">
                          <a:solidFill>
                            <a:srgbClr val="000000"/>
                          </a:solidFill>
                          <a:latin typeface="微软雅黑" panose="020B0503020204020204" pitchFamily="34" charset="-122"/>
                          <a:ea typeface="微软雅黑" panose="020B0503020204020204" pitchFamily="34" charset="-122"/>
                        </a:rPr>
                        <a:t>÷</a:t>
                      </a:r>
                      <a:r>
                        <a:rPr lang="zh-CN" altLang="en-US" sz="1600" b="0" i="0">
                          <a:solidFill>
                            <a:srgbClr val="000000"/>
                          </a:solidFill>
                          <a:latin typeface="微软雅黑" panose="020B0503020204020204" pitchFamily="34" charset="-122"/>
                          <a:ea typeface="微软雅黑" panose="020B0503020204020204" pitchFamily="34" charset="-122"/>
                        </a:rPr>
                        <a:t>段长，单位段长砂量</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统一段长差异后的可比指标。主体段一般</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2-3t/m</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，风险段约</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1.1t/m</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65024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32</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石英砂占比</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石英砂在总支撑剂中的重量占比</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石英砂便宜但强度低，陶粒贵但强度高。深层高闭合应力下石英砂可能被压碎影响导流能力</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64897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33</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最高砂浓度</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(kg/m³)</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施工参数表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该段施工达到的最高砂液浓度</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最高砂浓度越大说明裂缝宽度足够容纳高浓度砂浆，改造充分；如果达不到设计最高浓度可能是砂堵</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7" name="矩形 6"/>
          <p:cNvSpPr/>
          <p:nvPr/>
        </p:nvSpPr>
        <p:spPr>
          <a:xfrm>
            <a:off x="429895" y="811530"/>
            <a:ext cx="11480800"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、基于多源压裂现场资料，构建泸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H10</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H123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平台系统分析数据库</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8" name="TextBox 2"/>
          <p:cNvSpPr txBox="1">
            <a:spLocks noChangeArrowheads="1"/>
          </p:cNvSpPr>
          <p:nvPr/>
        </p:nvSpPr>
        <p:spPr bwMode="auto">
          <a:xfrm>
            <a:off x="334962" y="1357435"/>
            <a:ext cx="11485563" cy="8286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基于试油地质设计、压裂设计、微地震监测结果、施工参数表等资料</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构建系统分析数据库</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142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项参数中，筛选出对压裂改造效果有显著影响的</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60</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，并分为地质参数、完井参数、施工参数等维度</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暂堵、停泵与压窜信息</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参数介绍</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334010" y="2187575"/>
          <a:ext cx="11486515" cy="3898264"/>
        </p:xfrm>
        <a:graphic>
          <a:graphicData uri="http://schemas.openxmlformats.org/drawingml/2006/table">
            <a:tbl>
              <a:tblPr/>
              <a:tblGrid>
                <a:gridCol w="449580"/>
                <a:gridCol w="1826895"/>
                <a:gridCol w="569595"/>
                <a:gridCol w="1348740"/>
                <a:gridCol w="2355215"/>
                <a:gridCol w="4936490"/>
              </a:tblGrid>
              <a:tr h="229870">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序号</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参数名称</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层级</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来源文件</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含义</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200" b="1" i="0">
                          <a:solidFill>
                            <a:schemeClr val="bg1"/>
                          </a:solidFill>
                          <a:latin typeface="微软雅黑" panose="020B0503020204020204" pitchFamily="34" charset="-122"/>
                          <a:ea typeface="微软雅黑" panose="020B0503020204020204" pitchFamily="34" charset="-122"/>
                        </a:rPr>
                        <a:t>取值大小对压裂效果的影响</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22987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34</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是否暂堵</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段级</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施工参数表</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该段是否实施了暂堵转向</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暂堵目的是堵住优势簇、迫使液体进入低效簇，提高簇效率和改造均匀性</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7338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35</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最大暂堵压力上涨</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(MPa)</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段级</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施工参数表</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暂堵后井口压力上涨的最大值</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上涨</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&gt;3MPa</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一般认为暂堵成功，</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&lt;2MPa</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认为暂堵不成功。成功的暂堵有利于均匀改造</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7338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36</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停泵压力</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(MPa)</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段级</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施工参数表</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停泵瞬间的井口压力</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停泵压力反映裂缝内净压力水平，越高说明裂缝延伸越困难或裂缝内充填越充分</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831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15min</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压降</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(MPa)</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段级</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施工参数表</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停泵</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15</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分钟后压力下降值</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压降大说明液体快速滤失到地层中（裂缝面积大或天然裂缝发育），压降小可能说明裂缝封闭好或改造体积有限</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831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38</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停泵估算净压力</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(MPa)</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段级</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施工参数表</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停泵压力减去静液柱压力和最小水平主应力后的估算值</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净压力越高说明裂缝内残余压力越大，有利于裂缝保持张开和支撑剂就位</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831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39</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是否压窜邻井</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段级</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施工参数表</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压窜信息总表</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该段施工时是否导致邻井压力上涨</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压窜说明裂缝延伸到了邻井方向，一方面表明裂缝网络范围大，另一方面可能造成液体和能量损失</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958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压窜邻井最大上涨值</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(MPa)</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段级</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施工参数表</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压窜信息总表</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压窜导致邻井压力上涨的最大幅度</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上涨值越大压窜越严重，</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&gt;10MPa</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为较严重压窜，可能导致套变风险</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831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是否被邻井压窜</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段级</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施工参数表</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压窜信息总表</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邻井施工时本井是否出现压力上涨</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被压窜说明已有裂缝与邻井裂缝连通，可能影响后续本段施工效果</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831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42</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被压窜最大上涨值</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(MPa)</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段级</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施工参数表</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压窜信息总表</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被压窜时本井压力上涨的最大幅度</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用于判断已有裂缝的连通程度</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7" name="矩形 6"/>
          <p:cNvSpPr/>
          <p:nvPr/>
        </p:nvSpPr>
        <p:spPr>
          <a:xfrm>
            <a:off x="429895" y="811530"/>
            <a:ext cx="11480800"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、基于多源压裂现场资料，构建泸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H10</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H123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平台系统分析数据库</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8" name="TextBox 2"/>
          <p:cNvSpPr txBox="1">
            <a:spLocks noChangeArrowheads="1"/>
          </p:cNvSpPr>
          <p:nvPr/>
        </p:nvSpPr>
        <p:spPr bwMode="auto">
          <a:xfrm>
            <a:off x="334962" y="1357435"/>
            <a:ext cx="11485563" cy="8286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基于试油地质设计、压裂设计、微地震监测结果、施工参数表等资料</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构建系统分析数据库</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142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项参数中，筛选出对压裂改造效果有显著影响的</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60</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，并分为地质参数、完井参数、施工参数等维度</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微地震监测参数介绍</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334010" y="2186305"/>
          <a:ext cx="11486515" cy="3884295"/>
        </p:xfrm>
        <a:graphic>
          <a:graphicData uri="http://schemas.openxmlformats.org/drawingml/2006/table">
            <a:tbl>
              <a:tblPr/>
              <a:tblGrid>
                <a:gridCol w="656590"/>
                <a:gridCol w="1798955"/>
                <a:gridCol w="615315"/>
                <a:gridCol w="1557020"/>
                <a:gridCol w="2259965"/>
                <a:gridCol w="4598670"/>
              </a:tblGrid>
              <a:tr h="302895">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序号</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参数名称</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层级</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来源文件</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含义</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取值大小对压裂效果的影响</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59690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43</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微地震事件点数</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个</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微地震监测小结</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该段监测到的微地震事件数量</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事件越多说明岩石破裂越广泛，但也受监测灵敏度和信噪比影响</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9690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44</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微地震缝长</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微地震监测小结</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微地震事件沿井筒方向的最大展布</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缝长越大改造范围越广，有利于增大泄气面积</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9690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45</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微地震缝宽</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微地震监测小结</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微地震事件垂直于井筒方向的展布</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缝宽越大说明裂缝向井间延伸越远</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9690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46</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微地震缝高</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微地震监测小结</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微地震事件在垂向的展布</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缝高越大纵向改造范围越广，但过大可能意味着突破遮挡层</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9690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47</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微地震方位角</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微地震监测小结</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裂缝主方位角</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偏离最大主应力方向越大说明裂缝转向越明显，可能与天然裂缝相关</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9690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48</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微地震</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万方</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微地震监测小结</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不含天然缝的改造体积</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最直观的改造效果指标。用于与小波得分做多源交叉验证</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7" name="矩形 6"/>
          <p:cNvSpPr/>
          <p:nvPr/>
        </p:nvSpPr>
        <p:spPr>
          <a:xfrm>
            <a:off x="429895" y="811530"/>
            <a:ext cx="11480800"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、基于多源压裂现场资料，构建泸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H10</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H123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平台系统分析数据库</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8" name="TextBox 2"/>
          <p:cNvSpPr txBox="1">
            <a:spLocks noChangeArrowheads="1"/>
          </p:cNvSpPr>
          <p:nvPr/>
        </p:nvSpPr>
        <p:spPr bwMode="auto">
          <a:xfrm>
            <a:off x="334962" y="1357435"/>
            <a:ext cx="11485563" cy="8286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基于试油地质设计、压裂设计、微地震监测结果、施工参数表等资料</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构建系统分析数据库</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142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项参数中，筛选出对压裂改造效果有显著影响的</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60</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，并分为地质参数、完井参数、施工参数等维度</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各评价指标、综合评分及产量参数</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介绍</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334010" y="2192020"/>
          <a:ext cx="11487150" cy="3863340"/>
        </p:xfrm>
        <a:graphic>
          <a:graphicData uri="http://schemas.openxmlformats.org/drawingml/2006/table">
            <a:tbl>
              <a:tblPr/>
              <a:tblGrid>
                <a:gridCol w="1210945"/>
                <a:gridCol w="2121535"/>
                <a:gridCol w="1464310"/>
                <a:gridCol w="2212975"/>
                <a:gridCol w="4477385"/>
              </a:tblGrid>
              <a:tr h="297180">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序号</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参数名称</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层级</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来源</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600" b="1" i="0">
                          <a:solidFill>
                            <a:schemeClr val="bg1"/>
                          </a:solidFill>
                          <a:latin typeface="微软雅黑" panose="020B0503020204020204" pitchFamily="34" charset="-122"/>
                          <a:ea typeface="微软雅黑" panose="020B0503020204020204" pitchFamily="34" charset="-122"/>
                        </a:rPr>
                        <a:t>含义</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29718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49</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停泵压降得分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所内提供</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基于停泵压降分析的评分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9718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50</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施工曲线诊断得分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所内提供</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基于施工曲线形态的评分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9718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51</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函数反演得分</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所内提供</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基于</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函数反演闭合压力的评分</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9718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52</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水击衰减系数得分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所内提供</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基于水击波衰减特征的评分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9718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53</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水击边界指数得分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所内提供</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基于水击波边界反射的评分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9718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54</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有效用液指数得分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所内提供</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基于施工参数计算的有效体积评分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9718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55</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裂缝支撑指数得分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所内提供</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基于支撑剂铺置计算的导流能力评分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9718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56</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小波分析得分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结合工程信息计算</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基于连续小波变换的改造体积定量评分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9718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57</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函数曲线量化得分</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结合地质工程信息计算</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基于</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函数曲线峰值特征的裂缝复杂度定量评分</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9718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58</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综合评分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段级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项指标加权计算</a:t>
                      </a:r>
                      <a:endParaRPr lang="zh-CN" altLang="en-US" sz="16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项指标加权后的综合评分</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9718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59</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EUR(</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亿方</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井级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dirty="0">
                          <a:solidFill>
                            <a:srgbClr val="000000"/>
                          </a:solidFill>
                          <a:latin typeface="微软雅黑" panose="020B0503020204020204" pitchFamily="34" charset="-122"/>
                          <a:ea typeface="微软雅黑" panose="020B0503020204020204" pitchFamily="34" charset="-122"/>
                        </a:rPr>
                        <a:t>所内提供</a:t>
                      </a:r>
                      <a:endParaRPr lang="zh-CN" altLang="en-US" sz="16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预计最终可采储量，整口井一个值</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97180">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rPr>
                        <a:t>60</a:t>
                      </a:r>
                      <a:endParaRPr lang="en-US" altLang="zh-CN"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千米</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EUR(</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亿方</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/km)</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a:solidFill>
                            <a:srgbClr val="000000"/>
                          </a:solidFill>
                          <a:latin typeface="微软雅黑" panose="020B0503020204020204" pitchFamily="34" charset="-122"/>
                          <a:ea typeface="微软雅黑" panose="020B0503020204020204" pitchFamily="34" charset="-122"/>
                        </a:rPr>
                        <a:t>井级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EUR÷</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水平段长</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×1000</a:t>
                      </a:r>
                      <a:endPar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zh-CN" altLang="en-US" sz="1600" b="0" i="0" dirty="0">
                          <a:solidFill>
                            <a:srgbClr val="000000"/>
                          </a:solidFill>
                          <a:latin typeface="微软雅黑" panose="020B0503020204020204" pitchFamily="34" charset="-122"/>
                          <a:ea typeface="微软雅黑" panose="020B0503020204020204" pitchFamily="34" charset="-122"/>
                        </a:rPr>
                        <a:t>消除水平段长差异后的单位长度产出</a:t>
                      </a:r>
                      <a:endParaRPr lang="zh-CN" altLang="en-US" sz="16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7" name="矩形 6"/>
          <p:cNvSpPr/>
          <p:nvPr/>
        </p:nvSpPr>
        <p:spPr>
          <a:xfrm>
            <a:off x="429895" y="811530"/>
            <a:ext cx="11480800"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、基于多源压裂现场资料，构建泸</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井区</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H10</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H123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平台系统分析数据库</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8" name="TextBox 2"/>
          <p:cNvSpPr txBox="1">
            <a:spLocks noChangeArrowheads="1"/>
          </p:cNvSpPr>
          <p:nvPr/>
        </p:nvSpPr>
        <p:spPr bwMode="auto">
          <a:xfrm>
            <a:off x="334962" y="1357435"/>
            <a:ext cx="11485563" cy="82867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基于试油地质设计、压裂设计、微地震监测结果、施工参数表等资料</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构建系统分析数据库</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142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项参数中，筛选出对压裂改造效果有显著影响的</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60</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项参数</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，并分为地质参数、完井参数、施工参数等维度</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601" y="811428"/>
            <a:ext cx="8320877"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、建立</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物理合理性</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工程认知一致性</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产出相关性</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三层递进验证框架</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结合</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项评价指标的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物理含义及计算方式</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研究各项指标所能表征的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物理规律</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边界</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开展</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现场</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工程案例分析，揭示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项指标评分差异与施工规模、天然裂缝发育等</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工程认知的一致性</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，验证</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各指标评价的合理性</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以千米</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为最终标定量，通过综合评分与千米</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的相关性分析和最优</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劣井参数对比，完成</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综合评估方法的应用验证</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验证框架示意图</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7" name="图片 6"/>
          <p:cNvPicPr>
            <a:picLocks noChangeAspect="1"/>
          </p:cNvPicPr>
          <p:nvPr/>
        </p:nvPicPr>
        <p:blipFill>
          <a:blip r:embed="rId2"/>
          <a:srcRect l="1936" t="13402" b="8421"/>
          <a:stretch>
            <a:fillRect/>
          </a:stretch>
        </p:blipFill>
        <p:spPr>
          <a:xfrm>
            <a:off x="117987" y="2714375"/>
            <a:ext cx="11956026" cy="3177162"/>
          </a:xfrm>
          <a:prstGeom prst="rect">
            <a:avLst/>
          </a:prstGeom>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6365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3.1</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、基于段间施工规模差异分析，明确了小波分析得分与改造体积的关联关系</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同井不同段间，具备近似相同的地质条件，压裂改造效果受工程因素影响大，通常施工规模越大改造体积越大</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井，主体段平均改造体积</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334.1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万方（小波分析平均得分</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88.29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），渐进防控段</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303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万方（</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87.11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），风险段</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271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万方（</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82.43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小波得分随施工规模下降而</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下降，验证了</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小波分析得分与改造体积</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正相关</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关系</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小波分析得分与改造体积的关联关系</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p:nvPr/>
        </p:nvGraphicFramePr>
        <p:xfrm>
          <a:off x="423134" y="2594610"/>
          <a:ext cx="5382895" cy="3495675"/>
        </p:xfrm>
        <a:graphic>
          <a:graphicData uri="http://schemas.openxmlformats.org/drawingml/2006/table">
            <a:tbl>
              <a:tblPr/>
              <a:tblGrid>
                <a:gridCol w="1405890"/>
                <a:gridCol w="612775"/>
                <a:gridCol w="1586230"/>
                <a:gridCol w="1778000"/>
              </a:tblGrid>
              <a:tr h="233045">
                <a:tc>
                  <a:txBody>
                    <a:bodyPr/>
                    <a:lstStyle/>
                    <a:p>
                      <a:pPr algn="ctr" fontAlgn="b"/>
                      <a:r>
                        <a:rPr lang="zh-CN" altLang="en-US" sz="1100" b="1" i="0">
                          <a:solidFill>
                            <a:schemeClr val="accent3"/>
                          </a:solidFill>
                          <a:latin typeface="微软雅黑" panose="020B0503020204020204" pitchFamily="34" charset="-122"/>
                          <a:ea typeface="微软雅黑" panose="020B0503020204020204" pitchFamily="34" charset="-122"/>
                        </a:rPr>
                        <a:t>井号</a:t>
                      </a:r>
                      <a:endParaRPr lang="zh-CN" altLang="en-US" sz="1100" b="1" i="0">
                        <a:solidFill>
                          <a:schemeClr val="accent3"/>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b"/>
                      <a:r>
                        <a:rPr lang="zh-CN" altLang="en-US" sz="1100" b="1" i="0">
                          <a:solidFill>
                            <a:schemeClr val="accent3"/>
                          </a:solidFill>
                          <a:latin typeface="微软雅黑" panose="020B0503020204020204" pitchFamily="34" charset="-122"/>
                          <a:ea typeface="微软雅黑" panose="020B0503020204020204" pitchFamily="34" charset="-122"/>
                        </a:rPr>
                        <a:t>段号</a:t>
                      </a:r>
                      <a:endParaRPr lang="zh-CN" altLang="en-US" sz="1100" b="1" i="0">
                        <a:solidFill>
                          <a:schemeClr val="accent3"/>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b"/>
                      <a:r>
                        <a:rPr lang="zh-CN" altLang="en-US" sz="1100" b="1" i="0">
                          <a:solidFill>
                            <a:schemeClr val="accent3"/>
                          </a:solidFill>
                          <a:latin typeface="微软雅黑" panose="020B0503020204020204" pitchFamily="34" charset="-122"/>
                          <a:ea typeface="微软雅黑" panose="020B0503020204020204" pitchFamily="34" charset="-122"/>
                        </a:rPr>
                        <a:t>段型</a:t>
                      </a:r>
                      <a:endParaRPr lang="zh-CN" altLang="en-US" sz="1100" b="1" i="0">
                        <a:solidFill>
                          <a:schemeClr val="accent3"/>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b"/>
                      <a:r>
                        <a:rPr lang="en-US" altLang="zh-CN" sz="1100" b="1" i="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100" b="1" i="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rPr>
                        <a:t>评分</a:t>
                      </a:r>
                      <a:endParaRPr lang="en-US" altLang="zh-CN" sz="1100" b="1" i="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233045">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1</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rPr>
                        <a:t>渐进防控段</a:t>
                      </a:r>
                      <a:endParaRPr lang="zh-CN" altLang="en-US"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85.3</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33045">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2</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rPr>
                        <a:t>主体段</a:t>
                      </a:r>
                      <a:endParaRPr lang="zh-CN" altLang="en-US"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87.09</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33045">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3</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rPr>
                        <a:t>渐进防控段</a:t>
                      </a:r>
                      <a:endParaRPr lang="zh-CN" altLang="en-US"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86.35</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33045">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4</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rPr>
                        <a:t>风险段</a:t>
                      </a:r>
                      <a:endParaRPr lang="zh-CN" altLang="en-US"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83.42</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33045">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5</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rPr>
                        <a:t>风险段</a:t>
                      </a:r>
                      <a:endParaRPr lang="zh-CN" altLang="en-US"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84.13</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33045">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6</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rPr>
                        <a:t>渐进防控段</a:t>
                      </a:r>
                      <a:endParaRPr lang="zh-CN" altLang="en-US"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87.89</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33045">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7</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rPr>
                        <a:t>渐进防控段</a:t>
                      </a:r>
                      <a:endParaRPr lang="zh-CN" altLang="en-US"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87.89</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33045">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8</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rPr>
                        <a:t>主体段</a:t>
                      </a:r>
                      <a:endParaRPr lang="zh-CN" altLang="en-US"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87.33</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33045">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9</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rPr>
                        <a:t>渐进防控段</a:t>
                      </a:r>
                      <a:endParaRPr lang="zh-CN" altLang="en-US"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87.72</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33045">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10</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rPr>
                        <a:t>风险段</a:t>
                      </a:r>
                      <a:endParaRPr lang="zh-CN" altLang="en-US"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81.26</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33045">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11</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rPr>
                        <a:t>风险段</a:t>
                      </a:r>
                      <a:endParaRPr lang="zh-CN" altLang="en-US"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80.9</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33045">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12</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rPr>
                        <a:t>渐进防控段</a:t>
                      </a:r>
                      <a:endParaRPr lang="zh-CN" altLang="en-US"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87.49</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33045">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13</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rPr>
                        <a:t>主体段</a:t>
                      </a:r>
                      <a:endParaRPr lang="zh-CN" altLang="en-US"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89.14</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233045">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1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a:solidFill>
                            <a:srgbClr val="000000"/>
                          </a:solidFill>
                          <a:latin typeface="微软雅黑" panose="020B0503020204020204" pitchFamily="34" charset="-122"/>
                          <a:ea typeface="微软雅黑" panose="020B0503020204020204" pitchFamily="34" charset="-122"/>
                        </a:rPr>
                        <a:t>14</a:t>
                      </a:r>
                      <a:endParaRPr lang="en-US" altLang="zh-CN"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zh-CN" altLang="en-US" sz="1100" b="0" i="0">
                          <a:solidFill>
                            <a:srgbClr val="000000"/>
                          </a:solidFill>
                          <a:latin typeface="微软雅黑" panose="020B0503020204020204" pitchFamily="34" charset="-122"/>
                          <a:ea typeface="微软雅黑" panose="020B0503020204020204" pitchFamily="34" charset="-122"/>
                        </a:rPr>
                        <a:t>主体段</a:t>
                      </a:r>
                      <a:endParaRPr lang="zh-CN" altLang="en-US" sz="11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b"/>
                      <a:r>
                        <a:rPr lang="en-US" altLang="zh-CN" sz="1100" b="0" i="0" dirty="0">
                          <a:solidFill>
                            <a:srgbClr val="000000"/>
                          </a:solidFill>
                          <a:latin typeface="微软雅黑" panose="020B0503020204020204" pitchFamily="34" charset="-122"/>
                          <a:ea typeface="微软雅黑" panose="020B0503020204020204" pitchFamily="34" charset="-122"/>
                        </a:rPr>
                        <a:t>89.61</a:t>
                      </a:r>
                      <a:endParaRPr lang="en-US" altLang="zh-CN" sz="11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pic>
        <p:nvPicPr>
          <p:cNvPr id="10" name="图片 9"/>
          <p:cNvPicPr>
            <a:picLocks noChangeAspect="1"/>
          </p:cNvPicPr>
          <p:nvPr/>
        </p:nvPicPr>
        <p:blipFill>
          <a:blip r:embed="rId2"/>
          <a:stretch>
            <a:fillRect/>
          </a:stretch>
        </p:blipFill>
        <p:spPr>
          <a:xfrm>
            <a:off x="5997676" y="2581991"/>
            <a:ext cx="5820698" cy="3492418"/>
          </a:xfrm>
          <a:prstGeom prst="rect">
            <a:avLst/>
          </a:prstGeom>
          <a:ln>
            <a:solidFill>
              <a:schemeClr val="tx1"/>
            </a:solidFill>
          </a:ln>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6365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3.2</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、基于井间用液强度差异分析，明确了有效用液指数得分与改造体积的关联关系</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同平台不同井间，地质条件、完井参数和压裂工艺近似相同，通常用液强度越大改造体积越大</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井，施工段数均为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段且水平段长接近（</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1655m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1751m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），有效用液指数（</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9.105&gt;6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8.601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），用液强度（</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20.99m</a:t>
            </a:r>
            <a:r>
              <a:rPr lang="en-US"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³</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/m&gt;6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17.97m</a:t>
            </a:r>
            <a:r>
              <a:rPr lang="en-US"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³</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），验证了</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有效用液指数得分与改造体积</a:t>
            </a:r>
            <a:r>
              <a:rPr lang="zh-CN" altLang="en-US"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的</a:t>
            </a:r>
            <a:r>
              <a:rPr lang="zh-CN" altLang="en-US" sz="1600"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正相关</a:t>
            </a:r>
            <a:r>
              <a:rPr lang="zh-CN" altLang="en-US" sz="16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关系</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636016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井井身结构图与分段设计</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2" name="图片 11" descr="图片1"/>
          <p:cNvPicPr>
            <a:picLocks noChangeAspect="1"/>
          </p:cNvPicPr>
          <p:nvPr/>
        </p:nvPicPr>
        <p:blipFill>
          <a:blip r:embed="rId2"/>
          <a:stretch>
            <a:fillRect/>
          </a:stretch>
        </p:blipFill>
        <p:spPr>
          <a:xfrm>
            <a:off x="334645" y="2544445"/>
            <a:ext cx="2508885" cy="3497580"/>
          </a:xfrm>
          <a:prstGeom prst="rect">
            <a:avLst/>
          </a:prstGeom>
        </p:spPr>
      </p:pic>
      <p:graphicFrame>
        <p:nvGraphicFramePr>
          <p:cNvPr id="20" name="表格 19"/>
          <p:cNvGraphicFramePr/>
          <p:nvPr/>
        </p:nvGraphicFramePr>
        <p:xfrm>
          <a:off x="2924175" y="2567940"/>
          <a:ext cx="3587750" cy="3454400"/>
        </p:xfrm>
        <a:graphic>
          <a:graphicData uri="http://schemas.openxmlformats.org/drawingml/2006/table">
            <a:tbl>
              <a:tblPr/>
              <a:tblGrid>
                <a:gridCol w="355600"/>
                <a:gridCol w="585470"/>
                <a:gridCol w="539115"/>
                <a:gridCol w="465455"/>
                <a:gridCol w="762000"/>
                <a:gridCol w="880110"/>
              </a:tblGrid>
              <a:tr h="255270">
                <a:tc>
                  <a:txBody>
                    <a:bodyPr/>
                    <a:lstStyle/>
                    <a:p>
                      <a:pPr marL="0" indent="0" 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段次</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分段底界</a:t>
                      </a:r>
                      <a:endParaRPr lang="zh-CN" sz="700">
                        <a:solidFill>
                          <a:srgbClr val="000000"/>
                        </a:solidFill>
                        <a:latin typeface="宋体" panose="02010600030101010101" pitchFamily="2" charset="-122"/>
                        <a:ea typeface="宋体" panose="02010600030101010101" pitchFamily="2" charset="-122"/>
                      </a:endParaRPr>
                    </a:p>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(m)</a:t>
                      </a:r>
                      <a:endParaRPr 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分段顶界</a:t>
                      </a:r>
                      <a:endParaRPr lang="zh-CN" sz="700">
                        <a:solidFill>
                          <a:srgbClr val="000000"/>
                        </a:solidFill>
                        <a:latin typeface="宋体" panose="02010600030101010101" pitchFamily="2" charset="-122"/>
                        <a:ea typeface="宋体" panose="02010600030101010101" pitchFamily="2" charset="-122"/>
                      </a:endParaRPr>
                    </a:p>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(m)</a:t>
                      </a:r>
                      <a:endParaRPr 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段长</a:t>
                      </a:r>
                      <a:endParaRPr lang="zh-CN" sz="700">
                        <a:solidFill>
                          <a:srgbClr val="000000"/>
                        </a:solidFill>
                        <a:latin typeface="宋体" panose="02010600030101010101" pitchFamily="2" charset="-122"/>
                        <a:ea typeface="宋体" panose="02010600030101010101" pitchFamily="2" charset="-122"/>
                      </a:endParaRPr>
                    </a:p>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(m)</a:t>
                      </a:r>
                      <a:endParaRPr 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层位</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类型</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8270">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1</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5485</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5573</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88</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3</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渐进防控段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6540">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2</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5395</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5485</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90</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r>
                        <a:rPr lang="zh-CN" sz="700">
                          <a:solidFill>
                            <a:srgbClr val="000000"/>
                          </a:solidFill>
                          <a:latin typeface="宋体" panose="02010600030101010101" pitchFamily="2" charset="-122"/>
                          <a:ea typeface="宋体" panose="02010600030101010101" pitchFamily="2" charset="-122"/>
                        </a:rPr>
                        <a:t>、</a:t>
                      </a: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2</a:t>
                      </a:r>
                      <a:r>
                        <a:rPr lang="zh-CN" sz="700">
                          <a:solidFill>
                            <a:srgbClr val="000000"/>
                          </a:solidFill>
                          <a:latin typeface="宋体" panose="02010600030101010101" pitchFamily="2" charset="-122"/>
                          <a:ea typeface="宋体" panose="02010600030101010101" pitchFamily="2" charset="-122"/>
                        </a:rPr>
                        <a:t>、</a:t>
                      </a: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3</a:t>
                      </a:r>
                      <a:r>
                        <a:rPr lang="zh-CN" sz="700">
                          <a:solidFill>
                            <a:srgbClr val="000000"/>
                          </a:solidFill>
                          <a:latin typeface="宋体" panose="02010600030101010101" pitchFamily="2" charset="-122"/>
                          <a:ea typeface="宋体" panose="02010600030101010101" pitchFamily="2" charset="-122"/>
                        </a:rPr>
                        <a:t>、五峰组</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Times New Roman" panose="02020603050405020304"/>
                          <a:ea typeface="宋体" panose="02010600030101010101" pitchFamily="2" charset="-122"/>
                        </a:rPr>
                        <a:t>风险</a:t>
                      </a:r>
                      <a:r>
                        <a:rPr lang="zh-CN" sz="700">
                          <a:solidFill>
                            <a:srgbClr val="000000"/>
                          </a:solidFill>
                          <a:latin typeface="宋体" panose="02010600030101010101" pitchFamily="2" charset="-122"/>
                          <a:ea typeface="宋体" panose="02010600030101010101" pitchFamily="2" charset="-122"/>
                        </a:rPr>
                        <a:t>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7635">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3</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5326</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5395</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69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渐进防控段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7635">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4</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5257</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5326</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69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主体段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8270">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5</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5188</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5257</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69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主体段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7635">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6</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5119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5188</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69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主体段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7635">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7</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5049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5119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70</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主体段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8270">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8</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4979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5049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70</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主体段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7635">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9</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4909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4979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70</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主体段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8905">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10</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4839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4909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70</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主体段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7000">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11</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4769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4839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70</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主体段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8905">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12</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4699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4769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70</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主体段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7635">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13</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4629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4699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70</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主体段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8270">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14</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4559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4629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70</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渐进防控段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7635">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15</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4469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4559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90</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Times New Roman" panose="02020603050405020304"/>
                          <a:ea typeface="宋体" panose="02010600030101010101" pitchFamily="2" charset="-122"/>
                        </a:rPr>
                        <a:t>风险</a:t>
                      </a:r>
                      <a:r>
                        <a:rPr lang="zh-CN" sz="700">
                          <a:solidFill>
                            <a:srgbClr val="000000"/>
                          </a:solidFill>
                          <a:latin typeface="宋体" panose="02010600030101010101" pitchFamily="2" charset="-122"/>
                          <a:ea typeface="宋体" panose="02010600030101010101" pitchFamily="2" charset="-122"/>
                        </a:rPr>
                        <a:t>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7635">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16</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4402</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4469</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67</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渐进防控段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8270">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17</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4335</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4402</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67</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主体段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7635">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18</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4268</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4335</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67</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r>
                        <a:rPr lang="zh-CN" sz="700">
                          <a:solidFill>
                            <a:srgbClr val="000000"/>
                          </a:solidFill>
                          <a:latin typeface="宋体" panose="02010600030101010101" pitchFamily="2" charset="-122"/>
                          <a:ea typeface="宋体" panose="02010600030101010101" pitchFamily="2" charset="-122"/>
                        </a:rPr>
                        <a:t>、</a:t>
                      </a: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2</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主体段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7635">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19</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4201</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4268</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67</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主体段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28905">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20</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4134</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4201</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67</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fontAlgn="ctr">
                        <a:spcBef>
                          <a:spcPct val="0"/>
                        </a:spcBef>
                        <a:spcAft>
                          <a:spcPct val="0"/>
                        </a:spcAft>
                      </a:pPr>
                      <a:r>
                        <a:rPr lang="zh-CN" sz="700">
                          <a:solidFill>
                            <a:srgbClr val="000000"/>
                          </a:solidFill>
                          <a:latin typeface="宋体" panose="02010600030101010101" pitchFamily="2" charset="-122"/>
                          <a:ea typeface="宋体" panose="02010600030101010101" pitchFamily="2" charset="-122"/>
                        </a:rPr>
                        <a:t>主体段</a:t>
                      </a:r>
                      <a:endParaRPr lang="zh-CN" sz="700">
                        <a:solidFill>
                          <a:srgbClr val="000000"/>
                        </a:solidFill>
                        <a:latin typeface="宋体" panose="02010600030101010101" pitchFamily="2" charset="-122"/>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5905">
                <a:tc>
                  <a:txBody>
                    <a:bodyPr/>
                    <a:lstStyle/>
                    <a:p>
                      <a:pPr marL="0" indent="0" algn="ctr">
                        <a:spcBef>
                          <a:spcPct val="0"/>
                        </a:spcBef>
                        <a:spcAft>
                          <a:spcPct val="0"/>
                        </a:spcAft>
                      </a:pPr>
                      <a:r>
                        <a:rPr lang="en-US" altLang="zh-CN" sz="700">
                          <a:solidFill>
                            <a:srgbClr val="000000"/>
                          </a:solidFill>
                          <a:latin typeface="Times New Roman" panose="02020603050405020304"/>
                          <a:ea typeface="宋体" panose="02010600030101010101" pitchFamily="2" charset="-122"/>
                        </a:rPr>
                        <a:t>21</a:t>
                      </a:r>
                      <a:endParaRPr lang="en-US" altLang="zh-CN" sz="7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4067</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4134</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67</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r>
                        <a:rPr lang="zh-CN" sz="700">
                          <a:solidFill>
                            <a:srgbClr val="000000"/>
                          </a:solidFill>
                          <a:latin typeface="宋体" panose="02010600030101010101" pitchFamily="2" charset="-122"/>
                          <a:ea typeface="宋体" panose="02010600030101010101" pitchFamily="2" charset="-122"/>
                        </a:rPr>
                        <a:t>、</a:t>
                      </a: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2</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latin typeface="Times New Roman" panose="02020603050405020304"/>
                          <a:ea typeface="宋体" panose="02010600030101010101" pitchFamily="2" charset="-122"/>
                        </a:rPr>
                        <a:t>主体段（按风险段施工参数设计）</a:t>
                      </a:r>
                      <a:endParaRPr lang="zh-CN" sz="700">
                        <a:latin typeface="Times New Roman" panose="02020603050405020304"/>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55270">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22</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4000</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4067</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700">
                          <a:solidFill>
                            <a:srgbClr val="000000"/>
                          </a:solidFill>
                          <a:latin typeface="Times New Roman" panose="02020603050405020304"/>
                          <a:ea typeface="Times New Roman" panose="02020603050405020304"/>
                        </a:rPr>
                        <a:t>67</a:t>
                      </a:r>
                      <a:endParaRPr lang="en-US" altLang="zh-CN" sz="700">
                        <a:solidFill>
                          <a:srgbClr val="000000"/>
                        </a:solidFill>
                        <a:latin typeface="Times New Roman" panose="02020603050405020304"/>
                        <a:ea typeface="Times New Roman" panose="02020603050405020304"/>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solidFill>
                            <a:srgbClr val="000000"/>
                          </a:solidFill>
                          <a:latin typeface="Times New Roman" panose="02020603050405020304"/>
                          <a:ea typeface="宋体" panose="02010600030101010101" pitchFamily="2" charset="-122"/>
                        </a:rPr>
                        <a:t>龙一</a:t>
                      </a:r>
                      <a:r>
                        <a:rPr lang="en-US" altLang="zh-CN" sz="700" baseline="-25000">
                          <a:solidFill>
                            <a:srgbClr val="000000"/>
                          </a:solidFill>
                          <a:latin typeface="Times New Roman" panose="02020603050405020304"/>
                          <a:ea typeface="Times New Roman" panose="02020603050405020304"/>
                        </a:rPr>
                        <a:t>1</a:t>
                      </a:r>
                      <a:r>
                        <a:rPr lang="en-US" altLang="zh-CN" sz="700" baseline="30000">
                          <a:solidFill>
                            <a:srgbClr val="000000"/>
                          </a:solidFill>
                          <a:latin typeface="Times New Roman" panose="02020603050405020304"/>
                          <a:ea typeface="宋体" panose="02010600030101010101" pitchFamily="2" charset="-122"/>
                        </a:rPr>
                        <a:t>1</a:t>
                      </a:r>
                      <a:endParaRPr lang="en-US" altLang="zh-CN" sz="700" baseline="30000">
                        <a:solidFill>
                          <a:srgbClr val="000000"/>
                        </a:solidFill>
                        <a:latin typeface="Times New Roman" panose="02020603050405020304"/>
                        <a:ea typeface="宋体"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zh-CN" sz="700">
                          <a:latin typeface="Times New Roman" panose="02020603050405020304"/>
                          <a:ea typeface="宋体" panose="02010600030101010101" pitchFamily="2" charset="-122"/>
                        </a:rPr>
                        <a:t>主体段（按风险段施工参数设计）</a:t>
                      </a:r>
                      <a:endParaRPr lang="zh-CN" sz="700">
                        <a:solidFill>
                          <a:srgbClr val="000000"/>
                        </a:solidFill>
                        <a:latin typeface="Times New Roman" panose="02020603050405020304"/>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24" name="TextBox 23"/>
          <p:cNvSpPr>
            <a:spLocks noChangeArrowheads="1"/>
          </p:cNvSpPr>
          <p:nvPr>
            <p:custDataLst>
              <p:tags r:id="rId3"/>
            </p:custDataLst>
          </p:nvPr>
        </p:nvSpPr>
        <p:spPr bwMode="auto">
          <a:xfrm>
            <a:off x="6592570" y="6028690"/>
            <a:ext cx="503936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有效用液指数与用液强度统计</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 name="图片 4"/>
          <p:cNvPicPr>
            <a:picLocks noChangeAspect="1"/>
          </p:cNvPicPr>
          <p:nvPr/>
        </p:nvPicPr>
        <p:blipFill>
          <a:blip r:embed="rId4"/>
          <a:stretch>
            <a:fillRect/>
          </a:stretch>
        </p:blipFill>
        <p:spPr>
          <a:xfrm>
            <a:off x="6592570" y="2567941"/>
            <a:ext cx="5433049" cy="3460750"/>
          </a:xfrm>
          <a:prstGeom prst="rect">
            <a:avLst/>
          </a:prstGeom>
          <a:ln>
            <a:solidFill>
              <a:schemeClr val="tx1"/>
            </a:solidFill>
          </a:ln>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6365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、基于地层均质程度差异分析，明确了</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G</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函数反演得分与改造体积评价可靠性的关联关系</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地层均质程度决定</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函数曲线折点是否清晰可辨，折点越清晰则闭合压力反演越准确，对改造体积的评价越可靠</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井主力层为第</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小层（钻遇率</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92.4%</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97.7%</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H123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类小层钻遇率</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100%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，地层相对均质，折点清晰无干扰，改造体积评价精度高；地层非均质可能导致曲线折点模糊，影响改造体积的表征能力</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652780" y="6074410"/>
            <a:ext cx="293306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函数曲线折点清晰（上）折点模糊（下）</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7" name="图片 16"/>
          <p:cNvPicPr>
            <a:picLocks noChangeAspect="1"/>
          </p:cNvPicPr>
          <p:nvPr>
            <p:custDataLst>
              <p:tags r:id="rId2"/>
            </p:custDataLst>
          </p:nvPr>
        </p:nvPicPr>
        <p:blipFill>
          <a:blip r:embed="rId3"/>
          <a:srcRect/>
          <a:stretch>
            <a:fillRect/>
          </a:stretch>
        </p:blipFill>
        <p:spPr>
          <a:xfrm>
            <a:off x="653415" y="4314190"/>
            <a:ext cx="2932430" cy="1760220"/>
          </a:xfrm>
          <a:prstGeom prst="rect">
            <a:avLst/>
          </a:prstGeom>
          <a:ln>
            <a:solidFill>
              <a:schemeClr val="tx1"/>
            </a:solidFill>
          </a:ln>
        </p:spPr>
      </p:pic>
      <p:pic>
        <p:nvPicPr>
          <p:cNvPr id="7" name="图片 6"/>
          <p:cNvPicPr>
            <a:picLocks noChangeAspect="1"/>
          </p:cNvPicPr>
          <p:nvPr/>
        </p:nvPicPr>
        <p:blipFill>
          <a:blip r:embed="rId4"/>
          <a:srcRect/>
          <a:stretch>
            <a:fillRect/>
          </a:stretch>
        </p:blipFill>
        <p:spPr>
          <a:xfrm>
            <a:off x="653415" y="2564130"/>
            <a:ext cx="2932430" cy="1760220"/>
          </a:xfrm>
          <a:prstGeom prst="rect">
            <a:avLst/>
          </a:prstGeom>
          <a:ln>
            <a:solidFill>
              <a:schemeClr val="tx1"/>
            </a:solidFill>
          </a:ln>
        </p:spPr>
      </p:pic>
      <p:sp>
        <p:nvSpPr>
          <p:cNvPr id="9" name="TextBox 23"/>
          <p:cNvSpPr>
            <a:spLocks noChangeArrowheads="1"/>
          </p:cNvSpPr>
          <p:nvPr>
            <p:custDataLst>
              <p:tags r:id="rId5"/>
            </p:custDataLst>
          </p:nvPr>
        </p:nvSpPr>
        <p:spPr bwMode="auto">
          <a:xfrm>
            <a:off x="4170680" y="6070600"/>
            <a:ext cx="728218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井区</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H123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平台各井主力储层钻遇率</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2" name="图片 11" descr="bar-background (1)"/>
          <p:cNvPicPr>
            <a:picLocks noChangeAspect="1"/>
          </p:cNvPicPr>
          <p:nvPr/>
        </p:nvPicPr>
        <p:blipFill>
          <a:blip r:embed="rId6"/>
          <a:stretch>
            <a:fillRect/>
          </a:stretch>
        </p:blipFill>
        <p:spPr>
          <a:xfrm>
            <a:off x="4170680" y="2551430"/>
            <a:ext cx="7282180" cy="3519170"/>
          </a:xfrm>
          <a:prstGeom prst="rect">
            <a:avLst/>
          </a:prstGeom>
          <a:ln>
            <a:solidFill>
              <a:schemeClr val="tx1"/>
            </a:solidFill>
          </a:ln>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6365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3.4</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、基于微地震监测缝高统计，明确了水击边界指数对改造体积纵向边界的表征能力</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56718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缝高决定改造体积的纵向展布范围，水击边界指数通过水击信号反演裂缝边界位置，应与微地震实测缝高具有相关性</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统计</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口具有微地震监测数据的井，水击边界指数与微地震缝高</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Spearman rho=0.786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（呈正相关），如</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H10-1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井水击边界指数</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8.974</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对应缝高</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128m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平台高位），</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H123-1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水击边界指数</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7.780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对应缝高</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94m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口</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井最低），评分排名与实测缝高排名高度一致，验证了</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水击边界指数对改造体积纵向边界特征的准确表征</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2"/>
            </p:custDataLst>
          </p:nvPr>
        </p:nvSpPr>
        <p:spPr bwMode="auto">
          <a:xfrm>
            <a:off x="751840" y="6074410"/>
            <a:ext cx="486029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水击边界指数得分与微地震缝高统计</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8" name="表格 7"/>
          <p:cNvGraphicFramePr/>
          <p:nvPr>
            <p:custDataLst>
              <p:tags r:id="rId3"/>
            </p:custDataLst>
          </p:nvPr>
        </p:nvGraphicFramePr>
        <p:xfrm>
          <a:off x="751205" y="2924810"/>
          <a:ext cx="4860000" cy="3114675"/>
        </p:xfrm>
        <a:graphic>
          <a:graphicData uri="http://schemas.openxmlformats.org/drawingml/2006/table">
            <a:tbl>
              <a:tblPr>
                <a:tableStyleId>{5940675A-B579-460E-94D1-54222C63F5DA}</a:tableStyleId>
              </a:tblPr>
              <a:tblGrid>
                <a:gridCol w="1620000"/>
                <a:gridCol w="1620000"/>
                <a:gridCol w="1620000"/>
              </a:tblGrid>
              <a:tr h="346075">
                <a:tc>
                  <a:txBody>
                    <a:bodyPr/>
                    <a:lstStyle/>
                    <a:p>
                      <a:pPr algn="ctr" fontAlgn="ctr"/>
                      <a:r>
                        <a:rPr lang="zh-CN" altLang="en-US" sz="1400" b="1">
                          <a:solidFill>
                            <a:schemeClr val="bg1"/>
                          </a:solidFill>
                          <a:latin typeface="微软雅黑" panose="020B0503020204020204" pitchFamily="34" charset="-122"/>
                          <a:ea typeface="微软雅黑" panose="020B0503020204020204" pitchFamily="34" charset="-122"/>
                        </a:rPr>
                        <a:t>井号</a:t>
                      </a:r>
                      <a:endParaRPr lang="zh-CN" altLang="en-US" sz="1400" b="1">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chemeClr val="accent2"/>
                    </a:solidFill>
                  </a:tcPr>
                </a:tc>
                <a:tc>
                  <a:txBody>
                    <a:bodyPr/>
                    <a:lstStyle/>
                    <a:p>
                      <a:pPr algn="ctr" fontAlgn="ctr"/>
                      <a:r>
                        <a:rPr lang="zh-CN" altLang="en-US" sz="1400" b="1">
                          <a:solidFill>
                            <a:schemeClr val="bg1"/>
                          </a:solidFill>
                          <a:latin typeface="微软雅黑" panose="020B0503020204020204" pitchFamily="34" charset="-122"/>
                          <a:ea typeface="微软雅黑" panose="020B0503020204020204" pitchFamily="34" charset="-122"/>
                        </a:rPr>
                        <a:t>水击边界指数得分</a:t>
                      </a:r>
                      <a:endParaRPr lang="zh-CN" altLang="en-US" sz="1400" b="1">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chemeClr val="accent2"/>
                    </a:solidFill>
                  </a:tcPr>
                </a:tc>
                <a:tc>
                  <a:txBody>
                    <a:bodyPr/>
                    <a:lstStyle/>
                    <a:p>
                      <a:pPr algn="ctr" fontAlgn="ctr"/>
                      <a:r>
                        <a:rPr lang="zh-CN"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微地震缝高</a:t>
                      </a:r>
                      <a:r>
                        <a:rPr lang="en-US" altLang="zh-CN"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(m)</a:t>
                      </a:r>
                      <a:endParaRPr lang="en-US" altLang="zh-CN"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solidFill>
                      <a:schemeClr val="accent2"/>
                    </a:solidFill>
                  </a:tcPr>
                </a:tc>
              </a:tr>
              <a:tr h="346075">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8.97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128.43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346075">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203H10-2</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8.78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125.82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346075">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203H10-3</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8.64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132.00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346075">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203H10-4</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8.79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132.67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346075">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203H123-1</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7.78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93.54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346075">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203H123-2</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8.56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99.05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346075">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203H123-3</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7.79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109.25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r h="346075">
                <a:tc>
                  <a:txBody>
                    <a:bodyPr/>
                    <a:lstStyle/>
                    <a:p>
                      <a:pPr algn="ctr" fontAlgn="ct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203H123-4</a:t>
                      </a: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8.13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b="0" i="0" dirty="0">
                          <a:solidFill>
                            <a:srgbClr val="000000"/>
                          </a:solidFill>
                          <a:latin typeface="微软雅黑" panose="020B0503020204020204" pitchFamily="34" charset="-122"/>
                          <a:ea typeface="微软雅黑" panose="020B0503020204020204" pitchFamily="34" charset="-122"/>
                        </a:rPr>
                        <a:t>102.79 </a:t>
                      </a:r>
                      <a:endParaRPr lang="en-US" altLang="zh-CN" sz="14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tc>
              </a:tr>
            </a:tbl>
          </a:graphicData>
        </a:graphic>
      </p:graphicFrame>
      <p:graphicFrame>
        <p:nvGraphicFramePr>
          <p:cNvPr id="3" name="图表 2"/>
          <p:cNvGraphicFramePr/>
          <p:nvPr/>
        </p:nvGraphicFramePr>
        <p:xfrm>
          <a:off x="5810865" y="2924615"/>
          <a:ext cx="5917585" cy="3094550"/>
        </p:xfrm>
        <a:graphic>
          <a:graphicData uri="http://schemas.openxmlformats.org/drawingml/2006/chart">
            <c:chart xmlns:c="http://schemas.openxmlformats.org/drawingml/2006/chart" xmlns:r="http://schemas.openxmlformats.org/officeDocument/2006/relationships" r:id="rId1"/>
          </a:graphicData>
        </a:graphic>
      </p:graphicFrame>
      <p:sp>
        <p:nvSpPr>
          <p:cNvPr id="5" name="TextBox 23"/>
          <p:cNvSpPr>
            <a:spLocks noChangeArrowheads="1"/>
          </p:cNvSpPr>
          <p:nvPr>
            <p:custDataLst>
              <p:tags r:id="rId4"/>
            </p:custDataLst>
          </p:nvPr>
        </p:nvSpPr>
        <p:spPr bwMode="auto">
          <a:xfrm>
            <a:off x="5810232" y="6039484"/>
            <a:ext cx="59175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水击边界指数得分与微地震缝高分析</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6365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3.5</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、基于微地震监测缝长统计，明确了水击衰减系数与裂缝复杂度的关联关系</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56718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水击信号在缝网中传播时，通常分支越多衰减越快（但通常裂缝延伸越短），裂缝复杂度越高，应与微地震缝长呈负相关</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口有微地震监测数据的井中，衰减系数与微地震缝长</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Spearman rho=−0.786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（呈负相关），如</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H10-3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衰减系数</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8.629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（最低），微地震缝长</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389m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（最长），说明该井裂缝以</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少量长缝为主、分支少</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H123-2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衰减系数</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9.390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（最高），缝长</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273m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（较短），说明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缝网分支充分</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、单缝延伸有限，验证了</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水击衰减系数准确表征裂缝复杂度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的能力</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2"/>
            </p:custDataLst>
          </p:nvPr>
        </p:nvSpPr>
        <p:spPr bwMode="auto">
          <a:xfrm>
            <a:off x="704215" y="6074410"/>
            <a:ext cx="486092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水击衰减系数与微地震缝长统计</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表格 2"/>
          <p:cNvGraphicFramePr/>
          <p:nvPr>
            <p:custDataLst>
              <p:tags r:id="rId3"/>
            </p:custDataLst>
          </p:nvPr>
        </p:nvGraphicFramePr>
        <p:xfrm>
          <a:off x="704215" y="2907030"/>
          <a:ext cx="4860000" cy="3120390"/>
        </p:xfrm>
        <a:graphic>
          <a:graphicData uri="http://schemas.openxmlformats.org/drawingml/2006/table">
            <a:tbl>
              <a:tblPr>
                <a:tableStyleId>{5940675A-B579-460E-94D1-54222C63F5DA}</a:tableStyleId>
              </a:tblPr>
              <a:tblGrid>
                <a:gridCol w="1620000"/>
                <a:gridCol w="1620000"/>
                <a:gridCol w="1620000"/>
              </a:tblGrid>
              <a:tr h="346710">
                <a:tc>
                  <a:txBody>
                    <a:bodyPr/>
                    <a:lstStyle/>
                    <a:p>
                      <a:pPr algn="ctr" fontAlgn="ctr"/>
                      <a:r>
                        <a:rPr lang="zh-CN" altLang="en-US" sz="1400" b="1">
                          <a:solidFill>
                            <a:schemeClr val="bg1"/>
                          </a:solidFill>
                          <a:latin typeface="微软雅黑" panose="020B0503020204020204" pitchFamily="34" charset="-122"/>
                          <a:ea typeface="微软雅黑" panose="020B0503020204020204" pitchFamily="34" charset="-122"/>
                        </a:rPr>
                        <a:t>井号</a:t>
                      </a:r>
                      <a:endParaRPr lang="zh-CN" altLang="en-US" sz="1400" b="1">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chemeClr val="accent2"/>
                    </a:solidFill>
                  </a:tcPr>
                </a:tc>
                <a:tc>
                  <a:txBody>
                    <a:bodyPr/>
                    <a:lstStyle/>
                    <a:p>
                      <a:pPr algn="ctr" fontAlgn="ctr"/>
                      <a:r>
                        <a:rPr lang="zh-CN" altLang="en-US" sz="1400" b="1">
                          <a:solidFill>
                            <a:schemeClr val="bg1"/>
                          </a:solidFill>
                          <a:latin typeface="微软雅黑" panose="020B0503020204020204" pitchFamily="34" charset="-122"/>
                          <a:ea typeface="微软雅黑" panose="020B0503020204020204" pitchFamily="34" charset="-122"/>
                        </a:rPr>
                        <a:t>衰减系数得分</a:t>
                      </a:r>
                      <a:endParaRPr lang="zh-CN" altLang="en-US" sz="1400" b="1">
                        <a:solidFill>
                          <a:schemeClr val="bg1"/>
                        </a:solidFill>
                        <a:latin typeface="微软雅黑" panose="020B0503020204020204" pitchFamily="34" charset="-122"/>
                        <a:ea typeface="微软雅黑" panose="020B0503020204020204" pitchFamily="34" charset="-122"/>
                      </a:endParaRPr>
                    </a:p>
                  </a:txBody>
                  <a:tcPr marL="7937" marR="7937" marT="7937" marB="0" anchor="ctr">
                    <a:solidFill>
                      <a:schemeClr val="accent2"/>
                    </a:solidFill>
                  </a:tcPr>
                </a:tc>
                <a:tc>
                  <a:txBody>
                    <a:bodyPr/>
                    <a:lstStyle/>
                    <a:p>
                      <a:pPr algn="ctr" fontAlgn="ctr"/>
                      <a:r>
                        <a:rPr lang="zh-CN"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微地震缝长</a:t>
                      </a:r>
                      <a:r>
                        <a:rPr lang="en-US" altLang="zh-CN"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(m)</a:t>
                      </a:r>
                      <a:endParaRPr lang="en-US" altLang="zh-CN"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solidFill>
                      <a:schemeClr val="accent2"/>
                    </a:solidFill>
                  </a:tcPr>
                </a:tc>
              </a:tr>
              <a:tr h="346710">
                <a:tc>
                  <a:txBody>
                    <a:bodyPr/>
                    <a:lstStyle/>
                    <a:p>
                      <a:pPr algn="ctr" fontAlgn="ct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a:latin typeface="微软雅黑" panose="020B0503020204020204" pitchFamily="34" charset="-122"/>
                          <a:ea typeface="微软雅黑" panose="020B0503020204020204" pitchFamily="34" charset="-122"/>
                        </a:rPr>
                        <a:t>9.13 </a:t>
                      </a:r>
                      <a:endParaRPr lang="en-US" altLang="zh-CN" sz="14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a:latin typeface="微软雅黑" panose="020B0503020204020204" pitchFamily="34" charset="-122"/>
                          <a:ea typeface="微软雅黑" panose="020B0503020204020204" pitchFamily="34" charset="-122"/>
                        </a:rPr>
                        <a:t>383.86 </a:t>
                      </a:r>
                      <a:endParaRPr lang="en-US" altLang="zh-CN" sz="1400">
                        <a:latin typeface="微软雅黑" panose="020B0503020204020204" pitchFamily="34" charset="-122"/>
                        <a:ea typeface="微软雅黑" panose="020B0503020204020204" pitchFamily="34" charset="-122"/>
                      </a:endParaRPr>
                    </a:p>
                  </a:txBody>
                  <a:tcPr marL="7937" marR="7937" marT="7937" marB="0" anchor="ctr"/>
                </a:tc>
              </a:tr>
              <a:tr h="346710">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203H10-2</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a:latin typeface="微软雅黑" panose="020B0503020204020204" pitchFamily="34" charset="-122"/>
                          <a:ea typeface="微软雅黑" panose="020B0503020204020204" pitchFamily="34" charset="-122"/>
                        </a:rPr>
                        <a:t>9.39 </a:t>
                      </a:r>
                      <a:endParaRPr lang="en-US" altLang="zh-CN" sz="14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a:latin typeface="微软雅黑" panose="020B0503020204020204" pitchFamily="34" charset="-122"/>
                          <a:ea typeface="微软雅黑" panose="020B0503020204020204" pitchFamily="34" charset="-122"/>
                        </a:rPr>
                        <a:t>351.61 </a:t>
                      </a:r>
                      <a:endParaRPr lang="en-US" altLang="zh-CN" sz="1400">
                        <a:latin typeface="微软雅黑" panose="020B0503020204020204" pitchFamily="34" charset="-122"/>
                        <a:ea typeface="微软雅黑" panose="020B0503020204020204" pitchFamily="34" charset="-122"/>
                      </a:endParaRPr>
                    </a:p>
                  </a:txBody>
                  <a:tcPr marL="7937" marR="7937" marT="7937" marB="0" anchor="ctr"/>
                </a:tc>
              </a:tr>
              <a:tr h="346710">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203H10-3</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a:latin typeface="微软雅黑" panose="020B0503020204020204" pitchFamily="34" charset="-122"/>
                          <a:ea typeface="微软雅黑" panose="020B0503020204020204" pitchFamily="34" charset="-122"/>
                        </a:rPr>
                        <a:t>8.63 </a:t>
                      </a:r>
                      <a:endParaRPr lang="en-US" altLang="zh-CN" sz="14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a:latin typeface="微软雅黑" panose="020B0503020204020204" pitchFamily="34" charset="-122"/>
                          <a:ea typeface="微软雅黑" panose="020B0503020204020204" pitchFamily="34" charset="-122"/>
                        </a:rPr>
                        <a:t>389.21 </a:t>
                      </a:r>
                      <a:endParaRPr lang="en-US" altLang="zh-CN" sz="1400">
                        <a:latin typeface="微软雅黑" panose="020B0503020204020204" pitchFamily="34" charset="-122"/>
                        <a:ea typeface="微软雅黑" panose="020B0503020204020204" pitchFamily="34" charset="-122"/>
                      </a:endParaRPr>
                    </a:p>
                  </a:txBody>
                  <a:tcPr marL="7937" marR="7937" marT="7937" marB="0" anchor="ctr"/>
                </a:tc>
              </a:tr>
              <a:tr h="346710">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203H10-4</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a:latin typeface="微软雅黑" panose="020B0503020204020204" pitchFamily="34" charset="-122"/>
                          <a:ea typeface="微软雅黑" panose="020B0503020204020204" pitchFamily="34" charset="-122"/>
                        </a:rPr>
                        <a:t>9.14 </a:t>
                      </a:r>
                      <a:endParaRPr lang="en-US" altLang="zh-CN" sz="14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a:latin typeface="微软雅黑" panose="020B0503020204020204" pitchFamily="34" charset="-122"/>
                          <a:ea typeface="微软雅黑" panose="020B0503020204020204" pitchFamily="34" charset="-122"/>
                        </a:rPr>
                        <a:t>376.76 </a:t>
                      </a:r>
                      <a:endParaRPr lang="en-US" altLang="zh-CN" sz="1400">
                        <a:latin typeface="微软雅黑" panose="020B0503020204020204" pitchFamily="34" charset="-122"/>
                        <a:ea typeface="微软雅黑" panose="020B0503020204020204" pitchFamily="34" charset="-122"/>
                      </a:endParaRPr>
                    </a:p>
                  </a:txBody>
                  <a:tcPr marL="7937" marR="7937" marT="7937" marB="0" anchor="ctr"/>
                </a:tc>
              </a:tr>
              <a:tr h="346710">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203H123-1</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a:latin typeface="微软雅黑" panose="020B0503020204020204" pitchFamily="34" charset="-122"/>
                          <a:ea typeface="微软雅黑" panose="020B0503020204020204" pitchFamily="34" charset="-122"/>
                        </a:rPr>
                        <a:t>9.16 </a:t>
                      </a:r>
                      <a:endParaRPr lang="en-US" altLang="zh-CN" sz="14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a:latin typeface="微软雅黑" panose="020B0503020204020204" pitchFamily="34" charset="-122"/>
                          <a:ea typeface="微软雅黑" panose="020B0503020204020204" pitchFamily="34" charset="-122"/>
                        </a:rPr>
                        <a:t>279.85 </a:t>
                      </a:r>
                      <a:endParaRPr lang="en-US" altLang="zh-CN" sz="1400">
                        <a:latin typeface="微软雅黑" panose="020B0503020204020204" pitchFamily="34" charset="-122"/>
                        <a:ea typeface="微软雅黑" panose="020B0503020204020204" pitchFamily="34" charset="-122"/>
                      </a:endParaRPr>
                    </a:p>
                  </a:txBody>
                  <a:tcPr marL="7937" marR="7937" marT="7937" marB="0" anchor="ctr"/>
                </a:tc>
              </a:tr>
              <a:tr h="346710">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203H123-2</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a:latin typeface="微软雅黑" panose="020B0503020204020204" pitchFamily="34" charset="-122"/>
                          <a:ea typeface="微软雅黑" panose="020B0503020204020204" pitchFamily="34" charset="-122"/>
                        </a:rPr>
                        <a:t>9.39 </a:t>
                      </a:r>
                      <a:endParaRPr lang="en-US" altLang="zh-CN" sz="14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a:latin typeface="微软雅黑" panose="020B0503020204020204" pitchFamily="34" charset="-122"/>
                          <a:ea typeface="微软雅黑" panose="020B0503020204020204" pitchFamily="34" charset="-122"/>
                        </a:rPr>
                        <a:t>272.62 </a:t>
                      </a:r>
                      <a:endParaRPr lang="en-US" altLang="zh-CN" sz="1400">
                        <a:latin typeface="微软雅黑" panose="020B0503020204020204" pitchFamily="34" charset="-122"/>
                        <a:ea typeface="微软雅黑" panose="020B0503020204020204" pitchFamily="34" charset="-122"/>
                      </a:endParaRPr>
                    </a:p>
                  </a:txBody>
                  <a:tcPr marL="7937" marR="7937" marT="7937" marB="0" anchor="ctr"/>
                </a:tc>
              </a:tr>
              <a:tr h="346710">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203H123-3</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a:latin typeface="微软雅黑" panose="020B0503020204020204" pitchFamily="34" charset="-122"/>
                          <a:ea typeface="微软雅黑" panose="020B0503020204020204" pitchFamily="34" charset="-122"/>
                        </a:rPr>
                        <a:t>9.26 </a:t>
                      </a:r>
                      <a:endParaRPr lang="en-US" altLang="zh-CN" sz="14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a:latin typeface="微软雅黑" panose="020B0503020204020204" pitchFamily="34" charset="-122"/>
                          <a:ea typeface="微软雅黑" panose="020B0503020204020204" pitchFamily="34" charset="-122"/>
                        </a:rPr>
                        <a:t>291.56 </a:t>
                      </a:r>
                      <a:endParaRPr lang="en-US" altLang="zh-CN" sz="1400">
                        <a:latin typeface="微软雅黑" panose="020B0503020204020204" pitchFamily="34" charset="-122"/>
                        <a:ea typeface="微软雅黑" panose="020B0503020204020204" pitchFamily="34" charset="-122"/>
                      </a:endParaRPr>
                    </a:p>
                  </a:txBody>
                  <a:tcPr marL="7937" marR="7937" marT="7937" marB="0" anchor="ctr"/>
                </a:tc>
              </a:tr>
              <a:tr h="346710">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203H123-4</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tc>
                <a:tc>
                  <a:txBody>
                    <a:bodyPr/>
                    <a:lstStyle/>
                    <a:p>
                      <a:pPr algn="ctr" fontAlgn="ctr"/>
                      <a:r>
                        <a:rPr lang="en-US" altLang="zh-CN" sz="1400">
                          <a:latin typeface="微软雅黑" panose="020B0503020204020204" pitchFamily="34" charset="-122"/>
                          <a:ea typeface="微软雅黑" panose="020B0503020204020204" pitchFamily="34" charset="-122"/>
                        </a:rPr>
                        <a:t>9.13 </a:t>
                      </a:r>
                      <a:endParaRPr lang="en-US" altLang="zh-CN" sz="1400">
                        <a:latin typeface="微软雅黑" panose="020B0503020204020204" pitchFamily="34" charset="-122"/>
                        <a:ea typeface="微软雅黑" panose="020B0503020204020204" pitchFamily="34" charset="-122"/>
                      </a:endParaRPr>
                    </a:p>
                  </a:txBody>
                  <a:tcPr marL="7937" marR="7937" marT="7937" marB="0" anchor="ctr"/>
                </a:tc>
                <a:tc>
                  <a:txBody>
                    <a:bodyPr/>
                    <a:lstStyle/>
                    <a:p>
                      <a:pPr algn="ctr" fontAlgn="ctr"/>
                      <a:r>
                        <a:rPr lang="en-US" altLang="zh-CN" sz="1400" dirty="0">
                          <a:latin typeface="微软雅黑" panose="020B0503020204020204" pitchFamily="34" charset="-122"/>
                          <a:ea typeface="微软雅黑" panose="020B0503020204020204" pitchFamily="34" charset="-122"/>
                        </a:rPr>
                        <a:t>308.26 </a:t>
                      </a:r>
                      <a:endParaRPr lang="en-US" altLang="zh-CN" sz="1400" dirty="0">
                        <a:latin typeface="微软雅黑" panose="020B0503020204020204" pitchFamily="34" charset="-122"/>
                        <a:ea typeface="微软雅黑" panose="020B0503020204020204" pitchFamily="34" charset="-122"/>
                      </a:endParaRPr>
                    </a:p>
                  </a:txBody>
                  <a:tcPr marL="7937" marR="7937" marT="7937" marB="0" anchor="ctr"/>
                </a:tc>
              </a:tr>
            </a:tbl>
          </a:graphicData>
        </a:graphic>
      </p:graphicFrame>
      <p:graphicFrame>
        <p:nvGraphicFramePr>
          <p:cNvPr id="5" name="图表 4"/>
          <p:cNvGraphicFramePr/>
          <p:nvPr/>
        </p:nvGraphicFramePr>
        <p:xfrm>
          <a:off x="5771535" y="2907030"/>
          <a:ext cx="5949255" cy="3096000"/>
        </p:xfrm>
        <a:graphic>
          <a:graphicData uri="http://schemas.openxmlformats.org/drawingml/2006/chart">
            <c:chart xmlns:c="http://schemas.openxmlformats.org/drawingml/2006/chart" xmlns:r="http://schemas.openxmlformats.org/officeDocument/2006/relationships" r:id="rId1"/>
          </a:graphicData>
        </a:graphic>
      </p:graphicFrame>
      <p:sp>
        <p:nvSpPr>
          <p:cNvPr id="7" name="TextBox 23"/>
          <p:cNvSpPr>
            <a:spLocks noChangeArrowheads="1"/>
          </p:cNvSpPr>
          <p:nvPr>
            <p:custDataLst>
              <p:tags r:id="rId4"/>
            </p:custDataLst>
          </p:nvPr>
        </p:nvSpPr>
        <p:spPr bwMode="auto">
          <a:xfrm>
            <a:off x="5771535" y="6074410"/>
            <a:ext cx="594929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水击衰减系数与微地震缝长分析</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6365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3.6</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、基于天然裂缝发育程度差异分析，明确了</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G</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函数曲线量化得分与裂缝复杂度的关联关系</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同井不同段间天然裂缝发育程度差异是裂缝复杂度分化的主导因素之一，</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复杂缝网呈现的多级闭合特征在</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函数曲线上可识别出多个峰值</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203H10-6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203H123-3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井，天然裂缝发育的井段</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函数曲线量化得分明显高于天然裂缝不发育井段的</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函数曲线量化得分，验证了</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函数曲线量化得分对裂缝复杂度差异的敏感识别能力</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2"/>
            </p:custDataLst>
          </p:nvPr>
        </p:nvSpPr>
        <p:spPr bwMode="auto">
          <a:xfrm>
            <a:off x="429260" y="6074410"/>
            <a:ext cx="541274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函数曲线量化与裂缝复杂度统计</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图表 4"/>
          <p:cNvGraphicFramePr/>
          <p:nvPr/>
        </p:nvGraphicFramePr>
        <p:xfrm>
          <a:off x="6096000" y="2610715"/>
          <a:ext cx="5797550" cy="34290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7" name="表格 6"/>
          <p:cNvGraphicFramePr/>
          <p:nvPr/>
        </p:nvGraphicFramePr>
        <p:xfrm>
          <a:off x="429895" y="2600325"/>
          <a:ext cx="5412740" cy="3429000"/>
        </p:xfrm>
        <a:graphic>
          <a:graphicData uri="http://schemas.openxmlformats.org/drawingml/2006/table">
            <a:tbl>
              <a:tblPr/>
              <a:tblGrid>
                <a:gridCol w="1444625"/>
                <a:gridCol w="875665"/>
                <a:gridCol w="1597025"/>
                <a:gridCol w="1495425"/>
              </a:tblGrid>
              <a:tr h="228600">
                <a:tc>
                  <a:txBody>
                    <a:bodyPr/>
                    <a:lstStyle/>
                    <a:p>
                      <a:pPr algn="ctr" fontAlgn="ctr"/>
                      <a:r>
                        <a:rPr lang="zh-CN" altLang="en-US" sz="1400" b="1" i="0">
                          <a:solidFill>
                            <a:schemeClr val="bg1"/>
                          </a:solidFill>
                          <a:latin typeface="微软雅黑" panose="020B0503020204020204" pitchFamily="34" charset="-122"/>
                          <a:ea typeface="微软雅黑" panose="020B0503020204020204" pitchFamily="34" charset="-122"/>
                        </a:rPr>
                        <a:t>井号</a:t>
                      </a:r>
                      <a:endParaRPr lang="zh-CN" altLang="en-US" sz="14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2"/>
                    </a:solidFill>
                  </a:tcPr>
                </a:tc>
                <a:tc>
                  <a:txBody>
                    <a:bodyPr/>
                    <a:lstStyle/>
                    <a:p>
                      <a:pPr algn="ctr" fontAlgn="ctr"/>
                      <a:r>
                        <a:rPr lang="zh-CN" altLang="en-US" sz="1400" b="1" i="0">
                          <a:solidFill>
                            <a:schemeClr val="bg1"/>
                          </a:solidFill>
                          <a:latin typeface="微软雅黑" panose="020B0503020204020204" pitchFamily="34" charset="-122"/>
                          <a:ea typeface="微软雅黑" panose="020B0503020204020204" pitchFamily="34" charset="-122"/>
                        </a:rPr>
                        <a:t>段号</a:t>
                      </a:r>
                      <a:endParaRPr lang="zh-CN" altLang="en-US" sz="14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2"/>
                    </a:solidFill>
                  </a:tcPr>
                </a:tc>
                <a:tc>
                  <a:txBody>
                    <a:bodyPr/>
                    <a:lstStyle/>
                    <a:p>
                      <a:pPr algn="ctr" fontAlgn="ctr"/>
                      <a:r>
                        <a:rPr lang="zh-CN" altLang="en-US" sz="1400" b="1" i="0">
                          <a:solidFill>
                            <a:schemeClr val="bg1"/>
                          </a:solidFill>
                          <a:latin typeface="微软雅黑" panose="020B0503020204020204" pitchFamily="34" charset="-122"/>
                          <a:ea typeface="微软雅黑" panose="020B0503020204020204" pitchFamily="34" charset="-122"/>
                        </a:rPr>
                        <a:t>天然裂缝发育等级</a:t>
                      </a:r>
                      <a:endParaRPr lang="zh-CN" altLang="en-US" sz="1400" b="1" i="0">
                        <a:solidFill>
                          <a:schemeClr val="bg1"/>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2"/>
                    </a:solidFill>
                  </a:tcPr>
                </a:tc>
                <a:tc>
                  <a:txBody>
                    <a:bodyPr/>
                    <a:lstStyle/>
                    <a:p>
                      <a:pPr algn="ctr" fontAlgn="ctr"/>
                      <a:r>
                        <a:rPr lang="en-US" altLang="zh-CN" sz="14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4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函数得分</a:t>
                      </a:r>
                      <a:endParaRPr lang="zh-CN" altLang="en-US" sz="14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2"/>
                    </a:solidFill>
                  </a:tcPr>
                </a:tc>
              </a:tr>
              <a:tr h="228600">
                <a:tc>
                  <a:txBody>
                    <a:bodyPr/>
                    <a:lstStyle/>
                    <a:p>
                      <a:pPr algn="ctr" fontAlgn="ctr"/>
                      <a:r>
                        <a:rPr lang="zh-CN" altLang="en-US" sz="14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4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发育</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9.035</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860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不发育</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9.033</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860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3</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发育</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8.98</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860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4</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发育</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9.022</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860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5</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发育</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9.01</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8600">
                <a:tc>
                  <a:txBody>
                    <a:bodyPr/>
                    <a:lstStyle/>
                    <a:p>
                      <a:pPr algn="ctr" fontAlgn="ctr">
                        <a:buNone/>
                      </a:pP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buNone/>
                      </a:pPr>
                      <a:r>
                        <a:rPr lang="en-US" altLang="zh-CN" sz="1400" b="0" i="0">
                          <a:solidFill>
                            <a:srgbClr val="000000"/>
                          </a:solidFill>
                          <a:latin typeface="微软雅黑" panose="020B0503020204020204" pitchFamily="34" charset="-122"/>
                          <a:ea typeface="微软雅黑" panose="020B0503020204020204" pitchFamily="34" charset="-122"/>
                        </a:rPr>
                        <a:t>...</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buNone/>
                      </a:pPr>
                      <a:r>
                        <a:rPr lang="en-US" altLang="zh-CN" sz="1400" b="0" i="0">
                          <a:solidFill>
                            <a:srgbClr val="000000"/>
                          </a:solidFill>
                          <a:latin typeface="微软雅黑" panose="020B0503020204020204" pitchFamily="34" charset="-122"/>
                          <a:ea typeface="微软雅黑" panose="020B0503020204020204" pitchFamily="34" charset="-122"/>
                        </a:rPr>
                        <a:t>...</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buNone/>
                      </a:pPr>
                      <a:r>
                        <a:rPr lang="en-US" altLang="zh-CN" sz="1400" b="0" i="0">
                          <a:solidFill>
                            <a:srgbClr val="000000"/>
                          </a:solidFill>
                          <a:latin typeface="微软雅黑" panose="020B0503020204020204" pitchFamily="34" charset="-122"/>
                          <a:ea typeface="微软雅黑" panose="020B0503020204020204" pitchFamily="34" charset="-122"/>
                        </a:rPr>
                        <a:t>...</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860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15</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发育</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8.932</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860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16</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发育</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9.06</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860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17</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发育</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8.844</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860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18</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发育</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8.926</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860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19</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不发育</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9.028</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860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20</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不发育</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9.011</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860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21</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发育</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8.928</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860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22</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发育</a:t>
                      </a:r>
                      <a:endParaRPr lang="zh-CN" altLang="en-US"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dirty="0">
                          <a:solidFill>
                            <a:srgbClr val="000000"/>
                          </a:solidFill>
                          <a:latin typeface="微软雅黑" panose="020B0503020204020204" pitchFamily="34" charset="-122"/>
                          <a:ea typeface="微软雅黑" panose="020B0503020204020204" pitchFamily="34" charset="-122"/>
                        </a:rPr>
                        <a:t>9.045</a:t>
                      </a:r>
                      <a:endParaRPr lang="en-US" altLang="zh-CN" sz="14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3" name="TextBox 23"/>
          <p:cNvSpPr>
            <a:spLocks noChangeArrowheads="1"/>
          </p:cNvSpPr>
          <p:nvPr>
            <p:custDataLst>
              <p:tags r:id="rId3"/>
            </p:custDataLst>
          </p:nvPr>
        </p:nvSpPr>
        <p:spPr bwMode="auto">
          <a:xfrm>
            <a:off x="6095999" y="6074410"/>
            <a:ext cx="5797549"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函数曲线量化与裂缝复杂度分析</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6365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3.7</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、基于停泵压降数据统计，明确了停泵压降得分对裂缝复杂度的表征能力</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停泵后压力衰减速率反映裂缝系统的滤失能力，裂缝越复杂滤失路径越多、压降越快</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，因此停泵压降得分应与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15min</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实测压降正相关；泸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203H10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H123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平台停泵压降得分与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15min</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压降相关系数</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1600" baseline="30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=0.97</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15min</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压降</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整体小于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H123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平台，说明地质属性差异可能导致地层闭合应力与压力衰减规律不同，但均</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能有效表征裂缝复杂度</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3"/>
            </p:custDataLst>
          </p:nvPr>
        </p:nvSpPr>
        <p:spPr bwMode="auto">
          <a:xfrm>
            <a:off x="376555" y="6074410"/>
            <a:ext cx="566102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停泵压降</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停泵</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15min</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压降统计</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图表 4"/>
          <p:cNvGraphicFramePr/>
          <p:nvPr/>
        </p:nvGraphicFramePr>
        <p:xfrm>
          <a:off x="6195695" y="2594610"/>
          <a:ext cx="5560060" cy="345186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7" name="图表 6"/>
          <p:cNvGraphicFramePr/>
          <p:nvPr/>
        </p:nvGraphicFramePr>
        <p:xfrm>
          <a:off x="375920" y="2594610"/>
          <a:ext cx="5661660" cy="345186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3"/>
          <p:cNvSpPr>
            <a:spLocks noChangeArrowheads="1"/>
          </p:cNvSpPr>
          <p:nvPr>
            <p:custDataLst>
              <p:tags r:id="rId4"/>
            </p:custDataLst>
          </p:nvPr>
        </p:nvSpPr>
        <p:spPr bwMode="auto">
          <a:xfrm>
            <a:off x="6195695" y="6074410"/>
            <a:ext cx="556069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停泵压降</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停泵</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15min</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压降分析</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6365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3.8</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、基于施工曲线诊断得分区间分析，明确了施工曲线诊断对裂缝正常发育的可靠判别</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施工曲线形态（压力</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排量</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砂浓度动态响应）直接反映压裂过程中裂缝的起裂与扩展全过程，若施工曲线出现异常，则意味着裂缝未正常发育、复杂度不达标，得分将显著偏低</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口井施工曲线诊断得分均处于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8.301~8.670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高分区间，与全部</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口井裂缝均正常起裂扩展、复杂度达到设计预期的现场认识符合，验证了</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施工曲线诊断对裂缝复杂度的合格性表征</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能力</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2"/>
            </p:custDataLst>
          </p:nvPr>
        </p:nvSpPr>
        <p:spPr bwMode="auto">
          <a:xfrm>
            <a:off x="499745" y="6074410"/>
            <a:ext cx="481330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施工曲线诊断得分统计</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图表 2"/>
          <p:cNvGraphicFramePr/>
          <p:nvPr/>
        </p:nvGraphicFramePr>
        <p:xfrm>
          <a:off x="5436952" y="2678430"/>
          <a:ext cx="6302477" cy="335978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5" name="表格 4"/>
          <p:cNvGraphicFramePr/>
          <p:nvPr/>
        </p:nvGraphicFramePr>
        <p:xfrm>
          <a:off x="499110" y="2678430"/>
          <a:ext cx="4813300" cy="3359785"/>
        </p:xfrm>
        <a:graphic>
          <a:graphicData uri="http://schemas.openxmlformats.org/drawingml/2006/table">
            <a:tbl>
              <a:tblPr/>
              <a:tblGrid>
                <a:gridCol w="2430616"/>
                <a:gridCol w="2382684"/>
              </a:tblGrid>
              <a:tr h="305435">
                <a:tc>
                  <a:txBody>
                    <a:bodyPr/>
                    <a:lstStyle/>
                    <a:p>
                      <a:pPr algn="ctr" fontAlgn="ctr"/>
                      <a:r>
                        <a:rPr lang="zh-CN" altLang="en-US" sz="1400" b="1" i="0" dirty="0">
                          <a:solidFill>
                            <a:schemeClr val="bg1"/>
                          </a:solidFill>
                          <a:latin typeface="微软雅黑" panose="020B0503020204020204" pitchFamily="34" charset="-122"/>
                          <a:ea typeface="微软雅黑" panose="020B0503020204020204" pitchFamily="34" charset="-122"/>
                        </a:rPr>
                        <a:t>井号</a:t>
                      </a:r>
                      <a:endParaRPr lang="zh-CN" altLang="en-US" sz="1400" b="1" i="0" dirty="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400" b="1" i="0" dirty="0">
                          <a:solidFill>
                            <a:schemeClr val="bg1"/>
                          </a:solidFill>
                          <a:latin typeface="微软雅黑" panose="020B0503020204020204" pitchFamily="34" charset="-122"/>
                          <a:ea typeface="微软雅黑" panose="020B0503020204020204" pitchFamily="34" charset="-122"/>
                        </a:rPr>
                        <a:t>施工曲线诊断得分</a:t>
                      </a:r>
                      <a:endParaRPr lang="zh-CN" altLang="en-US" sz="1400" b="1" i="0" dirty="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30543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8.38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5435">
                <a:tc>
                  <a:txBody>
                    <a:bodyPr/>
                    <a:lstStyle/>
                    <a:p>
                      <a:pPr algn="ctr" fontAlgn="ctr"/>
                      <a:r>
                        <a:rPr lang="zh-CN" altLang="en-US" sz="14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203H10-2</a:t>
                      </a:r>
                      <a:endParaRPr lang="en-US" altLang="zh-CN" sz="14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8.35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543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203H10-3</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8.38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543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203H10-4</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8.40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543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203H10-5</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8.37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543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8.45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543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203H123-1</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8.67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543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203H123-2</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8.30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543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203H123-3</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8.49 </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543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203H123-4</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dirty="0">
                          <a:solidFill>
                            <a:srgbClr val="000000"/>
                          </a:solidFill>
                          <a:latin typeface="微软雅黑" panose="020B0503020204020204" pitchFamily="34" charset="-122"/>
                          <a:ea typeface="微软雅黑" panose="020B0503020204020204" pitchFamily="34" charset="-122"/>
                        </a:rPr>
                        <a:t>8.48 </a:t>
                      </a:r>
                      <a:endParaRPr lang="en-US" altLang="zh-CN" sz="14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cxnSp>
        <p:nvCxnSpPr>
          <p:cNvPr id="7" name="直接连接符 6"/>
          <p:cNvCxnSpPr/>
          <p:nvPr/>
        </p:nvCxnSpPr>
        <p:spPr>
          <a:xfrm>
            <a:off x="6233365" y="3750289"/>
            <a:ext cx="5374763" cy="0"/>
          </a:xfrm>
          <a:prstGeom prst="line">
            <a:avLst/>
          </a:prstGeom>
          <a:ln>
            <a:solidFill>
              <a:srgbClr val="FF0000"/>
            </a:solidFill>
            <a:headEnd type="none" w="med" len="med"/>
            <a:tailEnd type="none" w="med" len="med"/>
          </a:ln>
        </p:spPr>
        <p:style>
          <a:lnRef idx="2">
            <a:schemeClr val="accent1"/>
          </a:lnRef>
          <a:fillRef idx="0">
            <a:srgbClr val="FFFFFF"/>
          </a:fillRef>
          <a:effectRef idx="0">
            <a:srgbClr val="FFFFFF"/>
          </a:effectRef>
          <a:fontRef idx="minor">
            <a:schemeClr val="tx1"/>
          </a:fontRef>
        </p:style>
      </p:cxnSp>
      <p:cxnSp>
        <p:nvCxnSpPr>
          <p:cNvPr id="9" name="直接箭头连接符 8"/>
          <p:cNvCxnSpPr/>
          <p:nvPr/>
        </p:nvCxnSpPr>
        <p:spPr>
          <a:xfrm flipV="1">
            <a:off x="6757670" y="3235325"/>
            <a:ext cx="0" cy="49530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10" name="文本框 9"/>
          <p:cNvSpPr txBox="1"/>
          <p:nvPr/>
        </p:nvSpPr>
        <p:spPr>
          <a:xfrm>
            <a:off x="6243197" y="2911792"/>
            <a:ext cx="2232660" cy="431165"/>
          </a:xfrm>
          <a:prstGeom prst="rect">
            <a:avLst/>
          </a:prstGeom>
          <a:noFill/>
          <a:ln>
            <a:noFill/>
          </a:ln>
        </p:spPr>
        <p:txBody>
          <a:bodyPr wrap="square"/>
          <a:lstStyle/>
          <a:p>
            <a:pPr marL="0" indent="0">
              <a:lnSpc>
                <a:spcPct val="150000"/>
              </a:lnSpc>
              <a:buClr>
                <a:srgbClr val="FF0000"/>
              </a:buClr>
            </a:pPr>
            <a:r>
              <a:rPr lang="zh-CN" altLang="en-US" sz="1400" b="1" dirty="0">
                <a:solidFill>
                  <a:srgbClr val="FF0000"/>
                </a:solidFill>
                <a:latin typeface="微软雅黑" panose="020B0503020204020204" pitchFamily="34" charset="-122"/>
                <a:ea typeface="微软雅黑" panose="020B0503020204020204" pitchFamily="34" charset="-122"/>
              </a:rPr>
              <a:t>裂缝复杂度达到</a:t>
            </a:r>
            <a:r>
              <a:rPr lang="zh-CN" altLang="en-US" sz="1400" b="1" dirty="0">
                <a:solidFill>
                  <a:srgbClr val="FF0000"/>
                </a:solidFill>
                <a:latin typeface="微软雅黑" panose="020B0503020204020204" pitchFamily="34" charset="-122"/>
                <a:ea typeface="微软雅黑" panose="020B0503020204020204" pitchFamily="34" charset="-122"/>
                <a:sym typeface="+mn-ea"/>
              </a:rPr>
              <a:t>设计</a:t>
            </a:r>
            <a:r>
              <a:rPr lang="zh-CN" altLang="en-US" sz="1400" b="1" dirty="0">
                <a:solidFill>
                  <a:srgbClr val="FF0000"/>
                </a:solidFill>
                <a:latin typeface="微软雅黑" panose="020B0503020204020204" pitchFamily="34" charset="-122"/>
                <a:ea typeface="微软雅黑" panose="020B0503020204020204" pitchFamily="34" charset="-122"/>
              </a:rPr>
              <a:t>预期</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cxnSp>
        <p:nvCxnSpPr>
          <p:cNvPr id="11" name="直接箭头连接符 10"/>
          <p:cNvCxnSpPr/>
          <p:nvPr/>
        </p:nvCxnSpPr>
        <p:spPr>
          <a:xfrm>
            <a:off x="7291337" y="3748405"/>
            <a:ext cx="0" cy="49530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12" name="文本框 11"/>
          <p:cNvSpPr txBox="1"/>
          <p:nvPr/>
        </p:nvSpPr>
        <p:spPr>
          <a:xfrm>
            <a:off x="7132197" y="4237673"/>
            <a:ext cx="2687320" cy="431165"/>
          </a:xfrm>
          <a:prstGeom prst="rect">
            <a:avLst/>
          </a:prstGeom>
          <a:noFill/>
          <a:ln>
            <a:noFill/>
          </a:ln>
        </p:spPr>
        <p:txBody>
          <a:bodyPr wrap="square"/>
          <a:lstStyle/>
          <a:p>
            <a:pPr marL="0" indent="0">
              <a:lnSpc>
                <a:spcPct val="150000"/>
              </a:lnSpc>
              <a:buClr>
                <a:srgbClr val="FF0000"/>
              </a:buClr>
            </a:pPr>
            <a:r>
              <a:rPr lang="zh-CN" altLang="en-US" sz="1400" b="1" dirty="0">
                <a:solidFill>
                  <a:srgbClr val="FF0000"/>
                </a:solidFill>
                <a:latin typeface="微软雅黑" panose="020B0503020204020204" pitchFamily="34" charset="-122"/>
                <a:ea typeface="微软雅黑" panose="020B0503020204020204" pitchFamily="34" charset="-122"/>
              </a:rPr>
              <a:t>未达到</a:t>
            </a:r>
            <a:r>
              <a:rPr lang="zh-CN" altLang="en-US" sz="1400" b="1" dirty="0">
                <a:solidFill>
                  <a:srgbClr val="FF0000"/>
                </a:solidFill>
                <a:latin typeface="微软雅黑" panose="020B0503020204020204" pitchFamily="34" charset="-122"/>
                <a:ea typeface="微软雅黑" panose="020B0503020204020204" pitchFamily="34" charset="-122"/>
                <a:sym typeface="+mn-ea"/>
              </a:rPr>
              <a:t>设计</a:t>
            </a:r>
            <a:r>
              <a:rPr lang="zh-CN" altLang="en-US" sz="1400" b="1" dirty="0">
                <a:solidFill>
                  <a:srgbClr val="FF0000"/>
                </a:solidFill>
                <a:latin typeface="微软雅黑" panose="020B0503020204020204" pitchFamily="34" charset="-122"/>
                <a:ea typeface="微软雅黑" panose="020B0503020204020204" pitchFamily="34" charset="-122"/>
              </a:rPr>
              <a:t>预期</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
        <p:nvSpPr>
          <p:cNvPr id="8" name="TextBox 23"/>
          <p:cNvSpPr>
            <a:spLocks noChangeArrowheads="1"/>
          </p:cNvSpPr>
          <p:nvPr>
            <p:custDataLst>
              <p:tags r:id="rId3"/>
            </p:custDataLst>
          </p:nvPr>
        </p:nvSpPr>
        <p:spPr bwMode="auto">
          <a:xfrm>
            <a:off x="5436953" y="6069965"/>
            <a:ext cx="6302476"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施工曲线诊断得分分析</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6365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dirty="0">
                <a:solidFill>
                  <a:prstClr val="black"/>
                </a:solidFill>
                <a:latin typeface="微软雅黑" panose="020B0503020204020204" pitchFamily="34" charset="-122"/>
                <a:ea typeface="微软雅黑" panose="020B0503020204020204" pitchFamily="34" charset="-122"/>
                <a:sym typeface="+mn-ea"/>
              </a:rPr>
              <a:t>3</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.9</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、基于加砂强度差异分析，明确了导流项对裂缝导流能力的准确表征</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1197610"/>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加砂强度（单位段长支撑剂投入量）越大，裂缝内支撑剂铺置越充分，裂缝闭合后有效导流通道越多，导流能力越强</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；如泸</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203H10-3</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井加砂强度</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2.33 t/m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、导流项满分</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10.0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口井唯一满分），</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H10-2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加砂强度</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1.73 t/m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口井最低）、导流项</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9.480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口井最低），得分随支撑剂投入单调变化；验证了</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导流项</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准确表征裂缝导流能力</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的物理逻辑</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导流项与加砂强度高度对应，能够准确表征裂缝导流能力</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p:nvPr/>
        </p:nvGraphicFramePr>
        <p:xfrm>
          <a:off x="376555" y="2555045"/>
          <a:ext cx="5507355" cy="3420935"/>
        </p:xfrm>
        <a:graphic>
          <a:graphicData uri="http://schemas.openxmlformats.org/drawingml/2006/table">
            <a:tbl>
              <a:tblPr/>
              <a:tblGrid>
                <a:gridCol w="1917700"/>
                <a:gridCol w="1934210"/>
                <a:gridCol w="1655445"/>
              </a:tblGrid>
              <a:tr h="390789">
                <a:tc>
                  <a:txBody>
                    <a:bodyPr/>
                    <a:lstStyle/>
                    <a:p>
                      <a:pPr algn="ctr" fontAlgn="ctr"/>
                      <a:r>
                        <a:rPr lang="zh-CN" altLang="en-US" sz="1400" b="1" i="0" dirty="0">
                          <a:solidFill>
                            <a:schemeClr val="accent3"/>
                          </a:solidFill>
                          <a:latin typeface="微软雅黑" panose="020B0503020204020204" pitchFamily="34" charset="-122"/>
                          <a:ea typeface="微软雅黑" panose="020B0503020204020204" pitchFamily="34" charset="-122"/>
                        </a:rPr>
                        <a:t>井号</a:t>
                      </a:r>
                      <a:endParaRPr lang="zh-CN" altLang="en-US" sz="1400" b="1" i="0" dirty="0">
                        <a:solidFill>
                          <a:schemeClr val="accent3"/>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400" b="1" i="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rPr>
                        <a:t>加砂强度 </a:t>
                      </a:r>
                      <a:r>
                        <a:rPr lang="en-US" altLang="zh-CN" sz="1400" b="1" i="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rPr>
                        <a:t>(t/m)</a:t>
                      </a:r>
                      <a:endParaRPr lang="en-US" altLang="zh-CN" sz="1400" b="1" i="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c>
                  <a:txBody>
                    <a:bodyPr/>
                    <a:lstStyle/>
                    <a:p>
                      <a:pPr algn="ctr" fontAlgn="ctr"/>
                      <a:r>
                        <a:rPr lang="zh-CN" altLang="en-US" sz="1400" b="1" i="0">
                          <a:solidFill>
                            <a:schemeClr val="accent3"/>
                          </a:solidFill>
                          <a:latin typeface="微软雅黑" panose="020B0503020204020204" pitchFamily="34" charset="-122"/>
                          <a:ea typeface="微软雅黑" panose="020B0503020204020204" pitchFamily="34" charset="-122"/>
                        </a:rPr>
                        <a:t>导流项得分</a:t>
                      </a:r>
                      <a:endParaRPr lang="zh-CN" altLang="en-US" sz="1400" b="1" i="0">
                        <a:solidFill>
                          <a:schemeClr val="accent3"/>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2"/>
                    </a:solidFill>
                  </a:tcPr>
                </a:tc>
              </a:tr>
              <a:tr h="302810">
                <a:tc>
                  <a:txBody>
                    <a:bodyPr/>
                    <a:lstStyle/>
                    <a:p>
                      <a:pPr algn="ctr" fontAlgn="ctr"/>
                      <a:r>
                        <a:rPr lang="zh-CN" altLang="en-US" sz="14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203H10-1</a:t>
                      </a:r>
                      <a:endParaRPr lang="en-US" altLang="zh-CN" sz="14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dirty="0">
                          <a:solidFill>
                            <a:srgbClr val="000000"/>
                          </a:solidFill>
                          <a:latin typeface="微软雅黑" panose="020B0503020204020204" pitchFamily="34" charset="-122"/>
                          <a:ea typeface="微软雅黑" panose="020B0503020204020204" pitchFamily="34" charset="-122"/>
                        </a:rPr>
                        <a:t>1.969</a:t>
                      </a:r>
                      <a:endParaRPr lang="en-US" altLang="zh-CN" sz="14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9.945</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3492">
                <a:tc>
                  <a:txBody>
                    <a:bodyPr/>
                    <a:lstStyle/>
                    <a:p>
                      <a:pPr algn="ctr" fontAlgn="ctr"/>
                      <a:r>
                        <a:rPr lang="zh-CN" altLang="en-US" sz="14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203H10-2</a:t>
                      </a:r>
                      <a:endParaRPr lang="en-US" altLang="zh-CN" sz="14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1.727</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9.48</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281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203H10-3</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2.333</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10</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281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203H10-4</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dirty="0">
                          <a:solidFill>
                            <a:srgbClr val="000000"/>
                          </a:solidFill>
                          <a:latin typeface="微软雅黑" panose="020B0503020204020204" pitchFamily="34" charset="-122"/>
                          <a:ea typeface="微软雅黑" panose="020B0503020204020204" pitchFamily="34" charset="-122"/>
                        </a:rPr>
                        <a:t>1.984</a:t>
                      </a:r>
                      <a:endParaRPr lang="en-US" altLang="zh-CN" sz="14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9.91</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281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203H10-5</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2.948</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9.968</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3492">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203H10-6</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dirty="0">
                          <a:solidFill>
                            <a:srgbClr val="000000"/>
                          </a:solidFill>
                          <a:latin typeface="微软雅黑" panose="020B0503020204020204" pitchFamily="34" charset="-122"/>
                          <a:ea typeface="微软雅黑" panose="020B0503020204020204" pitchFamily="34" charset="-122"/>
                        </a:rPr>
                        <a:t>2.461</a:t>
                      </a:r>
                      <a:endParaRPr lang="en-US" altLang="zh-CN" sz="14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9.909</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281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203H123-1</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2.24</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dirty="0">
                          <a:solidFill>
                            <a:srgbClr val="000000"/>
                          </a:solidFill>
                          <a:latin typeface="微软雅黑" panose="020B0503020204020204" pitchFamily="34" charset="-122"/>
                          <a:ea typeface="微软雅黑" panose="020B0503020204020204" pitchFamily="34" charset="-122"/>
                        </a:rPr>
                        <a:t>9.574</a:t>
                      </a:r>
                      <a:endParaRPr lang="en-US" altLang="zh-CN" sz="14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281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203H123-2</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2.588</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dirty="0">
                          <a:solidFill>
                            <a:srgbClr val="000000"/>
                          </a:solidFill>
                          <a:latin typeface="微软雅黑" panose="020B0503020204020204" pitchFamily="34" charset="-122"/>
                          <a:ea typeface="微软雅黑" panose="020B0503020204020204" pitchFamily="34" charset="-122"/>
                        </a:rPr>
                        <a:t>9.841</a:t>
                      </a:r>
                      <a:endParaRPr lang="en-US" altLang="zh-CN" sz="14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3492">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203H123-3</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2.42</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dirty="0">
                          <a:solidFill>
                            <a:srgbClr val="000000"/>
                          </a:solidFill>
                          <a:latin typeface="微软雅黑" panose="020B0503020204020204" pitchFamily="34" charset="-122"/>
                          <a:ea typeface="微软雅黑" panose="020B0503020204020204" pitchFamily="34" charset="-122"/>
                        </a:rPr>
                        <a:t>9.767</a:t>
                      </a:r>
                      <a:endParaRPr lang="en-US" altLang="zh-CN" sz="14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0281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泸</a:t>
                      </a:r>
                      <a:r>
                        <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203H123-4</a:t>
                      </a:r>
                      <a:endParaRPr lang="en-US" altLang="zh-CN" sz="14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2.275</a:t>
                      </a:r>
                      <a:endParaRPr lang="en-US" altLang="zh-CN" sz="14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fontAlgn="ctr"/>
                      <a:r>
                        <a:rPr lang="en-US" altLang="zh-CN" sz="1400" b="0" i="0" dirty="0">
                          <a:solidFill>
                            <a:srgbClr val="000000"/>
                          </a:solidFill>
                          <a:latin typeface="微软雅黑" panose="020B0503020204020204" pitchFamily="34" charset="-122"/>
                          <a:ea typeface="微软雅黑" panose="020B0503020204020204" pitchFamily="34" charset="-122"/>
                        </a:rPr>
                        <a:t>9.567</a:t>
                      </a:r>
                      <a:endParaRPr lang="en-US" altLang="zh-CN" sz="1400" b="0"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pic>
        <p:nvPicPr>
          <p:cNvPr id="8" name="图片 7"/>
          <p:cNvPicPr>
            <a:picLocks noChangeAspect="1"/>
          </p:cNvPicPr>
          <p:nvPr/>
        </p:nvPicPr>
        <p:blipFill>
          <a:blip r:embed="rId2"/>
          <a:stretch>
            <a:fillRect/>
          </a:stretch>
        </p:blipFill>
        <p:spPr>
          <a:xfrm>
            <a:off x="6007109" y="2555045"/>
            <a:ext cx="5712943" cy="3420935"/>
          </a:xfrm>
          <a:prstGeom prst="rect">
            <a:avLst/>
          </a:prstGeom>
          <a:ln>
            <a:solidFill>
              <a:schemeClr val="tx1"/>
            </a:solidFill>
          </a:ln>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6365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4</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、开展最优井与最差井对比分析，量化工程参数与综合评分的内在关联</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230568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综合</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井产量分析，</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203H123-2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井表现</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最优</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203H10-2</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最差</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1.02 vs 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.65亿方（高</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57%</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千米</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0.590 vs 0.488</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（高</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21%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综合得分差</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0.352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vs 第</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），验证了综合评分体系</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跨井间平台间</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的压裂改造效果精准判别能力</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地质条件上</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类小层</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钻遇率</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100% vs 7.6%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，工程条件上</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水平段长</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1800m vs 1410m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（长</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28%</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段数</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25 vs 18</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用液强度</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24.74 vs 17.55 m</a:t>
            </a:r>
            <a:r>
              <a:rPr lang="en-US"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³</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（高</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加砂强度</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2.588 vs 1.727 t/m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（高</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50%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改造体积</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维度得分（</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8.970 vs 8.798</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裂缝复杂度</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维度（</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9.092 vs 8.721</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、贡献最大）、</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导流能力</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维度（</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9.841 vs 9.480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最优井与最差井的差距不在某个单一指标，而是综合地质工程条件的结果，</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综合评估体系能够敏锐捕捉改造效果的差异</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TextBox 23"/>
          <p:cNvSpPr>
            <a:spLocks noChangeArrowheads="1"/>
          </p:cNvSpPr>
          <p:nvPr>
            <p:custDataLst>
              <p:tags r:id="rId1"/>
            </p:custDataLst>
          </p:nvPr>
        </p:nvSpPr>
        <p:spPr bwMode="auto">
          <a:xfrm>
            <a:off x="334645" y="6074410"/>
            <a:ext cx="11485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ctr" fontAlgn="base">
              <a:spcBef>
                <a:spcPct val="0"/>
              </a:spcBef>
              <a:spcAft>
                <a:spcPct val="0"/>
              </a:spcAft>
              <a:defRPr/>
            </a:pPr>
            <a:r>
              <a:rPr lang="zh-CN" altLang="en-US"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泸</a:t>
            </a:r>
            <a:r>
              <a:rPr lang="en-US" altLang="zh-CN"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203H123-2</a:t>
            </a:r>
            <a:r>
              <a:rPr lang="zh-CN" altLang="en-US"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与泸</a:t>
            </a:r>
            <a:r>
              <a:rPr lang="en-US" altLang="zh-CN"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203H10-2</a:t>
            </a:r>
            <a:r>
              <a:rPr lang="zh-CN" altLang="en-US" sz="12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对比分析</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descr="PPT页4_最优最差对比"/>
          <p:cNvPicPr>
            <a:picLocks noChangeAspect="1"/>
          </p:cNvPicPr>
          <p:nvPr/>
        </p:nvPicPr>
        <p:blipFill>
          <a:blip r:embed="rId2"/>
          <a:srcRect b="19480"/>
          <a:stretch>
            <a:fillRect/>
          </a:stretch>
        </p:blipFill>
        <p:spPr>
          <a:xfrm>
            <a:off x="1497330" y="3570605"/>
            <a:ext cx="9328785" cy="2503805"/>
          </a:xfrm>
          <a:prstGeom prst="rect">
            <a:avLst/>
          </a:prstGeom>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6365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5</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、开展高分段</a:t>
            </a: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3</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井成因分析，定位施工条件重点影响因素，总结可复用经验，指导后续施工</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489140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泸203H123-2井</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（综合评分第1），</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EUR 1.02</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亿方（</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井最高）、千米</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EUR 0.590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），水平段长</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1800m</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、段数</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25</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井最多）、</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类小层钻遇率</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100%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井最高），用液强度</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24.74 m</a:t>
            </a:r>
            <a:r>
              <a:rPr lang="en-US"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³</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井最高）、加砂强度</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2.59 t/m</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）、停泵净压力</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16.48MPa</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井最高）；</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地质工程条件全面领先综合评分最优</a:t>
            </a:r>
            <a:endPar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203H123-3</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（综合第</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EUR 0.90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亿方、千米</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EUR 0.575</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），水平段长</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1800m</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类小层钻遇率</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75.6%</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、段内破裂压力差</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6.31MPa</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井最大、段间地应力非均质性强）、用液强度</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24.39 m</a:t>
            </a:r>
            <a:r>
              <a:rPr lang="en-US"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³</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）、暂堵率</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38.1%</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高、段内多次分簇启缝）；裂缝复杂度维度均分</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9.071</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（停泵压降</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9.480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、衰减系数</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9.256</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均居前</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），水击边界</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7.793</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（改造体积维度短板），</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大规模用液</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高暂堵</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率启缝驱动缝网发育、裂缝复杂度维度主导高评分</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泸</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203H10-5</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井</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（综合第</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），水平段长</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1655m</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类小层钻遇率</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91.0%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、平均</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TOC 5.51%</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井最高、储层品质最优）、加砂强度</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2.948 t/m</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井最高）、暂堵率</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50.0%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井最高、段内启缝饱满度最高）；改造体积维度均分</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8.966</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、导流能力</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9.968</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）、裂缝复杂度维度均分</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8.522</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（停泵压降</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8.109</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中等）；</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EUR 0.64</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、千米</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EUR 0.407</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，为典型偏离井），压裂改造评估质量优异但累积产能尚未释放，</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反映综合评分对</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压裂改造质量</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而非</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最终产能</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的定位准确</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高分段</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井共性为水平段长</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1655m</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以上、加砂强度</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2.33 t/m</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以上、</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类小层钻遇率</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75%</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以上，</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大规模施工</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地质甜点达标</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三维评价得分至少两维较高</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是</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改造效果领先</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的关键依据</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29895" y="811530"/>
            <a:ext cx="11463655" cy="458908"/>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lang="en-US" altLang="zh-CN"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6</a:t>
            </a:r>
            <a:r>
              <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、认识与结论</a:t>
            </a:r>
            <a:endParaRPr lang="zh-CN" altLang="en-US"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sp>
        <p:nvSpPr>
          <p:cNvPr id="2" name="Rectangle 11"/>
          <p:cNvSpPr>
            <a:spLocks noChangeArrowheads="1"/>
          </p:cNvSpPr>
          <p:nvPr/>
        </p:nvSpPr>
        <p:spPr bwMode="auto">
          <a:xfrm>
            <a:off x="376555" y="20320"/>
            <a:ext cx="11814810" cy="705485"/>
          </a:xfrm>
          <a:prstGeom prst="rect">
            <a:avLst/>
          </a:prstGeom>
        </p:spPr>
        <p:txBody>
          <a:bodyPr wrap="square" lIns="91424" tIns="45712" rIns="91424" bIns="45712" anchor="ctr">
            <a:spAutoFit/>
          </a:bodyPr>
          <a:lstStyle/>
          <a:p>
            <a:pPr lvl="0" algn="ctr">
              <a:lnSpc>
                <a:spcPct val="200000"/>
              </a:lnSpc>
              <a:defRPr/>
            </a:pPr>
            <a:r>
              <a:rPr lang="zh-CN" altLang="en-US" sz="2000" b="1" kern="0" dirty="0">
                <a:solidFill>
                  <a:srgbClr val="FF0000"/>
                </a:solidFill>
                <a:latin typeface="微软雅黑" panose="020B0503020204020204" pitchFamily="34" charset="-122"/>
                <a:ea typeface="微软雅黑" panose="020B0503020204020204" pitchFamily="34" charset="-122"/>
                <a:sym typeface="+mn-ea"/>
              </a:rPr>
              <a:t>成果四、依托泸203井区H10、H123平台系统统计数据，开展评估方法验证与案例分析</a:t>
            </a:r>
            <a:endParaRPr lang="zh-CN" altLang="en-US" sz="20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4" name="TextBox 2"/>
          <p:cNvSpPr txBox="1">
            <a:spLocks noChangeArrowheads="1"/>
          </p:cNvSpPr>
          <p:nvPr/>
        </p:nvSpPr>
        <p:spPr bwMode="auto">
          <a:xfrm>
            <a:off x="334962" y="1357435"/>
            <a:ext cx="11485563" cy="2675255"/>
          </a:xfrm>
          <a:prstGeom prst="rect">
            <a:avLst/>
          </a:prstGeom>
          <a:noFill/>
          <a:ln w="9525">
            <a:noFill/>
            <a:miter lim="800000"/>
          </a:ln>
          <a:effectLst>
            <a:prstShdw prst="shdw17" dist="17961" dir="2700000">
              <a:srgbClr val="4C7D23"/>
            </a:prstShdw>
          </a:effectLst>
        </p:spPr>
        <p:txBody>
          <a:bodyPr wrap="square" lIns="91424" tIns="45712" rIns="91424" bIns="45712">
            <a:sp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研究构建了基于</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压裂施工曲线时频特征</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的改造体积评价方法，基于</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函数曲线特征</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的裂缝复杂度评价方法；构建了包含</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项指标的</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三维两级</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压裂改造效果</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综合评估体系</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构建了</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"AHP—</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熵权法</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相关性优化</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三级权重修正体系，</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AHP</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赋权先验认知、熵权法修正指标区分度、相关性优化以产量为标定做终值微调，</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项指标最终权重位于</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4%~25%</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，兼顾了</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工程经验、数据客观性与产能相关性</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、评分体系可解释性强</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265" lvl="1" indent="-342900" algn="just" fontAlgn="auto">
              <a:lnSpc>
                <a:spcPct val="150000"/>
              </a:lnSpc>
              <a:buClr>
                <a:srgbClr val="FF0000"/>
              </a:buClr>
              <a:buFont typeface="Wingdings" panose="05000000000000000000" charset="0"/>
              <a:buChar char="l"/>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统计分析结果显示，</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口井综合得分与千米</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EUR</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呈正相关，平台间评估结果与压后认识一致（</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H123 9.081 &gt; H10 8.968</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、千米</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EUR 0.503 &gt; 0.476</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）；最优井与最差井的对比分析显示，地质与工程条件上的差异导致的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改造体积、裂缝复杂度、导流能力</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差异能够被综合评估体系敏锐捕捉，验证了压后效果综合评估方法的有效性</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descr="PPT页5_认识与结论 (1)"/>
          <p:cNvPicPr>
            <a:picLocks noChangeAspect="1"/>
          </p:cNvPicPr>
          <p:nvPr/>
        </p:nvPicPr>
        <p:blipFill>
          <a:blip r:embed="rId1"/>
          <a:srcRect t="4233" b="4233"/>
          <a:stretch>
            <a:fillRect/>
          </a:stretch>
        </p:blipFill>
        <p:spPr>
          <a:xfrm>
            <a:off x="1860354" y="4032690"/>
            <a:ext cx="8471291" cy="2584421"/>
          </a:xfrm>
          <a:prstGeom prst="rect">
            <a:avLst/>
          </a:prstGeom>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098" name="Text Box 6"/>
          <p:cNvSpPr txBox="1"/>
          <p:nvPr/>
        </p:nvSpPr>
        <p:spPr>
          <a:xfrm>
            <a:off x="1187133" y="788035"/>
            <a:ext cx="10226675" cy="5678805"/>
          </a:xfrm>
          <a:prstGeom prst="rect">
            <a:avLst/>
          </a:prstGeom>
          <a:noFill/>
          <a:ln w="9525">
            <a:noFill/>
          </a:ln>
          <a:effectLst>
            <a:prstShdw prst="shdw17" dist="17961" dir="13499999">
              <a:srgbClr val="708688"/>
            </a:prstShdw>
          </a:effectLst>
        </p:spPr>
        <p:txBody>
          <a:bodyPr tIns="254400" bIns="254400" anchor="ctr" anchorCtr="1">
            <a:spAutoFit/>
          </a:bodyPr>
          <a:lstStyle/>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一、项目概要</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二、阶段任务完成情况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三、取得的阶段成果及应用情况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四、经费管理及使用情况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五、项目组织管理</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六、存在问题、解决措施及建议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七、下步工作安排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227013" y="900954"/>
            <a:ext cx="12072937" cy="398780"/>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项目总经费</a:t>
            </a:r>
            <a:r>
              <a:rPr lang="en-US" altLang="zh-CN" sz="1600" dirty="0">
                <a:solidFill>
                  <a:prstClr val="black"/>
                </a:solidFill>
                <a:latin typeface="微软雅黑" panose="020B0503020204020204" pitchFamily="34" charset="-122"/>
                <a:ea typeface="微软雅黑" panose="020B0503020204020204" pitchFamily="34" charset="-122"/>
              </a:rPr>
              <a:t>62.2</a:t>
            </a:r>
            <a:r>
              <a:rPr lang="zh-CN" altLang="en-US" sz="1600" dirty="0">
                <a:solidFill>
                  <a:prstClr val="black"/>
                </a:solidFill>
                <a:latin typeface="微软雅黑" panose="020B0503020204020204" pitchFamily="34" charset="-122"/>
                <a:ea typeface="微软雅黑" panose="020B0503020204020204" pitchFamily="34" charset="-122"/>
              </a:rPr>
              <a:t>万元，经费使用严格按照预算和财务要求进行，未出现无预算、超预算等情况，执行情况较好</a:t>
            </a:r>
            <a:endParaRPr lang="en-US" altLang="zh-CN" sz="1600" dirty="0">
              <a:solidFill>
                <a:prstClr val="black"/>
              </a:solidFill>
              <a:latin typeface="微软雅黑" panose="020B0503020204020204" pitchFamily="34" charset="-122"/>
              <a:ea typeface="微软雅黑" panose="020B0503020204020204" pitchFamily="34" charset="-122"/>
            </a:endParaRPr>
          </a:p>
        </p:txBody>
      </p:sp>
      <p:sp>
        <p:nvSpPr>
          <p:cNvPr id="7"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研究经费决算情况</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2" name="表格 3"/>
          <p:cNvGraphicFramePr>
            <a:graphicFrameLocks noGrp="1"/>
          </p:cNvGraphicFramePr>
          <p:nvPr>
            <p:custDataLst>
              <p:tags r:id="rId1"/>
            </p:custDataLst>
          </p:nvPr>
        </p:nvGraphicFramePr>
        <p:xfrm>
          <a:off x="407670" y="1779905"/>
          <a:ext cx="11377295" cy="4197985"/>
        </p:xfrm>
        <a:graphic>
          <a:graphicData uri="http://schemas.openxmlformats.org/drawingml/2006/table">
            <a:tbl>
              <a:tblPr/>
              <a:tblGrid>
                <a:gridCol w="3792220"/>
                <a:gridCol w="3792855"/>
                <a:gridCol w="3792220"/>
              </a:tblGrid>
              <a:tr h="395605">
                <a:tc gridSpan="2">
                  <a:txBody>
                    <a:bodyPr/>
                    <a:lstStyle/>
                    <a:p>
                      <a:pPr algn="ctr" fontAlgn="ctr"/>
                      <a:r>
                        <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编号与类型</a:t>
                      </a:r>
                      <a:endPar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cPr marL="9525" marR="9525" marT="9525" marB="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rowSpan="2">
                  <a:txBody>
                    <a:bodyPr/>
                    <a:lstStyle/>
                    <a:p>
                      <a:pPr algn="ctr" fontAlgn="ctr"/>
                      <a:r>
                        <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合计</a:t>
                      </a:r>
                      <a:endPar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r h="394335">
                <a:tc>
                  <a:txBody>
                    <a:bodyPr/>
                    <a:lstStyle/>
                    <a:p>
                      <a:pPr algn="ctr" fontAlgn="ctr"/>
                      <a:r>
                        <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编号</a:t>
                      </a:r>
                      <a:endPar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名称</a:t>
                      </a:r>
                      <a:endPar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vMerge="1">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r>
              <a:tr h="488315">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设计制图费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dirty="0">
                          <a:solidFill>
                            <a:srgbClr val="000000"/>
                          </a:solidFill>
                          <a:latin typeface="Times New Roman" panose="02020603050405020304"/>
                          <a:ea typeface="Times New Roman" panose="02020603050405020304"/>
                        </a:rPr>
                        <a:t>40</a:t>
                      </a:r>
                      <a:endParaRPr lang="en-US" altLang="zh-CN" sz="1400" b="0" i="0" dirty="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5775">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图书资料费</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出版</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文献</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知识产权费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Times New Roman" panose="02020603050405020304"/>
                          <a:ea typeface="Times New Roman" panose="02020603050405020304"/>
                        </a:rPr>
                        <a:t>2.4</a:t>
                      </a:r>
                      <a:endParaRPr lang="en-US" altLang="zh-CN" sz="1400" b="0" i="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6410">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办公费</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差旅费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Times New Roman" panose="02020603050405020304"/>
                          <a:ea typeface="Times New Roman" panose="02020603050405020304"/>
                        </a:rPr>
                        <a:t>4.50235</a:t>
                      </a:r>
                      <a:endParaRPr lang="en-US" altLang="zh-CN" sz="1400" b="0" i="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6410">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测试计算分析费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Times New Roman" panose="02020603050405020304"/>
                          <a:ea typeface="Times New Roman" panose="02020603050405020304"/>
                        </a:rPr>
                        <a:t>5.4</a:t>
                      </a:r>
                      <a:endParaRPr lang="en-US" altLang="zh-CN" sz="1400" b="0" i="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7680">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管理费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dirty="0">
                          <a:solidFill>
                            <a:srgbClr val="000000"/>
                          </a:solidFill>
                          <a:latin typeface="Times New Roman" panose="02020603050405020304"/>
                          <a:ea typeface="Times New Roman" panose="02020603050405020304"/>
                        </a:rPr>
                        <a:t>8.086</a:t>
                      </a:r>
                      <a:endParaRPr lang="en-US" altLang="zh-CN" sz="1400" b="0" i="0" dirty="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7045">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税费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dirty="0">
                          <a:solidFill>
                            <a:srgbClr val="000000"/>
                          </a:solidFill>
                          <a:latin typeface="Times New Roman" panose="02020603050405020304"/>
                          <a:ea typeface="Times New Roman" panose="02020603050405020304"/>
                        </a:rPr>
                        <a:t>1.811650</a:t>
                      </a:r>
                      <a:endParaRPr lang="en-US" altLang="zh-CN" sz="1400" b="0" i="0" dirty="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6410">
                <a:tc gridSpan="2">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合计（万元）</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9525" marR="9525" marT="9525" marB="0" anchor="ctr">
                    <a:lnL w="6350" cap="flat" cmpd="sng" algn="ctr">
                      <a:solidFill>
                        <a:schemeClr val="tx1"/>
                      </a:solidFill>
                      <a:prstDash val="solid"/>
                      <a:round/>
                      <a:headEnd type="none" w="med" len="med"/>
                      <a:tailEnd type="none" w="med" len="med"/>
                    </a:lnL>
                    <a:lnR>
                      <a:noFill/>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dirty="0">
                          <a:solidFill>
                            <a:srgbClr val="000000"/>
                          </a:solidFill>
                          <a:latin typeface="Times New Roman" panose="02020603050405020304"/>
                          <a:ea typeface="Times New Roman" panose="02020603050405020304"/>
                        </a:rPr>
                        <a:t>62.2</a:t>
                      </a:r>
                      <a:endParaRPr lang="en-US" altLang="zh-CN" sz="1400" b="0" i="0" dirty="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098" name="Text Box 6"/>
          <p:cNvSpPr txBox="1"/>
          <p:nvPr/>
        </p:nvSpPr>
        <p:spPr>
          <a:xfrm>
            <a:off x="1187133" y="788035"/>
            <a:ext cx="10226675" cy="5678805"/>
          </a:xfrm>
          <a:prstGeom prst="rect">
            <a:avLst/>
          </a:prstGeom>
          <a:noFill/>
          <a:ln w="9525">
            <a:noFill/>
          </a:ln>
          <a:effectLst>
            <a:prstShdw prst="shdw17" dist="17961" dir="13499999">
              <a:srgbClr val="708688"/>
            </a:prstShdw>
          </a:effectLst>
        </p:spPr>
        <p:txBody>
          <a:bodyPr tIns="254400" bIns="254400" anchor="ctr" anchorCtr="1">
            <a:spAutoFit/>
          </a:bodyPr>
          <a:lstStyle/>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一、项目概要</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二、阶段任务完成情况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三、取得的阶段成果及应用情况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四、经费管理及使用情况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五、项目组织管理</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六、存在问题、解决措施及建议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七、下步工作安排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27013" y="854069"/>
            <a:ext cx="10644187" cy="460375"/>
          </a:xfrm>
          <a:prstGeom prst="rect">
            <a:avLst/>
          </a:prstGeom>
          <a:noFill/>
        </p:spPr>
        <p:txBody>
          <a:bodyPr wrap="square">
            <a:spAutoFit/>
          </a:bodyPr>
          <a:lstStyle/>
          <a:p>
            <a:pPr marL="342900" indent="-342900">
              <a:lnSpc>
                <a:spcPct val="150000"/>
              </a:lnSpc>
              <a:buClr>
                <a:srgbClr val="FF0000"/>
              </a:buClr>
              <a:buFont typeface="Wingdings" panose="05000000000000000000" pitchFamily="2" charset="2"/>
              <a:buChar char="l"/>
              <a:defRPr/>
            </a:pPr>
            <a:r>
              <a:rPr lang="zh-CN" altLang="en-US" sz="1600" dirty="0">
                <a:solidFill>
                  <a:prstClr val="black"/>
                </a:solidFill>
                <a:latin typeface="微软雅黑" panose="020B0503020204020204" pitchFamily="34" charset="-122"/>
                <a:ea typeface="微软雅黑" panose="020B0503020204020204" pitchFamily="34" charset="-122"/>
              </a:rPr>
              <a:t>主要研究人员：</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胡晓东研究员牵头组织，多位硕士、博士深度参与</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7"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r>
              <a:rPr lang="zh-CN" altLang="en-US" sz="2400" b="1" kern="0" dirty="0">
                <a:solidFill>
                  <a:srgbClr val="FF0000"/>
                </a:solidFill>
                <a:latin typeface="微软雅黑" panose="020B0503020204020204" pitchFamily="34" charset="-122"/>
                <a:ea typeface="微软雅黑" panose="020B0503020204020204" pitchFamily="34" charset="-122"/>
              </a:rPr>
              <a:t>、项目运行管理</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4" name="表格 2"/>
          <p:cNvGraphicFramePr>
            <a:graphicFrameLocks noGrp="1"/>
          </p:cNvGraphicFramePr>
          <p:nvPr>
            <p:custDataLst>
              <p:tags r:id="rId1"/>
            </p:custDataLst>
          </p:nvPr>
        </p:nvGraphicFramePr>
        <p:xfrm>
          <a:off x="319405" y="1464945"/>
          <a:ext cx="11500485" cy="4497705"/>
        </p:xfrm>
        <a:graphic>
          <a:graphicData uri="http://schemas.openxmlformats.org/drawingml/2006/table">
            <a:tbl>
              <a:tblPr firstRow="1" bandRow="1">
                <a:tableStyleId>{5940675A-B579-460E-94D1-54222C63F5DA}</a:tableStyleId>
              </a:tblPr>
              <a:tblGrid>
                <a:gridCol w="1332865"/>
                <a:gridCol w="1301115"/>
                <a:gridCol w="832485"/>
                <a:gridCol w="1267460"/>
                <a:gridCol w="1221740"/>
                <a:gridCol w="1237615"/>
                <a:gridCol w="2384425"/>
                <a:gridCol w="1922780"/>
              </a:tblGrid>
              <a:tr h="499745">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职务</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solidFill>
                      <a:srgbClr val="FFC000"/>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rPr>
                        <a:t>姓 名</a:t>
                      </a:r>
                      <a:endParaRPr lang="zh-CN" sz="1600" b="1" kern="100" baseline="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65345" marR="65345" marT="0" marB="0" anchor="ctr">
                    <a:solidFill>
                      <a:srgbClr val="FFC000"/>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性别</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solidFill>
                      <a:srgbClr val="FFC000"/>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年龄</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solidFill>
                      <a:srgbClr val="FFC000"/>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学历</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solidFill>
                      <a:srgbClr val="FFC000"/>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职称</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solidFill>
                      <a:srgbClr val="FFC000"/>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专业特长</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solidFill>
                      <a:srgbClr val="FFC000"/>
                    </a:solidFill>
                  </a:tcPr>
                </a:tc>
                <a:tc>
                  <a:txBody>
                    <a:bodyPr/>
                    <a:lstStyle/>
                    <a:p>
                      <a:pPr algn="ctr">
                        <a:spcAft>
                          <a:spcPts val="0"/>
                        </a:spcAft>
                      </a:pPr>
                      <a:r>
                        <a:rPr lang="zh-CN" altLang="en-US" sz="1600" b="1" kern="100" baseline="0" dirty="0">
                          <a:solidFill>
                            <a:schemeClr val="bg1"/>
                          </a:solidFill>
                          <a:effectLst/>
                          <a:latin typeface="微软雅黑" panose="020B0503020204020204" pitchFamily="34" charset="-122"/>
                          <a:ea typeface="微软雅黑" panose="020B0503020204020204" pitchFamily="34" charset="-122"/>
                        </a:rPr>
                        <a:t>项目参与时间</a:t>
                      </a:r>
                      <a:endParaRPr lang="zh-CN" altLang="en-US"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solidFill>
                      <a:srgbClr val="FFC000"/>
                    </a:solidFill>
                  </a:tcPr>
                </a:tc>
              </a:tr>
              <a:tr h="499745">
                <a:tc>
                  <a:txBody>
                    <a:bodyPr/>
                    <a:lstStyle/>
                    <a:p>
                      <a:pPr algn="ctr">
                        <a:spcAft>
                          <a:spcPts val="0"/>
                        </a:spcAft>
                      </a:pPr>
                      <a:r>
                        <a:rPr lang="zh-CN" altLang="zh-CN" sz="1600" kern="100" baseline="0" dirty="0">
                          <a:effectLst/>
                          <a:latin typeface="微软雅黑" panose="020B0503020204020204" pitchFamily="34" charset="-122"/>
                          <a:ea typeface="微软雅黑" panose="020B0503020204020204" pitchFamily="34" charset="-122"/>
                        </a:rPr>
                        <a:t>项目</a:t>
                      </a:r>
                      <a:r>
                        <a:rPr lang="zh-CN" altLang="en-US" sz="1600" kern="100" baseline="0" dirty="0">
                          <a:effectLst/>
                          <a:latin typeface="微软雅黑" panose="020B0503020204020204" pitchFamily="34" charset="-122"/>
                          <a:ea typeface="微软雅黑" panose="020B0503020204020204" pitchFamily="34" charset="-122"/>
                        </a:rPr>
                        <a:t>长</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sz="1600" kern="100" baseline="0" dirty="0">
                          <a:effectLst/>
                          <a:latin typeface="微软雅黑" panose="020B0503020204020204" pitchFamily="34" charset="-122"/>
                          <a:ea typeface="微软雅黑" panose="020B0503020204020204" pitchFamily="34" charset="-122"/>
                        </a:rPr>
                        <a:t>胡晓东</a:t>
                      </a:r>
                      <a:endParaRPr 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sz="1600" kern="100" baseline="0" dirty="0">
                          <a:effectLst/>
                          <a:latin typeface="微软雅黑" panose="020B0503020204020204" pitchFamily="34" charset="-122"/>
                          <a:ea typeface="微软雅黑" panose="020B0503020204020204" pitchFamily="34" charset="-122"/>
                        </a:rPr>
                        <a:t>男</a:t>
                      </a:r>
                      <a:endParaRPr 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en-US" altLang="zh-CN" sz="1600" kern="100" baseline="0" dirty="0">
                          <a:effectLst/>
                          <a:latin typeface="微软雅黑" panose="020B0503020204020204" pitchFamily="34" charset="-122"/>
                          <a:ea typeface="微软雅黑" panose="020B0503020204020204" pitchFamily="34" charset="-122"/>
                        </a:rPr>
                        <a:t>35</a:t>
                      </a:r>
                      <a:endParaRPr lang="en-US"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sz="1600" kern="100" baseline="0" dirty="0">
                          <a:effectLst/>
                          <a:latin typeface="微软雅黑" panose="020B0503020204020204" pitchFamily="34" charset="-122"/>
                          <a:ea typeface="微软雅黑" panose="020B0503020204020204" pitchFamily="34" charset="-122"/>
                        </a:rPr>
                        <a:t>博士</a:t>
                      </a:r>
                      <a:endParaRPr 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副</a:t>
                      </a:r>
                      <a:r>
                        <a:rPr lang="zh-CN" sz="1600" kern="100" baseline="0" dirty="0">
                          <a:effectLst/>
                          <a:latin typeface="微软雅黑" panose="020B0503020204020204" pitchFamily="34" charset="-122"/>
                          <a:ea typeface="微软雅黑" panose="020B0503020204020204" pitchFamily="34" charset="-122"/>
                        </a:rPr>
                        <a:t>研究员</a:t>
                      </a:r>
                      <a:endParaRPr 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cs typeface="微软雅黑" panose="020B0503020204020204" pitchFamily="34" charset="-122"/>
                        </a:rPr>
                        <a:t>压裂诊断</a:t>
                      </a:r>
                      <a:r>
                        <a:rPr lang="en-US" sz="1600" kern="100" baseline="0" dirty="0">
                          <a:effectLst/>
                          <a:latin typeface="微软雅黑" panose="020B0503020204020204" pitchFamily="34" charset="-122"/>
                          <a:ea typeface="微软雅黑" panose="020B0503020204020204" pitchFamily="34" charset="-122"/>
                          <a:cs typeface="微软雅黑" panose="020B0503020204020204" pitchFamily="34" charset="-122"/>
                        </a:rPr>
                        <a:t>+</a:t>
                      </a:r>
                      <a:r>
                        <a:rPr lang="zh-CN" sz="1600" kern="100" baseline="0" dirty="0">
                          <a:effectLst/>
                          <a:latin typeface="微软雅黑" panose="020B0503020204020204" pitchFamily="34" charset="-122"/>
                          <a:ea typeface="微软雅黑" panose="020B0503020204020204" pitchFamily="34" charset="-122"/>
                          <a:cs typeface="微软雅黑" panose="020B0503020204020204" pitchFamily="34" charset="-122"/>
                        </a:rPr>
                        <a:t>储层改造</a:t>
                      </a:r>
                      <a:endParaRPr lang="zh-CN" sz="1600" kern="100" baseline="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2025.07-2026.12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r h="499745">
                <a:tc rowSpan="7">
                  <a:txBody>
                    <a:bodyPr/>
                    <a:lstStyle/>
                    <a:p>
                      <a:pPr algn="ctr"/>
                      <a:r>
                        <a:rPr lang="zh-CN" altLang="en-US" sz="1400" dirty="0">
                          <a:latin typeface="微软雅黑" panose="020B0503020204020204" pitchFamily="34" charset="-122"/>
                          <a:ea typeface="微软雅黑" panose="020B0503020204020204" pitchFamily="34" charset="-122"/>
                        </a:rPr>
                        <a:t>主要研究人员</a:t>
                      </a:r>
                      <a:endParaRPr lang="zh-CN" altLang="en-US" sz="1400" dirty="0">
                        <a:latin typeface="微软雅黑" panose="020B0503020204020204" pitchFamily="34" charset="-122"/>
                        <a:ea typeface="微软雅黑" panose="020B0503020204020204" pitchFamily="34" charset="-122"/>
                      </a:endParaRPr>
                    </a:p>
                  </a:txBody>
                  <a:tcPr vert="eaVert"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董恩佳</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sz="1600" kern="100" baseline="0" dirty="0">
                          <a:effectLst/>
                          <a:latin typeface="微软雅黑" panose="020B0503020204020204" pitchFamily="34" charset="-122"/>
                          <a:ea typeface="微软雅黑" panose="020B0503020204020204" pitchFamily="34" charset="-122"/>
                        </a:rPr>
                        <a:t>男</a:t>
                      </a:r>
                      <a:endParaRPr 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algn="ctr" defTabSz="914400" rtl="0" eaLnBrk="1" latinLnBrk="0" hangingPunct="1">
                        <a:spcAft>
                          <a:spcPts val="0"/>
                        </a:spcAft>
                      </a:pPr>
                      <a:r>
                        <a:rPr lang="en-US" sz="1600" kern="100" baseline="0" dirty="0">
                          <a:effectLst/>
                          <a:latin typeface="微软雅黑" panose="020B0503020204020204" pitchFamily="34" charset="-122"/>
                          <a:ea typeface="微软雅黑" panose="020B0503020204020204" pitchFamily="34" charset="-122"/>
                        </a:rPr>
                        <a:t>27</a:t>
                      </a:r>
                      <a:endParaRPr lang="en-US"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博士</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sz="1600" kern="100" baseline="0" dirty="0">
                          <a:effectLst/>
                          <a:latin typeface="微软雅黑" panose="020B0503020204020204" pitchFamily="34" charset="-122"/>
                          <a:ea typeface="微软雅黑" panose="020B0503020204020204" pitchFamily="34" charset="-122"/>
                        </a:rPr>
                        <a:t>学生</a:t>
                      </a:r>
                      <a:endParaRPr 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sz="1600" kern="100" baseline="0" dirty="0">
                          <a:effectLst/>
                          <a:latin typeface="微软雅黑" panose="020B0503020204020204" pitchFamily="34" charset="-122"/>
                          <a:ea typeface="微软雅黑" panose="020B0503020204020204" pitchFamily="34" charset="-122"/>
                        </a:rPr>
                        <a:t>储层改造</a:t>
                      </a:r>
                      <a:endParaRPr 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2025.07-2026.12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r h="499745">
                <a:tc vMerge="1">
                  <a:tcP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周乾龙</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男</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algn="ctr" defTabSz="914400" rtl="0" eaLnBrk="1" latinLnBrk="0" hangingPunct="1">
                        <a:spcAft>
                          <a:spcPts val="0"/>
                        </a:spcAft>
                      </a:pPr>
                      <a:r>
                        <a:rPr lang="en-US" altLang="zh-CN" sz="1600" kern="100" baseline="0" dirty="0">
                          <a:effectLst/>
                          <a:latin typeface="微软雅黑" panose="020B0503020204020204" pitchFamily="34" charset="-122"/>
                          <a:ea typeface="微软雅黑" panose="020B0503020204020204" pitchFamily="34" charset="-122"/>
                        </a:rPr>
                        <a:t>26</a:t>
                      </a:r>
                      <a:endParaRPr lang="en-US"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博士</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学生</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600" kern="100" baseline="0" dirty="0">
                          <a:effectLst/>
                          <a:latin typeface="微软雅黑" panose="020B0503020204020204" pitchFamily="34" charset="-122"/>
                          <a:ea typeface="微软雅黑" panose="020B0503020204020204" pitchFamily="34" charset="-122"/>
                        </a:rPr>
                        <a:t>储层改造</a:t>
                      </a:r>
                      <a:endParaRPr lang="zh-CN"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2025.07-2026.12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r h="499745">
                <a:tc vMerge="1">
                  <a:tcPr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闻吉鹏</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男</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algn="ctr" defTabSz="914400" rtl="0" eaLnBrk="1" latinLnBrk="0" hangingPunct="1">
                        <a:spcAft>
                          <a:spcPts val="0"/>
                        </a:spcAft>
                      </a:pPr>
                      <a:r>
                        <a:rPr lang="en-US" altLang="zh-CN" sz="1600" kern="100" baseline="0" dirty="0">
                          <a:effectLst/>
                          <a:latin typeface="微软雅黑" panose="020B0503020204020204" pitchFamily="34" charset="-122"/>
                          <a:ea typeface="微软雅黑" panose="020B0503020204020204" pitchFamily="34" charset="-122"/>
                        </a:rPr>
                        <a:t>25</a:t>
                      </a:r>
                      <a:endParaRPr lang="en-US"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博士</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学生</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kern="100" baseline="0" dirty="0">
                          <a:effectLst/>
                          <a:latin typeface="微软雅黑" panose="020B0503020204020204" pitchFamily="34" charset="-122"/>
                          <a:ea typeface="微软雅黑" panose="020B0503020204020204" pitchFamily="34" charset="-122"/>
                        </a:rPr>
                        <a:t>压裂诊断</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2025.07-2026.12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r h="499745">
                <a:tc vMerge="1">
                  <a:tcP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邓宇通</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男</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en-US" altLang="zh-CN" sz="1600" kern="100" baseline="0" dirty="0">
                          <a:effectLst/>
                          <a:latin typeface="微软雅黑" panose="020B0503020204020204" pitchFamily="34" charset="-122"/>
                          <a:ea typeface="微软雅黑" panose="020B0503020204020204" pitchFamily="34" charset="-122"/>
                        </a:rPr>
                        <a:t>24</a:t>
                      </a:r>
                      <a:endParaRPr lang="en-US"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博士</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学生</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kumimoji="0" lang="zh-CN" altLang="en-US"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压裂诊断</a:t>
                      </a:r>
                      <a:endParaRPr kumimoji="0" lang="zh-CN" altLang="en-US"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2025.07-2026.12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r h="499745">
                <a:tc vMerge="1">
                  <a:tcP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赖文俊</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男</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en-US" altLang="zh-CN" sz="1600" kern="100" baseline="0" dirty="0">
                          <a:effectLst/>
                          <a:latin typeface="微软雅黑" panose="020B0503020204020204" pitchFamily="34" charset="-122"/>
                          <a:ea typeface="微软雅黑" panose="020B0503020204020204" pitchFamily="34" charset="-122"/>
                        </a:rPr>
                        <a:t>24</a:t>
                      </a:r>
                      <a:endParaRPr lang="en-US"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硕士</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学生</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kumimoji="0" lang="zh-CN" altLang="en-US"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压裂诊断</a:t>
                      </a:r>
                      <a:endParaRPr kumimoji="0" lang="zh-CN" altLang="en-US"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2025.07-2026.12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r h="499745">
                <a:tc vMerge="1">
                  <a:tcP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张铭志</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男</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en-US" altLang="zh-CN" sz="1600" kern="100" baseline="0" dirty="0">
                          <a:effectLst/>
                          <a:latin typeface="微软雅黑" panose="020B0503020204020204" pitchFamily="34" charset="-122"/>
                          <a:ea typeface="微软雅黑" panose="020B0503020204020204" pitchFamily="34" charset="-122"/>
                        </a:rPr>
                        <a:t>24</a:t>
                      </a:r>
                      <a:endParaRPr lang="en-US"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硕士</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学生</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kumimoji="0" lang="zh-CN" altLang="en-US"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压裂诊断</a:t>
                      </a:r>
                      <a:endParaRPr kumimoji="0" lang="zh-CN" altLang="en-US"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2025.07-2026.12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r h="499745">
                <a:tc vMerge="1">
                  <a:tcPr vert="eaVert"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杨鑫婕</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女</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en-US" altLang="zh-CN" sz="1600" kern="100" baseline="0" dirty="0">
                          <a:effectLst/>
                          <a:latin typeface="微软雅黑" panose="020B0503020204020204" pitchFamily="34" charset="-122"/>
                          <a:ea typeface="微软雅黑" panose="020B0503020204020204" pitchFamily="34" charset="-122"/>
                        </a:rPr>
                        <a:t>22</a:t>
                      </a:r>
                      <a:endParaRPr lang="en-US" altLang="zh-CN"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硕士</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baseline="0" dirty="0">
                          <a:effectLst/>
                          <a:latin typeface="微软雅黑" panose="020B0503020204020204" pitchFamily="34" charset="-122"/>
                          <a:ea typeface="微软雅黑" panose="020B0503020204020204" pitchFamily="34" charset="-122"/>
                        </a:rPr>
                        <a:t>学生</a:t>
                      </a:r>
                      <a:endParaRPr lang="zh-CN" altLang="en-US" sz="1600" kern="100" baseline="0" dirty="0">
                        <a:effectLst/>
                        <a:latin typeface="微软雅黑" panose="020B0503020204020204" pitchFamily="34" charset="-122"/>
                        <a:ea typeface="微软雅黑" panose="020B0503020204020204" pitchFamily="34" charset="-122"/>
                      </a:endParaRPr>
                    </a:p>
                  </a:txBody>
                  <a:tcPr marL="65345" marR="65345" marT="0" marB="0" anchor="ctr"/>
                </a:tc>
                <a:tc>
                  <a:txBody>
                    <a:bodyPr/>
                    <a:lstStyle/>
                    <a:p>
                      <a:pPr algn="ctr">
                        <a:spcAft>
                          <a:spcPts val="0"/>
                        </a:spcAft>
                      </a:pPr>
                      <a:r>
                        <a:rPr lang="zh-CN" altLang="en-US" sz="1600" kern="100" noProof="0" dirty="0">
                          <a:ln>
                            <a:noFill/>
                          </a:ln>
                          <a:effectLst/>
                          <a:uLnTx/>
                          <a:uFillTx/>
                          <a:latin typeface="微软雅黑" panose="020B0503020204020204" pitchFamily="34" charset="-122"/>
                          <a:ea typeface="微软雅黑" panose="020B0503020204020204" pitchFamily="34" charset="-122"/>
                        </a:rPr>
                        <a:t>压裂诊断</a:t>
                      </a:r>
                      <a:endParaRPr kumimoji="0" lang="zh-CN" altLang="en-US"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rPr>
                        <a:t>2025.07-2026.12</a:t>
                      </a:r>
                      <a:endParaRPr kumimoji="0" lang="en-US" altLang="zh-CN" sz="1600" u="none" strike="noStrike" kern="100" cap="none" spc="0" normalizeH="0" baseline="0" noProof="0" dirty="0">
                        <a:ln>
                          <a:noFill/>
                        </a:ln>
                        <a:effectLst/>
                        <a:uLnTx/>
                        <a:uFillTx/>
                        <a:latin typeface="微软雅黑" panose="020B0503020204020204" pitchFamily="34" charset="-122"/>
                        <a:ea typeface="微软雅黑" panose="020B0503020204020204" pitchFamily="34" charset="-122"/>
                      </a:endParaRPr>
                    </a:p>
                  </a:txBody>
                  <a:tcPr marL="65345" marR="65345" marT="0" marB="0" anchor="ctr"/>
                </a:tc>
              </a:tr>
            </a:tbl>
          </a:graphicData>
        </a:graphic>
      </p:graphicFrame>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文本框 24"/>
          <p:cNvSpPr txBox="1"/>
          <p:nvPr/>
        </p:nvSpPr>
        <p:spPr>
          <a:xfrm>
            <a:off x="227013" y="899811"/>
            <a:ext cx="11844337" cy="372025"/>
          </a:xfrm>
          <a:prstGeom prst="rect">
            <a:avLst/>
          </a:prstGeom>
          <a:noFill/>
        </p:spPr>
        <p:txBody>
          <a:bodyPr wrap="square">
            <a:spAutoFit/>
          </a:bodyPr>
          <a:lstStyle/>
          <a:p>
            <a:pPr marL="342900" indent="-342900" algn="just">
              <a:lnSpc>
                <a:spcPct val="125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为保证项目推进，团队配合页岩气研究院组织多次项目阶段检查和对接，并按月提交月报，实时把控项目进度</a:t>
            </a:r>
            <a:endParaRPr lang="zh-CN" altLang="en-US"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r>
              <a:rPr lang="zh-CN" altLang="en-US" sz="2400" b="1" kern="0" dirty="0">
                <a:solidFill>
                  <a:srgbClr val="FF0000"/>
                </a:solidFill>
                <a:latin typeface="微软雅黑" panose="020B0503020204020204" pitchFamily="34" charset="-122"/>
                <a:ea typeface="微软雅黑" panose="020B0503020204020204" pitchFamily="34" charset="-122"/>
              </a:rPr>
              <a:t>、项目运行管理</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319405" y="3944620"/>
            <a:ext cx="2748915" cy="1546225"/>
          </a:xfrm>
          <a:prstGeom prst="rect">
            <a:avLst/>
          </a:prstGeom>
          <a:ln>
            <a:solidFill>
              <a:schemeClr val="tx1"/>
            </a:solidFill>
          </a:ln>
        </p:spPr>
      </p:pic>
      <p:pic>
        <p:nvPicPr>
          <p:cNvPr id="11" name="图片 10"/>
          <p:cNvPicPr>
            <a:picLocks noChangeAspect="1"/>
          </p:cNvPicPr>
          <p:nvPr/>
        </p:nvPicPr>
        <p:blipFill>
          <a:blip r:embed="rId2"/>
          <a:stretch>
            <a:fillRect/>
          </a:stretch>
        </p:blipFill>
        <p:spPr>
          <a:xfrm>
            <a:off x="3188335" y="3943985"/>
            <a:ext cx="2758440" cy="1551940"/>
          </a:xfrm>
          <a:prstGeom prst="rect">
            <a:avLst/>
          </a:prstGeom>
          <a:ln>
            <a:solidFill>
              <a:schemeClr val="tx1"/>
            </a:solidFill>
          </a:ln>
        </p:spPr>
      </p:pic>
      <p:pic>
        <p:nvPicPr>
          <p:cNvPr id="12" name="图片 11"/>
          <p:cNvPicPr>
            <a:picLocks noChangeAspect="1"/>
          </p:cNvPicPr>
          <p:nvPr/>
        </p:nvPicPr>
        <p:blipFill>
          <a:blip r:embed="rId3"/>
          <a:stretch>
            <a:fillRect/>
          </a:stretch>
        </p:blipFill>
        <p:spPr>
          <a:xfrm>
            <a:off x="6149340" y="1938020"/>
            <a:ext cx="2620645" cy="1865630"/>
          </a:xfrm>
          <a:prstGeom prst="rect">
            <a:avLst/>
          </a:prstGeom>
          <a:ln>
            <a:solidFill>
              <a:schemeClr val="tx1"/>
            </a:solidFill>
          </a:ln>
        </p:spPr>
      </p:pic>
      <p:pic>
        <p:nvPicPr>
          <p:cNvPr id="16" name="图片 15"/>
          <p:cNvPicPr>
            <a:picLocks noChangeAspect="1"/>
          </p:cNvPicPr>
          <p:nvPr/>
        </p:nvPicPr>
        <p:blipFill>
          <a:blip r:embed="rId4"/>
          <a:stretch>
            <a:fillRect/>
          </a:stretch>
        </p:blipFill>
        <p:spPr>
          <a:xfrm>
            <a:off x="8855710" y="1938020"/>
            <a:ext cx="2625725" cy="1866265"/>
          </a:xfrm>
          <a:prstGeom prst="rect">
            <a:avLst/>
          </a:prstGeom>
          <a:ln>
            <a:solidFill>
              <a:schemeClr val="tx1"/>
            </a:solidFill>
          </a:ln>
        </p:spPr>
      </p:pic>
      <p:pic>
        <p:nvPicPr>
          <p:cNvPr id="17" name="图片 16"/>
          <p:cNvPicPr>
            <a:picLocks noChangeAspect="1"/>
          </p:cNvPicPr>
          <p:nvPr/>
        </p:nvPicPr>
        <p:blipFill>
          <a:blip r:embed="rId5"/>
          <a:stretch>
            <a:fillRect/>
          </a:stretch>
        </p:blipFill>
        <p:spPr>
          <a:xfrm>
            <a:off x="7456170" y="3891280"/>
            <a:ext cx="2729865" cy="1950085"/>
          </a:xfrm>
          <a:prstGeom prst="rect">
            <a:avLst/>
          </a:prstGeom>
          <a:ln>
            <a:solidFill>
              <a:schemeClr val="tx1"/>
            </a:solidFill>
          </a:ln>
        </p:spPr>
      </p:pic>
      <p:sp>
        <p:nvSpPr>
          <p:cNvPr id="23" name="文本框 38"/>
          <p:cNvSpPr txBox="1"/>
          <p:nvPr>
            <p:custDataLst>
              <p:tags r:id="rId6"/>
            </p:custDataLst>
          </p:nvPr>
        </p:nvSpPr>
        <p:spPr>
          <a:xfrm>
            <a:off x="312420" y="6087745"/>
            <a:ext cx="495300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阶段汇报交流</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8" name="图片 17"/>
          <p:cNvPicPr>
            <a:picLocks noChangeAspect="1"/>
          </p:cNvPicPr>
          <p:nvPr/>
        </p:nvPicPr>
        <p:blipFill>
          <a:blip r:embed="rId7"/>
          <a:stretch>
            <a:fillRect/>
          </a:stretch>
        </p:blipFill>
        <p:spPr>
          <a:xfrm>
            <a:off x="319405" y="2172335"/>
            <a:ext cx="2748280" cy="1546225"/>
          </a:xfrm>
          <a:prstGeom prst="rect">
            <a:avLst/>
          </a:prstGeom>
          <a:ln>
            <a:solidFill>
              <a:schemeClr val="tx1"/>
            </a:solidFill>
          </a:ln>
        </p:spPr>
      </p:pic>
      <p:pic>
        <p:nvPicPr>
          <p:cNvPr id="19" name="图片 18"/>
          <p:cNvPicPr>
            <a:picLocks noChangeAspect="1"/>
          </p:cNvPicPr>
          <p:nvPr/>
        </p:nvPicPr>
        <p:blipFill>
          <a:blip r:embed="rId8"/>
          <a:stretch>
            <a:fillRect/>
          </a:stretch>
        </p:blipFill>
        <p:spPr>
          <a:xfrm>
            <a:off x="3188335" y="2172335"/>
            <a:ext cx="2747010" cy="1545590"/>
          </a:xfrm>
          <a:prstGeom prst="rect">
            <a:avLst/>
          </a:prstGeom>
          <a:ln>
            <a:solidFill>
              <a:schemeClr val="tx1"/>
            </a:solidFill>
          </a:ln>
        </p:spPr>
      </p:pic>
      <p:sp>
        <p:nvSpPr>
          <p:cNvPr id="20" name="文本框 38"/>
          <p:cNvSpPr txBox="1"/>
          <p:nvPr>
            <p:custDataLst>
              <p:tags r:id="rId9"/>
            </p:custDataLst>
          </p:nvPr>
        </p:nvSpPr>
        <p:spPr>
          <a:xfrm>
            <a:off x="6148705" y="6087745"/>
            <a:ext cx="5332730" cy="260350"/>
          </a:xfrm>
          <a:prstGeom prst="rect">
            <a:avLst/>
          </a:prstGeom>
          <a:noFill/>
        </p:spPr>
        <p:txBody>
          <a:bodyPr wrap="square" rtlCol="0">
            <a:spAutoFit/>
          </a:bodyPr>
          <a:lstStyle/>
          <a:p>
            <a:pPr marL="0" marR="0" lvl="0" indent="0" algn="ctr" defTabSz="457200" rtl="0" eaLnBrk="0" fontAlgn="base" latinLnBrk="0" hangingPunct="0">
              <a:lnSpc>
                <a:spcPct val="100000"/>
              </a:lnSpc>
              <a:spcBef>
                <a:spcPts val="0"/>
              </a:spcBef>
              <a:spcAft>
                <a:spcPts val="0"/>
              </a:spcAft>
              <a:buClrTx/>
              <a:buSzTx/>
              <a:buFontTx/>
              <a:buNone/>
            </a:pPr>
            <a:r>
              <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定期月报</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1"/>
          <p:cNvSpPr>
            <a:spLocks noChangeArrowheads="1"/>
          </p:cNvSpPr>
          <p:nvPr/>
        </p:nvSpPr>
        <p:spPr bwMode="auto">
          <a:xfrm>
            <a:off x="1" y="13421"/>
            <a:ext cx="12191999" cy="719540"/>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r>
              <a:rPr lang="zh-CN" altLang="en-US" sz="2400" b="1" kern="0" dirty="0">
                <a:solidFill>
                  <a:srgbClr val="FF0000"/>
                </a:solidFill>
                <a:latin typeface="微软雅黑" panose="020B0503020204020204" pitchFamily="34" charset="-122"/>
                <a:ea typeface="微软雅黑" panose="020B0503020204020204" pitchFamily="34" charset="-122"/>
              </a:rPr>
              <a:t>、</a:t>
            </a:r>
            <a:r>
              <a:rPr lang="en-US" altLang="zh-CN" sz="2400" b="1" kern="0" dirty="0">
                <a:solidFill>
                  <a:srgbClr val="FF0000"/>
                </a:solidFill>
                <a:latin typeface="微软雅黑" panose="020B0503020204020204" pitchFamily="34" charset="-122"/>
                <a:ea typeface="微软雅黑" panose="020B0503020204020204" pitchFamily="34" charset="-122"/>
              </a:rPr>
              <a:t>HSE</a:t>
            </a:r>
            <a:r>
              <a:rPr lang="zh-CN" altLang="en-US" sz="2400" b="1" kern="0" dirty="0">
                <a:solidFill>
                  <a:srgbClr val="FF0000"/>
                </a:solidFill>
                <a:latin typeface="微软雅黑" panose="020B0503020204020204" pitchFamily="34" charset="-122"/>
                <a:ea typeface="微软雅黑" panose="020B0503020204020204" pitchFamily="34" charset="-122"/>
              </a:rPr>
              <a:t>管理</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21" name="TextBox 2"/>
          <p:cNvSpPr txBox="1">
            <a:spLocks noChangeArrowheads="1"/>
          </p:cNvSpPr>
          <p:nvPr/>
        </p:nvSpPr>
        <p:spPr bwMode="auto">
          <a:xfrm>
            <a:off x="334645" y="910590"/>
            <a:ext cx="11485880" cy="3558540"/>
          </a:xfrm>
          <a:prstGeom prst="rect">
            <a:avLst/>
          </a:prstGeom>
          <a:noFill/>
          <a:ln w="9525">
            <a:noFill/>
            <a:miter lim="800000"/>
          </a:ln>
          <a:effectLst>
            <a:prstShdw prst="shdw17" dist="17961" dir="2700000">
              <a:srgbClr val="4C7D23"/>
            </a:prstShdw>
          </a:effectLst>
        </p:spPr>
        <p:txBody>
          <a:bodyPr wrap="square" lIns="91424" tIns="45712" rIns="91424" bIns="45712">
            <a:noAutofit/>
          </a:bodyPr>
          <a:lstStyle>
            <a:defPPr>
              <a:defRPr lang="zh-CN"/>
            </a:defPPr>
            <a:lvl1pPr marL="179705" indent="-179705" algn="just" hangingPunct="0">
              <a:lnSpc>
                <a:spcPct val="150000"/>
              </a:lnSpc>
              <a:buClr>
                <a:srgbClr val="FF0000"/>
              </a:buClr>
              <a:buFont typeface="Arial" panose="020B0604020202020204" pitchFamily="34" charset="0"/>
              <a:buChar char="•"/>
              <a:defRPr kumimoji="1" sz="1500">
                <a:latin typeface="微软雅黑" panose="020B0503020204020204" pitchFamily="34" charset="-122"/>
                <a:ea typeface="微软雅黑" panose="020B0503020204020204" pitchFamily="34" charset="-122"/>
              </a:defRPr>
            </a:lvl1pPr>
          </a:lstStyle>
          <a:p>
            <a:pPr marL="0" marR="0" lvl="0" indent="-358775" algn="l" defTabSz="457200" rtl="0" eaLnBrk="1" fontAlgn="auto" latinLnBrk="0" hangingPunct="1">
              <a:lnSpc>
                <a:spcPct val="150000"/>
              </a:lnSpc>
              <a:spcBef>
                <a:spcPts val="0"/>
              </a:spcBef>
              <a:spcAft>
                <a:spcPts val="0"/>
              </a:spcAft>
              <a:buClr>
                <a:srgbClr val="FF0000"/>
              </a:buClr>
              <a:buSzTx/>
              <a:buFont typeface="Wingdings" panose="05000000000000000000" pitchFamily="2" charset="2"/>
              <a:buChar char="l"/>
              <a:defRPr/>
            </a:pPr>
            <a:r>
              <a:rPr lang="en-US" altLang="zh-CN" sz="1600" kern="0" dirty="0">
                <a:solidFill>
                  <a:prstClr val="black"/>
                </a:solidFill>
                <a:sym typeface="+mn-ea"/>
              </a:rPr>
              <a:t>HSE</a:t>
            </a:r>
            <a:r>
              <a:rPr lang="zh-CN" altLang="en-US" sz="1600" kern="0" dirty="0">
                <a:solidFill>
                  <a:prstClr val="black"/>
                </a:solidFill>
                <a:sym typeface="+mn-ea"/>
              </a:rPr>
              <a:t>风险识别</a:t>
            </a:r>
            <a:endParaRPr lang="zh-CN" altLang="en-US" sz="1600" kern="0" dirty="0">
              <a:solidFill>
                <a:prstClr val="black"/>
              </a:solidFill>
              <a:sym typeface="+mn-ea"/>
            </a:endParaRPr>
          </a:p>
          <a:p>
            <a:pPr marL="0" marR="0" lvl="0" indent="457200" algn="l" defTabSz="457200" rtl="0" eaLnBrk="1" fontAlgn="auto" latinLnBrk="0" hangingPunct="1">
              <a:lnSpc>
                <a:spcPct val="150000"/>
              </a:lnSpc>
              <a:spcBef>
                <a:spcPts val="0"/>
              </a:spcBef>
              <a:spcAft>
                <a:spcPts val="0"/>
              </a:spcAft>
              <a:buClr>
                <a:srgbClr val="FF0000"/>
              </a:buClr>
              <a:buSzTx/>
              <a:buFont typeface="Wingdings" panose="05000000000000000000" pitchFamily="2" charset="2"/>
              <a:buNone/>
              <a:defRPr/>
            </a:pPr>
            <a:r>
              <a:rPr lang="zh-CN" altLang="en-US" sz="1600" kern="0" dirty="0">
                <a:solidFill>
                  <a:prstClr val="black"/>
                </a:solidFill>
                <a:sym typeface="+mn-ea"/>
              </a:rPr>
              <a:t>项目涉及到室内加温实验，需对电子设备使用安全高度重视，保证室内电路安全，防止火灾，实验过程中可能出现高压管线泄漏、脱落，高温液体泄漏等安全隐患，提升涉及现场施工跟踪作业，施工过程可能出现停泵管线整改等安全隐患，编制了</a:t>
            </a:r>
            <a:r>
              <a:rPr lang="en-US" altLang="zh-CN" sz="1600" kern="0" dirty="0">
                <a:solidFill>
                  <a:prstClr val="black"/>
                </a:solidFill>
                <a:sym typeface="+mn-ea"/>
              </a:rPr>
              <a:t>HSE</a:t>
            </a:r>
            <a:r>
              <a:rPr lang="zh-CN" altLang="en-US" sz="1600" kern="0" dirty="0">
                <a:solidFill>
                  <a:prstClr val="black"/>
                </a:solidFill>
                <a:sym typeface="+mn-ea"/>
              </a:rPr>
              <a:t>管理预案，要求设备保养准备到位，责任落实到位</a:t>
            </a:r>
            <a:endParaRPr lang="zh-CN" altLang="en-US" sz="1600" kern="0" dirty="0">
              <a:solidFill>
                <a:prstClr val="black"/>
              </a:solidFill>
              <a:sym typeface="+mn-ea"/>
            </a:endParaRPr>
          </a:p>
          <a:p>
            <a:pPr marL="0" marR="0" lvl="0" indent="457200" algn="l" defTabSz="457200" rtl="0" eaLnBrk="1" fontAlgn="auto" latinLnBrk="0" hangingPunct="1">
              <a:lnSpc>
                <a:spcPct val="150000"/>
              </a:lnSpc>
              <a:spcBef>
                <a:spcPts val="0"/>
              </a:spcBef>
              <a:spcAft>
                <a:spcPts val="0"/>
              </a:spcAft>
              <a:buClr>
                <a:srgbClr val="FF0000"/>
              </a:buClr>
              <a:buSzTx/>
              <a:buFont typeface="Wingdings" panose="05000000000000000000" pitchFamily="2" charset="2"/>
              <a:buNone/>
              <a:defRPr/>
            </a:pPr>
            <a:endParaRPr lang="zh-CN" altLang="en-US" sz="1600" kern="0" dirty="0">
              <a:solidFill>
                <a:prstClr val="black"/>
              </a:solidFill>
              <a:sym typeface="+mn-ea"/>
            </a:endParaRPr>
          </a:p>
          <a:p>
            <a:pPr marL="0" marR="0" lvl="0" indent="-358775" algn="l" defTabSz="457200" rtl="0" eaLnBrk="1" fontAlgn="auto" latinLnBrk="0" hangingPunct="1">
              <a:lnSpc>
                <a:spcPct val="150000"/>
              </a:lnSpc>
              <a:spcBef>
                <a:spcPts val="0"/>
              </a:spcBef>
              <a:spcAft>
                <a:spcPts val="0"/>
              </a:spcAft>
              <a:buClr>
                <a:srgbClr val="FF0000"/>
              </a:buClr>
              <a:buSzTx/>
              <a:buFont typeface="Wingdings" panose="05000000000000000000" pitchFamily="2" charset="2"/>
              <a:buChar char="l"/>
              <a:defRPr/>
            </a:pPr>
            <a:r>
              <a:rPr lang="zh-CN" altLang="en-US" sz="1600" kern="0" dirty="0">
                <a:solidFill>
                  <a:prstClr val="black"/>
                </a:solidFill>
                <a:sym typeface="+mn-ea"/>
              </a:rPr>
              <a:t>应对措施预案</a:t>
            </a:r>
            <a:endParaRPr kumimoji="1" lang="zh-CN" altLang="en-US" sz="1600" kern="0" dirty="0">
              <a:solidFill>
                <a:prstClr val="black"/>
              </a:solidFill>
              <a:latin typeface="微软雅黑" panose="020B0503020204020204" pitchFamily="34" charset="-122"/>
              <a:ea typeface="微软雅黑" panose="020B0503020204020204" pitchFamily="34" charset="-122"/>
            </a:endParaRPr>
          </a:p>
          <a:p>
            <a:pPr marL="0" marR="0" lvl="0" indent="457200" algn="l" defTabSz="457200" rtl="0" eaLnBrk="1" fontAlgn="auto" latinLnBrk="0" hangingPunct="1">
              <a:lnSpc>
                <a:spcPct val="150000"/>
              </a:lnSpc>
              <a:spcBef>
                <a:spcPts val="0"/>
              </a:spcBef>
              <a:spcAft>
                <a:spcPts val="0"/>
              </a:spcAft>
              <a:buClr>
                <a:srgbClr val="FF0000"/>
              </a:buClr>
              <a:buSzTx/>
              <a:buFont typeface="Wingdings" panose="05000000000000000000" pitchFamily="2" charset="2"/>
              <a:buNone/>
              <a:defRPr/>
            </a:pPr>
            <a:r>
              <a:rPr lang="zh-CN" altLang="en-US" sz="1600" kern="0" dirty="0">
                <a:solidFill>
                  <a:prstClr val="black"/>
                </a:solidFill>
                <a:sym typeface="+mn-ea"/>
              </a:rPr>
              <a:t>项目应对措施预案涉及信息报告、现场作业应急处置程序、实验人员高温灼伤程序、人员触电应急处置程序、电器及其他火灾应急处置程序、碰伤</a:t>
            </a:r>
            <a:r>
              <a:rPr lang="en-US" altLang="zh-CN" sz="1600" kern="0" dirty="0">
                <a:solidFill>
                  <a:prstClr val="black"/>
                </a:solidFill>
                <a:sym typeface="+mn-ea"/>
              </a:rPr>
              <a:t>-</a:t>
            </a:r>
            <a:r>
              <a:rPr lang="zh-CN" altLang="en-US" sz="1600" kern="0" dirty="0">
                <a:solidFill>
                  <a:prstClr val="black"/>
                </a:solidFill>
                <a:sym typeface="+mn-ea"/>
              </a:rPr>
              <a:t>撞伤</a:t>
            </a:r>
            <a:r>
              <a:rPr lang="en-US" altLang="zh-CN" sz="1600" kern="0" dirty="0">
                <a:solidFill>
                  <a:prstClr val="black"/>
                </a:solidFill>
                <a:sym typeface="+mn-ea"/>
              </a:rPr>
              <a:t>-</a:t>
            </a:r>
            <a:r>
              <a:rPr lang="zh-CN" altLang="en-US" sz="1600" kern="0" dirty="0">
                <a:solidFill>
                  <a:prstClr val="black"/>
                </a:solidFill>
                <a:sym typeface="+mn-ea"/>
              </a:rPr>
              <a:t>砸伤</a:t>
            </a:r>
            <a:r>
              <a:rPr lang="en-US" altLang="zh-CN" sz="1600" kern="0" dirty="0">
                <a:solidFill>
                  <a:prstClr val="black"/>
                </a:solidFill>
                <a:sym typeface="+mn-ea"/>
              </a:rPr>
              <a:t>-</a:t>
            </a:r>
            <a:r>
              <a:rPr lang="zh-CN" altLang="en-US" sz="1600" kern="0" dirty="0">
                <a:solidFill>
                  <a:prstClr val="black"/>
                </a:solidFill>
                <a:sym typeface="+mn-ea"/>
              </a:rPr>
              <a:t>划伤</a:t>
            </a:r>
            <a:r>
              <a:rPr lang="en-US" altLang="zh-CN" sz="1600" kern="0" dirty="0">
                <a:solidFill>
                  <a:prstClr val="black"/>
                </a:solidFill>
                <a:sym typeface="+mn-ea"/>
              </a:rPr>
              <a:t>-</a:t>
            </a:r>
            <a:r>
              <a:rPr lang="zh-CN" altLang="en-US" sz="1600" kern="0" dirty="0">
                <a:solidFill>
                  <a:prstClr val="black"/>
                </a:solidFill>
                <a:sym typeface="+mn-ea"/>
              </a:rPr>
              <a:t>割伤</a:t>
            </a:r>
            <a:r>
              <a:rPr lang="en-US" altLang="zh-CN" sz="1600" kern="0" dirty="0">
                <a:solidFill>
                  <a:prstClr val="black"/>
                </a:solidFill>
                <a:sym typeface="+mn-ea"/>
              </a:rPr>
              <a:t>-</a:t>
            </a:r>
            <a:r>
              <a:rPr lang="zh-CN" altLang="en-US" sz="1600" kern="0" dirty="0">
                <a:solidFill>
                  <a:prstClr val="black"/>
                </a:solidFill>
                <a:sym typeface="+mn-ea"/>
              </a:rPr>
              <a:t>滑倒摔伤应急处置程序、上下班或出差途中发生交通事故应急处置程序和发生资料被盗或泄密事件应急处置程序等 </a:t>
            </a:r>
            <a:endParaRPr lang="zh-CN" altLang="en-US" sz="1600" dirty="0">
              <a:cs typeface="微软雅黑" panose="020B0503020204020204" pitchFamily="34" charset="-122"/>
              <a:sym typeface="+mn-ea"/>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098" name="Text Box 6"/>
          <p:cNvSpPr txBox="1"/>
          <p:nvPr/>
        </p:nvSpPr>
        <p:spPr>
          <a:xfrm>
            <a:off x="1187133" y="788035"/>
            <a:ext cx="10226675" cy="5678805"/>
          </a:xfrm>
          <a:prstGeom prst="rect">
            <a:avLst/>
          </a:prstGeom>
          <a:noFill/>
          <a:ln w="9525">
            <a:noFill/>
          </a:ln>
          <a:effectLst>
            <a:prstShdw prst="shdw17" dist="17961" dir="13499999">
              <a:srgbClr val="708688"/>
            </a:prstShdw>
          </a:effectLst>
        </p:spPr>
        <p:txBody>
          <a:bodyPr tIns="254400" bIns="254400" anchor="ctr" anchorCtr="1">
            <a:spAutoFit/>
          </a:bodyPr>
          <a:lstStyle/>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一、项目概要</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二、阶段任务完成情况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三、取得的阶段成果及应用情况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四、经费管理及使用情况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五、项目组织管理</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六、存在问题、解决措施及建议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000000"/>
                </a:solidFill>
                <a:latin typeface="方正大黑简体" panose="02000000000000000000" pitchFamily="65" charset="-122"/>
                <a:ea typeface="方正大黑简体" panose="02000000000000000000" pitchFamily="65" charset="-122"/>
              </a:rPr>
              <a:t>七、下步工作安排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存在问题、解决措施及建议</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963" y="915408"/>
            <a:ext cx="11641883" cy="418191"/>
          </a:xfrm>
          <a:prstGeom prst="rect">
            <a:avLst/>
          </a:prstGeom>
          <a:noFill/>
        </p:spPr>
        <p:txBody>
          <a:bodyPr wrap="square">
            <a:spAutoFit/>
          </a:bodyPr>
          <a:lstStyle/>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目前所内技术指标评估粒度为整井，建议将指标评分细化到各井段</a:t>
            </a:r>
            <a:endParaRPr lang="zh-CN" altLang="en-US" sz="1600" dirty="0">
              <a:solidFill>
                <a:prstClr val="black"/>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098" name="Text Box 6"/>
          <p:cNvSpPr txBox="1"/>
          <p:nvPr/>
        </p:nvSpPr>
        <p:spPr>
          <a:xfrm>
            <a:off x="1187133" y="788035"/>
            <a:ext cx="10226675" cy="5678805"/>
          </a:xfrm>
          <a:prstGeom prst="rect">
            <a:avLst/>
          </a:prstGeom>
          <a:noFill/>
          <a:ln w="9525">
            <a:noFill/>
          </a:ln>
          <a:effectLst>
            <a:prstShdw prst="shdw17" dist="17961" dir="13499999">
              <a:srgbClr val="708688"/>
            </a:prstShdw>
          </a:effectLst>
        </p:spPr>
        <p:txBody>
          <a:bodyPr tIns="254400" bIns="254400" anchor="ctr" anchorCtr="1">
            <a:spAutoFit/>
          </a:bodyPr>
          <a:lstStyle/>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一、项目概要</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二、阶段任务完成情况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三、取得的阶段成果及应用情况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四、经费管理及使用情况</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五、项目组织管理</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chemeClr val="tx1"/>
                </a:solidFill>
                <a:latin typeface="方正大黑简体" panose="02000000000000000000" pitchFamily="65" charset="-122"/>
                <a:ea typeface="方正大黑简体" panose="02000000000000000000" pitchFamily="65" charset="-122"/>
              </a:rPr>
              <a:t>六、存在问题、解决措施及建议</a:t>
            </a:r>
            <a:endParaRPr lang="zh-CN" altLang="en-US" sz="3200" dirty="0">
              <a:solidFill>
                <a:srgbClr val="000000"/>
              </a:solidFill>
              <a:latin typeface="方正大黑简体" panose="02000000000000000000" pitchFamily="65" charset="-122"/>
              <a:ea typeface="方正大黑简体" panose="02000000000000000000" pitchFamily="65" charset="-122"/>
            </a:endParaRPr>
          </a:p>
          <a:p>
            <a:pPr>
              <a:lnSpc>
                <a:spcPct val="150000"/>
              </a:lnSpc>
              <a:buClr>
                <a:srgbClr val="FF0000"/>
              </a:buClr>
            </a:pPr>
            <a:r>
              <a:rPr lang="zh-CN" altLang="en-US" sz="3200" dirty="0">
                <a:solidFill>
                  <a:srgbClr val="FF0000"/>
                </a:solidFill>
                <a:latin typeface="方正大黑简体" panose="02000000000000000000" pitchFamily="65" charset="-122"/>
                <a:ea typeface="方正大黑简体" panose="02000000000000000000" pitchFamily="65" charset="-122"/>
              </a:rPr>
              <a:t>七、下步工作安排</a:t>
            </a:r>
            <a:r>
              <a:rPr lang="zh-CN" altLang="en-US" sz="3200" dirty="0">
                <a:solidFill>
                  <a:srgbClr val="000000"/>
                </a:solidFill>
                <a:latin typeface="方正大黑简体" panose="02000000000000000000" pitchFamily="65" charset="-122"/>
                <a:ea typeface="方正大黑简体" panose="02000000000000000000" pitchFamily="65" charset="-122"/>
              </a:rPr>
              <a:t> </a:t>
            </a:r>
            <a:endParaRPr lang="zh-CN" altLang="en-US" sz="3200" dirty="0">
              <a:solidFill>
                <a:srgbClr val="000000"/>
              </a:solidFill>
              <a:latin typeface="方正大黑简体" panose="02000000000000000000" pitchFamily="65" charset="-122"/>
              <a:ea typeface="方正大黑简体" panose="02000000000000000000" pitchFamily="65"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下步工作安排</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963" y="915408"/>
            <a:ext cx="11641883" cy="418191"/>
          </a:xfrm>
          <a:prstGeom prst="rect">
            <a:avLst/>
          </a:prstGeom>
          <a:noFill/>
        </p:spPr>
        <p:txBody>
          <a:bodyPr wrap="square">
            <a:spAutoFit/>
          </a:bodyPr>
          <a:lstStyle/>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推进论文指标的完成</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noChangeAspect="1"/>
          </p:cNvGrpSpPr>
          <p:nvPr/>
        </p:nvGrpSpPr>
        <p:grpSpPr>
          <a:xfrm>
            <a:off x="304540" y="1126192"/>
            <a:ext cx="11582920" cy="4423708"/>
            <a:chOff x="1487488" y="1786592"/>
            <a:chExt cx="9201151" cy="3514071"/>
          </a:xfrm>
        </p:grpSpPr>
        <p:sp>
          <p:nvSpPr>
            <p:cNvPr id="29" name="矩形 28"/>
            <p:cNvSpPr/>
            <p:nvPr/>
          </p:nvSpPr>
          <p:spPr>
            <a:xfrm>
              <a:off x="1524000" y="3284538"/>
              <a:ext cx="9144000" cy="1998662"/>
            </a:xfrm>
            <a:prstGeom prst="rect">
              <a:avLst/>
            </a:prstGeom>
            <a:gradFill flip="none" rotWithShape="1">
              <a:gsLst>
                <a:gs pos="0">
                  <a:srgbClr val="0070C0"/>
                </a:gs>
                <a:gs pos="100000">
                  <a:srgbClr val="002F8E"/>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charset="-122"/>
                <a:cs typeface="+mn-cs"/>
              </a:endParaRPr>
            </a:p>
          </p:txBody>
        </p:sp>
        <p:grpSp>
          <p:nvGrpSpPr>
            <p:cNvPr id="70659" name="组合 14"/>
            <p:cNvGrpSpPr/>
            <p:nvPr/>
          </p:nvGrpSpPr>
          <p:grpSpPr bwMode="auto">
            <a:xfrm>
              <a:off x="1487488" y="5256213"/>
              <a:ext cx="9201151" cy="44450"/>
              <a:chOff x="-36512" y="1081950"/>
              <a:chExt cx="9201237" cy="45719"/>
            </a:xfrm>
          </p:grpSpPr>
          <p:cxnSp>
            <p:nvCxnSpPr>
              <p:cNvPr id="33" name="直接连接符 32"/>
              <p:cNvCxnSpPr/>
              <p:nvPr/>
            </p:nvCxnSpPr>
            <p:spPr bwMode="auto">
              <a:xfrm>
                <a:off x="-36512" y="1124403"/>
                <a:ext cx="9180599" cy="0"/>
              </a:xfrm>
              <a:prstGeom prst="line">
                <a:avLst/>
              </a:prstGeom>
              <a:noFill/>
              <a:ln w="9525" cap="flat" cmpd="sng" algn="ctr">
                <a:solidFill>
                  <a:schemeClr val="bg1">
                    <a:lumMod val="50000"/>
                  </a:schemeClr>
                </a:solidFill>
                <a:prstDash val="solid"/>
                <a:miter lim="800000"/>
                <a:headEnd type="none" w="med" len="med"/>
                <a:tailEnd type="none" w="med" len="med"/>
              </a:ln>
              <a:effectLst/>
            </p:spPr>
          </p:cxnSp>
          <p:sp>
            <p:nvSpPr>
              <p:cNvPr id="34" name="矩形 33"/>
              <p:cNvSpPr/>
              <p:nvPr/>
            </p:nvSpPr>
            <p:spPr bwMode="auto">
              <a:xfrm>
                <a:off x="1" y="1081950"/>
                <a:ext cx="9164724" cy="45719"/>
              </a:xfrm>
              <a:prstGeom prst="rect">
                <a:avLst/>
              </a:prstGeom>
              <a:gradFill flip="none" rotWithShape="1">
                <a:gsLst>
                  <a:gs pos="0">
                    <a:schemeClr val="bg1">
                      <a:lumMod val="95000"/>
                    </a:schemeClr>
                  </a:gs>
                  <a:gs pos="55400">
                    <a:schemeClr val="bg1"/>
                  </a:gs>
                  <a:gs pos="100000">
                    <a:srgbClr val="FFFFCC">
                      <a:alpha val="0"/>
                    </a:srgbClr>
                  </a:gs>
                </a:gsLst>
                <a:lin ang="5400000" scaled="1"/>
                <a:tileRect/>
              </a:gradFill>
              <a:ln w="9525" cap="flat" cmpd="sng" algn="ctr">
                <a:noFill/>
                <a:prstDash val="solid"/>
                <a:round/>
                <a:headEnd type="none" w="med" len="med"/>
                <a:tailEnd type="none" w="med" len="med"/>
              </a:ln>
              <a:effectLst>
                <a:outerShdw blurRad="25400" dist="12700" dir="5400000" sx="101000" sy="101000" algn="t" rotWithShape="0">
                  <a:prstClr val="black">
                    <a:alpha val="40000"/>
                  </a:prstClr>
                </a:outer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Arial" panose="020B0604020202020204"/>
                  <a:ea typeface="黑体" panose="02010609060101010101" charset="-122"/>
                  <a:cs typeface="+mn-cs"/>
                </a:endParaRPr>
              </a:p>
            </p:txBody>
          </p:sp>
        </p:grpSp>
        <p:pic>
          <p:nvPicPr>
            <p:cNvPr id="22" name="Picture 2" descr="d:\My Documents\焦页12#平台.jpg"/>
            <p:cNvPicPr>
              <a:picLocks noChangeArrowheads="1"/>
            </p:cNvPicPr>
            <p:nvPr/>
          </p:nvPicPr>
          <p:blipFill>
            <a:blip r:embed="rId1" cstate="print"/>
            <a:srcRect t="6314" r="21319" b="8766"/>
            <a:stretch>
              <a:fillRect/>
            </a:stretch>
          </p:blipFill>
          <p:spPr bwMode="auto">
            <a:xfrm>
              <a:off x="6355370"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3" name="Picture 6" descr="D:\20150506总经办汇报材料\2014年美照\2014年美照\威201井.jpg"/>
            <p:cNvPicPr>
              <a:picLocks noChangeAspect="1" noChangeArrowheads="1"/>
            </p:cNvPicPr>
            <p:nvPr/>
          </p:nvPicPr>
          <p:blipFill>
            <a:blip r:embed="rId2" cstate="print"/>
            <a:srcRect/>
            <a:stretch>
              <a:fillRect/>
            </a:stretch>
          </p:blipFill>
          <p:spPr bwMode="auto">
            <a:xfrm>
              <a:off x="4828516" y="4166252"/>
              <a:ext cx="1008357"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4" name="Picture 2" descr="D:\20150506总经办汇报材料\2014年美照\2014年美照\40亿方净化厂一期投产.bmp"/>
            <p:cNvPicPr>
              <a:picLocks noChangeArrowheads="1"/>
            </p:cNvPicPr>
            <p:nvPr/>
          </p:nvPicPr>
          <p:blipFill>
            <a:blip r:embed="rId3" cstate="print"/>
            <a:srcRect/>
            <a:stretch>
              <a:fillRect/>
            </a:stretch>
          </p:blipFill>
          <p:spPr bwMode="auto">
            <a:xfrm>
              <a:off x="7881868"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5" name="Picture 3" descr="D:\20150506总经办汇报材料\2014年美照\2014年美照\2014.6.29 阿姆河项目B区处理厂全厂投运成功.bmp"/>
            <p:cNvPicPr>
              <a:picLocks noChangeArrowheads="1"/>
            </p:cNvPicPr>
            <p:nvPr/>
          </p:nvPicPr>
          <p:blipFill>
            <a:blip r:embed="rId4" cstate="print"/>
            <a:srcRect/>
            <a:stretch>
              <a:fillRect/>
            </a:stretch>
          </p:blipFill>
          <p:spPr bwMode="auto">
            <a:xfrm>
              <a:off x="1775519"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6" name="Picture 4" descr="D:\20150506总经办汇报材料\2014年美照\2014年美照\2014.6.30 中国石油阿姆河第二天然气处理厂成功投运.jpg"/>
            <p:cNvPicPr>
              <a:picLocks noChangeArrowheads="1"/>
            </p:cNvPicPr>
            <p:nvPr/>
          </p:nvPicPr>
          <p:blipFill>
            <a:blip r:embed="rId5" cstate="print"/>
            <a:srcRect/>
            <a:stretch>
              <a:fillRect/>
            </a:stretch>
          </p:blipFill>
          <p:spPr bwMode="auto">
            <a:xfrm>
              <a:off x="9408368"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5" name="Picture 7" descr="E:\2.临时任务\2012年\规划处-中石油川渝石油石化规划\PPT\fuza.jpg"/>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02017"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0666" name="Freeform 1" descr="밝은 수평선"/>
            <p:cNvSpPr/>
            <p:nvPr/>
          </p:nvSpPr>
          <p:spPr bwMode="auto">
            <a:xfrm flipV="1">
              <a:off x="1497012" y="3068638"/>
              <a:ext cx="9170988" cy="715962"/>
            </a:xfrm>
            <a:custGeom>
              <a:avLst/>
              <a:gdLst>
                <a:gd name="T0" fmla="*/ 0 w 5778"/>
                <a:gd name="T1" fmla="*/ 2147483647 h 816"/>
                <a:gd name="T2" fmla="*/ 2147483647 w 5778"/>
                <a:gd name="T3" fmla="*/ 2147483647 h 816"/>
                <a:gd name="T4" fmla="*/ 2147483647 w 5778"/>
                <a:gd name="T5" fmla="*/ 2147483647 h 816"/>
                <a:gd name="T6" fmla="*/ 2147483647 w 5778"/>
                <a:gd name="T7" fmla="*/ 2147483647 h 816"/>
                <a:gd name="T8" fmla="*/ 2147483647 w 5778"/>
                <a:gd name="T9" fmla="*/ 2147483647 h 816"/>
                <a:gd name="T10" fmla="*/ 2147483647 w 5778"/>
                <a:gd name="T11" fmla="*/ 2147483647 h 816"/>
                <a:gd name="T12" fmla="*/ 2147483647 w 5778"/>
                <a:gd name="T13" fmla="*/ 0 h 816"/>
                <a:gd name="T14" fmla="*/ 2147483647 w 5778"/>
                <a:gd name="T15" fmla="*/ 0 h 816"/>
                <a:gd name="T16" fmla="*/ 0 w 5778"/>
                <a:gd name="T17" fmla="*/ 2147483647 h 8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78"/>
                <a:gd name="T28" fmla="*/ 0 h 816"/>
                <a:gd name="T29" fmla="*/ 5778 w 5778"/>
                <a:gd name="T30" fmla="*/ 816 h 8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78" h="816">
                  <a:moveTo>
                    <a:pt x="0" y="666"/>
                  </a:moveTo>
                  <a:lnTo>
                    <a:pt x="1632" y="666"/>
                  </a:lnTo>
                  <a:lnTo>
                    <a:pt x="1632" y="816"/>
                  </a:lnTo>
                  <a:lnTo>
                    <a:pt x="5202" y="816"/>
                  </a:lnTo>
                  <a:lnTo>
                    <a:pt x="5202" y="594"/>
                  </a:lnTo>
                  <a:lnTo>
                    <a:pt x="5778" y="594"/>
                  </a:lnTo>
                  <a:lnTo>
                    <a:pt x="5778" y="0"/>
                  </a:lnTo>
                  <a:lnTo>
                    <a:pt x="6" y="0"/>
                  </a:lnTo>
                  <a:lnTo>
                    <a:pt x="0" y="666"/>
                  </a:lnTo>
                  <a:close/>
                </a:path>
              </a:pathLst>
            </a:custGeom>
            <a:pattFill prst="ltHorz">
              <a:fgClr>
                <a:schemeClr val="tx1">
                  <a:alpha val="34901"/>
                </a:schemeClr>
              </a:fgClr>
              <a:bgClr>
                <a:schemeClr val="bg1">
                  <a:alpha val="34901"/>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方正楷体简体" panose="02000000000000000000" pitchFamily="2" charset="-122"/>
                <a:ea typeface="宋体" panose="02010600030101010101" pitchFamily="2" charset="-122"/>
                <a:cs typeface="+mn-cs"/>
              </a:endParaRPr>
            </a:p>
          </p:txBody>
        </p:sp>
        <p:pic>
          <p:nvPicPr>
            <p:cNvPr id="31" name="Picture 17" descr="logo"/>
            <p:cNvPicPr>
              <a:picLocks noChangeAspect="1" noChangeArrowheads="1"/>
            </p:cNvPicPr>
            <p:nvPr/>
          </p:nvPicPr>
          <p:blipFill>
            <a:blip r:embed="rId7"/>
            <a:srcRect/>
            <a:stretch>
              <a:fillRect/>
            </a:stretch>
          </p:blipFill>
          <p:spPr bwMode="auto">
            <a:xfrm>
              <a:off x="3071814" y="2225676"/>
              <a:ext cx="1806575" cy="1058863"/>
            </a:xfrm>
            <a:prstGeom prst="rect">
              <a:avLst/>
            </a:prstGeom>
            <a:noFill/>
            <a:ln>
              <a:noFill/>
            </a:ln>
            <a:effectLst>
              <a:outerShdw blurRad="50800" dist="38100" dir="2700000" algn="tl" rotWithShape="0">
                <a:prstClr val="black">
                  <a:alpha val="40000"/>
                </a:prstClr>
              </a:outerShdw>
            </a:effectLst>
          </p:spPr>
        </p:pic>
        <p:pic>
          <p:nvPicPr>
            <p:cNvPr id="70668" name="Picture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7064" y="1786592"/>
              <a:ext cx="4032250" cy="159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mc:Choice xmlns:p14="http://schemas.microsoft.com/office/powerpoint/2010/main" Requires="p14">
      <p:transition spd="slow" p14:dur="2000" advTm="2342"/>
    </mc:Choice>
    <mc:Fallback>
      <p:transition spd="slow" advTm="2342"/>
    </mc:Fallback>
  </mc:AlternateContent>
</p:sld>
</file>

<file path=ppt/tags/tag1.xml><?xml version="1.0" encoding="utf-8"?>
<p:tagLst xmlns:p="http://schemas.openxmlformats.org/presentationml/2006/main">
  <p:tag name="TABLE_ENDDRAG_ORIGIN_RECT" val="901*351"/>
  <p:tag name="TABLE_ENDDRAG_RECT" val="27*166*901*351"/>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TABLE_ENDDRAG_ORIGIN_RECT" val="903*277"/>
  <p:tag name="TABLE_ENDDRAG_RECT" val="26*201*903*277"/>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DIAGRAM_VIRTUALLY_FRAME" val="{&quot;height&quot;:338.8518897637796,&quot;left&quot;:42.78700787401574,&quot;top&quot;:159.95456692913385,&quot;width&quot;:874.5924409448819}"/>
</p:tagLst>
</file>

<file path=ppt/tags/tag23.xml><?xml version="1.0" encoding="utf-8"?>
<p:tagLst xmlns:p="http://schemas.openxmlformats.org/presentationml/2006/main">
  <p:tag name="KSO_WM_DIAGRAM_VIRTUALLY_FRAME" val="{&quot;height&quot;:338.8518897637796,&quot;left&quot;:42.78700787401574,&quot;top&quot;:159.95456692913385,&quot;width&quot;:874.5924409448819}"/>
</p:tagLst>
</file>

<file path=ppt/tags/tag24.xml><?xml version="1.0" encoding="utf-8"?>
<p:tagLst xmlns:p="http://schemas.openxmlformats.org/presentationml/2006/main">
  <p:tag name="KSO_WM_DIAGRAM_VIRTUALLY_FRAME" val="{&quot;height&quot;:338.8518897637796,&quot;left&quot;:42.78700787401574,&quot;top&quot;:159.95456692913385,&quot;width&quot;:874.5924409448819}"/>
</p:tagLst>
</file>

<file path=ppt/tags/tag25.xml><?xml version="1.0" encoding="utf-8"?>
<p:tagLst xmlns:p="http://schemas.openxmlformats.org/presentationml/2006/main">
  <p:tag name="KSO_WM_DIAGRAM_VIRTUALLY_FRAME" val="{&quot;height&quot;:277.1809448818898,&quot;left&quot;:44.4,&quot;top&quot;:221.6255118110236,&quot;width&quot;:864.455905511811}"/>
</p:tagLst>
</file>

<file path=ppt/tags/tag26.xml><?xml version="1.0" encoding="utf-8"?>
<p:tagLst xmlns:p="http://schemas.openxmlformats.org/presentationml/2006/main">
  <p:tag name="KSO_WM_DIAGRAM_VIRTUALLY_FRAME" val="{&quot;height&quot;:277.1809448818898,&quot;left&quot;:44.4,&quot;top&quot;:221.6255118110236,&quot;width&quot;:864.455905511811}"/>
</p:tagLst>
</file>

<file path=ppt/tags/tag27.xml><?xml version="1.0" encoding="utf-8"?>
<p:tagLst xmlns:p="http://schemas.openxmlformats.org/presentationml/2006/main">
  <p:tag name="KSO_WM_DIAGRAM_VIRTUALLY_FRAME" val="{&quot;height&quot;:277.1809448818898,&quot;left&quot;:44.4,&quot;top&quot;:221.6255118110236,&quot;width&quot;:864.455905511811}"/>
</p:tagLst>
</file>

<file path=ppt/tags/tag28.xml><?xml version="1.0" encoding="utf-8"?>
<p:tagLst xmlns:p="http://schemas.openxmlformats.org/presentationml/2006/main">
  <p:tag name="KSO_WM_DIAGRAM_VIRTUALLY_FRAME" val="{&quot;height&quot;:277.1809448818898,&quot;left&quot;:44.4,&quot;top&quot;:221.6255118110236,&quot;width&quot;:864.455905511811}"/>
</p:tagLst>
</file>

<file path=ppt/tags/tag29.xml><?xml version="1.0" encoding="utf-8"?>
<p:tagLst xmlns:p="http://schemas.openxmlformats.org/presentationml/2006/main">
  <p:tag name="KSO_WM_DIAGRAM_VIRTUALLY_FRAME" val="{&quot;height&quot;:277.1809448818898,&quot;left&quot;:44.4,&quot;top&quot;:221.6255118110236,&quot;width&quot;:864.455905511811}"/>
</p:tagLst>
</file>

<file path=ppt/tags/tag30.xml><?xml version="1.0" encoding="utf-8"?>
<p:tagLst xmlns:p="http://schemas.openxmlformats.org/presentationml/2006/main">
  <p:tag name="KSO_WM_DIAGRAM_VIRTUALLY_FRAME" val="{&quot;height&quot;:277.1809448818898,&quot;left&quot;:44.4,&quot;top&quot;:221.6255118110236,&quot;width&quot;:864.455905511811}"/>
</p:tagLst>
</file>

<file path=ppt/tags/tag31.xml><?xml version="1.0" encoding="utf-8"?>
<p:tagLst xmlns:p="http://schemas.openxmlformats.org/presentationml/2006/main">
  <p:tag name="KSO_WM_DIAGRAM_VIRTUALLY_FRAME" val="{&quot;height&quot;:277.1809448818898,&quot;left&quot;:44.4,&quot;top&quot;:221.6255118110236,&quot;width&quot;:864.455905511811}"/>
</p:tagLst>
</file>

<file path=ppt/tags/tag32.xml><?xml version="1.0" encoding="utf-8"?>
<p:tagLst xmlns:p="http://schemas.openxmlformats.org/presentationml/2006/main">
  <p:tag name="KSO_WM_DIAGRAM_VIRTUALLY_FRAME" val="{&quot;height&quot;:277.1809448818898,&quot;left&quot;:44.4,&quot;top&quot;:221.6255118110236,&quot;width&quot;:864.455905511811}"/>
</p:tagLst>
</file>

<file path=ppt/tags/tag33.xml><?xml version="1.0" encoding="utf-8"?>
<p:tagLst xmlns:p="http://schemas.openxmlformats.org/presentationml/2006/main">
  <p:tag name="KSO_WM_DIAGRAM_VIRTUALLY_FRAME" val="{&quot;height&quot;:277.1809448818898,&quot;left&quot;:44.4,&quot;top&quot;:221.6255118110236,&quot;width&quot;:864.455905511811}"/>
</p:tagLst>
</file>

<file path=ppt/tags/tag34.xml><?xml version="1.0" encoding="utf-8"?>
<p:tagLst xmlns:p="http://schemas.openxmlformats.org/presentationml/2006/main">
  <p:tag name="KSO_WM_DIAGRAM_VIRTUALLY_FRAME" val="{&quot;height&quot;:277.1809448818898,&quot;left&quot;:44.4,&quot;top&quot;:221.6255118110236,&quot;width&quot;:864.455905511811}"/>
</p:tagLst>
</file>

<file path=ppt/tags/tag35.xml><?xml version="1.0" encoding="utf-8"?>
<p:tagLst xmlns:p="http://schemas.openxmlformats.org/presentationml/2006/main">
  <p:tag name="KSO_WM_DIAGRAM_VIRTUALLY_FRAME" val="{&quot;height&quot;:277.1809448818898,&quot;left&quot;:44.4,&quot;top&quot;:221.6255118110236,&quot;width&quot;:864.455905511811}"/>
</p:tagLst>
</file>

<file path=ppt/tags/tag36.xml><?xml version="1.0" encoding="utf-8"?>
<p:tagLst xmlns:p="http://schemas.openxmlformats.org/presentationml/2006/main">
  <p:tag name="KSO_WM_DIAGRAM_VIRTUALLY_FRAME" val="{&quot;height&quot;:277.1809448818898,&quot;left&quot;:44.4,&quot;top&quot;:221.6255118110236,&quot;width&quot;:864.455905511811}"/>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DIAGRAM_VIRTUALLY_FRAME" val="{&quot;height&quot;:277.1809448818898,&quot;left&quot;:44.4,&quot;top&quot;:221.6255118110236,&quot;width&quot;:864.455905511811}"/>
</p:tagLst>
</file>

<file path=ppt/tags/tag42.xml><?xml version="1.0" encoding="utf-8"?>
<p:tagLst xmlns:p="http://schemas.openxmlformats.org/presentationml/2006/main">
  <p:tag name="KSO_WM_DIAGRAM_VIRTUALLY_FRAME" val="{&quot;height&quot;:277.1809448818898,&quot;left&quot;:44.4,&quot;top&quot;:221.6255118110236,&quot;width&quot;:864.455905511811}"/>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TABLE_ENDDRAG_ORIGIN_RECT" val="904*119"/>
  <p:tag name="TABLE_ENDDRAG_RECT" val="26*172*904*119"/>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TABLE_ENDDRAG_ORIGIN_RECT" val="904*306"/>
  <p:tag name="TABLE_ENDDRAG_RECT" val="26*172*904*306"/>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TABLE_ENDDRAG_ORIGIN_RECT" val="904*306"/>
  <p:tag name="TABLE_ENDDRAG_RECT" val="26*172*904*306"/>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TABLE_ENDDRAG_ORIGIN_RECT" val="904*306"/>
  <p:tag name="TABLE_ENDDRAG_RECT" val="26*172*904*306"/>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TABLE_ENDDRAG_ORIGIN_RECT" val="904*306"/>
  <p:tag name="TABLE_ENDDRAG_RECT" val="26*172*904*306"/>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TABLE_ENDDRAG_ORIGIN_RECT" val="904*305"/>
  <p:tag name="TABLE_ENDDRAG_RECT" val="26*172*904*305"/>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TABLE_ENDDRAG_ORIGIN_RECT" val="904*305"/>
  <p:tag name="TABLE_ENDDRAG_RECT" val="26*172*904*305"/>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TABLE_ENDDRAG_ORIGIN_RECT" val="904*303"/>
  <p:tag name="TABLE_ENDDRAG_RECT" val="26*172*904*303"/>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DIAGRAM_VIRTUALLY_FRAME" val="{&quot;height&quot;:277.1809448818898,&quot;left&quot;:44.4,&quot;top&quot;:221.6255118110236,&quot;width&quot;:864.455905511811}"/>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TABLE_ENDDRAG_ORIGIN_RECT" val="341*234"/>
  <p:tag name="TABLE_ENDDRAG_RECT" val="47*243*341*234"/>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TABLE_ENDDRAG_ORIGIN_RECT" val="345*245"/>
  <p:tag name="TABLE_ENDDRAG_RECT" val="26*233*345*245"/>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TABLE_ENDDRAG_ORIGIN_RECT" val="895*331"/>
  <p:tag name="TABLE_ENDDRAG_RECT" val="32*140*895*331"/>
</p:tagLst>
</file>

<file path=ppt/tags/tag84.xml><?xml version="1.0" encoding="utf-8"?>
<p:tagLst xmlns:p="http://schemas.openxmlformats.org/presentationml/2006/main">
  <p:tag name="TABLE_ENDDRAG_ORIGIN_RECT" val="905*327"/>
  <p:tag name="TABLE_ENDDRAG_RECT" val="25*141*905*327"/>
</p:tagLst>
</file>

<file path=ppt/tags/tag85.xml><?xml version="1.0" encoding="utf-8"?>
<p:tagLst xmlns:p="http://schemas.openxmlformats.org/presentationml/2006/main">
  <p:tag name="KSO_WM_DIAGRAM_VIRTUALLY_FRAME" val="{&quot;height&quot;:277.1809448818898,&quot;left&quot;:44.4,&quot;top&quot;:221.6255118110236,&quot;width&quot;:864.455905511811}"/>
</p:tagLst>
</file>

<file path=ppt/tags/tag86.xml><?xml version="1.0" encoding="utf-8"?>
<p:tagLst xmlns:p="http://schemas.openxmlformats.org/presentationml/2006/main">
  <p:tag name="KSO_WM_DIAGRAM_VIRTUALLY_FRAME" val="{&quot;height&quot;:277.1809448818898,&quot;left&quot;:44.4,&quot;top&quot;:221.6255118110236,&quot;width&quot;:864.455905511811}"/>
</p:tagLst>
</file>

<file path=ppt/tags/tag87.xml><?xml version="1.0" encoding="utf-8"?>
<p:tagLst xmlns:p="http://schemas.openxmlformats.org/presentationml/2006/main">
  <p:tag name="RESOURCE_RECORD_KEY" val="{&quot;29&quot;:[50053052]}"/>
</p:tagLst>
</file>

<file path=ppt/theme/theme1.xml><?xml version="1.0" encoding="utf-8"?>
<a:theme xmlns:a="http://schemas.openxmlformats.org/drawingml/2006/main" name="6_Blends">
  <a:themeElements>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5_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00000"/>
        </a:solidFill>
      </a:spPr>
      <a:bodyPr rot="0" spcFirstLastPara="0" vertOverflow="overflow" horzOverflow="overflow" vert="horz" wrap="square" lIns="91440" tIns="45720" rIns="91440" bIns="45720" numCol="1" spcCol="0" rtlCol="0" fromWordArt="0" anchor="ctr" anchorCtr="0" forceAA="0" compatLnSpc="1">
        <a:noAutofit/>
      </a:bodyPr>
      <a:lstStyle>
        <a:defPPr algn="ctr">
          <a:lnSpc>
            <a:spcPct val="180000"/>
          </a:lnSpc>
          <a:spcBef>
            <a:spcPct val="20000"/>
          </a:spcBef>
          <a:buClr>
            <a:srgbClr val="FF0000"/>
          </a:buClr>
          <a:buSzPct val="100000"/>
          <a:defRPr dirty="0" smtClean="0">
            <a:solidFill>
              <a:schemeClr val="bg1"/>
            </a:solidFill>
            <a:latin typeface="Tahoma" panose="020B0604030504040204"/>
            <a:ea typeface="方正大黑简体" panose="02000000000000000000" pitchFamily="65"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黑体" panose="02010609060101010101" charset="-122"/>
          </a:defRPr>
        </a:defPPr>
      </a:lstStyle>
    </a:lnDef>
    <a:txDef>
      <a:spPr bwMode="auto">
        <a:noFill/>
        <a:ln>
          <a:noFill/>
        </a:ln>
      </a:spPr>
      <a:bodyPr/>
      <a:lstStyle>
        <a:defPPr marL="0" indent="0">
          <a:lnSpc>
            <a:spcPct val="150000"/>
          </a:lnSpc>
          <a:buClr>
            <a:srgbClr val="FF0000"/>
          </a:buClr>
          <a:defRPr sz="3200" dirty="0">
            <a:solidFill>
              <a:srgbClr val="0000FF"/>
            </a:solidFill>
            <a:latin typeface="方正大黑简体" panose="02000000000000000000" pitchFamily="65" charset="-122"/>
            <a:ea typeface="方正大黑简体" panose="02000000000000000000" pitchFamily="65" charset="-122"/>
          </a:defRPr>
        </a:defPPr>
      </a:lstStyle>
    </a:txDef>
  </a:objectDefaults>
  <a:extraClrSchemeLst>
    <a:extraClrScheme>
      <a:clrScheme name="5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5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5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5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5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26161</Words>
  <Application>WPS 演示</Application>
  <PresentationFormat>宽屏</PresentationFormat>
  <Paragraphs>4027</Paragraphs>
  <Slides>72</Slides>
  <Notes>59</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72</vt:i4>
      </vt:variant>
    </vt:vector>
  </HeadingPairs>
  <TitlesOfParts>
    <vt:vector size="92" baseType="lpstr">
      <vt:lpstr>Arial</vt:lpstr>
      <vt:lpstr>宋体</vt:lpstr>
      <vt:lpstr>Wingdings</vt:lpstr>
      <vt:lpstr>Tahoma</vt:lpstr>
      <vt:lpstr>方正大黑简体</vt:lpstr>
      <vt:lpstr>黑体</vt:lpstr>
      <vt:lpstr>Arial</vt:lpstr>
      <vt:lpstr>Tahoma</vt:lpstr>
      <vt:lpstr>等线</vt:lpstr>
      <vt:lpstr>楷体</vt:lpstr>
      <vt:lpstr>微软雅黑</vt:lpstr>
      <vt:lpstr>Times New Roman</vt:lpstr>
      <vt:lpstr>方正粗宋简体</vt:lpstr>
      <vt:lpstr>Arial Unicode MS</vt:lpstr>
      <vt:lpstr>Wingdings</vt:lpstr>
      <vt:lpstr>Cambria Math</vt:lpstr>
      <vt:lpstr>Times New Roman</vt:lpstr>
      <vt:lpstr>方正楷体简体</vt:lpstr>
      <vt:lpstr>Calibri</vt:lpstr>
      <vt:lpstr>6_Blends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黄 浩勇</dc:creator>
  <cp:lastModifiedBy>Tan Wenlu</cp:lastModifiedBy>
  <cp:revision>3752</cp:revision>
  <dcterms:created xsi:type="dcterms:W3CDTF">2021-06-29T01:23:00Z</dcterms:created>
  <dcterms:modified xsi:type="dcterms:W3CDTF">2026-04-29T05:39:05Z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1417FBEC099442DABB9C26914E9A72FA_13</vt:lpwstr>
  </property>
</Properties>
</file>