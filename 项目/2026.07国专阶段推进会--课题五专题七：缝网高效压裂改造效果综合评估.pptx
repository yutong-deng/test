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2"/>
  </p:handoutMasterIdLst>
  <p:sldIdLst>
    <p:sldId id="298" r:id="rId3"/>
    <p:sldId id="299" r:id="rId5"/>
    <p:sldId id="350" r:id="rId6"/>
    <p:sldId id="300" r:id="rId7"/>
    <p:sldId id="302" r:id="rId8"/>
    <p:sldId id="281" r:id="rId9"/>
    <p:sldId id="327" r:id="rId10"/>
    <p:sldId id="328" r:id="rId11"/>
    <p:sldId id="329" r:id="rId12"/>
    <p:sldId id="314" r:id="rId13"/>
    <p:sldId id="346" r:id="rId14"/>
    <p:sldId id="307" r:id="rId15"/>
    <p:sldId id="345" r:id="rId16"/>
    <p:sldId id="267" r:id="rId17"/>
    <p:sldId id="330" r:id="rId18"/>
    <p:sldId id="331" r:id="rId19"/>
    <p:sldId id="332" r:id="rId20"/>
    <p:sldId id="333" r:id="rId21"/>
    <p:sldId id="334" r:id="rId22"/>
    <p:sldId id="293" r:id="rId23"/>
    <p:sldId id="309" r:id="rId24"/>
    <p:sldId id="315" r:id="rId25"/>
    <p:sldId id="349" r:id="rId26"/>
    <p:sldId id="311" r:id="rId27"/>
    <p:sldId id="316" r:id="rId28"/>
    <p:sldId id="326" r:id="rId29"/>
    <p:sldId id="274" r:id="rId30"/>
    <p:sldId id="317" r:id="rId31"/>
    <p:sldId id="352" r:id="rId32"/>
    <p:sldId id="353" r:id="rId33"/>
    <p:sldId id="354" r:id="rId34"/>
    <p:sldId id="355" r:id="rId35"/>
    <p:sldId id="356" r:id="rId36"/>
    <p:sldId id="357" r:id="rId37"/>
    <p:sldId id="358" r:id="rId38"/>
    <p:sldId id="359" r:id="rId39"/>
    <p:sldId id="360" r:id="rId40"/>
    <p:sldId id="313" r:id="rId41"/>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3911" userDrawn="1">
          <p15:clr>
            <a:srgbClr val="A4A3A4"/>
          </p15:clr>
        </p15:guide>
        <p15:guide id="3" orient="horz" pos="3929" userDrawn="1">
          <p15:clr>
            <a:srgbClr val="A4A3A4"/>
          </p15:clr>
        </p15:guide>
        <p15:guide id="4" orient="horz" pos="14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2F5597"/>
    <a:srgbClr val="FB553F"/>
    <a:srgbClr val="FB290D"/>
    <a:srgbClr val="F77366"/>
    <a:srgbClr val="FFF0E8"/>
    <a:srgbClr val="E9F0FE"/>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962" autoAdjust="0"/>
    <p:restoredTop sz="94660"/>
  </p:normalViewPr>
  <p:slideViewPr>
    <p:cSldViewPr snapToGrid="0" showGuides="1">
      <p:cViewPr>
        <p:scale>
          <a:sx n="100" d="100"/>
          <a:sy n="100" d="100"/>
        </p:scale>
        <p:origin x="282" y="336"/>
      </p:cViewPr>
      <p:guideLst>
        <p:guide orient="horz" pos="2174"/>
        <p:guide pos="3911"/>
        <p:guide orient="horz" pos="3929"/>
        <p:guide orient="horz" pos="1494"/>
      </p:guideLst>
    </p:cSldViewPr>
  </p:slideViewPr>
  <p:notesTextViewPr>
    <p:cViewPr>
      <p:scale>
        <a:sx n="1" d="1"/>
        <a:sy n="1" d="1"/>
      </p:scale>
      <p:origin x="0" y="0"/>
    </p:cViewPr>
  </p:notesTextViewPr>
  <p:notesViewPr>
    <p:cSldViewPr snapToGrid="0">
      <p:cViewPr varScale="1">
        <p:scale>
          <a:sx n="90" d="100"/>
          <a:sy n="90" d="100"/>
        </p:scale>
        <p:origin x="3774" y="3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67.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F92CC7-E2D5-4AB1-A402-BA06FE2A535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46534E-E043-4842-B7FA-FFCE2E6CAA1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0663" y="811213"/>
            <a:ext cx="7189788" cy="4043362"/>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5670" rtl="0" eaLnBrk="1" fontAlgn="base" latinLnBrk="0" hangingPunct="1">
              <a:lnSpc>
                <a:spcPct val="100000"/>
              </a:lnSpc>
              <a:spcBef>
                <a:spcPct val="0"/>
              </a:spcBef>
              <a:spcAft>
                <a:spcPct val="0"/>
              </a:spcAft>
              <a:buClrTx/>
              <a:buSzTx/>
              <a:buFontTx/>
              <a:buNone/>
              <a:defRPr/>
            </a:pPr>
            <a:fld id="{E532FB62-3887-4B6A-A9D6-A82AB02DA558}" type="slidenum">
              <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cxnSp>
        <p:nvCxnSpPr>
          <p:cNvPr id="7" name="直接连接符 6"/>
          <p:cNvCxnSpPr/>
          <p:nvPr userDrawn="1"/>
        </p:nvCxnSpPr>
        <p:spPr>
          <a:xfrm>
            <a:off x="0" y="908681"/>
            <a:ext cx="12192000" cy="0"/>
          </a:xfrm>
          <a:prstGeom prst="line">
            <a:avLst/>
          </a:prstGeom>
          <a:ln w="57150" cmpd="thinThick">
            <a:solidFill>
              <a:srgbClr val="DE0000"/>
            </a:solidFill>
          </a:ln>
        </p:spPr>
        <p:style>
          <a:lnRef idx="1">
            <a:schemeClr val="accent1"/>
          </a:lnRef>
          <a:fillRef idx="0">
            <a:schemeClr val="accent1"/>
          </a:fillRef>
          <a:effectRef idx="0">
            <a:schemeClr val="accent1"/>
          </a:effectRef>
          <a:fontRef idx="minor">
            <a:schemeClr val="tx1"/>
          </a:fontRef>
        </p:style>
      </p:cxnSp>
      <p:sp>
        <p:nvSpPr>
          <p:cNvPr id="4" name="页脚占位符 14"/>
          <p:cNvSpPr txBox="1"/>
          <p:nvPr userDrawn="1"/>
        </p:nvSpPr>
        <p:spPr>
          <a:xfrm>
            <a:off x="0" y="6552723"/>
            <a:ext cx="12192000" cy="315912"/>
          </a:xfrm>
          <a:prstGeom prst="rect">
            <a:avLst/>
          </a:prstGeom>
        </p:spPr>
        <p:txBody>
          <a:bodyPr lIns="121860" tIns="60929" rIns="121860" bIns="6092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a:t>
            </a:r>
            <a:fld id="{59289A8C-BE81-4798-AA0F-338892BB7184}" type="slidenum">
              <a:rPr kumimoji="1" lang="zh-CN" altLang="en-US"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fld>
            <a:r>
              <a:rPr kumimoji="0" lang="zh-CN" altLang="en-US"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页</a:t>
            </a:r>
            <a:r>
              <a:rPr kumimoji="0" lang="en-US" altLang="zh-CN"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共</a:t>
            </a:r>
            <a:r>
              <a:rPr kumimoji="0" lang="en-US" altLang="zh-CN"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38</a:t>
            </a:r>
            <a:r>
              <a:rPr kumimoji="0" lang="zh-CN" altLang="en-US" sz="1200" b="0" i="0" u="none" strike="noStrike" kern="1200" cap="none" spc="0" normalizeH="0" baseline="0" noProof="0" dirty="0" smtClean="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页</a:t>
            </a:r>
            <a:endParaRPr kumimoji="0" lang="zh-CN" altLang="en-US" sz="1200" b="0" i="0" u="none" strike="noStrike" kern="1200" cap="none" spc="0" normalizeH="0" baseline="0" noProof="0" dirty="0">
              <a:ln>
                <a:noFill/>
              </a:ln>
              <a:solidFill>
                <a:srgbClr val="898989"/>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Tree>
  </p:cSld>
  <p:clrMapOvr>
    <a:masterClrMapping/>
  </p:clrMapOvr>
  <p:hf sldNum="0" hdr="0" ftr="0" dt="0"/>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7AE96623-8852-4F61-9709-A940EF5A64B2}"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4" Type="http://schemas.openxmlformats.org/officeDocument/2006/relationships/slideLayout" Target="../slideLayouts/slideLayout2.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1.png"/><Relationship Id="rId7" Type="http://schemas.openxmlformats.org/officeDocument/2006/relationships/tags" Target="../tags/tag28.xml"/><Relationship Id="rId6" Type="http://schemas.openxmlformats.org/officeDocument/2006/relationships/image" Target="../media/image30.png"/><Relationship Id="rId5" Type="http://schemas.openxmlformats.org/officeDocument/2006/relationships/tags" Target="../tags/tag2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tags" Target="../tags/tag26.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jpeg"/><Relationship Id="rId1"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4" Type="http://schemas.openxmlformats.org/officeDocument/2006/relationships/slideLayout" Target="../slideLayouts/slideLayout2.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image" Target="../media/image47.png"/><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 Id="rId3" Type="http://schemas.openxmlformats.org/officeDocument/2006/relationships/image" Target="../media/image43.png"/><Relationship Id="rId2" Type="http://schemas.openxmlformats.org/officeDocument/2006/relationships/image" Target="../media/image42.png"/><Relationship Id="rId10" Type="http://schemas.openxmlformats.org/officeDocument/2006/relationships/slideLayout" Target="../slideLayouts/slideLayout2.xml"/><Relationship Id="rId1"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tags" Target="../tags/tag47.xml"/></Relationships>
</file>

<file path=ppt/slides/_rels/slide31.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50.png"/><Relationship Id="rId2" Type="http://schemas.openxmlformats.org/officeDocument/2006/relationships/image" Target="../media/image49.png"/><Relationship Id="rId13" Type="http://schemas.openxmlformats.org/officeDocument/2006/relationships/slideLayout" Target="../slideLayouts/slideLayout2.xml"/><Relationship Id="rId12" Type="http://schemas.openxmlformats.org/officeDocument/2006/relationships/image" Target="../media/image59.png"/><Relationship Id="rId11" Type="http://schemas.openxmlformats.org/officeDocument/2006/relationships/image" Target="../media/image58.png"/><Relationship Id="rId10" Type="http://schemas.openxmlformats.org/officeDocument/2006/relationships/image" Target="../media/image57.png"/><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image" Target="../media/image61.png"/><Relationship Id="rId3" Type="http://schemas.openxmlformats.org/officeDocument/2006/relationships/tags" Target="../tags/tag49.xml"/><Relationship Id="rId2" Type="http://schemas.openxmlformats.org/officeDocument/2006/relationships/image" Target="../media/image60.png"/><Relationship Id="rId1" Type="http://schemas.openxmlformats.org/officeDocument/2006/relationships/tags" Target="../tags/tag48.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image" Target="../media/image6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36.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4" Type="http://schemas.openxmlformats.org/officeDocument/2006/relationships/notesSlide" Target="../notesSlides/notesSlide2.xml"/><Relationship Id="rId13" Type="http://schemas.openxmlformats.org/officeDocument/2006/relationships/slideLayout" Target="../slideLayouts/slideLayout2.xml"/><Relationship Id="rId12" Type="http://schemas.openxmlformats.org/officeDocument/2006/relationships/tags" Target="../tags/tag65.xml"/><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tags" Target="../tags/tag54.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image" Target="../media/image6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605279" y="275396"/>
            <a:ext cx="915897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新型油气勘探开发国家科技重大专项项目</a:t>
            </a:r>
            <a:r>
              <a:rPr kumimoji="0" lang="zh-CN" altLang="en-US" sz="24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下属专题</a:t>
            </a:r>
            <a:r>
              <a:rPr lang="zh-CN" altLang="en-US" sz="2400" b="1" noProof="0" dirty="0" smtClean="0">
                <a:solidFill>
                  <a:prstClr val="black"/>
                </a:solidFill>
                <a:latin typeface="微软雅黑" panose="020B0503020204020204" pitchFamily="34" charset="-122"/>
                <a:ea typeface="微软雅黑" panose="020B0503020204020204" pitchFamily="34" charset="-122"/>
              </a:rPr>
              <a:t>阶段</a:t>
            </a:r>
            <a:r>
              <a:rPr kumimoji="0" lang="zh-CN" altLang="en-US" sz="24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汇报</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2" name="组合 1"/>
          <p:cNvGrpSpPr/>
          <p:nvPr/>
        </p:nvGrpSpPr>
        <p:grpSpPr>
          <a:xfrm>
            <a:off x="-8710" y="1079497"/>
            <a:ext cx="12200890" cy="2314007"/>
            <a:chOff x="-68705" y="1030363"/>
            <a:chExt cx="12274762" cy="2313549"/>
          </a:xfrm>
        </p:grpSpPr>
        <p:sp>
          <p:nvSpPr>
            <p:cNvPr id="7" name="TextBox 12"/>
            <p:cNvSpPr txBox="1"/>
            <p:nvPr/>
          </p:nvSpPr>
          <p:spPr>
            <a:xfrm>
              <a:off x="-68705" y="1030363"/>
              <a:ext cx="12274762" cy="2125228"/>
            </a:xfrm>
            <a:prstGeom prst="rect">
              <a:avLst/>
            </a:prstGeom>
            <a:solidFill>
              <a:srgbClr val="C00000"/>
            </a:solidFill>
          </p:spPr>
          <p:txBody>
            <a:bodyPr wrap="square" lIns="121869" tIns="108000" rIns="121869" bIns="216000" rtlCol="0">
              <a:noAutofit/>
            </a:bodyPr>
            <a:lstStyle/>
            <a:p>
              <a:pPr lvl="0" algn="ctr" defTabSz="1219200">
                <a:defRPr/>
              </a:pPr>
              <a:r>
                <a:rPr lang="zh-CN" altLang="en-US" sz="48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课题</a:t>
              </a:r>
              <a:r>
                <a:rPr lang="zh-CN" altLang="en-US" sz="48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五：缝网高效压裂工艺完善与应用</a:t>
              </a:r>
              <a:endParaRPr lang="zh-CN" altLang="en-US" sz="48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endParaRPr>
            </a:p>
            <a:p>
              <a:pPr lvl="0" algn="ctr" defTabSz="1219200">
                <a:defRPr/>
              </a:pPr>
              <a:r>
                <a:rPr kumimoji="0" lang="en-US" altLang="zh-CN" sz="4800" b="1" i="0" u="none" strike="noStrike" kern="0" cap="none" spc="-100" normalizeH="0" noProof="0" dirty="0" smtClean="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uLnTx/>
                  <a:uFillTx/>
                  <a:latin typeface="微软雅黑" panose="020B0503020204020204" pitchFamily="34" charset="-122"/>
                  <a:ea typeface="微软雅黑" panose="020B0503020204020204" pitchFamily="34" charset="-122"/>
                </a:rPr>
                <a:t>——</a:t>
              </a:r>
              <a:r>
                <a:rPr lang="zh-CN" altLang="en-US" sz="40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专题</a:t>
              </a:r>
              <a:r>
                <a:rPr lang="zh-CN" altLang="en-US" sz="4000" b="1" kern="0" spc="-100" dirty="0" smtClean="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七：</a:t>
              </a:r>
              <a:r>
                <a:rPr lang="zh-CN" altLang="en-US" sz="40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缝网高效压裂改造效果综合评估</a:t>
              </a:r>
              <a:endParaRPr lang="zh-CN" altLang="en-US" sz="40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endParaRPr>
            </a:p>
            <a:p>
              <a:pPr lvl="0" algn="ctr" defTabSz="1219200">
                <a:defRPr/>
              </a:pPr>
              <a:r>
                <a:rPr lang="zh-CN" altLang="en-US" sz="24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 </a:t>
              </a:r>
              <a:r>
                <a:rPr lang="en-US" altLang="zh-CN" sz="2400" b="1" kern="0" spc="-10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latin typeface="微软雅黑" panose="020B0503020204020204" pitchFamily="34" charset="-122"/>
                  <a:ea typeface="微软雅黑" panose="020B0503020204020204" pitchFamily="34" charset="-122"/>
                </a:rPr>
                <a:t>2025ZD1405305</a:t>
              </a:r>
              <a:r>
                <a:rPr kumimoji="0" lang="zh-CN" altLang="en-US" sz="2400" b="1" i="0" u="none" strike="noStrike" kern="0" cap="none" spc="-100" normalizeH="0" noProof="0" dirty="0" smtClean="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uLnTx/>
                  <a:uFillTx/>
                  <a:latin typeface="微软雅黑" panose="020B0503020204020204" pitchFamily="34" charset="-122"/>
                  <a:ea typeface="微软雅黑" panose="020B0503020204020204" pitchFamily="34" charset="-122"/>
                </a:rPr>
                <a:t>）</a:t>
              </a:r>
              <a:endParaRPr kumimoji="0" lang="zh-CN" altLang="en-US" sz="2400" b="1" i="0" u="none" strike="noStrike" kern="0" cap="none" spc="-100" normalizeH="0" noProof="0" dirty="0">
                <a:ln w="6350">
                  <a:solidFill>
                    <a:srgbClr val="1F497D">
                      <a:tint val="1000"/>
                    </a:srgbClr>
                  </a:solidFill>
                  <a:prstDash val="solid"/>
                </a:ln>
                <a:solidFill>
                  <a:srgbClr val="FFFFFF"/>
                </a:solidFill>
                <a:effectLst>
                  <a:outerShdw blurRad="50000" dist="50800" dir="7500000" algn="tl">
                    <a:srgbClr val="000000">
                      <a:shade val="5000"/>
                      <a:alpha val="35000"/>
                    </a:srgbClr>
                  </a:outerShdw>
                </a:effectLst>
                <a:uLnTx/>
                <a:uFillTx/>
                <a:latin typeface="微软雅黑" panose="020B0503020204020204" pitchFamily="34" charset="-122"/>
                <a:ea typeface="微软雅黑" panose="020B0503020204020204" pitchFamily="34" charset="-122"/>
              </a:endParaRPr>
            </a:p>
          </p:txBody>
        </p:sp>
        <p:grpSp>
          <p:nvGrpSpPr>
            <p:cNvPr id="9" name="组合 8"/>
            <p:cNvGrpSpPr/>
            <p:nvPr/>
          </p:nvGrpSpPr>
          <p:grpSpPr>
            <a:xfrm>
              <a:off x="24000" y="3258436"/>
              <a:ext cx="12168000" cy="85476"/>
              <a:chOff x="0" y="4467349"/>
              <a:chExt cx="12168000" cy="88844"/>
            </a:xfrm>
          </p:grpSpPr>
          <p:cxnSp>
            <p:nvCxnSpPr>
              <p:cNvPr id="11" name="直接连接符 10"/>
              <p:cNvCxnSpPr/>
              <p:nvPr/>
            </p:nvCxnSpPr>
            <p:spPr bwMode="auto">
              <a:xfrm>
                <a:off x="0" y="4556193"/>
                <a:ext cx="12168000" cy="0"/>
              </a:xfrm>
              <a:prstGeom prst="line">
                <a:avLst/>
              </a:prstGeom>
              <a:solidFill>
                <a:srgbClr val="4F81BD"/>
              </a:solidFill>
              <a:ln w="9525" cap="flat" cmpd="sng" algn="ctr">
                <a:solidFill>
                  <a:sysClr val="window" lastClr="FFFFFF">
                    <a:lumMod val="85000"/>
                  </a:sysClr>
                </a:solidFill>
                <a:prstDash val="solid"/>
                <a:round/>
                <a:headEnd type="none" w="med" len="med"/>
                <a:tailEnd type="none" w="med" len="med"/>
              </a:ln>
              <a:effectLst/>
            </p:spPr>
          </p:cxnSp>
          <p:cxnSp>
            <p:nvCxnSpPr>
              <p:cNvPr id="12" name="直接连接符 11"/>
              <p:cNvCxnSpPr/>
              <p:nvPr/>
            </p:nvCxnSpPr>
            <p:spPr bwMode="auto">
              <a:xfrm>
                <a:off x="252000" y="4514421"/>
                <a:ext cx="11916000" cy="0"/>
              </a:xfrm>
              <a:prstGeom prst="line">
                <a:avLst/>
              </a:prstGeom>
              <a:solidFill>
                <a:srgbClr val="4F81BD"/>
              </a:solidFill>
              <a:ln w="9525" cap="flat" cmpd="sng" algn="ctr">
                <a:solidFill>
                  <a:sysClr val="window" lastClr="FFFFFF">
                    <a:lumMod val="85000"/>
                  </a:sysClr>
                </a:solidFill>
                <a:prstDash val="solid"/>
                <a:round/>
                <a:headEnd type="none" w="med" len="med"/>
                <a:tailEnd type="none" w="med" len="med"/>
              </a:ln>
              <a:effectLst/>
            </p:spPr>
          </p:cxnSp>
          <p:cxnSp>
            <p:nvCxnSpPr>
              <p:cNvPr id="13" name="直接连接符 12"/>
              <p:cNvCxnSpPr/>
              <p:nvPr/>
            </p:nvCxnSpPr>
            <p:spPr bwMode="auto">
              <a:xfrm>
                <a:off x="468000" y="4467349"/>
                <a:ext cx="11700000" cy="0"/>
              </a:xfrm>
              <a:prstGeom prst="line">
                <a:avLst/>
              </a:prstGeom>
              <a:solidFill>
                <a:srgbClr val="4F81BD"/>
              </a:solidFill>
              <a:ln w="9525" cap="flat" cmpd="sng" algn="ctr">
                <a:solidFill>
                  <a:sysClr val="window" lastClr="FFFFFF">
                    <a:lumMod val="85000"/>
                  </a:sysClr>
                </a:solidFill>
                <a:prstDash val="solid"/>
                <a:round/>
                <a:headEnd type="none" w="med" len="med"/>
                <a:tailEnd type="none" w="med" len="med"/>
              </a:ln>
              <a:effectLst/>
            </p:spPr>
          </p:cxnSp>
        </p:grpSp>
      </p:grpSp>
      <p:sp>
        <p:nvSpPr>
          <p:cNvPr id="4" name="矩形 3"/>
          <p:cNvSpPr/>
          <p:nvPr/>
        </p:nvSpPr>
        <p:spPr>
          <a:xfrm>
            <a:off x="3785271" y="3741691"/>
            <a:ext cx="7372590" cy="1938020"/>
          </a:xfrm>
          <a:prstGeom prst="rect">
            <a:avLst/>
          </a:prstGeom>
        </p:spPr>
        <p:txBody>
          <a:bodyPr wrap="square">
            <a:spAutoFit/>
          </a:bodyPr>
          <a:lstStyle/>
          <a:p>
            <a:pPr marL="0" marR="0" lvl="0" indent="0" algn="just" defTabSz="914400" rtl="0" eaLnBrk="1" fontAlgn="auto" latinLnBrk="0" hangingPunct="1">
              <a:lnSpc>
                <a:spcPct val="200000"/>
              </a:lnSpc>
              <a:spcBef>
                <a:spcPts val="0"/>
              </a:spcBef>
              <a:spcAft>
                <a:spcPts val="0"/>
              </a:spcAft>
              <a:buClrTx/>
              <a:buSzTx/>
              <a:buFontTx/>
              <a:buNone/>
              <a:defRPr/>
            </a:pPr>
            <a:r>
              <a:rPr lang="zh-CN" altLang="en-US" sz="2000" b="1" dirty="0">
                <a:solidFill>
                  <a:srgbClr val="C00000"/>
                </a:solidFill>
                <a:latin typeface="微软雅黑" panose="020B0503020204020204" pitchFamily="34" charset="-122"/>
                <a:ea typeface="微软雅黑" panose="020B0503020204020204" pitchFamily="34" charset="-122"/>
              </a:rPr>
              <a:t>专题</a:t>
            </a:r>
            <a:r>
              <a:rPr kumimoji="0" lang="zh-CN" altLang="en-US" sz="20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负责人：</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刘雄飞</a:t>
            </a:r>
            <a:endParaRPr kumimoji="0" lang="en-US" altLang="zh-CN"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lvl="0" algn="just">
              <a:lnSpc>
                <a:spcPct val="200000"/>
              </a:lnSpc>
              <a:defRPr/>
            </a:pPr>
            <a:r>
              <a:rPr kumimoji="0" lang="zh-CN" altLang="en-US" sz="2000" b="1" i="0" u="none" strike="noStrike" kern="1200" cap="none" spc="6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牵 头 单 位</a:t>
            </a:r>
            <a:r>
              <a:rPr kumimoji="0" lang="zh-CN" altLang="en-US" sz="2000" b="1" i="0" u="none" strike="noStrike" kern="1200" cap="none" spc="6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中国石油天然气股份有限公司西南油气田分公司</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lvl="0" algn="just">
              <a:lnSpc>
                <a:spcPct val="200000"/>
              </a:lnSpc>
              <a:defRPr/>
            </a:pPr>
            <a:r>
              <a:rPr kumimoji="0" lang="zh-CN" altLang="en-US" sz="2000" b="1" i="0" u="none" strike="noStrike" kern="1200" cap="none" spc="6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参 与 单 位：</a:t>
            </a:r>
            <a:r>
              <a:rPr lang="zh-CN" altLang="en-US" sz="2000" b="1" dirty="0">
                <a:latin typeface="微软雅黑" panose="020B0503020204020204" pitchFamily="34" charset="-122"/>
                <a:ea typeface="微软雅黑" panose="020B0503020204020204" pitchFamily="34" charset="-122"/>
                <a:sym typeface="+mn-ea"/>
              </a:rPr>
              <a:t>中国石油大学（北京）</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5250256" y="6041838"/>
            <a:ext cx="1631950" cy="553085"/>
          </a:xfrm>
          <a:prstGeom prst="rect">
            <a:avLst/>
          </a:prstGeom>
          <a:noFill/>
        </p:spPr>
        <p:txBody>
          <a:bodyPr wrap="non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2026</a:t>
            </a:r>
            <a:r>
              <a:rPr kumimoji="0" lang="zh-CN" altLang="en-US"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年</a:t>
            </a:r>
            <a:r>
              <a:rPr kumimoji="0" lang="en-US" altLang="zh-CN"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07</a:t>
            </a:r>
            <a:r>
              <a:rPr kumimoji="0" lang="zh-CN" altLang="en-US" sz="20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月</a:t>
            </a:r>
            <a:endParaRPr kumimoji="0" lang="zh-CN" altLang="en-US" sz="2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2"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en-US" altLang="zh-CN" sz="3600" b="1" dirty="0">
                <a:solidFill>
                  <a:srgbClr val="C00000"/>
                </a:solidFill>
                <a:latin typeface="微软雅黑" panose="020B0503020204020204" pitchFamily="34" charset="-122"/>
                <a:ea typeface="微软雅黑" panose="020B0503020204020204" pitchFamily="34" charset="-122"/>
              </a:rPr>
              <a:t>一</a:t>
            </a:r>
            <a:r>
              <a:rPr lang="zh-CN" altLang="en-US" sz="3600" b="1" dirty="0">
                <a:solidFill>
                  <a:srgbClr val="C00000"/>
                </a:solidFill>
                <a:latin typeface="微软雅黑" panose="020B0503020204020204" pitchFamily="34" charset="-122"/>
                <a:ea typeface="微软雅黑" panose="020B0503020204020204" pitchFamily="34" charset="-122"/>
              </a:rPr>
              <a:t>、研究背景与关键问题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3" name="直接连接符 32"/>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4" name="直接连接符 33"/>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5" name="直接连接符 34"/>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6" name="直接连接符 35"/>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37" name="直接连接符 36"/>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90931"/>
          </a:xfrm>
          <a:prstGeom prst="rect">
            <a:avLst/>
          </a:prstGeom>
        </p:spPr>
        <p:txBody>
          <a:bodyPr wrap="square">
            <a:spAutoFit/>
          </a:bodyPr>
          <a:lstStyle/>
          <a:p>
            <a:pPr marL="0" marR="0" lvl="0" indent="0" algn="ctr" defTabSz="914400" rtl="0" eaLnBrk="1" fontAlgn="auto" latinLnBrk="0" hangingPunct="1">
              <a:lnSpc>
                <a:spcPct val="90000"/>
              </a:lnSpc>
              <a:spcBef>
                <a:spcPts val="2400"/>
              </a:spcBef>
              <a:spcAft>
                <a:spcPts val="0"/>
              </a:spcAft>
              <a:buClr>
                <a:srgbClr val="FF3300"/>
              </a:buClr>
              <a:buSzPct val="135000"/>
              <a:buFontTx/>
              <a:buNone/>
              <a:defRPr/>
            </a:pPr>
            <a:r>
              <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专题概况</a:t>
            </a:r>
            <a:endPar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489567" y="1033571"/>
            <a:ext cx="11388053" cy="1337945"/>
          </a:xfrm>
          <a:prstGeom prst="rect">
            <a:avLst/>
          </a:prstGeom>
        </p:spPr>
        <p:txBody>
          <a:bodyPr wrap="square">
            <a:spAutoFit/>
          </a:bodyPr>
          <a:lstStyle/>
          <a:p>
            <a:pPr marL="457200" marR="0" lvl="0" indent="-457200" algn="just" defTabSz="914400" rtl="0" eaLnBrk="1" fontAlgn="auto" latinLnBrk="0" hangingPunct="1">
              <a:lnSpc>
                <a:spcPct val="150000"/>
              </a:lnSpc>
              <a:spcBef>
                <a:spcPts val="240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本专题为课题五</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缝网高效压裂工艺完善与应用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的第</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个专题，是在专题</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1~6</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完成防窜提产、高效起裂、压裂液研发、关键材料攻关、实时决策调控和压裂监测等研究基础上，建立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压裂改造效果综合评估方法</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，为各专题工艺迭代优化提供</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定量反馈</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，支撑课题总体目标的实现</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表格 5"/>
          <p:cNvGraphicFramePr/>
          <p:nvPr>
            <p:custDataLst>
              <p:tags r:id="rId1"/>
            </p:custDataLst>
          </p:nvPr>
        </p:nvGraphicFramePr>
        <p:xfrm>
          <a:off x="488950" y="2367280"/>
          <a:ext cx="11389995" cy="4114800"/>
        </p:xfrm>
        <a:graphic>
          <a:graphicData uri="http://schemas.openxmlformats.org/drawingml/2006/table">
            <a:tbl>
              <a:tblPr/>
              <a:tblGrid>
                <a:gridCol w="2331720"/>
                <a:gridCol w="5261610"/>
                <a:gridCol w="3796665"/>
              </a:tblGrid>
              <a:tr h="514350">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层级</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专题</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1600" b="1" i="0">
                          <a:solidFill>
                            <a:schemeClr val="bg1"/>
                          </a:solidFill>
                          <a:latin typeface="微软雅黑" panose="020B0503020204020204" pitchFamily="34" charset="-122"/>
                          <a:ea typeface="微软雅黑" panose="020B0503020204020204" pitchFamily="34" charset="-122"/>
                        </a:rPr>
                        <a:t>定位</a:t>
                      </a:r>
                      <a:endParaRPr lang="zh-CN" altLang="en-US" sz="16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514350">
                <a:tc rowSpan="2">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压裂工艺</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专题一：复杂地质体防窜提产压裂技术体系研究及应用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防窜提产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专题二：缝网高效起裂扩展理论与工艺研究</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缝网建造</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rowSpan="2">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压裂材料</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专题三：多性能压裂液体系研发与应用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液体配套</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专题四：缝网压裂关键材料研究及应用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材料配套</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实时调控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专题五：压裂实时决策与调控技术研究及应用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智能调控</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rowSpan="2">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监测</a:t>
                      </a:r>
                      <a:r>
                        <a:rPr lang="zh-CN" altLang="en-US" sz="1600" b="0" i="0">
                          <a:solidFill>
                            <a:srgbClr val="000000"/>
                          </a:solidFill>
                          <a:latin typeface="微软雅黑" panose="020B0503020204020204" pitchFamily="34" charset="-122"/>
                          <a:ea typeface="微软雅黑" panose="020B0503020204020204" pitchFamily="34" charset="-122"/>
                        </a:rPr>
                        <a:t>评估</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专题六：缝网压裂监测技术研究与应用</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0" i="0">
                          <a:solidFill>
                            <a:srgbClr val="000000"/>
                          </a:solidFill>
                          <a:latin typeface="微软雅黑" panose="020B0503020204020204" pitchFamily="34" charset="-122"/>
                          <a:ea typeface="微软雅黑" panose="020B0503020204020204" pitchFamily="34" charset="-122"/>
                        </a:rPr>
                        <a:t>监测支撑</a:t>
                      </a:r>
                      <a:endParaRPr lang="zh-CN" altLang="en-US" sz="16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14350">
                <a:tc vMerge="1">
                  <a:tcPr>
                    <a:lnL w="12700">
                      <a:solidFill>
                        <a:schemeClr val="tx1"/>
                      </a:solidFill>
                      <a:prstDash val="solid"/>
                    </a:lnL>
                    <a:lnR w="12700">
                      <a:solidFill>
                        <a:schemeClr val="tx1"/>
                      </a:solidFill>
                      <a:prstDash val="solid"/>
                    </a:lnR>
                    <a:lnB w="12700">
                      <a:solidFill>
                        <a:schemeClr val="tx1"/>
                      </a:solidFill>
                      <a:prstDash val="solid"/>
                    </a:lnB>
                  </a:tcPr>
                </a:tc>
                <a:tc>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专题七：缝网高效压裂改造效果综合评估</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fontAlgn="ctr"/>
                      <a:r>
                        <a:rPr lang="zh-CN" altLang="en-US" sz="1600" b="1" i="0">
                          <a:solidFill>
                            <a:srgbClr val="000000"/>
                          </a:solidFill>
                          <a:latin typeface="微软雅黑" panose="020B0503020204020204" pitchFamily="34" charset="-122"/>
                          <a:ea typeface="微软雅黑" panose="020B0503020204020204" pitchFamily="34" charset="-122"/>
                        </a:rPr>
                        <a:t>效果评估与反馈</a:t>
                      </a:r>
                      <a:endParaRPr lang="zh-CN" altLang="en-US" sz="1600" b="1"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kumimoji="0" lang="zh-CN" altLang="en-US" sz="36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（一</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）研究背景</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缝网压裂是页岩气高效开发的关键技术，</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准确评估改造效果</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对于优化压裂设计、提升单井产能</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具有重要意义</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微地震、光纤等直接监测手段</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应用复杂、成本高</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昂</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、难以全面覆盖</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EUR</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评估等方式</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周期长、反馈慢</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低成本、全覆盖、可量化</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的压裂改造效果综合评估方法，是实现</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降本增效的关键突破口</a:t>
            </a:r>
            <a:endPar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1600" y="2566035"/>
            <a:ext cx="4199255" cy="342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4300220" y="2521585"/>
            <a:ext cx="3796665" cy="3470910"/>
            <a:chOff x="8612" y="4020"/>
            <a:chExt cx="7033" cy="5466"/>
          </a:xfrm>
        </p:grpSpPr>
        <p:pic>
          <p:nvPicPr>
            <p:cNvPr id="52" name="图片 51"/>
            <p:cNvPicPr>
              <a:picLocks noChangeAspect="1"/>
            </p:cNvPicPr>
            <p:nvPr/>
          </p:nvPicPr>
          <p:blipFill>
            <a:blip r:embed="rId2"/>
            <a:stretch>
              <a:fillRect/>
            </a:stretch>
          </p:blipFill>
          <p:spPr>
            <a:xfrm>
              <a:off x="8612" y="4476"/>
              <a:ext cx="7033" cy="2008"/>
            </a:xfrm>
            <a:prstGeom prst="rect">
              <a:avLst/>
            </a:prstGeom>
            <a:ln>
              <a:noFill/>
            </a:ln>
          </p:spPr>
        </p:pic>
        <p:sp>
          <p:nvSpPr>
            <p:cNvPr id="51" name="矩形 50"/>
            <p:cNvSpPr/>
            <p:nvPr/>
          </p:nvSpPr>
          <p:spPr>
            <a:xfrm>
              <a:off x="10078" y="4020"/>
              <a:ext cx="45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EUR</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标定周期长</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8803" y="7023"/>
              <a:ext cx="3195" cy="2463"/>
            </a:xfrm>
            <a:prstGeom prst="rect">
              <a:avLst/>
            </a:prstGeom>
            <a:ln>
              <a:noFill/>
            </a:ln>
          </p:spPr>
        </p:pic>
        <p:sp>
          <p:nvSpPr>
            <p:cNvPr id="5" name="矩形 4"/>
            <p:cNvSpPr/>
            <p:nvPr/>
          </p:nvSpPr>
          <p:spPr>
            <a:xfrm>
              <a:off x="10078" y="6498"/>
              <a:ext cx="45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微地震、光纤等技术成本高昂</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 name="图片 11"/>
            <p:cNvPicPr>
              <a:picLocks noChangeAspect="1"/>
            </p:cNvPicPr>
            <p:nvPr/>
          </p:nvPicPr>
          <p:blipFill>
            <a:blip r:embed="rId4"/>
            <a:stretch>
              <a:fillRect/>
            </a:stretch>
          </p:blipFill>
          <p:spPr>
            <a:xfrm>
              <a:off x="12079" y="7031"/>
              <a:ext cx="3448" cy="2443"/>
            </a:xfrm>
            <a:prstGeom prst="rect">
              <a:avLst/>
            </a:prstGeom>
            <a:ln>
              <a:noFill/>
            </a:ln>
          </p:spPr>
        </p:pic>
      </p:grpSp>
      <p:grpSp>
        <p:nvGrpSpPr>
          <p:cNvPr id="21" name="组合 20"/>
          <p:cNvGrpSpPr/>
          <p:nvPr/>
        </p:nvGrpSpPr>
        <p:grpSpPr>
          <a:xfrm>
            <a:off x="8257540" y="2484120"/>
            <a:ext cx="1799590" cy="1386205"/>
            <a:chOff x="13004" y="3912"/>
            <a:chExt cx="2834" cy="2183"/>
          </a:xfrm>
        </p:grpSpPr>
        <p:pic>
          <p:nvPicPr>
            <p:cNvPr id="6" name="图片 5"/>
            <p:cNvPicPr/>
            <p:nvPr/>
          </p:nvPicPr>
          <p:blipFill>
            <a:blip r:embed="rId5"/>
            <a:stretch>
              <a:fillRect/>
            </a:stretch>
          </p:blipFill>
          <p:spPr>
            <a:xfrm>
              <a:off x="13004" y="4395"/>
              <a:ext cx="2835" cy="1701"/>
            </a:xfrm>
            <a:prstGeom prst="rect">
              <a:avLst/>
            </a:prstGeom>
            <a:ln>
              <a:solidFill>
                <a:schemeClr val="tx1"/>
              </a:solidFill>
            </a:ln>
          </p:spPr>
        </p:pic>
        <p:sp>
          <p:nvSpPr>
            <p:cNvPr id="9" name="矩形 8"/>
            <p:cNvSpPr/>
            <p:nvPr/>
          </p:nvSpPr>
          <p:spPr>
            <a:xfrm>
              <a:off x="13005" y="3912"/>
              <a:ext cx="2832"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Notle-Smith</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 name="组合 18"/>
          <p:cNvGrpSpPr/>
          <p:nvPr/>
        </p:nvGrpSpPr>
        <p:grpSpPr>
          <a:xfrm>
            <a:off x="10310495" y="2484120"/>
            <a:ext cx="1800225" cy="1396365"/>
            <a:chOff x="19471" y="5174"/>
            <a:chExt cx="2835" cy="2199"/>
          </a:xfrm>
        </p:grpSpPr>
        <p:pic>
          <p:nvPicPr>
            <p:cNvPr id="7" name="图片 6"/>
            <p:cNvPicPr/>
            <p:nvPr/>
          </p:nvPicPr>
          <p:blipFill>
            <a:blip r:embed="rId6"/>
            <a:stretch>
              <a:fillRect/>
            </a:stretch>
          </p:blipFill>
          <p:spPr>
            <a:xfrm>
              <a:off x="19471" y="5628"/>
              <a:ext cx="2835" cy="1745"/>
            </a:xfrm>
            <a:prstGeom prst="rect">
              <a:avLst/>
            </a:prstGeom>
          </p:spPr>
        </p:pic>
        <p:sp>
          <p:nvSpPr>
            <p:cNvPr id="11" name="矩形 10"/>
            <p:cNvSpPr/>
            <p:nvPr/>
          </p:nvSpPr>
          <p:spPr>
            <a:xfrm>
              <a:off x="19471" y="5174"/>
              <a:ext cx="28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MRP</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2" name="组合 21"/>
          <p:cNvGrpSpPr/>
          <p:nvPr/>
        </p:nvGrpSpPr>
        <p:grpSpPr>
          <a:xfrm>
            <a:off x="8268335" y="4617720"/>
            <a:ext cx="1799590" cy="1396365"/>
            <a:chOff x="12993" y="7620"/>
            <a:chExt cx="2834" cy="2199"/>
          </a:xfrm>
        </p:grpSpPr>
        <p:pic>
          <p:nvPicPr>
            <p:cNvPr id="8" name="图片 7" descr="spe-139110-ms_fig_04"/>
            <p:cNvPicPr/>
            <p:nvPr/>
          </p:nvPicPr>
          <p:blipFill>
            <a:blip r:embed="rId7"/>
            <a:srcRect l="4537" t="8971" b="3845"/>
            <a:stretch>
              <a:fillRect/>
            </a:stretch>
          </p:blipFill>
          <p:spPr>
            <a:xfrm>
              <a:off x="12993" y="8119"/>
              <a:ext cx="2835" cy="1701"/>
            </a:xfrm>
            <a:prstGeom prst="rect">
              <a:avLst/>
            </a:prstGeom>
            <a:ln>
              <a:solidFill>
                <a:schemeClr val="tx1"/>
              </a:solidFill>
            </a:ln>
          </p:spPr>
        </p:pic>
        <p:sp>
          <p:nvSpPr>
            <p:cNvPr id="13" name="矩形 12"/>
            <p:cNvSpPr/>
            <p:nvPr/>
          </p:nvSpPr>
          <p:spPr>
            <a:xfrm>
              <a:off x="12993" y="7620"/>
              <a:ext cx="2835"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净压力</a:t>
              </a:r>
              <a:r>
                <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分析方法</a:t>
              </a:r>
              <a:endParaRPr lang="zh-CN" altLang="en-US"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3" name="组合 22"/>
          <p:cNvGrpSpPr/>
          <p:nvPr/>
        </p:nvGrpSpPr>
        <p:grpSpPr>
          <a:xfrm>
            <a:off x="10300970" y="4587240"/>
            <a:ext cx="1800000" cy="1417185"/>
            <a:chOff x="16126" y="7572"/>
            <a:chExt cx="2856" cy="2232"/>
          </a:xfrm>
        </p:grpSpPr>
        <p:sp>
          <p:nvSpPr>
            <p:cNvPr id="15" name="矩形 14"/>
            <p:cNvSpPr/>
            <p:nvPr/>
          </p:nvSpPr>
          <p:spPr>
            <a:xfrm>
              <a:off x="16126" y="7572"/>
              <a:ext cx="2836" cy="451"/>
            </a:xfrm>
            <a:prstGeom prst="rect">
              <a:avLst/>
            </a:prstGeom>
            <a:solidFill>
              <a:srgbClr val="C00000"/>
            </a:solidFill>
            <a:ln w="12700" cap="flat" cmpd="sng" algn="ctr">
              <a:noFill/>
              <a:prstDash val="solid"/>
              <a:round/>
              <a:headEnd type="none" w="med" len="med"/>
              <a:tailEnd type="none" w="med" len="med"/>
            </a:ln>
            <a:effectLst>
              <a:outerShdw blurRad="149987" dist="63500" dir="8460000" algn="ctr">
                <a:srgbClr val="000000">
                  <a:alpha val="28000"/>
                </a:srgbClr>
              </a:outerShdw>
            </a:effectLst>
            <a:scene3d>
              <a:camera prst="orthographicFront">
                <a:rot lat="0" lon="0" rev="0"/>
              </a:camera>
              <a:lightRig rig="contrasting" dir="t">
                <a:rot lat="0" lon="0" rev="1500000"/>
              </a:lightRig>
            </a:scene3d>
            <a:sp3d prstMaterial="metal">
              <a:bevelT w="38100" h="88900"/>
            </a:sp3d>
          </p:spPr>
          <p:txBody>
            <a:bodyPr vert="horz" wrap="square" lIns="0" tIns="35995" rIns="0" bIns="35995" numCol="1" rtlCol="0" anchor="ctr" anchorCtr="0" compatLnSpc="1">
              <a:spAutoFit/>
            </a:bodyPr>
            <a:lstStyle/>
            <a:p>
              <a:pPr algn="ctr" defTabSz="1218565" fontAlgn="base">
                <a:spcBef>
                  <a:spcPct val="0"/>
                </a:spcBef>
                <a:spcAft>
                  <a:spcPct val="0"/>
                </a:spcAft>
              </a:pPr>
              <a:r>
                <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400" b="1"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6" name="图片 15" descr="5-3"/>
            <p:cNvPicPr/>
            <p:nvPr/>
          </p:nvPicPr>
          <p:blipFill>
            <a:blip r:embed="rId8"/>
            <a:srcRect t="9645"/>
            <a:stretch>
              <a:fillRect/>
            </a:stretch>
          </p:blipFill>
          <p:spPr>
            <a:xfrm>
              <a:off x="16147" y="8103"/>
              <a:ext cx="2835" cy="1701"/>
            </a:xfrm>
            <a:prstGeom prst="rect">
              <a:avLst/>
            </a:prstGeom>
            <a:ln>
              <a:solidFill>
                <a:schemeClr val="tx1"/>
              </a:solidFill>
            </a:ln>
          </p:spPr>
        </p:pic>
      </p:grpSp>
      <p:sp>
        <p:nvSpPr>
          <p:cNvPr id="18" name="圆角矩形 17"/>
          <p:cNvSpPr/>
          <p:nvPr/>
        </p:nvSpPr>
        <p:spPr>
          <a:xfrm>
            <a:off x="9304655" y="3962400"/>
            <a:ext cx="1797050" cy="543560"/>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bg1"/>
                </a:solidFill>
                <a:latin typeface="微软雅黑" panose="020B0503020204020204" pitchFamily="34" charset="-122"/>
                <a:ea typeface="微软雅黑" panose="020B0503020204020204" pitchFamily="34" charset="-122"/>
              </a:rPr>
              <a:t>分析方法多样</a:t>
            </a:r>
            <a:endParaRPr lang="zh-CN" altLang="en-US" b="1" dirty="0" smtClean="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101600" y="6129655"/>
            <a:ext cx="419798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页岩气正逐渐成为我国天然气增储上产</a:t>
            </a:r>
            <a:r>
              <a:rPr lang="zh-CN" altLang="en-US" sz="1200">
                <a:latin typeface="微软雅黑" panose="020B0503020204020204" pitchFamily="34" charset="-122"/>
                <a:ea typeface="微软雅黑" panose="020B0503020204020204" pitchFamily="34" charset="-122"/>
              </a:rPr>
              <a:t>的主战场</a:t>
            </a:r>
            <a:endParaRPr lang="zh-CN" altLang="en-US" sz="1200">
              <a:latin typeface="微软雅黑" panose="020B0503020204020204" pitchFamily="34" charset="-122"/>
              <a:ea typeface="微软雅黑" panose="020B0503020204020204" pitchFamily="34" charset="-122"/>
            </a:endParaRPr>
          </a:p>
        </p:txBody>
      </p:sp>
      <p:sp>
        <p:nvSpPr>
          <p:cNvPr id="27" name="文本框 26"/>
          <p:cNvSpPr txBox="1"/>
          <p:nvPr/>
        </p:nvSpPr>
        <p:spPr>
          <a:xfrm>
            <a:off x="4403090" y="6134735"/>
            <a:ext cx="369379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当前</a:t>
            </a:r>
            <a:r>
              <a:rPr lang="zh-CN" altLang="en-US" sz="1200">
                <a:latin typeface="微软雅黑" panose="020B0503020204020204" pitchFamily="34" charset="-122"/>
                <a:ea typeface="微软雅黑" panose="020B0503020204020204" pitchFamily="34" charset="-122"/>
              </a:rPr>
              <a:t>压裂改造效果评估</a:t>
            </a:r>
            <a:r>
              <a:rPr lang="zh-CN" altLang="en-US" sz="1200">
                <a:latin typeface="微软雅黑" panose="020B0503020204020204" pitchFamily="34" charset="-122"/>
                <a:ea typeface="微软雅黑" panose="020B0503020204020204" pitchFamily="34" charset="-122"/>
              </a:rPr>
              <a:t>方法成本高、反馈</a:t>
            </a:r>
            <a:r>
              <a:rPr lang="zh-CN" altLang="en-US" sz="1200">
                <a:latin typeface="微软雅黑" panose="020B0503020204020204" pitchFamily="34" charset="-122"/>
                <a:ea typeface="微软雅黑" panose="020B0503020204020204" pitchFamily="34" charset="-122"/>
              </a:rPr>
              <a:t>慢</a:t>
            </a:r>
            <a:endParaRPr lang="zh-CN" altLang="en-US" sz="1200">
              <a:latin typeface="微软雅黑" panose="020B0503020204020204" pitchFamily="34" charset="-122"/>
              <a:ea typeface="微软雅黑" panose="020B0503020204020204" pitchFamily="34" charset="-122"/>
            </a:endParaRPr>
          </a:p>
        </p:txBody>
      </p:sp>
      <p:sp>
        <p:nvSpPr>
          <p:cNvPr id="28" name="文本框 27"/>
          <p:cNvSpPr txBox="1"/>
          <p:nvPr/>
        </p:nvSpPr>
        <p:spPr>
          <a:xfrm>
            <a:off x="8238490" y="6134735"/>
            <a:ext cx="38658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高效</a:t>
            </a:r>
            <a:r>
              <a:rPr lang="zh-CN" altLang="en-US" sz="1200">
                <a:latin typeface="微软雅黑" panose="020B0503020204020204" pitchFamily="34" charset="-122"/>
                <a:ea typeface="微软雅黑" panose="020B0503020204020204" pitchFamily="34" charset="-122"/>
              </a:rPr>
              <a:t>的压裂改造效果评估是实现降本增效的关键突破口</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90931"/>
          </a:xfrm>
          <a:prstGeom prst="rect">
            <a:avLst/>
          </a:prstGeom>
        </p:spPr>
        <p:txBody>
          <a:bodyPr wrap="square">
            <a:spAutoFit/>
          </a:bodyPr>
          <a:lstStyle/>
          <a:p>
            <a:pPr lvl="0" algn="ctr">
              <a:lnSpc>
                <a:spcPct val="90000"/>
              </a:lnSpc>
              <a:spcBef>
                <a:spcPts val="2400"/>
              </a:spcBef>
              <a:buClr>
                <a:srgbClr val="FF3300"/>
              </a:buClr>
              <a:buSzPct val="135000"/>
              <a:defRPr/>
            </a:pPr>
            <a:r>
              <a:rPr kumimoji="0" lang="zh-CN" altLang="en-US" sz="36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（二</a:t>
            </a: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关键问题</a:t>
            </a:r>
            <a:endParaRPr lang="zh-CN" altLang="en-US" sz="36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489567" y="1033571"/>
            <a:ext cx="11388053" cy="175323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关键问题一：</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裂缝扩展行为与压力响应关系</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不清——缺乏可控条件下的模拟</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与物理实验系统验证</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关键问题二：施工期</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裂缝扩展信息提取</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技术缺乏——缺乏将曲线</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时频域特征转化为可量化评价指标的方法</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关键问题三：停泵期</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裂缝参数反演</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方法不够成熟——</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从定性诊断到裂缝尺寸定量反演</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的系统方法</a:t>
            </a:r>
            <a:endPar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关键问题四：多源</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评价指标</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量化</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与统一框架——</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指标间权重分配和综合评价</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方法系统</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等腰三角形 13"/>
          <p:cNvSpPr/>
          <p:nvPr/>
        </p:nvSpPr>
        <p:spPr>
          <a:xfrm rot="5400000">
            <a:off x="5892800" y="3446780"/>
            <a:ext cx="356870" cy="356870"/>
          </a:xfrm>
          <a:prstGeom prst="triangl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26" name="等腰三角形 25"/>
          <p:cNvSpPr/>
          <p:nvPr/>
        </p:nvSpPr>
        <p:spPr>
          <a:xfrm rot="5400000">
            <a:off x="2889250" y="3446780"/>
            <a:ext cx="356870" cy="356870"/>
          </a:xfrm>
          <a:prstGeom prst="triangl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27" name="等腰三角形 26"/>
          <p:cNvSpPr/>
          <p:nvPr/>
        </p:nvSpPr>
        <p:spPr>
          <a:xfrm rot="5400000">
            <a:off x="8895080" y="3446780"/>
            <a:ext cx="356870" cy="356870"/>
          </a:xfrm>
          <a:prstGeom prst="triangle">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grpSp>
        <p:nvGrpSpPr>
          <p:cNvPr id="41" name="组合 40"/>
          <p:cNvGrpSpPr/>
          <p:nvPr/>
        </p:nvGrpSpPr>
        <p:grpSpPr>
          <a:xfrm>
            <a:off x="306705" y="3150870"/>
            <a:ext cx="2519680" cy="2658110"/>
            <a:chOff x="217" y="4766"/>
            <a:chExt cx="3968" cy="4186"/>
          </a:xfrm>
        </p:grpSpPr>
        <p:sp>
          <p:nvSpPr>
            <p:cNvPr id="6" name="圆角矩形 5"/>
            <p:cNvSpPr/>
            <p:nvPr/>
          </p:nvSpPr>
          <p:spPr>
            <a:xfrm>
              <a:off x="217" y="7113"/>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裂缝扩展行为与</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压力响应关系不清</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5" name="椭圆 4"/>
            <p:cNvSpPr/>
            <p:nvPr/>
          </p:nvSpPr>
          <p:spPr>
            <a:xfrm>
              <a:off x="1493" y="4766"/>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01</a:t>
              </a:r>
              <a:endParaRPr lang="en-US" altLang="zh-CN" sz="2800" b="1" dirty="0" smtClean="0">
                <a:solidFill>
                  <a:schemeClr val="bg1"/>
                </a:solidFill>
              </a:endParaRPr>
            </a:p>
          </p:txBody>
        </p:sp>
        <p:sp>
          <p:nvSpPr>
            <p:cNvPr id="22" name="文本框 21"/>
            <p:cNvSpPr txBox="1"/>
            <p:nvPr/>
          </p:nvSpPr>
          <p:spPr>
            <a:xfrm>
              <a:off x="1493"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机理</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0" name="圆角矩形 29"/>
            <p:cNvSpPr/>
            <p:nvPr/>
          </p:nvSpPr>
          <p:spPr>
            <a:xfrm>
              <a:off x="217" y="8102"/>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缺乏可控条件下的模拟与</a:t>
              </a:r>
              <a:endParaRPr lang="zh-CN" altLang="en-US" sz="140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400"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物理实验系统验证</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40" name="组合 39"/>
          <p:cNvGrpSpPr/>
          <p:nvPr/>
        </p:nvGrpSpPr>
        <p:grpSpPr>
          <a:xfrm>
            <a:off x="3309620" y="3146425"/>
            <a:ext cx="2519680" cy="2662555"/>
            <a:chOff x="4186" y="4759"/>
            <a:chExt cx="3968" cy="4193"/>
          </a:xfrm>
        </p:grpSpPr>
        <p:sp>
          <p:nvSpPr>
            <p:cNvPr id="18" name="圆角矩形 17"/>
            <p:cNvSpPr/>
            <p:nvPr/>
          </p:nvSpPr>
          <p:spPr>
            <a:xfrm>
              <a:off x="4186" y="7120"/>
              <a:ext cx="3969" cy="850"/>
            </a:xfrm>
            <a:prstGeom prst="roundRect">
              <a:avLst/>
            </a:prstGeom>
            <a:noFill/>
            <a:ln>
              <a:no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施工期裂缝扩展</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信息提取技术缺乏</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7" name="椭圆 6"/>
            <p:cNvSpPr/>
            <p:nvPr/>
          </p:nvSpPr>
          <p:spPr>
            <a:xfrm>
              <a:off x="5461" y="4759"/>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02</a:t>
              </a:r>
              <a:endParaRPr lang="en-US" altLang="zh-CN" sz="2800" b="1" dirty="0" smtClean="0">
                <a:solidFill>
                  <a:schemeClr val="bg1"/>
                </a:solidFill>
              </a:endParaRPr>
            </a:p>
          </p:txBody>
        </p:sp>
        <p:sp>
          <p:nvSpPr>
            <p:cNvPr id="23" name="文本框 22"/>
            <p:cNvSpPr txBox="1"/>
            <p:nvPr/>
          </p:nvSpPr>
          <p:spPr>
            <a:xfrm>
              <a:off x="5461"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方法</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1" name="圆角矩形 30"/>
            <p:cNvSpPr/>
            <p:nvPr/>
          </p:nvSpPr>
          <p:spPr>
            <a:xfrm>
              <a:off x="4186" y="8102"/>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缺乏将曲线时频域特征转化为可量化评价指标的方法</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39" name="组合 38"/>
          <p:cNvGrpSpPr/>
          <p:nvPr/>
        </p:nvGrpSpPr>
        <p:grpSpPr>
          <a:xfrm>
            <a:off x="6312535" y="3146425"/>
            <a:ext cx="2519680" cy="2660650"/>
            <a:chOff x="8153" y="4759"/>
            <a:chExt cx="3968" cy="4190"/>
          </a:xfrm>
        </p:grpSpPr>
        <p:sp>
          <p:nvSpPr>
            <p:cNvPr id="19" name="圆角矩形 18"/>
            <p:cNvSpPr/>
            <p:nvPr/>
          </p:nvSpPr>
          <p:spPr>
            <a:xfrm>
              <a:off x="8153" y="7120"/>
              <a:ext cx="3969" cy="850"/>
            </a:xfrm>
            <a:prstGeom prst="roundRect">
              <a:avLst/>
            </a:prstGeom>
            <a:noFill/>
            <a:ln>
              <a:no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停泵期裂缝参数</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反演方法不够成熟</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12" name="椭圆 11"/>
            <p:cNvSpPr/>
            <p:nvPr/>
          </p:nvSpPr>
          <p:spPr>
            <a:xfrm>
              <a:off x="9429" y="4759"/>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03</a:t>
              </a:r>
              <a:endParaRPr lang="en-US" altLang="zh-CN" sz="2800" b="1" dirty="0" smtClean="0">
                <a:solidFill>
                  <a:schemeClr val="bg1"/>
                </a:solidFill>
              </a:endParaRPr>
            </a:p>
          </p:txBody>
        </p:sp>
        <p:sp>
          <p:nvSpPr>
            <p:cNvPr id="24" name="文本框 23"/>
            <p:cNvSpPr txBox="1"/>
            <p:nvPr/>
          </p:nvSpPr>
          <p:spPr>
            <a:xfrm>
              <a:off x="9429"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模型</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2" name="圆角矩形 31"/>
            <p:cNvSpPr/>
            <p:nvPr/>
          </p:nvSpPr>
          <p:spPr>
            <a:xfrm>
              <a:off x="8153" y="8099"/>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缺乏从定性诊断到裂缝</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尺寸定量反演的系统方法</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38" name="组合 37"/>
          <p:cNvGrpSpPr/>
          <p:nvPr/>
        </p:nvGrpSpPr>
        <p:grpSpPr>
          <a:xfrm>
            <a:off x="9315450" y="3146425"/>
            <a:ext cx="2519680" cy="2660015"/>
            <a:chOff x="12571" y="4759"/>
            <a:chExt cx="3968" cy="4189"/>
          </a:xfrm>
        </p:grpSpPr>
        <p:sp>
          <p:nvSpPr>
            <p:cNvPr id="20" name="圆角矩形 19"/>
            <p:cNvSpPr/>
            <p:nvPr/>
          </p:nvSpPr>
          <p:spPr>
            <a:xfrm>
              <a:off x="12571" y="7104"/>
              <a:ext cx="3969" cy="850"/>
            </a:xfrm>
            <a:prstGeom prst="roundRect">
              <a:avLst/>
            </a:prstGeom>
            <a:noFill/>
            <a:ln>
              <a:no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solidFill>
                    <a:schemeClr val="tx1"/>
                  </a:solidFill>
                  <a:latin typeface="微软雅黑" panose="020B0503020204020204" pitchFamily="34" charset="-122"/>
                  <a:ea typeface="微软雅黑" panose="020B0503020204020204" pitchFamily="34" charset="-122"/>
                </a:rPr>
                <a:t>多源评价指标缺</a:t>
              </a:r>
              <a:endParaRPr lang="zh-CN" altLang="en-US" b="1" dirty="0" smtClean="0">
                <a:solidFill>
                  <a:schemeClr val="tx1"/>
                </a:solidFill>
                <a:latin typeface="微软雅黑" panose="020B0503020204020204" pitchFamily="34" charset="-122"/>
                <a:ea typeface="微软雅黑" panose="020B0503020204020204" pitchFamily="34" charset="-122"/>
              </a:endParaRPr>
            </a:p>
            <a:p>
              <a:pPr algn="ctr"/>
              <a:r>
                <a:rPr lang="zh-CN" altLang="en-US" b="1" dirty="0" smtClean="0">
                  <a:solidFill>
                    <a:schemeClr val="tx1"/>
                  </a:solidFill>
                  <a:latin typeface="微软雅黑" panose="020B0503020204020204" pitchFamily="34" charset="-122"/>
                  <a:ea typeface="微软雅黑" panose="020B0503020204020204" pitchFamily="34" charset="-122"/>
                </a:rPr>
                <a:t>乏量化与统一框架</a:t>
              </a:r>
              <a:endParaRPr lang="zh-CN" altLang="en-US" b="1" dirty="0" smtClean="0">
                <a:solidFill>
                  <a:schemeClr val="tx1"/>
                </a:solidFill>
                <a:latin typeface="微软雅黑" panose="020B0503020204020204" pitchFamily="34" charset="-122"/>
                <a:ea typeface="微软雅黑" panose="020B0503020204020204" pitchFamily="34" charset="-122"/>
              </a:endParaRPr>
            </a:p>
          </p:txBody>
        </p:sp>
        <p:sp>
          <p:nvSpPr>
            <p:cNvPr id="13" name="椭圆 12"/>
            <p:cNvSpPr/>
            <p:nvPr/>
          </p:nvSpPr>
          <p:spPr>
            <a:xfrm>
              <a:off x="13846" y="4759"/>
              <a:ext cx="1417" cy="1417"/>
            </a:xfrm>
            <a:prstGeom prst="ellipse">
              <a:avLst/>
            </a:prstGeom>
            <a:solidFill>
              <a:srgbClr val="C00000"/>
            </a:solidFill>
          </p:spPr>
          <p:style>
            <a:lnRef idx="0">
              <a:srgbClr val="FFFFFF"/>
            </a:lnRef>
            <a:fillRef idx="1">
              <a:schemeClr val="accent1"/>
            </a:fillRef>
            <a:effectRef idx="2">
              <a:schemeClr val="accent1"/>
            </a:effectRef>
            <a:fontRef idx="minor">
              <a:schemeClr val="lt1"/>
            </a:fontRef>
          </p:style>
          <p:txBody>
            <a:bodyPr rtlCol="0" anchor="ctr"/>
            <a:p>
              <a:pPr algn="ctr"/>
              <a:r>
                <a:rPr lang="en-US" altLang="zh-CN" sz="2800" b="1" dirty="0" smtClean="0">
                  <a:solidFill>
                    <a:schemeClr val="bg1"/>
                  </a:solidFill>
                </a:rPr>
                <a:t>04</a:t>
              </a:r>
              <a:endParaRPr lang="en-US" altLang="zh-CN" sz="2800" b="1" dirty="0" smtClean="0">
                <a:solidFill>
                  <a:schemeClr val="bg1"/>
                </a:solidFill>
              </a:endParaRPr>
            </a:p>
          </p:txBody>
        </p:sp>
        <p:sp>
          <p:nvSpPr>
            <p:cNvPr id="25" name="文本框 24"/>
            <p:cNvSpPr txBox="1"/>
            <p:nvPr/>
          </p:nvSpPr>
          <p:spPr>
            <a:xfrm>
              <a:off x="13846" y="6336"/>
              <a:ext cx="1417" cy="624"/>
            </a:xfrm>
            <a:prstGeom prst="roundRect">
              <a:avLst/>
            </a:prstGeom>
            <a:solidFill>
              <a:srgbClr val="C00000"/>
            </a:solidFill>
          </p:spPr>
          <p:txBody>
            <a:bodyPr wrap="square" rtlCol="0">
              <a:noAutofit/>
            </a:bodyPr>
            <a:p>
              <a:pPr algn="ctr"/>
              <a:r>
                <a:rPr lang="zh-CN" altLang="en-US" b="1">
                  <a:solidFill>
                    <a:schemeClr val="bg1"/>
                  </a:solidFill>
                  <a:latin typeface="微软雅黑" panose="020B0503020204020204" pitchFamily="34" charset="-122"/>
                  <a:ea typeface="微软雅黑" panose="020B0503020204020204" pitchFamily="34" charset="-122"/>
                </a:rPr>
                <a:t>体系</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3" name="圆角矩形 32"/>
            <p:cNvSpPr/>
            <p:nvPr/>
          </p:nvSpPr>
          <p:spPr>
            <a:xfrm>
              <a:off x="12571" y="8098"/>
              <a:ext cx="3969" cy="850"/>
            </a:xfrm>
            <a:prstGeom prst="roundRect">
              <a:avLst/>
            </a:prstGeom>
            <a:noFill/>
            <a:ln>
              <a:noFill/>
            </a:ln>
            <a:extLst>
              <a:ext uri="{909E8E84-426E-40DD-AFC4-6F175D3DCCD1}">
                <a14:hiddenFill xmlns:a14="http://schemas.microsoft.com/office/drawing/2010/main">
                  <a:solidFill>
                    <a:srgbClr val="FB290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缺乏指标间权重分配和</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综合评价方法系统研究</a:t>
              </a:r>
              <a:endParaRPr lang="zh-CN" altLang="en-US" sz="1400" noProof="0" dirty="0" smtClean="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1</a:t>
            </a:r>
            <a:r>
              <a:rPr lang="zh-CN" altLang="en-US" sz="3200" b="1" dirty="0">
                <a:solidFill>
                  <a:srgbClr val="C00000"/>
                </a:solidFill>
                <a:latin typeface="微软雅黑" panose="020B0503020204020204" pitchFamily="34" charset="-122"/>
                <a:ea typeface="微软雅黑" panose="020B0503020204020204" pitchFamily="34" charset="-122"/>
                <a:sym typeface="+mn-ea"/>
              </a:rPr>
              <a:t>：裂缝扩展行为与压力响应关系不清</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现有关于裂缝扩展与压力响应关系的认识多源于数值模拟推导且探讨条件尚不充分，缺乏可控条件下的物理实验直接验证，</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不同地质工程条件下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典型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裂缝事件</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压力曲线上的差异化响应</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规律尚不清楚，现场工程师对曲线波动的判读仍依赖个人经验，有待建立经过实验验证的规范化物理依据</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6096635" y="2615565"/>
            <a:ext cx="5946140" cy="3170555"/>
          </a:xfrm>
          <a:prstGeom prst="rect">
            <a:avLst/>
          </a:prstGeom>
        </p:spPr>
      </p:pic>
      <p:pic>
        <p:nvPicPr>
          <p:cNvPr id="12" name="图片 11"/>
          <p:cNvPicPr>
            <a:picLocks noChangeAspect="1"/>
          </p:cNvPicPr>
          <p:nvPr/>
        </p:nvPicPr>
        <p:blipFill>
          <a:blip r:embed="rId2"/>
          <a:stretch>
            <a:fillRect/>
          </a:stretch>
        </p:blipFill>
        <p:spPr>
          <a:xfrm>
            <a:off x="93345" y="2719705"/>
            <a:ext cx="5896610" cy="2957195"/>
          </a:xfrm>
          <a:prstGeom prst="rect">
            <a:avLst/>
          </a:prstGeom>
        </p:spPr>
      </p:pic>
      <p:sp>
        <p:nvSpPr>
          <p:cNvPr id="26" name="文本框 25"/>
          <p:cNvSpPr txBox="1"/>
          <p:nvPr/>
        </p:nvSpPr>
        <p:spPr>
          <a:xfrm>
            <a:off x="93345" y="5852795"/>
            <a:ext cx="589661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裂缝扩展分析数值模拟方法</a:t>
            </a:r>
            <a:endParaRPr lang="zh-CN" altLang="en-US" sz="1200">
              <a:latin typeface="微软雅黑" panose="020B0503020204020204" pitchFamily="34" charset="-122"/>
              <a:ea typeface="微软雅黑" panose="020B0503020204020204" pitchFamily="34" charset="-122"/>
            </a:endParaRPr>
          </a:p>
        </p:txBody>
      </p:sp>
      <p:sp>
        <p:nvSpPr>
          <p:cNvPr id="13" name="文本框 12"/>
          <p:cNvSpPr txBox="1"/>
          <p:nvPr/>
        </p:nvSpPr>
        <p:spPr>
          <a:xfrm>
            <a:off x="6096635" y="5852795"/>
            <a:ext cx="594677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裂缝扩展分析室内</a:t>
            </a:r>
            <a:r>
              <a:rPr lang="zh-CN" altLang="en-US" sz="1200">
                <a:latin typeface="微软雅黑" panose="020B0503020204020204" pitchFamily="34" charset="-122"/>
                <a:ea typeface="微软雅黑" panose="020B0503020204020204" pitchFamily="34" charset="-122"/>
              </a:rPr>
              <a:t>实验方法</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2</a:t>
            </a:r>
            <a:r>
              <a:rPr lang="zh-CN" altLang="en-US" sz="3200" b="1" dirty="0">
                <a:solidFill>
                  <a:srgbClr val="C00000"/>
                </a:solidFill>
                <a:latin typeface="微软雅黑" panose="020B0503020204020204" pitchFamily="34" charset="-122"/>
                <a:ea typeface="微软雅黑" panose="020B0503020204020204" pitchFamily="34" charset="-122"/>
                <a:sym typeface="+mn-ea"/>
              </a:rPr>
              <a:t>：施工期裂缝扩展信息提取技术缺乏</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施工压力信号具有非平稳、多频段叠加的特征，常规时域分析方法难以有效分离和精确识别各类裂缝扩展事件。</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小波变换</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在压裂施工曲线分析中的应用</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处于起步阶段</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国内尚处于空白</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，且目前缺乏将时频域特征与</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裂缝扩展行为</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改造体积评估</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建立定量关联的系统方法</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泸203H10-1井加砂压裂第1段曲线"/>
          <p:cNvPicPr/>
          <p:nvPr/>
        </p:nvPicPr>
        <p:blipFill>
          <a:blip r:embed="rId1"/>
          <a:srcRect t="4905"/>
          <a:stretch>
            <a:fillRect/>
          </a:stretch>
        </p:blipFill>
        <p:spPr>
          <a:xfrm>
            <a:off x="134620" y="2809240"/>
            <a:ext cx="3649980" cy="2807970"/>
          </a:xfrm>
          <a:prstGeom prst="rect">
            <a:avLst/>
          </a:prstGeom>
        </p:spPr>
      </p:pic>
      <p:pic>
        <p:nvPicPr>
          <p:cNvPr id="4" name="图片 3"/>
          <p:cNvPicPr>
            <a:picLocks noChangeAspect="1"/>
          </p:cNvPicPr>
          <p:nvPr/>
        </p:nvPicPr>
        <p:blipFill>
          <a:blip r:embed="rId2"/>
          <a:stretch>
            <a:fillRect/>
          </a:stretch>
        </p:blipFill>
        <p:spPr>
          <a:xfrm>
            <a:off x="7966075" y="2809240"/>
            <a:ext cx="4131945" cy="2807970"/>
          </a:xfrm>
          <a:prstGeom prst="rect">
            <a:avLst/>
          </a:prstGeom>
        </p:spPr>
      </p:pic>
      <p:pic>
        <p:nvPicPr>
          <p:cNvPr id="12" name="图片 11" descr="图片1"/>
          <p:cNvPicPr>
            <a:picLocks noChangeAspect="1"/>
          </p:cNvPicPr>
          <p:nvPr/>
        </p:nvPicPr>
        <p:blipFill>
          <a:blip r:embed="rId3"/>
          <a:stretch>
            <a:fillRect/>
          </a:stretch>
        </p:blipFill>
        <p:spPr>
          <a:xfrm>
            <a:off x="3887470" y="2809875"/>
            <a:ext cx="3975735" cy="2806700"/>
          </a:xfrm>
          <a:prstGeom prst="rect">
            <a:avLst/>
          </a:prstGeom>
        </p:spPr>
      </p:pic>
      <p:sp>
        <p:nvSpPr>
          <p:cNvPr id="26" name="文本框 25"/>
          <p:cNvSpPr txBox="1"/>
          <p:nvPr/>
        </p:nvSpPr>
        <p:spPr>
          <a:xfrm>
            <a:off x="134620" y="5850890"/>
            <a:ext cx="350075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典型压裂施工</a:t>
            </a:r>
            <a:r>
              <a:rPr lang="zh-CN" altLang="en-US" sz="1200">
                <a:latin typeface="微软雅黑" panose="020B0503020204020204" pitchFamily="34" charset="-122"/>
                <a:ea typeface="微软雅黑" panose="020B0503020204020204" pitchFamily="34" charset="-122"/>
              </a:rPr>
              <a:t>曲线</a:t>
            </a:r>
            <a:endParaRPr lang="zh-CN" altLang="en-US" sz="1200">
              <a:latin typeface="微软雅黑" panose="020B0503020204020204" pitchFamily="34" charset="-122"/>
              <a:ea typeface="微软雅黑" panose="020B0503020204020204" pitchFamily="34" charset="-122"/>
            </a:endParaRPr>
          </a:p>
        </p:txBody>
      </p:sp>
      <p:sp>
        <p:nvSpPr>
          <p:cNvPr id="13" name="文本框 12"/>
          <p:cNvSpPr txBox="1"/>
          <p:nvPr/>
        </p:nvSpPr>
        <p:spPr>
          <a:xfrm>
            <a:off x="3793490" y="5850890"/>
            <a:ext cx="366522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信号时频域分析原理</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
        <p:nvSpPr>
          <p:cNvPr id="14" name="文本框 13"/>
          <p:cNvSpPr txBox="1"/>
          <p:nvPr/>
        </p:nvSpPr>
        <p:spPr>
          <a:xfrm>
            <a:off x="7685405" y="5848985"/>
            <a:ext cx="44119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小波分析视角下的施工曲线时频</a:t>
            </a:r>
            <a:r>
              <a:rPr lang="zh-CN" altLang="en-US" sz="1200">
                <a:latin typeface="微软雅黑" panose="020B0503020204020204" pitchFamily="34" charset="-122"/>
                <a:ea typeface="微软雅黑" panose="020B0503020204020204" pitchFamily="34" charset="-122"/>
              </a:rPr>
              <a:t>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3</a:t>
            </a:r>
            <a:r>
              <a:rPr lang="zh-CN" altLang="en-US" sz="3200" b="1" dirty="0">
                <a:solidFill>
                  <a:srgbClr val="C00000"/>
                </a:solidFill>
                <a:latin typeface="微软雅黑" panose="020B0503020204020204" pitchFamily="34" charset="-122"/>
                <a:ea typeface="微软雅黑" panose="020B0503020204020204" pitchFamily="34" charset="-122"/>
                <a:sym typeface="+mn-ea"/>
              </a:rPr>
              <a:t>：停泵期裂缝参数反演方法不够成熟</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现有</a:t>
            </a:r>
            <a:r>
              <a:rPr kumimoji="0" lang="en-US" altLang="zh-CN"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函数理论应用多停留在</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定性</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诊断层面，</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尚未</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形成从滤失类型识别到裂缝尺寸计算的完整</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定量</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流程。且存在现场停泵数据受水锤效应和传感器精度影响质量不佳，多簇压裂条件下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应力阴影</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效应使传统等裂缝假设不再适用等</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问题，亟需发展针对性的数据预处理与</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多裂缝协同反演</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a:t>
            </a:r>
            <a:endPar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图片2"/>
          <p:cNvPicPr>
            <a:picLocks noChangeAspect="1"/>
          </p:cNvPicPr>
          <p:nvPr/>
        </p:nvPicPr>
        <p:blipFill>
          <a:blip r:embed="rId1"/>
          <a:stretch>
            <a:fillRect/>
          </a:stretch>
        </p:blipFill>
        <p:spPr>
          <a:xfrm>
            <a:off x="131445" y="2648585"/>
            <a:ext cx="2561590" cy="3075305"/>
          </a:xfrm>
          <a:prstGeom prst="rect">
            <a:avLst/>
          </a:prstGeom>
        </p:spPr>
      </p:pic>
      <p:pic>
        <p:nvPicPr>
          <p:cNvPr id="4" name="图片 3" descr="图片3"/>
          <p:cNvPicPr>
            <a:picLocks noChangeAspect="1"/>
          </p:cNvPicPr>
          <p:nvPr/>
        </p:nvPicPr>
        <p:blipFill>
          <a:blip r:embed="rId2"/>
          <a:srcRect r="521" b="947"/>
          <a:stretch>
            <a:fillRect/>
          </a:stretch>
        </p:blipFill>
        <p:spPr>
          <a:xfrm>
            <a:off x="2607945" y="2648585"/>
            <a:ext cx="5306060" cy="3075940"/>
          </a:xfrm>
          <a:prstGeom prst="rect">
            <a:avLst/>
          </a:prstGeom>
        </p:spPr>
      </p:pic>
      <p:pic>
        <p:nvPicPr>
          <p:cNvPr id="8" name="图片 7"/>
          <p:cNvPicPr>
            <a:picLocks noChangeAspect="1"/>
          </p:cNvPicPr>
          <p:nvPr/>
        </p:nvPicPr>
        <p:blipFill>
          <a:blip r:embed="rId3"/>
          <a:srcRect l="6248" r="6248"/>
          <a:stretch>
            <a:fillRect/>
          </a:stretch>
        </p:blipFill>
        <p:spPr>
          <a:xfrm>
            <a:off x="7914005" y="2791460"/>
            <a:ext cx="4161155" cy="2626995"/>
          </a:xfrm>
          <a:prstGeom prst="rect">
            <a:avLst/>
          </a:prstGeom>
          <a:ln>
            <a:solidFill>
              <a:schemeClr val="tx1"/>
            </a:solidFill>
          </a:ln>
        </p:spPr>
      </p:pic>
      <p:sp>
        <p:nvSpPr>
          <p:cNvPr id="26" name="文本框 25"/>
          <p:cNvSpPr txBox="1"/>
          <p:nvPr/>
        </p:nvSpPr>
        <p:spPr>
          <a:xfrm>
            <a:off x="123825" y="5858510"/>
            <a:ext cx="256921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典型停泵压降</a:t>
            </a:r>
            <a:r>
              <a:rPr lang="zh-CN" altLang="en-US" sz="1200">
                <a:latin typeface="微软雅黑" panose="020B0503020204020204" pitchFamily="34" charset="-122"/>
                <a:ea typeface="微软雅黑" panose="020B0503020204020204" pitchFamily="34" charset="-122"/>
              </a:rPr>
              <a:t>曲线</a:t>
            </a:r>
            <a:endParaRPr lang="zh-CN" altLang="en-US" sz="1200">
              <a:latin typeface="微软雅黑" panose="020B0503020204020204" pitchFamily="34" charset="-122"/>
              <a:ea typeface="微软雅黑" panose="020B0503020204020204" pitchFamily="34" charset="-122"/>
            </a:endParaRPr>
          </a:p>
        </p:txBody>
      </p:sp>
      <p:sp>
        <p:nvSpPr>
          <p:cNvPr id="6" name="文本框 5"/>
          <p:cNvSpPr txBox="1"/>
          <p:nvPr/>
        </p:nvSpPr>
        <p:spPr>
          <a:xfrm>
            <a:off x="2693035" y="5858510"/>
            <a:ext cx="5221605" cy="275590"/>
          </a:xfrm>
          <a:prstGeom prst="rect">
            <a:avLst/>
          </a:prstGeom>
          <a:noFill/>
        </p:spPr>
        <p:txBody>
          <a:bodyPr wrap="square" rtlCol="0">
            <a:spAutoFit/>
          </a:bodyPr>
          <a:p>
            <a:pPr algn="ct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函数分析视角下</a:t>
            </a:r>
            <a:r>
              <a:rPr lang="zh-CN" altLang="en-US" sz="1200">
                <a:latin typeface="微软雅黑" panose="020B0503020204020204" pitchFamily="34" charset="-122"/>
                <a:ea typeface="微软雅黑" panose="020B0503020204020204" pitchFamily="34" charset="-122"/>
              </a:rPr>
              <a:t>的停泵压降</a:t>
            </a:r>
            <a:r>
              <a:rPr lang="zh-CN" altLang="en-US" sz="1200">
                <a:latin typeface="微软雅黑" panose="020B0503020204020204" pitchFamily="34" charset="-122"/>
                <a:ea typeface="微软雅黑" panose="020B0503020204020204" pitchFamily="34" charset="-122"/>
              </a:rPr>
              <a:t>曲线</a:t>
            </a:r>
            <a:endParaRPr lang="zh-CN" altLang="en-US" sz="1200">
              <a:latin typeface="微软雅黑" panose="020B0503020204020204" pitchFamily="34" charset="-122"/>
              <a:ea typeface="微软雅黑" panose="020B0503020204020204" pitchFamily="34" charset="-122"/>
            </a:endParaRPr>
          </a:p>
        </p:txBody>
      </p:sp>
      <p:sp>
        <p:nvSpPr>
          <p:cNvPr id="7" name="文本框 6"/>
          <p:cNvSpPr txBox="1"/>
          <p:nvPr/>
        </p:nvSpPr>
        <p:spPr>
          <a:xfrm>
            <a:off x="7915275" y="5858510"/>
            <a:ext cx="41198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多裂缝应力干扰</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关键问题</a:t>
            </a:r>
            <a:r>
              <a:rPr lang="en-US" altLang="zh-CN" sz="3200" b="1" dirty="0">
                <a:solidFill>
                  <a:srgbClr val="C00000"/>
                </a:solidFill>
                <a:latin typeface="微软雅黑" panose="020B0503020204020204" pitchFamily="34" charset="-122"/>
                <a:ea typeface="微软雅黑" panose="020B0503020204020204" pitchFamily="34" charset="-122"/>
                <a:sym typeface="+mn-ea"/>
              </a:rPr>
              <a:t>4</a:t>
            </a:r>
            <a:r>
              <a:rPr lang="zh-CN" altLang="en-US" sz="3200" b="1" dirty="0">
                <a:solidFill>
                  <a:srgbClr val="C00000"/>
                </a:solidFill>
                <a:latin typeface="微软雅黑" panose="020B0503020204020204" pitchFamily="34" charset="-122"/>
                <a:ea typeface="微软雅黑" panose="020B0503020204020204" pitchFamily="34" charset="-122"/>
                <a:sym typeface="+mn-ea"/>
              </a:rPr>
              <a:t>：多源评价指标缺乏量化与统一框架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1337945"/>
          </a:xfrm>
          <a:prstGeom prst="rect">
            <a:avLst/>
          </a:prstGeom>
        </p:spPr>
        <p:txBody>
          <a:bodyPr wrap="square">
            <a:spAutoFit/>
          </a:bodyPr>
          <a:lstStyle/>
          <a:p>
            <a:pPr marL="457200" marR="0" lvl="0" indent="-457200" algn="just" defTabSz="914400" rtl="0"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当前压裂改造效果评价</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方法多样但各自独立</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，存在评价结果缺乏可比性与统一标准，不同指标反映改造效果的不同侧面，指标间权重分配缺乏系统研究等</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问题，且不同区块地质工程条件差异显著，固定参数的评价体系难以普适适用，有待建立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兼具科学权重分配与区块适应能力的综合评价框架</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descr="图片4"/>
          <p:cNvPicPr>
            <a:picLocks noChangeAspect="1"/>
          </p:cNvPicPr>
          <p:nvPr/>
        </p:nvPicPr>
        <p:blipFill>
          <a:blip r:embed="rId1"/>
          <a:stretch>
            <a:fillRect/>
          </a:stretch>
        </p:blipFill>
        <p:spPr>
          <a:xfrm>
            <a:off x="264795" y="2595245"/>
            <a:ext cx="6382385" cy="3197860"/>
          </a:xfrm>
          <a:prstGeom prst="rect">
            <a:avLst/>
          </a:prstGeom>
        </p:spPr>
      </p:pic>
      <p:pic>
        <p:nvPicPr>
          <p:cNvPr id="4" name="图片 3" descr="图片5"/>
          <p:cNvPicPr>
            <a:picLocks noChangeAspect="1"/>
          </p:cNvPicPr>
          <p:nvPr/>
        </p:nvPicPr>
        <p:blipFill>
          <a:blip r:embed="rId2"/>
          <a:stretch>
            <a:fillRect/>
          </a:stretch>
        </p:blipFill>
        <p:spPr>
          <a:xfrm>
            <a:off x="6726555" y="2595245"/>
            <a:ext cx="5348605" cy="3197860"/>
          </a:xfrm>
          <a:prstGeom prst="rect">
            <a:avLst/>
          </a:prstGeom>
        </p:spPr>
      </p:pic>
      <p:sp>
        <p:nvSpPr>
          <p:cNvPr id="26" name="文本框 25"/>
          <p:cNvSpPr txBox="1"/>
          <p:nvPr/>
        </p:nvSpPr>
        <p:spPr>
          <a:xfrm>
            <a:off x="264795" y="5856605"/>
            <a:ext cx="638302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当前压裂改造效果</a:t>
            </a:r>
            <a:r>
              <a:rPr lang="zh-CN" altLang="en-US" sz="1200">
                <a:latin typeface="微软雅黑" panose="020B0503020204020204" pitchFamily="34" charset="-122"/>
                <a:ea typeface="微软雅黑" panose="020B0503020204020204" pitchFamily="34" charset="-122"/>
              </a:rPr>
              <a:t>评价方法</a:t>
            </a:r>
            <a:r>
              <a:rPr lang="zh-CN" altLang="en-US" sz="1200">
                <a:latin typeface="微软雅黑" panose="020B0503020204020204" pitchFamily="34" charset="-122"/>
                <a:ea typeface="微软雅黑" panose="020B0503020204020204" pitchFamily="34" charset="-122"/>
              </a:rPr>
              <a:t>多样</a:t>
            </a:r>
            <a:endParaRPr lang="zh-CN" altLang="en-US" sz="1200">
              <a:latin typeface="微软雅黑" panose="020B0503020204020204" pitchFamily="34" charset="-122"/>
              <a:ea typeface="微软雅黑" panose="020B0503020204020204" pitchFamily="34" charset="-122"/>
            </a:endParaRPr>
          </a:p>
        </p:txBody>
      </p:sp>
      <p:sp>
        <p:nvSpPr>
          <p:cNvPr id="12" name="文本框 11"/>
          <p:cNvSpPr txBox="1"/>
          <p:nvPr/>
        </p:nvSpPr>
        <p:spPr>
          <a:xfrm>
            <a:off x="6727190" y="5855970"/>
            <a:ext cx="534733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sym typeface="+mn-ea"/>
              </a:rPr>
              <a:t>压裂改造效果评价</a:t>
            </a:r>
            <a:r>
              <a:rPr lang="zh-CN" altLang="en-US" sz="1200">
                <a:latin typeface="微软雅黑" panose="020B0503020204020204" pitchFamily="34" charset="-122"/>
                <a:ea typeface="微软雅黑" panose="020B0503020204020204" pitchFamily="34" charset="-122"/>
              </a:rPr>
              <a:t>框架基本</a:t>
            </a:r>
            <a:r>
              <a:rPr lang="zh-CN" altLang="en-US" sz="1200">
                <a:latin typeface="微软雅黑" panose="020B0503020204020204" pitchFamily="34" charset="-122"/>
                <a:ea typeface="微软雅黑" panose="020B0503020204020204" pitchFamily="34" charset="-122"/>
              </a:rPr>
              <a:t>设计</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一、研究背景与关键问题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二、攻关目标与研究内容</a:t>
            </a:r>
            <a:endParaRPr lang="zh-CN" altLang="en-US"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（一）攻关</a:t>
            </a:r>
            <a:r>
              <a:rPr lang="zh-CN" altLang="en-US" sz="3200" b="1" dirty="0">
                <a:solidFill>
                  <a:srgbClr val="C00000"/>
                </a:solidFill>
                <a:latin typeface="微软雅黑" panose="020B0503020204020204" pitchFamily="34" charset="-122"/>
                <a:ea typeface="微软雅黑" panose="020B0503020204020204" pitchFamily="34" charset="-122"/>
                <a:sym typeface="+mn-ea"/>
              </a:rPr>
              <a:t>目标</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922020"/>
          </a:xfrm>
          <a:prstGeom prst="rect">
            <a:avLst/>
          </a:prstGeom>
        </p:spPr>
        <p:txBody>
          <a:bodyPr wrap="square">
            <a:spAutoFit/>
          </a:bodyPr>
          <a:lstStyle/>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总目标：</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构建一套</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基于矿场多源数据的缝网高效压裂改造效果综合评估方法</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，实现从施工期实时诊断到压后综合评估的全流程覆盖，支撑缝网压裂工艺迭代优化，并在四川盆地页岩气开发中推广应用</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7" name="直接连接符 16"/>
          <p:cNvCxnSpPr/>
          <p:nvPr>
            <p:custDataLst>
              <p:tags r:id="rId1"/>
            </p:custDataLst>
          </p:nvPr>
        </p:nvCxnSpPr>
        <p:spPr>
          <a:xfrm>
            <a:off x="3335260" y="2905627"/>
            <a:ext cx="7627834" cy="0"/>
          </a:xfrm>
          <a:prstGeom prst="line">
            <a:avLst/>
          </a:prstGeom>
          <a:noFill/>
          <a:ln w="12700" cap="flat" cmpd="sng" algn="ctr">
            <a:solidFill>
              <a:srgbClr val="000000">
                <a:lumMod val="65000"/>
                <a:lumOff val="35000"/>
                <a:alpha val="50000"/>
              </a:srgbClr>
            </a:solidFill>
            <a:prstDash val="solid"/>
            <a:miter lim="800000"/>
          </a:ln>
          <a:effectLst/>
        </p:spPr>
      </p:cxnSp>
      <p:sp>
        <p:nvSpPr>
          <p:cNvPr id="9" name="任意多边形 70"/>
          <p:cNvSpPr/>
          <p:nvPr>
            <p:custDataLst>
              <p:tags r:id="rId2"/>
            </p:custDataLst>
          </p:nvPr>
        </p:nvSpPr>
        <p:spPr>
          <a:xfrm rot="780000">
            <a:off x="2329813" y="2901231"/>
            <a:ext cx="1224646" cy="342983"/>
          </a:xfrm>
          <a:custGeom>
            <a:avLst/>
            <a:gdLst>
              <a:gd name="connsiteX0" fmla="*/ 0 w 1508"/>
              <a:gd name="connsiteY0" fmla="*/ 357 h 369"/>
              <a:gd name="connsiteX1" fmla="*/ 706 w 1508"/>
              <a:gd name="connsiteY1" fmla="*/ 0 h 369"/>
              <a:gd name="connsiteX2" fmla="*/ 1508 w 1508"/>
              <a:gd name="connsiteY2" fmla="*/ 7 h 369"/>
              <a:gd name="connsiteX3" fmla="*/ 813 w 1508"/>
              <a:gd name="connsiteY3" fmla="*/ 369 h 369"/>
              <a:gd name="connsiteX4" fmla="*/ 0 w 1508"/>
              <a:gd name="connsiteY4" fmla="*/ 357 h 369"/>
              <a:gd name="connsiteX0-1" fmla="*/ 0 w 10000"/>
              <a:gd name="connsiteY0-2" fmla="*/ 9675 h 10515"/>
              <a:gd name="connsiteX1-3" fmla="*/ 4682 w 10000"/>
              <a:gd name="connsiteY1-4" fmla="*/ 0 h 10515"/>
              <a:gd name="connsiteX2-5" fmla="*/ 10000 w 10000"/>
              <a:gd name="connsiteY2-6" fmla="*/ 190 h 10515"/>
              <a:gd name="connsiteX3-7" fmla="*/ 5372 w 10000"/>
              <a:gd name="connsiteY3-8" fmla="*/ 10515 h 10515"/>
              <a:gd name="connsiteX4-9" fmla="*/ 0 w 10000"/>
              <a:gd name="connsiteY4-10" fmla="*/ 9675 h 10515"/>
              <a:gd name="connsiteX0-11" fmla="*/ 0 w 10000"/>
              <a:gd name="connsiteY0-12" fmla="*/ 9675 h 10602"/>
              <a:gd name="connsiteX1-13" fmla="*/ 4682 w 10000"/>
              <a:gd name="connsiteY1-14" fmla="*/ 0 h 10602"/>
              <a:gd name="connsiteX2-15" fmla="*/ 10000 w 10000"/>
              <a:gd name="connsiteY2-16" fmla="*/ 190 h 10602"/>
              <a:gd name="connsiteX3-17" fmla="*/ 5282 w 10000"/>
              <a:gd name="connsiteY3-18" fmla="*/ 10602 h 10602"/>
              <a:gd name="connsiteX4-19" fmla="*/ 0 w 10000"/>
              <a:gd name="connsiteY4-20" fmla="*/ 9675 h 10602"/>
              <a:gd name="connsiteX0-21" fmla="*/ 0 w 10000"/>
              <a:gd name="connsiteY0-22" fmla="*/ 9485 h 10412"/>
              <a:gd name="connsiteX1-23" fmla="*/ 4765 w 10000"/>
              <a:gd name="connsiteY1-24" fmla="*/ 28 h 10412"/>
              <a:gd name="connsiteX2-25" fmla="*/ 10000 w 10000"/>
              <a:gd name="connsiteY2-26" fmla="*/ 0 h 10412"/>
              <a:gd name="connsiteX3-27" fmla="*/ 5282 w 10000"/>
              <a:gd name="connsiteY3-28" fmla="*/ 10412 h 10412"/>
              <a:gd name="connsiteX4-29" fmla="*/ 0 w 10000"/>
              <a:gd name="connsiteY4-30" fmla="*/ 9485 h 10412"/>
              <a:gd name="connsiteX0-31" fmla="*/ 0 w 10000"/>
              <a:gd name="connsiteY0-32" fmla="*/ 9485 h 10412"/>
              <a:gd name="connsiteX1-33" fmla="*/ 4703 w 10000"/>
              <a:gd name="connsiteY1-34" fmla="*/ 188 h 10412"/>
              <a:gd name="connsiteX2-35" fmla="*/ 10000 w 10000"/>
              <a:gd name="connsiteY2-36" fmla="*/ 0 h 10412"/>
              <a:gd name="connsiteX3-37" fmla="*/ 5282 w 10000"/>
              <a:gd name="connsiteY3-38" fmla="*/ 10412 h 10412"/>
              <a:gd name="connsiteX4-39" fmla="*/ 0 w 10000"/>
              <a:gd name="connsiteY4-40" fmla="*/ 9485 h 10412"/>
              <a:gd name="connsiteX0-41" fmla="*/ 0 w 9901"/>
              <a:gd name="connsiteY0-42" fmla="*/ 9642 h 10569"/>
              <a:gd name="connsiteX1-43" fmla="*/ 4703 w 9901"/>
              <a:gd name="connsiteY1-44" fmla="*/ 345 h 10569"/>
              <a:gd name="connsiteX2-45" fmla="*/ 9901 w 9901"/>
              <a:gd name="connsiteY2-46" fmla="*/ 0 h 10569"/>
              <a:gd name="connsiteX3-47" fmla="*/ 5282 w 9901"/>
              <a:gd name="connsiteY3-48" fmla="*/ 10569 h 10569"/>
              <a:gd name="connsiteX4-49" fmla="*/ 0 w 9901"/>
              <a:gd name="connsiteY4-50" fmla="*/ 9642 h 10569"/>
              <a:gd name="connsiteX0-51" fmla="*/ 0 w 10000"/>
              <a:gd name="connsiteY0-52" fmla="*/ 9123 h 10979"/>
              <a:gd name="connsiteX1-53" fmla="*/ 4750 w 10000"/>
              <a:gd name="connsiteY1-54" fmla="*/ 326 h 10979"/>
              <a:gd name="connsiteX2-55" fmla="*/ 10000 w 10000"/>
              <a:gd name="connsiteY2-56" fmla="*/ 0 h 10979"/>
              <a:gd name="connsiteX3-57" fmla="*/ 5393 w 10000"/>
              <a:gd name="connsiteY3-58" fmla="*/ 10979 h 10979"/>
              <a:gd name="connsiteX4-59" fmla="*/ 0 w 10000"/>
              <a:gd name="connsiteY4-60" fmla="*/ 9123 h 1097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979">
                <a:moveTo>
                  <a:pt x="0" y="9123"/>
                </a:moveTo>
                <a:lnTo>
                  <a:pt x="4750" y="326"/>
                </a:lnTo>
                <a:lnTo>
                  <a:pt x="10000" y="0"/>
                </a:lnTo>
                <a:lnTo>
                  <a:pt x="5393" y="10979"/>
                </a:lnTo>
                <a:lnTo>
                  <a:pt x="0" y="9123"/>
                </a:lnTo>
                <a:close/>
              </a:path>
            </a:pathLst>
          </a:custGeom>
          <a:solidFill>
            <a:srgbClr val="17D594">
              <a:lumMod val="75000"/>
            </a:srgbClr>
          </a:solidFill>
          <a:ln w="12700" cap="flat" cmpd="sng" algn="ctr">
            <a:no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6" name="任意多边形: 形状 4"/>
          <p:cNvSpPr/>
          <p:nvPr>
            <p:custDataLst>
              <p:tags r:id="rId3"/>
            </p:custDataLst>
          </p:nvPr>
        </p:nvSpPr>
        <p:spPr>
          <a:xfrm flipH="1">
            <a:off x="2940869" y="2071627"/>
            <a:ext cx="557597" cy="1020816"/>
          </a:xfrm>
          <a:custGeom>
            <a:avLst/>
            <a:gdLst>
              <a:gd name="connsiteX0" fmla="*/ 553188 w 553188"/>
              <a:gd name="connsiteY0" fmla="*/ 0 h 997250"/>
              <a:gd name="connsiteX1" fmla="*/ 553188 w 553188"/>
              <a:gd name="connsiteY1" fmla="*/ 997250 h 997250"/>
              <a:gd name="connsiteX2" fmla="*/ 0 w 553188"/>
              <a:gd name="connsiteY2" fmla="*/ 850150 h 997250"/>
              <a:gd name="connsiteX0-1" fmla="*/ 550013 w 553188"/>
              <a:gd name="connsiteY0-2" fmla="*/ 0 h 1032175"/>
              <a:gd name="connsiteX1-3" fmla="*/ 553188 w 553188"/>
              <a:gd name="connsiteY1-4" fmla="*/ 1032175 h 1032175"/>
              <a:gd name="connsiteX2-5" fmla="*/ 0 w 553188"/>
              <a:gd name="connsiteY2-6" fmla="*/ 885075 h 1032175"/>
              <a:gd name="connsiteX3" fmla="*/ 550013 w 553188"/>
              <a:gd name="connsiteY3" fmla="*/ 0 h 1032175"/>
              <a:gd name="connsiteX0-7" fmla="*/ 550013 w 563801"/>
              <a:gd name="connsiteY0-8" fmla="*/ 0 h 1032175"/>
              <a:gd name="connsiteX1-9" fmla="*/ 553188 w 563801"/>
              <a:gd name="connsiteY1-10" fmla="*/ 1032175 h 1032175"/>
              <a:gd name="connsiteX2-11" fmla="*/ 0 w 563801"/>
              <a:gd name="connsiteY2-12" fmla="*/ 885075 h 1032175"/>
              <a:gd name="connsiteX3-13" fmla="*/ 550013 w 563801"/>
              <a:gd name="connsiteY3-14" fmla="*/ 0 h 1032175"/>
            </a:gdLst>
            <a:ahLst/>
            <a:cxnLst>
              <a:cxn ang="0">
                <a:pos x="connsiteX0-1" y="connsiteY0-2"/>
              </a:cxn>
              <a:cxn ang="0">
                <a:pos x="connsiteX1-3" y="connsiteY1-4"/>
              </a:cxn>
              <a:cxn ang="0">
                <a:pos x="connsiteX2-5" y="connsiteY2-6"/>
              </a:cxn>
              <a:cxn ang="0">
                <a:pos x="connsiteX3-13" y="connsiteY3-14"/>
              </a:cxn>
            </a:cxnLst>
            <a:rect l="l" t="t" r="r" b="b"/>
            <a:pathLst>
              <a:path w="563801" h="1032175">
                <a:moveTo>
                  <a:pt x="550013" y="0"/>
                </a:moveTo>
                <a:cubicBezTo>
                  <a:pt x="579646" y="347233"/>
                  <a:pt x="552130" y="688117"/>
                  <a:pt x="553188" y="1032175"/>
                </a:cubicBezTo>
                <a:lnTo>
                  <a:pt x="0" y="885075"/>
                </a:lnTo>
                <a:cubicBezTo>
                  <a:pt x="184396" y="601692"/>
                  <a:pt x="365617" y="283383"/>
                  <a:pt x="550013" y="0"/>
                </a:cubicBezTo>
                <a:close/>
              </a:path>
            </a:pathLst>
          </a:custGeom>
          <a:gradFill>
            <a:gsLst>
              <a:gs pos="0">
                <a:srgbClr val="376FFF">
                  <a:lumMod val="60000"/>
                  <a:lumOff val="40000"/>
                </a:srgbClr>
              </a:gs>
              <a:gs pos="85000">
                <a:srgbClr val="376FFF"/>
              </a:gs>
            </a:gsLst>
            <a:lin ang="3600000" scaled="0"/>
          </a:gradFill>
          <a:ln w="12700" cap="flat" cmpd="sng" algn="ctr">
            <a:noFill/>
            <a:prstDash val="solid"/>
            <a:miter lim="800000"/>
          </a:ln>
          <a:effectLst/>
        </p:spPr>
        <p:txBody>
          <a:bodyPr vertOverflow="overflow" horzOverflow="overflow" vert="horz" wrap="square" tIns="323850" numCol="1" spcCol="0" rtlCol="0" fromWordArt="0" anchor="ctr" anchorCtr="0" forceAA="0" compatLnSpc="1">
            <a:noAutofit/>
          </a:bodyPr>
          <a:p>
            <a:pPr algn="ctr"/>
            <a:endParaRPr lang="zh-CN" altLang="en-US" sz="1400" b="1">
              <a:solidFill>
                <a:srgbClr val="FFFFFF"/>
              </a:solidFill>
              <a:latin typeface="微软雅黑" panose="020B0503020204020204" pitchFamily="34" charset="-122"/>
              <a:ea typeface="微软雅黑" panose="020B0503020204020204" pitchFamily="34" charset="-122"/>
            </a:endParaRPr>
          </a:p>
        </p:txBody>
      </p:sp>
      <p:cxnSp>
        <p:nvCxnSpPr>
          <p:cNvPr id="22" name="直接连接符 21"/>
          <p:cNvCxnSpPr/>
          <p:nvPr>
            <p:custDataLst>
              <p:tags r:id="rId4"/>
            </p:custDataLst>
          </p:nvPr>
        </p:nvCxnSpPr>
        <p:spPr>
          <a:xfrm>
            <a:off x="3335260" y="3890350"/>
            <a:ext cx="7627834" cy="0"/>
          </a:xfrm>
          <a:prstGeom prst="line">
            <a:avLst/>
          </a:prstGeom>
          <a:noFill/>
          <a:ln w="12700" cap="flat" cmpd="sng" algn="ctr">
            <a:solidFill>
              <a:srgbClr val="000000">
                <a:lumMod val="65000"/>
                <a:lumOff val="35000"/>
                <a:alpha val="50000"/>
              </a:srgbClr>
            </a:solidFill>
            <a:prstDash val="solid"/>
            <a:miter lim="800000"/>
          </a:ln>
          <a:effectLst/>
        </p:spPr>
      </p:cxnSp>
      <p:cxnSp>
        <p:nvCxnSpPr>
          <p:cNvPr id="30" name="直接连接符 29"/>
          <p:cNvCxnSpPr/>
          <p:nvPr>
            <p:custDataLst>
              <p:tags r:id="rId5"/>
            </p:custDataLst>
          </p:nvPr>
        </p:nvCxnSpPr>
        <p:spPr>
          <a:xfrm>
            <a:off x="3335260" y="4875073"/>
            <a:ext cx="7627834" cy="0"/>
          </a:xfrm>
          <a:prstGeom prst="line">
            <a:avLst/>
          </a:prstGeom>
          <a:noFill/>
          <a:ln w="12700" cap="flat" cmpd="sng" algn="ctr">
            <a:solidFill>
              <a:srgbClr val="000000">
                <a:lumMod val="65000"/>
                <a:lumOff val="35000"/>
                <a:alpha val="50000"/>
              </a:srgbClr>
            </a:solidFill>
            <a:prstDash val="solid"/>
            <a:miter lim="800000"/>
          </a:ln>
          <a:effectLst/>
        </p:spPr>
      </p:cxnSp>
      <p:cxnSp>
        <p:nvCxnSpPr>
          <p:cNvPr id="35" name="直接连接符 34"/>
          <p:cNvCxnSpPr/>
          <p:nvPr>
            <p:custDataLst>
              <p:tags r:id="rId6"/>
            </p:custDataLst>
          </p:nvPr>
        </p:nvCxnSpPr>
        <p:spPr>
          <a:xfrm>
            <a:off x="3335260" y="5831535"/>
            <a:ext cx="7627834" cy="0"/>
          </a:xfrm>
          <a:prstGeom prst="line">
            <a:avLst/>
          </a:prstGeom>
          <a:noFill/>
          <a:ln w="12700" cap="flat" cmpd="sng" algn="ctr">
            <a:solidFill>
              <a:srgbClr val="000000">
                <a:lumMod val="65000"/>
                <a:lumOff val="35000"/>
                <a:alpha val="50000"/>
              </a:srgbClr>
            </a:solidFill>
            <a:prstDash val="solid"/>
            <a:miter lim="800000"/>
          </a:ln>
          <a:effectLst/>
        </p:spPr>
      </p:cxnSp>
      <p:sp>
        <p:nvSpPr>
          <p:cNvPr id="10" name="任意多边形 71"/>
          <p:cNvSpPr/>
          <p:nvPr>
            <p:custDataLst>
              <p:tags r:id="rId7"/>
            </p:custDataLst>
          </p:nvPr>
        </p:nvSpPr>
        <p:spPr>
          <a:xfrm rot="780000">
            <a:off x="1088860" y="4483822"/>
            <a:ext cx="3723122" cy="1102234"/>
          </a:xfrm>
          <a:custGeom>
            <a:avLst/>
            <a:gdLst>
              <a:gd name="connsiteX0" fmla="*/ 0 w 4511"/>
              <a:gd name="connsiteY0" fmla="*/ 1041 h 1095"/>
              <a:gd name="connsiteX1" fmla="*/ 2089 w 4511"/>
              <a:gd name="connsiteY1" fmla="*/ 0 h 1095"/>
              <a:gd name="connsiteX2" fmla="*/ 4511 w 4511"/>
              <a:gd name="connsiteY2" fmla="*/ 0 h 1095"/>
              <a:gd name="connsiteX3" fmla="*/ 2407 w 4511"/>
              <a:gd name="connsiteY3" fmla="*/ 1095 h 1095"/>
              <a:gd name="connsiteX4" fmla="*/ 0 w 4511"/>
              <a:gd name="connsiteY4" fmla="*/ 1041 h 1095"/>
              <a:gd name="connsiteX0-1" fmla="*/ 0 w 10093"/>
              <a:gd name="connsiteY0-2" fmla="*/ 9507 h 10000"/>
              <a:gd name="connsiteX1-3" fmla="*/ 4631 w 10093"/>
              <a:gd name="connsiteY1-4" fmla="*/ 0 h 10000"/>
              <a:gd name="connsiteX2-5" fmla="*/ 10093 w 10093"/>
              <a:gd name="connsiteY2-6" fmla="*/ 989 h 10000"/>
              <a:gd name="connsiteX3-7" fmla="*/ 5336 w 10093"/>
              <a:gd name="connsiteY3-8" fmla="*/ 10000 h 10000"/>
              <a:gd name="connsiteX4-9" fmla="*/ 0 w 10093"/>
              <a:gd name="connsiteY4-10" fmla="*/ 9507 h 10000"/>
              <a:gd name="connsiteX0-11" fmla="*/ 0 w 10093"/>
              <a:gd name="connsiteY0-12" fmla="*/ 9507 h 10210"/>
              <a:gd name="connsiteX1-13" fmla="*/ 4631 w 10093"/>
              <a:gd name="connsiteY1-14" fmla="*/ 0 h 10210"/>
              <a:gd name="connsiteX2-15" fmla="*/ 10093 w 10093"/>
              <a:gd name="connsiteY2-16" fmla="*/ 989 h 10210"/>
              <a:gd name="connsiteX3-17" fmla="*/ 5349 w 10093"/>
              <a:gd name="connsiteY3-18" fmla="*/ 10210 h 10210"/>
              <a:gd name="connsiteX4-19" fmla="*/ 0 w 10093"/>
              <a:gd name="connsiteY4-20" fmla="*/ 9507 h 10210"/>
              <a:gd name="connsiteX0-21" fmla="*/ 0 w 10093"/>
              <a:gd name="connsiteY0-22" fmla="*/ 9510 h 10213"/>
              <a:gd name="connsiteX1-23" fmla="*/ 4722 w 10093"/>
              <a:gd name="connsiteY1-24" fmla="*/ 0 h 10213"/>
              <a:gd name="connsiteX2-25" fmla="*/ 10093 w 10093"/>
              <a:gd name="connsiteY2-26" fmla="*/ 992 h 10213"/>
              <a:gd name="connsiteX3-27" fmla="*/ 5349 w 10093"/>
              <a:gd name="connsiteY3-28" fmla="*/ 10213 h 10213"/>
              <a:gd name="connsiteX4-29" fmla="*/ 0 w 10093"/>
              <a:gd name="connsiteY4-30" fmla="*/ 9510 h 10213"/>
              <a:gd name="connsiteX0-31" fmla="*/ 0 w 10083"/>
              <a:gd name="connsiteY0-32" fmla="*/ 9502 h 10213"/>
              <a:gd name="connsiteX1-33" fmla="*/ 4712 w 10083"/>
              <a:gd name="connsiteY1-34" fmla="*/ 0 h 10213"/>
              <a:gd name="connsiteX2-35" fmla="*/ 10083 w 10083"/>
              <a:gd name="connsiteY2-36" fmla="*/ 992 h 10213"/>
              <a:gd name="connsiteX3-37" fmla="*/ 5339 w 10083"/>
              <a:gd name="connsiteY3-38" fmla="*/ 10213 h 10213"/>
              <a:gd name="connsiteX4-39" fmla="*/ 0 w 10083"/>
              <a:gd name="connsiteY4-40" fmla="*/ 9502 h 10213"/>
              <a:gd name="connsiteX0-41" fmla="*/ 0 w 10117"/>
              <a:gd name="connsiteY0-42" fmla="*/ 9604 h 10213"/>
              <a:gd name="connsiteX1-43" fmla="*/ 4746 w 10117"/>
              <a:gd name="connsiteY1-44" fmla="*/ 0 h 10213"/>
              <a:gd name="connsiteX2-45" fmla="*/ 10117 w 10117"/>
              <a:gd name="connsiteY2-46" fmla="*/ 992 h 10213"/>
              <a:gd name="connsiteX3-47" fmla="*/ 5373 w 10117"/>
              <a:gd name="connsiteY3-48" fmla="*/ 10213 h 10213"/>
              <a:gd name="connsiteX4-49" fmla="*/ 0 w 10117"/>
              <a:gd name="connsiteY4-50" fmla="*/ 9604 h 10213"/>
              <a:gd name="connsiteX0-51" fmla="*/ 0 w 10025"/>
              <a:gd name="connsiteY0-52" fmla="*/ 9306 h 10213"/>
              <a:gd name="connsiteX1-53" fmla="*/ 4654 w 10025"/>
              <a:gd name="connsiteY1-54" fmla="*/ 0 h 10213"/>
              <a:gd name="connsiteX2-55" fmla="*/ 10025 w 10025"/>
              <a:gd name="connsiteY2-56" fmla="*/ 992 h 10213"/>
              <a:gd name="connsiteX3-57" fmla="*/ 5281 w 10025"/>
              <a:gd name="connsiteY3-58" fmla="*/ 10213 h 10213"/>
              <a:gd name="connsiteX4-59" fmla="*/ 0 w 10025"/>
              <a:gd name="connsiteY4-60" fmla="*/ 9306 h 10213"/>
              <a:gd name="connsiteX0-61" fmla="*/ 0 w 10097"/>
              <a:gd name="connsiteY0-62" fmla="*/ 9510 h 10213"/>
              <a:gd name="connsiteX1-63" fmla="*/ 4726 w 10097"/>
              <a:gd name="connsiteY1-64" fmla="*/ 0 h 10213"/>
              <a:gd name="connsiteX2-65" fmla="*/ 10097 w 10097"/>
              <a:gd name="connsiteY2-66" fmla="*/ 992 h 10213"/>
              <a:gd name="connsiteX3-67" fmla="*/ 5353 w 10097"/>
              <a:gd name="connsiteY3-68" fmla="*/ 10213 h 10213"/>
              <a:gd name="connsiteX4-69" fmla="*/ 0 w 10097"/>
              <a:gd name="connsiteY4-70" fmla="*/ 9510 h 10213"/>
              <a:gd name="connsiteX0-71" fmla="*/ 0 w 10097"/>
              <a:gd name="connsiteY0-72" fmla="*/ 9510 h 10877"/>
              <a:gd name="connsiteX1-73" fmla="*/ 4726 w 10097"/>
              <a:gd name="connsiteY1-74" fmla="*/ 0 h 10877"/>
              <a:gd name="connsiteX2-75" fmla="*/ 10097 w 10097"/>
              <a:gd name="connsiteY2-76" fmla="*/ 992 h 10877"/>
              <a:gd name="connsiteX3-77" fmla="*/ 5395 w 10097"/>
              <a:gd name="connsiteY3-78" fmla="*/ 10877 h 10877"/>
              <a:gd name="connsiteX4-79" fmla="*/ 0 w 10097"/>
              <a:gd name="connsiteY4-80" fmla="*/ 9510 h 1087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97" h="10877">
                <a:moveTo>
                  <a:pt x="0" y="9510"/>
                </a:moveTo>
                <a:lnTo>
                  <a:pt x="4726" y="0"/>
                </a:lnTo>
                <a:lnTo>
                  <a:pt x="10097" y="992"/>
                </a:lnTo>
                <a:lnTo>
                  <a:pt x="5395" y="10877"/>
                </a:lnTo>
                <a:lnTo>
                  <a:pt x="0" y="9510"/>
                </a:lnTo>
                <a:close/>
              </a:path>
            </a:pathLst>
          </a:custGeom>
          <a:solidFill>
            <a:srgbClr val="FF7429">
              <a:lumMod val="75000"/>
            </a:srgbClr>
          </a:solidFill>
          <a:ln w="12700" cap="flat" cmpd="sng" algn="ctr">
            <a:no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11" name="任意多边形 69"/>
          <p:cNvSpPr/>
          <p:nvPr>
            <p:custDataLst>
              <p:tags r:id="rId8"/>
            </p:custDataLst>
          </p:nvPr>
        </p:nvSpPr>
        <p:spPr>
          <a:xfrm rot="780000">
            <a:off x="1720641" y="3692526"/>
            <a:ext cx="2450645" cy="694875"/>
          </a:xfrm>
          <a:custGeom>
            <a:avLst/>
            <a:gdLst>
              <a:gd name="connsiteX0" fmla="*/ 0 w 2932"/>
              <a:gd name="connsiteY0" fmla="*/ 682 h 716"/>
              <a:gd name="connsiteX1" fmla="*/ 1366 w 2932"/>
              <a:gd name="connsiteY1" fmla="*/ 0 h 716"/>
              <a:gd name="connsiteX2" fmla="*/ 2932 w 2932"/>
              <a:gd name="connsiteY2" fmla="*/ 9 h 716"/>
              <a:gd name="connsiteX3" fmla="*/ 1573 w 2932"/>
              <a:gd name="connsiteY3" fmla="*/ 716 h 716"/>
              <a:gd name="connsiteX4" fmla="*/ 0 w 2932"/>
              <a:gd name="connsiteY4" fmla="*/ 682 h 716"/>
              <a:gd name="connsiteX0-1" fmla="*/ 0 w 10000"/>
              <a:gd name="connsiteY0-2" fmla="*/ 9525 h 10145"/>
              <a:gd name="connsiteX1-3" fmla="*/ 4659 w 10000"/>
              <a:gd name="connsiteY1-4" fmla="*/ 0 h 10145"/>
              <a:gd name="connsiteX2-5" fmla="*/ 10000 w 10000"/>
              <a:gd name="connsiteY2-6" fmla="*/ 126 h 10145"/>
              <a:gd name="connsiteX3-7" fmla="*/ 5361 w 10000"/>
              <a:gd name="connsiteY3-8" fmla="*/ 10145 h 10145"/>
              <a:gd name="connsiteX4-9" fmla="*/ 0 w 10000"/>
              <a:gd name="connsiteY4-10" fmla="*/ 9525 h 10145"/>
              <a:gd name="connsiteX0-11" fmla="*/ 0 w 10000"/>
              <a:gd name="connsiteY0-12" fmla="*/ 9598 h 10218"/>
              <a:gd name="connsiteX1-13" fmla="*/ 4739 w 10000"/>
              <a:gd name="connsiteY1-14" fmla="*/ 0 h 10218"/>
              <a:gd name="connsiteX2-15" fmla="*/ 10000 w 10000"/>
              <a:gd name="connsiteY2-16" fmla="*/ 199 h 10218"/>
              <a:gd name="connsiteX3-17" fmla="*/ 5361 w 10000"/>
              <a:gd name="connsiteY3-18" fmla="*/ 10218 h 10218"/>
              <a:gd name="connsiteX4-19" fmla="*/ 0 w 10000"/>
              <a:gd name="connsiteY4-20" fmla="*/ 9598 h 10218"/>
              <a:gd name="connsiteX0-21" fmla="*/ 0 w 10019"/>
              <a:gd name="connsiteY0-22" fmla="*/ 9598 h 10218"/>
              <a:gd name="connsiteX1-23" fmla="*/ 4739 w 10019"/>
              <a:gd name="connsiteY1-24" fmla="*/ 0 h 10218"/>
              <a:gd name="connsiteX2-25" fmla="*/ 10019 w 10019"/>
              <a:gd name="connsiteY2-26" fmla="*/ 513 h 10218"/>
              <a:gd name="connsiteX3-27" fmla="*/ 5361 w 10019"/>
              <a:gd name="connsiteY3-28" fmla="*/ 10218 h 10218"/>
              <a:gd name="connsiteX4-29" fmla="*/ 0 w 10019"/>
              <a:gd name="connsiteY4-30" fmla="*/ 9598 h 10218"/>
              <a:gd name="connsiteX0-31" fmla="*/ 0 w 10019"/>
              <a:gd name="connsiteY0-32" fmla="*/ 9598 h 10402"/>
              <a:gd name="connsiteX1-33" fmla="*/ 4739 w 10019"/>
              <a:gd name="connsiteY1-34" fmla="*/ 0 h 10402"/>
              <a:gd name="connsiteX2-35" fmla="*/ 10019 w 10019"/>
              <a:gd name="connsiteY2-36" fmla="*/ 513 h 10402"/>
              <a:gd name="connsiteX3-37" fmla="*/ 5357 w 10019"/>
              <a:gd name="connsiteY3-38" fmla="*/ 10402 h 10402"/>
              <a:gd name="connsiteX4-39" fmla="*/ 0 w 10019"/>
              <a:gd name="connsiteY4-40" fmla="*/ 9598 h 10402"/>
              <a:gd name="connsiteX0-41" fmla="*/ 0 w 10063"/>
              <a:gd name="connsiteY0-42" fmla="*/ 9598 h 10402"/>
              <a:gd name="connsiteX1-43" fmla="*/ 4739 w 10063"/>
              <a:gd name="connsiteY1-44" fmla="*/ 0 h 10402"/>
              <a:gd name="connsiteX2-45" fmla="*/ 10063 w 10063"/>
              <a:gd name="connsiteY2-46" fmla="*/ 474 h 10402"/>
              <a:gd name="connsiteX3-47" fmla="*/ 5357 w 10063"/>
              <a:gd name="connsiteY3-48" fmla="*/ 10402 h 10402"/>
              <a:gd name="connsiteX4-49" fmla="*/ 0 w 10063"/>
              <a:gd name="connsiteY4-50" fmla="*/ 9598 h 10402"/>
              <a:gd name="connsiteX0-51" fmla="*/ 0 w 10063"/>
              <a:gd name="connsiteY0-52" fmla="*/ 9598 h 11190"/>
              <a:gd name="connsiteX1-53" fmla="*/ 4739 w 10063"/>
              <a:gd name="connsiteY1-54" fmla="*/ 0 h 11190"/>
              <a:gd name="connsiteX2-55" fmla="*/ 10063 w 10063"/>
              <a:gd name="connsiteY2-56" fmla="*/ 474 h 11190"/>
              <a:gd name="connsiteX3-57" fmla="*/ 5403 w 10063"/>
              <a:gd name="connsiteY3-58" fmla="*/ 11190 h 11190"/>
              <a:gd name="connsiteX4-59" fmla="*/ 0 w 10063"/>
              <a:gd name="connsiteY4-60" fmla="*/ 9598 h 1119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63" h="11190">
                <a:moveTo>
                  <a:pt x="0" y="9598"/>
                </a:moveTo>
                <a:lnTo>
                  <a:pt x="4739" y="0"/>
                </a:lnTo>
                <a:lnTo>
                  <a:pt x="10063" y="474"/>
                </a:lnTo>
                <a:lnTo>
                  <a:pt x="5403" y="11190"/>
                </a:lnTo>
                <a:lnTo>
                  <a:pt x="0" y="9598"/>
                </a:lnTo>
                <a:close/>
              </a:path>
            </a:pathLst>
          </a:custGeom>
          <a:solidFill>
            <a:srgbClr val="FFC000">
              <a:lumMod val="75000"/>
            </a:srgbClr>
          </a:solidFill>
          <a:ln w="12700" cap="flat" cmpd="sng" algn="ctr">
            <a:noFill/>
            <a:prstDash val="solid"/>
            <a:miter lim="800000"/>
          </a:ln>
          <a:effectLst/>
        </p:spPr>
        <p:txBody>
          <a:bodyPr rtlCol="0" anchor="ctr"/>
          <a:p>
            <a:pPr algn="ctr"/>
            <a:endParaRPr lang="zh-CN" altLang="en-US">
              <a:solidFill>
                <a:srgbClr val="FFFFFF"/>
              </a:solidFill>
              <a:latin typeface="微软雅黑" panose="020B0503020204020204" pitchFamily="34" charset="-122"/>
              <a:ea typeface="微软雅黑" panose="020B0503020204020204" pitchFamily="34" charset="-122"/>
            </a:endParaRPr>
          </a:p>
        </p:txBody>
      </p:sp>
      <p:sp>
        <p:nvSpPr>
          <p:cNvPr id="36" name="任意多边形: 形状 35"/>
          <p:cNvSpPr/>
          <p:nvPr>
            <p:custDataLst>
              <p:tags r:id="rId9"/>
            </p:custDataLst>
          </p:nvPr>
        </p:nvSpPr>
        <p:spPr>
          <a:xfrm>
            <a:off x="2403918" y="2065975"/>
            <a:ext cx="555782" cy="1033192"/>
          </a:xfrm>
          <a:custGeom>
            <a:avLst/>
            <a:gdLst>
              <a:gd name="connsiteX0" fmla="*/ 553188 w 553188"/>
              <a:gd name="connsiteY0" fmla="*/ 0 h 997250"/>
              <a:gd name="connsiteX1" fmla="*/ 553188 w 553188"/>
              <a:gd name="connsiteY1" fmla="*/ 997250 h 997250"/>
              <a:gd name="connsiteX2" fmla="*/ 0 w 553188"/>
              <a:gd name="connsiteY2" fmla="*/ 850150 h 997250"/>
              <a:gd name="connsiteX0-1" fmla="*/ 565141 w 565141"/>
              <a:gd name="connsiteY0-2" fmla="*/ 0 h 1051038"/>
              <a:gd name="connsiteX1-3" fmla="*/ 553188 w 565141"/>
              <a:gd name="connsiteY1-4" fmla="*/ 1051038 h 1051038"/>
              <a:gd name="connsiteX2-5" fmla="*/ 0 w 565141"/>
              <a:gd name="connsiteY2-6" fmla="*/ 903938 h 1051038"/>
              <a:gd name="connsiteX3" fmla="*/ 565141 w 565141"/>
              <a:gd name="connsiteY3" fmla="*/ 0 h 1051038"/>
              <a:gd name="connsiteX0-7" fmla="*/ 558791 w 558791"/>
              <a:gd name="connsiteY0-8" fmla="*/ 0 h 1041513"/>
              <a:gd name="connsiteX1-9" fmla="*/ 553188 w 558791"/>
              <a:gd name="connsiteY1-10" fmla="*/ 1041513 h 1041513"/>
              <a:gd name="connsiteX2-11" fmla="*/ 0 w 558791"/>
              <a:gd name="connsiteY2-12" fmla="*/ 894413 h 1041513"/>
              <a:gd name="connsiteX3-13" fmla="*/ 558791 w 558791"/>
              <a:gd name="connsiteY3-14" fmla="*/ 0 h 1041513"/>
              <a:gd name="connsiteX0-15" fmla="*/ 561966 w 561966"/>
              <a:gd name="connsiteY0-16" fmla="*/ 0 h 1044688"/>
              <a:gd name="connsiteX1-17" fmla="*/ 553188 w 561966"/>
              <a:gd name="connsiteY1-18" fmla="*/ 1044688 h 1044688"/>
              <a:gd name="connsiteX2-19" fmla="*/ 0 w 561966"/>
              <a:gd name="connsiteY2-20" fmla="*/ 897588 h 1044688"/>
              <a:gd name="connsiteX3-21" fmla="*/ 561966 w 561966"/>
              <a:gd name="connsiteY3-22" fmla="*/ 0 h 1044688"/>
            </a:gdLst>
            <a:ahLst/>
            <a:cxnLst>
              <a:cxn ang="0">
                <a:pos x="connsiteX0-1" y="connsiteY0-2"/>
              </a:cxn>
              <a:cxn ang="0">
                <a:pos x="connsiteX1-3" y="connsiteY1-4"/>
              </a:cxn>
              <a:cxn ang="0">
                <a:pos x="connsiteX2-5" y="connsiteY2-6"/>
              </a:cxn>
              <a:cxn ang="0">
                <a:pos x="connsiteX3-13" y="connsiteY3-14"/>
              </a:cxn>
            </a:cxnLst>
            <a:rect l="l" t="t" r="r" b="b"/>
            <a:pathLst>
              <a:path w="561966" h="1044688">
                <a:moveTo>
                  <a:pt x="561966" y="0"/>
                </a:moveTo>
                <a:cubicBezTo>
                  <a:pt x="560098" y="347171"/>
                  <a:pt x="555056" y="697517"/>
                  <a:pt x="553188" y="1044688"/>
                </a:cubicBezTo>
                <a:lnTo>
                  <a:pt x="0" y="897588"/>
                </a:lnTo>
                <a:cubicBezTo>
                  <a:pt x="184396" y="614205"/>
                  <a:pt x="377570" y="283383"/>
                  <a:pt x="561966" y="0"/>
                </a:cubicBezTo>
                <a:close/>
              </a:path>
            </a:pathLst>
          </a:custGeom>
          <a:gradFill>
            <a:gsLst>
              <a:gs pos="0">
                <a:srgbClr val="376FFF">
                  <a:lumMod val="60000"/>
                  <a:lumOff val="40000"/>
                </a:srgbClr>
              </a:gs>
              <a:gs pos="85000">
                <a:srgbClr val="376FFF"/>
              </a:gs>
            </a:gsLst>
            <a:lin ang="8100000" scaled="0"/>
          </a:gradFill>
          <a:ln w="12700" cap="flat" cmpd="sng" algn="ctr">
            <a:noFill/>
            <a:prstDash val="solid"/>
            <a:miter lim="800000"/>
          </a:ln>
          <a:effectLst/>
        </p:spPr>
        <p:txBody>
          <a:bodyPr vertOverflow="overflow" horzOverflow="overflow" vert="horz" wrap="none" lIns="180000" tIns="288000" rIns="0" bIns="0" numCol="1" spcCol="0" rtlCol="0" fromWordArt="0" anchor="ctr" anchorCtr="0" forceAA="0" compatLnSpc="1">
            <a:noAutofit/>
          </a:bodyPr>
          <a:p>
            <a:pPr algn="ctr"/>
            <a:r>
              <a:rPr lang="en-US" altLang="zh-CN" sz="1600" b="1" dirty="0">
                <a:solidFill>
                  <a:srgbClr val="FFFFFF"/>
                </a:solidFill>
                <a:latin typeface="微软雅黑" panose="020B0503020204020204" pitchFamily="34" charset="-122"/>
                <a:ea typeface="微软雅黑" panose="020B0503020204020204" pitchFamily="34" charset="-122"/>
              </a:rPr>
              <a:t>01</a:t>
            </a:r>
            <a:endParaRPr lang="zh-CN" altLang="en-US" sz="1600" b="1" dirty="0">
              <a:solidFill>
                <a:srgbClr val="FFFFFF"/>
              </a:solidFill>
              <a:latin typeface="微软雅黑" panose="020B0503020204020204" pitchFamily="34" charset="-122"/>
              <a:ea typeface="微软雅黑" panose="020B0503020204020204" pitchFamily="34" charset="-122"/>
            </a:endParaRPr>
          </a:p>
        </p:txBody>
      </p:sp>
      <p:sp>
        <p:nvSpPr>
          <p:cNvPr id="43" name="任意多边形: 形状 42"/>
          <p:cNvSpPr/>
          <p:nvPr>
            <p:custDataLst>
              <p:tags r:id="rId10"/>
            </p:custDataLst>
          </p:nvPr>
        </p:nvSpPr>
        <p:spPr>
          <a:xfrm>
            <a:off x="1763973" y="3045046"/>
            <a:ext cx="1187114" cy="1172538"/>
          </a:xfrm>
          <a:custGeom>
            <a:avLst/>
            <a:gdLst>
              <a:gd name="connsiteX0" fmla="*/ 563764 w 1200323"/>
              <a:gd name="connsiteY0" fmla="*/ 0 h 1185585"/>
              <a:gd name="connsiteX1" fmla="*/ 1200323 w 1200323"/>
              <a:gd name="connsiteY1" fmla="*/ 169270 h 1185585"/>
              <a:gd name="connsiteX2" fmla="*/ 1200323 w 1200323"/>
              <a:gd name="connsiteY2" fmla="*/ 1185585 h 1185585"/>
              <a:gd name="connsiteX3" fmla="*/ 0 w 1200323"/>
              <a:gd name="connsiteY3" fmla="*/ 866403 h 1185585"/>
            </a:gdLst>
            <a:ahLst/>
            <a:cxnLst>
              <a:cxn ang="0">
                <a:pos x="connsiteX0" y="connsiteY0"/>
              </a:cxn>
              <a:cxn ang="0">
                <a:pos x="connsiteX1" y="connsiteY1"/>
              </a:cxn>
              <a:cxn ang="0">
                <a:pos x="connsiteX2" y="connsiteY2"/>
              </a:cxn>
              <a:cxn ang="0">
                <a:pos x="connsiteX3" y="connsiteY3"/>
              </a:cxn>
            </a:cxnLst>
            <a:rect l="l" t="t" r="r" b="b"/>
            <a:pathLst>
              <a:path w="1200323" h="1185585">
                <a:moveTo>
                  <a:pt x="563764" y="0"/>
                </a:moveTo>
                <a:lnTo>
                  <a:pt x="1200323" y="169270"/>
                </a:lnTo>
                <a:lnTo>
                  <a:pt x="1200323" y="1185585"/>
                </a:lnTo>
                <a:lnTo>
                  <a:pt x="0" y="866403"/>
                </a:lnTo>
                <a:close/>
              </a:path>
            </a:pathLst>
          </a:custGeom>
          <a:gradFill>
            <a:gsLst>
              <a:gs pos="0">
                <a:srgbClr val="17D594">
                  <a:lumMod val="60000"/>
                  <a:lumOff val="40000"/>
                </a:srgbClr>
              </a:gs>
              <a:gs pos="85000">
                <a:srgbClr val="17D594"/>
              </a:gs>
            </a:gsLst>
            <a:lin ang="12000000" scaled="0"/>
          </a:gradFill>
          <a:ln w="12700" cap="flat" cmpd="sng" algn="ctr">
            <a:noFill/>
            <a:prstDash val="solid"/>
            <a:miter lim="800000"/>
          </a:ln>
          <a:effectLst/>
        </p:spPr>
        <p:txBody>
          <a:bodyPr vertOverflow="overflow" horzOverflow="overflow" vert="horz" wrap="none" lIns="0" tIns="0" rIns="0" bIns="0" numCol="1" spcCol="0" rtlCol="0" fromWordArt="0" anchor="ctr" anchorCtr="0" forceAA="0" compatLnSpc="1">
            <a:noAutofit/>
          </a:bodyPr>
          <a:p>
            <a:pPr algn="ctr"/>
            <a:r>
              <a:rPr lang="en-US" altLang="zh-CN" b="1" dirty="0">
                <a:solidFill>
                  <a:srgbClr val="FFFFFF"/>
                </a:solidFill>
                <a:latin typeface="微软雅黑" panose="020B0503020204020204" pitchFamily="34" charset="-122"/>
                <a:ea typeface="微软雅黑" panose="020B0503020204020204" pitchFamily="34" charset="-122"/>
              </a:rPr>
              <a:t>02</a:t>
            </a:r>
            <a:endParaRPr lang="zh-CN" altLang="en-US" b="1" dirty="0">
              <a:solidFill>
                <a:srgbClr val="FFFFFF"/>
              </a:solidFill>
              <a:latin typeface="微软雅黑" panose="020B0503020204020204" pitchFamily="34" charset="-122"/>
              <a:ea typeface="微软雅黑" panose="020B0503020204020204" pitchFamily="34" charset="-122"/>
            </a:endParaRPr>
          </a:p>
        </p:txBody>
      </p:sp>
      <p:sp>
        <p:nvSpPr>
          <p:cNvPr id="52" name="任意多边形: 形状 51"/>
          <p:cNvSpPr/>
          <p:nvPr>
            <p:custDataLst>
              <p:tags r:id="rId11"/>
            </p:custDataLst>
          </p:nvPr>
        </p:nvSpPr>
        <p:spPr>
          <a:xfrm>
            <a:off x="1113353" y="4005276"/>
            <a:ext cx="1837648" cy="1385392"/>
          </a:xfrm>
          <a:custGeom>
            <a:avLst/>
            <a:gdLst>
              <a:gd name="connsiteX0" fmla="*/ 589994 w 1858096"/>
              <a:gd name="connsiteY0" fmla="*/ 0 h 1400807"/>
              <a:gd name="connsiteX1" fmla="*/ 1858096 w 1858096"/>
              <a:gd name="connsiteY1" fmla="*/ 337206 h 1400807"/>
              <a:gd name="connsiteX2" fmla="*/ 1858096 w 1858096"/>
              <a:gd name="connsiteY2" fmla="*/ 1400807 h 1400807"/>
              <a:gd name="connsiteX3" fmla="*/ 0 w 1858096"/>
              <a:gd name="connsiteY3" fmla="*/ 906714 h 1400807"/>
            </a:gdLst>
            <a:ahLst/>
            <a:cxnLst>
              <a:cxn ang="0">
                <a:pos x="connsiteX0" y="connsiteY0"/>
              </a:cxn>
              <a:cxn ang="0">
                <a:pos x="connsiteX1" y="connsiteY1"/>
              </a:cxn>
              <a:cxn ang="0">
                <a:pos x="connsiteX2" y="connsiteY2"/>
              </a:cxn>
              <a:cxn ang="0">
                <a:pos x="connsiteX3" y="connsiteY3"/>
              </a:cxn>
            </a:cxnLst>
            <a:rect l="l" t="t" r="r" b="b"/>
            <a:pathLst>
              <a:path w="1858096" h="1400807">
                <a:moveTo>
                  <a:pt x="589994" y="0"/>
                </a:moveTo>
                <a:lnTo>
                  <a:pt x="1858096" y="337206"/>
                </a:lnTo>
                <a:lnTo>
                  <a:pt x="1858096" y="1400807"/>
                </a:lnTo>
                <a:lnTo>
                  <a:pt x="0" y="906714"/>
                </a:lnTo>
                <a:close/>
              </a:path>
            </a:pathLst>
          </a:custGeom>
          <a:gradFill>
            <a:gsLst>
              <a:gs pos="0">
                <a:srgbClr val="FFC000">
                  <a:lumMod val="60000"/>
                  <a:lumOff val="40000"/>
                </a:srgbClr>
              </a:gs>
              <a:gs pos="85000">
                <a:srgbClr val="FFC000"/>
              </a:gs>
            </a:gsLst>
            <a:lin ang="12000000" scaled="0"/>
          </a:gradFill>
          <a:ln w="12700" cap="flat" cmpd="sng" algn="ctr">
            <a:noFill/>
            <a:prstDash val="solid"/>
            <a:miter lim="800000"/>
          </a:ln>
          <a:effectLst/>
        </p:spPr>
        <p:txBody>
          <a:bodyPr vertOverflow="overflow" horzOverflow="overflow" vert="horz" wrap="none" lIns="0" tIns="0" rIns="0" bIns="0" numCol="1" spcCol="0" rtlCol="0" fromWordArt="0" anchor="ctr" anchorCtr="0" forceAA="0" compatLnSpc="1">
            <a:noAutofit/>
          </a:bodyPr>
          <a:p>
            <a:pPr algn="ctr"/>
            <a:r>
              <a:rPr lang="en-US" altLang="zh-CN" sz="2000" b="1" dirty="0">
                <a:solidFill>
                  <a:srgbClr val="FFFFFF"/>
                </a:solidFill>
                <a:latin typeface="微软雅黑" panose="020B0503020204020204" pitchFamily="34" charset="-122"/>
                <a:ea typeface="微软雅黑" panose="020B0503020204020204" pitchFamily="34" charset="-122"/>
              </a:rPr>
              <a:t>03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56" name="任意多边形: 形状 55"/>
          <p:cNvSpPr/>
          <p:nvPr>
            <p:custDataLst>
              <p:tags r:id="rId12"/>
            </p:custDataLst>
          </p:nvPr>
        </p:nvSpPr>
        <p:spPr>
          <a:xfrm>
            <a:off x="489109" y="5016376"/>
            <a:ext cx="2462084" cy="1499674"/>
          </a:xfrm>
          <a:custGeom>
            <a:avLst/>
            <a:gdLst>
              <a:gd name="connsiteX0" fmla="*/ 555937 w 2489480"/>
              <a:gd name="connsiteY0" fmla="*/ 0 h 1516361"/>
              <a:gd name="connsiteX1" fmla="*/ 2489480 w 2489480"/>
              <a:gd name="connsiteY1" fmla="*/ 514155 h 1516361"/>
              <a:gd name="connsiteX2" fmla="*/ 2489480 w 2489480"/>
              <a:gd name="connsiteY2" fmla="*/ 1516361 h 1516361"/>
              <a:gd name="connsiteX3" fmla="*/ 0 w 2489480"/>
              <a:gd name="connsiteY3" fmla="*/ 854374 h 1516361"/>
              <a:gd name="connsiteX4" fmla="*/ 555937 w 2489480"/>
              <a:gd name="connsiteY4" fmla="*/ 0 h 1516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9480" h="1516361">
                <a:moveTo>
                  <a:pt x="555937" y="0"/>
                </a:moveTo>
                <a:lnTo>
                  <a:pt x="2489480" y="514155"/>
                </a:lnTo>
                <a:lnTo>
                  <a:pt x="2489480" y="1516361"/>
                </a:lnTo>
                <a:lnTo>
                  <a:pt x="0" y="854374"/>
                </a:lnTo>
                <a:lnTo>
                  <a:pt x="555937" y="0"/>
                </a:lnTo>
                <a:close/>
              </a:path>
            </a:pathLst>
          </a:custGeom>
          <a:gradFill>
            <a:gsLst>
              <a:gs pos="0">
                <a:srgbClr val="FF7429">
                  <a:lumMod val="60000"/>
                  <a:lumOff val="40000"/>
                </a:srgbClr>
              </a:gs>
              <a:gs pos="85000">
                <a:srgbClr val="FF7429"/>
              </a:gs>
            </a:gsLst>
            <a:lin ang="10800000" scaled="0"/>
          </a:gradFill>
          <a:ln w="12700" cap="flat" cmpd="sng" algn="ctr">
            <a:noFill/>
            <a:prstDash val="solid"/>
            <a:miter lim="800000"/>
          </a:ln>
          <a:effectLst/>
        </p:spPr>
        <p:txBody>
          <a:bodyPr vertOverflow="overflow" horzOverflow="overflow" vert="horz" wrap="none" lIns="0" tIns="0" rIns="0" bIns="0" numCol="1" spcCol="0" rtlCol="0" fromWordArt="0" anchor="ctr" anchorCtr="0" forceAA="0" compatLnSpc="1">
            <a:noAutofit/>
          </a:bodyPr>
          <a:p>
            <a:pPr algn="ctr"/>
            <a:r>
              <a:rPr lang="en-US" altLang="zh-CN" sz="2200" b="1" dirty="0">
                <a:solidFill>
                  <a:srgbClr val="FFFFFF"/>
                </a:solidFill>
                <a:latin typeface="微软雅黑" panose="020B0503020204020204" pitchFamily="34" charset="-122"/>
                <a:ea typeface="微软雅黑" panose="020B0503020204020204" pitchFamily="34" charset="-122"/>
              </a:rPr>
              <a:t>04</a:t>
            </a:r>
            <a:endParaRPr lang="zh-CN" altLang="en-US" sz="2200" b="1" dirty="0">
              <a:solidFill>
                <a:srgbClr val="FFFFFF"/>
              </a:solidFill>
              <a:latin typeface="微软雅黑" panose="020B0503020204020204" pitchFamily="34" charset="-122"/>
              <a:ea typeface="微软雅黑" panose="020B0503020204020204" pitchFamily="34" charset="-122"/>
            </a:endParaRPr>
          </a:p>
        </p:txBody>
      </p:sp>
      <p:sp>
        <p:nvSpPr>
          <p:cNvPr id="7" name="任意多边形: 形状 5"/>
          <p:cNvSpPr/>
          <p:nvPr>
            <p:custDataLst>
              <p:tags r:id="rId13"/>
            </p:custDataLst>
          </p:nvPr>
        </p:nvSpPr>
        <p:spPr>
          <a:xfrm flipH="1">
            <a:off x="2951545" y="3045046"/>
            <a:ext cx="1187114" cy="1172538"/>
          </a:xfrm>
          <a:custGeom>
            <a:avLst/>
            <a:gdLst>
              <a:gd name="connsiteX0" fmla="*/ 563764 w 1200323"/>
              <a:gd name="connsiteY0" fmla="*/ 0 h 1185585"/>
              <a:gd name="connsiteX1" fmla="*/ 1200323 w 1200323"/>
              <a:gd name="connsiteY1" fmla="*/ 169270 h 1185585"/>
              <a:gd name="connsiteX2" fmla="*/ 1200323 w 1200323"/>
              <a:gd name="connsiteY2" fmla="*/ 1185585 h 1185585"/>
              <a:gd name="connsiteX3" fmla="*/ 0 w 1200323"/>
              <a:gd name="connsiteY3" fmla="*/ 866403 h 1185585"/>
            </a:gdLst>
            <a:ahLst/>
            <a:cxnLst>
              <a:cxn ang="0">
                <a:pos x="connsiteX0" y="connsiteY0"/>
              </a:cxn>
              <a:cxn ang="0">
                <a:pos x="connsiteX1" y="connsiteY1"/>
              </a:cxn>
              <a:cxn ang="0">
                <a:pos x="connsiteX2" y="connsiteY2"/>
              </a:cxn>
              <a:cxn ang="0">
                <a:pos x="connsiteX3" y="connsiteY3"/>
              </a:cxn>
            </a:cxnLst>
            <a:rect l="l" t="t" r="r" b="b"/>
            <a:pathLst>
              <a:path w="1200323" h="1185585">
                <a:moveTo>
                  <a:pt x="563764" y="0"/>
                </a:moveTo>
                <a:lnTo>
                  <a:pt x="1200323" y="169270"/>
                </a:lnTo>
                <a:lnTo>
                  <a:pt x="1200323" y="1185585"/>
                </a:lnTo>
                <a:lnTo>
                  <a:pt x="0" y="866403"/>
                </a:lnTo>
                <a:close/>
              </a:path>
            </a:pathLst>
          </a:custGeom>
          <a:gradFill flip="none" rotWithShape="1">
            <a:gsLst>
              <a:gs pos="0">
                <a:srgbClr val="17D594">
                  <a:lumMod val="60000"/>
                  <a:lumOff val="40000"/>
                </a:srgbClr>
              </a:gs>
              <a:gs pos="85000">
                <a:srgbClr val="17D594"/>
              </a:gs>
            </a:gsLst>
            <a:lin ang="19200000" scaled="0"/>
            <a:tileRect/>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8" name="任意多边形: 形状 6"/>
          <p:cNvSpPr/>
          <p:nvPr>
            <p:custDataLst>
              <p:tags r:id="rId14"/>
            </p:custDataLst>
          </p:nvPr>
        </p:nvSpPr>
        <p:spPr>
          <a:xfrm flipH="1">
            <a:off x="2951545" y="4005276"/>
            <a:ext cx="1837648" cy="1385392"/>
          </a:xfrm>
          <a:custGeom>
            <a:avLst/>
            <a:gdLst>
              <a:gd name="connsiteX0" fmla="*/ 589994 w 1858096"/>
              <a:gd name="connsiteY0" fmla="*/ 0 h 1400807"/>
              <a:gd name="connsiteX1" fmla="*/ 1858096 w 1858096"/>
              <a:gd name="connsiteY1" fmla="*/ 337206 h 1400807"/>
              <a:gd name="connsiteX2" fmla="*/ 1858096 w 1858096"/>
              <a:gd name="connsiteY2" fmla="*/ 1400807 h 1400807"/>
              <a:gd name="connsiteX3" fmla="*/ 0 w 1858096"/>
              <a:gd name="connsiteY3" fmla="*/ 906714 h 1400807"/>
            </a:gdLst>
            <a:ahLst/>
            <a:cxnLst>
              <a:cxn ang="0">
                <a:pos x="connsiteX0" y="connsiteY0"/>
              </a:cxn>
              <a:cxn ang="0">
                <a:pos x="connsiteX1" y="connsiteY1"/>
              </a:cxn>
              <a:cxn ang="0">
                <a:pos x="connsiteX2" y="connsiteY2"/>
              </a:cxn>
              <a:cxn ang="0">
                <a:pos x="connsiteX3" y="connsiteY3"/>
              </a:cxn>
            </a:cxnLst>
            <a:rect l="l" t="t" r="r" b="b"/>
            <a:pathLst>
              <a:path w="1858096" h="1400807">
                <a:moveTo>
                  <a:pt x="589994" y="0"/>
                </a:moveTo>
                <a:lnTo>
                  <a:pt x="1858096" y="337206"/>
                </a:lnTo>
                <a:lnTo>
                  <a:pt x="1858096" y="1400807"/>
                </a:lnTo>
                <a:lnTo>
                  <a:pt x="0" y="906714"/>
                </a:lnTo>
                <a:close/>
              </a:path>
            </a:pathLst>
          </a:custGeom>
          <a:gradFill>
            <a:gsLst>
              <a:gs pos="0">
                <a:srgbClr val="FFC000">
                  <a:lumMod val="60000"/>
                  <a:lumOff val="40000"/>
                </a:srgbClr>
              </a:gs>
              <a:gs pos="85000">
                <a:srgbClr val="FFC000"/>
              </a:gs>
            </a:gsLst>
            <a:lin ang="36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12" name="任意多边形: 形状 7"/>
          <p:cNvSpPr/>
          <p:nvPr>
            <p:custDataLst>
              <p:tags r:id="rId15"/>
            </p:custDataLst>
          </p:nvPr>
        </p:nvSpPr>
        <p:spPr>
          <a:xfrm flipH="1">
            <a:off x="2951544" y="5016376"/>
            <a:ext cx="2462084" cy="1499674"/>
          </a:xfrm>
          <a:custGeom>
            <a:avLst/>
            <a:gdLst>
              <a:gd name="connsiteX0" fmla="*/ 555937 w 2489480"/>
              <a:gd name="connsiteY0" fmla="*/ 0 h 1516361"/>
              <a:gd name="connsiteX1" fmla="*/ 2489480 w 2489480"/>
              <a:gd name="connsiteY1" fmla="*/ 514155 h 1516361"/>
              <a:gd name="connsiteX2" fmla="*/ 2489480 w 2489480"/>
              <a:gd name="connsiteY2" fmla="*/ 1516361 h 1516361"/>
              <a:gd name="connsiteX3" fmla="*/ 0 w 2489480"/>
              <a:gd name="connsiteY3" fmla="*/ 854374 h 1516361"/>
              <a:gd name="connsiteX4" fmla="*/ 555937 w 2489480"/>
              <a:gd name="connsiteY4" fmla="*/ 0 h 1516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9480" h="1516361">
                <a:moveTo>
                  <a:pt x="555937" y="0"/>
                </a:moveTo>
                <a:lnTo>
                  <a:pt x="2489480" y="514155"/>
                </a:lnTo>
                <a:lnTo>
                  <a:pt x="2489480" y="1516361"/>
                </a:lnTo>
                <a:lnTo>
                  <a:pt x="0" y="854374"/>
                </a:lnTo>
                <a:lnTo>
                  <a:pt x="555937" y="0"/>
                </a:lnTo>
                <a:close/>
              </a:path>
            </a:pathLst>
          </a:custGeom>
          <a:gradFill flip="none" rotWithShape="1">
            <a:gsLst>
              <a:gs pos="0">
                <a:srgbClr val="FF7429">
                  <a:lumMod val="60000"/>
                  <a:lumOff val="40000"/>
                </a:srgbClr>
              </a:gs>
              <a:gs pos="85000">
                <a:srgbClr val="FF7429"/>
              </a:gs>
            </a:gsLst>
            <a:lin ang="2400000" scaled="0"/>
            <a:tileRect/>
          </a:gradFill>
          <a:ln w="12700" cap="flat" cmpd="sng" algn="ctr">
            <a:noFill/>
            <a:prstDash val="solid"/>
            <a:miter lim="800000"/>
          </a:ln>
          <a:effectLst/>
        </p:spPr>
        <p:txBody>
          <a:bodyPr vertOverflow="overflow" horzOverflow="overflow" vert="horz" wrap="square" numCol="1" spcCol="0" rtlCol="0" fromWordArt="0" anchor="ctr" anchorCtr="0" forceAA="0" compatLnSpc="1">
            <a:normAutofit/>
          </a:bodyPr>
          <a:p>
            <a:pPr algn="ctr"/>
            <a:endParaRPr lang="zh-CN" altLang="en-US" b="1">
              <a:solidFill>
                <a:srgbClr val="FFFFFF"/>
              </a:solidFill>
              <a:latin typeface="微软雅黑" panose="020B0503020204020204" pitchFamily="34" charset="-122"/>
              <a:ea typeface="微软雅黑" panose="020B0503020204020204" pitchFamily="34" charset="-122"/>
            </a:endParaRPr>
          </a:p>
        </p:txBody>
      </p:sp>
      <p:sp>
        <p:nvSpPr>
          <p:cNvPr id="21" name="矩形 20"/>
          <p:cNvSpPr/>
          <p:nvPr>
            <p:custDataLst>
              <p:tags r:id="rId16"/>
            </p:custDataLst>
          </p:nvPr>
        </p:nvSpPr>
        <p:spPr>
          <a:xfrm>
            <a:off x="5413375" y="2089785"/>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rPr>
              <a:t>总目标</a:t>
            </a:r>
            <a:endParaRPr lang="zh-CN" altLang="en-US"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矩形 22"/>
          <p:cNvSpPr/>
          <p:nvPr>
            <p:custDataLst>
              <p:tags r:id="rId17"/>
            </p:custDataLst>
          </p:nvPr>
        </p:nvSpPr>
        <p:spPr>
          <a:xfrm>
            <a:off x="6508750" y="2089785"/>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构建</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套压裂改造效果综合评估方法</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6" name="矩形 25"/>
          <p:cNvSpPr/>
          <p:nvPr>
            <p:custDataLst>
              <p:tags r:id="rId18"/>
            </p:custDataLst>
          </p:nvPr>
        </p:nvSpPr>
        <p:spPr>
          <a:xfrm>
            <a:off x="5413375" y="3074670"/>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a:solidFill>
                  <a:srgbClr val="17D594"/>
                </a:solidFill>
                <a:latin typeface="微软雅黑" panose="020B0503020204020204" pitchFamily="34" charset="-122"/>
                <a:ea typeface="微软雅黑" panose="020B0503020204020204" pitchFamily="34" charset="-122"/>
                <a:cs typeface="微软雅黑" panose="020B0503020204020204" pitchFamily="34" charset="-122"/>
              </a:rPr>
              <a:t>体系</a:t>
            </a:r>
            <a:r>
              <a:rPr lang="zh-CN" altLang="en-US" b="1">
                <a:solidFill>
                  <a:srgbClr val="17D594"/>
                </a:solidFill>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b="1">
              <a:solidFill>
                <a:srgbClr val="17D594"/>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矩形 26"/>
          <p:cNvSpPr/>
          <p:nvPr>
            <p:custDataLst>
              <p:tags r:id="rId19"/>
            </p:custDataLst>
          </p:nvPr>
        </p:nvSpPr>
        <p:spPr>
          <a:xfrm>
            <a:off x="6508750" y="3074670"/>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构建</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改造体积</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裂缝复杂度</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裂缝导流能力</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三维综合评价体系</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矩形 27"/>
          <p:cNvSpPr/>
          <p:nvPr>
            <p:custDataLst>
              <p:tags r:id="rId20"/>
            </p:custDataLst>
          </p:nvPr>
        </p:nvSpPr>
        <p:spPr>
          <a:xfrm>
            <a:off x="5413375" y="4059555"/>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方法</a:t>
            </a:r>
            <a:r>
              <a:rPr lang="zh-CN" altLang="en-US" b="1">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b="1">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矩形 28"/>
          <p:cNvSpPr/>
          <p:nvPr>
            <p:custDataLst>
              <p:tags r:id="rId21"/>
            </p:custDataLst>
          </p:nvPr>
        </p:nvSpPr>
        <p:spPr>
          <a:xfrm>
            <a:off x="6508750" y="4059555"/>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小波变换</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多尺度特征提取</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改造体积定量关联</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spcBef>
                <a:spcPct val="0"/>
              </a:spcBef>
              <a:spcAft>
                <a:spcPct val="0"/>
              </a:spcAft>
            </a:pP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函数</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压降分析</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滤失诊断与</a:t>
            </a:r>
            <a:r>
              <a:rPr lang="zh-CN" altLang="en-US" sz="1600" b="1">
                <a:ln>
                  <a:noFill/>
                  <a:prstDash val="sysDot"/>
                </a:ln>
                <a:latin typeface="微软雅黑" panose="020B0503020204020204" pitchFamily="34" charset="-122"/>
                <a:ea typeface="微软雅黑" panose="020B0503020204020204" pitchFamily="34" charset="-122"/>
                <a:cs typeface="微软雅黑" panose="020B0503020204020204" pitchFamily="34" charset="-122"/>
                <a:sym typeface="+mn-ea"/>
              </a:rPr>
              <a:t>裂缝几何参数反演</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矩形 31"/>
          <p:cNvSpPr/>
          <p:nvPr>
            <p:custDataLst>
              <p:tags r:id="rId22"/>
            </p:custDataLst>
          </p:nvPr>
        </p:nvSpPr>
        <p:spPr>
          <a:xfrm>
            <a:off x="5413375" y="5015865"/>
            <a:ext cx="1095375" cy="709930"/>
          </a:xfrm>
          <a:prstGeom prst="rect">
            <a:avLst/>
          </a:prstGeom>
          <a:noFill/>
        </p:spPr>
        <p:txBody>
          <a:bodyPr wrap="square" lIns="0" tIns="0" rIns="0" bIns="0" rtlCol="0" anchor="ctr" anchorCtr="0">
            <a:noAutofit/>
          </a:bodyPr>
          <a:p>
            <a:pPr algn="l">
              <a:spcBef>
                <a:spcPct val="0"/>
              </a:spcBef>
              <a:spcAft>
                <a:spcPct val="0"/>
              </a:spcAft>
            </a:pPr>
            <a:r>
              <a:rPr lang="zh-CN" altLang="en-US" b="1">
                <a:solidFill>
                  <a:srgbClr val="FF7429"/>
                </a:solidFill>
                <a:latin typeface="微软雅黑" panose="020B0503020204020204" pitchFamily="34" charset="-122"/>
                <a:ea typeface="微软雅黑" panose="020B0503020204020204" pitchFamily="34" charset="-122"/>
                <a:cs typeface="微软雅黑" panose="020B0503020204020204" pitchFamily="34" charset="-122"/>
              </a:rPr>
              <a:t>机理</a:t>
            </a:r>
            <a:r>
              <a:rPr lang="zh-CN" altLang="en-US" b="1">
                <a:solidFill>
                  <a:srgbClr val="FF7429"/>
                </a:solidFill>
                <a:latin typeface="微软雅黑" panose="020B0503020204020204" pitchFamily="34" charset="-122"/>
                <a:ea typeface="微软雅黑" panose="020B0503020204020204" pitchFamily="34" charset="-122"/>
                <a:cs typeface="微软雅黑" panose="020B0503020204020204" pitchFamily="34" charset="-122"/>
              </a:rPr>
              <a:t>层</a:t>
            </a:r>
            <a:endParaRPr lang="zh-CN" altLang="en-US" b="1">
              <a:solidFill>
                <a:srgbClr val="FF742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3" name="矩形 32"/>
          <p:cNvSpPr/>
          <p:nvPr>
            <p:custDataLst>
              <p:tags r:id="rId23"/>
            </p:custDataLst>
          </p:nvPr>
        </p:nvSpPr>
        <p:spPr>
          <a:xfrm>
            <a:off x="6508750" y="5015865"/>
            <a:ext cx="4612005" cy="709295"/>
          </a:xfrm>
          <a:prstGeom prst="rect">
            <a:avLst/>
          </a:prstGeom>
          <a:noFill/>
        </p:spPr>
        <p:txBody>
          <a:bodyPr wrap="square" lIns="0" tIns="0" rIns="0" bIns="36195" rtlCol="0" anchor="ctr" anchorCtr="0">
            <a:noAutofit/>
          </a:bodyPr>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数值模拟</a:t>
            </a:r>
            <a:r>
              <a:rPr lang="en-US" altLang="zh-CN"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物理实验，揭示不同地质工程条件下</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spcBef>
                <a:spcPct val="0"/>
              </a:spcBef>
              <a:spcAft>
                <a:spcPct val="0"/>
              </a:spcAft>
            </a:pPr>
            <a:r>
              <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典型裂缝事件的压力响应规律</a:t>
            </a:r>
            <a:endParaRPr lang="zh-CN" altLang="en-US" sz="1600" b="1">
              <a:ln>
                <a:noFill/>
                <a:prstDash val="sysDot"/>
              </a:ln>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（二）技术</a:t>
            </a:r>
            <a:r>
              <a:rPr lang="zh-CN" altLang="en-US" sz="3200" b="1" dirty="0">
                <a:solidFill>
                  <a:srgbClr val="C00000"/>
                </a:solidFill>
                <a:latin typeface="微软雅黑" panose="020B0503020204020204" pitchFamily="34" charset="-122"/>
                <a:ea typeface="微软雅黑" panose="020B0503020204020204" pitchFamily="34" charset="-122"/>
                <a:sym typeface="+mn-ea"/>
              </a:rPr>
              <a:t>路线</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92202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基于室内压裂</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模拟</a:t>
            </a: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与矿场多源数据分析，揭示井口动态信号与井下裂缝事件的对应</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规律</a:t>
            </a: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，构建多维压裂改造效果综合评价指标</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体系</a:t>
            </a:r>
            <a:r>
              <a:rPr lang="zh-CN" altLang="en-US"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sym typeface="+mn-ea"/>
              </a:rPr>
              <a:t>，形成</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多源数据融合的压裂改造效果综合评估方法</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5" name="矩形 44"/>
          <p:cNvSpPr/>
          <p:nvPr/>
        </p:nvSpPr>
        <p:spPr>
          <a:xfrm>
            <a:off x="2987040" y="2004695"/>
            <a:ext cx="6788150" cy="317500"/>
          </a:xfrm>
          <a:prstGeom prst="rect">
            <a:avLst/>
          </a:prstGeom>
          <a:solidFill>
            <a:srgbClr val="C00000"/>
          </a:solidFill>
          <a:ln w="3175" algn="ctr">
            <a:noFill/>
            <a:prstDash val="sysDot"/>
            <a:miter lim="800000"/>
          </a:ln>
          <a:effectLst>
            <a:outerShdw blurRad="50800" dist="38100" dir="2700000" algn="tl" rotWithShape="0">
              <a:prstClr val="black">
                <a:alpha val="40000"/>
              </a:prstClr>
            </a:outerShdw>
          </a:effectLst>
        </p:spPr>
        <p:txBody>
          <a:bodyPr lIns="90000" tIns="46800" rIns="90000" bIns="46800" anchor="ctr"/>
          <a:lstStyle/>
          <a:p>
            <a:pPr lvl="0" algn="ctr">
              <a:defRPr/>
            </a:pPr>
            <a:r>
              <a:rPr kumimoji="1" lang="zh-CN" altLang="en-US" b="1"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多源数据融合的压裂改造效果综合评估</a:t>
            </a:r>
            <a:r>
              <a:rPr kumimoji="1" lang="zh-CN" altLang="en-US" b="1"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方法构建与应用</a:t>
            </a:r>
            <a:endParaRPr kumimoji="1" lang="zh-CN" altLang="en-US" b="1"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46" name="矩形 45"/>
          <p:cNvSpPr/>
          <p:nvPr/>
        </p:nvSpPr>
        <p:spPr>
          <a:xfrm>
            <a:off x="851802" y="5763891"/>
            <a:ext cx="10283371" cy="564442"/>
          </a:xfrm>
          <a:prstGeom prst="rect">
            <a:avLst/>
          </a:prstGeom>
          <a:solidFill>
            <a:srgbClr val="C00000">
              <a:alpha val="5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47" name="矩形 46"/>
          <p:cNvSpPr/>
          <p:nvPr/>
        </p:nvSpPr>
        <p:spPr>
          <a:xfrm>
            <a:off x="854079" y="4937756"/>
            <a:ext cx="10283371" cy="564442"/>
          </a:xfrm>
          <a:prstGeom prst="rect">
            <a:avLst/>
          </a:prstGeom>
          <a:solidFill>
            <a:srgbClr val="00B05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48" name="矩形 47"/>
          <p:cNvSpPr/>
          <p:nvPr/>
        </p:nvSpPr>
        <p:spPr>
          <a:xfrm>
            <a:off x="854553" y="3285486"/>
            <a:ext cx="10283371" cy="564442"/>
          </a:xfrm>
          <a:prstGeom prst="rect">
            <a:avLst/>
          </a:prstGeom>
          <a:solidFill>
            <a:srgbClr val="7030A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3" name="矩形 52"/>
          <p:cNvSpPr/>
          <p:nvPr/>
        </p:nvSpPr>
        <p:spPr>
          <a:xfrm>
            <a:off x="851803" y="4111621"/>
            <a:ext cx="10283371" cy="564442"/>
          </a:xfrm>
          <a:prstGeom prst="rect">
            <a:avLst/>
          </a:prstGeom>
          <a:solidFill>
            <a:srgbClr val="0070C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4" name="矩形 53"/>
          <p:cNvSpPr/>
          <p:nvPr/>
        </p:nvSpPr>
        <p:spPr>
          <a:xfrm>
            <a:off x="854553" y="2459351"/>
            <a:ext cx="10283371" cy="564442"/>
          </a:xfrm>
          <a:prstGeom prst="rect">
            <a:avLst/>
          </a:prstGeom>
          <a:solidFill>
            <a:srgbClr val="002060">
              <a:alpha val="10000"/>
            </a:srgbClr>
          </a:solid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55" name="矩形 54"/>
          <p:cNvSpPr/>
          <p:nvPr/>
        </p:nvSpPr>
        <p:spPr>
          <a:xfrm>
            <a:off x="1689413" y="2551652"/>
            <a:ext cx="2791933" cy="379840"/>
          </a:xfrm>
          <a:prstGeom prst="rect">
            <a:avLst/>
          </a:prstGeom>
          <a:solidFill>
            <a:srgbClr val="002060"/>
          </a:solidFill>
          <a:ln>
            <a:noFill/>
          </a:ln>
        </p:spPr>
        <p:style>
          <a:lnRef idx="1">
            <a:schemeClr val="accent2"/>
          </a:lnRef>
          <a:fillRef idx="2">
            <a:schemeClr val="accent2"/>
          </a:fillRef>
          <a:effectRef idx="1">
            <a:schemeClr val="accent2"/>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结合室内压裂模拟与现场数据分析</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6" name="矩形 55"/>
          <p:cNvSpPr/>
          <p:nvPr/>
        </p:nvSpPr>
        <p:spPr>
          <a:xfrm>
            <a:off x="910067" y="2501414"/>
            <a:ext cx="679683"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b="0" i="0" u="none" strike="noStrike" kern="0" cap="none" spc="0" normalizeH="0" baseline="0" noProof="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rPr>
              <a:t>实验研究</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7" name="矩形 56"/>
          <p:cNvSpPr/>
          <p:nvPr/>
        </p:nvSpPr>
        <p:spPr>
          <a:xfrm>
            <a:off x="4882891" y="2551652"/>
            <a:ext cx="6073770" cy="379840"/>
          </a:xfrm>
          <a:prstGeom prst="rect">
            <a:avLst/>
          </a:prstGeom>
          <a:solidFill>
            <a:srgbClr val="002060"/>
          </a:solidFill>
          <a:ln>
            <a:noFill/>
          </a:ln>
        </p:spPr>
        <p:style>
          <a:lnRef idx="1">
            <a:schemeClr val="accent2"/>
          </a:lnRef>
          <a:fillRef idx="2">
            <a:schemeClr val="accent2"/>
          </a:fillRef>
          <a:effectRef idx="1">
            <a:schemeClr val="accent2"/>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揭示</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井口动态信号与井下裂缝事件的对应规律</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8" name="矩形 57"/>
          <p:cNvSpPr/>
          <p:nvPr/>
        </p:nvSpPr>
        <p:spPr>
          <a:xfrm>
            <a:off x="1687445" y="3374482"/>
            <a:ext cx="2793902" cy="386452"/>
          </a:xfrm>
          <a:prstGeom prst="rect">
            <a:avLst/>
          </a:prstGeom>
          <a:solidFill>
            <a:srgbClr val="7030A0"/>
          </a:solidFill>
          <a:ln>
            <a:noFill/>
          </a:ln>
        </p:spPr>
        <p:style>
          <a:lnRef idx="1">
            <a:schemeClr val="accent4"/>
          </a:lnRef>
          <a:fillRef idx="2">
            <a:schemeClr val="accent4"/>
          </a:fillRef>
          <a:effectRef idx="1">
            <a:schemeClr val="accent4"/>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汇集施工、监测等多源数据</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59" name="矩形 58"/>
          <p:cNvSpPr/>
          <p:nvPr/>
        </p:nvSpPr>
        <p:spPr>
          <a:xfrm>
            <a:off x="823956" y="3336872"/>
            <a:ext cx="863489"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noProof="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多源数据融合</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0" name="矩形 59"/>
          <p:cNvSpPr/>
          <p:nvPr/>
        </p:nvSpPr>
        <p:spPr>
          <a:xfrm>
            <a:off x="4882891" y="3374482"/>
            <a:ext cx="6073770" cy="386452"/>
          </a:xfrm>
          <a:prstGeom prst="rect">
            <a:avLst/>
          </a:prstGeom>
          <a:solidFill>
            <a:srgbClr val="7030A0"/>
          </a:solidFill>
          <a:ln>
            <a:noFill/>
          </a:ln>
        </p:spPr>
        <p:style>
          <a:lnRef idx="1">
            <a:schemeClr val="accent4"/>
          </a:lnRef>
          <a:fillRef idx="2">
            <a:schemeClr val="accent4"/>
          </a:fillRef>
          <a:effectRef idx="1">
            <a:schemeClr val="accent4"/>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en-US" altLang="zh-CN"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 </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明确不同数据对压裂</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rPr>
              <a:t>改造效果的响应特征，形成多源数据融合方法</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1" name="矩形 60"/>
          <p:cNvSpPr/>
          <p:nvPr/>
        </p:nvSpPr>
        <p:spPr>
          <a:xfrm>
            <a:off x="1679616" y="4200616"/>
            <a:ext cx="2801731" cy="386452"/>
          </a:xfrm>
          <a:prstGeom prst="rect">
            <a:avLst/>
          </a:prstGeom>
          <a:solidFill>
            <a:srgbClr val="0070C0"/>
          </a:solidFill>
          <a:ln>
            <a:noFill/>
          </a:ln>
        </p:spPr>
        <p:style>
          <a:lnRef idx="1">
            <a:schemeClr val="accent5"/>
          </a:lnRef>
          <a:fillRef idx="2">
            <a:schemeClr val="accent5"/>
          </a:fillRef>
          <a:effectRef idx="1">
            <a:schemeClr val="accent5"/>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200"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运用多种权重排序与分配</a:t>
            </a:r>
            <a:r>
              <a:rPr kumimoji="1" lang="zh-CN" altLang="en-US" sz="1200"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方法</a:t>
            </a:r>
            <a:endParaRPr kumimoji="1" lang="zh-CN" altLang="en-US" sz="1200" kern="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endParaRPr>
          </a:p>
        </p:txBody>
      </p:sp>
      <p:sp>
        <p:nvSpPr>
          <p:cNvPr id="65" name="矩形 64"/>
          <p:cNvSpPr/>
          <p:nvPr/>
        </p:nvSpPr>
        <p:spPr>
          <a:xfrm>
            <a:off x="912816" y="4153684"/>
            <a:ext cx="679683" cy="480317"/>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noProof="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指标构建</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6" name="矩形 65"/>
          <p:cNvSpPr/>
          <p:nvPr/>
        </p:nvSpPr>
        <p:spPr>
          <a:xfrm>
            <a:off x="4882891" y="4200616"/>
            <a:ext cx="6073770" cy="386452"/>
          </a:xfrm>
          <a:prstGeom prst="rect">
            <a:avLst/>
          </a:prstGeom>
          <a:solidFill>
            <a:srgbClr val="0070C0"/>
          </a:solidFill>
          <a:ln>
            <a:noFill/>
          </a:ln>
        </p:spPr>
        <p:style>
          <a:lnRef idx="1">
            <a:schemeClr val="accent5"/>
          </a:lnRef>
          <a:fillRef idx="2">
            <a:schemeClr val="accent5"/>
          </a:fillRef>
          <a:effectRef idx="1">
            <a:schemeClr val="accent5"/>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建立多维压裂</a:t>
            </a:r>
            <a:r>
              <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sym typeface="+mn-ea"/>
              </a:rPr>
              <a:t>改造效果综合评价指标体系，构建标准化压裂效果评价模型</a:t>
            </a:r>
            <a:endParaRPr kumimoji="1" lang="zh-CN" altLang="en-US" sz="1200" kern="0" dirty="0">
              <a:solidFill>
                <a:prstClr val="white"/>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67" name="矩形 66"/>
          <p:cNvSpPr/>
          <p:nvPr/>
        </p:nvSpPr>
        <p:spPr>
          <a:xfrm>
            <a:off x="863916" y="4979818"/>
            <a:ext cx="805864"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sym typeface="+mn-ea"/>
              </a:rPr>
              <a:t>验证</a:t>
            </a:r>
            <a:endPar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sym typeface="+mn-ea"/>
              </a:rPr>
              <a:t>应用</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grpSp>
        <p:nvGrpSpPr>
          <p:cNvPr id="72" name="组合 71"/>
          <p:cNvGrpSpPr/>
          <p:nvPr/>
        </p:nvGrpSpPr>
        <p:grpSpPr>
          <a:xfrm>
            <a:off x="1679616" y="5014329"/>
            <a:ext cx="9277045" cy="398876"/>
            <a:chOff x="1522222" y="5314763"/>
            <a:chExt cx="9251697" cy="421646"/>
          </a:xfrm>
          <a:solidFill>
            <a:srgbClr val="00B050"/>
          </a:solidFill>
        </p:grpSpPr>
        <p:sp>
          <p:nvSpPr>
            <p:cNvPr id="76" name="矩形 75"/>
            <p:cNvSpPr/>
            <p:nvPr/>
          </p:nvSpPr>
          <p:spPr>
            <a:xfrm>
              <a:off x="1522222" y="5314763"/>
              <a:ext cx="2801730" cy="408513"/>
            </a:xfrm>
            <a:prstGeom prst="rect">
              <a:avLst/>
            </a:prstGeom>
            <a:grpFill/>
            <a:ln>
              <a:noFill/>
            </a:ln>
          </p:spPr>
          <p:style>
            <a:lnRef idx="1">
              <a:schemeClr val="accent6"/>
            </a:lnRef>
            <a:fillRef idx="2">
              <a:schemeClr val="accent6"/>
            </a:fillRef>
            <a:effectRef idx="1">
              <a:schemeClr val="accent6"/>
            </a:effectRef>
            <a:fontRef idx="minor">
              <a:schemeClr val="dk1"/>
            </a:fontRef>
          </p:style>
          <p:txBody>
            <a:bodyPr lIns="0" tIns="46800" rIns="0" bIns="46800" anchor="ctr"/>
            <a:lstStyle/>
            <a:p>
              <a:pPr lvl="0" algn="ctr" eaLnBrk="0" fontAlgn="base" hangingPunct="0">
                <a:spcBef>
                  <a:spcPct val="0"/>
                </a:spcBef>
                <a:spcAft>
                  <a:spcPct val="0"/>
                </a:spcAft>
                <a:defRPr/>
              </a:pPr>
              <a:r>
                <a:rPr kumimoji="1" lang="zh-CN" altLang="en-US" sz="1200" kern="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开展典型井现场应用与验证</a:t>
              </a:r>
              <a:endParaRPr kumimoji="1" lang="zh-CN" altLang="en-US" sz="1200" b="0" i="0" u="none" strike="noStrike" kern="0" cap="none" spc="0" normalizeH="0" baseline="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77" name="矩形 76"/>
            <p:cNvSpPr/>
            <p:nvPr/>
          </p:nvSpPr>
          <p:spPr>
            <a:xfrm>
              <a:off x="4725497" y="5327896"/>
              <a:ext cx="6048422" cy="408513"/>
            </a:xfrm>
            <a:prstGeom prst="rect">
              <a:avLst/>
            </a:prstGeom>
            <a:grpFill/>
            <a:ln>
              <a:noFill/>
            </a:ln>
          </p:spPr>
          <p:style>
            <a:lnRef idx="1">
              <a:schemeClr val="accent6"/>
            </a:lnRef>
            <a:fillRef idx="2">
              <a:schemeClr val="accent6"/>
            </a:fillRef>
            <a:effectRef idx="1">
              <a:schemeClr val="accent6"/>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200" kern="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完善模型参数，形成可推广的压裂改造效果综合</a:t>
              </a:r>
              <a:r>
                <a:rPr kumimoji="1" lang="zh-CN" altLang="en-US" sz="1200" kern="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sym typeface="+mn-ea"/>
                </a:rPr>
                <a:t>评估方法</a:t>
              </a:r>
              <a:endParaRPr kumimoji="1" lang="zh-CN" altLang="en-US" sz="1200" b="0" i="0" u="none" strike="noStrike" kern="0" cap="none" spc="0" normalizeH="0" baseline="0" noProof="0" dirty="0">
                <a:ln>
                  <a:noFill/>
                </a:ln>
                <a:solidFill>
                  <a:prstClr val="white"/>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grpSp>
      <p:sp>
        <p:nvSpPr>
          <p:cNvPr id="78" name="矩形 77"/>
          <p:cNvSpPr/>
          <p:nvPr/>
        </p:nvSpPr>
        <p:spPr>
          <a:xfrm>
            <a:off x="912816" y="5805954"/>
            <a:ext cx="679683" cy="480317"/>
          </a:xfrm>
          <a:prstGeom prst="rect">
            <a:avLst/>
          </a:prstGeom>
          <a:noFill/>
          <a:ln>
            <a:noFill/>
          </a:ln>
        </p:spPr>
        <p:style>
          <a:lnRef idx="1">
            <a:schemeClr val="accent2"/>
          </a:lnRef>
          <a:fillRef idx="2">
            <a:schemeClr val="accent2"/>
          </a:fillRef>
          <a:effectRef idx="1">
            <a:schemeClr val="accent2"/>
          </a:effectRef>
          <a:fontRef idx="minor">
            <a:schemeClr val="dk1"/>
          </a:fontRef>
        </p:style>
        <p:txBody>
          <a:bodyPr lIns="90000" tIns="46800" rIns="90000" bIns="46800" anchor="ctr"/>
          <a:lstStyle/>
          <a:p>
            <a:pPr lvl="0" algn="ctr" eaLnBrk="0" fontAlgn="base" hangingPunct="0">
              <a:spcBef>
                <a:spcPct val="0"/>
              </a:spcBef>
              <a:spcAft>
                <a:spcPct val="0"/>
              </a:spcAft>
              <a:defRPr/>
            </a:pPr>
            <a:r>
              <a:rPr kumimoji="1" lang="zh-CN" altLang="en-US" sz="1600" kern="0">
                <a:solidFill>
                  <a:srgbClr val="C00000"/>
                </a:solidFill>
                <a:latin typeface="方正大黑简体" panose="02000000000000000000" pitchFamily="2" charset="-122"/>
                <a:ea typeface="方正大黑简体" panose="02000000000000000000" pitchFamily="2" charset="-122"/>
                <a:cs typeface="Arial" panose="020B0604020202020204" pitchFamily="34" charset="0"/>
              </a:rPr>
              <a:t>集成定型</a:t>
            </a:r>
            <a:endParaRPr kumimoji="1" lang="zh-CN" altLang="en-US" sz="1600" kern="0" dirty="0">
              <a:solidFill>
                <a:srgbClr val="C00000"/>
              </a:solidFill>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89" name="矩形 88"/>
          <p:cNvSpPr/>
          <p:nvPr/>
        </p:nvSpPr>
        <p:spPr>
          <a:xfrm>
            <a:off x="1687445" y="5856193"/>
            <a:ext cx="9243868" cy="379840"/>
          </a:xfrm>
          <a:prstGeom prst="rect">
            <a:avLst/>
          </a:prstGeom>
          <a:solidFill>
            <a:srgbClr val="FFFFFF">
              <a:lumMod val="95000"/>
            </a:srgbClr>
          </a:solidFill>
          <a:ln w="12700" cap="flat" cmpd="sng" algn="ctr">
            <a:solidFill>
              <a:srgbClr val="C00000"/>
            </a:solidFill>
            <a:prstDash val="solid"/>
          </a:ln>
          <a:effectLst/>
        </p:spPr>
        <p:txBody>
          <a:bodyPr rtlCol="0" anchor="ctr"/>
          <a:lstStyle/>
          <a:p>
            <a:pPr lvl="0" algn="ctr">
              <a:defRPr/>
            </a:pPr>
            <a:r>
              <a:rPr lang="zh-CN" altLang="en-US" sz="1400" b="1" kern="0">
                <a:solidFill>
                  <a:srgbClr val="C00000"/>
                </a:solidFill>
                <a:latin typeface="微软雅黑" panose="020B0503020204020204" pitchFamily="34" charset="-122"/>
                <a:ea typeface="微软雅黑" panose="020B0503020204020204" pitchFamily="34" charset="-122"/>
              </a:rPr>
              <a:t>形成多源数据融合的压裂改造效果综合评估</a:t>
            </a:r>
            <a:r>
              <a:rPr lang="zh-CN" altLang="en-US" sz="1400" b="1" kern="0">
                <a:solidFill>
                  <a:srgbClr val="C00000"/>
                </a:solidFill>
                <a:latin typeface="微软雅黑" panose="020B0503020204020204" pitchFamily="34" charset="-122"/>
                <a:ea typeface="微软雅黑" panose="020B0503020204020204" pitchFamily="34" charset="-122"/>
              </a:rPr>
              <a:t>方法</a:t>
            </a:r>
            <a:endParaRPr lang="zh-CN" altLang="en-US" sz="1400" b="1" kern="0">
              <a:solidFill>
                <a:srgbClr val="C00000"/>
              </a:solidFill>
              <a:latin typeface="微软雅黑" panose="020B0503020204020204" pitchFamily="34" charset="-122"/>
              <a:ea typeface="微软雅黑" panose="020B0503020204020204" pitchFamily="34" charset="-122"/>
            </a:endParaRPr>
          </a:p>
        </p:txBody>
      </p:sp>
      <p:sp>
        <p:nvSpPr>
          <p:cNvPr id="90" name="虚尾箭头 89"/>
          <p:cNvSpPr/>
          <p:nvPr/>
        </p:nvSpPr>
        <p:spPr>
          <a:xfrm rot="5400000">
            <a:off x="6197693" y="5293978"/>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grpSp>
        <p:nvGrpSpPr>
          <p:cNvPr id="91" name="组合 90"/>
          <p:cNvGrpSpPr/>
          <p:nvPr/>
        </p:nvGrpSpPr>
        <p:grpSpPr>
          <a:xfrm>
            <a:off x="4540773" y="2637001"/>
            <a:ext cx="261994" cy="209142"/>
            <a:chOff x="4995160" y="2851545"/>
            <a:chExt cx="234982" cy="131176"/>
          </a:xfrm>
          <a:solidFill>
            <a:srgbClr val="C00000"/>
          </a:solidFill>
        </p:grpSpPr>
        <p:sp>
          <p:nvSpPr>
            <p:cNvPr id="92"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93"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grpSp>
        <p:nvGrpSpPr>
          <p:cNvPr id="94" name="组合 93"/>
          <p:cNvGrpSpPr/>
          <p:nvPr/>
        </p:nvGrpSpPr>
        <p:grpSpPr>
          <a:xfrm>
            <a:off x="4540773" y="3466562"/>
            <a:ext cx="261994" cy="209142"/>
            <a:chOff x="4995160" y="2851545"/>
            <a:chExt cx="234982" cy="131176"/>
          </a:xfrm>
          <a:solidFill>
            <a:srgbClr val="C00000"/>
          </a:solidFill>
        </p:grpSpPr>
        <p:sp>
          <p:nvSpPr>
            <p:cNvPr id="95"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96"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grpSp>
        <p:nvGrpSpPr>
          <p:cNvPr id="97" name="组合 96"/>
          <p:cNvGrpSpPr/>
          <p:nvPr/>
        </p:nvGrpSpPr>
        <p:grpSpPr>
          <a:xfrm>
            <a:off x="4540773" y="4289271"/>
            <a:ext cx="261994" cy="209142"/>
            <a:chOff x="4995160" y="2851545"/>
            <a:chExt cx="234982" cy="131176"/>
          </a:xfrm>
          <a:solidFill>
            <a:srgbClr val="C00000"/>
          </a:solidFill>
        </p:grpSpPr>
        <p:sp>
          <p:nvSpPr>
            <p:cNvPr id="98"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99"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grpSp>
        <p:nvGrpSpPr>
          <p:cNvPr id="100" name="组合 99"/>
          <p:cNvGrpSpPr/>
          <p:nvPr/>
        </p:nvGrpSpPr>
        <p:grpSpPr>
          <a:xfrm>
            <a:off x="4540773" y="5102984"/>
            <a:ext cx="261994" cy="209142"/>
            <a:chOff x="4995160" y="2851545"/>
            <a:chExt cx="234982" cy="131176"/>
          </a:xfrm>
          <a:solidFill>
            <a:srgbClr val="C00000"/>
          </a:solidFill>
        </p:grpSpPr>
        <p:sp>
          <p:nvSpPr>
            <p:cNvPr id="101" name="燕尾形 48"/>
            <p:cNvSpPr/>
            <p:nvPr/>
          </p:nvSpPr>
          <p:spPr>
            <a:xfrm>
              <a:off x="5068402" y="2851545"/>
              <a:ext cx="161740" cy="131176"/>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sp>
          <p:nvSpPr>
            <p:cNvPr id="102" name="燕尾形 49"/>
            <p:cNvSpPr/>
            <p:nvPr/>
          </p:nvSpPr>
          <p:spPr>
            <a:xfrm>
              <a:off x="4995160" y="2864539"/>
              <a:ext cx="129698" cy="105189"/>
            </a:xfrm>
            <a:prstGeom prst="chevron">
              <a:avLst/>
            </a:prstGeom>
            <a:grpFill/>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base" latinLnBrk="0" hangingPunct="1">
                <a:lnSpc>
                  <a:spcPct val="180000"/>
                </a:lnSpc>
                <a:spcBef>
                  <a:spcPct val="20000"/>
                </a:spcBef>
                <a:spcAft>
                  <a:spcPct val="0"/>
                </a:spcAft>
                <a:buClr>
                  <a:srgbClr val="FF0000"/>
                </a:buClr>
                <a:buSzPct val="100000"/>
                <a:buFontTx/>
                <a:buNone/>
                <a:defRPr/>
              </a:pPr>
              <a:endParaRPr kumimoji="0" lang="zh-CN" altLang="en-US" sz="1200" b="0" i="0" u="none" strike="noStrike" kern="1200" cap="none" spc="0" normalizeH="0" baseline="0" noProof="0" dirty="0">
                <a:ln>
                  <a:noFill/>
                </a:ln>
                <a:solidFill>
                  <a:srgbClr val="FFFFFF"/>
                </a:solidFill>
                <a:effectLst/>
                <a:uLnTx/>
                <a:uFillTx/>
                <a:latin typeface="Tahoma" panose="020B0604030504040204"/>
                <a:ea typeface="方正大黑简体" panose="02000000000000000000" pitchFamily="2" charset="-122"/>
                <a:cs typeface="+mn-cs"/>
              </a:endParaRPr>
            </a:p>
          </p:txBody>
        </p:sp>
      </p:grpSp>
      <p:cxnSp>
        <p:nvCxnSpPr>
          <p:cNvPr id="103" name="肘形连接符 102"/>
          <p:cNvCxnSpPr/>
          <p:nvPr/>
        </p:nvCxnSpPr>
        <p:spPr>
          <a:xfrm flipV="1">
            <a:off x="11139990" y="3584217"/>
            <a:ext cx="474" cy="1620000"/>
          </a:xfrm>
          <a:prstGeom prst="bentConnector3">
            <a:avLst>
              <a:gd name="adj1" fmla="val 48327848"/>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4" name="圆角矩形 103"/>
          <p:cNvSpPr/>
          <p:nvPr/>
        </p:nvSpPr>
        <p:spPr>
          <a:xfrm>
            <a:off x="11205773" y="3955451"/>
            <a:ext cx="303633" cy="968497"/>
          </a:xfrm>
          <a:prstGeom prst="roundRect">
            <a:avLst>
              <a:gd name="adj" fmla="val 0"/>
            </a:avLst>
          </a:prstGeom>
          <a:solidFill>
            <a:schemeClr val="bg1"/>
          </a:solidFill>
          <a:ln>
            <a:noFill/>
          </a:ln>
        </p:spPr>
        <p:style>
          <a:lnRef idx="1">
            <a:schemeClr val="accent2"/>
          </a:lnRef>
          <a:fillRef idx="2">
            <a:schemeClr val="accent2"/>
          </a:fillRef>
          <a:effectRef idx="1">
            <a:schemeClr val="accent2"/>
          </a:effectRef>
          <a:fontRef idx="minor">
            <a:schemeClr val="dk1"/>
          </a:fontRef>
        </p:style>
        <p:txBody>
          <a:bodyPr vert="eaVert" lIns="90000" tIns="46800" rIns="90000" bIns="4680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1600" b="0" i="0" u="none" strike="noStrike" kern="0" cap="none" spc="0" normalizeH="0" baseline="0" noProof="0" dirty="0" smtClean="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rPr>
              <a:t>迭代升级</a:t>
            </a:r>
            <a:endParaRPr kumimoji="1" lang="zh-CN" altLang="en-US" sz="1600" b="0" i="0" u="none" strike="noStrike" kern="0" cap="none" spc="0" normalizeH="0" baseline="0" noProof="0" dirty="0">
              <a:ln>
                <a:noFill/>
              </a:ln>
              <a:solidFill>
                <a:srgbClr val="C00000"/>
              </a:solidFill>
              <a:effectLst/>
              <a:uLnTx/>
              <a:uFillTx/>
              <a:latin typeface="方正大黑简体" panose="02000000000000000000" pitchFamily="2" charset="-122"/>
              <a:ea typeface="方正大黑简体" panose="02000000000000000000" pitchFamily="2" charset="-122"/>
              <a:cs typeface="Arial" panose="020B0604020202020204" pitchFamily="34" charset="0"/>
            </a:endParaRPr>
          </a:p>
        </p:txBody>
      </p:sp>
      <p:sp>
        <p:nvSpPr>
          <p:cNvPr id="105" name="虚尾箭头 104"/>
          <p:cNvSpPr/>
          <p:nvPr/>
        </p:nvSpPr>
        <p:spPr>
          <a:xfrm rot="5400000">
            <a:off x="6197693" y="2809300"/>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sp>
        <p:nvSpPr>
          <p:cNvPr id="106" name="虚尾箭头 105"/>
          <p:cNvSpPr/>
          <p:nvPr/>
        </p:nvSpPr>
        <p:spPr>
          <a:xfrm rot="5400000">
            <a:off x="6197692" y="3631482"/>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sp>
        <p:nvSpPr>
          <p:cNvPr id="107" name="虚尾箭头 106"/>
          <p:cNvSpPr/>
          <p:nvPr/>
        </p:nvSpPr>
        <p:spPr>
          <a:xfrm rot="5400000">
            <a:off x="6197691" y="4475610"/>
            <a:ext cx="220485" cy="675257"/>
          </a:xfrm>
          <a:prstGeom prst="stripedRightArrow">
            <a:avLst>
              <a:gd name="adj1" fmla="val 43552"/>
              <a:gd name="adj2" fmla="val 50045"/>
            </a:avLst>
          </a:prstGeom>
          <a:solidFill>
            <a:srgbClr val="C00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white"/>
              </a:solidFill>
              <a:effectLst/>
              <a:uLnTx/>
              <a:uFillTx/>
              <a:latin typeface="方正大黑简体" panose="02000000000000000000" pitchFamily="2" charset="-122"/>
              <a:ea typeface="方正大黑简体" panose="02000000000000000000" pitchFamily="2" charset="-122"/>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（三）研究</a:t>
            </a:r>
            <a:r>
              <a:rPr lang="zh-CN" altLang="en-US" sz="3200" b="1" dirty="0">
                <a:solidFill>
                  <a:srgbClr val="C00000"/>
                </a:solidFill>
                <a:latin typeface="微软雅黑" panose="020B0503020204020204" pitchFamily="34" charset="-122"/>
                <a:ea typeface="微软雅黑" panose="020B0503020204020204" pitchFamily="34" charset="-122"/>
                <a:sym typeface="+mn-ea"/>
              </a:rPr>
              <a:t>内容</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489567" y="1033571"/>
            <a:ext cx="11388053" cy="92202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围绕</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机理揭示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特征提取</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参数反演</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体系构建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验证优化</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规范集成</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六大环节，设置了</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6</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项研究内容，</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2026年为施工曲线多尺度特征提取攻关年</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表格 2"/>
          <p:cNvGraphicFramePr/>
          <p:nvPr>
            <p:custDataLst>
              <p:tags r:id="rId1"/>
            </p:custDataLst>
          </p:nvPr>
        </p:nvGraphicFramePr>
        <p:xfrm>
          <a:off x="601345" y="2026285"/>
          <a:ext cx="11017250" cy="4511675"/>
        </p:xfrm>
        <a:graphic>
          <a:graphicData uri="http://schemas.openxmlformats.org/drawingml/2006/table">
            <a:tbl>
              <a:tblPr firstRow="1" bandRow="1">
                <a:tableStyleId>{5940675A-B579-460E-94D1-54222C63F5DA}</a:tableStyleId>
              </a:tblPr>
              <a:tblGrid>
                <a:gridCol w="2708275"/>
                <a:gridCol w="8308975"/>
              </a:tblGrid>
              <a:tr h="644525">
                <a:tc>
                  <a:txBody>
                    <a:bodyPr/>
                    <a:p>
                      <a:pPr algn="ctr">
                        <a:buNone/>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研究环节</a:t>
                      </a:r>
                      <a:endPar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solidFill>
                      <a:srgbClr val="FFC000"/>
                    </a:solidFill>
                  </a:tcPr>
                </a:tc>
                <a:tc>
                  <a:txBody>
                    <a:bodyPr/>
                    <a:p>
                      <a:pPr algn="ctr">
                        <a:buNone/>
                      </a:pPr>
                      <a:r>
                        <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a:t>
                      </a:r>
                      <a:endParaRPr lang="zh-CN" altLang="en-US" sz="1600" b="1"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solidFill>
                      <a:srgbClr val="FFC000"/>
                    </a:solidFill>
                  </a:tcPr>
                </a:tc>
              </a:tr>
              <a:tr h="64452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研究内容一（</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2025</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压裂裂缝扩展机理与压力响应特征研究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4452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研究内容二（</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2026</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基于小波变换的施工曲线多尺度特征提取研究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4452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研究内容三（</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2027</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函数的停泵期裂缝几何参数反演方法研究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4452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研究内容四（</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2028</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压裂改造效果多维综合评价指标体系构建研究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4452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研究内容五（</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2029</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典型区块差异性分析与评价体系适应性优化研究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r h="644525">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研究内容六（</a:t>
                      </a:r>
                      <a:r>
                        <a:rPr lang="en-US" altLang="zh-CN"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2030</a:t>
                      </a: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c>
                  <a:txBody>
                    <a:bodyPr/>
                    <a:p>
                      <a:pPr algn="ctr">
                        <a:buNone/>
                      </a:pPr>
                      <a:r>
                        <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缝网压裂改造效果综合评估技术规范与成果集成研究</a:t>
                      </a:r>
                      <a:endParaRPr lang="zh-CN" altLang="en-US" sz="1600" b="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txBody>
                  <a:tcPr anchor="ctr" anchorCtr="0"/>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5715" y="188595"/>
            <a:ext cx="12218035"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a:t>
            </a:r>
            <a:r>
              <a:rPr lang="zh-CN" altLang="en-US" sz="3200" b="1" dirty="0">
                <a:solidFill>
                  <a:srgbClr val="C00000"/>
                </a:solidFill>
                <a:latin typeface="微软雅黑" panose="020B0503020204020204" pitchFamily="34" charset="-122"/>
                <a:ea typeface="微软雅黑" panose="020B0503020204020204" pitchFamily="34" charset="-122"/>
                <a:sym typeface="+mn-ea"/>
              </a:rPr>
              <a:t>一、压裂裂缝扩展机理与压力响应特征研究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采用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XFEM</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结合内聚力单元方法建立含天然裂缝的</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裂缝扩展数值模型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真三轴水力压裂</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物理模拟系统开展多组可视化实验，系统研究</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水平应力差、岩石弹性模量及变排量</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等因素对裂缝交互行为与压力响应的控制规律，归纳典型裂缝事件的压力响应特征，建立</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裂缝行为</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压力形态</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对应关系</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1"/>
          <a:stretch>
            <a:fillRect/>
          </a:stretch>
        </p:blipFill>
        <p:spPr>
          <a:xfrm>
            <a:off x="2763520" y="2590800"/>
            <a:ext cx="5069205" cy="3209290"/>
          </a:xfrm>
          <a:prstGeom prst="rect">
            <a:avLst/>
          </a:prstGeom>
        </p:spPr>
      </p:pic>
      <p:sp>
        <p:nvSpPr>
          <p:cNvPr id="26" name="文本框 25"/>
          <p:cNvSpPr txBox="1"/>
          <p:nvPr/>
        </p:nvSpPr>
        <p:spPr>
          <a:xfrm>
            <a:off x="237490" y="5854065"/>
            <a:ext cx="245745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含天然裂缝的裂缝扩展数值模型</a:t>
            </a:r>
            <a:endParaRPr lang="zh-CN" altLang="en-US" sz="1200">
              <a:latin typeface="微软雅黑" panose="020B0503020204020204" pitchFamily="34" charset="-122"/>
              <a:ea typeface="微软雅黑" panose="020B0503020204020204" pitchFamily="34" charset="-122"/>
            </a:endParaRPr>
          </a:p>
        </p:txBody>
      </p:sp>
      <p:sp>
        <p:nvSpPr>
          <p:cNvPr id="8" name="文本框 7"/>
          <p:cNvSpPr txBox="1"/>
          <p:nvPr/>
        </p:nvSpPr>
        <p:spPr>
          <a:xfrm>
            <a:off x="2778760" y="5854065"/>
            <a:ext cx="919416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真三轴水力压裂物理实验与部分注入压力与排量</a:t>
            </a:r>
            <a:r>
              <a:rPr lang="zh-CN" altLang="en-US" sz="1200">
                <a:latin typeface="微软雅黑" panose="020B0503020204020204" pitchFamily="34" charset="-122"/>
                <a:ea typeface="微软雅黑" panose="020B0503020204020204" pitchFamily="34" charset="-122"/>
              </a:rPr>
              <a:t>关系</a:t>
            </a:r>
            <a:endParaRPr lang="zh-CN" altLang="en-US" sz="120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8001000" y="2778760"/>
            <a:ext cx="3848100" cy="3074035"/>
            <a:chOff x="14180" y="5395"/>
            <a:chExt cx="4532" cy="3405"/>
          </a:xfrm>
        </p:grpSpPr>
        <p:pic>
          <p:nvPicPr>
            <p:cNvPr id="9" name="图片 8"/>
            <p:cNvPicPr>
              <a:picLocks noChangeAspect="1"/>
            </p:cNvPicPr>
            <p:nvPr/>
          </p:nvPicPr>
          <p:blipFill>
            <a:blip r:embed="rId2"/>
            <a:stretch>
              <a:fillRect/>
            </a:stretch>
          </p:blipFill>
          <p:spPr>
            <a:xfrm>
              <a:off x="14180" y="5395"/>
              <a:ext cx="2214" cy="1702"/>
            </a:xfrm>
            <a:prstGeom prst="rect">
              <a:avLst/>
            </a:prstGeom>
          </p:spPr>
        </p:pic>
        <p:pic>
          <p:nvPicPr>
            <p:cNvPr id="10" name="图片 9"/>
            <p:cNvPicPr>
              <a:picLocks noChangeAspect="1"/>
            </p:cNvPicPr>
            <p:nvPr/>
          </p:nvPicPr>
          <p:blipFill>
            <a:blip r:embed="rId3"/>
            <a:stretch>
              <a:fillRect/>
            </a:stretch>
          </p:blipFill>
          <p:spPr>
            <a:xfrm>
              <a:off x="16500" y="5396"/>
              <a:ext cx="2206" cy="1701"/>
            </a:xfrm>
            <a:prstGeom prst="rect">
              <a:avLst/>
            </a:prstGeom>
          </p:spPr>
        </p:pic>
        <p:pic>
          <p:nvPicPr>
            <p:cNvPr id="11" name="图片 10"/>
            <p:cNvPicPr>
              <a:picLocks noChangeAspect="1"/>
            </p:cNvPicPr>
            <p:nvPr/>
          </p:nvPicPr>
          <p:blipFill>
            <a:blip r:embed="rId4"/>
            <a:stretch>
              <a:fillRect/>
            </a:stretch>
          </p:blipFill>
          <p:spPr>
            <a:xfrm>
              <a:off x="14182" y="7098"/>
              <a:ext cx="2212" cy="1701"/>
            </a:xfrm>
            <a:prstGeom prst="rect">
              <a:avLst/>
            </a:prstGeom>
          </p:spPr>
        </p:pic>
        <p:pic>
          <p:nvPicPr>
            <p:cNvPr id="12" name="图片 11"/>
            <p:cNvPicPr>
              <a:picLocks noChangeAspect="1"/>
            </p:cNvPicPr>
            <p:nvPr/>
          </p:nvPicPr>
          <p:blipFill>
            <a:blip r:embed="rId5"/>
            <a:stretch>
              <a:fillRect/>
            </a:stretch>
          </p:blipFill>
          <p:spPr>
            <a:xfrm>
              <a:off x="16500" y="7100"/>
              <a:ext cx="2212" cy="1701"/>
            </a:xfrm>
            <a:prstGeom prst="rect">
              <a:avLst/>
            </a:prstGeom>
          </p:spPr>
        </p:pic>
      </p:grpSp>
      <p:pic>
        <p:nvPicPr>
          <p:cNvPr id="14" name="图片 13" descr="图片1"/>
          <p:cNvPicPr>
            <a:picLocks noChangeAspect="1"/>
          </p:cNvPicPr>
          <p:nvPr/>
        </p:nvPicPr>
        <p:blipFill>
          <a:blip r:embed="rId6"/>
          <a:stretch>
            <a:fillRect/>
          </a:stretch>
        </p:blipFill>
        <p:spPr>
          <a:xfrm>
            <a:off x="236220" y="2610485"/>
            <a:ext cx="2359660" cy="323151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a:t>
            </a:r>
            <a:r>
              <a:rPr lang="zh-CN" altLang="en-US" sz="3200" b="1" dirty="0">
                <a:solidFill>
                  <a:srgbClr val="C00000"/>
                </a:solidFill>
                <a:latin typeface="微软雅黑" panose="020B0503020204020204" pitchFamily="34" charset="-122"/>
                <a:ea typeface="微软雅黑" panose="020B0503020204020204" pitchFamily="34" charset="-122"/>
                <a:sym typeface="+mn-ea"/>
              </a:rPr>
              <a:t>二、基于小波变换的施工曲线多尺度特征提取研究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引入</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离散小波变换和连续小波变换</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分解压裂施工信号，利用各频带峰值能量</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识别裂缝扩展事件</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并生成时频尺度图，综合事件指标与过程指标构建多维小波评价体系，结合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微地震与产能</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数据进行标定</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验证</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，形成</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基于施工曲线的改造体积定量评价方法</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97485" y="2537460"/>
            <a:ext cx="4870450" cy="3169920"/>
          </a:xfrm>
          <a:prstGeom prst="rect">
            <a:avLst/>
          </a:prstGeom>
        </p:spPr>
      </p:pic>
      <p:pic>
        <p:nvPicPr>
          <p:cNvPr id="4" name="图片 3" descr="图片6"/>
          <p:cNvPicPr>
            <a:picLocks noChangeAspect="1"/>
          </p:cNvPicPr>
          <p:nvPr/>
        </p:nvPicPr>
        <p:blipFill>
          <a:blip r:embed="rId2"/>
          <a:stretch>
            <a:fillRect/>
          </a:stretch>
        </p:blipFill>
        <p:spPr>
          <a:xfrm>
            <a:off x="5225415" y="2633345"/>
            <a:ext cx="6847840" cy="3049270"/>
          </a:xfrm>
          <a:prstGeom prst="rect">
            <a:avLst/>
          </a:prstGeom>
        </p:spPr>
      </p:pic>
      <p:sp>
        <p:nvSpPr>
          <p:cNvPr id="26" name="文本框 25"/>
          <p:cNvSpPr txBox="1"/>
          <p:nvPr/>
        </p:nvSpPr>
        <p:spPr>
          <a:xfrm>
            <a:off x="198120" y="5854065"/>
            <a:ext cx="516636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离散小波变换分解压裂施工</a:t>
            </a:r>
            <a:r>
              <a:rPr lang="zh-CN" altLang="en-US" sz="1200">
                <a:latin typeface="微软雅黑" panose="020B0503020204020204" pitchFamily="34" charset="-122"/>
                <a:ea typeface="微软雅黑" panose="020B0503020204020204" pitchFamily="34" charset="-122"/>
              </a:rPr>
              <a:t>信号</a:t>
            </a:r>
            <a:endParaRPr lang="zh-CN" altLang="en-US" sz="1200">
              <a:latin typeface="微软雅黑" panose="020B0503020204020204" pitchFamily="34" charset="-122"/>
              <a:ea typeface="微软雅黑" panose="020B0503020204020204" pitchFamily="34" charset="-122"/>
            </a:endParaRPr>
          </a:p>
        </p:txBody>
      </p:sp>
      <p:sp>
        <p:nvSpPr>
          <p:cNvPr id="6" name="文本框 5"/>
          <p:cNvSpPr txBox="1"/>
          <p:nvPr/>
        </p:nvSpPr>
        <p:spPr>
          <a:xfrm>
            <a:off x="5561330" y="5853430"/>
            <a:ext cx="651256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连续小波变换</a:t>
            </a:r>
            <a:r>
              <a:rPr lang="zh-CN" altLang="en-US" sz="1200">
                <a:latin typeface="微软雅黑" panose="020B0503020204020204" pitchFamily="34" charset="-122"/>
                <a:ea typeface="微软雅黑" panose="020B0503020204020204" pitchFamily="34" charset="-122"/>
              </a:rPr>
              <a:t>分析压裂施工</a:t>
            </a:r>
            <a:r>
              <a:rPr lang="zh-CN" altLang="en-US" sz="1200">
                <a:latin typeface="微软雅黑" panose="020B0503020204020204" pitchFamily="34" charset="-122"/>
                <a:ea typeface="微软雅黑" panose="020B0503020204020204" pitchFamily="34" charset="-122"/>
              </a:rPr>
              <a:t>信号</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研究内容三、基于</a:t>
            </a:r>
            <a:r>
              <a:rPr lang="en-US" altLang="zh-CN" sz="3200" b="1" dirty="0">
                <a:solidFill>
                  <a:srgbClr val="C00000"/>
                </a:solidFill>
                <a:latin typeface="微软雅黑" panose="020B0503020204020204" pitchFamily="34" charset="-122"/>
                <a:ea typeface="微软雅黑" panose="020B0503020204020204" pitchFamily="34" charset="-122"/>
                <a:sym typeface="+mn-ea"/>
              </a:rPr>
              <a:t>G</a:t>
            </a:r>
            <a:r>
              <a:rPr lang="zh-CN" altLang="en-US" sz="3200" b="1" dirty="0">
                <a:solidFill>
                  <a:srgbClr val="C00000"/>
                </a:solidFill>
                <a:latin typeface="微软雅黑" panose="020B0503020204020204" pitchFamily="34" charset="-122"/>
                <a:ea typeface="微软雅黑" panose="020B0503020204020204" pitchFamily="34" charset="-122"/>
                <a:sym typeface="+mn-ea"/>
              </a:rPr>
              <a:t>函数的停泵期裂缝几何参数反演方法研究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基于</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函数理论与缝内流体连续性方程建立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停泵期压降分析模型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，结合局部加权回归和双指数衰减方法提升现场数据质量，实现</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滤失类型诊断</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图版的构建；考虑</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多裂缝应力阴影</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效应，</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引入缝间应力干扰因子修正净压力建立</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多裂缝尺寸协同反演模型</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实现</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裂缝几何参数定量表征</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5" name="图片 44"/>
          <p:cNvPicPr>
            <a:picLocks noChangeAspect="1"/>
          </p:cNvPicPr>
          <p:nvPr>
            <p:custDataLst>
              <p:tags r:id="rId1"/>
            </p:custDataLst>
          </p:nvPr>
        </p:nvPicPr>
        <p:blipFill>
          <a:blip r:embed="rId2"/>
          <a:srcRect t="9125" b="9125"/>
          <a:stretch>
            <a:fillRect/>
          </a:stretch>
        </p:blipFill>
        <p:spPr>
          <a:xfrm>
            <a:off x="8087546" y="4642483"/>
            <a:ext cx="2044800" cy="1008000"/>
          </a:xfrm>
          <a:prstGeom prst="rect">
            <a:avLst/>
          </a:prstGeom>
          <a:ln>
            <a:solidFill>
              <a:schemeClr val="tx1"/>
            </a:solidFill>
          </a:ln>
        </p:spPr>
      </p:pic>
      <p:pic>
        <p:nvPicPr>
          <p:cNvPr id="41" name="图片 40" descr="G_P_data_18_analysis"/>
          <p:cNvPicPr>
            <a:picLocks noChangeAspect="1"/>
          </p:cNvPicPr>
          <p:nvPr/>
        </p:nvPicPr>
        <p:blipFill>
          <a:blip r:embed="rId3"/>
          <a:stretch>
            <a:fillRect/>
          </a:stretch>
        </p:blipFill>
        <p:spPr>
          <a:xfrm>
            <a:off x="3973830" y="2755265"/>
            <a:ext cx="3721100" cy="2559050"/>
          </a:xfrm>
          <a:prstGeom prst="rect">
            <a:avLst/>
          </a:prstGeom>
        </p:spPr>
      </p:pic>
      <p:pic>
        <p:nvPicPr>
          <p:cNvPr id="38" name="图片 37"/>
          <p:cNvPicPr>
            <a:picLocks noChangeAspect="1"/>
          </p:cNvPicPr>
          <p:nvPr/>
        </p:nvPicPr>
        <p:blipFill>
          <a:blip r:embed="rId4"/>
          <a:srcRect l="5855" t="5712" r="9273"/>
          <a:stretch>
            <a:fillRect/>
          </a:stretch>
        </p:blipFill>
        <p:spPr>
          <a:xfrm>
            <a:off x="117475" y="2691130"/>
            <a:ext cx="3578860" cy="2622550"/>
          </a:xfrm>
          <a:prstGeom prst="rect">
            <a:avLst/>
          </a:prstGeom>
        </p:spPr>
      </p:pic>
      <p:pic>
        <p:nvPicPr>
          <p:cNvPr id="43" name="图片 42"/>
          <p:cNvPicPr>
            <a:picLocks noChangeAspect="1"/>
          </p:cNvPicPr>
          <p:nvPr>
            <p:custDataLst>
              <p:tags r:id="rId5"/>
            </p:custDataLst>
          </p:nvPr>
        </p:nvPicPr>
        <p:blipFill>
          <a:blip r:embed="rId6"/>
          <a:srcRect t="9096" b="9096"/>
          <a:stretch>
            <a:fillRect/>
          </a:stretch>
        </p:blipFill>
        <p:spPr>
          <a:xfrm>
            <a:off x="8087360" y="2467800"/>
            <a:ext cx="2044800" cy="1008000"/>
          </a:xfrm>
          <a:prstGeom prst="rect">
            <a:avLst/>
          </a:prstGeom>
          <a:ln>
            <a:solidFill>
              <a:schemeClr val="tx1"/>
            </a:solidFill>
          </a:ln>
        </p:spPr>
      </p:pic>
      <p:pic>
        <p:nvPicPr>
          <p:cNvPr id="44" name="图片 43"/>
          <p:cNvPicPr>
            <a:picLocks noChangeAspect="1"/>
          </p:cNvPicPr>
          <p:nvPr>
            <p:custDataLst>
              <p:tags r:id="rId7"/>
            </p:custDataLst>
          </p:nvPr>
        </p:nvPicPr>
        <p:blipFill>
          <a:blip r:embed="rId8"/>
          <a:srcRect t="9125" b="9125"/>
          <a:stretch>
            <a:fillRect/>
          </a:stretch>
        </p:blipFill>
        <p:spPr>
          <a:xfrm>
            <a:off x="8087360" y="3555365"/>
            <a:ext cx="2044800" cy="1008000"/>
          </a:xfrm>
          <a:prstGeom prst="rect">
            <a:avLst/>
          </a:prstGeom>
          <a:noFill/>
          <a:ln>
            <a:solidFill>
              <a:schemeClr val="tx1"/>
            </a:solidFill>
          </a:ln>
        </p:spPr>
      </p:pic>
      <p:sp>
        <p:nvSpPr>
          <p:cNvPr id="46" name="箭头: 右 9"/>
          <p:cNvSpPr/>
          <p:nvPr/>
        </p:nvSpPr>
        <p:spPr>
          <a:xfrm>
            <a:off x="10251440" y="283781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7" name="箭头: 右 9"/>
          <p:cNvSpPr/>
          <p:nvPr/>
        </p:nvSpPr>
        <p:spPr>
          <a:xfrm>
            <a:off x="10258425" y="392493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8" name="箭头: 右 9"/>
          <p:cNvSpPr/>
          <p:nvPr/>
        </p:nvSpPr>
        <p:spPr>
          <a:xfrm>
            <a:off x="10258425" y="501205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49" name="文本框 48"/>
          <p:cNvSpPr txBox="1"/>
          <p:nvPr/>
        </p:nvSpPr>
        <p:spPr>
          <a:xfrm>
            <a:off x="10478135" y="2755265"/>
            <a:ext cx="1553210" cy="368300"/>
          </a:xfrm>
          <a:prstGeom prst="rect">
            <a:avLst/>
          </a:prstGeom>
          <a:noFill/>
          <a:ln>
            <a:noFill/>
          </a:ln>
        </p:spPr>
        <p:txBody>
          <a:bodyPr wrap="square" anchor="t">
            <a:spAutoFit/>
          </a:bodyPr>
          <a:lstStyle/>
          <a:p>
            <a:pPr marL="0" indent="0" algn="l">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均匀基质滤失型</a:t>
            </a:r>
            <a:endPar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0" name="文本框 49"/>
          <p:cNvSpPr txBox="1"/>
          <p:nvPr/>
        </p:nvSpPr>
        <p:spPr>
          <a:xfrm>
            <a:off x="10471150" y="3840480"/>
            <a:ext cx="1683385" cy="368300"/>
          </a:xfrm>
          <a:prstGeom prst="rect">
            <a:avLst/>
          </a:prstGeom>
          <a:noFill/>
          <a:ln>
            <a:noFill/>
          </a:ln>
        </p:spPr>
        <p:txBody>
          <a:bodyPr wrap="square" anchor="t">
            <a:spAutoFit/>
          </a:bodyPr>
          <a:lstStyle/>
          <a:p>
            <a:pPr marL="0" indent="0" algn="l">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天然裂缝增强滤失型</a:t>
            </a:r>
            <a:endPar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52" name="文本框 51"/>
          <p:cNvSpPr txBox="1"/>
          <p:nvPr/>
        </p:nvSpPr>
        <p:spPr>
          <a:xfrm>
            <a:off x="10478135" y="4946015"/>
            <a:ext cx="1651635" cy="368300"/>
          </a:xfrm>
          <a:prstGeom prst="rect">
            <a:avLst/>
          </a:prstGeom>
          <a:noFill/>
          <a:ln>
            <a:noFill/>
          </a:ln>
        </p:spPr>
        <p:txBody>
          <a:bodyPr wrap="square" anchor="t">
            <a:spAutoFit/>
          </a:bodyPr>
          <a:lstStyle/>
          <a:p>
            <a:pPr marL="0" indent="0" algn="l">
              <a:lnSpc>
                <a:spcPct val="150000"/>
              </a:lnSpc>
              <a:buClr>
                <a:srgbClr val="FF0000"/>
              </a:buClr>
            </a:pPr>
            <a:r>
              <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rPr>
              <a:t>次生裂缝减缓滤失型</a:t>
            </a:r>
            <a:endParaRPr lang="zh-CN" altLang="en-US" sz="12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 name="箭头: 右 9"/>
          <p:cNvSpPr/>
          <p:nvPr/>
        </p:nvSpPr>
        <p:spPr>
          <a:xfrm>
            <a:off x="3754120" y="3924935"/>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3" name="箭头: 右 9"/>
          <p:cNvSpPr/>
          <p:nvPr/>
        </p:nvSpPr>
        <p:spPr>
          <a:xfrm>
            <a:off x="7752715" y="3940810"/>
            <a:ext cx="219710" cy="267970"/>
          </a:xfrm>
          <a:prstGeom prst="rightArrow">
            <a:avLst>
              <a:gd name="adj1" fmla="val 60000"/>
              <a:gd name="adj2" fmla="val 50000"/>
            </a:avLst>
          </a:prstGeom>
          <a:solidFill>
            <a:srgbClr val="FF0000"/>
          </a:solidFill>
        </p:spPr>
        <p:style>
          <a:lnRef idx="0">
            <a:schemeClr val="accent6">
              <a:tint val="60000"/>
              <a:hueOff val="0"/>
              <a:satOff val="0"/>
              <a:lumOff val="0"/>
              <a:alphaOff val="0"/>
            </a:schemeClr>
          </a:lnRef>
          <a:fillRef idx="1">
            <a:schemeClr val="accent6">
              <a:tint val="60000"/>
              <a:hueOff val="0"/>
              <a:satOff val="0"/>
              <a:lumOff val="0"/>
              <a:alphaOff val="0"/>
            </a:schemeClr>
          </a:fillRef>
          <a:effectRef idx="0">
            <a:schemeClr val="accent6">
              <a:tint val="60000"/>
              <a:hueOff val="0"/>
              <a:satOff val="0"/>
              <a:lumOff val="0"/>
              <a:alphaOff val="0"/>
            </a:schemeClr>
          </a:effectRef>
          <a:fontRef idx="minor">
            <a:schemeClr val="lt1"/>
          </a:fontRef>
        </p:style>
        <p:txBody>
          <a:bodyPr/>
          <a:lstStyle/>
          <a:p>
            <a:endParaRPr lang="zh-CN" altLang="en-US"/>
          </a:p>
        </p:txBody>
      </p:sp>
      <p:sp>
        <p:nvSpPr>
          <p:cNvPr id="26" name="文本框 25"/>
          <p:cNvSpPr txBox="1"/>
          <p:nvPr/>
        </p:nvSpPr>
        <p:spPr>
          <a:xfrm>
            <a:off x="116840" y="5854065"/>
            <a:ext cx="1191450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基于</a:t>
            </a:r>
            <a:r>
              <a:rPr lang="en-US" altLang="zh-CN" sz="1200">
                <a:latin typeface="微软雅黑" panose="020B0503020204020204" pitchFamily="34" charset="-122"/>
                <a:ea typeface="微软雅黑" panose="020B0503020204020204" pitchFamily="34" charset="-122"/>
              </a:rPr>
              <a:t>G</a:t>
            </a:r>
            <a:r>
              <a:rPr lang="zh-CN" altLang="en-US" sz="1200">
                <a:latin typeface="微软雅黑" panose="020B0503020204020204" pitchFamily="34" charset="-122"/>
                <a:ea typeface="微软雅黑" panose="020B0503020204020204" pitchFamily="34" charset="-122"/>
              </a:rPr>
              <a:t>函数的停泵期裂缝几何参数反演模型数据</a:t>
            </a:r>
            <a:r>
              <a:rPr lang="zh-CN" altLang="en-US" sz="1200">
                <a:latin typeface="微软雅黑" panose="020B0503020204020204" pitchFamily="34" charset="-122"/>
                <a:ea typeface="微软雅黑" panose="020B0503020204020204" pitchFamily="34" charset="-122"/>
              </a:rPr>
              <a:t>分析流程</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研究内容四、压裂改造效果多维综合评价指标体系构建研究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融合小波变换、</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函数分析、水击边界指数等</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项技术指标</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，构建覆盖</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改造体积、裂缝复杂度与导流能力</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的三维两级综合评价指标体系，采用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主观赋权</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客观修正</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结果驱动</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的递进式权重优化方法，并开展敏感性分析与稳定性检验，形成</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可量化、可对比的压裂</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改造效果综合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评估方法</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 name="图片 3" descr="图片9"/>
          <p:cNvPicPr>
            <a:picLocks noChangeAspect="1"/>
          </p:cNvPicPr>
          <p:nvPr/>
        </p:nvPicPr>
        <p:blipFill>
          <a:blip r:embed="rId1"/>
          <a:stretch>
            <a:fillRect/>
          </a:stretch>
        </p:blipFill>
        <p:spPr>
          <a:xfrm>
            <a:off x="4712970" y="2851150"/>
            <a:ext cx="3612515" cy="2687320"/>
          </a:xfrm>
          <a:prstGeom prst="rect">
            <a:avLst/>
          </a:prstGeom>
        </p:spPr>
      </p:pic>
      <p:pic>
        <p:nvPicPr>
          <p:cNvPr id="6" name="图片 5" descr="图片10"/>
          <p:cNvPicPr>
            <a:picLocks noChangeAspect="1"/>
          </p:cNvPicPr>
          <p:nvPr/>
        </p:nvPicPr>
        <p:blipFill>
          <a:blip r:embed="rId2"/>
          <a:stretch>
            <a:fillRect/>
          </a:stretch>
        </p:blipFill>
        <p:spPr>
          <a:xfrm>
            <a:off x="8511540" y="2962275"/>
            <a:ext cx="3249295" cy="2451735"/>
          </a:xfrm>
          <a:prstGeom prst="rect">
            <a:avLst/>
          </a:prstGeom>
        </p:spPr>
      </p:pic>
      <p:sp>
        <p:nvSpPr>
          <p:cNvPr id="16" name="文本框 15"/>
          <p:cNvSpPr txBox="1"/>
          <p:nvPr/>
        </p:nvSpPr>
        <p:spPr>
          <a:xfrm>
            <a:off x="121920" y="5854065"/>
            <a:ext cx="4404995"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层次分析法</a:t>
            </a:r>
            <a:r>
              <a:rPr lang="zh-CN" altLang="en-US" sz="1200">
                <a:latin typeface="微软雅黑" panose="020B0503020204020204" pitchFamily="34" charset="-122"/>
                <a:ea typeface="微软雅黑" panose="020B0503020204020204" pitchFamily="34" charset="-122"/>
              </a:rPr>
              <a:t>架构示意图</a:t>
            </a:r>
            <a:endParaRPr lang="zh-CN" altLang="en-US" sz="1200">
              <a:latin typeface="微软雅黑" panose="020B0503020204020204" pitchFamily="34" charset="-122"/>
              <a:ea typeface="微软雅黑" panose="020B0503020204020204" pitchFamily="34" charset="-122"/>
            </a:endParaRPr>
          </a:p>
        </p:txBody>
      </p:sp>
      <p:sp>
        <p:nvSpPr>
          <p:cNvPr id="30" name="文本框 29"/>
          <p:cNvSpPr txBox="1"/>
          <p:nvPr/>
        </p:nvSpPr>
        <p:spPr>
          <a:xfrm>
            <a:off x="4712335" y="5854065"/>
            <a:ext cx="361315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熵权法分析流程</a:t>
            </a:r>
            <a:r>
              <a:rPr lang="zh-CN" altLang="en-US" sz="1200">
                <a:latin typeface="微软雅黑" panose="020B0503020204020204" pitchFamily="34" charset="-122"/>
                <a:ea typeface="微软雅黑" panose="020B0503020204020204" pitchFamily="34" charset="-122"/>
              </a:rPr>
              <a:t>示意图</a:t>
            </a:r>
            <a:endParaRPr lang="zh-CN" altLang="en-US" sz="1200">
              <a:latin typeface="微软雅黑" panose="020B0503020204020204" pitchFamily="34" charset="-122"/>
              <a:ea typeface="微软雅黑" panose="020B0503020204020204" pitchFamily="34" charset="-122"/>
            </a:endParaRPr>
          </a:p>
        </p:txBody>
      </p:sp>
      <p:sp>
        <p:nvSpPr>
          <p:cNvPr id="32" name="文本框 31"/>
          <p:cNvSpPr txBox="1"/>
          <p:nvPr/>
        </p:nvSpPr>
        <p:spPr>
          <a:xfrm>
            <a:off x="8510905" y="5854065"/>
            <a:ext cx="3319780" cy="275590"/>
          </a:xfrm>
          <a:prstGeom prst="rect">
            <a:avLst/>
          </a:prstGeom>
          <a:noFill/>
        </p:spPr>
        <p:txBody>
          <a:bodyPr wrap="square" rtlCol="0">
            <a:spAutoFit/>
          </a:bodyPr>
          <a:p>
            <a:pPr algn="ctr"/>
            <a:r>
              <a:rPr lang="zh-CN" altLang="en-US" sz="1200">
                <a:latin typeface="微软雅黑" panose="020B0503020204020204" pitchFamily="34" charset="-122"/>
                <a:ea typeface="微软雅黑" panose="020B0503020204020204" pitchFamily="34" charset="-122"/>
              </a:rPr>
              <a:t>蒙特卡洛方法</a:t>
            </a:r>
            <a:r>
              <a:rPr lang="zh-CN" altLang="en-US" sz="1200">
                <a:latin typeface="微软雅黑" panose="020B0503020204020204" pitchFamily="34" charset="-122"/>
                <a:ea typeface="微软雅黑" panose="020B0503020204020204" pitchFamily="34" charset="-122"/>
              </a:rPr>
              <a:t>稳定性分析</a:t>
            </a:r>
            <a:r>
              <a:rPr lang="zh-CN" altLang="en-US" sz="1200">
                <a:latin typeface="微软雅黑" panose="020B0503020204020204" pitchFamily="34" charset="-122"/>
                <a:ea typeface="微软雅黑" panose="020B0503020204020204" pitchFamily="34" charset="-122"/>
              </a:rPr>
              <a:t>结果示意图</a:t>
            </a:r>
            <a:endParaRPr lang="zh-CN" altLang="en-US" sz="1200">
              <a:latin typeface="微软雅黑" panose="020B0503020204020204" pitchFamily="34" charset="-122"/>
              <a:ea typeface="微软雅黑" panose="020B0503020204020204" pitchFamily="34" charset="-122"/>
            </a:endParaRPr>
          </a:p>
        </p:txBody>
      </p:sp>
      <p:pic>
        <p:nvPicPr>
          <p:cNvPr id="2" name="图片 1" descr="图片1-1"/>
          <p:cNvPicPr>
            <a:picLocks noChangeAspect="1"/>
          </p:cNvPicPr>
          <p:nvPr/>
        </p:nvPicPr>
        <p:blipFill>
          <a:blip r:embed="rId3"/>
          <a:stretch>
            <a:fillRect/>
          </a:stretch>
        </p:blipFill>
        <p:spPr>
          <a:xfrm>
            <a:off x="125095" y="2962275"/>
            <a:ext cx="4401820" cy="233870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研究内容五、典型区块差异性分析与评价体系适应性优化研究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选取四川盆地深层页岩气不同区块（如泸州、资阳等），系统研究天然裂缝发育程度、地应力条件等</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地质工程差异</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对</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评价指标敏感性</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的影响，针对各区块特征进行评价参数</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适应性优化，形成</a:t>
            </a:r>
            <a:r>
              <a:rPr kumimoji="0" lang="en-US" altLang="zh-CN"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统一基础框架</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区块精细化适配</a:t>
            </a:r>
            <a:r>
              <a:rPr kumimoji="0" lang="en-US" altLang="zh-CN"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的分层评价策略，验证方法的普适性和跨区块可复用性</a:t>
            </a:r>
            <a:endParaRPr kumimoji="0" lang="zh-CN" altLang="en-US"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图片11"/>
          <p:cNvPicPr>
            <a:picLocks noChangeAspect="1"/>
          </p:cNvPicPr>
          <p:nvPr/>
        </p:nvPicPr>
        <p:blipFill>
          <a:blip r:embed="rId1"/>
          <a:stretch>
            <a:fillRect/>
          </a:stretch>
        </p:blipFill>
        <p:spPr>
          <a:xfrm>
            <a:off x="194945" y="2618105"/>
            <a:ext cx="6259830" cy="3004185"/>
          </a:xfrm>
          <a:prstGeom prst="rect">
            <a:avLst/>
          </a:prstGeom>
        </p:spPr>
      </p:pic>
      <p:pic>
        <p:nvPicPr>
          <p:cNvPr id="3" name="图片 2" descr="图片12"/>
          <p:cNvPicPr>
            <a:picLocks noChangeAspect="1"/>
          </p:cNvPicPr>
          <p:nvPr/>
        </p:nvPicPr>
        <p:blipFill>
          <a:blip r:embed="rId2"/>
          <a:stretch>
            <a:fillRect/>
          </a:stretch>
        </p:blipFill>
        <p:spPr>
          <a:xfrm>
            <a:off x="6569075" y="2608580"/>
            <a:ext cx="5521325" cy="3013710"/>
          </a:xfrm>
          <a:prstGeom prst="rect">
            <a:avLst/>
          </a:prstGeom>
        </p:spPr>
      </p:pic>
      <p:sp>
        <p:nvSpPr>
          <p:cNvPr id="16" name="文本框 15"/>
          <p:cNvSpPr txBox="1"/>
          <p:nvPr/>
        </p:nvSpPr>
        <p:spPr>
          <a:xfrm>
            <a:off x="195580" y="5854065"/>
            <a:ext cx="625919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H10</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平台多级断裂平面分布图与</a:t>
            </a:r>
            <a:r>
              <a:rPr lang="zh-CN" altLang="en-US" sz="1200" dirty="0">
                <a:solidFill>
                  <a:srgbClr val="000000"/>
                </a:solidFill>
                <a:latin typeface="微软雅黑" panose="020B0503020204020204" pitchFamily="34" charset="-122"/>
                <a:ea typeface="微软雅黑" panose="020B0503020204020204" pitchFamily="34" charset="-122"/>
                <a:sym typeface="+mn-ea"/>
              </a:rPr>
              <a:t>多级裂缝预测剖面图</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6569075" y="5854065"/>
            <a:ext cx="5521960"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泸</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203</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井区</a:t>
            </a:r>
            <a:r>
              <a:rPr lang="en-US" altLang="zh-CN"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H123</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多级断裂平面分布图与</a:t>
            </a:r>
            <a:r>
              <a:rPr lang="zh-CN" altLang="en-US" sz="1200" dirty="0">
                <a:solidFill>
                  <a:srgbClr val="000000"/>
                </a:solidFill>
                <a:latin typeface="微软雅黑" panose="020B0503020204020204" pitchFamily="34" charset="-122"/>
                <a:ea typeface="微软雅黑" panose="020B0503020204020204" pitchFamily="34" charset="-122"/>
                <a:sym typeface="+mn-ea"/>
              </a:rPr>
              <a:t>多级裂缝预测剖面图</a:t>
            </a:r>
            <a:endParaRPr lang="zh-CN" altLang="en-US" sz="12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
          <p:cNvSpPr txBox="1">
            <a:spLocks noChangeArrowheads="1"/>
          </p:cNvSpPr>
          <p:nvPr/>
        </p:nvSpPr>
        <p:spPr bwMode="auto">
          <a:xfrm>
            <a:off x="0" y="188595"/>
            <a:ext cx="1219200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a:solidFill>
                  <a:srgbClr val="C00000"/>
                </a:solidFill>
                <a:latin typeface="微软雅黑" panose="020B0503020204020204" pitchFamily="34" charset="-122"/>
                <a:ea typeface="微软雅黑" panose="020B0503020204020204" pitchFamily="34" charset="-122"/>
                <a:sym typeface="+mn-ea"/>
              </a:rPr>
              <a:t>研究内容六、缝网压裂改造效果综合评估技术规范与成果集成研究</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集成</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2025~2030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年形成的</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理论认识、技术方法和工程应用成果</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，编制缝网高效压裂改造效果综合评估</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技术规范</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，明确数据采集标准、分析流程和评分标准；开展</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技术推广应用</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，形成标准化评价作业流程，实现综合评价技术在深层页岩气开发中的规模化应用</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图片13"/>
          <p:cNvPicPr>
            <a:picLocks noChangeAspect="1"/>
          </p:cNvPicPr>
          <p:nvPr/>
        </p:nvPicPr>
        <p:blipFill>
          <a:blip r:embed="rId1"/>
          <a:stretch>
            <a:fillRect/>
          </a:stretch>
        </p:blipFill>
        <p:spPr>
          <a:xfrm>
            <a:off x="113030" y="2778125"/>
            <a:ext cx="7623810" cy="2758440"/>
          </a:xfrm>
          <a:prstGeom prst="rect">
            <a:avLst/>
          </a:prstGeom>
        </p:spPr>
      </p:pic>
      <p:pic>
        <p:nvPicPr>
          <p:cNvPr id="4" name="图片 3"/>
          <p:cNvPicPr/>
          <p:nvPr/>
        </p:nvPicPr>
        <p:blipFill>
          <a:blip r:embed="rId2"/>
          <a:stretch>
            <a:fillRect/>
          </a:stretch>
        </p:blipFill>
        <p:spPr>
          <a:xfrm>
            <a:off x="7666990" y="2677795"/>
            <a:ext cx="4366895" cy="2858135"/>
          </a:xfrm>
          <a:prstGeom prst="rect">
            <a:avLst/>
          </a:prstGeom>
        </p:spPr>
      </p:pic>
      <p:sp>
        <p:nvSpPr>
          <p:cNvPr id="16" name="文本框 15"/>
          <p:cNvSpPr txBox="1"/>
          <p:nvPr/>
        </p:nvSpPr>
        <p:spPr>
          <a:xfrm>
            <a:off x="113030" y="5854065"/>
            <a:ext cx="1192085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缝网高效压裂改造效果综合评估方法分析结果示意图与压裂施工现场</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应用</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（四）现场试验</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本专题聚焦</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四川盆地川南深层页岩气区块</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开展现场试验，选取泸州、资阳等区块作为试验区域，预计现场应用</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井次、覆盖不少于</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段压裂施工数据，结合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微地震</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监测结果和产能数据进行交叉验证，</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分析压裂改造效果综合</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评估方法的准确性和稳定性</a:t>
            </a:r>
            <a:endPar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descr="图片14"/>
          <p:cNvPicPr>
            <a:picLocks noChangeAspect="1"/>
          </p:cNvPicPr>
          <p:nvPr/>
        </p:nvPicPr>
        <p:blipFill>
          <a:blip r:embed="rId1"/>
          <a:stretch>
            <a:fillRect/>
          </a:stretch>
        </p:blipFill>
        <p:spPr>
          <a:xfrm>
            <a:off x="5891530" y="2586355"/>
            <a:ext cx="5782310" cy="3162300"/>
          </a:xfrm>
          <a:prstGeom prst="rect">
            <a:avLst/>
          </a:prstGeom>
        </p:spPr>
      </p:pic>
      <p:sp>
        <p:nvSpPr>
          <p:cNvPr id="16" name="文本框 15"/>
          <p:cNvSpPr txBox="1"/>
          <p:nvPr/>
        </p:nvSpPr>
        <p:spPr>
          <a:xfrm>
            <a:off x="771525" y="5855335"/>
            <a:ext cx="4516755"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川南区块构造</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位置</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91530" y="5855335"/>
            <a:ext cx="5869940" cy="275590"/>
          </a:xfrm>
          <a:prstGeom prst="rect">
            <a:avLst/>
          </a:prstGeom>
          <a:noFill/>
        </p:spPr>
        <p:txBody>
          <a:bodyPr wrap="square" rtlCol="0">
            <a:spAutoFit/>
          </a:bodyPr>
          <a:p>
            <a:pPr algn="ct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微地震监测</a:t>
            </a:r>
            <a:r>
              <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结果</a:t>
            </a:r>
            <a:endParaRPr lang="zh-CN" altLang="en-US" sz="12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2"/>
          <a:stretch>
            <a:fillRect/>
          </a:stretch>
        </p:blipFill>
        <p:spPr>
          <a:xfrm>
            <a:off x="771525" y="2475865"/>
            <a:ext cx="4517390" cy="32664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（五）进度</a:t>
            </a:r>
            <a:r>
              <a:rPr lang="zh-CN" altLang="en-US" sz="3200" b="1" dirty="0">
                <a:solidFill>
                  <a:srgbClr val="C00000"/>
                </a:solidFill>
                <a:latin typeface="微软雅黑" panose="020B0503020204020204" pitchFamily="34" charset="-122"/>
                <a:ea typeface="微软雅黑" panose="020B0503020204020204" pitchFamily="34" charset="-122"/>
                <a:sym typeface="+mn-ea"/>
              </a:rPr>
              <a:t>安排</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graphicFrame>
        <p:nvGraphicFramePr>
          <p:cNvPr id="3" name="表格 2"/>
          <p:cNvGraphicFramePr/>
          <p:nvPr>
            <p:custDataLst>
              <p:tags r:id="rId1"/>
            </p:custDataLst>
          </p:nvPr>
        </p:nvGraphicFramePr>
        <p:xfrm>
          <a:off x="330200" y="2004695"/>
          <a:ext cx="11547475" cy="4391660"/>
        </p:xfrm>
        <a:graphic>
          <a:graphicData uri="http://schemas.openxmlformats.org/drawingml/2006/table">
            <a:tbl>
              <a:tblPr firstRow="1" bandRow="1">
                <a:tableStyleId>{5940675A-B579-460E-94D1-54222C63F5DA}</a:tableStyleId>
              </a:tblPr>
              <a:tblGrid>
                <a:gridCol w="2837815"/>
                <a:gridCol w="1451610"/>
                <a:gridCol w="1451610"/>
                <a:gridCol w="1451610"/>
                <a:gridCol w="1451610"/>
                <a:gridCol w="1451610"/>
                <a:gridCol w="1451610"/>
              </a:tblGrid>
              <a:tr h="551180">
                <a:tc>
                  <a:txBody>
                    <a:bodyPr/>
                    <a:p>
                      <a:pPr algn="ctr">
                        <a:buNone/>
                      </a:pPr>
                      <a:r>
                        <a:rPr lang="zh-CN" altLang="en-US" sz="1600" b="1">
                          <a:solidFill>
                            <a:schemeClr val="bg1"/>
                          </a:solidFill>
                          <a:latin typeface="微软雅黑" panose="020B0503020204020204" pitchFamily="34" charset="-122"/>
                          <a:ea typeface="微软雅黑" panose="020B0503020204020204" pitchFamily="34" charset="-122"/>
                        </a:rPr>
                        <a:t>研究内容</a:t>
                      </a:r>
                      <a:endParaRPr lang="zh-CN" altLang="en-US"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2025</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2026</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2027</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2028</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2029</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c>
                  <a:txBody>
                    <a:bodyPr/>
                    <a:p>
                      <a:pPr algn="ctr">
                        <a:buNone/>
                      </a:pPr>
                      <a:r>
                        <a:rPr lang="en-US" altLang="zh-CN" sz="1600" b="1">
                          <a:solidFill>
                            <a:schemeClr val="bg1"/>
                          </a:solidFill>
                          <a:latin typeface="微软雅黑" panose="020B0503020204020204" pitchFamily="34" charset="-122"/>
                          <a:ea typeface="微软雅黑" panose="020B0503020204020204" pitchFamily="34" charset="-122"/>
                        </a:rPr>
                        <a:t>2030</a:t>
                      </a:r>
                      <a:endParaRPr lang="en-US" altLang="zh-CN" sz="1600" b="1">
                        <a:solidFill>
                          <a:schemeClr val="bg1"/>
                        </a:solidFill>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a:solidFill>
                        <a:schemeClr val="tx1"/>
                      </a:solidFill>
                      <a:prstDash val="solid"/>
                    </a:lnB>
                    <a:solidFill>
                      <a:srgbClr val="FFC000"/>
                    </a:solidFill>
                  </a:tcPr>
                </a:tc>
              </a:tr>
              <a:tr h="640080">
                <a:tc>
                  <a:txBody>
                    <a:bodyPr/>
                    <a:p>
                      <a:pPr algn="ctr">
                        <a:buNone/>
                      </a:pPr>
                      <a:r>
                        <a:rPr lang="zh-CN" altLang="en-US" sz="1600">
                          <a:latin typeface="微软雅黑" panose="020B0503020204020204" pitchFamily="34" charset="-122"/>
                          <a:ea typeface="微软雅黑" panose="020B0503020204020204" pitchFamily="34" charset="-122"/>
                        </a:rPr>
                        <a:t>压裂裂缝扩展机理与压力响应特征研究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w="12700">
                      <a:solidFill>
                        <a:schemeClr val="tx1"/>
                      </a:solidFill>
                      <a:prstDash val="solid"/>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w="12700">
                      <a:solidFill>
                        <a:schemeClr val="tx1"/>
                      </a:solidFill>
                      <a:prstDash val="solid"/>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基于小波变换的施工曲线多尺度特征提取研究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基于</a:t>
                      </a:r>
                      <a:r>
                        <a:rPr lang="en-US" altLang="zh-CN" sz="1600">
                          <a:latin typeface="微软雅黑" panose="020B0503020204020204" pitchFamily="34" charset="-122"/>
                          <a:ea typeface="微软雅黑" panose="020B0503020204020204" pitchFamily="34" charset="-122"/>
                        </a:rPr>
                        <a:t>G</a:t>
                      </a:r>
                      <a:r>
                        <a:rPr lang="zh-CN" altLang="en-US" sz="1600">
                          <a:latin typeface="微软雅黑" panose="020B0503020204020204" pitchFamily="34" charset="-122"/>
                          <a:ea typeface="微软雅黑" panose="020B0503020204020204" pitchFamily="34" charset="-122"/>
                        </a:rPr>
                        <a:t>函数的停泵期裂缝几何参数反演方法研究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压裂改造效果多维综合评价指标体系构建研究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典型区块差异性分析与评价体系适应性优化研究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r>
              <a:tr h="640080">
                <a:tc>
                  <a:txBody>
                    <a:bodyPr/>
                    <a:p>
                      <a:pPr algn="ctr">
                        <a:buNone/>
                      </a:pPr>
                      <a:r>
                        <a:rPr lang="zh-CN" altLang="en-US" sz="1600">
                          <a:latin typeface="微软雅黑" panose="020B0503020204020204" pitchFamily="34" charset="-122"/>
                          <a:ea typeface="微软雅黑" panose="020B0503020204020204" pitchFamily="34" charset="-122"/>
                        </a:rPr>
                        <a:t>缝网高效压裂改造效果综合评估技术规范与成果集成研究</a:t>
                      </a:r>
                      <a:endParaRPr lang="zh-CN" altLang="en-US" sz="1600">
                        <a:latin typeface="微软雅黑" panose="020B0503020204020204" pitchFamily="34" charset="-122"/>
                        <a:ea typeface="微软雅黑" panose="020B0503020204020204" pitchFamily="34" charset="-122"/>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tcPr>
                </a:tc>
                <a:tc>
                  <a:txBody>
                    <a:bodyPr/>
                    <a:p>
                      <a:pPr algn="ctr">
                        <a:buNone/>
                      </a:pPr>
                      <a:endParaRPr lang="zh-CN" altLang="en-US" sz="1600">
                        <a:latin typeface="微软雅黑" panose="020B0503020204020204" pitchFamily="34" charset="-122"/>
                        <a:ea typeface="微软雅黑" panose="020B0503020204020204" pitchFamily="34" charset="-122"/>
                      </a:endParaRPr>
                    </a:p>
                  </a:txBody>
                  <a:tcPr anchor="ctr" anchorCtr="0">
                    <a:lnL>
                      <a:noFill/>
                    </a:lnL>
                    <a:lnR>
                      <a:noFill/>
                    </a:lnR>
                    <a:lnT>
                      <a:noFill/>
                    </a:lnT>
                    <a:lnB>
                      <a:noFill/>
                    </a:lnB>
                    <a:lnTlToBr>
                      <a:noFill/>
                    </a:lnTlToBr>
                    <a:lnBlToTr>
                      <a:noFill/>
                    </a:lnBlToTr>
                    <a:solidFill>
                      <a:schemeClr val="tx1"/>
                    </a:solidFill>
                  </a:tcPr>
                </a:tc>
              </a:tr>
            </a:tbl>
          </a:graphicData>
        </a:graphic>
      </p:graphicFrame>
      <p:sp>
        <p:nvSpPr>
          <p:cNvPr id="7" name="矩形 6"/>
          <p:cNvSpPr/>
          <p:nvPr/>
        </p:nvSpPr>
        <p:spPr>
          <a:xfrm>
            <a:off x="489567" y="1033571"/>
            <a:ext cx="11388053" cy="92202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按照</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机理揭示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方法研究</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体系构建</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验证优化</a:t>
            </a:r>
            <a:r>
              <a:rPr kumimoji="0" lang="en-US"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规范集成</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的技术主线分阶段推进，</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2025~2027</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年重点攻关核心方法，</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2028~2029</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年开展体系构建与现场验证，</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2030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年完成技术规范制定与成果集成</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一、研究背景与关键问题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三、预期成果与考核指标</a:t>
            </a:r>
            <a:endParaRPr lang="zh-CN" altLang="en-US"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（一）预期</a:t>
            </a:r>
            <a:r>
              <a:rPr lang="zh-CN" altLang="en-US" sz="3200" b="1" dirty="0">
                <a:solidFill>
                  <a:srgbClr val="C00000"/>
                </a:solidFill>
                <a:latin typeface="微软雅黑" panose="020B0503020204020204" pitchFamily="34" charset="-122"/>
                <a:ea typeface="微软雅黑" panose="020B0503020204020204" pitchFamily="34" charset="-122"/>
                <a:sym typeface="+mn-ea"/>
              </a:rPr>
              <a:t>成果与考核指标</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建立</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套基于施工期小波分析的改造体积定量评价方法、</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套基于停泵期</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G</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函数分析的滤失类型诊断与裂缝尺寸反演方法</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套涵盖</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个维度</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9</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项指标的压裂效果综合评估方法</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现场应用</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井次，形成发明专利文本</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件、论文文本</a:t>
            </a:r>
            <a:r>
              <a:rPr kumimoji="0"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篇</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圆角矩形 4"/>
          <p:cNvSpPr/>
          <p:nvPr/>
        </p:nvSpPr>
        <p:spPr>
          <a:xfrm>
            <a:off x="982345" y="2411095"/>
            <a:ext cx="4680000" cy="3780000"/>
          </a:xfrm>
          <a:prstGeom prst="roundRect">
            <a:avLst/>
          </a:prstGeom>
          <a:solidFill>
            <a:schemeClr val="accent5">
              <a:lumMod val="60000"/>
              <a:lumOff val="40000"/>
            </a:schemeClr>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6" name="圆角矩形 5"/>
          <p:cNvSpPr/>
          <p:nvPr/>
        </p:nvSpPr>
        <p:spPr>
          <a:xfrm>
            <a:off x="6687185" y="2411095"/>
            <a:ext cx="4680000" cy="3780000"/>
          </a:xfrm>
          <a:prstGeom prst="roundRect">
            <a:avLst/>
          </a:prstGeom>
          <a:solidFill>
            <a:schemeClr val="accent4">
              <a:lumMod val="60000"/>
              <a:lumOff val="40000"/>
            </a:schemeClr>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8" name="文本框 7"/>
          <p:cNvSpPr txBox="1"/>
          <p:nvPr/>
        </p:nvSpPr>
        <p:spPr>
          <a:xfrm>
            <a:off x="1202055" y="2587625"/>
            <a:ext cx="1343660" cy="398780"/>
          </a:xfrm>
          <a:prstGeom prst="rect">
            <a:avLst/>
          </a:prstGeom>
          <a:noFill/>
        </p:spPr>
        <p:txBody>
          <a:bodyPr wrap="square" rtlCol="0">
            <a:spAutoFit/>
          </a:bodyPr>
          <a:p>
            <a:r>
              <a:rPr lang="zh-CN" altLang="en-US" sz="2000" b="1">
                <a:solidFill>
                  <a:schemeClr val="tx1"/>
                </a:solidFill>
                <a:latin typeface="微软雅黑" panose="020B0503020204020204" pitchFamily="34" charset="-122"/>
                <a:ea typeface="微软雅黑" panose="020B0503020204020204" pitchFamily="34" charset="-122"/>
              </a:rPr>
              <a:t>预期成果</a:t>
            </a:r>
            <a:endParaRPr lang="zh-CN" altLang="en-US" sz="2000" b="1">
              <a:solidFill>
                <a:schemeClr val="tx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911975" y="2587625"/>
            <a:ext cx="1224280" cy="398780"/>
          </a:xfrm>
          <a:prstGeom prst="rect">
            <a:avLst/>
          </a:prstGeom>
          <a:noFill/>
        </p:spPr>
        <p:txBody>
          <a:bodyPr wrap="square" rtlCol="0">
            <a:spAutoFit/>
          </a:bodyPr>
          <a:p>
            <a:r>
              <a:rPr lang="zh-CN" altLang="en-US" sz="2000" b="1">
                <a:solidFill>
                  <a:schemeClr val="tx1"/>
                </a:solidFill>
                <a:latin typeface="微软雅黑" panose="020B0503020204020204" pitchFamily="34" charset="-122"/>
                <a:ea typeface="微软雅黑" panose="020B0503020204020204" pitchFamily="34" charset="-122"/>
              </a:rPr>
              <a:t>考核指标</a:t>
            </a:r>
            <a:endParaRPr lang="zh-CN" altLang="en-US" sz="2000" b="1">
              <a:solidFill>
                <a:schemeClr val="tx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982345" y="3122930"/>
            <a:ext cx="4680000" cy="2584450"/>
          </a:xfrm>
          <a:prstGeom prst="rect">
            <a:avLst/>
          </a:prstGeom>
          <a:noFill/>
        </p:spPr>
        <p:txBody>
          <a:bodyPr wrap="square" rtlCol="0">
            <a:spAutoFit/>
          </a:bodyPr>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套基于施工期小波分析的改造体积定量评价方法</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en-US" altLang="zh-CN" b="1">
              <a:solidFill>
                <a:schemeClr val="bg2">
                  <a:lumMod val="50000"/>
                </a:schemeClr>
              </a:solidFill>
            </a:endParaRPr>
          </a:p>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套基于停泵期</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函数分析的滤失类型诊断与裂缝尺寸反演方法</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套基于</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改造体积</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裂缝复杂度</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裂缝导流能力</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个维度、</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级层次、</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9</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项指标的</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压裂效果综合评估方法</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p:cNvSpPr txBox="1"/>
          <p:nvPr/>
        </p:nvSpPr>
        <p:spPr>
          <a:xfrm>
            <a:off x="6687185" y="3122930"/>
            <a:ext cx="4680000" cy="1476375"/>
          </a:xfrm>
          <a:prstGeom prst="rect">
            <a:avLst/>
          </a:prstGeom>
          <a:noFill/>
        </p:spPr>
        <p:txBody>
          <a:bodyPr wrap="square" rtlCol="0">
            <a:spAutoFit/>
          </a:bodyPr>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现场应用</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井次</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en-US" altLang="zh-CN" b="1">
              <a:solidFill>
                <a:schemeClr val="bg2">
                  <a:lumMod val="50000"/>
                </a:schemeClr>
              </a:solidFill>
            </a:endParaRPr>
          </a:p>
          <a:p>
            <a:pPr marL="0" lvl="1"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发明专利文本</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件</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buFont typeface="Wingdings" panose="05000000000000000000" charset="0"/>
              <a:buChar char="Ø"/>
            </a:pP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论文文本</a:t>
            </a:r>
            <a:r>
              <a:rPr lang="en-US" altLang="zh-CN"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篇</a:t>
            </a:r>
            <a:endParaRPr lang="zh-CN" altLang="en-US"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（二）预期</a:t>
            </a:r>
            <a:r>
              <a:rPr lang="zh-CN" altLang="en-US" sz="3200" b="1" dirty="0">
                <a:solidFill>
                  <a:srgbClr val="C00000"/>
                </a:solidFill>
                <a:latin typeface="微软雅黑" panose="020B0503020204020204" pitchFamily="34" charset="-122"/>
                <a:ea typeface="微软雅黑" panose="020B0503020204020204" pitchFamily="34" charset="-122"/>
                <a:sym typeface="+mn-ea"/>
              </a:rPr>
              <a:t>成果对课题支撑作用</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7" name="矩形 6"/>
          <p:cNvSpPr/>
          <p:nvPr/>
        </p:nvSpPr>
        <p:spPr>
          <a:xfrm>
            <a:off x="489567" y="1033571"/>
            <a:ext cx="11388053" cy="1337945"/>
          </a:xfrm>
          <a:prstGeom prst="rect">
            <a:avLst/>
          </a:prstGeom>
        </p:spPr>
        <p:txBody>
          <a:bodyPr wrap="square">
            <a:spAutoFit/>
          </a:bodyPr>
          <a:lstStyle/>
          <a:p>
            <a:pPr marL="457200" lvl="0" indent="-457200" algn="just" fontAlgn="auto">
              <a:lnSpc>
                <a:spcPct val="150000"/>
              </a:lnSpc>
              <a:spcBef>
                <a:spcPts val="0"/>
              </a:spcBef>
              <a:spcAft>
                <a:spcPts val="0"/>
              </a:spcAft>
              <a:buClr>
                <a:srgbClr val="C00000"/>
              </a:buClr>
              <a:buSzPct val="100000"/>
              <a:buFont typeface="Wingdings" panose="05000000000000000000" pitchFamily="2" charset="2"/>
              <a:buChar char="l"/>
              <a:defRPr/>
            </a:pP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建立缝网高效压裂改造效果综合评估方法，</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将为课题五其余专题</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的压裂工艺与材料优化等研究</a:t>
            </a:r>
            <a:r>
              <a:rPr kumimoji="0"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提供改造效果定量反馈与实时诊断结果</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，支撑课题五</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缝网高效压裂工艺完善与应用的总体</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研究方向</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，服务于示范应用井单井</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EUR</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提高</a:t>
            </a:r>
            <a:r>
              <a:rPr kumimoji="0" lang="en-US" altLang="zh-CN"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20%</a:t>
            </a:r>
            <a:r>
              <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的总体目标实现</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任意多边形 11"/>
          <p:cNvSpPr/>
          <p:nvPr>
            <p:custDataLst>
              <p:tags r:id="rId1"/>
            </p:custDataLst>
          </p:nvPr>
        </p:nvSpPr>
        <p:spPr>
          <a:xfrm rot="10800000">
            <a:off x="5078198" y="3892823"/>
            <a:ext cx="1992202" cy="1427444"/>
          </a:xfrm>
          <a:custGeom>
            <a:avLst/>
            <a:gdLst>
              <a:gd name="adj" fmla="val 18112"/>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779" h="3424">
                <a:moveTo>
                  <a:pt x="326" y="0"/>
                </a:moveTo>
                <a:lnTo>
                  <a:pt x="2687" y="0"/>
                </a:lnTo>
                <a:lnTo>
                  <a:pt x="2701" y="0"/>
                </a:lnTo>
                <a:lnTo>
                  <a:pt x="2716" y="0"/>
                </a:lnTo>
                <a:lnTo>
                  <a:pt x="2741" y="1"/>
                </a:lnTo>
                <a:cubicBezTo>
                  <a:pt x="2848" y="3"/>
                  <a:pt x="2954" y="14"/>
                  <a:pt x="3057" y="33"/>
                </a:cubicBezTo>
                <a:lnTo>
                  <a:pt x="3099" y="41"/>
                </a:lnTo>
                <a:lnTo>
                  <a:pt x="3103" y="42"/>
                </a:lnTo>
                <a:lnTo>
                  <a:pt x="3104" y="42"/>
                </a:lnTo>
                <a:lnTo>
                  <a:pt x="3108" y="43"/>
                </a:lnTo>
                <a:lnTo>
                  <a:pt x="3139" y="49"/>
                </a:lnTo>
                <a:lnTo>
                  <a:pt x="3153" y="52"/>
                </a:lnTo>
                <a:lnTo>
                  <a:pt x="3155" y="53"/>
                </a:lnTo>
                <a:lnTo>
                  <a:pt x="3159" y="54"/>
                </a:lnTo>
                <a:lnTo>
                  <a:pt x="3182" y="59"/>
                </a:lnTo>
                <a:lnTo>
                  <a:pt x="3203" y="64"/>
                </a:lnTo>
                <a:lnTo>
                  <a:pt x="3206" y="65"/>
                </a:lnTo>
                <a:lnTo>
                  <a:pt x="3209" y="66"/>
                </a:lnTo>
                <a:lnTo>
                  <a:pt x="3226" y="70"/>
                </a:lnTo>
                <a:lnTo>
                  <a:pt x="3252" y="77"/>
                </a:lnTo>
                <a:lnTo>
                  <a:pt x="3257" y="79"/>
                </a:lnTo>
                <a:lnTo>
                  <a:pt x="3259" y="79"/>
                </a:lnTo>
                <a:lnTo>
                  <a:pt x="3271" y="83"/>
                </a:lnTo>
                <a:lnTo>
                  <a:pt x="3301" y="92"/>
                </a:lnTo>
                <a:lnTo>
                  <a:pt x="3307" y="94"/>
                </a:lnTo>
                <a:lnTo>
                  <a:pt x="3309" y="94"/>
                </a:lnTo>
                <a:lnTo>
                  <a:pt x="3317" y="97"/>
                </a:lnTo>
                <a:lnTo>
                  <a:pt x="3349" y="107"/>
                </a:lnTo>
                <a:lnTo>
                  <a:pt x="3356" y="110"/>
                </a:lnTo>
                <a:lnTo>
                  <a:pt x="3358" y="110"/>
                </a:lnTo>
                <a:lnTo>
                  <a:pt x="3363" y="112"/>
                </a:lnTo>
                <a:lnTo>
                  <a:pt x="3397" y="123"/>
                </a:lnTo>
                <a:lnTo>
                  <a:pt x="3405" y="127"/>
                </a:lnTo>
                <a:lnTo>
                  <a:pt x="3406" y="127"/>
                </a:lnTo>
                <a:lnTo>
                  <a:pt x="3409" y="128"/>
                </a:lnTo>
                <a:lnTo>
                  <a:pt x="3444" y="141"/>
                </a:lnTo>
                <a:lnTo>
                  <a:pt x="3453" y="145"/>
                </a:lnTo>
                <a:lnTo>
                  <a:pt x="3454" y="145"/>
                </a:lnTo>
                <a:lnTo>
                  <a:pt x="3455" y="146"/>
                </a:lnTo>
                <a:lnTo>
                  <a:pt x="3490" y="160"/>
                </a:lnTo>
                <a:lnTo>
                  <a:pt x="3501" y="164"/>
                </a:lnTo>
                <a:lnTo>
                  <a:pt x="3501" y="164"/>
                </a:lnTo>
                <a:lnTo>
                  <a:pt x="3501" y="165"/>
                </a:lnTo>
                <a:lnTo>
                  <a:pt x="3536" y="180"/>
                </a:lnTo>
                <a:cubicBezTo>
                  <a:pt x="3765" y="281"/>
                  <a:pt x="3972" y="423"/>
                  <a:pt x="4149" y="596"/>
                </a:cubicBezTo>
                <a:lnTo>
                  <a:pt x="4166" y="613"/>
                </a:lnTo>
                <a:lnTo>
                  <a:pt x="4166" y="613"/>
                </a:lnTo>
                <a:lnTo>
                  <a:pt x="4166" y="613"/>
                </a:lnTo>
                <a:lnTo>
                  <a:pt x="4184" y="631"/>
                </a:lnTo>
                <a:lnTo>
                  <a:pt x="4201" y="649"/>
                </a:lnTo>
                <a:lnTo>
                  <a:pt x="4201" y="649"/>
                </a:lnTo>
                <a:lnTo>
                  <a:pt x="4201" y="649"/>
                </a:lnTo>
                <a:lnTo>
                  <a:pt x="4218" y="667"/>
                </a:lnTo>
                <a:lnTo>
                  <a:pt x="4235" y="685"/>
                </a:lnTo>
                <a:lnTo>
                  <a:pt x="4235" y="686"/>
                </a:lnTo>
                <a:lnTo>
                  <a:pt x="4236" y="686"/>
                </a:lnTo>
                <a:lnTo>
                  <a:pt x="4251" y="703"/>
                </a:lnTo>
                <a:lnTo>
                  <a:pt x="4268" y="723"/>
                </a:lnTo>
                <a:lnTo>
                  <a:pt x="4269" y="723"/>
                </a:lnTo>
                <a:lnTo>
                  <a:pt x="4269" y="724"/>
                </a:lnTo>
                <a:lnTo>
                  <a:pt x="4284" y="740"/>
                </a:lnTo>
                <a:lnTo>
                  <a:pt x="4301" y="761"/>
                </a:lnTo>
                <a:lnTo>
                  <a:pt x="4301" y="761"/>
                </a:lnTo>
                <a:lnTo>
                  <a:pt x="4302" y="762"/>
                </a:lnTo>
                <a:lnTo>
                  <a:pt x="4315" y="779"/>
                </a:lnTo>
                <a:lnTo>
                  <a:pt x="4332" y="800"/>
                </a:lnTo>
                <a:lnTo>
                  <a:pt x="4333" y="801"/>
                </a:lnTo>
                <a:lnTo>
                  <a:pt x="4333" y="801"/>
                </a:lnTo>
                <a:lnTo>
                  <a:pt x="4346" y="817"/>
                </a:lnTo>
                <a:lnTo>
                  <a:pt x="4363" y="840"/>
                </a:lnTo>
                <a:lnTo>
                  <a:pt x="4363" y="841"/>
                </a:lnTo>
                <a:lnTo>
                  <a:pt x="4364" y="841"/>
                </a:lnTo>
                <a:lnTo>
                  <a:pt x="4376" y="857"/>
                </a:lnTo>
                <a:lnTo>
                  <a:pt x="4392" y="880"/>
                </a:lnTo>
                <a:lnTo>
                  <a:pt x="4393" y="881"/>
                </a:lnTo>
                <a:lnTo>
                  <a:pt x="4393" y="882"/>
                </a:lnTo>
                <a:lnTo>
                  <a:pt x="4404" y="897"/>
                </a:lnTo>
                <a:lnTo>
                  <a:pt x="4421" y="922"/>
                </a:lnTo>
                <a:lnTo>
                  <a:pt x="4422" y="923"/>
                </a:lnTo>
                <a:lnTo>
                  <a:pt x="4422" y="923"/>
                </a:lnTo>
                <a:lnTo>
                  <a:pt x="4432" y="938"/>
                </a:lnTo>
                <a:lnTo>
                  <a:pt x="4449" y="964"/>
                </a:lnTo>
                <a:lnTo>
                  <a:pt x="4449" y="965"/>
                </a:lnTo>
                <a:lnTo>
                  <a:pt x="4450" y="965"/>
                </a:lnTo>
                <a:lnTo>
                  <a:pt x="4459" y="980"/>
                </a:lnTo>
                <a:lnTo>
                  <a:pt x="4476" y="1007"/>
                </a:lnTo>
                <a:lnTo>
                  <a:pt x="4476" y="1007"/>
                </a:lnTo>
                <a:lnTo>
                  <a:pt x="4476" y="1008"/>
                </a:lnTo>
                <a:lnTo>
                  <a:pt x="4485" y="1022"/>
                </a:lnTo>
                <a:lnTo>
                  <a:pt x="4501" y="1050"/>
                </a:lnTo>
                <a:lnTo>
                  <a:pt x="4502" y="1051"/>
                </a:lnTo>
                <a:lnTo>
                  <a:pt x="4502" y="1051"/>
                </a:lnTo>
                <a:lnTo>
                  <a:pt x="4510" y="1065"/>
                </a:lnTo>
                <a:lnTo>
                  <a:pt x="4526" y="1095"/>
                </a:lnTo>
                <a:lnTo>
                  <a:pt x="4526" y="1095"/>
                </a:lnTo>
                <a:lnTo>
                  <a:pt x="4527" y="1095"/>
                </a:lnTo>
                <a:lnTo>
                  <a:pt x="4534" y="1109"/>
                </a:lnTo>
                <a:cubicBezTo>
                  <a:pt x="4691" y="1402"/>
                  <a:pt x="4779" y="1737"/>
                  <a:pt x="4779" y="2093"/>
                </a:cubicBezTo>
                <a:lnTo>
                  <a:pt x="4779" y="2094"/>
                </a:lnTo>
                <a:lnTo>
                  <a:pt x="4779" y="2094"/>
                </a:lnTo>
                <a:lnTo>
                  <a:pt x="4778" y="2140"/>
                </a:lnTo>
                <a:cubicBezTo>
                  <a:pt x="4768" y="2627"/>
                  <a:pt x="4590" y="3073"/>
                  <a:pt x="4301" y="3424"/>
                </a:cubicBezTo>
                <a:lnTo>
                  <a:pt x="4301" y="3424"/>
                </a:lnTo>
                <a:lnTo>
                  <a:pt x="2775" y="3424"/>
                </a:lnTo>
                <a:lnTo>
                  <a:pt x="2789" y="3423"/>
                </a:lnTo>
                <a:cubicBezTo>
                  <a:pt x="3478" y="3371"/>
                  <a:pt x="4021" y="2795"/>
                  <a:pt x="4021" y="2093"/>
                </a:cubicBezTo>
                <a:cubicBezTo>
                  <a:pt x="4021" y="1897"/>
                  <a:pt x="3979" y="1711"/>
                  <a:pt x="3903" y="1543"/>
                </a:cubicBezTo>
                <a:lnTo>
                  <a:pt x="3890" y="1514"/>
                </a:lnTo>
                <a:lnTo>
                  <a:pt x="3889" y="1513"/>
                </a:lnTo>
                <a:lnTo>
                  <a:pt x="3875" y="1486"/>
                </a:lnTo>
                <a:lnTo>
                  <a:pt x="3874" y="1484"/>
                </a:lnTo>
                <a:lnTo>
                  <a:pt x="3860" y="1457"/>
                </a:lnTo>
                <a:lnTo>
                  <a:pt x="3859" y="1455"/>
                </a:lnTo>
                <a:lnTo>
                  <a:pt x="3845" y="1429"/>
                </a:lnTo>
                <a:lnTo>
                  <a:pt x="3843" y="1426"/>
                </a:lnTo>
                <a:lnTo>
                  <a:pt x="3829" y="1402"/>
                </a:lnTo>
                <a:lnTo>
                  <a:pt x="3826" y="1398"/>
                </a:lnTo>
                <a:lnTo>
                  <a:pt x="3812" y="1375"/>
                </a:lnTo>
                <a:lnTo>
                  <a:pt x="3809" y="1370"/>
                </a:lnTo>
                <a:lnTo>
                  <a:pt x="3794" y="1348"/>
                </a:lnTo>
                <a:lnTo>
                  <a:pt x="3791" y="1343"/>
                </a:lnTo>
                <a:lnTo>
                  <a:pt x="3776" y="1322"/>
                </a:lnTo>
                <a:lnTo>
                  <a:pt x="3772" y="1317"/>
                </a:lnTo>
                <a:lnTo>
                  <a:pt x="3758" y="1297"/>
                </a:lnTo>
                <a:lnTo>
                  <a:pt x="3753" y="1291"/>
                </a:lnTo>
                <a:lnTo>
                  <a:pt x="3738" y="1271"/>
                </a:lnTo>
                <a:lnTo>
                  <a:pt x="3734" y="1265"/>
                </a:lnTo>
                <a:lnTo>
                  <a:pt x="3719" y="1247"/>
                </a:lnTo>
                <a:lnTo>
                  <a:pt x="3713" y="1240"/>
                </a:lnTo>
                <a:lnTo>
                  <a:pt x="3698" y="1222"/>
                </a:lnTo>
                <a:lnTo>
                  <a:pt x="3692" y="1216"/>
                </a:lnTo>
                <a:lnTo>
                  <a:pt x="3677" y="1198"/>
                </a:lnTo>
                <a:lnTo>
                  <a:pt x="3671" y="1192"/>
                </a:lnTo>
                <a:lnTo>
                  <a:pt x="3656" y="1175"/>
                </a:lnTo>
                <a:lnTo>
                  <a:pt x="3649" y="1168"/>
                </a:lnTo>
                <a:lnTo>
                  <a:pt x="3633" y="1152"/>
                </a:lnTo>
                <a:lnTo>
                  <a:pt x="3627" y="1146"/>
                </a:lnTo>
                <a:lnTo>
                  <a:pt x="3611" y="1130"/>
                </a:lnTo>
                <a:lnTo>
                  <a:pt x="3604" y="1124"/>
                </a:lnTo>
                <a:lnTo>
                  <a:pt x="3587" y="1108"/>
                </a:lnTo>
                <a:lnTo>
                  <a:pt x="3581" y="1102"/>
                </a:lnTo>
                <a:lnTo>
                  <a:pt x="3564" y="1087"/>
                </a:lnTo>
                <a:lnTo>
                  <a:pt x="3557" y="1081"/>
                </a:lnTo>
                <a:lnTo>
                  <a:pt x="3539" y="1066"/>
                </a:lnTo>
                <a:lnTo>
                  <a:pt x="3533" y="1060"/>
                </a:lnTo>
                <a:lnTo>
                  <a:pt x="3514" y="1046"/>
                </a:lnTo>
                <a:lnTo>
                  <a:pt x="3508" y="1041"/>
                </a:lnTo>
                <a:lnTo>
                  <a:pt x="3489" y="1026"/>
                </a:lnTo>
                <a:lnTo>
                  <a:pt x="3483" y="1021"/>
                </a:lnTo>
                <a:lnTo>
                  <a:pt x="3463" y="1007"/>
                </a:lnTo>
                <a:lnTo>
                  <a:pt x="3457" y="1003"/>
                </a:lnTo>
                <a:lnTo>
                  <a:pt x="3436" y="988"/>
                </a:lnTo>
                <a:lnTo>
                  <a:pt x="3431" y="985"/>
                </a:lnTo>
                <a:lnTo>
                  <a:pt x="3409" y="970"/>
                </a:lnTo>
                <a:lnTo>
                  <a:pt x="3404" y="967"/>
                </a:lnTo>
                <a:lnTo>
                  <a:pt x="3381" y="953"/>
                </a:lnTo>
                <a:lnTo>
                  <a:pt x="3377" y="951"/>
                </a:lnTo>
                <a:lnTo>
                  <a:pt x="3352" y="936"/>
                </a:lnTo>
                <a:lnTo>
                  <a:pt x="3350" y="934"/>
                </a:lnTo>
                <a:lnTo>
                  <a:pt x="3323" y="919"/>
                </a:lnTo>
                <a:lnTo>
                  <a:pt x="3322" y="919"/>
                </a:lnTo>
                <a:lnTo>
                  <a:pt x="3294" y="904"/>
                </a:lnTo>
                <a:cubicBezTo>
                  <a:pt x="3121" y="816"/>
                  <a:pt x="2927" y="764"/>
                  <a:pt x="2721" y="758"/>
                </a:cubicBezTo>
                <a:lnTo>
                  <a:pt x="2688" y="758"/>
                </a:lnTo>
                <a:lnTo>
                  <a:pt x="2685" y="758"/>
                </a:lnTo>
                <a:lnTo>
                  <a:pt x="2664" y="758"/>
                </a:lnTo>
                <a:lnTo>
                  <a:pt x="2648" y="759"/>
                </a:lnTo>
                <a:cubicBezTo>
                  <a:pt x="2637" y="759"/>
                  <a:pt x="2626" y="760"/>
                  <a:pt x="2614" y="760"/>
                </a:cubicBezTo>
                <a:lnTo>
                  <a:pt x="2606" y="760"/>
                </a:lnTo>
                <a:lnTo>
                  <a:pt x="2584" y="762"/>
                </a:lnTo>
                <a:lnTo>
                  <a:pt x="2582" y="762"/>
                </a:lnTo>
                <a:lnTo>
                  <a:pt x="1071" y="762"/>
                </a:lnTo>
                <a:lnTo>
                  <a:pt x="1072" y="761"/>
                </a:lnTo>
                <a:lnTo>
                  <a:pt x="1072" y="761"/>
                </a:lnTo>
                <a:lnTo>
                  <a:pt x="326" y="761"/>
                </a:lnTo>
                <a:lnTo>
                  <a:pt x="326" y="758"/>
                </a:lnTo>
                <a:lnTo>
                  <a:pt x="325" y="758"/>
                </a:lnTo>
                <a:cubicBezTo>
                  <a:pt x="324" y="757"/>
                  <a:pt x="323" y="756"/>
                  <a:pt x="322" y="755"/>
                </a:cubicBezTo>
                <a:lnTo>
                  <a:pt x="8" y="406"/>
                </a:lnTo>
                <a:cubicBezTo>
                  <a:pt x="5" y="403"/>
                  <a:pt x="3" y="399"/>
                  <a:pt x="2" y="395"/>
                </a:cubicBezTo>
                <a:cubicBezTo>
                  <a:pt x="-2" y="381"/>
                  <a:pt x="0" y="362"/>
                  <a:pt x="8" y="354"/>
                </a:cubicBezTo>
                <a:lnTo>
                  <a:pt x="322" y="5"/>
                </a:lnTo>
                <a:cubicBezTo>
                  <a:pt x="323" y="4"/>
                  <a:pt x="324" y="3"/>
                  <a:pt x="325" y="2"/>
                </a:cubicBezTo>
                <a:lnTo>
                  <a:pt x="326" y="2"/>
                </a:lnTo>
                <a:lnTo>
                  <a:pt x="326" y="0"/>
                </a:lnTo>
                <a:close/>
              </a:path>
            </a:pathLst>
          </a:custGeom>
          <a:gradFill>
            <a:gsLst>
              <a:gs pos="0">
                <a:srgbClr val="FFC000">
                  <a:lumMod val="90000"/>
                </a:srgbClr>
              </a:gs>
              <a:gs pos="100000">
                <a:srgbClr val="FFC000">
                  <a:lumMod val="80000"/>
                  <a:lumOff val="20000"/>
                </a:srgbClr>
              </a:gs>
            </a:gsLst>
            <a:lin ang="108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任意多边形 11"/>
          <p:cNvSpPr/>
          <p:nvPr>
            <p:custDataLst>
              <p:tags r:id="rId2"/>
            </p:custDataLst>
          </p:nvPr>
        </p:nvSpPr>
        <p:spPr>
          <a:xfrm rot="18000000">
            <a:off x="4751349" y="3767077"/>
            <a:ext cx="1992202" cy="1427444"/>
          </a:xfrm>
          <a:custGeom>
            <a:avLst/>
            <a:gdLst>
              <a:gd name="adj" fmla="val 18112"/>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779" h="3424">
                <a:moveTo>
                  <a:pt x="326" y="0"/>
                </a:moveTo>
                <a:lnTo>
                  <a:pt x="2687" y="0"/>
                </a:lnTo>
                <a:lnTo>
                  <a:pt x="2701" y="0"/>
                </a:lnTo>
                <a:lnTo>
                  <a:pt x="2716" y="0"/>
                </a:lnTo>
                <a:lnTo>
                  <a:pt x="2741" y="1"/>
                </a:lnTo>
                <a:cubicBezTo>
                  <a:pt x="2848" y="3"/>
                  <a:pt x="2954" y="14"/>
                  <a:pt x="3057" y="33"/>
                </a:cubicBezTo>
                <a:lnTo>
                  <a:pt x="3099" y="41"/>
                </a:lnTo>
                <a:lnTo>
                  <a:pt x="3103" y="42"/>
                </a:lnTo>
                <a:lnTo>
                  <a:pt x="3104" y="42"/>
                </a:lnTo>
                <a:lnTo>
                  <a:pt x="3108" y="43"/>
                </a:lnTo>
                <a:lnTo>
                  <a:pt x="3139" y="49"/>
                </a:lnTo>
                <a:lnTo>
                  <a:pt x="3153" y="52"/>
                </a:lnTo>
                <a:lnTo>
                  <a:pt x="3155" y="53"/>
                </a:lnTo>
                <a:lnTo>
                  <a:pt x="3159" y="54"/>
                </a:lnTo>
                <a:lnTo>
                  <a:pt x="3182" y="59"/>
                </a:lnTo>
                <a:lnTo>
                  <a:pt x="3203" y="64"/>
                </a:lnTo>
                <a:lnTo>
                  <a:pt x="3206" y="65"/>
                </a:lnTo>
                <a:lnTo>
                  <a:pt x="3209" y="66"/>
                </a:lnTo>
                <a:lnTo>
                  <a:pt x="3226" y="70"/>
                </a:lnTo>
                <a:lnTo>
                  <a:pt x="3252" y="77"/>
                </a:lnTo>
                <a:lnTo>
                  <a:pt x="3257" y="79"/>
                </a:lnTo>
                <a:lnTo>
                  <a:pt x="3259" y="79"/>
                </a:lnTo>
                <a:lnTo>
                  <a:pt x="3271" y="83"/>
                </a:lnTo>
                <a:lnTo>
                  <a:pt x="3301" y="92"/>
                </a:lnTo>
                <a:lnTo>
                  <a:pt x="3307" y="94"/>
                </a:lnTo>
                <a:lnTo>
                  <a:pt x="3309" y="94"/>
                </a:lnTo>
                <a:lnTo>
                  <a:pt x="3317" y="97"/>
                </a:lnTo>
                <a:lnTo>
                  <a:pt x="3349" y="107"/>
                </a:lnTo>
                <a:lnTo>
                  <a:pt x="3356" y="110"/>
                </a:lnTo>
                <a:lnTo>
                  <a:pt x="3358" y="110"/>
                </a:lnTo>
                <a:lnTo>
                  <a:pt x="3363" y="112"/>
                </a:lnTo>
                <a:lnTo>
                  <a:pt x="3397" y="123"/>
                </a:lnTo>
                <a:lnTo>
                  <a:pt x="3405" y="127"/>
                </a:lnTo>
                <a:lnTo>
                  <a:pt x="3406" y="127"/>
                </a:lnTo>
                <a:lnTo>
                  <a:pt x="3409" y="128"/>
                </a:lnTo>
                <a:lnTo>
                  <a:pt x="3444" y="141"/>
                </a:lnTo>
                <a:lnTo>
                  <a:pt x="3453" y="145"/>
                </a:lnTo>
                <a:lnTo>
                  <a:pt x="3454" y="145"/>
                </a:lnTo>
                <a:lnTo>
                  <a:pt x="3455" y="146"/>
                </a:lnTo>
                <a:lnTo>
                  <a:pt x="3490" y="160"/>
                </a:lnTo>
                <a:lnTo>
                  <a:pt x="3501" y="164"/>
                </a:lnTo>
                <a:lnTo>
                  <a:pt x="3501" y="164"/>
                </a:lnTo>
                <a:lnTo>
                  <a:pt x="3501" y="165"/>
                </a:lnTo>
                <a:lnTo>
                  <a:pt x="3536" y="180"/>
                </a:lnTo>
                <a:cubicBezTo>
                  <a:pt x="3765" y="281"/>
                  <a:pt x="3972" y="423"/>
                  <a:pt x="4149" y="596"/>
                </a:cubicBezTo>
                <a:lnTo>
                  <a:pt x="4166" y="613"/>
                </a:lnTo>
                <a:lnTo>
                  <a:pt x="4166" y="613"/>
                </a:lnTo>
                <a:lnTo>
                  <a:pt x="4166" y="613"/>
                </a:lnTo>
                <a:lnTo>
                  <a:pt x="4184" y="631"/>
                </a:lnTo>
                <a:lnTo>
                  <a:pt x="4201" y="649"/>
                </a:lnTo>
                <a:lnTo>
                  <a:pt x="4201" y="649"/>
                </a:lnTo>
                <a:lnTo>
                  <a:pt x="4201" y="649"/>
                </a:lnTo>
                <a:lnTo>
                  <a:pt x="4218" y="667"/>
                </a:lnTo>
                <a:lnTo>
                  <a:pt x="4235" y="685"/>
                </a:lnTo>
                <a:lnTo>
                  <a:pt x="4235" y="686"/>
                </a:lnTo>
                <a:lnTo>
                  <a:pt x="4236" y="686"/>
                </a:lnTo>
                <a:lnTo>
                  <a:pt x="4251" y="703"/>
                </a:lnTo>
                <a:lnTo>
                  <a:pt x="4268" y="723"/>
                </a:lnTo>
                <a:lnTo>
                  <a:pt x="4269" y="723"/>
                </a:lnTo>
                <a:lnTo>
                  <a:pt x="4269" y="724"/>
                </a:lnTo>
                <a:lnTo>
                  <a:pt x="4284" y="740"/>
                </a:lnTo>
                <a:lnTo>
                  <a:pt x="4301" y="761"/>
                </a:lnTo>
                <a:lnTo>
                  <a:pt x="4301" y="761"/>
                </a:lnTo>
                <a:lnTo>
                  <a:pt x="4302" y="762"/>
                </a:lnTo>
                <a:lnTo>
                  <a:pt x="4315" y="779"/>
                </a:lnTo>
                <a:lnTo>
                  <a:pt x="4332" y="800"/>
                </a:lnTo>
                <a:lnTo>
                  <a:pt x="4333" y="801"/>
                </a:lnTo>
                <a:lnTo>
                  <a:pt x="4333" y="801"/>
                </a:lnTo>
                <a:lnTo>
                  <a:pt x="4346" y="817"/>
                </a:lnTo>
                <a:lnTo>
                  <a:pt x="4363" y="840"/>
                </a:lnTo>
                <a:lnTo>
                  <a:pt x="4363" y="841"/>
                </a:lnTo>
                <a:lnTo>
                  <a:pt x="4364" y="841"/>
                </a:lnTo>
                <a:lnTo>
                  <a:pt x="4376" y="857"/>
                </a:lnTo>
                <a:lnTo>
                  <a:pt x="4392" y="880"/>
                </a:lnTo>
                <a:lnTo>
                  <a:pt x="4393" y="881"/>
                </a:lnTo>
                <a:lnTo>
                  <a:pt x="4393" y="882"/>
                </a:lnTo>
                <a:lnTo>
                  <a:pt x="4404" y="897"/>
                </a:lnTo>
                <a:lnTo>
                  <a:pt x="4421" y="922"/>
                </a:lnTo>
                <a:lnTo>
                  <a:pt x="4422" y="923"/>
                </a:lnTo>
                <a:lnTo>
                  <a:pt x="4422" y="923"/>
                </a:lnTo>
                <a:lnTo>
                  <a:pt x="4432" y="938"/>
                </a:lnTo>
                <a:lnTo>
                  <a:pt x="4449" y="964"/>
                </a:lnTo>
                <a:lnTo>
                  <a:pt x="4449" y="965"/>
                </a:lnTo>
                <a:lnTo>
                  <a:pt x="4450" y="965"/>
                </a:lnTo>
                <a:lnTo>
                  <a:pt x="4459" y="980"/>
                </a:lnTo>
                <a:lnTo>
                  <a:pt x="4476" y="1007"/>
                </a:lnTo>
                <a:lnTo>
                  <a:pt x="4476" y="1007"/>
                </a:lnTo>
                <a:lnTo>
                  <a:pt x="4476" y="1008"/>
                </a:lnTo>
                <a:lnTo>
                  <a:pt x="4485" y="1022"/>
                </a:lnTo>
                <a:lnTo>
                  <a:pt x="4501" y="1050"/>
                </a:lnTo>
                <a:lnTo>
                  <a:pt x="4502" y="1051"/>
                </a:lnTo>
                <a:lnTo>
                  <a:pt x="4502" y="1051"/>
                </a:lnTo>
                <a:lnTo>
                  <a:pt x="4510" y="1065"/>
                </a:lnTo>
                <a:lnTo>
                  <a:pt x="4526" y="1095"/>
                </a:lnTo>
                <a:lnTo>
                  <a:pt x="4526" y="1095"/>
                </a:lnTo>
                <a:lnTo>
                  <a:pt x="4527" y="1095"/>
                </a:lnTo>
                <a:lnTo>
                  <a:pt x="4534" y="1109"/>
                </a:lnTo>
                <a:cubicBezTo>
                  <a:pt x="4691" y="1402"/>
                  <a:pt x="4779" y="1737"/>
                  <a:pt x="4779" y="2093"/>
                </a:cubicBezTo>
                <a:lnTo>
                  <a:pt x="4779" y="2094"/>
                </a:lnTo>
                <a:lnTo>
                  <a:pt x="4779" y="2094"/>
                </a:lnTo>
                <a:lnTo>
                  <a:pt x="4778" y="2140"/>
                </a:lnTo>
                <a:cubicBezTo>
                  <a:pt x="4768" y="2627"/>
                  <a:pt x="4590" y="3073"/>
                  <a:pt x="4301" y="3424"/>
                </a:cubicBezTo>
                <a:lnTo>
                  <a:pt x="4301" y="3424"/>
                </a:lnTo>
                <a:lnTo>
                  <a:pt x="2775" y="3424"/>
                </a:lnTo>
                <a:lnTo>
                  <a:pt x="2789" y="3423"/>
                </a:lnTo>
                <a:cubicBezTo>
                  <a:pt x="3478" y="3371"/>
                  <a:pt x="4021" y="2795"/>
                  <a:pt x="4021" y="2093"/>
                </a:cubicBezTo>
                <a:cubicBezTo>
                  <a:pt x="4021" y="1897"/>
                  <a:pt x="3979" y="1711"/>
                  <a:pt x="3903" y="1543"/>
                </a:cubicBezTo>
                <a:lnTo>
                  <a:pt x="3890" y="1514"/>
                </a:lnTo>
                <a:lnTo>
                  <a:pt x="3889" y="1513"/>
                </a:lnTo>
                <a:lnTo>
                  <a:pt x="3875" y="1486"/>
                </a:lnTo>
                <a:lnTo>
                  <a:pt x="3874" y="1484"/>
                </a:lnTo>
                <a:lnTo>
                  <a:pt x="3860" y="1457"/>
                </a:lnTo>
                <a:lnTo>
                  <a:pt x="3859" y="1455"/>
                </a:lnTo>
                <a:lnTo>
                  <a:pt x="3845" y="1429"/>
                </a:lnTo>
                <a:lnTo>
                  <a:pt x="3843" y="1426"/>
                </a:lnTo>
                <a:lnTo>
                  <a:pt x="3829" y="1402"/>
                </a:lnTo>
                <a:lnTo>
                  <a:pt x="3826" y="1398"/>
                </a:lnTo>
                <a:lnTo>
                  <a:pt x="3812" y="1375"/>
                </a:lnTo>
                <a:lnTo>
                  <a:pt x="3809" y="1370"/>
                </a:lnTo>
                <a:lnTo>
                  <a:pt x="3794" y="1348"/>
                </a:lnTo>
                <a:lnTo>
                  <a:pt x="3791" y="1343"/>
                </a:lnTo>
                <a:lnTo>
                  <a:pt x="3776" y="1322"/>
                </a:lnTo>
                <a:lnTo>
                  <a:pt x="3772" y="1317"/>
                </a:lnTo>
                <a:lnTo>
                  <a:pt x="3758" y="1297"/>
                </a:lnTo>
                <a:lnTo>
                  <a:pt x="3753" y="1291"/>
                </a:lnTo>
                <a:lnTo>
                  <a:pt x="3738" y="1271"/>
                </a:lnTo>
                <a:lnTo>
                  <a:pt x="3734" y="1265"/>
                </a:lnTo>
                <a:lnTo>
                  <a:pt x="3719" y="1247"/>
                </a:lnTo>
                <a:lnTo>
                  <a:pt x="3713" y="1240"/>
                </a:lnTo>
                <a:lnTo>
                  <a:pt x="3698" y="1222"/>
                </a:lnTo>
                <a:lnTo>
                  <a:pt x="3692" y="1216"/>
                </a:lnTo>
                <a:lnTo>
                  <a:pt x="3677" y="1198"/>
                </a:lnTo>
                <a:lnTo>
                  <a:pt x="3671" y="1192"/>
                </a:lnTo>
                <a:lnTo>
                  <a:pt x="3656" y="1175"/>
                </a:lnTo>
                <a:lnTo>
                  <a:pt x="3649" y="1168"/>
                </a:lnTo>
                <a:lnTo>
                  <a:pt x="3633" y="1152"/>
                </a:lnTo>
                <a:lnTo>
                  <a:pt x="3627" y="1146"/>
                </a:lnTo>
                <a:lnTo>
                  <a:pt x="3611" y="1130"/>
                </a:lnTo>
                <a:lnTo>
                  <a:pt x="3604" y="1124"/>
                </a:lnTo>
                <a:lnTo>
                  <a:pt x="3587" y="1108"/>
                </a:lnTo>
                <a:lnTo>
                  <a:pt x="3581" y="1102"/>
                </a:lnTo>
                <a:lnTo>
                  <a:pt x="3564" y="1087"/>
                </a:lnTo>
                <a:lnTo>
                  <a:pt x="3557" y="1081"/>
                </a:lnTo>
                <a:lnTo>
                  <a:pt x="3539" y="1066"/>
                </a:lnTo>
                <a:lnTo>
                  <a:pt x="3533" y="1060"/>
                </a:lnTo>
                <a:lnTo>
                  <a:pt x="3514" y="1046"/>
                </a:lnTo>
                <a:lnTo>
                  <a:pt x="3508" y="1041"/>
                </a:lnTo>
                <a:lnTo>
                  <a:pt x="3489" y="1026"/>
                </a:lnTo>
                <a:lnTo>
                  <a:pt x="3483" y="1021"/>
                </a:lnTo>
                <a:lnTo>
                  <a:pt x="3463" y="1007"/>
                </a:lnTo>
                <a:lnTo>
                  <a:pt x="3457" y="1003"/>
                </a:lnTo>
                <a:lnTo>
                  <a:pt x="3436" y="988"/>
                </a:lnTo>
                <a:lnTo>
                  <a:pt x="3431" y="985"/>
                </a:lnTo>
                <a:lnTo>
                  <a:pt x="3409" y="970"/>
                </a:lnTo>
                <a:lnTo>
                  <a:pt x="3404" y="967"/>
                </a:lnTo>
                <a:lnTo>
                  <a:pt x="3381" y="953"/>
                </a:lnTo>
                <a:lnTo>
                  <a:pt x="3377" y="951"/>
                </a:lnTo>
                <a:lnTo>
                  <a:pt x="3352" y="936"/>
                </a:lnTo>
                <a:lnTo>
                  <a:pt x="3350" y="934"/>
                </a:lnTo>
                <a:lnTo>
                  <a:pt x="3323" y="919"/>
                </a:lnTo>
                <a:lnTo>
                  <a:pt x="3322" y="919"/>
                </a:lnTo>
                <a:lnTo>
                  <a:pt x="3294" y="904"/>
                </a:lnTo>
                <a:cubicBezTo>
                  <a:pt x="3121" y="816"/>
                  <a:pt x="2927" y="764"/>
                  <a:pt x="2721" y="758"/>
                </a:cubicBezTo>
                <a:lnTo>
                  <a:pt x="2688" y="758"/>
                </a:lnTo>
                <a:lnTo>
                  <a:pt x="2685" y="758"/>
                </a:lnTo>
                <a:lnTo>
                  <a:pt x="2664" y="758"/>
                </a:lnTo>
                <a:lnTo>
                  <a:pt x="2648" y="759"/>
                </a:lnTo>
                <a:cubicBezTo>
                  <a:pt x="2637" y="759"/>
                  <a:pt x="2626" y="760"/>
                  <a:pt x="2614" y="760"/>
                </a:cubicBezTo>
                <a:lnTo>
                  <a:pt x="2606" y="760"/>
                </a:lnTo>
                <a:lnTo>
                  <a:pt x="2584" y="762"/>
                </a:lnTo>
                <a:lnTo>
                  <a:pt x="2582" y="762"/>
                </a:lnTo>
                <a:lnTo>
                  <a:pt x="1071" y="762"/>
                </a:lnTo>
                <a:lnTo>
                  <a:pt x="1072" y="761"/>
                </a:lnTo>
                <a:lnTo>
                  <a:pt x="1072" y="761"/>
                </a:lnTo>
                <a:lnTo>
                  <a:pt x="326" y="761"/>
                </a:lnTo>
                <a:lnTo>
                  <a:pt x="326" y="758"/>
                </a:lnTo>
                <a:lnTo>
                  <a:pt x="325" y="758"/>
                </a:lnTo>
                <a:cubicBezTo>
                  <a:pt x="324" y="757"/>
                  <a:pt x="323" y="756"/>
                  <a:pt x="322" y="755"/>
                </a:cubicBezTo>
                <a:lnTo>
                  <a:pt x="8" y="406"/>
                </a:lnTo>
                <a:cubicBezTo>
                  <a:pt x="5" y="403"/>
                  <a:pt x="3" y="399"/>
                  <a:pt x="2" y="395"/>
                </a:cubicBezTo>
                <a:cubicBezTo>
                  <a:pt x="-2" y="381"/>
                  <a:pt x="0" y="362"/>
                  <a:pt x="8" y="354"/>
                </a:cubicBezTo>
                <a:lnTo>
                  <a:pt x="322" y="5"/>
                </a:lnTo>
                <a:cubicBezTo>
                  <a:pt x="323" y="4"/>
                  <a:pt x="324" y="3"/>
                  <a:pt x="325" y="2"/>
                </a:cubicBezTo>
                <a:lnTo>
                  <a:pt x="326" y="2"/>
                </a:lnTo>
                <a:lnTo>
                  <a:pt x="326" y="0"/>
                </a:lnTo>
                <a:close/>
              </a:path>
            </a:pathLst>
          </a:custGeom>
          <a:gradFill>
            <a:gsLst>
              <a:gs pos="0">
                <a:srgbClr val="FF7429">
                  <a:lumMod val="90000"/>
                </a:srgbClr>
              </a:gs>
              <a:gs pos="100000">
                <a:srgbClr val="FF7429">
                  <a:lumMod val="80000"/>
                  <a:lumOff val="20000"/>
                </a:srgbClr>
              </a:gs>
            </a:gsLst>
            <a:lin ang="108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algn="ct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任意多边形: 形状 29"/>
          <p:cNvSpPr/>
          <p:nvPr>
            <p:custDataLst>
              <p:tags r:id="rId3"/>
            </p:custDataLst>
          </p:nvPr>
        </p:nvSpPr>
        <p:spPr>
          <a:xfrm rot="3600000">
            <a:off x="5040752" y="3526216"/>
            <a:ext cx="1936497" cy="1427444"/>
          </a:xfrm>
          <a:custGeom>
            <a:avLst/>
            <a:gdLst>
              <a:gd name="connsiteX0" fmla="*/ 2461793 w 2659883"/>
              <a:gd name="connsiteY0" fmla="*/ 1960671 h 1960671"/>
              <a:gd name="connsiteX1" fmla="*/ 2464149 w 2659883"/>
              <a:gd name="connsiteY1" fmla="*/ 1957940 h 1960671"/>
              <a:gd name="connsiteX2" fmla="*/ 2477277 w 2659883"/>
              <a:gd name="connsiteY2" fmla="*/ 1939725 h 1960671"/>
              <a:gd name="connsiteX3" fmla="*/ 2462699 w 2659883"/>
              <a:gd name="connsiteY3" fmla="*/ 1960671 h 1960671"/>
              <a:gd name="connsiteX4" fmla="*/ 4581 w 2659883"/>
              <a:gd name="connsiteY4" fmla="*/ 202710 h 1960671"/>
              <a:gd name="connsiteX5" fmla="*/ 184373 w 2659883"/>
              <a:gd name="connsiteY5" fmla="*/ 2863 h 1960671"/>
              <a:gd name="connsiteX6" fmla="*/ 186091 w 2659883"/>
              <a:gd name="connsiteY6" fmla="*/ 1145 h 1960671"/>
              <a:gd name="connsiteX7" fmla="*/ 186664 w 2659883"/>
              <a:gd name="connsiteY7" fmla="*/ 1145 h 1960671"/>
              <a:gd name="connsiteX8" fmla="*/ 186664 w 2659883"/>
              <a:gd name="connsiteY8" fmla="*/ 0 h 1960671"/>
              <a:gd name="connsiteX9" fmla="*/ 1538543 w 2659883"/>
              <a:gd name="connsiteY9" fmla="*/ 0 h 1960671"/>
              <a:gd name="connsiteX10" fmla="*/ 1546559 w 2659883"/>
              <a:gd name="connsiteY10" fmla="*/ 0 h 1960671"/>
              <a:gd name="connsiteX11" fmla="*/ 1555148 w 2659883"/>
              <a:gd name="connsiteY11" fmla="*/ 0 h 1960671"/>
              <a:gd name="connsiteX12" fmla="*/ 1569463 w 2659883"/>
              <a:gd name="connsiteY12" fmla="*/ 573 h 1960671"/>
              <a:gd name="connsiteX13" fmla="*/ 1750400 w 2659883"/>
              <a:gd name="connsiteY13" fmla="*/ 18897 h 1960671"/>
              <a:gd name="connsiteX14" fmla="*/ 1774449 w 2659883"/>
              <a:gd name="connsiteY14" fmla="*/ 23478 h 1960671"/>
              <a:gd name="connsiteX15" fmla="*/ 1776739 w 2659883"/>
              <a:gd name="connsiteY15" fmla="*/ 24050 h 1960671"/>
              <a:gd name="connsiteX16" fmla="*/ 1777312 w 2659883"/>
              <a:gd name="connsiteY16" fmla="*/ 24050 h 1960671"/>
              <a:gd name="connsiteX17" fmla="*/ 1779602 w 2659883"/>
              <a:gd name="connsiteY17" fmla="*/ 24623 h 1960671"/>
              <a:gd name="connsiteX18" fmla="*/ 1797353 w 2659883"/>
              <a:gd name="connsiteY18" fmla="*/ 28059 h 1960671"/>
              <a:gd name="connsiteX19" fmla="*/ 1805369 w 2659883"/>
              <a:gd name="connsiteY19" fmla="*/ 29777 h 1960671"/>
              <a:gd name="connsiteX20" fmla="*/ 1806514 w 2659883"/>
              <a:gd name="connsiteY20" fmla="*/ 30349 h 1960671"/>
              <a:gd name="connsiteX21" fmla="*/ 1808804 w 2659883"/>
              <a:gd name="connsiteY21" fmla="*/ 30922 h 1960671"/>
              <a:gd name="connsiteX22" fmla="*/ 1821974 w 2659883"/>
              <a:gd name="connsiteY22" fmla="*/ 33785 h 1960671"/>
              <a:gd name="connsiteX23" fmla="*/ 1833998 w 2659883"/>
              <a:gd name="connsiteY23" fmla="*/ 36648 h 1960671"/>
              <a:gd name="connsiteX24" fmla="*/ 1835716 w 2659883"/>
              <a:gd name="connsiteY24" fmla="*/ 37221 h 1960671"/>
              <a:gd name="connsiteX25" fmla="*/ 1837434 w 2659883"/>
              <a:gd name="connsiteY25" fmla="*/ 37793 h 1960671"/>
              <a:gd name="connsiteX26" fmla="*/ 1847168 w 2659883"/>
              <a:gd name="connsiteY26" fmla="*/ 40084 h 1960671"/>
              <a:gd name="connsiteX27" fmla="*/ 1862055 w 2659883"/>
              <a:gd name="connsiteY27" fmla="*/ 44092 h 1960671"/>
              <a:gd name="connsiteX28" fmla="*/ 1864918 w 2659883"/>
              <a:gd name="connsiteY28" fmla="*/ 45238 h 1960671"/>
              <a:gd name="connsiteX29" fmla="*/ 1866063 w 2659883"/>
              <a:gd name="connsiteY29" fmla="*/ 45238 h 1960671"/>
              <a:gd name="connsiteX30" fmla="*/ 1872934 w 2659883"/>
              <a:gd name="connsiteY30" fmla="*/ 47528 h 1960671"/>
              <a:gd name="connsiteX31" fmla="*/ 1890112 w 2659883"/>
              <a:gd name="connsiteY31" fmla="*/ 52682 h 1960671"/>
              <a:gd name="connsiteX32" fmla="*/ 1893547 w 2659883"/>
              <a:gd name="connsiteY32" fmla="*/ 53827 h 1960671"/>
              <a:gd name="connsiteX33" fmla="*/ 1894692 w 2659883"/>
              <a:gd name="connsiteY33" fmla="*/ 53827 h 1960671"/>
              <a:gd name="connsiteX34" fmla="*/ 1899273 w 2659883"/>
              <a:gd name="connsiteY34" fmla="*/ 55545 h 1960671"/>
              <a:gd name="connsiteX35" fmla="*/ 1917596 w 2659883"/>
              <a:gd name="connsiteY35" fmla="*/ 61271 h 1960671"/>
              <a:gd name="connsiteX36" fmla="*/ 1921604 w 2659883"/>
              <a:gd name="connsiteY36" fmla="*/ 62989 h 1960671"/>
              <a:gd name="connsiteX37" fmla="*/ 1922749 w 2659883"/>
              <a:gd name="connsiteY37" fmla="*/ 62989 h 1960671"/>
              <a:gd name="connsiteX38" fmla="*/ 1925612 w 2659883"/>
              <a:gd name="connsiteY38" fmla="*/ 64134 h 1960671"/>
              <a:gd name="connsiteX39" fmla="*/ 1945080 w 2659883"/>
              <a:gd name="connsiteY39" fmla="*/ 70433 h 1960671"/>
              <a:gd name="connsiteX40" fmla="*/ 1949661 w 2659883"/>
              <a:gd name="connsiteY40" fmla="*/ 72724 h 1960671"/>
              <a:gd name="connsiteX41" fmla="*/ 1950233 w 2659883"/>
              <a:gd name="connsiteY41" fmla="*/ 72724 h 1960671"/>
              <a:gd name="connsiteX42" fmla="*/ 1951951 w 2659883"/>
              <a:gd name="connsiteY42" fmla="*/ 73296 h 1960671"/>
              <a:gd name="connsiteX43" fmla="*/ 1971992 w 2659883"/>
              <a:gd name="connsiteY43" fmla="*/ 80740 h 1960671"/>
              <a:gd name="connsiteX44" fmla="*/ 1977145 w 2659883"/>
              <a:gd name="connsiteY44" fmla="*/ 83031 h 1960671"/>
              <a:gd name="connsiteX45" fmla="*/ 1977718 w 2659883"/>
              <a:gd name="connsiteY45" fmla="*/ 83031 h 1960671"/>
              <a:gd name="connsiteX46" fmla="*/ 1978290 w 2659883"/>
              <a:gd name="connsiteY46" fmla="*/ 83603 h 1960671"/>
              <a:gd name="connsiteX47" fmla="*/ 1998331 w 2659883"/>
              <a:gd name="connsiteY47" fmla="*/ 91620 h 1960671"/>
              <a:gd name="connsiteX48" fmla="*/ 2004629 w 2659883"/>
              <a:gd name="connsiteY48" fmla="*/ 93911 h 1960671"/>
              <a:gd name="connsiteX49" fmla="*/ 2004629 w 2659883"/>
              <a:gd name="connsiteY49" fmla="*/ 94483 h 1960671"/>
              <a:gd name="connsiteX50" fmla="*/ 2024670 w 2659883"/>
              <a:gd name="connsiteY50" fmla="*/ 103073 h 1960671"/>
              <a:gd name="connsiteX51" fmla="*/ 2375666 w 2659883"/>
              <a:gd name="connsiteY51" fmla="*/ 341285 h 1960671"/>
              <a:gd name="connsiteX52" fmla="*/ 2385400 w 2659883"/>
              <a:gd name="connsiteY52" fmla="*/ 351020 h 1960671"/>
              <a:gd name="connsiteX53" fmla="*/ 2395707 w 2659883"/>
              <a:gd name="connsiteY53" fmla="*/ 361327 h 1960671"/>
              <a:gd name="connsiteX54" fmla="*/ 2405441 w 2659883"/>
              <a:gd name="connsiteY54" fmla="*/ 371634 h 1960671"/>
              <a:gd name="connsiteX55" fmla="*/ 2415174 w 2659883"/>
              <a:gd name="connsiteY55" fmla="*/ 381942 h 1960671"/>
              <a:gd name="connsiteX56" fmla="*/ 2424908 w 2659883"/>
              <a:gd name="connsiteY56" fmla="*/ 392249 h 1960671"/>
              <a:gd name="connsiteX57" fmla="*/ 2424908 w 2659883"/>
              <a:gd name="connsiteY57" fmla="*/ 392821 h 1960671"/>
              <a:gd name="connsiteX58" fmla="*/ 2425481 w 2659883"/>
              <a:gd name="connsiteY58" fmla="*/ 392821 h 1960671"/>
              <a:gd name="connsiteX59" fmla="*/ 2434070 w 2659883"/>
              <a:gd name="connsiteY59" fmla="*/ 402556 h 1960671"/>
              <a:gd name="connsiteX60" fmla="*/ 2443804 w 2659883"/>
              <a:gd name="connsiteY60" fmla="*/ 414009 h 1960671"/>
              <a:gd name="connsiteX61" fmla="*/ 2444376 w 2659883"/>
              <a:gd name="connsiteY61" fmla="*/ 414009 h 1960671"/>
              <a:gd name="connsiteX62" fmla="*/ 2444376 w 2659883"/>
              <a:gd name="connsiteY62" fmla="*/ 414581 h 1960671"/>
              <a:gd name="connsiteX63" fmla="*/ 2452965 w 2659883"/>
              <a:gd name="connsiteY63" fmla="*/ 423743 h 1960671"/>
              <a:gd name="connsiteX64" fmla="*/ 2462699 w 2659883"/>
              <a:gd name="connsiteY64" fmla="*/ 435768 h 1960671"/>
              <a:gd name="connsiteX65" fmla="*/ 2463272 w 2659883"/>
              <a:gd name="connsiteY65" fmla="*/ 436341 h 1960671"/>
              <a:gd name="connsiteX66" fmla="*/ 2470715 w 2659883"/>
              <a:gd name="connsiteY66" fmla="*/ 446076 h 1960671"/>
              <a:gd name="connsiteX67" fmla="*/ 2480449 w 2659883"/>
              <a:gd name="connsiteY67" fmla="*/ 458101 h 1960671"/>
              <a:gd name="connsiteX68" fmla="*/ 2481022 w 2659883"/>
              <a:gd name="connsiteY68" fmla="*/ 458673 h 1960671"/>
              <a:gd name="connsiteX69" fmla="*/ 2488465 w 2659883"/>
              <a:gd name="connsiteY69" fmla="*/ 467835 h 1960671"/>
              <a:gd name="connsiteX70" fmla="*/ 2498199 w 2659883"/>
              <a:gd name="connsiteY70" fmla="*/ 481006 h 1960671"/>
              <a:gd name="connsiteX71" fmla="*/ 2498199 w 2659883"/>
              <a:gd name="connsiteY71" fmla="*/ 481579 h 1960671"/>
              <a:gd name="connsiteX72" fmla="*/ 2498772 w 2659883"/>
              <a:gd name="connsiteY72" fmla="*/ 481579 h 1960671"/>
              <a:gd name="connsiteX73" fmla="*/ 2505643 w 2659883"/>
              <a:gd name="connsiteY73" fmla="*/ 490741 h 1960671"/>
              <a:gd name="connsiteX74" fmla="*/ 2514805 w 2659883"/>
              <a:gd name="connsiteY74" fmla="*/ 503911 h 1960671"/>
              <a:gd name="connsiteX75" fmla="*/ 2515377 w 2659883"/>
              <a:gd name="connsiteY75" fmla="*/ 504484 h 1960671"/>
              <a:gd name="connsiteX76" fmla="*/ 2515377 w 2659883"/>
              <a:gd name="connsiteY76" fmla="*/ 505056 h 1960671"/>
              <a:gd name="connsiteX77" fmla="*/ 2521676 w 2659883"/>
              <a:gd name="connsiteY77" fmla="*/ 513646 h 1960671"/>
              <a:gd name="connsiteX78" fmla="*/ 2531410 w 2659883"/>
              <a:gd name="connsiteY78" fmla="*/ 527961 h 1960671"/>
              <a:gd name="connsiteX79" fmla="*/ 2531982 w 2659883"/>
              <a:gd name="connsiteY79" fmla="*/ 528534 h 1960671"/>
              <a:gd name="connsiteX80" fmla="*/ 2537708 w 2659883"/>
              <a:gd name="connsiteY80" fmla="*/ 537123 h 1960671"/>
              <a:gd name="connsiteX81" fmla="*/ 2547442 w 2659883"/>
              <a:gd name="connsiteY81" fmla="*/ 552012 h 1960671"/>
              <a:gd name="connsiteX82" fmla="*/ 2547442 w 2659883"/>
              <a:gd name="connsiteY82" fmla="*/ 552584 h 1960671"/>
              <a:gd name="connsiteX83" fmla="*/ 2548015 w 2659883"/>
              <a:gd name="connsiteY83" fmla="*/ 552584 h 1960671"/>
              <a:gd name="connsiteX84" fmla="*/ 2553168 w 2659883"/>
              <a:gd name="connsiteY84" fmla="*/ 561174 h 1960671"/>
              <a:gd name="connsiteX85" fmla="*/ 2562902 w 2659883"/>
              <a:gd name="connsiteY85" fmla="*/ 576634 h 1960671"/>
              <a:gd name="connsiteX86" fmla="*/ 2562902 w 2659883"/>
              <a:gd name="connsiteY86" fmla="*/ 577207 h 1960671"/>
              <a:gd name="connsiteX87" fmla="*/ 2568055 w 2659883"/>
              <a:gd name="connsiteY87" fmla="*/ 585224 h 1960671"/>
              <a:gd name="connsiteX88" fmla="*/ 2577217 w 2659883"/>
              <a:gd name="connsiteY88" fmla="*/ 601257 h 1960671"/>
              <a:gd name="connsiteX89" fmla="*/ 2577789 w 2659883"/>
              <a:gd name="connsiteY89" fmla="*/ 601830 h 1960671"/>
              <a:gd name="connsiteX90" fmla="*/ 2582370 w 2659883"/>
              <a:gd name="connsiteY90" fmla="*/ 609847 h 1960671"/>
              <a:gd name="connsiteX91" fmla="*/ 2591531 w 2659883"/>
              <a:gd name="connsiteY91" fmla="*/ 627025 h 1960671"/>
              <a:gd name="connsiteX92" fmla="*/ 2592104 w 2659883"/>
              <a:gd name="connsiteY92" fmla="*/ 627025 h 1960671"/>
              <a:gd name="connsiteX93" fmla="*/ 2596112 w 2659883"/>
              <a:gd name="connsiteY93" fmla="*/ 635042 h 1960671"/>
              <a:gd name="connsiteX94" fmla="*/ 2655956 w 2659883"/>
              <a:gd name="connsiteY94" fmla="*/ 765198 h 1960671"/>
              <a:gd name="connsiteX95" fmla="*/ 2659883 w 2659883"/>
              <a:gd name="connsiteY95" fmla="*/ 777517 h 1960671"/>
              <a:gd name="connsiteX96" fmla="*/ 2207129 w 2659883"/>
              <a:gd name="connsiteY96" fmla="*/ 1561711 h 1960671"/>
              <a:gd name="connsiteX97" fmla="*/ 2247630 w 2659883"/>
              <a:gd name="connsiteY97" fmla="*/ 1482904 h 1960671"/>
              <a:gd name="connsiteX98" fmla="*/ 2302375 w 2659883"/>
              <a:gd name="connsiteY98" fmla="*/ 1198506 h 1960671"/>
              <a:gd name="connsiteX99" fmla="*/ 2234809 w 2659883"/>
              <a:gd name="connsiteY99" fmla="*/ 883562 h 1960671"/>
              <a:gd name="connsiteX100" fmla="*/ 2227366 w 2659883"/>
              <a:gd name="connsiteY100" fmla="*/ 866956 h 1960671"/>
              <a:gd name="connsiteX101" fmla="*/ 2226793 w 2659883"/>
              <a:gd name="connsiteY101" fmla="*/ 866383 h 1960671"/>
              <a:gd name="connsiteX102" fmla="*/ 2218777 w 2659883"/>
              <a:gd name="connsiteY102" fmla="*/ 850922 h 1960671"/>
              <a:gd name="connsiteX103" fmla="*/ 2218204 w 2659883"/>
              <a:gd name="connsiteY103" fmla="*/ 849777 h 1960671"/>
              <a:gd name="connsiteX104" fmla="*/ 2210188 w 2659883"/>
              <a:gd name="connsiteY104" fmla="*/ 834316 h 1960671"/>
              <a:gd name="connsiteX105" fmla="*/ 2209616 w 2659883"/>
              <a:gd name="connsiteY105" fmla="*/ 833171 h 1960671"/>
              <a:gd name="connsiteX106" fmla="*/ 2201599 w 2659883"/>
              <a:gd name="connsiteY106" fmla="*/ 818283 h 1960671"/>
              <a:gd name="connsiteX107" fmla="*/ 2200454 w 2659883"/>
              <a:gd name="connsiteY107" fmla="*/ 816565 h 1960671"/>
              <a:gd name="connsiteX108" fmla="*/ 2192438 w 2659883"/>
              <a:gd name="connsiteY108" fmla="*/ 802822 h 1960671"/>
              <a:gd name="connsiteX109" fmla="*/ 2190720 w 2659883"/>
              <a:gd name="connsiteY109" fmla="*/ 800531 h 1960671"/>
              <a:gd name="connsiteX110" fmla="*/ 2182704 w 2659883"/>
              <a:gd name="connsiteY110" fmla="*/ 787361 h 1960671"/>
              <a:gd name="connsiteX111" fmla="*/ 2180986 w 2659883"/>
              <a:gd name="connsiteY111" fmla="*/ 784498 h 1960671"/>
              <a:gd name="connsiteX112" fmla="*/ 2172397 w 2659883"/>
              <a:gd name="connsiteY112" fmla="*/ 771900 h 1960671"/>
              <a:gd name="connsiteX113" fmla="*/ 2170680 w 2659883"/>
              <a:gd name="connsiteY113" fmla="*/ 769037 h 1960671"/>
              <a:gd name="connsiteX114" fmla="*/ 2162091 w 2659883"/>
              <a:gd name="connsiteY114" fmla="*/ 757012 h 1960671"/>
              <a:gd name="connsiteX115" fmla="*/ 2159800 w 2659883"/>
              <a:gd name="connsiteY115" fmla="*/ 754148 h 1960671"/>
              <a:gd name="connsiteX116" fmla="*/ 2151784 w 2659883"/>
              <a:gd name="connsiteY116" fmla="*/ 742696 h 1960671"/>
              <a:gd name="connsiteX117" fmla="*/ 2148921 w 2659883"/>
              <a:gd name="connsiteY117" fmla="*/ 739260 h 1960671"/>
              <a:gd name="connsiteX118" fmla="*/ 2140332 w 2659883"/>
              <a:gd name="connsiteY118" fmla="*/ 727808 h 1960671"/>
              <a:gd name="connsiteX119" fmla="*/ 2138042 w 2659883"/>
              <a:gd name="connsiteY119" fmla="*/ 724372 h 1960671"/>
              <a:gd name="connsiteX120" fmla="*/ 2129453 w 2659883"/>
              <a:gd name="connsiteY120" fmla="*/ 714065 h 1960671"/>
              <a:gd name="connsiteX121" fmla="*/ 2126018 w 2659883"/>
              <a:gd name="connsiteY121" fmla="*/ 710056 h 1960671"/>
              <a:gd name="connsiteX122" fmla="*/ 2117429 w 2659883"/>
              <a:gd name="connsiteY122" fmla="*/ 699749 h 1960671"/>
              <a:gd name="connsiteX123" fmla="*/ 2113993 w 2659883"/>
              <a:gd name="connsiteY123" fmla="*/ 696313 h 1960671"/>
              <a:gd name="connsiteX124" fmla="*/ 2105405 w 2659883"/>
              <a:gd name="connsiteY124" fmla="*/ 686006 h 1960671"/>
              <a:gd name="connsiteX125" fmla="*/ 2101969 w 2659883"/>
              <a:gd name="connsiteY125" fmla="*/ 682570 h 1960671"/>
              <a:gd name="connsiteX126" fmla="*/ 2093380 w 2659883"/>
              <a:gd name="connsiteY126" fmla="*/ 672836 h 1960671"/>
              <a:gd name="connsiteX127" fmla="*/ 2089372 w 2659883"/>
              <a:gd name="connsiteY127" fmla="*/ 668827 h 1960671"/>
              <a:gd name="connsiteX128" fmla="*/ 2080211 w 2659883"/>
              <a:gd name="connsiteY128" fmla="*/ 659665 h 1960671"/>
              <a:gd name="connsiteX129" fmla="*/ 2076775 w 2659883"/>
              <a:gd name="connsiteY129" fmla="*/ 656229 h 1960671"/>
              <a:gd name="connsiteX130" fmla="*/ 2067614 w 2659883"/>
              <a:gd name="connsiteY130" fmla="*/ 647067 h 1960671"/>
              <a:gd name="connsiteX131" fmla="*/ 2063606 w 2659883"/>
              <a:gd name="connsiteY131" fmla="*/ 643632 h 1960671"/>
              <a:gd name="connsiteX132" fmla="*/ 2053872 w 2659883"/>
              <a:gd name="connsiteY132" fmla="*/ 634470 h 1960671"/>
              <a:gd name="connsiteX133" fmla="*/ 2050436 w 2659883"/>
              <a:gd name="connsiteY133" fmla="*/ 631034 h 1960671"/>
              <a:gd name="connsiteX134" fmla="*/ 2040702 w 2659883"/>
              <a:gd name="connsiteY134" fmla="*/ 622444 h 1960671"/>
              <a:gd name="connsiteX135" fmla="*/ 2036694 w 2659883"/>
              <a:gd name="connsiteY135" fmla="*/ 619009 h 1960671"/>
              <a:gd name="connsiteX136" fmla="*/ 2026388 w 2659883"/>
              <a:gd name="connsiteY136" fmla="*/ 610419 h 1960671"/>
              <a:gd name="connsiteX137" fmla="*/ 2022952 w 2659883"/>
              <a:gd name="connsiteY137" fmla="*/ 606984 h 1960671"/>
              <a:gd name="connsiteX138" fmla="*/ 2012073 w 2659883"/>
              <a:gd name="connsiteY138" fmla="*/ 598967 h 1960671"/>
              <a:gd name="connsiteX139" fmla="*/ 2008637 w 2659883"/>
              <a:gd name="connsiteY139" fmla="*/ 596104 h 1960671"/>
              <a:gd name="connsiteX140" fmla="*/ 1997758 w 2659883"/>
              <a:gd name="connsiteY140" fmla="*/ 587514 h 1960671"/>
              <a:gd name="connsiteX141" fmla="*/ 1994323 w 2659883"/>
              <a:gd name="connsiteY141" fmla="*/ 584651 h 1960671"/>
              <a:gd name="connsiteX142" fmla="*/ 1982871 w 2659883"/>
              <a:gd name="connsiteY142" fmla="*/ 576634 h 1960671"/>
              <a:gd name="connsiteX143" fmla="*/ 1979435 w 2659883"/>
              <a:gd name="connsiteY143" fmla="*/ 574344 h 1960671"/>
              <a:gd name="connsiteX144" fmla="*/ 1967411 w 2659883"/>
              <a:gd name="connsiteY144" fmla="*/ 565755 h 1960671"/>
              <a:gd name="connsiteX145" fmla="*/ 1964548 w 2659883"/>
              <a:gd name="connsiteY145" fmla="*/ 564037 h 1960671"/>
              <a:gd name="connsiteX146" fmla="*/ 1951951 w 2659883"/>
              <a:gd name="connsiteY146" fmla="*/ 555447 h 1960671"/>
              <a:gd name="connsiteX147" fmla="*/ 1949088 w 2659883"/>
              <a:gd name="connsiteY147" fmla="*/ 553729 h 1960671"/>
              <a:gd name="connsiteX148" fmla="*/ 1935919 w 2659883"/>
              <a:gd name="connsiteY148" fmla="*/ 545713 h 1960671"/>
              <a:gd name="connsiteX149" fmla="*/ 1933628 w 2659883"/>
              <a:gd name="connsiteY149" fmla="*/ 544567 h 1960671"/>
              <a:gd name="connsiteX150" fmla="*/ 1919314 w 2659883"/>
              <a:gd name="connsiteY150" fmla="*/ 535978 h 1960671"/>
              <a:gd name="connsiteX151" fmla="*/ 1918169 w 2659883"/>
              <a:gd name="connsiteY151" fmla="*/ 534833 h 1960671"/>
              <a:gd name="connsiteX152" fmla="*/ 1902709 w 2659883"/>
              <a:gd name="connsiteY152" fmla="*/ 526243 h 1960671"/>
              <a:gd name="connsiteX153" fmla="*/ 1902136 w 2659883"/>
              <a:gd name="connsiteY153" fmla="*/ 526243 h 1960671"/>
              <a:gd name="connsiteX154" fmla="*/ 1886104 w 2659883"/>
              <a:gd name="connsiteY154" fmla="*/ 517654 h 1960671"/>
              <a:gd name="connsiteX155" fmla="*/ 1558011 w 2659883"/>
              <a:gd name="connsiteY155" fmla="*/ 434051 h 1960671"/>
              <a:gd name="connsiteX156" fmla="*/ 1539116 w 2659883"/>
              <a:gd name="connsiteY156" fmla="*/ 434051 h 1960671"/>
              <a:gd name="connsiteX157" fmla="*/ 1537398 w 2659883"/>
              <a:gd name="connsiteY157" fmla="*/ 434051 h 1960671"/>
              <a:gd name="connsiteX158" fmla="*/ 1525373 w 2659883"/>
              <a:gd name="connsiteY158" fmla="*/ 434051 h 1960671"/>
              <a:gd name="connsiteX159" fmla="*/ 1516212 w 2659883"/>
              <a:gd name="connsiteY159" fmla="*/ 434623 h 1960671"/>
              <a:gd name="connsiteX160" fmla="*/ 1496744 w 2659883"/>
              <a:gd name="connsiteY160" fmla="*/ 435196 h 1960671"/>
              <a:gd name="connsiteX161" fmla="*/ 1492163 w 2659883"/>
              <a:gd name="connsiteY161" fmla="*/ 435196 h 1960671"/>
              <a:gd name="connsiteX162" fmla="*/ 1479566 w 2659883"/>
              <a:gd name="connsiteY162" fmla="*/ 436341 h 1960671"/>
              <a:gd name="connsiteX163" fmla="*/ 1478421 w 2659883"/>
              <a:gd name="connsiteY163" fmla="*/ 436341 h 1960671"/>
              <a:gd name="connsiteX164" fmla="*/ 613242 w 2659883"/>
              <a:gd name="connsiteY164" fmla="*/ 436341 h 1960671"/>
              <a:gd name="connsiteX165" fmla="*/ 613814 w 2659883"/>
              <a:gd name="connsiteY165" fmla="*/ 435768 h 1960671"/>
              <a:gd name="connsiteX166" fmla="*/ 186664 w 2659883"/>
              <a:gd name="connsiteY166" fmla="*/ 435768 h 1960671"/>
              <a:gd name="connsiteX167" fmla="*/ 186664 w 2659883"/>
              <a:gd name="connsiteY167" fmla="*/ 434051 h 1960671"/>
              <a:gd name="connsiteX168" fmla="*/ 186091 w 2659883"/>
              <a:gd name="connsiteY168" fmla="*/ 434051 h 1960671"/>
              <a:gd name="connsiteX169" fmla="*/ 184373 w 2659883"/>
              <a:gd name="connsiteY169" fmla="*/ 432333 h 1960671"/>
              <a:gd name="connsiteX170" fmla="*/ 4581 w 2659883"/>
              <a:gd name="connsiteY170" fmla="*/ 232486 h 1960671"/>
              <a:gd name="connsiteX171" fmla="*/ 1145 w 2659883"/>
              <a:gd name="connsiteY171" fmla="*/ 226187 h 1960671"/>
              <a:gd name="connsiteX172" fmla="*/ 4581 w 2659883"/>
              <a:gd name="connsiteY172" fmla="*/ 202710 h 196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2659883" h="1960671">
                <a:moveTo>
                  <a:pt x="2461793" y="1960671"/>
                </a:moveTo>
                <a:lnTo>
                  <a:pt x="2464149" y="1957940"/>
                </a:lnTo>
                <a:lnTo>
                  <a:pt x="2477277" y="1939725"/>
                </a:lnTo>
                <a:lnTo>
                  <a:pt x="2462699" y="1960671"/>
                </a:lnTo>
                <a:close/>
                <a:moveTo>
                  <a:pt x="4581" y="202710"/>
                </a:moveTo>
                <a:lnTo>
                  <a:pt x="184373" y="2863"/>
                </a:lnTo>
                <a:cubicBezTo>
                  <a:pt x="184946" y="2291"/>
                  <a:pt x="185519" y="1718"/>
                  <a:pt x="186091" y="1145"/>
                </a:cubicBezTo>
                <a:lnTo>
                  <a:pt x="186664" y="1145"/>
                </a:lnTo>
                <a:lnTo>
                  <a:pt x="186664" y="0"/>
                </a:lnTo>
                <a:lnTo>
                  <a:pt x="1538543" y="0"/>
                </a:lnTo>
                <a:lnTo>
                  <a:pt x="1546559" y="0"/>
                </a:lnTo>
                <a:lnTo>
                  <a:pt x="1555148" y="0"/>
                </a:lnTo>
                <a:lnTo>
                  <a:pt x="1569463" y="573"/>
                </a:lnTo>
                <a:cubicBezTo>
                  <a:pt x="1630730" y="1718"/>
                  <a:pt x="1691424" y="8017"/>
                  <a:pt x="1750400" y="18897"/>
                </a:cubicBezTo>
                <a:lnTo>
                  <a:pt x="1774449" y="23478"/>
                </a:lnTo>
                <a:lnTo>
                  <a:pt x="1776739" y="24050"/>
                </a:lnTo>
                <a:lnTo>
                  <a:pt x="1777312" y="24050"/>
                </a:lnTo>
                <a:lnTo>
                  <a:pt x="1779602" y="24623"/>
                </a:lnTo>
                <a:lnTo>
                  <a:pt x="1797353" y="28059"/>
                </a:lnTo>
                <a:lnTo>
                  <a:pt x="1805369" y="29777"/>
                </a:lnTo>
                <a:lnTo>
                  <a:pt x="1806514" y="30349"/>
                </a:lnTo>
                <a:lnTo>
                  <a:pt x="1808804" y="30922"/>
                </a:lnTo>
                <a:lnTo>
                  <a:pt x="1821974" y="33785"/>
                </a:lnTo>
                <a:lnTo>
                  <a:pt x="1833998" y="36648"/>
                </a:lnTo>
                <a:lnTo>
                  <a:pt x="1835716" y="37221"/>
                </a:lnTo>
                <a:lnTo>
                  <a:pt x="1837434" y="37793"/>
                </a:lnTo>
                <a:lnTo>
                  <a:pt x="1847168" y="40084"/>
                </a:lnTo>
                <a:lnTo>
                  <a:pt x="1862055" y="44092"/>
                </a:lnTo>
                <a:lnTo>
                  <a:pt x="1864918" y="45238"/>
                </a:lnTo>
                <a:lnTo>
                  <a:pt x="1866063" y="45238"/>
                </a:lnTo>
                <a:lnTo>
                  <a:pt x="1872934" y="47528"/>
                </a:lnTo>
                <a:lnTo>
                  <a:pt x="1890112" y="52682"/>
                </a:lnTo>
                <a:lnTo>
                  <a:pt x="1893547" y="53827"/>
                </a:lnTo>
                <a:lnTo>
                  <a:pt x="1894692" y="53827"/>
                </a:lnTo>
                <a:lnTo>
                  <a:pt x="1899273" y="55545"/>
                </a:lnTo>
                <a:lnTo>
                  <a:pt x="1917596" y="61271"/>
                </a:lnTo>
                <a:lnTo>
                  <a:pt x="1921604" y="62989"/>
                </a:lnTo>
                <a:lnTo>
                  <a:pt x="1922749" y="62989"/>
                </a:lnTo>
                <a:lnTo>
                  <a:pt x="1925612" y="64134"/>
                </a:lnTo>
                <a:lnTo>
                  <a:pt x="1945080" y="70433"/>
                </a:lnTo>
                <a:lnTo>
                  <a:pt x="1949661" y="72724"/>
                </a:lnTo>
                <a:lnTo>
                  <a:pt x="1950233" y="72724"/>
                </a:lnTo>
                <a:lnTo>
                  <a:pt x="1951951" y="73296"/>
                </a:lnTo>
                <a:lnTo>
                  <a:pt x="1971992" y="80740"/>
                </a:lnTo>
                <a:lnTo>
                  <a:pt x="1977145" y="83031"/>
                </a:lnTo>
                <a:lnTo>
                  <a:pt x="1977718" y="83031"/>
                </a:lnTo>
                <a:lnTo>
                  <a:pt x="1978290" y="83603"/>
                </a:lnTo>
                <a:lnTo>
                  <a:pt x="1998331" y="91620"/>
                </a:lnTo>
                <a:lnTo>
                  <a:pt x="2004629" y="93911"/>
                </a:lnTo>
                <a:lnTo>
                  <a:pt x="2004629" y="94483"/>
                </a:lnTo>
                <a:lnTo>
                  <a:pt x="2024670" y="103073"/>
                </a:lnTo>
                <a:cubicBezTo>
                  <a:pt x="2155792" y="160908"/>
                  <a:pt x="2274318" y="242221"/>
                  <a:pt x="2375666" y="341285"/>
                </a:cubicBezTo>
                <a:lnTo>
                  <a:pt x="2385400" y="351020"/>
                </a:lnTo>
                <a:lnTo>
                  <a:pt x="2395707" y="361327"/>
                </a:lnTo>
                <a:lnTo>
                  <a:pt x="2405441" y="371634"/>
                </a:lnTo>
                <a:lnTo>
                  <a:pt x="2415174" y="381942"/>
                </a:lnTo>
                <a:lnTo>
                  <a:pt x="2424908" y="392249"/>
                </a:lnTo>
                <a:lnTo>
                  <a:pt x="2424908" y="392821"/>
                </a:lnTo>
                <a:lnTo>
                  <a:pt x="2425481" y="392821"/>
                </a:lnTo>
                <a:lnTo>
                  <a:pt x="2434070" y="402556"/>
                </a:lnTo>
                <a:lnTo>
                  <a:pt x="2443804" y="414009"/>
                </a:lnTo>
                <a:lnTo>
                  <a:pt x="2444376" y="414009"/>
                </a:lnTo>
                <a:lnTo>
                  <a:pt x="2444376" y="414581"/>
                </a:lnTo>
                <a:lnTo>
                  <a:pt x="2452965" y="423743"/>
                </a:lnTo>
                <a:lnTo>
                  <a:pt x="2462699" y="435768"/>
                </a:lnTo>
                <a:lnTo>
                  <a:pt x="2463272" y="436341"/>
                </a:lnTo>
                <a:lnTo>
                  <a:pt x="2470715" y="446076"/>
                </a:lnTo>
                <a:lnTo>
                  <a:pt x="2480449" y="458101"/>
                </a:lnTo>
                <a:lnTo>
                  <a:pt x="2481022" y="458673"/>
                </a:lnTo>
                <a:lnTo>
                  <a:pt x="2488465" y="467835"/>
                </a:lnTo>
                <a:lnTo>
                  <a:pt x="2498199" y="481006"/>
                </a:lnTo>
                <a:lnTo>
                  <a:pt x="2498199" y="481579"/>
                </a:lnTo>
                <a:lnTo>
                  <a:pt x="2498772" y="481579"/>
                </a:lnTo>
                <a:lnTo>
                  <a:pt x="2505643" y="490741"/>
                </a:lnTo>
                <a:lnTo>
                  <a:pt x="2514805" y="503911"/>
                </a:lnTo>
                <a:lnTo>
                  <a:pt x="2515377" y="504484"/>
                </a:lnTo>
                <a:lnTo>
                  <a:pt x="2515377" y="505056"/>
                </a:lnTo>
                <a:lnTo>
                  <a:pt x="2521676" y="513646"/>
                </a:lnTo>
                <a:lnTo>
                  <a:pt x="2531410" y="527961"/>
                </a:lnTo>
                <a:lnTo>
                  <a:pt x="2531982" y="528534"/>
                </a:lnTo>
                <a:lnTo>
                  <a:pt x="2537708" y="537123"/>
                </a:lnTo>
                <a:lnTo>
                  <a:pt x="2547442" y="552012"/>
                </a:lnTo>
                <a:lnTo>
                  <a:pt x="2547442" y="552584"/>
                </a:lnTo>
                <a:lnTo>
                  <a:pt x="2548015" y="552584"/>
                </a:lnTo>
                <a:lnTo>
                  <a:pt x="2553168" y="561174"/>
                </a:lnTo>
                <a:lnTo>
                  <a:pt x="2562902" y="576634"/>
                </a:lnTo>
                <a:lnTo>
                  <a:pt x="2562902" y="577207"/>
                </a:lnTo>
                <a:lnTo>
                  <a:pt x="2568055" y="585224"/>
                </a:lnTo>
                <a:lnTo>
                  <a:pt x="2577217" y="601257"/>
                </a:lnTo>
                <a:lnTo>
                  <a:pt x="2577789" y="601830"/>
                </a:lnTo>
                <a:lnTo>
                  <a:pt x="2582370" y="609847"/>
                </a:lnTo>
                <a:lnTo>
                  <a:pt x="2591531" y="627025"/>
                </a:lnTo>
                <a:lnTo>
                  <a:pt x="2592104" y="627025"/>
                </a:lnTo>
                <a:lnTo>
                  <a:pt x="2596112" y="635042"/>
                </a:lnTo>
                <a:cubicBezTo>
                  <a:pt x="2618586" y="676987"/>
                  <a:pt x="2638591" y="720435"/>
                  <a:pt x="2655956" y="765198"/>
                </a:cubicBezTo>
                <a:lnTo>
                  <a:pt x="2659883" y="777517"/>
                </a:lnTo>
                <a:lnTo>
                  <a:pt x="2207129" y="1561711"/>
                </a:lnTo>
                <a:lnTo>
                  <a:pt x="2247630" y="1482904"/>
                </a:lnTo>
                <a:cubicBezTo>
                  <a:pt x="2282943" y="1394988"/>
                  <a:pt x="2302375" y="1299002"/>
                  <a:pt x="2302375" y="1198506"/>
                </a:cubicBezTo>
                <a:cubicBezTo>
                  <a:pt x="2302375" y="1086271"/>
                  <a:pt x="2278326" y="979763"/>
                  <a:pt x="2234809" y="883562"/>
                </a:cubicBezTo>
                <a:lnTo>
                  <a:pt x="2227366" y="866956"/>
                </a:lnTo>
                <a:lnTo>
                  <a:pt x="2226793" y="866383"/>
                </a:lnTo>
                <a:lnTo>
                  <a:pt x="2218777" y="850922"/>
                </a:lnTo>
                <a:lnTo>
                  <a:pt x="2218204" y="849777"/>
                </a:lnTo>
                <a:lnTo>
                  <a:pt x="2210188" y="834316"/>
                </a:lnTo>
                <a:lnTo>
                  <a:pt x="2209616" y="833171"/>
                </a:lnTo>
                <a:lnTo>
                  <a:pt x="2201599" y="818283"/>
                </a:lnTo>
                <a:lnTo>
                  <a:pt x="2200454" y="816565"/>
                </a:lnTo>
                <a:lnTo>
                  <a:pt x="2192438" y="802822"/>
                </a:lnTo>
                <a:lnTo>
                  <a:pt x="2190720" y="800531"/>
                </a:lnTo>
                <a:lnTo>
                  <a:pt x="2182704" y="787361"/>
                </a:lnTo>
                <a:lnTo>
                  <a:pt x="2180986" y="784498"/>
                </a:lnTo>
                <a:lnTo>
                  <a:pt x="2172397" y="771900"/>
                </a:lnTo>
                <a:lnTo>
                  <a:pt x="2170680" y="769037"/>
                </a:lnTo>
                <a:lnTo>
                  <a:pt x="2162091" y="757012"/>
                </a:lnTo>
                <a:lnTo>
                  <a:pt x="2159800" y="754148"/>
                </a:lnTo>
                <a:lnTo>
                  <a:pt x="2151784" y="742696"/>
                </a:lnTo>
                <a:lnTo>
                  <a:pt x="2148921" y="739260"/>
                </a:lnTo>
                <a:lnTo>
                  <a:pt x="2140332" y="727808"/>
                </a:lnTo>
                <a:lnTo>
                  <a:pt x="2138042" y="724372"/>
                </a:lnTo>
                <a:lnTo>
                  <a:pt x="2129453" y="714065"/>
                </a:lnTo>
                <a:lnTo>
                  <a:pt x="2126018" y="710056"/>
                </a:lnTo>
                <a:lnTo>
                  <a:pt x="2117429" y="699749"/>
                </a:lnTo>
                <a:lnTo>
                  <a:pt x="2113993" y="696313"/>
                </a:lnTo>
                <a:lnTo>
                  <a:pt x="2105405" y="686006"/>
                </a:lnTo>
                <a:lnTo>
                  <a:pt x="2101969" y="682570"/>
                </a:lnTo>
                <a:lnTo>
                  <a:pt x="2093380" y="672836"/>
                </a:lnTo>
                <a:lnTo>
                  <a:pt x="2089372" y="668827"/>
                </a:lnTo>
                <a:lnTo>
                  <a:pt x="2080211" y="659665"/>
                </a:lnTo>
                <a:lnTo>
                  <a:pt x="2076775" y="656229"/>
                </a:lnTo>
                <a:lnTo>
                  <a:pt x="2067614" y="647067"/>
                </a:lnTo>
                <a:lnTo>
                  <a:pt x="2063606" y="643632"/>
                </a:lnTo>
                <a:lnTo>
                  <a:pt x="2053872" y="634470"/>
                </a:lnTo>
                <a:lnTo>
                  <a:pt x="2050436" y="631034"/>
                </a:lnTo>
                <a:lnTo>
                  <a:pt x="2040702" y="622444"/>
                </a:lnTo>
                <a:lnTo>
                  <a:pt x="2036694" y="619009"/>
                </a:lnTo>
                <a:lnTo>
                  <a:pt x="2026388" y="610419"/>
                </a:lnTo>
                <a:lnTo>
                  <a:pt x="2022952" y="606984"/>
                </a:lnTo>
                <a:lnTo>
                  <a:pt x="2012073" y="598967"/>
                </a:lnTo>
                <a:lnTo>
                  <a:pt x="2008637" y="596104"/>
                </a:lnTo>
                <a:lnTo>
                  <a:pt x="1997758" y="587514"/>
                </a:lnTo>
                <a:lnTo>
                  <a:pt x="1994323" y="584651"/>
                </a:lnTo>
                <a:lnTo>
                  <a:pt x="1982871" y="576634"/>
                </a:lnTo>
                <a:lnTo>
                  <a:pt x="1979435" y="574344"/>
                </a:lnTo>
                <a:lnTo>
                  <a:pt x="1967411" y="565755"/>
                </a:lnTo>
                <a:lnTo>
                  <a:pt x="1964548" y="564037"/>
                </a:lnTo>
                <a:lnTo>
                  <a:pt x="1951951" y="555447"/>
                </a:lnTo>
                <a:lnTo>
                  <a:pt x="1949088" y="553729"/>
                </a:lnTo>
                <a:lnTo>
                  <a:pt x="1935919" y="545713"/>
                </a:lnTo>
                <a:lnTo>
                  <a:pt x="1933628" y="544567"/>
                </a:lnTo>
                <a:lnTo>
                  <a:pt x="1919314" y="535978"/>
                </a:lnTo>
                <a:lnTo>
                  <a:pt x="1918169" y="534833"/>
                </a:lnTo>
                <a:lnTo>
                  <a:pt x="1902709" y="526243"/>
                </a:lnTo>
                <a:lnTo>
                  <a:pt x="1902136" y="526243"/>
                </a:lnTo>
                <a:lnTo>
                  <a:pt x="1886104" y="517654"/>
                </a:lnTo>
                <a:cubicBezTo>
                  <a:pt x="1787046" y="467263"/>
                  <a:pt x="1675964" y="437486"/>
                  <a:pt x="1558011" y="434051"/>
                </a:cubicBezTo>
                <a:lnTo>
                  <a:pt x="1539116" y="434051"/>
                </a:lnTo>
                <a:lnTo>
                  <a:pt x="1537398" y="434051"/>
                </a:lnTo>
                <a:lnTo>
                  <a:pt x="1525373" y="434051"/>
                </a:lnTo>
                <a:lnTo>
                  <a:pt x="1516212" y="434623"/>
                </a:lnTo>
                <a:cubicBezTo>
                  <a:pt x="1509914" y="434623"/>
                  <a:pt x="1503615" y="435196"/>
                  <a:pt x="1496744" y="435196"/>
                </a:cubicBezTo>
                <a:lnTo>
                  <a:pt x="1492163" y="435196"/>
                </a:lnTo>
                <a:lnTo>
                  <a:pt x="1479566" y="436341"/>
                </a:lnTo>
                <a:lnTo>
                  <a:pt x="1478421" y="436341"/>
                </a:lnTo>
                <a:lnTo>
                  <a:pt x="613242" y="436341"/>
                </a:lnTo>
                <a:lnTo>
                  <a:pt x="613814" y="435768"/>
                </a:lnTo>
                <a:lnTo>
                  <a:pt x="186664" y="435768"/>
                </a:lnTo>
                <a:lnTo>
                  <a:pt x="186664" y="434051"/>
                </a:lnTo>
                <a:lnTo>
                  <a:pt x="186091" y="434051"/>
                </a:lnTo>
                <a:cubicBezTo>
                  <a:pt x="185519" y="433478"/>
                  <a:pt x="184946" y="432905"/>
                  <a:pt x="184373" y="432333"/>
                </a:cubicBezTo>
                <a:lnTo>
                  <a:pt x="4581" y="232486"/>
                </a:lnTo>
                <a:cubicBezTo>
                  <a:pt x="2863" y="230768"/>
                  <a:pt x="1718" y="228478"/>
                  <a:pt x="1145" y="226187"/>
                </a:cubicBezTo>
                <a:cubicBezTo>
                  <a:pt x="-1145" y="218171"/>
                  <a:pt x="0" y="207291"/>
                  <a:pt x="4581" y="202710"/>
                </a:cubicBezTo>
                <a:close/>
              </a:path>
            </a:pathLst>
          </a:custGeom>
          <a:gradFill>
            <a:gsLst>
              <a:gs pos="0">
                <a:srgbClr val="376FFF">
                  <a:lumMod val="90000"/>
                </a:srgbClr>
              </a:gs>
              <a:gs pos="100000">
                <a:srgbClr val="376FFF">
                  <a:lumMod val="80000"/>
                  <a:lumOff val="20000"/>
                </a:srgbClr>
              </a:gs>
            </a:gsLst>
            <a:lin ang="13920000" scaled="0"/>
          </a:gradFill>
          <a:ln w="22225"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a:buClrTx/>
              <a:buSzTx/>
              <a:buFontTx/>
            </a:pP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矩形 13"/>
          <p:cNvSpPr/>
          <p:nvPr>
            <p:custDataLst>
              <p:tags r:id="rId4"/>
            </p:custDataLst>
          </p:nvPr>
        </p:nvSpPr>
        <p:spPr>
          <a:xfrm>
            <a:off x="5434330" y="3893185"/>
            <a:ext cx="1043940" cy="1143635"/>
          </a:xfrm>
          <a:prstGeom prst="rect">
            <a:avLst/>
          </a:prstGeom>
          <a:noFill/>
        </p:spPr>
        <p:txBody>
          <a:bodyPr wrap="square" tIns="323850" bIns="432000" rtlCol="0" anchor="b" anchorCtr="0">
            <a:noAutofit/>
          </a:bodyPr>
          <a:p>
            <a:pPr algn="ctr">
              <a:spcBef>
                <a:spcPct val="0"/>
              </a:spcBef>
              <a:spcAft>
                <a:spcPct val="0"/>
              </a:spcAft>
            </a:pPr>
            <a:r>
              <a:rPr lang="zh-CN" altLang="en-US" sz="2000" b="1" dirty="0">
                <a:solidFill>
                  <a:srgbClr val="000000">
                    <a:lumMod val="100000"/>
                  </a:srgbClr>
                </a:solidFill>
                <a:latin typeface="微软雅黑" panose="020B0503020204020204" pitchFamily="34" charset="-122"/>
                <a:ea typeface="微软雅黑" panose="020B0503020204020204" pitchFamily="34" charset="-122"/>
                <a:cs typeface="微软雅黑" panose="020B0503020204020204" pitchFamily="34" charset="-122"/>
              </a:rPr>
              <a:t>专题七</a:t>
            </a:r>
            <a:endParaRPr lang="zh-CN" altLang="en-US" sz="2000" b="1" dirty="0">
              <a:solidFill>
                <a:srgbClr val="000000">
                  <a:lumMod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矩形 14"/>
          <p:cNvSpPr/>
          <p:nvPr>
            <p:custDataLst>
              <p:tags r:id="rId5"/>
            </p:custDataLst>
          </p:nvPr>
        </p:nvSpPr>
        <p:spPr>
          <a:xfrm>
            <a:off x="490220" y="4655185"/>
            <a:ext cx="4001770" cy="464185"/>
          </a:xfrm>
          <a:prstGeom prst="rect">
            <a:avLst/>
          </a:prstGeom>
          <a:noFill/>
        </p:spPr>
        <p:txBody>
          <a:bodyPr wrap="square" lIns="0" tIns="0" rIns="0" bIns="0" rtlCol="0" anchor="b">
            <a:noAutofit/>
          </a:bodyPr>
          <a:p>
            <a:pPr algn="r">
              <a:spcBef>
                <a:spcPct val="0"/>
              </a:spcBef>
              <a:spcAft>
                <a:spcPct val="0"/>
              </a:spcAft>
            </a:pPr>
            <a:r>
              <a:rPr lang="zh-CN" altLang="en-US" sz="2000" b="1" dirty="0">
                <a:solidFill>
                  <a:srgbClr val="FF7429"/>
                </a:solidFill>
                <a:latin typeface="微软雅黑" panose="020B0503020204020204" pitchFamily="34" charset="-122"/>
                <a:ea typeface="微软雅黑" panose="020B0503020204020204" pitchFamily="34" charset="-122"/>
                <a:cs typeface="微软雅黑" panose="020B0503020204020204" pitchFamily="34" charset="-122"/>
              </a:rPr>
              <a:t>缝网建造与监测（专题二、六）</a:t>
            </a:r>
            <a:endParaRPr lang="zh-CN" altLang="en-US" sz="2000" b="1" dirty="0">
              <a:solidFill>
                <a:srgbClr val="FF742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矩形 15"/>
          <p:cNvSpPr/>
          <p:nvPr>
            <p:custDataLst>
              <p:tags r:id="rId6"/>
            </p:custDataLst>
          </p:nvPr>
        </p:nvSpPr>
        <p:spPr>
          <a:xfrm>
            <a:off x="278130" y="5182870"/>
            <a:ext cx="4213860" cy="653415"/>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裂缝行为与压力响应对应关系及综合评估结果，提供交叉验证与诊断支撑</a:t>
            </a:r>
            <a:endPar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矩形 16"/>
          <p:cNvSpPr/>
          <p:nvPr>
            <p:custDataLst>
              <p:tags r:id="rId7"/>
            </p:custDataLst>
          </p:nvPr>
        </p:nvSpPr>
        <p:spPr>
          <a:xfrm>
            <a:off x="7334885" y="4655185"/>
            <a:ext cx="4113530" cy="464185"/>
          </a:xfrm>
          <a:prstGeom prst="rect">
            <a:avLst/>
          </a:prstGeom>
          <a:noFill/>
        </p:spPr>
        <p:txBody>
          <a:bodyPr wrap="square" lIns="0" tIns="0" rIns="0" bIns="0" rtlCol="0" anchor="b">
            <a:noAutofit/>
          </a:bodyPr>
          <a:p>
            <a:pPr>
              <a:spcBef>
                <a:spcPct val="0"/>
              </a:spcBef>
              <a:spcAft>
                <a:spcPct val="0"/>
              </a:spcAft>
            </a:pPr>
            <a:r>
              <a:rPr lang="zh-CN" altLang="en-US" sz="20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rPr>
              <a:t>工艺与材料优化（专题一、三、四）</a:t>
            </a:r>
            <a:endParaRPr lang="zh-CN" altLang="en-US" sz="20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矩形 17"/>
          <p:cNvSpPr/>
          <p:nvPr>
            <p:custDataLst>
              <p:tags r:id="rId8"/>
            </p:custDataLst>
          </p:nvPr>
        </p:nvSpPr>
        <p:spPr>
          <a:xfrm>
            <a:off x="7334885" y="5182870"/>
            <a:ext cx="4542155" cy="653415"/>
          </a:xfrm>
          <a:prstGeom prst="rect">
            <a:avLst/>
          </a:prstGeom>
          <a:noFill/>
        </p:spPr>
        <p:txBody>
          <a:bodyPr wrap="square" lIns="0" tIns="0" rIns="0" bIns="0" rtlCol="0" anchor="t" anchorCtr="0">
            <a:noAutofit/>
          </a:bodyPr>
          <a:p>
            <a:pPr>
              <a:lnSpc>
                <a:spcPct val="130000"/>
              </a:lnSpc>
              <a:spcBef>
                <a:spcPct val="0"/>
              </a:spcBef>
              <a:spcAft>
                <a:spcPct val="0"/>
              </a:spcAft>
            </a:pPr>
            <a:r>
              <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综合评估方法提供改造效果定量反馈，支撑工艺和材料的迭代优化</a:t>
            </a:r>
            <a:endParaRPr lang="zh-CN" altLang="en-US" b="1">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矩形 18"/>
          <p:cNvSpPr/>
          <p:nvPr>
            <p:custDataLst>
              <p:tags r:id="rId9"/>
            </p:custDataLst>
          </p:nvPr>
        </p:nvSpPr>
        <p:spPr>
          <a:xfrm>
            <a:off x="3004185" y="2510790"/>
            <a:ext cx="2441575" cy="464185"/>
          </a:xfrm>
          <a:prstGeom prst="rect">
            <a:avLst/>
          </a:prstGeom>
          <a:noFill/>
        </p:spPr>
        <p:txBody>
          <a:bodyPr wrap="square" lIns="0" tIns="0" rIns="0" bIns="0" rtlCol="0" anchor="b">
            <a:noAutofit/>
          </a:bodyPr>
          <a:p>
            <a:pPr algn="r">
              <a:spcBef>
                <a:spcPct val="0"/>
              </a:spcBef>
              <a:spcAft>
                <a:spcPct val="0"/>
              </a:spcAft>
            </a:pPr>
            <a:r>
              <a:rPr lang="zh-CN" altLang="en-US" sz="2000"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rPr>
              <a:t>实时调控（专题五）</a:t>
            </a:r>
            <a:endParaRPr lang="zh-CN" altLang="en-US" sz="2000" b="1" dirty="0">
              <a:solidFill>
                <a:srgbClr val="376F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矩形 19"/>
          <p:cNvSpPr/>
          <p:nvPr>
            <p:custDataLst>
              <p:tags r:id="rId10"/>
            </p:custDataLst>
          </p:nvPr>
        </p:nvSpPr>
        <p:spPr>
          <a:xfrm>
            <a:off x="1270635" y="3039110"/>
            <a:ext cx="4175125" cy="1043305"/>
          </a:xfrm>
          <a:prstGeom prst="rect">
            <a:avLst/>
          </a:prstGeom>
          <a:noFill/>
        </p:spPr>
        <p:txBody>
          <a:bodyPr wrap="square" lIns="0" tIns="0" rIns="0" bIns="0" rtlCol="0" anchor="t" anchorCtr="0">
            <a:noAutofit/>
          </a:bodyPr>
          <a:p>
            <a:pPr algn="r">
              <a:lnSpc>
                <a:spcPct val="130000"/>
              </a:lnSpc>
              <a:spcBef>
                <a:spcPct val="0"/>
              </a:spcBef>
              <a:spcAft>
                <a:spcPct val="0"/>
              </a:spcAft>
            </a:pP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施工期小波分析提供压裂效果实时反馈，服务于</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预测</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优化</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调控</a:t>
            </a:r>
            <a:r>
              <a:rPr lang="en-US" altLang="zh-CN"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闭环决策</a:t>
            </a:r>
            <a:endParaRPr lang="zh-CN" altLang="en-US"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序号"/>
          <p:cNvSpPr/>
          <p:nvPr>
            <p:custDataLst>
              <p:tags r:id="rId11"/>
            </p:custDataLst>
          </p:nvPr>
        </p:nvSpPr>
        <p:spPr>
          <a:xfrm>
            <a:off x="6688867" y="5002816"/>
            <a:ext cx="312980" cy="312980"/>
          </a:xfrm>
          <a:prstGeom prst="rect">
            <a:avLst/>
          </a:prstGeom>
          <a:noFill/>
          <a:ln w="34925" cap="flat" cmpd="sng" algn="ctr">
            <a:noFill/>
            <a:prstDash val="solid"/>
            <a:miter lim="800000"/>
          </a:ln>
          <a:effectLst/>
        </p:spPr>
        <p:txBody>
          <a:bodyPr vertOverflow="overflow" horzOverflow="overflow" vert="horz" wrap="none" lIns="91440" tIns="64770" rIns="91440" bIns="45720" numCol="1" spcCol="0" rtlCol="0" fromWordArt="0" anchor="ctr" anchorCtr="0" forceAA="0" compatLnSpc="1">
            <a:noAutofit/>
          </a:bodyPr>
          <a:p>
            <a:pPr lvl="0" algn="ctr">
              <a:spcBef>
                <a:spcPct val="0"/>
              </a:spcBef>
              <a:spcAft>
                <a:spcPct val="0"/>
              </a:spcAft>
              <a:buClrTx/>
              <a:buSzTx/>
              <a:buFontTx/>
            </a:pPr>
            <a:r>
              <a:rPr lang="en-US" altLang="zh-CN" sz="1400" b="1" dirty="0">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03</a:t>
            </a:r>
            <a:endParaRPr lang="en-US" altLang="zh-CN" sz="1400" b="1" dirty="0">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2" name="序号"/>
          <p:cNvSpPr/>
          <p:nvPr>
            <p:custDataLst>
              <p:tags r:id="rId12"/>
            </p:custDataLst>
          </p:nvPr>
        </p:nvSpPr>
        <p:spPr>
          <a:xfrm>
            <a:off x="5964898" y="3162845"/>
            <a:ext cx="312980" cy="312980"/>
          </a:xfrm>
          <a:prstGeom prst="rect">
            <a:avLst/>
          </a:prstGeom>
          <a:noFill/>
          <a:ln w="34925" cap="flat" cmpd="sng" algn="ctr">
            <a:noFill/>
            <a:prstDash val="solid"/>
            <a:miter lim="800000"/>
          </a:ln>
          <a:effectLst/>
        </p:spPr>
        <p:txBody>
          <a:bodyPr vertOverflow="overflow" horzOverflow="overflow" vert="horz" wrap="none" lIns="91440" tIns="64770" rIns="91440" bIns="45720" numCol="1" spcCol="0" rtlCol="0" fromWordArt="0" anchor="ctr" anchorCtr="0" forceAA="0" compatLnSpc="1">
            <a:noAutofit/>
          </a:bodyPr>
          <a:p>
            <a:pPr lvl="0" algn="ctr">
              <a:spcBef>
                <a:spcPct val="0"/>
              </a:spcBef>
              <a:spcAft>
                <a:spcPct val="0"/>
              </a:spcAft>
              <a:buClrTx/>
              <a:buSzTx/>
              <a:buFontTx/>
            </a:pPr>
            <a:r>
              <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01</a:t>
            </a:r>
            <a:endPar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3" name="序号"/>
          <p:cNvSpPr/>
          <p:nvPr>
            <p:custDataLst>
              <p:tags r:id="rId13"/>
            </p:custDataLst>
          </p:nvPr>
        </p:nvSpPr>
        <p:spPr>
          <a:xfrm>
            <a:off x="4723148" y="4723122"/>
            <a:ext cx="312980" cy="312980"/>
          </a:xfrm>
          <a:prstGeom prst="rect">
            <a:avLst/>
          </a:prstGeom>
          <a:noFill/>
          <a:ln w="34925" cap="flat" cmpd="sng" algn="ctr">
            <a:noFill/>
            <a:prstDash val="solid"/>
            <a:miter lim="800000"/>
          </a:ln>
          <a:effectLst/>
        </p:spPr>
        <p:txBody>
          <a:bodyPr vertOverflow="overflow" horzOverflow="overflow" vert="horz" wrap="none" lIns="91440" tIns="64770" rIns="91440" bIns="45720" numCol="1" spcCol="0" rtlCol="0" fromWordArt="0" anchor="ctr" anchorCtr="0" forceAA="0" compatLnSpc="1">
            <a:noAutofit/>
          </a:bodyPr>
          <a:p>
            <a:pPr lvl="0" algn="ctr">
              <a:spcBef>
                <a:spcPct val="0"/>
              </a:spcBef>
              <a:spcAft>
                <a:spcPct val="0"/>
              </a:spcAft>
              <a:buClrTx/>
              <a:buSzTx/>
              <a:buFontTx/>
            </a:pPr>
            <a:r>
              <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02</a:t>
            </a:r>
            <a:endParaRPr lang="en-US" altLang="zh-CN" sz="1400" b="1">
              <a:solidFill>
                <a:srgbClr val="FFFFFF">
                  <a:lumMod val="10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25" name="燕尾形箭头 24"/>
          <p:cNvSpPr/>
          <p:nvPr/>
        </p:nvSpPr>
        <p:spPr>
          <a:xfrm rot="19800000">
            <a:off x="6854825" y="3260090"/>
            <a:ext cx="1078865" cy="732155"/>
          </a:xfrm>
          <a:prstGeom prst="notched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00" b="1" dirty="0" smtClean="0">
              <a:solidFill>
                <a:srgbClr val="C00000"/>
              </a:solidFill>
            </a:endParaRPr>
          </a:p>
        </p:txBody>
      </p:sp>
      <p:sp>
        <p:nvSpPr>
          <p:cNvPr id="26" name="文本框 25"/>
          <p:cNvSpPr txBox="1"/>
          <p:nvPr/>
        </p:nvSpPr>
        <p:spPr>
          <a:xfrm>
            <a:off x="8044180" y="2633345"/>
            <a:ext cx="3404235" cy="1172210"/>
          </a:xfrm>
          <a:prstGeom prst="rect">
            <a:avLst/>
          </a:prstGeom>
          <a:noFill/>
        </p:spPr>
        <p:txBody>
          <a:bodyPr wrap="square" rtlCol="0">
            <a:noAutofit/>
          </a:bodyPr>
          <a:p>
            <a:pPr>
              <a:lnSpc>
                <a:spcPct val="150000"/>
              </a:lnSpc>
            </a:pPr>
            <a:r>
              <a:rPr lang="zh-CN" altLang="en-US" sz="2000" b="1">
                <a:solidFill>
                  <a:srgbClr val="C00000"/>
                </a:solidFill>
                <a:latin typeface="微软雅黑" panose="020B0503020204020204" pitchFamily="34" charset="-122"/>
                <a:ea typeface="微软雅黑" panose="020B0503020204020204" pitchFamily="34" charset="-122"/>
              </a:rPr>
              <a:t>支撑课题五总体研究方向</a:t>
            </a:r>
            <a:endParaRPr lang="zh-CN" altLang="en-US" sz="2000" b="1">
              <a:solidFill>
                <a:srgbClr val="C00000"/>
              </a:solidFill>
              <a:latin typeface="微软雅黑" panose="020B0503020204020204" pitchFamily="34" charset="-122"/>
              <a:ea typeface="微软雅黑" panose="020B0503020204020204" pitchFamily="34" charset="-122"/>
            </a:endParaRPr>
          </a:p>
          <a:p>
            <a:pPr>
              <a:lnSpc>
                <a:spcPct val="150000"/>
              </a:lnSpc>
            </a:pPr>
            <a:r>
              <a:rPr lang="zh-CN" altLang="en-US" sz="2000" b="1">
                <a:solidFill>
                  <a:srgbClr val="C00000"/>
                </a:solidFill>
                <a:latin typeface="微软雅黑" panose="020B0503020204020204" pitchFamily="34" charset="-122"/>
                <a:ea typeface="微软雅黑" panose="020B0503020204020204" pitchFamily="34" charset="-122"/>
              </a:rPr>
              <a:t>服务课题五总体目标实现</a:t>
            </a:r>
            <a:endParaRPr lang="zh-CN" altLang="en-US" sz="2000" b="1">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一、研究背景与关键问题</a:t>
            </a:r>
            <a:endParaRPr lang="en-US" altLang="zh-CN" sz="3600" b="1" dirty="0">
              <a:solidFill>
                <a:srgbClr val="C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四、项目组织与经费预算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五</a:t>
            </a:r>
            <a:r>
              <a:rPr lang="zh-CN" altLang="en-US" sz="3600" b="1" dirty="0" smtClean="0">
                <a:solidFill>
                  <a:srgbClr val="000000"/>
                </a:solidFill>
                <a:latin typeface="微软雅黑" panose="020B0503020204020204" pitchFamily="34" charset="-122"/>
                <a:ea typeface="微软雅黑" panose="020B0503020204020204" pitchFamily="34" charset="-122"/>
              </a:rPr>
              <a:t>、阶段进展与下步安排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294967295"/>
          </p:nvPr>
        </p:nvSpPr>
        <p:spPr>
          <a:xfrm>
            <a:off x="9245600" y="6237288"/>
            <a:ext cx="2946400" cy="49847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54D195-E97D-41CD-913C-FD45DF5A5311}" type="slidenum">
              <a:rPr kumimoji="0" lang="zh-CN" altLang="en-US" sz="1400" b="0" i="0" u="none" strike="noStrike" kern="1200" cap="none" spc="0" normalizeH="0" baseline="0" noProof="0" smtClean="0">
                <a:ln>
                  <a:noFill/>
                </a:ln>
                <a:solidFill>
                  <a:prstClr val="white">
                    <a:lumMod val="50000"/>
                  </a:prstClr>
                </a:solidFill>
                <a:effectLst/>
                <a:uLnTx/>
                <a:uFillTx/>
                <a:latin typeface="Calibri" panose="020F0502020204030204"/>
                <a:ea typeface="宋体" panose="02010600030101010101" pitchFamily="2" charset="-122"/>
                <a:cs typeface="+mn-cs"/>
              </a:rPr>
            </a:fld>
            <a:endParaRPr kumimoji="0" lang="zh-CN" altLang="en-US" sz="1400" b="0" i="0" u="none" strike="noStrike" kern="1200" cap="none" spc="0" normalizeH="0" baseline="0" noProof="0" dirty="0">
              <a:ln>
                <a:noFill/>
              </a:ln>
              <a:solidFill>
                <a:prstClr val="white">
                  <a:lumMod val="50000"/>
                </a:prstClr>
              </a:solidFill>
              <a:effectLst/>
              <a:uLnTx/>
              <a:uFillTx/>
              <a:latin typeface="Calibri" panose="020F0502020204030204"/>
              <a:ea typeface="宋体" panose="02010600030101010101" pitchFamily="2" charset="-122"/>
              <a:cs typeface="+mn-cs"/>
            </a:endParaRPr>
          </a:p>
        </p:txBody>
      </p:sp>
      <p:sp>
        <p:nvSpPr>
          <p:cNvPr id="4" name="文本框 1"/>
          <p:cNvSpPr txBox="1">
            <a:spLocks noChangeArrowheads="1"/>
          </p:cNvSpPr>
          <p:nvPr/>
        </p:nvSpPr>
        <p:spPr bwMode="auto">
          <a:xfrm>
            <a:off x="771525" y="188640"/>
            <a:ext cx="10989310" cy="583565"/>
          </a:xfrm>
          <a:prstGeom prst="rect">
            <a:avLst/>
          </a:prstGeom>
          <a:noFill/>
        </p:spPr>
        <p:txBody>
          <a:bodyPr wrap="square" rtlCol="0">
            <a:spAutoFit/>
          </a:bodyPr>
          <a:lstStyle/>
          <a:p>
            <a:pPr lvl="0" algn="ctr">
              <a:spcBef>
                <a:spcPts val="0"/>
              </a:spcBef>
              <a:spcAft>
                <a:spcPts val="0"/>
              </a:spcAft>
              <a:buClrTx/>
              <a:buSzTx/>
              <a:buFontTx/>
              <a:defRPr/>
            </a:pPr>
            <a:r>
              <a:rPr lang="zh-CN" altLang="en-US" sz="3200" b="1" dirty="0" smtClean="0">
                <a:solidFill>
                  <a:srgbClr val="C00000"/>
                </a:solidFill>
                <a:latin typeface="微软雅黑" panose="020B0503020204020204" pitchFamily="34" charset="-122"/>
                <a:ea typeface="微软雅黑" panose="020B0503020204020204" pitchFamily="34" charset="-122"/>
                <a:sym typeface="+mn-ea"/>
              </a:rPr>
              <a:t>（一）经费</a:t>
            </a:r>
            <a:r>
              <a:rPr lang="zh-CN" altLang="en-US" sz="3200" b="1" dirty="0">
                <a:solidFill>
                  <a:srgbClr val="C00000"/>
                </a:solidFill>
                <a:latin typeface="微软雅黑" panose="020B0503020204020204" pitchFamily="34" charset="-122"/>
                <a:ea typeface="微软雅黑" panose="020B0503020204020204" pitchFamily="34" charset="-122"/>
                <a:sym typeface="+mn-ea"/>
              </a:rPr>
              <a:t>预算</a:t>
            </a:r>
            <a:endParaRPr lang="zh-CN" altLang="en-US" sz="3200" b="1" dirty="0">
              <a:solidFill>
                <a:srgbClr val="C00000"/>
              </a:solidFill>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489567" y="1033571"/>
            <a:ext cx="11388053" cy="922020"/>
          </a:xfrm>
          <a:prstGeom prst="rect">
            <a:avLst/>
          </a:prstGeom>
        </p:spPr>
        <p:txBody>
          <a:bodyPr wrap="square">
            <a:spAutoFit/>
          </a:bodyPr>
          <a:lstStyle/>
          <a:p>
            <a:pPr marL="457200" marR="0" lvl="0" indent="-457200" algn="just" defTabSz="914400" rtl="0" eaLnBrk="1" fontAlgn="auto" latinLnBrk="0" hangingPunct="1">
              <a:lnSpc>
                <a:spcPct val="150000"/>
              </a:lnSpc>
              <a:spcBef>
                <a:spcPts val="2400"/>
              </a:spcBef>
              <a:spcAft>
                <a:spcPts val="0"/>
              </a:spcAft>
              <a:buClr>
                <a:srgbClr val="C00000"/>
              </a:buClr>
              <a:buSzPct val="100000"/>
              <a:buFont typeface="Wingdings" panose="05000000000000000000" pitchFamily="2" charset="2"/>
              <a:buChar char="l"/>
              <a:defRPr/>
            </a:pP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企业自筹资金共计</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100</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，其中直接费用</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73</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，间接费用</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27</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2025</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年度预算</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10</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，已决算</a:t>
            </a:r>
            <a:r>
              <a:rPr lang="en-US" altLang="zh-CN"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9.99</a:t>
            </a:r>
            <a:r>
              <a:rPr lang="zh-CN" altLang="en-US" b="1" noProof="0" dirty="0">
                <a:ln>
                  <a:noFill/>
                </a:ln>
                <a:solidFill>
                  <a:srgbClr val="FF0000"/>
                </a:solidFill>
                <a:effectLst/>
                <a:uLnTx/>
                <a:uFillTx/>
                <a:latin typeface="微软雅黑" panose="020B0503020204020204" pitchFamily="34" charset="-122"/>
                <a:ea typeface="微软雅黑" panose="020B0503020204020204" pitchFamily="34" charset="-122"/>
                <a:sym typeface="+mn-ea"/>
              </a:rPr>
              <a:t>万元</a:t>
            </a:r>
            <a:r>
              <a:rPr lang="zh-CN" altLang="en-US"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，经费执行率</a:t>
            </a:r>
            <a:r>
              <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sym typeface="+mn-ea"/>
              </a:rPr>
              <a:t>99%</a:t>
            </a:r>
            <a:endParaRPr lang="en-US" altLang="zh-CN" b="1" noProof="0" dirty="0">
              <a:ln>
                <a:noFill/>
              </a:ln>
              <a:solidFill>
                <a:prstClr val="black"/>
              </a:solidFill>
              <a:effectLst/>
              <a:uLnTx/>
              <a:uFillTx/>
              <a:latin typeface="微软雅黑" panose="020B0503020204020204" pitchFamily="34" charset="-122"/>
              <a:ea typeface="微软雅黑" panose="020B0503020204020204" pitchFamily="34" charset="-122"/>
              <a:sym typeface="+mn-ea"/>
            </a:endParaRPr>
          </a:p>
        </p:txBody>
      </p:sp>
      <p:graphicFrame>
        <p:nvGraphicFramePr>
          <p:cNvPr id="6" name="表格 5"/>
          <p:cNvGraphicFramePr>
            <a:graphicFrameLocks noGrp="1"/>
          </p:cNvGraphicFramePr>
          <p:nvPr>
            <p:custDataLst>
              <p:tags r:id="rId1"/>
            </p:custDataLst>
          </p:nvPr>
        </p:nvGraphicFramePr>
        <p:xfrm>
          <a:off x="347980" y="2287905"/>
          <a:ext cx="11529695" cy="3895725"/>
        </p:xfrm>
        <a:graphic>
          <a:graphicData uri="http://schemas.openxmlformats.org/drawingml/2006/table">
            <a:tbl>
              <a:tblPr>
                <a:tableStyleId>{5940675A-B579-460E-94D1-54222C63F5DA}</a:tableStyleId>
              </a:tblPr>
              <a:tblGrid>
                <a:gridCol w="2058035"/>
                <a:gridCol w="1216660"/>
                <a:gridCol w="1356995"/>
                <a:gridCol w="1565910"/>
                <a:gridCol w="1433195"/>
                <a:gridCol w="1418590"/>
                <a:gridCol w="1240155"/>
                <a:gridCol w="1240155"/>
              </a:tblGrid>
              <a:tr h="662305">
                <a:tc>
                  <a:txBody>
                    <a:bodyPr/>
                    <a:lstStyle/>
                    <a:p>
                      <a:pPr marL="0" algn="ctr" defTabSz="914400" rtl="0" eaLnBrk="1" fontAlgn="ctr" latinLnBrk="0" hangingPunct="1"/>
                      <a:r>
                        <a:rPr lang="zh-CN" altLang="en-US" sz="1200" b="1" kern="1200" dirty="0">
                          <a:solidFill>
                            <a:schemeClr val="tx1"/>
                          </a:solidFill>
                          <a:latin typeface="微软雅黑" panose="020B0503020204020204" pitchFamily="34" charset="-122"/>
                          <a:ea typeface="微软雅黑" panose="020B0503020204020204" pitchFamily="34" charset="-122"/>
                        </a:rPr>
                        <a:t>预算科目名称</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0" hangingPunct="1"/>
                      <a:r>
                        <a:rPr lang="zh-CN" altLang="en-US" sz="1200" b="1" kern="1200" dirty="0">
                          <a:solidFill>
                            <a:schemeClr val="tx1"/>
                          </a:solidFill>
                          <a:latin typeface="微软雅黑" panose="020B0503020204020204" pitchFamily="34" charset="-122"/>
                          <a:ea typeface="微软雅黑" panose="020B0503020204020204" pitchFamily="34" charset="-122"/>
                        </a:rPr>
                        <a:t>项目</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2025</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smtClean="0">
                          <a:solidFill>
                            <a:schemeClr val="tx1"/>
                          </a:solidFill>
                          <a:latin typeface="微软雅黑" panose="020B0503020204020204" pitchFamily="34" charset="-122"/>
                          <a:ea typeface="微软雅黑" panose="020B0503020204020204" pitchFamily="34" charset="-122"/>
                          <a:cs typeface="+mn-cs"/>
                        </a:rPr>
                        <a:t>（</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ctr" defTabSz="914400" rtl="0" eaLnBrk="1" fontAlgn="ctr" latinLnBrk="0" hangingPunct="1"/>
                      <a:r>
                        <a:rPr lang="en-US" altLang="zh-CN" sz="1200" b="1" kern="1200" dirty="0">
                          <a:solidFill>
                            <a:schemeClr val="tx1"/>
                          </a:solidFill>
                          <a:latin typeface="微软雅黑" panose="020B0503020204020204" pitchFamily="34" charset="-122"/>
                          <a:ea typeface="微软雅黑" panose="020B0503020204020204" pitchFamily="34" charset="-122"/>
                          <a:cs typeface="+mn-cs"/>
                        </a:rPr>
                        <a:t>2026</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dirty="0" smtClean="0">
                          <a:solidFill>
                            <a:schemeClr val="tx1"/>
                          </a:solidFill>
                          <a:latin typeface="微软雅黑" panose="020B0503020204020204" pitchFamily="34" charset="-122"/>
                          <a:ea typeface="微软雅黑" panose="020B0503020204020204" pitchFamily="34" charset="-122"/>
                          <a:cs typeface="+mn-cs"/>
                        </a:rPr>
                        <a:t>（</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1" kern="1200">
                          <a:solidFill>
                            <a:schemeClr val="tx1"/>
                          </a:solidFill>
                          <a:latin typeface="微软雅黑" panose="020B0503020204020204" pitchFamily="34" charset="-122"/>
                          <a:ea typeface="微软雅黑" panose="020B0503020204020204" pitchFamily="34" charset="-122"/>
                          <a:cs typeface="+mn-cs"/>
                        </a:rPr>
                        <a:t>2027</a:t>
                      </a:r>
                      <a:r>
                        <a:rPr lang="zh-CN" altLang="en-US" sz="1200" b="1" kern="120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1" kern="1200" smtClean="0">
                          <a:solidFill>
                            <a:schemeClr val="tx1"/>
                          </a:solidFill>
                          <a:latin typeface="微软雅黑" panose="020B0503020204020204" pitchFamily="34" charset="-122"/>
                          <a:ea typeface="微软雅黑" panose="020B0503020204020204" pitchFamily="34" charset="-122"/>
                          <a:cs typeface="+mn-cs"/>
                        </a:rPr>
                        <a:t>2028</a:t>
                      </a:r>
                      <a:r>
                        <a:rPr lang="zh-CN" altLang="en-US" sz="1200" b="1" kern="1200" smtClean="0">
                          <a:solidFill>
                            <a:schemeClr val="tx1"/>
                          </a:solidFill>
                          <a:latin typeface="微软雅黑" panose="020B0503020204020204" pitchFamily="34" charset="-122"/>
                          <a:ea typeface="微软雅黑" panose="020B0503020204020204" pitchFamily="34" charset="-122"/>
                          <a:cs typeface="+mn-cs"/>
                        </a:rPr>
                        <a:t>年（</a:t>
                      </a:r>
                      <a:r>
                        <a:rPr lang="zh-CN" altLang="en-US" sz="1200" b="1" kern="1200" dirty="0">
                          <a:solidFill>
                            <a:schemeClr val="tx1"/>
                          </a:solidFill>
                          <a:latin typeface="微软雅黑" panose="020B0503020204020204" pitchFamily="34" charset="-122"/>
                          <a:ea typeface="微软雅黑" panose="020B0503020204020204" pitchFamily="34" charset="-122"/>
                          <a:cs typeface="+mn-cs"/>
                        </a:rPr>
                        <a:t>万元）</a:t>
                      </a:r>
                      <a:endParaRPr lang="zh-CN" altLang="en-US"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1" kern="1200" dirty="0">
                          <a:solidFill>
                            <a:schemeClr val="tx1"/>
                          </a:solidFill>
                          <a:latin typeface="微软雅黑" panose="020B0503020204020204" pitchFamily="34" charset="-122"/>
                          <a:ea typeface="微软雅黑" panose="020B0503020204020204" pitchFamily="34" charset="-122"/>
                          <a:cs typeface="+mn-cs"/>
                        </a:rPr>
                        <a:t>2029年（万元）</a:t>
                      </a:r>
                      <a:endParaRPr lang="en-US" altLang="zh-CN"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p>
                      <a:pPr marL="0" marR="0" lvl="0" algn="ctr" defTabSz="914400" rtl="0" eaLnBrk="1" fontAlgn="ctr" latinLnBrk="0" hangingPunct="1">
                        <a:lnSpc>
                          <a:spcPct val="100000"/>
                        </a:lnSpc>
                        <a:spcBef>
                          <a:spcPts val="0"/>
                        </a:spcBef>
                        <a:buClrTx/>
                        <a:buSzTx/>
                        <a:buFontTx/>
                        <a:buNone/>
                      </a:pPr>
                      <a:r>
                        <a:rPr lang="en-US" altLang="zh-CN" sz="1200" b="1" kern="1200" dirty="0">
                          <a:solidFill>
                            <a:schemeClr val="tx1"/>
                          </a:solidFill>
                          <a:latin typeface="微软雅黑" panose="020B0503020204020204" pitchFamily="34" charset="-122"/>
                          <a:ea typeface="微软雅黑" panose="020B0503020204020204" pitchFamily="34" charset="-122"/>
                          <a:cs typeface="+mn-cs"/>
                        </a:rPr>
                        <a:t>2030年（万元）</a:t>
                      </a:r>
                      <a:endParaRPr lang="en-US" altLang="zh-CN" sz="1200" b="1"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r>
              <a:tr h="462280">
                <a:tc>
                  <a:txBody>
                    <a:bodyPr/>
                    <a:lstStyle/>
                    <a:p>
                      <a:pPr marL="0" algn="l" defTabSz="914400" rtl="0" eaLnBrk="1" fontAlgn="ctr"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rPr>
                        <a:t>一、</a:t>
                      </a:r>
                      <a:r>
                        <a:rPr lang="zh-CN" altLang="en-US" sz="1200" b="0" kern="1200">
                          <a:solidFill>
                            <a:schemeClr val="tx1"/>
                          </a:solidFill>
                          <a:latin typeface="微软雅黑" panose="020B0503020204020204" pitchFamily="34" charset="-122"/>
                          <a:ea typeface="微软雅黑" panose="020B0503020204020204" pitchFamily="34" charset="-122"/>
                        </a:rPr>
                        <a:t>中央财政资金</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0</a:t>
                      </a:r>
                      <a:endParaRPr kumimoji="0" lang="en-US" altLang="zh-CN"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marL="0" marR="0" lvl="0" algn="ctr" defTabSz="914400" rtl="0" eaLnBrk="1" fontAlgn="ctr" latinLnBrk="0" hangingPunct="1">
                        <a:lnSpc>
                          <a:spcPct val="100000"/>
                        </a:lnSpc>
                        <a:spcBef>
                          <a:spcPts val="0"/>
                        </a:spcBef>
                        <a:buClrTx/>
                        <a:buSzTx/>
                        <a:buFontTx/>
                        <a:buNone/>
                      </a:pPr>
                      <a:r>
                        <a:rPr kumimoji="0" lang="en-US" sz="1200" b="0"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mn-cs"/>
                        </a:rPr>
                        <a:t>0</a:t>
                      </a:r>
                      <a:endParaRPr kumimoji="0" lang="en-US" sz="1200" b="0"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1645">
                <a:tc>
                  <a:txBody>
                    <a:bodyPr/>
                    <a:lstStyle/>
                    <a:p>
                      <a:pPr marL="0" algn="l" defTabSz="914400" rtl="0" eaLnBrk="1" fontAlgn="ctr"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rPr>
                        <a:t>二、企业自筹等其他来源资金</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rgbClr val="C00000"/>
                          </a:solidFill>
                          <a:latin typeface="微软雅黑" panose="020B0503020204020204" pitchFamily="34" charset="-122"/>
                          <a:ea typeface="微软雅黑" panose="020B0503020204020204" pitchFamily="34" charset="-122"/>
                          <a:cs typeface="+mn-cs"/>
                        </a:rPr>
                        <a:t>100</a:t>
                      </a:r>
                      <a:endParaRPr lang="en-US" altLang="zh-CN" sz="1200" b="0" kern="1200" dirty="0">
                        <a:solidFill>
                          <a:srgbClr val="C00000"/>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21</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20</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15</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r>
                        <a:rPr lang="en-US" sz="1200" b="0" kern="1200" dirty="0">
                          <a:solidFill>
                            <a:schemeClr val="tx1"/>
                          </a:solidFill>
                          <a:latin typeface="微软雅黑" panose="020B0503020204020204" pitchFamily="34" charset="-122"/>
                          <a:ea typeface="微软雅黑" panose="020B0503020204020204" pitchFamily="34" charset="-122"/>
                          <a:cs typeface="+mn-cs"/>
                        </a:rPr>
                        <a:t>12</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1645">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（一）直接费用</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73</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3.9</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16.6</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18.2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16.3</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sz="1200" b="0" kern="1200" dirty="0">
                          <a:solidFill>
                            <a:schemeClr val="tx1"/>
                          </a:solidFill>
                          <a:latin typeface="微软雅黑" panose="020B0503020204020204" pitchFamily="34" charset="-122"/>
                          <a:ea typeface="微软雅黑" panose="020B0503020204020204" pitchFamily="34" charset="-122"/>
                          <a:cs typeface="+mn-cs"/>
                        </a:rPr>
                        <a:t>11</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7</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2280">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a:t>
                      </a:r>
                      <a:r>
                        <a:rPr lang="en-US" altLang="zh-CN" sz="1200" b="0" kern="1200">
                          <a:solidFill>
                            <a:schemeClr val="tx1"/>
                          </a:solidFill>
                          <a:latin typeface="微软雅黑" panose="020B0503020204020204" pitchFamily="34" charset="-122"/>
                          <a:ea typeface="微软雅黑" panose="020B0503020204020204" pitchFamily="34" charset="-122"/>
                          <a:cs typeface="+mn-cs"/>
                        </a:rPr>
                        <a:t>1</a:t>
                      </a:r>
                      <a:r>
                        <a:rPr lang="zh-CN" altLang="en-US" sz="1200" b="0" kern="1200">
                          <a:solidFill>
                            <a:schemeClr val="tx1"/>
                          </a:solidFill>
                          <a:latin typeface="微软雅黑" panose="020B0503020204020204" pitchFamily="34" charset="-122"/>
                          <a:ea typeface="微软雅黑" panose="020B0503020204020204" pitchFamily="34" charset="-122"/>
                          <a:cs typeface="+mn-cs"/>
                        </a:rPr>
                        <a:t>）业务费</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63.4</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3.3</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14.8</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16.4</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14.5</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9.2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algn="ctr" fontAlgn="ctr">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5.2</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1010">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a:t>
                      </a:r>
                      <a:r>
                        <a:rPr lang="en-US" altLang="zh-CN" sz="1200" b="0" kern="1200">
                          <a:solidFill>
                            <a:schemeClr val="tx1"/>
                          </a:solidFill>
                          <a:latin typeface="微软雅黑" panose="020B0503020204020204" pitchFamily="34" charset="-122"/>
                          <a:ea typeface="微软雅黑" panose="020B0503020204020204" pitchFamily="34" charset="-122"/>
                          <a:cs typeface="+mn-cs"/>
                        </a:rPr>
                        <a:t>2</a:t>
                      </a:r>
                      <a:r>
                        <a:rPr lang="zh-CN" altLang="en-US" sz="1200" b="0" kern="1200">
                          <a:solidFill>
                            <a:schemeClr val="tx1"/>
                          </a:solidFill>
                          <a:latin typeface="微软雅黑" panose="020B0503020204020204" pitchFamily="34" charset="-122"/>
                          <a:ea typeface="微软雅黑" panose="020B0503020204020204" pitchFamily="34" charset="-122"/>
                          <a:cs typeface="+mn-cs"/>
                        </a:rPr>
                        <a:t>）劳务费</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9.6</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0.6</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1.8</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algn="ctr" fontAlgn="ctr">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1.8</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2280">
                <a:tc>
                  <a:txBody>
                    <a:bodyPr/>
                    <a:lstStyle/>
                    <a:p>
                      <a:pPr marL="0" algn="l" defTabSz="914400" rtl="0" eaLnBrk="1" fontAlgn="ctr" latinLnBrk="0" hangingPunct="1"/>
                      <a:r>
                        <a:rPr lang="zh-CN" altLang="en-US" sz="1200" b="0" kern="1200">
                          <a:solidFill>
                            <a:schemeClr val="tx1"/>
                          </a:solidFill>
                          <a:latin typeface="微软雅黑" panose="020B0503020204020204" pitchFamily="34" charset="-122"/>
                          <a:ea typeface="微软雅黑" panose="020B0503020204020204" pitchFamily="34" charset="-122"/>
                          <a:cs typeface="+mn-cs"/>
                        </a:rPr>
                        <a:t>（二）间接费用</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i="0" u="none" strike="noStrike">
                          <a:solidFill>
                            <a:srgbClr val="000000"/>
                          </a:solidFill>
                          <a:effectLst/>
                          <a:latin typeface="微软雅黑" panose="020B0503020204020204" pitchFamily="34" charset="-122"/>
                          <a:ea typeface="微软雅黑" panose="020B0503020204020204" pitchFamily="34" charset="-122"/>
                        </a:rPr>
                        <a:t>27</a:t>
                      </a:r>
                      <a:endParaRPr lang="en-US" altLang="zh-CN" sz="12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200" b="0" kern="1200" noProof="0" dirty="0">
                          <a:solidFill>
                            <a:schemeClr val="tx1"/>
                          </a:solidFill>
                          <a:latin typeface="微软雅黑" panose="020B0503020204020204" pitchFamily="34" charset="-122"/>
                          <a:ea typeface="微软雅黑" panose="020B0503020204020204" pitchFamily="34" charset="-122"/>
                          <a:cs typeface="+mn-cs"/>
                        </a:rPr>
                        <a:t>6.1</a:t>
                      </a:r>
                      <a:endParaRPr lang="en-US" altLang="zh-CN" sz="1200" b="0" kern="1200" noProof="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4.4</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a:solidFill>
                            <a:schemeClr val="tx1"/>
                          </a:solidFill>
                          <a:latin typeface="微软雅黑" panose="020B0503020204020204" pitchFamily="34" charset="-122"/>
                          <a:ea typeface="微软雅黑" panose="020B0503020204020204" pitchFamily="34" charset="-122"/>
                          <a:cs typeface="+mn-cs"/>
                        </a:rPr>
                        <a:t>3.8</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3.7</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zh-CN" sz="1200" b="0" kern="1200" dirty="0">
                          <a:solidFill>
                            <a:schemeClr val="tx1"/>
                          </a:solidFill>
                          <a:latin typeface="微软雅黑" panose="020B0503020204020204" pitchFamily="34" charset="-122"/>
                          <a:ea typeface="微软雅黑" panose="020B0503020204020204" pitchFamily="34" charset="-122"/>
                          <a:cs typeface="+mn-cs"/>
                        </a:rPr>
                        <a:t>4</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p>
                      <a:pPr algn="ctr" fontAlgn="ctr">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5</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tcPr>
                </a:tc>
              </a:tr>
              <a:tr h="462280">
                <a:tc>
                  <a:txBody>
                    <a:bodyPr/>
                    <a:lstStyle/>
                    <a:p>
                      <a:pPr marL="0" algn="l" defTabSz="914400" rtl="0" eaLnBrk="1" fontAlgn="ctr"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rPr>
                        <a:t>三、合计</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72000" marR="3716" marT="3716" marB="0" anchor="ctr">
                    <a:lnL w="12700" cmpd="sng">
                      <a:no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rgbClr val="C00000"/>
                          </a:solidFill>
                          <a:latin typeface="微软雅黑" panose="020B0503020204020204" pitchFamily="34" charset="-122"/>
                          <a:ea typeface="微软雅黑" panose="020B0503020204020204" pitchFamily="34" charset="-122"/>
                          <a:cs typeface="+mn-cs"/>
                        </a:rPr>
                        <a:t>100</a:t>
                      </a:r>
                      <a:endParaRPr lang="en-US" altLang="zh-CN" sz="1200" b="0" kern="1200" dirty="0">
                        <a:solidFill>
                          <a:srgbClr val="C00000"/>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10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21</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a:solidFill>
                            <a:schemeClr val="tx1"/>
                          </a:solidFill>
                          <a:latin typeface="微软雅黑" panose="020B0503020204020204" pitchFamily="34" charset="-122"/>
                          <a:ea typeface="微软雅黑" panose="020B0503020204020204" pitchFamily="34" charset="-122"/>
                          <a:cs typeface="+mn-cs"/>
                        </a:rPr>
                        <a:t>22</a:t>
                      </a:r>
                      <a:endParaRPr lang="en-US" altLang="zh-CN" sz="1200" b="0" kern="120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20</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US" sz="1200" b="0" kern="1200" dirty="0">
                          <a:solidFill>
                            <a:schemeClr val="tx1"/>
                          </a:solidFill>
                          <a:latin typeface="微软雅黑" panose="020B0503020204020204" pitchFamily="34" charset="-122"/>
                          <a:ea typeface="微软雅黑" panose="020B0503020204020204" pitchFamily="34" charset="-122"/>
                          <a:cs typeface="+mn-cs"/>
                        </a:rPr>
                        <a:t>15</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6350" cap="flat" cmpd="sng" algn="ctr">
                      <a:solidFill>
                        <a:schemeClr val="bg1">
                          <a:lumMod val="75000"/>
                        </a:schemeClr>
                      </a:solidFill>
                      <a:prstDash val="solid"/>
                      <a:round/>
                      <a:headEnd type="none" w="med" len="med"/>
                      <a:tailEnd type="none" w="med" len="med"/>
                    </a:lnL>
                    <a:lnR w="12700" cmpd="sng">
                      <a:solidFill>
                        <a:schemeClr val="bg1">
                          <a:lumMod val="75000"/>
                        </a:schemeClr>
                      </a:solidFill>
                      <a:prstDash val="soli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p>
                      <a:pPr marL="0" algn="ctr" defTabSz="914400" rtl="0" eaLnBrk="1" fontAlgn="ctr" latinLnBrk="0" hangingPunct="1">
                        <a:buClrTx/>
                        <a:buSzTx/>
                        <a:buFontTx/>
                        <a:buNone/>
                      </a:pPr>
                      <a:r>
                        <a:rPr lang="en-US" sz="1200" b="0" kern="1200" dirty="0">
                          <a:solidFill>
                            <a:schemeClr val="tx1"/>
                          </a:solidFill>
                          <a:latin typeface="微软雅黑" panose="020B0503020204020204" pitchFamily="34" charset="-122"/>
                          <a:ea typeface="微软雅黑" panose="020B0503020204020204" pitchFamily="34" charset="-122"/>
                          <a:cs typeface="+mn-cs"/>
                        </a:rPr>
                        <a:t>12</a:t>
                      </a:r>
                      <a:endParaRPr 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3716" marR="3716" marT="3716" marB="0" anchor="ctr">
                    <a:lnL w="12700" cap="flat" cmpd="sng" algn="ctr">
                      <a:solidFill>
                        <a:schemeClr val="bg1">
                          <a:lumMod val="75000"/>
                        </a:schemeClr>
                      </a:solidFill>
                      <a:prstDash val="solid"/>
                      <a:round/>
                      <a:headEnd type="none" w="med" len="med"/>
                      <a:tailEnd type="none" w="med" len="med"/>
                    </a:lnL>
                    <a:lnR w="12700" cmpd="sng">
                      <a:noFill/>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7" name="矩形 6"/>
          <p:cNvSpPr>
            <a:spLocks noChangeArrowheads="1"/>
          </p:cNvSpPr>
          <p:nvPr/>
        </p:nvSpPr>
        <p:spPr bwMode="auto">
          <a:xfrm>
            <a:off x="535750" y="1940927"/>
            <a:ext cx="11065333" cy="336695"/>
          </a:xfrm>
          <a:prstGeom prst="rect">
            <a:avLst/>
          </a:prstGeom>
          <a:noFill/>
          <a:ln w="9525">
            <a:noFill/>
            <a:miter lim="800000"/>
          </a:ln>
        </p:spPr>
        <p:txBody>
          <a:bodyPr wrap="square">
            <a:spAutoFit/>
          </a:bodyPr>
          <a:lstStyle/>
          <a:p>
            <a:pPr marL="0" marR="0" lvl="0" indent="0" algn="ctr" defTabSz="914400" rtl="0" eaLnBrk="1" fontAlgn="auto" latinLnBrk="0" hangingPunct="1">
              <a:lnSpc>
                <a:spcPct val="150000"/>
              </a:lnSpc>
              <a:spcBef>
                <a:spcPts val="0"/>
              </a:spcBef>
              <a:spcAft>
                <a:spcPts val="0"/>
              </a:spcAft>
              <a:buClr>
                <a:srgbClr val="FF0000"/>
              </a:buClr>
              <a:buSzTx/>
              <a:buFontTx/>
              <a:buNone/>
              <a:defRPr/>
            </a:pPr>
            <a:r>
              <a:rPr lang="zh-CN" altLang="en-US" sz="1200" noProof="0" dirty="0" smtClean="0">
                <a:solidFill>
                  <a:srgbClr val="000000"/>
                </a:solidFill>
                <a:latin typeface="微软雅黑" panose="020B0503020204020204" pitchFamily="34" charset="-122"/>
                <a:ea typeface="微软雅黑" panose="020B0503020204020204" pitchFamily="34" charset="-122"/>
              </a:rPr>
              <a:t>课题经费预算表</a:t>
            </a:r>
            <a:endParaRPr kumimoji="0"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30"/>
          <p:cNvSpPr txBox="1"/>
          <p:nvPr/>
        </p:nvSpPr>
        <p:spPr>
          <a:xfrm>
            <a:off x="-12700" y="122039"/>
            <a:ext cx="12179899" cy="5835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mn-cs"/>
              </a:rPr>
              <a:t>（二）组织</a:t>
            </a:r>
            <a:r>
              <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管理</a:t>
            </a:r>
            <a:endParaRPr kumimoji="0" lang="zh-CN" altLang="en-US" sz="32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6" name="表格 5"/>
          <p:cNvGraphicFramePr/>
          <p:nvPr>
            <p:custDataLst>
              <p:tags r:id="rId1"/>
            </p:custDataLst>
          </p:nvPr>
        </p:nvGraphicFramePr>
        <p:xfrm>
          <a:off x="154940" y="1832610"/>
          <a:ext cx="11844020" cy="4254500"/>
        </p:xfrm>
        <a:graphic>
          <a:graphicData uri="http://schemas.openxmlformats.org/drawingml/2006/table">
            <a:tbl>
              <a:tblPr/>
              <a:tblGrid>
                <a:gridCol w="612140"/>
                <a:gridCol w="539750"/>
                <a:gridCol w="899795"/>
                <a:gridCol w="1080135"/>
                <a:gridCol w="1008380"/>
                <a:gridCol w="1619885"/>
                <a:gridCol w="1871980"/>
                <a:gridCol w="1259840"/>
                <a:gridCol w="1008380"/>
                <a:gridCol w="1943735"/>
              </a:tblGrid>
              <a:tr h="481330">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姓名</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性别</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出生日期</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专业技术职称</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所在院系</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所在单位</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在项目</a:t>
                      </a:r>
                      <a:r>
                        <a:rPr lang="en-US" altLang="zh-CN"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课题中分担的任务</a:t>
                      </a:r>
                      <a:endParaRPr lang="zh-CN" altLang="en-US" sz="12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专业</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移动电话</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c>
                  <a:txBody>
                    <a:bodyPr/>
                    <a:p>
                      <a:pPr algn="ctr" fontAlgn="ctr"/>
                      <a:r>
                        <a:rPr lang="zh-CN" altLang="en-US" sz="1200" b="1" i="0">
                          <a:solidFill>
                            <a:schemeClr val="bg1"/>
                          </a:solidFill>
                          <a:latin typeface="微软雅黑" panose="020B0503020204020204" pitchFamily="34" charset="-122"/>
                          <a:ea typeface="微软雅黑" panose="020B0503020204020204" pitchFamily="34" charset="-122"/>
                        </a:rPr>
                        <a:t>电子邮箱</a:t>
                      </a:r>
                      <a:endParaRPr lang="zh-CN" altLang="en-US" sz="12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FFC000"/>
                    </a:solidFill>
                  </a:tcPr>
                </a:tc>
              </a:tr>
              <a:tr h="942975">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刘雄飞</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1970.07.13</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副高级</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油气资源与工程全国重点实验室</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专题五专题长，参与缝网高效压裂改造效果综合评估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石油与天然气工程</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18810906030</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huxiaodong@cup.e</a:t>
                      </a:r>
                      <a:r>
                        <a:rPr lang="en-US" altLang="zh-CN" sz="1200" b="0" i="0">
                          <a:solidFill>
                            <a:srgbClr val="000000"/>
                          </a:solidFill>
                          <a:latin typeface="微软雅黑" panose="020B0503020204020204" pitchFamily="34" charset="-122"/>
                          <a:ea typeface="微软雅黑" panose="020B0503020204020204" pitchFamily="34" charset="-122"/>
                        </a:rPr>
                        <a:t>du.cn</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43610">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周乾龙</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2000.02.21</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其他</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人工智能学院</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主要研究人员，参与缝网高效压裂改造效果综合评估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油气人工智能</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18210594121</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zql9600@163.com</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42975">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陈超</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2000.03.17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其他</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人工智能学院</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主要研究人员，参与缝网高效压裂改造效果综合评估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a:solidFill>
                            <a:srgbClr val="000000"/>
                          </a:solidFill>
                          <a:latin typeface="微软雅黑" panose="020B0503020204020204" pitchFamily="34" charset="-122"/>
                          <a:ea typeface="微软雅黑" panose="020B0503020204020204" pitchFamily="34" charset="-122"/>
                          <a:sym typeface="+mn-ea"/>
                        </a:rPr>
                        <a:t>油气人工智能</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18852536616</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wolfsts@126.com</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43610">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邓宇通</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男</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2001.05.07</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其他</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人工智能学院</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中国石油大学（北京）</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pitchFamily="34" charset="-122"/>
                          <a:ea typeface="微软雅黑" panose="020B0503020204020204" pitchFamily="34" charset="-122"/>
                        </a:rPr>
                        <a:t>主要研究人员，参与缝网高效压裂改造效果综合评估</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a:solidFill>
                            <a:srgbClr val="000000"/>
                          </a:solidFill>
                          <a:latin typeface="微软雅黑" panose="020B0503020204020204" pitchFamily="34" charset="-122"/>
                          <a:ea typeface="微软雅黑" panose="020B0503020204020204" pitchFamily="34" charset="-122"/>
                          <a:sym typeface="+mn-ea"/>
                        </a:rPr>
                        <a:t>油气人工智能</a:t>
                      </a:r>
                      <a:endParaRPr lang="zh-CN" altLang="en-US"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13371557730</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pitchFamily="34" charset="-122"/>
                          <a:ea typeface="微软雅黑" panose="020B0503020204020204" pitchFamily="34" charset="-122"/>
                        </a:rPr>
                        <a:t>1328228754@qq.com</a:t>
                      </a:r>
                      <a:endParaRPr lang="en-US" altLang="zh-CN" sz="12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8" name="TextBox 12"/>
          <p:cNvSpPr txBox="1">
            <a:spLocks noChangeArrowheads="1"/>
          </p:cNvSpPr>
          <p:nvPr/>
        </p:nvSpPr>
        <p:spPr bwMode="auto">
          <a:xfrm>
            <a:off x="433197" y="1127712"/>
            <a:ext cx="11403965" cy="506730"/>
          </a:xfrm>
          <a:prstGeom prst="rect">
            <a:avLst/>
          </a:prstGeom>
        </p:spPr>
        <p:txBody>
          <a:bodyPr wrap="square">
            <a:spAutoFit/>
          </a:bodyPr>
          <a:lstStyle>
            <a:defPPr>
              <a:defRPr lang="zh-CN"/>
            </a:defPPr>
            <a:lvl1pPr marL="342900" marR="0" lvl="0" indent="-342900" algn="just" fontAlgn="auto">
              <a:lnSpc>
                <a:spcPct val="150000"/>
              </a:lnSpc>
              <a:spcBef>
                <a:spcPts val="2400"/>
              </a:spcBef>
              <a:spcAft>
                <a:spcPts val="0"/>
              </a:spcAft>
              <a:buClr>
                <a:srgbClr val="C00000"/>
              </a:buClr>
              <a:buSzPct val="100000"/>
              <a:buFont typeface="Wingdings" panose="05000000000000000000" pitchFamily="2" charset="2"/>
              <a:buChar char="l"/>
              <a:defRPr kumimoji="0" sz="2400" b="1" i="0" u="none" strike="noStrike" cap="none" spc="0" normalizeH="0" baseline="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defRPr>
            </a:lvl1pPr>
          </a:lstStyle>
          <a:p>
            <a:pPr lvl="0">
              <a:spcBef>
                <a:spcPts val="0"/>
              </a:spcBef>
              <a:defRPr/>
            </a:pPr>
            <a:r>
              <a:rPr lang="zh-CN" altLang="en-US" sz="1800" dirty="0">
                <a:solidFill>
                  <a:prstClr val="black"/>
                </a:solidFill>
                <a:sym typeface="+mn-ea"/>
              </a:rPr>
              <a:t>刘雄飞老师牵头，多名博士深度参与</a:t>
            </a:r>
            <a:endParaRPr lang="zh-CN" altLang="en-US" sz="1800" dirty="0">
              <a:solidFill>
                <a:prstClr val="black"/>
              </a:solidFill>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27000"/>
            <a:ext cx="12192000" cy="1463675"/>
            <a:chOff x="345" y="573"/>
            <a:chExt cx="17779" cy="2304"/>
          </a:xfrm>
        </p:grpSpPr>
        <p:sp>
          <p:nvSpPr>
            <p:cNvPr id="3" name="islïḍè"/>
            <p:cNvSpPr/>
            <p:nvPr/>
          </p:nvSpPr>
          <p:spPr>
            <a:xfrm rot="5400000">
              <a:off x="1654" y="1246"/>
              <a:ext cx="2304" cy="958"/>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gradFill>
              <a:gsLst>
                <a:gs pos="0">
                  <a:srgbClr val="E30000"/>
                </a:gs>
                <a:gs pos="100000">
                  <a:srgbClr val="760303"/>
                </a:gs>
              </a:gsLst>
              <a:lin ang="5400000" scaled="0"/>
            </a:gra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4" name="iŝḷîďe"/>
            <p:cNvSpPr/>
            <p:nvPr/>
          </p:nvSpPr>
          <p:spPr>
            <a:xfrm rot="5400000">
              <a:off x="2632" y="1245"/>
              <a:ext cx="2302" cy="958"/>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6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id-ID" sz="1865" b="0" i="0" u="none" strike="noStrike" kern="1200" cap="none" spc="0" normalizeH="0" baseline="0" noProof="0">
                <a:ln>
                  <a:noFill/>
                </a:ln>
                <a:solidFill>
                  <a:prstClr val="white"/>
                </a:solidFill>
                <a:effectLst/>
                <a:uLnTx/>
                <a:uFillTx/>
                <a:latin typeface="+mn-lt"/>
                <a:ea typeface="+mn-ea"/>
                <a:cs typeface="+mn-cs"/>
              </a:endParaRPr>
            </a:p>
          </p:txBody>
        </p:sp>
        <p:sp>
          <p:nvSpPr>
            <p:cNvPr id="5" name="íšlïḍé"/>
            <p:cNvSpPr/>
            <p:nvPr/>
          </p:nvSpPr>
          <p:spPr>
            <a:xfrm>
              <a:off x="345" y="1545"/>
              <a:ext cx="1764" cy="36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5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6" name="ïš1ídè"/>
            <p:cNvSpPr/>
            <p:nvPr/>
          </p:nvSpPr>
          <p:spPr>
            <a:xfrm>
              <a:off x="8260" y="1685"/>
              <a:ext cx="9864" cy="115"/>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9" rIns="91436" bIns="45719" anchor="ctr">
              <a:normAutofit fontScale="250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65" b="0" i="0" u="none" strike="noStrike" kern="1200" cap="none" spc="0" normalizeH="0" baseline="0" noProof="0" dirty="0">
                <a:ln>
                  <a:noFill/>
                </a:ln>
                <a:solidFill>
                  <a:prstClr val="white"/>
                </a:solidFill>
                <a:effectLst/>
                <a:uLnTx/>
                <a:uFillTx/>
                <a:latin typeface="+mn-lt"/>
                <a:ea typeface="+mn-ea"/>
                <a:cs typeface="+mn-cs"/>
              </a:endParaRPr>
            </a:p>
          </p:txBody>
        </p:sp>
        <p:sp>
          <p:nvSpPr>
            <p:cNvPr id="7" name="矩形 122"/>
            <p:cNvSpPr/>
            <p:nvPr/>
          </p:nvSpPr>
          <p:spPr>
            <a:xfrm>
              <a:off x="2714" y="941"/>
              <a:ext cx="6112" cy="1404"/>
            </a:xfrm>
            <a:prstGeom prst="rect">
              <a:avLst/>
            </a:prstGeom>
            <a:noFill/>
          </p:spPr>
          <p:txBody>
            <a:bodyPr lIns="121848" tIns="60924" rIns="121848" bIns="60924"/>
            <a:lstStyle/>
            <a:p>
              <a:pPr marL="0" marR="0" lvl="0" indent="0" algn="ctr" defTabSz="1624965" rtl="0" eaLnBrk="1" fontAlgn="base" latinLnBrk="0" hangingPunct="1">
                <a:lnSpc>
                  <a:spcPct val="100000"/>
                </a:lnSpc>
                <a:spcBef>
                  <a:spcPct val="0"/>
                </a:spcBef>
                <a:spcAft>
                  <a:spcPct val="0"/>
                </a:spcAft>
                <a:buClrTx/>
                <a:buSzTx/>
                <a:buFontTx/>
                <a:buNone/>
                <a:defRPr/>
              </a:pPr>
              <a:r>
                <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rPr>
                <a:t>汇报提纲</a:t>
              </a:r>
              <a:endParaRPr kumimoji="1" lang="zh-CN" altLang="en-US" sz="5335" b="1" i="0" u="none" strike="noStrike" kern="1200" cap="none" spc="0" normalizeH="0" baseline="0" noProof="0" dirty="0">
                <a:ln w="17780" cmpd="sng">
                  <a:solidFill>
                    <a:srgbClr val="FFFFFF"/>
                  </a:solidFill>
                  <a:prstDash val="solid"/>
                  <a:miter lim="800000"/>
                </a:ln>
                <a:solidFill>
                  <a:srgbClr val="C00000"/>
                </a:solidFill>
                <a:effectLst>
                  <a:outerShdw blurRad="63500" sx="102000" sy="102000" algn="ctr" rotWithShape="0">
                    <a:prstClr val="black">
                      <a:alpha val="40000"/>
                    </a:prstClr>
                  </a:outerShdw>
                </a:effectLst>
                <a:uLnTx/>
                <a:uFillTx/>
                <a:latin typeface="方正大黑简体" panose="02000000000000000000" pitchFamily="2" charset="-122"/>
                <a:ea typeface="方正大黑简体" panose="02000000000000000000" pitchFamily="2" charset="-122"/>
                <a:cs typeface="+mn-cs"/>
              </a:endParaRPr>
            </a:p>
          </p:txBody>
        </p:sp>
        <p:grpSp>
          <p:nvGrpSpPr>
            <p:cNvPr id="8" name="i$ḻiḓê"/>
            <p:cNvGrpSpPr/>
            <p:nvPr/>
          </p:nvGrpSpPr>
          <p:grpSpPr>
            <a:xfrm rot="10800000">
              <a:off x="16074" y="1433"/>
              <a:ext cx="1443" cy="600"/>
              <a:chOff x="4216503" y="2218776"/>
              <a:chExt cx="3758995" cy="2420448"/>
            </a:xfrm>
          </p:grpSpPr>
          <p:sp>
            <p:nvSpPr>
              <p:cNvPr id="9" name="íṥḻïḍê"/>
              <p:cNvSpPr/>
              <p:nvPr/>
            </p:nvSpPr>
            <p:spPr bwMode="auto">
              <a:xfrm rot="5400000">
                <a:off x="4425695" y="3245164"/>
                <a:ext cx="1098808" cy="422133"/>
              </a:xfrm>
              <a:custGeom>
                <a:avLst/>
                <a:gdLst>
                  <a:gd name="T0" fmla="*/ 465 w 933"/>
                  <a:gd name="T1" fmla="*/ 356 h 356"/>
                  <a:gd name="T2" fmla="*/ 0 w 933"/>
                  <a:gd name="T3" fmla="*/ 178 h 356"/>
                  <a:gd name="T4" fmla="*/ 465 w 933"/>
                  <a:gd name="T5" fmla="*/ 0 h 356"/>
                  <a:gd name="T6" fmla="*/ 933 w 933"/>
                  <a:gd name="T7" fmla="*/ 178 h 356"/>
                  <a:gd name="T8" fmla="*/ 465 w 933"/>
                  <a:gd name="T9" fmla="*/ 356 h 356"/>
                </a:gdLst>
                <a:ahLst/>
                <a:cxnLst>
                  <a:cxn ang="0">
                    <a:pos x="T0" y="T1"/>
                  </a:cxn>
                  <a:cxn ang="0">
                    <a:pos x="T2" y="T3"/>
                  </a:cxn>
                  <a:cxn ang="0">
                    <a:pos x="T4" y="T5"/>
                  </a:cxn>
                  <a:cxn ang="0">
                    <a:pos x="T6" y="T7"/>
                  </a:cxn>
                  <a:cxn ang="0">
                    <a:pos x="T8" y="T9"/>
                  </a:cxn>
                </a:cxnLst>
                <a:rect l="0" t="0" r="r" b="b"/>
                <a:pathLst>
                  <a:path w="933" h="356">
                    <a:moveTo>
                      <a:pt x="465" y="356"/>
                    </a:moveTo>
                    <a:lnTo>
                      <a:pt x="0" y="178"/>
                    </a:lnTo>
                    <a:lnTo>
                      <a:pt x="465" y="0"/>
                    </a:lnTo>
                    <a:lnTo>
                      <a:pt x="933" y="178"/>
                    </a:lnTo>
                    <a:lnTo>
                      <a:pt x="465" y="356"/>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0" name="îṩ1ïďè"/>
              <p:cNvSpPr/>
              <p:nvPr/>
            </p:nvSpPr>
            <p:spPr bwMode="auto">
              <a:xfrm rot="5400000">
                <a:off x="4322999" y="2789004"/>
                <a:ext cx="544365" cy="759840"/>
              </a:xfrm>
              <a:custGeom>
                <a:avLst/>
                <a:gdLst>
                  <a:gd name="T0" fmla="*/ 465 w 465"/>
                  <a:gd name="T1" fmla="*/ 178 h 644"/>
                  <a:gd name="T2" fmla="*/ 0 w 465"/>
                  <a:gd name="T3" fmla="*/ 0 h 644"/>
                  <a:gd name="T4" fmla="*/ 0 w 465"/>
                  <a:gd name="T5" fmla="*/ 364 h 644"/>
                  <a:gd name="T6" fmla="*/ 465 w 465"/>
                  <a:gd name="T7" fmla="*/ 644 h 644"/>
                  <a:gd name="T8" fmla="*/ 465 w 465"/>
                  <a:gd name="T9" fmla="*/ 178 h 644"/>
                </a:gdLst>
                <a:ahLst/>
                <a:cxnLst>
                  <a:cxn ang="0">
                    <a:pos x="T0" y="T1"/>
                  </a:cxn>
                  <a:cxn ang="0">
                    <a:pos x="T2" y="T3"/>
                  </a:cxn>
                  <a:cxn ang="0">
                    <a:pos x="T4" y="T5"/>
                  </a:cxn>
                  <a:cxn ang="0">
                    <a:pos x="T6" y="T7"/>
                  </a:cxn>
                  <a:cxn ang="0">
                    <a:pos x="T8" y="T9"/>
                  </a:cxn>
                </a:cxnLst>
                <a:rect l="0" t="0" r="r" b="b"/>
                <a:pathLst>
                  <a:path w="465" h="644">
                    <a:moveTo>
                      <a:pt x="465" y="178"/>
                    </a:moveTo>
                    <a:lnTo>
                      <a:pt x="0" y="0"/>
                    </a:lnTo>
                    <a:lnTo>
                      <a:pt x="0" y="364"/>
                    </a:lnTo>
                    <a:lnTo>
                      <a:pt x="465" y="644"/>
                    </a:lnTo>
                    <a:lnTo>
                      <a:pt x="465" y="178"/>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1" name="îślïďé"/>
              <p:cNvSpPr/>
              <p:nvPr/>
            </p:nvSpPr>
            <p:spPr bwMode="auto">
              <a:xfrm rot="5400000">
                <a:off x="4317959" y="3348495"/>
                <a:ext cx="554443" cy="759840"/>
              </a:xfrm>
              <a:custGeom>
                <a:avLst/>
                <a:gdLst>
                  <a:gd name="T0" fmla="*/ 0 w 468"/>
                  <a:gd name="T1" fmla="*/ 178 h 644"/>
                  <a:gd name="T2" fmla="*/ 468 w 468"/>
                  <a:gd name="T3" fmla="*/ 0 h 644"/>
                  <a:gd name="T4" fmla="*/ 468 w 468"/>
                  <a:gd name="T5" fmla="*/ 364 h 644"/>
                  <a:gd name="T6" fmla="*/ 0 w 468"/>
                  <a:gd name="T7" fmla="*/ 644 h 644"/>
                  <a:gd name="T8" fmla="*/ 0 w 468"/>
                  <a:gd name="T9" fmla="*/ 178 h 644"/>
                </a:gdLst>
                <a:ahLst/>
                <a:cxnLst>
                  <a:cxn ang="0">
                    <a:pos x="T0" y="T1"/>
                  </a:cxn>
                  <a:cxn ang="0">
                    <a:pos x="T2" y="T3"/>
                  </a:cxn>
                  <a:cxn ang="0">
                    <a:pos x="T4" y="T5"/>
                  </a:cxn>
                  <a:cxn ang="0">
                    <a:pos x="T6" y="T7"/>
                  </a:cxn>
                  <a:cxn ang="0">
                    <a:pos x="T8" y="T9"/>
                  </a:cxn>
                </a:cxnLst>
                <a:rect l="0" t="0" r="r" b="b"/>
                <a:pathLst>
                  <a:path w="468" h="644">
                    <a:moveTo>
                      <a:pt x="0" y="178"/>
                    </a:moveTo>
                    <a:lnTo>
                      <a:pt x="468" y="0"/>
                    </a:lnTo>
                    <a:lnTo>
                      <a:pt x="468" y="364"/>
                    </a:lnTo>
                    <a:lnTo>
                      <a:pt x="0" y="644"/>
                    </a:lnTo>
                    <a:lnTo>
                      <a:pt x="0" y="178"/>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2" name="iṡ1íďê"/>
              <p:cNvSpPr/>
              <p:nvPr/>
            </p:nvSpPr>
            <p:spPr bwMode="auto">
              <a:xfrm rot="5400000">
                <a:off x="4803634" y="3298352"/>
                <a:ext cx="1754065" cy="265341"/>
              </a:xfrm>
              <a:custGeom>
                <a:avLst/>
                <a:gdLst>
                  <a:gd name="T0" fmla="*/ 746 w 1494"/>
                  <a:gd name="T1" fmla="*/ 224 h 224"/>
                  <a:gd name="T2" fmla="*/ 0 w 1494"/>
                  <a:gd name="T3" fmla="*/ 112 h 224"/>
                  <a:gd name="T4" fmla="*/ 746 w 1494"/>
                  <a:gd name="T5" fmla="*/ 0 h 224"/>
                  <a:gd name="T6" fmla="*/ 1494 w 1494"/>
                  <a:gd name="T7" fmla="*/ 112 h 224"/>
                  <a:gd name="T8" fmla="*/ 746 w 1494"/>
                  <a:gd name="T9" fmla="*/ 224 h 224"/>
                </a:gdLst>
                <a:ahLst/>
                <a:cxnLst>
                  <a:cxn ang="0">
                    <a:pos x="T0" y="T1"/>
                  </a:cxn>
                  <a:cxn ang="0">
                    <a:pos x="T2" y="T3"/>
                  </a:cxn>
                  <a:cxn ang="0">
                    <a:pos x="T4" y="T5"/>
                  </a:cxn>
                  <a:cxn ang="0">
                    <a:pos x="T6" y="T7"/>
                  </a:cxn>
                  <a:cxn ang="0">
                    <a:pos x="T8" y="T9"/>
                  </a:cxn>
                </a:cxnLst>
                <a:rect l="0" t="0" r="r" b="b"/>
                <a:pathLst>
                  <a:path w="1494" h="224">
                    <a:moveTo>
                      <a:pt x="746" y="224"/>
                    </a:moveTo>
                    <a:lnTo>
                      <a:pt x="0" y="112"/>
                    </a:lnTo>
                    <a:lnTo>
                      <a:pt x="746" y="0"/>
                    </a:lnTo>
                    <a:lnTo>
                      <a:pt x="1494" y="112"/>
                    </a:lnTo>
                    <a:lnTo>
                      <a:pt x="746" y="224"/>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3" name="ïṡlïḋé"/>
              <p:cNvSpPr/>
              <p:nvPr/>
            </p:nvSpPr>
            <p:spPr bwMode="auto">
              <a:xfrm rot="5400000">
                <a:off x="4883339" y="2637747"/>
                <a:ext cx="877029" cy="729690"/>
              </a:xfrm>
              <a:custGeom>
                <a:avLst/>
                <a:gdLst>
                  <a:gd name="T0" fmla="*/ 746 w 746"/>
                  <a:gd name="T1" fmla="*/ 112 h 618"/>
                  <a:gd name="T2" fmla="*/ 0 w 746"/>
                  <a:gd name="T3" fmla="*/ 0 h 618"/>
                  <a:gd name="T4" fmla="*/ 0 w 746"/>
                  <a:gd name="T5" fmla="*/ 394 h 618"/>
                  <a:gd name="T6" fmla="*/ 746 w 746"/>
                  <a:gd name="T7" fmla="*/ 618 h 618"/>
                  <a:gd name="T8" fmla="*/ 746 w 746"/>
                  <a:gd name="T9" fmla="*/ 112 h 618"/>
                </a:gdLst>
                <a:ahLst/>
                <a:cxnLst>
                  <a:cxn ang="0">
                    <a:pos x="T0" y="T1"/>
                  </a:cxn>
                  <a:cxn ang="0">
                    <a:pos x="T2" y="T3"/>
                  </a:cxn>
                  <a:cxn ang="0">
                    <a:pos x="T4" y="T5"/>
                  </a:cxn>
                  <a:cxn ang="0">
                    <a:pos x="T6" y="T7"/>
                  </a:cxn>
                  <a:cxn ang="0">
                    <a:pos x="T8" y="T9"/>
                  </a:cxn>
                </a:cxnLst>
                <a:rect l="0" t="0" r="r" b="b"/>
                <a:pathLst>
                  <a:path w="746" h="618">
                    <a:moveTo>
                      <a:pt x="746" y="112"/>
                    </a:moveTo>
                    <a:lnTo>
                      <a:pt x="0" y="0"/>
                    </a:lnTo>
                    <a:lnTo>
                      <a:pt x="0" y="394"/>
                    </a:lnTo>
                    <a:lnTo>
                      <a:pt x="746" y="618"/>
                    </a:lnTo>
                    <a:lnTo>
                      <a:pt x="746" y="112"/>
                    </a:lnTo>
                    <a:close/>
                  </a:path>
                </a:pathLst>
              </a:custGeom>
              <a:solidFill>
                <a:srgbClr val="768394">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4" name="îşlïdé"/>
              <p:cNvSpPr/>
              <p:nvPr/>
            </p:nvSpPr>
            <p:spPr bwMode="auto">
              <a:xfrm rot="5400000">
                <a:off x="4883336" y="3514776"/>
                <a:ext cx="877036" cy="729690"/>
              </a:xfrm>
              <a:custGeom>
                <a:avLst/>
                <a:gdLst>
                  <a:gd name="T0" fmla="*/ 0 w 748"/>
                  <a:gd name="T1" fmla="*/ 112 h 618"/>
                  <a:gd name="T2" fmla="*/ 748 w 748"/>
                  <a:gd name="T3" fmla="*/ 0 h 618"/>
                  <a:gd name="T4" fmla="*/ 748 w 748"/>
                  <a:gd name="T5" fmla="*/ 394 h 618"/>
                  <a:gd name="T6" fmla="*/ 0 w 748"/>
                  <a:gd name="T7" fmla="*/ 618 h 618"/>
                  <a:gd name="T8" fmla="*/ 0 w 748"/>
                  <a:gd name="T9" fmla="*/ 112 h 618"/>
                </a:gdLst>
                <a:ahLst/>
                <a:cxnLst>
                  <a:cxn ang="0">
                    <a:pos x="T0" y="T1"/>
                  </a:cxn>
                  <a:cxn ang="0">
                    <a:pos x="T2" y="T3"/>
                  </a:cxn>
                  <a:cxn ang="0">
                    <a:pos x="T4" y="T5"/>
                  </a:cxn>
                  <a:cxn ang="0">
                    <a:pos x="T6" y="T7"/>
                  </a:cxn>
                  <a:cxn ang="0">
                    <a:pos x="T8" y="T9"/>
                  </a:cxn>
                </a:cxnLst>
                <a:rect l="0" t="0" r="r" b="b"/>
                <a:pathLst>
                  <a:path w="748" h="618">
                    <a:moveTo>
                      <a:pt x="0" y="112"/>
                    </a:moveTo>
                    <a:lnTo>
                      <a:pt x="748" y="0"/>
                    </a:lnTo>
                    <a:lnTo>
                      <a:pt x="748" y="394"/>
                    </a:lnTo>
                    <a:lnTo>
                      <a:pt x="0" y="618"/>
                    </a:lnTo>
                    <a:lnTo>
                      <a:pt x="0" y="112"/>
                    </a:lnTo>
                    <a:close/>
                  </a:path>
                </a:pathLst>
              </a:custGeom>
              <a:solidFill>
                <a:srgbClr val="768394">
                  <a:lumMod val="40000"/>
                  <a:lumOff val="6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5" name="íşļïďe"/>
              <p:cNvSpPr/>
              <p:nvPr/>
            </p:nvSpPr>
            <p:spPr bwMode="auto">
              <a:xfrm rot="5400000">
                <a:off x="5635840" y="3298352"/>
                <a:ext cx="1754065" cy="265341"/>
              </a:xfrm>
              <a:custGeom>
                <a:avLst/>
                <a:gdLst>
                  <a:gd name="T0" fmla="*/ 746 w 1494"/>
                  <a:gd name="T1" fmla="*/ 0 h 224"/>
                  <a:gd name="T2" fmla="*/ 0 w 1494"/>
                  <a:gd name="T3" fmla="*/ 111 h 224"/>
                  <a:gd name="T4" fmla="*/ 746 w 1494"/>
                  <a:gd name="T5" fmla="*/ 224 h 224"/>
                  <a:gd name="T6" fmla="*/ 1494 w 1494"/>
                  <a:gd name="T7" fmla="*/ 111 h 224"/>
                  <a:gd name="T8" fmla="*/ 746 w 1494"/>
                  <a:gd name="T9" fmla="*/ 0 h 224"/>
                </a:gdLst>
                <a:ahLst/>
                <a:cxnLst>
                  <a:cxn ang="0">
                    <a:pos x="T0" y="T1"/>
                  </a:cxn>
                  <a:cxn ang="0">
                    <a:pos x="T2" y="T3"/>
                  </a:cxn>
                  <a:cxn ang="0">
                    <a:pos x="T4" y="T5"/>
                  </a:cxn>
                  <a:cxn ang="0">
                    <a:pos x="T6" y="T7"/>
                  </a:cxn>
                  <a:cxn ang="0">
                    <a:pos x="T8" y="T9"/>
                  </a:cxn>
                </a:cxnLst>
                <a:rect l="0" t="0" r="r" b="b"/>
                <a:pathLst>
                  <a:path w="1494" h="224">
                    <a:moveTo>
                      <a:pt x="746" y="0"/>
                    </a:moveTo>
                    <a:lnTo>
                      <a:pt x="0" y="111"/>
                    </a:lnTo>
                    <a:lnTo>
                      <a:pt x="746" y="224"/>
                    </a:lnTo>
                    <a:lnTo>
                      <a:pt x="1494" y="111"/>
                    </a:lnTo>
                    <a:lnTo>
                      <a:pt x="746" y="0"/>
                    </a:lnTo>
                    <a:close/>
                  </a:path>
                </a:pathLst>
              </a:custGeom>
              <a:solidFill>
                <a:srgbClr val="F0F0F0"/>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6" name="ï$1îďé"/>
              <p:cNvSpPr/>
              <p:nvPr/>
            </p:nvSpPr>
            <p:spPr bwMode="auto">
              <a:xfrm rot="5400000">
                <a:off x="5494932" y="2449278"/>
                <a:ext cx="1209700" cy="753808"/>
              </a:xfrm>
              <a:custGeom>
                <a:avLst/>
                <a:gdLst>
                  <a:gd name="T0" fmla="*/ 1027 w 1027"/>
                  <a:gd name="T1" fmla="*/ 641 h 641"/>
                  <a:gd name="T2" fmla="*/ 0 w 1027"/>
                  <a:gd name="T3" fmla="*/ 532 h 641"/>
                  <a:gd name="T4" fmla="*/ 0 w 1027"/>
                  <a:gd name="T5" fmla="*/ 111 h 641"/>
                  <a:gd name="T6" fmla="*/ 1027 w 1027"/>
                  <a:gd name="T7" fmla="*/ 0 h 641"/>
                  <a:gd name="T8" fmla="*/ 1027 w 1027"/>
                  <a:gd name="T9" fmla="*/ 641 h 641"/>
                </a:gdLst>
                <a:ahLst/>
                <a:cxnLst>
                  <a:cxn ang="0">
                    <a:pos x="T0" y="T1"/>
                  </a:cxn>
                  <a:cxn ang="0">
                    <a:pos x="T2" y="T3"/>
                  </a:cxn>
                  <a:cxn ang="0">
                    <a:pos x="T4" y="T5"/>
                  </a:cxn>
                  <a:cxn ang="0">
                    <a:pos x="T6" y="T7"/>
                  </a:cxn>
                  <a:cxn ang="0">
                    <a:pos x="T8" y="T9"/>
                  </a:cxn>
                </a:cxnLst>
                <a:rect l="0" t="0" r="r" b="b"/>
                <a:pathLst>
                  <a:path w="1027" h="641">
                    <a:moveTo>
                      <a:pt x="1027" y="641"/>
                    </a:moveTo>
                    <a:lnTo>
                      <a:pt x="0" y="532"/>
                    </a:lnTo>
                    <a:lnTo>
                      <a:pt x="0" y="111"/>
                    </a:lnTo>
                    <a:lnTo>
                      <a:pt x="1027" y="0"/>
                    </a:lnTo>
                    <a:lnTo>
                      <a:pt x="1027" y="641"/>
                    </a:lnTo>
                    <a:close/>
                  </a:path>
                </a:pathLst>
              </a:custGeom>
              <a:solidFill>
                <a:srgbClr val="BE1F1E">
                  <a:lumMod val="60000"/>
                  <a:lumOff val="40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7" name="ïṥļîďè"/>
              <p:cNvSpPr/>
              <p:nvPr/>
            </p:nvSpPr>
            <p:spPr bwMode="auto">
              <a:xfrm rot="5400000">
                <a:off x="5494932" y="3658978"/>
                <a:ext cx="1209700" cy="753808"/>
              </a:xfrm>
              <a:custGeom>
                <a:avLst/>
                <a:gdLst>
                  <a:gd name="T0" fmla="*/ 0 w 1029"/>
                  <a:gd name="T1" fmla="*/ 641 h 641"/>
                  <a:gd name="T2" fmla="*/ 1029 w 1029"/>
                  <a:gd name="T3" fmla="*/ 532 h 641"/>
                  <a:gd name="T4" fmla="*/ 1029 w 1029"/>
                  <a:gd name="T5" fmla="*/ 111 h 641"/>
                  <a:gd name="T6" fmla="*/ 0 w 1029"/>
                  <a:gd name="T7" fmla="*/ 0 h 641"/>
                  <a:gd name="T8" fmla="*/ 0 w 1029"/>
                  <a:gd name="T9" fmla="*/ 641 h 641"/>
                </a:gdLst>
                <a:ahLst/>
                <a:cxnLst>
                  <a:cxn ang="0">
                    <a:pos x="T0" y="T1"/>
                  </a:cxn>
                  <a:cxn ang="0">
                    <a:pos x="T2" y="T3"/>
                  </a:cxn>
                  <a:cxn ang="0">
                    <a:pos x="T4" y="T5"/>
                  </a:cxn>
                  <a:cxn ang="0">
                    <a:pos x="T6" y="T7"/>
                  </a:cxn>
                  <a:cxn ang="0">
                    <a:pos x="T8" y="T9"/>
                  </a:cxn>
                </a:cxnLst>
                <a:rect l="0" t="0" r="r" b="b"/>
                <a:pathLst>
                  <a:path w="1029" h="641">
                    <a:moveTo>
                      <a:pt x="0" y="641"/>
                    </a:moveTo>
                    <a:lnTo>
                      <a:pt x="1029" y="532"/>
                    </a:lnTo>
                    <a:lnTo>
                      <a:pt x="1029" y="111"/>
                    </a:lnTo>
                    <a:lnTo>
                      <a:pt x="0" y="0"/>
                    </a:lnTo>
                    <a:lnTo>
                      <a:pt x="0" y="641"/>
                    </a:lnTo>
                    <a:close/>
                  </a:path>
                </a:pathLst>
              </a:custGeom>
              <a:solidFill>
                <a:srgbClr val="BE1F1E"/>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8" name="iṣḷiḍe"/>
              <p:cNvSpPr/>
              <p:nvPr/>
            </p:nvSpPr>
            <p:spPr bwMode="auto">
              <a:xfrm rot="5400000">
                <a:off x="7709921" y="3156643"/>
                <a:ext cx="0" cy="548772"/>
              </a:xfrm>
              <a:custGeom>
                <a:avLst/>
                <a:gdLst>
                  <a:gd name="T0" fmla="*/ 8 w 8"/>
                  <a:gd name="T1" fmla="*/ 468 h 468"/>
                  <a:gd name="T2" fmla="*/ 0 w 8"/>
                  <a:gd name="T3" fmla="*/ 468 h 468"/>
                  <a:gd name="T4" fmla="*/ 0 w 8"/>
                  <a:gd name="T5" fmla="*/ 2 h 468"/>
                  <a:gd name="T6" fmla="*/ 3 w 8"/>
                  <a:gd name="T7" fmla="*/ 0 h 468"/>
                  <a:gd name="T8" fmla="*/ 8 w 8"/>
                  <a:gd name="T9" fmla="*/ 2 h 468"/>
                  <a:gd name="T10" fmla="*/ 8 w 8"/>
                  <a:gd name="T11" fmla="*/ 468 h 468"/>
                </a:gdLst>
                <a:ahLst/>
                <a:cxnLst>
                  <a:cxn ang="0">
                    <a:pos x="T0" y="T1"/>
                  </a:cxn>
                  <a:cxn ang="0">
                    <a:pos x="T2" y="T3"/>
                  </a:cxn>
                  <a:cxn ang="0">
                    <a:pos x="T4" y="T5"/>
                  </a:cxn>
                  <a:cxn ang="0">
                    <a:pos x="T6" y="T7"/>
                  </a:cxn>
                  <a:cxn ang="0">
                    <a:pos x="T8" y="T9"/>
                  </a:cxn>
                  <a:cxn ang="0">
                    <a:pos x="T10" y="T11"/>
                  </a:cxn>
                </a:cxnLst>
                <a:rect l="0" t="0" r="r" b="b"/>
                <a:pathLst>
                  <a:path w="8" h="468">
                    <a:moveTo>
                      <a:pt x="8" y="468"/>
                    </a:moveTo>
                    <a:lnTo>
                      <a:pt x="0" y="468"/>
                    </a:lnTo>
                    <a:lnTo>
                      <a:pt x="0" y="2"/>
                    </a:lnTo>
                    <a:lnTo>
                      <a:pt x="3" y="0"/>
                    </a:lnTo>
                    <a:lnTo>
                      <a:pt x="8" y="2"/>
                    </a:lnTo>
                    <a:lnTo>
                      <a:pt x="8" y="468"/>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19" name="ïṡḻïḋè"/>
              <p:cNvSpPr/>
              <p:nvPr/>
            </p:nvSpPr>
            <p:spPr bwMode="auto">
              <a:xfrm rot="5400000">
                <a:off x="6950081" y="3132522"/>
                <a:ext cx="0" cy="597015"/>
              </a:xfrm>
              <a:custGeom>
                <a:avLst/>
                <a:gdLst>
                  <a:gd name="T0" fmla="*/ 8 w 8"/>
                  <a:gd name="T1" fmla="*/ 506 h 506"/>
                  <a:gd name="T2" fmla="*/ 0 w 8"/>
                  <a:gd name="T3" fmla="*/ 506 h 506"/>
                  <a:gd name="T4" fmla="*/ 0 w 8"/>
                  <a:gd name="T5" fmla="*/ 1 h 506"/>
                  <a:gd name="T6" fmla="*/ 3 w 8"/>
                  <a:gd name="T7" fmla="*/ 0 h 506"/>
                  <a:gd name="T8" fmla="*/ 8 w 8"/>
                  <a:gd name="T9" fmla="*/ 1 h 506"/>
                  <a:gd name="T10" fmla="*/ 8 w 8"/>
                  <a:gd name="T11" fmla="*/ 506 h 506"/>
                </a:gdLst>
                <a:ahLst/>
                <a:cxnLst>
                  <a:cxn ang="0">
                    <a:pos x="T0" y="T1"/>
                  </a:cxn>
                  <a:cxn ang="0">
                    <a:pos x="T2" y="T3"/>
                  </a:cxn>
                  <a:cxn ang="0">
                    <a:pos x="T4" y="T5"/>
                  </a:cxn>
                  <a:cxn ang="0">
                    <a:pos x="T6" y="T7"/>
                  </a:cxn>
                  <a:cxn ang="0">
                    <a:pos x="T8" y="T9"/>
                  </a:cxn>
                  <a:cxn ang="0">
                    <a:pos x="T10" y="T11"/>
                  </a:cxn>
                </a:cxnLst>
                <a:rect l="0" t="0" r="r" b="b"/>
                <a:pathLst>
                  <a:path w="8" h="506">
                    <a:moveTo>
                      <a:pt x="8" y="506"/>
                    </a:moveTo>
                    <a:lnTo>
                      <a:pt x="0" y="506"/>
                    </a:lnTo>
                    <a:lnTo>
                      <a:pt x="0" y="1"/>
                    </a:lnTo>
                    <a:lnTo>
                      <a:pt x="3" y="0"/>
                    </a:lnTo>
                    <a:lnTo>
                      <a:pt x="8" y="1"/>
                    </a:lnTo>
                    <a:lnTo>
                      <a:pt x="8" y="506"/>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0" name="íSlïḋe"/>
              <p:cNvSpPr/>
              <p:nvPr/>
            </p:nvSpPr>
            <p:spPr bwMode="auto">
              <a:xfrm rot="5400000">
                <a:off x="4495675" y="3166723"/>
                <a:ext cx="0" cy="548775"/>
              </a:xfrm>
              <a:custGeom>
                <a:avLst/>
                <a:gdLst>
                  <a:gd name="T0" fmla="*/ 8 w 8"/>
                  <a:gd name="T1" fmla="*/ 0 h 468"/>
                  <a:gd name="T2" fmla="*/ 0 w 8"/>
                  <a:gd name="T3" fmla="*/ 0 h 468"/>
                  <a:gd name="T4" fmla="*/ 0 w 8"/>
                  <a:gd name="T5" fmla="*/ 467 h 468"/>
                  <a:gd name="T6" fmla="*/ 3 w 8"/>
                  <a:gd name="T7" fmla="*/ 468 h 468"/>
                  <a:gd name="T8" fmla="*/ 8 w 8"/>
                  <a:gd name="T9" fmla="*/ 467 h 468"/>
                  <a:gd name="T10" fmla="*/ 8 w 8"/>
                  <a:gd name="T11" fmla="*/ 0 h 468"/>
                </a:gdLst>
                <a:ahLst/>
                <a:cxnLst>
                  <a:cxn ang="0">
                    <a:pos x="T0" y="T1"/>
                  </a:cxn>
                  <a:cxn ang="0">
                    <a:pos x="T2" y="T3"/>
                  </a:cxn>
                  <a:cxn ang="0">
                    <a:pos x="T4" y="T5"/>
                  </a:cxn>
                  <a:cxn ang="0">
                    <a:pos x="T6" y="T7"/>
                  </a:cxn>
                  <a:cxn ang="0">
                    <a:pos x="T8" y="T9"/>
                  </a:cxn>
                  <a:cxn ang="0">
                    <a:pos x="T10" y="T11"/>
                  </a:cxn>
                </a:cxnLst>
                <a:rect l="0" t="0" r="r" b="b"/>
                <a:pathLst>
                  <a:path w="8" h="468">
                    <a:moveTo>
                      <a:pt x="8" y="0"/>
                    </a:moveTo>
                    <a:lnTo>
                      <a:pt x="0" y="0"/>
                    </a:lnTo>
                    <a:lnTo>
                      <a:pt x="0" y="467"/>
                    </a:lnTo>
                    <a:lnTo>
                      <a:pt x="3" y="468"/>
                    </a:lnTo>
                    <a:lnTo>
                      <a:pt x="8" y="467"/>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1" name="íṩľîḋê"/>
              <p:cNvSpPr/>
              <p:nvPr/>
            </p:nvSpPr>
            <p:spPr bwMode="auto">
              <a:xfrm rot="5400000">
                <a:off x="5255515" y="3132523"/>
                <a:ext cx="0" cy="597019"/>
              </a:xfrm>
              <a:custGeom>
                <a:avLst/>
                <a:gdLst>
                  <a:gd name="T0" fmla="*/ 8 w 8"/>
                  <a:gd name="T1" fmla="*/ 0 h 506"/>
                  <a:gd name="T2" fmla="*/ 0 w 8"/>
                  <a:gd name="T3" fmla="*/ 0 h 506"/>
                  <a:gd name="T4" fmla="*/ 0 w 8"/>
                  <a:gd name="T5" fmla="*/ 504 h 506"/>
                  <a:gd name="T6" fmla="*/ 3 w 8"/>
                  <a:gd name="T7" fmla="*/ 506 h 506"/>
                  <a:gd name="T8" fmla="*/ 8 w 8"/>
                  <a:gd name="T9" fmla="*/ 504 h 506"/>
                  <a:gd name="T10" fmla="*/ 8 w 8"/>
                  <a:gd name="T11" fmla="*/ 0 h 506"/>
                </a:gdLst>
                <a:ahLst/>
                <a:cxnLst>
                  <a:cxn ang="0">
                    <a:pos x="T0" y="T1"/>
                  </a:cxn>
                  <a:cxn ang="0">
                    <a:pos x="T2" y="T3"/>
                  </a:cxn>
                  <a:cxn ang="0">
                    <a:pos x="T4" y="T5"/>
                  </a:cxn>
                  <a:cxn ang="0">
                    <a:pos x="T6" y="T7"/>
                  </a:cxn>
                  <a:cxn ang="0">
                    <a:pos x="T8" y="T9"/>
                  </a:cxn>
                  <a:cxn ang="0">
                    <a:pos x="T10" y="T11"/>
                  </a:cxn>
                </a:cxnLst>
                <a:rect l="0" t="0" r="r" b="b"/>
                <a:pathLst>
                  <a:path w="8" h="506">
                    <a:moveTo>
                      <a:pt x="8" y="0"/>
                    </a:moveTo>
                    <a:lnTo>
                      <a:pt x="0" y="0"/>
                    </a:lnTo>
                    <a:lnTo>
                      <a:pt x="0" y="504"/>
                    </a:lnTo>
                    <a:lnTo>
                      <a:pt x="3" y="506"/>
                    </a:lnTo>
                    <a:lnTo>
                      <a:pt x="8" y="504"/>
                    </a:lnTo>
                    <a:lnTo>
                      <a:pt x="8"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2" name="iş1ïďè"/>
              <p:cNvSpPr/>
              <p:nvPr/>
            </p:nvSpPr>
            <p:spPr bwMode="auto">
              <a:xfrm rot="5400000">
                <a:off x="6099782" y="3054128"/>
                <a:ext cx="0" cy="753808"/>
              </a:xfrm>
              <a:custGeom>
                <a:avLst/>
                <a:gdLst>
                  <a:gd name="T0" fmla="*/ 8 w 8"/>
                  <a:gd name="T1" fmla="*/ 640 h 641"/>
                  <a:gd name="T2" fmla="*/ 3 w 8"/>
                  <a:gd name="T3" fmla="*/ 641 h 641"/>
                  <a:gd name="T4" fmla="*/ 0 w 8"/>
                  <a:gd name="T5" fmla="*/ 640 h 641"/>
                  <a:gd name="T6" fmla="*/ 0 w 8"/>
                  <a:gd name="T7" fmla="*/ 0 h 641"/>
                  <a:gd name="T8" fmla="*/ 3 w 8"/>
                  <a:gd name="T9" fmla="*/ 0 h 641"/>
                  <a:gd name="T10" fmla="*/ 8 w 8"/>
                  <a:gd name="T11" fmla="*/ 0 h 641"/>
                  <a:gd name="T12" fmla="*/ 8 w 8"/>
                  <a:gd name="T13" fmla="*/ 640 h 641"/>
                </a:gdLst>
                <a:ahLst/>
                <a:cxnLst>
                  <a:cxn ang="0">
                    <a:pos x="T0" y="T1"/>
                  </a:cxn>
                  <a:cxn ang="0">
                    <a:pos x="T2" y="T3"/>
                  </a:cxn>
                  <a:cxn ang="0">
                    <a:pos x="T4" y="T5"/>
                  </a:cxn>
                  <a:cxn ang="0">
                    <a:pos x="T6" y="T7"/>
                  </a:cxn>
                  <a:cxn ang="0">
                    <a:pos x="T8" y="T9"/>
                  </a:cxn>
                  <a:cxn ang="0">
                    <a:pos x="T10" y="T11"/>
                  </a:cxn>
                  <a:cxn ang="0">
                    <a:pos x="T12" y="T13"/>
                  </a:cxn>
                </a:cxnLst>
                <a:rect l="0" t="0" r="r" b="b"/>
                <a:pathLst>
                  <a:path w="8" h="641">
                    <a:moveTo>
                      <a:pt x="8" y="640"/>
                    </a:moveTo>
                    <a:lnTo>
                      <a:pt x="3" y="641"/>
                    </a:lnTo>
                    <a:lnTo>
                      <a:pt x="0" y="640"/>
                    </a:lnTo>
                    <a:lnTo>
                      <a:pt x="0" y="0"/>
                    </a:lnTo>
                    <a:lnTo>
                      <a:pt x="3" y="0"/>
                    </a:lnTo>
                    <a:lnTo>
                      <a:pt x="8" y="0"/>
                    </a:lnTo>
                    <a:lnTo>
                      <a:pt x="8" y="64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3" name="íşḻïḋè"/>
              <p:cNvSpPr/>
              <p:nvPr/>
            </p:nvSpPr>
            <p:spPr bwMode="auto">
              <a:xfrm rot="5400000">
                <a:off x="7260018" y="3277296"/>
                <a:ext cx="1098814" cy="337707"/>
              </a:xfrm>
              <a:custGeom>
                <a:avLst/>
                <a:gdLst>
                  <a:gd name="T0" fmla="*/ 465 w 933"/>
                  <a:gd name="T1" fmla="*/ 0 h 285"/>
                  <a:gd name="T2" fmla="*/ 0 w 933"/>
                  <a:gd name="T3" fmla="*/ 280 h 285"/>
                  <a:gd name="T4" fmla="*/ 0 w 933"/>
                  <a:gd name="T5" fmla="*/ 285 h 285"/>
                  <a:gd name="T6" fmla="*/ 465 w 933"/>
                  <a:gd name="T7" fmla="*/ 10 h 285"/>
                  <a:gd name="T8" fmla="*/ 933 w 933"/>
                  <a:gd name="T9" fmla="*/ 285 h 285"/>
                  <a:gd name="T10" fmla="*/ 933 w 933"/>
                  <a:gd name="T11" fmla="*/ 280 h 285"/>
                  <a:gd name="T12" fmla="*/ 465 w 933"/>
                  <a:gd name="T13" fmla="*/ 0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0"/>
                    </a:moveTo>
                    <a:lnTo>
                      <a:pt x="0" y="280"/>
                    </a:lnTo>
                    <a:lnTo>
                      <a:pt x="0" y="285"/>
                    </a:lnTo>
                    <a:lnTo>
                      <a:pt x="465" y="10"/>
                    </a:lnTo>
                    <a:lnTo>
                      <a:pt x="933" y="285"/>
                    </a:lnTo>
                    <a:lnTo>
                      <a:pt x="933" y="280"/>
                    </a:lnTo>
                    <a:lnTo>
                      <a:pt x="465"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4" name="i$liḓe"/>
              <p:cNvSpPr/>
              <p:nvPr/>
            </p:nvSpPr>
            <p:spPr bwMode="auto">
              <a:xfrm rot="5400000">
                <a:off x="6777580" y="3337601"/>
                <a:ext cx="1098814" cy="217097"/>
              </a:xfrm>
              <a:custGeom>
                <a:avLst/>
                <a:gdLst>
                  <a:gd name="T0" fmla="*/ 0 w 933"/>
                  <a:gd name="T1" fmla="*/ 183 h 183"/>
                  <a:gd name="T2" fmla="*/ 462 w 933"/>
                  <a:gd name="T3" fmla="*/ 7 h 183"/>
                  <a:gd name="T4" fmla="*/ 470 w 933"/>
                  <a:gd name="T5" fmla="*/ 7 h 183"/>
                  <a:gd name="T6" fmla="*/ 933 w 933"/>
                  <a:gd name="T7" fmla="*/ 183 h 183"/>
                  <a:gd name="T8" fmla="*/ 933 w 933"/>
                  <a:gd name="T9" fmla="*/ 178 h 183"/>
                  <a:gd name="T10" fmla="*/ 470 w 933"/>
                  <a:gd name="T11" fmla="*/ 0 h 183"/>
                  <a:gd name="T12" fmla="*/ 462 w 933"/>
                  <a:gd name="T13" fmla="*/ 0 h 183"/>
                  <a:gd name="T14" fmla="*/ 0 w 933"/>
                  <a:gd name="T15" fmla="*/ 178 h 183"/>
                  <a:gd name="T16" fmla="*/ 0 w 933"/>
                  <a:gd name="T17"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183"/>
                    </a:moveTo>
                    <a:lnTo>
                      <a:pt x="462" y="7"/>
                    </a:lnTo>
                    <a:lnTo>
                      <a:pt x="470" y="7"/>
                    </a:lnTo>
                    <a:lnTo>
                      <a:pt x="933" y="183"/>
                    </a:lnTo>
                    <a:lnTo>
                      <a:pt x="933" y="178"/>
                    </a:lnTo>
                    <a:lnTo>
                      <a:pt x="470" y="0"/>
                    </a:lnTo>
                    <a:lnTo>
                      <a:pt x="462" y="0"/>
                    </a:lnTo>
                    <a:lnTo>
                      <a:pt x="0" y="178"/>
                    </a:lnTo>
                    <a:lnTo>
                      <a:pt x="0" y="18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5" name="íSlíḋè"/>
              <p:cNvSpPr/>
              <p:nvPr/>
            </p:nvSpPr>
            <p:spPr bwMode="auto">
              <a:xfrm rot="5400000">
                <a:off x="5708206" y="3358657"/>
                <a:ext cx="1754065" cy="144731"/>
              </a:xfrm>
              <a:custGeom>
                <a:avLst/>
                <a:gdLst>
                  <a:gd name="T0" fmla="*/ 743 w 1494"/>
                  <a:gd name="T1" fmla="*/ 0 h 122"/>
                  <a:gd name="T2" fmla="*/ 0 w 1494"/>
                  <a:gd name="T3" fmla="*/ 113 h 122"/>
                  <a:gd name="T4" fmla="*/ 0 w 1494"/>
                  <a:gd name="T5" fmla="*/ 122 h 122"/>
                  <a:gd name="T6" fmla="*/ 743 w 1494"/>
                  <a:gd name="T7" fmla="*/ 11 h 122"/>
                  <a:gd name="T8" fmla="*/ 751 w 1494"/>
                  <a:gd name="T9" fmla="*/ 11 h 122"/>
                  <a:gd name="T10" fmla="*/ 1494 w 1494"/>
                  <a:gd name="T11" fmla="*/ 122 h 122"/>
                  <a:gd name="T12" fmla="*/ 1494 w 1494"/>
                  <a:gd name="T13" fmla="*/ 113 h 122"/>
                  <a:gd name="T14" fmla="*/ 751 w 1494"/>
                  <a:gd name="T15" fmla="*/ 0 h 122"/>
                  <a:gd name="T16" fmla="*/ 743 w 1494"/>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0"/>
                    </a:moveTo>
                    <a:lnTo>
                      <a:pt x="0" y="113"/>
                    </a:lnTo>
                    <a:lnTo>
                      <a:pt x="0" y="122"/>
                    </a:lnTo>
                    <a:lnTo>
                      <a:pt x="743" y="11"/>
                    </a:lnTo>
                    <a:lnTo>
                      <a:pt x="751" y="11"/>
                    </a:lnTo>
                    <a:lnTo>
                      <a:pt x="1494" y="122"/>
                    </a:lnTo>
                    <a:lnTo>
                      <a:pt x="1494" y="113"/>
                    </a:lnTo>
                    <a:lnTo>
                      <a:pt x="751" y="0"/>
                    </a:lnTo>
                    <a:lnTo>
                      <a:pt x="743"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6" name="ïṥlïdé"/>
              <p:cNvSpPr/>
              <p:nvPr/>
            </p:nvSpPr>
            <p:spPr bwMode="auto">
              <a:xfrm rot="5400000">
                <a:off x="3834712" y="3287374"/>
                <a:ext cx="1098808" cy="337707"/>
              </a:xfrm>
              <a:custGeom>
                <a:avLst/>
                <a:gdLst>
                  <a:gd name="T0" fmla="*/ 465 w 933"/>
                  <a:gd name="T1" fmla="*/ 285 h 285"/>
                  <a:gd name="T2" fmla="*/ 0 w 933"/>
                  <a:gd name="T3" fmla="*/ 5 h 285"/>
                  <a:gd name="T4" fmla="*/ 0 w 933"/>
                  <a:gd name="T5" fmla="*/ 0 h 285"/>
                  <a:gd name="T6" fmla="*/ 465 w 933"/>
                  <a:gd name="T7" fmla="*/ 275 h 285"/>
                  <a:gd name="T8" fmla="*/ 933 w 933"/>
                  <a:gd name="T9" fmla="*/ 0 h 285"/>
                  <a:gd name="T10" fmla="*/ 933 w 933"/>
                  <a:gd name="T11" fmla="*/ 5 h 285"/>
                  <a:gd name="T12" fmla="*/ 465 w 933"/>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933" h="285">
                    <a:moveTo>
                      <a:pt x="465" y="285"/>
                    </a:moveTo>
                    <a:lnTo>
                      <a:pt x="0" y="5"/>
                    </a:lnTo>
                    <a:lnTo>
                      <a:pt x="0" y="0"/>
                    </a:lnTo>
                    <a:lnTo>
                      <a:pt x="465" y="275"/>
                    </a:lnTo>
                    <a:lnTo>
                      <a:pt x="933" y="0"/>
                    </a:lnTo>
                    <a:lnTo>
                      <a:pt x="933" y="5"/>
                    </a:lnTo>
                    <a:lnTo>
                      <a:pt x="465" y="285"/>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7" name="işľîḍè"/>
              <p:cNvSpPr/>
              <p:nvPr/>
            </p:nvSpPr>
            <p:spPr bwMode="auto">
              <a:xfrm rot="5400000">
                <a:off x="4317150" y="3347679"/>
                <a:ext cx="1098808" cy="217097"/>
              </a:xfrm>
              <a:custGeom>
                <a:avLst/>
                <a:gdLst>
                  <a:gd name="T0" fmla="*/ 0 w 933"/>
                  <a:gd name="T1" fmla="*/ 0 h 183"/>
                  <a:gd name="T2" fmla="*/ 462 w 933"/>
                  <a:gd name="T3" fmla="*/ 176 h 183"/>
                  <a:gd name="T4" fmla="*/ 470 w 933"/>
                  <a:gd name="T5" fmla="*/ 176 h 183"/>
                  <a:gd name="T6" fmla="*/ 933 w 933"/>
                  <a:gd name="T7" fmla="*/ 0 h 183"/>
                  <a:gd name="T8" fmla="*/ 933 w 933"/>
                  <a:gd name="T9" fmla="*/ 5 h 183"/>
                  <a:gd name="T10" fmla="*/ 470 w 933"/>
                  <a:gd name="T11" fmla="*/ 183 h 183"/>
                  <a:gd name="T12" fmla="*/ 462 w 933"/>
                  <a:gd name="T13" fmla="*/ 183 h 183"/>
                  <a:gd name="T14" fmla="*/ 0 w 933"/>
                  <a:gd name="T15" fmla="*/ 5 h 183"/>
                  <a:gd name="T16" fmla="*/ 0 w 933"/>
                  <a:gd name="T1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3" h="183">
                    <a:moveTo>
                      <a:pt x="0" y="0"/>
                    </a:moveTo>
                    <a:lnTo>
                      <a:pt x="462" y="176"/>
                    </a:lnTo>
                    <a:lnTo>
                      <a:pt x="470" y="176"/>
                    </a:lnTo>
                    <a:lnTo>
                      <a:pt x="933" y="0"/>
                    </a:lnTo>
                    <a:lnTo>
                      <a:pt x="933" y="5"/>
                    </a:lnTo>
                    <a:lnTo>
                      <a:pt x="470" y="183"/>
                    </a:lnTo>
                    <a:lnTo>
                      <a:pt x="462" y="183"/>
                    </a:lnTo>
                    <a:lnTo>
                      <a:pt x="0" y="5"/>
                    </a:lnTo>
                    <a:lnTo>
                      <a:pt x="0"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8" name="îŝḷîḓê"/>
              <p:cNvSpPr/>
              <p:nvPr/>
            </p:nvSpPr>
            <p:spPr bwMode="auto">
              <a:xfrm rot="5400000">
                <a:off x="4212648" y="3302409"/>
                <a:ext cx="1754065" cy="277402"/>
              </a:xfrm>
              <a:custGeom>
                <a:avLst/>
                <a:gdLst>
                  <a:gd name="T0" fmla="*/ 746 w 1494"/>
                  <a:gd name="T1" fmla="*/ 233 h 233"/>
                  <a:gd name="T2" fmla="*/ 0 w 1494"/>
                  <a:gd name="T3" fmla="*/ 9 h 233"/>
                  <a:gd name="T4" fmla="*/ 0 w 1494"/>
                  <a:gd name="T5" fmla="*/ 0 h 233"/>
                  <a:gd name="T6" fmla="*/ 746 w 1494"/>
                  <a:gd name="T7" fmla="*/ 222 h 233"/>
                  <a:gd name="T8" fmla="*/ 1494 w 1494"/>
                  <a:gd name="T9" fmla="*/ 0 h 233"/>
                  <a:gd name="T10" fmla="*/ 1494 w 1494"/>
                  <a:gd name="T11" fmla="*/ 9 h 233"/>
                  <a:gd name="T12" fmla="*/ 746 w 1494"/>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1494" h="233">
                    <a:moveTo>
                      <a:pt x="746" y="233"/>
                    </a:moveTo>
                    <a:lnTo>
                      <a:pt x="0" y="9"/>
                    </a:lnTo>
                    <a:lnTo>
                      <a:pt x="0" y="0"/>
                    </a:lnTo>
                    <a:lnTo>
                      <a:pt x="746" y="222"/>
                    </a:lnTo>
                    <a:lnTo>
                      <a:pt x="1494" y="0"/>
                    </a:lnTo>
                    <a:lnTo>
                      <a:pt x="1494" y="9"/>
                    </a:lnTo>
                    <a:lnTo>
                      <a:pt x="746" y="233"/>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29" name="ïṡḷiḍè"/>
              <p:cNvSpPr/>
              <p:nvPr/>
            </p:nvSpPr>
            <p:spPr bwMode="auto">
              <a:xfrm rot="5400000">
                <a:off x="4731268" y="3358657"/>
                <a:ext cx="1754065" cy="144731"/>
              </a:xfrm>
              <a:custGeom>
                <a:avLst/>
                <a:gdLst>
                  <a:gd name="T0" fmla="*/ 743 w 1494"/>
                  <a:gd name="T1" fmla="*/ 122 h 122"/>
                  <a:gd name="T2" fmla="*/ 0 w 1494"/>
                  <a:gd name="T3" fmla="*/ 9 h 122"/>
                  <a:gd name="T4" fmla="*/ 0 w 1494"/>
                  <a:gd name="T5" fmla="*/ 0 h 122"/>
                  <a:gd name="T6" fmla="*/ 743 w 1494"/>
                  <a:gd name="T7" fmla="*/ 112 h 122"/>
                  <a:gd name="T8" fmla="*/ 751 w 1494"/>
                  <a:gd name="T9" fmla="*/ 112 h 122"/>
                  <a:gd name="T10" fmla="*/ 1494 w 1494"/>
                  <a:gd name="T11" fmla="*/ 0 h 122"/>
                  <a:gd name="T12" fmla="*/ 1494 w 1494"/>
                  <a:gd name="T13" fmla="*/ 9 h 122"/>
                  <a:gd name="T14" fmla="*/ 751 w 1494"/>
                  <a:gd name="T15" fmla="*/ 122 h 122"/>
                  <a:gd name="T16" fmla="*/ 743 w 1494"/>
                  <a:gd name="T17"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4" h="122">
                    <a:moveTo>
                      <a:pt x="743" y="122"/>
                    </a:moveTo>
                    <a:lnTo>
                      <a:pt x="0" y="9"/>
                    </a:lnTo>
                    <a:lnTo>
                      <a:pt x="0" y="0"/>
                    </a:lnTo>
                    <a:lnTo>
                      <a:pt x="743" y="112"/>
                    </a:lnTo>
                    <a:lnTo>
                      <a:pt x="751" y="112"/>
                    </a:lnTo>
                    <a:lnTo>
                      <a:pt x="1494" y="0"/>
                    </a:lnTo>
                    <a:lnTo>
                      <a:pt x="1494" y="9"/>
                    </a:lnTo>
                    <a:lnTo>
                      <a:pt x="751" y="122"/>
                    </a:lnTo>
                    <a:lnTo>
                      <a:pt x="743" y="122"/>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0" name="iṡḻiḍê"/>
              <p:cNvSpPr/>
              <p:nvPr/>
            </p:nvSpPr>
            <p:spPr bwMode="auto">
              <a:xfrm rot="5400000">
                <a:off x="5188593" y="3358664"/>
                <a:ext cx="2419400" cy="144731"/>
              </a:xfrm>
              <a:custGeom>
                <a:avLst/>
                <a:gdLst>
                  <a:gd name="T0" fmla="*/ 1027 w 2056"/>
                  <a:gd name="T1" fmla="*/ 0 h 123"/>
                  <a:gd name="T2" fmla="*/ 0 w 2056"/>
                  <a:gd name="T3" fmla="*/ 111 h 123"/>
                  <a:gd name="T4" fmla="*/ 0 w 2056"/>
                  <a:gd name="T5" fmla="*/ 123 h 123"/>
                  <a:gd name="T6" fmla="*/ 1027 w 2056"/>
                  <a:gd name="T7" fmla="*/ 14 h 123"/>
                  <a:gd name="T8" fmla="*/ 2056 w 2056"/>
                  <a:gd name="T9" fmla="*/ 123 h 123"/>
                  <a:gd name="T10" fmla="*/ 2056 w 2056"/>
                  <a:gd name="T11" fmla="*/ 111 h 123"/>
                  <a:gd name="T12" fmla="*/ 1027 w 2056"/>
                  <a:gd name="T13" fmla="*/ 0 h 123"/>
                </a:gdLst>
                <a:ahLst/>
                <a:cxnLst>
                  <a:cxn ang="0">
                    <a:pos x="T0" y="T1"/>
                  </a:cxn>
                  <a:cxn ang="0">
                    <a:pos x="T2" y="T3"/>
                  </a:cxn>
                  <a:cxn ang="0">
                    <a:pos x="T4" y="T5"/>
                  </a:cxn>
                  <a:cxn ang="0">
                    <a:pos x="T6" y="T7"/>
                  </a:cxn>
                  <a:cxn ang="0">
                    <a:pos x="T8" y="T9"/>
                  </a:cxn>
                  <a:cxn ang="0">
                    <a:pos x="T10" y="T11"/>
                  </a:cxn>
                  <a:cxn ang="0">
                    <a:pos x="T12" y="T13"/>
                  </a:cxn>
                </a:cxnLst>
                <a:rect l="0" t="0" r="r" b="b"/>
                <a:pathLst>
                  <a:path w="2056" h="123">
                    <a:moveTo>
                      <a:pt x="1027" y="0"/>
                    </a:moveTo>
                    <a:lnTo>
                      <a:pt x="0" y="111"/>
                    </a:lnTo>
                    <a:lnTo>
                      <a:pt x="0" y="123"/>
                    </a:lnTo>
                    <a:lnTo>
                      <a:pt x="1027" y="14"/>
                    </a:lnTo>
                    <a:lnTo>
                      <a:pt x="2056" y="123"/>
                    </a:lnTo>
                    <a:lnTo>
                      <a:pt x="2056" y="111"/>
                    </a:lnTo>
                    <a:lnTo>
                      <a:pt x="1027" y="0"/>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sp>
            <p:nvSpPr>
              <p:cNvPr id="31" name="iSḷíďê"/>
              <p:cNvSpPr/>
              <p:nvPr/>
            </p:nvSpPr>
            <p:spPr bwMode="auto">
              <a:xfrm rot="5400000">
                <a:off x="4582530" y="3361680"/>
                <a:ext cx="2419400" cy="138699"/>
              </a:xfrm>
              <a:custGeom>
                <a:avLst/>
                <a:gdLst>
                  <a:gd name="T0" fmla="*/ 1027 w 2056"/>
                  <a:gd name="T1" fmla="*/ 119 h 119"/>
                  <a:gd name="T2" fmla="*/ 0 w 2056"/>
                  <a:gd name="T3" fmla="*/ 10 h 119"/>
                  <a:gd name="T4" fmla="*/ 0 w 2056"/>
                  <a:gd name="T5" fmla="*/ 0 h 119"/>
                  <a:gd name="T6" fmla="*/ 1027 w 2056"/>
                  <a:gd name="T7" fmla="*/ 104 h 119"/>
                  <a:gd name="T8" fmla="*/ 2056 w 2056"/>
                  <a:gd name="T9" fmla="*/ 0 h 119"/>
                  <a:gd name="T10" fmla="*/ 2056 w 2056"/>
                  <a:gd name="T11" fmla="*/ 10 h 119"/>
                  <a:gd name="T12" fmla="*/ 1027 w 2056"/>
                  <a:gd name="T13" fmla="*/ 119 h 119"/>
                </a:gdLst>
                <a:ahLst/>
                <a:cxnLst>
                  <a:cxn ang="0">
                    <a:pos x="T0" y="T1"/>
                  </a:cxn>
                  <a:cxn ang="0">
                    <a:pos x="T2" y="T3"/>
                  </a:cxn>
                  <a:cxn ang="0">
                    <a:pos x="T4" y="T5"/>
                  </a:cxn>
                  <a:cxn ang="0">
                    <a:pos x="T6" y="T7"/>
                  </a:cxn>
                  <a:cxn ang="0">
                    <a:pos x="T8" y="T9"/>
                  </a:cxn>
                  <a:cxn ang="0">
                    <a:pos x="T10" y="T11"/>
                  </a:cxn>
                  <a:cxn ang="0">
                    <a:pos x="T12" y="T13"/>
                  </a:cxn>
                </a:cxnLst>
                <a:rect l="0" t="0" r="r" b="b"/>
                <a:pathLst>
                  <a:path w="2056" h="119">
                    <a:moveTo>
                      <a:pt x="1027" y="119"/>
                    </a:moveTo>
                    <a:lnTo>
                      <a:pt x="0" y="10"/>
                    </a:lnTo>
                    <a:lnTo>
                      <a:pt x="0" y="0"/>
                    </a:lnTo>
                    <a:lnTo>
                      <a:pt x="1027" y="104"/>
                    </a:lnTo>
                    <a:lnTo>
                      <a:pt x="2056" y="0"/>
                    </a:lnTo>
                    <a:lnTo>
                      <a:pt x="2056" y="10"/>
                    </a:lnTo>
                    <a:lnTo>
                      <a:pt x="1027" y="119"/>
                    </a:lnTo>
                    <a:close/>
                  </a:path>
                </a:pathLst>
              </a:custGeom>
              <a:solidFill>
                <a:srgbClr val="FFFFFF">
                  <a:alpha val="25000"/>
                </a:srgbClr>
              </a:solidFill>
              <a:ln>
                <a:noFill/>
              </a:ln>
            </p:spPr>
            <p:txBody>
              <a:bodyPr lIns="162551" tIns="81275" rIns="162551" bIns="81275"/>
              <a:lstStyle/>
              <a:p>
                <a:pPr marL="0" marR="0" lvl="0" indent="0" algn="just" defTabSz="914400" rtl="0" eaLnBrk="1" fontAlgn="auto" latinLnBrk="0" hangingPunct="1">
                  <a:lnSpc>
                    <a:spcPct val="120000"/>
                  </a:lnSpc>
                  <a:spcBef>
                    <a:spcPts val="0"/>
                  </a:spcBef>
                  <a:spcAft>
                    <a:spcPts val="0"/>
                  </a:spcAft>
                  <a:buClrTx/>
                  <a:buSzTx/>
                  <a:buFontTx/>
                  <a:buNone/>
                  <a:defRPr/>
                </a:pPr>
                <a:endParaRPr kumimoji="0" lang="id-ID" sz="665" b="0" i="0" u="none" strike="noStrike" kern="0" cap="none" spc="0" normalizeH="0" baseline="0" noProof="0">
                  <a:ln>
                    <a:noFill/>
                  </a:ln>
                  <a:solidFill>
                    <a:srgbClr val="000000">
                      <a:lumMod val="75000"/>
                      <a:lumOff val="25000"/>
                    </a:srgbClr>
                  </a:solidFill>
                  <a:effectLst/>
                  <a:uLnTx/>
                  <a:uFillTx/>
                  <a:latin typeface="Arial" panose="020B0604020202020204"/>
                  <a:ea typeface="微软雅黑" panose="020B0503020204020204" pitchFamily="34" charset="-122"/>
                  <a:cs typeface="+mn-cs"/>
                </a:endParaRPr>
              </a:p>
            </p:txBody>
          </p:sp>
        </p:grpSp>
      </p:grpSp>
      <p:sp>
        <p:nvSpPr>
          <p:cNvPr id="38" name="Rectangle 3"/>
          <p:cNvSpPr>
            <a:spLocks noGrp="1"/>
          </p:cNvSpPr>
          <p:nvPr/>
        </p:nvSpPr>
        <p:spPr>
          <a:xfrm>
            <a:off x="3306624" y="1687114"/>
            <a:ext cx="5684837" cy="4445743"/>
          </a:xfrm>
          <a:prstGeom prst="rect">
            <a:avLst/>
          </a:prstGeom>
          <a:solidFill>
            <a:schemeClr val="bg1"/>
          </a:solidFill>
          <a:ln w="9525">
            <a:noFill/>
          </a:ln>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lvl="0" algn="just">
              <a:lnSpc>
                <a:spcPct val="150000"/>
              </a:lnSpc>
              <a:spcBef>
                <a:spcPct val="0"/>
              </a:spcBef>
              <a:buClr>
                <a:srgbClr val="FF3300"/>
              </a:buClr>
              <a:buSzPct val="135000"/>
              <a:buNone/>
            </a:pPr>
            <a:r>
              <a:rPr lang="zh-CN" altLang="en-US" sz="3600" b="1" dirty="0" smtClean="0">
                <a:solidFill>
                  <a:srgbClr val="000000"/>
                </a:solidFill>
                <a:latin typeface="微软雅黑" panose="020B0503020204020204" pitchFamily="34" charset="-122"/>
                <a:ea typeface="微软雅黑" panose="020B0503020204020204" pitchFamily="34" charset="-122"/>
              </a:rPr>
              <a:t>一、研究背景与关键问题</a:t>
            </a:r>
            <a:endParaRPr lang="zh-CN" altLang="en-US" sz="3600" b="1" dirty="0" smtClean="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二、攻关目标与研究内容</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三、预期成果与考核指标</a:t>
            </a:r>
            <a:endParaRPr lang="en-US" altLang="zh-CN" sz="3600" b="1" dirty="0">
              <a:solidFill>
                <a:srgbClr val="000000"/>
              </a:solidFill>
              <a:latin typeface="微软雅黑" panose="020B0503020204020204" pitchFamily="34" charset="-122"/>
              <a:ea typeface="微软雅黑" panose="020B0503020204020204" pitchFamily="34" charset="-122"/>
            </a:endParaRPr>
          </a:p>
          <a:p>
            <a:pPr lvl="0" algn="just">
              <a:lnSpc>
                <a:spcPct val="150000"/>
              </a:lnSpc>
              <a:spcBef>
                <a:spcPct val="0"/>
              </a:spcBef>
              <a:buClr>
                <a:srgbClr val="FF3300"/>
              </a:buClr>
              <a:buSzPct val="135000"/>
              <a:buNone/>
            </a:pPr>
            <a:r>
              <a:rPr lang="zh-CN" altLang="en-US" sz="3600" b="1" dirty="0">
                <a:solidFill>
                  <a:srgbClr val="000000"/>
                </a:solidFill>
                <a:latin typeface="微软雅黑" panose="020B0503020204020204" pitchFamily="34" charset="-122"/>
                <a:ea typeface="微软雅黑" panose="020B0503020204020204" pitchFamily="34" charset="-122"/>
              </a:rPr>
              <a:t>四</a:t>
            </a:r>
            <a:r>
              <a:rPr lang="zh-CN" altLang="en-US" sz="3600" b="1" dirty="0" smtClean="0">
                <a:solidFill>
                  <a:srgbClr val="000000"/>
                </a:solidFill>
                <a:latin typeface="微软雅黑" panose="020B0503020204020204" pitchFamily="34" charset="-122"/>
                <a:ea typeface="微软雅黑" panose="020B0503020204020204" pitchFamily="34" charset="-122"/>
              </a:rPr>
              <a:t>、项目组织与经费预算</a:t>
            </a:r>
            <a:endParaRPr lang="en-US" altLang="zh-CN" sz="3600" b="1" dirty="0" smtClean="0">
              <a:solidFill>
                <a:srgbClr val="000000"/>
              </a:solidFill>
              <a:latin typeface="微软雅黑" panose="020B0503020204020204" pitchFamily="34" charset="-122"/>
              <a:ea typeface="微软雅黑" panose="020B0503020204020204" pitchFamily="34" charset="-122"/>
            </a:endParaRPr>
          </a:p>
          <a:p>
            <a:pPr algn="just">
              <a:lnSpc>
                <a:spcPct val="150000"/>
              </a:lnSpc>
              <a:spcBef>
                <a:spcPct val="0"/>
              </a:spcBef>
              <a:buClr>
                <a:srgbClr val="FF3300"/>
              </a:buClr>
              <a:buSzPct val="135000"/>
              <a:buNone/>
            </a:pPr>
            <a:r>
              <a:rPr lang="zh-CN" altLang="en-US" sz="3600" b="1" dirty="0">
                <a:solidFill>
                  <a:srgbClr val="C00000"/>
                </a:solidFill>
                <a:latin typeface="微软雅黑" panose="020B0503020204020204" pitchFamily="34" charset="-122"/>
                <a:ea typeface="微软雅黑" panose="020B0503020204020204" pitchFamily="34" charset="-122"/>
              </a:rPr>
              <a:t>五、阶段进展与下步安排</a:t>
            </a:r>
            <a:endParaRPr lang="en-US" altLang="zh-CN" sz="3600" b="1" dirty="0">
              <a:solidFill>
                <a:srgbClr val="000000"/>
              </a:solidFill>
              <a:latin typeface="微软雅黑" panose="020B0503020204020204" pitchFamily="34" charset="-122"/>
              <a:ea typeface="微软雅黑" panose="020B0503020204020204" pitchFamily="34" charset="-122"/>
            </a:endParaRPr>
          </a:p>
        </p:txBody>
      </p:sp>
      <p:cxnSp>
        <p:nvCxnSpPr>
          <p:cNvPr id="39" name="直接连接符 38"/>
          <p:cNvCxnSpPr/>
          <p:nvPr/>
        </p:nvCxnSpPr>
        <p:spPr bwMode="auto">
          <a:xfrm>
            <a:off x="3527286" y="250832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0" name="直接连接符 39"/>
          <p:cNvCxnSpPr/>
          <p:nvPr/>
        </p:nvCxnSpPr>
        <p:spPr bwMode="auto">
          <a:xfrm>
            <a:off x="3527286" y="3317951"/>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1" name="直接连接符 40"/>
          <p:cNvCxnSpPr/>
          <p:nvPr/>
        </p:nvCxnSpPr>
        <p:spPr bwMode="auto">
          <a:xfrm>
            <a:off x="3527286" y="4165676"/>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2" name="直接连接符 41"/>
          <p:cNvCxnSpPr/>
          <p:nvPr/>
        </p:nvCxnSpPr>
        <p:spPr bwMode="auto">
          <a:xfrm>
            <a:off x="3527286" y="50054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cxnSp>
        <p:nvCxnSpPr>
          <p:cNvPr id="43" name="直接连接符 42"/>
          <p:cNvCxnSpPr/>
          <p:nvPr/>
        </p:nvCxnSpPr>
        <p:spPr bwMode="auto">
          <a:xfrm>
            <a:off x="3527286" y="5818264"/>
            <a:ext cx="5464175" cy="0"/>
          </a:xfrm>
          <a:prstGeom prst="line">
            <a:avLst/>
          </a:prstGeom>
          <a:solidFill>
            <a:srgbClr val="4F81BD"/>
          </a:solidFill>
          <a:ln w="9525" cap="flat" cmpd="sng" algn="ctr">
            <a:solidFill>
              <a:sysClr val="window" lastClr="FFFFFF">
                <a:lumMod val="65000"/>
              </a:sysClr>
            </a:solidFill>
            <a:prstDash val="sysDot"/>
            <a:round/>
            <a:headEnd type="none" w="med" len="med"/>
            <a:tailEnd type="none" w="med" len="med"/>
          </a:ln>
          <a:effectLst>
            <a:outerShdw blurRad="50800" dist="38100" dir="2700000" algn="tl" rotWithShape="0">
              <a:prstClr val="black">
                <a:alpha val="40000"/>
              </a:prstClr>
            </a:outerShdw>
          </a:effectLst>
        </p:spPr>
      </p:cxn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930"/>
            <a:ext cx="12192000" cy="523240"/>
          </a:xfrm>
          <a:prstGeom prst="rect">
            <a:avLst/>
          </a:prstGeom>
        </p:spPr>
        <p:txBody>
          <a:bodyPr wrap="square">
            <a:noAutofit/>
          </a:bodyPr>
          <a:lstStyle/>
          <a:p>
            <a:pPr lvl="0" algn="ctr">
              <a:lnSpc>
                <a:spcPct val="90000"/>
              </a:lnSpc>
              <a:spcBef>
                <a:spcPts val="2400"/>
              </a:spcBef>
              <a:buClr>
                <a:srgbClr val="FF3300"/>
              </a:buClr>
              <a:buSzPct val="135000"/>
              <a:defRPr/>
            </a:pP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进展一：完成了典型井施工数据整理与数据集建设</a:t>
            </a:r>
            <a:endPar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矩形 9"/>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完成了典型井全井段分段</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施工曲线</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的批量</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整理</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，形成结构统一、时间对齐的</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分段小波分析数据集</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2" name="图片 21" descr="泸203H8平台2井第5段施工"/>
          <p:cNvPicPr/>
          <p:nvPr/>
        </p:nvPicPr>
        <p:blipFill>
          <a:blip r:embed="rId1"/>
          <a:stretch>
            <a:fillRect/>
          </a:stretch>
        </p:blipFill>
        <p:spPr>
          <a:xfrm>
            <a:off x="9087485" y="5016025"/>
            <a:ext cx="2340000" cy="1259840"/>
          </a:xfrm>
          <a:prstGeom prst="rect">
            <a:avLst/>
          </a:prstGeom>
        </p:spPr>
      </p:pic>
      <p:pic>
        <p:nvPicPr>
          <p:cNvPr id="23" name="图片 22" descr="泸203H8平台2井第1段施工"/>
          <p:cNvPicPr/>
          <p:nvPr/>
        </p:nvPicPr>
        <p:blipFill>
          <a:blip r:embed="rId2"/>
          <a:stretch>
            <a:fillRect/>
          </a:stretch>
        </p:blipFill>
        <p:spPr>
          <a:xfrm>
            <a:off x="9088145" y="2073275"/>
            <a:ext cx="2339975" cy="1260000"/>
          </a:xfrm>
          <a:prstGeom prst="rect">
            <a:avLst/>
          </a:prstGeom>
        </p:spPr>
      </p:pic>
      <p:pic>
        <p:nvPicPr>
          <p:cNvPr id="24" name="图片 23" descr="泸203H8平台2井第3段施工"/>
          <p:cNvPicPr/>
          <p:nvPr/>
        </p:nvPicPr>
        <p:blipFill>
          <a:blip r:embed="rId3"/>
          <a:stretch>
            <a:fillRect/>
          </a:stretch>
        </p:blipFill>
        <p:spPr>
          <a:xfrm>
            <a:off x="9088780" y="3544730"/>
            <a:ext cx="2339975" cy="1259840"/>
          </a:xfrm>
          <a:prstGeom prst="rect">
            <a:avLst/>
          </a:prstGeom>
        </p:spPr>
      </p:pic>
      <p:pic>
        <p:nvPicPr>
          <p:cNvPr id="25" name="图片 24" descr="图片5"/>
          <p:cNvPicPr/>
          <p:nvPr/>
        </p:nvPicPr>
        <p:blipFill>
          <a:blip r:embed="rId4"/>
          <a:stretch>
            <a:fillRect/>
          </a:stretch>
        </p:blipFill>
        <p:spPr>
          <a:xfrm>
            <a:off x="6038240" y="5016025"/>
            <a:ext cx="2339975" cy="1259840"/>
          </a:xfrm>
          <a:prstGeom prst="rect">
            <a:avLst/>
          </a:prstGeom>
        </p:spPr>
      </p:pic>
      <p:pic>
        <p:nvPicPr>
          <p:cNvPr id="26" name="图片 25" descr="图片1"/>
          <p:cNvPicPr/>
          <p:nvPr/>
        </p:nvPicPr>
        <p:blipFill>
          <a:blip r:embed="rId5"/>
          <a:stretch>
            <a:fillRect/>
          </a:stretch>
        </p:blipFill>
        <p:spPr>
          <a:xfrm>
            <a:off x="6016625" y="2056765"/>
            <a:ext cx="2340000" cy="1260000"/>
          </a:xfrm>
          <a:prstGeom prst="rect">
            <a:avLst/>
          </a:prstGeom>
        </p:spPr>
      </p:pic>
      <p:pic>
        <p:nvPicPr>
          <p:cNvPr id="27" name="图片 26" descr="图片3"/>
          <p:cNvPicPr/>
          <p:nvPr/>
        </p:nvPicPr>
        <p:blipFill>
          <a:blip r:embed="rId6"/>
          <a:stretch>
            <a:fillRect/>
          </a:stretch>
        </p:blipFill>
        <p:spPr>
          <a:xfrm>
            <a:off x="6059830" y="3536475"/>
            <a:ext cx="2339975" cy="1259840"/>
          </a:xfrm>
          <a:prstGeom prst="rect">
            <a:avLst/>
          </a:prstGeom>
        </p:spPr>
      </p:pic>
      <p:cxnSp>
        <p:nvCxnSpPr>
          <p:cNvPr id="28" name="直接箭头连接符 27"/>
          <p:cNvCxnSpPr>
            <a:stCxn id="26" idx="3"/>
            <a:endCxn id="23" idx="1"/>
          </p:cNvCxnSpPr>
          <p:nvPr/>
        </p:nvCxnSpPr>
        <p:spPr>
          <a:xfrm>
            <a:off x="8356600" y="2686685"/>
            <a:ext cx="731520" cy="1651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29" name="直接箭头连接符 28"/>
          <p:cNvCxnSpPr>
            <a:stCxn id="27" idx="3"/>
            <a:endCxn id="24" idx="1"/>
          </p:cNvCxnSpPr>
          <p:nvPr/>
        </p:nvCxnSpPr>
        <p:spPr>
          <a:xfrm>
            <a:off x="8399780" y="4166235"/>
            <a:ext cx="688975" cy="8255"/>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cxnSp>
        <p:nvCxnSpPr>
          <p:cNvPr id="30" name="直接箭头连接符 29"/>
          <p:cNvCxnSpPr>
            <a:stCxn id="25" idx="3"/>
            <a:endCxn id="22" idx="1"/>
          </p:cNvCxnSpPr>
          <p:nvPr/>
        </p:nvCxnSpPr>
        <p:spPr>
          <a:xfrm>
            <a:off x="8378190" y="5645785"/>
            <a:ext cx="709295" cy="0"/>
          </a:xfrm>
          <a:prstGeom prst="straightConnector1">
            <a:avLst/>
          </a:prstGeom>
          <a:ln w="31750" cap="rnd">
            <a:solidFill>
              <a:srgbClr val="FF0000"/>
            </a:solidFill>
            <a:round/>
            <a:headEnd type="none" w="med" len="med"/>
            <a:tailEnd type="arrow" w="med" len="med"/>
          </a:ln>
        </p:spPr>
        <p:style>
          <a:lnRef idx="0">
            <a:srgbClr val="FFFFFF"/>
          </a:lnRef>
          <a:fillRef idx="0">
            <a:srgbClr val="FFFFFF"/>
          </a:fillRef>
          <a:effectRef idx="0">
            <a:srgbClr val="FFFFFF"/>
          </a:effectRef>
          <a:fontRef idx="minor">
            <a:schemeClr val="tx1"/>
          </a:fontRef>
        </p:style>
      </p:cxnSp>
      <p:pic>
        <p:nvPicPr>
          <p:cNvPr id="31" name="图片 30"/>
          <p:cNvPicPr>
            <a:picLocks noChangeAspect="1"/>
          </p:cNvPicPr>
          <p:nvPr/>
        </p:nvPicPr>
        <p:blipFill>
          <a:blip r:embed="rId7"/>
          <a:stretch>
            <a:fillRect/>
          </a:stretch>
        </p:blipFill>
        <p:spPr>
          <a:xfrm>
            <a:off x="828675" y="2541270"/>
            <a:ext cx="4777740" cy="3249295"/>
          </a:xfrm>
          <a:prstGeom prst="rect">
            <a:avLst/>
          </a:prstGeom>
        </p:spPr>
      </p:pic>
      <p:sp>
        <p:nvSpPr>
          <p:cNvPr id="32" name="矩形 31"/>
          <p:cNvSpPr/>
          <p:nvPr/>
        </p:nvSpPr>
        <p:spPr>
          <a:xfrm>
            <a:off x="6916420" y="2201545"/>
            <a:ext cx="690880" cy="1061720"/>
          </a:xfrm>
          <a:prstGeom prst="rect">
            <a:avLst/>
          </a:prstGeom>
          <a:solidFill>
            <a:srgbClr val="00B050">
              <a:alpha val="2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2" charset="-122"/>
            </a:endParaRPr>
          </a:p>
        </p:txBody>
      </p:sp>
      <p:sp>
        <p:nvSpPr>
          <p:cNvPr id="33" name="矩形 32"/>
          <p:cNvSpPr/>
          <p:nvPr/>
        </p:nvSpPr>
        <p:spPr>
          <a:xfrm>
            <a:off x="6576060" y="3681730"/>
            <a:ext cx="1168400" cy="1052195"/>
          </a:xfrm>
          <a:prstGeom prst="rect">
            <a:avLst/>
          </a:prstGeom>
          <a:solidFill>
            <a:srgbClr val="00B050">
              <a:alpha val="2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2" charset="-122"/>
            </a:endParaRPr>
          </a:p>
        </p:txBody>
      </p:sp>
      <p:sp>
        <p:nvSpPr>
          <p:cNvPr id="34" name="矩形 33"/>
          <p:cNvSpPr/>
          <p:nvPr/>
        </p:nvSpPr>
        <p:spPr>
          <a:xfrm>
            <a:off x="6677660" y="5152390"/>
            <a:ext cx="1147445" cy="1061720"/>
          </a:xfrm>
          <a:prstGeom prst="rect">
            <a:avLst/>
          </a:prstGeom>
          <a:solidFill>
            <a:srgbClr val="00B050">
              <a:alpha val="20000"/>
            </a:srgbClr>
          </a:solidFill>
        </p:spPr>
        <p:txBody>
          <a:bodyPr rot="0" vertOverflow="overflow" horzOverflow="overflow" vert="horz" wrap="square" lIns="91440" tIns="45720" rIns="91440" bIns="45720" numCol="1" spcCol="0" rtlCol="0" fromWordArt="0" anchor="ctr" anchorCtr="0" forceAA="0" compatLnSpc="1">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00000000000000000" pitchFamily="2" charset="-122"/>
            </a:endParaRPr>
          </a:p>
        </p:txBody>
      </p:sp>
      <p:sp>
        <p:nvSpPr>
          <p:cNvPr id="35" name="文本框 34"/>
          <p:cNvSpPr txBox="1"/>
          <p:nvPr>
            <p:custDataLst>
              <p:tags r:id="rId8"/>
            </p:custDataLst>
          </p:nvPr>
        </p:nvSpPr>
        <p:spPr>
          <a:xfrm>
            <a:off x="871855" y="6275705"/>
            <a:ext cx="7527925" cy="337185"/>
          </a:xfrm>
          <a:prstGeom prst="rect">
            <a:avLst/>
          </a:prstGeom>
          <a:noFill/>
        </p:spPr>
        <p:txBody>
          <a:bodyPr wrap="square" rtlCol="0">
            <a:spAutoFit/>
          </a:bodyPr>
          <a:p>
            <a:pPr algn="ct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典型井段</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完整施工曲线</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36" name="文本框 35"/>
          <p:cNvSpPr txBox="1"/>
          <p:nvPr>
            <p:custDataLst>
              <p:tags r:id="rId9"/>
            </p:custDataLst>
          </p:nvPr>
        </p:nvSpPr>
        <p:spPr>
          <a:xfrm>
            <a:off x="9087485" y="6275705"/>
            <a:ext cx="2341245" cy="337185"/>
          </a:xfrm>
          <a:prstGeom prst="rect">
            <a:avLst/>
          </a:prstGeom>
          <a:noFill/>
        </p:spPr>
        <p:txBody>
          <a:bodyPr wrap="square" rtlCol="0">
            <a:spAutoFit/>
          </a:bodyPr>
          <a:p>
            <a:pPr algn="ct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小波分析</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数据段</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38125"/>
            <a:ext cx="12192000" cy="522605"/>
          </a:xfrm>
          <a:prstGeom prst="rect">
            <a:avLst/>
          </a:prstGeom>
        </p:spPr>
        <p:txBody>
          <a:bodyPr wrap="square">
            <a:noAutofit/>
          </a:bodyPr>
          <a:lstStyle/>
          <a:p>
            <a:pPr lvl="0" algn="ctr">
              <a:lnSpc>
                <a:spcPct val="90000"/>
              </a:lnSpc>
              <a:spcBef>
                <a:spcPts val="2400"/>
              </a:spcBef>
              <a:buClr>
                <a:srgbClr val="FF3300"/>
              </a:buClr>
              <a:buSzPct val="135000"/>
              <a:defRPr/>
            </a:pP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进展二：建立了小波参数优选方法，明确了施工曲线</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分析模型</a:t>
            </a:r>
            <a:endPar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对比Db、</a:t>
            </a:r>
            <a:r>
              <a:rPr lang="en-US" altLang="zh-CN"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Sym</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、Coif等多种典型小波基函数：</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Db7小波基</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具有紧支撑性、尖峰定位准、高消失矩、细节提取精确等</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特征，综合表现最优</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1"/>
          <p:cNvSpPr txBox="1">
            <a:spLocks noChangeArrowheads="1"/>
          </p:cNvSpPr>
          <p:nvPr/>
        </p:nvSpPr>
        <p:spPr bwMode="auto">
          <a:xfrm>
            <a:off x="181610" y="6075680"/>
            <a:ext cx="732853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常用的小波函数及其性质对比</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5" name="表格 14"/>
          <p:cNvGraphicFramePr>
            <a:graphicFrameLocks noGrp="1"/>
          </p:cNvGraphicFramePr>
          <p:nvPr>
            <p:custDataLst>
              <p:tags r:id="rId1"/>
            </p:custDataLst>
          </p:nvPr>
        </p:nvGraphicFramePr>
        <p:xfrm>
          <a:off x="181610" y="2232660"/>
          <a:ext cx="7328535" cy="3843020"/>
        </p:xfrm>
        <a:graphic>
          <a:graphicData uri="http://schemas.openxmlformats.org/drawingml/2006/table">
            <a:tbl>
              <a:tblPr firstRow="1" firstCol="1" bandRow="1"/>
              <a:tblGrid>
                <a:gridCol w="1051560"/>
                <a:gridCol w="594360"/>
                <a:gridCol w="1106805"/>
                <a:gridCol w="1284605"/>
                <a:gridCol w="823595"/>
                <a:gridCol w="821690"/>
                <a:gridCol w="822960"/>
                <a:gridCol w="822960"/>
              </a:tblGrid>
              <a:tr h="428625">
                <a:tc>
                  <a:txBody>
                    <a:bodyPr/>
                    <a:lstStyle/>
                    <a:p>
                      <a:pPr algn="ctr">
                        <a:lnSpc>
                          <a:spcPct val="125000"/>
                        </a:lnSpc>
                        <a:tabLst>
                          <a:tab pos="239395" algn="l"/>
                          <a:tab pos="266700" algn="l"/>
                        </a:tabLst>
                      </a:pPr>
                      <a:r>
                        <a:rPr lang="zh-CN" sz="1600" b="1" dirty="0">
                          <a:effectLst/>
                          <a:latin typeface="微软雅黑" panose="020B0503020204020204" pitchFamily="34" charset="-122"/>
                          <a:ea typeface="微软雅黑" panose="020B0503020204020204" pitchFamily="34" charset="-122"/>
                          <a:cs typeface="Times New Roman" panose="02020603050405020304" pitchFamily="18" charset="0"/>
                        </a:rPr>
                        <a:t>小波函数</a:t>
                      </a:r>
                      <a:endParaRPr lang="zh-CN" sz="1600" b="1"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rPr>
                        <a:t>haar</a:t>
                      </a:r>
                      <a:endPar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rPr>
                        <a:t>db</a:t>
                      </a:r>
                      <a:endPar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rPr>
                        <a:t>bior</a:t>
                      </a:r>
                      <a:endPar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b="1" dirty="0">
                          <a:effectLst/>
                          <a:latin typeface="微软雅黑" panose="020B0503020204020204" pitchFamily="34" charset="-122"/>
                          <a:ea typeface="微软雅黑" panose="020B0503020204020204" pitchFamily="34" charset="-122"/>
                          <a:cs typeface="Times New Roman" panose="02020603050405020304" pitchFamily="18" charset="0"/>
                        </a:rPr>
                        <a:t>coif</a:t>
                      </a:r>
                      <a:endParaRPr lang="en-US" sz="1600" b="1"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rPr>
                        <a:t>sym</a:t>
                      </a:r>
                      <a:endPar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rPr>
                        <a:t>morl</a:t>
                      </a:r>
                      <a:endPar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rPr>
                        <a:t>mexh</a:t>
                      </a:r>
                      <a:endParaRPr lang="en-US" sz="1600" b="1" dirty="0" err="1">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9730">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正交性</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无</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无</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无</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r>
              <a:tr h="379095">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紧支撑性</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有</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无</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无</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r>
              <a:tr h="379730">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连续小波</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r>
              <a:tr h="379095">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离散小波</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可以</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不可以</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不可以</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r>
              <a:tr h="758825">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支撑长度</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1</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2N-1</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indent="133350" algn="just">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         2Nd+1</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6N-1</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en-US" sz="1600">
                          <a:effectLst/>
                          <a:latin typeface="微软雅黑" panose="020B0503020204020204" pitchFamily="34" charset="-122"/>
                          <a:ea typeface="微软雅黑" panose="020B0503020204020204" pitchFamily="34" charset="-122"/>
                          <a:cs typeface="Times New Roman" panose="02020603050405020304" pitchFamily="18" charset="0"/>
                        </a:rPr>
                        <a:t>2N-1</a:t>
                      </a:r>
                      <a:endParaRPr lang="en-US"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有限</a:t>
                      </a:r>
                      <a:endParaRPr lang="en-US" alt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长度</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有限</a:t>
                      </a:r>
                      <a:endParaRPr lang="en-US" alt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长度</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r>
              <a:tr h="758825">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对称性</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对称</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近似对称</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不对称</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近似</a:t>
                      </a:r>
                      <a:endParaRPr lang="en-US" alt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对称</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近似</a:t>
                      </a:r>
                      <a:endParaRPr lang="en-US" alt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对称</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dirty="0">
                          <a:effectLst/>
                          <a:latin typeface="微软雅黑" panose="020B0503020204020204" pitchFamily="34" charset="-122"/>
                          <a:ea typeface="微软雅黑" panose="020B0503020204020204" pitchFamily="34" charset="-122"/>
                          <a:cs typeface="Times New Roman" panose="02020603050405020304" pitchFamily="18" charset="0"/>
                        </a:rPr>
                        <a:t>对称</a:t>
                      </a:r>
                      <a:endParaRPr lang="zh-CN"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对称</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a:noFill/>
                    </a:lnB>
                  </a:tcPr>
                </a:tc>
              </a:tr>
              <a:tr h="379095">
                <a:tc>
                  <a:txBody>
                    <a:bodyPr/>
                    <a:lstStyle/>
                    <a:p>
                      <a:pPr algn="ctr">
                        <a:lnSpc>
                          <a:spcPct val="125000"/>
                        </a:lnSpc>
                        <a:tabLst>
                          <a:tab pos="239395" algn="l"/>
                          <a:tab pos="266700" algn="l"/>
                        </a:tabLst>
                      </a:pPr>
                      <a:r>
                        <a:rPr lang="zh-CN" sz="1600">
                          <a:effectLst/>
                          <a:latin typeface="微软雅黑" panose="020B0503020204020204" pitchFamily="34" charset="-122"/>
                          <a:ea typeface="微软雅黑" panose="020B0503020204020204" pitchFamily="34" charset="-122"/>
                          <a:cs typeface="Times New Roman" panose="02020603050405020304" pitchFamily="18" charset="0"/>
                        </a:rPr>
                        <a:t>消失矩</a:t>
                      </a:r>
                      <a:endParaRPr lang="zh-CN"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1</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a:effectLst/>
                          <a:latin typeface="微软雅黑" panose="020B0503020204020204" pitchFamily="34" charset="-122"/>
                          <a:ea typeface="微软雅黑" panose="020B0503020204020204" pitchFamily="34" charset="-122"/>
                          <a:cs typeface="Times New Roman" panose="02020603050405020304" pitchFamily="18" charset="0"/>
                        </a:rPr>
                        <a:t>N</a:t>
                      </a:r>
                      <a:endParaRPr lang="en-US"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Nr-1</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a:effectLst/>
                          <a:latin typeface="微软雅黑" panose="020B0503020204020204" pitchFamily="34" charset="-122"/>
                          <a:ea typeface="微软雅黑" panose="020B0503020204020204" pitchFamily="34" charset="-122"/>
                          <a:cs typeface="Times New Roman" panose="02020603050405020304" pitchFamily="18" charset="0"/>
                        </a:rPr>
                        <a:t>2N</a:t>
                      </a:r>
                      <a:endParaRPr lang="en-US" sz="16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N</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25000"/>
                        </a:lnSpc>
                        <a:tabLst>
                          <a:tab pos="239395" algn="l"/>
                          <a:tab pos="266700" algn="l"/>
                        </a:tabLst>
                      </a:pPr>
                      <a:r>
                        <a:rPr lang="en-US" sz="16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sz="16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pic>
        <p:nvPicPr>
          <p:cNvPr id="20" name="图片 19"/>
          <p:cNvPicPr/>
          <p:nvPr/>
        </p:nvPicPr>
        <p:blipFill>
          <a:blip r:embed="rId2"/>
          <a:stretch>
            <a:fillRect/>
          </a:stretch>
        </p:blipFill>
        <p:spPr>
          <a:xfrm>
            <a:off x="7684770" y="2232660"/>
            <a:ext cx="4396105" cy="3842385"/>
          </a:xfrm>
          <a:prstGeom prst="rect">
            <a:avLst/>
          </a:prstGeom>
          <a:ln>
            <a:noFill/>
          </a:ln>
        </p:spPr>
      </p:pic>
      <p:sp>
        <p:nvSpPr>
          <p:cNvPr id="21" name="文本框 1"/>
          <p:cNvSpPr txBox="1">
            <a:spLocks noChangeArrowheads="1"/>
          </p:cNvSpPr>
          <p:nvPr/>
        </p:nvSpPr>
        <p:spPr bwMode="auto">
          <a:xfrm>
            <a:off x="7684770" y="6075680"/>
            <a:ext cx="439610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不同小波基下的小波能量响应</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对比不同小波尺度下的施工曲线信号特征，</a:t>
            </a:r>
            <a:r>
              <a:rPr lang="en-US" altLang="zh-CN"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7~9</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级</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分解具有最高的信噪比，能够清晰的分离施工操作与压力</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响应</a:t>
            </a:r>
            <a:endPar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2" name="图片 21" descr="泸203H10-1井加砂压裂第1段曲线"/>
          <p:cNvPicPr/>
          <p:nvPr/>
        </p:nvPicPr>
        <p:blipFill>
          <a:blip r:embed="rId1"/>
          <a:stretch>
            <a:fillRect/>
          </a:stretch>
        </p:blipFill>
        <p:spPr>
          <a:xfrm>
            <a:off x="715645" y="2193290"/>
            <a:ext cx="3600000" cy="2160000"/>
          </a:xfrm>
          <a:prstGeom prst="rect">
            <a:avLst/>
          </a:prstGeom>
        </p:spPr>
      </p:pic>
      <p:pic>
        <p:nvPicPr>
          <p:cNvPr id="25" name="图片 24" descr="泸203井区H10平台1井第1段第1级分解"/>
          <p:cNvPicPr/>
          <p:nvPr/>
        </p:nvPicPr>
        <p:blipFill>
          <a:blip r:embed="rId2"/>
          <a:stretch>
            <a:fillRect/>
          </a:stretch>
        </p:blipFill>
        <p:spPr>
          <a:xfrm>
            <a:off x="724535" y="4399915"/>
            <a:ext cx="3600000" cy="1080168"/>
          </a:xfrm>
          <a:prstGeom prst="rect">
            <a:avLst/>
          </a:prstGeom>
          <a:ln>
            <a:solidFill>
              <a:schemeClr val="tx1"/>
            </a:solidFill>
          </a:ln>
        </p:spPr>
      </p:pic>
      <p:pic>
        <p:nvPicPr>
          <p:cNvPr id="24" name="图片 23" descr="泸203井区H10平台1井第1段第2级分解"/>
          <p:cNvPicPr/>
          <p:nvPr/>
        </p:nvPicPr>
        <p:blipFill>
          <a:blip r:embed="rId3"/>
          <a:stretch>
            <a:fillRect/>
          </a:stretch>
        </p:blipFill>
        <p:spPr>
          <a:xfrm>
            <a:off x="724535" y="5527040"/>
            <a:ext cx="3600000" cy="1080168"/>
          </a:xfrm>
          <a:prstGeom prst="rect">
            <a:avLst/>
          </a:prstGeom>
          <a:ln>
            <a:solidFill>
              <a:schemeClr val="tx1"/>
            </a:solidFill>
          </a:ln>
        </p:spPr>
      </p:pic>
      <p:pic>
        <p:nvPicPr>
          <p:cNvPr id="33" name="图片 32" descr="泸203井区H10平台1井第1段第3级分解"/>
          <p:cNvPicPr/>
          <p:nvPr/>
        </p:nvPicPr>
        <p:blipFill>
          <a:blip r:embed="rId4"/>
          <a:stretch>
            <a:fillRect/>
          </a:stretch>
        </p:blipFill>
        <p:spPr>
          <a:xfrm>
            <a:off x="4370705" y="2148205"/>
            <a:ext cx="3600000" cy="1080168"/>
          </a:xfrm>
          <a:prstGeom prst="rect">
            <a:avLst/>
          </a:prstGeom>
          <a:ln>
            <a:solidFill>
              <a:schemeClr val="tx1"/>
            </a:solidFill>
          </a:ln>
        </p:spPr>
      </p:pic>
      <p:pic>
        <p:nvPicPr>
          <p:cNvPr id="34" name="图片 33" descr="泸203井区H10平台1井第1段第4级分解"/>
          <p:cNvPicPr/>
          <p:nvPr/>
        </p:nvPicPr>
        <p:blipFill>
          <a:blip r:embed="rId5"/>
          <a:stretch>
            <a:fillRect/>
          </a:stretch>
        </p:blipFill>
        <p:spPr>
          <a:xfrm>
            <a:off x="4370705" y="3273458"/>
            <a:ext cx="3600000" cy="1080135"/>
          </a:xfrm>
          <a:prstGeom prst="rect">
            <a:avLst/>
          </a:prstGeom>
          <a:ln>
            <a:solidFill>
              <a:schemeClr val="tx1"/>
            </a:solidFill>
          </a:ln>
        </p:spPr>
      </p:pic>
      <p:pic>
        <p:nvPicPr>
          <p:cNvPr id="35" name="图片 34" descr="泸203井区H10平台1井第1段第5级分解"/>
          <p:cNvPicPr/>
          <p:nvPr/>
        </p:nvPicPr>
        <p:blipFill>
          <a:blip r:embed="rId6"/>
          <a:stretch>
            <a:fillRect/>
          </a:stretch>
        </p:blipFill>
        <p:spPr>
          <a:xfrm>
            <a:off x="4375150" y="4398678"/>
            <a:ext cx="3600000" cy="1080135"/>
          </a:xfrm>
          <a:prstGeom prst="rect">
            <a:avLst/>
          </a:prstGeom>
          <a:ln>
            <a:solidFill>
              <a:schemeClr val="tx1"/>
            </a:solidFill>
          </a:ln>
        </p:spPr>
      </p:pic>
      <p:pic>
        <p:nvPicPr>
          <p:cNvPr id="36" name="图片 35" descr="泸203井区H10平台1井第1段第6级分解"/>
          <p:cNvPicPr/>
          <p:nvPr/>
        </p:nvPicPr>
        <p:blipFill>
          <a:blip r:embed="rId7"/>
          <a:stretch>
            <a:fillRect/>
          </a:stretch>
        </p:blipFill>
        <p:spPr>
          <a:xfrm>
            <a:off x="4375150" y="5523898"/>
            <a:ext cx="3600000" cy="1080135"/>
          </a:xfrm>
          <a:prstGeom prst="rect">
            <a:avLst/>
          </a:prstGeom>
          <a:ln>
            <a:solidFill>
              <a:schemeClr val="tx1"/>
            </a:solidFill>
          </a:ln>
        </p:spPr>
      </p:pic>
      <p:pic>
        <p:nvPicPr>
          <p:cNvPr id="37" name="图片 36" descr="泸203井区H10平台1井第1段第7级分解"/>
          <p:cNvPicPr/>
          <p:nvPr/>
        </p:nvPicPr>
        <p:blipFill>
          <a:blip r:embed="rId8"/>
          <a:stretch>
            <a:fillRect/>
          </a:stretch>
        </p:blipFill>
        <p:spPr>
          <a:xfrm>
            <a:off x="8025765" y="2148205"/>
            <a:ext cx="3600000" cy="1080168"/>
          </a:xfrm>
          <a:prstGeom prst="rect">
            <a:avLst/>
          </a:prstGeom>
          <a:ln>
            <a:solidFill>
              <a:schemeClr val="tx1"/>
            </a:solidFill>
          </a:ln>
        </p:spPr>
      </p:pic>
      <p:pic>
        <p:nvPicPr>
          <p:cNvPr id="38" name="图片 37" descr="泸203井区H10平台1井第1段第10级分解"/>
          <p:cNvPicPr/>
          <p:nvPr/>
        </p:nvPicPr>
        <p:blipFill>
          <a:blip r:embed="rId9"/>
          <a:stretch>
            <a:fillRect/>
          </a:stretch>
        </p:blipFill>
        <p:spPr>
          <a:xfrm>
            <a:off x="8025765" y="5527073"/>
            <a:ext cx="3600000" cy="1080135"/>
          </a:xfrm>
          <a:prstGeom prst="rect">
            <a:avLst/>
          </a:prstGeom>
          <a:ln>
            <a:solidFill>
              <a:schemeClr val="tx1"/>
            </a:solidFill>
          </a:ln>
        </p:spPr>
      </p:pic>
      <p:pic>
        <p:nvPicPr>
          <p:cNvPr id="39" name="图片 38" descr="泸203井区H10平台1井第1段第8级分解"/>
          <p:cNvPicPr/>
          <p:nvPr/>
        </p:nvPicPr>
        <p:blipFill>
          <a:blip r:embed="rId10"/>
          <a:stretch>
            <a:fillRect/>
          </a:stretch>
        </p:blipFill>
        <p:spPr>
          <a:xfrm>
            <a:off x="8025765" y="3268378"/>
            <a:ext cx="3600000" cy="1080135"/>
          </a:xfrm>
          <a:prstGeom prst="rect">
            <a:avLst/>
          </a:prstGeom>
          <a:ln>
            <a:solidFill>
              <a:schemeClr val="tx1"/>
            </a:solidFill>
          </a:ln>
        </p:spPr>
      </p:pic>
      <p:pic>
        <p:nvPicPr>
          <p:cNvPr id="40" name="图片 39" descr="泸203井区H10平台1井第1段第9级分解"/>
          <p:cNvPicPr/>
          <p:nvPr/>
        </p:nvPicPr>
        <p:blipFill>
          <a:blip r:embed="rId11"/>
          <a:stretch>
            <a:fillRect/>
          </a:stretch>
        </p:blipFill>
        <p:spPr>
          <a:xfrm>
            <a:off x="8025765" y="4388518"/>
            <a:ext cx="3600000" cy="1080135"/>
          </a:xfrm>
          <a:prstGeom prst="rect">
            <a:avLst/>
          </a:prstGeom>
          <a:ln>
            <a:solidFill>
              <a:schemeClr val="tx1"/>
            </a:solidFill>
          </a:ln>
        </p:spPr>
      </p:pic>
      <p:pic>
        <p:nvPicPr>
          <p:cNvPr id="41" name="图片 40" descr="E:/桌面/QQ20251124-075843.pngQQ20251124-075843"/>
          <p:cNvPicPr>
            <a:picLocks noChangeAspect="1"/>
          </p:cNvPicPr>
          <p:nvPr/>
        </p:nvPicPr>
        <p:blipFill>
          <a:blip r:embed="rId12"/>
          <a:srcRect t="2120" b="2120"/>
          <a:stretch>
            <a:fillRect/>
          </a:stretch>
        </p:blipFill>
        <p:spPr>
          <a:xfrm>
            <a:off x="1945005" y="2969260"/>
            <a:ext cx="359410" cy="286385"/>
          </a:xfrm>
          <a:prstGeom prst="rect">
            <a:avLst/>
          </a:prstGeom>
        </p:spPr>
      </p:pic>
      <p:sp>
        <p:nvSpPr>
          <p:cNvPr id="42" name="矩形 41"/>
          <p:cNvSpPr/>
          <p:nvPr/>
        </p:nvSpPr>
        <p:spPr>
          <a:xfrm>
            <a:off x="894080" y="447230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44" name="矩形 43"/>
          <p:cNvSpPr/>
          <p:nvPr/>
        </p:nvSpPr>
        <p:spPr>
          <a:xfrm>
            <a:off x="894080" y="559943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3" name="矩形 52"/>
          <p:cNvSpPr/>
          <p:nvPr/>
        </p:nvSpPr>
        <p:spPr>
          <a:xfrm>
            <a:off x="4586605" y="335026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4" name="矩形 53"/>
          <p:cNvSpPr/>
          <p:nvPr/>
        </p:nvSpPr>
        <p:spPr>
          <a:xfrm>
            <a:off x="4585970" y="447103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5" name="矩形 54"/>
          <p:cNvSpPr/>
          <p:nvPr/>
        </p:nvSpPr>
        <p:spPr>
          <a:xfrm>
            <a:off x="4591050" y="559943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6" name="矩形 55"/>
          <p:cNvSpPr/>
          <p:nvPr/>
        </p:nvSpPr>
        <p:spPr>
          <a:xfrm>
            <a:off x="8241665" y="222504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7" name="矩形 56"/>
          <p:cNvSpPr/>
          <p:nvPr/>
        </p:nvSpPr>
        <p:spPr>
          <a:xfrm>
            <a:off x="8241665" y="334327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8" name="矩形 57"/>
          <p:cNvSpPr/>
          <p:nvPr/>
        </p:nvSpPr>
        <p:spPr>
          <a:xfrm>
            <a:off x="8241665" y="4463415"/>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59" name="矩形 58"/>
          <p:cNvSpPr/>
          <p:nvPr/>
        </p:nvSpPr>
        <p:spPr>
          <a:xfrm>
            <a:off x="8241665" y="559943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43" name="矩形 42"/>
          <p:cNvSpPr/>
          <p:nvPr/>
        </p:nvSpPr>
        <p:spPr>
          <a:xfrm>
            <a:off x="4587240" y="2221230"/>
            <a:ext cx="3204000" cy="882000"/>
          </a:xfrm>
          <a:prstGeom prst="rect">
            <a:avLst/>
          </a:prstGeom>
          <a:solidFill>
            <a:schemeClr val="bg1"/>
          </a:solidFill>
          <a:ln>
            <a:noFill/>
          </a:ln>
        </p:spPr>
        <p:style>
          <a:lnRef idx="0">
            <a:srgbClr val="FFFFFF"/>
          </a:lnRef>
          <a:fillRef idx="1">
            <a:schemeClr val="accent1"/>
          </a:fillRef>
          <a:effectRef idx="0">
            <a:srgbClr val="FFFFFF"/>
          </a:effectRef>
          <a:fontRef idx="minor">
            <a:schemeClr val="dk1"/>
          </a:fontRef>
        </p:style>
        <p:txBody>
          <a:bodyPr rtlCol="0" anchor="ctr"/>
          <a:lstStyle/>
          <a:p>
            <a:pPr algn="ctr"/>
            <a:endParaRPr lang="zh-CN" altLang="en-US"/>
          </a:p>
        </p:txBody>
      </p:sp>
      <p:sp>
        <p:nvSpPr>
          <p:cNvPr id="45" name="矩形 44"/>
          <p:cNvSpPr/>
          <p:nvPr/>
        </p:nvSpPr>
        <p:spPr>
          <a:xfrm>
            <a:off x="0" y="238125"/>
            <a:ext cx="12192000" cy="522605"/>
          </a:xfrm>
          <a:prstGeom prst="rect">
            <a:avLst/>
          </a:prstGeom>
        </p:spPr>
        <p:txBody>
          <a:bodyPr wrap="square">
            <a:noAutofit/>
          </a:bodyPr>
          <a:lstStyle/>
          <a:p>
            <a:pPr lvl="0" algn="ctr">
              <a:lnSpc>
                <a:spcPct val="90000"/>
              </a:lnSpc>
              <a:spcBef>
                <a:spcPts val="2400"/>
              </a:spcBef>
              <a:buClr>
                <a:srgbClr val="FF3300"/>
              </a:buClr>
              <a:buSzPct val="135000"/>
              <a:defRPr/>
            </a:pP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进展二：建立了小波参数优选方法，明确了施工曲线</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小波</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分析模型</a:t>
            </a:r>
            <a:endPar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nodeType="afterEffect">
                                  <p:stCondLst>
                                    <p:cond delay="0"/>
                                  </p:stCondLst>
                                  <p:childTnLst>
                                    <p:animMotion origin="layout" path="M -0.0139062 0 L 0.117188 0.00111111 " pathEditMode="relative" rAng="0" ptsTypes="">
                                      <p:cBhvr>
                                        <p:cTn id="6" dur="2000" fill="hold"/>
                                        <p:tgtEl>
                                          <p:spTgt spid="41"/>
                                        </p:tgtEl>
                                        <p:attrNameLst>
                                          <p:attrName>ppt_x</p:attrName>
                                          <p:attrName>ppt_y</p:attrName>
                                        </p:attrNameLst>
                                      </p:cBhvr>
                                      <p:rCtr x="91" y="0"/>
                                    </p:animMotion>
                                  </p:childTnLst>
                                </p:cTn>
                              </p:par>
                              <p:par>
                                <p:cTn id="7" presetID="22" presetClass="exit" presetSubtype="8" fill="hold" grpId="0" nodeType="withEffect">
                                  <p:stCondLst>
                                    <p:cond delay="0"/>
                                  </p:stCondLst>
                                  <p:childTnLst>
                                    <p:animEffect transition="out" filter="wipe(left)">
                                      <p:cBhvr>
                                        <p:cTn id="8" dur="2000"/>
                                        <p:tgtEl>
                                          <p:spTgt spid="42"/>
                                        </p:tgtEl>
                                      </p:cBhvr>
                                    </p:animEffect>
                                    <p:set>
                                      <p:cBhvr>
                                        <p:cTn id="9" dur="1" fill="hold">
                                          <p:stCondLst>
                                            <p:cond delay="1996"/>
                                          </p:stCondLst>
                                        </p:cTn>
                                        <p:tgtEl>
                                          <p:spTgt spid="42"/>
                                        </p:tgtEl>
                                        <p:attrNameLst>
                                          <p:attrName>style.visibility</p:attrName>
                                        </p:attrNameLst>
                                      </p:cBhvr>
                                      <p:to>
                                        <p:strVal val="hidden"/>
                                      </p:to>
                                    </p:set>
                                  </p:childTnLst>
                                </p:cTn>
                              </p:par>
                            </p:childTnLst>
                          </p:cTn>
                        </p:par>
                        <p:par>
                          <p:cTn id="10" fill="hold">
                            <p:stCondLst>
                              <p:cond delay="2000"/>
                            </p:stCondLst>
                            <p:childTnLst>
                              <p:par>
                                <p:cTn id="11" presetID="0" presetClass="path" presetSubtype="0" accel="50000" decel="50000" fill="hold" nodeType="afterEffect">
                                  <p:stCondLst>
                                    <p:cond delay="0"/>
                                  </p:stCondLst>
                                  <p:childTnLst>
                                    <p:animMotion origin="layout" path="M 0.115573 0.00101852 L -0.104062 0.316852 " pathEditMode="relative" rAng="0" ptsTypes="">
                                      <p:cBhvr>
                                        <p:cTn id="12" dur="1000" fill="hold"/>
                                        <p:tgtEl>
                                          <p:spTgt spid="41"/>
                                        </p:tgtEl>
                                        <p:attrNameLst>
                                          <p:attrName>ppt_x</p:attrName>
                                          <p:attrName>ppt_y</p:attrName>
                                        </p:attrNameLst>
                                      </p:cBhvr>
                                      <p:rCtr x="-109" y="151"/>
                                    </p:animMotion>
                                  </p:childTnLst>
                                </p:cTn>
                              </p:par>
                            </p:childTnLst>
                          </p:cTn>
                        </p:par>
                        <p:par>
                          <p:cTn id="13" fill="hold">
                            <p:stCondLst>
                              <p:cond delay="3000"/>
                            </p:stCondLst>
                            <p:childTnLst>
                              <p:par>
                                <p:cTn id="14" presetID="0" presetClass="path" presetSubtype="0" accel="50000" decel="50000" fill="hold" nodeType="afterEffect">
                                  <p:stCondLst>
                                    <p:cond delay="0"/>
                                  </p:stCondLst>
                                  <p:childTnLst>
                                    <p:animMotion origin="layout" path="M -0.103073 0.315093 L 0.167969 0.316852 " pathEditMode="relative" rAng="0" ptsTypes="">
                                      <p:cBhvr>
                                        <p:cTn id="15" dur="2000" fill="hold"/>
                                        <p:tgtEl>
                                          <p:spTgt spid="41"/>
                                        </p:tgtEl>
                                        <p:attrNameLst>
                                          <p:attrName>ppt_x</p:attrName>
                                          <p:attrName>ppt_y</p:attrName>
                                        </p:attrNameLst>
                                      </p:cBhvr>
                                      <p:rCtr x="132" y="-8"/>
                                    </p:animMotion>
                                  </p:childTnLst>
                                </p:cTn>
                              </p:par>
                              <p:par>
                                <p:cTn id="16" presetID="22" presetClass="exit" presetSubtype="8" fill="hold" grpId="0" nodeType="withEffect">
                                  <p:stCondLst>
                                    <p:cond delay="0"/>
                                  </p:stCondLst>
                                  <p:childTnLst>
                                    <p:animEffect transition="out" filter="wipe(left)">
                                      <p:cBhvr>
                                        <p:cTn id="17" dur="2000"/>
                                        <p:tgtEl>
                                          <p:spTgt spid="44"/>
                                        </p:tgtEl>
                                      </p:cBhvr>
                                    </p:animEffect>
                                    <p:set>
                                      <p:cBhvr>
                                        <p:cTn id="18" dur="1" fill="hold">
                                          <p:stCondLst>
                                            <p:cond delay="1996"/>
                                          </p:stCondLst>
                                        </p:cTn>
                                        <p:tgtEl>
                                          <p:spTgt spid="44"/>
                                        </p:tgtEl>
                                        <p:attrNameLst>
                                          <p:attrName>style.visibility</p:attrName>
                                        </p:attrNameLst>
                                      </p:cBhvr>
                                      <p:to>
                                        <p:strVal val="hidden"/>
                                      </p:to>
                                    </p:set>
                                  </p:childTnLst>
                                </p:cTn>
                              </p:par>
                            </p:childTnLst>
                          </p:cTn>
                        </p:par>
                        <p:par>
                          <p:cTn id="19" fill="hold">
                            <p:stCondLst>
                              <p:cond delay="5000"/>
                            </p:stCondLst>
                            <p:childTnLst>
                              <p:par>
                                <p:cTn id="20" presetID="0" presetClass="path" presetSubtype="0" accel="50000" decel="50000" fill="hold" nodeType="afterEffect">
                                  <p:stCondLst>
                                    <p:cond delay="0"/>
                                  </p:stCondLst>
                                  <p:childTnLst>
                                    <p:animMotion origin="layout" path="M 0.166406 0.315926 L -0.102552 0.477963 " pathEditMode="relative" rAng="0" ptsTypes="">
                                      <p:cBhvr>
                                        <p:cTn id="21" dur="2000" fill="hold"/>
                                        <p:tgtEl>
                                          <p:spTgt spid="41"/>
                                        </p:tgtEl>
                                        <p:attrNameLst>
                                          <p:attrName>ppt_x</p:attrName>
                                          <p:attrName>ppt_y</p:attrName>
                                        </p:attrNameLst>
                                      </p:cBhvr>
                                      <p:rCtr x="-133" y="77"/>
                                    </p:animMotion>
                                  </p:childTnLst>
                                </p:cTn>
                              </p:par>
                            </p:childTnLst>
                          </p:cTn>
                        </p:par>
                        <p:par>
                          <p:cTn id="22" fill="hold">
                            <p:stCondLst>
                              <p:cond delay="7000"/>
                            </p:stCondLst>
                            <p:childTnLst>
                              <p:par>
                                <p:cTn id="23" presetID="0" presetClass="path" presetSubtype="0" accel="50000" decel="50000" fill="hold" nodeType="afterEffect">
                                  <p:stCondLst>
                                    <p:cond delay="0"/>
                                  </p:stCondLst>
                                  <p:childTnLst>
                                    <p:animMotion origin="layout" path="M -0.101615 0.479815 L 0.167448 0.479815 " pathEditMode="relative" rAng="0" ptsTypes="">
                                      <p:cBhvr>
                                        <p:cTn id="24" dur="2000" fill="hold"/>
                                        <p:tgtEl>
                                          <p:spTgt spid="41"/>
                                        </p:tgtEl>
                                        <p:attrNameLst>
                                          <p:attrName>ppt_x</p:attrName>
                                          <p:attrName>ppt_y</p:attrName>
                                        </p:attrNameLst>
                                      </p:cBhvr>
                                      <p:rCtr x="131" y="-7"/>
                                    </p:animMotion>
                                  </p:childTnLst>
                                </p:cTn>
                              </p:par>
                              <p:par>
                                <p:cTn id="25" presetID="22" presetClass="exit" presetSubtype="8" fill="hold" grpId="0" nodeType="withEffect">
                                  <p:stCondLst>
                                    <p:cond delay="0"/>
                                  </p:stCondLst>
                                  <p:childTnLst>
                                    <p:animEffect transition="out" filter="wipe(left)">
                                      <p:cBhvr>
                                        <p:cTn id="26" dur="2000"/>
                                        <p:tgtEl>
                                          <p:spTgt spid="43"/>
                                        </p:tgtEl>
                                      </p:cBhvr>
                                    </p:animEffect>
                                    <p:set>
                                      <p:cBhvr>
                                        <p:cTn id="27" dur="1" fill="hold">
                                          <p:stCondLst>
                                            <p:cond delay="1996"/>
                                          </p:stCondLst>
                                        </p:cTn>
                                        <p:tgtEl>
                                          <p:spTgt spid="43"/>
                                        </p:tgtEl>
                                        <p:attrNameLst>
                                          <p:attrName>style.visibility</p:attrName>
                                        </p:attrNameLst>
                                      </p:cBhvr>
                                      <p:to>
                                        <p:strVal val="hidden"/>
                                      </p:to>
                                    </p:set>
                                  </p:childTnLst>
                                </p:cTn>
                              </p:par>
                            </p:childTnLst>
                          </p:cTn>
                        </p:par>
                        <p:par>
                          <p:cTn id="28" fill="hold">
                            <p:stCondLst>
                              <p:cond delay="9000"/>
                            </p:stCondLst>
                            <p:childTnLst>
                              <p:par>
                                <p:cTn id="29" presetID="0" presetClass="path" presetSubtype="0" accel="50000" decel="50000" fill="hold" nodeType="afterEffect">
                                  <p:stCondLst>
                                    <p:cond delay="0"/>
                                  </p:stCondLst>
                                  <p:childTnLst>
                                    <p:animMotion origin="layout" path="M 0.165469 0.47713 L 0.19651 -0.017963 " pathEditMode="relative" rAng="0" ptsTypes="">
                                      <p:cBhvr>
                                        <p:cTn id="30" dur="1000" fill="hold"/>
                                        <p:tgtEl>
                                          <p:spTgt spid="41"/>
                                        </p:tgtEl>
                                        <p:attrNameLst>
                                          <p:attrName>ppt_x</p:attrName>
                                          <p:attrName>ppt_y</p:attrName>
                                        </p:attrNameLst>
                                      </p:cBhvr>
                                      <p:rCtr x="21" y="-252"/>
                                    </p:animMotion>
                                  </p:childTnLst>
                                </p:cTn>
                              </p:par>
                            </p:childTnLst>
                          </p:cTn>
                        </p:par>
                        <p:par>
                          <p:cTn id="31" fill="hold">
                            <p:stCondLst>
                              <p:cond delay="10000"/>
                            </p:stCondLst>
                            <p:childTnLst>
                              <p:par>
                                <p:cTn id="32" presetID="0" presetClass="path" presetSubtype="0" accel="50000" decel="50000" fill="hold" nodeType="afterEffect">
                                  <p:stCondLst>
                                    <p:cond delay="0"/>
                                  </p:stCondLst>
                                  <p:childTnLst>
                                    <p:animMotion origin="layout" path="M 0.19599 -0.0144444 L 0.46599 -0.0153704 " pathEditMode="relative" rAng="0" ptsTypes="">
                                      <p:cBhvr>
                                        <p:cTn id="33" dur="2000" fill="hold"/>
                                        <p:tgtEl>
                                          <p:spTgt spid="41"/>
                                        </p:tgtEl>
                                        <p:attrNameLst>
                                          <p:attrName>ppt_x</p:attrName>
                                          <p:attrName>ppt_y</p:attrName>
                                        </p:attrNameLst>
                                      </p:cBhvr>
                                      <p:rCtr x="135" y="1"/>
                                    </p:animMotion>
                                  </p:childTnLst>
                                </p:cTn>
                              </p:par>
                              <p:par>
                                <p:cTn id="34" presetID="22" presetClass="exit" presetSubtype="8" fill="hold" grpId="0" nodeType="withEffect">
                                  <p:stCondLst>
                                    <p:cond delay="0"/>
                                  </p:stCondLst>
                                  <p:childTnLst>
                                    <p:animEffect transition="out" filter="wipe(left)">
                                      <p:cBhvr>
                                        <p:cTn id="35" dur="2000"/>
                                        <p:tgtEl>
                                          <p:spTgt spid="53"/>
                                        </p:tgtEl>
                                      </p:cBhvr>
                                    </p:animEffect>
                                    <p:set>
                                      <p:cBhvr>
                                        <p:cTn id="36" dur="1" fill="hold">
                                          <p:stCondLst>
                                            <p:cond delay="1996"/>
                                          </p:stCondLst>
                                        </p:cTn>
                                        <p:tgtEl>
                                          <p:spTgt spid="53"/>
                                        </p:tgtEl>
                                        <p:attrNameLst>
                                          <p:attrName>style.visibility</p:attrName>
                                        </p:attrNameLst>
                                      </p:cBhvr>
                                      <p:to>
                                        <p:strVal val="hidden"/>
                                      </p:to>
                                    </p:set>
                                  </p:childTnLst>
                                </p:cTn>
                              </p:par>
                            </p:childTnLst>
                          </p:cTn>
                        </p:par>
                        <p:par>
                          <p:cTn id="37" fill="hold">
                            <p:stCondLst>
                              <p:cond delay="12000"/>
                            </p:stCondLst>
                            <p:childTnLst>
                              <p:par>
                                <p:cTn id="38" presetID="0" presetClass="path" presetSubtype="0" accel="50000" decel="50000" fill="hold" nodeType="afterEffect">
                                  <p:stCondLst>
                                    <p:cond delay="0"/>
                                  </p:stCondLst>
                                  <p:childTnLst>
                                    <p:animMotion origin="layout" path="M 0.463333 -0.0159259 L 0.195573 0.153519 " pathEditMode="relative" rAng="0" ptsTypes="">
                                      <p:cBhvr>
                                        <p:cTn id="39" dur="1000" fill="hold"/>
                                        <p:tgtEl>
                                          <p:spTgt spid="41"/>
                                        </p:tgtEl>
                                        <p:attrNameLst>
                                          <p:attrName>ppt_x</p:attrName>
                                          <p:attrName>ppt_y</p:attrName>
                                        </p:attrNameLst>
                                      </p:cBhvr>
                                      <p:rCtr x="-128" y="81"/>
                                    </p:animMotion>
                                  </p:childTnLst>
                                </p:cTn>
                              </p:par>
                            </p:childTnLst>
                          </p:cTn>
                        </p:par>
                        <p:par>
                          <p:cTn id="40" fill="hold">
                            <p:stCondLst>
                              <p:cond delay="13000"/>
                            </p:stCondLst>
                            <p:childTnLst>
                              <p:par>
                                <p:cTn id="41" presetID="0" presetClass="path" presetSubtype="0" accel="50000" decel="50000" fill="hold" nodeType="afterEffect">
                                  <p:stCondLst>
                                    <p:cond delay="0"/>
                                  </p:stCondLst>
                                  <p:childTnLst>
                                    <p:animMotion origin="layout" path="M 0.196094 0.153519 L 0.467604 0.153519 " pathEditMode="relative" rAng="0" ptsTypes="">
                                      <p:cBhvr>
                                        <p:cTn id="42" dur="2000" fill="hold"/>
                                        <p:tgtEl>
                                          <p:spTgt spid="41"/>
                                        </p:tgtEl>
                                        <p:attrNameLst>
                                          <p:attrName>ppt_x</p:attrName>
                                          <p:attrName>ppt_y</p:attrName>
                                        </p:attrNameLst>
                                      </p:cBhvr>
                                      <p:rCtr x="136" y="0"/>
                                    </p:animMotion>
                                  </p:childTnLst>
                                </p:cTn>
                              </p:par>
                              <p:par>
                                <p:cTn id="43" presetID="22" presetClass="exit" presetSubtype="8" fill="hold" grpId="0" nodeType="withEffect">
                                  <p:stCondLst>
                                    <p:cond delay="0"/>
                                  </p:stCondLst>
                                  <p:childTnLst>
                                    <p:animEffect transition="out" filter="wipe(left)">
                                      <p:cBhvr>
                                        <p:cTn id="44" dur="2000"/>
                                        <p:tgtEl>
                                          <p:spTgt spid="54"/>
                                        </p:tgtEl>
                                      </p:cBhvr>
                                    </p:animEffect>
                                    <p:set>
                                      <p:cBhvr>
                                        <p:cTn id="45" dur="1" fill="hold">
                                          <p:stCondLst>
                                            <p:cond delay="1996"/>
                                          </p:stCondLst>
                                        </p:cTn>
                                        <p:tgtEl>
                                          <p:spTgt spid="54"/>
                                        </p:tgtEl>
                                        <p:attrNameLst>
                                          <p:attrName>style.visibility</p:attrName>
                                        </p:attrNameLst>
                                      </p:cBhvr>
                                      <p:to>
                                        <p:strVal val="hidden"/>
                                      </p:to>
                                    </p:set>
                                  </p:childTnLst>
                                </p:cTn>
                              </p:par>
                            </p:childTnLst>
                          </p:cTn>
                        </p:par>
                        <p:par>
                          <p:cTn id="46" fill="hold">
                            <p:stCondLst>
                              <p:cond delay="15000"/>
                            </p:stCondLst>
                            <p:childTnLst>
                              <p:par>
                                <p:cTn id="47" presetID="0" presetClass="path" presetSubtype="0" accel="50000" decel="50000" fill="hold" nodeType="afterEffect">
                                  <p:stCondLst>
                                    <p:cond delay="0"/>
                                  </p:stCondLst>
                                  <p:childTnLst>
                                    <p:animMotion origin="layout" path="M 0.465573 0.150926 L 0.194583 0.312685 " pathEditMode="relative" rAng="0" ptsTypes="">
                                      <p:cBhvr>
                                        <p:cTn id="48" dur="1000" fill="hold"/>
                                        <p:tgtEl>
                                          <p:spTgt spid="41"/>
                                        </p:tgtEl>
                                        <p:attrNameLst>
                                          <p:attrName>ppt_x</p:attrName>
                                          <p:attrName>ppt_y</p:attrName>
                                        </p:attrNameLst>
                                      </p:cBhvr>
                                      <p:rCtr x="-131" y="77"/>
                                    </p:animMotion>
                                  </p:childTnLst>
                                </p:cTn>
                              </p:par>
                            </p:childTnLst>
                          </p:cTn>
                        </p:par>
                        <p:par>
                          <p:cTn id="49" fill="hold">
                            <p:stCondLst>
                              <p:cond delay="16000"/>
                            </p:stCondLst>
                            <p:childTnLst>
                              <p:par>
                                <p:cTn id="50" presetID="0" presetClass="path" presetSubtype="0" accel="50000" decel="50000" fill="hold" nodeType="afterEffect">
                                  <p:stCondLst>
                                    <p:cond delay="0"/>
                                  </p:stCondLst>
                                  <p:childTnLst>
                                    <p:animMotion origin="layout" path="M 0.196458 0.313519 L 0.468594 0.316204 " pathEditMode="relative" rAng="0" ptsTypes="">
                                      <p:cBhvr>
                                        <p:cTn id="51" dur="2000" fill="hold"/>
                                        <p:tgtEl>
                                          <p:spTgt spid="41"/>
                                        </p:tgtEl>
                                        <p:attrNameLst>
                                          <p:attrName>ppt_x</p:attrName>
                                          <p:attrName>ppt_y</p:attrName>
                                        </p:attrNameLst>
                                      </p:cBhvr>
                                      <p:rCtr x="136" y="2"/>
                                    </p:animMotion>
                                  </p:childTnLst>
                                </p:cTn>
                              </p:par>
                              <p:par>
                                <p:cTn id="52" presetID="22" presetClass="exit" presetSubtype="8" fill="hold" grpId="0" nodeType="withEffect">
                                  <p:stCondLst>
                                    <p:cond delay="0"/>
                                  </p:stCondLst>
                                  <p:childTnLst>
                                    <p:animEffect transition="out" filter="wipe(left)">
                                      <p:cBhvr>
                                        <p:cTn id="53" dur="2000"/>
                                        <p:tgtEl>
                                          <p:spTgt spid="55"/>
                                        </p:tgtEl>
                                      </p:cBhvr>
                                    </p:animEffect>
                                    <p:set>
                                      <p:cBhvr>
                                        <p:cTn id="54" dur="1" fill="hold">
                                          <p:stCondLst>
                                            <p:cond delay="1996"/>
                                          </p:stCondLst>
                                        </p:cTn>
                                        <p:tgtEl>
                                          <p:spTgt spid="55"/>
                                        </p:tgtEl>
                                        <p:attrNameLst>
                                          <p:attrName>style.visibility</p:attrName>
                                        </p:attrNameLst>
                                      </p:cBhvr>
                                      <p:to>
                                        <p:strVal val="hidden"/>
                                      </p:to>
                                    </p:set>
                                  </p:childTnLst>
                                </p:cTn>
                              </p:par>
                            </p:childTnLst>
                          </p:cTn>
                        </p:par>
                        <p:par>
                          <p:cTn id="55" fill="hold">
                            <p:stCondLst>
                              <p:cond delay="18000"/>
                            </p:stCondLst>
                            <p:childTnLst>
                              <p:par>
                                <p:cTn id="56" presetID="0" presetClass="path" presetSubtype="0" accel="50000" decel="50000" fill="hold" nodeType="afterEffect">
                                  <p:stCondLst>
                                    <p:cond delay="0"/>
                                  </p:stCondLst>
                                  <p:childTnLst>
                                    <p:animMotion origin="layout" path="M 0.467552 0.313519 L 0.195573 0.474444 " pathEditMode="relative" rAng="0" ptsTypes="">
                                      <p:cBhvr>
                                        <p:cTn id="57" dur="1000" fill="hold"/>
                                        <p:tgtEl>
                                          <p:spTgt spid="41"/>
                                        </p:tgtEl>
                                        <p:attrNameLst>
                                          <p:attrName>ppt_x</p:attrName>
                                          <p:attrName>ppt_y</p:attrName>
                                        </p:attrNameLst>
                                      </p:cBhvr>
                                      <p:rCtr x="-133" y="77"/>
                                    </p:animMotion>
                                  </p:childTnLst>
                                </p:cTn>
                              </p:par>
                            </p:childTnLst>
                          </p:cTn>
                        </p:par>
                        <p:par>
                          <p:cTn id="58" fill="hold">
                            <p:stCondLst>
                              <p:cond delay="19000"/>
                            </p:stCondLst>
                            <p:childTnLst>
                              <p:par>
                                <p:cTn id="59" presetID="0" presetClass="path" presetSubtype="0" accel="50000" decel="50000" fill="hold" nodeType="afterEffect">
                                  <p:stCondLst>
                                    <p:cond delay="0"/>
                                  </p:stCondLst>
                                  <p:childTnLst>
                                    <p:animMotion origin="layout" path="M 0.196979 0.476204 L 0.466563 0.477963 " pathEditMode="relative" rAng="0" ptsTypes="">
                                      <p:cBhvr>
                                        <p:cTn id="60" dur="2000" fill="hold"/>
                                        <p:tgtEl>
                                          <p:spTgt spid="41"/>
                                        </p:tgtEl>
                                        <p:attrNameLst>
                                          <p:attrName>ppt_x</p:attrName>
                                          <p:attrName>ppt_y</p:attrName>
                                        </p:attrNameLst>
                                      </p:cBhvr>
                                      <p:rCtr x="135" y="2"/>
                                    </p:animMotion>
                                  </p:childTnLst>
                                </p:cTn>
                              </p:par>
                              <p:par>
                                <p:cTn id="61" presetID="22" presetClass="exit" presetSubtype="8" fill="hold" grpId="0" nodeType="withEffect">
                                  <p:stCondLst>
                                    <p:cond delay="0"/>
                                  </p:stCondLst>
                                  <p:childTnLst>
                                    <p:animEffect transition="out" filter="wipe(left)">
                                      <p:cBhvr>
                                        <p:cTn id="62" dur="2000"/>
                                        <p:tgtEl>
                                          <p:spTgt spid="56"/>
                                        </p:tgtEl>
                                      </p:cBhvr>
                                    </p:animEffect>
                                    <p:set>
                                      <p:cBhvr>
                                        <p:cTn id="63" dur="1" fill="hold">
                                          <p:stCondLst>
                                            <p:cond delay="1996"/>
                                          </p:stCondLst>
                                        </p:cTn>
                                        <p:tgtEl>
                                          <p:spTgt spid="56"/>
                                        </p:tgtEl>
                                        <p:attrNameLst>
                                          <p:attrName>style.visibility</p:attrName>
                                        </p:attrNameLst>
                                      </p:cBhvr>
                                      <p:to>
                                        <p:strVal val="hidden"/>
                                      </p:to>
                                    </p:set>
                                  </p:childTnLst>
                                </p:cTn>
                              </p:par>
                            </p:childTnLst>
                          </p:cTn>
                        </p:par>
                        <p:par>
                          <p:cTn id="64" fill="hold">
                            <p:stCondLst>
                              <p:cond delay="21000"/>
                            </p:stCondLst>
                            <p:childTnLst>
                              <p:par>
                                <p:cTn id="65" presetID="0" presetClass="path" presetSubtype="0" accel="50000" decel="50000" fill="hold" nodeType="afterEffect">
                                  <p:stCondLst>
                                    <p:cond delay="0"/>
                                  </p:stCondLst>
                                  <p:childTnLst>
                                    <p:animMotion origin="layout" path="M 0.465052 0.480556 L 0.498333 -0.0224074 " pathEditMode="relative" rAng="0" ptsTypes="">
                                      <p:cBhvr>
                                        <p:cTn id="66" dur="1000" fill="hold"/>
                                        <p:tgtEl>
                                          <p:spTgt spid="41"/>
                                        </p:tgtEl>
                                        <p:attrNameLst>
                                          <p:attrName>ppt_x</p:attrName>
                                          <p:attrName>ppt_y</p:attrName>
                                        </p:attrNameLst>
                                      </p:cBhvr>
                                      <p:rCtr x="18" y="-254"/>
                                    </p:animMotion>
                                  </p:childTnLst>
                                </p:cTn>
                              </p:par>
                            </p:childTnLst>
                          </p:cTn>
                        </p:par>
                        <p:par>
                          <p:cTn id="67" fill="hold">
                            <p:stCondLst>
                              <p:cond delay="22000"/>
                            </p:stCondLst>
                            <p:childTnLst>
                              <p:par>
                                <p:cTn id="68" presetID="0" presetClass="path" presetSubtype="0" accel="50000" decel="50000" fill="hold" nodeType="afterEffect">
                                  <p:stCondLst>
                                    <p:cond delay="0"/>
                                  </p:stCondLst>
                                  <p:childTnLst>
                                    <p:animMotion origin="layout" path="M 0.498281 -0.0162037 L 0.767292 -0.0162037 " pathEditMode="relative" rAng="0" ptsTypes="">
                                      <p:cBhvr>
                                        <p:cTn id="69" dur="2000" fill="hold"/>
                                        <p:tgtEl>
                                          <p:spTgt spid="41"/>
                                        </p:tgtEl>
                                        <p:attrNameLst>
                                          <p:attrName>ppt_x</p:attrName>
                                          <p:attrName>ppt_y</p:attrName>
                                        </p:attrNameLst>
                                      </p:cBhvr>
                                      <p:rCtr x="131" y="-5"/>
                                    </p:animMotion>
                                  </p:childTnLst>
                                </p:cTn>
                              </p:par>
                              <p:par>
                                <p:cTn id="70" presetID="22" presetClass="exit" presetSubtype="8" fill="hold" grpId="0" nodeType="withEffect">
                                  <p:stCondLst>
                                    <p:cond delay="0"/>
                                  </p:stCondLst>
                                  <p:childTnLst>
                                    <p:animEffect transition="out" filter="wipe(left)">
                                      <p:cBhvr>
                                        <p:cTn id="71" dur="2000"/>
                                        <p:tgtEl>
                                          <p:spTgt spid="57"/>
                                        </p:tgtEl>
                                      </p:cBhvr>
                                    </p:animEffect>
                                    <p:set>
                                      <p:cBhvr>
                                        <p:cTn id="72" dur="1" fill="hold">
                                          <p:stCondLst>
                                            <p:cond delay="1996"/>
                                          </p:stCondLst>
                                        </p:cTn>
                                        <p:tgtEl>
                                          <p:spTgt spid="57"/>
                                        </p:tgtEl>
                                        <p:attrNameLst>
                                          <p:attrName>style.visibility</p:attrName>
                                        </p:attrNameLst>
                                      </p:cBhvr>
                                      <p:to>
                                        <p:strVal val="hidden"/>
                                      </p:to>
                                    </p:set>
                                  </p:childTnLst>
                                </p:cTn>
                              </p:par>
                            </p:childTnLst>
                          </p:cTn>
                        </p:par>
                        <p:par>
                          <p:cTn id="73" fill="hold">
                            <p:stCondLst>
                              <p:cond delay="24000"/>
                            </p:stCondLst>
                            <p:childTnLst>
                              <p:par>
                                <p:cTn id="74" presetID="0" presetClass="path" presetSubtype="0" accel="50000" decel="50000" fill="hold" nodeType="afterEffect">
                                  <p:stCondLst>
                                    <p:cond delay="0"/>
                                  </p:stCondLst>
                                  <p:childTnLst>
                                    <p:animMotion origin="layout" path="M 0.765781 -0.0189815 L 0.497292 0.147315 " pathEditMode="relative" rAng="0" ptsTypes="">
                                      <p:cBhvr>
                                        <p:cTn id="75" dur="1000" fill="hold"/>
                                        <p:tgtEl>
                                          <p:spTgt spid="41"/>
                                        </p:tgtEl>
                                        <p:attrNameLst>
                                          <p:attrName>ppt_x</p:attrName>
                                          <p:attrName>ppt_y</p:attrName>
                                        </p:attrNameLst>
                                      </p:cBhvr>
                                      <p:rCtr x="-131" y="82"/>
                                    </p:animMotion>
                                  </p:childTnLst>
                                </p:cTn>
                              </p:par>
                            </p:childTnLst>
                          </p:cTn>
                        </p:par>
                        <p:par>
                          <p:cTn id="76" fill="hold">
                            <p:stCondLst>
                              <p:cond delay="25000"/>
                            </p:stCondLst>
                            <p:childTnLst>
                              <p:par>
                                <p:cTn id="77" presetID="0" presetClass="path" presetSubtype="0" accel="50000" decel="50000" fill="hold" nodeType="afterEffect">
                                  <p:stCondLst>
                                    <p:cond delay="0"/>
                                  </p:stCondLst>
                                  <p:childTnLst>
                                    <p:animMotion origin="layout" path="M 0.497813 0.145556 L 0.767292 0.14463 " pathEditMode="relative" rAng="0" ptsTypes="">
                                      <p:cBhvr>
                                        <p:cTn id="78" dur="2000" fill="hold"/>
                                        <p:tgtEl>
                                          <p:spTgt spid="41"/>
                                        </p:tgtEl>
                                        <p:attrNameLst>
                                          <p:attrName>ppt_x</p:attrName>
                                          <p:attrName>ppt_y</p:attrName>
                                        </p:attrNameLst>
                                      </p:cBhvr>
                                      <p:rCtr x="135" y="0"/>
                                    </p:animMotion>
                                  </p:childTnLst>
                                </p:cTn>
                              </p:par>
                              <p:par>
                                <p:cTn id="79" presetID="22" presetClass="exit" presetSubtype="8" fill="hold" grpId="0" nodeType="withEffect">
                                  <p:stCondLst>
                                    <p:cond delay="0"/>
                                  </p:stCondLst>
                                  <p:childTnLst>
                                    <p:animEffect transition="out" filter="wipe(left)">
                                      <p:cBhvr>
                                        <p:cTn id="80" dur="2000"/>
                                        <p:tgtEl>
                                          <p:spTgt spid="58"/>
                                        </p:tgtEl>
                                      </p:cBhvr>
                                    </p:animEffect>
                                    <p:set>
                                      <p:cBhvr>
                                        <p:cTn id="81" dur="1" fill="hold">
                                          <p:stCondLst>
                                            <p:cond delay="1996"/>
                                          </p:stCondLst>
                                        </p:cTn>
                                        <p:tgtEl>
                                          <p:spTgt spid="58"/>
                                        </p:tgtEl>
                                        <p:attrNameLst>
                                          <p:attrName>style.visibility</p:attrName>
                                        </p:attrNameLst>
                                      </p:cBhvr>
                                      <p:to>
                                        <p:strVal val="hidden"/>
                                      </p:to>
                                    </p:set>
                                  </p:childTnLst>
                                </p:cTn>
                              </p:par>
                            </p:childTnLst>
                          </p:cTn>
                        </p:par>
                        <p:par>
                          <p:cTn id="82" fill="hold">
                            <p:stCondLst>
                              <p:cond delay="27000"/>
                            </p:stCondLst>
                            <p:childTnLst>
                              <p:par>
                                <p:cTn id="83" presetID="0" presetClass="path" presetSubtype="0" accel="50000" decel="50000" fill="hold" nodeType="afterEffect">
                                  <p:stCondLst>
                                    <p:cond delay="0"/>
                                  </p:stCondLst>
                                  <p:childTnLst>
                                    <p:animMotion origin="layout" path="M 0.76625 0.14463 L 0.495313 0.311759 " pathEditMode="relative" rAng="0" ptsTypes="">
                                      <p:cBhvr>
                                        <p:cTn id="84" dur="1000" fill="hold"/>
                                        <p:tgtEl>
                                          <p:spTgt spid="41"/>
                                        </p:tgtEl>
                                        <p:attrNameLst>
                                          <p:attrName>ppt_x</p:attrName>
                                          <p:attrName>ppt_y</p:attrName>
                                        </p:attrNameLst>
                                      </p:cBhvr>
                                      <p:rCtr x="-132" y="81"/>
                                    </p:animMotion>
                                  </p:childTnLst>
                                </p:cTn>
                              </p:par>
                            </p:childTnLst>
                          </p:cTn>
                        </p:par>
                        <p:par>
                          <p:cTn id="85" fill="hold">
                            <p:stCondLst>
                              <p:cond delay="28000"/>
                            </p:stCondLst>
                            <p:childTnLst>
                              <p:par>
                                <p:cTn id="86" presetID="0" presetClass="path" presetSubtype="0" accel="50000" decel="50000" fill="hold" nodeType="afterEffect">
                                  <p:stCondLst>
                                    <p:cond delay="0"/>
                                  </p:stCondLst>
                                  <p:childTnLst>
                                    <p:animMotion origin="layout" path="M 0.496823 0.31 L 0.767292 0.311759 " pathEditMode="relative" rAng="0" ptsTypes="">
                                      <p:cBhvr>
                                        <p:cTn id="87" dur="2000" fill="hold"/>
                                        <p:tgtEl>
                                          <p:spTgt spid="41"/>
                                        </p:tgtEl>
                                        <p:attrNameLst>
                                          <p:attrName>ppt_x</p:attrName>
                                          <p:attrName>ppt_y</p:attrName>
                                        </p:attrNameLst>
                                      </p:cBhvr>
                                      <p:rCtr x="136" y="2"/>
                                    </p:animMotion>
                                  </p:childTnLst>
                                </p:cTn>
                              </p:par>
                              <p:par>
                                <p:cTn id="88" presetID="22" presetClass="exit" presetSubtype="8" fill="hold" grpId="0" nodeType="withEffect">
                                  <p:stCondLst>
                                    <p:cond delay="0"/>
                                  </p:stCondLst>
                                  <p:childTnLst>
                                    <p:animEffect transition="out" filter="wipe(left)">
                                      <p:cBhvr>
                                        <p:cTn id="89" dur="2000"/>
                                        <p:tgtEl>
                                          <p:spTgt spid="59"/>
                                        </p:tgtEl>
                                      </p:cBhvr>
                                    </p:animEffect>
                                    <p:set>
                                      <p:cBhvr>
                                        <p:cTn id="90" dur="1" fill="hold">
                                          <p:stCondLst>
                                            <p:cond delay="1996"/>
                                          </p:stCondLst>
                                        </p:cTn>
                                        <p:tgtEl>
                                          <p:spTgt spid="5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44" grpId="0" bldLvl="0" animBg="1"/>
      <p:bldP spid="53" grpId="0" bldLvl="0" animBg="1"/>
      <p:bldP spid="54" grpId="0" bldLvl="0" animBg="1"/>
      <p:bldP spid="55" grpId="0" bldLvl="0" animBg="1"/>
      <p:bldP spid="56" grpId="0" bldLvl="0" animBg="1"/>
      <p:bldP spid="57" grpId="0" bldLvl="0" animBg="1"/>
      <p:bldP spid="58" grpId="0" bldLvl="0" animBg="1"/>
      <p:bldP spid="59" grpId="0" bldLvl="0" animBg="1"/>
      <p:bldP spid="43"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930"/>
            <a:ext cx="12192000" cy="502920"/>
          </a:xfrm>
          <a:prstGeom prst="rect">
            <a:avLst/>
          </a:prstGeom>
        </p:spPr>
        <p:txBody>
          <a:bodyPr wrap="square">
            <a:noAutofit/>
          </a:bodyPr>
          <a:lstStyle/>
          <a:p>
            <a:pPr lvl="0" algn="ctr">
              <a:lnSpc>
                <a:spcPct val="90000"/>
              </a:lnSpc>
              <a:spcBef>
                <a:spcPts val="2400"/>
              </a:spcBef>
              <a:buClr>
                <a:srgbClr val="FF3300"/>
              </a:buClr>
              <a:buSzPct val="135000"/>
              <a:defRPr/>
            </a:pP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进展三：建立了基于高频细节能量的</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裂缝事件识别方法</a:t>
            </a:r>
            <a:endPar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基于典型井平均井深与压力传导速度，建立</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排量扰动压力响应剔除准则</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，基于砂浓度</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改变在井筒中的运动规律，建立</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砂浓度扰动压力响应剔除</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a:t>
            </a:r>
            <a:endPar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2" name="图片 12" descr="泸203井区H8平台2井第1段施工-截砂浓度影响范围"/>
          <p:cNvPicPr>
            <a:picLocks noChangeAspect="1"/>
          </p:cNvPicPr>
          <p:nvPr>
            <p:custDataLst>
              <p:tags r:id="rId1"/>
            </p:custDataLst>
          </p:nvPr>
        </p:nvPicPr>
        <p:blipFill>
          <a:blip r:embed="rId2"/>
          <a:stretch>
            <a:fillRect/>
          </a:stretch>
        </p:blipFill>
        <p:spPr>
          <a:xfrm>
            <a:off x="6171565" y="2711450"/>
            <a:ext cx="5875020" cy="2936875"/>
          </a:xfrm>
          <a:prstGeom prst="rect">
            <a:avLst/>
          </a:prstGeom>
        </p:spPr>
      </p:pic>
      <p:pic>
        <p:nvPicPr>
          <p:cNvPr id="10" name="图片 9" descr="图片3"/>
          <p:cNvPicPr>
            <a:picLocks noChangeAspect="1"/>
          </p:cNvPicPr>
          <p:nvPr>
            <p:custDataLst>
              <p:tags r:id="rId3"/>
            </p:custDataLst>
          </p:nvPr>
        </p:nvPicPr>
        <p:blipFill>
          <a:blip r:embed="rId4"/>
          <a:stretch>
            <a:fillRect/>
          </a:stretch>
        </p:blipFill>
        <p:spPr>
          <a:xfrm>
            <a:off x="129540" y="2561590"/>
            <a:ext cx="5936615" cy="3087370"/>
          </a:xfrm>
          <a:prstGeom prst="rect">
            <a:avLst/>
          </a:prstGeom>
        </p:spPr>
      </p:pic>
      <p:sp>
        <p:nvSpPr>
          <p:cNvPr id="9" name="文本框 1"/>
          <p:cNvSpPr txBox="1">
            <a:spLocks noChangeArrowheads="1"/>
          </p:cNvSpPr>
          <p:nvPr>
            <p:custDataLst>
              <p:tags r:id="rId5"/>
            </p:custDataLst>
          </p:nvPr>
        </p:nvSpPr>
        <p:spPr bwMode="auto">
          <a:xfrm>
            <a:off x="128905" y="5902960"/>
            <a:ext cx="593725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排量扰动压力响应剔除准则</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文本框 1"/>
          <p:cNvSpPr txBox="1">
            <a:spLocks noChangeArrowheads="1"/>
          </p:cNvSpPr>
          <p:nvPr>
            <p:custDataLst>
              <p:tags r:id="rId6"/>
            </p:custDataLst>
          </p:nvPr>
        </p:nvSpPr>
        <p:spPr bwMode="auto">
          <a:xfrm>
            <a:off x="6171565" y="5902960"/>
            <a:ext cx="587565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砂浓度扰动压力响应剔除方法</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基于典型井平均井深与压力传导速度，建立</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排量扰动压力响应剔除准则</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，基于砂浓度改变在井筒中的运动规律，建立</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砂浓度扰动压力响应剔除方法</a:t>
            </a:r>
            <a:endPar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descr="图片2"/>
          <p:cNvPicPr>
            <a:picLocks noChangeAspect="1"/>
          </p:cNvPicPr>
          <p:nvPr/>
        </p:nvPicPr>
        <p:blipFill>
          <a:blip r:embed="rId1"/>
          <a:stretch>
            <a:fillRect/>
          </a:stretch>
        </p:blipFill>
        <p:spPr>
          <a:xfrm>
            <a:off x="759460" y="2292985"/>
            <a:ext cx="10643235" cy="3815080"/>
          </a:xfrm>
          <a:prstGeom prst="rect">
            <a:avLst/>
          </a:prstGeom>
        </p:spPr>
      </p:pic>
      <p:sp>
        <p:nvSpPr>
          <p:cNvPr id="7" name="文本框 1"/>
          <p:cNvSpPr txBox="1">
            <a:spLocks noChangeArrowheads="1"/>
          </p:cNvSpPr>
          <p:nvPr>
            <p:custDataLst>
              <p:tags r:id="rId2"/>
            </p:custDataLst>
          </p:nvPr>
        </p:nvSpPr>
        <p:spPr bwMode="auto">
          <a:xfrm>
            <a:off x="490220" y="6177280"/>
            <a:ext cx="1138682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裂缝事件</a:t>
            </a:r>
            <a:r>
              <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识别示意图</a:t>
            </a:r>
            <a:endParaRPr lang="zh-CN" altLang="en-US" sz="16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矩形 7"/>
          <p:cNvSpPr/>
          <p:nvPr/>
        </p:nvSpPr>
        <p:spPr>
          <a:xfrm>
            <a:off x="0" y="201930"/>
            <a:ext cx="12192000" cy="502920"/>
          </a:xfrm>
          <a:prstGeom prst="rect">
            <a:avLst/>
          </a:prstGeom>
        </p:spPr>
        <p:txBody>
          <a:bodyPr wrap="square">
            <a:noAutofit/>
          </a:bodyPr>
          <a:lstStyle/>
          <a:p>
            <a:pPr lvl="0" algn="ctr">
              <a:lnSpc>
                <a:spcPct val="90000"/>
              </a:lnSpc>
              <a:spcBef>
                <a:spcPts val="2400"/>
              </a:spcBef>
              <a:buClr>
                <a:srgbClr val="FF3300"/>
              </a:buClr>
              <a:buSzPct val="135000"/>
              <a:defRPr/>
            </a:pP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进展三：建立了基于高频细节能量的</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裂缝事件识别方法</a:t>
            </a:r>
            <a:endPar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01930"/>
            <a:ext cx="12192000" cy="513080"/>
          </a:xfrm>
          <a:prstGeom prst="rect">
            <a:avLst/>
          </a:prstGeom>
        </p:spPr>
        <p:txBody>
          <a:bodyPr wrap="square">
            <a:noAutofit/>
          </a:bodyPr>
          <a:lstStyle/>
          <a:p>
            <a:pPr lvl="0" algn="ctr">
              <a:lnSpc>
                <a:spcPct val="90000"/>
              </a:lnSpc>
              <a:spcBef>
                <a:spcPts val="2400"/>
              </a:spcBef>
              <a:buClr>
                <a:srgbClr val="FF3300"/>
              </a:buClr>
              <a:buSzPct val="135000"/>
              <a:defRPr/>
            </a:pP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进展四：基于微地震</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监测结果，校验了裂缝事件小波识别方法</a:t>
            </a:r>
            <a:endPar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nvSpPr>
        <p:spPr>
          <a:xfrm>
            <a:off x="411480" y="6015482"/>
            <a:ext cx="11365992" cy="337185"/>
          </a:xfrm>
          <a:prstGeom prst="rect">
            <a:avLst/>
          </a:prstGeom>
          <a:noFill/>
        </p:spPr>
        <p:txBody>
          <a:bodyPr wrap="square" rtlCol="0">
            <a:spAutoFit/>
          </a:bodyPr>
          <a:p>
            <a:pPr algn="ct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泸203井区</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H10</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平台</a:t>
            </a:r>
            <a:r>
              <a:rPr lang="en-US" altLang="zh-CN"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1</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井第1段裂缝事件识别</a:t>
            </a:r>
            <a:r>
              <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rPr>
              <a:t>结果</a:t>
            </a:r>
            <a:endParaRPr lang="zh-CN" altLang="en-US" sz="1600" noProof="0" dirty="0">
              <a:ln>
                <a:noFill/>
              </a:ln>
              <a:solidFill>
                <a:srgbClr val="000000"/>
              </a:solidFill>
              <a:effectLst/>
              <a:uLnTx/>
              <a:uFillTx/>
              <a:latin typeface="微软雅黑" panose="020B0503020204020204" pitchFamily="34" charset="-122"/>
              <a:ea typeface="微软雅黑" panose="020B0503020204020204" pitchFamily="34" charset="-122"/>
              <a:sym typeface="+mn-ea"/>
            </a:endParaRPr>
          </a:p>
        </p:txBody>
      </p:sp>
      <p:sp>
        <p:nvSpPr>
          <p:cNvPr id="5" name="矩形 4"/>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以泸203典型井第1段为例，识别裂缝事件与微地震事件在时间序列上对应良好，验证了“</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高频细节</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能量尖峰↔裂缝扩展事件</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”的物理对应关系</a:t>
            </a:r>
            <a:endPar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2" name="图片 11" descr="泸203井区H8平台2井第1段施工"/>
          <p:cNvPicPr>
            <a:picLocks noChangeAspect="1"/>
          </p:cNvPicPr>
          <p:nvPr/>
        </p:nvPicPr>
        <p:blipFill>
          <a:blip r:embed="rId1"/>
          <a:stretch>
            <a:fillRect/>
          </a:stretch>
        </p:blipFill>
        <p:spPr>
          <a:xfrm>
            <a:off x="387350" y="2413635"/>
            <a:ext cx="11490960" cy="357822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custDataLst>
              <p:tags r:id="rId1"/>
            </p:custDataLst>
          </p:nvPr>
        </p:nvGraphicFramePr>
        <p:xfrm>
          <a:off x="489585" y="2698750"/>
          <a:ext cx="11388090" cy="3663950"/>
        </p:xfrm>
        <a:graphic>
          <a:graphicData uri="http://schemas.openxmlformats.org/drawingml/2006/table">
            <a:tbl>
              <a:tblPr/>
              <a:tblGrid>
                <a:gridCol w="2603500"/>
                <a:gridCol w="3145155"/>
                <a:gridCol w="3451860"/>
                <a:gridCol w="2187575"/>
              </a:tblGrid>
              <a:tr h="589280">
                <a:tc>
                  <a:txBody>
                    <a:bodyPr/>
                    <a:p>
                      <a:pPr algn="ctr" fontAlgn="ctr"/>
                      <a:r>
                        <a:rPr lang="zh-CN" altLang="en-US" sz="2000" b="1" i="0">
                          <a:solidFill>
                            <a:schemeClr val="bg1"/>
                          </a:solidFill>
                          <a:latin typeface="微软雅黑" panose="020B0503020204020204" pitchFamily="34" charset="-122"/>
                          <a:ea typeface="微软雅黑" panose="020B0503020204020204" pitchFamily="34" charset="-122"/>
                        </a:rPr>
                        <a:t>方法</a:t>
                      </a:r>
                      <a:endParaRPr lang="zh-CN" altLang="en-US" sz="20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20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识别数/正确数/误判数</a:t>
                      </a:r>
                      <a:endParaRPr lang="zh-CN" altLang="en-US" sz="2000" b="1" i="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2000" b="1" i="0">
                          <a:solidFill>
                            <a:schemeClr val="bg1"/>
                          </a:solidFill>
                          <a:latin typeface="微软雅黑" panose="020B0503020204020204" pitchFamily="34" charset="-122"/>
                          <a:ea typeface="微软雅黑" panose="020B0503020204020204" pitchFamily="34" charset="-122"/>
                        </a:rPr>
                        <a:t>准确率</a:t>
                      </a:r>
                      <a:endParaRPr lang="zh-CN" altLang="en-US" sz="20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2000" b="1" i="0">
                          <a:solidFill>
                            <a:schemeClr val="bg1"/>
                          </a:solidFill>
                          <a:latin typeface="微软雅黑" panose="020B0503020204020204" pitchFamily="34" charset="-122"/>
                          <a:ea typeface="微软雅黑" panose="020B0503020204020204" pitchFamily="34" charset="-122"/>
                        </a:rPr>
                        <a:t>误判率</a:t>
                      </a:r>
                      <a:endParaRPr lang="zh-CN" altLang="en-US" sz="20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1024890">
                <a:tc>
                  <a:txBody>
                    <a:bodyPr/>
                    <a:p>
                      <a:pPr algn="ctr" fontAlgn="ctr"/>
                      <a:r>
                        <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传统方法</a:t>
                      </a:r>
                      <a:endPar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45 / 25 / 20</a:t>
                      </a:r>
                      <a:endPar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zh-CN" altLang="en-US" sz="2000" b="0" i="0">
                          <a:solidFill>
                            <a:srgbClr val="000000"/>
                          </a:solidFill>
                          <a:latin typeface="微软雅黑" panose="020B0503020204020204" pitchFamily="34" charset="-122"/>
                          <a:ea typeface="微软雅黑" panose="020B0503020204020204" pitchFamily="34" charset="-122"/>
                        </a:rPr>
                        <a:t>55.56%</a:t>
                      </a:r>
                      <a:endParaRPr lang="zh-CN" altLang="en-US" sz="2000" b="0" i="0">
                        <a:solidFill>
                          <a:srgbClr val="00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44.44%</a:t>
                      </a:r>
                      <a:endPar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1024890">
                <a:tc>
                  <a:txBody>
                    <a:bodyPr/>
                    <a:p>
                      <a:pPr algn="ctr"/>
                      <a:r>
                        <a:rPr sz="2000">
                          <a:latin typeface="微软雅黑" panose="020B0503020204020204" pitchFamily="34" charset="-122"/>
                          <a:ea typeface="微软雅黑" panose="020B0503020204020204" pitchFamily="34" charset="-122"/>
                        </a:rPr>
                        <a:t>仅考虑压力传导</a:t>
                      </a:r>
                      <a:endParaRPr sz="2000">
                        <a:latin typeface="微软雅黑" panose="020B0503020204020204" pitchFamily="34" charset="-122"/>
                        <a:ea typeface="微软雅黑" panose="020B0503020204020204" pitchFamily="34" charset="-122"/>
                      </a:endParaRPr>
                    </a:p>
                    <a:p>
                      <a:pPr algn="ctr"/>
                      <a:r>
                        <a:rPr sz="2000">
                          <a:latin typeface="微软雅黑" panose="020B0503020204020204" pitchFamily="34" charset="-122"/>
                          <a:ea typeface="微软雅黑" panose="020B0503020204020204" pitchFamily="34" charset="-122"/>
                        </a:rPr>
                        <a:t>时延</a:t>
                      </a:r>
                      <a:endParaRPr sz="2000">
                        <a:latin typeface="微软雅黑" panose="020B0503020204020204" pitchFamily="34" charset="-122"/>
                        <a:ea typeface="微软雅黑" panose="020B0503020204020204" pitchFamily="34" charset="-122"/>
                      </a:endParaRPr>
                    </a:p>
                  </a:txBody>
                  <a:tcPr anchor="ctr" anchorCtr="0">
                    <a:lnL w="12700">
                      <a:solidFill>
                        <a:schemeClr val="tx1"/>
                      </a:solidFill>
                      <a:prstDash val="solid"/>
                    </a:lnL>
                    <a:lnR w="12700">
                      <a:solidFill>
                        <a:schemeClr val="tx1"/>
                      </a:solidFill>
                      <a:prstDash val="solid"/>
                    </a:lnR>
                    <a:lnB w="12700">
                      <a:solidFill>
                        <a:schemeClr val="tx1"/>
                      </a:solidFill>
                      <a:prstDash val="solid"/>
                    </a:lnB>
                  </a:tcPr>
                </a:tc>
                <a:tc>
                  <a:txBody>
                    <a:bodyPr/>
                    <a:p>
                      <a:pPr indent="0" algn="ctr" fontAlgn="ctr">
                        <a:buClr>
                          <a:srgbClr val="C00000"/>
                        </a:buClr>
                        <a:buFont typeface="Wingdings" panose="05000000000000000000" charset="0"/>
                        <a:buNone/>
                      </a:pP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39 / 23 / 16</a:t>
                      </a:r>
                      <a:endPar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58.97%</a:t>
                      </a:r>
                      <a:endPar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41.03%</a:t>
                      </a:r>
                      <a:endPar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1024890">
                <a:tc>
                  <a:txBody>
                    <a:bodyPr/>
                    <a:p>
                      <a:pPr algn="ctr" fontAlgn="ctr"/>
                      <a:r>
                        <a:rPr lang="en-US" altLang="zh-CN" sz="2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考虑压力传导时延</a:t>
                      </a:r>
                      <a:endParaRPr lang="en-US" altLang="zh-CN" sz="2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gn="ctr" fontAlgn="ctr"/>
                      <a:r>
                        <a:rPr lang="en-US" altLang="zh-CN" sz="2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与砂浓度响应</a:t>
                      </a:r>
                      <a:endParaRPr lang="en-US" altLang="zh-CN" sz="2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zh-CN" altLang="en-US" sz="2000" b="0" i="0">
                          <a:solidFill>
                            <a:srgbClr val="FF0000"/>
                          </a:solidFill>
                          <a:latin typeface="微软雅黑" panose="020B0503020204020204" pitchFamily="34" charset="-122"/>
                          <a:ea typeface="微软雅黑" panose="020B0503020204020204" pitchFamily="34" charset="-122"/>
                        </a:rPr>
                        <a:t>29 / 23 / 6</a:t>
                      </a:r>
                      <a:endParaRPr lang="zh-CN" altLang="en-US" sz="2000" b="0" i="0">
                        <a:solidFill>
                          <a:srgbClr val="FF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zh-CN" altLang="en-US" sz="2000" b="0" i="0">
                          <a:solidFill>
                            <a:srgbClr val="FF0000"/>
                          </a:solidFill>
                          <a:latin typeface="微软雅黑" panose="020B0503020204020204" pitchFamily="34" charset="-122"/>
                          <a:ea typeface="微软雅黑" panose="020B0503020204020204" pitchFamily="34" charset="-122"/>
                        </a:rPr>
                        <a:t>79.31%</a:t>
                      </a:r>
                      <a:endParaRPr lang="zh-CN" altLang="en-US" sz="2000" b="0" i="0">
                        <a:solidFill>
                          <a:srgbClr val="FF0000"/>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zh-CN" altLang="en-US" sz="2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20.69%</a:t>
                      </a:r>
                      <a:endParaRPr lang="zh-CN" altLang="en-US" sz="2000" b="0" i="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8" name="矩形 7"/>
          <p:cNvSpPr/>
          <p:nvPr/>
        </p:nvSpPr>
        <p:spPr>
          <a:xfrm>
            <a:off x="489585" y="2379345"/>
            <a:ext cx="11388090" cy="337185"/>
          </a:xfrm>
          <a:prstGeom prst="rect">
            <a:avLst/>
          </a:prstGeom>
        </p:spPr>
        <p:txBody>
          <a:bodyPr wrap="square">
            <a:spAutoFit/>
          </a:bodyPr>
          <a:lstStyle/>
          <a:p>
            <a:pPr lvl="0" algn="ctr" defTabSz="913765" eaLnBrk="0" fontAlgn="base" hangingPunct="0">
              <a:defRPr/>
            </a:pPr>
            <a:r>
              <a:rPr lang="en-US" altLang="zh-CN" sz="1600" dirty="0">
                <a:latin typeface="微软雅黑" panose="020B0503020204020204" pitchFamily="34" charset="-122"/>
                <a:ea typeface="微软雅黑" panose="020B0503020204020204" pitchFamily="34" charset="-122"/>
              </a:rPr>
              <a:t>裂缝扩展事件识别效果微地震校验对比</a:t>
            </a:r>
            <a:endParaRPr lang="en-US" altLang="zh-CN" sz="1600" dirty="0">
              <a:latin typeface="微软雅黑" panose="020B0503020204020204" pitchFamily="34" charset="-122"/>
              <a:ea typeface="微软雅黑" panose="020B0503020204020204" pitchFamily="34" charset="-122"/>
            </a:endParaRPr>
          </a:p>
        </p:txBody>
      </p:sp>
      <p:sp>
        <p:nvSpPr>
          <p:cNvPr id="4" name="矩形 3"/>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改进的小波分析方法</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将识别准确率由</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55.56%</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提升至</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79.31%</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，误判率由44.44%降至</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20.69%</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，方法有效性得到微地震数据证实</a:t>
            </a:r>
            <a:endPar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矩形 6"/>
          <p:cNvSpPr/>
          <p:nvPr/>
        </p:nvSpPr>
        <p:spPr>
          <a:xfrm>
            <a:off x="0" y="201930"/>
            <a:ext cx="12192000" cy="513080"/>
          </a:xfrm>
          <a:prstGeom prst="rect">
            <a:avLst/>
          </a:prstGeom>
        </p:spPr>
        <p:txBody>
          <a:bodyPr wrap="square">
            <a:noAutofit/>
          </a:bodyPr>
          <a:lstStyle/>
          <a:p>
            <a:pPr lvl="0" algn="ctr">
              <a:lnSpc>
                <a:spcPct val="90000"/>
              </a:lnSpc>
              <a:spcBef>
                <a:spcPts val="2400"/>
              </a:spcBef>
              <a:buClr>
                <a:srgbClr val="FF3300"/>
              </a:buClr>
              <a:buSzPct val="135000"/>
              <a:defRPr/>
            </a:pP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进展四：基于微地震</a:t>
            </a:r>
            <a:r>
              <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监测结果，校验了裂缝事件小波识别方法</a:t>
            </a:r>
            <a:endParaRPr lang="zh-CN" altLang="en-US" sz="28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结论与</a:t>
            </a:r>
            <a:r>
              <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认识</a:t>
            </a:r>
            <a:endParaRPr lang="zh-CN" altLang="en-US" sz="3600" b="1" dirty="0" smtClean="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圆角矩形 1"/>
          <p:cNvSpPr/>
          <p:nvPr>
            <p:custDataLst>
              <p:tags r:id="rId1"/>
            </p:custDataLst>
          </p:nvPr>
        </p:nvSpPr>
        <p:spPr>
          <a:xfrm>
            <a:off x="1106805" y="2282825"/>
            <a:ext cx="5070475" cy="2079625"/>
          </a:xfrm>
          <a:prstGeom prst="roundRect">
            <a:avLst/>
          </a:prstGeom>
          <a:solidFill>
            <a:schemeClr val="accent5">
              <a:lumMod val="40000"/>
              <a:lumOff val="60000"/>
            </a:schemeClr>
          </a:solidFill>
          <a:ln w="1905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b="1" dirty="0" smtClean="0">
              <a:solidFill>
                <a:srgbClr val="C00000"/>
              </a:solidFill>
              <a:latin typeface="微软雅黑" panose="020B0503020204020204" pitchFamily="34" charset="-122"/>
              <a:ea typeface="微软雅黑" panose="020B0503020204020204" pitchFamily="34" charset="-122"/>
            </a:endParaRPr>
          </a:p>
        </p:txBody>
      </p:sp>
      <p:sp>
        <p:nvSpPr>
          <p:cNvPr id="8" name="圆角矩形 7"/>
          <p:cNvSpPr/>
          <p:nvPr>
            <p:custDataLst>
              <p:tags r:id="rId2"/>
            </p:custDataLst>
          </p:nvPr>
        </p:nvSpPr>
        <p:spPr>
          <a:xfrm>
            <a:off x="1106805" y="4448175"/>
            <a:ext cx="5070475" cy="2079625"/>
          </a:xfrm>
          <a:prstGeom prst="roundRect">
            <a:avLst/>
          </a:prstGeom>
          <a:solidFill>
            <a:schemeClr val="accent4">
              <a:lumMod val="40000"/>
              <a:lumOff val="60000"/>
            </a:schemeClr>
          </a:solid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b="1" dirty="0" smtClean="0">
              <a:solidFill>
                <a:srgbClr val="C00000"/>
              </a:solidFill>
              <a:latin typeface="微软雅黑" panose="020B0503020204020204" pitchFamily="34" charset="-122"/>
              <a:ea typeface="微软雅黑" panose="020B0503020204020204" pitchFamily="34" charset="-122"/>
            </a:endParaRPr>
          </a:p>
        </p:txBody>
      </p:sp>
      <p:sp>
        <p:nvSpPr>
          <p:cNvPr id="9" name="圆角矩形 8"/>
          <p:cNvSpPr/>
          <p:nvPr>
            <p:custDataLst>
              <p:tags r:id="rId3"/>
            </p:custDataLst>
          </p:nvPr>
        </p:nvSpPr>
        <p:spPr>
          <a:xfrm>
            <a:off x="6505575" y="2266315"/>
            <a:ext cx="5070475" cy="2079625"/>
          </a:xfrm>
          <a:prstGeom prst="roundRect">
            <a:avLst/>
          </a:prstGeom>
          <a:solidFill>
            <a:schemeClr val="accent6">
              <a:lumMod val="40000"/>
              <a:lumOff val="60000"/>
            </a:schemeClr>
          </a:solid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b="1" dirty="0" smtClean="0">
              <a:solidFill>
                <a:srgbClr val="C00000"/>
              </a:solidFill>
              <a:latin typeface="微软雅黑" panose="020B0503020204020204" pitchFamily="34" charset="-122"/>
              <a:ea typeface="微软雅黑" panose="020B0503020204020204" pitchFamily="34" charset="-122"/>
            </a:endParaRPr>
          </a:p>
        </p:txBody>
      </p:sp>
      <p:sp>
        <p:nvSpPr>
          <p:cNvPr id="10" name="圆角矩形 9"/>
          <p:cNvSpPr/>
          <p:nvPr>
            <p:custDataLst>
              <p:tags r:id="rId4"/>
            </p:custDataLst>
          </p:nvPr>
        </p:nvSpPr>
        <p:spPr>
          <a:xfrm>
            <a:off x="6505575" y="4431665"/>
            <a:ext cx="5070475" cy="2079625"/>
          </a:xfrm>
          <a:prstGeom prst="roundRect">
            <a:avLst/>
          </a:prstGeom>
          <a:solidFill>
            <a:schemeClr val="accent2">
              <a:lumMod val="40000"/>
              <a:lumOff val="60000"/>
            </a:schemeClr>
          </a:solid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b="1" dirty="0" smtClean="0">
              <a:solidFill>
                <a:srgbClr val="C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5"/>
            </p:custDataLst>
          </p:nvPr>
        </p:nvSpPr>
        <p:spPr>
          <a:xfrm>
            <a:off x="1212850" y="2376805"/>
            <a:ext cx="4304030" cy="398780"/>
          </a:xfrm>
          <a:prstGeom prst="rect">
            <a:avLst/>
          </a:prstGeom>
          <a:noFill/>
        </p:spPr>
        <p:txBody>
          <a:bodyPr wrap="square" rtlCol="0">
            <a:spAutoFit/>
          </a:bodyPr>
          <a:p>
            <a:r>
              <a:rPr lang="en-US" altLang="zh-CN"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Db7</a:t>
            </a:r>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小波基分析施工曲线</a:t>
            </a:r>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表现最优</a:t>
            </a:r>
            <a:endPar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custDataLst>
              <p:tags r:id="rId6"/>
            </p:custDataLst>
          </p:nvPr>
        </p:nvSpPr>
        <p:spPr>
          <a:xfrm>
            <a:off x="6633210" y="2360930"/>
            <a:ext cx="4304030" cy="398780"/>
          </a:xfrm>
          <a:prstGeom prst="rect">
            <a:avLst/>
          </a:prstGeom>
          <a:noFill/>
        </p:spPr>
        <p:txBody>
          <a:bodyPr wrap="square" rtlCol="0">
            <a:spAutoFit/>
          </a:bodyPr>
          <a:p>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多尺度分解</a:t>
            </a:r>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分析可聚焦裂缝</a:t>
            </a:r>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事件</a:t>
            </a:r>
            <a:endPar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文本框 12"/>
          <p:cNvSpPr txBox="1"/>
          <p:nvPr>
            <p:custDataLst>
              <p:tags r:id="rId7"/>
            </p:custDataLst>
          </p:nvPr>
        </p:nvSpPr>
        <p:spPr>
          <a:xfrm>
            <a:off x="1212850" y="4521835"/>
            <a:ext cx="4772660" cy="398780"/>
          </a:xfrm>
          <a:prstGeom prst="rect">
            <a:avLst/>
          </a:prstGeom>
          <a:noFill/>
        </p:spPr>
        <p:txBody>
          <a:bodyPr wrap="square" rtlCol="0">
            <a:spAutoFit/>
          </a:bodyPr>
          <a:p>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双施工参数联合诊断</a:t>
            </a:r>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能有效降低误判</a:t>
            </a:r>
            <a:endPar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custDataLst>
              <p:tags r:id="rId8"/>
            </p:custDataLst>
          </p:nvPr>
        </p:nvSpPr>
        <p:spPr>
          <a:xfrm>
            <a:off x="6633210" y="4493895"/>
            <a:ext cx="4770755" cy="398780"/>
          </a:xfrm>
          <a:prstGeom prst="rect">
            <a:avLst/>
          </a:prstGeom>
          <a:noFill/>
        </p:spPr>
        <p:txBody>
          <a:bodyPr wrap="square" rtlCol="0">
            <a:spAutoFit/>
          </a:bodyPr>
          <a:p>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小波分析方法与微地震监测对应</a:t>
            </a:r>
            <a:r>
              <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良好</a:t>
            </a:r>
            <a:endParaRPr lang="zh-CN" altLang="en-US" sz="20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3" name="文本框 22"/>
          <p:cNvSpPr txBox="1"/>
          <p:nvPr>
            <p:custDataLst>
              <p:tags r:id="rId9"/>
            </p:custDataLst>
          </p:nvPr>
        </p:nvSpPr>
        <p:spPr>
          <a:xfrm>
            <a:off x="1302385" y="2726055"/>
            <a:ext cx="4683125" cy="1620000"/>
          </a:xfrm>
          <a:prstGeom prst="rect">
            <a:avLst/>
          </a:prstGeom>
          <a:noFill/>
        </p:spPr>
        <p:txBody>
          <a:bodyPr wrap="square" rtlCol="0">
            <a:noAutofit/>
          </a:bodyPr>
          <a:p>
            <a:pPr>
              <a:lnSpc>
                <a:spcPct val="150000"/>
              </a:lnSpc>
            </a:pPr>
            <a:r>
              <a:rPr lang="en-US" altLang="zh-CN"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Db7</a:t>
            </a:r>
            <a:r>
              <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小波基在裂缝事件定位与信号细节保留之间取得较好平衡，更适用于压裂施工信号分析</a:t>
            </a:r>
            <a:endPar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4" name="文本框 23"/>
          <p:cNvSpPr txBox="1"/>
          <p:nvPr>
            <p:custDataLst>
              <p:tags r:id="rId10"/>
            </p:custDataLst>
          </p:nvPr>
        </p:nvSpPr>
        <p:spPr>
          <a:xfrm>
            <a:off x="6716395" y="2726055"/>
            <a:ext cx="4683125" cy="1620000"/>
          </a:xfrm>
          <a:prstGeom prst="rect">
            <a:avLst/>
          </a:prstGeom>
          <a:noFill/>
        </p:spPr>
        <p:txBody>
          <a:bodyPr wrap="square" rtlCol="0">
            <a:noAutofit/>
          </a:bodyPr>
          <a:p>
            <a:pPr>
              <a:lnSpc>
                <a:spcPct val="150000"/>
              </a:lnSpc>
            </a:pPr>
            <a:r>
              <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通过多尺度分解，可有效区分高频噪声、瞬态裂缝响应和低频施工趋势，其中高频分量对裂缝事件最为敏感</a:t>
            </a:r>
            <a:endPar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文本框 24"/>
          <p:cNvSpPr txBox="1"/>
          <p:nvPr>
            <p:custDataLst>
              <p:tags r:id="rId11"/>
            </p:custDataLst>
          </p:nvPr>
        </p:nvSpPr>
        <p:spPr>
          <a:xfrm>
            <a:off x="1297305" y="4906645"/>
            <a:ext cx="4683125" cy="1620000"/>
          </a:xfrm>
          <a:prstGeom prst="rect">
            <a:avLst/>
          </a:prstGeom>
          <a:noFill/>
        </p:spPr>
        <p:txBody>
          <a:bodyPr wrap="square" rtlCol="0">
            <a:noAutofit/>
          </a:bodyPr>
          <a:p>
            <a:pPr>
              <a:lnSpc>
                <a:spcPct val="150000"/>
              </a:lnSpc>
            </a:pPr>
            <a:r>
              <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结合排量与砂浓度变化，考虑压力传导时延和砂浓度扰动影响，可提高裂缝识别结果的</a:t>
            </a:r>
            <a:r>
              <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准确性</a:t>
            </a:r>
            <a:endPar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6" name="文本框 25"/>
          <p:cNvSpPr txBox="1"/>
          <p:nvPr>
            <p:custDataLst>
              <p:tags r:id="rId12"/>
            </p:custDataLst>
          </p:nvPr>
        </p:nvSpPr>
        <p:spPr>
          <a:xfrm>
            <a:off x="6720840" y="4907915"/>
            <a:ext cx="4683125" cy="1620000"/>
          </a:xfrm>
          <a:prstGeom prst="rect">
            <a:avLst/>
          </a:prstGeom>
          <a:noFill/>
        </p:spPr>
        <p:txBody>
          <a:bodyPr wrap="square" rtlCol="0">
            <a:noAutofit/>
          </a:bodyPr>
          <a:p>
            <a:pPr>
              <a:lnSpc>
                <a:spcPct val="150000"/>
              </a:lnSpc>
            </a:pPr>
            <a:r>
              <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小波分析方法识别裂缝事件结果与矿场微地震监测结果具有较高一致性，为方法的现场应用提供了</a:t>
            </a:r>
            <a:r>
              <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支撑</a:t>
            </a:r>
            <a:endParaRPr lang="zh-CN" altLang="en-US" sz="2000" b="1" noProof="0" dirty="0">
              <a:ln>
                <a:noFill/>
              </a:ln>
              <a:solidFill>
                <a:schemeClr val="bg2">
                  <a:lumMod val="50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基于模型构建与典型井分析研究，形成以下</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4条阶段性结论与认识</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，支撑下半年连续小波</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变换研究</a:t>
            </a:r>
            <a:endPar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p:nvPr>
            <p:custDataLst>
              <p:tags r:id="rId1"/>
            </p:custDataLst>
          </p:nvPr>
        </p:nvGraphicFramePr>
        <p:xfrm>
          <a:off x="489585" y="2432050"/>
          <a:ext cx="11497945" cy="3865245"/>
        </p:xfrm>
        <a:graphic>
          <a:graphicData uri="http://schemas.openxmlformats.org/drawingml/2006/table">
            <a:tbl>
              <a:tblPr/>
              <a:tblGrid>
                <a:gridCol w="3705860"/>
                <a:gridCol w="7792085"/>
              </a:tblGrid>
              <a:tr h="1182370">
                <a:tc>
                  <a:txBody>
                    <a:bodyPr/>
                    <a:p>
                      <a:pPr algn="ctr" fontAlgn="ctr"/>
                      <a:r>
                        <a:rPr lang="zh-CN" altLang="en-US" sz="2000" b="1" i="0">
                          <a:solidFill>
                            <a:schemeClr val="bg1"/>
                          </a:solidFill>
                          <a:latin typeface="微软雅黑" panose="020B0503020204020204" pitchFamily="34" charset="-122"/>
                          <a:ea typeface="微软雅黑" panose="020B0503020204020204" pitchFamily="34" charset="-122"/>
                        </a:rPr>
                        <a:t>时间</a:t>
                      </a:r>
                      <a:endParaRPr lang="zh-CN" altLang="en-US" sz="20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c>
                  <a:txBody>
                    <a:bodyPr/>
                    <a:p>
                      <a:pPr algn="ctr" fontAlgn="ctr"/>
                      <a:r>
                        <a:rPr lang="zh-CN" altLang="en-US" sz="2000" b="1" i="0">
                          <a:solidFill>
                            <a:schemeClr val="bg1"/>
                          </a:solidFill>
                          <a:latin typeface="微软雅黑" panose="020B0503020204020204" pitchFamily="34" charset="-122"/>
                          <a:ea typeface="微软雅黑" panose="020B0503020204020204" pitchFamily="34" charset="-122"/>
                        </a:rPr>
                        <a:t>任务</a:t>
                      </a:r>
                      <a:endParaRPr lang="zh-CN" altLang="en-US" sz="2000" b="1" i="0">
                        <a:solidFill>
                          <a:schemeClr val="bg1"/>
                        </a:solidFill>
                        <a:latin typeface="微软雅黑" panose="020B0503020204020204" pitchFamily="34" charset="-122"/>
                        <a:ea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FC000"/>
                    </a:solidFill>
                  </a:tcPr>
                </a:tc>
              </a:tr>
              <a:tr h="1183005">
                <a:tc>
                  <a:txBody>
                    <a:bodyPr/>
                    <a:p>
                      <a:pPr algn="ctr" fontAlgn="ctr"/>
                      <a:r>
                        <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2026年7月~9月</a:t>
                      </a:r>
                      <a:endParaRPr lang="en-US" altLang="zh-CN"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indent="0" algn="ctr" fontAlgn="ctr">
                        <a:buClr>
                          <a:srgbClr val="C00000"/>
                        </a:buClr>
                        <a:buFont typeface="Wingdings" panose="05000000000000000000" charset="0"/>
                        <a:buNone/>
                      </a:pP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连续小波</a:t>
                      </a: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变换时频尺度图计算方法研究与多维小波评价指标提取</a:t>
                      </a:r>
                      <a:endPar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1499870">
                <a:tc>
                  <a:txBody>
                    <a:bodyPr/>
                    <a:p>
                      <a:pPr algn="ctr"/>
                      <a:r>
                        <a:rPr sz="2000">
                          <a:latin typeface="微软雅黑" panose="020B0503020204020204" pitchFamily="34" charset="-122"/>
                          <a:ea typeface="微软雅黑" panose="020B0503020204020204" pitchFamily="34" charset="-122"/>
                          <a:cs typeface="微软雅黑" panose="020B0503020204020204" pitchFamily="34" charset="-122"/>
                        </a:rPr>
                        <a:t>2026年10月~12月</a:t>
                      </a:r>
                      <a:endParaRPr sz="2000">
                        <a:latin typeface="微软雅黑" panose="020B0503020204020204" pitchFamily="34" charset="-122"/>
                        <a:ea typeface="微软雅黑" panose="020B0503020204020204" pitchFamily="34" charset="-122"/>
                        <a:cs typeface="微软雅黑" panose="020B0503020204020204" pitchFamily="34" charset="-122"/>
                      </a:endParaRPr>
                    </a:p>
                  </a:txBody>
                  <a:tcPr anchor="ctr" anchorCtr="0">
                    <a:lnL w="12700">
                      <a:solidFill>
                        <a:schemeClr val="tx1"/>
                      </a:solidFill>
                      <a:prstDash val="solid"/>
                    </a:lnL>
                    <a:lnR w="12700">
                      <a:solidFill>
                        <a:schemeClr val="tx1"/>
                      </a:solidFill>
                      <a:prstDash val="solid"/>
                    </a:lnR>
                    <a:lnB w="12700">
                      <a:solidFill>
                        <a:schemeClr val="tx1"/>
                      </a:solidFill>
                      <a:prstDash val="solid"/>
                    </a:lnB>
                  </a:tcPr>
                </a:tc>
                <a:tc>
                  <a:txBody>
                    <a:bodyPr/>
                    <a:p>
                      <a:pPr indent="0" algn="ctr" fontAlgn="ctr">
                        <a:buClr>
                          <a:srgbClr val="C00000"/>
                        </a:buClr>
                        <a:buFont typeface="Wingdings" panose="05000000000000000000" charset="0"/>
                        <a:buNone/>
                      </a:pP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多维小波评价指标与微地震改造体积定量关系</a:t>
                      </a: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研究</a:t>
                      </a:r>
                      <a:endPar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fontAlgn="ctr">
                        <a:buClr>
                          <a:srgbClr val="C00000"/>
                        </a:buClr>
                        <a:buFont typeface="Wingdings" panose="05000000000000000000" charset="0"/>
                        <a:buNone/>
                      </a:pPr>
                      <a:r>
                        <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与</a:t>
                      </a:r>
                      <a:r>
                        <a:rPr lang="zh-CN" altLang="en-US" sz="2000">
                          <a:solidFill>
                            <a:srgbClr val="000000"/>
                          </a:solidFill>
                          <a:latin typeface="微软雅黑" panose="020B0503020204020204" pitchFamily="34" charset="-122"/>
                          <a:ea typeface="微软雅黑" panose="020B0503020204020204" pitchFamily="34" charset="-122"/>
                          <a:sym typeface="+mn-ea"/>
                        </a:rPr>
                        <a:t>泸州区块典型井全井段</a:t>
                      </a:r>
                      <a:r>
                        <a:rPr lang="zh-CN" altLang="en-US" sz="2000">
                          <a:solidFill>
                            <a:srgbClr val="000000"/>
                          </a:solidFill>
                          <a:latin typeface="微软雅黑" panose="020B0503020204020204" pitchFamily="34" charset="-122"/>
                          <a:ea typeface="微软雅黑" panose="020B0503020204020204" pitchFamily="34" charset="-122"/>
                          <a:sym typeface="+mn-ea"/>
                        </a:rPr>
                        <a:t>分析验证</a:t>
                      </a:r>
                      <a:endParaRPr lang="zh-CN" altLang="en-US" sz="2000" b="0" i="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7937" marR="7937" marT="7937"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4" name="矩形 3"/>
          <p:cNvSpPr/>
          <p:nvPr/>
        </p:nvSpPr>
        <p:spPr>
          <a:xfrm>
            <a:off x="0" y="156397"/>
            <a:ext cx="12192000" cy="589280"/>
          </a:xfrm>
          <a:prstGeom prst="rect">
            <a:avLst/>
          </a:prstGeom>
        </p:spPr>
        <p:txBody>
          <a:bodyPr wrap="square">
            <a:spAutoFit/>
          </a:bodyPr>
          <a:lstStyle/>
          <a:p>
            <a:pPr lvl="0" algn="ctr">
              <a:lnSpc>
                <a:spcPct val="90000"/>
              </a:lnSpc>
              <a:spcBef>
                <a:spcPts val="2400"/>
              </a:spcBef>
              <a:buClr>
                <a:srgbClr val="FF3300"/>
              </a:buClr>
              <a:buSzPct val="135000"/>
              <a:defRPr/>
            </a:pPr>
            <a:r>
              <a:rPr kumimoji="0" lang="zh-CN" altLang="en-US" sz="36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下步</a:t>
            </a:r>
            <a:r>
              <a:rPr kumimoji="0" lang="zh-CN" altLang="en-US" sz="36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计划</a:t>
            </a:r>
            <a:endParaRPr kumimoji="0" lang="zh-CN" altLang="en-US" sz="3600" b="1" i="0" u="none" strike="noStrike" kern="1200" cap="none" spc="0" normalizeH="0" baseline="0" noProof="0" dirty="0" smtClean="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489567" y="1033571"/>
            <a:ext cx="11388053" cy="1198880"/>
          </a:xfrm>
          <a:prstGeom prst="rect">
            <a:avLst/>
          </a:prstGeom>
        </p:spPr>
        <p:txBody>
          <a:bodyPr wrap="square">
            <a:spAutoFit/>
          </a:bodyPr>
          <a:lstStyle/>
          <a:p>
            <a:pPr marL="457200" lvl="0" indent="-457200" algn="just" fontAlgn="auto">
              <a:lnSpc>
                <a:spcPct val="150000"/>
              </a:lnSpc>
              <a:buClr>
                <a:srgbClr val="C00000"/>
              </a:buClr>
              <a:buSzPct val="100000"/>
              <a:buFont typeface="Wingdings" panose="05000000000000000000" pitchFamily="2" charset="2"/>
              <a:buChar char="l"/>
              <a:defRPr/>
            </a:pP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下半年计划开展</a:t>
            </a:r>
            <a:r>
              <a:rPr lang="zh-CN" altLang="en-US" sz="24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连续小波变换时频尺度图与多维小波评价指标</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研究，完成与改造体积的定量关联及泸州典型井分析</a:t>
            </a:r>
            <a:r>
              <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验证</a:t>
            </a:r>
            <a:endParaRPr lang="zh-CN" altLang="en-US" sz="2400" b="1"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4450" y="4298451"/>
            <a:ext cx="12236450" cy="2367262"/>
            <a:chOff x="1487488" y="2933946"/>
            <a:chExt cx="9201151" cy="2367262"/>
          </a:xfrm>
        </p:grpSpPr>
        <p:sp>
          <p:nvSpPr>
            <p:cNvPr id="3" name="矩形 2"/>
            <p:cNvSpPr/>
            <p:nvPr/>
          </p:nvSpPr>
          <p:spPr>
            <a:xfrm>
              <a:off x="1524000" y="3284984"/>
              <a:ext cx="9144000" cy="1998320"/>
            </a:xfrm>
            <a:prstGeom prst="rect">
              <a:avLst/>
            </a:prstGeom>
            <a:gradFill flip="none" rotWithShape="1">
              <a:gsLst>
                <a:gs pos="0">
                  <a:srgbClr val="0070C0"/>
                </a:gs>
                <a:gs pos="100000">
                  <a:srgbClr val="002F8E"/>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prstClr val="white"/>
                </a:solidFill>
                <a:effectLst/>
                <a:uLnTx/>
                <a:uFillTx/>
                <a:latin typeface="Times New Roman" panose="02020603050405020304"/>
                <a:ea typeface="宋体" panose="02010600030101010101" pitchFamily="2" charset="-122"/>
                <a:cs typeface="+mn-cs"/>
              </a:endParaRPr>
            </a:p>
          </p:txBody>
        </p:sp>
        <p:grpSp>
          <p:nvGrpSpPr>
            <p:cNvPr id="4" name="组合 14"/>
            <p:cNvGrpSpPr/>
            <p:nvPr/>
          </p:nvGrpSpPr>
          <p:grpSpPr bwMode="auto">
            <a:xfrm>
              <a:off x="1487488" y="5256758"/>
              <a:ext cx="9201151" cy="44450"/>
              <a:chOff x="-36512" y="1081950"/>
              <a:chExt cx="9201237" cy="45719"/>
            </a:xfrm>
          </p:grpSpPr>
          <p:cxnSp>
            <p:nvCxnSpPr>
              <p:cNvPr id="10" name="直接连接符 9"/>
              <p:cNvCxnSpPr/>
              <p:nvPr/>
            </p:nvCxnSpPr>
            <p:spPr bwMode="auto">
              <a:xfrm>
                <a:off x="-36512" y="1124403"/>
                <a:ext cx="9180599" cy="0"/>
              </a:xfrm>
              <a:prstGeom prst="line">
                <a:avLst/>
              </a:prstGeom>
              <a:noFill/>
              <a:ln w="9525" cap="flat" cmpd="sng" algn="ctr">
                <a:solidFill>
                  <a:schemeClr val="bg1">
                    <a:lumMod val="50000"/>
                  </a:schemeClr>
                </a:solidFill>
                <a:prstDash val="solid"/>
                <a:miter lim="800000"/>
                <a:headEnd type="none" w="med" len="med"/>
                <a:tailEnd type="none" w="med" len="med"/>
              </a:ln>
              <a:effectLst/>
            </p:spPr>
          </p:cxnSp>
          <p:sp>
            <p:nvSpPr>
              <p:cNvPr id="11" name="矩形 10"/>
              <p:cNvSpPr/>
              <p:nvPr/>
            </p:nvSpPr>
            <p:spPr bwMode="auto">
              <a:xfrm>
                <a:off x="1" y="1081950"/>
                <a:ext cx="9164724" cy="45719"/>
              </a:xfrm>
              <a:prstGeom prst="rect">
                <a:avLst/>
              </a:prstGeom>
              <a:gradFill flip="none" rotWithShape="1">
                <a:gsLst>
                  <a:gs pos="0">
                    <a:schemeClr val="bg1">
                      <a:lumMod val="95000"/>
                    </a:schemeClr>
                  </a:gs>
                  <a:gs pos="55400">
                    <a:schemeClr val="bg1"/>
                  </a:gs>
                  <a:gs pos="100000">
                    <a:srgbClr val="FFFFCC">
                      <a:alpha val="0"/>
                    </a:srgbClr>
                  </a:gs>
                </a:gsLst>
                <a:lin ang="5400000" scaled="1"/>
                <a:tileRect/>
              </a:gradFill>
              <a:ln w="9525" cap="flat" cmpd="sng" algn="ctr">
                <a:noFill/>
                <a:prstDash val="solid"/>
                <a:round/>
                <a:headEnd type="none" w="med" len="med"/>
                <a:tailEnd type="none" w="med" len="med"/>
              </a:ln>
              <a:effectLst>
                <a:outerShdw blurRad="25400" dist="12700" dir="5400000" sx="101000" sy="101000" algn="t"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charset="-122"/>
                  <a:cs typeface="+mn-cs"/>
                </a:endParaRPr>
              </a:p>
            </p:txBody>
          </p:sp>
        </p:grpSp>
        <p:sp>
          <p:nvSpPr>
            <p:cNvPr id="5" name="Freeform 1" descr="밝은 수평선"/>
            <p:cNvSpPr/>
            <p:nvPr/>
          </p:nvSpPr>
          <p:spPr bwMode="auto">
            <a:xfrm flipV="1">
              <a:off x="1497295" y="2933946"/>
              <a:ext cx="9170705" cy="585065"/>
            </a:xfrm>
            <a:custGeom>
              <a:avLst/>
              <a:gdLst>
                <a:gd name="T0" fmla="*/ 0 w 5778"/>
                <a:gd name="T1" fmla="*/ 2147483647 h 816"/>
                <a:gd name="T2" fmla="*/ 2147483647 w 5778"/>
                <a:gd name="T3" fmla="*/ 2147483647 h 816"/>
                <a:gd name="T4" fmla="*/ 2147483647 w 5778"/>
                <a:gd name="T5" fmla="*/ 2147483647 h 816"/>
                <a:gd name="T6" fmla="*/ 2147483647 w 5778"/>
                <a:gd name="T7" fmla="*/ 2147483647 h 816"/>
                <a:gd name="T8" fmla="*/ 2147483647 w 5778"/>
                <a:gd name="T9" fmla="*/ 2147483647 h 816"/>
                <a:gd name="T10" fmla="*/ 2147483647 w 5778"/>
                <a:gd name="T11" fmla="*/ 2147483647 h 816"/>
                <a:gd name="T12" fmla="*/ 2147483647 w 5778"/>
                <a:gd name="T13" fmla="*/ 0 h 816"/>
                <a:gd name="T14" fmla="*/ 2147483647 w 5778"/>
                <a:gd name="T15" fmla="*/ 0 h 816"/>
                <a:gd name="T16" fmla="*/ 0 w 5778"/>
                <a:gd name="T17" fmla="*/ 2147483647 h 8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78"/>
                <a:gd name="T28" fmla="*/ 0 h 816"/>
                <a:gd name="T29" fmla="*/ 5778 w 5778"/>
                <a:gd name="T30" fmla="*/ 816 h 8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78" h="816">
                  <a:moveTo>
                    <a:pt x="0" y="666"/>
                  </a:moveTo>
                  <a:lnTo>
                    <a:pt x="1632" y="666"/>
                  </a:lnTo>
                  <a:lnTo>
                    <a:pt x="1632" y="816"/>
                  </a:lnTo>
                  <a:lnTo>
                    <a:pt x="5202" y="816"/>
                  </a:lnTo>
                  <a:lnTo>
                    <a:pt x="5202" y="594"/>
                  </a:lnTo>
                  <a:lnTo>
                    <a:pt x="5778" y="594"/>
                  </a:lnTo>
                  <a:lnTo>
                    <a:pt x="5778" y="0"/>
                  </a:lnTo>
                  <a:lnTo>
                    <a:pt x="6" y="0"/>
                  </a:lnTo>
                  <a:lnTo>
                    <a:pt x="0" y="666"/>
                  </a:lnTo>
                  <a:close/>
                </a:path>
              </a:pathLst>
            </a:custGeom>
            <a:pattFill prst="ltHorz">
              <a:fgClr>
                <a:schemeClr val="tx1">
                  <a:alpha val="34901"/>
                </a:schemeClr>
              </a:fgClr>
              <a:bgClr>
                <a:schemeClr val="bg1">
                  <a:alpha val="34901"/>
                </a:schemeClr>
              </a:bgClr>
            </a:pattFill>
            <a:ln w="9525">
              <a:noFill/>
              <a:miter lim="800000"/>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000000"/>
                </a:solidFill>
                <a:effectLst/>
                <a:uLnTx/>
                <a:uFillTx/>
                <a:latin typeface="Arial" panose="020B0604020202020204" pitchFamily="34" charset="0"/>
                <a:ea typeface="方正大黑简体" panose="02000000000000000000" pitchFamily="2" charset="-122"/>
                <a:cs typeface="+mn-cs"/>
              </a:endParaRPr>
            </a:p>
          </p:txBody>
        </p:sp>
        <p:sp>
          <p:nvSpPr>
            <p:cNvPr id="6" name="矩形 5"/>
            <p:cNvSpPr/>
            <p:nvPr/>
          </p:nvSpPr>
          <p:spPr bwMode="auto">
            <a:xfrm>
              <a:off x="1524000" y="3519010"/>
              <a:ext cx="9164638" cy="1737748"/>
            </a:xfrm>
            <a:prstGeom prst="rect">
              <a:avLst/>
            </a:prstGeom>
            <a:gradFill flip="none" rotWithShape="1">
              <a:gsLst>
                <a:gs pos="0">
                  <a:schemeClr val="tx1">
                    <a:alpha val="48000"/>
                  </a:schemeClr>
                </a:gs>
                <a:gs pos="100000">
                  <a:schemeClr val="tx1">
                    <a:alpha val="18000"/>
                  </a:schemeClr>
                </a:gs>
              </a:gsLst>
              <a:lin ang="16200000" scaled="1"/>
              <a:tileRect/>
            </a:gra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900" b="1" i="0" u="none" strike="noStrike" kern="1200" cap="none" spc="0" normalizeH="0" baseline="0" noProof="0">
                <a:ln>
                  <a:noFill/>
                </a:ln>
                <a:solidFill>
                  <a:prstClr val="black"/>
                </a:solidFill>
                <a:effectLst/>
                <a:uLnTx/>
                <a:uFillTx/>
                <a:latin typeface="Arial" panose="020B0604020202020204" pitchFamily="34" charset="0"/>
                <a:ea typeface="黑体" panose="02010609060101010101" charset="-122"/>
                <a:cs typeface="+mn-cs"/>
              </a:endParaRPr>
            </a:p>
          </p:txBody>
        </p:sp>
        <p:pic>
          <p:nvPicPr>
            <p:cNvPr id="7" name="Picture 2" descr="D:\页岩气开发事业部\PPT汇报材料草稿及资料\2015年会材料\双钻机.jpg"/>
            <p:cNvPicPr>
              <a:picLocks noChangeAspect="1" noChangeArrowheads="1"/>
            </p:cNvPicPr>
            <p:nvPr/>
          </p:nvPicPr>
          <p:blipFill rotWithShape="1">
            <a:blip r:embed="rId1" cstate="print"/>
            <a:srcRect/>
            <a:stretch>
              <a:fillRect/>
            </a:stretch>
          </p:blipFill>
          <p:spPr bwMode="auto">
            <a:xfrm>
              <a:off x="6144695" y="3861959"/>
              <a:ext cx="1754086" cy="1088742"/>
            </a:xfrm>
            <a:prstGeom prst="roundRect">
              <a:avLst>
                <a:gd name="adj" fmla="val 2355"/>
              </a:avLst>
            </a:prstGeom>
            <a:solidFill>
              <a:srgbClr val="FFFFFF">
                <a:shade val="85000"/>
              </a:srgbClr>
            </a:solidFill>
            <a:ln w="3175">
              <a:solidFill>
                <a:srgbClr val="0070C0"/>
              </a:solidFill>
            </a:ln>
            <a:effectLst/>
          </p:spPr>
        </p:pic>
        <p:pic>
          <p:nvPicPr>
            <p:cNvPr id="8" name="图片 7"/>
            <p:cNvPicPr>
              <a:picLocks noChangeAspect="1"/>
            </p:cNvPicPr>
            <p:nvPr/>
          </p:nvPicPr>
          <p:blipFill rotWithShape="1">
            <a:blip r:embed="rId2" cstate="print"/>
            <a:srcRect/>
            <a:stretch>
              <a:fillRect/>
            </a:stretch>
          </p:blipFill>
          <p:spPr bwMode="auto">
            <a:xfrm>
              <a:off x="2009789" y="3861959"/>
              <a:ext cx="3526784" cy="1088741"/>
            </a:xfrm>
            <a:prstGeom prst="roundRect">
              <a:avLst>
                <a:gd name="adj" fmla="val 2355"/>
              </a:avLst>
            </a:prstGeom>
            <a:solidFill>
              <a:srgbClr val="FFFFFF">
                <a:shade val="85000"/>
              </a:srgbClr>
            </a:solidFill>
            <a:ln w="3175">
              <a:solidFill>
                <a:srgbClr val="0070C0"/>
              </a:solidFill>
            </a:ln>
            <a:effectLst/>
          </p:spPr>
        </p:pic>
        <p:pic>
          <p:nvPicPr>
            <p:cNvPr id="9" name="Picture 2" descr="D:\汇报材料\展板设计\20160512展板\20160513展板高清图片\Page2-4.jpg"/>
            <p:cNvPicPr>
              <a:picLocks noChangeAspect="1" noChangeArrowheads="1"/>
            </p:cNvPicPr>
            <p:nvPr/>
          </p:nvPicPr>
          <p:blipFill>
            <a:blip r:embed="rId3" cstate="print"/>
            <a:srcRect/>
            <a:stretch>
              <a:fillRect/>
            </a:stretch>
          </p:blipFill>
          <p:spPr bwMode="auto">
            <a:xfrm>
              <a:off x="8506903" y="3861960"/>
              <a:ext cx="1620180" cy="1088741"/>
            </a:xfrm>
            <a:prstGeom prst="roundRect">
              <a:avLst>
                <a:gd name="adj" fmla="val 2355"/>
              </a:avLst>
            </a:prstGeom>
            <a:solidFill>
              <a:srgbClr val="FFFFFF">
                <a:shade val="85000"/>
              </a:srgbClr>
            </a:solidFill>
            <a:ln w="3175">
              <a:solidFill>
                <a:srgbClr val="0070C0"/>
              </a:solidFill>
            </a:ln>
            <a:effectLst/>
          </p:spPr>
        </p:pic>
      </p:grpSp>
      <p:sp>
        <p:nvSpPr>
          <p:cNvPr id="12" name="TextBox 13"/>
          <p:cNvSpPr txBox="1"/>
          <p:nvPr/>
        </p:nvSpPr>
        <p:spPr>
          <a:xfrm>
            <a:off x="1535493" y="2170883"/>
            <a:ext cx="9121013" cy="1105535"/>
          </a:xfrm>
          <a:prstGeom prst="rect">
            <a:avLst/>
          </a:prstGeom>
          <a:noFill/>
        </p:spPr>
        <p:txBody>
          <a:bodyPr wrap="square" lIns="121915" tIns="60957" rIns="121915" bIns="60957" rtlCol="0">
            <a:spAutoFit/>
          </a:bodyPr>
          <a:lstStyle/>
          <a:p>
            <a:pPr marL="0" marR="0" lvl="0" indent="0" algn="dist" defTabSz="1219200" rtl="0" eaLnBrk="1" fontAlgn="auto" latinLnBrk="0" hangingPunct="1">
              <a:lnSpc>
                <a:spcPct val="100000"/>
              </a:lnSpc>
              <a:spcBef>
                <a:spcPts val="0"/>
              </a:spcBef>
              <a:spcAft>
                <a:spcPts val="0"/>
              </a:spcAft>
              <a:buClrTx/>
              <a:buSzTx/>
              <a:buFontTx/>
              <a:buNone/>
              <a:defRPr/>
            </a:pPr>
            <a:r>
              <a:rPr kumimoji="0" lang="zh-CN" altLang="en-US" sz="6400" b="0" i="0" u="none" strike="noStrike" kern="0" cap="none" spc="0" normalizeH="0" baseline="0" noProof="0" dirty="0">
                <a:ln w="9525">
                  <a:solidFill>
                    <a:srgbClr val="1F497D">
                      <a:tint val="1000"/>
                    </a:srgbClr>
                  </a:solidFill>
                  <a:prstDash val="solid"/>
                </a:ln>
                <a:solidFill>
                  <a:srgbClr val="C00000"/>
                </a:solidFill>
                <a:effectLst>
                  <a:outerShdw blurRad="50000" dist="50800" dir="7500000" algn="tl">
                    <a:srgbClr val="000000">
                      <a:shade val="5000"/>
                      <a:alpha val="35000"/>
                    </a:srgbClr>
                  </a:outerShdw>
                </a:effectLst>
                <a:uLnTx/>
                <a:uFillTx/>
                <a:latin typeface="方正超粗黑简体" panose="03000509000000000000" pitchFamily="65" charset="-122"/>
                <a:ea typeface="方正超粗黑简体" panose="03000509000000000000" pitchFamily="65" charset="-122"/>
                <a:cs typeface="+mn-cs"/>
              </a:rPr>
              <a:t>汇报结束 敬请批评指正</a:t>
            </a:r>
            <a:endParaRPr kumimoji="0" lang="zh-CN" altLang="en-US" sz="6400" b="0" i="0" u="none" strike="noStrike" kern="0" cap="none" spc="0" normalizeH="0" baseline="0" noProof="0" dirty="0">
              <a:ln w="9525">
                <a:solidFill>
                  <a:srgbClr val="1F497D">
                    <a:tint val="1000"/>
                  </a:srgbClr>
                </a:solidFill>
                <a:prstDash val="solid"/>
              </a:ln>
              <a:solidFill>
                <a:srgbClr val="C00000"/>
              </a:solidFill>
              <a:effectLst>
                <a:outerShdw blurRad="50000" dist="50800" dir="7500000" algn="tl">
                  <a:srgbClr val="000000">
                    <a:shade val="5000"/>
                    <a:alpha val="35000"/>
                  </a:srgbClr>
                </a:outerShdw>
              </a:effectLst>
              <a:uLnTx/>
              <a:uFillTx/>
              <a:latin typeface="方正超粗黑简体" panose="03000509000000000000" pitchFamily="65" charset="-122"/>
              <a:ea typeface="方正超粗黑简体" panose="03000509000000000000" pitchFamily="65" charset="-122"/>
              <a:cs typeface="+mn-cs"/>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896*317"/>
  <p:tag name="TABLE_ENDDRAG_RECT" val="38*193*896*31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1_2"/>
  <p:tag name="KSO_WM_TEMPLATE_CATEGORY" val="diagram"/>
  <p:tag name="KSO_WM_TEMPLATE_INDEX" val="20231104"/>
  <p:tag name="KSO_WM_UNIT_LAYERLEVEL" val="1_1_1"/>
  <p:tag name="KSO_WM_TAG_VERSION" val="3.0"/>
  <p:tag name="KSO_WM_BEAUTIFY_FLAG" val="#wm#"/>
  <p:tag name="KSO_WM_UNIT_TYPE" val="o_h_i"/>
  <p:tag name="KSO_WM_UNIT_INDEX" val="1_1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04_2*o_h_i*1_2_4"/>
  <p:tag name="KSO_WM_TEMPLATE_CATEGORY" val="diagram"/>
  <p:tag name="KSO_WM_TEMPLATE_INDEX" val="20231104"/>
  <p:tag name="KSO_WM_UNIT_LAYERLEVEL" val="1_1_1"/>
  <p:tag name="KSO_WM_TAG_VERSION" val="3.0"/>
  <p:tag name="KSO_WM_BEAUTIFY_FLAG" val="#wm#"/>
  <p:tag name="KSO_WM_DIAGRAM_VERSION" val="3"/>
  <p:tag name="KSO_WM_DIAGRAM_COLOR_TRICK" val="4"/>
  <p:tag name="KSO_WM_DIAGRAM_COLOR_TEXT_CAN_REMOVE" val="n"/>
  <p:tag name="KSO_WM_DIAGRAM_GROUP_CODE" val="o1-1"/>
  <p:tag name="KSO_WM_UNIT_TYPE" val="o_h_i"/>
  <p:tag name="KSO_WM_UNIT_INDEX" val="1_2_4"/>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solid&quot;:{&quot;brightness&quot;:-0.25,&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25"/>
  <p:tag name="KSO_WM_DIAGRAM_USE_COLOR_VALUE" val="{&quot;color_scheme&quot;:1,&quot;color_type&quot;:1,&quot;theme_color_indexes&quot;:[]}"/>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1_3"/>
  <p:tag name="KSO_WM_TEMPLATE_CATEGORY" val="diagram"/>
  <p:tag name="KSO_WM_TEMPLATE_INDEX" val="20231104"/>
  <p:tag name="KSO_WM_UNIT_LAYERLEVEL" val="1_1_1"/>
  <p:tag name="KSO_WM_TAG_VERSION" val="3.0"/>
  <p:tag name="KSO_WM_BEAUTIFY_FLAG" val="#wm#"/>
  <p:tag name="KSO_WM_UNIT_TYPE" val="o_h_i"/>
  <p:tag name="KSO_WM_UNIT_INDEX" val="1_1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5,&quot;pos&quot;:0,&quot;transparency&quot;:0},{&quot;brightness&quot;:0,&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2_2"/>
  <p:tag name="KSO_WM_TEMPLATE_CATEGORY" val="diagram"/>
  <p:tag name="KSO_WM_TEMPLATE_INDEX" val="20231104"/>
  <p:tag name="KSO_WM_UNIT_LAYERLEVEL" val="1_1_1"/>
  <p:tag name="KSO_WM_TAG_VERSION" val="3.0"/>
  <p:tag name="KSO_WM_BEAUTIFY_FLAG" val="#wm#"/>
  <p:tag name="KSO_WM_UNIT_TYPE" val="o_h_i"/>
  <p:tag name="KSO_WM_UNIT_INDEX" val="1_2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3_2"/>
  <p:tag name="KSO_WM_TEMPLATE_CATEGORY" val="diagram"/>
  <p:tag name="KSO_WM_TEMPLATE_INDEX" val="20231104"/>
  <p:tag name="KSO_WM_UNIT_LAYERLEVEL" val="1_1_1"/>
  <p:tag name="KSO_WM_TAG_VERSION" val="3.0"/>
  <p:tag name="KSO_WM_BEAUTIFY_FLAG" val="#wm#"/>
  <p:tag name="KSO_WM_UNIT_TYPE" val="o_h_i"/>
  <p:tag name="KSO_WM_UNIT_INDEX" val="1_3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4_2"/>
  <p:tag name="KSO_WM_TEMPLATE_CATEGORY" val="diagram"/>
  <p:tag name="KSO_WM_TEMPLATE_INDEX" val="20231104"/>
  <p:tag name="KSO_WM_UNIT_LAYERLEVEL" val="1_1_1"/>
  <p:tag name="KSO_WM_TAG_VERSION" val="3.0"/>
  <p:tag name="KSO_WM_BEAUTIFY_FLAG" val="#wm#"/>
  <p:tag name="KSO_WM_UNIT_TYPE" val="o_h_i"/>
  <p:tag name="KSO_WM_UNIT_INDEX" val="1_4_2"/>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solidLine&quot;:{&quot;brightness&quot;:0.3499999940395355,&quot;colorType&quot;:1,&quot;foreColorIndex&quot;:13,&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DIAGRAM_USE_COLOR_VALUE" val="{&quot;color_scheme&quot;:1,&quot;color_type&quot;:1,&quot;theme_color_indexes&quot;:[]}"/>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04_2*o_h_i*1_4_4"/>
  <p:tag name="KSO_WM_TEMPLATE_CATEGORY" val="diagram"/>
  <p:tag name="KSO_WM_TEMPLATE_INDEX" val="20231104"/>
  <p:tag name="KSO_WM_UNIT_LAYERLEVEL" val="1_1_1"/>
  <p:tag name="KSO_WM_TAG_VERSION" val="3.0"/>
  <p:tag name="KSO_WM_BEAUTIFY_FLAG" val="#wm#"/>
  <p:tag name="KSO_WM_UNIT_TYPE" val="o_h_i"/>
  <p:tag name="KSO_WM_UNIT_INDEX" val="1_4_4"/>
  <p:tag name="KSO_WM_DIAGRAM_VERSION" val="3"/>
  <p:tag name="KSO_WM_DIAGRAM_COLOR_TRICK" val="4"/>
  <p:tag name="KSO_WM_DIAGRAM_COLOR_TEXT_CAN_REMOVE" val="n"/>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solid&quot;:{&quot;brightness&quot;:-0.2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25"/>
  <p:tag name="KSO_WM_DIAGRAM_USE_COLOR_VALUE" val="{&quot;color_scheme&quot;:1,&quot;color_type&quot;:1,&quot;theme_color_indexes&quot;:[]}"/>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104_2*o_h_i*1_3_4"/>
  <p:tag name="KSO_WM_TEMPLATE_CATEGORY" val="diagram"/>
  <p:tag name="KSO_WM_TEMPLATE_INDEX" val="20231104"/>
  <p:tag name="KSO_WM_UNIT_LAYERLEVEL" val="1_1_1"/>
  <p:tag name="KSO_WM_TAG_VERSION" val="3.0"/>
  <p:tag name="KSO_WM_BEAUTIFY_FLAG" val="#wm#"/>
  <p:tag name="KSO_WM_UNIT_TYPE" val="o_h_i"/>
  <p:tag name="KSO_WM_UNIT_INDEX" val="1_3_4"/>
  <p:tag name="KSO_WM_DIAGRAM_VERSION" val="3"/>
  <p:tag name="KSO_WM_DIAGRAM_COLOR_TRICK" val="4"/>
  <p:tag name="KSO_WM_DIAGRAM_COLOR_TEXT_CAN_REMOVE" val="n"/>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solid&quot;:{&quot;brightness&quot;:-0.25,&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25"/>
  <p:tag name="KSO_WM_DIAGRAM_USE_COLOR_VALUE" val="{&quot;color_scheme&quot;:1,&quot;color_type&quot;:1,&quot;theme_color_indexes&quot;:[]}"/>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1_1"/>
  <p:tag name="KSO_WM_TEMPLATE_CATEGORY" val="diagram"/>
  <p:tag name="KSO_WM_TEMPLATE_INDEX" val="20231104"/>
  <p:tag name="KSO_WM_UNIT_LAYERLEVEL" val="1_1_1"/>
  <p:tag name="KSO_WM_TAG_VERSION" val="3.0"/>
  <p:tag name="KSO_WM_BEAUTIFY_FLAG" val="#wm#"/>
  <p:tag name="KSO_WM_UNIT_TYPE" val="o_h_i"/>
  <p:tag name="KSO_WM_UNIT_INDEX" val="1_1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5,&quot;pos&quot;:0,&quot;transparency&quot;:0},{&quot;brightness&quot;:0,&quot;colorType&quot;:1,&quot;foreColorIndex&quot;:5,&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2_1"/>
  <p:tag name="KSO_WM_TEMPLATE_CATEGORY" val="diagram"/>
  <p:tag name="KSO_WM_TEMPLATE_INDEX" val="20231104"/>
  <p:tag name="KSO_WM_UNIT_LAYERLEVEL" val="1_1_1"/>
  <p:tag name="KSO_WM_TAG_VERSION" val="3.0"/>
  <p:tag name="KSO_WM_BEAUTIFY_FLAG" val="#wm#"/>
  <p:tag name="KSO_WM_UNIT_TYPE" val="o_h_i"/>
  <p:tag name="KSO_WM_UNIT_INDEX" val="1_2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6,&quot;pos&quot;:0,&quot;transparency&quot;:0},{&quot;brightness&quot;:0,&quot;colorType&quot;:1,&quot;foreColorIndex&quot;:6,&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3_1"/>
  <p:tag name="KSO_WM_TEMPLATE_CATEGORY" val="diagram"/>
  <p:tag name="KSO_WM_TEMPLATE_INDEX" val="20231104"/>
  <p:tag name="KSO_WM_UNIT_LAYERLEVEL" val="1_1_1"/>
  <p:tag name="KSO_WM_TAG_VERSION" val="3.0"/>
  <p:tag name="KSO_WM_BEAUTIFY_FLAG" val="#wm#"/>
  <p:tag name="KSO_WM_UNIT_TYPE" val="o_h_i"/>
  <p:tag name="KSO_WM_UNIT_INDEX" val="1_3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7,&quot;pos&quot;:0,&quot;transparency&quot;:0},{&quot;brightness&quot;:0,&quot;colorType&quot;:1,&quot;foreColorIndex&quot;:7,&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4_1"/>
  <p:tag name="KSO_WM_TEMPLATE_CATEGORY" val="diagram"/>
  <p:tag name="KSO_WM_TEMPLATE_INDEX" val="20231104"/>
  <p:tag name="KSO_WM_UNIT_LAYERLEVEL" val="1_1_1"/>
  <p:tag name="KSO_WM_TAG_VERSION" val="3.0"/>
  <p:tag name="KSO_WM_BEAUTIFY_FLAG" val="#wm#"/>
  <p:tag name="KSO_WM_UNIT_TYPE" val="o_h_i"/>
  <p:tag name="KSO_WM_UNIT_INDEX" val="1_4_1"/>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8,&quot;pos&quot;:0,&quot;transparency&quot;:0},{&quot;brightness&quot;:0,&quot;colorType&quot;:1,&quot;foreColorIndex&quot;:8,&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2_3"/>
  <p:tag name="KSO_WM_TEMPLATE_CATEGORY" val="diagram"/>
  <p:tag name="KSO_WM_TEMPLATE_INDEX" val="20231104"/>
  <p:tag name="KSO_WM_UNIT_LAYERLEVEL" val="1_1_1"/>
  <p:tag name="KSO_WM_TAG_VERSION" val="3.0"/>
  <p:tag name="KSO_WM_BEAUTIFY_FLAG" val="#wm#"/>
  <p:tag name="KSO_WM_UNIT_TYPE" val="o_h_i"/>
  <p:tag name="KSO_WM_UNIT_INDEX" val="1_2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6,&quot;pos&quot;:0,&quot;transparency&quot;:0},{&quot;brightness&quot;:0,&quot;colorType&quot;:1,&quot;foreColorIndex&quot;:6,&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3_3"/>
  <p:tag name="KSO_WM_TEMPLATE_CATEGORY" val="diagram"/>
  <p:tag name="KSO_WM_TEMPLATE_INDEX" val="20231104"/>
  <p:tag name="KSO_WM_UNIT_LAYERLEVEL" val="1_1_1"/>
  <p:tag name="KSO_WM_TAG_VERSION" val="3.0"/>
  <p:tag name="KSO_WM_BEAUTIFY_FLAG" val="#wm#"/>
  <p:tag name="KSO_WM_UNIT_TYPE" val="o_h_i"/>
  <p:tag name="KSO_WM_UNIT_INDEX" val="1_3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7,&quot;pos&quot;:0,&quot;transparency&quot;:0},{&quot;brightness&quot;:0,&quot;colorType&quot;:1,&quot;foreColorIndex&quot;:7,&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o1-1"/>
  <p:tag name="KSO_WM_UNIT_ID" val="diagram20231104_2*o_h_i*1_4_3"/>
  <p:tag name="KSO_WM_TEMPLATE_CATEGORY" val="diagram"/>
  <p:tag name="KSO_WM_TEMPLATE_INDEX" val="20231104"/>
  <p:tag name="KSO_WM_UNIT_LAYERLEVEL" val="1_1_1"/>
  <p:tag name="KSO_WM_TAG_VERSION" val="3.0"/>
  <p:tag name="KSO_WM_BEAUTIFY_FLAG" val="#wm#"/>
  <p:tag name="KSO_WM_UNIT_TYPE" val="o_h_i"/>
  <p:tag name="KSO_WM_UNIT_INDEX" val="1_4_3"/>
  <p:tag name="KSO_WM_DIAGRAM_VERSION" val="3"/>
  <p:tag name="KSO_WM_DIAGRAM_COLOR_TRICK" val="4"/>
  <p:tag name="KSO_WM_DIAGRAM_COLOR_TEXT_CAN_REMOVE" val="n"/>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gradient&quot;:[{&quot;brightness&quot;:0.4000000059604645,&quot;colorType&quot;:1,&quot;foreColorIndex&quot;:8,&quot;pos&quot;:0,&quot;transparency&quot;:0},{&quot;brightness&quot;:0,&quot;colorType&quot;:1,&quot;foreColorIndex&quot;:8,&quot;pos&quot;:0.85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1_1"/>
  <p:tag name="KSO_WM_UNIT_ID" val="diagram20231104_2*o_h_a*1_1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1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1_1"/>
  <p:tag name="KSO_WM_UNIT_ID" val="diagram20231104_2*o_h_f*1_1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2_1"/>
  <p:tag name="KSO_WM_UNIT_ID" val="diagram20231104_2*o_h_a*1_2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2_1"/>
  <p:tag name="KSO_WM_UNIT_ID" val="diagram20231104_2*o_h_f*1_2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3_1"/>
  <p:tag name="KSO_WM_UNIT_ID" val="diagram20231104_2*o_h_a*1_3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3_1"/>
  <p:tag name="KSO_WM_UNIT_ID" val="diagram20231104_2*o_h_f*1_3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o_h_a"/>
  <p:tag name="KSO_WM_UNIT_INDEX" val="1_4_1"/>
  <p:tag name="KSO_WM_UNIT_ID" val="diagram20231104_2*o_h_a*1_4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o_h_f"/>
  <p:tag name="KSO_WM_UNIT_INDEX" val="1_4_1"/>
  <p:tag name="KSO_WM_UNIT_ID" val="diagram20231104_2*o_h_f*1_4_1"/>
  <p:tag name="KSO_WM_TEMPLATE_CATEGORY" val="diagram"/>
  <p:tag name="KSO_WM_TEMPLATE_INDEX" val="20231104"/>
  <p:tag name="KSO_WM_UNIT_LAYERLEVEL" val="1_1_1"/>
  <p:tag name="KSO_WM_TAG_VERSION" val="3.0"/>
  <p:tag name="KSO_WM_BEAUTIFY_FLAG" val="#wm#"/>
  <p:tag name="KSO_WM_DIAGRAM_GROUP_CODE" val="o1-1"/>
  <p:tag name="KSO_WM_DIAGRAM_MAX_ITEMCNT" val="6"/>
  <p:tag name="KSO_WM_DIAGRAM_MIN_ITEMCNT" val="3"/>
  <p:tag name="KSO_WM_DIAGRAM_VIRTUALLY_FRAME" val="{&quot;height&quot;:350.39955444335936,&quot;left&quot;:33.85,&quot;top&quot;:162.67522277832032,&quot;width&quot;:846.491058349609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4"/>
  <p:tag name="KSO_WM_DIAGRAM_COLOR_TEXT_CAN_REMOVE" val="n"/>
  <p:tag name="KSO_WM_UNIT_PRESET_TEXT" val="单击此处添加文本内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5.xml><?xml version="1.0" encoding="utf-8"?>
<p:tagLst xmlns:p="http://schemas.openxmlformats.org/presentationml/2006/main">
  <p:tag name="TABLE_ENDDRAG_ORIGIN_RECT" val="867*355"/>
  <p:tag name="TABLE_ENDDRAG_RECT" val="47*159*867*355"/>
</p:tagLst>
</file>

<file path=ppt/tags/tag26.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27.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28.xml><?xml version="1.0" encoding="utf-8"?>
<p:tagLst xmlns:p="http://schemas.openxmlformats.org/presentationml/2006/main">
  <p:tag name="KSO_WM_DIAGRAM_VIRTUALLY_FRAME" val="{&quot;height&quot;:280.57409448818896,&quot;left&quot;:-88.78110236220473,&quot;top&quot;:219.23598425196852,&quot;width&quot;:1041.3562992125985}"/>
</p:tagLst>
</file>

<file path=ppt/tags/tag29.xml><?xml version="1.0" encoding="utf-8"?>
<p:tagLst xmlns:p="http://schemas.openxmlformats.org/presentationml/2006/main">
  <p:tag name="TABLE_ENDDRAG_ORIGIN_RECT" val="909*344"/>
  <p:tag name="TABLE_ENDDRAG_RECT" val="26*159*909*344"/>
</p:tagLst>
</file>

<file path=ppt/tags/tag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h_i*1_2_3_2"/>
  <p:tag name="KSO_WM_TEMPLATE_CATEGORY" val="diagram"/>
  <p:tag name="KSO_WM_TEMPLATE_INDEX" val="20231112"/>
  <p:tag name="KSO_WM_UNIT_LAYERLEVEL" val="1_1_1_1"/>
  <p:tag name="KSO_WM_TAG_VERSION" val="3.0"/>
  <p:tag name="KSO_WM_DIAGRAM_GROUP_CODE" val="n1-1"/>
  <p:tag name="KSO_WM_UNIT_TYPE" val="n_h_h_i"/>
  <p:tag name="KSO_WM_UNIT_INDEX" val="1_2_3_2"/>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gradient&quot;:[{&quot;brightness&quot;:-0.10000000149011612,&quot;colorType&quot;:1,&quot;foreColorIndex&quot;:7,&quot;pos&quot;:0,&quot;transparency&quot;:0},{&quot;brightness&quot;:0.20000000298023224,&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h_i*1_2_2_2"/>
  <p:tag name="KSO_WM_TEMPLATE_CATEGORY" val="diagram"/>
  <p:tag name="KSO_WM_TEMPLATE_INDEX" val="20231112"/>
  <p:tag name="KSO_WM_UNIT_LAYERLEVEL" val="1_1_1_1"/>
  <p:tag name="KSO_WM_TAG_VERSION" val="3.0"/>
  <p:tag name="KSO_WM_DIAGRAM_GROUP_CODE" val="n1-1"/>
  <p:tag name="KSO_WM_UNIT_TYPE" val="n_h_h_i"/>
  <p:tag name="KSO_WM_UNIT_INDEX" val="1_2_2_2"/>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gradient&quot;:[{&quot;brightness&quot;:-0.10000000149011612,&quot;colorType&quot;:1,&quot;foreColorIndex&quot;:6,&quot;pos&quot;:0,&quot;transparency&quot;:0},{&quot;brightness&quot;:0.20000000298023224,&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h_i*1_2_1_2"/>
  <p:tag name="KSO_WM_TEMPLATE_CATEGORY" val="diagram"/>
  <p:tag name="KSO_WM_TEMPLATE_INDEX" val="20231112"/>
  <p:tag name="KSO_WM_UNIT_LAYERLEVEL" val="1_1_1_1"/>
  <p:tag name="KSO_WM_TAG_VERSION" val="3.0"/>
  <p:tag name="KSO_WM_DIAGRAM_GROUP_CODE" val="n1-1"/>
  <p:tag name="KSO_WM_UNIT_TYPE" val="n_h_h_i"/>
  <p:tag name="KSO_WM_UNIT_INDEX" val="1_2_1_2"/>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gradient&quot;:[{&quot;brightness&quot;:-0.10000000149011612,&quot;colorType&quot;:1,&quot;foreColorIndex&quot;:5,&quot;pos&quot;:0,&quot;transparency&quot;:0},{&quot;brightness&quot;:0.20000000298023224,&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112_2*n_h_a*1_1_1"/>
  <p:tag name="KSO_WM_TEMPLATE_CATEGORY" val="diagram"/>
  <p:tag name="KSO_WM_TEMPLATE_INDEX" val="20231112"/>
  <p:tag name="KSO_WM_UNIT_LAYERLEVEL" val="1_1_1"/>
  <p:tag name="KSO_WM_TAG_VERSION" val="3.0"/>
  <p:tag name="KSO_WM_UNIT_ISCONTENTSTITLE" val="0"/>
  <p:tag name="KSO_WM_UNIT_ISNUMDGMTITLE" val="0"/>
  <p:tag name="KSO_WM_UNIT_NOCLEAR" val="0"/>
  <p:tag name="KSO_WM_UNIT_VALUE" val="10"/>
  <p:tag name="KSO_WM_DIAGRAM_GROUP_CODE" val="n1-1"/>
  <p:tag name="KSO_WM_UNIT_TYPE" val="n_h_a"/>
  <p:tag name="KSO_WM_UNIT_INDEX" val="1_1_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10;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2_1"/>
  <p:tag name="KSO_WM_UNIT_ID" val="diagram20231112_2*n_h_h_a*1_2_2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1112_2*n_h_h_f*1_2_2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提炼"/>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3_1"/>
  <p:tag name="KSO_WM_UNIT_ID" val="diagram20231112_2*n_h_h_a*1_2_3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1112_2*n_h_h_f*1_2_3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10;正文，文字是您思想提炼"/>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1_1"/>
  <p:tag name="KSO_WM_UNIT_ID" val="diagram20231112_2*n_h_h_a*1_2_1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3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1112_2*n_h_h_f*1_2_1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智能图形项正文，文字是您思想提炼"/>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3_1"/>
  <p:tag name="KSO_WM_UNIT_ID" val="diagram20231112_2*n_h_h_i*1_2_3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DIAGRAM_USE_COLOR_VALUE" val="{&quot;color_scheme&quot;:1,&quot;color_type&quot;:1,&quot;theme_color_indexes&quot;:[]}"/>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112_2*n_h_h_i*1_2_1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DIAGRAM_USE_COLOR_VALUE" val="{&quot;color_scheme&quot;:1,&quot;color_type&quot;:1,&quot;theme_color_indexes&quot;:[]}"/>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112_2*n_h_h_i*1_2_2_1"/>
  <p:tag name="KSO_WM_TEMPLATE_CATEGORY" val="diagram"/>
  <p:tag name="KSO_WM_TEMPLATE_INDEX" val="20231112"/>
  <p:tag name="KSO_WM_UNIT_LAYERLEVEL" val="1_1_1_1"/>
  <p:tag name="KSO_WM_TAG_VERSION" val="3.0"/>
  <p:tag name="KSO_WM_BEAUTIFY_FLAG" val="#wm#"/>
  <p:tag name="KSO_WM_DIAGRAM_GROUP_CODE" val="n1-1"/>
  <p:tag name="KSO_WM_DIAGRAM_VERSION" val="3"/>
  <p:tag name="KSO_WM_DIAGRAM_COLOR_TRICK" val="4"/>
  <p:tag name="KSO_WM_DIAGRAM_COLOR_TEXT_CAN_REMOVE" val="n"/>
  <p:tag name="KSO_WM_DIAGRAM_MAX_ITEMCNT" val="5"/>
  <p:tag name="KSO_WM_DIAGRAM_MIN_ITEMCNT" val="2"/>
  <p:tag name="KSO_WM_DIAGRAM_VIRTUALLY_FRAME" val="{&quot;height&quot;:285.4750393700788,&quot;left&quot;:7.4,&quot;top&quot;:197.7,&quot;width&quot;:927.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DIAGRAM_USE_COLOR_VALUE" val="{&quot;color_scheme&quot;:1,&quot;color_type&quot;:1,&quot;theme_color_indexes&quot;:[]}"/>
</p:tagLst>
</file>

<file path=ppt/tags/tag43.xml><?xml version="1.0" encoding="utf-8"?>
<p:tagLst xmlns:p="http://schemas.openxmlformats.org/presentationml/2006/main">
  <p:tag name="TABLE_ENDDRAG_ORIGIN_RECT" val="907*306"/>
  <p:tag name="TABLE_ENDDRAG_RECT" val="27*196*907*306"/>
  <p:tag name="KSO_WM_UNIT_TABLE_BEAUTIFY" val="smartTable{4f345ede-5dcd-41e2-9796-154e14a57559}"/>
</p:tagLst>
</file>

<file path=ppt/tags/tag44.xml><?xml version="1.0" encoding="utf-8"?>
<p:tagLst xmlns:p="http://schemas.openxmlformats.org/presentationml/2006/main">
  <p:tag name="TABLE_ENDDRAG_ORIGIN_RECT" val="932*335"/>
  <p:tag name="TABLE_ENDDRAG_RECT" val="6*144*932*335"/>
</p:tagLst>
</file>

<file path=ppt/tags/tag45.xml><?xml version="1.0" encoding="utf-8"?>
<p:tagLst xmlns:p="http://schemas.openxmlformats.org/presentationml/2006/main">
  <p:tag name="KSO_WM_DIAGRAM_VIRTUALLY_FRAME" val="{&quot;height&quot;:314.12000000000006,&quot;left&quot;:32.4,&quot;top&quot;:188.64,&quot;width&quot;:894.9599212598425}"/>
</p:tagLst>
</file>

<file path=ppt/tags/tag46.xml><?xml version="1.0" encoding="utf-8"?>
<p:tagLst xmlns:p="http://schemas.openxmlformats.org/presentationml/2006/main">
  <p:tag name="KSO_WM_DIAGRAM_VIRTUALLY_FRAME" val="{&quot;height&quot;:314.12000000000006,&quot;left&quot;:32.4,&quot;top&quot;:188.64,&quot;width&quot;:894.9599212598425}"/>
</p:tagLst>
</file>

<file path=ppt/tags/tag47.xml><?xml version="1.0" encoding="utf-8"?>
<p:tagLst xmlns:p="http://schemas.openxmlformats.org/presentationml/2006/main">
  <p:tag name="TABLE_ENDDRAG_ORIGIN_RECT" val="577*302"/>
  <p:tag name="TABLE_ENDDRAG_RECT" val="22*175*577*302"/>
</p:tagLst>
</file>

<file path=ppt/tags/tag48.xml><?xml version="1.0" encoding="utf-8"?>
<p:tagLst xmlns:p="http://schemas.openxmlformats.org/presentationml/2006/main">
  <p:tag name="KSO_WM_DIAGRAM_VIRTUALLY_FRAME" val="{&quot;height&quot;:299.35,&quot;left&quot;:10.15,&quot;top&quot;:201.7,&quot;width&quot;:941.1}"/>
</p:tagLst>
</file>

<file path=ppt/tags/tag49.xml><?xml version="1.0" encoding="utf-8"?>
<p:tagLst xmlns:p="http://schemas.openxmlformats.org/presentationml/2006/main">
  <p:tag name="KSO_WM_DIAGRAM_VIRTUALLY_FRAME" val="{&quot;height&quot;:299.35,&quot;left&quot;:10.15,&quot;top&quot;:201.7,&quot;width&quot;:941.1}"/>
</p:tagLst>
</file>

<file path=ppt/tags/tag50.xml><?xml version="1.0" encoding="utf-8"?>
<p:tagLst xmlns:p="http://schemas.openxmlformats.org/presentationml/2006/main">
  <p:tag name="KSO_WM_DIAGRAM_VIRTUALLY_FRAME" val="{&quot;height&quot;:299.35,&quot;left&quot;:10.15,&quot;top&quot;:201.7,&quot;width&quot;:941.1}"/>
</p:tagLst>
</file>

<file path=ppt/tags/tag51.xml><?xml version="1.0" encoding="utf-8"?>
<p:tagLst xmlns:p="http://schemas.openxmlformats.org/presentationml/2006/main">
  <p:tag name="KSO_WM_DIAGRAM_VIRTUALLY_FRAME" val="{&quot;height&quot;:299.35,&quot;left&quot;:10.15,&quot;top&quot;:201.7,&quot;width&quot;:941.1}"/>
</p:tagLst>
</file>

<file path=ppt/tags/tag52.xml><?xml version="1.0" encoding="utf-8"?>
<p:tagLst xmlns:p="http://schemas.openxmlformats.org/presentationml/2006/main">
  <p:tag name="KSO_WM_DIAGRAM_VIRTUALLY_FRAME" val="{&quot;height&quot;:299.35,&quot;left&quot;:10.15,&quot;top&quot;:201.7,&quot;width&quot;:941.1}"/>
</p:tagLst>
</file>

<file path=ppt/tags/tag53.xml><?xml version="1.0" encoding="utf-8"?>
<p:tagLst xmlns:p="http://schemas.openxmlformats.org/presentationml/2006/main">
  <p:tag name="TABLE_ENDDRAG_ORIGIN_RECT" val="896*288"/>
  <p:tag name="TABLE_ENDDRAG_RECT" val="38*212*896*288"/>
</p:tagLst>
</file>

<file path=ppt/tags/tag54.xml><?xml version="1.0" encoding="utf-8"?>
<p:tagLst xmlns:p="http://schemas.openxmlformats.org/presentationml/2006/main">
  <p:tag name="KSO_WM_DIAGRAM_VIRTUALLY_FRAME" val="{&quot;height&quot;:339.65,&quot;left&quot;:80.85,&quot;top&quot;:177.35,&quot;width&quot;:830.65}"/>
</p:tagLst>
</file>

<file path=ppt/tags/tag55.xml><?xml version="1.0" encoding="utf-8"?>
<p:tagLst xmlns:p="http://schemas.openxmlformats.org/presentationml/2006/main">
  <p:tag name="KSO_WM_DIAGRAM_VIRTUALLY_FRAME" val="{&quot;height&quot;:339.65,&quot;left&quot;:80.85,&quot;top&quot;:177.35,&quot;width&quot;:830.65}"/>
</p:tagLst>
</file>

<file path=ppt/tags/tag56.xml><?xml version="1.0" encoding="utf-8"?>
<p:tagLst xmlns:p="http://schemas.openxmlformats.org/presentationml/2006/main">
  <p:tag name="KSO_WM_DIAGRAM_VIRTUALLY_FRAME" val="{&quot;height&quot;:339.65,&quot;left&quot;:80.85,&quot;top&quot;:177.35,&quot;width&quot;:830.65}"/>
</p:tagLst>
</file>

<file path=ppt/tags/tag57.xml><?xml version="1.0" encoding="utf-8"?>
<p:tagLst xmlns:p="http://schemas.openxmlformats.org/presentationml/2006/main">
  <p:tag name="KSO_WM_DIAGRAM_VIRTUALLY_FRAME" val="{&quot;height&quot;:339.65,&quot;left&quot;:80.85,&quot;top&quot;:177.35,&quot;width&quot;:830.65}"/>
</p:tagLst>
</file>

<file path=ppt/tags/tag58.xml><?xml version="1.0" encoding="utf-8"?>
<p:tagLst xmlns:p="http://schemas.openxmlformats.org/presentationml/2006/main">
  <p:tag name="KSO_WM_DIAGRAM_VIRTUALLY_FRAME" val="{&quot;height&quot;:339.65,&quot;left&quot;:80.85,&quot;top&quot;:177.35,&quot;width&quot;:830.65}"/>
</p:tagLst>
</file>

<file path=ppt/tags/tag59.xml><?xml version="1.0" encoding="utf-8"?>
<p:tagLst xmlns:p="http://schemas.openxmlformats.org/presentationml/2006/main">
  <p:tag name="KSO_WM_DIAGRAM_VIRTUALLY_FRAME" val="{&quot;height&quot;:339.65,&quot;left&quot;:80.85,&quot;top&quot;:177.35,&quot;width&quot;:830.65}"/>
</p:tagLst>
</file>

<file path=ppt/tags/tag60.xml><?xml version="1.0" encoding="utf-8"?>
<p:tagLst xmlns:p="http://schemas.openxmlformats.org/presentationml/2006/main">
  <p:tag name="KSO_WM_DIAGRAM_VIRTUALLY_FRAME" val="{&quot;height&quot;:339.65,&quot;left&quot;:80.85,&quot;top&quot;:177.35,&quot;width&quot;:830.65}"/>
</p:tagLst>
</file>

<file path=ppt/tags/tag61.xml><?xml version="1.0" encoding="utf-8"?>
<p:tagLst xmlns:p="http://schemas.openxmlformats.org/presentationml/2006/main">
  <p:tag name="KSO_WM_DIAGRAM_VIRTUALLY_FRAME" val="{&quot;height&quot;:339.65,&quot;left&quot;:80.85,&quot;top&quot;:177.35,&quot;width&quot;:830.65}"/>
</p:tagLst>
</file>

<file path=ppt/tags/tag62.xml><?xml version="1.0" encoding="utf-8"?>
<p:tagLst xmlns:p="http://schemas.openxmlformats.org/presentationml/2006/main">
  <p:tag name="KSO_WM_DIAGRAM_VIRTUALLY_FRAME" val="{&quot;height&quot;:339.65,&quot;left&quot;:80.85,&quot;top&quot;:177.35,&quot;width&quot;:830.65}"/>
</p:tagLst>
</file>

<file path=ppt/tags/tag63.xml><?xml version="1.0" encoding="utf-8"?>
<p:tagLst xmlns:p="http://schemas.openxmlformats.org/presentationml/2006/main">
  <p:tag name="KSO_WM_DIAGRAM_VIRTUALLY_FRAME" val="{&quot;height&quot;:339.65,&quot;left&quot;:80.85,&quot;top&quot;:177.35,&quot;width&quot;:830.65}"/>
</p:tagLst>
</file>

<file path=ppt/tags/tag64.xml><?xml version="1.0" encoding="utf-8"?>
<p:tagLst xmlns:p="http://schemas.openxmlformats.org/presentationml/2006/main">
  <p:tag name="KSO_WM_DIAGRAM_VIRTUALLY_FRAME" val="{&quot;height&quot;:339.65,&quot;left&quot;:80.85,&quot;top&quot;:177.35,&quot;width&quot;:830.65}"/>
</p:tagLst>
</file>

<file path=ppt/tags/tag65.xml><?xml version="1.0" encoding="utf-8"?>
<p:tagLst xmlns:p="http://schemas.openxmlformats.org/presentationml/2006/main">
  <p:tag name="KSO_WM_DIAGRAM_VIRTUALLY_FRAME" val="{&quot;height&quot;:339.65,&quot;left&quot;:80.85,&quot;top&quot;:177.35,&quot;width&quot;:830.65}"/>
</p:tagLst>
</file>

<file path=ppt/tags/tag66.xml><?xml version="1.0" encoding="utf-8"?>
<p:tagLst xmlns:p="http://schemas.openxmlformats.org/presentationml/2006/main">
  <p:tag name="TABLE_ENDDRAG_ORIGIN_RECT" val="905*291"/>
  <p:tag name="TABLE_ENDDRAG_RECT" val="38*204*905*291"/>
</p:tagLst>
</file>

<file path=ppt/tags/tag67.xml><?xml version="1.0" encoding="utf-8"?>
<p:tagLst xmlns:p="http://schemas.openxmlformats.org/presentationml/2006/main">
  <p:tag name="resource_record_key" val="{&quot;70&quot;:[3314560,3314651]}"/>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spPr>
      <a:bodyPr rtlCol="0" anchor="ctr"/>
      <a:lstStyle>
        <a:defPPr algn="ctr">
          <a:defRPr sz="2800" b="1" dirty="0" smtClean="0">
            <a:solidFill>
              <a:srgbClr val="C0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7137</Words>
  <Application>WPS 演示</Application>
  <PresentationFormat>宽屏</PresentationFormat>
  <Paragraphs>949</Paragraphs>
  <Slides>38</Slides>
  <Notes>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38</vt:i4>
      </vt:variant>
    </vt:vector>
  </HeadingPairs>
  <TitlesOfParts>
    <vt:vector size="60" baseType="lpstr">
      <vt:lpstr>Arial</vt:lpstr>
      <vt:lpstr>宋体</vt:lpstr>
      <vt:lpstr>Wingdings</vt:lpstr>
      <vt:lpstr>Calibri</vt:lpstr>
      <vt:lpstr>等线</vt:lpstr>
      <vt:lpstr>微软雅黑</vt:lpstr>
      <vt:lpstr>Times New Roman</vt:lpstr>
      <vt:lpstr>方正大黑简体</vt:lpstr>
      <vt:lpstr>Arial</vt:lpstr>
      <vt:lpstr>Arial Unicode MS</vt:lpstr>
      <vt:lpstr>等线 Light</vt:lpstr>
      <vt:lpstr>Calibri Light</vt:lpstr>
      <vt:lpstr>Tahoma</vt:lpstr>
      <vt:lpstr>Wingdings</vt:lpstr>
      <vt:lpstr>Times New Roman</vt:lpstr>
      <vt:lpstr>黑体</vt:lpstr>
      <vt:lpstr>方正超粗黑简体</vt:lpstr>
      <vt:lpstr>Calibri</vt:lpstr>
      <vt:lpstr>Tahoma</vt:lpstr>
      <vt:lpstr>方正超粗黑简体</vt:lpstr>
      <vt:lpstr>方正超粗黑_GBK</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wangyy89</dc:creator>
  <cp:lastModifiedBy>Tan Wenlu</cp:lastModifiedBy>
  <cp:revision>220</cp:revision>
  <dcterms:created xsi:type="dcterms:W3CDTF">2025-11-12T05:54:00Z</dcterms:created>
  <dcterms:modified xsi:type="dcterms:W3CDTF">2026-07-30T06:29:52Z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F7E22AA7991F4153A94CE98AA27225D3_13</vt:lpwstr>
  </property>
  <property fmtid="{D5CDD505-2E9C-101B-9397-08002B2CF9AE}" pid="3" name="KSOProductBuildVer">
    <vt:lpwstr>2052-12.1.0.26895</vt:lpwstr>
  </property>
</Properties>
</file>