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jpeg" ContentType="image/jpeg"/>
  <Default Extension="JPG" ContentType="image/.jp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99"/>
  </p:handoutMasterIdLst>
  <p:sldIdLst>
    <p:sldId id="389" r:id="rId3"/>
    <p:sldId id="7337" r:id="rId5"/>
    <p:sldId id="7308" r:id="rId6"/>
    <p:sldId id="7309" r:id="rId7"/>
    <p:sldId id="7310" r:id="rId8"/>
    <p:sldId id="7311" r:id="rId9"/>
    <p:sldId id="7316" r:id="rId10"/>
    <p:sldId id="7465" r:id="rId11"/>
    <p:sldId id="7319" r:id="rId12"/>
    <p:sldId id="7339" r:id="rId13"/>
    <p:sldId id="7353" r:id="rId14"/>
    <p:sldId id="7466" r:id="rId15"/>
    <p:sldId id="7247" r:id="rId16"/>
    <p:sldId id="7438" r:id="rId17"/>
    <p:sldId id="7439" r:id="rId18"/>
    <p:sldId id="7440" r:id="rId19"/>
    <p:sldId id="7358" r:id="rId20"/>
    <p:sldId id="7359" r:id="rId21"/>
    <p:sldId id="7360" r:id="rId22"/>
    <p:sldId id="7361" r:id="rId23"/>
    <p:sldId id="7362" r:id="rId24"/>
    <p:sldId id="7363" r:id="rId25"/>
    <p:sldId id="7364" r:id="rId26"/>
    <p:sldId id="7365" r:id="rId27"/>
    <p:sldId id="7366" r:id="rId28"/>
    <p:sldId id="7367" r:id="rId29"/>
    <p:sldId id="7368" r:id="rId30"/>
    <p:sldId id="7369" r:id="rId31"/>
    <p:sldId id="7370" r:id="rId32"/>
    <p:sldId id="7371" r:id="rId33"/>
    <p:sldId id="7372" r:id="rId34"/>
    <p:sldId id="7373" r:id="rId35"/>
    <p:sldId id="7374" r:id="rId36"/>
    <p:sldId id="7375" r:id="rId37"/>
    <p:sldId id="7376" r:id="rId38"/>
    <p:sldId id="7377" r:id="rId39"/>
    <p:sldId id="7378" r:id="rId40"/>
    <p:sldId id="7379" r:id="rId41"/>
    <p:sldId id="7380" r:id="rId42"/>
    <p:sldId id="7381" r:id="rId43"/>
    <p:sldId id="7382" r:id="rId44"/>
    <p:sldId id="7383" r:id="rId45"/>
    <p:sldId id="7384" r:id="rId46"/>
    <p:sldId id="7385" r:id="rId47"/>
    <p:sldId id="7386" r:id="rId48"/>
    <p:sldId id="7387" r:id="rId49"/>
    <p:sldId id="7388" r:id="rId50"/>
    <p:sldId id="7389" r:id="rId51"/>
    <p:sldId id="7464" r:id="rId52"/>
    <p:sldId id="7441" r:id="rId53"/>
    <p:sldId id="7354" r:id="rId54"/>
    <p:sldId id="7390" r:id="rId55"/>
    <p:sldId id="7391" r:id="rId56"/>
    <p:sldId id="7392" r:id="rId57"/>
    <p:sldId id="7393" r:id="rId58"/>
    <p:sldId id="7394" r:id="rId59"/>
    <p:sldId id="7396" r:id="rId60"/>
    <p:sldId id="7397" r:id="rId61"/>
    <p:sldId id="7398" r:id="rId62"/>
    <p:sldId id="7406" r:id="rId63"/>
    <p:sldId id="7407" r:id="rId64"/>
    <p:sldId id="7408" r:id="rId65"/>
    <p:sldId id="7409" r:id="rId66"/>
    <p:sldId id="7410" r:id="rId67"/>
    <p:sldId id="7411" r:id="rId68"/>
    <p:sldId id="7442" r:id="rId69"/>
    <p:sldId id="7455" r:id="rId70"/>
    <p:sldId id="7456" r:id="rId71"/>
    <p:sldId id="7355" r:id="rId72"/>
    <p:sldId id="7444" r:id="rId73"/>
    <p:sldId id="7445" r:id="rId74"/>
    <p:sldId id="7446" r:id="rId75"/>
    <p:sldId id="7447" r:id="rId76"/>
    <p:sldId id="7448" r:id="rId77"/>
    <p:sldId id="7449" r:id="rId78"/>
    <p:sldId id="7450" r:id="rId79"/>
    <p:sldId id="7451" r:id="rId80"/>
    <p:sldId id="7457" r:id="rId81"/>
    <p:sldId id="7458" r:id="rId82"/>
    <p:sldId id="7459" r:id="rId83"/>
    <p:sldId id="7460" r:id="rId84"/>
    <p:sldId id="7461" r:id="rId85"/>
    <p:sldId id="7462" r:id="rId86"/>
    <p:sldId id="7463" r:id="rId87"/>
    <p:sldId id="7467" r:id="rId88"/>
    <p:sldId id="7476" r:id="rId89"/>
    <p:sldId id="7469" r:id="rId90"/>
    <p:sldId id="7470" r:id="rId91"/>
    <p:sldId id="7471" r:id="rId92"/>
    <p:sldId id="7472" r:id="rId93"/>
    <p:sldId id="7473" r:id="rId94"/>
    <p:sldId id="7320" r:id="rId95"/>
    <p:sldId id="7474" r:id="rId96"/>
    <p:sldId id="7475" r:id="rId97"/>
    <p:sldId id="7315" r:id="rId98"/>
  </p:sldIdLst>
  <p:sldSz cx="12192000" cy="6858000"/>
  <p:notesSz cx="6858000" cy="9144000"/>
  <p:custDataLst>
    <p:tags r:id="rId10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F2C84F-378A-4105-B54C-D81CDCC09504}">
          <p14:sldIdLst>
            <p14:sldId id="389"/>
            <p14:sldId id="7337"/>
            <p14:sldId id="7308"/>
            <p14:sldId id="7309"/>
            <p14:sldId id="7310"/>
            <p14:sldId id="7311"/>
            <p14:sldId id="7316"/>
            <p14:sldId id="7465"/>
            <p14:sldId id="7319"/>
            <p14:sldId id="7339"/>
            <p14:sldId id="7353"/>
            <p14:sldId id="7466"/>
            <p14:sldId id="7247"/>
            <p14:sldId id="7438"/>
            <p14:sldId id="7439"/>
            <p14:sldId id="7440"/>
            <p14:sldId id="7358"/>
            <p14:sldId id="7359"/>
            <p14:sldId id="7360"/>
            <p14:sldId id="7361"/>
            <p14:sldId id="7362"/>
            <p14:sldId id="7363"/>
            <p14:sldId id="7364"/>
            <p14:sldId id="7365"/>
            <p14:sldId id="7366"/>
            <p14:sldId id="7367"/>
            <p14:sldId id="7368"/>
            <p14:sldId id="7369"/>
            <p14:sldId id="7370"/>
            <p14:sldId id="7371"/>
            <p14:sldId id="7372"/>
            <p14:sldId id="7373"/>
            <p14:sldId id="7374"/>
            <p14:sldId id="7375"/>
            <p14:sldId id="7376"/>
            <p14:sldId id="7377"/>
            <p14:sldId id="7378"/>
            <p14:sldId id="7379"/>
            <p14:sldId id="7380"/>
            <p14:sldId id="7381"/>
            <p14:sldId id="7382"/>
            <p14:sldId id="7383"/>
            <p14:sldId id="7384"/>
            <p14:sldId id="7385"/>
            <p14:sldId id="7386"/>
            <p14:sldId id="7387"/>
            <p14:sldId id="7388"/>
            <p14:sldId id="7389"/>
            <p14:sldId id="7464"/>
            <p14:sldId id="7441"/>
            <p14:sldId id="7354"/>
            <p14:sldId id="7390"/>
            <p14:sldId id="7391"/>
            <p14:sldId id="7392"/>
            <p14:sldId id="7393"/>
            <p14:sldId id="7394"/>
            <p14:sldId id="7396"/>
            <p14:sldId id="7397"/>
            <p14:sldId id="7398"/>
            <p14:sldId id="7406"/>
            <p14:sldId id="7407"/>
            <p14:sldId id="7408"/>
            <p14:sldId id="7409"/>
            <p14:sldId id="7410"/>
            <p14:sldId id="7411"/>
            <p14:sldId id="7442"/>
            <p14:sldId id="7455"/>
            <p14:sldId id="7456"/>
            <p14:sldId id="7355"/>
            <p14:sldId id="7444"/>
            <p14:sldId id="7445"/>
            <p14:sldId id="7446"/>
            <p14:sldId id="7447"/>
            <p14:sldId id="7448"/>
            <p14:sldId id="7449"/>
            <p14:sldId id="7450"/>
            <p14:sldId id="7451"/>
            <p14:sldId id="7457"/>
            <p14:sldId id="7458"/>
            <p14:sldId id="7459"/>
            <p14:sldId id="7460"/>
            <p14:sldId id="7461"/>
            <p14:sldId id="7462"/>
            <p14:sldId id="7463"/>
            <p14:sldId id="7467"/>
            <p14:sldId id="7476"/>
            <p14:sldId id="7469"/>
            <p14:sldId id="7470"/>
            <p14:sldId id="7471"/>
            <p14:sldId id="7472"/>
            <p14:sldId id="7473"/>
            <p14:sldId id="7320"/>
            <p14:sldId id="7474"/>
            <p14:sldId id="7475"/>
            <p14:sldId id="7315"/>
          </p14:sldIdLst>
        </p14:section>
      </p14:sectionLst>
    </p:ext>
    <p:ext uri="{EFAFB233-063F-42B5-8137-9DF3F51BA10A}">
      <p15:sldGuideLst xmlns:p15="http://schemas.microsoft.com/office/powerpoint/2012/main">
        <p15:guide id="2" orient="horz" pos="855" userDrawn="1">
          <p15:clr>
            <a:srgbClr val="A4A3A4"/>
          </p15:clr>
        </p15:guide>
        <p15:guide id="5" orient="horz" pos="3834" userDrawn="1">
          <p15:clr>
            <a:srgbClr val="A4A3A4"/>
          </p15:clr>
        </p15:guide>
        <p15:guide id="7" orient="horz" pos="576" userDrawn="1">
          <p15:clr>
            <a:srgbClr val="A4A3A4"/>
          </p15:clr>
        </p15:guide>
        <p15:guide id="9" pos="210" userDrawn="1">
          <p15:clr>
            <a:srgbClr val="A4A3A4"/>
          </p15:clr>
        </p15:guide>
        <p15:guide id="11" pos="74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62673"/>
    <a:srgbClr val="E1E3E5"/>
    <a:srgbClr val="C00000"/>
    <a:srgbClr val="F2F2F2"/>
    <a:srgbClr val="54CAF5"/>
    <a:srgbClr val="FFFF6B"/>
    <a:srgbClr val="FF00FF"/>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25CCF9B-3BEF-4FDE-95DA-B136F59D0E50}"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alpha val="25000"/>
              <a:lumMod val="40000"/>
              <a:lumOff val="60000"/>
            </a:schemeClr>
          </a:solidFill>
        </a:fill>
      </a:tcStyle>
    </a:band2H>
    <a:band1V>
      <a:tcStyle>
        <a:tcBdr/>
        <a:fill>
          <a:solidFill>
            <a:schemeClr val="accent4">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A07636C-BFF2-4B8D-B900-3CD1A14DD574}"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alpha val="25000"/>
              <a:lumMod val="40000"/>
              <a:lumOff val="60000"/>
            </a:schemeClr>
          </a:solidFill>
        </a:fill>
      </a:tcStyle>
    </a:band2H>
    <a:band1V>
      <a:tcStyle>
        <a:tcBdr/>
        <a:fill>
          <a:solidFill>
            <a:schemeClr val="accent4">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78" d="100"/>
          <a:sy n="78" d="100"/>
        </p:scale>
        <p:origin x="907" y="43"/>
      </p:cViewPr>
      <p:guideLst>
        <p:guide orient="horz" pos="855"/>
        <p:guide orient="horz" pos="3834"/>
        <p:guide orient="horz" pos="576"/>
        <p:guide pos="210"/>
        <p:guide pos="7446"/>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4" Type="http://schemas.openxmlformats.org/officeDocument/2006/relationships/tags" Target="tags/tag165.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3D9157C-B1E3-40FA-BCB8-69B00888EC18}" type="doc">
      <dgm:prSet loTypeId="urn:microsoft.com/office/officeart/2005/8/layout/hProcess9#3" loCatId="process" qsTypeId="urn:microsoft.com/office/officeart/2005/8/quickstyle/simple1#3" qsCatId="simple" csTypeId="urn:microsoft.com/office/officeart/2005/8/colors/accent1_2#3" csCatId="accent1" phldr="1"/>
      <dgm:spPr/>
    </dgm:pt>
    <dgm:pt modelId="{CD835B71-D0A4-421C-A16B-0074A3F828C8}">
      <dgm:prSet phldrT="[文本]" custT="1"/>
      <dgm:spPr/>
      <dgm:t>
        <a:bodyPr/>
        <a:lstStyle/>
        <a:p>
          <a:r>
            <a:rPr lang="zh-CN" altLang="en-US" sz="2800" b="1" dirty="0"/>
            <a:t>信号分析技术</a:t>
          </a:r>
        </a:p>
      </dgm:t>
    </dgm:pt>
    <dgm:pt modelId="{8085B15A-F4E9-4246-B2C8-96B68092AAE7}" cxnId="{4D5CCA53-F641-4829-ABD5-38F4AF86E2C3}" type="parTrans">
      <dgm:prSet/>
      <dgm:spPr/>
      <dgm:t>
        <a:bodyPr/>
        <a:lstStyle/>
        <a:p>
          <a:endParaRPr lang="zh-CN" altLang="en-US"/>
        </a:p>
      </dgm:t>
    </dgm:pt>
    <dgm:pt modelId="{2BEDCB7B-BD8A-4BB3-817C-BB14D21E9573}" cxnId="{4D5CCA53-F641-4829-ABD5-38F4AF86E2C3}" type="sibTrans">
      <dgm:prSet/>
      <dgm:spPr/>
      <dgm:t>
        <a:bodyPr/>
        <a:lstStyle/>
        <a:p>
          <a:endParaRPr lang="zh-CN" altLang="en-US"/>
        </a:p>
      </dgm:t>
    </dgm:pt>
    <dgm:pt modelId="{78E5FF33-955A-412F-A178-DA1AB1FB8247}">
      <dgm:prSet custT="1"/>
      <dgm:spPr/>
      <dgm:t>
        <a:bodyPr/>
        <a:lstStyle/>
        <a:p>
          <a:r>
            <a:rPr lang="zh-CN" altLang="en-US" sz="2800" b="1" dirty="0"/>
            <a:t>压裂施工信号</a:t>
          </a:r>
        </a:p>
      </dgm:t>
    </dgm:pt>
    <dgm:pt modelId="{017A5F3D-1BD3-49C3-B9CB-5CDDD19A8FE3}" cxnId="{09CBCD04-690E-41F2-89DF-4366C354A0D2}" type="parTrans">
      <dgm:prSet/>
      <dgm:spPr/>
      <dgm:t>
        <a:bodyPr/>
        <a:lstStyle/>
        <a:p>
          <a:endParaRPr lang="zh-CN" altLang="en-US"/>
        </a:p>
      </dgm:t>
    </dgm:pt>
    <dgm:pt modelId="{6015C812-F043-4522-86EC-C5C3F03C67B6}" cxnId="{09CBCD04-690E-41F2-89DF-4366C354A0D2}" type="sibTrans">
      <dgm:prSet/>
      <dgm:spPr/>
      <dgm:t>
        <a:bodyPr/>
        <a:lstStyle/>
        <a:p>
          <a:endParaRPr lang="zh-CN" altLang="en-US"/>
        </a:p>
      </dgm:t>
    </dgm:pt>
    <dgm:pt modelId="{93D6FA00-904C-4E7D-9CE2-ACA54ED08014}">
      <dgm:prSet custT="1"/>
      <dgm:spPr/>
      <dgm:t>
        <a:bodyPr/>
        <a:lstStyle/>
        <a:p>
          <a:r>
            <a:rPr lang="zh-CN" altLang="en-US" sz="2800" b="1" dirty="0"/>
            <a:t>复杂数学处理</a:t>
          </a:r>
        </a:p>
      </dgm:t>
    </dgm:pt>
    <dgm:pt modelId="{20959E99-829A-4B78-9BA4-24D33B39DB10}" cxnId="{630858B6-619E-4EEA-8B0A-0A407183253D}" type="parTrans">
      <dgm:prSet/>
      <dgm:spPr/>
      <dgm:t>
        <a:bodyPr/>
        <a:lstStyle/>
        <a:p>
          <a:endParaRPr lang="zh-CN" altLang="en-US"/>
        </a:p>
      </dgm:t>
    </dgm:pt>
    <dgm:pt modelId="{B53BBDD9-ACFB-4A6E-B898-01B6AB8289C7}" cxnId="{630858B6-619E-4EEA-8B0A-0A407183253D}" type="sibTrans">
      <dgm:prSet/>
      <dgm:spPr/>
      <dgm:t>
        <a:bodyPr/>
        <a:lstStyle/>
        <a:p>
          <a:endParaRPr lang="zh-CN" altLang="en-US"/>
        </a:p>
      </dgm:t>
    </dgm:pt>
    <dgm:pt modelId="{818D9CF4-EFE8-40B9-92DA-C548217E1D15}">
      <dgm:prSet phldrT="[文本]" custT="1"/>
      <dgm:spPr/>
      <dgm:t>
        <a:bodyPr/>
        <a:lstStyle/>
        <a:p>
          <a:r>
            <a:rPr lang="zh-CN" altLang="en-US" sz="2800" b="1" dirty="0"/>
            <a:t>压裂效果评估</a:t>
          </a:r>
        </a:p>
      </dgm:t>
    </dgm:pt>
    <dgm:pt modelId="{65436A13-13EC-4159-A7AA-F1E1F79C18F1}" cxnId="{2D2A6248-205B-478F-8CE7-752766BF3A92}" type="parTrans">
      <dgm:prSet/>
      <dgm:spPr/>
      <dgm:t>
        <a:bodyPr/>
        <a:lstStyle/>
        <a:p>
          <a:endParaRPr lang="zh-CN" altLang="en-US"/>
        </a:p>
      </dgm:t>
    </dgm:pt>
    <dgm:pt modelId="{86CABB3E-E555-48C6-B1CE-2B50D6BFBCA0}" cxnId="{2D2A6248-205B-478F-8CE7-752766BF3A92}" type="sibTrans">
      <dgm:prSet/>
      <dgm:spPr/>
      <dgm:t>
        <a:bodyPr/>
        <a:lstStyle/>
        <a:p>
          <a:endParaRPr lang="zh-CN" altLang="en-US"/>
        </a:p>
      </dgm:t>
    </dgm:pt>
    <dgm:pt modelId="{65D0EBB4-791B-42DB-9564-4D9E62E05789}" type="pres">
      <dgm:prSet presAssocID="{43D9157C-B1E3-40FA-BCB8-69B00888EC18}" presName="CompostProcess" presStyleCnt="0">
        <dgm:presLayoutVars>
          <dgm:dir/>
          <dgm:resizeHandles val="exact"/>
        </dgm:presLayoutVars>
      </dgm:prSet>
      <dgm:spPr/>
    </dgm:pt>
    <dgm:pt modelId="{9DF7FB0E-0F20-4944-8A03-B6E20B27145C}" type="pres">
      <dgm:prSet presAssocID="{43D9157C-B1E3-40FA-BCB8-69B00888EC18}" presName="arrow" presStyleLbl="bgShp" presStyleIdx="0" presStyleCnt="1" custScaleX="116597"/>
      <dgm:spPr/>
    </dgm:pt>
    <dgm:pt modelId="{DE6690A5-3F3A-43DB-972F-D822682E6987}" type="pres">
      <dgm:prSet presAssocID="{43D9157C-B1E3-40FA-BCB8-69B00888EC18}" presName="linearProcess" presStyleCnt="0"/>
      <dgm:spPr/>
    </dgm:pt>
    <dgm:pt modelId="{9DBEC463-1FB9-48ED-A0DF-96BC7765342E}" type="pres">
      <dgm:prSet presAssocID="{78E5FF33-955A-412F-A178-DA1AB1FB8247}" presName="textNode" presStyleLbl="node1" presStyleIdx="0" presStyleCnt="4">
        <dgm:presLayoutVars>
          <dgm:bulletEnabled val="1"/>
        </dgm:presLayoutVars>
      </dgm:prSet>
      <dgm:spPr/>
    </dgm:pt>
    <dgm:pt modelId="{485018D2-B679-48AE-A342-C2A6C21E28E4}" type="pres">
      <dgm:prSet presAssocID="{6015C812-F043-4522-86EC-C5C3F03C67B6}" presName="sibTrans" presStyleCnt="0"/>
      <dgm:spPr/>
    </dgm:pt>
    <dgm:pt modelId="{0E8EBAAC-77A6-4BC5-9B22-C206BB9795E7}" type="pres">
      <dgm:prSet presAssocID="{93D6FA00-904C-4E7D-9CE2-ACA54ED08014}" presName="textNode" presStyleLbl="node1" presStyleIdx="1" presStyleCnt="4">
        <dgm:presLayoutVars>
          <dgm:bulletEnabled val="1"/>
        </dgm:presLayoutVars>
      </dgm:prSet>
      <dgm:spPr/>
    </dgm:pt>
    <dgm:pt modelId="{87F71379-B30D-40B4-B6C4-FB7D40F829B6}" type="pres">
      <dgm:prSet presAssocID="{B53BBDD9-ACFB-4A6E-B898-01B6AB8289C7}" presName="sibTrans" presStyleCnt="0"/>
      <dgm:spPr/>
    </dgm:pt>
    <dgm:pt modelId="{3944BDC3-AA5A-4F66-8CE2-DAD9BEF11905}" type="pres">
      <dgm:prSet presAssocID="{CD835B71-D0A4-421C-A16B-0074A3F828C8}" presName="textNode" presStyleLbl="node1" presStyleIdx="2" presStyleCnt="4">
        <dgm:presLayoutVars>
          <dgm:bulletEnabled val="1"/>
        </dgm:presLayoutVars>
      </dgm:prSet>
      <dgm:spPr/>
    </dgm:pt>
    <dgm:pt modelId="{08D16734-501E-4D23-ADD7-C6B0253F2F5B}" type="pres">
      <dgm:prSet presAssocID="{2BEDCB7B-BD8A-4BB3-817C-BB14D21E9573}" presName="sibTrans" presStyleCnt="0"/>
      <dgm:spPr/>
    </dgm:pt>
    <dgm:pt modelId="{8B301F94-8412-477B-83EE-8279F73E8678}" type="pres">
      <dgm:prSet presAssocID="{818D9CF4-EFE8-40B9-92DA-C548217E1D15}" presName="textNode" presStyleLbl="node1" presStyleIdx="3" presStyleCnt="4">
        <dgm:presLayoutVars>
          <dgm:bulletEnabled val="1"/>
        </dgm:presLayoutVars>
      </dgm:prSet>
      <dgm:spPr/>
    </dgm:pt>
  </dgm:ptLst>
  <dgm:cxnLst>
    <dgm:cxn modelId="{09CBCD04-690E-41F2-89DF-4366C354A0D2}" srcId="{43D9157C-B1E3-40FA-BCB8-69B00888EC18}" destId="{78E5FF33-955A-412F-A178-DA1AB1FB8247}" srcOrd="0" destOrd="0" parTransId="{017A5F3D-1BD3-49C3-B9CB-5CDDD19A8FE3}" sibTransId="{6015C812-F043-4522-86EC-C5C3F03C67B6}"/>
    <dgm:cxn modelId="{D388E117-207D-49BA-9ED1-DF3D82D53420}" type="presOf" srcId="{78E5FF33-955A-412F-A178-DA1AB1FB8247}" destId="{9DBEC463-1FB9-48ED-A0DF-96BC7765342E}" srcOrd="0" destOrd="0" presId="urn:microsoft.com/office/officeart/2005/8/layout/hProcess9#3"/>
    <dgm:cxn modelId="{915BED62-9589-4A01-ADA3-AEC90046CF92}" type="presOf" srcId="{43D9157C-B1E3-40FA-BCB8-69B00888EC18}" destId="{65D0EBB4-791B-42DB-9564-4D9E62E05789}" srcOrd="0" destOrd="0" presId="urn:microsoft.com/office/officeart/2005/8/layout/hProcess9#3"/>
    <dgm:cxn modelId="{2D2A6248-205B-478F-8CE7-752766BF3A92}" srcId="{43D9157C-B1E3-40FA-BCB8-69B00888EC18}" destId="{818D9CF4-EFE8-40B9-92DA-C548217E1D15}" srcOrd="3" destOrd="0" parTransId="{65436A13-13EC-4159-A7AA-F1E1F79C18F1}" sibTransId="{86CABB3E-E555-48C6-B1CE-2B50D6BFBCA0}"/>
    <dgm:cxn modelId="{4D5CCA53-F641-4829-ABD5-38F4AF86E2C3}" srcId="{43D9157C-B1E3-40FA-BCB8-69B00888EC18}" destId="{CD835B71-D0A4-421C-A16B-0074A3F828C8}" srcOrd="2" destOrd="0" parTransId="{8085B15A-F4E9-4246-B2C8-96B68092AAE7}" sibTransId="{2BEDCB7B-BD8A-4BB3-817C-BB14D21E9573}"/>
    <dgm:cxn modelId="{315A9159-FCBD-4D91-8FEA-F2A1CD12F346}" type="presOf" srcId="{CD835B71-D0A4-421C-A16B-0074A3F828C8}" destId="{3944BDC3-AA5A-4F66-8CE2-DAD9BEF11905}" srcOrd="0" destOrd="0" presId="urn:microsoft.com/office/officeart/2005/8/layout/hProcess9#3"/>
    <dgm:cxn modelId="{BC70FDA2-6D62-44CD-BBC6-922144CA93EB}" type="presOf" srcId="{818D9CF4-EFE8-40B9-92DA-C548217E1D15}" destId="{8B301F94-8412-477B-83EE-8279F73E8678}" srcOrd="0" destOrd="0" presId="urn:microsoft.com/office/officeart/2005/8/layout/hProcess9#3"/>
    <dgm:cxn modelId="{630858B6-619E-4EEA-8B0A-0A407183253D}" srcId="{43D9157C-B1E3-40FA-BCB8-69B00888EC18}" destId="{93D6FA00-904C-4E7D-9CE2-ACA54ED08014}" srcOrd="1" destOrd="0" parTransId="{20959E99-829A-4B78-9BA4-24D33B39DB10}" sibTransId="{B53BBDD9-ACFB-4A6E-B898-01B6AB8289C7}"/>
    <dgm:cxn modelId="{AD1305BC-2AE5-4E35-9337-42B6A8819C8B}" type="presOf" srcId="{93D6FA00-904C-4E7D-9CE2-ACA54ED08014}" destId="{0E8EBAAC-77A6-4BC5-9B22-C206BB9795E7}" srcOrd="0" destOrd="0" presId="urn:microsoft.com/office/officeart/2005/8/layout/hProcess9#3"/>
    <dgm:cxn modelId="{ADF4A865-BF02-4CFA-876D-2D2A4578C50B}" type="presParOf" srcId="{65D0EBB4-791B-42DB-9564-4D9E62E05789}" destId="{9DF7FB0E-0F20-4944-8A03-B6E20B27145C}" srcOrd="0" destOrd="0" presId="urn:microsoft.com/office/officeart/2005/8/layout/hProcess9#3"/>
    <dgm:cxn modelId="{B4436EB5-2339-404F-BA9E-8BF368A3EC35}" type="presParOf" srcId="{65D0EBB4-791B-42DB-9564-4D9E62E05789}" destId="{DE6690A5-3F3A-43DB-972F-D822682E6987}" srcOrd="1" destOrd="0" presId="urn:microsoft.com/office/officeart/2005/8/layout/hProcess9#3"/>
    <dgm:cxn modelId="{726C9BE5-E8B1-4366-B015-C19ABFF85A5F}" type="presParOf" srcId="{DE6690A5-3F3A-43DB-972F-D822682E6987}" destId="{9DBEC463-1FB9-48ED-A0DF-96BC7765342E}" srcOrd="0" destOrd="0" presId="urn:microsoft.com/office/officeart/2005/8/layout/hProcess9#3"/>
    <dgm:cxn modelId="{AA7220B3-FB62-46B5-AA45-D0C53F4AACC3}" type="presParOf" srcId="{DE6690A5-3F3A-43DB-972F-D822682E6987}" destId="{485018D2-B679-48AE-A342-C2A6C21E28E4}" srcOrd="1" destOrd="0" presId="urn:microsoft.com/office/officeart/2005/8/layout/hProcess9#3"/>
    <dgm:cxn modelId="{82D95784-9A9C-4C12-AC64-F84646273CD3}" type="presParOf" srcId="{DE6690A5-3F3A-43DB-972F-D822682E6987}" destId="{0E8EBAAC-77A6-4BC5-9B22-C206BB9795E7}" srcOrd="2" destOrd="0" presId="urn:microsoft.com/office/officeart/2005/8/layout/hProcess9#3"/>
    <dgm:cxn modelId="{14A44C3C-AE51-4D45-9C06-887E7E491476}" type="presParOf" srcId="{DE6690A5-3F3A-43DB-972F-D822682E6987}" destId="{87F71379-B30D-40B4-B6C4-FB7D40F829B6}" srcOrd="3" destOrd="0" presId="urn:microsoft.com/office/officeart/2005/8/layout/hProcess9#3"/>
    <dgm:cxn modelId="{2F1D92B0-DAF2-411C-A658-D2BFB2414B99}" type="presParOf" srcId="{DE6690A5-3F3A-43DB-972F-D822682E6987}" destId="{3944BDC3-AA5A-4F66-8CE2-DAD9BEF11905}" srcOrd="4" destOrd="0" presId="urn:microsoft.com/office/officeart/2005/8/layout/hProcess9#3"/>
    <dgm:cxn modelId="{FE5FAFD3-6BF6-4849-A670-3171C418B2F4}" type="presParOf" srcId="{DE6690A5-3F3A-43DB-972F-D822682E6987}" destId="{08D16734-501E-4D23-ADD7-C6B0253F2F5B}" srcOrd="5" destOrd="0" presId="urn:microsoft.com/office/officeart/2005/8/layout/hProcess9#3"/>
    <dgm:cxn modelId="{CDBA91B3-FF35-430C-A14C-3FA8E763C311}" type="presParOf" srcId="{DE6690A5-3F3A-43DB-972F-D822682E6987}" destId="{8B301F94-8412-477B-83EE-8279F73E8678}" srcOrd="6" destOrd="0" presId="urn:microsoft.com/office/officeart/2005/8/layout/hProcess9#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412855" cy="1890395"/>
        <a:chOff x="0" y="0"/>
        <a:chExt cx="11412855" cy="1890395"/>
      </a:xfrm>
    </dsp:grpSpPr>
    <dsp:sp modelId="{9DF7FB0E-0F20-4944-8A03-B6E20B27145C}">
      <dsp:nvSpPr>
        <dsp:cNvPr id="3" name="右箭头 2"/>
        <dsp:cNvSpPr/>
      </dsp:nvSpPr>
      <dsp:spPr bwMode="white">
        <a:xfrm>
          <a:off x="855964" y="0"/>
          <a:ext cx="9700927" cy="1890395"/>
        </a:xfrm>
        <a:prstGeom prst="rightArrow">
          <a:avLst/>
        </a:prstGeom>
      </dsp:spPr>
      <dsp:style>
        <a:lnRef idx="0">
          <a:schemeClr val="accent1"/>
        </a:lnRef>
        <a:fillRef idx="1">
          <a:schemeClr val="accent1">
            <a:tint val="40000"/>
          </a:schemeClr>
        </a:fillRef>
        <a:effectRef idx="0">
          <a:scrgbClr r="0" g="0" b="0"/>
        </a:effectRef>
        <a:fontRef idx="minor"/>
      </dsp:style>
      <dsp:txXfrm>
        <a:off x="855964" y="0"/>
        <a:ext cx="9700927" cy="1890395"/>
      </dsp:txXfrm>
    </dsp:sp>
    <dsp:sp modelId="{9DBEC463-1FB9-48ED-A0DF-96BC7765342E}">
      <dsp:nvSpPr>
        <dsp:cNvPr id="4" name="圆角矩形 3"/>
        <dsp:cNvSpPr/>
      </dsp:nvSpPr>
      <dsp:spPr bwMode="white">
        <a:xfrm>
          <a:off x="0"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压裂施工信号</a:t>
          </a:r>
        </a:p>
      </dsp:txBody>
      <dsp:txXfrm>
        <a:off x="0" y="567119"/>
        <a:ext cx="2536190" cy="756158"/>
      </dsp:txXfrm>
    </dsp:sp>
    <dsp:sp modelId="{0E8EBAAC-77A6-4BC5-9B22-C206BB9795E7}">
      <dsp:nvSpPr>
        <dsp:cNvPr id="5" name="圆角矩形 4"/>
        <dsp:cNvSpPr/>
      </dsp:nvSpPr>
      <dsp:spPr bwMode="white">
        <a:xfrm>
          <a:off x="2958888"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复杂数学处理</a:t>
          </a:r>
        </a:p>
      </dsp:txBody>
      <dsp:txXfrm>
        <a:off x="2958888" y="567119"/>
        <a:ext cx="2536190" cy="756158"/>
      </dsp:txXfrm>
    </dsp:sp>
    <dsp:sp modelId="{3944BDC3-AA5A-4F66-8CE2-DAD9BEF11905}">
      <dsp:nvSpPr>
        <dsp:cNvPr id="6" name="圆角矩形 5"/>
        <dsp:cNvSpPr/>
      </dsp:nvSpPr>
      <dsp:spPr bwMode="white">
        <a:xfrm>
          <a:off x="5917777"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信号分析技术</a:t>
          </a:r>
        </a:p>
      </dsp:txBody>
      <dsp:txXfrm>
        <a:off x="5917777" y="567119"/>
        <a:ext cx="2536190" cy="756158"/>
      </dsp:txXfrm>
    </dsp:sp>
    <dsp:sp modelId="{8B301F94-8412-477B-83EE-8279F73E8678}">
      <dsp:nvSpPr>
        <dsp:cNvPr id="7" name="圆角矩形 6"/>
        <dsp:cNvSpPr/>
      </dsp:nvSpPr>
      <dsp:spPr bwMode="white">
        <a:xfrm>
          <a:off x="8876665"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压裂效果评估</a:t>
          </a:r>
        </a:p>
      </dsp:txBody>
      <dsp:txXfrm>
        <a:off x="8876665" y="567119"/>
        <a:ext cx="2536190" cy="75615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3">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411882-E5A8-4688-96CF-E31BAE27AF2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95</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notesSlide" Target="../notesSlides/notesSlide10.xml"/><Relationship Id="rId10" Type="http://schemas.openxmlformats.org/officeDocument/2006/relationships/slideLayout" Target="../slideLayouts/slideLayout1.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3.wmf"/><Relationship Id="rId7" Type="http://schemas.openxmlformats.org/officeDocument/2006/relationships/oleObject" Target="../embeddings/oleObject1.bin"/><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12.png"/><Relationship Id="rId2" Type="http://schemas.openxmlformats.org/officeDocument/2006/relationships/image" Target="../media/image11.png"/><Relationship Id="rId11" Type="http://schemas.openxmlformats.org/officeDocument/2006/relationships/notesSlide" Target="../notesSlides/notesSlide11.xml"/><Relationship Id="rId10" Type="http://schemas.openxmlformats.org/officeDocument/2006/relationships/vmlDrawing" Target="../drawings/vmlDrawing1.v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27.png"/><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28.png"/><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1.xml"/><Relationship Id="rId5" Type="http://schemas.openxmlformats.org/officeDocument/2006/relationships/tags" Target="../tags/tag10.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42.png"/><Relationship Id="rId2" Type="http://schemas.openxmlformats.org/officeDocument/2006/relationships/image" Target="../media/image6.pn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jpe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xml"/><Relationship Id="rId5" Type="http://schemas.openxmlformats.org/officeDocument/2006/relationships/image" Target="../media/image50.emf"/><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1.xml"/><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1.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1.xml"/><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41.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png"/><Relationship Id="rId7" Type="http://schemas.openxmlformats.org/officeDocument/2006/relationships/image" Target="../media/image78.png"/><Relationship Id="rId6" Type="http://schemas.openxmlformats.org/officeDocument/2006/relationships/image" Target="../media/image77.png"/><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image" Target="../media/image76.png"/><Relationship Id="rId11" Type="http://schemas.openxmlformats.org/officeDocument/2006/relationships/notesSlide" Target="../notesSlides/notesSlide37.xml"/><Relationship Id="rId10" Type="http://schemas.openxmlformats.org/officeDocument/2006/relationships/slideLayout" Target="../slideLayouts/slideLayout1.xml"/><Relationship Id="rId1" Type="http://schemas.openxmlformats.org/officeDocument/2006/relationships/image" Target="../media/image7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43.xml.rels><?xml version="1.0" encoding="UTF-8" standalone="yes"?>
<Relationships xmlns="http://schemas.openxmlformats.org/package/2006/relationships"><Relationship Id="rId9" Type="http://schemas.microsoft.com/office/2007/relationships/diagramDrawing" Target="../diagrams/drawing1.xml"/><Relationship Id="rId8" Type="http://schemas.openxmlformats.org/officeDocument/2006/relationships/diagramColors" Target="../diagrams/colors1.xml"/><Relationship Id="rId7" Type="http://schemas.openxmlformats.org/officeDocument/2006/relationships/diagramQuickStyle" Target="../diagrams/quickStyle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9.png"/><Relationship Id="rId3" Type="http://schemas.openxmlformats.org/officeDocument/2006/relationships/image" Target="../media/image83.png"/><Relationship Id="rId2" Type="http://schemas.openxmlformats.org/officeDocument/2006/relationships/image" Target="../media/image82.png"/><Relationship Id="rId11" Type="http://schemas.openxmlformats.org/officeDocument/2006/relationships/notesSlide" Target="../notesSlides/notesSlide39.xml"/><Relationship Id="rId10" Type="http://schemas.openxmlformats.org/officeDocument/2006/relationships/slideLayout" Target="../slideLayouts/slideLayout1.xml"/><Relationship Id="rId1" Type="http://schemas.openxmlformats.org/officeDocument/2006/relationships/image" Target="../media/image81.png"/></Relationships>
</file>

<file path=ppt/slides/_rels/slide44.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3" Type="http://schemas.openxmlformats.org/officeDocument/2006/relationships/notesSlide" Target="../notesSlides/notesSlide40.xml"/><Relationship Id="rId12" Type="http://schemas.openxmlformats.org/officeDocument/2006/relationships/slideLayout" Target="../slideLayouts/slideLayout1.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8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47.xml.rels><?xml version="1.0" encoding="UTF-8" standalone="yes"?>
<Relationships xmlns="http://schemas.openxmlformats.org/package/2006/relationships"><Relationship Id="rId9" Type="http://schemas.openxmlformats.org/officeDocument/2006/relationships/image" Target="../media/image101.emf"/><Relationship Id="rId8" Type="http://schemas.openxmlformats.org/officeDocument/2006/relationships/image" Target="../media/image100.emf"/><Relationship Id="rId7" Type="http://schemas.openxmlformats.org/officeDocument/2006/relationships/image" Target="../media/image99.emf"/><Relationship Id="rId6" Type="http://schemas.openxmlformats.org/officeDocument/2006/relationships/image" Target="../media/image98.emf"/><Relationship Id="rId5" Type="http://schemas.openxmlformats.org/officeDocument/2006/relationships/image" Target="../media/image8.png"/><Relationship Id="rId4" Type="http://schemas.openxmlformats.org/officeDocument/2006/relationships/image" Target="../media/image97.emf"/><Relationship Id="rId3" Type="http://schemas.openxmlformats.org/officeDocument/2006/relationships/image" Target="../media/image96.png"/><Relationship Id="rId2" Type="http://schemas.openxmlformats.org/officeDocument/2006/relationships/image" Target="../media/image95.png"/><Relationship Id="rId12" Type="http://schemas.openxmlformats.org/officeDocument/2006/relationships/notesSlide" Target="../notesSlides/notesSlide43.xml"/><Relationship Id="rId11" Type="http://schemas.openxmlformats.org/officeDocument/2006/relationships/slideLayout" Target="../slideLayouts/slideLayout1.xml"/><Relationship Id="rId10" Type="http://schemas.openxmlformats.org/officeDocument/2006/relationships/image" Target="../media/image102.emf"/><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49.xml.rels><?xml version="1.0" encoding="UTF-8" standalone="yes"?>
<Relationships xmlns="http://schemas.openxmlformats.org/package/2006/relationships"><Relationship Id="rId9" Type="http://schemas.openxmlformats.org/officeDocument/2006/relationships/image" Target="../media/image111.png"/><Relationship Id="rId8" Type="http://schemas.openxmlformats.org/officeDocument/2006/relationships/image" Target="../media/image110.png"/><Relationship Id="rId7" Type="http://schemas.openxmlformats.org/officeDocument/2006/relationships/image" Target="../media/image109.png"/><Relationship Id="rId6" Type="http://schemas.openxmlformats.org/officeDocument/2006/relationships/image" Target="../media/image108.png"/><Relationship Id="rId5" Type="http://schemas.openxmlformats.org/officeDocument/2006/relationships/image" Target="../media/image107.jpeg"/><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5" Type="http://schemas.openxmlformats.org/officeDocument/2006/relationships/notesSlide" Target="../notesSlides/notesSlide45.xml"/><Relationship Id="rId14" Type="http://schemas.openxmlformats.org/officeDocument/2006/relationships/slideLayout" Target="../slideLayouts/slideLayout1.xml"/><Relationship Id="rId13" Type="http://schemas.openxmlformats.org/officeDocument/2006/relationships/image" Target="../media/image115.png"/><Relationship Id="rId12" Type="http://schemas.openxmlformats.org/officeDocument/2006/relationships/image" Target="../media/image114.png"/><Relationship Id="rId11" Type="http://schemas.openxmlformats.org/officeDocument/2006/relationships/image" Target="../media/image113.png"/><Relationship Id="rId10" Type="http://schemas.openxmlformats.org/officeDocument/2006/relationships/image" Target="../media/image112.png"/><Relationship Id="rId1" Type="http://schemas.openxmlformats.org/officeDocument/2006/relationships/image" Target="../media/image103.png"/></Relationships>
</file>

<file path=ppt/slides/_rels/slide50.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image" Target="../media/image119.png"/><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image" Target="../media/image118.png"/><Relationship Id="rId4" Type="http://schemas.openxmlformats.org/officeDocument/2006/relationships/image" Target="../media/image117.png"/><Relationship Id="rId3" Type="http://schemas.openxmlformats.org/officeDocument/2006/relationships/tags" Target="../tags/tag29.xml"/><Relationship Id="rId2" Type="http://schemas.openxmlformats.org/officeDocument/2006/relationships/tags" Target="../tags/tag28.xml"/><Relationship Id="rId11" Type="http://schemas.openxmlformats.org/officeDocument/2006/relationships/notesSlide" Target="../notesSlides/notesSlide46.xml"/><Relationship Id="rId10" Type="http://schemas.openxmlformats.org/officeDocument/2006/relationships/slideLayout" Target="../slideLayouts/slideLayout1.xml"/><Relationship Id="rId1" Type="http://schemas.openxmlformats.org/officeDocument/2006/relationships/image" Target="../media/image1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9" Type="http://schemas.openxmlformats.org/officeDocument/2006/relationships/notesSlide" Target="../notesSlides/notesSlide47.xml"/><Relationship Id="rId8" Type="http://schemas.openxmlformats.org/officeDocument/2006/relationships/slideLayout" Target="../slideLayouts/slideLayout1.xml"/><Relationship Id="rId7" Type="http://schemas.openxmlformats.org/officeDocument/2006/relationships/tags" Target="../tags/tag33.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4.png"/><Relationship Id="rId2" Type="http://schemas.openxmlformats.org/officeDocument/2006/relationships/image" Target="../media/image38.png"/><Relationship Id="rId1" Type="http://schemas.openxmlformats.org/officeDocument/2006/relationships/image" Target="../media/image120.png"/></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48.xml"/><Relationship Id="rId6" Type="http://schemas.openxmlformats.org/officeDocument/2006/relationships/slideLayout" Target="../slideLayouts/slideLayout1.xml"/><Relationship Id="rId5" Type="http://schemas.openxmlformats.org/officeDocument/2006/relationships/tags" Target="../tags/tag35.xml"/><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tags" Target="../tags/tag34.xml"/><Relationship Id="rId1" Type="http://schemas.openxmlformats.org/officeDocument/2006/relationships/image" Target="../media/image124.pn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1.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image" Target="../media/image128.png"/><Relationship Id="rId1" Type="http://schemas.openxmlformats.org/officeDocument/2006/relationships/image" Target="../media/image127.pn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xml"/><Relationship Id="rId4" Type="http://schemas.openxmlformats.org/officeDocument/2006/relationships/image" Target="../media/image130.png"/><Relationship Id="rId3" Type="http://schemas.openxmlformats.org/officeDocument/2006/relationships/tags" Target="../tags/tag39.xml"/><Relationship Id="rId2" Type="http://schemas.openxmlformats.org/officeDocument/2006/relationships/image" Target="../media/image129.png"/><Relationship Id="rId1" Type="http://schemas.openxmlformats.org/officeDocument/2006/relationships/tags" Target="../tags/tag38.xml"/></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1.xml"/><Relationship Id="rId4" Type="http://schemas.openxmlformats.org/officeDocument/2006/relationships/image" Target="../media/image116.png"/><Relationship Id="rId3" Type="http://schemas.openxmlformats.org/officeDocument/2006/relationships/image" Target="../media/image131.png"/><Relationship Id="rId2" Type="http://schemas.openxmlformats.org/officeDocument/2006/relationships/tags" Target="../tags/tag41.xml"/><Relationship Id="rId1" Type="http://schemas.openxmlformats.org/officeDocument/2006/relationships/tags" Target="../tags/tag40.xml"/></Relationships>
</file>

<file path=ppt/slides/_rels/slide57.xml.rels><?xml version="1.0" encoding="UTF-8" standalone="yes"?>
<Relationships xmlns="http://schemas.openxmlformats.org/package/2006/relationships"><Relationship Id="rId8" Type="http://schemas.openxmlformats.org/officeDocument/2006/relationships/notesSlide" Target="../notesSlides/notesSlide52.xml"/><Relationship Id="rId7" Type="http://schemas.openxmlformats.org/officeDocument/2006/relationships/slideLayout" Target="../slideLayouts/slideLayout1.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image" Target="../media/image133.png"/><Relationship Id="rId3" Type="http://schemas.openxmlformats.org/officeDocument/2006/relationships/image" Target="../media/image132.GIF"/><Relationship Id="rId2" Type="http://schemas.openxmlformats.org/officeDocument/2006/relationships/tags" Target="../tags/tag43.xml"/><Relationship Id="rId1" Type="http://schemas.openxmlformats.org/officeDocument/2006/relationships/tags" Target="../tags/tag42.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xml"/><Relationship Id="rId2" Type="http://schemas.openxmlformats.org/officeDocument/2006/relationships/tags" Target="../tags/tag47.xml"/><Relationship Id="rId1" Type="http://schemas.openxmlformats.org/officeDocument/2006/relationships/tags" Target="../tags/tag46.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1.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55.xml"/><Relationship Id="rId6" Type="http://schemas.openxmlformats.org/officeDocument/2006/relationships/slideLayout" Target="../slideLayouts/slideLayout1.xml"/><Relationship Id="rId5" Type="http://schemas.openxmlformats.org/officeDocument/2006/relationships/tags" Target="../tags/tag54.xml"/><Relationship Id="rId4" Type="http://schemas.openxmlformats.org/officeDocument/2006/relationships/image" Target="../media/image135.png"/><Relationship Id="rId3" Type="http://schemas.openxmlformats.org/officeDocument/2006/relationships/tags" Target="../tags/tag53.xml"/><Relationship Id="rId2" Type="http://schemas.openxmlformats.org/officeDocument/2006/relationships/image" Target="../media/image134.png"/><Relationship Id="rId1" Type="http://schemas.openxmlformats.org/officeDocument/2006/relationships/tags" Target="../tags/tag52.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xml"/><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image" Target="../media/image136.png"/></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57.xml"/><Relationship Id="rId7" Type="http://schemas.openxmlformats.org/officeDocument/2006/relationships/slideLayout" Target="../slideLayouts/slideLayout1.xml"/><Relationship Id="rId6" Type="http://schemas.openxmlformats.org/officeDocument/2006/relationships/image" Target="../media/image117.png"/><Relationship Id="rId5" Type="http://schemas.openxmlformats.org/officeDocument/2006/relationships/tags" Target="../tags/tag58.xml"/><Relationship Id="rId4" Type="http://schemas.openxmlformats.org/officeDocument/2006/relationships/image" Target="../media/image139.png"/><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s>
</file>

<file path=ppt/slides/_rels/slide63.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1.xml"/><Relationship Id="rId6" Type="http://schemas.openxmlformats.org/officeDocument/2006/relationships/image" Target="../media/image141.png"/><Relationship Id="rId5" Type="http://schemas.openxmlformats.org/officeDocument/2006/relationships/tags" Target="../tags/tag62.xml"/><Relationship Id="rId4" Type="http://schemas.openxmlformats.org/officeDocument/2006/relationships/image" Target="../media/image140.png"/><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s>
</file>

<file path=ppt/slides/_rels/slide64.xml.rels><?xml version="1.0" encoding="UTF-8" standalone="yes"?>
<Relationships xmlns="http://schemas.openxmlformats.org/package/2006/relationships"><Relationship Id="rId9" Type="http://schemas.openxmlformats.org/officeDocument/2006/relationships/image" Target="../media/image148.png"/><Relationship Id="rId8" Type="http://schemas.openxmlformats.org/officeDocument/2006/relationships/image" Target="../media/image147.png"/><Relationship Id="rId7" Type="http://schemas.openxmlformats.org/officeDocument/2006/relationships/image" Target="../media/image146.png"/><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 Id="rId3" Type="http://schemas.openxmlformats.org/officeDocument/2006/relationships/tags" Target="../tags/tag64.xml"/><Relationship Id="rId2" Type="http://schemas.openxmlformats.org/officeDocument/2006/relationships/tags" Target="../tags/tag63.xml"/><Relationship Id="rId11" Type="http://schemas.openxmlformats.org/officeDocument/2006/relationships/notesSlide" Target="../notesSlides/notesSlide59.xml"/><Relationship Id="rId10" Type="http://schemas.openxmlformats.org/officeDocument/2006/relationships/slideLayout" Target="../slideLayouts/slideLayout1.xml"/><Relationship Id="rId1" Type="http://schemas.openxmlformats.org/officeDocument/2006/relationships/image" Target="../media/image142.png"/></Relationships>
</file>

<file path=ppt/slides/_rels/slide65.xml.rels><?xml version="1.0" encoding="UTF-8" standalone="yes"?>
<Relationships xmlns="http://schemas.openxmlformats.org/package/2006/relationships"><Relationship Id="rId8" Type="http://schemas.openxmlformats.org/officeDocument/2006/relationships/notesSlide" Target="../notesSlides/notesSlide60.xml"/><Relationship Id="rId7" Type="http://schemas.openxmlformats.org/officeDocument/2006/relationships/slideLayout" Target="../slideLayouts/slideLayout1.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image" Target="../media/image149.png"/></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8" Type="http://schemas.openxmlformats.org/officeDocument/2006/relationships/notesSlide" Target="../notesSlides/notesSlide62.xml"/><Relationship Id="rId7" Type="http://schemas.openxmlformats.org/officeDocument/2006/relationships/slideLayout" Target="../slideLayouts/slideLayout1.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image" Target="../media/image153.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tags" Target="../tags/tag7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64.xml"/><Relationship Id="rId4" Type="http://schemas.openxmlformats.org/officeDocument/2006/relationships/slideLayout" Target="../slideLayouts/slideLayout1.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2.xml.rels><?xml version="1.0" encoding="UTF-8" standalone="yes"?>
<Relationships xmlns="http://schemas.openxmlformats.org/package/2006/relationships"><Relationship Id="rId8" Type="http://schemas.openxmlformats.org/officeDocument/2006/relationships/notesSlide" Target="../notesSlides/notesSlide66.xml"/><Relationship Id="rId7" Type="http://schemas.openxmlformats.org/officeDocument/2006/relationships/slideLayout" Target="../slideLayouts/slideLayout1.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73.xml.rels><?xml version="1.0" encoding="UTF-8" standalone="yes"?>
<Relationships xmlns="http://schemas.openxmlformats.org/package/2006/relationships"><Relationship Id="rId7" Type="http://schemas.openxmlformats.org/officeDocument/2006/relationships/notesSlide" Target="../notesSlides/notesSlide67.xml"/><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tags" Target="../tags/tag88.xml"/><Relationship Id="rId3" Type="http://schemas.openxmlformats.org/officeDocument/2006/relationships/image" Target="../media/image156.wmf"/><Relationship Id="rId2" Type="http://schemas.openxmlformats.org/officeDocument/2006/relationships/oleObject" Target="../embeddings/oleObject2.bin"/><Relationship Id="rId1" Type="http://schemas.openxmlformats.org/officeDocument/2006/relationships/tags" Target="../tags/tag87.xml"/></Relationships>
</file>

<file path=ppt/slides/_rels/slide74.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xml"/><Relationship Id="rId2" Type="http://schemas.openxmlformats.org/officeDocument/2006/relationships/tags" Target="../tags/tag94.xml"/><Relationship Id="rId1" Type="http://schemas.openxmlformats.org/officeDocument/2006/relationships/tags" Target="../tags/tag93.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xml"/><Relationship Id="rId2" Type="http://schemas.openxmlformats.org/officeDocument/2006/relationships/tags" Target="../tags/tag96.xml"/><Relationship Id="rId1" Type="http://schemas.openxmlformats.org/officeDocument/2006/relationships/tags" Target="../tags/tag95.xml"/></Relationships>
</file>

<file path=ppt/slides/_rels/slide77.xml.rels><?xml version="1.0" encoding="UTF-8" standalone="yes"?>
<Relationships xmlns="http://schemas.openxmlformats.org/package/2006/relationships"><Relationship Id="rId6" Type="http://schemas.openxmlformats.org/officeDocument/2006/relationships/notesSlide" Target="../notesSlides/notesSlide71.xml"/><Relationship Id="rId5" Type="http://schemas.openxmlformats.org/officeDocument/2006/relationships/slideLayout" Target="../slideLayouts/slideLayout1.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image" Target="../media/image157.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1.xml"/><Relationship Id="rId2" Type="http://schemas.openxmlformats.org/officeDocument/2006/relationships/tags" Target="../tags/tag101.xml"/><Relationship Id="rId1" Type="http://schemas.openxmlformats.org/officeDocument/2006/relationships/tags" Target="../tags/tag100.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1.xml"/><Relationship Id="rId2" Type="http://schemas.openxmlformats.org/officeDocument/2006/relationships/tags" Target="../tags/tag103.xml"/><Relationship Id="rId1" Type="http://schemas.openxmlformats.org/officeDocument/2006/relationships/tags" Target="../tags/tag102.xml"/></Relationships>
</file>

<file path=ppt/slides/_rels/slide80.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8" Type="http://schemas.openxmlformats.org/officeDocument/2006/relationships/notesSlide" Target="../notesSlides/notesSlide74.xml"/><Relationship Id="rId57" Type="http://schemas.openxmlformats.org/officeDocument/2006/relationships/slideLayout" Target="../slideLayouts/slideLayout1.xml"/><Relationship Id="rId56" Type="http://schemas.openxmlformats.org/officeDocument/2006/relationships/tags" Target="../tags/tag152.xml"/><Relationship Id="rId55" Type="http://schemas.openxmlformats.org/officeDocument/2006/relationships/tags" Target="../tags/tag151.xml"/><Relationship Id="rId54" Type="http://schemas.openxmlformats.org/officeDocument/2006/relationships/tags" Target="../tags/tag150.xml"/><Relationship Id="rId53" Type="http://schemas.openxmlformats.org/officeDocument/2006/relationships/tags" Target="../tags/tag149.xml"/><Relationship Id="rId52" Type="http://schemas.openxmlformats.org/officeDocument/2006/relationships/tags" Target="../tags/tag148.xml"/><Relationship Id="rId51" Type="http://schemas.openxmlformats.org/officeDocument/2006/relationships/tags" Target="../tags/tag147.xml"/><Relationship Id="rId50" Type="http://schemas.openxmlformats.org/officeDocument/2006/relationships/tags" Target="../tags/tag146.xml"/><Relationship Id="rId5" Type="http://schemas.openxmlformats.org/officeDocument/2006/relationships/tags" Target="../tags/tag106.xml"/><Relationship Id="rId49" Type="http://schemas.openxmlformats.org/officeDocument/2006/relationships/tags" Target="../tags/tag145.xml"/><Relationship Id="rId48" Type="http://schemas.openxmlformats.org/officeDocument/2006/relationships/image" Target="../media/image164.png"/><Relationship Id="rId47" Type="http://schemas.openxmlformats.org/officeDocument/2006/relationships/tags" Target="../tags/tag144.xml"/><Relationship Id="rId46" Type="http://schemas.openxmlformats.org/officeDocument/2006/relationships/tags" Target="../tags/tag143.xml"/><Relationship Id="rId45" Type="http://schemas.openxmlformats.org/officeDocument/2006/relationships/tags" Target="../tags/tag142.xml"/><Relationship Id="rId44" Type="http://schemas.openxmlformats.org/officeDocument/2006/relationships/tags" Target="../tags/tag141.xml"/><Relationship Id="rId43" Type="http://schemas.openxmlformats.org/officeDocument/2006/relationships/tags" Target="../tags/tag140.xml"/><Relationship Id="rId42" Type="http://schemas.openxmlformats.org/officeDocument/2006/relationships/tags" Target="../tags/tag139.xml"/><Relationship Id="rId41" Type="http://schemas.openxmlformats.org/officeDocument/2006/relationships/image" Target="../media/image163.png"/><Relationship Id="rId40" Type="http://schemas.openxmlformats.org/officeDocument/2006/relationships/tags" Target="../tags/tag138.xml"/><Relationship Id="rId4" Type="http://schemas.openxmlformats.org/officeDocument/2006/relationships/image" Target="../media/image159.png"/><Relationship Id="rId39" Type="http://schemas.openxmlformats.org/officeDocument/2006/relationships/tags" Target="../tags/tag137.xml"/><Relationship Id="rId38" Type="http://schemas.openxmlformats.org/officeDocument/2006/relationships/tags" Target="../tags/tag136.xml"/><Relationship Id="rId37" Type="http://schemas.openxmlformats.org/officeDocument/2006/relationships/tags" Target="../tags/tag135.xml"/><Relationship Id="rId36" Type="http://schemas.openxmlformats.org/officeDocument/2006/relationships/tags" Target="../tags/tag134.xml"/><Relationship Id="rId35" Type="http://schemas.openxmlformats.org/officeDocument/2006/relationships/tags" Target="../tags/tag133.xml"/><Relationship Id="rId34" Type="http://schemas.openxmlformats.org/officeDocument/2006/relationships/tags" Target="../tags/tag132.xml"/><Relationship Id="rId33" Type="http://schemas.openxmlformats.org/officeDocument/2006/relationships/image" Target="../media/image162.png"/><Relationship Id="rId32" Type="http://schemas.openxmlformats.org/officeDocument/2006/relationships/tags" Target="../tags/tag131.xml"/><Relationship Id="rId31" Type="http://schemas.openxmlformats.org/officeDocument/2006/relationships/tags" Target="../tags/tag130.xml"/><Relationship Id="rId30" Type="http://schemas.openxmlformats.org/officeDocument/2006/relationships/tags" Target="../tags/tag129.xml"/><Relationship Id="rId3" Type="http://schemas.openxmlformats.org/officeDocument/2006/relationships/tags" Target="../tags/tag105.xml"/><Relationship Id="rId29" Type="http://schemas.openxmlformats.org/officeDocument/2006/relationships/tags" Target="../tags/tag128.xml"/><Relationship Id="rId28" Type="http://schemas.openxmlformats.org/officeDocument/2006/relationships/tags" Target="../tags/tag127.xml"/><Relationship Id="rId27" Type="http://schemas.openxmlformats.org/officeDocument/2006/relationships/tags" Target="../tags/tag126.xml"/><Relationship Id="rId26" Type="http://schemas.openxmlformats.org/officeDocument/2006/relationships/tags" Target="../tags/tag125.xml"/><Relationship Id="rId25" Type="http://schemas.openxmlformats.org/officeDocument/2006/relationships/tags" Target="../tags/tag124.xml"/><Relationship Id="rId24" Type="http://schemas.openxmlformats.org/officeDocument/2006/relationships/tags" Target="../tags/tag123.xml"/><Relationship Id="rId23" Type="http://schemas.openxmlformats.org/officeDocument/2006/relationships/image" Target="../media/image161.png"/><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tags" Target="../tags/tag104.xml"/><Relationship Id="rId19" Type="http://schemas.openxmlformats.org/officeDocument/2006/relationships/tags" Target="../tags/tag119.xml"/><Relationship Id="rId18" Type="http://schemas.openxmlformats.org/officeDocument/2006/relationships/tags" Target="../tags/tag118.xml"/><Relationship Id="rId17" Type="http://schemas.openxmlformats.org/officeDocument/2006/relationships/tags" Target="../tags/tag117.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image" Target="../media/image160.png"/><Relationship Id="rId13" Type="http://schemas.openxmlformats.org/officeDocument/2006/relationships/tags" Target="../tags/tag114.xml"/><Relationship Id="rId12" Type="http://schemas.openxmlformats.org/officeDocument/2006/relationships/tags" Target="../tags/tag113.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image" Target="../media/image158.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xml"/><Relationship Id="rId2" Type="http://schemas.openxmlformats.org/officeDocument/2006/relationships/tags" Target="../tags/tag154.xml"/><Relationship Id="rId1" Type="http://schemas.openxmlformats.org/officeDocument/2006/relationships/tags" Target="../tags/tag153.xml"/></Relationships>
</file>

<file path=ppt/slides/_rels/slide82.xml.rels><?xml version="1.0" encoding="UTF-8" standalone="yes"?>
<Relationships xmlns="http://schemas.openxmlformats.org/package/2006/relationships"><Relationship Id="rId6" Type="http://schemas.openxmlformats.org/officeDocument/2006/relationships/notesSlide" Target="../notesSlides/notesSlide76.xml"/><Relationship Id="rId5" Type="http://schemas.openxmlformats.org/officeDocument/2006/relationships/slideLayout" Target="../slideLayouts/slideLayout1.xml"/><Relationship Id="rId4" Type="http://schemas.openxmlformats.org/officeDocument/2006/relationships/image" Target="../media/image166.png"/><Relationship Id="rId3" Type="http://schemas.openxmlformats.org/officeDocument/2006/relationships/image" Target="../media/image165.png"/><Relationship Id="rId2" Type="http://schemas.openxmlformats.org/officeDocument/2006/relationships/tags" Target="../tags/tag156.xml"/><Relationship Id="rId1" Type="http://schemas.openxmlformats.org/officeDocument/2006/relationships/tags" Target="../tags/tag155.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1.xml"/><Relationship Id="rId2" Type="http://schemas.openxmlformats.org/officeDocument/2006/relationships/tags" Target="../tags/tag158.xml"/><Relationship Id="rId1" Type="http://schemas.openxmlformats.org/officeDocument/2006/relationships/tags" Target="../tags/tag157.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xml"/><Relationship Id="rId1" Type="http://schemas.openxmlformats.org/officeDocument/2006/relationships/tags" Target="../tags/tag162.xml"/></Relationships>
</file>

<file path=ppt/slides/_rels/slide89.xml.rels><?xml version="1.0" encoding="UTF-8" standalone="yes"?>
<Relationships xmlns="http://schemas.openxmlformats.org/package/2006/relationships"><Relationship Id="rId9" Type="http://schemas.openxmlformats.org/officeDocument/2006/relationships/tags" Target="../tags/tag164.xml"/><Relationship Id="rId8" Type="http://schemas.openxmlformats.org/officeDocument/2006/relationships/image" Target="../media/image173.png"/><Relationship Id="rId7" Type="http://schemas.openxmlformats.org/officeDocument/2006/relationships/image" Target="../media/image172.png"/><Relationship Id="rId6" Type="http://schemas.openxmlformats.org/officeDocument/2006/relationships/tags" Target="../tags/tag163.xml"/><Relationship Id="rId5" Type="http://schemas.openxmlformats.org/officeDocument/2006/relationships/image" Target="../media/image171.png"/><Relationship Id="rId4" Type="http://schemas.openxmlformats.org/officeDocument/2006/relationships/image" Target="../media/image170.png"/><Relationship Id="rId3" Type="http://schemas.openxmlformats.org/officeDocument/2006/relationships/image" Target="../media/image169.png"/><Relationship Id="rId2" Type="http://schemas.openxmlformats.org/officeDocument/2006/relationships/image" Target="../media/image168.png"/><Relationship Id="rId11" Type="http://schemas.openxmlformats.org/officeDocument/2006/relationships/notesSlide" Target="../notesSlides/notesSlide80.xml"/><Relationship Id="rId10" Type="http://schemas.openxmlformats.org/officeDocument/2006/relationships/slideLayout" Target="../slideLayouts/slideLayout1.xml"/><Relationship Id="rId1" Type="http://schemas.openxmlformats.org/officeDocument/2006/relationships/image" Target="../media/image16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81.png"/><Relationship Id="rId7" Type="http://schemas.openxmlformats.org/officeDocument/2006/relationships/image" Target="../media/image180.png"/><Relationship Id="rId6" Type="http://schemas.openxmlformats.org/officeDocument/2006/relationships/image" Target="../media/image179.jpeg"/><Relationship Id="rId5" Type="http://schemas.openxmlformats.org/officeDocument/2006/relationships/image" Target="../media/image178.jpeg"/><Relationship Id="rId4" Type="http://schemas.openxmlformats.org/officeDocument/2006/relationships/image" Target="../media/image177.png"/><Relationship Id="rId3" Type="http://schemas.openxmlformats.org/officeDocument/2006/relationships/image" Target="../media/image176.png"/><Relationship Id="rId2" Type="http://schemas.openxmlformats.org/officeDocument/2006/relationships/image" Target="../media/image175.jpeg"/><Relationship Id="rId10" Type="http://schemas.openxmlformats.org/officeDocument/2006/relationships/notesSlide" Target="../notesSlides/notesSlide83.xml"/><Relationship Id="rId1" Type="http://schemas.openxmlformats.org/officeDocument/2006/relationships/image" Target="../media/image1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0" y="1673225"/>
            <a:ext cx="12192000"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rPr>
              <a:t>《页岩气井缝网压裂效果评估指标体系建立</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rPr>
              <a:t>与动态评价方法研究》</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sym typeface="+mn-ea"/>
              </a:rPr>
              <a:t>阶段审查汇报</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p:txBody>
      </p:sp>
      <p:sp>
        <p:nvSpPr>
          <p:cNvPr id="10" name="Text Box 4"/>
          <p:cNvSpPr txBox="1">
            <a:spLocks noChangeArrowheads="1"/>
          </p:cNvSpPr>
          <p:nvPr/>
        </p:nvSpPr>
        <p:spPr bwMode="auto">
          <a:xfrm>
            <a:off x="1" y="5581364"/>
            <a:ext cx="12192000" cy="78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承担单位：中国石油大学（北京）</a:t>
            </a:r>
            <a:endParaRPr lang="en-US" altLang="zh-CN" b="1" dirty="0">
              <a:solidFill>
                <a:srgbClr val="000000"/>
              </a:solidFill>
              <a:latin typeface="楷体" panose="02010609060101010101" pitchFamily="49" charset="-122"/>
              <a:ea typeface="楷体" panose="02010609060101010101" pitchFamily="49" charset="-122"/>
            </a:endParaRPr>
          </a:p>
          <a:p>
            <a:pPr algn="ctr" eaLnBrk="1" hangingPunct="1">
              <a:spcBef>
                <a:spcPct val="50000"/>
              </a:spcBef>
            </a:pPr>
            <a:r>
              <a:rPr lang="en-US" altLang="zh-CN" b="1" dirty="0">
                <a:solidFill>
                  <a:srgbClr val="000000"/>
                </a:solidFill>
                <a:latin typeface="楷体" panose="02010609060101010101" pitchFamily="49" charset="-122"/>
                <a:ea typeface="楷体" panose="02010609060101010101" pitchFamily="49" charset="-122"/>
              </a:rPr>
              <a:t>2025</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11</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28</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2" name="矩形 3"/>
          <p:cNvSpPr>
            <a:spLocks noChangeArrowheads="1"/>
          </p:cNvSpPr>
          <p:nvPr/>
        </p:nvSpPr>
        <p:spPr bwMode="auto">
          <a:xfrm>
            <a:off x="0" y="4294579"/>
            <a:ext cx="121920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0000"/>
                </a:solidFill>
                <a:latin typeface="方正大黑简体" panose="02000000000000000000" pitchFamily="65" charset="-122"/>
                <a:ea typeface="方正大黑简体" panose="02000000000000000000" pitchFamily="65" charset="-122"/>
              </a:rPr>
              <a:t>项目经理：胡晓东（研究员）</a:t>
            </a:r>
            <a:endParaRPr lang="en-US" altLang="zh-CN" sz="2400" b="1" dirty="0">
              <a:solidFill>
                <a:srgbClr val="00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2400" b="1" dirty="0">
                <a:solidFill>
                  <a:srgbClr val="000000"/>
                </a:solidFill>
                <a:latin typeface="方正大黑简体" panose="02000000000000000000" pitchFamily="65" charset="-122"/>
                <a:ea typeface="方正大黑简体" panose="02000000000000000000" pitchFamily="65" charset="-122"/>
              </a:rPr>
              <a:t>汇 报 人：胡晓东（研究员）</a:t>
            </a:r>
            <a:endParaRPr lang="zh-CN" altLang="en-US" sz="2400" b="1"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506095" y="1866900"/>
          <a:ext cx="11192510" cy="4102735"/>
        </p:xfrm>
        <a:graphic>
          <a:graphicData uri="http://schemas.openxmlformats.org/drawingml/2006/table">
            <a:tbl>
              <a:tblPr bandRow="1">
                <a:tableStyleId>{5940675A-B579-460E-94D1-54222C63F5DA}</a:tableStyleId>
              </a:tblPr>
              <a:tblGrid>
                <a:gridCol w="2611755"/>
                <a:gridCol w="8580755"/>
              </a:tblGrid>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项目名称</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u="none" strike="noStrike" dirty="0">
                          <a:effectLst/>
                          <a:latin typeface="微软雅黑" panose="020B0503020204020204" pitchFamily="34" charset="-122"/>
                          <a:ea typeface="微软雅黑" panose="020B0503020204020204" pitchFamily="34" charset="-122"/>
                        </a:rPr>
                        <a:t>页岩气井缝网压裂效果评估指标体系建立与动态评价方法研究</a:t>
                      </a:r>
                      <a:endParaRPr lang="zh-CN" alt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合同编号</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XNS</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页岩院</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 JS2025-38</a:t>
                      </a:r>
                      <a:endPar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项目编号</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en-US" sz="1200" u="none" strike="noStrike" dirty="0">
                          <a:effectLst/>
                          <a:latin typeface="微软雅黑" panose="020B0503020204020204" pitchFamily="34" charset="-122"/>
                          <a:ea typeface="微软雅黑" panose="020B0503020204020204" pitchFamily="34" charset="-122"/>
                        </a:rPr>
                        <a:t>2025-9710</a:t>
                      </a:r>
                      <a:endParaRPr 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项目隶属关系</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西南油气田页研院</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年对外合作项目</a:t>
                      </a:r>
                      <a:endPar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承担单位</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u="none" strike="noStrike" dirty="0">
                          <a:effectLst/>
                          <a:latin typeface="微软雅黑" panose="020B0503020204020204" pitchFamily="34" charset="-122"/>
                          <a:ea typeface="微软雅黑" panose="020B0503020204020204" pitchFamily="34" charset="-122"/>
                        </a:rPr>
                        <a:t>中国石油大学（北京）</a:t>
                      </a:r>
                      <a:endParaRPr lang="zh-CN" alt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涉及学科</a:t>
                      </a:r>
                      <a:r>
                        <a:rPr lang="en-US" altLang="zh-CN"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专业</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u="none" strike="noStrike" dirty="0">
                          <a:effectLst/>
                          <a:latin typeface="微软雅黑" panose="020B0503020204020204" pitchFamily="34" charset="-122"/>
                          <a:ea typeface="微软雅黑" panose="020B0503020204020204" pitchFamily="34" charset="-122"/>
                        </a:rPr>
                        <a:t>石油与天然气工程</a:t>
                      </a:r>
                      <a:endParaRPr lang="zh-CN" alt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项目起止时间</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月 </a:t>
                      </a:r>
                      <a:endPar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一、项目</a:t>
            </a: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来源</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本项目来源于院级科研项目</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页岩气井缝网压裂效果评估指标体系建立与动态评价方法研究</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，由西南油气田分公司页岩气研究院委托中国石油大学（北京）承担，研究时间 </a:t>
            </a:r>
            <a:r>
              <a:rPr lang="en-US" altLang="zh-CN" sz="1600" dirty="0">
                <a:solidFill>
                  <a:prstClr val="black"/>
                </a:solidFill>
                <a:latin typeface="微软雅黑" panose="020B0503020204020204" pitchFamily="34" charset="-122"/>
                <a:ea typeface="微软雅黑" panose="020B0503020204020204" pitchFamily="34" charset="-122"/>
              </a:rPr>
              <a:t>2025</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7</a:t>
            </a:r>
            <a:r>
              <a:rPr lang="zh-CN" altLang="en-US" sz="1600" dirty="0">
                <a:solidFill>
                  <a:prstClr val="black"/>
                </a:solidFill>
                <a:latin typeface="微软雅黑" panose="020B0503020204020204" pitchFamily="34" charset="-122"/>
                <a:ea typeface="微软雅黑" panose="020B0503020204020204" pitchFamily="34" charset="-122"/>
              </a:rPr>
              <a:t>月</a:t>
            </a:r>
            <a:r>
              <a:rPr lang="en-US" altLang="zh-CN" sz="1600" dirty="0">
                <a:solidFill>
                  <a:prstClr val="black"/>
                </a:solidFill>
                <a:latin typeface="微软雅黑" panose="020B0503020204020204" pitchFamily="34" charset="-122"/>
                <a:ea typeface="微软雅黑" panose="020B0503020204020204" pitchFamily="34" charset="-122"/>
              </a:rPr>
              <a:t>~2026</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12</a:t>
            </a:r>
            <a:r>
              <a:rPr lang="zh-CN" altLang="en-US" sz="1600" dirty="0">
                <a:solidFill>
                  <a:prstClr val="black"/>
                </a:solidFill>
                <a:latin typeface="微软雅黑" panose="020B0503020204020204" pitchFamily="34" charset="-122"/>
                <a:ea typeface="微软雅黑" panose="020B0503020204020204" pitchFamily="34" charset="-122"/>
              </a:rPr>
              <a:t>月。主要研究工区位于川南页岩区块</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二、项目</a:t>
            </a:r>
            <a:r>
              <a:rPr lang="zh-CN" altLang="en-US" sz="2400" b="1" kern="0" dirty="0">
                <a:solidFill>
                  <a:srgbClr val="FF0000"/>
                </a:solidFill>
                <a:latin typeface="微软雅黑" panose="020B0503020204020204" pitchFamily="34" charset="-122"/>
                <a:ea typeface="微软雅黑" panose="020B0503020204020204" pitchFamily="34" charset="-122"/>
                <a:sym typeface="+mn-ea"/>
              </a:rPr>
              <a:t>研究内容与目标</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230695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研究内容：</a:t>
            </a:r>
            <a:r>
              <a:rPr lang="zh-CN" altLang="en-US" sz="1600" dirty="0">
                <a:solidFill>
                  <a:prstClr val="black"/>
                </a:solidFill>
                <a:latin typeface="微软雅黑" panose="020B0503020204020204" pitchFamily="34" charset="-122"/>
                <a:ea typeface="微软雅黑" panose="020B0503020204020204" pitchFamily="34" charset="-122"/>
                <a:sym typeface="+mn-ea"/>
              </a:rPr>
              <a:t>针对川南地区页岩气高效开发面临的压裂评估诊断技术难点，设置</a:t>
            </a:r>
            <a:r>
              <a:rPr lang="en-US" altLang="zh-CN" sz="1600" dirty="0">
                <a:solidFill>
                  <a:srgbClr val="FF0000"/>
                </a:solidFill>
                <a:latin typeface="微软雅黑" panose="020B0503020204020204" pitchFamily="34" charset="-122"/>
                <a:ea typeface="微软雅黑" panose="020B0503020204020204" pitchFamily="34" charset="-122"/>
                <a:sym typeface="+mn-ea"/>
              </a:rPr>
              <a:t>4</a:t>
            </a:r>
            <a:r>
              <a:rPr lang="zh-CN" altLang="en-US" sz="1600" dirty="0">
                <a:solidFill>
                  <a:prstClr val="black"/>
                </a:solidFill>
                <a:latin typeface="微软雅黑" panose="020B0503020204020204" pitchFamily="34" charset="-122"/>
                <a:ea typeface="微软雅黑" panose="020B0503020204020204" pitchFamily="34" charset="-122"/>
                <a:sym typeface="+mn-ea"/>
              </a:rPr>
              <a:t>个研究内容，开展</a:t>
            </a:r>
            <a:r>
              <a:rPr lang="zh-CN" altLang="en-US" sz="1600" dirty="0">
                <a:solidFill>
                  <a:srgbClr val="FF0000"/>
                </a:solidFill>
                <a:latin typeface="微软雅黑" panose="020B0503020204020204" pitchFamily="34" charset="-122"/>
                <a:ea typeface="微软雅黑" panose="020B0503020204020204" pitchFamily="34" charset="-122"/>
                <a:sym typeface="+mn-ea"/>
              </a:rPr>
              <a:t>页岩气井压裂效果评价技术体系研究、页岩气井压裂效果量化评价指标权重分析、压裂效果综合量化评价指标建立与验证、压裂效果综合评估方法应用及优化</a:t>
            </a:r>
            <a:r>
              <a:rPr lang="zh-CN" altLang="en-US" sz="1600" dirty="0">
                <a:solidFill>
                  <a:prstClr val="black"/>
                </a:solidFill>
                <a:latin typeface="微软雅黑" panose="020B0503020204020204" pitchFamily="34" charset="-122"/>
                <a:ea typeface="微软雅黑" panose="020B0503020204020204" pitchFamily="34" charset="-122"/>
                <a:sym typeface="+mn-ea"/>
              </a:rPr>
              <a:t>研究</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研究目标：</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针对川南地区页岩气井压裂现场施工资料开展诊断评估研究。结合所内现有压裂评估技术，引入小波分析与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 G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函数理论，揭示施工曲线特征与井下压裂事件的响应机理。围绕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改造体积、裂缝复杂度与导流能力</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三大指标，建立多源融合的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压裂效果量化评价体系</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，形成经济高效、可推广的压裂效果评估技术，精准量化改造效果，支撑川南页岩气高效开发</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048649" name="TextBox 7"/>
          <p:cNvSpPr txBox="1"/>
          <p:nvPr/>
        </p:nvSpPr>
        <p:spPr bwMode="auto">
          <a:xfrm>
            <a:off x="3258820" y="3222625"/>
            <a:ext cx="5673725" cy="2853690"/>
          </a:xfrm>
          <a:prstGeom prst="rect">
            <a:avLst/>
          </a:prstGeom>
          <a:noFill/>
          <a:ln>
            <a:noFill/>
          </a:ln>
        </p:spPr>
        <p:txBody>
          <a:bodyPr wrap="square">
            <a:no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研究内容一：</a:t>
            </a:r>
            <a:r>
              <a:rPr lang="zh-CN" altLang="en-US" kern="0" dirty="0">
                <a:solidFill>
                  <a:schemeClr val="tx1"/>
                </a:solidFill>
                <a:latin typeface="微软雅黑" panose="020B0503020204020204" pitchFamily="34" charset="-122"/>
                <a:ea typeface="微软雅黑" panose="020B0503020204020204" pitchFamily="34" charset="-122"/>
              </a:rPr>
              <a:t>页岩气井压裂效果评价技术体系研究</a:t>
            </a:r>
            <a:endParaRPr lang="zh-CN" altLang="en-US"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研究内容二：</a:t>
            </a:r>
            <a:r>
              <a:rPr lang="zh-CN" altLang="en-US" kern="0" dirty="0">
                <a:solidFill>
                  <a:schemeClr val="tx1"/>
                </a:solidFill>
                <a:latin typeface="微软雅黑" panose="020B0503020204020204" pitchFamily="34" charset="-122"/>
                <a:ea typeface="微软雅黑" panose="020B0503020204020204" pitchFamily="34" charset="-122"/>
              </a:rPr>
              <a:t>页岩气井压裂效果量化评价指标权重分析</a:t>
            </a:r>
            <a:endParaRPr lang="zh-CN" altLang="en-US"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研究内容三：</a:t>
            </a:r>
            <a:r>
              <a:rPr lang="zh-CN" altLang="en-US" kern="0" dirty="0">
                <a:solidFill>
                  <a:schemeClr val="tx1"/>
                </a:solidFill>
                <a:latin typeface="微软雅黑" panose="020B0503020204020204" pitchFamily="34" charset="-122"/>
                <a:ea typeface="微软雅黑" panose="020B0503020204020204" pitchFamily="34" charset="-122"/>
              </a:rPr>
              <a:t>压裂效果综合量化评价指标建立与验证</a:t>
            </a:r>
            <a:endParaRPr lang="zh-CN" altLang="en-US"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研究内容四：</a:t>
            </a:r>
            <a:r>
              <a:rPr lang="zh-CN" altLang="en-US" kern="0" dirty="0">
                <a:solidFill>
                  <a:schemeClr val="tx1"/>
                </a:solidFill>
                <a:latin typeface="微软雅黑" panose="020B0503020204020204" pitchFamily="34" charset="-122"/>
                <a:ea typeface="微软雅黑" panose="020B0503020204020204" pitchFamily="34" charset="-122"/>
              </a:rPr>
              <a:t>压裂效果综合评估方法应用及优化</a:t>
            </a:r>
            <a:endParaRPr lang="zh-CN" altLang="en-US"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bwMode="auto">
          <a:xfrm>
            <a:off x="431799" y="927848"/>
            <a:ext cx="11658600" cy="411203"/>
          </a:xfrm>
          <a:prstGeom prst="rect">
            <a:avLst/>
          </a:prstGeom>
          <a:noFill/>
          <a:ln>
            <a:noFill/>
          </a:ln>
        </p:spPr>
        <p:txBody>
          <a:bodyPr wrap="square" lIns="0" tIns="0" rIns="0" bIns="0">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0" marR="0" lvl="0" indent="0" algn="just" defTabSz="914400" rtl="0" eaLnBrk="1" fontAlgn="auto" latinLnBrk="0" hangingPunct="1">
              <a:lnSpc>
                <a:spcPct val="150000"/>
              </a:lnSpc>
              <a:spcBef>
                <a:spcPts val="0"/>
              </a:spcBef>
              <a:spcAft>
                <a:spcPts val="0"/>
              </a:spcAft>
              <a:buClr>
                <a:srgbClr val="FF0000"/>
              </a:buClr>
              <a:buSzTx/>
              <a:buFontTx/>
              <a:buNone/>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9"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三、主要技术经济考核指标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1" name="矩形 6"/>
          <p:cNvSpPr>
            <a:spLocks noChangeArrowheads="1"/>
          </p:cNvSpPr>
          <p:nvPr/>
        </p:nvSpPr>
        <p:spPr bwMode="auto">
          <a:xfrm>
            <a:off x="668020" y="1743075"/>
            <a:ext cx="5073650" cy="1322070"/>
          </a:xfrm>
          <a:prstGeom prst="rect">
            <a:avLst/>
          </a:prstGeom>
          <a:noFill/>
          <a:ln>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0" fontAlgn="base" hangingPunct="0">
              <a:lnSpc>
                <a:spcPct val="250000"/>
              </a:lnSpc>
              <a:spcBef>
                <a:spcPct val="0"/>
              </a:spcBef>
              <a:spcAft>
                <a:spcPct val="0"/>
              </a:spcAft>
              <a:buFontTx/>
              <a:buNone/>
              <a:defRPr/>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、建立</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套压裂效果综合评估指标体系及方法</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0" fontAlgn="base" hangingPunct="0">
              <a:lnSpc>
                <a:spcPct val="250000"/>
              </a:lnSpc>
              <a:spcBef>
                <a:spcPct val="0"/>
              </a:spcBef>
              <a:spcAft>
                <a:spcPct val="0"/>
              </a:spcAft>
              <a:buFontTx/>
              <a:buNone/>
              <a:defRPr/>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、压裂效果综合评估方法现场应用不少于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井次</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 name="组合 12"/>
          <p:cNvGrpSpPr/>
          <p:nvPr/>
        </p:nvGrpSpPr>
        <p:grpSpPr>
          <a:xfrm>
            <a:off x="505644" y="1076441"/>
            <a:ext cx="1933164" cy="644388"/>
            <a:chOff x="503405" y="1575997"/>
            <a:chExt cx="1190552" cy="677869"/>
          </a:xfrm>
        </p:grpSpPr>
        <p:sp>
          <p:nvSpPr>
            <p:cNvPr id="14"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技术经济指标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505643" y="3485639"/>
            <a:ext cx="1937625" cy="645875"/>
            <a:chOff x="503405" y="1575997"/>
            <a:chExt cx="1190552" cy="677869"/>
          </a:xfrm>
        </p:grpSpPr>
        <p:sp>
          <p:nvSpPr>
            <p:cNvPr id="20"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知识产权指标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2" name="矩形 21"/>
          <p:cNvSpPr/>
          <p:nvPr/>
        </p:nvSpPr>
        <p:spPr>
          <a:xfrm>
            <a:off x="668020" y="4202430"/>
            <a:ext cx="5569585" cy="1322070"/>
          </a:xfrm>
          <a:prstGeom prst="rect">
            <a:avLst/>
          </a:prstGeom>
        </p:spPr>
        <p:txBody>
          <a:bodyPr wrap="square">
            <a:spAutoFit/>
          </a:bodyPr>
          <a:lstStyle/>
          <a:p>
            <a:pPr marL="88900" lvl="1" indent="-88900" algn="just" eaLnBrk="0" fontAlgn="base" hangingPunct="0">
              <a:lnSpc>
                <a:spcPct val="250000"/>
              </a:lnSpc>
              <a:spcBef>
                <a:spcPct val="0"/>
              </a:spcBef>
              <a:spcAft>
                <a:spcPct val="0"/>
              </a:spcAft>
              <a:defRPr/>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、提交发明专利文本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件</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88900" lvl="1" indent="-88900" algn="just" eaLnBrk="0" fontAlgn="base" hangingPunct="0">
              <a:lnSpc>
                <a:spcPct val="250000"/>
              </a:lnSpc>
              <a:spcBef>
                <a:spcPct val="0"/>
              </a:spcBef>
              <a:spcAft>
                <a:spcPct val="0"/>
              </a:spcAft>
              <a:defRPr/>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、提交论文文本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篇</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bwMode="auto">
          <a:xfrm>
            <a:off x="431799" y="927848"/>
            <a:ext cx="11658600" cy="411203"/>
          </a:xfrm>
          <a:prstGeom prst="rect">
            <a:avLst/>
          </a:prstGeom>
          <a:noFill/>
          <a:ln>
            <a:noFill/>
          </a:ln>
        </p:spPr>
        <p:txBody>
          <a:bodyPr wrap="square" lIns="0" tIns="0" rIns="0" bIns="0">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0" marR="0" lvl="0" indent="0" algn="just" defTabSz="914400" rtl="0" eaLnBrk="1" fontAlgn="auto" latinLnBrk="0" hangingPunct="1">
              <a:lnSpc>
                <a:spcPct val="150000"/>
              </a:lnSpc>
              <a:spcBef>
                <a:spcPts val="0"/>
              </a:spcBef>
              <a:spcAft>
                <a:spcPts val="0"/>
              </a:spcAft>
              <a:buClr>
                <a:srgbClr val="FF0000"/>
              </a:buClr>
              <a:buSzTx/>
              <a:buFontTx/>
              <a:buNone/>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9"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四、项目研究技术路线</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分为</a:t>
            </a:r>
            <a:r>
              <a:rPr lang="zh-CN" altLang="en-US" sz="1600" dirty="0">
                <a:solidFill>
                  <a:srgbClr val="FF0000"/>
                </a:solidFill>
                <a:latin typeface="微软雅黑" panose="020B0503020204020204" pitchFamily="34" charset="-122"/>
                <a:ea typeface="微软雅黑" panose="020B0503020204020204" pitchFamily="34" charset="-122"/>
                <a:sym typeface="+mn-ea"/>
              </a:rPr>
              <a:t>页岩气井压裂效果评价技术体系研究、页岩气井压裂效果量化评价指标权重分析、压裂效果综合量化评价指标建立与验证、压裂效果综合评估方法应用及优化</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四方面进行</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0" name="矩形 9"/>
          <p:cNvSpPr/>
          <p:nvPr/>
        </p:nvSpPr>
        <p:spPr>
          <a:xfrm>
            <a:off x="490345" y="2284095"/>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调研国内外压裂效果评价技术与发展现状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490345" y="337777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梳理所内现有评估方法，设计评价框架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490345" y="447124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形成技术调研报告与研究路线</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3457837" y="2282190"/>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建立曲线小波变换特征与改造体积关联</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 name="矩形 3"/>
          <p:cNvSpPr/>
          <p:nvPr/>
        </p:nvSpPr>
        <p:spPr>
          <a:xfrm>
            <a:off x="3457837" y="3377135"/>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建立曲线</a:t>
            </a:r>
            <a:r>
              <a:rPr lang="en-US" altLang="zh-CN" dirty="0">
                <a:solidFill>
                  <a:schemeClr val="tx1"/>
                </a:solidFill>
                <a:latin typeface="微软雅黑" panose="020B0503020204020204" pitchFamily="34" charset="-122"/>
                <a:ea typeface="微软雅黑" panose="020B0503020204020204" pitchFamily="34" charset="-122"/>
              </a:rPr>
              <a:t>G</a:t>
            </a:r>
            <a:r>
              <a:rPr lang="zh-CN" altLang="en-US" dirty="0">
                <a:solidFill>
                  <a:schemeClr val="tx1"/>
                </a:solidFill>
                <a:latin typeface="微软雅黑" panose="020B0503020204020204" pitchFamily="34" charset="-122"/>
                <a:ea typeface="微软雅黑" panose="020B0503020204020204" pitchFamily="34" charset="-122"/>
              </a:rPr>
              <a:t>函数特征与裂缝复杂度关联</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3458472" y="4471875"/>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建立施工曲线标准化分析流程</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6425192" y="2270125"/>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结合现有技术与小波、</a:t>
            </a:r>
            <a:r>
              <a:rPr lang="en-US" altLang="zh-CN" dirty="0">
                <a:solidFill>
                  <a:schemeClr val="tx1"/>
                </a:solidFill>
                <a:latin typeface="微软雅黑" panose="020B0503020204020204" pitchFamily="34" charset="-122"/>
                <a:ea typeface="微软雅黑" panose="020B0503020204020204" pitchFamily="34" charset="-122"/>
              </a:rPr>
              <a:t>G</a:t>
            </a:r>
            <a:r>
              <a:rPr lang="zh-CN" altLang="en-US" dirty="0">
                <a:solidFill>
                  <a:schemeClr val="tx1"/>
                </a:solidFill>
                <a:latin typeface="微软雅黑" panose="020B0503020204020204" pitchFamily="34" charset="-122"/>
                <a:ea typeface="微软雅黑" panose="020B0503020204020204" pitchFamily="34" charset="-122"/>
              </a:rPr>
              <a:t>函数分析结果</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 name="矩形 4"/>
          <p:cNvSpPr/>
          <p:nvPr/>
        </p:nvSpPr>
        <p:spPr>
          <a:xfrm>
            <a:off x="6425192" y="337396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建立量化指标体系，确定权重分配机制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6425192" y="447759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构建压裂效果综合评价模型并验证可靠性</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9392547" y="2264410"/>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选取典型井开展现场应用验证与精度评估</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9392547" y="337015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多井统计分析验证方法普适性与稳定性</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4" name="矩形 23"/>
          <p:cNvSpPr/>
          <p:nvPr/>
        </p:nvSpPr>
        <p:spPr>
          <a:xfrm>
            <a:off x="9392547" y="4475685"/>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不断优化模型参数，形成标准化技术体系</a:t>
            </a:r>
            <a:r>
              <a:rPr lang="en-US" altLang="zh-CN" dirty="0">
                <a:solidFill>
                  <a:schemeClr val="tx1"/>
                </a:solidFill>
                <a:latin typeface="微软雅黑" panose="020B0503020204020204" pitchFamily="34" charset="-122"/>
                <a:ea typeface="微软雅黑" panose="020B0503020204020204" pitchFamily="34" charset="-122"/>
              </a:rPr>
              <a:t> </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26" name="文本框 1"/>
          <p:cNvSpPr txBox="1">
            <a:spLocks noChangeArrowheads="1"/>
          </p:cNvSpPr>
          <p:nvPr/>
        </p:nvSpPr>
        <p:spPr bwMode="auto">
          <a:xfrm>
            <a:off x="220345" y="1805065"/>
            <a:ext cx="2880000"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压裂效果评价技术调研</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7" name="文本框 1"/>
          <p:cNvSpPr txBox="1">
            <a:spLocks noChangeArrowheads="1"/>
          </p:cNvSpPr>
          <p:nvPr/>
        </p:nvSpPr>
        <p:spPr bwMode="auto">
          <a:xfrm>
            <a:off x="3187975" y="1799985"/>
            <a:ext cx="2879725"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压裂曲线分析机理研究</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8" name="文本框 1"/>
          <p:cNvSpPr txBox="1">
            <a:spLocks noChangeArrowheads="1"/>
          </p:cNvSpPr>
          <p:nvPr/>
        </p:nvSpPr>
        <p:spPr bwMode="auto">
          <a:xfrm>
            <a:off x="6155330" y="1789430"/>
            <a:ext cx="2879725"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综合量化指标与权重确立</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9" name="文本框 1"/>
          <p:cNvSpPr txBox="1">
            <a:spLocks noChangeArrowheads="1"/>
          </p:cNvSpPr>
          <p:nvPr/>
        </p:nvSpPr>
        <p:spPr bwMode="auto">
          <a:xfrm>
            <a:off x="9122685" y="1787285"/>
            <a:ext cx="2879725"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综合评估方法应用与优化</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30" name="直接箭头连接符 29"/>
          <p:cNvCxnSpPr>
            <a:stCxn id="10" idx="2"/>
            <a:endCxn id="2" idx="0"/>
          </p:cNvCxnSpPr>
          <p:nvPr/>
        </p:nvCxnSpPr>
        <p:spPr>
          <a:xfrm>
            <a:off x="1660345" y="3184095"/>
            <a:ext cx="0" cy="19367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1" name="直接箭头连接符 30"/>
          <p:cNvCxnSpPr>
            <a:stCxn id="2" idx="2"/>
            <a:endCxn id="12" idx="0"/>
          </p:cNvCxnSpPr>
          <p:nvPr/>
        </p:nvCxnSpPr>
        <p:spPr>
          <a:xfrm>
            <a:off x="1660345" y="4277565"/>
            <a:ext cx="0" cy="19367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2" name="直接箭头连接符 31"/>
          <p:cNvCxnSpPr>
            <a:stCxn id="3" idx="2"/>
            <a:endCxn id="4" idx="0"/>
          </p:cNvCxnSpPr>
          <p:nvPr/>
        </p:nvCxnSpPr>
        <p:spPr>
          <a:xfrm>
            <a:off x="4627837" y="3181985"/>
            <a:ext cx="0" cy="19494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4" idx="2"/>
            <a:endCxn id="15" idx="0"/>
          </p:cNvCxnSpPr>
          <p:nvPr/>
        </p:nvCxnSpPr>
        <p:spPr>
          <a:xfrm>
            <a:off x="4627837" y="4276725"/>
            <a:ext cx="635" cy="19494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4" name="直接箭头连接符 33"/>
          <p:cNvCxnSpPr>
            <a:stCxn id="17" idx="2"/>
            <a:endCxn id="5" idx="0"/>
          </p:cNvCxnSpPr>
          <p:nvPr/>
        </p:nvCxnSpPr>
        <p:spPr>
          <a:xfrm>
            <a:off x="7595192" y="3169920"/>
            <a:ext cx="0" cy="20383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5" name="直接箭头连接符 34"/>
          <p:cNvCxnSpPr>
            <a:stCxn id="5" idx="2"/>
            <a:endCxn id="6" idx="0"/>
          </p:cNvCxnSpPr>
          <p:nvPr/>
        </p:nvCxnSpPr>
        <p:spPr>
          <a:xfrm>
            <a:off x="7595192" y="4273550"/>
            <a:ext cx="0" cy="20383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66" name="直接箭头连接符 65"/>
          <p:cNvCxnSpPr>
            <a:stCxn id="16" idx="2"/>
            <a:endCxn id="23" idx="0"/>
          </p:cNvCxnSpPr>
          <p:nvPr/>
        </p:nvCxnSpPr>
        <p:spPr>
          <a:xfrm>
            <a:off x="10562547" y="3164205"/>
            <a:ext cx="0" cy="20574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69" name="直接箭头连接符 68"/>
          <p:cNvCxnSpPr>
            <a:stCxn id="23" idx="2"/>
            <a:endCxn id="24" idx="0"/>
          </p:cNvCxnSpPr>
          <p:nvPr/>
        </p:nvCxnSpPr>
        <p:spPr>
          <a:xfrm>
            <a:off x="10562547" y="4269740"/>
            <a:ext cx="0" cy="20574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70" name="矩形 69"/>
          <p:cNvSpPr/>
          <p:nvPr/>
        </p:nvSpPr>
        <p:spPr>
          <a:xfrm>
            <a:off x="2495550" y="5958205"/>
            <a:ext cx="7200000" cy="37973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建立一套压裂效果综合评估指标体系及方法</a:t>
            </a: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82" name="肘形连接符 81"/>
          <p:cNvCxnSpPr>
            <a:stCxn id="12" idx="2"/>
            <a:endCxn id="70" idx="0"/>
          </p:cNvCxnSpPr>
          <p:nvPr/>
        </p:nvCxnSpPr>
        <p:spPr>
          <a:xfrm rot="5400000" flipV="1">
            <a:off x="3584575" y="3446780"/>
            <a:ext cx="587375" cy="4435475"/>
          </a:xfrm>
          <a:prstGeom prst="bentConnector3">
            <a:avLst>
              <a:gd name="adj1" fmla="val 50054"/>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83" name="肘形连接符 82"/>
          <p:cNvCxnSpPr>
            <a:stCxn id="24" idx="2"/>
            <a:endCxn id="70" idx="0"/>
          </p:cNvCxnSpPr>
          <p:nvPr/>
        </p:nvCxnSpPr>
        <p:spPr>
          <a:xfrm rot="5400000">
            <a:off x="8037830" y="3433445"/>
            <a:ext cx="582930" cy="4466590"/>
          </a:xfrm>
          <a:prstGeom prst="bentConnector3">
            <a:avLst>
              <a:gd name="adj1" fmla="val 50000"/>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1" name="右箭头 10"/>
          <p:cNvSpPr/>
          <p:nvPr/>
        </p:nvSpPr>
        <p:spPr>
          <a:xfrm>
            <a:off x="2967990" y="480949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3" name="右箭头 12"/>
          <p:cNvSpPr/>
          <p:nvPr/>
        </p:nvSpPr>
        <p:spPr>
          <a:xfrm>
            <a:off x="5901055" y="480949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4" name="右箭头 13"/>
          <p:cNvSpPr/>
          <p:nvPr/>
        </p:nvSpPr>
        <p:spPr>
          <a:xfrm>
            <a:off x="8868410" y="480949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4365" y="915408"/>
            <a:ext cx="11594483"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项目研究周期为</a:t>
            </a:r>
            <a:r>
              <a:rPr lang="en-US" altLang="zh-CN" sz="1600" dirty="0">
                <a:solidFill>
                  <a:prstClr val="black"/>
                </a:solidFill>
                <a:latin typeface="微软雅黑" panose="020B0503020204020204" pitchFamily="34" charset="-122"/>
                <a:ea typeface="微软雅黑" panose="020B0503020204020204" pitchFamily="34" charset="-122"/>
              </a:rPr>
              <a:t>5</a:t>
            </a:r>
            <a:r>
              <a:rPr lang="zh-CN" altLang="en-US" sz="1600" dirty="0">
                <a:solidFill>
                  <a:prstClr val="black"/>
                </a:solidFill>
                <a:latin typeface="微软雅黑" panose="020B0503020204020204" pitchFamily="34" charset="-122"/>
                <a:ea typeface="微软雅黑" panose="020B0503020204020204" pitchFamily="34" charset="-122"/>
              </a:rPr>
              <a:t>个月，按照项目研究内容，总共分为</a:t>
            </a:r>
            <a:r>
              <a:rPr lang="en-US" altLang="zh-CN" sz="1600" dirty="0">
                <a:solidFill>
                  <a:prstClr val="black"/>
                </a:solidFill>
                <a:latin typeface="微软雅黑" panose="020B0503020204020204" pitchFamily="34" charset="-122"/>
                <a:ea typeface="微软雅黑" panose="020B0503020204020204" pitchFamily="34" charset="-122"/>
              </a:rPr>
              <a:t>5</a:t>
            </a:r>
            <a:r>
              <a:rPr lang="zh-CN" altLang="en-US" sz="1600" dirty="0">
                <a:solidFill>
                  <a:prstClr val="black"/>
                </a:solidFill>
                <a:latin typeface="微软雅黑" panose="020B0503020204020204" pitchFamily="34" charset="-122"/>
                <a:ea typeface="微软雅黑" panose="020B0503020204020204" pitchFamily="34" charset="-122"/>
              </a:rPr>
              <a:t>个阶段有序开展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344170" y="1416050"/>
          <a:ext cx="11486515" cy="4836795"/>
        </p:xfrm>
        <a:graphic>
          <a:graphicData uri="http://schemas.openxmlformats.org/drawingml/2006/table">
            <a:tbl>
              <a:tblPr firstRow="1" bandRow="1">
                <a:effectLst/>
              </a:tblPr>
              <a:tblGrid>
                <a:gridCol w="874395"/>
                <a:gridCol w="1664335"/>
                <a:gridCol w="3399155"/>
                <a:gridCol w="4598670"/>
                <a:gridCol w="949960"/>
              </a:tblGrid>
              <a:tr h="376555">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研究阶段</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起止时间</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研究内容</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阶段目标</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200" b="1" kern="1200" dirty="0">
                          <a:solidFill>
                            <a:schemeClr val="bg1"/>
                          </a:solidFill>
                          <a:latin typeface="微软雅黑" panose="020B0503020204020204" pitchFamily="34" charset="-122"/>
                          <a:ea typeface="微软雅黑" panose="020B0503020204020204" pitchFamily="34" charset="-122"/>
                          <a:cs typeface="+mn-cs"/>
                        </a:rPr>
                        <a:t>负责人</a:t>
                      </a:r>
                      <a:endParaRPr lang="zh-CN" altLang="en-US"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8580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2025.07~2025.08</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项目</a:t>
                      </a:r>
                      <a:r>
                        <a:rPr lang="zh-CN" sz="1200" kern="100" dirty="0">
                          <a:effectLst/>
                          <a:latin typeface="微软雅黑" panose="020B0503020204020204" pitchFamily="34" charset="-122"/>
                          <a:ea typeface="微软雅黑" panose="020B0503020204020204" pitchFamily="34" charset="-122"/>
                        </a:rPr>
                        <a:t>开题立项，文献调研</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a:effectLst/>
                          <a:latin typeface="微软雅黑" panose="020B0503020204020204" pitchFamily="34" charset="-122"/>
                          <a:ea typeface="微软雅黑" panose="020B0503020204020204" pitchFamily="34" charset="-122"/>
                        </a:rPr>
                        <a:t>调研国内外压裂效果评价技术，完成项目开题立项论证并形成项目研究目标与技术路线</a:t>
                      </a:r>
                      <a:endParaRPr lang="zh-CN" altLang="en-US" sz="1200" kern="10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胡晓东</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353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2025.08~2025.09</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梳理所内压裂效果评估方法，针对现有技术空白，深入研究</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函数分析和小波变换的理论基础</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整理数据，</a:t>
                      </a:r>
                      <a:r>
                        <a:rPr lang="zh-CN" altLang="en-US" sz="1200" kern="100" dirty="0">
                          <a:effectLst/>
                          <a:latin typeface="微软雅黑" panose="020B0503020204020204" pitchFamily="34" charset="-122"/>
                          <a:ea typeface="微软雅黑" panose="020B0503020204020204" pitchFamily="34" charset="-122"/>
                          <a:sym typeface="+mn-ea"/>
                        </a:rPr>
                        <a:t>梳理所内现有压裂效果评估方法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rPr>
                        <a:t>明确</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函数曲线特征识别裂缝复杂度的物理机理</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明确连续小波变换评估改造体积的物理机理</a:t>
                      </a:r>
                      <a:endParaRPr lang="zh-CN" altLang="en-US" sz="1200" kern="100" dirty="0">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353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2025.09~2025.10</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开发施工曲线</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函数与</a:t>
                      </a:r>
                      <a:r>
                        <a:rPr lang="zh-CN" altLang="en-US" sz="1200" kern="100" dirty="0">
                          <a:effectLst/>
                          <a:latin typeface="微软雅黑" panose="020B0503020204020204" pitchFamily="34" charset="-122"/>
                          <a:ea typeface="微软雅黑" panose="020B0503020204020204" pitchFamily="34" charset="-122"/>
                          <a:sym typeface="+mn-ea"/>
                        </a:rPr>
                        <a:t>连续小波变换</a:t>
                      </a:r>
                      <a:r>
                        <a:rPr lang="zh-CN" altLang="en-US" sz="1200" kern="100" dirty="0">
                          <a:effectLst/>
                          <a:latin typeface="微软雅黑" panose="020B0503020204020204" pitchFamily="34" charset="-122"/>
                          <a:ea typeface="微软雅黑" panose="020B0503020204020204" pitchFamily="34" charset="-122"/>
                        </a:rPr>
                        <a:t>分析模型，建立评价指标权重分配机制和综合评估方法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建立施工曲线</a:t>
                      </a:r>
                      <a:r>
                        <a:rPr lang="en-US" altLang="zh-CN" sz="1200" kern="100" dirty="0">
                          <a:effectLst/>
                          <a:latin typeface="微软雅黑" panose="020B0503020204020204" pitchFamily="34" charset="-122"/>
                          <a:ea typeface="微软雅黑" panose="020B0503020204020204" pitchFamily="34" charset="-122"/>
                          <a:sym typeface="+mn-ea"/>
                        </a:rPr>
                        <a:t>G</a:t>
                      </a:r>
                      <a:r>
                        <a:rPr lang="zh-CN" altLang="en-US" sz="1200" kern="100" dirty="0">
                          <a:effectLst/>
                          <a:latin typeface="微软雅黑" panose="020B0503020204020204" pitchFamily="34" charset="-122"/>
                          <a:ea typeface="微软雅黑" panose="020B0503020204020204" pitchFamily="34" charset="-122"/>
                          <a:sym typeface="+mn-ea"/>
                        </a:rPr>
                        <a:t>函数分析模型</a:t>
                      </a: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，实现裂缝复杂度定量评价</a:t>
                      </a:r>
                      <a:endParaRPr lang="zh-CN" altLang="en-US" sz="1200" noProof="0" dirty="0">
                        <a:ln>
                          <a:noFill/>
                        </a:ln>
                        <a:effectLst/>
                        <a:uLnTx/>
                        <a:uFillTx/>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建立施工曲线连续小波变换分析模型，实现改造体积定量评价</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建立压后综合定量评价指标，实现改造效果综合量化评估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8643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2025.10~2025.11</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选取具备微地震监测或</a:t>
                      </a:r>
                      <a:r>
                        <a:rPr lang="zh-CN" altLang="en-US" sz="1200" kern="100" dirty="0">
                          <a:effectLst/>
                          <a:latin typeface="微软雅黑" panose="020B0503020204020204" pitchFamily="34" charset="-122"/>
                          <a:ea typeface="微软雅黑" panose="020B0503020204020204" pitchFamily="34" charset="-122"/>
                          <a:sym typeface="+mn-ea"/>
                        </a:rPr>
                        <a:t>光纤监测</a:t>
                      </a:r>
                      <a:r>
                        <a:rPr lang="zh-CN" altLang="en-US" sz="1200" kern="100" dirty="0">
                          <a:effectLst/>
                          <a:latin typeface="微软雅黑" panose="020B0503020204020204" pitchFamily="34" charset="-122"/>
                          <a:ea typeface="微软雅黑" panose="020B0503020204020204" pitchFamily="34" charset="-122"/>
                        </a:rPr>
                        <a:t>等丰富资料的典型井开展应用验证</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rPr>
                        <a:t>形成典型井分析报告，</a:t>
                      </a:r>
                      <a:r>
                        <a:rPr lang="zh-CN" altLang="en-US" sz="1200" kern="100" dirty="0">
                          <a:effectLst/>
                          <a:latin typeface="微软雅黑" panose="020B0503020204020204" pitchFamily="34" charset="-122"/>
                          <a:ea typeface="微软雅黑" panose="020B0503020204020204" pitchFamily="34" charset="-122"/>
                          <a:sym typeface="+mn-ea"/>
                        </a:rPr>
                        <a:t>检验方法的工程适用性</a:t>
                      </a:r>
                      <a:endPar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86435">
                <a:tc rowSpan="2">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p>
                      <a:pPr algn="ctr">
                        <a:spcAft>
                          <a:spcPts val="0"/>
                        </a:spcAft>
                      </a:pP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2025.11</a:t>
                      </a: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2026.12</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收集大量井的压裂施工数据，开展统计分析以验证方法的普适性和稳定性</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扩大验证范围，检验方法的普适性和稳定性</a:t>
                      </a:r>
                      <a:r>
                        <a:rPr lang="zh-CN" altLang="en-US" sz="1200" kern="100" dirty="0">
                          <a:effectLst/>
                          <a:latin typeface="微软雅黑" panose="020B0503020204020204" pitchFamily="34" charset="-122"/>
                          <a:ea typeface="微软雅黑" panose="020B0503020204020204" pitchFamily="34" charset="-122"/>
                        </a:rPr>
                        <a:t>，不断优化模型参数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sz="1200" kern="100" dirty="0">
                          <a:effectLst/>
                          <a:latin typeface="微软雅黑" panose="020B0503020204020204" pitchFamily="34" charset="-122"/>
                          <a:ea typeface="微软雅黑" panose="020B0503020204020204" pitchFamily="34" charset="-122"/>
                          <a:sym typeface="+mn-ea"/>
                        </a:rPr>
                        <a:t>编写项目结题报告，准备验收</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套压裂效果综合评估指标体系及方法，</a:t>
                      </a:r>
                      <a:r>
                        <a:rPr lang="zh-CN" altLang="en-US" sz="1200" kern="100" dirty="0">
                          <a:effectLst/>
                          <a:latin typeface="微软雅黑" panose="020B0503020204020204" pitchFamily="34" charset="-122"/>
                          <a:ea typeface="微软雅黑" panose="020B0503020204020204" pitchFamily="34" charset="-122"/>
                          <a:sym typeface="+mn-ea"/>
                        </a:rPr>
                        <a:t>完成项目验收及归档</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11"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五、项目进度计划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4365" y="915408"/>
            <a:ext cx="11594483"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sym typeface="+mn-ea"/>
              </a:rPr>
              <a:t>研究内容均对照合同要求，按照预定计划有序开展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344170" y="1416050"/>
          <a:ext cx="11486515" cy="4836795"/>
        </p:xfrm>
        <a:graphic>
          <a:graphicData uri="http://schemas.openxmlformats.org/drawingml/2006/table">
            <a:tbl>
              <a:tblPr firstRow="1" bandRow="1">
                <a:effectLst/>
              </a:tblPr>
              <a:tblGrid>
                <a:gridCol w="874395"/>
                <a:gridCol w="1664335"/>
                <a:gridCol w="3399155"/>
                <a:gridCol w="4598670"/>
                <a:gridCol w="949960"/>
              </a:tblGrid>
              <a:tr h="376555">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研究阶段</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起止时间</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研究内容</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阶段目标</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200" b="1" kern="1200" dirty="0">
                          <a:solidFill>
                            <a:schemeClr val="bg1"/>
                          </a:solidFill>
                          <a:latin typeface="微软雅黑" panose="020B0503020204020204" pitchFamily="34" charset="-122"/>
                          <a:ea typeface="微软雅黑" panose="020B0503020204020204" pitchFamily="34" charset="-122"/>
                          <a:cs typeface="+mn-cs"/>
                        </a:rPr>
                        <a:t>完成情况</a:t>
                      </a:r>
                      <a:endParaRPr lang="zh-CN" altLang="en-US"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8580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2025.07~2025.08</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项目</a:t>
                      </a:r>
                      <a:r>
                        <a:rPr lang="zh-CN" sz="1200" kern="100" dirty="0">
                          <a:effectLst/>
                          <a:latin typeface="微软雅黑" panose="020B0503020204020204" pitchFamily="34" charset="-122"/>
                          <a:ea typeface="微软雅黑" panose="020B0503020204020204" pitchFamily="34" charset="-122"/>
                        </a:rPr>
                        <a:t>开题立项，文献调研</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a:effectLst/>
                          <a:latin typeface="微软雅黑" panose="020B0503020204020204" pitchFamily="34" charset="-122"/>
                          <a:ea typeface="微软雅黑" panose="020B0503020204020204" pitchFamily="34" charset="-122"/>
                        </a:rPr>
                        <a:t>调研国内外压裂效果评价技术，完成项目开题立项论证并形成项目研究目标与技术路线</a:t>
                      </a:r>
                      <a:endParaRPr lang="zh-CN" altLang="en-US" sz="1200" kern="10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solidFill>
                            <a:srgbClr val="FF0000"/>
                          </a:solidFill>
                          <a:effectLst/>
                          <a:latin typeface="微软雅黑" panose="020B0503020204020204" pitchFamily="34" charset="-122"/>
                          <a:ea typeface="微软雅黑" panose="020B0503020204020204" pitchFamily="34" charset="-122"/>
                        </a:rPr>
                        <a:t>已完成</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353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2025.08~2025.09</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梳理所内压裂效果评估方法，针对现有技术空白，深入研究</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函数分析和小波变换的理论基础</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整理数据，</a:t>
                      </a:r>
                      <a:r>
                        <a:rPr lang="zh-CN" altLang="en-US" sz="1200" kern="100" dirty="0">
                          <a:effectLst/>
                          <a:latin typeface="微软雅黑" panose="020B0503020204020204" pitchFamily="34" charset="-122"/>
                          <a:ea typeface="微软雅黑" panose="020B0503020204020204" pitchFamily="34" charset="-122"/>
                          <a:sym typeface="+mn-ea"/>
                        </a:rPr>
                        <a:t>梳理所内现有压裂效果评估方法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rPr>
                        <a:t>明确</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函数曲线特征识别裂缝复杂度的物理机理</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明确连续小波变换评估改造体积的物理机理</a:t>
                      </a:r>
                      <a:endParaRPr lang="zh-CN" altLang="en-US" sz="1200" kern="100" dirty="0">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353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2025.09~2025.10</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开发施工曲线</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函数与</a:t>
                      </a:r>
                      <a:r>
                        <a:rPr lang="zh-CN" altLang="en-US" sz="1200" kern="100" dirty="0">
                          <a:effectLst/>
                          <a:latin typeface="微软雅黑" panose="020B0503020204020204" pitchFamily="34" charset="-122"/>
                          <a:ea typeface="微软雅黑" panose="020B0503020204020204" pitchFamily="34" charset="-122"/>
                          <a:sym typeface="+mn-ea"/>
                        </a:rPr>
                        <a:t>连续小波变换</a:t>
                      </a:r>
                      <a:r>
                        <a:rPr lang="zh-CN" altLang="en-US" sz="1200" kern="100" dirty="0">
                          <a:effectLst/>
                          <a:latin typeface="微软雅黑" panose="020B0503020204020204" pitchFamily="34" charset="-122"/>
                          <a:ea typeface="微软雅黑" panose="020B0503020204020204" pitchFamily="34" charset="-122"/>
                        </a:rPr>
                        <a:t>分析模型，建立评价指标权重分配机制和综合评估方法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建立施工曲线</a:t>
                      </a:r>
                      <a:r>
                        <a:rPr lang="en-US" altLang="zh-CN" sz="1200" kern="100" dirty="0">
                          <a:effectLst/>
                          <a:latin typeface="微软雅黑" panose="020B0503020204020204" pitchFamily="34" charset="-122"/>
                          <a:ea typeface="微软雅黑" panose="020B0503020204020204" pitchFamily="34" charset="-122"/>
                          <a:sym typeface="+mn-ea"/>
                        </a:rPr>
                        <a:t>G</a:t>
                      </a:r>
                      <a:r>
                        <a:rPr lang="zh-CN" altLang="en-US" sz="1200" kern="100" dirty="0">
                          <a:effectLst/>
                          <a:latin typeface="微软雅黑" panose="020B0503020204020204" pitchFamily="34" charset="-122"/>
                          <a:ea typeface="微软雅黑" panose="020B0503020204020204" pitchFamily="34" charset="-122"/>
                          <a:sym typeface="+mn-ea"/>
                        </a:rPr>
                        <a:t>函数分析模型</a:t>
                      </a: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，实现裂缝复杂度定量评价</a:t>
                      </a:r>
                      <a:endParaRPr lang="zh-CN" altLang="en-US" sz="1200" noProof="0" dirty="0">
                        <a:ln>
                          <a:noFill/>
                        </a:ln>
                        <a:effectLst/>
                        <a:uLnTx/>
                        <a:uFillTx/>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建立施工曲线连续小波变换分析模型，实现改造体积定量评价</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建立压后综合定量评价指标，实现改造效果综合量化评估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8643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2025.10~2025.11</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选取具备微地震监测或</a:t>
                      </a:r>
                      <a:r>
                        <a:rPr lang="zh-CN" altLang="en-US" sz="1200" kern="100" dirty="0">
                          <a:effectLst/>
                          <a:latin typeface="微软雅黑" panose="020B0503020204020204" pitchFamily="34" charset="-122"/>
                          <a:ea typeface="微软雅黑" panose="020B0503020204020204" pitchFamily="34" charset="-122"/>
                          <a:sym typeface="+mn-ea"/>
                        </a:rPr>
                        <a:t>光纤监测</a:t>
                      </a:r>
                      <a:r>
                        <a:rPr lang="zh-CN" altLang="en-US" sz="1200" kern="100" dirty="0">
                          <a:effectLst/>
                          <a:latin typeface="微软雅黑" panose="020B0503020204020204" pitchFamily="34" charset="-122"/>
                          <a:ea typeface="微软雅黑" panose="020B0503020204020204" pitchFamily="34" charset="-122"/>
                        </a:rPr>
                        <a:t>等丰富资料的典型井开展应用验证</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rPr>
                        <a:t>形成典型井分析报告，</a:t>
                      </a:r>
                      <a:r>
                        <a:rPr lang="zh-CN" altLang="en-US" sz="1200" kern="100" dirty="0">
                          <a:effectLst/>
                          <a:latin typeface="微软雅黑" panose="020B0503020204020204" pitchFamily="34" charset="-122"/>
                          <a:ea typeface="微软雅黑" panose="020B0503020204020204" pitchFamily="34" charset="-122"/>
                          <a:sym typeface="+mn-ea"/>
                        </a:rPr>
                        <a:t>检验方法的工程适用性</a:t>
                      </a:r>
                      <a:endPar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86435">
                <a:tc rowSpan="2">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p>
                      <a:pPr algn="ctr">
                        <a:spcAft>
                          <a:spcPts val="0"/>
                        </a:spcAft>
                      </a:pP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2025.12</a:t>
                      </a: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2026.12</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收集大量井的压裂施工数据，开展统计分析以验证方法的普适性和稳定性</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扩大验证范围，检验方法的普适性和稳定性</a:t>
                      </a:r>
                      <a:r>
                        <a:rPr lang="zh-CN" altLang="en-US" sz="1200" kern="100" dirty="0">
                          <a:effectLst/>
                          <a:latin typeface="微软雅黑" panose="020B0503020204020204" pitchFamily="34" charset="-122"/>
                          <a:ea typeface="微软雅黑" panose="020B0503020204020204" pitchFamily="34" charset="-122"/>
                        </a:rPr>
                        <a:t>，不断优化模型参数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正在开展</a:t>
                      </a:r>
                      <a:endParaRPr kumimoji="0" lang="zh-CN" altLang="en-US"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sz="1200" kern="100" dirty="0">
                          <a:effectLst/>
                          <a:latin typeface="微软雅黑" panose="020B0503020204020204" pitchFamily="34" charset="-122"/>
                          <a:ea typeface="微软雅黑" panose="020B0503020204020204" pitchFamily="34" charset="-122"/>
                          <a:sym typeface="+mn-ea"/>
                        </a:rPr>
                        <a:t>编写项目结题报告，准备验收</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套压裂效果综合评估指标体系及方法，</a:t>
                      </a:r>
                      <a:r>
                        <a:rPr lang="zh-CN" altLang="en-US" sz="1200" kern="100" dirty="0">
                          <a:effectLst/>
                          <a:latin typeface="微软雅黑" panose="020B0503020204020204" pitchFamily="34" charset="-122"/>
                          <a:ea typeface="微软雅黑" panose="020B0503020204020204" pitchFamily="34" charset="-122"/>
                          <a:sym typeface="+mn-ea"/>
                        </a:rPr>
                        <a:t>完成项目验收及归档</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正在</a:t>
                      </a:r>
                      <a:r>
                        <a:rPr kumimoji="0" lang="zh-CN" altLang="zh-CN"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开展</a:t>
                      </a:r>
                      <a:endParaRPr kumimoji="0" lang="zh-CN" altLang="zh-CN"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11"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一、计划完成情况</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按照项目研究内容要求，完成了</a:t>
            </a:r>
            <a:r>
              <a:rPr lang="zh-CN" altLang="en-US" sz="1600" kern="100">
                <a:effectLst/>
                <a:latin typeface="微软雅黑" panose="020B0503020204020204" pitchFamily="34" charset="-122"/>
                <a:ea typeface="微软雅黑" panose="020B0503020204020204" pitchFamily="34" charset="-122"/>
                <a:sym typeface="+mn-ea"/>
              </a:rPr>
              <a:t>国内外压裂效果评价技术</a:t>
            </a:r>
            <a:r>
              <a:rPr lang="zh-CN" altLang="en-US" sz="1600" dirty="0">
                <a:solidFill>
                  <a:srgbClr val="FF0000"/>
                </a:solidFill>
                <a:latin typeface="微软雅黑" panose="020B0503020204020204" pitchFamily="34" charset="-122"/>
                <a:ea typeface="微软雅黑" panose="020B0503020204020204" pitchFamily="34" charset="-122"/>
              </a:rPr>
              <a:t>文献调研</a:t>
            </a:r>
            <a:r>
              <a:rPr lang="zh-CN" altLang="en-US" sz="1600" dirty="0">
                <a:solidFill>
                  <a:prstClr val="black"/>
                </a:solidFill>
                <a:latin typeface="微软雅黑" panose="020B0503020204020204" pitchFamily="34" charset="-122"/>
                <a:ea typeface="微软雅黑" panose="020B0503020204020204" pitchFamily="34" charset="-122"/>
              </a:rPr>
              <a:t>，建立了</a:t>
            </a:r>
            <a:r>
              <a:rPr lang="zh-CN" altLang="en-US" sz="1600" kern="100" dirty="0">
                <a:effectLst/>
                <a:latin typeface="微软雅黑" panose="020B0503020204020204" pitchFamily="34" charset="-122"/>
                <a:ea typeface="微软雅黑" panose="020B0503020204020204" pitchFamily="34" charset="-122"/>
                <a:sym typeface="+mn-ea"/>
              </a:rPr>
              <a:t>基于连续小波变换的</a:t>
            </a:r>
            <a:r>
              <a:rPr lang="zh-CN" altLang="en-US" sz="1600" kern="100" dirty="0">
                <a:solidFill>
                  <a:srgbClr val="FF0000"/>
                </a:solidFill>
                <a:effectLst/>
                <a:latin typeface="微软雅黑" panose="020B0503020204020204" pitchFamily="34" charset="-122"/>
                <a:ea typeface="微软雅黑" panose="020B0503020204020204" pitchFamily="34" charset="-122"/>
                <a:sym typeface="+mn-ea"/>
              </a:rPr>
              <a:t>改造体积定量评价方法</a:t>
            </a:r>
            <a:r>
              <a:rPr lang="zh-CN" altLang="en-US"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sym typeface="+mn-ea"/>
              </a:rPr>
              <a:t>基于</a:t>
            </a:r>
            <a:r>
              <a:rPr lang="en-US" altLang="zh-CN" sz="1600" kern="100" dirty="0">
                <a:effectLst/>
                <a:latin typeface="微软雅黑" panose="020B0503020204020204" pitchFamily="34" charset="-122"/>
                <a:ea typeface="微软雅黑" panose="020B0503020204020204" pitchFamily="34" charset="-122"/>
                <a:sym typeface="+mn-ea"/>
              </a:rPr>
              <a:t>G</a:t>
            </a:r>
            <a:r>
              <a:rPr lang="zh-CN" altLang="en-US" sz="1600" kern="100" dirty="0">
                <a:effectLst/>
                <a:latin typeface="微软雅黑" panose="020B0503020204020204" pitchFamily="34" charset="-122"/>
                <a:ea typeface="微软雅黑" panose="020B0503020204020204" pitchFamily="34" charset="-122"/>
                <a:sym typeface="+mn-ea"/>
              </a:rPr>
              <a:t>函数的</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裂缝复杂度定量评价方法</a:t>
            </a: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，形成了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压裂效果综合评估指标体系及方法</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，完成</a:t>
            </a:r>
            <a:r>
              <a:rPr lang="zh-CN" altLang="en-US" sz="1600" dirty="0">
                <a:solidFill>
                  <a:prstClr val="black"/>
                </a:solidFill>
                <a:latin typeface="微软雅黑" panose="020B0503020204020204" pitchFamily="34" charset="-122"/>
                <a:ea typeface="微软雅黑" panose="020B0503020204020204" pitchFamily="34" charset="-122"/>
              </a:rPr>
              <a:t>了与研究强相关的论文文本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项，</a:t>
            </a:r>
            <a:r>
              <a:rPr lang="zh-CN" altLang="en-US" sz="1600" dirty="0">
                <a:solidFill>
                  <a:prstClr val="black"/>
                </a:solidFill>
                <a:latin typeface="微软雅黑" panose="020B0503020204020204" pitchFamily="34" charset="-122"/>
                <a:ea typeface="微软雅黑" panose="020B0503020204020204" pitchFamily="34" charset="-122"/>
                <a:sym typeface="+mn-ea"/>
              </a:rPr>
              <a:t>累计驻场办公</a:t>
            </a:r>
            <a:r>
              <a:rPr lang="en-US" altLang="zh-CN" sz="1600" dirty="0">
                <a:solidFill>
                  <a:srgbClr val="FF0000"/>
                </a:solidFill>
                <a:latin typeface="微软雅黑" panose="020B0503020204020204" pitchFamily="34" charset="-122"/>
                <a:ea typeface="微软雅黑" panose="020B0503020204020204" pitchFamily="34" charset="-122"/>
                <a:sym typeface="+mn-ea"/>
              </a:rPr>
              <a:t>100</a:t>
            </a:r>
            <a:r>
              <a:rPr lang="zh-CN" altLang="en-US" sz="1600" dirty="0">
                <a:solidFill>
                  <a:prstClr val="black"/>
                </a:solidFill>
                <a:latin typeface="微软雅黑" panose="020B0503020204020204" pitchFamily="34" charset="-122"/>
                <a:ea typeface="微软雅黑" panose="020B0503020204020204" pitchFamily="34" charset="-122"/>
                <a:sym typeface="+mn-ea"/>
              </a:rPr>
              <a:t>余人</a:t>
            </a:r>
            <a:r>
              <a:rPr lang="en-US" altLang="zh-CN" sz="1600" dirty="0">
                <a:solidFill>
                  <a:prstClr val="black"/>
                </a:solidFill>
                <a:latin typeface="微软雅黑" panose="020B0503020204020204" pitchFamily="34" charset="-122"/>
                <a:ea typeface="微软雅黑" panose="020B0503020204020204" pitchFamily="34" charset="-122"/>
                <a:sym typeface="+mn-ea"/>
              </a:rPr>
              <a:t>·</a:t>
            </a:r>
            <a:r>
              <a:rPr lang="zh-CN" altLang="en-US" sz="1600" dirty="0">
                <a:solidFill>
                  <a:prstClr val="black"/>
                </a:solidFill>
                <a:latin typeface="微软雅黑" panose="020B0503020204020204" pitchFamily="34" charset="-122"/>
                <a:ea typeface="微软雅黑" panose="020B0503020204020204" pitchFamily="34" charset="-122"/>
                <a:sym typeface="+mn-ea"/>
              </a:rPr>
              <a:t>天，计算分析</a:t>
            </a:r>
            <a:r>
              <a:rPr lang="en-US" altLang="zh-CN" sz="1600" dirty="0">
                <a:solidFill>
                  <a:srgbClr val="FF0000"/>
                </a:solidFill>
                <a:latin typeface="微软雅黑" panose="020B0503020204020204" pitchFamily="34" charset="-122"/>
                <a:ea typeface="微软雅黑" panose="020B0503020204020204" pitchFamily="34" charset="-122"/>
                <a:sym typeface="+mn-ea"/>
              </a:rPr>
              <a:t>23</a:t>
            </a:r>
            <a:r>
              <a:rPr lang="zh-CN" altLang="en-US" sz="1600" dirty="0">
                <a:solidFill>
                  <a:prstClr val="black"/>
                </a:solidFill>
                <a:latin typeface="微软雅黑" panose="020B0503020204020204" pitchFamily="34" charset="-122"/>
                <a:ea typeface="微软雅黑" panose="020B0503020204020204" pitchFamily="34" charset="-122"/>
                <a:sym typeface="+mn-ea"/>
              </a:rPr>
              <a:t>井次</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43" name="表格 42"/>
          <p:cNvGraphicFramePr>
            <a:graphicFrameLocks noGrp="1"/>
          </p:cNvGraphicFramePr>
          <p:nvPr/>
        </p:nvGraphicFramePr>
        <p:xfrm>
          <a:off x="334963" y="2153772"/>
          <a:ext cx="11467309" cy="3938899"/>
        </p:xfrm>
        <a:graphic>
          <a:graphicData uri="http://schemas.openxmlformats.org/drawingml/2006/table">
            <a:tbl>
              <a:tblPr/>
              <a:tblGrid>
                <a:gridCol w="867787"/>
                <a:gridCol w="2464281"/>
                <a:gridCol w="4764277"/>
                <a:gridCol w="1851946"/>
                <a:gridCol w="1519018"/>
              </a:tblGrid>
              <a:tr h="674672">
                <a:tc>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序号</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分类</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工作内容</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gridSpan="2">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实物工作量</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hMerge="1">
                  <a:tcPr marL="5492" marR="5492" marT="5492" marB="0" anchor="ctr">
                    <a:lnL w="6350" cap="flat" cmpd="sng" algn="ctr">
                      <a:solidFill>
                        <a:srgbClr val="000000"/>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solidFill>
                      <a:srgbClr val="E7E6E6"/>
                    </a:solidFill>
                  </a:tcPr>
                </a:tc>
              </a:tr>
              <a:tr h="419558">
                <a:tc rowSpan="3">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一</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rowSpan="3">
                  <a:txBody>
                    <a:bodyPr/>
                    <a:lstStyle/>
                    <a:p>
                      <a:pPr algn="ctr" fontAlgn="ctr"/>
                      <a:r>
                        <a:rPr lang="zh-CN" altLang="en-US" sz="1400" kern="100">
                          <a:effectLst/>
                          <a:latin typeface="微软雅黑" panose="020B0503020204020204" pitchFamily="34" charset="-122"/>
                          <a:ea typeface="微软雅黑" panose="020B0503020204020204" pitchFamily="34" charset="-122"/>
                          <a:sym typeface="+mn-ea"/>
                        </a:rPr>
                        <a:t>国内外压裂效果评价技术调研</a:t>
                      </a:r>
                      <a:endParaRPr lang="zh-CN" altLang="en-US" sz="1400" kern="100">
                        <a:effectLst/>
                        <a:latin typeface="微软雅黑" panose="020B0503020204020204" pitchFamily="34" charset="-122"/>
                        <a:ea typeface="微软雅黑" panose="020B0503020204020204" pitchFamily="34" charset="-122"/>
                        <a:sym typeface="+mn-ea"/>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井下监测技术</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42</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rowSpan="3">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90</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419558">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井口监测技术</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33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9558">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c>
                  <a:txBody>
                    <a:bodyPr/>
                    <a:lstStyle/>
                    <a:p>
                      <a:pPr algn="ctr" fontAlgn="ct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压裂施工曲线分析</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15</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r>
              <a:tr h="419558">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二</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00" dirty="0">
                          <a:effectLst/>
                          <a:latin typeface="微软雅黑" panose="020B0503020204020204" pitchFamily="34" charset="-122"/>
                          <a:ea typeface="微软雅黑" panose="020B0503020204020204" pitchFamily="34" charset="-122"/>
                          <a:sym typeface="+mn-ea"/>
                        </a:rPr>
                        <a:t>基于连续小波变换的</a:t>
                      </a:r>
                      <a:endParaRPr lang="zh-CN" altLang="en-US" sz="1400" kern="100" dirty="0">
                        <a:effectLst/>
                        <a:latin typeface="微软雅黑" panose="020B0503020204020204" pitchFamily="34" charset="-122"/>
                        <a:ea typeface="微软雅黑" panose="020B0503020204020204" pitchFamily="34" charset="-122"/>
                        <a:sym typeface="+mn-ea"/>
                      </a:endParaRPr>
                    </a:p>
                    <a:p>
                      <a:pPr algn="ctr" fontAlgn="ctr"/>
                      <a:r>
                        <a:rPr lang="zh-CN" altLang="en-US" sz="1400" kern="100" dirty="0">
                          <a:effectLst/>
                          <a:latin typeface="微软雅黑" panose="020B0503020204020204" pitchFamily="34" charset="-122"/>
                          <a:ea typeface="微软雅黑" panose="020B0503020204020204" pitchFamily="34" charset="-122"/>
                          <a:sym typeface="+mn-ea"/>
                        </a:rPr>
                        <a:t>改造体积定量评价</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完成</a:t>
                      </a:r>
                      <a:r>
                        <a:rPr lang="en-US" altLang="zh-CN" sz="1400" kern="1200" dirty="0">
                          <a:solidFill>
                            <a:prstClr val="black"/>
                          </a:solidFill>
                          <a:latin typeface="微软雅黑" panose="020B0503020204020204" pitchFamily="34" charset="-122"/>
                          <a:ea typeface="微软雅黑" panose="020B0503020204020204" pitchFamily="34" charset="-122"/>
                          <a:cs typeface="+mn-cs"/>
                        </a:rPr>
                        <a:t>5</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个平台，</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口井的改造体积定量评价</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573</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573</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4447">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三</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基于</a:t>
                      </a:r>
                      <a:r>
                        <a:rPr lang="en-US" altLang="zh-CN" sz="1400" kern="100" dirty="0">
                          <a:effectLst/>
                          <a:latin typeface="微软雅黑" panose="020B0503020204020204" pitchFamily="34" charset="-122"/>
                          <a:ea typeface="微软雅黑" panose="020B0503020204020204" pitchFamily="34" charset="-122"/>
                          <a:sym typeface="+mn-ea"/>
                        </a:rPr>
                        <a:t>G</a:t>
                      </a:r>
                      <a:r>
                        <a:rPr lang="zh-CN" altLang="en-US" sz="1400" kern="100" dirty="0">
                          <a:effectLst/>
                          <a:latin typeface="微软雅黑" panose="020B0503020204020204" pitchFamily="34" charset="-122"/>
                          <a:ea typeface="微软雅黑" panose="020B0503020204020204" pitchFamily="34" charset="-122"/>
                          <a:sym typeface="+mn-ea"/>
                        </a:rPr>
                        <a:t>函数的</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裂缝</a:t>
                      </a:r>
                      <a:endParaRPr lang="zh-CN" altLang="en-US" sz="1400" noProof="0" dirty="0">
                        <a:ln>
                          <a:noFill/>
                        </a:ln>
                        <a:effectLst/>
                        <a:uLnTx/>
                        <a:uFillTx/>
                        <a:latin typeface="微软雅黑" panose="020B0503020204020204" pitchFamily="34" charset="-122"/>
                        <a:ea typeface="微软雅黑" panose="020B0503020204020204" pitchFamily="34" charset="-122"/>
                        <a:sym typeface="+mn-ea"/>
                      </a:endParaRPr>
                    </a:p>
                    <a:p>
                      <a:pPr algn="ctr" fontAlgn="ctr"/>
                      <a:r>
                        <a:rPr lang="zh-CN" altLang="en-US" sz="1400" noProof="0" dirty="0">
                          <a:ln>
                            <a:noFill/>
                          </a:ln>
                          <a:effectLst/>
                          <a:uLnTx/>
                          <a:uFillTx/>
                          <a:latin typeface="微软雅黑" panose="020B0503020204020204" pitchFamily="34" charset="-122"/>
                          <a:ea typeface="微软雅黑" panose="020B0503020204020204" pitchFamily="34" charset="-122"/>
                          <a:sym typeface="+mn-ea"/>
                        </a:rPr>
                        <a:t>复杂度定量评价</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dirty="0">
                          <a:solidFill>
                            <a:prstClr val="black"/>
                          </a:solidFill>
                          <a:latin typeface="微软雅黑" panose="020B0503020204020204" pitchFamily="34" charset="-122"/>
                          <a:ea typeface="微软雅黑" panose="020B0503020204020204" pitchFamily="34" charset="-122"/>
                          <a:sym typeface="+mn-ea"/>
                        </a:rPr>
                        <a:t>完成</a:t>
                      </a:r>
                      <a:r>
                        <a:rPr lang="en-US" altLang="zh-CN" sz="1400" dirty="0">
                          <a:solidFill>
                            <a:prstClr val="black"/>
                          </a:solidFill>
                          <a:latin typeface="微软雅黑" panose="020B0503020204020204" pitchFamily="34" charset="-122"/>
                          <a:ea typeface="微软雅黑" panose="020B0503020204020204" pitchFamily="34" charset="-122"/>
                          <a:sym typeface="+mn-ea"/>
                        </a:rPr>
                        <a:t>5</a:t>
                      </a:r>
                      <a:r>
                        <a:rPr lang="zh-CN" altLang="en-US" sz="1400" dirty="0">
                          <a:solidFill>
                            <a:prstClr val="black"/>
                          </a:solidFill>
                          <a:latin typeface="微软雅黑" panose="020B0503020204020204" pitchFamily="34" charset="-122"/>
                          <a:ea typeface="微软雅黑" panose="020B0503020204020204" pitchFamily="34" charset="-122"/>
                          <a:sym typeface="+mn-ea"/>
                        </a:rPr>
                        <a:t>个平台，</a:t>
                      </a:r>
                      <a:r>
                        <a:rPr lang="en-US" altLang="zh-CN" sz="1400" dirty="0">
                          <a:solidFill>
                            <a:prstClr val="black"/>
                          </a:solidFill>
                          <a:latin typeface="微软雅黑" panose="020B0503020204020204" pitchFamily="34" charset="-122"/>
                          <a:ea typeface="微软雅黑" panose="020B0503020204020204" pitchFamily="34" charset="-122"/>
                          <a:sym typeface="+mn-ea"/>
                        </a:rPr>
                        <a:t>23</a:t>
                      </a:r>
                      <a:r>
                        <a:rPr lang="zh-CN" altLang="en-US" sz="1400" dirty="0">
                          <a:solidFill>
                            <a:prstClr val="black"/>
                          </a:solidFill>
                          <a:latin typeface="微软雅黑" panose="020B0503020204020204" pitchFamily="34" charset="-122"/>
                          <a:ea typeface="微软雅黑" panose="020B0503020204020204" pitchFamily="34" charset="-122"/>
                          <a:sym typeface="+mn-ea"/>
                        </a:rPr>
                        <a:t>口井的</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裂缝复杂度</a:t>
                      </a:r>
                      <a:r>
                        <a:rPr lang="zh-CN" altLang="en-US" sz="1400" dirty="0">
                          <a:solidFill>
                            <a:prstClr val="black"/>
                          </a:solidFill>
                          <a:latin typeface="微软雅黑" panose="020B0503020204020204" pitchFamily="34" charset="-122"/>
                          <a:ea typeface="微软雅黑" panose="020B0503020204020204" pitchFamily="34" charset="-122"/>
                          <a:sym typeface="+mn-ea"/>
                        </a:rPr>
                        <a:t>定量评价</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4447">
                <a:tc>
                  <a:txBody>
                    <a:bodyPr/>
                    <a:lstStyle/>
                    <a:p>
                      <a:pPr algn="ctr" fontAlgn="ctr">
                        <a:buNone/>
                      </a:pP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四</a:t>
                      </a:r>
                      <a:endPar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buNone/>
                      </a:pPr>
                      <a:r>
                        <a:rPr lang="zh-CN" altLang="en-US" sz="1400" noProof="0" dirty="0">
                          <a:ln>
                            <a:noFill/>
                          </a:ln>
                          <a:effectLst/>
                          <a:uLnTx/>
                          <a:uFillTx/>
                          <a:latin typeface="微软雅黑" panose="020B0503020204020204" pitchFamily="34" charset="-122"/>
                          <a:ea typeface="微软雅黑" panose="020B0503020204020204" pitchFamily="34" charset="-122"/>
                          <a:sym typeface="+mn-ea"/>
                        </a:rPr>
                        <a:t>改造效果综合量化评估指标建立与优化</a:t>
                      </a:r>
                      <a:endParaRPr lang="zh-CN" altLang="en-US" sz="1400" noProof="0" dirty="0">
                        <a:ln>
                          <a:noFill/>
                        </a:ln>
                        <a:effectLst/>
                        <a:uLnTx/>
                        <a:uFillTx/>
                        <a:latin typeface="微软雅黑" panose="020B0503020204020204" pitchFamily="34" charset="-122"/>
                        <a:ea typeface="微软雅黑" panose="020B0503020204020204" pitchFamily="34" charset="-122"/>
                        <a:sym typeface="+mn-ea"/>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buNone/>
                      </a:pPr>
                      <a:r>
                        <a:rPr lang="zh-CN" altLang="en-US" sz="1400" kern="1200" dirty="0">
                          <a:solidFill>
                            <a:prstClr val="black"/>
                          </a:solidFill>
                          <a:latin typeface="微软雅黑" panose="020B0503020204020204" pitchFamily="34" charset="-122"/>
                          <a:ea typeface="微软雅黑" panose="020B0503020204020204" pitchFamily="34" charset="-122"/>
                          <a:cs typeface="+mn-cs"/>
                        </a:rPr>
                        <a:t>完成</a:t>
                      </a:r>
                      <a:r>
                        <a:rPr lang="en-US" altLang="zh-CN" sz="1400" kern="1200" dirty="0">
                          <a:solidFill>
                            <a:prstClr val="black"/>
                          </a:solidFill>
                          <a:latin typeface="微软雅黑" panose="020B0503020204020204" pitchFamily="34" charset="-122"/>
                          <a:ea typeface="微软雅黑" panose="020B0503020204020204" pitchFamily="34" charset="-122"/>
                          <a:cs typeface="+mn-cs"/>
                        </a:rPr>
                        <a:t>5</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个平台，</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口井的改造效果综合量化评估指标建立</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4447">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五</a:t>
                      </a:r>
                      <a:endPar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知识产权</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论文文本</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对泸</a:t>
            </a:r>
            <a:r>
              <a:rPr lang="en-US" altLang="zh-CN" sz="1600" dirty="0">
                <a:solidFill>
                  <a:prstClr val="black"/>
                </a:solidFill>
                <a:latin typeface="微软雅黑" panose="020B0503020204020204" pitchFamily="34" charset="-122"/>
                <a:ea typeface="微软雅黑" panose="020B0503020204020204" pitchFamily="34" charset="-122"/>
              </a:rPr>
              <a:t>203</a:t>
            </a:r>
            <a:r>
              <a:rPr lang="zh-CN" altLang="en-US" sz="1600" dirty="0">
                <a:solidFill>
                  <a:prstClr val="black"/>
                </a:solidFill>
                <a:latin typeface="微软雅黑" panose="020B0503020204020204" pitchFamily="34" charset="-122"/>
                <a:ea typeface="微软雅黑" panose="020B0503020204020204" pitchFamily="34" charset="-122"/>
              </a:rPr>
              <a:t>、泸</a:t>
            </a:r>
            <a:r>
              <a:rPr lang="en-US" altLang="zh-CN" sz="1600" dirty="0">
                <a:solidFill>
                  <a:prstClr val="black"/>
                </a:solidFill>
                <a:latin typeface="微软雅黑" panose="020B0503020204020204" pitchFamily="34" charset="-122"/>
                <a:ea typeface="微软雅黑" panose="020B0503020204020204" pitchFamily="34" charset="-122"/>
              </a:rPr>
              <a:t>206</a:t>
            </a:r>
            <a:r>
              <a:rPr lang="zh-CN" altLang="en-US" sz="1600" dirty="0">
                <a:solidFill>
                  <a:prstClr val="black"/>
                </a:solidFill>
                <a:latin typeface="微软雅黑" panose="020B0503020204020204" pitchFamily="34" charset="-122"/>
                <a:ea typeface="微软雅黑" panose="020B0503020204020204" pitchFamily="34" charset="-122"/>
              </a:rPr>
              <a:t>、足</a:t>
            </a:r>
            <a:r>
              <a:rPr lang="en-US" altLang="zh-CN" sz="1600" dirty="0">
                <a:solidFill>
                  <a:prstClr val="black"/>
                </a:solidFill>
                <a:latin typeface="微软雅黑" panose="020B0503020204020204" pitchFamily="34" charset="-122"/>
                <a:ea typeface="微软雅黑" panose="020B0503020204020204" pitchFamily="34" charset="-122"/>
              </a:rPr>
              <a:t>201</a:t>
            </a:r>
            <a:r>
              <a:rPr lang="zh-CN" altLang="en-US" sz="1600" dirty="0">
                <a:solidFill>
                  <a:prstClr val="black"/>
                </a:solidFill>
                <a:latin typeface="微软雅黑" panose="020B0503020204020204" pitchFamily="34" charset="-122"/>
                <a:ea typeface="微软雅黑" panose="020B0503020204020204" pitchFamily="34" charset="-122"/>
              </a:rPr>
              <a:t>共</a:t>
            </a:r>
            <a:r>
              <a:rPr lang="en-US" altLang="zh-CN" sz="1600" dirty="0">
                <a:solidFill>
                  <a:srgbClr val="FF0000"/>
                </a:solidFill>
                <a:latin typeface="微软雅黑" panose="020B0503020204020204" pitchFamily="34" charset="-122"/>
                <a:ea typeface="微软雅黑" panose="020B0503020204020204" pitchFamily="34" charset="-122"/>
              </a:rPr>
              <a:t>3</a:t>
            </a:r>
            <a:r>
              <a:rPr lang="zh-CN" altLang="en-US" sz="1600" dirty="0">
                <a:solidFill>
                  <a:srgbClr val="FF0000"/>
                </a:solidFill>
                <a:latin typeface="微软雅黑" panose="020B0503020204020204" pitchFamily="34" charset="-122"/>
                <a:ea typeface="微软雅黑" panose="020B0503020204020204" pitchFamily="34" charset="-122"/>
              </a:rPr>
              <a:t>个井区，</a:t>
            </a:r>
            <a:r>
              <a:rPr lang="en-US" altLang="zh-CN" sz="1600" dirty="0">
                <a:solidFill>
                  <a:srgbClr val="FF0000"/>
                </a:solidFill>
                <a:latin typeface="微软雅黑" panose="020B0503020204020204" pitchFamily="34" charset="-122"/>
                <a:ea typeface="微软雅黑" panose="020B0503020204020204" pitchFamily="34" charset="-122"/>
              </a:rPr>
              <a:t>5</a:t>
            </a:r>
            <a:r>
              <a:rPr lang="zh-CN" altLang="en-US" sz="1600" dirty="0">
                <a:solidFill>
                  <a:srgbClr val="FF0000"/>
                </a:solidFill>
                <a:latin typeface="微软雅黑" panose="020B0503020204020204" pitchFamily="34" charset="-122"/>
                <a:ea typeface="微软雅黑" panose="020B0503020204020204" pitchFamily="34" charset="-122"/>
              </a:rPr>
              <a:t>个平台，</a:t>
            </a:r>
            <a:r>
              <a:rPr lang="en-US" altLang="zh-CN" sz="1600" dirty="0">
                <a:solidFill>
                  <a:srgbClr val="FF0000"/>
                </a:solidFill>
                <a:latin typeface="微软雅黑" panose="020B0503020204020204" pitchFamily="34" charset="-122"/>
                <a:ea typeface="微软雅黑" panose="020B0503020204020204" pitchFamily="34" charset="-122"/>
              </a:rPr>
              <a:t>23</a:t>
            </a:r>
            <a:r>
              <a:rPr lang="zh-CN" altLang="en-US" sz="1600" dirty="0">
                <a:solidFill>
                  <a:srgbClr val="FF0000"/>
                </a:solidFill>
                <a:latin typeface="微软雅黑" panose="020B0503020204020204" pitchFamily="34" charset="-122"/>
                <a:ea typeface="微软雅黑" panose="020B0503020204020204" pitchFamily="34" charset="-122"/>
              </a:rPr>
              <a:t>口井，</a:t>
            </a:r>
            <a:r>
              <a:rPr lang="en-US" altLang="zh-CN" sz="1600" dirty="0">
                <a:solidFill>
                  <a:srgbClr val="FF0000"/>
                </a:solidFill>
                <a:latin typeface="微软雅黑" panose="020B0503020204020204" pitchFamily="34" charset="-122"/>
                <a:ea typeface="微软雅黑" panose="020B0503020204020204" pitchFamily="34" charset="-122"/>
              </a:rPr>
              <a:t>573</a:t>
            </a:r>
            <a:r>
              <a:rPr lang="zh-CN" altLang="en-US" sz="1600" dirty="0">
                <a:solidFill>
                  <a:srgbClr val="FF0000"/>
                </a:solidFill>
                <a:latin typeface="微软雅黑" panose="020B0503020204020204" pitchFamily="34" charset="-122"/>
                <a:ea typeface="微软雅黑" panose="020B0503020204020204" pitchFamily="34" charset="-122"/>
              </a:rPr>
              <a:t>段</a:t>
            </a:r>
            <a:r>
              <a:rPr lang="zh-CN" altLang="en-US" sz="1600" dirty="0">
                <a:solidFill>
                  <a:prstClr val="black"/>
                </a:solidFill>
                <a:latin typeface="微软雅黑" panose="020B0503020204020204" pitchFamily="34" charset="-122"/>
                <a:ea typeface="微软雅黑" panose="020B0503020204020204" pitchFamily="34" charset="-122"/>
              </a:rPr>
              <a:t>压裂数据进行分析</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基于压裂施工秒点、</a:t>
            </a:r>
            <a:r>
              <a:rPr lang="zh-CN" altLang="en-US" sz="1600" dirty="0">
                <a:solidFill>
                  <a:prstClr val="black"/>
                </a:solidFill>
                <a:latin typeface="微软雅黑" panose="020B0503020204020204" pitchFamily="34" charset="-122"/>
                <a:ea typeface="微软雅黑" panose="020B0503020204020204" pitchFamily="34" charset="-122"/>
                <a:sym typeface="+mn-ea"/>
              </a:rPr>
              <a:t>施工参数表</a:t>
            </a:r>
            <a:r>
              <a:rPr lang="zh-CN" altLang="en-US" sz="1600" dirty="0">
                <a:solidFill>
                  <a:prstClr val="black"/>
                </a:solidFill>
                <a:latin typeface="微软雅黑" panose="020B0503020204020204" pitchFamily="34" charset="-122"/>
                <a:ea typeface="微软雅黑" panose="020B0503020204020204" pitchFamily="34" charset="-122"/>
              </a:rPr>
              <a:t>与压后总结，明确了</a:t>
            </a:r>
            <a:r>
              <a:rPr lang="en-US" altLang="zh-CN" sz="1600" dirty="0">
                <a:solidFill>
                  <a:srgbClr val="FF0000"/>
                </a:solidFill>
                <a:latin typeface="微软雅黑" panose="020B0503020204020204" pitchFamily="34" charset="-122"/>
                <a:ea typeface="微软雅黑" panose="020B0503020204020204" pitchFamily="34" charset="-122"/>
              </a:rPr>
              <a:t>G</a:t>
            </a:r>
            <a:r>
              <a:rPr lang="zh-CN" altLang="en-US" sz="1600" dirty="0">
                <a:solidFill>
                  <a:srgbClr val="FF0000"/>
                </a:solidFill>
                <a:latin typeface="微软雅黑" panose="020B0503020204020204" pitchFamily="34" charset="-122"/>
                <a:ea typeface="微软雅黑" panose="020B0503020204020204" pitchFamily="34" charset="-122"/>
              </a:rPr>
              <a:t>函数反演、小波变换、水击边界指数</a:t>
            </a:r>
            <a:r>
              <a:rPr lang="zh-CN" altLang="en-US" sz="1600" dirty="0">
                <a:solidFill>
                  <a:prstClr val="black"/>
                </a:solidFill>
                <a:latin typeface="微软雅黑" panose="020B0503020204020204" pitchFamily="34" charset="-122"/>
                <a:ea typeface="微软雅黑" panose="020B0503020204020204" pitchFamily="34" charset="-122"/>
              </a:rPr>
              <a:t>等指标与</a:t>
            </a:r>
            <a:r>
              <a:rPr lang="zh-CN" altLang="en-US" sz="1600" dirty="0">
                <a:solidFill>
                  <a:srgbClr val="FF0000"/>
                </a:solidFill>
                <a:latin typeface="微软雅黑" panose="020B0503020204020204" pitchFamily="34" charset="-122"/>
                <a:ea typeface="微软雅黑" panose="020B0503020204020204" pitchFamily="34" charset="-122"/>
              </a:rPr>
              <a:t>改造效果</a:t>
            </a:r>
            <a:r>
              <a:rPr lang="zh-CN" altLang="en-US" sz="1600" dirty="0">
                <a:solidFill>
                  <a:prstClr val="black"/>
                </a:solidFill>
                <a:latin typeface="微软雅黑" panose="020B0503020204020204" pitchFamily="34" charset="-122"/>
                <a:ea typeface="微软雅黑" panose="020B0503020204020204" pitchFamily="34" charset="-122"/>
              </a:rPr>
              <a:t>的关联规律</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构建了包含</a:t>
            </a:r>
            <a:r>
              <a:rPr lang="en-US" altLang="zh-CN" sz="1600" dirty="0">
                <a:solidFill>
                  <a:srgbClr val="FF0000"/>
                </a:solidFill>
                <a:latin typeface="微软雅黑" panose="020B0503020204020204" pitchFamily="34" charset="-122"/>
                <a:ea typeface="微软雅黑" panose="020B0503020204020204" pitchFamily="34" charset="-122"/>
              </a:rPr>
              <a:t>9</a:t>
            </a:r>
            <a:r>
              <a:rPr lang="zh-CN" altLang="en-US" sz="1600" dirty="0">
                <a:solidFill>
                  <a:prstClr val="black"/>
                </a:solidFill>
                <a:latin typeface="微软雅黑" panose="020B0503020204020204" pitchFamily="34" charset="-122"/>
                <a:ea typeface="微软雅黑" panose="020B0503020204020204" pitchFamily="34" charset="-122"/>
              </a:rPr>
              <a:t>项技术指标的</a:t>
            </a:r>
            <a:r>
              <a:rPr lang="zh-CN" altLang="en-US" sz="1600" dirty="0">
                <a:solidFill>
                  <a:srgbClr val="FF0000"/>
                </a:solidFill>
                <a:latin typeface="微软雅黑" panose="020B0503020204020204" pitchFamily="34" charset="-122"/>
                <a:ea typeface="微软雅黑" panose="020B0503020204020204" pitchFamily="34" charset="-122"/>
              </a:rPr>
              <a:t>三维两级评价体系</a:t>
            </a:r>
            <a:r>
              <a:rPr lang="zh-CN" altLang="en-US" sz="1600" dirty="0">
                <a:solidFill>
                  <a:prstClr val="black"/>
                </a:solidFill>
                <a:latin typeface="微软雅黑" panose="020B0503020204020204" pitchFamily="34" charset="-122"/>
                <a:ea typeface="微软雅黑" panose="020B0503020204020204" pitchFamily="34" charset="-122"/>
              </a:rPr>
              <a:t>，并开展权重量化处理，形成了</a:t>
            </a:r>
            <a:r>
              <a:rPr lang="zh-CN" altLang="en-US" sz="1600" dirty="0">
                <a:solidFill>
                  <a:srgbClr val="FF0000"/>
                </a:solidFill>
                <a:latin typeface="微软雅黑" panose="020B0503020204020204" pitchFamily="34" charset="-122"/>
                <a:ea typeface="微软雅黑" panose="020B0503020204020204" pitchFamily="34" charset="-122"/>
              </a:rPr>
              <a:t>压裂改造效果综合评估方法</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p:cNvGraphicFramePr/>
          <p:nvPr>
            <p:custDataLst>
              <p:tags r:id="rId1"/>
            </p:custDataLst>
          </p:nvPr>
        </p:nvGraphicFramePr>
        <p:xfrm>
          <a:off x="353060" y="2115820"/>
          <a:ext cx="11450320" cy="4469765"/>
        </p:xfrm>
        <a:graphic>
          <a:graphicData uri="http://schemas.openxmlformats.org/drawingml/2006/table">
            <a:tbl>
              <a:tblPr firstRow="1">
                <a:tableStyleId>{C25CCF9B-3BEF-4FDE-95DA-B136F59D0E50}</a:tableStyleId>
              </a:tblPr>
              <a:tblGrid>
                <a:gridCol w="708660"/>
                <a:gridCol w="709295"/>
                <a:gridCol w="708025"/>
                <a:gridCol w="1305560"/>
                <a:gridCol w="1604645"/>
                <a:gridCol w="1901190"/>
                <a:gridCol w="1604010"/>
                <a:gridCol w="1304925"/>
                <a:gridCol w="1604010"/>
              </a:tblGrid>
              <a:tr h="271145">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井区</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平台</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井号</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压裂设计</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压裂施工秒点</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微地震详细数据</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微地震小结</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压后总结</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施工参数表</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182245">
                <a:tc rowSpan="10">
                  <a:txBody>
                    <a:bodyPr/>
                    <a:lstStyle/>
                    <a:p>
                      <a:pPr algn="ctr" fontAlgn="ctr">
                        <a:lnSpc>
                          <a:spcPct val="120000"/>
                        </a:lnSpc>
                      </a:pPr>
                      <a:r>
                        <a:rPr lang="zh-CN" altLang="en-US" sz="9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9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9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900" dirty="0">
                          <a:latin typeface="微软雅黑" panose="020B0503020204020204" pitchFamily="34" charset="-122"/>
                          <a:ea typeface="微软雅黑" panose="020B0503020204020204" pitchFamily="34" charset="-122"/>
                        </a:rPr>
                        <a:t>H10</a:t>
                      </a:r>
                      <a:endParaRPr lang="en-US" altLang="zh-CN" sz="9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5</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6</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rowSpan="4">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H123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rowSpan="7">
                  <a:txBody>
                    <a:bodyPr/>
                    <a:lstStyle/>
                    <a:p>
                      <a:pPr algn="ctr" fontAlgn="ctr">
                        <a:lnSpc>
                          <a:spcPct val="120000"/>
                        </a:lnSpc>
                      </a:pPr>
                      <a:r>
                        <a:rPr lang="zh-CN" altLang="en-US" sz="9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900">
                          <a:latin typeface="微软雅黑" panose="020B0503020204020204" pitchFamily="34" charset="-122"/>
                          <a:ea typeface="微软雅黑" panose="020B0503020204020204" pitchFamily="34" charset="-122"/>
                          <a:cs typeface="微软雅黑" panose="020B0503020204020204" pitchFamily="34" charset="-122"/>
                        </a:rPr>
                        <a:t>206</a:t>
                      </a:r>
                      <a:endParaRPr lang="en-US" altLang="zh-CN" sz="9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4">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H7</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5</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rowSpan="3">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H8</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6</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7</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8</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rowSpan="6">
                  <a:txBody>
                    <a:bodyPr/>
                    <a:lstStyle/>
                    <a:p>
                      <a:pPr algn="ctr" fontAlgn="ctr">
                        <a:lnSpc>
                          <a:spcPct val="120000"/>
                        </a:lnSpc>
                      </a:pPr>
                      <a:r>
                        <a:rPr lang="zh-CN" altLang="en-US" sz="9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9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9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H21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5</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6</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dirty="0">
                          <a:latin typeface="微软雅黑" panose="020B0503020204020204" pitchFamily="34" charset="-122"/>
                          <a:ea typeface="微软雅黑" panose="020B0503020204020204" pitchFamily="34" charset="-122"/>
                        </a:rPr>
                        <a:t>√</a:t>
                      </a:r>
                      <a:endParaRPr lang="en-US" altLang="zh-CN" sz="9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三</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成果二、开展评价指标间相关性与权重分析，建立三维两级量化评价结构</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dirty="0">
                <a:solidFill>
                  <a:prstClr val="black"/>
                </a:solidFill>
                <a:latin typeface="微软雅黑" panose="020B0503020204020204" pitchFamily="34" charset="-122"/>
                <a:ea typeface="微软雅黑" panose="020B0503020204020204" pitchFamily="34" charset="-122"/>
              </a:rPr>
              <a:t>现状及存在问题</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当前压裂效果评价手段多样，但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井下与井口监测、曲线分析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等方法各自为政，缺乏统一框架，难以支撑效果客观对比</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不同监测与评价指标间</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关联度不清晰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，难以识别关键驱动因素，技术筛选缺乏</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量化依据</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当前多依赖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人工经验</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解释监测信号及施工曲线，分析结果离散性大，</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难以</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实现压裂效果的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客观</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量化评价</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12" name="TextBox 23"/>
          <p:cNvSpPr>
            <a:spLocks noChangeArrowheads="1"/>
          </p:cNvSpPr>
          <p:nvPr>
            <p:custDataLst>
              <p:tags r:id="rId1"/>
            </p:custDataLst>
          </p:nvPr>
        </p:nvSpPr>
        <p:spPr bwMode="auto">
          <a:xfrm>
            <a:off x="215900" y="6074410"/>
            <a:ext cx="1174559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压裂效果评价方法现状</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p:cNvPicPr>
            <a:picLocks noChangeAspect="1"/>
          </p:cNvPicPr>
          <p:nvPr/>
        </p:nvPicPr>
        <p:blipFill>
          <a:blip r:embed="rId2"/>
          <a:stretch>
            <a:fillRect/>
          </a:stretch>
        </p:blipFill>
        <p:spPr>
          <a:xfrm>
            <a:off x="216535" y="2511425"/>
            <a:ext cx="2874645" cy="1504315"/>
          </a:xfrm>
          <a:prstGeom prst="rect">
            <a:avLst/>
          </a:prstGeom>
          <a:ln>
            <a:noFill/>
          </a:ln>
        </p:spPr>
      </p:pic>
      <p:pic>
        <p:nvPicPr>
          <p:cNvPr id="14" name="图片 13"/>
          <p:cNvPicPr>
            <a:picLocks noChangeAspect="1"/>
          </p:cNvPicPr>
          <p:nvPr/>
        </p:nvPicPr>
        <p:blipFill>
          <a:blip r:embed="rId3"/>
          <a:stretch>
            <a:fillRect/>
          </a:stretch>
        </p:blipFill>
        <p:spPr>
          <a:xfrm>
            <a:off x="215900" y="5801360"/>
            <a:ext cx="2875280" cy="271145"/>
          </a:xfrm>
          <a:prstGeom prst="rect">
            <a:avLst/>
          </a:prstGeom>
          <a:ln>
            <a:noFill/>
          </a:ln>
        </p:spPr>
      </p:pic>
      <p:pic>
        <p:nvPicPr>
          <p:cNvPr id="15" name="图片 14"/>
          <p:cNvPicPr>
            <a:picLocks noChangeAspect="1"/>
          </p:cNvPicPr>
          <p:nvPr/>
        </p:nvPicPr>
        <p:blipFill>
          <a:blip r:embed="rId4"/>
          <a:stretch>
            <a:fillRect/>
          </a:stretch>
        </p:blipFill>
        <p:spPr>
          <a:xfrm>
            <a:off x="217170" y="4141470"/>
            <a:ext cx="2874645" cy="1534160"/>
          </a:xfrm>
          <a:prstGeom prst="rect">
            <a:avLst/>
          </a:prstGeom>
          <a:ln>
            <a:noFill/>
          </a:ln>
        </p:spPr>
      </p:pic>
      <p:sp>
        <p:nvSpPr>
          <p:cNvPr id="16" name="文本框 15"/>
          <p:cNvSpPr txBox="1"/>
          <p:nvPr/>
        </p:nvSpPr>
        <p:spPr>
          <a:xfrm>
            <a:off x="2504440" y="2583180"/>
            <a:ext cx="675005" cy="845820"/>
          </a:xfrm>
          <a:prstGeom prst="rect">
            <a:avLst/>
          </a:prstGeom>
          <a:noFill/>
          <a:ln>
            <a:noFill/>
          </a:ln>
        </p:spPr>
        <p:txBody>
          <a:bodyPr wrap="square"/>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井下</a:t>
            </a:r>
            <a:endParaRPr lang="zh-CN" altLang="en-US" sz="1600" b="1"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光纤</a:t>
            </a:r>
            <a:endParaRPr lang="zh-CN" altLang="en-US" sz="1600" b="1"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监测</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pic>
        <p:nvPicPr>
          <p:cNvPr id="126" name="图片 125" descr="图片3"/>
          <p:cNvPicPr>
            <a:picLocks noChangeAspect="1"/>
          </p:cNvPicPr>
          <p:nvPr/>
        </p:nvPicPr>
        <p:blipFill>
          <a:blip r:embed="rId5"/>
          <a:stretch>
            <a:fillRect/>
          </a:stretch>
        </p:blipFill>
        <p:spPr>
          <a:xfrm>
            <a:off x="7443470" y="2450465"/>
            <a:ext cx="4561205" cy="2262505"/>
          </a:xfrm>
          <a:prstGeom prst="rect">
            <a:avLst/>
          </a:prstGeom>
        </p:spPr>
      </p:pic>
      <p:pic>
        <p:nvPicPr>
          <p:cNvPr id="127" name="图片 126" descr="图片4"/>
          <p:cNvPicPr>
            <a:picLocks noChangeAspect="1"/>
          </p:cNvPicPr>
          <p:nvPr/>
        </p:nvPicPr>
        <p:blipFill>
          <a:blip r:embed="rId6"/>
          <a:stretch>
            <a:fillRect/>
          </a:stretch>
        </p:blipFill>
        <p:spPr>
          <a:xfrm>
            <a:off x="3179445" y="2511425"/>
            <a:ext cx="4180205" cy="2201545"/>
          </a:xfrm>
          <a:prstGeom prst="rect">
            <a:avLst/>
          </a:prstGeom>
        </p:spPr>
      </p:pic>
      <p:sp>
        <p:nvSpPr>
          <p:cNvPr id="23" name="文本框 22"/>
          <p:cNvSpPr txBox="1"/>
          <p:nvPr/>
        </p:nvSpPr>
        <p:spPr>
          <a:xfrm>
            <a:off x="5579745" y="4397375"/>
            <a:ext cx="1863725" cy="315595"/>
          </a:xfrm>
          <a:prstGeom prst="rect">
            <a:avLst/>
          </a:prstGeom>
          <a:noFill/>
          <a:ln>
            <a:noFill/>
          </a:ln>
        </p:spPr>
        <p:txBody>
          <a:bodyPr wrap="square"/>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井口水击监测</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pic>
        <p:nvPicPr>
          <p:cNvPr id="35"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79445" y="4756150"/>
            <a:ext cx="3312795" cy="127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38"/>
          <p:cNvPicPr/>
          <p:nvPr/>
        </p:nvPicPr>
        <p:blipFill>
          <a:blip r:embed="rId8"/>
          <a:stretch>
            <a:fillRect/>
          </a:stretch>
        </p:blipFill>
        <p:spPr>
          <a:xfrm>
            <a:off x="6579870" y="4748530"/>
            <a:ext cx="2282825" cy="1286510"/>
          </a:xfrm>
          <a:prstGeom prst="rect">
            <a:avLst/>
          </a:prstGeom>
        </p:spPr>
      </p:pic>
      <p:pic>
        <p:nvPicPr>
          <p:cNvPr id="24" name="图片 23"/>
          <p:cNvPicPr>
            <a:picLocks noChangeAspect="1"/>
          </p:cNvPicPr>
          <p:nvPr/>
        </p:nvPicPr>
        <p:blipFill>
          <a:blip r:embed="rId9"/>
          <a:srcRect b="2236"/>
          <a:stretch>
            <a:fillRect/>
          </a:stretch>
        </p:blipFill>
        <p:spPr>
          <a:xfrm>
            <a:off x="8950325" y="4774565"/>
            <a:ext cx="3012440" cy="1234440"/>
          </a:xfrm>
          <a:prstGeom prst="rect">
            <a:avLst/>
          </a:prstGeom>
        </p:spPr>
      </p:pic>
      <p:sp>
        <p:nvSpPr>
          <p:cNvPr id="25" name="文本框 24"/>
          <p:cNvSpPr txBox="1"/>
          <p:nvPr/>
        </p:nvSpPr>
        <p:spPr>
          <a:xfrm>
            <a:off x="6998970" y="4774565"/>
            <a:ext cx="1863725" cy="315595"/>
          </a:xfrm>
          <a:prstGeom prst="rect">
            <a:avLst/>
          </a:prstGeom>
          <a:noFill/>
          <a:ln>
            <a:noFill/>
          </a:ln>
        </p:spPr>
        <p:txBody>
          <a:bodyPr wrap="square"/>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曲线分析方法</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dirty="0">
                <a:solidFill>
                  <a:prstClr val="black"/>
                </a:solidFill>
                <a:latin typeface="微软雅黑" panose="020B0503020204020204" pitchFamily="34" charset="-122"/>
                <a:ea typeface="微软雅黑" panose="020B0503020204020204" pitchFamily="34" charset="-122"/>
              </a:rPr>
              <a:t>研究思路</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对现有监测技术与评价手段开展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系统调研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全面梳理各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技术原理、国内外研究</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现状</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及矿场应用</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分析不同评价指标间的相互</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关联性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，构建指标间的逻辑联系，提炼表征压裂效果的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核心指标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构建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指标定量化</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权重确定</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方法，形成多技术融合的评价框架，实现压裂效果的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综合量化评估</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132715" y="2698115"/>
            <a:ext cx="3135630" cy="3279140"/>
          </a:xfrm>
          <a:prstGeom prst="rect">
            <a:avLst/>
          </a:prstGeom>
        </p:spPr>
      </p:pic>
      <p:pic>
        <p:nvPicPr>
          <p:cNvPr id="2" name="图片 1"/>
          <p:cNvPicPr>
            <a:picLocks noChangeAspect="1"/>
          </p:cNvPicPr>
          <p:nvPr/>
        </p:nvPicPr>
        <p:blipFill>
          <a:blip r:embed="rId2"/>
          <a:stretch>
            <a:fillRect/>
          </a:stretch>
        </p:blipFill>
        <p:spPr>
          <a:xfrm>
            <a:off x="8672830" y="2698115"/>
            <a:ext cx="3359785" cy="2026920"/>
          </a:xfrm>
          <a:prstGeom prst="rect">
            <a:avLst/>
          </a:prstGeom>
        </p:spPr>
      </p:pic>
      <p:pic>
        <p:nvPicPr>
          <p:cNvPr id="17" name="图片 16"/>
          <p:cNvPicPr>
            <a:picLocks noChangeAspect="1"/>
          </p:cNvPicPr>
          <p:nvPr/>
        </p:nvPicPr>
        <p:blipFill>
          <a:blip r:embed="rId3"/>
          <a:stretch>
            <a:fillRect/>
          </a:stretch>
        </p:blipFill>
        <p:spPr>
          <a:xfrm>
            <a:off x="8742680" y="4799330"/>
            <a:ext cx="3219450" cy="1275080"/>
          </a:xfrm>
          <a:prstGeom prst="rect">
            <a:avLst/>
          </a:prstGeom>
        </p:spPr>
      </p:pic>
      <p:sp>
        <p:nvSpPr>
          <p:cNvPr id="14" name="TextBox 23"/>
          <p:cNvSpPr>
            <a:spLocks noChangeArrowheads="1"/>
          </p:cNvSpPr>
          <p:nvPr>
            <p:custDataLst>
              <p:tags r:id="rId4"/>
            </p:custDataLst>
          </p:nvPr>
        </p:nvSpPr>
        <p:spPr bwMode="auto">
          <a:xfrm>
            <a:off x="133350" y="6074410"/>
            <a:ext cx="300672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prstClr val="black"/>
                </a:solidFill>
                <a:latin typeface="微软雅黑" panose="020B0503020204020204" pitchFamily="34" charset="-122"/>
                <a:ea typeface="微软雅黑" panose="020B0503020204020204" pitchFamily="34" charset="-122"/>
                <a:sym typeface="+mn-ea"/>
              </a:rPr>
              <a:t>可控源电磁技术原理</a:t>
            </a:r>
            <a:endParaRPr lang="zh-CN" altLang="en-US" sz="1200" dirty="0">
              <a:solidFill>
                <a:prstClr val="black"/>
              </a:solidFill>
              <a:latin typeface="微软雅黑" panose="020B0503020204020204" pitchFamily="34" charset="-122"/>
              <a:ea typeface="微软雅黑" panose="020B0503020204020204" pitchFamily="34" charset="-122"/>
              <a:sym typeface="+mn-ea"/>
            </a:endParaRPr>
          </a:p>
        </p:txBody>
      </p:sp>
      <p:sp>
        <p:nvSpPr>
          <p:cNvPr id="15" name="TextBox 23"/>
          <p:cNvSpPr>
            <a:spLocks noChangeArrowheads="1"/>
          </p:cNvSpPr>
          <p:nvPr>
            <p:custDataLst>
              <p:tags r:id="rId5"/>
            </p:custDataLst>
          </p:nvPr>
        </p:nvSpPr>
        <p:spPr bwMode="auto">
          <a:xfrm>
            <a:off x="3139440" y="6076315"/>
            <a:ext cx="553339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prstClr val="black"/>
                </a:solidFill>
                <a:latin typeface="微软雅黑" panose="020B0503020204020204" pitchFamily="34" charset="-122"/>
                <a:ea typeface="微软雅黑" panose="020B0503020204020204" pitchFamily="34" charset="-122"/>
                <a:sym typeface="+mn-ea"/>
              </a:rPr>
              <a:t>声纳远探国内外研究现状</a:t>
            </a:r>
            <a:endParaRPr lang="zh-CN" altLang="en-US" sz="1200" dirty="0">
              <a:solidFill>
                <a:prstClr val="black"/>
              </a:solidFill>
              <a:latin typeface="微软雅黑" panose="020B0503020204020204" pitchFamily="34" charset="-122"/>
              <a:ea typeface="微软雅黑" panose="020B0503020204020204" pitchFamily="34" charset="-122"/>
              <a:sym typeface="+mn-ea"/>
            </a:endParaRPr>
          </a:p>
        </p:txBody>
      </p:sp>
      <p:sp>
        <p:nvSpPr>
          <p:cNvPr id="18" name="TextBox 23"/>
          <p:cNvSpPr>
            <a:spLocks noChangeArrowheads="1"/>
          </p:cNvSpPr>
          <p:nvPr>
            <p:custDataLst>
              <p:tags r:id="rId6"/>
            </p:custDataLst>
          </p:nvPr>
        </p:nvSpPr>
        <p:spPr bwMode="auto">
          <a:xfrm>
            <a:off x="8742680" y="6077585"/>
            <a:ext cx="322008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prstClr val="black"/>
                </a:solidFill>
                <a:latin typeface="微软雅黑" panose="020B0503020204020204" pitchFamily="34" charset="-122"/>
                <a:ea typeface="微软雅黑" panose="020B0503020204020204" pitchFamily="34" charset="-122"/>
                <a:sym typeface="+mn-ea"/>
              </a:rPr>
              <a:t>井下电视矿场应用</a:t>
            </a:r>
            <a:endParaRPr lang="zh-CN" altLang="en-US" sz="1200" dirty="0">
              <a:solidFill>
                <a:prstClr val="black"/>
              </a:solidFill>
              <a:latin typeface="微软雅黑" panose="020B0503020204020204" pitchFamily="34" charset="-122"/>
              <a:ea typeface="微软雅黑" panose="020B0503020204020204" pitchFamily="34" charset="-122"/>
              <a:sym typeface="+mn-ea"/>
            </a:endParaRPr>
          </a:p>
        </p:txBody>
      </p:sp>
      <p:graphicFrame>
        <p:nvGraphicFramePr>
          <p:cNvPr id="6" name="对象 5"/>
          <p:cNvGraphicFramePr/>
          <p:nvPr/>
        </p:nvGraphicFramePr>
        <p:xfrm>
          <a:off x="3139440" y="2698115"/>
          <a:ext cx="5532120" cy="3279140"/>
        </p:xfrm>
        <a:graphic>
          <a:graphicData uri="http://schemas.openxmlformats.org/presentationml/2006/ole">
            <mc:AlternateContent xmlns:mc="http://schemas.openxmlformats.org/markup-compatibility/2006">
              <mc:Choice xmlns:v="urn:schemas-microsoft-com:vml" Requires="v">
                <p:oleObj spid="_x0000_s7" name="" r:id="rId7" imgW="11559540" imgH="5638800" progId="Paint.Picture">
                  <p:embed/>
                </p:oleObj>
              </mc:Choice>
              <mc:Fallback>
                <p:oleObj name="" r:id="rId7" imgW="11559540" imgH="5638800" progId="Paint.Picture">
                  <p:embed/>
                  <p:pic>
                    <p:nvPicPr>
                      <p:cNvPr id="0" name="图片 6"/>
                      <p:cNvPicPr/>
                      <p:nvPr/>
                    </p:nvPicPr>
                    <p:blipFill>
                      <a:blip r:embed="rId8"/>
                      <a:stretch>
                        <a:fillRect/>
                      </a:stretch>
                    </p:blipFill>
                    <p:spPr>
                      <a:xfrm>
                        <a:off x="3139440" y="2698115"/>
                        <a:ext cx="5532120" cy="3279140"/>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dirty="0">
                <a:solidFill>
                  <a:prstClr val="black"/>
                </a:solidFill>
                <a:latin typeface="微软雅黑" panose="020B0503020204020204" pitchFamily="34" charset="-122"/>
                <a:ea typeface="微软雅黑" panose="020B0503020204020204" pitchFamily="34" charset="-122"/>
              </a:rPr>
              <a:t>调研概况</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sym typeface="+mn-ea"/>
              </a:rPr>
              <a:t>压裂效果评价技术总体可分为依赖</a:t>
            </a:r>
            <a:r>
              <a:rPr lang="zh-CN" altLang="en-US" sz="1600" dirty="0">
                <a:solidFill>
                  <a:srgbClr val="FF0000"/>
                </a:solidFill>
                <a:latin typeface="微软雅黑" panose="020B0503020204020204" pitchFamily="34" charset="-122"/>
                <a:ea typeface="微软雅黑" panose="020B0503020204020204" pitchFamily="34" charset="-122"/>
                <a:sym typeface="+mn-ea"/>
              </a:rPr>
              <a:t>外加监测</a:t>
            </a:r>
            <a:r>
              <a:rPr lang="zh-CN" altLang="en-US" sz="1600" dirty="0">
                <a:solidFill>
                  <a:prstClr val="black"/>
                </a:solidFill>
                <a:latin typeface="微软雅黑" panose="020B0503020204020204" pitchFamily="34" charset="-122"/>
                <a:ea typeface="微软雅黑" panose="020B0503020204020204" pitchFamily="34" charset="-122"/>
                <a:sym typeface="+mn-ea"/>
              </a:rPr>
              <a:t>的高投入方法与基于</a:t>
            </a:r>
            <a:r>
              <a:rPr lang="zh-CN" altLang="en-US" sz="1600" dirty="0">
                <a:solidFill>
                  <a:srgbClr val="FF0000"/>
                </a:solidFill>
                <a:latin typeface="微软雅黑" panose="020B0503020204020204" pitchFamily="34" charset="-122"/>
                <a:ea typeface="微软雅黑" panose="020B0503020204020204" pitchFamily="34" charset="-122"/>
                <a:sym typeface="+mn-ea"/>
              </a:rPr>
              <a:t>施工数据</a:t>
            </a:r>
            <a:r>
              <a:rPr lang="zh-CN" altLang="en-US" sz="1600" dirty="0">
                <a:solidFill>
                  <a:prstClr val="black"/>
                </a:solidFill>
                <a:latin typeface="微软雅黑" panose="020B0503020204020204" pitchFamily="34" charset="-122"/>
                <a:ea typeface="微软雅黑" panose="020B0503020204020204" pitchFamily="34" charset="-122"/>
                <a:sym typeface="+mn-ea"/>
              </a:rPr>
              <a:t>的低成本方法</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sym typeface="+mn-ea"/>
              </a:rPr>
              <a:t>从监测布置位置可将外加监测手段划分为</a:t>
            </a:r>
            <a:r>
              <a:rPr lang="zh-CN" altLang="en-US" sz="1600" dirty="0">
                <a:solidFill>
                  <a:srgbClr val="FF0000"/>
                </a:solidFill>
                <a:latin typeface="微软雅黑" panose="020B0503020204020204" pitchFamily="34" charset="-122"/>
                <a:ea typeface="微软雅黑" panose="020B0503020204020204" pitchFamily="34" charset="-122"/>
                <a:sym typeface="+mn-ea"/>
              </a:rPr>
              <a:t>井下与井口</a:t>
            </a:r>
            <a:r>
              <a:rPr lang="zh-CN" altLang="en-US" sz="1600" dirty="0">
                <a:solidFill>
                  <a:prstClr val="black"/>
                </a:solidFill>
                <a:latin typeface="微软雅黑" panose="020B0503020204020204" pitchFamily="34" charset="-122"/>
                <a:ea typeface="微软雅黑" panose="020B0503020204020204" pitchFamily="34" charset="-122"/>
                <a:sym typeface="+mn-ea"/>
              </a:rPr>
              <a:t>两大类，分别侧重裂缝内部响应与井口综合信号</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sym typeface="+mn-ea"/>
              </a:rPr>
              <a:t>施工曲线分析方法利用常规</a:t>
            </a:r>
            <a:r>
              <a:rPr lang="zh-CN" altLang="en-US" sz="1600" dirty="0">
                <a:solidFill>
                  <a:srgbClr val="FF0000"/>
                </a:solidFill>
                <a:latin typeface="微软雅黑" panose="020B0503020204020204" pitchFamily="34" charset="-122"/>
                <a:ea typeface="微软雅黑" panose="020B0503020204020204" pitchFamily="34" charset="-122"/>
                <a:sym typeface="+mn-ea"/>
              </a:rPr>
              <a:t>施工数据</a:t>
            </a:r>
            <a:r>
              <a:rPr lang="zh-CN" altLang="en-US" sz="1600" dirty="0">
                <a:solidFill>
                  <a:prstClr val="black"/>
                </a:solidFill>
                <a:latin typeface="微软雅黑" panose="020B0503020204020204" pitchFamily="34" charset="-122"/>
                <a:ea typeface="微软雅黑" panose="020B0503020204020204" pitchFamily="34" charset="-122"/>
                <a:sym typeface="+mn-ea"/>
              </a:rPr>
              <a:t>提取裂缝响应特征，可实现全过程连续、快捷的压裂效果诊断</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graphicFrame>
        <p:nvGraphicFramePr>
          <p:cNvPr id="3" name="表格 2"/>
          <p:cNvGraphicFramePr>
            <a:graphicFrameLocks noGrp="1"/>
          </p:cNvGraphicFramePr>
          <p:nvPr>
            <p:custDataLst>
              <p:tags r:id="rId1"/>
            </p:custDataLst>
          </p:nvPr>
        </p:nvGraphicFramePr>
        <p:xfrm>
          <a:off x="429895" y="2515235"/>
          <a:ext cx="11389995" cy="3970020"/>
        </p:xfrm>
        <a:graphic>
          <a:graphicData uri="http://schemas.openxmlformats.org/drawingml/2006/table">
            <a:tbl>
              <a:tblPr bandRow="1">
                <a:tableStyleId>{21E4AEA4-8DFA-4A89-87EB-49C32662AFE0}</a:tableStyleId>
              </a:tblPr>
              <a:tblGrid>
                <a:gridCol w="2658110"/>
                <a:gridCol w="8731885"/>
              </a:tblGrid>
              <a:tr h="330835">
                <a:tc>
                  <a:txBody>
                    <a:bodyPr/>
                    <a:lstStyle/>
                    <a:p>
                      <a:pPr marL="0" algn="ctr" fontAlgn="ctr">
                        <a:lnSpc>
                          <a:spcPct val="100000"/>
                        </a:lnSpc>
                        <a:buNone/>
                      </a:pP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方向</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rowSpan="4">
                  <a:txBody>
                    <a:bodyPr/>
                    <a:lstStyle/>
                    <a:p>
                      <a:pPr marL="0" algn="ctr" fontAlgn="ctr">
                        <a:lnSpc>
                          <a:spcPct val="100000"/>
                        </a:lnSpc>
                      </a:pPr>
                      <a:r>
                        <a:rPr lang="zh-CN" altLang="en-US" sz="12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井下监测技术</a:t>
                      </a:r>
                      <a:endParaRPr lang="zh-CN" altLang="en-US" sz="12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分布式光纤压裂监测技术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高分辨率井下电视压裂监测技术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可控源电磁压裂监测技术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井中微地震监测技术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rowSpan="2">
                  <a:txBody>
                    <a:bodyPr/>
                    <a:lstStyle/>
                    <a:p>
                      <a:pPr marL="0" algn="ctr" fontAlgn="ctr">
                        <a:lnSpc>
                          <a:spcPct val="100000"/>
                        </a:lnSpc>
                      </a:pPr>
                      <a:r>
                        <a:rPr lang="zh-CN" altLang="en-US" sz="12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井口监测技术</a:t>
                      </a:r>
                      <a:endParaRPr lang="zh-CN" altLang="en-US" sz="12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井口高频压力压裂监测技术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声呐远探裂缝监测技术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rowSpan="5">
                  <a:txBody>
                    <a:bodyPr/>
                    <a:lstStyle/>
                    <a:p>
                      <a:pPr marL="0" algn="ctr" fontAlgn="ctr">
                        <a:lnSpc>
                          <a:spcPct val="100000"/>
                        </a:lnSpc>
                      </a:pPr>
                      <a:r>
                        <a:rPr lang="zh-CN" altLang="en-US" sz="12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压裂施工曲线分析</a:t>
                      </a:r>
                      <a:endParaRPr lang="zh-CN" altLang="en-US" sz="12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双对数处理技术</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移动参考点（</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MRP</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离散小波变换技术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连续小波变换技术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0835">
                <a:tc vMerge="1">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G</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函数技术</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a:t>
            </a:r>
            <a:r>
              <a:rPr lang="zh-CN" altLang="en-US" dirty="0">
                <a:solidFill>
                  <a:prstClr val="black"/>
                </a:solidFill>
                <a:latin typeface="微软雅黑" panose="020B0503020204020204" pitchFamily="34" charset="-122"/>
                <a:ea typeface="微软雅黑" panose="020B0503020204020204" pitchFamily="34" charset="-122"/>
              </a:rPr>
              <a:t>、分布式光纤压裂监测技术原理（井下检测）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利用相干瑞利散射光的相位幅值大小来提供声音或振动事件强度信息，或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利用相位差计算应变</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DSS-RFS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：联合监测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布里渊散射与瑞利散射</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的频移，将二者对温度和应变的敏感性进行解耦获得高精度的应变测量绝对值</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解调仪连接到光纤电缆的一端并将激光脉冲注入光纤，然后解调仪测量反向散射信号随时间的相位变化，以获得特定标距长度上动态应变率的高分辨率测量值</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335280" y="2889250"/>
            <a:ext cx="4371975" cy="3060065"/>
          </a:xfrm>
          <a:prstGeom prst="rect">
            <a:avLst/>
          </a:prstGeom>
        </p:spPr>
      </p:pic>
      <p:pic>
        <p:nvPicPr>
          <p:cNvPr id="2" name="图片 1"/>
          <p:cNvPicPr>
            <a:picLocks noChangeAspect="1"/>
          </p:cNvPicPr>
          <p:nvPr/>
        </p:nvPicPr>
        <p:blipFill rotWithShape="1">
          <a:blip r:embed="rId2"/>
          <a:srcRect l="8137" t="40456"/>
          <a:stretch>
            <a:fillRect/>
          </a:stretch>
        </p:blipFill>
        <p:spPr>
          <a:xfrm>
            <a:off x="4707255" y="2544445"/>
            <a:ext cx="1936750" cy="1269365"/>
          </a:xfrm>
          <a:prstGeom prst="rect">
            <a:avLst/>
          </a:prstGeom>
        </p:spPr>
      </p:pic>
      <p:pic>
        <p:nvPicPr>
          <p:cNvPr id="3" name="图片 2"/>
          <p:cNvPicPr>
            <a:picLocks noChangeAspect="1"/>
          </p:cNvPicPr>
          <p:nvPr/>
        </p:nvPicPr>
        <p:blipFill>
          <a:blip r:embed="rId3"/>
          <a:srcRect r="27986"/>
          <a:stretch>
            <a:fillRect/>
          </a:stretch>
        </p:blipFill>
        <p:spPr>
          <a:xfrm>
            <a:off x="4606290" y="3911600"/>
            <a:ext cx="4096385" cy="2037715"/>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6330" y="2602230"/>
            <a:ext cx="3150870" cy="130937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2675" y="4051300"/>
            <a:ext cx="3187700" cy="1898015"/>
          </a:xfrm>
          <a:prstGeom prst="rect">
            <a:avLst/>
          </a:prstGeom>
        </p:spPr>
      </p:pic>
      <p:pic>
        <p:nvPicPr>
          <p:cNvPr id="6" name="图片 5" descr="图片1"/>
          <p:cNvPicPr>
            <a:picLocks noChangeAspect="1"/>
          </p:cNvPicPr>
          <p:nvPr/>
        </p:nvPicPr>
        <p:blipFill>
          <a:blip r:embed="rId6"/>
          <a:stretch>
            <a:fillRect/>
          </a:stretch>
        </p:blipFill>
        <p:spPr>
          <a:xfrm>
            <a:off x="6748145" y="2954655"/>
            <a:ext cx="1884680" cy="604520"/>
          </a:xfrm>
          <a:prstGeom prst="rect">
            <a:avLst/>
          </a:prstGeom>
        </p:spPr>
      </p:pic>
      <p:sp>
        <p:nvSpPr>
          <p:cNvPr id="28" name="矩形 22"/>
          <p:cNvSpPr>
            <a:spLocks noChangeArrowheads="1"/>
          </p:cNvSpPr>
          <p:nvPr/>
        </p:nvSpPr>
        <p:spPr bwMode="auto">
          <a:xfrm>
            <a:off x="421640" y="6076315"/>
            <a:ext cx="42856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利用相干瑞利散射光的相位幅值计算应变</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7" name="矩形 22"/>
          <p:cNvSpPr>
            <a:spLocks noChangeArrowheads="1"/>
          </p:cNvSpPr>
          <p:nvPr/>
        </p:nvSpPr>
        <p:spPr bwMode="auto">
          <a:xfrm>
            <a:off x="4606290" y="6076315"/>
            <a:ext cx="413004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DSS-RFS</a:t>
            </a:r>
            <a:r>
              <a:rPr lang="zh-CN" altLang="en-US" sz="1200" dirty="0">
                <a:solidFill>
                  <a:srgbClr val="000000"/>
                </a:solidFill>
                <a:latin typeface="微软雅黑" panose="020B0503020204020204" pitchFamily="34" charset="-122"/>
                <a:ea typeface="微软雅黑" panose="020B0503020204020204" pitchFamily="34" charset="-122"/>
              </a:rPr>
              <a:t>获得高精度的应变测量绝对值</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9" name="矩形 22"/>
          <p:cNvSpPr>
            <a:spLocks noChangeArrowheads="1"/>
          </p:cNvSpPr>
          <p:nvPr/>
        </p:nvSpPr>
        <p:spPr bwMode="auto">
          <a:xfrm>
            <a:off x="8702675" y="6076315"/>
            <a:ext cx="318833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使用解调仪获得动态应变率高分辨率测量值</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1"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1.2</a:t>
            </a:r>
            <a:r>
              <a:rPr lang="zh-CN" altLang="en-US" dirty="0">
                <a:solidFill>
                  <a:prstClr val="black"/>
                </a:solidFill>
                <a:latin typeface="微软雅黑" panose="020B0503020204020204" pitchFamily="34" charset="-122"/>
                <a:ea typeface="微软雅黑" panose="020B0503020204020204" pitchFamily="34" charset="-122"/>
                <a:sym typeface="+mn-ea"/>
              </a:rPr>
              <a:t>、分布式光纤压裂监测技术国内外研究现状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335280" y="1341755"/>
          <a:ext cx="11518900" cy="4615815"/>
        </p:xfrm>
        <a:graphic>
          <a:graphicData uri="http://schemas.openxmlformats.org/drawingml/2006/table">
            <a:tbl>
              <a:tblPr firstRow="1" bandRow="1">
                <a:tableStyleId>{5940675A-B579-460E-94D1-54222C63F5DA}</a:tableStyleId>
              </a:tblPr>
              <a:tblGrid>
                <a:gridCol w="1015365"/>
                <a:gridCol w="1646555"/>
                <a:gridCol w="7063105"/>
                <a:gridCol w="1793875"/>
              </a:tblGrid>
              <a:tr h="390525">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1977</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Barnoski</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Personick</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提出光时域反射理论，实现了光纤信号受外界物理场变化扰动的位置确定</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分布式光纤声波传感技术的理论研究</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r>
              <a:tr h="60388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1998</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Shatalin</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利用红外光时域反射仪验证了瑞利散射对光纤周围的应变非常敏感，为后续的应变场定量确定提供实验基础</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43" marR="91443" marT="45710" marB="45710"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2000</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Gregg</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提出了一种基于瑞利散射相位差确定光纤动态应变的方法，得到了光纤信号波形的相位与应变间的线性关系</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vMerge="1">
                  <a:tcPr marL="91443" marR="91443" marT="45710" marB="4571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r>
              <a:tr h="6045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Molenaar</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Cox</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用</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DAS</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信号沿光纤井的时空分布图判断裂缝起裂情况，证明了</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DAS</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数据在裂缝几何特征表征方面的潜力</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4">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DAS</a:t>
                      </a: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的水力压裂应变监测的理论研究和应用</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Jin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Roy</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首次基于</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应变和应变率数据研究了裂缝起裂和扩展机理，论证了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可用于确定裂缝长度和宽度范围</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43" marR="91443" marT="45710" marB="45710"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r>
              <a:tr h="60388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Karrenbach</a:t>
                      </a:r>
                      <a:endPar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观察到</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应变数据在时间和空间上与微地震事件具有良好的相关性</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Liu </a:t>
                      </a: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Yongzan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Wu </a:t>
                      </a: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kan</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首次提出了一种反演算法，通过直接反演</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应变数据来定量描述裂缝几何特征</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1.3</a:t>
            </a:r>
            <a:r>
              <a:rPr lang="zh-CN" altLang="en-US" dirty="0">
                <a:solidFill>
                  <a:prstClr val="black"/>
                </a:solidFill>
                <a:latin typeface="微软雅黑" panose="020B0503020204020204" pitchFamily="34" charset="-122"/>
                <a:ea typeface="微软雅黑" panose="020B0503020204020204" pitchFamily="34" charset="-122"/>
                <a:sym typeface="+mn-ea"/>
              </a:rPr>
              <a:t>、分布式光纤压裂监测技术矿场应用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目前邻井</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DAS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远场应变监测主要应用于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反演计算水力裂缝几何参数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压窜邻井评价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多簇裂缝扩展均匀性评价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等方面。水力压裂矿场实验表明目前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水平邻井</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DAS</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监测的井距一般在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250m</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左右，</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垂直邻井监测的井距一般在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70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140m</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。在以上监测距离条件下，水平邻井</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DAS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监测到的裂缝条数大约占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总射孔簇数的</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40%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60%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334645" y="2513330"/>
            <a:ext cx="3240000" cy="1695349"/>
          </a:xfrm>
          <a:prstGeom prst="rect">
            <a:avLst/>
          </a:prstGeom>
        </p:spPr>
      </p:pic>
      <p:pic>
        <p:nvPicPr>
          <p:cNvPr id="3" name="图片 2"/>
          <p:cNvPicPr>
            <a:picLocks noChangeAspect="1"/>
          </p:cNvPicPr>
          <p:nvPr/>
        </p:nvPicPr>
        <p:blipFill>
          <a:blip r:embed="rId2"/>
          <a:stretch>
            <a:fillRect/>
          </a:stretch>
        </p:blipFill>
        <p:spPr>
          <a:xfrm>
            <a:off x="335280" y="5981065"/>
            <a:ext cx="3240000" cy="305353"/>
          </a:xfrm>
          <a:prstGeom prst="rect">
            <a:avLst/>
          </a:prstGeom>
        </p:spPr>
      </p:pic>
      <p:pic>
        <p:nvPicPr>
          <p:cNvPr id="7" name="图片 6"/>
          <p:cNvPicPr>
            <a:picLocks noChangeAspect="1"/>
          </p:cNvPicPr>
          <p:nvPr/>
        </p:nvPicPr>
        <p:blipFill>
          <a:blip r:embed="rId3"/>
          <a:stretch>
            <a:fillRect/>
          </a:stretch>
        </p:blipFill>
        <p:spPr>
          <a:xfrm>
            <a:off x="335280" y="4230370"/>
            <a:ext cx="3240000" cy="1729077"/>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1750" y="2513330"/>
            <a:ext cx="3239770" cy="1729740"/>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1750" y="4281805"/>
            <a:ext cx="3240000" cy="1922384"/>
          </a:xfrm>
          <a:prstGeom prst="rect">
            <a:avLst/>
          </a:prstGeom>
        </p:spPr>
      </p:pic>
      <p:sp>
        <p:nvSpPr>
          <p:cNvPr id="28" name="矩形 22"/>
          <p:cNvSpPr>
            <a:spLocks noChangeArrowheads="1"/>
          </p:cNvSpPr>
          <p:nvPr/>
        </p:nvSpPr>
        <p:spPr bwMode="auto">
          <a:xfrm>
            <a:off x="335280" y="6235065"/>
            <a:ext cx="32397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水平邻井低频</a:t>
            </a:r>
            <a:r>
              <a:rPr lang="en-US" altLang="zh-CN" sz="1200" dirty="0">
                <a:solidFill>
                  <a:srgbClr val="000000"/>
                </a:solidFill>
                <a:latin typeface="微软雅黑" panose="020B0503020204020204" pitchFamily="34" charset="-122"/>
                <a:ea typeface="微软雅黑" panose="020B0503020204020204" pitchFamily="34" charset="-122"/>
              </a:rPr>
              <a:t>DAS</a:t>
            </a:r>
            <a:r>
              <a:rPr lang="zh-CN" altLang="en-US" sz="1200" dirty="0">
                <a:solidFill>
                  <a:srgbClr val="000000"/>
                </a:solidFill>
                <a:latin typeface="微软雅黑" panose="020B0503020204020204" pitchFamily="34" charset="-122"/>
                <a:ea typeface="微软雅黑" panose="020B0503020204020204" pitchFamily="34" charset="-122"/>
              </a:rPr>
              <a:t>应变监测解释模型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1" name="矩形 22"/>
          <p:cNvSpPr>
            <a:spLocks noChangeArrowheads="1"/>
          </p:cNvSpPr>
          <p:nvPr/>
        </p:nvSpPr>
        <p:spPr bwMode="auto">
          <a:xfrm>
            <a:off x="3841750" y="6242685"/>
            <a:ext cx="32397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垂直邻井低频</a:t>
            </a:r>
            <a:r>
              <a:rPr lang="en-US" altLang="zh-CN" sz="1200" dirty="0">
                <a:solidFill>
                  <a:srgbClr val="000000"/>
                </a:solidFill>
                <a:latin typeface="微软雅黑" panose="020B0503020204020204" pitchFamily="34" charset="-122"/>
                <a:ea typeface="微软雅黑" panose="020B0503020204020204" pitchFamily="34" charset="-122"/>
              </a:rPr>
              <a:t>DAS</a:t>
            </a:r>
            <a:r>
              <a:rPr lang="zh-CN" altLang="en-US" sz="1200" dirty="0">
                <a:solidFill>
                  <a:srgbClr val="000000"/>
                </a:solidFill>
                <a:latin typeface="微软雅黑" panose="020B0503020204020204" pitchFamily="34" charset="-122"/>
                <a:ea typeface="微软雅黑" panose="020B0503020204020204" pitchFamily="34" charset="-122"/>
              </a:rPr>
              <a:t>应变监测解释模型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18" name="object 10"/>
          <p:cNvGrpSpPr/>
          <p:nvPr/>
        </p:nvGrpSpPr>
        <p:grpSpPr>
          <a:xfrm>
            <a:off x="7214870" y="2511425"/>
            <a:ext cx="4605020" cy="1769745"/>
            <a:chOff x="428244" y="1495044"/>
            <a:chExt cx="5526405" cy="4232275"/>
          </a:xfrm>
        </p:grpSpPr>
        <p:pic>
          <p:nvPicPr>
            <p:cNvPr id="19" name="object 11"/>
            <p:cNvPicPr/>
            <p:nvPr/>
          </p:nvPicPr>
          <p:blipFill>
            <a:blip r:embed="rId6" cstate="print"/>
            <a:stretch>
              <a:fillRect/>
            </a:stretch>
          </p:blipFill>
          <p:spPr>
            <a:xfrm>
              <a:off x="448056" y="1514856"/>
              <a:ext cx="5486400" cy="4192524"/>
            </a:xfrm>
            <a:prstGeom prst="rect">
              <a:avLst/>
            </a:prstGeom>
          </p:spPr>
        </p:pic>
        <p:sp>
          <p:nvSpPr>
            <p:cNvPr id="20" name="object 12"/>
            <p:cNvSpPr/>
            <p:nvPr/>
          </p:nvSpPr>
          <p:spPr>
            <a:xfrm>
              <a:off x="438150" y="1504950"/>
              <a:ext cx="5506720" cy="4212590"/>
            </a:xfrm>
            <a:custGeom>
              <a:avLst/>
              <a:gdLst/>
              <a:ahLst/>
              <a:cxnLst/>
              <a:rect l="l" t="t" r="r" b="b"/>
              <a:pathLst>
                <a:path w="5506720" h="4212590">
                  <a:moveTo>
                    <a:pt x="0" y="4212336"/>
                  </a:moveTo>
                  <a:lnTo>
                    <a:pt x="5506212" y="4212336"/>
                  </a:lnTo>
                  <a:lnTo>
                    <a:pt x="5506212" y="0"/>
                  </a:lnTo>
                  <a:lnTo>
                    <a:pt x="0" y="0"/>
                  </a:lnTo>
                  <a:lnTo>
                    <a:pt x="0" y="4212336"/>
                  </a:lnTo>
                  <a:close/>
                </a:path>
              </a:pathLst>
            </a:custGeom>
            <a:ln w="19812">
              <a:solidFill>
                <a:srgbClr val="79797B"/>
              </a:solidFill>
            </a:ln>
          </p:spPr>
          <p:txBody>
            <a:bodyPr wrap="square" lIns="0" tIns="0" rIns="0" bIns="0" rtlCol="0"/>
            <a:lstStyle/>
            <a:p/>
          </p:txBody>
        </p:sp>
        <p:sp>
          <p:nvSpPr>
            <p:cNvPr id="21" name="object 13"/>
            <p:cNvSpPr/>
            <p:nvPr/>
          </p:nvSpPr>
          <p:spPr>
            <a:xfrm>
              <a:off x="582930" y="1733550"/>
              <a:ext cx="4987290" cy="3653790"/>
            </a:xfrm>
            <a:custGeom>
              <a:avLst/>
              <a:gdLst/>
              <a:ahLst/>
              <a:cxnLst/>
              <a:rect l="l" t="t" r="r" b="b"/>
              <a:pathLst>
                <a:path w="4987290" h="3653790">
                  <a:moveTo>
                    <a:pt x="2314956" y="0"/>
                  </a:moveTo>
                  <a:lnTo>
                    <a:pt x="2314956" y="3653663"/>
                  </a:lnTo>
                </a:path>
                <a:path w="4987290" h="3653790">
                  <a:moveTo>
                    <a:pt x="3387852" y="0"/>
                  </a:moveTo>
                  <a:lnTo>
                    <a:pt x="3387852" y="3653663"/>
                  </a:lnTo>
                </a:path>
                <a:path w="4987290" h="3653790">
                  <a:moveTo>
                    <a:pt x="0" y="1696212"/>
                  </a:moveTo>
                  <a:lnTo>
                    <a:pt x="4987290" y="1696212"/>
                  </a:lnTo>
                </a:path>
              </a:pathLst>
            </a:custGeom>
            <a:ln w="38100">
              <a:solidFill>
                <a:srgbClr val="FFFFFF"/>
              </a:solidFill>
              <a:prstDash val="lgDash"/>
            </a:ln>
          </p:spPr>
          <p:txBody>
            <a:bodyPr wrap="square" lIns="0" tIns="0" rIns="0" bIns="0" rtlCol="0"/>
            <a:lstStyle/>
            <a:p/>
          </p:txBody>
        </p:sp>
      </p:grpSp>
      <p:sp>
        <p:nvSpPr>
          <p:cNvPr id="22" name="矩形 22"/>
          <p:cNvSpPr>
            <a:spLocks noChangeArrowheads="1"/>
          </p:cNvSpPr>
          <p:nvPr/>
        </p:nvSpPr>
        <p:spPr bwMode="auto">
          <a:xfrm>
            <a:off x="7231380" y="6242685"/>
            <a:ext cx="45878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现场案例，单簇裂缝（上），多簇裂缝（下）</a:t>
            </a:r>
            <a:endParaRPr lang="zh-CN" sz="1200" dirty="0">
              <a:solidFill>
                <a:srgbClr val="000000"/>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7">
            <a:extLst>
              <a:ext uri="{28A0092B-C50C-407E-A947-70E740481C1C}">
                <a14:useLocalDpi xmlns:a14="http://schemas.microsoft.com/office/drawing/2010/main" val="0"/>
              </a:ext>
            </a:extLst>
          </a:blip>
          <a:srcRect t="7487" r="52506"/>
          <a:stretch>
            <a:fillRect/>
          </a:stretch>
        </p:blipFill>
        <p:spPr>
          <a:xfrm>
            <a:off x="7173595" y="4367530"/>
            <a:ext cx="4646295" cy="1910080"/>
          </a:xfrm>
          <a:prstGeom prst="rect">
            <a:avLst/>
          </a:prstGeom>
        </p:spPr>
      </p:pic>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2.1</a:t>
            </a:r>
            <a:r>
              <a:rPr lang="zh-CN" altLang="en-US" dirty="0">
                <a:solidFill>
                  <a:prstClr val="black"/>
                </a:solidFill>
                <a:latin typeface="微软雅黑" panose="020B0503020204020204" pitchFamily="34" charset="-122"/>
                <a:ea typeface="微软雅黑" panose="020B0503020204020204" pitchFamily="34" charset="-122"/>
              </a:rPr>
              <a:t>、高分辨率井下电视压裂监测技术原理（井下监测）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井下电视测井技术最早出现于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50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年代，其发展主要经历了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模拟井下电视、鹰眼井下电视和可视化测井装备</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个阶段</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模拟井下电视：技术核心特征是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模拟视频信号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，采用特种电缆传输，分为同轴电缆井下电视和光纤井下电视</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鹰眼井下电视：技术核心特征是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数字图像</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，通用铠装单芯测井电缆传输，视频图像帧率低，延迟大</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可视化测井装备：技术核心特征是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彩色全帧率视频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，电缆高速传输，视频图像传输流畅，延迟低，并且实现了定量测量，应用于射孔压裂效果监测，提高了压裂后井筒的认识水平</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22"/>
          <p:cNvSpPr>
            <a:spLocks noChangeArrowheads="1"/>
          </p:cNvSpPr>
          <p:nvPr/>
        </p:nvSpPr>
        <p:spPr bwMode="auto">
          <a:xfrm>
            <a:off x="709930" y="6076315"/>
            <a:ext cx="39871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井下电视设备</a:t>
            </a:r>
            <a:endParaRPr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1"/>
          <a:stretch>
            <a:fillRect/>
          </a:stretch>
        </p:blipFill>
        <p:spPr>
          <a:xfrm>
            <a:off x="5279390" y="3197225"/>
            <a:ext cx="2742565" cy="1325880"/>
          </a:xfrm>
          <a:prstGeom prst="rect">
            <a:avLst/>
          </a:prstGeom>
        </p:spPr>
      </p:pic>
      <p:pic>
        <p:nvPicPr>
          <p:cNvPr id="17" name="图片 16"/>
          <p:cNvPicPr>
            <a:picLocks noChangeAspect="1"/>
          </p:cNvPicPr>
          <p:nvPr/>
        </p:nvPicPr>
        <p:blipFill>
          <a:blip r:embed="rId2"/>
          <a:srcRect t="12995" b="17935"/>
          <a:stretch>
            <a:fillRect/>
          </a:stretch>
        </p:blipFill>
        <p:spPr>
          <a:xfrm>
            <a:off x="5279390" y="4523105"/>
            <a:ext cx="2742565" cy="1415415"/>
          </a:xfrm>
          <a:prstGeom prst="rect">
            <a:avLst/>
          </a:prstGeom>
        </p:spPr>
      </p:pic>
      <p:sp>
        <p:nvSpPr>
          <p:cNvPr id="21" name="矩形 22"/>
          <p:cNvSpPr>
            <a:spLocks noChangeArrowheads="1"/>
          </p:cNvSpPr>
          <p:nvPr/>
        </p:nvSpPr>
        <p:spPr bwMode="auto">
          <a:xfrm>
            <a:off x="8138160" y="6076315"/>
            <a:ext cx="37496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井下电视结构示意图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2" name="图片 21"/>
          <p:cNvPicPr/>
          <p:nvPr/>
        </p:nvPicPr>
        <p:blipFill>
          <a:blip r:embed="rId3"/>
          <a:srcRect t="5298" b="9365"/>
          <a:stretch>
            <a:fillRect/>
          </a:stretch>
        </p:blipFill>
        <p:spPr>
          <a:xfrm>
            <a:off x="710565" y="3262630"/>
            <a:ext cx="3986530" cy="2696845"/>
          </a:xfrm>
          <a:prstGeom prst="rect">
            <a:avLst/>
          </a:prstGeom>
        </p:spPr>
      </p:pic>
      <p:pic>
        <p:nvPicPr>
          <p:cNvPr id="25" name="图片 24"/>
          <p:cNvPicPr>
            <a:picLocks noChangeAspect="1"/>
          </p:cNvPicPr>
          <p:nvPr/>
        </p:nvPicPr>
        <p:blipFill>
          <a:blip r:embed="rId4"/>
          <a:stretch>
            <a:fillRect/>
          </a:stretch>
        </p:blipFill>
        <p:spPr>
          <a:xfrm>
            <a:off x="8138160" y="3196590"/>
            <a:ext cx="3681730" cy="2741930"/>
          </a:xfrm>
          <a:prstGeom prst="rect">
            <a:avLst/>
          </a:prstGeom>
        </p:spPr>
      </p:pic>
      <p:sp>
        <p:nvSpPr>
          <p:cNvPr id="26" name="矩形 22"/>
          <p:cNvSpPr>
            <a:spLocks noChangeArrowheads="1"/>
          </p:cNvSpPr>
          <p:nvPr/>
        </p:nvSpPr>
        <p:spPr bwMode="auto">
          <a:xfrm>
            <a:off x="5280025" y="6076315"/>
            <a:ext cx="27419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井下电视</a:t>
            </a:r>
            <a:r>
              <a:rPr lang="zh-CN" altLang="en-US" sz="1200" dirty="0">
                <a:solidFill>
                  <a:srgbClr val="000000"/>
                </a:solidFill>
                <a:latin typeface="微软雅黑" panose="020B0503020204020204" pitchFamily="34" charset="-122"/>
                <a:ea typeface="微软雅黑" panose="020B0503020204020204" pitchFamily="34" charset="-122"/>
              </a:rPr>
              <a:t>视频传感器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2.2</a:t>
            </a:r>
            <a:r>
              <a:rPr lang="zh-CN" altLang="en-US" dirty="0">
                <a:solidFill>
                  <a:prstClr val="black"/>
                </a:solidFill>
                <a:latin typeface="微软雅黑" panose="020B0503020204020204" pitchFamily="34" charset="-122"/>
                <a:ea typeface="微软雅黑" panose="020B0503020204020204" pitchFamily="34" charset="-122"/>
                <a:sym typeface="+mn-ea"/>
              </a:rPr>
              <a:t>、高分辨率井下电视压裂监测技术国内外研究现状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custDataLst>
              <p:tags r:id="rId1"/>
            </p:custDataLst>
          </p:nvPr>
        </p:nvGraphicFramePr>
        <p:xfrm>
          <a:off x="335280" y="1341755"/>
          <a:ext cx="11518900" cy="4599305"/>
        </p:xfrm>
        <a:graphic>
          <a:graphicData uri="http://schemas.openxmlformats.org/drawingml/2006/table">
            <a:tbl>
              <a:tblPr firstRow="1" bandRow="1">
                <a:tableStyleId>{5940675A-B579-460E-94D1-54222C63F5DA}</a:tableStyleId>
              </a:tblPr>
              <a:tblGrid>
                <a:gridCol w="1015365"/>
                <a:gridCol w="1646555"/>
                <a:gridCol w="7063105"/>
                <a:gridCol w="1793875"/>
              </a:tblGrid>
              <a:tr h="377825">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1963</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T.R.Reinhart</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一种采用长度</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5000m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、外径</a:t>
                      </a:r>
                      <a:r>
                        <a:rPr lang="en-US" altLang="zh-CN" sz="1100" b="0" kern="0" baseline="30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9</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16</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双层铠装同轴电缆传输黑白模拟图像的井下电视。仪器直径</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a:t>
                      </a:r>
                      <a:r>
                        <a:rPr lang="en-US" altLang="zh-CN" sz="1100" b="0" kern="0" baseline="30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，最大测井深度</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4600ft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，最高耐压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5000psi**</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，最高耐温</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120℉</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同轴电缆井下电视</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5278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C.C.Cobb</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一种利用外径</a:t>
                      </a:r>
                      <a:r>
                        <a:rPr lang="en-US" altLang="zh-CN" sz="1100" b="0" kern="0" baseline="30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7</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32</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光纤测井电缆实时传输井下视频的测井系统。仪器外径</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a:t>
                      </a:r>
                      <a:r>
                        <a:rPr lang="en-US" altLang="zh-CN" sz="1100" b="0" kern="0" baseline="30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11</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16</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，最高耐压</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10000psi</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，采用模拟光调制技术，传输黑白模拟视频图像。仪器外径和电缆外径较小，适用于井口带压作业。</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2">
                  <a:txBody>
                    <a:bodyPr/>
                    <a:lstStyle/>
                    <a:p>
                      <a:pPr algn="ct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光纤井下电视</a:t>
                      </a:r>
                      <a:endParaRPr lang="zh-CN" dirty="0"/>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1992</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R.A.Rademaker</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一种利用连续油管作业的光纤井下视频测井系统，采油连续油管技术，可将光纤井下电视应用于水平井和大</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斜度井，拓展了井下电视的应用范围。</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527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1999</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J.L.Whittaker</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一种采用普通铠装测井电缆的</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鹰眼</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井下电视测井系统，适用于高温、高压、腐蚀性井液环境和水平井连续油管作业。其在井眼条件适应性方面有很大的进步，但由于测井电缆传输带宽的限制，只能传输黑白图像。</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鹰眼井下电视</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2015</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EV</a:t>
                      </a:r>
                      <a:r>
                        <a:rPr 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公司</a:t>
                      </a:r>
                      <a:endParaRPr 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研制传输速率超过</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200kbit/s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Optis</a:t>
                      </a:r>
                      <a:r>
                        <a:rPr lang="en-US"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HD Electric Line</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井下电视测井系统，采用最新的井下视频技术，能够在单芯和多芯测井电缆上实时传输彩色高清视频，最大帧率可以达到</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25f/s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，将油气井监测带入到视频时代。</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可视化测井装备</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420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西安石油大学</a:t>
                      </a:r>
                      <a:endParaRPr lang="zh-CN" altLang="en-US"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Visualog</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系列测井电缆可视化测井系统，采用新一代测井电缆网络高速传输技术，实现了彩色全帧率网络视频在普通单芯</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多芯铠装测井电缆上的实时传输。</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EV</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公司</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推出</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ClearVision</a:t>
                      </a:r>
                      <a:r>
                        <a:rPr lang="en-US"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集成阵列视频和相控阵超声扫描工具，结合了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360</a:t>
                      </a:r>
                      <a:r>
                        <a:rPr lang="en-US"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视频和相控阵超声技术，为井筒应用提供</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4D</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评估系统。</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2.3</a:t>
            </a:r>
            <a:r>
              <a:rPr lang="zh-CN" altLang="en-US" dirty="0">
                <a:solidFill>
                  <a:prstClr val="black"/>
                </a:solidFill>
                <a:latin typeface="微软雅黑" panose="020B0503020204020204" pitchFamily="34" charset="-122"/>
                <a:ea typeface="微软雅黑" panose="020B0503020204020204" pitchFamily="34" charset="-122"/>
                <a:sym typeface="+mn-ea"/>
              </a:rPr>
              <a:t>、高分辨率井下电视压裂监测技术矿场应用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高分辨率井下电视压裂监测技术利用其获取的井下视频可直观高效地对井况作出判断，已广泛应用于：</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井眼检测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：井眼阻塞、变形、扩</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缩径、坍塌</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套管检测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：套管腐蚀、结垢、变形、穿孔、裂缝、错断</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落鱼打捞</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：落鱼位置、类型、鱼顶形状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射孔产出</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：产出类型（水、气、油）及产量评估</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生产监测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：产液类型、分层、出水、出砂、泄漏等</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046480" y="3545205"/>
            <a:ext cx="4939665" cy="2786380"/>
          </a:xfrm>
          <a:prstGeom prst="rect">
            <a:avLst/>
          </a:prstGeom>
        </p:spPr>
      </p:pic>
      <p:sp>
        <p:nvSpPr>
          <p:cNvPr id="12" name="矩形 22"/>
          <p:cNvSpPr>
            <a:spLocks noChangeArrowheads="1"/>
          </p:cNvSpPr>
          <p:nvPr/>
        </p:nvSpPr>
        <p:spPr bwMode="auto">
          <a:xfrm>
            <a:off x="1045845" y="6331585"/>
            <a:ext cx="49403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长庆油田某井出液含水率</a:t>
            </a:r>
            <a:r>
              <a:rPr lang="en-US" altLang="zh-CN" sz="1200" dirty="0">
                <a:solidFill>
                  <a:srgbClr val="000000"/>
                </a:solidFill>
                <a:latin typeface="微软雅黑" panose="020B0503020204020204" pitchFamily="34" charset="-122"/>
                <a:ea typeface="微软雅黑" panose="020B0503020204020204" pitchFamily="34" charset="-122"/>
              </a:rPr>
              <a:t>100%</a:t>
            </a:r>
            <a:r>
              <a:rPr lang="zh-CN" altLang="en-US" sz="1200" dirty="0">
                <a:solidFill>
                  <a:srgbClr val="000000"/>
                </a:solidFill>
                <a:latin typeface="微软雅黑" panose="020B0503020204020204" pitchFamily="34" charset="-122"/>
                <a:ea typeface="微软雅黑" panose="020B0503020204020204" pitchFamily="34" charset="-122"/>
              </a:rPr>
              <a:t>，采用井下电视技术查找原因</a:t>
            </a:r>
            <a:endParaRPr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2"/>
          <a:stretch>
            <a:fillRect/>
          </a:stretch>
        </p:blipFill>
        <p:spPr>
          <a:xfrm>
            <a:off x="6737985" y="3536950"/>
            <a:ext cx="4244975" cy="1358900"/>
          </a:xfrm>
          <a:prstGeom prst="rect">
            <a:avLst/>
          </a:prstGeom>
        </p:spPr>
      </p:pic>
      <p:pic>
        <p:nvPicPr>
          <p:cNvPr id="17" name="图片 16"/>
          <p:cNvPicPr>
            <a:picLocks noChangeAspect="1"/>
          </p:cNvPicPr>
          <p:nvPr/>
        </p:nvPicPr>
        <p:blipFill>
          <a:blip r:embed="rId3"/>
          <a:stretch>
            <a:fillRect/>
          </a:stretch>
        </p:blipFill>
        <p:spPr>
          <a:xfrm>
            <a:off x="6802755" y="4896485"/>
            <a:ext cx="4152900" cy="1336040"/>
          </a:xfrm>
          <a:prstGeom prst="rect">
            <a:avLst/>
          </a:prstGeom>
        </p:spPr>
      </p:pic>
      <p:sp>
        <p:nvSpPr>
          <p:cNvPr id="24" name="矩形 22"/>
          <p:cNvSpPr>
            <a:spLocks noChangeArrowheads="1"/>
          </p:cNvSpPr>
          <p:nvPr/>
        </p:nvSpPr>
        <p:spPr bwMode="auto">
          <a:xfrm>
            <a:off x="6803390" y="6331585"/>
            <a:ext cx="41516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西北部油田某井采用井下电视技术对钻井事故进行核查</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3.1</a:t>
            </a:r>
            <a:r>
              <a:rPr lang="zh-CN" altLang="en-US" dirty="0">
                <a:solidFill>
                  <a:prstClr val="black"/>
                </a:solidFill>
                <a:latin typeface="微软雅黑" panose="020B0503020204020204" pitchFamily="34" charset="-122"/>
                <a:ea typeface="微软雅黑" panose="020B0503020204020204" pitchFamily="34" charset="-122"/>
              </a:rPr>
              <a:t>、可控源电磁压裂监测技术原理（井下监测）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用于非常规储层改造的压裂液通常含有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明显低于储层数量级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的多种化学添加剂、盐类及高导电支撑剂，这为电磁法追踪低阻压裂液展布提供了物理基础。</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利用不接地回线向地下发送一次脉冲磁场，在一次场间歇期间利用同一回线或另一回线来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接收感应二次磁场</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，该二次磁场是由地下良导地质体受激励引起的涡流所产生的非稳定磁场。</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34645" y="2896235"/>
            <a:ext cx="5174615" cy="3063240"/>
          </a:xfrm>
          <a:prstGeom prst="rect">
            <a:avLst/>
          </a:prstGeom>
        </p:spPr>
      </p:pic>
      <p:sp>
        <p:nvSpPr>
          <p:cNvPr id="12" name="矩形 22"/>
          <p:cNvSpPr>
            <a:spLocks noChangeArrowheads="1"/>
          </p:cNvSpPr>
          <p:nvPr/>
        </p:nvSpPr>
        <p:spPr bwMode="auto">
          <a:xfrm>
            <a:off x="334645" y="6076315"/>
            <a:ext cx="517525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不同深度的等深度视电阻率等值线图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5103495" y="3103245"/>
            <a:ext cx="3676015" cy="2417445"/>
          </a:xfrm>
          <a:prstGeom prst="rect">
            <a:avLst/>
          </a:prstGeom>
        </p:spPr>
      </p:pic>
      <p:sp>
        <p:nvSpPr>
          <p:cNvPr id="4" name="矩形 22"/>
          <p:cNvSpPr>
            <a:spLocks noChangeArrowheads="1"/>
          </p:cNvSpPr>
          <p:nvPr/>
        </p:nvSpPr>
        <p:spPr bwMode="auto">
          <a:xfrm>
            <a:off x="5509895" y="6076315"/>
            <a:ext cx="635762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可控源电磁压裂监测技术原理示意</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8684260" y="2768600"/>
            <a:ext cx="3135630" cy="3086735"/>
          </a:xfrm>
          <a:prstGeom prst="rect">
            <a:avLst/>
          </a:prstGeom>
        </p:spPr>
      </p:pic>
      <p:sp>
        <p:nvSpPr>
          <p:cNvPr id="6"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3.2</a:t>
            </a:r>
            <a:r>
              <a:rPr lang="zh-CN" altLang="en-US" dirty="0">
                <a:solidFill>
                  <a:prstClr val="black"/>
                </a:solidFill>
                <a:latin typeface="微软雅黑" panose="020B0503020204020204" pitchFamily="34" charset="-122"/>
                <a:ea typeface="微软雅黑" panose="020B0503020204020204" pitchFamily="34" charset="-122"/>
                <a:sym typeface="+mn-ea"/>
              </a:rPr>
              <a:t>、可控源电磁压裂监测技术国内外研究现状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335280" y="1341755"/>
          <a:ext cx="11518900" cy="4617720"/>
        </p:xfrm>
        <a:graphic>
          <a:graphicData uri="http://schemas.openxmlformats.org/drawingml/2006/table">
            <a:tbl>
              <a:tblPr firstRow="1" bandRow="1">
                <a:tableStyleId>{5940675A-B579-460E-94D1-54222C63F5DA}</a:tableStyleId>
              </a:tblPr>
              <a:tblGrid>
                <a:gridCol w="1015365"/>
                <a:gridCol w="1646555"/>
                <a:gridCol w="7063105"/>
                <a:gridCol w="1793875"/>
              </a:tblGrid>
              <a:tr h="535305">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7861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Rees</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使用大地电磁法在澳大利亚南部库珀盆地</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Moomba-193</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井压裂段上方测量页岩气水力压裂不同时间视电阻率变化情况，并通过二维非线性共轭梯度计算获得压裂前后电阻率变化百分比。</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天然场源监测压裂液技术</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1470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贾正森</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在陕西富县油田采用井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地电位梯度法（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EMM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）和激发极化联合监测法测量水力压裂监测，使用吉林大学多通道井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地联合接收仪器、归一化加权数据非线性融合算法以及正演迭代成像方法，获得与三分量地震监测吻合的裂缝走向的定性预测结果。</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4">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Tahoma" panose="020B0604030504040204"/>
                        </a:rPr>
                        <a:t>可控源电磁法监测压裂液技术</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740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Hibbs</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使用</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TCS-30</a:t>
                      </a:r>
                      <a:r>
                        <a:rPr lang="en-US"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型发射系统和</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Eos</a:t>
                      </a:r>
                      <a:r>
                        <a:rPr lang="en-US"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型无线采集站、</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EQube</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电容式电场传感器进行数据采集，成功获得压裂液分布范围信息。</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740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严良俊</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采用电性源长偏移距时间域瞬变电磁法（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LOTEM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）对页岩气压裂过程进行连续时移监测，使用加拿大凤凰公司</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V8</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和中科院物理所</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DRU</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多功能电磁仪进行数据采集，通过井震建模约束反演获得压裂液成像分布结果。</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677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中南大学</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采用广域电磁法（</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WDEM</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）通过定性计算视电阻率变化对压裂液波及范围进行追踪。</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3.3</a:t>
            </a:r>
            <a:r>
              <a:rPr lang="zh-CN" altLang="en-US" dirty="0">
                <a:solidFill>
                  <a:prstClr val="black"/>
                </a:solidFill>
                <a:latin typeface="微软雅黑" panose="020B0503020204020204" pitchFamily="34" charset="-122"/>
                <a:ea typeface="微软雅黑" panose="020B0503020204020204" pitchFamily="34" charset="-122"/>
                <a:sym typeface="+mn-ea"/>
              </a:rPr>
              <a:t>、可控源电磁压裂监测技术矿场应用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通过井筒供入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交流电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，井筒和压裂液形成</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连续导体</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，裂缝中的压裂液产生</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电磁天线效应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，地表部署接收系统，测量天线效应的信号分布，通过监测压裂液动态波及范围，</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实时判断裂缝延伸情况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，并同步优化压裂方案，实现裂缝延伸实时控制。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48995" y="2127885"/>
            <a:ext cx="5309870" cy="2055495"/>
          </a:xfrm>
          <a:prstGeom prst="rect">
            <a:avLst/>
          </a:prstGeom>
        </p:spPr>
      </p:pic>
      <p:pic>
        <p:nvPicPr>
          <p:cNvPr id="6" name="图片 5"/>
          <p:cNvPicPr>
            <a:picLocks noChangeAspect="1"/>
          </p:cNvPicPr>
          <p:nvPr/>
        </p:nvPicPr>
        <p:blipFill>
          <a:blip r:embed="rId2"/>
          <a:stretch>
            <a:fillRect/>
          </a:stretch>
        </p:blipFill>
        <p:spPr>
          <a:xfrm>
            <a:off x="849630" y="4185920"/>
            <a:ext cx="5309870" cy="1771015"/>
          </a:xfrm>
          <a:prstGeom prst="rect">
            <a:avLst/>
          </a:prstGeom>
        </p:spPr>
      </p:pic>
      <p:sp>
        <p:nvSpPr>
          <p:cNvPr id="12" name="矩形 22"/>
          <p:cNvSpPr>
            <a:spLocks noChangeArrowheads="1"/>
          </p:cNvSpPr>
          <p:nvPr/>
        </p:nvSpPr>
        <p:spPr bwMode="auto">
          <a:xfrm>
            <a:off x="849630" y="6076315"/>
            <a:ext cx="53098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可控源电磁压裂监测技术现场应用示意图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7" name="矩形 22"/>
          <p:cNvSpPr>
            <a:spLocks noChangeArrowheads="1"/>
          </p:cNvSpPr>
          <p:nvPr/>
        </p:nvSpPr>
        <p:spPr bwMode="auto">
          <a:xfrm>
            <a:off x="6722110" y="6081395"/>
            <a:ext cx="48628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宁209H5-2井第5段各簇孔波及长度</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722110" y="3891280"/>
            <a:ext cx="2259965" cy="392430"/>
          </a:xfrm>
          <a:prstGeom prst="rect">
            <a:avLst/>
          </a:prstGeom>
          <a:noFill/>
        </p:spPr>
        <p:txBody>
          <a:bodyPr wrap="square" rtlCol="0">
            <a:no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a:t>
            </a:r>
            <a:r>
              <a:rPr lang="zh-CN" altLang="en-US" sz="1200" dirty="0">
                <a:solidFill>
                  <a:srgbClr val="000000"/>
                </a:solidFill>
                <a:latin typeface="微软雅黑" panose="020B0503020204020204" pitchFamily="34" charset="-122"/>
                <a:ea typeface="微软雅黑" panose="020B0503020204020204" pitchFamily="34" charset="-122"/>
              </a:rPr>
              <a:t>第5段压裂电磁监测波及范围图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2" name="图片 31" descr="图片1"/>
          <p:cNvPicPr>
            <a:picLocks noChangeAspect="1"/>
          </p:cNvPicPr>
          <p:nvPr/>
        </p:nvPicPr>
        <p:blipFill>
          <a:blip r:embed="rId3"/>
          <a:stretch>
            <a:fillRect/>
          </a:stretch>
        </p:blipFill>
        <p:spPr>
          <a:xfrm>
            <a:off x="6722110" y="2169795"/>
            <a:ext cx="2259965" cy="1734185"/>
          </a:xfrm>
          <a:prstGeom prst="rect">
            <a:avLst/>
          </a:prstGeom>
        </p:spPr>
      </p:pic>
      <p:sp>
        <p:nvSpPr>
          <p:cNvPr id="34" name="文本框 33"/>
          <p:cNvSpPr txBox="1"/>
          <p:nvPr/>
        </p:nvSpPr>
        <p:spPr>
          <a:xfrm>
            <a:off x="9041765" y="3923665"/>
            <a:ext cx="2364740" cy="460375"/>
          </a:xfrm>
          <a:prstGeom prst="rect">
            <a:avLst/>
          </a:prstGeom>
          <a:no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宁209H5-2井第5段</a:t>
            </a:r>
            <a:r>
              <a:rPr lang="zh-CN" altLang="en-US" sz="1200" dirty="0">
                <a:solidFill>
                  <a:srgbClr val="000000"/>
                </a:solidFill>
                <a:latin typeface="微软雅黑" panose="020B0503020204020204" pitchFamily="34" charset="-122"/>
                <a:ea typeface="微软雅黑" panose="020B0503020204020204" pitchFamily="34" charset="-122"/>
              </a:rPr>
              <a:t>压裂电磁监测波及动态图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5" name="图片 34" descr="图片2"/>
          <p:cNvPicPr>
            <a:picLocks noChangeAspect="1"/>
          </p:cNvPicPr>
          <p:nvPr/>
        </p:nvPicPr>
        <p:blipFill>
          <a:blip r:embed="rId4"/>
          <a:stretch>
            <a:fillRect/>
          </a:stretch>
        </p:blipFill>
        <p:spPr>
          <a:xfrm>
            <a:off x="9041765" y="2167255"/>
            <a:ext cx="2364740" cy="1738630"/>
          </a:xfrm>
          <a:prstGeom prst="rect">
            <a:avLst/>
          </a:prstGeom>
        </p:spPr>
      </p:pic>
      <p:graphicFrame>
        <p:nvGraphicFramePr>
          <p:cNvPr id="36" name="表格 35"/>
          <p:cNvGraphicFramePr>
            <a:graphicFrameLocks noGrp="1"/>
          </p:cNvGraphicFramePr>
          <p:nvPr>
            <p:custDataLst>
              <p:tags r:id="rId5"/>
            </p:custDataLst>
          </p:nvPr>
        </p:nvGraphicFramePr>
        <p:xfrm>
          <a:off x="6722110" y="4368165"/>
          <a:ext cx="4686300" cy="1591310"/>
        </p:xfrm>
        <a:graphic>
          <a:graphicData uri="http://schemas.openxmlformats.org/drawingml/2006/table">
            <a:tbl>
              <a:tblPr/>
              <a:tblGrid>
                <a:gridCol w="781050"/>
                <a:gridCol w="781050"/>
                <a:gridCol w="781050"/>
                <a:gridCol w="781050"/>
                <a:gridCol w="781050"/>
                <a:gridCol w="781050"/>
              </a:tblGrid>
              <a:tr h="192405">
                <a:tc gridSpan="6">
                  <a:txBody>
                    <a:bodyPr/>
                    <a:lstStyle/>
                    <a:p>
                      <a:pPr algn="ctr" rtl="0"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rPr>
                        <a:t>各簇孔波及长度</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cPr/>
                </a:tc>
                <a:tc hMerge="1">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92405">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簇孔号</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西侧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东侧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簇孔号</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西侧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东侧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1</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66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79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6</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113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133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2</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91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108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7</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88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115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3</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80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122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8</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98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116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74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73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9</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114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100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5</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130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99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10</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96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97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4.1</a:t>
            </a:r>
            <a:r>
              <a:rPr lang="zh-CN" altLang="en-US" dirty="0">
                <a:solidFill>
                  <a:prstClr val="black"/>
                </a:solidFill>
                <a:latin typeface="微软雅黑" panose="020B0503020204020204" pitchFamily="34" charset="-122"/>
                <a:ea typeface="微软雅黑" panose="020B0503020204020204" pitchFamily="34" charset="-122"/>
              </a:rPr>
              <a:t>、井中微地震监测技术原理（井下监测）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微地震监测技术通过布置在地面或井下的地震传感器阵列，记录水力压裂过程中产生的微小地震波形。这些微地震事件主要由</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岩石破裂、裂缝扩展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等引起，其震级通常在</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级之间。系统通过接收</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波和</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波确定震源位置，通过分析波形特征可估算</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裂缝尺寸、方向和扩展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情况。</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334645" y="2670810"/>
            <a:ext cx="3818890" cy="3289300"/>
          </a:xfrm>
          <a:prstGeom prst="rect">
            <a:avLst/>
          </a:prstGeom>
          <a:ln>
            <a:solidFill>
              <a:schemeClr val="tx1"/>
            </a:solidFill>
          </a:ln>
        </p:spPr>
      </p:pic>
      <p:sp>
        <p:nvSpPr>
          <p:cNvPr id="12" name="矩形 22"/>
          <p:cNvSpPr>
            <a:spLocks noChangeArrowheads="1"/>
          </p:cNvSpPr>
          <p:nvPr/>
        </p:nvSpPr>
        <p:spPr bwMode="auto">
          <a:xfrm>
            <a:off x="334010" y="6076315"/>
            <a:ext cx="38195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井中微地震监测技术示意图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4269105" y="2660015"/>
            <a:ext cx="3620135" cy="3289935"/>
          </a:xfrm>
          <a:prstGeom prst="rect">
            <a:avLst/>
          </a:prstGeom>
          <a:ln>
            <a:solidFill>
              <a:schemeClr val="tx1"/>
            </a:solidFill>
          </a:ln>
        </p:spPr>
      </p:pic>
      <p:sp>
        <p:nvSpPr>
          <p:cNvPr id="6" name="矩形 22"/>
          <p:cNvSpPr>
            <a:spLocks noChangeArrowheads="1"/>
          </p:cNvSpPr>
          <p:nvPr/>
        </p:nvSpPr>
        <p:spPr bwMode="auto">
          <a:xfrm>
            <a:off x="4269105" y="6076315"/>
            <a:ext cx="36195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井中微地震监测技术震源定位</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3"/>
          <a:stretch>
            <a:fillRect/>
          </a:stretch>
        </p:blipFill>
        <p:spPr>
          <a:xfrm>
            <a:off x="8004810" y="2670175"/>
            <a:ext cx="3815715" cy="3280410"/>
          </a:xfrm>
          <a:prstGeom prst="rect">
            <a:avLst/>
          </a:prstGeom>
          <a:ln>
            <a:solidFill>
              <a:schemeClr val="tx1"/>
            </a:solidFill>
          </a:ln>
        </p:spPr>
      </p:pic>
      <p:sp>
        <p:nvSpPr>
          <p:cNvPr id="10" name="矩形 22"/>
          <p:cNvSpPr>
            <a:spLocks noChangeArrowheads="1"/>
          </p:cNvSpPr>
          <p:nvPr/>
        </p:nvSpPr>
        <p:spPr bwMode="auto">
          <a:xfrm>
            <a:off x="8004175" y="6076315"/>
            <a:ext cx="38023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微地震震源位置与发震时刻联合反演流程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4.2</a:t>
            </a:r>
            <a:r>
              <a:rPr lang="zh-CN" altLang="en-US" dirty="0">
                <a:solidFill>
                  <a:prstClr val="black"/>
                </a:solidFill>
                <a:latin typeface="微软雅黑" panose="020B0503020204020204" pitchFamily="34" charset="-122"/>
                <a:ea typeface="微软雅黑" panose="020B0503020204020204" pitchFamily="34" charset="-122"/>
                <a:sym typeface="+mn-ea"/>
              </a:rPr>
              <a:t>、井中微地震监测技术国内外研究现状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335280" y="1341120"/>
          <a:ext cx="11518900" cy="4622800"/>
        </p:xfrm>
        <a:graphic>
          <a:graphicData uri="http://schemas.openxmlformats.org/drawingml/2006/table">
            <a:tbl>
              <a:tblPr firstRow="1" bandRow="1">
                <a:tableStyleId>{5940675A-B579-460E-94D1-54222C63F5DA}</a:tableStyleId>
              </a:tblPr>
              <a:tblGrid>
                <a:gridCol w="720090"/>
                <a:gridCol w="1259840"/>
                <a:gridCol w="7740015"/>
                <a:gridCol w="1798955"/>
              </a:tblGrid>
              <a:tr h="462280">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1912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Geiger</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提出经典单事件定位方法，该方法通过假设发震时刻和震源位置计算从震源到每个检波器的理论到达时间，并使用理论</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到达和观测时间之间的残差作为目标函数求解其最小值，从而获得震源的时空位置。</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100" b="0" kern="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基于走时的定位反演方法</a:t>
                      </a:r>
                      <a:endParaRPr lang="zh-CN" altLang="en-US" sz="1100" b="0" kern="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1994</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Kissling</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采取单独更新速度模型与震源参数的方法，该方法首先在固定速度模型的情况下，更新震源参数，然后反过来更新速度模型，选取适合的迭代次数达到收敛为止，该方法使初始速度模型的选取更加合理，是解决多参数问题的经典做法。</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震源位置与速度模型联合反演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Nolen</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将矩张量反演算法应用于水力压裂微地震事件，综合使用了各种波形信息</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SV</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SH)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，反演了部分美国科罗拉多州地区附近的现场水力压裂试验相关的微地震事件的震源机制。</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基于波形信息约束的微地震震源机制反演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Hardebeck</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波初始运动极性的震源机制反演新方法，该方法考虑了震源位置和速度模型的不确定性。基于初始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波极性的震源机制反演具有可靠且高效的优点，使该方法对震源机制的快速估计效果良好。</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基于初动极性约束的微地震震源机制反演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2005</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Gajewski</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提出了基于波场反向传播的能量聚焦方法，该方法不需要从记录网络的地震记录中选择事件，并将该方法应用于某实际微地震，证明了波场逆时传播的定位方法能有效解决初始拾取困难的问题。</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基于偏移和成像的定位反演方法</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Godano</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提出了一种直达波振幅</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波的垂直分量和</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波水平分量</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反演方法，以确定一般矩张量并估计相关的不确定性，通过处理森林下的苏尔兹干热岩水库网络记录的</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次诱发微地震事件数据，发现与非直流部分相关的不确定性相对较高。</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基于振幅相关信息约束的微地震震源机制反演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Kohn</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通过地震系统中震源位置的反向建模获得了具有更高精度的震源定位结果。利用波动方程的逆时不变性，以观测到的波场为初始条件，对地震波场进行逆延时扩展，最终将地震波场聚焦在震源处。</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震源位置与发震时刻联合反演方法</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Kuang</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波极性、</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波和横波相似性、</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SV/P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振幅比和</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SH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振幅比约束一种全波形建模方法，并将该方法应用于美国巴尼特页岩地区水利压裂作业期间记录的微地震事件的震源机制反演。</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基于混合约束的微地震震源机制反演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薛清峰</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提出一种基于波动方程的微地震震源位置、发震时刻及</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VTI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介质各向异性参数联合反演，该方法通过迭代反演可以同时获得切确的震源位置、发震时刻以及</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VTI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介质各向异性参数信息。</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震源参数与各向异性参数联合反演方法</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4.3</a:t>
            </a:r>
            <a:r>
              <a:rPr lang="zh-CN" altLang="en-US" dirty="0">
                <a:solidFill>
                  <a:prstClr val="black"/>
                </a:solidFill>
                <a:latin typeface="微软雅黑" panose="020B0503020204020204" pitchFamily="34" charset="-122"/>
                <a:ea typeface="微软雅黑" panose="020B0503020204020204" pitchFamily="34" charset="-122"/>
                <a:sym typeface="+mn-ea"/>
              </a:rPr>
              <a:t>、矿场应用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微地震技术已广泛应用于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裂缝网络的实时监测与动态评估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压裂效果的定量评估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天然裂缝的识别与分析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井间距与压窜风险分析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等方面。</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34645" y="2232660"/>
            <a:ext cx="4899660" cy="3726815"/>
          </a:xfrm>
          <a:prstGeom prst="rect">
            <a:avLst/>
          </a:prstGeom>
        </p:spPr>
      </p:pic>
      <p:sp>
        <p:nvSpPr>
          <p:cNvPr id="129" name="矩形 22"/>
          <p:cNvSpPr>
            <a:spLocks noChangeArrowheads="1"/>
          </p:cNvSpPr>
          <p:nvPr/>
        </p:nvSpPr>
        <p:spPr bwMode="auto">
          <a:xfrm>
            <a:off x="334645" y="6076315"/>
            <a:ext cx="49142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微地震联合压裂施工曲线解释</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5" name="图片 14" descr="图片4"/>
          <p:cNvPicPr>
            <a:picLocks noChangeAspect="1"/>
          </p:cNvPicPr>
          <p:nvPr/>
        </p:nvPicPr>
        <p:blipFill>
          <a:blip r:embed="rId2"/>
          <a:stretch>
            <a:fillRect/>
          </a:stretch>
        </p:blipFill>
        <p:spPr>
          <a:xfrm>
            <a:off x="7941945" y="2138680"/>
            <a:ext cx="3766185" cy="1805305"/>
          </a:xfrm>
          <a:prstGeom prst="rect">
            <a:avLst/>
          </a:prstGeom>
        </p:spPr>
      </p:pic>
      <p:pic>
        <p:nvPicPr>
          <p:cNvPr id="20" name="图片 19" descr="图片5"/>
          <p:cNvPicPr>
            <a:picLocks noChangeAspect="1"/>
          </p:cNvPicPr>
          <p:nvPr/>
        </p:nvPicPr>
        <p:blipFill>
          <a:blip r:embed="rId3"/>
          <a:stretch>
            <a:fillRect/>
          </a:stretch>
        </p:blipFill>
        <p:spPr>
          <a:xfrm>
            <a:off x="8066405" y="4055110"/>
            <a:ext cx="3722370" cy="1904365"/>
          </a:xfrm>
          <a:prstGeom prst="rect">
            <a:avLst/>
          </a:prstGeom>
        </p:spPr>
      </p:pic>
      <p:pic>
        <p:nvPicPr>
          <p:cNvPr id="21" name="图片 20" descr="图片6"/>
          <p:cNvPicPr>
            <a:picLocks noChangeAspect="1"/>
          </p:cNvPicPr>
          <p:nvPr/>
        </p:nvPicPr>
        <p:blipFill>
          <a:blip r:embed="rId4"/>
          <a:stretch>
            <a:fillRect/>
          </a:stretch>
        </p:blipFill>
        <p:spPr>
          <a:xfrm>
            <a:off x="5340350" y="2232660"/>
            <a:ext cx="2494915" cy="3726815"/>
          </a:xfrm>
          <a:prstGeom prst="rect">
            <a:avLst/>
          </a:prstGeom>
        </p:spPr>
      </p:pic>
      <p:sp>
        <p:nvSpPr>
          <p:cNvPr id="22" name="矩形 22"/>
          <p:cNvSpPr>
            <a:spLocks noChangeArrowheads="1"/>
          </p:cNvSpPr>
          <p:nvPr/>
        </p:nvSpPr>
        <p:spPr bwMode="auto">
          <a:xfrm>
            <a:off x="5361305" y="6070600"/>
            <a:ext cx="645858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微地震解释缝网长宽高、波及体走向、井筒夹角、天然裂缝响应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5.1</a:t>
            </a:r>
            <a:r>
              <a:rPr lang="zh-CN" altLang="en-US" dirty="0">
                <a:solidFill>
                  <a:prstClr val="black"/>
                </a:solidFill>
                <a:latin typeface="微软雅黑" panose="020B0503020204020204" pitchFamily="34" charset="-122"/>
                <a:ea typeface="微软雅黑" panose="020B0503020204020204" pitchFamily="34" charset="-122"/>
              </a:rPr>
              <a:t>、井口高频压力压裂监测技术原理（井口监测）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通过地面泵车组引起快速流量变化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激发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压力波，压力波沿井筒套管向井下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传播</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，当压力波到达裂缝处时发生交互并向井口</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反射</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，通过井口高频压力计采集数据并诊断分析压裂效果</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将采集的数据通过信号处理、信号分析技术，针对</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井下裂缝开启位置、射孔簇进液比例、暂堵转向有效率、裂缝几何尺寸（长、宽、高）、裂缝滤失系数、井筒摩阻系数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等参数，进行定量诊断分析</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高频压力波监测技术基于高频停泵压力信号，通过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高频信号滤波算法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滤除干扰噪声事件，利用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信号倒谱、</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RCI</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等数学方法求解井下裂缝响应，并最终基于响应特征评估水力压裂施工效果</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6" name="图片 125" descr="图片3"/>
          <p:cNvPicPr>
            <a:picLocks noChangeAspect="1"/>
          </p:cNvPicPr>
          <p:nvPr/>
        </p:nvPicPr>
        <p:blipFill>
          <a:blip r:embed="rId1"/>
          <a:stretch>
            <a:fillRect/>
          </a:stretch>
        </p:blipFill>
        <p:spPr>
          <a:xfrm>
            <a:off x="3868420" y="3684905"/>
            <a:ext cx="4307840" cy="2262505"/>
          </a:xfrm>
          <a:prstGeom prst="rect">
            <a:avLst/>
          </a:prstGeom>
        </p:spPr>
      </p:pic>
      <p:pic>
        <p:nvPicPr>
          <p:cNvPr id="127" name="图片 126" descr="图片4"/>
          <p:cNvPicPr>
            <a:picLocks noChangeAspect="1"/>
          </p:cNvPicPr>
          <p:nvPr/>
        </p:nvPicPr>
        <p:blipFill>
          <a:blip r:embed="rId2"/>
          <a:stretch>
            <a:fillRect/>
          </a:stretch>
        </p:blipFill>
        <p:spPr>
          <a:xfrm>
            <a:off x="182880" y="3664585"/>
            <a:ext cx="3685540" cy="2287270"/>
          </a:xfrm>
          <a:prstGeom prst="rect">
            <a:avLst/>
          </a:prstGeom>
        </p:spPr>
      </p:pic>
      <p:sp>
        <p:nvSpPr>
          <p:cNvPr id="130" name="矩形 22"/>
          <p:cNvSpPr>
            <a:spLocks noChangeArrowheads="1"/>
          </p:cNvSpPr>
          <p:nvPr/>
        </p:nvSpPr>
        <p:spPr bwMode="auto">
          <a:xfrm>
            <a:off x="182880" y="6076315"/>
            <a:ext cx="368490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信号处理频谱模型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31" name="矩形 22"/>
          <p:cNvSpPr>
            <a:spLocks noChangeArrowheads="1"/>
          </p:cNvSpPr>
          <p:nvPr/>
        </p:nvSpPr>
        <p:spPr bwMode="auto">
          <a:xfrm>
            <a:off x="3867785" y="6076315"/>
            <a:ext cx="430784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井筒进液位置预测模型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descr="图片2"/>
          <p:cNvPicPr>
            <a:picLocks noChangeAspect="1"/>
          </p:cNvPicPr>
          <p:nvPr/>
        </p:nvPicPr>
        <p:blipFill>
          <a:blip r:embed="rId3"/>
          <a:stretch>
            <a:fillRect/>
          </a:stretch>
        </p:blipFill>
        <p:spPr>
          <a:xfrm>
            <a:off x="8176260" y="3626485"/>
            <a:ext cx="3832225" cy="2332990"/>
          </a:xfrm>
          <a:prstGeom prst="rect">
            <a:avLst/>
          </a:prstGeom>
        </p:spPr>
      </p:pic>
      <p:sp>
        <p:nvSpPr>
          <p:cNvPr id="4" name="矩形 22"/>
          <p:cNvSpPr>
            <a:spLocks noChangeArrowheads="1"/>
          </p:cNvSpPr>
          <p:nvPr/>
        </p:nvSpPr>
        <p:spPr bwMode="auto">
          <a:xfrm>
            <a:off x="8175625" y="6076315"/>
            <a:ext cx="383286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裂缝尺寸诊断模型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5.2</a:t>
            </a:r>
            <a:r>
              <a:rPr lang="zh-CN" altLang="en-US" dirty="0">
                <a:solidFill>
                  <a:prstClr val="black"/>
                </a:solidFill>
                <a:latin typeface="微软雅黑" panose="020B0503020204020204" pitchFamily="34" charset="-122"/>
                <a:ea typeface="微软雅黑" panose="020B0503020204020204" pitchFamily="34" charset="-122"/>
                <a:sym typeface="+mn-ea"/>
              </a:rPr>
              <a:t>、井口高频压力压裂监测技术国内外研究现状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41755"/>
          <a:ext cx="11518900" cy="4970020"/>
        </p:xfrm>
        <a:graphic>
          <a:graphicData uri="http://schemas.openxmlformats.org/drawingml/2006/table">
            <a:tbl>
              <a:tblPr firstRow="1" bandRow="1">
                <a:tableStyleId>{5940675A-B579-460E-94D1-54222C63F5DA}</a:tableStyleId>
              </a:tblPr>
              <a:tblGrid>
                <a:gridCol w="1015365"/>
                <a:gridCol w="1646555"/>
                <a:gridCol w="7063105"/>
                <a:gridCol w="1793875"/>
              </a:tblGrid>
              <a:tr h="390525">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Bogdan</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首次提出了高频压力监测（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这一非侵入式的压裂监测技术，经实时计算解释现场数据并得出结果，无需改变或增加操作步骤，即可实现暂堵作业对多级压裂改造效果的评估。诊断结果能够更全面地了解井下暂堵剂性能、井筒与地层之间的连通位置以及暂堵剂的降解过程。</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首次提出井口高频压力压裂监测技术</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4607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Kabannik</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利用暂堵前后两次水击压力信号峰值位置的差异，确定进液位置的变化，从而确定在暂堵是否成功打开新裂缝，并在美国主要页岩气田的几口井上测试了该方法的有效性和适用性。</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确定在暂堵时是否成功打开新裂缝</a:t>
                      </a:r>
                      <a:endParaRPr lang="zh-CN" dirty="0"/>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Parkhonyuk</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基础上结合先进的信号处理算法倒谱分析和贝叶斯管波速度模型，提出了一种非侵入式压裂工艺实时监测的新方法。通过与传统的基于压力的决策方法对比，验证了在落球暂堵效率，桥塞故障，套管泄漏等许多重要井底事件诊断的可靠性。</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结合倒谱分析和贝叶斯管波速度模型</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749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Estrada</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将高频压力监测应用于连续泵送的重复压裂改造作业中。利用地面</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和改进的概率与期望算法，可以在不确定度较大的情况下监测流体进入范围。该方法可以实时评估重复改造井的暂堵效率，监测结果和示踪剂结果基本一致。</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实时评估重复改造井的暂堵效率</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743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Alobaid</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为了克服高流体粘度流体和泵噪声对采集水击信号的干扰，使用了预测反卷积和梳状滤波对停泵水击信号进行处理，增强了信号的信噪比。</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使用预测反卷积和梳状滤波，增强了信号的信噪比</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743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Liu</a:t>
                      </a:r>
                      <a:endPar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和微地震技术共同应用在模式压裂作业中。现场监测显示在改造过程中没有发生大规模的压裂冲击，与邻井平台的常规等压裂策略相比，产量具有明显的优势。</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和微地震技术共同应用</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Zeng</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使用高频压力监测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来评估和提高现场套变井的增产改造效果。通过对进液范围的实时监测，减少在套管变形井修复中材料的浪费。</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对进液范围实时监测，减少变形井修复材料的浪费</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5.3</a:t>
            </a:r>
            <a:r>
              <a:rPr lang="zh-CN" altLang="en-US" dirty="0">
                <a:solidFill>
                  <a:prstClr val="black"/>
                </a:solidFill>
                <a:latin typeface="微软雅黑" panose="020B0503020204020204" pitchFamily="34" charset="-122"/>
                <a:ea typeface="微软雅黑" panose="020B0503020204020204" pitchFamily="34" charset="-122"/>
                <a:sym typeface="+mn-ea"/>
              </a:rPr>
              <a:t>、井口高频压力压裂监测技术矿场应用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通过井口高频压力压裂监测技术可以确定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裂缝进液位置与暂堵效果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；判断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暂堵作业是否有效并实时优化</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裂缝改造体积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；判断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桥塞坐封效果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裂缝复杂程度</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4645" y="3978910"/>
            <a:ext cx="4561840" cy="198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矩形 22"/>
          <p:cNvSpPr>
            <a:spLocks noChangeArrowheads="1"/>
          </p:cNvSpPr>
          <p:nvPr/>
        </p:nvSpPr>
        <p:spPr bwMode="auto">
          <a:xfrm>
            <a:off x="319405" y="6076315"/>
            <a:ext cx="45770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新疆某井桥塞座封效果评价</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上</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，长宁某井暂堵转向效果评价</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下</a:t>
            </a:r>
            <a:r>
              <a:rPr lang="en-US" altLang="zh-CN" sz="1200" dirty="0">
                <a:solidFill>
                  <a:srgbClr val="000000"/>
                </a:solidFill>
                <a:latin typeface="微软雅黑" panose="020B0503020204020204" pitchFamily="34" charset="-122"/>
                <a:ea typeface="微软雅黑" panose="020B0503020204020204" pitchFamily="34" charset="-122"/>
              </a:rPr>
              <a:t>)</a:t>
            </a:r>
            <a:endParaRPr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3" name="图片 2" descr="图片6"/>
          <p:cNvPicPr>
            <a:picLocks noChangeAspect="1"/>
          </p:cNvPicPr>
          <p:nvPr/>
        </p:nvPicPr>
        <p:blipFill>
          <a:blip r:embed="rId2"/>
          <a:stretch>
            <a:fillRect/>
          </a:stretch>
        </p:blipFill>
        <p:spPr>
          <a:xfrm>
            <a:off x="335280" y="2117090"/>
            <a:ext cx="4561205" cy="1861185"/>
          </a:xfrm>
          <a:prstGeom prst="rect">
            <a:avLst/>
          </a:prstGeom>
        </p:spPr>
      </p:pic>
      <p:pic>
        <p:nvPicPr>
          <p:cNvPr id="5" name="图片 4" descr="图片8"/>
          <p:cNvPicPr>
            <a:picLocks noChangeAspect="1"/>
          </p:cNvPicPr>
          <p:nvPr/>
        </p:nvPicPr>
        <p:blipFill>
          <a:blip r:embed="rId3"/>
          <a:stretch>
            <a:fillRect/>
          </a:stretch>
        </p:blipFill>
        <p:spPr>
          <a:xfrm>
            <a:off x="4896485" y="2149475"/>
            <a:ext cx="6990080" cy="3821430"/>
          </a:xfrm>
          <a:prstGeom prst="rect">
            <a:avLst/>
          </a:prstGeom>
        </p:spPr>
      </p:pic>
      <p:sp>
        <p:nvSpPr>
          <p:cNvPr id="131" name="矩形 22"/>
          <p:cNvSpPr>
            <a:spLocks noChangeArrowheads="1"/>
          </p:cNvSpPr>
          <p:nvPr/>
        </p:nvSpPr>
        <p:spPr bwMode="auto">
          <a:xfrm>
            <a:off x="4966970" y="6076315"/>
            <a:ext cx="67036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新疆某井暂堵用量在线优化</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6.1</a:t>
            </a:r>
            <a:r>
              <a:rPr lang="zh-CN" altLang="en-US" dirty="0">
                <a:solidFill>
                  <a:prstClr val="black"/>
                </a:solidFill>
                <a:latin typeface="微软雅黑" panose="020B0503020204020204" pitchFamily="34" charset="-122"/>
                <a:ea typeface="微软雅黑" panose="020B0503020204020204" pitchFamily="34" charset="-122"/>
              </a:rPr>
              <a:t>、声呐远探裂缝监测技术原理（井口监测）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通过</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地面发射</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可控（频率、波形、振幅、脉冲时间）的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声波脉冲</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，声波通过井筒流体</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传播</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，检测压裂液波及到的所有裂缝，然后进行</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反射</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（反射波特性会受到与井筒交互的压裂裂缝系统影响）</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在地面采集声波信号</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，通过专用软件和专家解释，将信号计算并解析为</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裂缝几何形状</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（缝长、缝宽和缝高）和</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油藏特性</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（裂缝网络复杂性、裂缝导流能力、各段压裂的效果对比）</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6640830" y="2827655"/>
            <a:ext cx="4946650" cy="3131820"/>
          </a:xfrm>
          <a:prstGeom prst="rect">
            <a:avLst/>
          </a:prstGeom>
        </p:spPr>
      </p:pic>
      <p:pic>
        <p:nvPicPr>
          <p:cNvPr id="11" name="图片 10" descr="图片9"/>
          <p:cNvPicPr>
            <a:picLocks noChangeAspect="1"/>
          </p:cNvPicPr>
          <p:nvPr/>
        </p:nvPicPr>
        <p:blipFill>
          <a:blip r:embed="rId2"/>
          <a:stretch>
            <a:fillRect/>
          </a:stretch>
        </p:blipFill>
        <p:spPr>
          <a:xfrm>
            <a:off x="527050" y="2856865"/>
            <a:ext cx="3012440" cy="1640205"/>
          </a:xfrm>
          <a:prstGeom prst="rect">
            <a:avLst/>
          </a:prstGeom>
        </p:spPr>
      </p:pic>
      <p:pic>
        <p:nvPicPr>
          <p:cNvPr id="12" name="图片 11" descr="图片10"/>
          <p:cNvPicPr>
            <a:picLocks noChangeAspect="1"/>
          </p:cNvPicPr>
          <p:nvPr/>
        </p:nvPicPr>
        <p:blipFill>
          <a:blip r:embed="rId3"/>
          <a:stretch>
            <a:fillRect/>
          </a:stretch>
        </p:blipFill>
        <p:spPr>
          <a:xfrm>
            <a:off x="3539490" y="2863850"/>
            <a:ext cx="2717800" cy="1609725"/>
          </a:xfrm>
          <a:prstGeom prst="rect">
            <a:avLst/>
          </a:prstGeom>
        </p:spPr>
      </p:pic>
      <p:sp>
        <p:nvSpPr>
          <p:cNvPr id="129" name="矩形 22"/>
          <p:cNvSpPr>
            <a:spLocks noChangeArrowheads="1"/>
          </p:cNvSpPr>
          <p:nvPr/>
        </p:nvSpPr>
        <p:spPr bwMode="auto">
          <a:xfrm>
            <a:off x="527050" y="6076315"/>
            <a:ext cx="573151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声纳远探裂缝监测技术示意图</a:t>
            </a:r>
            <a:endParaRPr lang="zh-CN" sz="1200" dirty="0">
              <a:solidFill>
                <a:srgbClr val="000000"/>
              </a:solidFill>
              <a:latin typeface="微软雅黑" panose="020B0503020204020204" pitchFamily="34" charset="-122"/>
              <a:ea typeface="微软雅黑" panose="020B0503020204020204" pitchFamily="34" charset="-122"/>
            </a:endParaRPr>
          </a:p>
        </p:txBody>
      </p:sp>
      <p:sp>
        <p:nvSpPr>
          <p:cNvPr id="131" name="矩形 22"/>
          <p:cNvSpPr>
            <a:spLocks noChangeArrowheads="1"/>
          </p:cNvSpPr>
          <p:nvPr/>
        </p:nvSpPr>
        <p:spPr bwMode="auto">
          <a:xfrm>
            <a:off x="6641465" y="6076315"/>
            <a:ext cx="49460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声呐远探裂缝监测技术原理图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527050" y="4497070"/>
            <a:ext cx="3013075" cy="1447800"/>
          </a:xfrm>
          <a:prstGeom prst="rect">
            <a:avLst/>
          </a:prstGeom>
        </p:spPr>
      </p:pic>
      <p:pic>
        <p:nvPicPr>
          <p:cNvPr id="3" name="图片 2"/>
          <p:cNvPicPr>
            <a:picLocks noChangeAspect="1"/>
          </p:cNvPicPr>
          <p:nvPr/>
        </p:nvPicPr>
        <p:blipFill>
          <a:blip r:embed="rId5"/>
          <a:stretch>
            <a:fillRect/>
          </a:stretch>
        </p:blipFill>
        <p:spPr>
          <a:xfrm>
            <a:off x="3540760" y="4488180"/>
            <a:ext cx="2716530" cy="1456690"/>
          </a:xfrm>
          <a:prstGeom prst="rect">
            <a:avLst/>
          </a:prstGeom>
        </p:spPr>
      </p:pic>
      <p:sp>
        <p:nvSpPr>
          <p:cNvPr id="4"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6.2</a:t>
            </a:r>
            <a:r>
              <a:rPr lang="zh-CN" altLang="en-US" dirty="0">
                <a:solidFill>
                  <a:prstClr val="black"/>
                </a:solidFill>
                <a:latin typeface="微软雅黑" panose="020B0503020204020204" pitchFamily="34" charset="-122"/>
                <a:ea typeface="微软雅黑" panose="020B0503020204020204" pitchFamily="34" charset="-122"/>
                <a:sym typeface="+mn-ea"/>
              </a:rPr>
              <a:t>、声呐远探裂缝监测技术国内外研究现状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41755"/>
          <a:ext cx="11531600" cy="4624705"/>
        </p:xfrm>
        <a:graphic>
          <a:graphicData uri="http://schemas.openxmlformats.org/drawingml/2006/table">
            <a:tbl>
              <a:tblPr firstRow="1" bandRow="1">
                <a:tableStyleId>{5940675A-B579-460E-94D1-54222C63F5DA}</a:tableStyleId>
              </a:tblPr>
              <a:tblGrid>
                <a:gridCol w="1807845"/>
                <a:gridCol w="7753985"/>
                <a:gridCol w="1969770"/>
              </a:tblGrid>
              <a:tr h="391160">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045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Tao</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声学数据处理软件</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计算了最大水平主应力的方位角，实现了</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水力压裂方位角的预测。</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声波监测工具研究</a:t>
                      </a:r>
                      <a:endPar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579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Tellez</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研究在水力压裂作业前后分别在套管井中使用了</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交叉偶极子声波</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。主要目的是分析压裂过程引起的各向异性变化。该研究强调了</a:t>
                      </a: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WaveSonic</a:t>
                      </a:r>
                      <a:r>
                        <a:rPr lang="en-US"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水力裂缝评估技术在评估</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水力裂缝垂直程度</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方面的重要性。</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Nikitin</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基于交叉偶极子剪切声波数据的套管井</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声波差异各向异性</a:t>
                      </a: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(DCHSA)</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分析有助于</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了解水力压裂前后的各向异性变化</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。比较压裂前和压裂后的测量数据可以识别出声波各向异性的变化，</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表明支撑裂缝的形成</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515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Gazis</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研究了从薄壳到实心圆柱体的两种情况下空心圆柱体的平面振动。然后在弹性理论的框架下研究了轴对称和非轴对称运动。由此得到了</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波在空心圆柱中传播特征方程的三维解</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，并得到了相应的数值结果。</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4">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声波在管道中传播机理研究</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Lafleur &amp; Shields</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充满液体的弹性管中对低频下的两种模式波</a:t>
                      </a:r>
                      <a:r>
                        <a:rPr lang="en-US" altLang="zh-CN"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(ET0</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和</a:t>
                      </a:r>
                      <a:r>
                        <a:rPr lang="en-US" altLang="zh-CN"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ET1)</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进行研究，给出了在塑料管和铝管中分布的色散特性和粒子位移。</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Fuller&amp;Fahy</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a:t>
                      </a:r>
                      <a:r>
                        <a:rPr lang="en-US" altLang="zh-CN"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Donnell-Mushtati</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壳方程</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的基础上，更全面地研究了波在含流体壳中的色散和能量分布，观察到实面、虚面和复面中的分支。进一步研究了由内单极源激发的壳的振动行为。</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pinington&amp;Briscoe</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Kennerd</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方程的简化形式推导了两种</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轴对称波在充满流体管道</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中的运动方程，并计算了这两种波在不同边界条件下的相对大小。</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6.3</a:t>
            </a:r>
            <a:r>
              <a:rPr lang="zh-CN" altLang="en-US" dirty="0">
                <a:solidFill>
                  <a:prstClr val="black"/>
                </a:solidFill>
                <a:latin typeface="微软雅黑" panose="020B0503020204020204" pitchFamily="34" charset="-122"/>
                <a:ea typeface="微软雅黑" panose="020B0503020204020204" pitchFamily="34" charset="-122"/>
                <a:sym typeface="+mn-ea"/>
              </a:rPr>
              <a:t>、声呐远探裂缝监测技术矿场应用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采用声呐方法可以快速完成测量，包括裂缝尺寸、近井裂缝复杂连通指数</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NFCI</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、远井裂缝导流能力指数</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FFCI</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等，以</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指导现场压裂评估和实时调整</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descr="图片11"/>
          <p:cNvPicPr>
            <a:picLocks noChangeAspect="1"/>
          </p:cNvPicPr>
          <p:nvPr/>
        </p:nvPicPr>
        <p:blipFill>
          <a:blip r:embed="rId1"/>
          <a:srcRect l="6611" t="7995" r="7314" b="8470"/>
          <a:stretch>
            <a:fillRect/>
          </a:stretch>
        </p:blipFill>
        <p:spPr>
          <a:xfrm>
            <a:off x="6988810" y="2140585"/>
            <a:ext cx="4899660" cy="2039620"/>
          </a:xfrm>
          <a:prstGeom prst="rect">
            <a:avLst/>
          </a:prstGeom>
        </p:spPr>
      </p:pic>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495" y="4180205"/>
            <a:ext cx="2465705" cy="1766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8175" y="4179570"/>
            <a:ext cx="2433320" cy="176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1" name="矩形 22"/>
          <p:cNvSpPr>
            <a:spLocks noChangeArrowheads="1"/>
          </p:cNvSpPr>
          <p:nvPr/>
        </p:nvSpPr>
        <p:spPr bwMode="auto">
          <a:xfrm>
            <a:off x="6989445" y="6076315"/>
            <a:ext cx="48990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声呐监测裂缝</a:t>
            </a:r>
            <a:r>
              <a:rPr lang="en-US" altLang="zh-CN" sz="1200" dirty="0">
                <a:solidFill>
                  <a:srgbClr val="000000"/>
                </a:solidFill>
                <a:latin typeface="微软雅黑" panose="020B0503020204020204" pitchFamily="34" charset="-122"/>
                <a:ea typeface="微软雅黑" panose="020B0503020204020204" pitchFamily="34" charset="-122"/>
              </a:rPr>
              <a:t>3D-plot</a:t>
            </a:r>
            <a:r>
              <a:rPr lang="zh-CN" altLang="en-US" sz="1200" dirty="0">
                <a:solidFill>
                  <a:srgbClr val="000000"/>
                </a:solidFill>
                <a:latin typeface="微软雅黑" panose="020B0503020204020204" pitchFamily="34" charset="-122"/>
                <a:ea typeface="微软雅黑" panose="020B0503020204020204" pitchFamily="34" charset="-122"/>
              </a:rPr>
              <a:t>投影图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2291"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050" y="2149475"/>
            <a:ext cx="3324860" cy="379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645" y="2150745"/>
            <a:ext cx="3222625" cy="994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4645" y="3228975"/>
            <a:ext cx="3202940" cy="1221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45" y="4765675"/>
            <a:ext cx="3221990" cy="1211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下箭头 44"/>
          <p:cNvSpPr/>
          <p:nvPr/>
        </p:nvSpPr>
        <p:spPr>
          <a:xfrm>
            <a:off x="1755140" y="4454525"/>
            <a:ext cx="314960" cy="325120"/>
          </a:xfrm>
          <a:prstGeom prst="downArrow">
            <a:avLst/>
          </a:prstGeom>
        </p:spPr>
        <p:style>
          <a:lnRef idx="0">
            <a:srgbClr val="FFFFFF"/>
          </a:lnRef>
          <a:fillRef idx="1">
            <a:schemeClr val="accent1"/>
          </a:fillRef>
          <a:effectRef idx="1">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29" name="矩形 22"/>
          <p:cNvSpPr>
            <a:spLocks noChangeArrowheads="1"/>
          </p:cNvSpPr>
          <p:nvPr/>
        </p:nvSpPr>
        <p:spPr bwMode="auto">
          <a:xfrm>
            <a:off x="121920" y="6076315"/>
            <a:ext cx="653669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根据声纳远探裂缝监测数据适时给出现场压裂工艺参数优化建议</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7.1</a:t>
            </a:r>
            <a:r>
              <a:rPr lang="zh-CN" altLang="en-US" dirty="0">
                <a:solidFill>
                  <a:prstClr val="black"/>
                </a:solidFill>
                <a:latin typeface="微软雅黑" panose="020B0503020204020204" pitchFamily="34" charset="-122"/>
                <a:ea typeface="微软雅黑" panose="020B0503020204020204" pitchFamily="34" charset="-122"/>
              </a:rPr>
              <a:t>、双对数处理技术方法原理（压裂施工曲线分析）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双对数曲线是通过将压裂施工压力与时间绘制在双对数坐标上，利用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曲线的斜率变化</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来判断裂缝扩展行为和压裂效果。其</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理论基础是</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Nolte-Smith </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经典压裂曲线</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，该</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lgP—lgt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双对数曲线图能反映裂缝在扩展过程中的状态。</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根据Nolte-Smith方法，将曲线分为</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种类型：</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Ⅰ：下降型、Ⅱ：稳定型、Ⅲ：波动型、Ⅳ：上升型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429895" y="2668905"/>
            <a:ext cx="4485005" cy="3217545"/>
          </a:xfrm>
          <a:prstGeom prst="rect">
            <a:avLst/>
          </a:prstGeom>
        </p:spPr>
      </p:pic>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graphicFrame>
        <p:nvGraphicFramePr>
          <p:cNvPr id="4" name="表格 3"/>
          <p:cNvGraphicFramePr/>
          <p:nvPr>
            <p:custDataLst>
              <p:tags r:id="rId2"/>
            </p:custDataLst>
          </p:nvPr>
        </p:nvGraphicFramePr>
        <p:xfrm>
          <a:off x="4995545" y="2596515"/>
          <a:ext cx="6864985" cy="3494405"/>
        </p:xfrm>
        <a:graphic>
          <a:graphicData uri="http://schemas.openxmlformats.org/drawingml/2006/table">
            <a:tbl>
              <a:tblPr firstRow="1" bandRow="1">
                <a:tableStyleId>{5940675A-B579-460E-94D1-54222C63F5DA}</a:tableStyleId>
              </a:tblPr>
              <a:tblGrid>
                <a:gridCol w="1397000"/>
                <a:gridCol w="2818765"/>
                <a:gridCol w="2649220"/>
              </a:tblGrid>
              <a:tr h="275590">
                <a:tc>
                  <a:txBody>
                    <a:bodyPr/>
                    <a:lstStyle/>
                    <a:p>
                      <a:pPr algn="ctr" fontAlgn="ctr">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曲线类型</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曲线特征（对数坐标）</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对应压裂行为／含义</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r>
              <a:tr h="786765">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下降型</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随时间增长曲线斜率逐渐减小，压力</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时间（对数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对数）曲线向右下转折</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裂缝扩展良好，液体和砂体有效进入裂缝网络，裂缝长度增大且宽度维持 </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效果较好</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r>
              <a:tr h="66548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稳定型</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曲线呈近直线或轻缓下降，斜率变化不大</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裂缝扩展平稳，响应可控，虽然没有剧烈扩展，但施工过程稳定</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r>
              <a:tr h="88392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波动／上下震荡型</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曲线在对数坐标上出现多次波动，上升或下降反复</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裂缝扩展存在干扰，比如漏失剧烈、裂缝穿层、砂体回流或设备</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操作扰动，效果存在不确定性</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r>
              <a:tr h="88265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rPr>
                        <a:t>上升型</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曲线斜率随着时间变大，即对数压力</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对数时间曲线向上转折</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zh-CN" altLang="en-US" sz="1200" dirty="0">
                          <a:latin typeface="微软雅黑" panose="020B0503020204020204" pitchFamily="34" charset="-122"/>
                          <a:ea typeface="微软雅黑" panose="020B0503020204020204" pitchFamily="34" charset="-122"/>
                        </a:rPr>
                        <a:t>表明裂缝可能受到约束、液体滞留或砂堵塞、裂缝网络未能充分扩展，可能是导流能力差或砂体未充分进入</a:t>
                      </a:r>
                      <a:endParaRPr lang="zh-CN" altLang="en-US" sz="1200" dirty="0">
                        <a:latin typeface="微软雅黑" panose="020B0503020204020204" pitchFamily="34" charset="-122"/>
                        <a:ea typeface="微软雅黑" panose="020B0503020204020204" pitchFamily="34" charset="-122"/>
                      </a:endParaRPr>
                    </a:p>
                  </a:txBody>
                  <a:tcPr marL="25400" marR="25400" marT="6350" marB="6350" anchor="ctr"/>
                </a:tc>
              </a:tr>
            </a:tbl>
          </a:graphicData>
        </a:graphic>
      </p:graphicFrame>
      <p:sp>
        <p:nvSpPr>
          <p:cNvPr id="129" name="矩形 22"/>
          <p:cNvSpPr>
            <a:spLocks noChangeArrowheads="1"/>
          </p:cNvSpPr>
          <p:nvPr/>
        </p:nvSpPr>
        <p:spPr bwMode="auto">
          <a:xfrm>
            <a:off x="421005" y="6076315"/>
            <a:ext cx="44938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Nolte-Smith曲线类型</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矩形 22"/>
          <p:cNvSpPr>
            <a:spLocks noChangeArrowheads="1"/>
          </p:cNvSpPr>
          <p:nvPr/>
        </p:nvSpPr>
        <p:spPr bwMode="auto">
          <a:xfrm>
            <a:off x="4995545" y="6090920"/>
            <a:ext cx="686498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Nolte-Smith曲线分类说明</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7.2</a:t>
            </a:r>
            <a:r>
              <a:rPr lang="zh-CN" altLang="en-US" dirty="0">
                <a:solidFill>
                  <a:prstClr val="black"/>
                </a:solidFill>
                <a:latin typeface="微软雅黑" panose="020B0503020204020204" pitchFamily="34" charset="-122"/>
                <a:ea typeface="微软雅黑" panose="020B0503020204020204" pitchFamily="34" charset="-122"/>
              </a:rPr>
              <a:t>、双对数处理技术国内外研究现状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32" name="表格 31"/>
          <p:cNvGraphicFramePr>
            <a:graphicFrameLocks noGrp="1"/>
          </p:cNvGraphicFramePr>
          <p:nvPr>
            <p:custDataLst>
              <p:tags r:id="rId1"/>
            </p:custDataLst>
          </p:nvPr>
        </p:nvGraphicFramePr>
        <p:xfrm>
          <a:off x="335280" y="1348740"/>
          <a:ext cx="11548110" cy="4610100"/>
        </p:xfrm>
        <a:graphic>
          <a:graphicData uri="http://schemas.openxmlformats.org/drawingml/2006/table">
            <a:tbl>
              <a:tblPr firstRow="1" bandRow="1">
                <a:tableStyleId>{5940675A-B579-460E-94D1-54222C63F5DA}</a:tableStyleId>
              </a:tblPr>
              <a:tblGrid>
                <a:gridCol w="1401445"/>
                <a:gridCol w="8371205"/>
                <a:gridCol w="1775460"/>
              </a:tblGrid>
              <a:tr h="267970">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50546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梁顺武</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利用净压力与时间的双对数曲线判断砂堵事故，当双对数曲线中净压力曲线斜率大于</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时，判断井下发生砂堵</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基于双对数曲线斜率判断砂堵情况</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7815">
                <a:tc>
                  <a:txBody>
                    <a:bodyPr/>
                    <a:lstStyle/>
                    <a:p>
                      <a:pPr algn="ctr">
                        <a:buNone/>
                      </a:pPr>
                      <a:r>
                        <a:rPr lang="zh-CN"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余合东</a:t>
                      </a:r>
                      <a:endParaRPr lang="zh-CN"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通过压力</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时间双对数曲线的斜率进行压裂砂堵实时预警</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赵小山</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Nolte-Smith</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净压力</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时间双对数曲线，结合现场压裂施工曲线变化规律，归纳建立了</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8</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种类型的水力压裂加砂曲线，并对压裂效果进行分类和对比分析</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基于双对数处理曲线类型反馈压后效果</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陈峥嵘</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基于煤层气地质特点，通过双对数函数曲线预测煤层压裂裂缝闭合压力，进而评估压裂施工后的产能</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邱小雪</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结合双对数技术处理压裂施工曲线，通过分析曲线类型与测井信息的关系，实现了裂缝层的识别和发育水平评价</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Michael J. Economides</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探讨了压裂诊断技术在优化压裂施工中的应用，重点介绍了双对数曲线在裂缝扩展和压裂液效率分析中的作用</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609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Norman R. Warpinski</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探讨了微地震监测在水力压裂中的应用，结合双对数曲线和压裂施工数据，提出了改进储层管理的方法</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 L. Cipolla</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探讨了页岩气储层中水力裂缝扩展的数值模拟方法，结合双对数曲线和微地震数据，提出了裂缝网络扩展的优化模型</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基于双对数处理和微地震数据研究裂缝扩展模型</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Norman R. Warpinski</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Cotton Valley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地层中的压裂诊断方法，结合双对数曲线和微地震数据，提出了裂缝扩展的解释模型</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1"/>
          <p:cNvPicPr>
            <a:picLocks noChangeAspect="1"/>
          </p:cNvPicPr>
          <p:nvPr/>
        </p:nvPicPr>
        <p:blipFill>
          <a:blip r:embed="rId1"/>
          <a:stretch>
            <a:fillRect/>
          </a:stretch>
        </p:blipFill>
        <p:spPr>
          <a:xfrm>
            <a:off x="320040" y="2889250"/>
            <a:ext cx="6691630" cy="3165475"/>
          </a:xfrm>
          <a:prstGeom prst="rect">
            <a:avLst/>
          </a:prstGeom>
        </p:spPr>
      </p:pic>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双对数处理技术</a:t>
            </a:r>
            <a:r>
              <a:rPr lang="zh-CN" altLang="en-US" dirty="0">
                <a:latin typeface="微软雅黑" panose="020B0503020204020204" pitchFamily="34" charset="-122"/>
                <a:ea typeface="微软雅黑" panose="020B0503020204020204" pitchFamily="34" charset="-122"/>
                <a:sym typeface="+mn-ea"/>
              </a:rPr>
              <a:t>矿场应用</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采用</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Nolte-Smith</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方法处理后，能够清晰地识别井下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裂缝扩展与延伸</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事件的特征，并反映压裂施工过程中的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地质特征变化</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经过数据统计与分析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下降型曲线</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类型对应的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裂缝改造体积</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大</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通过分析压裂施工过程中</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泵压与时间的双对数曲线斜率来判断砂堵现象</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，利用曲线斜率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对砂堵实时预警</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，能够有效避免因人工观察曲线带来的滞后性和偶然性</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矩形 22"/>
          <p:cNvSpPr>
            <a:spLocks noChangeArrowheads="1"/>
          </p:cNvSpPr>
          <p:nvPr/>
        </p:nvSpPr>
        <p:spPr bwMode="auto">
          <a:xfrm>
            <a:off x="320040" y="6076315"/>
            <a:ext cx="57753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双对数处理技术识别裂缝扩展事件</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49" name="图片 48"/>
          <p:cNvPicPr>
            <a:picLocks noChangeAspect="1"/>
          </p:cNvPicPr>
          <p:nvPr/>
        </p:nvPicPr>
        <p:blipFill>
          <a:blip r:embed="rId2"/>
          <a:stretch>
            <a:fillRect/>
          </a:stretch>
        </p:blipFill>
        <p:spPr>
          <a:xfrm>
            <a:off x="6781165" y="2887980"/>
            <a:ext cx="2237740" cy="1293495"/>
          </a:xfrm>
          <a:prstGeom prst="rect">
            <a:avLst/>
          </a:prstGeom>
        </p:spPr>
      </p:pic>
      <p:pic>
        <p:nvPicPr>
          <p:cNvPr id="50" name="图片 49"/>
          <p:cNvPicPr>
            <a:picLocks noChangeAspect="1"/>
          </p:cNvPicPr>
          <p:nvPr/>
        </p:nvPicPr>
        <p:blipFill>
          <a:blip r:embed="rId3"/>
          <a:srcRect l="21911" r="1312" b="13046"/>
          <a:stretch>
            <a:fillRect/>
          </a:stretch>
        </p:blipFill>
        <p:spPr>
          <a:xfrm>
            <a:off x="9018905" y="2786380"/>
            <a:ext cx="2879090" cy="3190875"/>
          </a:xfrm>
          <a:prstGeom prst="rect">
            <a:avLst/>
          </a:prstGeom>
        </p:spPr>
      </p:pic>
      <p:pic>
        <p:nvPicPr>
          <p:cNvPr id="51" name="图片 50"/>
          <p:cNvPicPr>
            <a:picLocks noChangeAspect="1"/>
          </p:cNvPicPr>
          <p:nvPr/>
        </p:nvPicPr>
        <p:blipFill>
          <a:blip r:embed="rId4"/>
          <a:stretch>
            <a:fillRect/>
          </a:stretch>
        </p:blipFill>
        <p:spPr>
          <a:xfrm>
            <a:off x="6609080" y="4222115"/>
            <a:ext cx="2409825" cy="1755140"/>
          </a:xfrm>
          <a:prstGeom prst="rect">
            <a:avLst/>
          </a:prstGeom>
        </p:spPr>
      </p:pic>
      <p:sp>
        <p:nvSpPr>
          <p:cNvPr id="52" name="矩形 22"/>
          <p:cNvSpPr>
            <a:spLocks noChangeArrowheads="1"/>
          </p:cNvSpPr>
          <p:nvPr/>
        </p:nvSpPr>
        <p:spPr bwMode="auto">
          <a:xfrm>
            <a:off x="6781165" y="6076315"/>
            <a:ext cx="22383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曲线分类与改造体积的关系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3" name="矩形 22"/>
          <p:cNvSpPr>
            <a:spLocks noChangeArrowheads="1"/>
          </p:cNvSpPr>
          <p:nvPr/>
        </p:nvSpPr>
        <p:spPr bwMode="auto">
          <a:xfrm>
            <a:off x="9019540" y="6076315"/>
            <a:ext cx="28428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砂堵实时预警</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8.1</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移动参考点（</a:t>
            </a:r>
            <a:r>
              <a:rPr lang="en-US" altLang="zh-CN" dirty="0">
                <a:solidFill>
                  <a:prstClr val="black"/>
                </a:solidFill>
                <a:latin typeface="微软雅黑" panose="020B0503020204020204" pitchFamily="34" charset="-122"/>
                <a:ea typeface="微软雅黑" panose="020B0503020204020204" pitchFamily="34" charset="-122"/>
                <a:sym typeface="+mn-ea"/>
              </a:rPr>
              <a:t>MRP</a:t>
            </a:r>
            <a:r>
              <a:rPr lang="zh-CN" altLang="en-US" dirty="0">
                <a:solidFill>
                  <a:prstClr val="black"/>
                </a:solidFill>
                <a:latin typeface="微软雅黑" panose="020B0503020204020204" pitchFamily="34" charset="-122"/>
                <a:ea typeface="微软雅黑" panose="020B0503020204020204" pitchFamily="34" charset="-122"/>
                <a:sym typeface="+mn-ea"/>
              </a:rPr>
              <a:t>）技术原理（压裂施工曲线分析）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移动参考点（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MRP</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）技术是对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Nolte-Smith</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方法的改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进，其</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认为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到裂缝可能以喷射的方式生长</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，交替着</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经历</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膨胀期</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扩展期</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，需要不断的更换分析的</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参考点</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（每个裂缝扩展期的开始），才能更准确的描述裂缝的行为。其相较于</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Nolte-Smith</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方法计算</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速度更快</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，对微小压裂事件</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敏感度更高</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，且</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不需要知道地层闭合应力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，且适用于非</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均质地层和多级压裂等</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复杂工况</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7460615" y="2567305"/>
            <a:ext cx="4130675" cy="3356610"/>
          </a:xfrm>
          <a:prstGeom prst="rect">
            <a:avLst/>
          </a:prstGeom>
          <a:ln>
            <a:solidFill>
              <a:schemeClr val="tx1"/>
            </a:solidFill>
          </a:ln>
        </p:spPr>
      </p:pic>
      <p:sp>
        <p:nvSpPr>
          <p:cNvPr id="28" name="矩形 22"/>
          <p:cNvSpPr>
            <a:spLocks noChangeArrowheads="1"/>
          </p:cNvSpPr>
          <p:nvPr/>
        </p:nvSpPr>
        <p:spPr bwMode="auto">
          <a:xfrm>
            <a:off x="71755" y="6080125"/>
            <a:ext cx="73082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MRP</a:t>
            </a:r>
            <a:r>
              <a:rPr lang="zh-CN" altLang="en-US" sz="1200" dirty="0">
                <a:solidFill>
                  <a:srgbClr val="000000"/>
                </a:solidFill>
                <a:latin typeface="微软雅黑" panose="020B0503020204020204" pitchFamily="34" charset="-122"/>
                <a:ea typeface="微软雅黑" panose="020B0503020204020204" pitchFamily="34" charset="-122"/>
              </a:rPr>
              <a:t>技术计算结果</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2" name="矩形 22"/>
          <p:cNvSpPr>
            <a:spLocks noChangeArrowheads="1"/>
          </p:cNvSpPr>
          <p:nvPr/>
        </p:nvSpPr>
        <p:spPr bwMode="auto">
          <a:xfrm>
            <a:off x="7461250" y="6080125"/>
            <a:ext cx="41306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MRP</a:t>
            </a:r>
            <a:r>
              <a:rPr lang="zh-CN" altLang="en-US" sz="1200" dirty="0">
                <a:solidFill>
                  <a:srgbClr val="000000"/>
                </a:solidFill>
                <a:latin typeface="微软雅黑" panose="020B0503020204020204" pitchFamily="34" charset="-122"/>
                <a:ea typeface="微软雅黑" panose="020B0503020204020204" pitchFamily="34" charset="-122"/>
              </a:rPr>
              <a:t>技术流程图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71755" y="3439795"/>
            <a:ext cx="3430905" cy="2516505"/>
          </a:xfrm>
          <a:prstGeom prst="rect">
            <a:avLst/>
          </a:prstGeom>
        </p:spPr>
      </p:pic>
      <p:pic>
        <p:nvPicPr>
          <p:cNvPr id="5" name="图片 4"/>
          <p:cNvPicPr>
            <a:picLocks noChangeAspect="1"/>
          </p:cNvPicPr>
          <p:nvPr/>
        </p:nvPicPr>
        <p:blipFill>
          <a:blip r:embed="rId3"/>
          <a:stretch>
            <a:fillRect/>
          </a:stretch>
        </p:blipFill>
        <p:spPr>
          <a:xfrm>
            <a:off x="3582035" y="3439795"/>
            <a:ext cx="3798570" cy="2524760"/>
          </a:xfrm>
          <a:prstGeom prst="rect">
            <a:avLst/>
          </a:prstGeom>
        </p:spPr>
      </p:pic>
      <p:pic>
        <p:nvPicPr>
          <p:cNvPr id="7" name="图片 6"/>
          <p:cNvPicPr>
            <a:picLocks noChangeAspect="1"/>
          </p:cNvPicPr>
          <p:nvPr/>
        </p:nvPicPr>
        <p:blipFill>
          <a:blip r:embed="rId4"/>
          <a:stretch>
            <a:fillRect/>
          </a:stretch>
        </p:blipFill>
        <p:spPr>
          <a:xfrm>
            <a:off x="939165" y="3001010"/>
            <a:ext cx="1695450" cy="314960"/>
          </a:xfrm>
          <a:prstGeom prst="rect">
            <a:avLst/>
          </a:prstGeom>
        </p:spPr>
      </p:pic>
      <p:pic>
        <p:nvPicPr>
          <p:cNvPr id="9" name="图片 8"/>
          <p:cNvPicPr>
            <a:picLocks noChangeAspect="1"/>
          </p:cNvPicPr>
          <p:nvPr/>
        </p:nvPicPr>
        <p:blipFill>
          <a:blip r:embed="rId5"/>
          <a:stretch>
            <a:fillRect/>
          </a:stretch>
        </p:blipFill>
        <p:spPr>
          <a:xfrm>
            <a:off x="4441825" y="2886075"/>
            <a:ext cx="2078990" cy="550545"/>
          </a:xfrm>
          <a:prstGeom prst="rect">
            <a:avLst/>
          </a:prstGeom>
        </p:spPr>
      </p:pic>
      <p:sp>
        <p:nvSpPr>
          <p:cNvPr id="13" name="矩形 22"/>
          <p:cNvSpPr>
            <a:spLocks noChangeArrowheads="1"/>
          </p:cNvSpPr>
          <p:nvPr/>
        </p:nvSpPr>
        <p:spPr bwMode="auto">
          <a:xfrm>
            <a:off x="74295" y="2570480"/>
            <a:ext cx="343090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参考点参数</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 name="矩形 22"/>
          <p:cNvSpPr>
            <a:spLocks noChangeArrowheads="1"/>
          </p:cNvSpPr>
          <p:nvPr/>
        </p:nvSpPr>
        <p:spPr bwMode="auto">
          <a:xfrm>
            <a:off x="3582035" y="2548890"/>
            <a:ext cx="380174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e</a:t>
            </a:r>
            <a:r>
              <a:rPr lang="zh-CN" altLang="en-US" sz="1400" b="1" dirty="0">
                <a:solidFill>
                  <a:srgbClr val="0000FF"/>
                </a:solidFill>
                <a:latin typeface="微软雅黑" panose="020B0503020204020204" pitchFamily="34" charset="-122"/>
                <a:ea typeface="微软雅黑" panose="020B0503020204020204" pitchFamily="34" charset="-122"/>
              </a:rPr>
              <a:t>值计算</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4"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移动参考点（</a:t>
            </a:r>
            <a:r>
              <a:rPr lang="en-US" altLang="zh-CN" dirty="0">
                <a:solidFill>
                  <a:prstClr val="black"/>
                </a:solidFill>
                <a:latin typeface="微软雅黑" panose="020B0503020204020204" pitchFamily="34" charset="-122"/>
                <a:ea typeface="微软雅黑" panose="020B0503020204020204" pitchFamily="34" charset="-122"/>
                <a:sym typeface="+mn-ea"/>
              </a:rPr>
              <a:t>MRP</a:t>
            </a:r>
            <a:r>
              <a:rPr lang="zh-CN" altLang="en-US" dirty="0">
                <a:solidFill>
                  <a:prstClr val="black"/>
                </a:solidFill>
                <a:latin typeface="微软雅黑" panose="020B0503020204020204" pitchFamily="34" charset="-122"/>
                <a:ea typeface="微软雅黑" panose="020B0503020204020204" pitchFamily="34" charset="-122"/>
                <a:sym typeface="+mn-ea"/>
              </a:rPr>
              <a:t>）技术国内外研究现状</a:t>
            </a:r>
            <a:endParaRPr lang="zh-CN" altLang="en-US" dirty="0">
              <a:solidFill>
                <a:prstClr val="black"/>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15720"/>
          <a:ext cx="11477625" cy="4645025"/>
        </p:xfrm>
        <a:graphic>
          <a:graphicData uri="http://schemas.openxmlformats.org/drawingml/2006/table">
            <a:tbl>
              <a:tblPr firstRow="1" bandRow="1">
                <a:tableStyleId>{5940675A-B579-460E-94D1-54222C63F5DA}</a:tableStyleId>
              </a:tblPr>
              <a:tblGrid>
                <a:gridCol w="1012190"/>
                <a:gridCol w="1463675"/>
                <a:gridCol w="7190740"/>
                <a:gridCol w="1811020"/>
              </a:tblGrid>
              <a:tr h="441960">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73660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Pirayesh, E.</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技术，用于解释压裂过程中的压力</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时间数据，并应用于两个示例案例</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技术的提出</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3723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2015</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Pirayesh, E.</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扩展了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的应用范围，改进了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的算法，证实了压裂过程中的非连续扩展现象</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技术的扩展</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0520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Al-Husain</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证明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技术比净压力导数法更能处理压力波动，验证了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检测压力模式变化的能力，确认</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在压力变化不显著时仍能检测到压裂行为变化</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技术的优势</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1755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Al-Husain</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验证了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技术在复杂地层条件下的有效性，证实了压裂过程中交替出现的扩张、延伸和高度增长周期，提供了基于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分析的未来压裂设计优化建议</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技术的应用</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0647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2022</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Gabry</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验证了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技术与独立压力匹配的平面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3D</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水力压裂模拟模型的结合，证明了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技术可用于检测压力校准平面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3D</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模型上模拟的裂缝传播事件，解决了在没有精确模拟数据可用的井中使用</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检测压裂传播事件的问题</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技术与平面</a:t>
                      </a: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3D</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模型集成以理解压裂传播</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移动参考点（</a:t>
            </a:r>
            <a:r>
              <a:rPr lang="en-US" altLang="zh-CN" dirty="0">
                <a:solidFill>
                  <a:prstClr val="black"/>
                </a:solidFill>
                <a:latin typeface="微软雅黑" panose="020B0503020204020204" pitchFamily="34" charset="-122"/>
                <a:ea typeface="微软雅黑" panose="020B0503020204020204" pitchFamily="34" charset="-122"/>
                <a:sym typeface="+mn-ea"/>
              </a:rPr>
              <a:t>MRP</a:t>
            </a:r>
            <a:r>
              <a:rPr lang="zh-CN" altLang="en-US" dirty="0">
                <a:solidFill>
                  <a:prstClr val="black"/>
                </a:solidFill>
                <a:latin typeface="微软雅黑" panose="020B0503020204020204" pitchFamily="34" charset="-122"/>
                <a:ea typeface="微软雅黑" panose="020B0503020204020204" pitchFamily="34" charset="-122"/>
                <a:sym typeface="+mn-ea"/>
              </a:rPr>
              <a:t>）技术矿场应用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采用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MRP</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技术能够在压裂过程中实时识别</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裂缝传播模式变化</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可提前</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3-5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分钟检测到</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砂堵或裂缝高度增长</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等关键事件</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不需要提前知道地层闭合压力，</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减少了前期测试需求</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22"/>
          <p:cNvSpPr>
            <a:spLocks noChangeArrowheads="1"/>
          </p:cNvSpPr>
          <p:nvPr/>
        </p:nvSpPr>
        <p:spPr bwMode="auto">
          <a:xfrm>
            <a:off x="334645" y="6076315"/>
            <a:ext cx="115538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MRP</a:t>
            </a:r>
            <a:r>
              <a:rPr lang="zh-CN" altLang="en-US" sz="1200" dirty="0">
                <a:solidFill>
                  <a:srgbClr val="000000"/>
                </a:solidFill>
                <a:latin typeface="微软雅黑" panose="020B0503020204020204" pitchFamily="34" charset="-122"/>
                <a:ea typeface="微软雅黑" panose="020B0503020204020204" pitchFamily="34" charset="-122"/>
              </a:rPr>
              <a:t>技术在实际矿场中的应用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9850" y="2439670"/>
            <a:ext cx="3601720" cy="3509645"/>
          </a:xfrm>
          <a:prstGeom prst="rect">
            <a:avLst/>
          </a:prstGeom>
        </p:spPr>
      </p:pic>
      <p:pic>
        <p:nvPicPr>
          <p:cNvPr id="4" name="图片 3"/>
          <p:cNvPicPr>
            <a:picLocks noChangeAspect="1"/>
          </p:cNvPicPr>
          <p:nvPr/>
        </p:nvPicPr>
        <p:blipFill>
          <a:blip r:embed="rId2"/>
          <a:stretch>
            <a:fillRect/>
          </a:stretch>
        </p:blipFill>
        <p:spPr>
          <a:xfrm>
            <a:off x="3671570" y="2439670"/>
            <a:ext cx="2489200" cy="3519805"/>
          </a:xfrm>
          <a:prstGeom prst="rect">
            <a:avLst/>
          </a:prstGeom>
        </p:spPr>
      </p:pic>
      <p:pic>
        <p:nvPicPr>
          <p:cNvPr id="5" name="图片 4"/>
          <p:cNvPicPr>
            <a:picLocks noChangeAspect="1"/>
          </p:cNvPicPr>
          <p:nvPr/>
        </p:nvPicPr>
        <p:blipFill>
          <a:blip r:embed="rId3"/>
          <a:stretch>
            <a:fillRect/>
          </a:stretch>
        </p:blipFill>
        <p:spPr>
          <a:xfrm>
            <a:off x="6160770" y="2439670"/>
            <a:ext cx="2905125" cy="2183765"/>
          </a:xfrm>
          <a:prstGeom prst="rect">
            <a:avLst/>
          </a:prstGeom>
        </p:spPr>
      </p:pic>
      <p:pic>
        <p:nvPicPr>
          <p:cNvPr id="6" name="图片 5"/>
          <p:cNvPicPr>
            <a:picLocks noChangeAspect="1"/>
          </p:cNvPicPr>
          <p:nvPr/>
        </p:nvPicPr>
        <p:blipFill>
          <a:blip r:embed="rId4"/>
          <a:stretch>
            <a:fillRect/>
          </a:stretch>
        </p:blipFill>
        <p:spPr>
          <a:xfrm>
            <a:off x="6160770" y="4623435"/>
            <a:ext cx="2898140" cy="1325880"/>
          </a:xfrm>
          <a:prstGeom prst="rect">
            <a:avLst/>
          </a:prstGeom>
        </p:spPr>
      </p:pic>
      <p:pic>
        <p:nvPicPr>
          <p:cNvPr id="7" name="图片 6"/>
          <p:cNvPicPr/>
          <p:nvPr/>
        </p:nvPicPr>
        <p:blipFill>
          <a:blip r:embed="rId5"/>
          <a:srcRect t="26213" b="16719"/>
          <a:stretch>
            <a:fillRect/>
          </a:stretch>
        </p:blipFill>
        <p:spPr>
          <a:xfrm>
            <a:off x="9065895" y="3611245"/>
            <a:ext cx="2893695" cy="1177925"/>
          </a:xfrm>
          <a:prstGeom prst="rect">
            <a:avLst/>
          </a:prstGeom>
        </p:spPr>
      </p:pic>
      <p:pic>
        <p:nvPicPr>
          <p:cNvPr id="13" name="图片 12"/>
          <p:cNvPicPr/>
          <p:nvPr/>
        </p:nvPicPr>
        <p:blipFill>
          <a:blip r:embed="rId6"/>
          <a:srcRect t="32106" b="11298"/>
          <a:stretch>
            <a:fillRect/>
          </a:stretch>
        </p:blipFill>
        <p:spPr>
          <a:xfrm>
            <a:off x="9058910" y="4789805"/>
            <a:ext cx="2903220" cy="1160780"/>
          </a:xfrm>
          <a:prstGeom prst="rect">
            <a:avLst/>
          </a:prstGeom>
        </p:spPr>
      </p:pic>
      <p:pic>
        <p:nvPicPr>
          <p:cNvPr id="15" name="图片 14"/>
          <p:cNvPicPr>
            <a:picLocks noChangeAspect="1"/>
          </p:cNvPicPr>
          <p:nvPr/>
        </p:nvPicPr>
        <p:blipFill>
          <a:blip r:embed="rId7"/>
          <a:srcRect t="32133" b="16320"/>
          <a:stretch>
            <a:fillRect/>
          </a:stretch>
        </p:blipFill>
        <p:spPr>
          <a:xfrm>
            <a:off x="9079230" y="2439670"/>
            <a:ext cx="2891155" cy="1214755"/>
          </a:xfrm>
          <a:prstGeom prst="rect">
            <a:avLst/>
          </a:prstGeom>
        </p:spPr>
      </p:pic>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9.1</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离散小波变换技术原理（压裂施工曲线分析）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水力压裂信号是</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非平稳</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瞬态</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的，在不同频率上包含不同的信息，</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传统的信号分析方法不具备时域分析能力</a:t>
            </a:r>
            <a:endPar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小波变换是一种常用的信号处理方法，相比于傅里叶变换和短时傅里叶变换，具有很好的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时间和频率局部化分析能力</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，因此可以通过小波变换</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对压裂施工曲线进行多分辨率分析</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来识别裂缝扩展事件进而评估压裂效果</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974090" y="2503848"/>
            <a:ext cx="3590444" cy="1600200"/>
          </a:xfrm>
          <a:prstGeom prst="rect">
            <a:avLst/>
          </a:prstGeom>
        </p:spPr>
      </p:pic>
      <p:pic>
        <p:nvPicPr>
          <p:cNvPr id="4" name="图片 3"/>
          <p:cNvPicPr>
            <a:picLocks noChangeAspect="1"/>
          </p:cNvPicPr>
          <p:nvPr/>
        </p:nvPicPr>
        <p:blipFill>
          <a:blip r:embed="rId2"/>
          <a:stretch>
            <a:fillRect/>
          </a:stretch>
        </p:blipFill>
        <p:spPr>
          <a:xfrm>
            <a:off x="2106568" y="4212316"/>
            <a:ext cx="2127209" cy="1815783"/>
          </a:xfrm>
          <a:prstGeom prst="rect">
            <a:avLst/>
          </a:prstGeom>
        </p:spPr>
      </p:pic>
      <p:sp>
        <p:nvSpPr>
          <p:cNvPr id="3" name="文本框 2"/>
          <p:cNvSpPr txBox="1"/>
          <p:nvPr>
            <p:custDataLst>
              <p:tags r:id="rId3"/>
            </p:custDataLst>
          </p:nvPr>
        </p:nvSpPr>
        <p:spPr>
          <a:xfrm>
            <a:off x="3892174" y="2667317"/>
            <a:ext cx="1488440" cy="337185"/>
          </a:xfrm>
          <a:prstGeom prst="rect">
            <a:avLst/>
          </a:prstGeom>
          <a:noFill/>
        </p:spPr>
        <p:txBody>
          <a:bodyPr wrap="square" rtlCol="0">
            <a:spAutoFit/>
          </a:bodyPr>
          <a:lstStyle/>
          <a:p>
            <a:pPr algn="r"/>
            <a:r>
              <a:rPr lang="zh-CN" altLang="en-US" sz="1600" b="1" dirty="0">
                <a:solidFill>
                  <a:srgbClr val="3E3FFC"/>
                </a:solidFill>
              </a:rPr>
              <a:t>细节系数</a:t>
            </a:r>
            <a:endParaRPr lang="zh-CN" altLang="en-US" sz="1600" b="1" dirty="0">
              <a:solidFill>
                <a:srgbClr val="3E3FFC"/>
              </a:solidFill>
            </a:endParaRPr>
          </a:p>
        </p:txBody>
      </p:sp>
      <p:sp>
        <p:nvSpPr>
          <p:cNvPr id="6" name="文本框 5"/>
          <p:cNvSpPr txBox="1"/>
          <p:nvPr>
            <p:custDataLst>
              <p:tags r:id="rId4"/>
            </p:custDataLst>
          </p:nvPr>
        </p:nvSpPr>
        <p:spPr>
          <a:xfrm>
            <a:off x="3885084" y="3264218"/>
            <a:ext cx="1488440" cy="337185"/>
          </a:xfrm>
          <a:prstGeom prst="rect">
            <a:avLst/>
          </a:prstGeom>
          <a:noFill/>
        </p:spPr>
        <p:txBody>
          <a:bodyPr wrap="square" rtlCol="0">
            <a:spAutoFit/>
          </a:bodyPr>
          <a:lstStyle/>
          <a:p>
            <a:pPr algn="r"/>
            <a:r>
              <a:rPr lang="zh-CN" altLang="en-US" sz="1600" b="1">
                <a:solidFill>
                  <a:srgbClr val="3E3FFC"/>
                </a:solidFill>
              </a:rPr>
              <a:t>近似系数</a:t>
            </a:r>
            <a:endParaRPr lang="zh-CN" altLang="en-US" sz="1600" b="1">
              <a:solidFill>
                <a:srgbClr val="3E3FFC"/>
              </a:solidFill>
            </a:endParaRPr>
          </a:p>
        </p:txBody>
      </p:sp>
      <p:sp>
        <p:nvSpPr>
          <p:cNvPr id="11" name="文本框 10"/>
          <p:cNvSpPr txBox="1"/>
          <p:nvPr>
            <p:custDataLst>
              <p:tags r:id="rId5"/>
            </p:custDataLst>
          </p:nvPr>
        </p:nvSpPr>
        <p:spPr>
          <a:xfrm>
            <a:off x="3493135" y="3799593"/>
            <a:ext cx="2049135" cy="337185"/>
          </a:xfrm>
          <a:prstGeom prst="rect">
            <a:avLst/>
          </a:prstGeom>
          <a:noFill/>
        </p:spPr>
        <p:txBody>
          <a:bodyPr wrap="square" rtlCol="0">
            <a:spAutoFit/>
          </a:bodyPr>
          <a:lstStyle/>
          <a:p>
            <a:r>
              <a:rPr lang="zh-CN" altLang="en-US" sz="1600" b="1" dirty="0">
                <a:solidFill>
                  <a:srgbClr val="3E3FFC"/>
                </a:solidFill>
              </a:rPr>
              <a:t>最大理论分解级数</a:t>
            </a:r>
            <a:endParaRPr lang="zh-CN" altLang="en-US" sz="1600" b="1" dirty="0">
              <a:solidFill>
                <a:srgbClr val="3E3FFC"/>
              </a:solidFill>
            </a:endParaRPr>
          </a:p>
        </p:txBody>
      </p:sp>
      <p:sp>
        <p:nvSpPr>
          <p:cNvPr id="12" name="文本框 11"/>
          <p:cNvSpPr txBox="1"/>
          <p:nvPr/>
        </p:nvSpPr>
        <p:spPr>
          <a:xfrm>
            <a:off x="919797" y="4361223"/>
            <a:ext cx="1579245" cy="337185"/>
          </a:xfrm>
          <a:prstGeom prst="rect">
            <a:avLst/>
          </a:prstGeom>
          <a:noFill/>
        </p:spPr>
        <p:txBody>
          <a:bodyPr wrap="square" rtlCol="0">
            <a:spAutoFit/>
          </a:bodyPr>
          <a:lstStyle/>
          <a:p>
            <a:r>
              <a:rPr lang="zh-CN" altLang="en-US" sz="1600" b="1" dirty="0">
                <a:solidFill>
                  <a:srgbClr val="3E3FFC"/>
                </a:solidFill>
              </a:rPr>
              <a:t>信号总能量</a:t>
            </a:r>
            <a:endParaRPr lang="zh-CN" altLang="en-US" sz="1600" b="1" dirty="0">
              <a:solidFill>
                <a:srgbClr val="3E3FFC"/>
              </a:solidFill>
            </a:endParaRPr>
          </a:p>
        </p:txBody>
      </p:sp>
      <p:sp>
        <p:nvSpPr>
          <p:cNvPr id="13" name="文本框 12"/>
          <p:cNvSpPr txBox="1"/>
          <p:nvPr/>
        </p:nvSpPr>
        <p:spPr>
          <a:xfrm>
            <a:off x="1050290" y="4971415"/>
            <a:ext cx="1169035" cy="337185"/>
          </a:xfrm>
          <a:prstGeom prst="rect">
            <a:avLst/>
          </a:prstGeom>
          <a:noFill/>
        </p:spPr>
        <p:txBody>
          <a:bodyPr wrap="square" rtlCol="0">
            <a:spAutoFit/>
          </a:bodyPr>
          <a:lstStyle/>
          <a:p>
            <a:r>
              <a:rPr lang="zh-CN" altLang="en-US" sz="1600" b="1" dirty="0">
                <a:solidFill>
                  <a:srgbClr val="3E3FFC"/>
                </a:solidFill>
              </a:rPr>
              <a:t>细节能量</a:t>
            </a:r>
            <a:endParaRPr lang="zh-CN" altLang="en-US" sz="1600" b="1" dirty="0">
              <a:solidFill>
                <a:srgbClr val="3E3FFC"/>
              </a:solidFill>
            </a:endParaRPr>
          </a:p>
        </p:txBody>
      </p:sp>
      <p:sp>
        <p:nvSpPr>
          <p:cNvPr id="15" name="文本框 14"/>
          <p:cNvSpPr txBox="1"/>
          <p:nvPr/>
        </p:nvSpPr>
        <p:spPr>
          <a:xfrm>
            <a:off x="1050290" y="5505450"/>
            <a:ext cx="1095375" cy="337185"/>
          </a:xfrm>
          <a:prstGeom prst="rect">
            <a:avLst/>
          </a:prstGeom>
          <a:noFill/>
        </p:spPr>
        <p:txBody>
          <a:bodyPr wrap="square" rtlCol="0">
            <a:spAutoFit/>
          </a:bodyPr>
          <a:lstStyle/>
          <a:p>
            <a:r>
              <a:rPr lang="zh-CN" altLang="en-US" sz="1600" b="1" dirty="0">
                <a:solidFill>
                  <a:srgbClr val="3E3FFC"/>
                </a:solidFill>
              </a:rPr>
              <a:t>近似能量</a:t>
            </a:r>
            <a:endParaRPr lang="zh-CN" altLang="en-US" sz="1600" b="1" dirty="0">
              <a:solidFill>
                <a:srgbClr val="3E3FFC"/>
              </a:solidFill>
            </a:endParaRPr>
          </a:p>
        </p:txBody>
      </p:sp>
      <p:sp>
        <p:nvSpPr>
          <p:cNvPr id="21" name="上弧形箭头 35"/>
          <p:cNvSpPr/>
          <p:nvPr/>
        </p:nvSpPr>
        <p:spPr bwMode="auto">
          <a:xfrm rot="5400000" flipV="1">
            <a:off x="-502920" y="3777615"/>
            <a:ext cx="242189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16" name="上弧形箭头 35"/>
          <p:cNvSpPr/>
          <p:nvPr/>
        </p:nvSpPr>
        <p:spPr bwMode="auto">
          <a:xfrm rot="5400000" flipV="1">
            <a:off x="-477452" y="4340157"/>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pic>
        <p:nvPicPr>
          <p:cNvPr id="20" name="图片 19" descr="图片1"/>
          <p:cNvPicPr/>
          <p:nvPr/>
        </p:nvPicPr>
        <p:blipFill>
          <a:blip r:embed="rId6"/>
          <a:srcRect t="13188"/>
          <a:stretch>
            <a:fillRect/>
          </a:stretch>
        </p:blipFill>
        <p:spPr>
          <a:xfrm>
            <a:off x="8933170" y="2575193"/>
            <a:ext cx="3025775" cy="1800000"/>
          </a:xfrm>
          <a:prstGeom prst="rect">
            <a:avLst/>
          </a:prstGeom>
        </p:spPr>
      </p:pic>
      <p:pic>
        <p:nvPicPr>
          <p:cNvPr id="22" name="图片 21" descr="图片2"/>
          <p:cNvPicPr>
            <a:picLocks noChangeAspect="1"/>
          </p:cNvPicPr>
          <p:nvPr/>
        </p:nvPicPr>
        <p:blipFill>
          <a:blip r:embed="rId7"/>
          <a:stretch>
            <a:fillRect/>
          </a:stretch>
        </p:blipFill>
        <p:spPr>
          <a:xfrm>
            <a:off x="8933169" y="4419504"/>
            <a:ext cx="3025775" cy="1827872"/>
          </a:xfrm>
          <a:prstGeom prst="rect">
            <a:avLst/>
          </a:prstGeom>
        </p:spPr>
      </p:pic>
      <p:pic>
        <p:nvPicPr>
          <p:cNvPr id="23" name="图片 22"/>
          <p:cNvPicPr>
            <a:picLocks noChangeAspect="1"/>
          </p:cNvPicPr>
          <p:nvPr/>
        </p:nvPicPr>
        <p:blipFill>
          <a:blip r:embed="rId8"/>
          <a:stretch>
            <a:fillRect/>
          </a:stretch>
        </p:blipFill>
        <p:spPr>
          <a:xfrm>
            <a:off x="5542280" y="2550160"/>
            <a:ext cx="3139440" cy="1821180"/>
          </a:xfrm>
          <a:prstGeom prst="rect">
            <a:avLst/>
          </a:prstGeom>
        </p:spPr>
      </p:pic>
      <p:pic>
        <p:nvPicPr>
          <p:cNvPr id="24" name="图片 23"/>
          <p:cNvPicPr>
            <a:picLocks noChangeAspect="1"/>
          </p:cNvPicPr>
          <p:nvPr/>
        </p:nvPicPr>
        <p:blipFill>
          <a:blip r:embed="rId9"/>
          <a:stretch>
            <a:fillRect/>
          </a:stretch>
        </p:blipFill>
        <p:spPr>
          <a:xfrm>
            <a:off x="5738495" y="4486910"/>
            <a:ext cx="2943225" cy="2034540"/>
          </a:xfrm>
          <a:prstGeom prst="rect">
            <a:avLst/>
          </a:prstGeom>
        </p:spPr>
      </p:pic>
      <p:sp>
        <p:nvSpPr>
          <p:cNvPr id="5"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离散小波变换技术国内外研究现状</a:t>
            </a:r>
            <a:endParaRPr lang="zh-CN" altLang="en-US" dirty="0">
              <a:solidFill>
                <a:prstClr val="black"/>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32230"/>
          <a:ext cx="11515090" cy="4623435"/>
        </p:xfrm>
        <a:graphic>
          <a:graphicData uri="http://schemas.openxmlformats.org/drawingml/2006/table">
            <a:tbl>
              <a:tblPr firstRow="1" bandRow="1">
                <a:tableStyleId>{5940675A-B579-460E-94D1-54222C63F5DA}</a:tableStyleId>
              </a:tblPr>
              <a:tblGrid>
                <a:gridCol w="1021080"/>
                <a:gridCol w="1476375"/>
                <a:gridCol w="7247890"/>
                <a:gridCol w="1769745"/>
              </a:tblGrid>
              <a:tr h="513715">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1982</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Morlet</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利用小波分析，研究了地震信号在多层介质中的传播特性。通过理论分析和数值模拟，探讨了周期性和准周期性介质对地震信号的影响，并将其应用于真实井数据，为提高地震反射法的分辨率提供了理论支持。</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首次将小波分析应用于石油工业</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1997</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Anant K.S.</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提出了一种基于小波变换的算法，通过对单站三分量短周期地震图的每个分量进行小波分解，利用小波系数中的极化和振幅信息构建</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定位器</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函数，分别识别</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波的到达。</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小波相位识别</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2004</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Gaci S.</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通过小波变换和软阈值去噪技术改进传统的短时平均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长时平均（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STA/LTA</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）方法，以提高地震信号中初至波（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波）到达时间的拾取精度。</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小波去噪拾取</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Saragiotis C.</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提出了一种基于高阶统计量（</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HOS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）的新型地震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波初至自动识别方法该方法利用偏度（</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Skewness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）和峰度（</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Kurtosis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）构建算法，即使在噪声存在的情况下也能有效工作</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小波鲁棒</a:t>
                      </a: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波识别</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2014</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Han L. </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将经验模态分解与小波分析相结合进行地震时频分析，适用于水力压裂微地震信号处理。该方法在时频分辨率和能量聚焦方面表现出更高的性能，尤其在低频区域，为地震数据的高分辨率解释提供了新的工具。</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模态分解与小波结合</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Unal</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首次将小波分析应用于水力压裂处理曲线的分析和解释。通过对压力曲线进行离散小波变换，获得</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了随时间变化的波细节系数曲线，并进行了分析和解释。</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离散小波分析压裂曲线</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Unal</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引入了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Burrus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等人（</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1998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年）提出的能量概念。通过比较压力与速率之间的能量关系，将水力压裂处理过程中的事件类型划分为两种：与速率相关和与岩石相关</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压裂事件分类</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Awad</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通过小波变换技术对压裂过程中的流量和压力信号进行处理，计算不同频带的能量分布，并利用能量密度图（</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EDP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）分析信号特征。并基于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Unal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等人的工作，进一步解释了小波基选择和最优分解级别的选择。</a:t>
                      </a:r>
                      <a:endPar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小波基选择和最优分解级别的选择</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离散小波变换技术矿场应用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采用离散小波变换技术将压力、排量等信号分解到不同的时频域上，得到压裂施工曲线在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不同时频分量上的特征</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能够根据压力和排量的小波能量关系筛选出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岩石类事件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，并根据小波能量大小识别</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裂缝扩展的强度</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2" name="矩形 22"/>
          <p:cNvSpPr>
            <a:spLocks noChangeArrowheads="1"/>
          </p:cNvSpPr>
          <p:nvPr/>
        </p:nvSpPr>
        <p:spPr bwMode="auto">
          <a:xfrm>
            <a:off x="339090" y="6076315"/>
            <a:ext cx="115538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离散小波变换在实际矿场上的应用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9" name="图片 10"/>
          <p:cNvPicPr>
            <a:picLocks noChangeAspect="1"/>
          </p:cNvPicPr>
          <p:nvPr/>
        </p:nvPicPr>
        <p:blipFill>
          <a:blip r:embed="rId1">
            <a:extLst>
              <a:ext uri="{28A0092B-C50C-407E-A947-70E740481C1C}">
                <a14:useLocalDpi xmlns:a14="http://schemas.microsoft.com/office/drawing/2010/main" val="0"/>
              </a:ext>
            </a:extLst>
          </a:blip>
          <a:srcRect b="12114"/>
          <a:stretch>
            <a:fillRect/>
          </a:stretch>
        </p:blipFill>
        <p:spPr bwMode="auto">
          <a:xfrm>
            <a:off x="9011920" y="4085590"/>
            <a:ext cx="2806700" cy="1871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12"/>
          <p:cNvPicPr>
            <a:picLocks noChangeAspect="1" noChangeArrowheads="1"/>
          </p:cNvPicPr>
          <p:nvPr/>
        </p:nvPicPr>
        <p:blipFill>
          <a:blip r:embed="rId2">
            <a:extLst>
              <a:ext uri="{28A0092B-C50C-407E-A947-70E740481C1C}">
                <a14:useLocalDpi xmlns:a14="http://schemas.microsoft.com/office/drawing/2010/main" val="0"/>
              </a:ext>
            </a:extLst>
          </a:blip>
          <a:srcRect t="4566" r="52962" b="17805"/>
          <a:stretch>
            <a:fillRect/>
          </a:stretch>
        </p:blipFill>
        <p:spPr bwMode="auto">
          <a:xfrm>
            <a:off x="260350" y="4084320"/>
            <a:ext cx="2584450" cy="187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1"/>
          <p:cNvPicPr>
            <a:picLocks noChangeAspect="1"/>
          </p:cNvPicPr>
          <p:nvPr/>
        </p:nvPicPr>
        <p:blipFill>
          <a:blip r:embed="rId3">
            <a:extLst>
              <a:ext uri="{28A0092B-C50C-407E-A947-70E740481C1C}">
                <a14:useLocalDpi xmlns:a14="http://schemas.microsoft.com/office/drawing/2010/main" val="0"/>
              </a:ext>
            </a:extLst>
          </a:blip>
          <a:srcRect l="21326" r="21326" b="51787"/>
          <a:stretch>
            <a:fillRect/>
          </a:stretch>
        </p:blipFill>
        <p:spPr bwMode="auto">
          <a:xfrm>
            <a:off x="6261735" y="4085590"/>
            <a:ext cx="253428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rcRect b="2236"/>
          <a:stretch>
            <a:fillRect/>
          </a:stretch>
        </p:blipFill>
        <p:spPr>
          <a:xfrm>
            <a:off x="3060700" y="4084955"/>
            <a:ext cx="2985135" cy="1903095"/>
          </a:xfrm>
          <a:prstGeom prst="rect">
            <a:avLst/>
          </a:prstGeom>
        </p:spPr>
      </p:pic>
      <p:graphicFrame>
        <p:nvGraphicFramePr>
          <p:cNvPr id="11" name="图示 4"/>
          <p:cNvGraphicFramePr/>
          <p:nvPr/>
        </p:nvGraphicFramePr>
        <p:xfrm>
          <a:off x="338455" y="2194560"/>
          <a:ext cx="11412855" cy="189039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10.1</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连续小波变换技术原理（压裂施工曲线分析）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连续小波分析技术是小波分析的一种形式，通过在</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连续的尺度</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参数上对信号进行分析，生成时频图谱</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相比离散小波，连续小波提供了</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更细致的频率分辨率</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和时间特征，可以更精确地捕捉信号中的瞬态变化</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连续小波分析可以识别</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复杂的裂缝扩展模式</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以及裂缝扩展系统与天然裂缝的交集</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矩形 22"/>
          <p:cNvSpPr>
            <a:spLocks noChangeArrowheads="1"/>
          </p:cNvSpPr>
          <p:nvPr/>
        </p:nvSpPr>
        <p:spPr bwMode="auto">
          <a:xfrm>
            <a:off x="5480050" y="6076315"/>
            <a:ext cx="63042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连续小波变换技术流程图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5480685" y="2517775"/>
            <a:ext cx="6339205" cy="3408045"/>
          </a:xfrm>
          <a:prstGeom prst="rect">
            <a:avLst/>
          </a:prstGeom>
        </p:spPr>
      </p:pic>
      <p:pic>
        <p:nvPicPr>
          <p:cNvPr id="3" name="图片 2"/>
          <p:cNvPicPr>
            <a:picLocks noChangeAspect="1"/>
          </p:cNvPicPr>
          <p:nvPr/>
        </p:nvPicPr>
        <p:blipFill>
          <a:blip r:embed="rId2"/>
          <a:stretch>
            <a:fillRect/>
          </a:stretch>
        </p:blipFill>
        <p:spPr>
          <a:xfrm>
            <a:off x="1040130" y="2546350"/>
            <a:ext cx="2461260" cy="743585"/>
          </a:xfrm>
          <a:prstGeom prst="rect">
            <a:avLst/>
          </a:prstGeom>
        </p:spPr>
      </p:pic>
      <p:pic>
        <p:nvPicPr>
          <p:cNvPr id="4" name="图片 3"/>
          <p:cNvPicPr>
            <a:picLocks noChangeAspect="1"/>
          </p:cNvPicPr>
          <p:nvPr/>
        </p:nvPicPr>
        <p:blipFill>
          <a:blip r:embed="rId3"/>
          <a:stretch>
            <a:fillRect/>
          </a:stretch>
        </p:blipFill>
        <p:spPr>
          <a:xfrm>
            <a:off x="1432560" y="4897755"/>
            <a:ext cx="1363345" cy="567055"/>
          </a:xfrm>
          <a:prstGeom prst="rect">
            <a:avLst/>
          </a:prstGeom>
        </p:spPr>
      </p:pic>
      <p:pic>
        <p:nvPicPr>
          <p:cNvPr id="6" name="图片 5"/>
          <p:cNvPicPr>
            <a:picLocks noChangeAspect="1"/>
          </p:cNvPicPr>
          <p:nvPr/>
        </p:nvPicPr>
        <p:blipFill>
          <a:blip r:embed="rId4"/>
          <a:stretch>
            <a:fillRect/>
          </a:stretch>
        </p:blipFill>
        <p:spPr>
          <a:xfrm>
            <a:off x="1520190" y="3515995"/>
            <a:ext cx="1593215" cy="410845"/>
          </a:xfrm>
          <a:prstGeom prst="rect">
            <a:avLst/>
          </a:prstGeom>
        </p:spPr>
      </p:pic>
      <p:pic>
        <p:nvPicPr>
          <p:cNvPr id="7" name="图片 6"/>
          <p:cNvPicPr>
            <a:picLocks noChangeAspect="1"/>
          </p:cNvPicPr>
          <p:nvPr/>
        </p:nvPicPr>
        <p:blipFill>
          <a:blip r:embed="rId5"/>
          <a:stretch>
            <a:fillRect/>
          </a:stretch>
        </p:blipFill>
        <p:spPr>
          <a:xfrm>
            <a:off x="748665" y="5592445"/>
            <a:ext cx="3004185" cy="679450"/>
          </a:xfrm>
          <a:prstGeom prst="rect">
            <a:avLst/>
          </a:prstGeom>
        </p:spPr>
      </p:pic>
      <p:pic>
        <p:nvPicPr>
          <p:cNvPr id="9" name="图片 8"/>
          <p:cNvPicPr>
            <a:picLocks noChangeAspect="1"/>
          </p:cNvPicPr>
          <p:nvPr/>
        </p:nvPicPr>
        <p:blipFill>
          <a:blip r:embed="rId6"/>
          <a:stretch>
            <a:fillRect/>
          </a:stretch>
        </p:blipFill>
        <p:spPr>
          <a:xfrm>
            <a:off x="1358900" y="4237355"/>
            <a:ext cx="1911985" cy="579755"/>
          </a:xfrm>
          <a:prstGeom prst="rect">
            <a:avLst/>
          </a:prstGeom>
        </p:spPr>
      </p:pic>
      <p:sp>
        <p:nvSpPr>
          <p:cNvPr id="10" name="文本框 9"/>
          <p:cNvSpPr txBox="1"/>
          <p:nvPr>
            <p:custDataLst>
              <p:tags r:id="rId7"/>
            </p:custDataLst>
          </p:nvPr>
        </p:nvSpPr>
        <p:spPr>
          <a:xfrm>
            <a:off x="3501390" y="2748915"/>
            <a:ext cx="1838960" cy="337185"/>
          </a:xfrm>
          <a:prstGeom prst="rect">
            <a:avLst/>
          </a:prstGeom>
          <a:noFill/>
        </p:spPr>
        <p:txBody>
          <a:bodyPr wrap="square" rtlCol="0">
            <a:spAutoFit/>
          </a:bodyPr>
          <a:lstStyle/>
          <a:p>
            <a:pPr algn="r"/>
            <a:r>
              <a:rPr lang="zh-CN" altLang="en-US" sz="1600" b="1" dirty="0">
                <a:solidFill>
                  <a:srgbClr val="3E3FFC"/>
                </a:solidFill>
              </a:rPr>
              <a:t>连续小波系数</a:t>
            </a:r>
            <a:endParaRPr lang="zh-CN" altLang="en-US" sz="1600" b="1" dirty="0">
              <a:solidFill>
                <a:srgbClr val="3E3FFC"/>
              </a:solidFill>
            </a:endParaRPr>
          </a:p>
        </p:txBody>
      </p:sp>
      <p:sp>
        <p:nvSpPr>
          <p:cNvPr id="11" name="文本框 10"/>
          <p:cNvSpPr txBox="1"/>
          <p:nvPr>
            <p:custDataLst>
              <p:tags r:id="rId8"/>
            </p:custDataLst>
          </p:nvPr>
        </p:nvSpPr>
        <p:spPr>
          <a:xfrm>
            <a:off x="3585210" y="3506470"/>
            <a:ext cx="1755140" cy="337185"/>
          </a:xfrm>
          <a:prstGeom prst="rect">
            <a:avLst/>
          </a:prstGeom>
          <a:noFill/>
        </p:spPr>
        <p:txBody>
          <a:bodyPr wrap="square" rtlCol="0">
            <a:spAutoFit/>
          </a:bodyPr>
          <a:lstStyle/>
          <a:p>
            <a:pPr algn="r"/>
            <a:r>
              <a:rPr lang="zh-CN" altLang="en-US" sz="1600" b="1" dirty="0">
                <a:solidFill>
                  <a:srgbClr val="3E3FFC"/>
                </a:solidFill>
              </a:rPr>
              <a:t>信号总能量</a:t>
            </a:r>
            <a:endParaRPr lang="zh-CN" altLang="en-US" sz="1600" b="1" dirty="0">
              <a:solidFill>
                <a:srgbClr val="3E3FFC"/>
              </a:solidFill>
            </a:endParaRPr>
          </a:p>
        </p:txBody>
      </p:sp>
      <p:sp>
        <p:nvSpPr>
          <p:cNvPr id="12" name="文本框 11"/>
          <p:cNvSpPr txBox="1"/>
          <p:nvPr>
            <p:custDataLst>
              <p:tags r:id="rId9"/>
            </p:custDataLst>
          </p:nvPr>
        </p:nvSpPr>
        <p:spPr>
          <a:xfrm>
            <a:off x="3752850" y="5021580"/>
            <a:ext cx="1588135" cy="337185"/>
          </a:xfrm>
          <a:prstGeom prst="rect">
            <a:avLst/>
          </a:prstGeom>
          <a:noFill/>
        </p:spPr>
        <p:txBody>
          <a:bodyPr wrap="square" rtlCol="0">
            <a:spAutoFit/>
          </a:bodyPr>
          <a:lstStyle/>
          <a:p>
            <a:pPr algn="r"/>
            <a:r>
              <a:rPr lang="zh-CN" altLang="en-US" sz="1600" b="1" dirty="0">
                <a:solidFill>
                  <a:srgbClr val="3E3FFC"/>
                </a:solidFill>
              </a:rPr>
              <a:t>连续小波能量</a:t>
            </a:r>
            <a:endParaRPr lang="zh-CN" altLang="en-US" sz="1600" b="1" dirty="0">
              <a:solidFill>
                <a:srgbClr val="3E3FFC"/>
              </a:solidFill>
            </a:endParaRPr>
          </a:p>
        </p:txBody>
      </p:sp>
      <p:sp>
        <p:nvSpPr>
          <p:cNvPr id="13" name="文本框 12"/>
          <p:cNvSpPr txBox="1"/>
          <p:nvPr>
            <p:custDataLst>
              <p:tags r:id="rId10"/>
            </p:custDataLst>
          </p:nvPr>
        </p:nvSpPr>
        <p:spPr>
          <a:xfrm>
            <a:off x="3669030" y="4264025"/>
            <a:ext cx="1671320" cy="337185"/>
          </a:xfrm>
          <a:prstGeom prst="rect">
            <a:avLst/>
          </a:prstGeom>
          <a:noFill/>
        </p:spPr>
        <p:txBody>
          <a:bodyPr wrap="square" rtlCol="0">
            <a:spAutoFit/>
          </a:bodyPr>
          <a:lstStyle/>
          <a:p>
            <a:pPr algn="r"/>
            <a:r>
              <a:rPr lang="zh-CN" altLang="en-US" sz="1600" b="1" dirty="0">
                <a:solidFill>
                  <a:srgbClr val="3E3FFC"/>
                </a:solidFill>
              </a:rPr>
              <a:t>复小波函数</a:t>
            </a:r>
            <a:endParaRPr lang="zh-CN" altLang="en-US" sz="1600" b="1" dirty="0">
              <a:solidFill>
                <a:srgbClr val="3E3FFC"/>
              </a:solidFill>
            </a:endParaRPr>
          </a:p>
        </p:txBody>
      </p:sp>
      <p:sp>
        <p:nvSpPr>
          <p:cNvPr id="14" name="文本框 13"/>
          <p:cNvSpPr txBox="1"/>
          <p:nvPr>
            <p:custDataLst>
              <p:tags r:id="rId11"/>
            </p:custDataLst>
          </p:nvPr>
        </p:nvSpPr>
        <p:spPr>
          <a:xfrm>
            <a:off x="3634740" y="5779135"/>
            <a:ext cx="1705610" cy="337185"/>
          </a:xfrm>
          <a:prstGeom prst="rect">
            <a:avLst/>
          </a:prstGeom>
          <a:noFill/>
        </p:spPr>
        <p:txBody>
          <a:bodyPr wrap="square" rtlCol="0">
            <a:spAutoFit/>
          </a:bodyPr>
          <a:lstStyle/>
          <a:p>
            <a:pPr algn="r"/>
            <a:r>
              <a:rPr lang="zh-CN" altLang="en-US" sz="1600" b="1" dirty="0">
                <a:solidFill>
                  <a:srgbClr val="3E3FFC"/>
                </a:solidFill>
              </a:rPr>
              <a:t>能量归一化处理</a:t>
            </a:r>
            <a:endParaRPr lang="zh-CN" altLang="en-US" sz="1600" b="1" dirty="0">
              <a:solidFill>
                <a:srgbClr val="3E3FFC"/>
              </a:solidFill>
            </a:endParaRPr>
          </a:p>
        </p:txBody>
      </p:sp>
      <p:sp>
        <p:nvSpPr>
          <p:cNvPr id="21" name="上弧形箭头 35"/>
          <p:cNvSpPr/>
          <p:nvPr/>
        </p:nvSpPr>
        <p:spPr bwMode="auto">
          <a:xfrm rot="3540000" flipV="1">
            <a:off x="445135" y="3307080"/>
            <a:ext cx="1068070" cy="41592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15" name="上弧形箭头 35"/>
          <p:cNvSpPr/>
          <p:nvPr/>
        </p:nvSpPr>
        <p:spPr bwMode="auto">
          <a:xfrm rot="7620000" flipV="1">
            <a:off x="163830" y="5270500"/>
            <a:ext cx="1253490" cy="47815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5"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连续小波变换技术国内外研究现状</a:t>
            </a:r>
            <a:endParaRPr lang="zh-CN" altLang="en-US" dirty="0">
              <a:solidFill>
                <a:prstClr val="black"/>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48740"/>
          <a:ext cx="11414125" cy="4609465"/>
        </p:xfrm>
        <a:graphic>
          <a:graphicData uri="http://schemas.openxmlformats.org/drawingml/2006/table">
            <a:tbl>
              <a:tblPr firstRow="1" bandRow="1">
                <a:tableStyleId>{5940675A-B579-460E-94D1-54222C63F5DA}</a:tableStyleId>
              </a:tblPr>
              <a:tblGrid>
                <a:gridCol w="1006475"/>
                <a:gridCol w="1455420"/>
                <a:gridCol w="7147560"/>
                <a:gridCol w="1804670"/>
              </a:tblGrid>
              <a:tr h="276860">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2001</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Chakraborty A.</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研究了连续小波变换在地震数据频时分解中的应用，提出了基于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Morlet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小波的高分辨率时频分析方法。</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连续小波时频分析</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101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Tary, J.B</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回顾了地球物理学中的谱估计方法，包括连续小波变换在水力压裂微地震监测中的应用。讨论了小波分析如何提供更好的时频分辨率，帮助识别水力压裂过程中的微地震信号特征。</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连续小波辅助识别微地震信号特征</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Vera Rodriguez I.</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提出了基于三分量群稀疏约束的时频变换去噪方法，结合了连续小波分析，提高了微地震数据质量。</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三分量小波去噪</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Zhu D., Li Y.</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将模糊</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均值聚类算法与连续小波分析相结合，实现了微地震数据的自动到时拾取。</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模糊聚类与小波结合</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Mousavi, S.M</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提出了一种结合高阶统计和改进的小波阈值方法的混合地震去噪技术，该方法可应用于水力压裂监测中的微地震信号处理，提高了信号的清晰度。</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连续小波辅助微地震信号去噪</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Baig, A</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利用连续小波变换等技术分析微地震矩张量，以更好地理解水力压裂过程中的裂缝生长。</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连续小波辅助理解裂缝生长</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Vavry</a:t>
                      </a:r>
                      <a:r>
                        <a:rPr lang="en-US"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č</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uk, V.</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研究了流体注入引起的地震群，使用连续小波变换分析地震信号特征，探讨了流体侵蚀导致断层弱化的证据。这些发现对理解水力压裂过程中的断层活化具有重要意义。</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连续小波辅助理解断层活化</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2021</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Mousavi S.M.</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将注意力机制深度学习与连续小波变换相结合，开发了同时进行地震检测和相位拾取的模型，适用于水力压裂微地震监测。</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深度学习与小波结合</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6400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2024</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Mohamed Adel Gabry</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介绍了一种基于连续小波变换（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CWT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）和深度学习的新方法，用于理解压裂过程中动态裂缝扩展事件。通过利用</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CWT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对处理压力信号进行分析，生成归一化的</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CWT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能量图，作为裂缝扩展模式的独特表征，并将其用于训练深度学习模型，以预测压裂作业中的微地震事件云。</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连续小波理解裂缝扩展模式</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bl>
          </a:graphicData>
        </a:graphic>
      </p:graphicFrame>
      <p:sp>
        <p:nvSpPr>
          <p:cNvPr id="3"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连续小波变换技术矿场应用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连续小波变换技术能够计算得出压裂施工过程的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连续时频特征图</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，捕捉传统方法难以发现的微小变化</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能够实现裂缝</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长度扩展、高度增长和砂堵</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等事件的精确定位</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22"/>
          <p:cNvSpPr>
            <a:spLocks noChangeArrowheads="1"/>
          </p:cNvSpPr>
          <p:nvPr/>
        </p:nvSpPr>
        <p:spPr bwMode="auto">
          <a:xfrm>
            <a:off x="339090" y="6076315"/>
            <a:ext cx="115538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连续小波变换在实际矿场上的应用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995420" y="2255520"/>
            <a:ext cx="2715895" cy="1859280"/>
          </a:xfrm>
          <a:prstGeom prst="rect">
            <a:avLst/>
          </a:prstGeom>
        </p:spPr>
      </p:pic>
      <p:pic>
        <p:nvPicPr>
          <p:cNvPr id="4" name="图片 3"/>
          <p:cNvPicPr>
            <a:picLocks noChangeAspect="1"/>
          </p:cNvPicPr>
          <p:nvPr/>
        </p:nvPicPr>
        <p:blipFill>
          <a:blip r:embed="rId2"/>
          <a:stretch>
            <a:fillRect/>
          </a:stretch>
        </p:blipFill>
        <p:spPr>
          <a:xfrm>
            <a:off x="3995420" y="4114800"/>
            <a:ext cx="2715260" cy="1844675"/>
          </a:xfrm>
          <a:prstGeom prst="rect">
            <a:avLst/>
          </a:prstGeom>
        </p:spPr>
      </p:pic>
      <p:pic>
        <p:nvPicPr>
          <p:cNvPr id="6" name="图片 5"/>
          <p:cNvPicPr>
            <a:picLocks noChangeAspect="1"/>
          </p:cNvPicPr>
          <p:nvPr/>
        </p:nvPicPr>
        <p:blipFill>
          <a:blip r:embed="rId3"/>
          <a:stretch>
            <a:fillRect/>
          </a:stretch>
        </p:blipFill>
        <p:spPr>
          <a:xfrm>
            <a:off x="6809105" y="4114800"/>
            <a:ext cx="5010785" cy="1844675"/>
          </a:xfrm>
          <a:prstGeom prst="rect">
            <a:avLst/>
          </a:prstGeom>
        </p:spPr>
      </p:pic>
      <p:pic>
        <p:nvPicPr>
          <p:cNvPr id="10" name="图片 10"/>
          <p:cNvPicPr>
            <a:picLocks noChangeAspect="1"/>
          </p:cNvPicPr>
          <p:nvPr/>
        </p:nvPicPr>
        <p:blipFill>
          <a:blip r:embed="rId4"/>
          <a:stretch>
            <a:fillRect/>
          </a:stretch>
        </p:blipFill>
        <p:spPr>
          <a:xfrm>
            <a:off x="6809740" y="2255520"/>
            <a:ext cx="4984750" cy="1859280"/>
          </a:xfrm>
          <a:prstGeom prst="rect">
            <a:avLst/>
          </a:prstGeom>
          <a:noFill/>
          <a:ln>
            <a:noFill/>
          </a:ln>
        </p:spPr>
      </p:pic>
      <p:pic>
        <p:nvPicPr>
          <p:cNvPr id="3" name="图片 2"/>
          <p:cNvPicPr>
            <a:picLocks noChangeAspect="1"/>
          </p:cNvPicPr>
          <p:nvPr/>
        </p:nvPicPr>
        <p:blipFill>
          <a:blip r:embed="rId5"/>
          <a:stretch>
            <a:fillRect/>
          </a:stretch>
        </p:blipFill>
        <p:spPr>
          <a:xfrm>
            <a:off x="429895" y="2254885"/>
            <a:ext cx="3467100" cy="3689985"/>
          </a:xfrm>
          <a:prstGeom prst="rect">
            <a:avLst/>
          </a:prstGeom>
          <a:noFill/>
          <a:ln>
            <a:solidFill>
              <a:schemeClr val="tx1"/>
            </a:solidFill>
          </a:ln>
        </p:spPr>
      </p:pic>
      <p:sp>
        <p:nvSpPr>
          <p:cNvPr id="5"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11.1</a:t>
            </a:r>
            <a:r>
              <a:rPr lang="zh-CN" altLang="en-US" dirty="0">
                <a:solidFill>
                  <a:prstClr val="black"/>
                </a:solidFill>
                <a:latin typeface="微软雅黑" panose="020B0503020204020204" pitchFamily="34" charset="-122"/>
                <a:ea typeface="微软雅黑" panose="020B0503020204020204" pitchFamily="34" charset="-122"/>
              </a:rPr>
              <a:t>、</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函数技术原理</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通过停泵压降曲线</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函数分析，确定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瞬时停泵压力、裂缝系统滤失系数和拟合压力</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结合</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函数模型和连续性方程，表征</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裂缝系统滤失速度和体积衰减速度响应关系</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计算各裂缝的诱导应力矩阵，确定净压力矩阵，耦合求解确定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裂缝缝长、缝宽分布</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3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89905" y="2734310"/>
            <a:ext cx="3312795" cy="127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35"/>
          <p:cNvPicPr/>
          <p:nvPr/>
        </p:nvPicPr>
        <p:blipFill>
          <a:blip r:embed="rId2"/>
          <a:stretch>
            <a:fillRect/>
          </a:stretch>
        </p:blipFill>
        <p:spPr>
          <a:xfrm>
            <a:off x="9262745" y="4338955"/>
            <a:ext cx="2212340" cy="1240155"/>
          </a:xfrm>
          <a:prstGeom prst="rect">
            <a:avLst/>
          </a:prstGeom>
        </p:spPr>
      </p:pic>
      <p:pic>
        <p:nvPicPr>
          <p:cNvPr id="37" name="Picture 2"/>
          <p:cNvPicPr/>
          <p:nvPr/>
        </p:nvPicPr>
        <p:blipFill rotWithShape="1">
          <a:blip r:embed="rId3"/>
          <a:srcRect t="9716" r="9788" b="2361"/>
          <a:stretch>
            <a:fillRect/>
          </a:stretch>
        </p:blipFill>
        <p:spPr bwMode="auto">
          <a:xfrm>
            <a:off x="5627370" y="4352925"/>
            <a:ext cx="2522855" cy="1508760"/>
          </a:xfrm>
          <a:prstGeom prst="rect">
            <a:avLst/>
          </a:prstGeom>
          <a:ln>
            <a:noFill/>
          </a:ln>
        </p:spPr>
      </p:pic>
      <p:pic>
        <p:nvPicPr>
          <p:cNvPr id="38" name="图片 37"/>
          <p:cNvPicPr>
            <a:picLocks noChangeAspect="1"/>
          </p:cNvPicPr>
          <p:nvPr/>
        </p:nvPicPr>
        <p:blipFill rotWithShape="1">
          <a:blip r:embed="rId4"/>
          <a:srcRect t="24113"/>
          <a:stretch>
            <a:fillRect/>
          </a:stretch>
        </p:blipFill>
        <p:spPr>
          <a:xfrm rot="5400000">
            <a:off x="8041640" y="4531360"/>
            <a:ext cx="1240155" cy="855980"/>
          </a:xfrm>
          <a:prstGeom prst="rect">
            <a:avLst/>
          </a:prstGeom>
        </p:spPr>
      </p:pic>
      <p:pic>
        <p:nvPicPr>
          <p:cNvPr id="39" name="图片 38"/>
          <p:cNvPicPr/>
          <p:nvPr/>
        </p:nvPicPr>
        <p:blipFill>
          <a:blip r:embed="rId5"/>
          <a:stretch>
            <a:fillRect/>
          </a:stretch>
        </p:blipFill>
        <p:spPr>
          <a:xfrm>
            <a:off x="9145905" y="2734310"/>
            <a:ext cx="2282825" cy="1286510"/>
          </a:xfrm>
          <a:prstGeom prst="rect">
            <a:avLst/>
          </a:prstGeom>
        </p:spPr>
      </p:pic>
      <p:sp>
        <p:nvSpPr>
          <p:cNvPr id="40" name="箭头: 右 39"/>
          <p:cNvSpPr/>
          <p:nvPr/>
        </p:nvSpPr>
        <p:spPr>
          <a:xfrm>
            <a:off x="8902700" y="3182620"/>
            <a:ext cx="187325" cy="21590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p:cNvSpPr/>
          <p:nvPr/>
        </p:nvSpPr>
        <p:spPr>
          <a:xfrm>
            <a:off x="5534025" y="2660650"/>
            <a:ext cx="5941060" cy="1428115"/>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5534025" y="4337685"/>
            <a:ext cx="5984875" cy="150876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p:cNvSpPr/>
          <p:nvPr/>
        </p:nvSpPr>
        <p:spPr>
          <a:xfrm rot="5400000">
            <a:off x="8442325" y="3842385"/>
            <a:ext cx="187325" cy="73342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p:cNvSpPr/>
          <p:nvPr/>
        </p:nvSpPr>
        <p:spPr>
          <a:xfrm>
            <a:off x="9183370" y="4874260"/>
            <a:ext cx="187325" cy="21590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p:cNvPicPr>
            <a:picLocks noChangeAspect="1"/>
          </p:cNvPicPr>
          <p:nvPr/>
        </p:nvPicPr>
        <p:blipFill>
          <a:blip r:embed="rId6"/>
          <a:stretch>
            <a:fillRect/>
          </a:stretch>
        </p:blipFill>
        <p:spPr>
          <a:xfrm>
            <a:off x="387350" y="2750185"/>
            <a:ext cx="1313180" cy="935355"/>
          </a:xfrm>
          <a:prstGeom prst="rect">
            <a:avLst/>
          </a:prstGeom>
        </p:spPr>
      </p:pic>
      <p:pic>
        <p:nvPicPr>
          <p:cNvPr id="46" name="图片 45"/>
          <p:cNvPicPr>
            <a:picLocks noChangeAspect="1"/>
          </p:cNvPicPr>
          <p:nvPr/>
        </p:nvPicPr>
        <p:blipFill>
          <a:blip r:embed="rId7"/>
          <a:stretch>
            <a:fillRect/>
          </a:stretch>
        </p:blipFill>
        <p:spPr>
          <a:xfrm>
            <a:off x="2232025" y="2690495"/>
            <a:ext cx="2905125" cy="1054100"/>
          </a:xfrm>
          <a:prstGeom prst="rect">
            <a:avLst/>
          </a:prstGeom>
        </p:spPr>
      </p:pic>
      <p:cxnSp>
        <p:nvCxnSpPr>
          <p:cNvPr id="47" name="直接箭头连接符 46"/>
          <p:cNvCxnSpPr/>
          <p:nvPr/>
        </p:nvCxnSpPr>
        <p:spPr>
          <a:xfrm>
            <a:off x="1700530" y="2855595"/>
            <a:ext cx="81661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45" idx="3"/>
            <a:endCxn id="46" idx="1"/>
          </p:cNvCxnSpPr>
          <p:nvPr/>
        </p:nvCxnSpPr>
        <p:spPr>
          <a:xfrm flipV="1">
            <a:off x="1700530" y="3217545"/>
            <a:ext cx="5314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1700530" y="3540125"/>
            <a:ext cx="81661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p:cNvPicPr>
            <a:picLocks noChangeAspect="1"/>
          </p:cNvPicPr>
          <p:nvPr/>
        </p:nvPicPr>
        <p:blipFill>
          <a:blip r:embed="rId8"/>
          <a:stretch>
            <a:fillRect/>
          </a:stretch>
        </p:blipFill>
        <p:spPr>
          <a:xfrm>
            <a:off x="387350" y="3855720"/>
            <a:ext cx="2150745" cy="513080"/>
          </a:xfrm>
          <a:prstGeom prst="rect">
            <a:avLst/>
          </a:prstGeom>
        </p:spPr>
      </p:pic>
      <p:pic>
        <p:nvPicPr>
          <p:cNvPr id="51" name="图片 50"/>
          <p:cNvPicPr>
            <a:picLocks noChangeAspect="1"/>
          </p:cNvPicPr>
          <p:nvPr/>
        </p:nvPicPr>
        <p:blipFill>
          <a:blip r:embed="rId9"/>
          <a:stretch>
            <a:fillRect/>
          </a:stretch>
        </p:blipFill>
        <p:spPr>
          <a:xfrm>
            <a:off x="387350" y="4517390"/>
            <a:ext cx="4749800" cy="344170"/>
          </a:xfrm>
          <a:prstGeom prst="rect">
            <a:avLst/>
          </a:prstGeom>
        </p:spPr>
      </p:pic>
      <p:pic>
        <p:nvPicPr>
          <p:cNvPr id="52" name="图片 51"/>
          <p:cNvPicPr>
            <a:picLocks noChangeAspect="1"/>
          </p:cNvPicPr>
          <p:nvPr/>
        </p:nvPicPr>
        <p:blipFill>
          <a:blip r:embed="rId10"/>
          <a:stretch>
            <a:fillRect/>
          </a:stretch>
        </p:blipFill>
        <p:spPr>
          <a:xfrm>
            <a:off x="602615" y="4874260"/>
            <a:ext cx="4454525" cy="987425"/>
          </a:xfrm>
          <a:prstGeom prst="rect">
            <a:avLst/>
          </a:prstGeom>
        </p:spPr>
      </p:pic>
      <p:sp>
        <p:nvSpPr>
          <p:cNvPr id="53" name="矩形: 圆角 52"/>
          <p:cNvSpPr/>
          <p:nvPr/>
        </p:nvSpPr>
        <p:spPr>
          <a:xfrm>
            <a:off x="371475" y="4485005"/>
            <a:ext cx="4975225" cy="1445895"/>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p:cNvSpPr/>
          <p:nvPr/>
        </p:nvSpPr>
        <p:spPr>
          <a:xfrm>
            <a:off x="371475" y="2670810"/>
            <a:ext cx="4989195" cy="1727835"/>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2628900" y="4012565"/>
            <a:ext cx="2376170" cy="276860"/>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体积守恒及滤失方程</a:t>
            </a:r>
            <a:endParaRPr lang="zh-CN" altLang="en-US" sz="1200" dirty="0"/>
          </a:p>
        </p:txBody>
      </p:sp>
      <p:sp>
        <p:nvSpPr>
          <p:cNvPr id="56" name="文本框 55"/>
          <p:cNvSpPr txBox="1"/>
          <p:nvPr/>
        </p:nvSpPr>
        <p:spPr>
          <a:xfrm>
            <a:off x="4186555" y="5617845"/>
            <a:ext cx="1253490" cy="261620"/>
          </a:xfrm>
          <a:prstGeom prst="rect">
            <a:avLst/>
          </a:prstGeom>
          <a:noFill/>
        </p:spPr>
        <p:txBody>
          <a:bodyPr wrap="square">
            <a:spAutoFit/>
          </a:bodyPr>
          <a:lstStyle/>
          <a:p>
            <a:r>
              <a:rPr lang="zh-CN" altLang="en-US" sz="1100" dirty="0">
                <a:latin typeface="黑体" panose="02010609060101010101" charset="-122"/>
                <a:ea typeface="黑体" panose="02010609060101010101" charset="-122"/>
              </a:rPr>
              <a:t>缝长方程</a:t>
            </a:r>
            <a:endParaRPr lang="zh-CN" altLang="en-US" sz="1100" dirty="0">
              <a:latin typeface="黑体" panose="02010609060101010101" charset="-122"/>
              <a:ea typeface="黑体" panose="02010609060101010101" charset="-122"/>
            </a:endParaRPr>
          </a:p>
        </p:txBody>
      </p:sp>
      <p:sp>
        <p:nvSpPr>
          <p:cNvPr id="57" name="文本框 56"/>
          <p:cNvSpPr txBox="1"/>
          <p:nvPr/>
        </p:nvSpPr>
        <p:spPr>
          <a:xfrm>
            <a:off x="5534025" y="6096000"/>
            <a:ext cx="5984875" cy="275590"/>
          </a:xfrm>
          <a:prstGeom prst="rect">
            <a:avLst/>
          </a:prstGeom>
          <a:noFill/>
        </p:spPr>
        <p:txBody>
          <a:bodyPr wrap="square">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rPr>
              <a:t>裂缝尺寸反演过程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376555" y="6095365"/>
            <a:ext cx="4969510" cy="275590"/>
          </a:xfrm>
          <a:prstGeom prst="rect">
            <a:avLst/>
          </a:prstGeom>
          <a:noFill/>
        </p:spPr>
        <p:txBody>
          <a:bodyPr wrap="square">
            <a:spAutoFit/>
          </a:bodyPr>
          <a:lstStyle/>
          <a:p>
            <a:pPr algn="ctr"/>
            <a:r>
              <a:rPr lang="en-US" altLang="zh-CN" sz="1200" dirty="0">
                <a:solidFill>
                  <a:srgbClr val="000000"/>
                </a:solidFill>
                <a:latin typeface="微软雅黑" panose="020B0503020204020204" pitchFamily="34" charset="-122"/>
                <a:ea typeface="微软雅黑" panose="020B0503020204020204" pitchFamily="34" charset="-122"/>
              </a:rPr>
              <a:t>G</a:t>
            </a:r>
            <a:r>
              <a:rPr lang="zh-CN" altLang="en-US" sz="1200" dirty="0">
                <a:solidFill>
                  <a:srgbClr val="000000"/>
                </a:solidFill>
                <a:latin typeface="微软雅黑" panose="020B0503020204020204" pitchFamily="34" charset="-122"/>
                <a:ea typeface="微软雅黑" panose="020B0503020204020204" pitchFamily="34" charset="-122"/>
              </a:rPr>
              <a:t>函数计算公式</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11.2</a:t>
            </a:r>
            <a:r>
              <a:rPr lang="zh-CN" altLang="en-US" dirty="0">
                <a:solidFill>
                  <a:prstClr val="black"/>
                </a:solidFill>
                <a:latin typeface="微软雅黑" panose="020B0503020204020204" pitchFamily="34" charset="-122"/>
                <a:ea typeface="微软雅黑" panose="020B0503020204020204" pitchFamily="34" charset="-122"/>
              </a:rPr>
              <a:t>、</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函数技术国内外研究现状</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graphicFrame>
        <p:nvGraphicFramePr>
          <p:cNvPr id="32" name="表格 31"/>
          <p:cNvGraphicFramePr>
            <a:graphicFrameLocks noGrp="1"/>
          </p:cNvGraphicFramePr>
          <p:nvPr>
            <p:custDataLst>
              <p:tags r:id="rId1"/>
            </p:custDataLst>
          </p:nvPr>
        </p:nvGraphicFramePr>
        <p:xfrm>
          <a:off x="335280" y="1348740"/>
          <a:ext cx="11414125" cy="4608195"/>
        </p:xfrm>
        <a:graphic>
          <a:graphicData uri="http://schemas.openxmlformats.org/drawingml/2006/table">
            <a:tbl>
              <a:tblPr firstRow="1" bandRow="1">
                <a:tableStyleId>{5940675A-B579-460E-94D1-54222C63F5DA}</a:tableStyleId>
              </a:tblPr>
              <a:tblGrid>
                <a:gridCol w="1006475"/>
                <a:gridCol w="1455420"/>
                <a:gridCol w="6765925"/>
                <a:gridCol w="2186305"/>
              </a:tblGrid>
              <a:tr h="283210">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667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Guoqing</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 Liu</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结合 </a:t>
                      </a:r>
                      <a:r>
                        <a:rPr lang="en-US" altLang="zh-CN" sz="12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Bourdet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双对数曲线分析和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函数曲线拟合模型，分别考虑了常规滤失和非线性滤失两种类型，其中，具体分析了开筒储集效应、尖端延伸和天然裂缝等因素对停泵后压裂液滤失行为的影响</a:t>
                      </a:r>
                      <a:endParaRPr 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拓展到非线性滤失情况</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680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时贤</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考虑多层压裂流量动态分配、缝间应力干扰、射孔摩阻压降损耗，建立了多裂缝同步扩展模型。将缝簇间应力干扰对多裂缝同步扩展的影响以解析式进行了简单表达</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建立多裂缝同步扩展模型</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6235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姚志远</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基于停泵后压降曲线建立了评价压裂缝网的复杂度的</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函数分析模型。模型考虑了分支缝和天然裂缝的影响，认为多级分支缝的闭合时间与裂缝规模有关，且主裂缝最后闭合。因此可通过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函数曲线中的多个拐点特征表征裂缝网络的多次闭合现象，计算闭合时间和对应滤失系数</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引入分支缝和天然裂缝的考量</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6299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ctr" defTabSz="685800" rtl="0" eaLnBrk="1" fontAlgn="auto" latinLnBrk="0" hangingPunct="1">
                        <a:lnSpc>
                          <a:spcPct val="100000"/>
                        </a:lnSpc>
                        <a:spcBef>
                          <a:spcPts val="0"/>
                        </a:spcBef>
                        <a:spcAft>
                          <a:spcPts val="0"/>
                        </a:spcAft>
                        <a:buClrTx/>
                        <a:buSzTx/>
                        <a:buFontTx/>
                        <a:buNone/>
                        <a:defRPr/>
                      </a:pP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周彤</a:t>
                      </a:r>
                      <a:endParaRPr lang="zh-CN"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ctr" defTabSz="685800" rtl="0" eaLnBrk="1" fontAlgn="auto" latinLnBrk="0" hangingPunct="1">
                        <a:lnSpc>
                          <a:spcPct val="100000"/>
                        </a:lnSpc>
                        <a:spcBef>
                          <a:spcPts val="0"/>
                        </a:spcBef>
                        <a:spcAft>
                          <a:spcPts val="0"/>
                        </a:spcAft>
                        <a:buClrTx/>
                        <a:buSzTx/>
                        <a:buFontTx/>
                        <a:buNone/>
                        <a:defRPr/>
                      </a:pPr>
                      <a:endParaRPr lang="zh-CN"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 </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Liu-Economides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模型的基础上提出了一套针对主压裂停泵后压降曲线的分析方法。针对主压裂停泵后的压降曲线，模型先通过压前诊断测试获取地层的滤失系数、裂缝闭合压力，再通过双对数曲线确定</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ISIP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和拟合压力，最后结合 </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PKN</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KGD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或</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Radial</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等裂缝扩展模型，计算水力裂缝长度水力裂缝面积、天然裂缝面积</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反演单裂缝宏观几何参数</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ctr">
                        <a:buNone/>
                      </a:pP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6487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Guoqing</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 Liu</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首次使用水力压裂处理压力降低数据进行裂缝几何估计。讨论了</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函数模型的适用条件和限制，以及对数图中的</a:t>
                      </a:r>
                      <a:r>
                        <a:rPr lang="en-US" altLang="zh-CN" sz="1200" dirty="0" err="1">
                          <a:latin typeface="Times New Roman" panose="02020603050405020304" pitchFamily="18" charset="0"/>
                          <a:ea typeface="微软雅黑" panose="020B0503020204020204" pitchFamily="34" charset="-122"/>
                          <a:cs typeface="Times New Roman" panose="02020603050405020304" pitchFamily="18" charset="0"/>
                        </a:rPr>
                        <a:t>Bourdet</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导数对主水力裂缝诊断的适用性。对于多裂缝系统，</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Liu</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模型假设每个压裂阶段中每个裂缝的几何形状都相同</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反演简单多裂缝几何参数</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11.3</a:t>
            </a:r>
            <a:r>
              <a:rPr lang="zh-CN" altLang="en-US" dirty="0">
                <a:solidFill>
                  <a:prstClr val="black"/>
                </a:solidFill>
                <a:latin typeface="微软雅黑" panose="020B0503020204020204" pitchFamily="34" charset="-122"/>
                <a:ea typeface="微软雅黑" panose="020B0503020204020204" pitchFamily="34" charset="-122"/>
                <a:sym typeface="+mn-ea"/>
              </a:rPr>
              <a:t>、</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a:t>
            </a:r>
            <a:r>
              <a:rPr lang="zh-CN" altLang="en-US" dirty="0">
                <a:latin typeface="微软雅黑" panose="020B0503020204020204" pitchFamily="34" charset="-122"/>
                <a:ea typeface="微软雅黑" panose="020B0503020204020204" pitchFamily="34" charset="-122"/>
                <a:sym typeface="+mn-ea"/>
              </a:rPr>
              <a:t>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矿场应用实践表明，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函数反演裂缝尺寸计算模型与现场微震解释结果和广域电磁裂缝波及长宽解释结果相符，具有良好的反演效果，能够较好的解释压后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裂缝形态及规模</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15" name="表格 14"/>
          <p:cNvGraphicFramePr>
            <a:graphicFrameLocks noGrp="1"/>
          </p:cNvGraphicFramePr>
          <p:nvPr/>
        </p:nvGraphicFramePr>
        <p:xfrm>
          <a:off x="308171" y="4389968"/>
          <a:ext cx="3388726" cy="1442088"/>
        </p:xfrm>
        <a:graphic>
          <a:graphicData uri="http://schemas.openxmlformats.org/drawingml/2006/table">
            <a:tbl>
              <a:tblPr firstRow="1" firstCol="1" bandRow="1"/>
              <a:tblGrid>
                <a:gridCol w="1143231"/>
                <a:gridCol w="541306"/>
                <a:gridCol w="568063"/>
                <a:gridCol w="568063"/>
                <a:gridCol w="568063"/>
              </a:tblGrid>
              <a:tr h="196960">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参数</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第</a:t>
                      </a:r>
                      <a:r>
                        <a:rPr lang="en-US" sz="900" b="1" kern="100" dirty="0">
                          <a:solidFill>
                            <a:srgbClr val="000000"/>
                          </a:solidFill>
                          <a:effectLst/>
                          <a:latin typeface="Times New Roman" panose="02020603050405020304" pitchFamily="18" charset="0"/>
                          <a:ea typeface="宋体" panose="02010600030101010101" pitchFamily="2" charset="-122"/>
                        </a:rPr>
                        <a:t>1</a:t>
                      </a:r>
                      <a:r>
                        <a:rPr lang="zh-CN" sz="900" b="1" kern="100" dirty="0">
                          <a:solidFill>
                            <a:srgbClr val="000000"/>
                          </a:solidFill>
                          <a:effectLst/>
                          <a:latin typeface="Times New Roman" panose="02020603050405020304" pitchFamily="18" charset="0"/>
                          <a:ea typeface="宋体" panose="02010600030101010101" pitchFamily="2" charset="-122"/>
                        </a:rPr>
                        <a:t>段</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第</a:t>
                      </a:r>
                      <a:r>
                        <a:rPr lang="en-US" sz="900" b="1" kern="100" dirty="0">
                          <a:solidFill>
                            <a:srgbClr val="000000"/>
                          </a:solidFill>
                          <a:effectLst/>
                          <a:latin typeface="Times New Roman" panose="02020603050405020304" pitchFamily="18" charset="0"/>
                          <a:ea typeface="宋体" panose="02010600030101010101" pitchFamily="2" charset="-122"/>
                        </a:rPr>
                        <a:t>7</a:t>
                      </a:r>
                      <a:r>
                        <a:rPr lang="zh-CN" sz="900" b="1" kern="100" dirty="0">
                          <a:solidFill>
                            <a:srgbClr val="000000"/>
                          </a:solidFill>
                          <a:effectLst/>
                          <a:latin typeface="Times New Roman" panose="02020603050405020304" pitchFamily="18" charset="0"/>
                          <a:ea typeface="宋体" panose="02010600030101010101" pitchFamily="2" charset="-122"/>
                        </a:rPr>
                        <a:t>段</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a:solidFill>
                            <a:srgbClr val="000000"/>
                          </a:solidFill>
                          <a:effectLst/>
                          <a:latin typeface="Times New Roman" panose="02020603050405020304" pitchFamily="18" charset="0"/>
                          <a:ea typeface="宋体" panose="02010600030101010101" pitchFamily="2" charset="-122"/>
                        </a:rPr>
                        <a:t>第</a:t>
                      </a:r>
                      <a:r>
                        <a:rPr lang="en-US" sz="900" b="1" kern="100">
                          <a:solidFill>
                            <a:srgbClr val="000000"/>
                          </a:solidFill>
                          <a:effectLst/>
                          <a:latin typeface="Times New Roman" panose="02020603050405020304" pitchFamily="18" charset="0"/>
                          <a:ea typeface="宋体" panose="02010600030101010101" pitchFamily="2" charset="-122"/>
                        </a:rPr>
                        <a:t>8</a:t>
                      </a:r>
                      <a:r>
                        <a:rPr lang="zh-CN" sz="900" b="1" kern="100">
                          <a:solidFill>
                            <a:srgbClr val="000000"/>
                          </a:solidFill>
                          <a:effectLst/>
                          <a:latin typeface="Times New Roman" panose="02020603050405020304" pitchFamily="18" charset="0"/>
                          <a:ea typeface="宋体" panose="02010600030101010101" pitchFamily="2" charset="-122"/>
                        </a:rPr>
                        <a:t>段</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a:solidFill>
                            <a:srgbClr val="000000"/>
                          </a:solidFill>
                          <a:effectLst/>
                          <a:latin typeface="Times New Roman" panose="02020603050405020304" pitchFamily="18" charset="0"/>
                          <a:ea typeface="宋体" panose="02010600030101010101" pitchFamily="2" charset="-122"/>
                        </a:rPr>
                        <a:t>第</a:t>
                      </a:r>
                      <a:r>
                        <a:rPr lang="en-US" sz="900" b="1" kern="100">
                          <a:solidFill>
                            <a:srgbClr val="000000"/>
                          </a:solidFill>
                          <a:effectLst/>
                          <a:latin typeface="Times New Roman" panose="02020603050405020304" pitchFamily="18" charset="0"/>
                          <a:ea typeface="宋体" panose="02010600030101010101" pitchFamily="2" charset="-122"/>
                        </a:rPr>
                        <a:t>9</a:t>
                      </a:r>
                      <a:r>
                        <a:rPr lang="zh-CN" sz="900" b="1" kern="100">
                          <a:solidFill>
                            <a:srgbClr val="000000"/>
                          </a:solidFill>
                          <a:effectLst/>
                          <a:latin typeface="Times New Roman" panose="02020603050405020304" pitchFamily="18" charset="0"/>
                          <a:ea typeface="宋体" panose="02010600030101010101" pitchFamily="2" charset="-122"/>
                        </a:rPr>
                        <a:t>段</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282">
                <a:tc>
                  <a:txBody>
                    <a:bodyPr/>
                    <a:lstStyle/>
                    <a:p>
                      <a:pPr algn="ctr">
                        <a:lnSpc>
                          <a:spcPct val="150000"/>
                        </a:lnSpc>
                      </a:pPr>
                      <a:r>
                        <a:rPr lang="zh-CN" sz="900" kern="100" dirty="0">
                          <a:solidFill>
                            <a:srgbClr val="000000"/>
                          </a:solidFill>
                          <a:effectLst/>
                          <a:latin typeface="Times New Roman" panose="02020603050405020304" pitchFamily="18" charset="0"/>
                          <a:ea typeface="宋体" panose="02010600030101010101" pitchFamily="2" charset="-122"/>
                        </a:rPr>
                        <a:t>裂缝长度，</a:t>
                      </a:r>
                      <a:r>
                        <a:rPr lang="en-US" sz="900" kern="100" dirty="0">
                          <a:effectLst/>
                          <a:latin typeface="Times New Roman" panose="02020603050405020304" pitchFamily="18" charset="0"/>
                          <a:ea typeface="宋体" panose="02010600030101010101" pitchFamily="2" charset="-122"/>
                        </a:rPr>
                        <a:t>m</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146.108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322.727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253.941</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264.428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11282">
                <a:tc>
                  <a:txBody>
                    <a:bodyPr/>
                    <a:lstStyle/>
                    <a:p>
                      <a:pPr algn="ctr">
                        <a:lnSpc>
                          <a:spcPct val="150000"/>
                        </a:lnSpc>
                      </a:pPr>
                      <a:r>
                        <a:rPr lang="zh-CN" sz="900" kern="100">
                          <a:solidFill>
                            <a:srgbClr val="000000"/>
                          </a:solidFill>
                          <a:effectLst/>
                          <a:latin typeface="Times New Roman" panose="02020603050405020304" pitchFamily="18" charset="0"/>
                          <a:ea typeface="宋体" panose="02010600030101010101" pitchFamily="2" charset="-122"/>
                        </a:rPr>
                        <a:t>最大缝宽，</a:t>
                      </a:r>
                      <a:r>
                        <a:rPr lang="en-US" sz="900" kern="100">
                          <a:effectLst/>
                          <a:latin typeface="Times New Roman" panose="02020603050405020304" pitchFamily="18" charset="0"/>
                          <a:ea typeface="宋体" panose="02010600030101010101" pitchFamily="2" charset="-122"/>
                        </a:rPr>
                        <a:t>m</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a:solidFill>
                            <a:srgbClr val="000000"/>
                          </a:solidFill>
                          <a:effectLst/>
                          <a:latin typeface="Times New Roman" panose="02020603050405020304" pitchFamily="18" charset="0"/>
                          <a:ea typeface="宋体" panose="02010600030101010101" pitchFamily="2" charset="-122"/>
                        </a:rPr>
                        <a:t>0.0188</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0.0242</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0.0166</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0.0165</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900" kern="100" dirty="0">
                          <a:solidFill>
                            <a:srgbClr val="000000"/>
                          </a:solidFill>
                          <a:effectLst/>
                          <a:latin typeface="Times New Roman" panose="02020603050405020304" pitchFamily="18" charset="0"/>
                          <a:ea typeface="宋体" panose="02010600030101010101" pitchFamily="2" charset="-122"/>
                        </a:rPr>
                        <a:t>压裂液效率，</a:t>
                      </a:r>
                      <a:r>
                        <a:rPr lang="en-US" sz="900" kern="100" dirty="0">
                          <a:effectLst/>
                          <a:latin typeface="Times New Roman" panose="02020603050405020304" pitchFamily="18" charset="0"/>
                          <a:ea typeface="宋体" panose="02010600030101010101" pitchFamily="2" charset="-122"/>
                        </a:rPr>
                        <a:t>%</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21.835</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20.298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21.968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22.674</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900" kern="100">
                          <a:solidFill>
                            <a:srgbClr val="000000"/>
                          </a:solidFill>
                          <a:effectLst/>
                          <a:latin typeface="Times New Roman" panose="02020603050405020304" pitchFamily="18" charset="0"/>
                          <a:ea typeface="宋体" panose="02010600030101010101" pitchFamily="2" charset="-122"/>
                        </a:rPr>
                        <a:t>滤失系数，</a:t>
                      </a:r>
                      <a:r>
                        <a:rPr lang="en-US" sz="900" kern="100">
                          <a:effectLst/>
                          <a:latin typeface="Times New Roman" panose="02020603050405020304" pitchFamily="18" charset="0"/>
                          <a:ea typeface="宋体" panose="02010600030101010101" pitchFamily="2" charset="-122"/>
                        </a:rPr>
                        <a:t>m/s</a:t>
                      </a:r>
                      <a:r>
                        <a:rPr lang="en-US" sz="900" kern="100" baseline="30000">
                          <a:effectLst/>
                          <a:latin typeface="Times New Roman" panose="02020603050405020304" pitchFamily="18" charset="0"/>
                          <a:ea typeface="宋体" panose="02010600030101010101" pitchFamily="2" charset="-122"/>
                        </a:rPr>
                        <a:t>0.5</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a:solidFill>
                            <a:srgbClr val="000000"/>
                          </a:solidFill>
                          <a:effectLst/>
                          <a:latin typeface="Times New Roman" panose="02020603050405020304" pitchFamily="18" charset="0"/>
                          <a:ea typeface="宋体" panose="02010600030101010101" pitchFamily="2" charset="-122"/>
                        </a:rPr>
                        <a:t>0.00037</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0.00047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0.00027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0.00026</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grpSp>
        <p:nvGrpSpPr>
          <p:cNvPr id="10" name="组合 9"/>
          <p:cNvGrpSpPr/>
          <p:nvPr/>
        </p:nvGrpSpPr>
        <p:grpSpPr>
          <a:xfrm>
            <a:off x="3678309" y="2448177"/>
            <a:ext cx="2592262" cy="1681706"/>
            <a:chOff x="3671575" y="2865636"/>
            <a:chExt cx="2592262" cy="1681706"/>
          </a:xfrm>
        </p:grpSpPr>
        <p:pic>
          <p:nvPicPr>
            <p:cNvPr id="22" name="图片 19"/>
            <p:cNvPicPr>
              <a:picLocks noChangeAspect="1" noChangeArrowheads="1"/>
            </p:cNvPicPr>
            <p:nvPr/>
          </p:nvPicPr>
          <p:blipFill>
            <a:blip r:embed="rId1" cstate="print">
              <a:extLst>
                <a:ext uri="{28A0092B-C50C-407E-A947-70E740481C1C}">
                  <a14:useLocalDpi xmlns:a14="http://schemas.microsoft.com/office/drawing/2010/main" val="0"/>
                </a:ext>
              </a:extLst>
            </a:blip>
            <a:srcRect l="9686" t="2521" r="4675" b="9604"/>
            <a:stretch>
              <a:fillRect/>
            </a:stretch>
          </p:blipFill>
          <p:spPr bwMode="auto">
            <a:xfrm rot="16200000">
              <a:off x="3863161" y="2674050"/>
              <a:ext cx="813342" cy="1196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0"/>
            <p:cNvPicPr>
              <a:picLocks noChangeAspect="1" noChangeArrowheads="1"/>
            </p:cNvPicPr>
            <p:nvPr/>
          </p:nvPicPr>
          <p:blipFill>
            <a:blip r:embed="rId2" cstate="print">
              <a:extLst>
                <a:ext uri="{28A0092B-C50C-407E-A947-70E740481C1C}">
                  <a14:useLocalDpi xmlns:a14="http://schemas.microsoft.com/office/drawing/2010/main" val="0"/>
                </a:ext>
              </a:extLst>
            </a:blip>
            <a:srcRect l="9975" t="2724" r="2805" b="9676"/>
            <a:stretch>
              <a:fillRect/>
            </a:stretch>
          </p:blipFill>
          <p:spPr bwMode="auto">
            <a:xfrm rot="16200000">
              <a:off x="5048578" y="2690192"/>
              <a:ext cx="815208" cy="117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26"/>
            <p:cNvPicPr>
              <a:picLocks noChangeAspect="1" noChangeArrowheads="1"/>
            </p:cNvPicPr>
            <p:nvPr/>
          </p:nvPicPr>
          <p:blipFill>
            <a:blip r:embed="rId3" cstate="print">
              <a:extLst>
                <a:ext uri="{28A0092B-C50C-407E-A947-70E740481C1C}">
                  <a14:useLocalDpi xmlns:a14="http://schemas.microsoft.com/office/drawing/2010/main" val="0"/>
                </a:ext>
              </a:extLst>
            </a:blip>
            <a:srcRect l="9448" t="3175" r="3650" b="9735"/>
            <a:stretch>
              <a:fillRect/>
            </a:stretch>
          </p:blipFill>
          <p:spPr bwMode="auto">
            <a:xfrm rot="16200000">
              <a:off x="3860636" y="3501316"/>
              <a:ext cx="822878" cy="119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27"/>
            <p:cNvPicPr>
              <a:picLocks noChangeAspect="1" noChangeArrowheads="1"/>
            </p:cNvPicPr>
            <p:nvPr/>
          </p:nvPicPr>
          <p:blipFill>
            <a:blip r:embed="rId4" cstate="print">
              <a:extLst>
                <a:ext uri="{28A0092B-C50C-407E-A947-70E740481C1C}">
                  <a14:useLocalDpi xmlns:a14="http://schemas.microsoft.com/office/drawing/2010/main" val="0"/>
                </a:ext>
              </a:extLst>
            </a:blip>
            <a:srcRect l="9103" t="3740" r="5135" b="8919"/>
            <a:stretch>
              <a:fillRect/>
            </a:stretch>
          </p:blipFill>
          <p:spPr bwMode="auto">
            <a:xfrm rot="16200000">
              <a:off x="5044740" y="3509235"/>
              <a:ext cx="822880" cy="117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25"/>
            <p:cNvSpPr txBox="1"/>
            <p:nvPr/>
          </p:nvSpPr>
          <p:spPr>
            <a:xfrm>
              <a:off x="4429524" y="4270343"/>
              <a:ext cx="183431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微地震解释结果</a:t>
              </a:r>
              <a:endParaRPr lang="zh-CN" altLang="en-US" sz="1200" dirty="0"/>
            </a:p>
          </p:txBody>
        </p:sp>
      </p:grpSp>
      <p:grpSp>
        <p:nvGrpSpPr>
          <p:cNvPr id="6" name="组合 5"/>
          <p:cNvGrpSpPr/>
          <p:nvPr/>
        </p:nvGrpSpPr>
        <p:grpSpPr>
          <a:xfrm>
            <a:off x="3745032" y="4189776"/>
            <a:ext cx="2350968" cy="1779458"/>
            <a:chOff x="3791744" y="4649935"/>
            <a:chExt cx="2350968" cy="1659385"/>
          </a:xfrm>
        </p:grpSpPr>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1744" y="4649935"/>
              <a:ext cx="2350968" cy="1659385"/>
            </a:xfrm>
            <a:prstGeom prst="rect">
              <a:avLst/>
            </a:prstGeom>
          </p:spPr>
        </p:pic>
        <p:sp>
          <p:nvSpPr>
            <p:cNvPr id="27" name="文本框 26"/>
            <p:cNvSpPr txBox="1"/>
            <p:nvPr/>
          </p:nvSpPr>
          <p:spPr>
            <a:xfrm>
              <a:off x="3942089" y="4725144"/>
              <a:ext cx="183431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准确性对比</a:t>
              </a:r>
              <a:endParaRPr lang="zh-CN" altLang="en-US" sz="1200" dirty="0"/>
            </a:p>
          </p:txBody>
        </p:sp>
      </p:grpSp>
      <p:sp>
        <p:nvSpPr>
          <p:cNvPr id="28" name="矩形 22"/>
          <p:cNvSpPr>
            <a:spLocks noChangeArrowheads="1"/>
          </p:cNvSpPr>
          <p:nvPr/>
        </p:nvSpPr>
        <p:spPr bwMode="auto">
          <a:xfrm>
            <a:off x="307975" y="6067425"/>
            <a:ext cx="57753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新疆某压裂井压降模型反演结果与微地震解释结果对比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9" name="矩形 22"/>
          <p:cNvSpPr>
            <a:spLocks noChangeArrowheads="1"/>
          </p:cNvSpPr>
          <p:nvPr/>
        </p:nvSpPr>
        <p:spPr bwMode="auto">
          <a:xfrm>
            <a:off x="6258560" y="6067425"/>
            <a:ext cx="563499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宁</a:t>
            </a:r>
            <a:r>
              <a:rPr lang="en-US" altLang="zh-CN" sz="1200" dirty="0">
                <a:solidFill>
                  <a:srgbClr val="000000"/>
                </a:solidFill>
                <a:latin typeface="微软雅黑" panose="020B0503020204020204" pitchFamily="34" charset="-122"/>
                <a:ea typeface="微软雅黑" panose="020B0503020204020204" pitchFamily="34" charset="-122"/>
              </a:rPr>
              <a:t>209H5</a:t>
            </a:r>
            <a:r>
              <a:rPr lang="zh-CN" altLang="en-US" sz="1200" dirty="0">
                <a:solidFill>
                  <a:srgbClr val="000000"/>
                </a:solidFill>
                <a:latin typeface="微软雅黑" panose="020B0503020204020204" pitchFamily="34" charset="-122"/>
                <a:ea typeface="微软雅黑" panose="020B0503020204020204" pitchFamily="34" charset="-122"/>
              </a:rPr>
              <a:t>平台某压裂井压降模型反演结果与广域电磁解释结果对比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21777" y="2466975"/>
            <a:ext cx="3160966" cy="1659681"/>
            <a:chOff x="247651" y="2924944"/>
            <a:chExt cx="3160966" cy="1659681"/>
          </a:xfrm>
        </p:grpSpPr>
        <p:pic>
          <p:nvPicPr>
            <p:cNvPr id="17" name="图片 21"/>
            <p:cNvPicPr>
              <a:picLocks noChangeAspect="1" noChangeArrowheads="1"/>
            </p:cNvPicPr>
            <p:nvPr/>
          </p:nvPicPr>
          <p:blipFill>
            <a:blip r:embed="rId6" cstate="print">
              <a:extLst>
                <a:ext uri="{28A0092B-C50C-407E-A947-70E740481C1C}">
                  <a14:useLocalDpi xmlns:a14="http://schemas.microsoft.com/office/drawing/2010/main" val="0"/>
                </a:ext>
              </a:extLst>
            </a:blip>
            <a:srcRect l="4121" t="10498" r="9720" b="2789"/>
            <a:stretch>
              <a:fillRect/>
            </a:stretch>
          </p:blipFill>
          <p:spPr bwMode="auto">
            <a:xfrm>
              <a:off x="267823" y="2924944"/>
              <a:ext cx="1535383" cy="815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22"/>
            <p:cNvPicPr>
              <a:picLocks noChangeAspect="1" noChangeArrowheads="1"/>
            </p:cNvPicPr>
            <p:nvPr/>
          </p:nvPicPr>
          <p:blipFill>
            <a:blip r:embed="rId7" cstate="print">
              <a:extLst>
                <a:ext uri="{28A0092B-C50C-407E-A947-70E740481C1C}">
                  <a14:useLocalDpi xmlns:a14="http://schemas.microsoft.com/office/drawing/2010/main" val="0"/>
                </a:ext>
              </a:extLst>
            </a:blip>
            <a:srcRect t="11154" r="11195" b="2625"/>
            <a:stretch>
              <a:fillRect/>
            </a:stretch>
          </p:blipFill>
          <p:spPr bwMode="auto">
            <a:xfrm>
              <a:off x="1814441" y="2924944"/>
              <a:ext cx="1516159" cy="80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24"/>
            <p:cNvPicPr>
              <a:picLocks noChangeAspect="1" noChangeArrowheads="1"/>
            </p:cNvPicPr>
            <p:nvPr/>
          </p:nvPicPr>
          <p:blipFill>
            <a:blip r:embed="rId8" cstate="print">
              <a:extLst>
                <a:ext uri="{28A0092B-C50C-407E-A947-70E740481C1C}">
                  <a14:useLocalDpi xmlns:a14="http://schemas.microsoft.com/office/drawing/2010/main" val="0"/>
                </a:ext>
              </a:extLst>
            </a:blip>
            <a:srcRect l="2829" t="10252" r="10950"/>
            <a:stretch>
              <a:fillRect/>
            </a:stretch>
          </p:blipFill>
          <p:spPr bwMode="auto">
            <a:xfrm>
              <a:off x="1832341" y="3729779"/>
              <a:ext cx="1508810"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23"/>
            <p:cNvPicPr>
              <a:picLocks noChangeAspect="1" noChangeArrowheads="1"/>
            </p:cNvPicPr>
            <p:nvPr/>
          </p:nvPicPr>
          <p:blipFill>
            <a:blip r:embed="rId9" cstate="print">
              <a:extLst>
                <a:ext uri="{28A0092B-C50C-407E-A947-70E740481C1C}">
                  <a14:useLocalDpi xmlns:a14="http://schemas.microsoft.com/office/drawing/2010/main" val="0"/>
                </a:ext>
              </a:extLst>
            </a:blip>
            <a:srcRect l="2829" t="10580" r="11380" b="2953"/>
            <a:stretch>
              <a:fillRect/>
            </a:stretch>
          </p:blipFill>
          <p:spPr bwMode="auto">
            <a:xfrm>
              <a:off x="247651" y="3729779"/>
              <a:ext cx="1535383"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1515855" y="4305279"/>
              <a:ext cx="1892762"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b="1" dirty="0"/>
            </a:p>
          </p:txBody>
        </p:sp>
      </p:grpSp>
      <p:grpSp>
        <p:nvGrpSpPr>
          <p:cNvPr id="39" name="组合 38"/>
          <p:cNvGrpSpPr/>
          <p:nvPr/>
        </p:nvGrpSpPr>
        <p:grpSpPr>
          <a:xfrm>
            <a:off x="6277610" y="2447925"/>
            <a:ext cx="5646420" cy="3383915"/>
            <a:chOff x="6304992" y="2996991"/>
            <a:chExt cx="5646270" cy="3175268"/>
          </a:xfrm>
        </p:grpSpPr>
        <p:pic>
          <p:nvPicPr>
            <p:cNvPr id="13" name="图片 12"/>
            <p:cNvPicPr>
              <a:picLocks noChangeAspect="1"/>
            </p:cNvPicPr>
            <p:nvPr/>
          </p:nvPicPr>
          <p:blipFill>
            <a:blip r:embed="rId10"/>
            <a:stretch>
              <a:fillRect/>
            </a:stretch>
          </p:blipFill>
          <p:spPr>
            <a:xfrm>
              <a:off x="9577373" y="4730033"/>
              <a:ext cx="2189657" cy="1391531"/>
            </a:xfrm>
            <a:prstGeom prst="rect">
              <a:avLst/>
            </a:prstGeom>
          </p:spPr>
        </p:pic>
        <p:grpSp>
          <p:nvGrpSpPr>
            <p:cNvPr id="38" name="组合 37"/>
            <p:cNvGrpSpPr/>
            <p:nvPr/>
          </p:nvGrpSpPr>
          <p:grpSpPr>
            <a:xfrm>
              <a:off x="6304992" y="2996991"/>
              <a:ext cx="5537979" cy="3175268"/>
              <a:chOff x="6304992" y="2996991"/>
              <a:chExt cx="5537979" cy="3175268"/>
            </a:xfrm>
          </p:grpSpPr>
          <p:pic>
            <p:nvPicPr>
              <p:cNvPr id="5" name="图片 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63212" y="3085951"/>
                <a:ext cx="1370588" cy="1293052"/>
              </a:xfrm>
              <a:prstGeom prst="rect">
                <a:avLst/>
              </a:prstGeom>
            </p:spPr>
          </p:pic>
          <p:pic>
            <p:nvPicPr>
              <p:cNvPr id="7" name="图片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50525" y="3111693"/>
                <a:ext cx="1377008" cy="1354498"/>
              </a:xfrm>
              <a:prstGeom prst="rect">
                <a:avLst/>
              </a:prstGeom>
            </p:spPr>
          </p:pic>
          <p:sp>
            <p:nvSpPr>
              <p:cNvPr id="9" name="文本框 8"/>
              <p:cNvSpPr txBox="1"/>
              <p:nvPr/>
            </p:nvSpPr>
            <p:spPr>
              <a:xfrm>
                <a:off x="10261601" y="4283290"/>
                <a:ext cx="1581370" cy="258598"/>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dirty="0"/>
              </a:p>
            </p:txBody>
          </p:sp>
          <p:grpSp>
            <p:nvGrpSpPr>
              <p:cNvPr id="21" name="组合 20"/>
              <p:cNvGrpSpPr/>
              <p:nvPr/>
            </p:nvGrpSpPr>
            <p:grpSpPr>
              <a:xfrm>
                <a:off x="6304992" y="2996991"/>
                <a:ext cx="3307819" cy="3175268"/>
                <a:chOff x="6304992" y="2996991"/>
                <a:chExt cx="3307819" cy="3175268"/>
              </a:xfrm>
            </p:grpSpPr>
            <p:sp>
              <p:nvSpPr>
                <p:cNvPr id="12" name="椭圆 11"/>
                <p:cNvSpPr/>
                <p:nvPr/>
              </p:nvSpPr>
              <p:spPr>
                <a:xfrm>
                  <a:off x="8878924" y="4889129"/>
                  <a:ext cx="570751" cy="327359"/>
                </a:xfrm>
                <a:prstGeom prst="ellipse">
                  <a:avLst/>
                </a:prstGeom>
                <a:noFill/>
                <a:ln w="25400">
                  <a:solidFill>
                    <a:srgbClr val="171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13"/>
                <a:stretch>
                  <a:fillRect/>
                </a:stretch>
              </p:blipFill>
              <p:spPr>
                <a:xfrm>
                  <a:off x="6304992" y="2996991"/>
                  <a:ext cx="3117544" cy="3175268"/>
                </a:xfrm>
                <a:prstGeom prst="rect">
                  <a:avLst/>
                </a:prstGeom>
              </p:spPr>
            </p:pic>
            <p:cxnSp>
              <p:nvCxnSpPr>
                <p:cNvPr id="14" name="直接箭头连接符 13"/>
                <p:cNvCxnSpPr/>
                <p:nvPr/>
              </p:nvCxnSpPr>
              <p:spPr>
                <a:xfrm flipV="1">
                  <a:off x="9108162" y="4393145"/>
                  <a:ext cx="504649" cy="5188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1" name="文本框 30"/>
            <p:cNvSpPr txBox="1"/>
            <p:nvPr/>
          </p:nvSpPr>
          <p:spPr>
            <a:xfrm>
              <a:off x="10369893" y="5877272"/>
              <a:ext cx="1581369" cy="258598"/>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广域电磁解释结果</a:t>
              </a:r>
              <a:endParaRPr lang="zh-CN" altLang="en-US" sz="1200" dirty="0"/>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12</a:t>
            </a:r>
            <a:r>
              <a:rPr lang="zh-CN" altLang="en-US" dirty="0">
                <a:solidFill>
                  <a:prstClr val="black"/>
                </a:solidFill>
                <a:latin typeface="微软雅黑" panose="020B0503020204020204" pitchFamily="34" charset="-122"/>
                <a:ea typeface="微软雅黑" panose="020B0503020204020204" pitchFamily="34" charset="-122"/>
              </a:rPr>
              <a:t>、结合所内现有压裂效果评价指标，建立多技术融合的评价指标体系框架</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外加监测技术成本高、部署繁琐，难以规模化应用；曲线分析技术依托现有施工数据，具备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低成本与高普适性</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优势</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小波变换与</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函数基于成熟工程机理，能够从施工曲线中提取关键信号，实现压裂效果的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定性识别与定量表征</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结合研究所已稳定应用的</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7</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项</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评价技术，最终形成由</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9</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项</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指标构成的多维综合评价指标体系框架</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 name="Rectangle 11"/>
          <p:cNvSpPr>
            <a:spLocks noChangeArrowheads="1"/>
          </p:cNvSpPr>
          <p:nvPr/>
        </p:nvSpPr>
        <p:spPr bwMode="auto">
          <a:xfrm>
            <a:off x="376555" y="20321"/>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pic>
        <p:nvPicPr>
          <p:cNvPr id="5" name="图片 4" descr="泸203井区H10平台1井加砂压裂第2段秒点-完整数据_三联图"/>
          <p:cNvPicPr>
            <a:picLocks noChangeAspect="1"/>
          </p:cNvPicPr>
          <p:nvPr/>
        </p:nvPicPr>
        <p:blipFill>
          <a:blip r:embed="rId1"/>
          <a:stretch>
            <a:fillRect/>
          </a:stretch>
        </p:blipFill>
        <p:spPr>
          <a:xfrm>
            <a:off x="116205" y="2517775"/>
            <a:ext cx="2901315" cy="3560445"/>
          </a:xfrm>
          <a:prstGeom prst="rect">
            <a:avLst/>
          </a:prstGeom>
        </p:spPr>
      </p:pic>
      <p:graphicFrame>
        <p:nvGraphicFramePr>
          <p:cNvPr id="4" name="表格 3"/>
          <p:cNvGraphicFramePr/>
          <p:nvPr>
            <p:custDataLst>
              <p:tags r:id="rId2"/>
            </p:custDataLst>
          </p:nvPr>
        </p:nvGraphicFramePr>
        <p:xfrm>
          <a:off x="3076575" y="2513965"/>
          <a:ext cx="1802765" cy="3562350"/>
        </p:xfrm>
        <a:graphic>
          <a:graphicData uri="http://schemas.openxmlformats.org/drawingml/2006/table">
            <a:tbl>
              <a:tblPr firstRow="1" bandRow="1">
                <a:tableStyleId>{5940675A-B579-460E-94D1-54222C63F5DA}</a:tableStyleId>
              </a:tblPr>
              <a:tblGrid>
                <a:gridCol w="1802765"/>
              </a:tblGrid>
              <a:tr h="356235">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参数</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有效泵入体积</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有效加砂量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缝长扩展时长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缝长扩展能量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缝高扩展时长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缝高扩展能量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缝宽扩展受限时长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6235">
                <a:tc>
                  <a:txBody>
                    <a:bodyPr/>
                    <a:lstStyle/>
                    <a:p>
                      <a:pPr algn="ctr">
                        <a:lnSpc>
                          <a:spcPct val="120000"/>
                        </a:lnSpc>
                        <a:buNone/>
                      </a:pPr>
                      <a:r>
                        <a:rPr lang="zh-CN" altLang="en-US" sz="1200" dirty="0">
                          <a:latin typeface="微软雅黑" panose="020B0503020204020204" pitchFamily="34" charset="-122"/>
                          <a:ea typeface="微软雅黑" panose="020B0503020204020204" pitchFamily="34" charset="-122"/>
                        </a:rPr>
                        <a:t>缝宽扩展受限能量</a:t>
                      </a:r>
                      <a:endParaRPr lang="zh-CN" altLang="en-US" sz="1200" dirty="0">
                        <a:latin typeface="微软雅黑" panose="020B0503020204020204" pitchFamily="34" charset="-122"/>
                        <a:ea typeface="微软雅黑" panose="020B0503020204020204" pitchFamily="34" charset="-122"/>
                      </a:endParaRPr>
                    </a:p>
                  </a:txBody>
                  <a:tcPr marL="254000" marR="254000" marT="25400" marB="25400" anchor="ctr"/>
                </a:tc>
              </a:tr>
            </a:tbl>
          </a:graphicData>
        </a:graphic>
      </p:graphicFrame>
      <p:pic>
        <p:nvPicPr>
          <p:cNvPr id="17" name="图片 16"/>
          <p:cNvPicPr>
            <a:picLocks noChangeAspect="1"/>
          </p:cNvPicPr>
          <p:nvPr>
            <p:custDataLst>
              <p:tags r:id="rId3"/>
            </p:custDataLst>
          </p:nvPr>
        </p:nvPicPr>
        <p:blipFill>
          <a:blip r:embed="rId4"/>
          <a:srcRect/>
          <a:stretch>
            <a:fillRect/>
          </a:stretch>
        </p:blipFill>
        <p:spPr>
          <a:xfrm>
            <a:off x="4977765" y="2519680"/>
            <a:ext cx="3199765" cy="1537335"/>
          </a:xfrm>
          <a:prstGeom prst="rect">
            <a:avLst/>
          </a:prstGeom>
          <a:ln>
            <a:solidFill>
              <a:schemeClr val="tx1"/>
            </a:solidFill>
          </a:ln>
        </p:spPr>
      </p:pic>
      <p:pic>
        <p:nvPicPr>
          <p:cNvPr id="6" name="图片 5"/>
          <p:cNvPicPr>
            <a:picLocks noChangeAspect="1"/>
          </p:cNvPicPr>
          <p:nvPr/>
        </p:nvPicPr>
        <p:blipFill>
          <a:blip r:embed="rId5"/>
          <a:stretch>
            <a:fillRect/>
          </a:stretch>
        </p:blipFill>
        <p:spPr>
          <a:xfrm>
            <a:off x="4977765" y="4157345"/>
            <a:ext cx="3235325" cy="1925955"/>
          </a:xfrm>
          <a:prstGeom prst="rect">
            <a:avLst/>
          </a:prstGeom>
        </p:spPr>
      </p:pic>
      <p:sp>
        <p:nvSpPr>
          <p:cNvPr id="7" name="TextBox 23"/>
          <p:cNvSpPr>
            <a:spLocks noChangeArrowheads="1"/>
          </p:cNvSpPr>
          <p:nvPr>
            <p:custDataLst>
              <p:tags r:id="rId6"/>
            </p:custDataLst>
          </p:nvPr>
        </p:nvSpPr>
        <p:spPr bwMode="auto">
          <a:xfrm>
            <a:off x="116205" y="6074410"/>
            <a:ext cx="47929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小波变换定性与定量分析</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TextBox 23"/>
          <p:cNvSpPr>
            <a:spLocks noChangeArrowheads="1"/>
          </p:cNvSpPr>
          <p:nvPr>
            <p:custDataLst>
              <p:tags r:id="rId7"/>
            </p:custDataLst>
          </p:nvPr>
        </p:nvSpPr>
        <p:spPr bwMode="auto">
          <a:xfrm>
            <a:off x="4978400" y="6083300"/>
            <a:ext cx="319913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函数定性与定量分析</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0" name="图片 9"/>
          <p:cNvPicPr>
            <a:picLocks noChangeAspect="1"/>
          </p:cNvPicPr>
          <p:nvPr/>
        </p:nvPicPr>
        <p:blipFill>
          <a:blip r:embed="rId8"/>
          <a:stretch>
            <a:fillRect/>
          </a:stretch>
        </p:blipFill>
        <p:spPr>
          <a:xfrm>
            <a:off x="8289290" y="2524125"/>
            <a:ext cx="3787775" cy="3554095"/>
          </a:xfrm>
          <a:prstGeom prst="rect">
            <a:avLst/>
          </a:prstGeom>
        </p:spPr>
      </p:pic>
      <p:sp>
        <p:nvSpPr>
          <p:cNvPr id="11" name="TextBox 23"/>
          <p:cNvSpPr>
            <a:spLocks noChangeArrowheads="1"/>
          </p:cNvSpPr>
          <p:nvPr>
            <p:custDataLst>
              <p:tags r:id="rId9"/>
            </p:custDataLst>
          </p:nvPr>
        </p:nvSpPr>
        <p:spPr bwMode="auto">
          <a:xfrm>
            <a:off x="8387715" y="6074410"/>
            <a:ext cx="368871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所内稳定应用的</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项技术</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三</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成果二、开展评价指标间相关性与权重分析，建立三维两级量化评价结构</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连续小波变换评价指标引入</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现状及存在问题</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当前对施工曲线的研究多集中在宏观趋势，缺乏对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曲线时频特征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的系统挖掘，难以捕捉到改造过程中的全部细节</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离散小波</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分析在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尺度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选择上</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受限</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，难以准确反映施工信号中瞬态能量变化和裂缝扩展的细微过程</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现有方法缺乏将曲线时频特征与裂缝扩展行为进行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定量关联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的体系，评价结果依赖后期产能或微地震、光纤验证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2" name="图片 51"/>
          <p:cNvPicPr>
            <a:picLocks noChangeAspect="1"/>
          </p:cNvPicPr>
          <p:nvPr/>
        </p:nvPicPr>
        <p:blipFill>
          <a:blip r:embed="rId1"/>
          <a:stretch>
            <a:fillRect/>
          </a:stretch>
        </p:blipFill>
        <p:spPr>
          <a:xfrm>
            <a:off x="6916420" y="2842260"/>
            <a:ext cx="4465955" cy="1275080"/>
          </a:xfrm>
          <a:prstGeom prst="rect">
            <a:avLst/>
          </a:prstGeom>
          <a:ln>
            <a:noFill/>
          </a:ln>
        </p:spPr>
      </p:pic>
      <p:sp>
        <p:nvSpPr>
          <p:cNvPr id="51" name="矩形 50"/>
          <p:cNvSpPr/>
          <p:nvPr/>
        </p:nvSpPr>
        <p:spPr>
          <a:xfrm>
            <a:off x="7847330" y="2552700"/>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EUR</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标定周期长</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7037705" y="4459605"/>
            <a:ext cx="2028825" cy="1564005"/>
          </a:xfrm>
          <a:prstGeom prst="rect">
            <a:avLst/>
          </a:prstGeom>
          <a:ln>
            <a:noFill/>
          </a:ln>
        </p:spPr>
      </p:pic>
      <p:sp>
        <p:nvSpPr>
          <p:cNvPr id="5" name="矩形 4"/>
          <p:cNvSpPr/>
          <p:nvPr/>
        </p:nvSpPr>
        <p:spPr>
          <a:xfrm>
            <a:off x="7847330" y="4125595"/>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微地震、光纤等技术成本高昂</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nvPicPr>
        <p:blipFill>
          <a:blip r:embed="rId3"/>
          <a:stretch>
            <a:fillRect/>
          </a:stretch>
        </p:blipFill>
        <p:spPr>
          <a:xfrm>
            <a:off x="9117965" y="4464685"/>
            <a:ext cx="2189480" cy="1551305"/>
          </a:xfrm>
          <a:prstGeom prst="rect">
            <a:avLst/>
          </a:prstGeom>
          <a:ln>
            <a:noFill/>
          </a:ln>
        </p:spPr>
      </p:pic>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1195" y="2837180"/>
            <a:ext cx="3096260" cy="1622425"/>
          </a:xfrm>
          <a:prstGeom prst="rect">
            <a:avLst/>
          </a:prstGeom>
          <a:ln>
            <a:noFill/>
          </a:ln>
        </p:spPr>
      </p:pic>
      <p:pic>
        <p:nvPicPr>
          <p:cNvPr id="40" name="图片 39"/>
          <p:cNvPicPr>
            <a:picLocks noChangeAspect="1"/>
          </p:cNvPicPr>
          <p:nvPr/>
        </p:nvPicPr>
        <p:blipFill>
          <a:blip r:embed="rId5"/>
          <a:stretch>
            <a:fillRect/>
          </a:stretch>
        </p:blipFill>
        <p:spPr>
          <a:xfrm>
            <a:off x="671195" y="4569460"/>
            <a:ext cx="3110865" cy="1434465"/>
          </a:xfrm>
          <a:prstGeom prst="rect">
            <a:avLst/>
          </a:prstGeom>
          <a:ln>
            <a:noFill/>
          </a:ln>
        </p:spPr>
      </p:pic>
      <p:pic>
        <p:nvPicPr>
          <p:cNvPr id="23" name="图片 22"/>
          <p:cNvPicPr>
            <a:picLocks noChangeAspect="1"/>
          </p:cNvPicPr>
          <p:nvPr/>
        </p:nvPicPr>
        <p:blipFill rotWithShape="1">
          <a:blip r:embed="rId6"/>
          <a:srcRect r="4202" b="2184"/>
          <a:stretch>
            <a:fillRect/>
          </a:stretch>
        </p:blipFill>
        <p:spPr>
          <a:xfrm>
            <a:off x="3794760" y="2837180"/>
            <a:ext cx="3065780" cy="3166110"/>
          </a:xfrm>
          <a:prstGeom prst="rect">
            <a:avLst/>
          </a:prstGeom>
        </p:spPr>
      </p:pic>
      <p:sp>
        <p:nvSpPr>
          <p:cNvPr id="24" name="矩形 23"/>
          <p:cNvSpPr/>
          <p:nvPr/>
        </p:nvSpPr>
        <p:spPr>
          <a:xfrm>
            <a:off x="1417320" y="2503805"/>
            <a:ext cx="419227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压裂曲线分析多数只在时域尺度，且难以定量</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TextBox 23"/>
          <p:cNvSpPr>
            <a:spLocks noChangeArrowheads="1"/>
          </p:cNvSpPr>
          <p:nvPr>
            <p:custDataLst>
              <p:tags r:id="rId7"/>
            </p:custDataLst>
          </p:nvPr>
        </p:nvSpPr>
        <p:spPr bwMode="auto">
          <a:xfrm>
            <a:off x="299720" y="6074410"/>
            <a:ext cx="1153985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施工曲线分析现状及存在问题</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研究思路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引入</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连续小波变换</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对施工期</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压力、排量、砂浓度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信号进行多尺度分析，突破离散小波变换在时间与频率分辨率上的局限性</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连续小波时频能量分布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，识别裂缝长度扩展、高度扩展，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宽度扩展不足</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等关键阶段，实现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裂缝扩展模式</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的动态识别</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连续小波特征参数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（能量强度、模式时间分布等）与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之间的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定量关系</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，实现压后储层改造的精细评价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1" name="组合 10"/>
          <p:cNvGrpSpPr/>
          <p:nvPr/>
        </p:nvGrpSpPr>
        <p:grpSpPr>
          <a:xfrm>
            <a:off x="376555" y="2587625"/>
            <a:ext cx="5281239" cy="3358515"/>
            <a:chOff x="9208" y="4086"/>
            <a:chExt cx="9118" cy="5399"/>
          </a:xfrm>
        </p:grpSpPr>
        <p:pic>
          <p:nvPicPr>
            <p:cNvPr id="6" name="图片 5"/>
            <p:cNvPicPr>
              <a:picLocks noChangeAspect="1"/>
            </p:cNvPicPr>
            <p:nvPr/>
          </p:nvPicPr>
          <p:blipFill>
            <a:blip r:embed="rId1"/>
            <a:srcRect t="169" b="7630"/>
            <a:stretch>
              <a:fillRect/>
            </a:stretch>
          </p:blipFill>
          <p:spPr>
            <a:xfrm>
              <a:off x="9208" y="4086"/>
              <a:ext cx="9117" cy="5254"/>
            </a:xfrm>
            <a:prstGeom prst="rect">
              <a:avLst/>
            </a:prstGeom>
          </p:spPr>
        </p:pic>
        <p:sp>
          <p:nvSpPr>
            <p:cNvPr id="7" name="文本框 6"/>
            <p:cNvSpPr txBox="1"/>
            <p:nvPr/>
          </p:nvSpPr>
          <p:spPr>
            <a:xfrm>
              <a:off x="10415" y="4350"/>
              <a:ext cx="2556" cy="680"/>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频域图像</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5014" y="8805"/>
              <a:ext cx="2693" cy="680"/>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频率方向</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809" y="8667"/>
              <a:ext cx="2606" cy="680"/>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时间方向</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17429" y="4350"/>
              <a:ext cx="897" cy="2022"/>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时域图像</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
        <p:nvSpPr>
          <p:cNvPr id="12" name="TextBox 23"/>
          <p:cNvSpPr>
            <a:spLocks noChangeArrowheads="1"/>
          </p:cNvSpPr>
          <p:nvPr>
            <p:custDataLst>
              <p:tags r:id="rId2"/>
            </p:custDataLst>
          </p:nvPr>
        </p:nvSpPr>
        <p:spPr bwMode="auto">
          <a:xfrm>
            <a:off x="299720" y="6074410"/>
            <a:ext cx="59194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信号在时域和频域上的分解</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4" name="图片 13" descr="05612ce7bba63670b8a93e9a065aeb7d"/>
          <p:cNvPicPr/>
          <p:nvPr/>
        </p:nvPicPr>
        <p:blipFill>
          <a:blip r:embed="rId3"/>
          <a:stretch>
            <a:fillRect/>
          </a:stretch>
        </p:blipFill>
        <p:spPr>
          <a:xfrm>
            <a:off x="5836285" y="2498090"/>
            <a:ext cx="5580000" cy="1800000"/>
          </a:xfrm>
          <a:prstGeom prst="rect">
            <a:avLst/>
          </a:prstGeom>
        </p:spPr>
      </p:pic>
      <p:pic>
        <p:nvPicPr>
          <p:cNvPr id="17" name="图片 16" descr="21cff485bec7653e85e10b7808d82f22"/>
          <p:cNvPicPr/>
          <p:nvPr/>
        </p:nvPicPr>
        <p:blipFill>
          <a:blip r:embed="rId4"/>
          <a:stretch>
            <a:fillRect/>
          </a:stretch>
        </p:blipFill>
        <p:spPr>
          <a:xfrm>
            <a:off x="5836285" y="4220210"/>
            <a:ext cx="5580000" cy="1800000"/>
          </a:xfrm>
          <a:prstGeom prst="rect">
            <a:avLst/>
          </a:prstGeom>
        </p:spPr>
      </p:pic>
      <p:sp>
        <p:nvSpPr>
          <p:cNvPr id="18" name="TextBox 23"/>
          <p:cNvSpPr>
            <a:spLocks noChangeArrowheads="1"/>
          </p:cNvSpPr>
          <p:nvPr>
            <p:custDataLst>
              <p:tags r:id="rId5"/>
            </p:custDataLst>
          </p:nvPr>
        </p:nvSpPr>
        <p:spPr bwMode="auto">
          <a:xfrm>
            <a:off x="5836285" y="6070600"/>
            <a:ext cx="59194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连续小波变换（上）与离散小波变换（下）尺度图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针对压裂施工中存在的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停泵、间断</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等问题，识别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曲线突变与非连续边界</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选取</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排量连续且加砂时间超过</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分钟</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的施工段，确保分析结果稳定可靠</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有效泵注时段识别与拼接</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算法，实现多段信号的独立分析与结果整合</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泸203井区H10平台1井加砂压裂第2段秒点-完整数据"/>
          <p:cNvPicPr>
            <a:picLocks noChangeAspect="1"/>
          </p:cNvPicPr>
          <p:nvPr/>
        </p:nvPicPr>
        <p:blipFill>
          <a:blip r:embed="rId1"/>
          <a:stretch>
            <a:fillRect/>
          </a:stretch>
        </p:blipFill>
        <p:spPr>
          <a:xfrm>
            <a:off x="90805" y="2668270"/>
            <a:ext cx="5975985" cy="3409315"/>
          </a:xfrm>
          <a:prstGeom prst="rect">
            <a:avLst/>
          </a:prstGeom>
        </p:spPr>
      </p:pic>
      <p:pic>
        <p:nvPicPr>
          <p:cNvPr id="12" name="图片 11" descr="泸203井区H123平台1井第12段施工数据-完整数据"/>
          <p:cNvPicPr>
            <a:picLocks noChangeAspect="1"/>
          </p:cNvPicPr>
          <p:nvPr/>
        </p:nvPicPr>
        <p:blipFill>
          <a:blip r:embed="rId2"/>
          <a:stretch>
            <a:fillRect/>
          </a:stretch>
        </p:blipFill>
        <p:spPr>
          <a:xfrm>
            <a:off x="6184265" y="2668905"/>
            <a:ext cx="5975985" cy="3409950"/>
          </a:xfrm>
          <a:prstGeom prst="rect">
            <a:avLst/>
          </a:prstGeom>
        </p:spPr>
      </p:pic>
      <p:sp>
        <p:nvSpPr>
          <p:cNvPr id="305" name="TextBox 23"/>
          <p:cNvSpPr>
            <a:spLocks noChangeArrowheads="1"/>
          </p:cNvSpPr>
          <p:nvPr>
            <p:custDataLst>
              <p:tags r:id="rId3"/>
            </p:custDataLst>
          </p:nvPr>
        </p:nvSpPr>
        <p:spPr bwMode="auto">
          <a:xfrm>
            <a:off x="6184900" y="6074410"/>
            <a:ext cx="597535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TextBox 23"/>
          <p:cNvSpPr>
            <a:spLocks noChangeArrowheads="1"/>
          </p:cNvSpPr>
          <p:nvPr>
            <p:custDataLst>
              <p:tags r:id="rId4"/>
            </p:custDataLst>
          </p:nvPr>
        </p:nvSpPr>
        <p:spPr bwMode="auto">
          <a:xfrm>
            <a:off x="91440" y="6074410"/>
            <a:ext cx="597535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排量与砂浓度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变化对压力响应的影响，识别造成压力曲线波动的原因</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线性残差</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算法，去除</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提排量、暂堵及阶梯加砂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等非平稳工况影响，实现压力信号校正</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修正后的压力展示为绿色曲线，反映</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地层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真实</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压力响应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，为后续连续小波变换提取</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提供可靠数据</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294005" y="6074410"/>
            <a:ext cx="580136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161290" y="2681605"/>
            <a:ext cx="6066790" cy="3281680"/>
            <a:chOff x="472" y="4086"/>
            <a:chExt cx="11978" cy="5480"/>
          </a:xfrm>
        </p:grpSpPr>
        <p:pic>
          <p:nvPicPr>
            <p:cNvPr id="5" name="图片 4" descr="泸203井区H10平台3井加砂压裂第8段秒点-完整数据_single_plot"/>
            <p:cNvPicPr>
              <a:picLocks noChangeAspect="1"/>
            </p:cNvPicPr>
            <p:nvPr/>
          </p:nvPicPr>
          <p:blipFill>
            <a:blip r:embed="rId2"/>
            <a:stretch>
              <a:fillRect/>
            </a:stretch>
          </p:blipFill>
          <p:spPr>
            <a:xfrm>
              <a:off x="472" y="4086"/>
              <a:ext cx="11978" cy="5481"/>
            </a:xfrm>
            <a:prstGeom prst="rect">
              <a:avLst/>
            </a:prstGeom>
          </p:spPr>
        </p:pic>
        <p:sp>
          <p:nvSpPr>
            <p:cNvPr id="3" name="矩形 2"/>
            <p:cNvSpPr/>
            <p:nvPr/>
          </p:nvSpPr>
          <p:spPr>
            <a:xfrm>
              <a:off x="4272" y="4404"/>
              <a:ext cx="509" cy="4791"/>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8" name="矩形 7"/>
            <p:cNvSpPr/>
            <p:nvPr/>
          </p:nvSpPr>
          <p:spPr>
            <a:xfrm>
              <a:off x="6555" y="4404"/>
              <a:ext cx="463" cy="4791"/>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9" name="矩形 8"/>
            <p:cNvSpPr/>
            <p:nvPr/>
          </p:nvSpPr>
          <p:spPr>
            <a:xfrm>
              <a:off x="7172" y="4400"/>
              <a:ext cx="432" cy="4791"/>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
        <p:nvSpPr>
          <p:cNvPr id="18" name="TextBox 23"/>
          <p:cNvSpPr>
            <a:spLocks noChangeArrowheads="1"/>
          </p:cNvSpPr>
          <p:nvPr>
            <p:custDataLst>
              <p:tags r:id="rId3"/>
            </p:custDataLst>
          </p:nvPr>
        </p:nvSpPr>
        <p:spPr bwMode="auto">
          <a:xfrm>
            <a:off x="6227445" y="6074410"/>
            <a:ext cx="576008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9"/>
          <p:cNvGrpSpPr/>
          <p:nvPr/>
        </p:nvGrpSpPr>
        <p:grpSpPr>
          <a:xfrm>
            <a:off x="6227445" y="2671445"/>
            <a:ext cx="5759450" cy="3291840"/>
            <a:chOff x="9807" y="4207"/>
            <a:chExt cx="9070" cy="5184"/>
          </a:xfrm>
        </p:grpSpPr>
        <p:grpSp>
          <p:nvGrpSpPr>
            <p:cNvPr id="17" name="组合 16"/>
            <p:cNvGrpSpPr/>
            <p:nvPr/>
          </p:nvGrpSpPr>
          <p:grpSpPr>
            <a:xfrm>
              <a:off x="9807" y="4207"/>
              <a:ext cx="9071" cy="5185"/>
              <a:chOff x="9698" y="4634"/>
              <a:chExt cx="9318" cy="4896"/>
            </a:xfrm>
          </p:grpSpPr>
          <p:pic>
            <p:nvPicPr>
              <p:cNvPr id="7" name="图片 6" descr="泸203井区H10平台2井加砂压裂第16段秒点-完整数据_single_plot"/>
              <p:cNvPicPr>
                <a:picLocks noChangeAspect="1"/>
              </p:cNvPicPr>
              <p:nvPr/>
            </p:nvPicPr>
            <p:blipFill>
              <a:blip r:embed="rId4"/>
              <a:stretch>
                <a:fillRect/>
              </a:stretch>
            </p:blipFill>
            <p:spPr>
              <a:xfrm>
                <a:off x="9698" y="4634"/>
                <a:ext cx="9319" cy="4896"/>
              </a:xfrm>
              <a:prstGeom prst="rect">
                <a:avLst/>
              </a:prstGeom>
            </p:spPr>
          </p:pic>
          <p:sp>
            <p:nvSpPr>
              <p:cNvPr id="15" name="矩形 14"/>
              <p:cNvSpPr/>
              <p:nvPr/>
            </p:nvSpPr>
            <p:spPr>
              <a:xfrm>
                <a:off x="11938" y="4941"/>
                <a:ext cx="284" cy="4237"/>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
          <p:nvSpPr>
            <p:cNvPr id="19" name="矩形 18"/>
            <p:cNvSpPr/>
            <p:nvPr/>
          </p:nvSpPr>
          <p:spPr>
            <a:xfrm>
              <a:off x="15891" y="4543"/>
              <a:ext cx="352" cy="4508"/>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采用连续小波变换，将施工信号在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时间与频率域</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展开，揭示不同频段的能量分布特征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通过母小波与</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施工</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信号的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卷积</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运算，提取不同尺度下的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压力瞬变</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特征，并识别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能量集中</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时刻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构建小波系数与能量谱图，实现信号时频特征的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可视化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裂缝扩展模式识别</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提供基础</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5607685" y="6074410"/>
            <a:ext cx="621220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段连续小波变换尺度图</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TextBox 23"/>
          <p:cNvSpPr>
            <a:spLocks noChangeArrowheads="1"/>
          </p:cNvSpPr>
          <p:nvPr>
            <p:custDataLst>
              <p:tags r:id="rId2"/>
            </p:custDataLst>
          </p:nvPr>
        </p:nvSpPr>
        <p:spPr bwMode="auto">
          <a:xfrm>
            <a:off x="299720" y="6074410"/>
            <a:ext cx="522414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连续小波变换分析流程</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5" name="图片 14"/>
          <p:cNvPicPr>
            <a:picLocks noChangeAspect="1"/>
          </p:cNvPicPr>
          <p:nvPr/>
        </p:nvPicPr>
        <p:blipFill>
          <a:blip r:embed="rId3"/>
          <a:stretch>
            <a:fillRect/>
          </a:stretch>
        </p:blipFill>
        <p:spPr>
          <a:xfrm>
            <a:off x="299720" y="2599055"/>
            <a:ext cx="5224145" cy="3474720"/>
          </a:xfrm>
          <a:prstGeom prst="rect">
            <a:avLst/>
          </a:prstGeom>
        </p:spPr>
      </p:pic>
      <p:pic>
        <p:nvPicPr>
          <p:cNvPr id="5" name="图片 4" descr="泸203井区H10平台1井加砂压裂第2段秒点-完整数据_三联图"/>
          <p:cNvPicPr>
            <a:picLocks noChangeAspect="1"/>
          </p:cNvPicPr>
          <p:nvPr/>
        </p:nvPicPr>
        <p:blipFill>
          <a:blip r:embed="rId4"/>
          <a:stretch>
            <a:fillRect/>
          </a:stretch>
        </p:blipFill>
        <p:spPr>
          <a:xfrm>
            <a:off x="5607685" y="2593975"/>
            <a:ext cx="6474460" cy="3457575"/>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将连续小波分析结果与</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微地震动态监测结果</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进行对比验证，确保模型具有工程可信度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以泸</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H10</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井第</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5</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段为例，施工</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前期</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，微地震监测结果显示以</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缝高扩展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为主，连续小波尺度图呈现</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红色条带</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施工后期，微地震监测结果显示裂缝以</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缝长扩展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为主，连续小波尺度图呈现</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绿色条带</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5607685" y="6074410"/>
            <a:ext cx="621220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连续小波变换分析结果</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TextBox 23"/>
          <p:cNvSpPr>
            <a:spLocks noChangeArrowheads="1"/>
          </p:cNvSpPr>
          <p:nvPr>
            <p:custDataLst>
              <p:tags r:id="rId2"/>
            </p:custDataLst>
          </p:nvPr>
        </p:nvSpPr>
        <p:spPr bwMode="auto">
          <a:xfrm>
            <a:off x="240665" y="6074410"/>
            <a:ext cx="52336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H10</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井第</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段地面微地震监测现场结果</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3"/>
          <a:stretch>
            <a:fillRect/>
          </a:stretch>
        </p:blipFill>
        <p:spPr>
          <a:xfrm>
            <a:off x="240665" y="2634615"/>
            <a:ext cx="5233035" cy="3103245"/>
          </a:xfrm>
          <a:prstGeom prst="rect">
            <a:avLst/>
          </a:prstGeom>
          <a:ln>
            <a:solidFill>
              <a:schemeClr val="tx1"/>
            </a:solidFill>
          </a:ln>
        </p:spPr>
      </p:pic>
      <p:pic>
        <p:nvPicPr>
          <p:cNvPr id="3" name="图片 2" descr="泸203井区H10平台2井加砂压裂第5段秒点-完整数据_三联图"/>
          <p:cNvPicPr>
            <a:picLocks noChangeAspect="1"/>
          </p:cNvPicPr>
          <p:nvPr/>
        </p:nvPicPr>
        <p:blipFill>
          <a:blip r:embed="rId4"/>
          <a:stretch>
            <a:fillRect/>
          </a:stretch>
        </p:blipFill>
        <p:spPr>
          <a:xfrm>
            <a:off x="5607685" y="2621915"/>
            <a:ext cx="6229985" cy="3115945"/>
          </a:xfrm>
          <a:prstGeom prst="rect">
            <a:avLst/>
          </a:prstGeom>
        </p:spPr>
      </p:pic>
      <p:sp>
        <p:nvSpPr>
          <p:cNvPr id="5" name="矩形 4"/>
          <p:cNvSpPr/>
          <p:nvPr/>
        </p:nvSpPr>
        <p:spPr>
          <a:xfrm>
            <a:off x="1007745" y="4649470"/>
            <a:ext cx="1675130" cy="1088390"/>
          </a:xfrm>
          <a:prstGeom prst="rect">
            <a:avLst/>
          </a:prstGeom>
          <a:solidFill>
            <a:srgbClr val="C00000">
              <a:alpha val="5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8" name="矩形 7"/>
          <p:cNvSpPr/>
          <p:nvPr/>
        </p:nvSpPr>
        <p:spPr>
          <a:xfrm>
            <a:off x="4247515" y="4649470"/>
            <a:ext cx="314325" cy="108839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2" name="矩形 11"/>
          <p:cNvSpPr/>
          <p:nvPr/>
        </p:nvSpPr>
        <p:spPr>
          <a:xfrm>
            <a:off x="3249295" y="4649470"/>
            <a:ext cx="567690" cy="108839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18" name="肘形连接符 17"/>
          <p:cNvCxnSpPr>
            <a:stCxn id="5" idx="2"/>
          </p:cNvCxnSpPr>
          <p:nvPr/>
        </p:nvCxnSpPr>
        <p:spPr>
          <a:xfrm rot="5400000" flipH="1" flipV="1">
            <a:off x="4685665" y="2743200"/>
            <a:ext cx="154305" cy="5834380"/>
          </a:xfrm>
          <a:prstGeom prst="bentConnector4">
            <a:avLst>
              <a:gd name="adj1" fmla="val -154115"/>
              <a:gd name="adj2" fmla="val 100092"/>
            </a:avLst>
          </a:prstGeom>
          <a:ln>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9" name="TextBox 23"/>
          <p:cNvSpPr>
            <a:spLocks noChangeArrowheads="1"/>
          </p:cNvSpPr>
          <p:nvPr>
            <p:custDataLst>
              <p:tags r:id="rId5"/>
            </p:custDataLst>
          </p:nvPr>
        </p:nvSpPr>
        <p:spPr bwMode="auto">
          <a:xfrm>
            <a:off x="4933315" y="5632450"/>
            <a:ext cx="204914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缝高扩展为主</a:t>
            </a:r>
            <a:endPar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1" name="直接箭头连接符 20"/>
          <p:cNvCxnSpPr>
            <a:stCxn id="8" idx="3"/>
          </p:cNvCxnSpPr>
          <p:nvPr/>
        </p:nvCxnSpPr>
        <p:spPr>
          <a:xfrm>
            <a:off x="4561840" y="5193665"/>
            <a:ext cx="5175250" cy="18415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nvCxnSpPr>
        <p:spPr>
          <a:xfrm>
            <a:off x="3858895" y="4780280"/>
            <a:ext cx="5368925" cy="70548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23" name="TextBox 23"/>
          <p:cNvSpPr>
            <a:spLocks noChangeArrowheads="1"/>
          </p:cNvSpPr>
          <p:nvPr>
            <p:custDataLst>
              <p:tags r:id="rId6"/>
            </p:custDataLst>
          </p:nvPr>
        </p:nvSpPr>
        <p:spPr bwMode="auto">
          <a:xfrm>
            <a:off x="8750300" y="5737225"/>
            <a:ext cx="163766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缝长扩展为主</a:t>
            </a:r>
            <a:endParaRPr lang="zh-CN" altLang="en-US" sz="1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、基于连续小波尺度图特征，构建改造体积评价指标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基于连续小波变换尺度图特征，构建包含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时域与能量域</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参数的改造体积评价指标</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提取</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有效泵注时长、缝长与缝高扩展时长与能量</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个参数，量化裂缝扩展特征与储层改造效果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综合现场认识确定各指标权重，构建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加权评分模型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，实现对压裂改造体积的精细定量表征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334645" y="6074410"/>
            <a:ext cx="1148524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连续小波变换分析参数</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2"/>
            </p:custDataLst>
          </p:nvPr>
        </p:nvGraphicFramePr>
        <p:xfrm>
          <a:off x="335280" y="2554605"/>
          <a:ext cx="11483975" cy="3507105"/>
        </p:xfrm>
        <a:graphic>
          <a:graphicData uri="http://schemas.openxmlformats.org/drawingml/2006/table">
            <a:tbl>
              <a:tblPr firstRow="1" bandRow="1">
                <a:tableStyleId>{5940675A-B579-460E-94D1-54222C63F5DA}</a:tableStyleId>
              </a:tblPr>
              <a:tblGrid>
                <a:gridCol w="1967230"/>
                <a:gridCol w="9516745"/>
              </a:tblGrid>
              <a:tr h="393700">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参数</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说明</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r>
              <a:tr h="34480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反映有效泵注时间的总长度。有效时间越长，说明压裂持续作用时间更久，裂缝网络形成与延伸的机会更多。</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4671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有效泵入体积</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有效泵注段内的累计泵入体积，反映压裂液量。液量越大，裂缝体积与改造半径通常更大。</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4607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有效加砂量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有效泵注段内的累计加砂量，反映支撑剂投放量。砂量越高，裂缝支撑更充分，导流能力和改造体积更大。</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4544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缝长扩展时长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表征以</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长度扩展</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为主的时段总长度。其值越大说明裂缝在水平方向上延伸更充分，有助于提高改造体积的展布。</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r>
              <a:tr h="34671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缝长扩展能量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衡量裂缝延伸阶段的能量响应。能量越高，代表液体在主裂缝传播上的驱动力更强，裂缝更长、更连通。</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4607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缝高扩展时长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表征以</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高度增长</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为主的时段总长度。其值越大说明裂缝在垂向方向上有更充分的扩展，有利于纵向连通与层间改造。</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r>
              <a:tr h="34544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缝高扩展能量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衡量裂缝向上、向下扩展阶段的能量强度。能量高表示垂向裂缝更发育，改造体积更厚。</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4607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缝宽扩展受限时长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表征以</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宽度受限</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为主的时间比例。越多说明压裂流体在狭窄缝内循环、裂缝张开受限，是不利因素。</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r>
              <a:tr h="34607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缝宽扩展受限能量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dirty="0">
                          <a:latin typeface="微软雅黑" panose="020B0503020204020204" pitchFamily="34" charset="-122"/>
                          <a:ea typeface="微软雅黑" panose="020B0503020204020204" pitchFamily="34" charset="-122"/>
                        </a:rPr>
                        <a:t>表征受限阶段的能量消耗。该值高说明能量主要耗在张开受限区域，改造效率较低，应作为惩罚项考虑。</a:t>
                      </a:r>
                      <a:endParaRPr lang="zh-CN" altLang="en-US" sz="1200" dirty="0">
                        <a:latin typeface="微软雅黑" panose="020B0503020204020204" pitchFamily="34" charset="-122"/>
                        <a:ea typeface="微软雅黑" panose="020B0503020204020204" pitchFamily="34" charset="-122"/>
                      </a:endParaRPr>
                    </a:p>
                  </a:txBody>
                  <a:tcPr marL="254000" marR="254000" marT="25400" marB="25400" anchor="ctr"/>
                </a:tc>
              </a:tr>
            </a:tbl>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、基于连续小波尺度图特征，构建改造体积评价指标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基于构建的改造体积评价方法，对泸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井共</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182</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段</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进行定量评价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分段、分井及分平台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统计分析，实现改造效果的多尺度比较与综合排序</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采用归一化与加权平均等方法，确保不同尺度与信号特征在综合评价中的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可比性与一致性</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1"/>
            </p:custDataLst>
          </p:nvPr>
        </p:nvGraphicFramePr>
        <p:xfrm>
          <a:off x="85090" y="2586355"/>
          <a:ext cx="3482340" cy="3486150"/>
        </p:xfrm>
        <a:graphic>
          <a:graphicData uri="http://schemas.openxmlformats.org/drawingml/2006/table">
            <a:tbl>
              <a:tblPr firstRow="1" bandRow="1">
                <a:tableStyleId>{5940675A-B579-460E-94D1-54222C63F5DA}</a:tableStyleId>
              </a:tblPr>
              <a:tblGrid>
                <a:gridCol w="754380"/>
                <a:gridCol w="629285"/>
                <a:gridCol w="532765"/>
                <a:gridCol w="539750"/>
                <a:gridCol w="1026160"/>
              </a:tblGrid>
              <a:tr h="232410">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井区</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平台</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段号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en-US" altLang="zh-CN" sz="1200" b="1" spc="6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1" spc="6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spc="6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solidFill>
                      <a:srgbClr val="FFC000"/>
                    </a:solidFill>
                  </a:tcP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80.55282449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77.29967297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86.15762344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75.43293787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77.09271841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80.65352383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80.64908048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85.67598982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82.29453145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80.70026028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78.82967947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86.79695847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86.64023465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dirty="0">
                          <a:latin typeface="微软雅黑" panose="020B0503020204020204" pitchFamily="34" charset="-122"/>
                          <a:ea typeface="微软雅黑" panose="020B0503020204020204" pitchFamily="34" charset="-122"/>
                        </a:rPr>
                        <a:t>84.88838471</a:t>
                      </a:r>
                      <a:endParaRPr lang="en-US" altLang="zh-CN" sz="1200" dirty="0">
                        <a:latin typeface="微软雅黑" panose="020B0503020204020204" pitchFamily="34" charset="-122"/>
                        <a:ea typeface="微软雅黑" panose="020B0503020204020204" pitchFamily="34" charset="-122"/>
                      </a:endParaRPr>
                    </a:p>
                  </a:txBody>
                  <a:tcPr marL="25400" marR="25400" marT="6350" marB="6350" anchor="ctr"/>
                </a:tc>
              </a:tr>
            </a:tbl>
          </a:graphicData>
        </a:graphic>
      </p:graphicFrame>
      <p:graphicFrame>
        <p:nvGraphicFramePr>
          <p:cNvPr id="6" name="表格 5"/>
          <p:cNvGraphicFramePr/>
          <p:nvPr>
            <p:custDataLst>
              <p:tags r:id="rId2"/>
            </p:custDataLst>
          </p:nvPr>
        </p:nvGraphicFramePr>
        <p:xfrm>
          <a:off x="3660775" y="2593975"/>
          <a:ext cx="3006725" cy="3477641"/>
        </p:xfrm>
        <a:graphic>
          <a:graphicData uri="http://schemas.openxmlformats.org/drawingml/2006/table">
            <a:tbl>
              <a:tblPr firstRow="1" bandRow="1">
                <a:tableStyleId>{5940675A-B579-460E-94D1-54222C63F5DA}</a:tableStyleId>
              </a:tblPr>
              <a:tblGrid>
                <a:gridCol w="548640"/>
                <a:gridCol w="466090"/>
                <a:gridCol w="465455"/>
                <a:gridCol w="466090"/>
                <a:gridCol w="1060450"/>
              </a:tblGrid>
              <a:tr h="231775">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井区</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a:solidFill>
                            <a:schemeClr val="bg1"/>
                          </a:solidFill>
                          <a:latin typeface="微软雅黑" panose="020B0503020204020204" pitchFamily="34" charset="-122"/>
                          <a:ea typeface="微软雅黑" panose="020B0503020204020204" pitchFamily="34" charset="-122"/>
                        </a:rPr>
                        <a:t>平台</a:t>
                      </a:r>
                      <a:endParaRPr lang="zh-CN" altLang="en-US" sz="1200" b="1" spc="6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段号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en-US" altLang="zh-CN" sz="1200" b="1" spc="6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1" spc="6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spc="6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solidFill>
                      <a:srgbClr val="FFC000"/>
                    </a:solidFill>
                  </a:tcP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88.9000747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85.97310127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89.91921155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14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84.30010751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69.41592118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76.83318427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74.97711879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12</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92.4884575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79.4566485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14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16</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80.88691273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87.47100129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87.12487854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20</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80.97486845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21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86.04661549</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graphicFrame>
        <p:nvGraphicFramePr>
          <p:cNvPr id="8" name="表格 7"/>
          <p:cNvGraphicFramePr/>
          <p:nvPr>
            <p:custDataLst>
              <p:tags r:id="rId3"/>
            </p:custDataLst>
          </p:nvPr>
        </p:nvGraphicFramePr>
        <p:xfrm>
          <a:off x="6760845" y="2588260"/>
          <a:ext cx="3407410" cy="3499485"/>
        </p:xfrm>
        <a:graphic>
          <a:graphicData uri="http://schemas.openxmlformats.org/drawingml/2006/table">
            <a:tbl>
              <a:tblPr firstRow="1" bandRow="1">
                <a:tableStyleId>{5940675A-B579-460E-94D1-54222C63F5DA}</a:tableStyleId>
              </a:tblPr>
              <a:tblGrid>
                <a:gridCol w="2172970"/>
                <a:gridCol w="1234440"/>
              </a:tblGrid>
              <a:tr h="318135">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井号</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c>
                  <a:txBody>
                    <a:bodyPr/>
                    <a:lstStyle/>
                    <a:p>
                      <a:pPr algn="ctr">
                        <a:lnSpc>
                          <a:spcPct val="120000"/>
                        </a:lnSpc>
                        <a:buNone/>
                      </a:pPr>
                      <a:r>
                        <a:rPr lang="en-US" altLang="zh-CN" sz="12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solidFill>
                      <a:srgbClr val="FFC000"/>
                    </a:solidFill>
                  </a:tcP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81.69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80.31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82.17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78.18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78.54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78.9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83.20</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83.78</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a:latin typeface="微软雅黑" panose="020B0503020204020204" pitchFamily="34" charset="-122"/>
                          <a:ea typeface="微软雅黑" panose="020B0503020204020204" pitchFamily="34" charset="-122"/>
                        </a:rPr>
                        <a:t>84.09</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r>
              <a:tr h="31813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a:lnSpc>
                          <a:spcPct val="120000"/>
                        </a:lnSpc>
                        <a:buNone/>
                      </a:pPr>
                      <a:r>
                        <a:rPr lang="en-US" altLang="zh-CN" sz="1200" dirty="0">
                          <a:latin typeface="微软雅黑" panose="020B0503020204020204" pitchFamily="34" charset="-122"/>
                          <a:ea typeface="微软雅黑" panose="020B0503020204020204" pitchFamily="34" charset="-122"/>
                        </a:rPr>
                        <a:t>81.57</a:t>
                      </a:r>
                      <a:endParaRPr lang="en-US" altLang="zh-CN" sz="1200" dirty="0">
                        <a:latin typeface="微软雅黑" panose="020B0503020204020204" pitchFamily="34" charset="-122"/>
                        <a:ea typeface="微软雅黑" panose="020B0503020204020204" pitchFamily="34" charset="-122"/>
                      </a:endParaRPr>
                    </a:p>
                  </a:txBody>
                  <a:tcPr marL="254000" marR="254000" marT="25400" marB="25400" anchor="ctr"/>
                </a:tc>
              </a:tr>
            </a:tbl>
          </a:graphicData>
        </a:graphic>
      </p:graphicFrame>
      <p:graphicFrame>
        <p:nvGraphicFramePr>
          <p:cNvPr id="9" name="表格 8"/>
          <p:cNvGraphicFramePr/>
          <p:nvPr>
            <p:custDataLst>
              <p:tags r:id="rId4"/>
            </p:custDataLst>
          </p:nvPr>
        </p:nvGraphicFramePr>
        <p:xfrm>
          <a:off x="10261600" y="3848100"/>
          <a:ext cx="1844040" cy="1381125"/>
        </p:xfrm>
        <a:graphic>
          <a:graphicData uri="http://schemas.openxmlformats.org/drawingml/2006/table">
            <a:tbl>
              <a:tblPr firstRow="1" bandRow="1">
                <a:tableStyleId>{5940675A-B579-460E-94D1-54222C63F5DA}</a:tableStyleId>
              </a:tblPr>
              <a:tblGrid>
                <a:gridCol w="922020"/>
                <a:gridCol w="922020"/>
              </a:tblGrid>
              <a:tr h="460375">
                <a:tc>
                  <a:txBody>
                    <a:bodyPr/>
                    <a:lstStyle/>
                    <a:p>
                      <a:pPr algn="ctr">
                        <a:buNone/>
                      </a:pPr>
                      <a:r>
                        <a:rPr lang="zh-CN" altLang="en-US" sz="1200" b="1" dirty="0">
                          <a:solidFill>
                            <a:schemeClr val="bg1"/>
                          </a:solidFill>
                          <a:latin typeface="微软雅黑" panose="020B0503020204020204" pitchFamily="34" charset="-122"/>
                          <a:ea typeface="微软雅黑" panose="020B0503020204020204" pitchFamily="34" charset="-122"/>
                        </a:rPr>
                        <a:t>平台</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solidFill>
                      <a:srgbClr val="FFC000"/>
                    </a:solidFill>
                  </a:tcPr>
                </a:tc>
                <a:tc>
                  <a:txBody>
                    <a:bodyPr/>
                    <a:lstStyle/>
                    <a:p>
                      <a:pPr algn="ctr">
                        <a:buNone/>
                      </a:pP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FFC000"/>
                    </a:solidFill>
                  </a:tcPr>
                </a:tc>
              </a:tr>
              <a:tr h="460375">
                <a:tc>
                  <a:txBody>
                    <a:bodyPr/>
                    <a:lstStyle/>
                    <a:p>
                      <a:pPr algn="ctr">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lstStyle/>
                    <a:p>
                      <a:pPr algn="ctr">
                        <a:buNone/>
                      </a:pPr>
                      <a:r>
                        <a:rPr lang="en-US" altLang="zh-CN" sz="1200">
                          <a:latin typeface="微软雅黑" panose="020B0503020204020204" pitchFamily="34" charset="-122"/>
                          <a:ea typeface="微软雅黑" panose="020B0503020204020204" pitchFamily="34" charset="-122"/>
                        </a:rPr>
                        <a:t>79.86</a:t>
                      </a:r>
                      <a:endParaRPr lang="en-US" altLang="zh-CN" sz="1200">
                        <a:latin typeface="微软雅黑" panose="020B0503020204020204" pitchFamily="34" charset="-122"/>
                        <a:ea typeface="微软雅黑" panose="020B0503020204020204" pitchFamily="34" charset="-122"/>
                      </a:endParaRPr>
                    </a:p>
                  </a:txBody>
                  <a:tcPr anchor="ctr"/>
                </a:tc>
              </a:tr>
              <a:tr h="460375">
                <a:tc>
                  <a:txBody>
                    <a:bodyPr/>
                    <a:lstStyle/>
                    <a:p>
                      <a:pPr algn="ctr">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lstStyle/>
                    <a:p>
                      <a:pPr algn="ctr">
                        <a:buNone/>
                      </a:pPr>
                      <a:r>
                        <a:rPr lang="en-US" altLang="zh-CN" sz="1200" dirty="0">
                          <a:latin typeface="微软雅黑" panose="020B0503020204020204" pitchFamily="34" charset="-122"/>
                          <a:ea typeface="微软雅黑" panose="020B0503020204020204" pitchFamily="34" charset="-122"/>
                        </a:rPr>
                        <a:t>83.10</a:t>
                      </a:r>
                      <a:endParaRPr lang="en-US" altLang="zh-CN" sz="1200" dirty="0">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函数曲线评价指标引入</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现状及存在问题</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567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复杂裂缝网络是非常规储层改造的核心，但对其复杂程度的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定量评价</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仍是当前压裂效果评估面临的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关键技术瓶颈</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微地震技术</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成本高昂</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需专用设备及监测井，存在定位误差和空间分辨率限制，结果存在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多解性</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，需多技术手段</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交叉验证</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现有压降分析技术已取得一定进展，然而</a:t>
            </a:r>
            <a:r>
              <a:rPr lang="zh-CN" altLang="en-US" sz="1600" dirty="0">
                <a:latin typeface="微软雅黑" panose="020B0503020204020204" pitchFamily="34" charset="-122"/>
                <a:ea typeface="微软雅黑" panose="020B0503020204020204" pitchFamily="34" charset="-122"/>
              </a:rPr>
              <a:t>其诊断能力停留在</a:t>
            </a:r>
            <a:r>
              <a:rPr lang="zh-CN" altLang="en-US" sz="1600" dirty="0">
                <a:solidFill>
                  <a:srgbClr val="FF0000"/>
                </a:solidFill>
                <a:latin typeface="微软雅黑" panose="020B0503020204020204" pitchFamily="34" charset="-122"/>
                <a:ea typeface="微软雅黑" panose="020B0503020204020204" pitchFamily="34" charset="-122"/>
              </a:rPr>
              <a:t>现象识别</a:t>
            </a:r>
            <a:r>
              <a:rPr lang="zh-CN" altLang="en-US" sz="1600" dirty="0">
                <a:latin typeface="微软雅黑" panose="020B0503020204020204" pitchFamily="34" charset="-122"/>
                <a:ea typeface="微软雅黑" panose="020B0503020204020204" pitchFamily="34" charset="-122"/>
              </a:rPr>
              <a:t>层面，未能形成体系化的</a:t>
            </a:r>
            <a:r>
              <a:rPr lang="zh-CN" altLang="en-US" sz="1600" dirty="0">
                <a:solidFill>
                  <a:srgbClr val="FF0000"/>
                </a:solidFill>
                <a:latin typeface="微软雅黑" panose="020B0503020204020204" pitchFamily="34" charset="-122"/>
                <a:ea typeface="微软雅黑" panose="020B0503020204020204" pitchFamily="34" charset="-122"/>
              </a:rPr>
              <a:t>定量</a:t>
            </a:r>
            <a:r>
              <a:rPr lang="zh-CN" altLang="en-US" sz="1600" dirty="0">
                <a:latin typeface="微软雅黑" panose="020B0503020204020204" pitchFamily="34" charset="-122"/>
                <a:ea typeface="微软雅黑" panose="020B0503020204020204" pitchFamily="34" charset="-122"/>
              </a:rPr>
              <a:t>评价方法 </a:t>
            </a:r>
            <a:endParaRPr lang="en-US" altLang="zh-CN" sz="1600"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custDataLst>
              <p:tags r:id="rId1"/>
            </p:custDataLst>
          </p:nvPr>
        </p:nvPicPr>
        <p:blipFill>
          <a:blip r:embed="rId2"/>
          <a:srcRect/>
          <a:stretch>
            <a:fillRect/>
          </a:stretch>
        </p:blipFill>
        <p:spPr>
          <a:xfrm>
            <a:off x="543395" y="2719067"/>
            <a:ext cx="5290657" cy="3148691"/>
          </a:xfrm>
          <a:prstGeom prst="rect">
            <a:avLst/>
          </a:prstGeom>
          <a:ln>
            <a:solidFill>
              <a:schemeClr val="tx1"/>
            </a:solidFill>
          </a:ln>
        </p:spPr>
      </p:pic>
      <p:sp>
        <p:nvSpPr>
          <p:cNvPr id="6" name="文本框 38"/>
          <p:cNvSpPr txBox="1"/>
          <p:nvPr>
            <p:custDataLst>
              <p:tags r:id="rId3"/>
            </p:custDataLst>
          </p:nvPr>
        </p:nvSpPr>
        <p:spPr>
          <a:xfrm>
            <a:off x="543560" y="6091555"/>
            <a:ext cx="529018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井第</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停泵期压降曲线</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6432550" y="2643505"/>
            <a:ext cx="5015865" cy="3329940"/>
          </a:xfrm>
          <a:prstGeom prst="rect">
            <a:avLst/>
          </a:prstGeom>
        </p:spPr>
      </p:pic>
      <p:sp>
        <p:nvSpPr>
          <p:cNvPr id="8" name="文本框 38"/>
          <p:cNvSpPr txBox="1"/>
          <p:nvPr>
            <p:custDataLst>
              <p:tags r:id="rId5"/>
            </p:custDataLst>
          </p:nvPr>
        </p:nvSpPr>
        <p:spPr>
          <a:xfrm>
            <a:off x="6432550" y="6091555"/>
            <a:ext cx="501586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函数一般表达式</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研究思路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645" y="1342390"/>
            <a:ext cx="11520170" cy="1250315"/>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spcBef>
                <a:spcPts val="0"/>
              </a:spcBef>
              <a:spcAft>
                <a:spcPts val="0"/>
              </a:spcAft>
              <a:buFont typeface="Wingdings" panose="05000000000000000000" pitchFamily="2" charset="2"/>
              <a:buChar char="l"/>
              <a:defRPr/>
            </a:pPr>
            <a:r>
              <a:rPr lang="zh-CN" altLang="en-US" sz="1600" dirty="0"/>
              <a:t>对停泵期压降曲线采用</a:t>
            </a:r>
            <a:r>
              <a:rPr lang="zh-CN" altLang="en-US" sz="1600" dirty="0">
                <a:solidFill>
                  <a:srgbClr val="FF0000"/>
                </a:solidFill>
              </a:rPr>
              <a:t>局部加权回归算法</a:t>
            </a:r>
            <a:r>
              <a:rPr lang="zh-CN" altLang="en-US" sz="1600" dirty="0"/>
              <a:t>（</a:t>
            </a:r>
            <a:r>
              <a:rPr lang="en-US" altLang="zh-CN" sz="1600" dirty="0"/>
              <a:t>LOWESS</a:t>
            </a:r>
            <a:r>
              <a:rPr lang="zh-CN" altLang="en-US" sz="1600" dirty="0"/>
              <a:t>）进行高频水锤噪音去除</a:t>
            </a:r>
            <a:r>
              <a:rPr lang="zh-CN" altLang="en-US" sz="1600" dirty="0">
                <a:cs typeface="Times New Roman" panose="02020603050405020304" pitchFamily="18" charset="0"/>
                <a:sym typeface="+mn-ea"/>
              </a:rPr>
              <a:t>，确保后续分析的准确性</a:t>
            </a:r>
            <a:endParaRPr lang="zh-CN" altLang="en-US" sz="1600" dirty="0">
              <a:cs typeface="Times New Roman" panose="02020603050405020304" pitchFamily="18" charset="0"/>
              <a:sym typeface="+mn-ea"/>
            </a:endParaRPr>
          </a:p>
          <a:p>
            <a:pPr marL="342265" indent="-342265" fontAlgn="base">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sym typeface="+mn-ea"/>
              </a:rPr>
              <a:t>使用</a:t>
            </a:r>
            <a:r>
              <a:rPr lang="zh-CN" altLang="en-US" sz="1600" dirty="0">
                <a:solidFill>
                  <a:srgbClr val="FF0000"/>
                </a:solidFill>
                <a:cs typeface="Times New Roman" panose="02020603050405020304" pitchFamily="18" charset="0"/>
                <a:sym typeface="+mn-ea"/>
              </a:rPr>
              <a:t>双指数衰减模型</a:t>
            </a:r>
            <a:r>
              <a:rPr lang="zh-CN" altLang="en-US" sz="1600" dirty="0">
                <a:cs typeface="Times New Roman" panose="02020603050405020304" pitchFamily="18" charset="0"/>
                <a:sym typeface="+mn-ea"/>
              </a:rPr>
              <a:t>拟合压降曲线的降落过程，避免</a:t>
            </a:r>
            <a:r>
              <a:rPr lang="zh-CN" altLang="en-US" sz="1600" dirty="0">
                <a:solidFill>
                  <a:srgbClr val="FF0000"/>
                </a:solidFill>
                <a:cs typeface="Times New Roman" panose="02020603050405020304" pitchFamily="18" charset="0"/>
                <a:sym typeface="+mn-ea"/>
              </a:rPr>
              <a:t>传感器精度不足</a:t>
            </a:r>
            <a:r>
              <a:rPr lang="zh-CN" altLang="en-US" sz="1600" dirty="0">
                <a:cs typeface="Times New Roman" panose="02020603050405020304" pitchFamily="18" charset="0"/>
                <a:sym typeface="+mn-ea"/>
              </a:rPr>
              <a:t>导致的数据</a:t>
            </a:r>
            <a:r>
              <a:rPr lang="zh-CN" altLang="en-US" sz="1600" dirty="0">
                <a:solidFill>
                  <a:srgbClr val="FF0000"/>
                </a:solidFill>
                <a:cs typeface="Times New Roman" panose="02020603050405020304" pitchFamily="18" charset="0"/>
                <a:sym typeface="+mn-ea"/>
              </a:rPr>
              <a:t>阶梯状下降</a:t>
            </a:r>
            <a:r>
              <a:rPr lang="zh-CN" altLang="en-US" sz="1600" dirty="0">
                <a:cs typeface="Times New Roman" panose="02020603050405020304" pitchFamily="18" charset="0"/>
                <a:sym typeface="+mn-ea"/>
              </a:rPr>
              <a:t>现象，恢复完整的压降演化序列</a:t>
            </a:r>
            <a:endParaRPr lang="en-US" altLang="zh-CN" sz="1600" dirty="0">
              <a:cs typeface="Times New Roman" panose="02020603050405020304" pitchFamily="18" charset="0"/>
              <a:sym typeface="+mn-ea"/>
            </a:endParaRPr>
          </a:p>
          <a:p>
            <a:pPr marL="342265" indent="-342265" fontAlgn="base">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sym typeface="+mn-ea"/>
              </a:rPr>
              <a:t>基于</a:t>
            </a:r>
            <a:r>
              <a:rPr lang="en-US" altLang="zh-CN" sz="1600" dirty="0">
                <a:solidFill>
                  <a:srgbClr val="FF0000"/>
                </a:solidFill>
                <a:cs typeface="Times New Roman" panose="02020603050405020304" pitchFamily="18" charset="0"/>
                <a:sym typeface="+mn-ea"/>
              </a:rPr>
              <a:t>G</a:t>
            </a:r>
            <a:r>
              <a:rPr lang="zh-CN" altLang="en-US" sz="1600" dirty="0">
                <a:solidFill>
                  <a:srgbClr val="FF0000"/>
                </a:solidFill>
                <a:cs typeface="Times New Roman" panose="02020603050405020304" pitchFamily="18" charset="0"/>
                <a:sym typeface="+mn-ea"/>
              </a:rPr>
              <a:t>函数</a:t>
            </a:r>
            <a:r>
              <a:rPr lang="zh-CN" altLang="en-US" sz="1600" dirty="0">
                <a:cs typeface="Times New Roman" panose="02020603050405020304" pitchFamily="18" charset="0"/>
                <a:sym typeface="+mn-ea"/>
              </a:rPr>
              <a:t>理论对处理后的压降曲线进行分析，提取</a:t>
            </a:r>
            <a:r>
              <a:rPr lang="zh-CN" altLang="en-US" sz="1600" dirty="0">
                <a:solidFill>
                  <a:srgbClr val="FF0000"/>
                </a:solidFill>
                <a:cs typeface="Times New Roman" panose="02020603050405020304" pitchFamily="18" charset="0"/>
                <a:sym typeface="+mn-ea"/>
              </a:rPr>
              <a:t>斜率变化</a:t>
            </a:r>
            <a:r>
              <a:rPr lang="zh-CN" altLang="en-US" sz="1600" dirty="0">
                <a:cs typeface="Times New Roman" panose="02020603050405020304" pitchFamily="18" charset="0"/>
                <a:sym typeface="+mn-ea"/>
              </a:rPr>
              <a:t>、曲线拐点等关键特征，刻画</a:t>
            </a:r>
            <a:r>
              <a:rPr lang="zh-CN" altLang="en-US" sz="1600" dirty="0">
                <a:solidFill>
                  <a:srgbClr val="FF0000"/>
                </a:solidFill>
                <a:cs typeface="Times New Roman" panose="02020603050405020304" pitchFamily="18" charset="0"/>
                <a:sym typeface="+mn-ea"/>
              </a:rPr>
              <a:t>滤失过程</a:t>
            </a:r>
            <a:r>
              <a:rPr lang="zh-CN" altLang="en-US" sz="1600" dirty="0">
                <a:cs typeface="Times New Roman" panose="02020603050405020304" pitchFamily="18" charset="0"/>
                <a:sym typeface="+mn-ea"/>
              </a:rPr>
              <a:t>的动态演化规律</a:t>
            </a:r>
            <a:endParaRPr lang="zh-CN" altLang="en-US" sz="1600" dirty="0">
              <a:cs typeface="Times New Roman" panose="02020603050405020304" pitchFamily="18" charset="0"/>
            </a:endParaRPr>
          </a:p>
        </p:txBody>
      </p:sp>
      <p:pic>
        <p:nvPicPr>
          <p:cNvPr id="6" name="图片 5"/>
          <p:cNvPicPr>
            <a:picLocks noChangeAspect="1"/>
          </p:cNvPicPr>
          <p:nvPr/>
        </p:nvPicPr>
        <p:blipFill>
          <a:blip r:embed="rId1"/>
          <a:srcRect/>
          <a:stretch>
            <a:fillRect/>
          </a:stretch>
        </p:blipFill>
        <p:spPr>
          <a:xfrm>
            <a:off x="5907405" y="2579370"/>
            <a:ext cx="5878195" cy="3419475"/>
          </a:xfrm>
          <a:prstGeom prst="rect">
            <a:avLst/>
          </a:prstGeom>
        </p:spPr>
      </p:pic>
      <p:pic>
        <p:nvPicPr>
          <p:cNvPr id="11" name="图片 10"/>
          <p:cNvPicPr>
            <a:picLocks noChangeAspect="1"/>
          </p:cNvPicPr>
          <p:nvPr/>
        </p:nvPicPr>
        <p:blipFill>
          <a:blip r:embed="rId2"/>
          <a:stretch>
            <a:fillRect/>
          </a:stretch>
        </p:blipFill>
        <p:spPr>
          <a:xfrm>
            <a:off x="3099435" y="2579370"/>
            <a:ext cx="2808000" cy="3369218"/>
          </a:xfrm>
          <a:prstGeom prst="rect">
            <a:avLst/>
          </a:prstGeom>
        </p:spPr>
      </p:pic>
      <p:pic>
        <p:nvPicPr>
          <p:cNvPr id="12" name="图片 11"/>
          <p:cNvPicPr>
            <a:picLocks noChangeAspect="1"/>
          </p:cNvPicPr>
          <p:nvPr/>
        </p:nvPicPr>
        <p:blipFill>
          <a:blip r:embed="rId3"/>
          <a:stretch>
            <a:fillRect/>
          </a:stretch>
        </p:blipFill>
        <p:spPr>
          <a:xfrm>
            <a:off x="334645" y="2560955"/>
            <a:ext cx="2808000" cy="3370344"/>
          </a:xfrm>
          <a:prstGeom prst="rect">
            <a:avLst/>
          </a:prstGeom>
        </p:spPr>
      </p:pic>
      <p:sp>
        <p:nvSpPr>
          <p:cNvPr id="17" name="文本框 38"/>
          <p:cNvSpPr txBox="1"/>
          <p:nvPr/>
        </p:nvSpPr>
        <p:spPr>
          <a:xfrm>
            <a:off x="430530" y="6091555"/>
            <a:ext cx="547751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实际停泵压力曲线（左）理想停泵压力曲线（右）</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矩形 18"/>
          <p:cNvSpPr/>
          <p:nvPr/>
        </p:nvSpPr>
        <p:spPr>
          <a:xfrm>
            <a:off x="786765" y="2707005"/>
            <a:ext cx="796290" cy="286512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7" name="文本框 26"/>
          <p:cNvSpPr txBox="1"/>
          <p:nvPr/>
        </p:nvSpPr>
        <p:spPr>
          <a:xfrm>
            <a:off x="786765" y="2827020"/>
            <a:ext cx="796290" cy="392430"/>
          </a:xfrm>
          <a:prstGeom prst="rect">
            <a:avLst/>
          </a:prstGeom>
          <a:noFill/>
          <a:ln>
            <a:noFill/>
          </a:ln>
        </p:spPr>
        <p:txBody>
          <a:bodyPr wrap="square"/>
          <a:lstStyle/>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水锤效应</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1" name="矩形 30"/>
          <p:cNvSpPr/>
          <p:nvPr/>
        </p:nvSpPr>
        <p:spPr>
          <a:xfrm>
            <a:off x="1576705" y="2707005"/>
            <a:ext cx="1499235" cy="2864485"/>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2" name="文本框 31"/>
          <p:cNvSpPr txBox="1"/>
          <p:nvPr/>
        </p:nvSpPr>
        <p:spPr>
          <a:xfrm>
            <a:off x="1790700" y="3943350"/>
            <a:ext cx="1089025" cy="39243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阶梯状下降</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3" name="文本框 38"/>
          <p:cNvSpPr txBox="1"/>
          <p:nvPr/>
        </p:nvSpPr>
        <p:spPr>
          <a:xfrm>
            <a:off x="6096000" y="6091555"/>
            <a:ext cx="56896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实际停泵压力曲线转化的</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曲线图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矩形 33"/>
          <p:cNvSpPr/>
          <p:nvPr/>
        </p:nvSpPr>
        <p:spPr>
          <a:xfrm>
            <a:off x="6408420" y="2707640"/>
            <a:ext cx="1602105" cy="289433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5" name="文本框 34"/>
          <p:cNvSpPr txBox="1"/>
          <p:nvPr/>
        </p:nvSpPr>
        <p:spPr>
          <a:xfrm>
            <a:off x="6945630" y="2986405"/>
            <a:ext cx="796290" cy="71628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剧烈波动</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cxnSp>
        <p:nvCxnSpPr>
          <p:cNvPr id="36" name="直接箭头连接符 35"/>
          <p:cNvCxnSpPr/>
          <p:nvPr/>
        </p:nvCxnSpPr>
        <p:spPr>
          <a:xfrm flipH="1">
            <a:off x="8608060" y="4596765"/>
            <a:ext cx="406400" cy="86360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7" name="直接箭头连接符 36"/>
          <p:cNvCxnSpPr/>
          <p:nvPr/>
        </p:nvCxnSpPr>
        <p:spPr>
          <a:xfrm>
            <a:off x="9044940" y="4605655"/>
            <a:ext cx="75565" cy="83947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8" name="直接箭头连接符 37"/>
          <p:cNvCxnSpPr/>
          <p:nvPr/>
        </p:nvCxnSpPr>
        <p:spPr>
          <a:xfrm>
            <a:off x="9069070" y="4601210"/>
            <a:ext cx="479425" cy="84391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9" name="文本框 38"/>
          <p:cNvSpPr txBox="1"/>
          <p:nvPr/>
        </p:nvSpPr>
        <p:spPr>
          <a:xfrm>
            <a:off x="8599805" y="3920490"/>
            <a:ext cx="949960" cy="593725"/>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长时间为</a:t>
            </a:r>
            <a:r>
              <a:rPr lang="en-US" altLang="zh-CN" sz="1200" b="1" dirty="0">
                <a:solidFill>
                  <a:srgbClr val="FF0000"/>
                </a:solidFill>
                <a:latin typeface="微软雅黑" panose="020B0503020204020204" pitchFamily="34" charset="-122"/>
                <a:ea typeface="微软雅黑" panose="020B0503020204020204" pitchFamily="34" charset="-122"/>
              </a:rPr>
              <a:t>0</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sp>
        <p:nvSpPr>
          <p:cNvPr id="40" name="矩形 39"/>
          <p:cNvSpPr/>
          <p:nvPr/>
        </p:nvSpPr>
        <p:spPr>
          <a:xfrm>
            <a:off x="10355580" y="5348605"/>
            <a:ext cx="359410"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1" name="矩形 40"/>
          <p:cNvSpPr/>
          <p:nvPr/>
        </p:nvSpPr>
        <p:spPr>
          <a:xfrm>
            <a:off x="9793605" y="5348605"/>
            <a:ext cx="225425"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2" name="矩形 41"/>
          <p:cNvSpPr/>
          <p:nvPr/>
        </p:nvSpPr>
        <p:spPr>
          <a:xfrm>
            <a:off x="10975975" y="5348605"/>
            <a:ext cx="347980"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3" name="文本框 42"/>
          <p:cNvSpPr txBox="1"/>
          <p:nvPr/>
        </p:nvSpPr>
        <p:spPr>
          <a:xfrm>
            <a:off x="10179685" y="4594860"/>
            <a:ext cx="796290" cy="71628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突变</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zh-CN" altLang="en-US" dirty="0">
                <a:solidFill>
                  <a:prstClr val="black"/>
                </a:solidFill>
                <a:latin typeface="微软雅黑" panose="020B0503020204020204" pitchFamily="34" charset="-122"/>
                <a:ea typeface="微软雅黑" panose="020B0503020204020204" pitchFamily="34" charset="-122"/>
                <a:sym typeface="+mn-ea"/>
              </a:rPr>
              <a:t>局部加权回归算法（</a:t>
            </a:r>
            <a:r>
              <a:rPr lang="en-US" altLang="zh-CN" dirty="0">
                <a:solidFill>
                  <a:prstClr val="black"/>
                </a:solidFill>
                <a:latin typeface="微软雅黑" panose="020B0503020204020204" pitchFamily="34" charset="-122"/>
                <a:ea typeface="微软雅黑" panose="020B0503020204020204" pitchFamily="34" charset="-122"/>
                <a:sym typeface="+mn-ea"/>
              </a:rPr>
              <a:t>LOWESS</a:t>
            </a:r>
            <a:r>
              <a:rPr lang="zh-CN" altLang="en-US" dirty="0">
                <a:solidFill>
                  <a:prstClr val="black"/>
                </a:solidFill>
                <a:latin typeface="微软雅黑" panose="020B0503020204020204" pitchFamily="34" charset="-122"/>
                <a:ea typeface="微软雅黑" panose="020B0503020204020204" pitchFamily="34" charset="-122"/>
                <a:sym typeface="+mn-ea"/>
              </a:rPr>
              <a:t>）和双指数衰减模型拟合，平滑压降曲线数据</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buFont typeface="Wingdings" panose="05000000000000000000" pitchFamily="2" charset="2"/>
              <a:buChar char="l"/>
              <a:defRPr/>
            </a:pPr>
            <a:r>
              <a:rPr lang="zh-CN" altLang="en-US" sz="1600" dirty="0"/>
              <a:t>采用</a:t>
            </a:r>
            <a:r>
              <a:rPr lang="zh-CN" altLang="en-US" sz="1600" dirty="0">
                <a:solidFill>
                  <a:srgbClr val="FF0000"/>
                </a:solidFill>
              </a:rPr>
              <a:t>局部加权回归算法</a:t>
            </a:r>
            <a:r>
              <a:rPr lang="zh-CN" altLang="en-US" sz="1600" dirty="0"/>
              <a:t>与</a:t>
            </a:r>
            <a:r>
              <a:rPr lang="zh-CN" altLang="en-US" sz="1600" dirty="0">
                <a:solidFill>
                  <a:srgbClr val="FF0000"/>
                </a:solidFill>
              </a:rPr>
              <a:t>双指数衰减模型</a:t>
            </a:r>
            <a:r>
              <a:rPr lang="zh-CN" altLang="en-US" sz="1600" dirty="0"/>
              <a:t>相结合的综合方法，对原始压降曲线数据实施系统性的</a:t>
            </a:r>
            <a:r>
              <a:rPr lang="zh-CN" altLang="en-US" sz="1600" dirty="0">
                <a:solidFill>
                  <a:srgbClr val="FF0000"/>
                </a:solidFill>
              </a:rPr>
              <a:t>平滑处理</a:t>
            </a:r>
            <a:r>
              <a:rPr lang="zh-CN" altLang="en-US" sz="1600" dirty="0"/>
              <a:t>与</a:t>
            </a:r>
            <a:r>
              <a:rPr lang="zh-CN" altLang="en-US" sz="1600" dirty="0">
                <a:solidFill>
                  <a:srgbClr val="FF0000"/>
                </a:solidFill>
              </a:rPr>
              <a:t>趋势恢复分析</a:t>
            </a:r>
            <a:endParaRPr lang="en-US" altLang="zh-CN" sz="1600" dirty="0">
              <a:solidFill>
                <a:srgbClr val="FF0000"/>
              </a:solidFill>
            </a:endParaRPr>
          </a:p>
          <a:p>
            <a:pPr marL="342265" indent="-342265" fontAlgn="base">
              <a:buFont typeface="Wingdings" panose="05000000000000000000" pitchFamily="2" charset="2"/>
              <a:buChar char="l"/>
              <a:defRPr/>
            </a:pPr>
            <a:r>
              <a:rPr lang="zh-CN" altLang="en-US" sz="1600" dirty="0">
                <a:cs typeface="Times New Roman" panose="02020603050405020304" pitchFamily="18" charset="0"/>
              </a:rPr>
              <a:t>采用</a:t>
            </a:r>
            <a:r>
              <a:rPr lang="zh-CN" altLang="en-US" sz="1600" dirty="0">
                <a:solidFill>
                  <a:srgbClr val="FF0000"/>
                </a:solidFill>
                <a:cs typeface="Times New Roman" panose="02020603050405020304" pitchFamily="18" charset="0"/>
              </a:rPr>
              <a:t>局部加权回归算法</a:t>
            </a:r>
            <a:r>
              <a:rPr lang="zh-CN" altLang="en-US" sz="1600" dirty="0">
                <a:cs typeface="Times New Roman" panose="02020603050405020304" pitchFamily="18" charset="0"/>
              </a:rPr>
              <a:t>对压降数据进行处理，能够有效去除</a:t>
            </a:r>
            <a:r>
              <a:rPr lang="zh-CN" altLang="en-US" sz="1600" dirty="0">
                <a:solidFill>
                  <a:srgbClr val="FF0000"/>
                </a:solidFill>
                <a:cs typeface="Times New Roman" panose="02020603050405020304" pitchFamily="18" charset="0"/>
              </a:rPr>
              <a:t>水锤效应</a:t>
            </a:r>
            <a:r>
              <a:rPr lang="zh-CN" altLang="en-US" sz="1600" dirty="0">
                <a:cs typeface="Times New Roman" panose="02020603050405020304" pitchFamily="18" charset="0"/>
              </a:rPr>
              <a:t>产生的</a:t>
            </a:r>
            <a:r>
              <a:rPr lang="zh-CN" altLang="en-US" sz="1600" dirty="0">
                <a:solidFill>
                  <a:srgbClr val="FF0000"/>
                </a:solidFill>
                <a:cs typeface="Times New Roman" panose="02020603050405020304" pitchFamily="18" charset="0"/>
              </a:rPr>
              <a:t>高频振荡噪音</a:t>
            </a:r>
            <a:r>
              <a:rPr lang="zh-CN" altLang="en-US" sz="1600" dirty="0">
                <a:cs typeface="Times New Roman" panose="02020603050405020304" pitchFamily="18" charset="0"/>
              </a:rPr>
              <a:t>，从而获得</a:t>
            </a:r>
            <a:r>
              <a:rPr lang="zh-CN" altLang="en-US" sz="1600" dirty="0">
                <a:solidFill>
                  <a:srgbClr val="FF0000"/>
                </a:solidFill>
                <a:cs typeface="Times New Roman" panose="02020603050405020304" pitchFamily="18" charset="0"/>
              </a:rPr>
              <a:t>相对平滑</a:t>
            </a:r>
            <a:r>
              <a:rPr lang="zh-CN" altLang="en-US" sz="1600" dirty="0">
                <a:cs typeface="Times New Roman" panose="02020603050405020304" pitchFamily="18" charset="0"/>
              </a:rPr>
              <a:t>的压降曲线</a:t>
            </a:r>
            <a:endParaRPr lang="en-US" altLang="zh-CN" sz="1600" dirty="0">
              <a:cs typeface="Times New Roman" panose="02020603050405020304" pitchFamily="18" charset="0"/>
            </a:endParaRPr>
          </a:p>
          <a:p>
            <a:pPr marL="342265" indent="-342265" fontAlgn="base">
              <a:buFont typeface="Wingdings" panose="05000000000000000000" pitchFamily="2" charset="2"/>
              <a:buChar char="l"/>
              <a:defRPr/>
            </a:pPr>
            <a:r>
              <a:rPr lang="zh-CN" altLang="en-US" sz="1600" dirty="0">
                <a:cs typeface="Times New Roman" panose="02020603050405020304" pitchFamily="18" charset="0"/>
              </a:rPr>
              <a:t>局部加权回归算法虽能</a:t>
            </a:r>
            <a:r>
              <a:rPr lang="zh-CN" altLang="en-US" sz="1600" dirty="0">
                <a:solidFill>
                  <a:srgbClr val="FF0000"/>
                </a:solidFill>
                <a:cs typeface="Times New Roman" panose="02020603050405020304" pitchFamily="18" charset="0"/>
              </a:rPr>
              <a:t>平滑随机噪声</a:t>
            </a:r>
            <a:r>
              <a:rPr lang="zh-CN" altLang="en-US" sz="1600" dirty="0">
                <a:cs typeface="Times New Roman" panose="02020603050405020304" pitchFamily="18" charset="0"/>
              </a:rPr>
              <a:t>，却</a:t>
            </a:r>
            <a:r>
              <a:rPr lang="zh-CN" altLang="en-US" sz="1600" dirty="0">
                <a:solidFill>
                  <a:srgbClr val="FF0000"/>
                </a:solidFill>
                <a:cs typeface="Times New Roman" panose="02020603050405020304" pitchFamily="18" charset="0"/>
              </a:rPr>
              <a:t>无法恢复</a:t>
            </a:r>
            <a:r>
              <a:rPr lang="zh-CN" altLang="en-US" sz="1600" dirty="0">
                <a:cs typeface="Times New Roman" panose="02020603050405020304" pitchFamily="18" charset="0"/>
              </a:rPr>
              <a:t>被</a:t>
            </a:r>
            <a:r>
              <a:rPr lang="zh-CN" altLang="en-US" sz="1600" dirty="0">
                <a:solidFill>
                  <a:srgbClr val="FF0000"/>
                </a:solidFill>
                <a:cs typeface="Times New Roman" panose="02020603050405020304" pitchFamily="18" charset="0"/>
              </a:rPr>
              <a:t>数据精度低</a:t>
            </a:r>
            <a:r>
              <a:rPr lang="zh-CN" altLang="en-US" sz="1600" dirty="0">
                <a:cs typeface="Times New Roman" panose="02020603050405020304" pitchFamily="18" charset="0"/>
              </a:rPr>
              <a:t>抹掉的细节，仍需要对</a:t>
            </a:r>
            <a:r>
              <a:rPr lang="zh-CN" altLang="en-US" sz="1600" dirty="0">
                <a:solidFill>
                  <a:srgbClr val="FF0000"/>
                </a:solidFill>
                <a:cs typeface="Times New Roman" panose="02020603050405020304" pitchFamily="18" charset="0"/>
              </a:rPr>
              <a:t>数据阶梯性下降</a:t>
            </a:r>
            <a:r>
              <a:rPr lang="zh-CN" altLang="en-US" sz="1600" dirty="0">
                <a:cs typeface="Times New Roman" panose="02020603050405020304" pitchFamily="18" charset="0"/>
              </a:rPr>
              <a:t>特征进行处理</a:t>
            </a:r>
            <a:endParaRPr lang="zh-CN" altLang="en-US" sz="1600" dirty="0">
              <a:cs typeface="Times New Roman" panose="02020603050405020304" pitchFamily="18" charset="0"/>
            </a:endParaRPr>
          </a:p>
        </p:txBody>
      </p:sp>
      <p:sp>
        <p:nvSpPr>
          <p:cNvPr id="6" name="文本框 38"/>
          <p:cNvSpPr txBox="1"/>
          <p:nvPr>
            <p:custDataLst>
              <p:tags r:id="rId1"/>
            </p:custDataLst>
          </p:nvPr>
        </p:nvSpPr>
        <p:spPr>
          <a:xfrm>
            <a:off x="564515" y="6091555"/>
            <a:ext cx="520446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38"/>
          <p:cNvSpPr txBox="1"/>
          <p:nvPr>
            <p:custDataLst>
              <p:tags r:id="rId2"/>
            </p:custDataLst>
          </p:nvPr>
        </p:nvSpPr>
        <p:spPr>
          <a:xfrm>
            <a:off x="6296660" y="6091555"/>
            <a:ext cx="524573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custDataLst>
              <p:tags r:id="rId3"/>
            </p:custDataLst>
          </p:nvPr>
        </p:nvPicPr>
        <p:blipFill>
          <a:blip r:embed="rId4"/>
          <a:srcRect/>
          <a:stretch>
            <a:fillRect/>
          </a:stretch>
        </p:blipFill>
        <p:spPr>
          <a:xfrm>
            <a:off x="564632" y="2713044"/>
            <a:ext cx="5203230" cy="3121938"/>
          </a:xfrm>
          <a:prstGeom prst="rect">
            <a:avLst/>
          </a:prstGeom>
          <a:ln>
            <a:solidFill>
              <a:schemeClr val="tx1"/>
            </a:solidFill>
          </a:ln>
        </p:spPr>
      </p:pic>
      <p:pic>
        <p:nvPicPr>
          <p:cNvPr id="17" name="图片 16"/>
          <p:cNvPicPr>
            <a:picLocks noChangeAspect="1"/>
          </p:cNvPicPr>
          <p:nvPr>
            <p:custDataLst>
              <p:tags r:id="rId5"/>
            </p:custDataLst>
          </p:nvPr>
        </p:nvPicPr>
        <p:blipFill>
          <a:blip r:embed="rId6"/>
          <a:srcRect/>
          <a:stretch>
            <a:fillRect/>
          </a:stretch>
        </p:blipFill>
        <p:spPr>
          <a:xfrm>
            <a:off x="6296766" y="2713044"/>
            <a:ext cx="5245703" cy="3147422"/>
          </a:xfrm>
          <a:prstGeom prst="rect">
            <a:avLst/>
          </a:prstGeom>
          <a:ln>
            <a:solidFill>
              <a:schemeClr val="tx1"/>
            </a:solidFill>
          </a:ln>
        </p:spPr>
      </p:pic>
      <p:sp>
        <p:nvSpPr>
          <p:cNvPr id="7"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zh-CN" altLang="en-US" dirty="0">
                <a:solidFill>
                  <a:prstClr val="black"/>
                </a:solidFill>
                <a:latin typeface="微软雅黑" panose="020B0503020204020204" pitchFamily="34" charset="-122"/>
                <a:ea typeface="微软雅黑" panose="020B0503020204020204" pitchFamily="34" charset="-122"/>
                <a:sym typeface="+mn-ea"/>
              </a:rPr>
              <a:t>局部加权回归算法（</a:t>
            </a:r>
            <a:r>
              <a:rPr lang="en-US" altLang="zh-CN" dirty="0">
                <a:solidFill>
                  <a:prstClr val="black"/>
                </a:solidFill>
                <a:latin typeface="微软雅黑" panose="020B0503020204020204" pitchFamily="34" charset="-122"/>
                <a:ea typeface="微软雅黑" panose="020B0503020204020204" pitchFamily="34" charset="-122"/>
                <a:sym typeface="+mn-ea"/>
              </a:rPr>
              <a:t>LOWESS</a:t>
            </a:r>
            <a:r>
              <a:rPr lang="zh-CN" altLang="en-US" dirty="0">
                <a:solidFill>
                  <a:prstClr val="black"/>
                </a:solidFill>
                <a:latin typeface="微软雅黑" panose="020B0503020204020204" pitchFamily="34" charset="-122"/>
                <a:ea typeface="微软雅黑" panose="020B0503020204020204" pitchFamily="34" charset="-122"/>
                <a:sym typeface="+mn-ea"/>
              </a:rPr>
              <a:t>）和双指数衰减模型拟合，平滑压降曲线数据</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buFont typeface="Wingdings" panose="05000000000000000000" pitchFamily="2" charset="2"/>
              <a:buChar char="l"/>
              <a:defRPr/>
            </a:pPr>
            <a:r>
              <a:rPr lang="zh-CN" altLang="en-US" sz="1600" dirty="0">
                <a:cs typeface="Times New Roman" panose="02020603050405020304" pitchFamily="18" charset="0"/>
              </a:rPr>
              <a:t>局部加权回归处理后数据仍存在的</a:t>
            </a:r>
            <a:r>
              <a:rPr lang="zh-CN" altLang="en-US" sz="1600" dirty="0">
                <a:solidFill>
                  <a:srgbClr val="FF0000"/>
                </a:solidFill>
                <a:cs typeface="Times New Roman" panose="02020603050405020304" pitchFamily="18" charset="0"/>
              </a:rPr>
              <a:t>阶梯状下降特征</a:t>
            </a:r>
            <a:r>
              <a:rPr lang="zh-CN" altLang="en-US" sz="1600" dirty="0">
                <a:cs typeface="Times New Roman" panose="02020603050405020304" pitchFamily="18" charset="0"/>
              </a:rPr>
              <a:t>，采用</a:t>
            </a:r>
            <a:r>
              <a:rPr lang="zh-CN" altLang="en-US" sz="1600" dirty="0">
                <a:solidFill>
                  <a:srgbClr val="FF0000"/>
                </a:solidFill>
                <a:cs typeface="Times New Roman" panose="02020603050405020304" pitchFamily="18" charset="0"/>
              </a:rPr>
              <a:t>双指数衰减模型</a:t>
            </a:r>
            <a:r>
              <a:rPr lang="zh-CN" altLang="en-US" sz="1600" dirty="0">
                <a:cs typeface="Times New Roman" panose="02020603050405020304" pitchFamily="18" charset="0"/>
              </a:rPr>
              <a:t>进行拟合，以</a:t>
            </a:r>
            <a:r>
              <a:rPr lang="zh-CN" altLang="en-US" sz="1600" dirty="0">
                <a:solidFill>
                  <a:srgbClr val="FF0000"/>
                </a:solidFill>
                <a:cs typeface="Times New Roman" panose="02020603050405020304" pitchFamily="18" charset="0"/>
              </a:rPr>
              <a:t>恢复</a:t>
            </a:r>
            <a:r>
              <a:rPr lang="zh-CN" altLang="en-US" sz="1600" dirty="0">
                <a:cs typeface="Times New Roman" panose="02020603050405020304" pitchFamily="18" charset="0"/>
              </a:rPr>
              <a:t>因数据精度低而丢失的</a:t>
            </a:r>
            <a:r>
              <a:rPr lang="zh-CN" altLang="en-US" sz="1600" dirty="0">
                <a:solidFill>
                  <a:srgbClr val="FF0000"/>
                </a:solidFill>
                <a:cs typeface="Times New Roman" panose="02020603050405020304" pitchFamily="18" charset="0"/>
              </a:rPr>
              <a:t>细节</a:t>
            </a:r>
            <a:endParaRPr lang="en-US" altLang="zh-CN" sz="1600" dirty="0">
              <a:solidFill>
                <a:srgbClr val="FF0000"/>
              </a:solidFill>
            </a:endParaRPr>
          </a:p>
          <a:p>
            <a:pPr marL="342265" indent="-342265" fontAlgn="base">
              <a:spcBef>
                <a:spcPts val="0"/>
              </a:spcBef>
              <a:spcAft>
                <a:spcPts val="0"/>
              </a:spcAft>
              <a:buFont typeface="Wingdings" panose="05000000000000000000" pitchFamily="2" charset="2"/>
              <a:buChar char="l"/>
              <a:defRPr/>
            </a:pPr>
            <a:r>
              <a:rPr lang="zh-CN" altLang="en-US" sz="1600" dirty="0"/>
              <a:t>左图为</a:t>
            </a:r>
            <a:r>
              <a:rPr lang="zh-CN" altLang="en-US" sz="1600" dirty="0">
                <a:solidFill>
                  <a:srgbClr val="FF0000"/>
                </a:solidFill>
              </a:rPr>
              <a:t>双指数模型</a:t>
            </a:r>
            <a:r>
              <a:rPr lang="zh-CN" altLang="en-US" sz="1600" dirty="0"/>
              <a:t>的压力拟合结果</a:t>
            </a:r>
            <a:r>
              <a:rPr lang="en-US" altLang="zh-CN" sz="1600" dirty="0"/>
              <a:t>,</a:t>
            </a:r>
            <a:r>
              <a:rPr lang="zh-CN" altLang="en-US" sz="1600" dirty="0"/>
              <a:t>曲线与实测点</a:t>
            </a:r>
            <a:r>
              <a:rPr lang="zh-CN" altLang="en-US" sz="1600" dirty="0">
                <a:solidFill>
                  <a:srgbClr val="FF0000"/>
                </a:solidFill>
              </a:rPr>
              <a:t>高度吻合</a:t>
            </a:r>
            <a:r>
              <a:rPr lang="en-US" altLang="zh-CN" sz="1600" dirty="0"/>
              <a:t>,</a:t>
            </a:r>
            <a:r>
              <a:rPr lang="zh-CN" altLang="en-US" sz="1600" dirty="0"/>
              <a:t>红色标记指示通过拟合得到</a:t>
            </a:r>
            <a:r>
              <a:rPr lang="zh-CN" altLang="en-US" sz="1600" dirty="0">
                <a:solidFill>
                  <a:srgbClr val="FF0000"/>
                </a:solidFill>
              </a:rPr>
              <a:t>瞬时停泵压力</a:t>
            </a:r>
            <a:r>
              <a:rPr lang="zh-CN" altLang="en-US" sz="1600" dirty="0"/>
              <a:t>为</a:t>
            </a:r>
            <a:r>
              <a:rPr lang="en-US" altLang="zh-CN" sz="1600" dirty="0"/>
              <a:t>62.86Mpa</a:t>
            </a:r>
            <a:endParaRPr lang="en-US" altLang="zh-CN" sz="1600" dirty="0">
              <a:cs typeface="Times New Roman" panose="02020603050405020304" pitchFamily="18" charset="0"/>
            </a:endParaRPr>
          </a:p>
          <a:p>
            <a:pPr marL="342265" indent="-342265" fontAlgn="base">
              <a:buFont typeface="Wingdings" panose="05000000000000000000" pitchFamily="2" charset="2"/>
              <a:buChar char="l"/>
              <a:defRPr/>
            </a:pPr>
            <a:r>
              <a:rPr lang="zh-CN" altLang="en-US" sz="1600" dirty="0"/>
              <a:t>采用</a:t>
            </a:r>
            <a:r>
              <a:rPr lang="zh-CN" altLang="en-US" sz="1600" dirty="0">
                <a:solidFill>
                  <a:srgbClr val="FF0000"/>
                </a:solidFill>
              </a:rPr>
              <a:t>局部加权回归算法</a:t>
            </a:r>
            <a:r>
              <a:rPr lang="zh-CN" altLang="en-US" sz="1600" dirty="0"/>
              <a:t>与</a:t>
            </a:r>
            <a:r>
              <a:rPr lang="zh-CN" altLang="en-US" sz="1600" dirty="0">
                <a:solidFill>
                  <a:srgbClr val="FF0000"/>
                </a:solidFill>
              </a:rPr>
              <a:t>双指数衰减模型</a:t>
            </a:r>
            <a:r>
              <a:rPr lang="zh-CN" altLang="en-US" sz="1600" dirty="0"/>
              <a:t>相结合的综合数据处理方法，最终获得的</a:t>
            </a:r>
            <a:r>
              <a:rPr lang="en-GB" altLang="zh-CN" sz="1600" dirty="0" err="1">
                <a:solidFill>
                  <a:srgbClr val="FF0000"/>
                </a:solidFill>
              </a:rPr>
              <a:t>Gdp</a:t>
            </a:r>
            <a:r>
              <a:rPr lang="en-GB" altLang="zh-CN" sz="1600" dirty="0">
                <a:solidFill>
                  <a:srgbClr val="FF0000"/>
                </a:solidFill>
              </a:rPr>
              <a:t>/dg-G</a:t>
            </a:r>
            <a:r>
              <a:rPr lang="zh-CN" altLang="en-US" sz="1600" dirty="0">
                <a:solidFill>
                  <a:srgbClr val="FF0000"/>
                </a:solidFill>
              </a:rPr>
              <a:t>诊断图版</a:t>
            </a:r>
            <a:r>
              <a:rPr lang="zh-CN" altLang="en-US" sz="1600" dirty="0"/>
              <a:t>具有</a:t>
            </a:r>
            <a:r>
              <a:rPr lang="zh-CN" altLang="en-US" sz="1600" dirty="0">
                <a:solidFill>
                  <a:srgbClr val="FF0000"/>
                </a:solidFill>
              </a:rPr>
              <a:t>良好的识别效果</a:t>
            </a:r>
            <a:endParaRPr lang="zh-CN" altLang="en-US" sz="1600" dirty="0">
              <a:solidFill>
                <a:srgbClr val="FF0000"/>
              </a:solidFill>
            </a:endParaRPr>
          </a:p>
        </p:txBody>
      </p:sp>
      <p:sp>
        <p:nvSpPr>
          <p:cNvPr id="6" name="文本框 38"/>
          <p:cNvSpPr txBox="1"/>
          <p:nvPr>
            <p:custDataLst>
              <p:tags r:id="rId1"/>
            </p:custDataLst>
          </p:nvPr>
        </p:nvSpPr>
        <p:spPr>
          <a:xfrm>
            <a:off x="564515" y="6091555"/>
            <a:ext cx="5204460" cy="260350"/>
          </a:xfrm>
          <a:prstGeom prst="rect">
            <a:avLst/>
          </a:prstGeom>
          <a:noFill/>
        </p:spPr>
        <p:txBody>
          <a:bodyPr wrap="square" rtlCol="0">
            <a:spAutoFit/>
          </a:bodyPr>
          <a:lstStyle/>
          <a:p>
            <a:pPr lvl="0"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双指数拟合处理后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38"/>
          <p:cNvSpPr txBox="1"/>
          <p:nvPr>
            <p:custDataLst>
              <p:tags r:id="rId2"/>
            </p:custDataLst>
          </p:nvPr>
        </p:nvSpPr>
        <p:spPr>
          <a:xfrm>
            <a:off x="6296660" y="6091555"/>
            <a:ext cx="5245735" cy="260350"/>
          </a:xfrm>
          <a:prstGeom prst="rect">
            <a:avLst/>
          </a:prstGeom>
          <a:noFill/>
        </p:spPr>
        <p:txBody>
          <a:bodyPr wrap="square" rtlCol="0">
            <a:spAutoFit/>
          </a:bodyPr>
          <a:lstStyle/>
          <a:p>
            <a:pPr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双指数拟合处理后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custDataLst>
              <p:tags r:id="rId3"/>
            </p:custDataLst>
          </p:nvPr>
        </p:nvPicPr>
        <p:blipFill>
          <a:blip r:embed="rId4"/>
          <a:srcRect/>
          <a:stretch>
            <a:fillRect/>
          </a:stretch>
        </p:blipFill>
        <p:spPr>
          <a:xfrm>
            <a:off x="564632" y="2713044"/>
            <a:ext cx="5203230" cy="3121938"/>
          </a:xfrm>
          <a:prstGeom prst="rect">
            <a:avLst/>
          </a:prstGeom>
          <a:ln>
            <a:solidFill>
              <a:schemeClr val="tx1"/>
            </a:solidFill>
          </a:ln>
        </p:spPr>
      </p:pic>
      <p:pic>
        <p:nvPicPr>
          <p:cNvPr id="17" name="图片 16"/>
          <p:cNvPicPr>
            <a:picLocks noChangeAspect="1"/>
          </p:cNvPicPr>
          <p:nvPr>
            <p:custDataLst>
              <p:tags r:id="rId5"/>
            </p:custDataLst>
          </p:nvPr>
        </p:nvPicPr>
        <p:blipFill>
          <a:blip r:embed="rId6"/>
          <a:srcRect/>
          <a:stretch>
            <a:fillRect/>
          </a:stretch>
        </p:blipFill>
        <p:spPr>
          <a:xfrm>
            <a:off x="6296766" y="2713044"/>
            <a:ext cx="5245703" cy="3147422"/>
          </a:xfrm>
          <a:prstGeom prst="rect">
            <a:avLst/>
          </a:prstGeom>
          <a:ln>
            <a:solidFill>
              <a:schemeClr val="tx1"/>
            </a:solidFill>
          </a:ln>
        </p:spPr>
      </p:pic>
      <p:sp>
        <p:nvSpPr>
          <p:cNvPr id="3"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458908"/>
          </a:xfrm>
          <a:prstGeom prst="rect">
            <a:avLst/>
          </a:prstGeom>
          <a:noFill/>
          <a:ln>
            <a:noFill/>
          </a:ln>
        </p:spPr>
        <p:txBody>
          <a:bodyPr wrap="square">
            <a:spAutoFit/>
          </a:bodyPr>
          <a:lstStyle/>
          <a:p>
            <a:pPr marL="802005" lvl="0"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sym typeface="+mn-ea"/>
              </a:rPr>
              <a:t>2</a:t>
            </a:r>
            <a:r>
              <a:rPr lang="zh-CN" altLang="en-US" dirty="0">
                <a:solidFill>
                  <a:prstClr val="black"/>
                </a:solidFill>
                <a:latin typeface="微软雅黑" panose="020B0503020204020204" pitchFamily="34" charset="-122"/>
                <a:ea typeface="微软雅黑" panose="020B0503020204020204" pitchFamily="34" charset="-122"/>
                <a:sym typeface="+mn-ea"/>
              </a:rPr>
              <a:t>、基于</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函数曲线峰值特征，构建裂缝网络复杂度评价方法</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buFont typeface="Wingdings" panose="05000000000000000000" charset="0"/>
                  <a:buChar char="l"/>
                </a:pPr>
                <a:r>
                  <a:rPr lang="zh-CN" altLang="en-US" sz="1600" dirty="0">
                    <a:cs typeface="Times New Roman" panose="02020603050405020304" pitchFamily="18" charset="0"/>
                  </a:rPr>
                  <a:t>峰值数量</a:t>
                </a:r>
                <a14:m>
                  <m:oMath xmlns:m="http://schemas.openxmlformats.org/officeDocument/2006/math">
                    <m:sSub>
                      <m:sSubPr>
                        <m:ctrlPr>
                          <a:rPr lang="en-US" altLang="zh-CN" sz="1600" i="1" dirty="0">
                            <a:latin typeface="Cambria Math" panose="02040503050406030204" pitchFamily="18" charset="0"/>
                            <a:cs typeface="Times New Roman" panose="02020603050405020304" pitchFamily="18" charset="0"/>
                          </a:rPr>
                        </m:ctrlPr>
                      </m:sSubPr>
                      <m:e>
                        <m:r>
                          <m:rPr>
                            <m:sty m:val="p"/>
                          </m:rPr>
                          <a:rPr lang="en-US" altLang="zh-CN" sz="1600" i="1" dirty="0">
                            <a:latin typeface="Cambria Math" panose="02040503050406030204" pitchFamily="18" charset="0"/>
                            <a:cs typeface="Times New Roman" panose="02020603050405020304" pitchFamily="18" charset="0"/>
                          </a:rPr>
                          <m:t>N</m:t>
                        </m:r>
                      </m:e>
                      <m:sub>
                        <m:r>
                          <m:rPr>
                            <m:sty m:val="p"/>
                          </m:rPr>
                          <a:rPr lang="en-US" altLang="zh-CN" sz="1600" i="1" dirty="0">
                            <a:latin typeface="Cambria Math" panose="02040503050406030204" pitchFamily="18" charset="0"/>
                            <a:cs typeface="Times New Roman" panose="02020603050405020304" pitchFamily="18" charset="0"/>
                          </a:rPr>
                          <m:t>peaks</m:t>
                        </m:r>
                      </m:sub>
                    </m:sSub>
                  </m:oMath>
                </a14:m>
                <a:r>
                  <a:rPr lang="zh-CN" altLang="en-US" sz="1600" dirty="0">
                    <a:cs typeface="Times New Roman" panose="02020603050405020304" pitchFamily="18" charset="0"/>
                  </a:rPr>
                  <a:t>反映裂缝闭合特征，</a:t>
                </a:r>
                <a:r>
                  <a:rPr lang="zh-CN" altLang="en-US" sz="1600" dirty="0">
                    <a:solidFill>
                      <a:srgbClr val="FF0000"/>
                    </a:solidFill>
                    <a:cs typeface="Times New Roman" panose="02020603050405020304" pitchFamily="18" charset="0"/>
                  </a:rPr>
                  <a:t>峰值数量</a:t>
                </a:r>
                <a:r>
                  <a:rPr lang="zh-CN" altLang="en-US" sz="1600" dirty="0">
                    <a:cs typeface="Times New Roman" panose="02020603050405020304" pitchFamily="18" charset="0"/>
                  </a:rPr>
                  <a:t>越多表明裂缝网络经历了更多次</a:t>
                </a:r>
                <a:r>
                  <a:rPr lang="zh-CN" altLang="en-US" sz="1600" dirty="0">
                    <a:solidFill>
                      <a:srgbClr val="FF0000"/>
                    </a:solidFill>
                    <a:cs typeface="Times New Roman" panose="02020603050405020304" pitchFamily="18" charset="0"/>
                  </a:rPr>
                  <a:t>闭合过程</a:t>
                </a:r>
                <a:r>
                  <a:rPr lang="zh-CN" altLang="en-US" sz="1600" dirty="0">
                    <a:cs typeface="Times New Roman" panose="02020603050405020304" pitchFamily="18" charset="0"/>
                  </a:rPr>
                  <a:t>，从而揭示出裂缝结构的</a:t>
                </a:r>
                <a:r>
                  <a:rPr lang="zh-CN" altLang="en-US" sz="1600" dirty="0">
                    <a:solidFill>
                      <a:srgbClr val="FF0000"/>
                    </a:solidFill>
                    <a:cs typeface="Times New Roman" panose="02020603050405020304" pitchFamily="18" charset="0"/>
                  </a:rPr>
                  <a:t>复杂程度</a:t>
                </a:r>
                <a:r>
                  <a:rPr lang="zh-CN" altLang="en-US" sz="1600" dirty="0">
                    <a:cs typeface="Times New Roman" panose="02020603050405020304" pitchFamily="18" charset="0"/>
                  </a:rPr>
                  <a:t>。</a:t>
                </a:r>
                <a:endParaRPr lang="en-US" altLang="zh-CN" sz="1600" dirty="0">
                  <a:cs typeface="Times New Roman" panose="02020603050405020304" pitchFamily="18" charset="0"/>
                </a:endParaRPr>
              </a:p>
              <a:p>
                <a:pPr marL="342900" indent="-342900">
                  <a:buFont typeface="Wingdings" panose="05000000000000000000" charset="0"/>
                  <a:buChar char="l"/>
                </a:pPr>
                <a:r>
                  <a:rPr lang="zh-CN" altLang="en-US" sz="1600" dirty="0"/>
                  <a:t>然而对实际数据集的统计分析发现，</a:t>
                </a:r>
                <a:r>
                  <a:rPr lang="zh-CN" altLang="en-US" sz="1600" dirty="0">
                    <a:solidFill>
                      <a:srgbClr val="FF0000"/>
                    </a:solidFill>
                  </a:rPr>
                  <a:t>峰值数量为零</a:t>
                </a:r>
                <a:r>
                  <a:rPr lang="zh-CN" altLang="en-US" sz="1600" dirty="0"/>
                  <a:t>的样本占比高达</a:t>
                </a:r>
                <a:r>
                  <a:rPr lang="en-US" altLang="zh-CN" sz="1600" dirty="0">
                    <a:solidFill>
                      <a:srgbClr val="FF0000"/>
                    </a:solidFill>
                  </a:rPr>
                  <a:t>38.6%</a:t>
                </a:r>
                <a:r>
                  <a:rPr lang="zh-CN" altLang="en-US" sz="1600" dirty="0"/>
                  <a:t>，且整体样本的峰值数量</a:t>
                </a:r>
                <a:r>
                  <a:rPr lang="zh-CN" altLang="en-US" sz="1600" dirty="0">
                    <a:solidFill>
                      <a:srgbClr val="FF0000"/>
                    </a:solidFill>
                  </a:rPr>
                  <a:t>差异较小</a:t>
                </a:r>
                <a:r>
                  <a:rPr lang="zh-CN" altLang="en-US" sz="1600" dirty="0"/>
                  <a:t>，</a:t>
                </a:r>
                <a:r>
                  <a:rPr lang="zh-CN" altLang="en-US" sz="1600" dirty="0">
                    <a:solidFill>
                      <a:srgbClr val="FF0000"/>
                    </a:solidFill>
                  </a:rPr>
                  <a:t>区分度不足</a:t>
                </a:r>
                <a:endParaRPr lang="en-US" altLang="zh-CN" sz="1600" dirty="0">
                  <a:solidFill>
                    <a:srgbClr val="FF0000"/>
                  </a:solidFill>
                </a:endParaRPr>
              </a:p>
              <a:p>
                <a:pPr marL="342900" indent="-342900">
                  <a:buFont typeface="Wingdings" panose="05000000000000000000" charset="0"/>
                  <a:buChar char="l"/>
                </a:pPr>
                <a:r>
                  <a:rPr lang="zh-CN" altLang="en-US" sz="1600" dirty="0"/>
                  <a:t>为此引入</a:t>
                </a:r>
                <a14:m>
                  <m:oMath xmlns:m="http://schemas.openxmlformats.org/officeDocument/2006/math">
                    <m:sSub>
                      <m:sSubPr>
                        <m:ctrlPr>
                          <a:rPr lang="ar-AE" altLang="zh-CN" i="1">
                            <a:latin typeface="Cambria Math" panose="02040503050406030204" pitchFamily="18" charset="0"/>
                          </a:rPr>
                        </m:ctrlPr>
                      </m:sSubPr>
                      <m:e>
                        <m:r>
                          <a:rPr lang="ar-AE" altLang="zh-CN" i="1">
                            <a:latin typeface="Cambria Math" panose="02040503050406030204" pitchFamily="18" charset="0"/>
                          </a:rPr>
                          <m:t>𝐶</m:t>
                        </m:r>
                      </m:e>
                      <m:sub>
                        <m:r>
                          <a:rPr lang="ar-AE" altLang="zh-CN" i="1">
                            <a:latin typeface="Cambria Math" panose="02040503050406030204" pitchFamily="18" charset="0"/>
                          </a:rPr>
                          <m:t>𝑝𝑟𝑜𝑓𝑖𝑙𝑒</m:t>
                        </m:r>
                      </m:sub>
                    </m:sSub>
                  </m:oMath>
                </a14:m>
                <a:r>
                  <a:rPr lang="zh-CN" altLang="en-US" sz="1600" dirty="0"/>
                  <a:t>参数刻画</a:t>
                </a:r>
                <a:r>
                  <a:rPr lang="zh-CN" altLang="en-US" sz="1600" dirty="0">
                    <a:solidFill>
                      <a:srgbClr val="FF0000"/>
                    </a:solidFill>
                  </a:rPr>
                  <a:t>曲线整体形态</a:t>
                </a:r>
                <a:r>
                  <a:rPr lang="zh-CN" altLang="en-US" sz="1600" dirty="0"/>
                  <a:t>以区分</a:t>
                </a:r>
                <a:r>
                  <a:rPr lang="zh-CN" altLang="en-US" sz="1600" dirty="0">
                    <a:solidFill>
                      <a:srgbClr val="FF0000"/>
                    </a:solidFill>
                  </a:rPr>
                  <a:t>零峰值情况</a:t>
                </a:r>
                <a:r>
                  <a:rPr lang="zh-CN" altLang="en-US" sz="1600" dirty="0"/>
                  <a:t>，并引入</a:t>
                </a:r>
                <a14:m>
                  <m:oMath xmlns:m="http://schemas.openxmlformats.org/officeDocument/2006/math">
                    <m:sSub>
                      <m:sSubPr>
                        <m:ctrlPr>
                          <a:rPr lang="ar-AE" altLang="zh-CN" i="1">
                            <a:latin typeface="Cambria Math" panose="02040503050406030204" pitchFamily="18" charset="0"/>
                          </a:rPr>
                        </m:ctrlPr>
                      </m:sSubPr>
                      <m:e>
                        <m:r>
                          <a:rPr lang="ar-AE" altLang="zh-CN" i="1">
                            <a:latin typeface="Cambria Math" panose="02040503050406030204" pitchFamily="18" charset="0"/>
                          </a:rPr>
                          <m:t>𝑄</m:t>
                        </m:r>
                      </m:e>
                      <m:sub>
                        <m:r>
                          <a:rPr lang="ar-AE" altLang="zh-CN" i="1">
                            <a:latin typeface="Cambria Math" panose="02040503050406030204" pitchFamily="18" charset="0"/>
                          </a:rPr>
                          <m:t>𝑝𝑒𝑎𝑘𝑠</m:t>
                        </m:r>
                      </m:sub>
                    </m:sSub>
                  </m:oMath>
                </a14:m>
                <a:r>
                  <a:rPr lang="zh-CN" altLang="en-US" sz="1600" dirty="0"/>
                  <a:t>参数量化</a:t>
                </a:r>
                <a:r>
                  <a:rPr lang="zh-CN" altLang="en-US" sz="1600" dirty="0">
                    <a:solidFill>
                      <a:srgbClr val="FF0000"/>
                    </a:solidFill>
                  </a:rPr>
                  <a:t>峰值影响力</a:t>
                </a:r>
                <a:r>
                  <a:rPr lang="zh-CN" altLang="en-US" sz="1600" dirty="0"/>
                  <a:t>以区分</a:t>
                </a:r>
                <a:r>
                  <a:rPr lang="zh-CN" altLang="en-US" sz="1600" dirty="0">
                    <a:solidFill>
                      <a:srgbClr val="FF0000"/>
                    </a:solidFill>
                  </a:rPr>
                  <a:t>相同峰值数量</a:t>
                </a:r>
                <a:r>
                  <a:rPr lang="zh-CN" altLang="en-US" sz="1600" dirty="0"/>
                  <a:t>的样本。</a:t>
                </a:r>
                <a:endParaRPr lang="zh-CN" altLang="en-US" sz="1600" dirty="0">
                  <a:cs typeface="Times New Roman" panose="02020603050405020304" pitchFamily="18" charset="0"/>
                </a:endParaRPr>
              </a:p>
            </p:txBody>
          </p:sp>
        </mc:Choice>
        <mc:Fallback>
          <p:sp>
            <p:nvSpPr>
              <p:cNvPr id="4" name="TextBox 2"/>
              <p:cNvSpPr txBox="1">
                <a:spLocks noRot="1" noChangeAspect="1" noMove="1" noResize="1" noEditPoints="1" noAdjustHandles="1" noChangeArrowheads="1" noChangeShapeType="1" noTextEdit="1"/>
              </p:cNvSpPr>
              <p:nvPr/>
            </p:nvSpPr>
            <p:spPr bwMode="auto">
              <a:xfrm>
                <a:off x="334645" y="1342390"/>
                <a:ext cx="11520170" cy="1230630"/>
              </a:xfrm>
              <a:prstGeom prst="rect">
                <a:avLst/>
              </a:prstGeom>
              <a:blipFill rotWithShape="1">
                <a:blip r:embed="rId1"/>
                <a:stretch>
                  <a:fillRect r="-154" b="-1032"/>
                </a:stretch>
              </a:blipFill>
              <a:ln w="9525">
                <a:noFill/>
                <a:miter lim="800000"/>
              </a:ln>
              <a:effectLst>
                <a:prstShdw prst="shdw17" dist="17961" dir="2700000">
                  <a:srgbClr val="4C7D23"/>
                </a:prstShdw>
              </a:effectLst>
            </p:spPr>
            <p:txBody>
              <a:bodyPr/>
              <a:lstStyle/>
              <a:p>
                <a:r>
                  <a:rPr lang="zh-CN" altLang="en-US">
                    <a:noFill/>
                  </a:rPr>
                  <a:t> </a:t>
                </a:r>
              </a:p>
            </p:txBody>
          </p:sp>
        </mc:Fallback>
      </mc:AlternateContent>
      <p:sp>
        <p:nvSpPr>
          <p:cNvPr id="6" name="文本框 38"/>
          <p:cNvSpPr txBox="1"/>
          <p:nvPr>
            <p:custDataLst>
              <p:tags r:id="rId2"/>
            </p:custDataLst>
          </p:nvPr>
        </p:nvSpPr>
        <p:spPr>
          <a:xfrm>
            <a:off x="564515" y="6091555"/>
            <a:ext cx="5204460" cy="260350"/>
          </a:xfrm>
          <a:prstGeom prst="rect">
            <a:avLst/>
          </a:prstGeom>
          <a:noFill/>
        </p:spPr>
        <p:txBody>
          <a:bodyPr wrap="square" rtlCol="0">
            <a:spAutoFit/>
          </a:bodyPr>
          <a:lstStyle/>
          <a:p>
            <a:pPr lvl="0"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峰值数量概率分布图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custDataLst>
              <p:tags r:id="rId3"/>
            </p:custDataLst>
          </p:nvPr>
        </p:nvPicPr>
        <p:blipFill>
          <a:blip r:embed="rId4"/>
          <a:srcRect/>
          <a:stretch>
            <a:fillRect/>
          </a:stretch>
        </p:blipFill>
        <p:spPr>
          <a:xfrm>
            <a:off x="659902" y="2713044"/>
            <a:ext cx="5012689" cy="3121938"/>
          </a:xfrm>
          <a:prstGeom prst="rect">
            <a:avLst/>
          </a:prstGeom>
          <a:ln>
            <a:solidFill>
              <a:schemeClr val="tx1"/>
            </a:solidFill>
          </a:ln>
        </p:spPr>
      </p:pic>
      <p:pic>
        <p:nvPicPr>
          <p:cNvPr id="8" name="图片 7"/>
          <p:cNvPicPr>
            <a:picLocks noChangeAspect="1"/>
          </p:cNvPicPr>
          <p:nvPr/>
        </p:nvPicPr>
        <p:blipFill>
          <a:blip r:embed="rId5"/>
          <a:stretch>
            <a:fillRect/>
          </a:stretch>
        </p:blipFill>
        <p:spPr>
          <a:xfrm>
            <a:off x="5768975" y="1410361"/>
            <a:ext cx="5722079" cy="3121938"/>
          </a:xfrm>
          <a:prstGeom prst="rect">
            <a:avLst/>
          </a:prstGeom>
        </p:spPr>
      </p:pic>
      <p:grpSp>
        <p:nvGrpSpPr>
          <p:cNvPr id="9" name="组合 8"/>
          <p:cNvGrpSpPr/>
          <p:nvPr/>
        </p:nvGrpSpPr>
        <p:grpSpPr>
          <a:xfrm>
            <a:off x="5768340" y="2713045"/>
            <a:ext cx="5701665" cy="3636645"/>
            <a:chOff x="382657" y="2919877"/>
            <a:chExt cx="3840463" cy="2478622"/>
          </a:xfrm>
        </p:grpSpPr>
        <p:sp>
          <p:nvSpPr>
            <p:cNvPr id="10" name="矩形: 圆角 38"/>
            <p:cNvSpPr/>
            <p:nvPr/>
          </p:nvSpPr>
          <p:spPr>
            <a:xfrm>
              <a:off x="383085" y="2919877"/>
              <a:ext cx="3840034" cy="2093299"/>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82657" y="5210666"/>
              <a:ext cx="3840463" cy="187833"/>
            </a:xfrm>
            <a:prstGeom prst="rect">
              <a:avLst/>
            </a:prstGeom>
            <a:noFill/>
          </p:spPr>
          <p:txBody>
            <a:bodyPr wrap="square">
              <a:spAutoFit/>
            </a:bodyPr>
            <a:lstStyle/>
            <a:p>
              <a:pPr algn="ctr"/>
              <a:r>
                <a:rPr lang="zh-CN" altLang="en-US" sz="1200" dirty="0">
                  <a:latin typeface="微软雅黑" panose="020B0503020204020204" pitchFamily="34" charset="-122"/>
                  <a:ea typeface="微软雅黑" panose="020B0503020204020204" pitchFamily="34" charset="-122"/>
                </a:rPr>
                <a:t>复杂度指数公式</a:t>
              </a:r>
              <a:endParaRPr lang="zh-CN" altLang="en-US" sz="1200" dirty="0">
                <a:latin typeface="微软雅黑" panose="020B0503020204020204" pitchFamily="34" charset="-122"/>
                <a:ea typeface="微软雅黑" panose="020B0503020204020204" pitchFamily="34" charset="-122"/>
              </a:endParaRPr>
            </a:p>
          </p:txBody>
        </p:sp>
      </p:grpSp>
      <p:pic>
        <p:nvPicPr>
          <p:cNvPr id="15" name="图片 14"/>
          <p:cNvPicPr>
            <a:picLocks noChangeAspect="1"/>
          </p:cNvPicPr>
          <p:nvPr/>
        </p:nvPicPr>
        <p:blipFill>
          <a:blip r:embed="rId6"/>
          <a:stretch>
            <a:fillRect/>
          </a:stretch>
        </p:blipFill>
        <p:spPr>
          <a:xfrm>
            <a:off x="5767947" y="1843679"/>
            <a:ext cx="5702056" cy="3207407"/>
          </a:xfrm>
          <a:prstGeom prst="rect">
            <a:avLst/>
          </a:prstGeom>
        </p:spPr>
      </p:pic>
      <p:pic>
        <p:nvPicPr>
          <p:cNvPr id="18" name="图片 17"/>
          <p:cNvPicPr>
            <a:picLocks noChangeAspect="1"/>
          </p:cNvPicPr>
          <p:nvPr/>
        </p:nvPicPr>
        <p:blipFill>
          <a:blip r:embed="rId7"/>
          <a:stretch>
            <a:fillRect/>
          </a:stretch>
        </p:blipFill>
        <p:spPr>
          <a:xfrm>
            <a:off x="5767947" y="3533449"/>
            <a:ext cx="2187789" cy="1230631"/>
          </a:xfrm>
          <a:prstGeom prst="rect">
            <a:avLst/>
          </a:prstGeom>
        </p:spPr>
      </p:pic>
      <p:pic>
        <p:nvPicPr>
          <p:cNvPr id="21" name="图片 20"/>
          <p:cNvPicPr>
            <a:picLocks noChangeAspect="1"/>
          </p:cNvPicPr>
          <p:nvPr/>
        </p:nvPicPr>
        <p:blipFill>
          <a:blip r:embed="rId8"/>
          <a:stretch>
            <a:fillRect/>
          </a:stretch>
        </p:blipFill>
        <p:spPr>
          <a:xfrm>
            <a:off x="5815110" y="4201686"/>
            <a:ext cx="2814904" cy="1583384"/>
          </a:xfrm>
          <a:prstGeom prst="rect">
            <a:avLst/>
          </a:prstGeom>
        </p:spPr>
      </p:pic>
      <p:pic>
        <p:nvPicPr>
          <p:cNvPr id="23" name="图片 22"/>
          <p:cNvPicPr>
            <a:picLocks noChangeAspect="1"/>
          </p:cNvPicPr>
          <p:nvPr/>
        </p:nvPicPr>
        <p:blipFill>
          <a:blip r:embed="rId9"/>
          <a:stretch>
            <a:fillRect/>
          </a:stretch>
        </p:blipFill>
        <p:spPr>
          <a:xfrm>
            <a:off x="8709792" y="4581961"/>
            <a:ext cx="1538983" cy="865678"/>
          </a:xfrm>
          <a:prstGeom prst="rect">
            <a:avLst/>
          </a:prstGeom>
        </p:spPr>
      </p:pic>
      <p:sp>
        <p:nvSpPr>
          <p:cNvPr id="24"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458908"/>
          </a:xfrm>
          <a:prstGeom prst="rect">
            <a:avLst/>
          </a:prstGeom>
          <a:noFill/>
          <a:ln>
            <a:noFill/>
          </a:ln>
        </p:spPr>
        <p:txBody>
          <a:bodyPr wrap="square">
            <a:spAutoFit/>
          </a:bodyPr>
          <a:lstStyle/>
          <a:p>
            <a:pPr marL="802005" lvl="0"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sym typeface="+mn-ea"/>
              </a:rPr>
              <a:t>2</a:t>
            </a:r>
            <a:r>
              <a:rPr lang="zh-CN" altLang="en-US" dirty="0">
                <a:solidFill>
                  <a:prstClr val="black"/>
                </a:solidFill>
                <a:latin typeface="微软雅黑" panose="020B0503020204020204" pitchFamily="34" charset="-122"/>
                <a:ea typeface="微软雅黑" panose="020B0503020204020204" pitchFamily="34" charset="-122"/>
                <a:sym typeface="+mn-ea"/>
              </a:rPr>
              <a:t>、基于</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函数曲线峰值特征，构建裂缝网络复杂度评价方法</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buFont typeface="Wingdings" panose="05000000000000000000" charset="0"/>
                  <a:buChar char="l"/>
                </a:pPr>
                <a:r>
                  <a:rPr lang="zh-CN" altLang="en-US" sz="1600" dirty="0"/>
                  <a:t>通过</a:t>
                </a:r>
                <a:r>
                  <a:rPr lang="en-GB" altLang="zh-CN" sz="1600" dirty="0"/>
                  <a:t>G</a:t>
                </a:r>
                <a:r>
                  <a:rPr lang="zh-CN" altLang="en-US" sz="1600" dirty="0"/>
                  <a:t>函数曲线特征分析实现了裂缝复杂度的评价，建立了包括最大曲率、标准差等在内的</a:t>
                </a:r>
                <a:r>
                  <a:rPr lang="zh-CN" altLang="en-US" sz="1600" dirty="0">
                    <a:solidFill>
                      <a:srgbClr val="FF0000"/>
                    </a:solidFill>
                  </a:rPr>
                  <a:t>裂缝复杂度定量表征</a:t>
                </a:r>
                <a:r>
                  <a:rPr lang="zh-CN" altLang="en-US" sz="1600" dirty="0"/>
                  <a:t>参数体系</a:t>
                </a:r>
                <a:endParaRPr lang="en-US" altLang="zh-CN" sz="1600" dirty="0"/>
              </a:p>
              <a:p>
                <a:pPr marL="342900" indent="-342900">
                  <a:buFont typeface="Wingdings" panose="05000000000000000000" charset="0"/>
                  <a:buChar char="l"/>
                </a:pPr>
                <a:r>
                  <a:rPr lang="zh-CN" altLang="en-US" sz="1600" dirty="0"/>
                  <a:t>曲线图展示了压力、</a:t>
                </a:r>
                <a14:m>
                  <m:oMath xmlns:m="http://schemas.openxmlformats.org/officeDocument/2006/math">
                    <m:r>
                      <a:rPr lang="zh-CN" altLang="en-US" sz="1600">
                        <a:latin typeface="Cambria Math" panose="02040503050406030204" pitchFamily="18" charset="0"/>
                      </a:rPr>
                      <m:t>𝐺𝑑𝑃</m:t>
                    </m:r>
                    <m:r>
                      <a:rPr lang="en-US" altLang="zh-CN" sz="1600">
                        <a:latin typeface="Cambria Math" panose="02040503050406030204" pitchFamily="18" charset="0"/>
                      </a:rPr>
                      <m:t>/</m:t>
                    </m:r>
                    <m:r>
                      <a:rPr lang="zh-CN" altLang="en-US" sz="1600">
                        <a:latin typeface="Cambria Math" panose="02040503050406030204" pitchFamily="18" charset="0"/>
                      </a:rPr>
                      <m:t>𝑑𝐺</m:t>
                    </m:r>
                  </m:oMath>
                </a14:m>
                <a:r>
                  <a:rPr lang="zh-CN" altLang="en-US" sz="1600" dirty="0"/>
                  <a:t>导数和</a:t>
                </a:r>
                <a14:m>
                  <m:oMath xmlns:m="http://schemas.openxmlformats.org/officeDocument/2006/math">
                    <m:r>
                      <a:rPr lang="zh-CN" altLang="en-US" sz="1600">
                        <a:latin typeface="Cambria Math" panose="02040503050406030204" pitchFamily="18" charset="0"/>
                      </a:rPr>
                      <m:t>𝑑𝑃</m:t>
                    </m:r>
                    <m:r>
                      <a:rPr lang="en-US" altLang="zh-CN" sz="1600">
                        <a:latin typeface="Cambria Math" panose="02040503050406030204" pitchFamily="18" charset="0"/>
                      </a:rPr>
                      <m:t>/</m:t>
                    </m:r>
                    <m:r>
                      <a:rPr lang="zh-CN" altLang="en-US" sz="1600">
                        <a:latin typeface="Cambria Math" panose="02040503050406030204" pitchFamily="18" charset="0"/>
                      </a:rPr>
                      <m:t>𝑑𝐺</m:t>
                    </m:r>
                  </m:oMath>
                </a14:m>
                <a:r>
                  <a:rPr lang="zh-CN" altLang="en-US" sz="1600" dirty="0"/>
                  <a:t>导数三条曲线随</a:t>
                </a:r>
                <a:r>
                  <a:rPr lang="en-GB" altLang="zh-CN" sz="1600" dirty="0"/>
                  <a:t>G</a:t>
                </a:r>
                <a:r>
                  <a:rPr lang="zh-CN" altLang="en-US" sz="1600" dirty="0"/>
                  <a:t>函数时间的变化规律，其中识别出</a:t>
                </a:r>
                <a:r>
                  <a:rPr lang="zh-CN" altLang="en-US" sz="1600" dirty="0">
                    <a:solidFill>
                      <a:srgbClr val="FF0000"/>
                    </a:solidFill>
                  </a:rPr>
                  <a:t>两个显著的峰值特征点</a:t>
                </a:r>
                <a:endParaRPr lang="en-US" altLang="zh-CN" sz="1600" dirty="0"/>
              </a:p>
              <a:p>
                <a:pPr marL="342900" indent="-342900">
                  <a:buFont typeface="Wingdings" panose="05000000000000000000" charset="0"/>
                  <a:buChar char="l"/>
                </a:pPr>
                <a:r>
                  <a:rPr lang="zh-CN" altLang="en-US" sz="1600" dirty="0"/>
                  <a:t>分析结果表明裂缝存在两个分支结构，通过</a:t>
                </a:r>
                <a14:m>
                  <m:oMath xmlns:m="http://schemas.openxmlformats.org/officeDocument/2006/math">
                    <m:sSub>
                      <m:sSubPr>
                        <m:ctrlPr>
                          <a:rPr lang="en-GB" altLang="zh-CN" sz="1600" i="1" dirty="0" smtClean="0">
                            <a:latin typeface="Cambria Math" panose="02040503050406030204" pitchFamily="18" charset="0"/>
                          </a:rPr>
                        </m:ctrlPr>
                      </m:sSubPr>
                      <m:e>
                        <m:r>
                          <m:rPr>
                            <m:sty m:val="p"/>
                          </m:rPr>
                          <a:rPr lang="en-GB" altLang="zh-CN" sz="1600" i="1" dirty="0">
                            <a:latin typeface="Cambria Math" panose="02040503050406030204" pitchFamily="18" charset="0"/>
                          </a:rPr>
                          <m:t>C</m:t>
                        </m:r>
                      </m:e>
                      <m:sub>
                        <m:r>
                          <a:rPr lang="en-US" altLang="zh-CN" sz="1600" b="0" i="1" dirty="0" smtClean="0">
                            <a:latin typeface="Cambria Math" panose="02040503050406030204" pitchFamily="18" charset="0"/>
                          </a:rPr>
                          <m:t>𝑝𝑟𝑜𝑓𝑖𝑙𝑒</m:t>
                        </m:r>
                      </m:sub>
                    </m:sSub>
                  </m:oMath>
                </a14:m>
                <a:r>
                  <a:rPr lang="zh-CN" altLang="en-US" sz="1600" dirty="0"/>
                  <a:t>和</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b="0" i="1" dirty="0" smtClean="0">
                            <a:latin typeface="Cambria Math" panose="02040503050406030204" pitchFamily="18" charset="0"/>
                          </a:rPr>
                          <m:t>𝑄</m:t>
                        </m:r>
                      </m:e>
                      <m:sub>
                        <m:r>
                          <a:rPr lang="en-US" altLang="zh-CN" sz="1600" b="0" i="1" dirty="0" smtClean="0">
                            <a:latin typeface="Cambria Math" panose="02040503050406030204" pitchFamily="18" charset="0"/>
                          </a:rPr>
                          <m:t>𝑝𝑒𝑎𝑘𝑠</m:t>
                        </m:r>
                      </m:sub>
                    </m:sSub>
                  </m:oMath>
                </a14:m>
                <a:r>
                  <a:rPr lang="zh-CN" altLang="en-US" sz="1600" dirty="0"/>
                  <a:t>参数可定量描述</a:t>
                </a:r>
                <a:r>
                  <a:rPr lang="zh-CN" altLang="en-US" sz="1600" dirty="0">
                    <a:solidFill>
                      <a:srgbClr val="FF0000"/>
                    </a:solidFill>
                  </a:rPr>
                  <a:t>裂缝的复杂程度和各分支的相对贡献</a:t>
                </a:r>
                <a:endParaRPr lang="en-US" altLang="zh-CN" sz="1600" dirty="0">
                  <a:solidFill>
                    <a:srgbClr val="FF0000"/>
                  </a:solidFill>
                </a:endParaRPr>
              </a:p>
              <a:p>
                <a:pPr marL="0" indent="0">
                  <a:buNone/>
                </a:pPr>
                <a:endParaRPr lang="en-US" altLang="zh-CN" sz="1600" dirty="0">
                  <a:solidFill>
                    <a:srgbClr val="FF0000"/>
                  </a:solidFill>
                  <a:cs typeface="Times New Roman" panose="02020603050405020304" pitchFamily="18" charset="0"/>
                </a:endParaRPr>
              </a:p>
            </p:txBody>
          </p:sp>
        </mc:Choice>
        <mc:Fallback>
          <p:sp>
            <p:nvSpPr>
              <p:cNvPr id="4" name="TextBox 2"/>
              <p:cNvSpPr txBox="1">
                <a:spLocks noRot="1" noChangeAspect="1" noMove="1" noResize="1" noEditPoints="1" noAdjustHandles="1" noChangeArrowheads="1" noChangeShapeType="1" noTextEdit="1"/>
              </p:cNvSpPr>
              <p:nvPr/>
            </p:nvSpPr>
            <p:spPr bwMode="auto">
              <a:xfrm>
                <a:off x="334645" y="1342390"/>
                <a:ext cx="11520170" cy="1230630"/>
              </a:xfrm>
              <a:prstGeom prst="rect">
                <a:avLst/>
              </a:prstGeom>
              <a:blipFill rotWithShape="1">
                <a:blip r:embed="rId1"/>
                <a:stretch>
                  <a:fillRect r="-154" b="-23013"/>
                </a:stretch>
              </a:blipFill>
              <a:ln w="9525">
                <a:noFill/>
                <a:miter lim="800000"/>
              </a:ln>
              <a:effectLst>
                <a:prstShdw prst="shdw17" dist="17961" dir="2700000">
                  <a:srgbClr val="4C7D23"/>
                </a:prstShdw>
              </a:effectLst>
            </p:spPr>
            <p:txBody>
              <a:bodyPr/>
              <a:lstStyle/>
              <a:p>
                <a:r>
                  <a:rPr lang="zh-CN" altLang="en-US">
                    <a:noFill/>
                  </a:rPr>
                  <a:t> </a:t>
                </a:r>
              </a:p>
            </p:txBody>
          </p:sp>
        </mc:Fallback>
      </mc:AlternateContent>
      <p:sp>
        <p:nvSpPr>
          <p:cNvPr id="6" name="文本框 38"/>
          <p:cNvSpPr txBox="1"/>
          <p:nvPr>
            <p:custDataLst>
              <p:tags r:id="rId2"/>
            </p:custDataLst>
          </p:nvPr>
        </p:nvSpPr>
        <p:spPr>
          <a:xfrm>
            <a:off x="102870" y="6091555"/>
            <a:ext cx="6527165" cy="260350"/>
          </a:xfrm>
          <a:prstGeom prst="rect">
            <a:avLst/>
          </a:prstGeom>
          <a:noFill/>
        </p:spPr>
        <p:txBody>
          <a:bodyPr wrap="square" rtlCol="0">
            <a:spAutoFit/>
          </a:bodyPr>
          <a:lstStyle/>
          <a:p>
            <a:pPr lvl="0"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典型井参数图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38"/>
          <p:cNvSpPr txBox="1"/>
          <p:nvPr>
            <p:custDataLst>
              <p:tags r:id="rId3"/>
            </p:custDataLst>
          </p:nvPr>
        </p:nvSpPr>
        <p:spPr>
          <a:xfrm>
            <a:off x="6699250" y="6091555"/>
            <a:ext cx="5396230" cy="260350"/>
          </a:xfrm>
          <a:prstGeom prst="rect">
            <a:avLst/>
          </a:prstGeom>
          <a:noFill/>
        </p:spPr>
        <p:txBody>
          <a:bodyPr wrap="square" rtlCol="0">
            <a:spAutoFit/>
          </a:bodyPr>
          <a:lstStyle/>
          <a:p>
            <a:pPr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典型</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4"/>
          <a:srcRect/>
          <a:stretch>
            <a:fillRect/>
          </a:stretch>
        </p:blipFill>
        <p:spPr>
          <a:xfrm>
            <a:off x="6630670" y="2645074"/>
            <a:ext cx="5465165" cy="3279099"/>
          </a:xfrm>
          <a:prstGeom prst="rect">
            <a:avLst/>
          </a:prstGeom>
        </p:spPr>
      </p:pic>
      <p:pic>
        <p:nvPicPr>
          <p:cNvPr id="23" name="图片 22"/>
          <p:cNvPicPr>
            <a:picLocks noChangeAspect="1"/>
          </p:cNvPicPr>
          <p:nvPr/>
        </p:nvPicPr>
        <p:blipFill>
          <a:blip r:embed="rId5"/>
          <a:srcRect/>
          <a:stretch>
            <a:fillRect/>
          </a:stretch>
        </p:blipFill>
        <p:spPr>
          <a:xfrm>
            <a:off x="102870" y="2757805"/>
            <a:ext cx="3162300" cy="2938780"/>
          </a:xfrm>
          <a:prstGeom prst="rect">
            <a:avLst/>
          </a:prstGeom>
        </p:spPr>
      </p:pic>
      <p:pic>
        <p:nvPicPr>
          <p:cNvPr id="25" name="图片 24"/>
          <p:cNvPicPr>
            <a:picLocks noChangeAspect="1"/>
          </p:cNvPicPr>
          <p:nvPr/>
        </p:nvPicPr>
        <p:blipFill>
          <a:blip r:embed="rId6"/>
          <a:srcRect/>
          <a:stretch>
            <a:fillRect/>
          </a:stretch>
        </p:blipFill>
        <p:spPr>
          <a:xfrm>
            <a:off x="3324225" y="2757170"/>
            <a:ext cx="3375025" cy="2940685"/>
          </a:xfrm>
          <a:prstGeom prst="rect">
            <a:avLst/>
          </a:prstGeom>
        </p:spPr>
      </p:pic>
      <p:sp>
        <p:nvSpPr>
          <p:cNvPr id="26"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2</a:t>
            </a:r>
            <a:r>
              <a:rPr lang="zh-CN" altLang="en-US" dirty="0">
                <a:solidFill>
                  <a:prstClr val="black"/>
                </a:solidFill>
                <a:latin typeface="微软雅黑" panose="020B0503020204020204" pitchFamily="34" charset="-122"/>
                <a:ea typeface="微软雅黑" panose="020B0503020204020204" pitchFamily="34" charset="-122"/>
                <a:sym typeface="+mn-ea"/>
              </a:rPr>
              <a:t>、基于</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函数曲线峰值特征，构建裂缝网络复杂度评价方法</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基于构建的裂缝复杂度评价方法，对泸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井共</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182</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段</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进行定量评价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分段、分井及分平台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统计分析，实现改造效果的多尺度比较与综合排序</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采用归一化与加权平均等方法，确保不同尺度与信号特征在综合评价中的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可比性与一致性</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1"/>
            </p:custDataLst>
          </p:nvPr>
        </p:nvGraphicFramePr>
        <p:xfrm>
          <a:off x="85090" y="2586355"/>
          <a:ext cx="3482340" cy="3486150"/>
        </p:xfrm>
        <a:graphic>
          <a:graphicData uri="http://schemas.openxmlformats.org/drawingml/2006/table">
            <a:tbl>
              <a:tblPr firstRow="1" bandRow="1">
                <a:tableStyleId>{5940675A-B579-460E-94D1-54222C63F5DA}</a:tableStyleId>
              </a:tblPr>
              <a:tblGrid>
                <a:gridCol w="754380"/>
                <a:gridCol w="629285"/>
                <a:gridCol w="532765"/>
                <a:gridCol w="539750"/>
                <a:gridCol w="1026160"/>
              </a:tblGrid>
              <a:tr h="232410">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井区</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平台</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段号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复杂度评分</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89.39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89.44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87.28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88.99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89.65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89.48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89.49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89.68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87.4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90.13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92.96</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a:latin typeface="微软雅黑" panose="020B0503020204020204" pitchFamily="34" charset="-122"/>
                          <a:ea typeface="微软雅黑" panose="020B0503020204020204" pitchFamily="34" charset="-122"/>
                        </a:rPr>
                        <a:t>89.4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H10</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89.62</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graphicFrame>
        <p:nvGraphicFramePr>
          <p:cNvPr id="6" name="表格 5"/>
          <p:cNvGraphicFramePr/>
          <p:nvPr>
            <p:custDataLst>
              <p:tags r:id="rId2"/>
            </p:custDataLst>
          </p:nvPr>
        </p:nvGraphicFramePr>
        <p:xfrm>
          <a:off x="3660775" y="2593975"/>
          <a:ext cx="3006725" cy="3477641"/>
        </p:xfrm>
        <a:graphic>
          <a:graphicData uri="http://schemas.openxmlformats.org/drawingml/2006/table">
            <a:tbl>
              <a:tblPr firstRow="1" bandRow="1">
                <a:tableStyleId>{5940675A-B579-460E-94D1-54222C63F5DA}</a:tableStyleId>
              </a:tblPr>
              <a:tblGrid>
                <a:gridCol w="548640"/>
                <a:gridCol w="466090"/>
                <a:gridCol w="465455"/>
                <a:gridCol w="466090"/>
                <a:gridCol w="1060450"/>
              </a:tblGrid>
              <a:tr h="231775">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井区</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平台</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a:solidFill>
                            <a:schemeClr val="bg1"/>
                          </a:solidFill>
                          <a:latin typeface="微软雅黑" panose="020B0503020204020204" pitchFamily="34" charset="-122"/>
                          <a:ea typeface="微软雅黑" panose="020B0503020204020204" pitchFamily="34" charset="-122"/>
                        </a:rPr>
                        <a:t>井号</a:t>
                      </a:r>
                      <a:endParaRPr lang="zh-CN" altLang="en-US" sz="1200" b="1" spc="6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段号</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fontAlgn="ctr">
                        <a:lnSpc>
                          <a:spcPct val="120000"/>
                        </a:lnSpc>
                      </a:pPr>
                      <a:r>
                        <a:rPr lang="zh-CN" altLang="en-US" sz="1200" b="1" spc="60" dirty="0">
                          <a:solidFill>
                            <a:schemeClr val="bg1"/>
                          </a:solidFill>
                          <a:latin typeface="微软雅黑" panose="020B0503020204020204" pitchFamily="34" charset="-122"/>
                          <a:ea typeface="微软雅黑" panose="020B0503020204020204" pitchFamily="34" charset="-122"/>
                        </a:rPr>
                        <a:t>复杂度评分</a:t>
                      </a:r>
                      <a:endParaRPr lang="zh-CN" altLang="en-US" sz="1200" b="1"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90.53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90.17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90.25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14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89.51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90.52</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90.05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12</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14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16</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90</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2410">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20</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91.19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231775">
                <a:tc>
                  <a:txBody>
                    <a:bodyPr/>
                    <a:lstStyle/>
                    <a:p>
                      <a:pPr algn="ctr" fontAlgn="ct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a:latin typeface="微软雅黑" panose="020B0503020204020204" pitchFamily="34" charset="-122"/>
                          <a:ea typeface="微软雅黑" panose="020B0503020204020204" pitchFamily="34" charset="-122"/>
                        </a:rPr>
                        <a:t>21</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90.03</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graphicFrame>
        <p:nvGraphicFramePr>
          <p:cNvPr id="8" name="表格 7"/>
          <p:cNvGraphicFramePr/>
          <p:nvPr>
            <p:custDataLst>
              <p:tags r:id="rId3"/>
            </p:custDataLst>
          </p:nvPr>
        </p:nvGraphicFramePr>
        <p:xfrm>
          <a:off x="6760845" y="2588260"/>
          <a:ext cx="3407410" cy="3496945"/>
        </p:xfrm>
        <a:graphic>
          <a:graphicData uri="http://schemas.openxmlformats.org/drawingml/2006/table">
            <a:tbl>
              <a:tblPr firstRow="1" bandRow="1">
                <a:tableStyleId>{5940675A-B579-460E-94D1-54222C63F5DA}</a:tableStyleId>
              </a:tblPr>
              <a:tblGrid>
                <a:gridCol w="2172970"/>
                <a:gridCol w="1234440"/>
              </a:tblGrid>
              <a:tr h="488950">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井号</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复杂度</a:t>
                      </a:r>
                      <a:endParaRPr lang="zh-CN" altLang="en-US" sz="1200" b="1" spc="120" dirty="0">
                        <a:solidFill>
                          <a:schemeClr val="bg1"/>
                        </a:solidFill>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评分</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r>
              <a:tr h="30099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89.58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35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90.29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16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89.98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35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90.28</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99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99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90.17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35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90.66</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99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90.63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35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a:latin typeface="微软雅黑" panose="020B0503020204020204" pitchFamily="34" charset="-122"/>
                          <a:ea typeface="微软雅黑" panose="020B0503020204020204" pitchFamily="34" charset="-122"/>
                        </a:rPr>
                        <a:t>90.62</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00990">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90.4</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graphicFrame>
        <p:nvGraphicFramePr>
          <p:cNvPr id="9" name="表格 8"/>
          <p:cNvGraphicFramePr/>
          <p:nvPr>
            <p:custDataLst>
              <p:tags r:id="rId4"/>
            </p:custDataLst>
          </p:nvPr>
        </p:nvGraphicFramePr>
        <p:xfrm>
          <a:off x="10261600" y="3848100"/>
          <a:ext cx="1844040" cy="1381125"/>
        </p:xfrm>
        <a:graphic>
          <a:graphicData uri="http://schemas.openxmlformats.org/drawingml/2006/table">
            <a:tbl>
              <a:tblPr firstRow="1" bandRow="1">
                <a:tableStyleId>{5940675A-B579-460E-94D1-54222C63F5DA}</a:tableStyleId>
              </a:tblPr>
              <a:tblGrid>
                <a:gridCol w="922020"/>
                <a:gridCol w="922020"/>
              </a:tblGrid>
              <a:tr h="460375">
                <a:tc>
                  <a:txBody>
                    <a:bodyPr/>
                    <a:lstStyle/>
                    <a:p>
                      <a:pPr algn="ctr">
                        <a:buNone/>
                      </a:pPr>
                      <a:r>
                        <a:rPr lang="zh-CN" altLang="en-US" sz="1200" b="1" dirty="0">
                          <a:solidFill>
                            <a:schemeClr val="bg1"/>
                          </a:solidFill>
                          <a:latin typeface="微软雅黑" panose="020B0503020204020204" pitchFamily="34" charset="-122"/>
                          <a:ea typeface="微软雅黑" panose="020B0503020204020204" pitchFamily="34" charset="-122"/>
                        </a:rPr>
                        <a:t>平台</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solidFill>
                      <a:srgbClr val="FFC000"/>
                    </a:solidFill>
                  </a:tcPr>
                </a:tc>
                <a:tc>
                  <a:txBody>
                    <a:bodyPr/>
                    <a:lstStyle/>
                    <a:p>
                      <a:pPr algn="ctr">
                        <a:buNone/>
                      </a:pPr>
                      <a:r>
                        <a:rPr lang="zh-CN" altLang="en-US" sz="1200" b="1" dirty="0">
                          <a:solidFill>
                            <a:schemeClr val="bg1"/>
                          </a:solidFill>
                          <a:latin typeface="微软雅黑" panose="020B0503020204020204" pitchFamily="34" charset="-122"/>
                          <a:ea typeface="微软雅黑" panose="020B0503020204020204" pitchFamily="34" charset="-122"/>
                        </a:rPr>
                        <a:t>复杂度</a:t>
                      </a:r>
                      <a:endParaRPr lang="zh-CN" altLang="en-US" sz="1200" b="1" dirty="0">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dirty="0">
                          <a:solidFill>
                            <a:schemeClr val="bg1"/>
                          </a:solidFill>
                          <a:latin typeface="微软雅黑" panose="020B0503020204020204" pitchFamily="34" charset="-122"/>
                          <a:ea typeface="微软雅黑" panose="020B0503020204020204" pitchFamily="34" charset="-122"/>
                        </a:rPr>
                        <a:t>评分</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solidFill>
                      <a:srgbClr val="FFC000"/>
                    </a:solidFill>
                  </a:tcPr>
                </a:tc>
              </a:tr>
              <a:tr h="460375">
                <a:tc>
                  <a:txBody>
                    <a:bodyPr/>
                    <a:lstStyle/>
                    <a:p>
                      <a:pPr algn="ctr">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lstStyle/>
                    <a:p>
                      <a:pPr algn="ctr" fontAlgn="ctr"/>
                      <a:r>
                        <a:rPr lang="en-US" altLang="zh-CN" sz="1200">
                          <a:latin typeface="微软雅黑" panose="020B0503020204020204" pitchFamily="34" charset="-122"/>
                          <a:ea typeface="微软雅黑" panose="020B0503020204020204" pitchFamily="34" charset="-122"/>
                        </a:rPr>
                        <a:t>90.13</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460375">
                <a:tc>
                  <a:txBody>
                    <a:bodyPr/>
                    <a:lstStyle/>
                    <a:p>
                      <a:pPr algn="ctr">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井区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90.58</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评价指标间相关性与权重分析</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分别</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和千米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进行相关性分析，绘制相关性热力图，得到指标间的相关性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小波变换、</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函数、有效用液指数、停泵压降</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呈较高正相关，是表征压裂效果的核心指标</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函数曲线量化与停泵压降正相关性最高</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R≈0.82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各指标根据与EUR和千米EUR的相关性作为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权重排序</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依据</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4" descr="指标相关性热力图"/>
          <p:cNvPicPr>
            <a:picLocks noChangeAspect="1"/>
          </p:cNvPicPr>
          <p:nvPr/>
        </p:nvPicPr>
        <p:blipFill>
          <a:blip r:embed="rId1"/>
          <a:stretch>
            <a:fillRect/>
          </a:stretch>
        </p:blipFill>
        <p:spPr>
          <a:xfrm>
            <a:off x="216535" y="2594610"/>
            <a:ext cx="3813154" cy="3420000"/>
          </a:xfrm>
          <a:prstGeom prst="rect">
            <a:avLst/>
          </a:prstGeom>
        </p:spPr>
      </p:pic>
      <p:pic>
        <p:nvPicPr>
          <p:cNvPr id="10" name="图片 9" descr="指标相关性热力图-改造体积"/>
          <p:cNvPicPr>
            <a:picLocks noChangeAspect="1"/>
          </p:cNvPicPr>
          <p:nvPr/>
        </p:nvPicPr>
        <p:blipFill>
          <a:blip r:embed="rId2"/>
          <a:stretch>
            <a:fillRect/>
          </a:stretch>
        </p:blipFill>
        <p:spPr>
          <a:xfrm>
            <a:off x="8100060" y="2594610"/>
            <a:ext cx="3884161" cy="3420000"/>
          </a:xfrm>
          <a:prstGeom prst="rect">
            <a:avLst/>
          </a:prstGeom>
        </p:spPr>
      </p:pic>
      <p:pic>
        <p:nvPicPr>
          <p:cNvPr id="11" name="图片 10" descr="指标相关性热力图-复杂度"/>
          <p:cNvPicPr>
            <a:picLocks noChangeAspect="1"/>
          </p:cNvPicPr>
          <p:nvPr/>
        </p:nvPicPr>
        <p:blipFill>
          <a:blip r:embed="rId3"/>
          <a:stretch>
            <a:fillRect/>
          </a:stretch>
        </p:blipFill>
        <p:spPr>
          <a:xfrm>
            <a:off x="4316730" y="2594610"/>
            <a:ext cx="3557640" cy="3420000"/>
          </a:xfrm>
          <a:prstGeom prst="rect">
            <a:avLst/>
          </a:prstGeom>
        </p:spPr>
      </p:pic>
      <p:sp>
        <p:nvSpPr>
          <p:cNvPr id="14" name="文本框 38"/>
          <p:cNvSpPr txBox="1"/>
          <p:nvPr>
            <p:custDataLst>
              <p:tags r:id="rId4"/>
            </p:custDataLst>
          </p:nvPr>
        </p:nvSpPr>
        <p:spPr>
          <a:xfrm>
            <a:off x="334645" y="6074410"/>
            <a:ext cx="392938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项指标与</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EUR</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相关性分析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38"/>
          <p:cNvSpPr txBox="1"/>
          <p:nvPr>
            <p:custDataLst>
              <p:tags r:id="rId5"/>
            </p:custDataLst>
          </p:nvPr>
        </p:nvSpPr>
        <p:spPr>
          <a:xfrm>
            <a:off x="4316730" y="6079490"/>
            <a:ext cx="355790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改造体积评价指标与</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EUR</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相关性分析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38"/>
          <p:cNvSpPr txBox="1"/>
          <p:nvPr>
            <p:custDataLst>
              <p:tags r:id="rId6"/>
            </p:custDataLst>
          </p:nvPr>
        </p:nvSpPr>
        <p:spPr>
          <a:xfrm>
            <a:off x="8100695" y="6084570"/>
            <a:ext cx="388302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裂缝复杂度评价指标与</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EUR</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相关性分析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评价指标间相关性与权重分析</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成果二、开展评价指标间相关性与权重分析，建立三维两级量化评价结构</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依据指标的物理含义与响应特征，将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项指标划分为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裂缝复杂度</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裂缝导流能力</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三大类别</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三类指标从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规模、结构、能力</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三方面刻画压裂改造效果，可实现对压裂效果的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多维度、系统性评价</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以指标间相关性规律为基础，明确指标间重要性排序，构建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三维两级量化结构</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，使评价体系具有工程适用性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圆角矩形 6"/>
          <p:cNvSpPr/>
          <p:nvPr/>
        </p:nvSpPr>
        <p:spPr>
          <a:xfrm>
            <a:off x="1507490" y="2654300"/>
            <a:ext cx="1800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改造体积</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5912850" y="2646045"/>
            <a:ext cx="1800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裂缝复杂度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9587595" y="2646045"/>
            <a:ext cx="1620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裂缝导流能力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2" name="圆角矩形 31"/>
          <p:cNvSpPr/>
          <p:nvPr/>
        </p:nvSpPr>
        <p:spPr>
          <a:xfrm>
            <a:off x="168998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小波变换</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圆角矩形 32"/>
          <p:cNvSpPr/>
          <p:nvPr/>
        </p:nvSpPr>
        <p:spPr>
          <a:xfrm>
            <a:off x="268312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水击边界指数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4" name="圆角矩形 33"/>
          <p:cNvSpPr/>
          <p:nvPr/>
        </p:nvSpPr>
        <p:spPr>
          <a:xfrm>
            <a:off x="367626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有效用液指数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5" name="圆角矩形 34"/>
          <p:cNvSpPr/>
          <p:nvPr/>
        </p:nvSpPr>
        <p:spPr>
          <a:xfrm>
            <a:off x="4992370" y="3529965"/>
            <a:ext cx="54000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施工曲线诊断</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7033510"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水击衰减系数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805395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G函数曲线量化</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圆角矩形 38"/>
          <p:cNvSpPr/>
          <p:nvPr/>
        </p:nvSpPr>
        <p:spPr>
          <a:xfrm>
            <a:off x="10093960" y="3520440"/>
            <a:ext cx="54000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裂缝支撑指数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0" name="圆角矩形 39"/>
          <p:cNvSpPr/>
          <p:nvPr/>
        </p:nvSpPr>
        <p:spPr>
          <a:xfrm>
            <a:off x="696595" y="3529965"/>
            <a:ext cx="54000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圆角矩形 40"/>
          <p:cNvSpPr/>
          <p:nvPr/>
        </p:nvSpPr>
        <p:spPr>
          <a:xfrm>
            <a:off x="601306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停泵压降</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左大括号 5"/>
          <p:cNvSpPr/>
          <p:nvPr/>
        </p:nvSpPr>
        <p:spPr>
          <a:xfrm rot="5400000">
            <a:off x="2244090" y="1814195"/>
            <a:ext cx="325755" cy="3094990"/>
          </a:xfrm>
          <a:prstGeom prst="leftBrac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3" name="左大括号 2"/>
          <p:cNvSpPr/>
          <p:nvPr/>
        </p:nvSpPr>
        <p:spPr>
          <a:xfrm rot="5400000">
            <a:off x="10194290" y="3181985"/>
            <a:ext cx="327660" cy="358775"/>
          </a:xfrm>
          <a:prstGeom prst="leftBrac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5" name="左大括号 14"/>
          <p:cNvSpPr/>
          <p:nvPr/>
        </p:nvSpPr>
        <p:spPr>
          <a:xfrm rot="5400000">
            <a:off x="6620510" y="1827530"/>
            <a:ext cx="328930" cy="3086100"/>
          </a:xfrm>
          <a:prstGeom prst="leftBrace">
            <a:avLst>
              <a:gd name="adj1" fmla="val 8333"/>
              <a:gd name="adj2" fmla="val 49985"/>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 name="加号 7"/>
          <p:cNvSpPr/>
          <p:nvPr/>
        </p:nvSpPr>
        <p:spPr>
          <a:xfrm>
            <a:off x="4352290" y="2710180"/>
            <a:ext cx="475615" cy="475615"/>
          </a:xfrm>
          <a:prstGeom prst="mathPlus">
            <a:avLst>
              <a:gd name="adj1" fmla="val 21762"/>
            </a:avLst>
          </a:prstGeom>
          <a:solidFill>
            <a:schemeClr val="tx1"/>
          </a:solidFill>
          <a:ln w="12700">
            <a:solidFill>
              <a:schemeClr val="tx1"/>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9" name="加号 8"/>
          <p:cNvSpPr/>
          <p:nvPr/>
        </p:nvSpPr>
        <p:spPr>
          <a:xfrm>
            <a:off x="8412480" y="2710180"/>
            <a:ext cx="475615" cy="475615"/>
          </a:xfrm>
          <a:prstGeom prst="mathPlus">
            <a:avLst>
              <a:gd name="adj1" fmla="val 21762"/>
            </a:avLst>
          </a:prstGeom>
          <a:solidFill>
            <a:schemeClr val="tx1"/>
          </a:solidFill>
          <a:ln w="12700">
            <a:solidFill>
              <a:schemeClr val="tx1"/>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93" name="文本框 38"/>
          <p:cNvSpPr txBox="1"/>
          <p:nvPr>
            <p:custDataLst>
              <p:tags r:id="rId1"/>
            </p:custDataLst>
          </p:nvPr>
        </p:nvSpPr>
        <p:spPr>
          <a:xfrm>
            <a:off x="696595" y="6086475"/>
            <a:ext cx="1051052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三维两级综合评价指标</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三</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成果一、开展了压裂效果评价技术对比研究，确立了多技术融合的评价技术体系框架</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成果二、开展评价指标间相关性与权重分析，建立三维两级量化评价结构</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、开展各指标层次分析法，初步确立各指标权重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层次分析法</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）是一种</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多准则决策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方法，适用于难以</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完全定量分析</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的问题</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通过建立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目标层、准则层（子准则层）与样本层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，实现多因素分层比较与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权重确定</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判断矩阵与一致性检验</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，确保权重计算科学合理、结果稳定可靠</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圆角矩形 7"/>
          <p:cNvSpPr/>
          <p:nvPr/>
        </p:nvSpPr>
        <p:spPr>
          <a:xfrm>
            <a:off x="6107430" y="2614295"/>
            <a:ext cx="1476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确定指标体系</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9" name="圆角矩形 8"/>
          <p:cNvSpPr/>
          <p:nvPr/>
        </p:nvSpPr>
        <p:spPr>
          <a:xfrm>
            <a:off x="8180965" y="2623820"/>
            <a:ext cx="147574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构建判断矩阵</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0" name="圆角矩形 9"/>
          <p:cNvSpPr/>
          <p:nvPr/>
        </p:nvSpPr>
        <p:spPr>
          <a:xfrm>
            <a:off x="10254240" y="2614295"/>
            <a:ext cx="147574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计算权重向量</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（层次单排序）</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8180705" y="4297045"/>
            <a:ext cx="1476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调整判断矩阵</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2" name="圆角矩形 11"/>
          <p:cNvSpPr/>
          <p:nvPr/>
        </p:nvSpPr>
        <p:spPr>
          <a:xfrm>
            <a:off x="10252710" y="4350635"/>
            <a:ext cx="1476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层次总排序</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3" name="流程图: 决策 12"/>
          <p:cNvSpPr/>
          <p:nvPr/>
        </p:nvSpPr>
        <p:spPr>
          <a:xfrm>
            <a:off x="10126345" y="5164705"/>
            <a:ext cx="1728000" cy="647700"/>
          </a:xfrm>
          <a:prstGeom prst="flowChartDecision">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一致性</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检验</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4" name="流程图: 决策 13"/>
          <p:cNvSpPr/>
          <p:nvPr/>
        </p:nvSpPr>
        <p:spPr>
          <a:xfrm>
            <a:off x="10126345" y="3428615"/>
            <a:ext cx="1728000" cy="647700"/>
          </a:xfrm>
          <a:prstGeom prst="flowChartDecision">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一致性</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检验</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10252710" y="6086725"/>
            <a:ext cx="1476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分析结果</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17" name="直接箭头连接符 16"/>
          <p:cNvCxnSpPr>
            <a:stCxn id="8" idx="3"/>
            <a:endCxn id="9" idx="1"/>
          </p:cNvCxnSpPr>
          <p:nvPr/>
        </p:nvCxnSpPr>
        <p:spPr>
          <a:xfrm>
            <a:off x="7583170" y="2884170"/>
            <a:ext cx="597535" cy="9525"/>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9" idx="3"/>
            <a:endCxn id="10" idx="1"/>
          </p:cNvCxnSpPr>
          <p:nvPr/>
        </p:nvCxnSpPr>
        <p:spPr>
          <a:xfrm flipV="1">
            <a:off x="9656445" y="2884170"/>
            <a:ext cx="597535" cy="9525"/>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10" idx="2"/>
            <a:endCxn id="14" idx="0"/>
          </p:cNvCxnSpPr>
          <p:nvPr/>
        </p:nvCxnSpPr>
        <p:spPr>
          <a:xfrm flipH="1">
            <a:off x="10990580" y="3154045"/>
            <a:ext cx="1270" cy="27432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14" idx="2"/>
            <a:endCxn id="12" idx="0"/>
          </p:cNvCxnSpPr>
          <p:nvPr/>
        </p:nvCxnSpPr>
        <p:spPr>
          <a:xfrm>
            <a:off x="10990580" y="4076065"/>
            <a:ext cx="0" cy="27432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12" idx="2"/>
            <a:endCxn id="13" idx="0"/>
          </p:cNvCxnSpPr>
          <p:nvPr/>
        </p:nvCxnSpPr>
        <p:spPr>
          <a:xfrm>
            <a:off x="10990580" y="4890135"/>
            <a:ext cx="0" cy="27432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3" idx="2"/>
            <a:endCxn id="15" idx="0"/>
          </p:cNvCxnSpPr>
          <p:nvPr/>
        </p:nvCxnSpPr>
        <p:spPr>
          <a:xfrm>
            <a:off x="10990580" y="5812155"/>
            <a:ext cx="0" cy="27432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3" name="肘形连接符 22"/>
          <p:cNvCxnSpPr>
            <a:stCxn id="14" idx="1"/>
            <a:endCxn id="11" idx="3"/>
          </p:cNvCxnSpPr>
          <p:nvPr/>
        </p:nvCxnSpPr>
        <p:spPr>
          <a:xfrm rot="10800000" flipV="1">
            <a:off x="9656445" y="3752215"/>
            <a:ext cx="469900" cy="814705"/>
          </a:xfrm>
          <a:prstGeom prst="bentConnector3">
            <a:avLst>
              <a:gd name="adj1" fmla="val 50000"/>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4" name="肘形连接符 23"/>
          <p:cNvCxnSpPr>
            <a:stCxn id="13" idx="1"/>
            <a:endCxn id="11" idx="3"/>
          </p:cNvCxnSpPr>
          <p:nvPr/>
        </p:nvCxnSpPr>
        <p:spPr>
          <a:xfrm rot="10800000">
            <a:off x="9656445" y="4566920"/>
            <a:ext cx="469900" cy="921385"/>
          </a:xfrm>
          <a:prstGeom prst="bentConnector3">
            <a:avLst>
              <a:gd name="adj1" fmla="val 50000"/>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11186795" y="3989705"/>
            <a:ext cx="829945" cy="33909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满足</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1186795" y="4890135"/>
            <a:ext cx="829945" cy="33909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满足</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27" name="直接箭头连接符 26"/>
          <p:cNvCxnSpPr>
            <a:stCxn id="11" idx="0"/>
            <a:endCxn id="9" idx="2"/>
          </p:cNvCxnSpPr>
          <p:nvPr/>
        </p:nvCxnSpPr>
        <p:spPr>
          <a:xfrm flipV="1">
            <a:off x="8918575" y="3163570"/>
            <a:ext cx="0" cy="1133475"/>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9037955" y="5129530"/>
            <a:ext cx="824865" cy="33909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不满足</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9037955" y="3749040"/>
            <a:ext cx="824865" cy="33909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不满足</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2708275" y="2713990"/>
            <a:ext cx="126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决策目标</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843915" y="3359785"/>
            <a:ext cx="90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2881200" y="335978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4918280" y="335978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394335" y="4269740"/>
            <a:ext cx="90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1389585" y="426974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4" name="矩形 33"/>
          <p:cNvSpPr/>
          <p:nvPr/>
        </p:nvSpPr>
        <p:spPr>
          <a:xfrm>
            <a:off x="2384630" y="426974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5" name="矩形 34"/>
          <p:cNvSpPr/>
          <p:nvPr/>
        </p:nvSpPr>
        <p:spPr>
          <a:xfrm>
            <a:off x="376555" y="5409565"/>
            <a:ext cx="90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样本</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36" name="矩形 35"/>
          <p:cNvSpPr/>
          <p:nvPr/>
        </p:nvSpPr>
        <p:spPr>
          <a:xfrm>
            <a:off x="2374470" y="540639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样本</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7" name="矩形 36"/>
          <p:cNvSpPr/>
          <p:nvPr/>
        </p:nvSpPr>
        <p:spPr>
          <a:xfrm>
            <a:off x="4372180" y="540956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sym typeface="+mn-ea"/>
              </a:rPr>
              <a:t>样本</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38" name="矩形 37"/>
          <p:cNvSpPr/>
          <p:nvPr/>
        </p:nvSpPr>
        <p:spPr>
          <a:xfrm>
            <a:off x="3379675" y="426656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4374720" y="426974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5369765" y="426974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1" name="矩形 40"/>
          <p:cNvSpPr/>
          <p:nvPr/>
        </p:nvSpPr>
        <p:spPr>
          <a:xfrm>
            <a:off x="1375615" y="540639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样本</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2" name="矩形 41"/>
          <p:cNvSpPr/>
          <p:nvPr/>
        </p:nvSpPr>
        <p:spPr>
          <a:xfrm>
            <a:off x="3373325" y="540639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sym typeface="+mn-ea"/>
              </a:rPr>
              <a:t>样本</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43" name="矩形 42"/>
          <p:cNvSpPr/>
          <p:nvPr/>
        </p:nvSpPr>
        <p:spPr>
          <a:xfrm>
            <a:off x="5371035" y="540956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sym typeface="+mn-ea"/>
              </a:rPr>
              <a:t>样本</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cxnSp>
        <p:nvCxnSpPr>
          <p:cNvPr id="44" name="直接连接符 43"/>
          <p:cNvCxnSpPr>
            <a:stCxn id="3" idx="2"/>
            <a:endCxn id="32" idx="0"/>
          </p:cNvCxnSpPr>
          <p:nvPr/>
        </p:nvCxnSpPr>
        <p:spPr>
          <a:xfrm flipH="1">
            <a:off x="844550" y="3719830"/>
            <a:ext cx="44958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5" name="直接连接符 44"/>
          <p:cNvCxnSpPr>
            <a:stCxn id="3" idx="2"/>
            <a:endCxn id="33" idx="0"/>
          </p:cNvCxnSpPr>
          <p:nvPr/>
        </p:nvCxnSpPr>
        <p:spPr>
          <a:xfrm>
            <a:off x="1294130" y="3719830"/>
            <a:ext cx="54546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6" name="直接连接符 45"/>
          <p:cNvCxnSpPr>
            <a:stCxn id="3" idx="2"/>
            <a:endCxn id="34" idx="0"/>
          </p:cNvCxnSpPr>
          <p:nvPr/>
        </p:nvCxnSpPr>
        <p:spPr>
          <a:xfrm>
            <a:off x="1294130" y="3719830"/>
            <a:ext cx="154051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7" name="直接连接符 46"/>
          <p:cNvCxnSpPr>
            <a:stCxn id="3" idx="2"/>
            <a:endCxn id="38" idx="0"/>
          </p:cNvCxnSpPr>
          <p:nvPr/>
        </p:nvCxnSpPr>
        <p:spPr>
          <a:xfrm>
            <a:off x="1294130" y="3719830"/>
            <a:ext cx="2535555" cy="5467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8" name="直接连接符 47"/>
          <p:cNvCxnSpPr>
            <a:stCxn id="3" idx="2"/>
            <a:endCxn id="39" idx="0"/>
          </p:cNvCxnSpPr>
          <p:nvPr/>
        </p:nvCxnSpPr>
        <p:spPr>
          <a:xfrm>
            <a:off x="1294130" y="3719830"/>
            <a:ext cx="353060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9" name="直接连接符 48"/>
          <p:cNvCxnSpPr>
            <a:stCxn id="3" idx="2"/>
            <a:endCxn id="40" idx="0"/>
          </p:cNvCxnSpPr>
          <p:nvPr/>
        </p:nvCxnSpPr>
        <p:spPr>
          <a:xfrm>
            <a:off x="1294130" y="3719830"/>
            <a:ext cx="452564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32" idx="0"/>
            <a:endCxn id="6" idx="2"/>
          </p:cNvCxnSpPr>
          <p:nvPr/>
        </p:nvCxnSpPr>
        <p:spPr>
          <a:xfrm flipV="1">
            <a:off x="844550" y="3719830"/>
            <a:ext cx="248666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1" name="直接连接符 50"/>
          <p:cNvCxnSpPr>
            <a:stCxn id="33" idx="0"/>
            <a:endCxn id="6" idx="2"/>
          </p:cNvCxnSpPr>
          <p:nvPr/>
        </p:nvCxnSpPr>
        <p:spPr>
          <a:xfrm flipV="1">
            <a:off x="1839595" y="3719830"/>
            <a:ext cx="149161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2" name="直接连接符 51"/>
          <p:cNvCxnSpPr>
            <a:stCxn id="34" idx="0"/>
            <a:endCxn id="6" idx="2"/>
          </p:cNvCxnSpPr>
          <p:nvPr/>
        </p:nvCxnSpPr>
        <p:spPr>
          <a:xfrm flipV="1">
            <a:off x="2834640" y="3719830"/>
            <a:ext cx="49657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5" name="直接连接符 54"/>
          <p:cNvCxnSpPr>
            <a:stCxn id="40" idx="0"/>
            <a:endCxn id="6" idx="2"/>
          </p:cNvCxnSpPr>
          <p:nvPr/>
        </p:nvCxnSpPr>
        <p:spPr>
          <a:xfrm flipH="1" flipV="1">
            <a:off x="3331210" y="3719830"/>
            <a:ext cx="248856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6" name="直接连接符 55"/>
          <p:cNvCxnSpPr>
            <a:stCxn id="6" idx="2"/>
            <a:endCxn id="38" idx="0"/>
          </p:cNvCxnSpPr>
          <p:nvPr/>
        </p:nvCxnSpPr>
        <p:spPr>
          <a:xfrm>
            <a:off x="3331210" y="3719830"/>
            <a:ext cx="498475" cy="5467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9" name="直接连接符 58"/>
          <p:cNvCxnSpPr>
            <a:stCxn id="39" idx="0"/>
            <a:endCxn id="6" idx="2"/>
          </p:cNvCxnSpPr>
          <p:nvPr/>
        </p:nvCxnSpPr>
        <p:spPr>
          <a:xfrm flipH="1" flipV="1">
            <a:off x="3331210" y="3719830"/>
            <a:ext cx="149352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0" name="直接连接符 59"/>
          <p:cNvCxnSpPr>
            <a:stCxn id="7" idx="2"/>
            <a:endCxn id="32" idx="0"/>
          </p:cNvCxnSpPr>
          <p:nvPr/>
        </p:nvCxnSpPr>
        <p:spPr>
          <a:xfrm flipH="1">
            <a:off x="844550" y="3719830"/>
            <a:ext cx="452374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1" name="直接连接符 60"/>
          <p:cNvCxnSpPr>
            <a:stCxn id="7" idx="2"/>
            <a:endCxn id="33" idx="0"/>
          </p:cNvCxnSpPr>
          <p:nvPr/>
        </p:nvCxnSpPr>
        <p:spPr>
          <a:xfrm flipH="1">
            <a:off x="1839595" y="3719830"/>
            <a:ext cx="352869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2" name="直接连接符 61"/>
          <p:cNvCxnSpPr>
            <a:stCxn id="7" idx="2"/>
            <a:endCxn id="34" idx="0"/>
          </p:cNvCxnSpPr>
          <p:nvPr/>
        </p:nvCxnSpPr>
        <p:spPr>
          <a:xfrm flipH="1">
            <a:off x="2834640" y="3719830"/>
            <a:ext cx="253365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3" name="直接连接符 62"/>
          <p:cNvCxnSpPr>
            <a:stCxn id="7" idx="2"/>
            <a:endCxn id="38" idx="0"/>
          </p:cNvCxnSpPr>
          <p:nvPr/>
        </p:nvCxnSpPr>
        <p:spPr>
          <a:xfrm flipH="1">
            <a:off x="3829685" y="3719830"/>
            <a:ext cx="1538605" cy="5467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4" name="直接连接符 63"/>
          <p:cNvCxnSpPr>
            <a:stCxn id="7" idx="2"/>
            <a:endCxn id="39" idx="0"/>
          </p:cNvCxnSpPr>
          <p:nvPr/>
        </p:nvCxnSpPr>
        <p:spPr>
          <a:xfrm flipH="1">
            <a:off x="4824730" y="3719830"/>
            <a:ext cx="54356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7" idx="2"/>
            <a:endCxn id="40" idx="0"/>
          </p:cNvCxnSpPr>
          <p:nvPr/>
        </p:nvCxnSpPr>
        <p:spPr>
          <a:xfrm>
            <a:off x="5368290" y="3719830"/>
            <a:ext cx="45148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31" idx="2"/>
            <a:endCxn id="3" idx="0"/>
          </p:cNvCxnSpPr>
          <p:nvPr/>
        </p:nvCxnSpPr>
        <p:spPr>
          <a:xfrm flipH="1">
            <a:off x="1294130" y="3074035"/>
            <a:ext cx="2044065"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31" idx="2"/>
            <a:endCxn id="6" idx="0"/>
          </p:cNvCxnSpPr>
          <p:nvPr/>
        </p:nvCxnSpPr>
        <p:spPr>
          <a:xfrm flipH="1">
            <a:off x="3331210" y="3074035"/>
            <a:ext cx="6985"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31" idx="2"/>
            <a:endCxn id="7" idx="0"/>
          </p:cNvCxnSpPr>
          <p:nvPr/>
        </p:nvCxnSpPr>
        <p:spPr>
          <a:xfrm>
            <a:off x="3338195" y="3074035"/>
            <a:ext cx="2030095"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0" name="直接连接符 69"/>
          <p:cNvCxnSpPr>
            <a:stCxn id="32" idx="2"/>
            <a:endCxn id="35" idx="0"/>
          </p:cNvCxnSpPr>
          <p:nvPr/>
        </p:nvCxnSpPr>
        <p:spPr>
          <a:xfrm flipH="1">
            <a:off x="826770" y="4629785"/>
            <a:ext cx="17780"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1" name="直接连接符 70"/>
          <p:cNvCxnSpPr>
            <a:stCxn id="32" idx="2"/>
            <a:endCxn id="41" idx="0"/>
          </p:cNvCxnSpPr>
          <p:nvPr/>
        </p:nvCxnSpPr>
        <p:spPr>
          <a:xfrm>
            <a:off x="844550" y="4629785"/>
            <a:ext cx="981075"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32" idx="2"/>
            <a:endCxn id="36" idx="0"/>
          </p:cNvCxnSpPr>
          <p:nvPr/>
        </p:nvCxnSpPr>
        <p:spPr>
          <a:xfrm>
            <a:off x="844550" y="4629785"/>
            <a:ext cx="1979930"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32" idx="2"/>
            <a:endCxn id="42" idx="0"/>
          </p:cNvCxnSpPr>
          <p:nvPr/>
        </p:nvCxnSpPr>
        <p:spPr>
          <a:xfrm>
            <a:off x="844550" y="4629785"/>
            <a:ext cx="2978785"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7" name="直接连接符 76"/>
          <p:cNvCxnSpPr>
            <a:stCxn id="32" idx="2"/>
            <a:endCxn id="37" idx="0"/>
          </p:cNvCxnSpPr>
          <p:nvPr/>
        </p:nvCxnSpPr>
        <p:spPr>
          <a:xfrm>
            <a:off x="844550" y="4629785"/>
            <a:ext cx="3977640"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8" name="直接连接符 77"/>
          <p:cNvCxnSpPr>
            <a:stCxn id="32" idx="2"/>
            <a:endCxn id="43" idx="0"/>
          </p:cNvCxnSpPr>
          <p:nvPr/>
        </p:nvCxnSpPr>
        <p:spPr>
          <a:xfrm>
            <a:off x="844550" y="4629785"/>
            <a:ext cx="4976495"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2" name="直接连接符 81"/>
          <p:cNvCxnSpPr>
            <a:stCxn id="40" idx="2"/>
            <a:endCxn id="35" idx="0"/>
          </p:cNvCxnSpPr>
          <p:nvPr/>
        </p:nvCxnSpPr>
        <p:spPr>
          <a:xfrm flipH="1">
            <a:off x="826770" y="4629785"/>
            <a:ext cx="4993005"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3" name="直接连接符 82"/>
          <p:cNvCxnSpPr>
            <a:stCxn id="40" idx="2"/>
            <a:endCxn id="41" idx="0"/>
          </p:cNvCxnSpPr>
          <p:nvPr/>
        </p:nvCxnSpPr>
        <p:spPr>
          <a:xfrm flipH="1">
            <a:off x="1825625" y="4629785"/>
            <a:ext cx="3994150"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4" name="直接连接符 83"/>
          <p:cNvCxnSpPr>
            <a:stCxn id="40" idx="2"/>
            <a:endCxn id="36" idx="0"/>
          </p:cNvCxnSpPr>
          <p:nvPr/>
        </p:nvCxnSpPr>
        <p:spPr>
          <a:xfrm flipH="1">
            <a:off x="2824480" y="4629785"/>
            <a:ext cx="2995295"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5" name="直接连接符 84"/>
          <p:cNvCxnSpPr>
            <a:stCxn id="40" idx="2"/>
            <a:endCxn id="42" idx="0"/>
          </p:cNvCxnSpPr>
          <p:nvPr/>
        </p:nvCxnSpPr>
        <p:spPr>
          <a:xfrm flipH="1">
            <a:off x="3823335" y="4629785"/>
            <a:ext cx="1996440"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6" name="直接连接符 85"/>
          <p:cNvCxnSpPr>
            <a:stCxn id="40" idx="2"/>
            <a:endCxn id="37" idx="0"/>
          </p:cNvCxnSpPr>
          <p:nvPr/>
        </p:nvCxnSpPr>
        <p:spPr>
          <a:xfrm flipH="1">
            <a:off x="4822190" y="4629785"/>
            <a:ext cx="997585"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7" name="直接连接符 86"/>
          <p:cNvCxnSpPr>
            <a:stCxn id="40" idx="2"/>
            <a:endCxn id="43" idx="0"/>
          </p:cNvCxnSpPr>
          <p:nvPr/>
        </p:nvCxnSpPr>
        <p:spPr>
          <a:xfrm>
            <a:off x="5819775" y="4629785"/>
            <a:ext cx="1270"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88" name="文本框 38"/>
          <p:cNvSpPr txBox="1"/>
          <p:nvPr>
            <p:custDataLst>
              <p:tags r:id="rId1"/>
            </p:custDataLst>
          </p:nvPr>
        </p:nvSpPr>
        <p:spPr>
          <a:xfrm>
            <a:off x="2570480" y="4418965"/>
            <a:ext cx="1504950" cy="544195"/>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2" name="文本框 38"/>
          <p:cNvSpPr txBox="1"/>
          <p:nvPr>
            <p:custDataLst>
              <p:tags r:id="rId2"/>
            </p:custDataLst>
          </p:nvPr>
        </p:nvSpPr>
        <p:spPr>
          <a:xfrm>
            <a:off x="7495540" y="6086475"/>
            <a:ext cx="236728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层次分析法流程图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3" name="文本框 38"/>
          <p:cNvSpPr txBox="1"/>
          <p:nvPr>
            <p:custDataLst>
              <p:tags r:id="rId3"/>
            </p:custDataLst>
          </p:nvPr>
        </p:nvSpPr>
        <p:spPr>
          <a:xfrm>
            <a:off x="376555" y="6086475"/>
            <a:ext cx="589407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层次分析法示意图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、开展各指标层次分析法，初步确立各指标权重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压裂改造效果</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为目标层，下设</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改造体积、裂缝复杂度和裂缝导流能力三大准则层</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在各准则层下进一步设置</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子准则</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，如改造体积含</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函数反演、小波变换、水击边界指数等</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形成包含目标、准则、子准则三级的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多层</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模型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，实现压裂效果的系统化、定量化评价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圆角矩形 6"/>
          <p:cNvSpPr/>
          <p:nvPr/>
        </p:nvSpPr>
        <p:spPr>
          <a:xfrm>
            <a:off x="490220" y="2654935"/>
            <a:ext cx="1800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改造体积</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3206480" y="2655570"/>
            <a:ext cx="1800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裂缝复杂度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5675995" y="2646045"/>
            <a:ext cx="1620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裂缝导流能力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2" name="圆角矩形 31"/>
          <p:cNvSpPr/>
          <p:nvPr/>
        </p:nvSpPr>
        <p:spPr>
          <a:xfrm>
            <a:off x="82638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小波变换</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圆角矩形 32"/>
          <p:cNvSpPr/>
          <p:nvPr/>
        </p:nvSpPr>
        <p:spPr>
          <a:xfrm>
            <a:off x="150456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水击边界指数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4" name="圆角矩形 33"/>
          <p:cNvSpPr/>
          <p:nvPr/>
        </p:nvSpPr>
        <p:spPr>
          <a:xfrm>
            <a:off x="2182745"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有效用液指数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5" name="圆角矩形 34"/>
          <p:cNvSpPr/>
          <p:nvPr/>
        </p:nvSpPr>
        <p:spPr>
          <a:xfrm>
            <a:off x="2777490" y="3529965"/>
            <a:ext cx="54000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施工曲线诊断</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4134100"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水击衰减系数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812280"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G函数曲线量化</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圆角矩形 38"/>
          <p:cNvSpPr/>
          <p:nvPr/>
        </p:nvSpPr>
        <p:spPr>
          <a:xfrm>
            <a:off x="6182360" y="3520440"/>
            <a:ext cx="54000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裂缝支撑指数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0" name="圆角矩形 39"/>
          <p:cNvSpPr/>
          <p:nvPr/>
        </p:nvSpPr>
        <p:spPr>
          <a:xfrm>
            <a:off x="147955" y="3529965"/>
            <a:ext cx="54000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圆角矩形 40"/>
          <p:cNvSpPr/>
          <p:nvPr/>
        </p:nvSpPr>
        <p:spPr>
          <a:xfrm>
            <a:off x="3455920" y="3529965"/>
            <a:ext cx="539750" cy="252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停泵压降</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左大括号 5"/>
          <p:cNvSpPr/>
          <p:nvPr/>
        </p:nvSpPr>
        <p:spPr>
          <a:xfrm rot="5400000">
            <a:off x="1228090" y="2281555"/>
            <a:ext cx="325755" cy="2160270"/>
          </a:xfrm>
          <a:prstGeom prst="leftBrac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0" name="左大括号 9"/>
          <p:cNvSpPr/>
          <p:nvPr/>
        </p:nvSpPr>
        <p:spPr>
          <a:xfrm rot="5400000">
            <a:off x="6282690" y="3181985"/>
            <a:ext cx="327660" cy="358775"/>
          </a:xfrm>
          <a:prstGeom prst="leftBrac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5" name="左大括号 14"/>
          <p:cNvSpPr/>
          <p:nvPr/>
        </p:nvSpPr>
        <p:spPr>
          <a:xfrm rot="5400000">
            <a:off x="3942715" y="2290445"/>
            <a:ext cx="328930" cy="2160270"/>
          </a:xfrm>
          <a:prstGeom prst="leftBrace">
            <a:avLst>
              <a:gd name="adj1" fmla="val 8333"/>
              <a:gd name="adj2" fmla="val 49985"/>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3" name="加号 2"/>
          <p:cNvSpPr/>
          <p:nvPr/>
        </p:nvSpPr>
        <p:spPr>
          <a:xfrm>
            <a:off x="2510790" y="2655570"/>
            <a:ext cx="475615" cy="475615"/>
          </a:xfrm>
          <a:prstGeom prst="mathPlus">
            <a:avLst>
              <a:gd name="adj1" fmla="val 21762"/>
            </a:avLst>
          </a:prstGeom>
          <a:solidFill>
            <a:schemeClr val="tx1"/>
          </a:solidFill>
          <a:ln w="12700">
            <a:solidFill>
              <a:schemeClr val="tx1"/>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 name="加号 4"/>
          <p:cNvSpPr/>
          <p:nvPr/>
        </p:nvSpPr>
        <p:spPr>
          <a:xfrm>
            <a:off x="5103495" y="2655570"/>
            <a:ext cx="475615" cy="475615"/>
          </a:xfrm>
          <a:prstGeom prst="mathPlus">
            <a:avLst>
              <a:gd name="adj1" fmla="val 21762"/>
            </a:avLst>
          </a:prstGeom>
          <a:solidFill>
            <a:schemeClr val="tx1"/>
          </a:solidFill>
          <a:ln w="12700">
            <a:solidFill>
              <a:schemeClr val="tx1"/>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1" name="矩形 30"/>
          <p:cNvSpPr/>
          <p:nvPr/>
        </p:nvSpPr>
        <p:spPr>
          <a:xfrm>
            <a:off x="9591040" y="2771140"/>
            <a:ext cx="126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改造效果</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7687310" y="341693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改造体积</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9715705" y="341693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复杂度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4" name="矩形 13"/>
          <p:cNvSpPr/>
          <p:nvPr/>
        </p:nvSpPr>
        <p:spPr>
          <a:xfrm>
            <a:off x="11094925" y="341693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导流能力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6991350" y="4126865"/>
            <a:ext cx="75600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rPr>
              <a:t>G</a:t>
            </a:r>
            <a:r>
              <a:rPr lang="zh-CN" altLang="en-US" sz="1600" dirty="0">
                <a:solidFill>
                  <a:schemeClr val="tx1"/>
                </a:solidFill>
                <a:latin typeface="微软雅黑" panose="020B0503020204020204" pitchFamily="34" charset="-122"/>
                <a:ea typeface="微软雅黑" panose="020B0503020204020204" pitchFamily="34" charset="-122"/>
              </a:rPr>
              <a:t>函数</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反演</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9" name="矩形 18"/>
          <p:cNvSpPr/>
          <p:nvPr/>
        </p:nvSpPr>
        <p:spPr>
          <a:xfrm>
            <a:off x="7814025" y="412686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小波</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变换</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8636350" y="412686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6881495" y="546036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rPr>
              <a:t>LH10-1</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8981060" y="545719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38" name="矩形 37"/>
          <p:cNvSpPr/>
          <p:nvPr/>
        </p:nvSpPr>
        <p:spPr>
          <a:xfrm>
            <a:off x="9458675" y="413321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施工</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曲线</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10281000" y="412686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11213670" y="4126865"/>
            <a:ext cx="75600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支撑</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7931405" y="545719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rPr>
              <a:t>LH10-2</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42" name="矩形 41"/>
          <p:cNvSpPr/>
          <p:nvPr/>
        </p:nvSpPr>
        <p:spPr>
          <a:xfrm>
            <a:off x="10030715" y="545719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sym typeface="+mn-ea"/>
              </a:rPr>
              <a:t>YH42-1</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p:txBody>
      </p:sp>
      <p:sp>
        <p:nvSpPr>
          <p:cNvPr id="43" name="矩形 42"/>
          <p:cNvSpPr/>
          <p:nvPr/>
        </p:nvSpPr>
        <p:spPr>
          <a:xfrm>
            <a:off x="11080370" y="545719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latin typeface="微软雅黑" panose="020B0503020204020204" pitchFamily="34" charset="-122"/>
                <a:ea typeface="微软雅黑" panose="020B0503020204020204" pitchFamily="34" charset="-122"/>
                <a:sym typeface="+mn-ea"/>
              </a:rPr>
              <a:t>...</a:t>
            </a:r>
            <a:endParaRPr lang="zh-CN" altLang="en-US" sz="2800" dirty="0">
              <a:solidFill>
                <a:schemeClr val="tx1"/>
              </a:solidFill>
              <a:latin typeface="微软雅黑" panose="020B0503020204020204" pitchFamily="34" charset="-122"/>
              <a:ea typeface="微软雅黑" panose="020B0503020204020204" pitchFamily="34" charset="-122"/>
              <a:sym typeface="+mn-ea"/>
            </a:endParaRPr>
          </a:p>
        </p:txBody>
      </p:sp>
      <p:cxnSp>
        <p:nvCxnSpPr>
          <p:cNvPr id="44" name="直接连接符 43"/>
          <p:cNvCxnSpPr>
            <a:stCxn id="12" idx="2"/>
            <a:endCxn id="18" idx="0"/>
          </p:cNvCxnSpPr>
          <p:nvPr/>
        </p:nvCxnSpPr>
        <p:spPr>
          <a:xfrm flipH="1">
            <a:off x="7369810" y="3776980"/>
            <a:ext cx="821690"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5" name="直接连接符 44"/>
          <p:cNvCxnSpPr>
            <a:stCxn id="12" idx="2"/>
            <a:endCxn id="19" idx="0"/>
          </p:cNvCxnSpPr>
          <p:nvPr/>
        </p:nvCxnSpPr>
        <p:spPr>
          <a:xfrm>
            <a:off x="8191500" y="3776980"/>
            <a:ext cx="635"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6" name="直接连接符 45"/>
          <p:cNvCxnSpPr>
            <a:stCxn id="12" idx="2"/>
            <a:endCxn id="20" idx="0"/>
          </p:cNvCxnSpPr>
          <p:nvPr/>
        </p:nvCxnSpPr>
        <p:spPr>
          <a:xfrm>
            <a:off x="8191500" y="3776980"/>
            <a:ext cx="822960"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6" name="直接连接符 55"/>
          <p:cNvCxnSpPr>
            <a:stCxn id="13" idx="2"/>
            <a:endCxn id="38" idx="0"/>
          </p:cNvCxnSpPr>
          <p:nvPr/>
        </p:nvCxnSpPr>
        <p:spPr>
          <a:xfrm flipH="1">
            <a:off x="9836785" y="3776980"/>
            <a:ext cx="382905" cy="3562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9" name="直接连接符 58"/>
          <p:cNvCxnSpPr>
            <a:stCxn id="25" idx="0"/>
            <a:endCxn id="13" idx="2"/>
          </p:cNvCxnSpPr>
          <p:nvPr/>
        </p:nvCxnSpPr>
        <p:spPr>
          <a:xfrm flipH="1" flipV="1">
            <a:off x="10219690" y="3776980"/>
            <a:ext cx="439420"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14" idx="2"/>
            <a:endCxn id="26" idx="0"/>
          </p:cNvCxnSpPr>
          <p:nvPr/>
        </p:nvCxnSpPr>
        <p:spPr>
          <a:xfrm flipH="1">
            <a:off x="11591925" y="3776980"/>
            <a:ext cx="6985"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31" idx="2"/>
            <a:endCxn id="12" idx="0"/>
          </p:cNvCxnSpPr>
          <p:nvPr/>
        </p:nvCxnSpPr>
        <p:spPr>
          <a:xfrm flipH="1">
            <a:off x="8191500" y="3131185"/>
            <a:ext cx="2029460"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31" idx="2"/>
            <a:endCxn id="13" idx="0"/>
          </p:cNvCxnSpPr>
          <p:nvPr/>
        </p:nvCxnSpPr>
        <p:spPr>
          <a:xfrm flipH="1">
            <a:off x="10219690" y="3131185"/>
            <a:ext cx="1270"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31" idx="2"/>
            <a:endCxn id="14" idx="0"/>
          </p:cNvCxnSpPr>
          <p:nvPr/>
        </p:nvCxnSpPr>
        <p:spPr>
          <a:xfrm>
            <a:off x="10220960" y="3131185"/>
            <a:ext cx="1377950"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0" name="直接连接符 69"/>
          <p:cNvCxnSpPr>
            <a:stCxn id="18" idx="2"/>
            <a:endCxn id="22" idx="0"/>
          </p:cNvCxnSpPr>
          <p:nvPr/>
        </p:nvCxnSpPr>
        <p:spPr>
          <a:xfrm>
            <a:off x="7369810" y="4666615"/>
            <a:ext cx="15875" cy="793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1" name="直接连接符 70"/>
          <p:cNvCxnSpPr>
            <a:stCxn id="18" idx="2"/>
            <a:endCxn id="27" idx="0"/>
          </p:cNvCxnSpPr>
          <p:nvPr/>
        </p:nvCxnSpPr>
        <p:spPr>
          <a:xfrm>
            <a:off x="7369810" y="4666615"/>
            <a:ext cx="106553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18" idx="2"/>
            <a:endCxn id="23" idx="0"/>
          </p:cNvCxnSpPr>
          <p:nvPr/>
        </p:nvCxnSpPr>
        <p:spPr>
          <a:xfrm>
            <a:off x="7369810" y="4666615"/>
            <a:ext cx="211518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18" idx="2"/>
            <a:endCxn id="42" idx="0"/>
          </p:cNvCxnSpPr>
          <p:nvPr/>
        </p:nvCxnSpPr>
        <p:spPr>
          <a:xfrm>
            <a:off x="7369810" y="4666615"/>
            <a:ext cx="316484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8" name="直接连接符 77"/>
          <p:cNvCxnSpPr>
            <a:stCxn id="18" idx="2"/>
            <a:endCxn id="43" idx="0"/>
          </p:cNvCxnSpPr>
          <p:nvPr/>
        </p:nvCxnSpPr>
        <p:spPr>
          <a:xfrm>
            <a:off x="7369810" y="4666615"/>
            <a:ext cx="421449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2" name="直接连接符 81"/>
          <p:cNvCxnSpPr>
            <a:stCxn id="26" idx="2"/>
            <a:endCxn id="22" idx="0"/>
          </p:cNvCxnSpPr>
          <p:nvPr/>
        </p:nvCxnSpPr>
        <p:spPr>
          <a:xfrm flipH="1">
            <a:off x="7385685" y="4666615"/>
            <a:ext cx="4206240" cy="793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3" name="直接连接符 82"/>
          <p:cNvCxnSpPr>
            <a:stCxn id="26" idx="2"/>
            <a:endCxn id="27" idx="0"/>
          </p:cNvCxnSpPr>
          <p:nvPr/>
        </p:nvCxnSpPr>
        <p:spPr>
          <a:xfrm flipH="1">
            <a:off x="8435340" y="4666615"/>
            <a:ext cx="315658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4" name="直接连接符 83"/>
          <p:cNvCxnSpPr>
            <a:stCxn id="26" idx="2"/>
            <a:endCxn id="23" idx="0"/>
          </p:cNvCxnSpPr>
          <p:nvPr/>
        </p:nvCxnSpPr>
        <p:spPr>
          <a:xfrm flipH="1">
            <a:off x="9484995" y="4666615"/>
            <a:ext cx="210693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5" name="直接连接符 84"/>
          <p:cNvCxnSpPr>
            <a:stCxn id="26" idx="2"/>
            <a:endCxn id="42" idx="0"/>
          </p:cNvCxnSpPr>
          <p:nvPr/>
        </p:nvCxnSpPr>
        <p:spPr>
          <a:xfrm flipH="1">
            <a:off x="10534650" y="4666615"/>
            <a:ext cx="105727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7" name="直接连接符 86"/>
          <p:cNvCxnSpPr>
            <a:stCxn id="26" idx="2"/>
            <a:endCxn id="43" idx="0"/>
          </p:cNvCxnSpPr>
          <p:nvPr/>
        </p:nvCxnSpPr>
        <p:spPr>
          <a:xfrm flipH="1">
            <a:off x="11584305" y="4666615"/>
            <a:ext cx="762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88" name="文本框 38"/>
          <p:cNvSpPr txBox="1"/>
          <p:nvPr>
            <p:custDataLst>
              <p:tags r:id="rId1"/>
            </p:custDataLst>
          </p:nvPr>
        </p:nvSpPr>
        <p:spPr>
          <a:xfrm>
            <a:off x="9034780" y="4456430"/>
            <a:ext cx="827405" cy="49530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3" name="文本框 38"/>
          <p:cNvSpPr txBox="1"/>
          <p:nvPr>
            <p:custDataLst>
              <p:tags r:id="rId2"/>
            </p:custDataLst>
          </p:nvPr>
        </p:nvSpPr>
        <p:spPr>
          <a:xfrm>
            <a:off x="147955" y="6086475"/>
            <a:ext cx="657415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三维两级综合评价指标</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文本框 38"/>
          <p:cNvSpPr txBox="1"/>
          <p:nvPr>
            <p:custDataLst>
              <p:tags r:id="rId3"/>
            </p:custDataLst>
          </p:nvPr>
        </p:nvSpPr>
        <p:spPr>
          <a:xfrm>
            <a:off x="6882130" y="6086475"/>
            <a:ext cx="522097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改造效果评估多层</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AHP</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模型</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、开展各指标层次分析法，初步确立各指标权重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据专家经验构建各层</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判断矩阵</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，计算各层权重并进行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一致性检验</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一级准则中</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改造体积权重最高</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，裂缝复杂度与导流能力次之</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子准则层权重表明</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函数反演、停泵压降及小波变换</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为主导因子，共同决定压裂改造效果优劣</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38"/>
          <p:cNvSpPr txBox="1"/>
          <p:nvPr>
            <p:custDataLst>
              <p:tags r:id="rId1"/>
            </p:custDataLst>
          </p:nvPr>
        </p:nvSpPr>
        <p:spPr>
          <a:xfrm>
            <a:off x="45085" y="6074410"/>
            <a:ext cx="1211262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各层判断矩阵与各指标全局权重</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3" name="表格 12"/>
          <p:cNvGraphicFramePr/>
          <p:nvPr>
            <p:custDataLst>
              <p:tags r:id="rId2"/>
            </p:custDataLst>
          </p:nvPr>
        </p:nvGraphicFramePr>
        <p:xfrm>
          <a:off x="45085" y="2548255"/>
          <a:ext cx="3973195" cy="2286000"/>
        </p:xfrm>
        <a:graphic>
          <a:graphicData uri="http://schemas.openxmlformats.org/drawingml/2006/table">
            <a:tbl>
              <a:tblPr firstRow="1" bandRow="1">
                <a:tableStyleId>{5940675A-B579-460E-94D1-54222C63F5DA}</a:tableStyleId>
              </a:tblPr>
              <a:tblGrid>
                <a:gridCol w="1013460"/>
                <a:gridCol w="2959735"/>
              </a:tblGrid>
              <a:tr h="285750">
                <a:tc>
                  <a:txBody>
                    <a:bodyPr/>
                    <a:lstStyle/>
                    <a:p>
                      <a:pPr algn="ctr" fontAlgn="t">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标度</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c>
                  <a:txBody>
                    <a:bodyPr/>
                    <a:lstStyle/>
                    <a:p>
                      <a:pPr algn="ctr" fontAlgn="t">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含义</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r>
              <a:tr h="285750">
                <a:tc>
                  <a:txBody>
                    <a:bodyPr/>
                    <a:lstStyle/>
                    <a:p>
                      <a:pPr algn="ctr" fontAlgn="t">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a:latin typeface="微软雅黑" panose="020B0503020204020204" pitchFamily="34" charset="-122"/>
                          <a:ea typeface="微软雅黑" panose="020B0503020204020204" pitchFamily="34" charset="-122"/>
                        </a:rPr>
                        <a:t>两个指标相比，具有同样的重要性</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285750">
                <a:tc>
                  <a:txBody>
                    <a:bodyPr/>
                    <a:lstStyle/>
                    <a:p>
                      <a:pPr algn="ctr" fontAlgn="t">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a:latin typeface="微软雅黑" panose="020B0503020204020204" pitchFamily="34" charset="-122"/>
                          <a:ea typeface="微软雅黑" panose="020B0503020204020204" pitchFamily="34" charset="-122"/>
                        </a:rPr>
                        <a:t>两个指标相比，前者比后者稍重要</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285750">
                <a:tc>
                  <a:txBody>
                    <a:bodyPr/>
                    <a:lstStyle/>
                    <a:p>
                      <a:pPr algn="ctr" fontAlgn="t">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a:latin typeface="微软雅黑" panose="020B0503020204020204" pitchFamily="34" charset="-122"/>
                          <a:ea typeface="微软雅黑" panose="020B0503020204020204" pitchFamily="34" charset="-122"/>
                        </a:rPr>
                        <a:t>两个指标相比，前者比后者明显重要</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285750">
                <a:tc>
                  <a:txBody>
                    <a:bodyPr/>
                    <a:lstStyle/>
                    <a:p>
                      <a:pPr algn="ctr" fontAlgn="t">
                        <a:lnSpc>
                          <a:spcPct val="120000"/>
                        </a:lnSpc>
                      </a:pPr>
                      <a:r>
                        <a:rPr lang="en-US" altLang="zh-CN" sz="1200">
                          <a:latin typeface="微软雅黑" panose="020B0503020204020204" pitchFamily="34" charset="-122"/>
                          <a:ea typeface="微软雅黑" panose="020B0503020204020204" pitchFamily="34" charset="-122"/>
                        </a:rPr>
                        <a:t>7</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a:latin typeface="微软雅黑" panose="020B0503020204020204" pitchFamily="34" charset="-122"/>
                          <a:ea typeface="微软雅黑" panose="020B0503020204020204" pitchFamily="34" charset="-122"/>
                        </a:rPr>
                        <a:t>两个指标相比，前者比后者极其重要</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285750">
                <a:tc>
                  <a:txBody>
                    <a:bodyPr/>
                    <a:lstStyle/>
                    <a:p>
                      <a:pPr algn="ctr" fontAlgn="t">
                        <a:lnSpc>
                          <a:spcPct val="120000"/>
                        </a:lnSpc>
                      </a:pPr>
                      <a:r>
                        <a:rPr lang="en-US" altLang="zh-CN" sz="1200">
                          <a:latin typeface="微软雅黑" panose="020B0503020204020204" pitchFamily="34" charset="-122"/>
                          <a:ea typeface="微软雅黑" panose="020B0503020204020204" pitchFamily="34" charset="-122"/>
                        </a:rPr>
                        <a:t>9</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a:latin typeface="微软雅黑" panose="020B0503020204020204" pitchFamily="34" charset="-122"/>
                          <a:ea typeface="微软雅黑" panose="020B0503020204020204" pitchFamily="34" charset="-122"/>
                        </a:rPr>
                        <a:t>两个指标相比，前者比后者强烈重要</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285750">
                <a:tc>
                  <a:txBody>
                    <a:bodyPr/>
                    <a:lstStyle/>
                    <a:p>
                      <a:pPr algn="ctr" fontAlgn="t">
                        <a:lnSpc>
                          <a:spcPct val="120000"/>
                        </a:lnSpc>
                      </a:pPr>
                      <a:r>
                        <a:rPr lang="en-US" altLang="zh-CN" sz="1200">
                          <a:latin typeface="微软雅黑" panose="020B0503020204020204" pitchFamily="34" charset="-122"/>
                          <a:ea typeface="微软雅黑" panose="020B0503020204020204" pitchFamily="34" charset="-122"/>
                        </a:rPr>
                        <a:t>2,4,6,8</a:t>
                      </a:r>
                      <a:endParaRPr lang="en-US" altLang="zh-CN"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a:latin typeface="微软雅黑" panose="020B0503020204020204" pitchFamily="34" charset="-122"/>
                          <a:ea typeface="微软雅黑" panose="020B0503020204020204" pitchFamily="34" charset="-122"/>
                        </a:rPr>
                        <a:t>表示上述相邻判断的中间值</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285750">
                <a:tc>
                  <a:txBody>
                    <a:bodyPr/>
                    <a:lstStyle/>
                    <a:p>
                      <a:pPr algn="ctr" fontAlgn="t">
                        <a:lnSpc>
                          <a:spcPct val="120000"/>
                        </a:lnSpc>
                      </a:pPr>
                      <a:r>
                        <a:rPr lang="en-US" sz="1200">
                          <a:latin typeface="微软雅黑" panose="020B0503020204020204" pitchFamily="34" charset="-122"/>
                          <a:ea typeface="微软雅黑" panose="020B0503020204020204" pitchFamily="34" charset="-122"/>
                        </a:rPr>
                        <a:t>&lt;1</a:t>
                      </a:r>
                      <a:endParaRPr 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fontAlgn="t">
                        <a:lnSpc>
                          <a:spcPct val="120000"/>
                        </a:lnSpc>
                      </a:pPr>
                      <a:r>
                        <a:rPr lang="zh-CN" altLang="en-US" sz="1200" dirty="0">
                          <a:latin typeface="微软雅黑" panose="020B0503020204020204" pitchFamily="34" charset="-122"/>
                          <a:ea typeface="微软雅黑" panose="020B0503020204020204" pitchFamily="34" charset="-122"/>
                        </a:rPr>
                        <a:t>两指标交换次序比较的重要性</a:t>
                      </a:r>
                      <a:endParaRPr lang="zh-CN" altLang="en-US" sz="1200" dirty="0">
                        <a:latin typeface="微软雅黑" panose="020B0503020204020204" pitchFamily="34" charset="-122"/>
                        <a:ea typeface="微软雅黑" panose="020B0503020204020204" pitchFamily="34" charset="-122"/>
                      </a:endParaRPr>
                    </a:p>
                  </a:txBody>
                  <a:tcPr marL="254000" marR="254000" marT="25400" marB="25400" anchor="ctr"/>
                </a:tc>
              </a:tr>
            </a:tbl>
          </a:graphicData>
        </a:graphic>
      </p:graphicFrame>
      <p:graphicFrame>
        <p:nvGraphicFramePr>
          <p:cNvPr id="8" name="表格 7"/>
          <p:cNvGraphicFramePr/>
          <p:nvPr>
            <p:custDataLst>
              <p:tags r:id="rId3"/>
            </p:custDataLst>
          </p:nvPr>
        </p:nvGraphicFramePr>
        <p:xfrm>
          <a:off x="45085" y="4873625"/>
          <a:ext cx="3975100" cy="1201420"/>
        </p:xfrm>
        <a:graphic>
          <a:graphicData uri="http://schemas.openxmlformats.org/drawingml/2006/table">
            <a:tbl>
              <a:tblPr firstRow="1">
                <a:tableStyleId>{6A07636C-BFF2-4B8D-B900-3CD1A14DD574}</a:tableStyleId>
              </a:tblPr>
              <a:tblGrid>
                <a:gridCol w="993775"/>
                <a:gridCol w="993775"/>
                <a:gridCol w="993775"/>
                <a:gridCol w="993775"/>
              </a:tblGrid>
              <a:tr h="300355">
                <a:tc>
                  <a:txBody>
                    <a:bodyPr/>
                    <a:lstStyle/>
                    <a:p>
                      <a:pPr algn="ctr">
                        <a:buNone/>
                      </a:pPr>
                      <a:endParaRPr lang="zh-CN" altLang="en-US" sz="1200">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改造体积</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复杂度</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导流能力</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300355">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改造体积</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5/2</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7</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00355">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复杂度</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2/5</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00355">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导流能力</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1/7</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6" name="表格 5"/>
          <p:cNvGraphicFramePr/>
          <p:nvPr>
            <p:custDataLst>
              <p:tags r:id="rId4"/>
            </p:custDataLst>
          </p:nvPr>
        </p:nvGraphicFramePr>
        <p:xfrm>
          <a:off x="4077970" y="2553335"/>
          <a:ext cx="4010025" cy="2286000"/>
        </p:xfrm>
        <a:graphic>
          <a:graphicData uri="http://schemas.openxmlformats.org/drawingml/2006/table">
            <a:tbl>
              <a:tblPr firstRow="1" bandRow="1">
                <a:tableStyleId>{5940675A-B579-460E-94D1-54222C63F5DA}</a:tableStyleId>
              </a:tblPr>
              <a:tblGrid>
                <a:gridCol w="802005"/>
                <a:gridCol w="802005"/>
                <a:gridCol w="802005"/>
                <a:gridCol w="802005"/>
                <a:gridCol w="802005"/>
              </a:tblGrid>
              <a:tr h="457200">
                <a:tc>
                  <a:txBody>
                    <a:bodyPr/>
                    <a:lstStyle/>
                    <a:p>
                      <a:pPr algn="ctr">
                        <a:buNone/>
                      </a:pP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反演</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小波</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rPr>
                        <a:t>变换</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水击边界</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rPr>
                        <a:t>指数</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有效用液</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rPr>
                        <a:t>指数</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457200">
                <a:tc>
                  <a:txBody>
                    <a:bodyPr/>
                    <a:lstStyle/>
                    <a:p>
                      <a:pPr algn="ctr">
                        <a:buNone/>
                      </a:pPr>
                      <a:r>
                        <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函数</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反演</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2/3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3/4</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小波</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变换</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3/2</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7/6</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8</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水击边界</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指数</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4/3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6/7</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7</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有效用液</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指数</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1/6</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1/8</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1/7</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7" name="表格 6"/>
          <p:cNvGraphicFramePr/>
          <p:nvPr>
            <p:custDataLst>
              <p:tags r:id="rId5"/>
            </p:custDataLst>
          </p:nvPr>
        </p:nvGraphicFramePr>
        <p:xfrm>
          <a:off x="8147685" y="2553335"/>
          <a:ext cx="4010025" cy="2286000"/>
        </p:xfrm>
        <a:graphic>
          <a:graphicData uri="http://schemas.openxmlformats.org/drawingml/2006/table">
            <a:tbl>
              <a:tblPr firstRow="1" bandRow="1">
                <a:tableStyleId>{5940675A-B579-460E-94D1-54222C63F5DA}</a:tableStyleId>
              </a:tblPr>
              <a:tblGrid>
                <a:gridCol w="802005"/>
                <a:gridCol w="802005"/>
                <a:gridCol w="802005"/>
                <a:gridCol w="802005"/>
                <a:gridCol w="802005"/>
              </a:tblGrid>
              <a:tr h="457200">
                <a:tc>
                  <a:txBody>
                    <a:bodyPr/>
                    <a:lstStyle/>
                    <a:p>
                      <a:pPr algn="ctr">
                        <a:buNone/>
                      </a:pP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施工曲线</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诊断</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停泵</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rPr>
                        <a:t>压降</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水击衰减</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rPr>
                        <a:t>系数</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b="1">
                          <a:solidFill>
                            <a:schemeClr val="bg1"/>
                          </a:solidFill>
                          <a:latin typeface="微软雅黑" panose="020B0503020204020204" pitchFamily="34" charset="-122"/>
                          <a:ea typeface="微软雅黑" panose="020B0503020204020204" pitchFamily="34" charset="-122"/>
                        </a:rPr>
                        <a:t>G</a:t>
                      </a:r>
                      <a:r>
                        <a:rPr lang="zh-CN" altLang="en-US" sz="1200" b="1">
                          <a:solidFill>
                            <a:schemeClr val="bg1"/>
                          </a:solidFill>
                          <a:latin typeface="微软雅黑" panose="020B0503020204020204" pitchFamily="34" charset="-122"/>
                          <a:ea typeface="微软雅黑" panose="020B0503020204020204" pitchFamily="34" charset="-122"/>
                        </a:rPr>
                        <a:t>函数</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rPr>
                        <a:t>形态</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施工曲线</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诊断</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6/5</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5/3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停泵</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压降</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5/6</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4/3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5/3</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水击衰减</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系数</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3/5</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3/4</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5/4</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en-US" altLang="zh-CN" sz="1200" b="1">
                          <a:solidFill>
                            <a:schemeClr val="bg1"/>
                          </a:solidFill>
                          <a:latin typeface="微软雅黑" panose="020B0503020204020204" pitchFamily="34" charset="-122"/>
                          <a:ea typeface="微软雅黑" panose="020B0503020204020204" pitchFamily="34" charset="-122"/>
                          <a:sym typeface="+mn-ea"/>
                        </a:rPr>
                        <a:t>G</a:t>
                      </a:r>
                      <a:r>
                        <a:rPr lang="zh-CN" altLang="en-US" sz="1200" b="1">
                          <a:solidFill>
                            <a:schemeClr val="bg1"/>
                          </a:solidFill>
                          <a:latin typeface="微软雅黑" panose="020B0503020204020204" pitchFamily="34" charset="-122"/>
                          <a:ea typeface="微软雅黑" panose="020B0503020204020204" pitchFamily="34" charset="-122"/>
                          <a:sym typeface="+mn-ea"/>
                        </a:rPr>
                        <a:t>函数</a:t>
                      </a:r>
                      <a:endParaRPr lang="zh-CN" altLang="en-US" sz="1200" b="1">
                        <a:solidFill>
                          <a:schemeClr val="bg1"/>
                        </a:solidFill>
                        <a:latin typeface="微软雅黑" panose="020B0503020204020204" pitchFamily="34" charset="-122"/>
                        <a:ea typeface="微软雅黑" panose="020B0503020204020204" pitchFamily="34" charset="-122"/>
                      </a:endParaRPr>
                    </a:p>
                    <a:p>
                      <a:pPr algn="ctr">
                        <a:buNone/>
                      </a:pPr>
                      <a:r>
                        <a:rPr lang="zh-CN" altLang="en-US" sz="1200" b="1">
                          <a:solidFill>
                            <a:schemeClr val="bg1"/>
                          </a:solidFill>
                          <a:latin typeface="微软雅黑" panose="020B0503020204020204" pitchFamily="34" charset="-122"/>
                          <a:ea typeface="微软雅黑" panose="020B0503020204020204" pitchFamily="34" charset="-122"/>
                          <a:sym typeface="+mn-ea"/>
                        </a:rPr>
                        <a:t>形态</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1/2</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3/5</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4/5</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15" name="表格 14"/>
          <p:cNvGraphicFramePr/>
          <p:nvPr>
            <p:custDataLst>
              <p:tags r:id="rId6"/>
            </p:custDataLst>
          </p:nvPr>
        </p:nvGraphicFramePr>
        <p:xfrm>
          <a:off x="4077970" y="4873625"/>
          <a:ext cx="8083550" cy="1209040"/>
        </p:xfrm>
        <a:graphic>
          <a:graphicData uri="http://schemas.openxmlformats.org/drawingml/2006/table">
            <a:tbl>
              <a:tblPr firstRow="1" bandRow="1">
                <a:tableStyleId>{5940675A-B579-460E-94D1-54222C63F5DA}</a:tableStyleId>
              </a:tblPr>
              <a:tblGrid>
                <a:gridCol w="808355"/>
                <a:gridCol w="808355"/>
                <a:gridCol w="808355"/>
                <a:gridCol w="808355"/>
                <a:gridCol w="808355"/>
                <a:gridCol w="808355"/>
                <a:gridCol w="808355"/>
                <a:gridCol w="808355"/>
                <a:gridCol w="808355"/>
                <a:gridCol w="808355"/>
              </a:tblGrid>
              <a:tr h="37592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一级准则</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zh-CN" altLang="en-US" sz="1200">
                          <a:latin typeface="微软雅黑" panose="020B0503020204020204" pitchFamily="34" charset="-122"/>
                          <a:ea typeface="微软雅黑" panose="020B0503020204020204" pitchFamily="34" charset="-122"/>
                        </a:rPr>
                        <a:t>改造体积</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改造体积</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改造体积</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改造体积</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复杂度</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复杂度</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复杂度</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复杂度</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导流能力</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子准则</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函数</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反演</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小波</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变换</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水击边界</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指数</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有效用液</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指数</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施工曲线</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诊断</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停泵</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压降</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水击衰减</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系数</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形态</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zh-CN" altLang="en-US" sz="1200">
                          <a:latin typeface="微软雅黑" panose="020B0503020204020204" pitchFamily="34" charset="-122"/>
                          <a:ea typeface="微软雅黑" panose="020B0503020204020204" pitchFamily="34" charset="-122"/>
                        </a:rPr>
                        <a:t>裂缝支撑</a:t>
                      </a:r>
                      <a:endParaRPr lang="zh-CN" altLang="en-US" sz="1200">
                        <a:latin typeface="微软雅黑" panose="020B0503020204020204" pitchFamily="34" charset="-122"/>
                        <a:ea typeface="微软雅黑" panose="020B0503020204020204" pitchFamily="34" charset="-122"/>
                      </a:endParaRPr>
                    </a:p>
                    <a:p>
                      <a:pPr algn="ctr">
                        <a:buNone/>
                      </a:pPr>
                      <a:r>
                        <a:rPr lang="zh-CN" altLang="en-US" sz="1200">
                          <a:latin typeface="微软雅黑" panose="020B0503020204020204" pitchFamily="34" charset="-122"/>
                          <a:ea typeface="微软雅黑" panose="020B0503020204020204" pitchFamily="34" charset="-122"/>
                        </a:rPr>
                        <a:t>指数</a:t>
                      </a:r>
                      <a:endParaRPr lang="zh-CN" altLang="en-US"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75920">
                <a:tc>
                  <a:txBody>
                    <a:bodyPr/>
                    <a:lstStyle/>
                    <a:p>
                      <a:pPr algn="ctr">
                        <a:buNone/>
                      </a:pPr>
                      <a:r>
                        <a:rPr lang="zh-CN" altLang="en-US" sz="1200" b="1">
                          <a:solidFill>
                            <a:schemeClr val="bg1"/>
                          </a:solidFill>
                          <a:latin typeface="微软雅黑" panose="020B0503020204020204" pitchFamily="34" charset="-122"/>
                          <a:ea typeface="微软雅黑" panose="020B0503020204020204" pitchFamily="34" charset="-122"/>
                        </a:rPr>
                        <a:t>全局权重</a:t>
                      </a:r>
                      <a:endParaRPr lang="zh-CN" altLang="en-US" sz="1200" b="1">
                        <a:solidFill>
                          <a:schemeClr val="bg1"/>
                        </a:solidFill>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a:buNone/>
                      </a:pPr>
                      <a:r>
                        <a:rPr lang="en-US" altLang="zh-CN" sz="1200">
                          <a:latin typeface="微软雅黑" panose="020B0503020204020204" pitchFamily="34" charset="-122"/>
                          <a:ea typeface="微软雅黑" panose="020B0503020204020204" pitchFamily="34" charset="-122"/>
                        </a:rPr>
                        <a:t>0.1180</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0.1760</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0.1820</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0.0456</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0.0800</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0.0756</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0.0669</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0.0515</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lang="en-US" altLang="zh-CN" sz="1200">
                          <a:latin typeface="微软雅黑" panose="020B0503020204020204" pitchFamily="34" charset="-122"/>
                          <a:ea typeface="微软雅黑" panose="020B0503020204020204" pitchFamily="34" charset="-122"/>
                        </a:rPr>
                        <a:t>0.0900</a:t>
                      </a:r>
                      <a:endParaRPr lang="en-US" altLang="zh-CN" sz="1200">
                        <a:latin typeface="微软雅黑" panose="020B0503020204020204" pitchFamily="34" charset="-122"/>
                        <a:ea typeface="微软雅黑" panose="020B0503020204020204" pitchFamily="3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、开展各指标熵权法分析，分析各指标内部差异，优化客观权重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熵权法是一种基于信息论的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客观赋权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方法，用于衡量</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指标差异性与信息贡献度</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通过指标数据的标准化与信息熵计算，反映各指标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对系统不确定性的影响程度</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指标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差异越大</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，信息熵越小，其</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权重越高</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，说明该指标区分能力更强</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2" name="文本框 38"/>
          <p:cNvSpPr txBox="1"/>
          <p:nvPr>
            <p:custDataLst>
              <p:tags r:id="rId1"/>
            </p:custDataLst>
          </p:nvPr>
        </p:nvSpPr>
        <p:spPr>
          <a:xfrm>
            <a:off x="7143115" y="6086475"/>
            <a:ext cx="474345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熵权法流程图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圆角矩形 11"/>
          <p:cNvSpPr/>
          <p:nvPr/>
        </p:nvSpPr>
        <p:spPr>
          <a:xfrm>
            <a:off x="7143115" y="2557145"/>
            <a:ext cx="2088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数据标准化</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3" name="圆角矩形 12"/>
          <p:cNvSpPr/>
          <p:nvPr/>
        </p:nvSpPr>
        <p:spPr>
          <a:xfrm>
            <a:off x="7143115" y="3549900"/>
            <a:ext cx="2088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构建决策矩阵</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7143115" y="4542405"/>
            <a:ext cx="2088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计算各指标熵值</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7143115" y="5534910"/>
            <a:ext cx="2088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计算各指标差异系数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9798685" y="5540625"/>
            <a:ext cx="2088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计算各指标权重</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9798685" y="4552565"/>
            <a:ext cx="2088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计算综合评价值</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9" name="圆角矩形 18"/>
          <p:cNvSpPr/>
          <p:nvPr/>
        </p:nvSpPr>
        <p:spPr>
          <a:xfrm>
            <a:off x="9798685" y="3564505"/>
            <a:ext cx="2088000" cy="5397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重要性排序</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0" name="圆角矩形 19"/>
          <p:cNvSpPr/>
          <p:nvPr/>
        </p:nvSpPr>
        <p:spPr>
          <a:xfrm>
            <a:off x="9798685" y="2576195"/>
            <a:ext cx="2088000" cy="54000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结果分析</a:t>
            </a:r>
            <a:endParaRPr lang="zh-CN" altLang="en-US" sz="1600" dirty="0">
              <a:solidFill>
                <a:schemeClr val="tx1"/>
              </a:solidFill>
              <a:latin typeface="微软雅黑" panose="020B0503020204020204" pitchFamily="34" charset="-122"/>
              <a:ea typeface="微软雅黑" panose="020B0503020204020204" pitchFamily="34" charset="-122"/>
            </a:endParaRPr>
          </a:p>
        </p:txBody>
      </p:sp>
      <p:graphicFrame>
        <p:nvGraphicFramePr>
          <p:cNvPr id="21" name="对象 20"/>
          <p:cNvGraphicFramePr/>
          <p:nvPr/>
        </p:nvGraphicFramePr>
        <p:xfrm>
          <a:off x="312420" y="2556510"/>
          <a:ext cx="6475095" cy="3529965"/>
        </p:xfrm>
        <a:graphic>
          <a:graphicData uri="http://schemas.openxmlformats.org/presentationml/2006/ole">
            <mc:AlternateContent xmlns:mc="http://schemas.openxmlformats.org/markup-compatibility/2006">
              <mc:Choice xmlns:v="urn:schemas-microsoft-com:vml" Requires="v">
                <p:oleObj spid="_x0000_s3" name="" r:id="rId2" imgW="4800600" imgH="2743200" progId="Equation.DSMT4">
                  <p:embed/>
                </p:oleObj>
              </mc:Choice>
              <mc:Fallback>
                <p:oleObj name="" r:id="rId2" imgW="4800600" imgH="2743200" progId="Equation.DSMT4">
                  <p:embed/>
                  <p:pic>
                    <p:nvPicPr>
                      <p:cNvPr id="0" name="图片 8"/>
                      <p:cNvPicPr/>
                      <p:nvPr/>
                    </p:nvPicPr>
                    <p:blipFill>
                      <a:blip r:embed="rId3"/>
                      <a:stretch>
                        <a:fillRect/>
                      </a:stretch>
                    </p:blipFill>
                    <p:spPr>
                      <a:xfrm>
                        <a:off x="312420" y="2556510"/>
                        <a:ext cx="6475095" cy="3529965"/>
                      </a:xfrm>
                      <a:prstGeom prst="rect">
                        <a:avLst/>
                      </a:prstGeom>
                    </p:spPr>
                  </p:pic>
                </p:oleObj>
              </mc:Fallback>
            </mc:AlternateContent>
          </a:graphicData>
        </a:graphic>
      </p:graphicFrame>
      <p:sp>
        <p:nvSpPr>
          <p:cNvPr id="23" name="文本框 38"/>
          <p:cNvSpPr txBox="1"/>
          <p:nvPr>
            <p:custDataLst>
              <p:tags r:id="rId4"/>
            </p:custDataLst>
          </p:nvPr>
        </p:nvSpPr>
        <p:spPr>
          <a:xfrm>
            <a:off x="312420" y="6087745"/>
            <a:ext cx="647509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熵权法计算步骤与公式</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4" name="直接箭头连接符 23"/>
          <p:cNvCxnSpPr>
            <a:stCxn id="12" idx="2"/>
          </p:cNvCxnSpPr>
          <p:nvPr/>
        </p:nvCxnSpPr>
        <p:spPr>
          <a:xfrm>
            <a:off x="8187055" y="3096895"/>
            <a:ext cx="1905" cy="45847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13" idx="2"/>
            <a:endCxn id="14" idx="0"/>
          </p:cNvCxnSpPr>
          <p:nvPr/>
        </p:nvCxnSpPr>
        <p:spPr>
          <a:xfrm>
            <a:off x="8187055" y="4089400"/>
            <a:ext cx="0" cy="452755"/>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14" idx="2"/>
            <a:endCxn id="15" idx="0"/>
          </p:cNvCxnSpPr>
          <p:nvPr/>
        </p:nvCxnSpPr>
        <p:spPr>
          <a:xfrm>
            <a:off x="8187055" y="5081905"/>
            <a:ext cx="0" cy="452755"/>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15" idx="3"/>
            <a:endCxn id="17" idx="1"/>
          </p:cNvCxnSpPr>
          <p:nvPr/>
        </p:nvCxnSpPr>
        <p:spPr>
          <a:xfrm>
            <a:off x="9230995" y="5804535"/>
            <a:ext cx="567690" cy="5715"/>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17" idx="0"/>
            <a:endCxn id="18" idx="2"/>
          </p:cNvCxnSpPr>
          <p:nvPr/>
        </p:nvCxnSpPr>
        <p:spPr>
          <a:xfrm flipV="1">
            <a:off x="10842625" y="5092065"/>
            <a:ext cx="0" cy="44831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18" idx="0"/>
            <a:endCxn id="19" idx="2"/>
          </p:cNvCxnSpPr>
          <p:nvPr/>
        </p:nvCxnSpPr>
        <p:spPr>
          <a:xfrm flipV="1">
            <a:off x="10842625" y="4104005"/>
            <a:ext cx="0" cy="44831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19" idx="0"/>
            <a:endCxn id="20" idx="2"/>
          </p:cNvCxnSpPr>
          <p:nvPr/>
        </p:nvCxnSpPr>
        <p:spPr>
          <a:xfrm flipV="1">
            <a:off x="10842625" y="3115945"/>
            <a:ext cx="0" cy="448310"/>
          </a:xfrm>
          <a:prstGeom prst="straightConnector1">
            <a:avLst/>
          </a:prstGeom>
          <a:ln w="12700">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、开展各指标熵权法分析，分析各指标内部差异，优化客观权重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对各井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项指标数据进行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无量纲化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处理，统一正向化方向以消除量纲影响</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计算各指标的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熵值与信息效用值</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，衡量指标间差异性与有效信息量</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明确</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函数、小波变换、水击边界指数等</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熵权分布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，为权重优化提供依据</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表格 5"/>
          <p:cNvGraphicFramePr/>
          <p:nvPr>
            <p:custDataLst>
              <p:tags r:id="rId1"/>
            </p:custDataLst>
          </p:nvPr>
        </p:nvGraphicFramePr>
        <p:xfrm>
          <a:off x="111125" y="2569210"/>
          <a:ext cx="9004935" cy="3466465"/>
        </p:xfrm>
        <a:graphic>
          <a:graphicData uri="http://schemas.openxmlformats.org/drawingml/2006/table">
            <a:tbl>
              <a:tblPr firstRow="1" bandRow="1">
                <a:tableStyleId>{5940675A-B579-460E-94D1-54222C63F5DA}</a:tableStyleId>
              </a:tblPr>
              <a:tblGrid>
                <a:gridCol w="900430"/>
                <a:gridCol w="836930"/>
                <a:gridCol w="835025"/>
                <a:gridCol w="932815"/>
                <a:gridCol w="933450"/>
                <a:gridCol w="932180"/>
                <a:gridCol w="836930"/>
                <a:gridCol w="931545"/>
                <a:gridCol w="933450"/>
                <a:gridCol w="932180"/>
              </a:tblGrid>
              <a:tr h="481965">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井号</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en-US" altLang="zh-CN"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反演</a:t>
                      </a:r>
                      <a:endPar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小波</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变换</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水击边界</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指数</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有效用液</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指数</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施工曲线</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诊断</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停泵</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压降</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水击衰减</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系数</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en-US" altLang="zh-CN"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曲线量化</a:t>
                      </a:r>
                      <a:endParaRPr lang="zh-CN" altLang="en-US" sz="10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solidFill>
                      <a:srgbClr val="FFC000"/>
                    </a:solidFill>
                  </a:tcPr>
                </a:tc>
                <a:tc>
                  <a:txBody>
                    <a:bodyPr/>
                    <a:lstStyle/>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裂缝支撑</a:t>
                      </a:r>
                      <a:endParaRPr lang="zh-CN" altLang="en-US" sz="1000" b="1" spc="12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000" b="1" spc="120" dirty="0">
                          <a:solidFill>
                            <a:schemeClr val="bg1"/>
                          </a:solidFill>
                          <a:latin typeface="微软雅黑" panose="020B0503020204020204" pitchFamily="34" charset="-122"/>
                          <a:ea typeface="微软雅黑" panose="020B0503020204020204" pitchFamily="34" charset="-122"/>
                        </a:rPr>
                        <a:t>指数</a:t>
                      </a:r>
                      <a:endParaRPr lang="zh-CN" altLang="en-US" sz="1000" b="1" spc="120" dirty="0">
                        <a:solidFill>
                          <a:schemeClr val="bg1"/>
                        </a:solidFill>
                        <a:latin typeface="微软雅黑" panose="020B0503020204020204" pitchFamily="34" charset="-122"/>
                        <a:ea typeface="微软雅黑" panose="020B0503020204020204" pitchFamily="34" charset="-122"/>
                      </a:endParaRPr>
                    </a:p>
                  </a:txBody>
                  <a:tcPr marL="177800" marR="177800" marT="57150" marB="57150" anchor="ctr">
                    <a:solidFill>
                      <a:srgbClr val="FFC000"/>
                    </a:solidFill>
                  </a:tcP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LH10-1</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0.36540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0.66230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0.89520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0.20630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0.67530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0.90370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LH10-2</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0.31450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0.78470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0.22810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0.14590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0.25850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0.65970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LH10-3</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0.77270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0.64590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0.62570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0.21300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0.00970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0.06990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0.37210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LH10-4</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0.64600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0.53250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0.76010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0.37170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0.28910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0.18320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0.68760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0.65050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0.84750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LH10-5</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0.41460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0.29220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0.84950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0.20540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0.25720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0.66890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0.93770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LH10-6</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0.26940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0.89710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0.38960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0.40560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0.05700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0.55610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0.54860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0.84600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LH123-1</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0.21580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0.65580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0.42210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0.83410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0.82270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0.72280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0.22510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LH123-2</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0.21260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0.58900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0.99860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0.97540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0.71640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LH123-3</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0.50240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0.96430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0.01030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0.79170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0.45840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0.91550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0.83470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0.96640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0.56140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r>
              <a:tr h="298450">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LH123-4</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0.51950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0.26360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0.40650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0.42410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1.00000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0.68610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a:latin typeface="微软雅黑" panose="020B0503020204020204" pitchFamily="34" charset="-122"/>
                          <a:ea typeface="微软雅黑" panose="020B0503020204020204" pitchFamily="34" charset="-122"/>
                        </a:rPr>
                        <a:t>0.76210</a:t>
                      </a:r>
                      <a:endParaRPr lang="en-US" altLang="zh-CN" sz="100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fontAlgn="ctr">
                        <a:lnSpc>
                          <a:spcPct val="120000"/>
                        </a:lnSpc>
                      </a:pPr>
                      <a:r>
                        <a:rPr lang="en-US" altLang="zh-CN" sz="1000" dirty="0">
                          <a:latin typeface="微软雅黑" panose="020B0503020204020204" pitchFamily="34" charset="-122"/>
                          <a:ea typeface="微软雅黑" panose="020B0503020204020204" pitchFamily="34" charset="-122"/>
                        </a:rPr>
                        <a:t>0.21420</a:t>
                      </a:r>
                      <a:endParaRPr lang="en-US" altLang="zh-CN" sz="1000" dirty="0">
                        <a:latin typeface="微软雅黑" panose="020B0503020204020204" pitchFamily="34" charset="-122"/>
                        <a:ea typeface="微软雅黑" panose="020B0503020204020204" pitchFamily="34" charset="-122"/>
                      </a:endParaRPr>
                    </a:p>
                  </a:txBody>
                  <a:tcPr marL="177800" marR="177800" marT="57150" marB="57150" anchor="ctr"/>
                </a:tc>
              </a:tr>
            </a:tbl>
          </a:graphicData>
        </a:graphic>
      </p:graphicFrame>
      <p:graphicFrame>
        <p:nvGraphicFramePr>
          <p:cNvPr id="7" name="表格 6"/>
          <p:cNvGraphicFramePr/>
          <p:nvPr>
            <p:custDataLst>
              <p:tags r:id="rId2"/>
            </p:custDataLst>
          </p:nvPr>
        </p:nvGraphicFramePr>
        <p:xfrm>
          <a:off x="9216390" y="2594610"/>
          <a:ext cx="2604135" cy="3441700"/>
        </p:xfrm>
        <a:graphic>
          <a:graphicData uri="http://schemas.openxmlformats.org/drawingml/2006/table">
            <a:tbl>
              <a:tblPr firstRow="1" bandRow="1">
                <a:tableStyleId>{5940675A-B579-460E-94D1-54222C63F5DA}</a:tableStyleId>
              </a:tblPr>
              <a:tblGrid>
                <a:gridCol w="727234"/>
                <a:gridCol w="574834"/>
                <a:gridCol w="651033"/>
                <a:gridCol w="651034"/>
              </a:tblGrid>
              <a:tr h="344170">
                <a:tc>
                  <a:txBody>
                    <a:bodyPr/>
                    <a:lstStyle/>
                    <a:p>
                      <a:pPr algn="ctr" fontAlgn="ctr"/>
                      <a:r>
                        <a:rPr lang="zh-CN" altLang="en-US" sz="1000" b="1" dirty="0">
                          <a:solidFill>
                            <a:schemeClr val="bg1"/>
                          </a:solidFill>
                          <a:latin typeface="微软雅黑" panose="020B0503020204020204" pitchFamily="34" charset="-122"/>
                          <a:ea typeface="微软雅黑" panose="020B0503020204020204" pitchFamily="34" charset="-122"/>
                        </a:rPr>
                        <a:t>指标</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rgbClr val="FFC000"/>
                    </a:solidFill>
                  </a:tcPr>
                </a:tc>
                <a:tc>
                  <a:txBody>
                    <a:bodyPr/>
                    <a:lstStyle/>
                    <a:p>
                      <a:pPr algn="ctr" fontAlgn="ctr"/>
                      <a:r>
                        <a:rPr lang="zh-CN" altLang="en-US" sz="1000" b="1" dirty="0">
                          <a:solidFill>
                            <a:schemeClr val="bg1"/>
                          </a:solidFill>
                          <a:latin typeface="微软雅黑" panose="020B0503020204020204" pitchFamily="34" charset="-122"/>
                          <a:ea typeface="微软雅黑" panose="020B0503020204020204" pitchFamily="34" charset="-122"/>
                        </a:rPr>
                        <a:t>熵值</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rgbClr val="FFC000"/>
                    </a:solidFill>
                  </a:tcPr>
                </a:tc>
                <a:tc>
                  <a:txBody>
                    <a:bodyPr/>
                    <a:lstStyle/>
                    <a:p>
                      <a:pPr algn="ctr" fontAlgn="ctr"/>
                      <a:r>
                        <a:rPr lang="zh-CN" altLang="en-US" sz="1000" b="1" dirty="0">
                          <a:solidFill>
                            <a:schemeClr val="bg1"/>
                          </a:solidFill>
                          <a:latin typeface="微软雅黑" panose="020B0503020204020204" pitchFamily="34" charset="-122"/>
                          <a:ea typeface="微软雅黑" panose="020B0503020204020204" pitchFamily="34" charset="-122"/>
                        </a:rPr>
                        <a:t>信息效用值</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rgbClr val="FFC000"/>
                    </a:solidFill>
                  </a:tcPr>
                </a:tc>
                <a:tc>
                  <a:txBody>
                    <a:bodyPr/>
                    <a:lstStyle/>
                    <a:p>
                      <a:pPr algn="ctr" fontAlgn="ctr">
                        <a:buNone/>
                      </a:pPr>
                      <a:r>
                        <a:rPr lang="zh-CN" altLang="en-US" sz="1000" b="1" dirty="0">
                          <a:solidFill>
                            <a:schemeClr val="bg1"/>
                          </a:solidFill>
                          <a:latin typeface="微软雅黑" panose="020B0503020204020204" pitchFamily="34" charset="-122"/>
                          <a:ea typeface="微软雅黑" panose="020B0503020204020204" pitchFamily="34" charset="-122"/>
                        </a:rPr>
                        <a:t>熵权</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rgbClr val="FFC000"/>
                    </a:solidFill>
                  </a:tcPr>
                </a:tc>
              </a:tr>
              <a:tr h="344170">
                <a:tc>
                  <a:txBody>
                    <a:bodyPr/>
                    <a:lstStyle/>
                    <a:p>
                      <a:pPr algn="ctr" fontAlgn="ctr"/>
                      <a:r>
                        <a:rPr lang="en-US" altLang="zh-CN" sz="10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0.9732</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0.0268</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0.1082</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小波变换</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0.9685</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0.0315</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0.1272</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水击边界</a:t>
                      </a:r>
                      <a:endParaRPr lang="zh-CN" altLang="en-US" sz="1000">
                        <a:latin typeface="微软雅黑" panose="020B0503020204020204" pitchFamily="34" charset="-122"/>
                        <a:ea typeface="微软雅黑" panose="020B0503020204020204" pitchFamily="34" charset="-122"/>
                      </a:endParaRPr>
                    </a:p>
                    <a:p>
                      <a:pPr algn="ctr" fontAlgn="ctr"/>
                      <a:r>
                        <a:rPr lang="zh-CN" altLang="en-US" sz="1000">
                          <a:latin typeface="微软雅黑" panose="020B0503020204020204" pitchFamily="34" charset="-122"/>
                          <a:ea typeface="微软雅黑" panose="020B0503020204020204" pitchFamily="34" charset="-122"/>
                        </a:rPr>
                        <a:t>指数</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0.9689</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0.0311</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0.1256</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有效用液</a:t>
                      </a:r>
                      <a:endParaRPr lang="zh-CN" altLang="en-US" sz="1000">
                        <a:latin typeface="微软雅黑" panose="020B0503020204020204" pitchFamily="34" charset="-122"/>
                        <a:ea typeface="微软雅黑" panose="020B0503020204020204" pitchFamily="34" charset="-122"/>
                      </a:endParaRPr>
                    </a:p>
                    <a:p>
                      <a:pPr algn="ctr" fontAlgn="ctr"/>
                      <a:r>
                        <a:rPr lang="zh-CN" altLang="en-US" sz="1000">
                          <a:latin typeface="微软雅黑" panose="020B0503020204020204" pitchFamily="34" charset="-122"/>
                          <a:ea typeface="微软雅黑" panose="020B0503020204020204" pitchFamily="34" charset="-122"/>
                        </a:rPr>
                        <a:t>指数</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0.9912</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0.0088</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0.0355</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施工曲线</a:t>
                      </a:r>
                      <a:endParaRPr lang="zh-CN" altLang="en-US" sz="1000">
                        <a:latin typeface="微软雅黑" panose="020B0503020204020204" pitchFamily="34" charset="-122"/>
                        <a:ea typeface="微软雅黑" panose="020B0503020204020204" pitchFamily="34" charset="-122"/>
                      </a:endParaRPr>
                    </a:p>
                    <a:p>
                      <a:pPr algn="ctr" fontAlgn="ctr"/>
                      <a:r>
                        <a:rPr lang="zh-CN" altLang="en-US" sz="1000">
                          <a:latin typeface="微软雅黑" panose="020B0503020204020204" pitchFamily="34" charset="-122"/>
                          <a:ea typeface="微软雅黑" panose="020B0503020204020204" pitchFamily="34" charset="-122"/>
                        </a:rPr>
                        <a:t>诊断</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0.9754</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0.0246</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0.0994</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停泵压降</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0.9701</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0.0299</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0.1208</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水击衰减</a:t>
                      </a:r>
                      <a:endParaRPr lang="zh-CN" altLang="en-US" sz="1000">
                        <a:latin typeface="微软雅黑" panose="020B0503020204020204" pitchFamily="34" charset="-122"/>
                        <a:ea typeface="微软雅黑" panose="020B0503020204020204" pitchFamily="34" charset="-122"/>
                      </a:endParaRPr>
                    </a:p>
                    <a:p>
                      <a:pPr algn="ctr" fontAlgn="ctr"/>
                      <a:r>
                        <a:rPr lang="zh-CN" altLang="en-US" sz="1000">
                          <a:latin typeface="微软雅黑" panose="020B0503020204020204" pitchFamily="34" charset="-122"/>
                          <a:ea typeface="微软雅黑" panose="020B0503020204020204" pitchFamily="34" charset="-122"/>
                        </a:rPr>
                        <a:t>系数</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0.9722</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0.0278</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0.1123</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en-US" altLang="zh-CN" sz="10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函数曲线</a:t>
                      </a: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000">
                          <a:latin typeface="微软雅黑" panose="020B0503020204020204" pitchFamily="34" charset="-122"/>
                          <a:ea typeface="微软雅黑" panose="020B0503020204020204" pitchFamily="34" charset="-122"/>
                          <a:cs typeface="微软雅黑" panose="020B0503020204020204" pitchFamily="34" charset="-122"/>
                        </a:rPr>
                        <a:t>量化</a:t>
                      </a: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0.9668</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0.0332</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0.1341</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r>
              <a:tr h="344170">
                <a:tc>
                  <a:txBody>
                    <a:bodyPr/>
                    <a:lstStyle/>
                    <a:p>
                      <a:pPr algn="ctr" fontAlgn="ctr"/>
                      <a:r>
                        <a:rPr lang="zh-CN" altLang="en-US" sz="1000">
                          <a:latin typeface="微软雅黑" panose="020B0503020204020204" pitchFamily="34" charset="-122"/>
                          <a:ea typeface="微软雅黑" panose="020B0503020204020204" pitchFamily="34" charset="-122"/>
                        </a:rPr>
                        <a:t>裂缝支撑</a:t>
                      </a:r>
                      <a:endParaRPr lang="zh-CN" altLang="en-US" sz="1000">
                        <a:latin typeface="微软雅黑" panose="020B0503020204020204" pitchFamily="34" charset="-122"/>
                        <a:ea typeface="微软雅黑" panose="020B0503020204020204" pitchFamily="34" charset="-122"/>
                      </a:endParaRPr>
                    </a:p>
                    <a:p>
                      <a:pPr algn="ctr" fontAlgn="ctr"/>
                      <a:r>
                        <a:rPr lang="zh-CN" altLang="en-US" sz="1000">
                          <a:latin typeface="微软雅黑" panose="020B0503020204020204" pitchFamily="34" charset="-122"/>
                          <a:ea typeface="微软雅黑" panose="020B0503020204020204" pitchFamily="34" charset="-122"/>
                        </a:rPr>
                        <a:t>指数</a:t>
                      </a:r>
                      <a:endParaRPr lang="zh-CN" altLang="en-US"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0.9705</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a:latin typeface="微软雅黑" panose="020B0503020204020204" pitchFamily="34" charset="-122"/>
                          <a:ea typeface="微软雅黑" panose="020B0503020204020204" pitchFamily="34" charset="-122"/>
                        </a:rPr>
                        <a:t>0.0295</a:t>
                      </a:r>
                      <a:endParaRPr lang="en-US" altLang="zh-CN" sz="10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000" dirty="0">
                          <a:latin typeface="微软雅黑" panose="020B0503020204020204" pitchFamily="34" charset="-122"/>
                          <a:ea typeface="微软雅黑" panose="020B0503020204020204" pitchFamily="34" charset="-122"/>
                        </a:rPr>
                        <a:t>0.1192</a:t>
                      </a:r>
                      <a:endParaRPr lang="en-US" altLang="zh-CN" sz="10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sp>
        <p:nvSpPr>
          <p:cNvPr id="23" name="文本框 38"/>
          <p:cNvSpPr txBox="1"/>
          <p:nvPr>
            <p:custDataLst>
              <p:tags r:id="rId3"/>
            </p:custDataLst>
          </p:nvPr>
        </p:nvSpPr>
        <p:spPr>
          <a:xfrm>
            <a:off x="110490" y="6087745"/>
            <a:ext cx="900557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指标数据无量纲化</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2" name="文本框 38"/>
          <p:cNvSpPr txBox="1"/>
          <p:nvPr>
            <p:custDataLst>
              <p:tags r:id="rId4"/>
            </p:custDataLst>
          </p:nvPr>
        </p:nvSpPr>
        <p:spPr>
          <a:xfrm>
            <a:off x="9217025" y="6086475"/>
            <a:ext cx="260667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各指标熵值、信息效用值、熵权分布</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、开展各指标熵权法分析，分析各指标内部差异，优化客观权重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体现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专家经验与工程认知</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，但易受</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主观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判断影响；</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熵权法</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依据</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数据差异客观赋权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，可弥补</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的偏差</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两种方法加权融合</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，既保留了专家对指标重要性的判断，又引入数据驱动的客观修正，实现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主客观统一</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融合后结果显示权重分布更加合理，其中停泵压降、</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函数反演与小波变换权重提升明显，综合</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评价结果更稳定</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表格 5"/>
          <p:cNvGraphicFramePr/>
          <p:nvPr>
            <p:custDataLst>
              <p:tags r:id="rId1"/>
            </p:custDataLst>
          </p:nvPr>
        </p:nvGraphicFramePr>
        <p:xfrm>
          <a:off x="374650" y="2590800"/>
          <a:ext cx="11445875" cy="3492500"/>
        </p:xfrm>
        <a:graphic>
          <a:graphicData uri="http://schemas.openxmlformats.org/drawingml/2006/table">
            <a:tbl>
              <a:tblPr firstRow="1" bandRow="1">
                <a:tableStyleId>{5940675A-B579-460E-94D1-54222C63F5DA}</a:tableStyleId>
              </a:tblPr>
              <a:tblGrid>
                <a:gridCol w="2289175"/>
                <a:gridCol w="2289175"/>
                <a:gridCol w="2289175"/>
                <a:gridCol w="2289175"/>
                <a:gridCol w="2289175"/>
              </a:tblGrid>
              <a:tr h="349250">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指标</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AHP</a:t>
                      </a:r>
                      <a:r>
                        <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纯熵权</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熵权法修正后</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百分比</a:t>
                      </a: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solidFill>
                      <a:srgbClr val="FFC000"/>
                    </a:solidFill>
                  </a:tcPr>
                </a:tc>
              </a:tr>
              <a:tr h="349250">
                <a:tc>
                  <a:txBody>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11.80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10.82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dirty="0">
                          <a:latin typeface="微软雅黑" panose="020B0503020204020204" pitchFamily="34" charset="-122"/>
                          <a:ea typeface="微软雅黑" panose="020B0503020204020204" pitchFamily="34" charset="-122"/>
                        </a:rPr>
                        <a:t>13.20</a:t>
                      </a:r>
                      <a:endParaRPr lang="en-US" altLang="zh-CN" sz="1200" dirty="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13.18</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小波变换</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17.60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12.72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19.50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19.47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水击边界指数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18.20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12.56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19.80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19.77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有效用液指数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4.56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3.55</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3.50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3.49</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施工曲线诊断</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8.00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9.94</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9.58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9.57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停泵压降</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12.08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9.26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9.25</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水击衰减系数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6.69</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11.23</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8.05</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8.04</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函数曲线量化</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5.15</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13.41</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7.38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a:latin typeface="微软雅黑" panose="020B0503020204020204" pitchFamily="34" charset="-122"/>
                          <a:ea typeface="微软雅黑" panose="020B0503020204020204" pitchFamily="34" charset="-122"/>
                        </a:rPr>
                        <a:t>7.37</a:t>
                      </a:r>
                      <a:endParaRPr lang="en-US" altLang="zh-CN" sz="1200">
                        <a:latin typeface="微软雅黑" panose="020B0503020204020204" pitchFamily="34" charset="-122"/>
                        <a:ea typeface="微软雅黑" panose="020B0503020204020204" pitchFamily="34" charset="-122"/>
                      </a:endParaRPr>
                    </a:p>
                  </a:txBody>
                  <a:tcPr marL="7937" marR="7937" marT="7937" marB="0" anchor="ctr"/>
                </a:tc>
              </a:tr>
              <a:tr h="349250">
                <a:tc>
                  <a:txBody>
                    <a:bodyPr/>
                    <a:lstStyle/>
                    <a:p>
                      <a:pPr algn="ctr"/>
                      <a:r>
                        <a:rPr lang="zh-CN" altLang="en-US" sz="1200">
                          <a:latin typeface="微软雅黑" panose="020B0503020204020204" pitchFamily="34" charset="-122"/>
                          <a:ea typeface="微软雅黑" panose="020B0503020204020204" pitchFamily="34" charset="-122"/>
                        </a:rPr>
                        <a:t>裂缝支撑指数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9.00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11.92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9.88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fontAlgn="ctr"/>
                      <a:r>
                        <a:rPr lang="en-US" altLang="zh-CN" sz="1200" dirty="0">
                          <a:latin typeface="微软雅黑" panose="020B0503020204020204" pitchFamily="34" charset="-122"/>
                          <a:ea typeface="微软雅黑" panose="020B0503020204020204" pitchFamily="34" charset="-122"/>
                        </a:rPr>
                        <a:t>9.86</a:t>
                      </a:r>
                      <a:endParaRPr lang="en-US" altLang="zh-CN" sz="12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sp>
        <p:nvSpPr>
          <p:cNvPr id="23" name="文本框 38"/>
          <p:cNvSpPr txBox="1"/>
          <p:nvPr>
            <p:custDataLst>
              <p:tags r:id="rId2"/>
            </p:custDataLst>
          </p:nvPr>
        </p:nvSpPr>
        <p:spPr>
          <a:xfrm>
            <a:off x="377190" y="6087745"/>
            <a:ext cx="114427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AHP</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与熵权法加权融合结果</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、开展各指标最大相关性优化，确立最终指标权重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熵权法确定初始权重体系的基础上，以实际</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为目标参照进行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多元回归拟合</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通过模型拟合结果反向校正各指标权重，使</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权重分布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更</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符合</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真实压裂改造效果的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产量响应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特征</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最终形成动态自适应的权重体系，实现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由理论赋权向结果驱动的压裂效果综合评价模型</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38"/>
          <p:cNvSpPr txBox="1"/>
          <p:nvPr>
            <p:custDataLst>
              <p:tags r:id="rId1"/>
            </p:custDataLst>
          </p:nvPr>
        </p:nvSpPr>
        <p:spPr>
          <a:xfrm>
            <a:off x="377190" y="6087745"/>
            <a:ext cx="114427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指标最大相关性优化结果</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8" name="表格 7"/>
          <p:cNvGraphicFramePr/>
          <p:nvPr>
            <p:custDataLst>
              <p:tags r:id="rId2"/>
            </p:custDataLst>
          </p:nvPr>
        </p:nvGraphicFramePr>
        <p:xfrm>
          <a:off x="331470" y="2590800"/>
          <a:ext cx="11490960" cy="3473450"/>
        </p:xfrm>
        <a:graphic>
          <a:graphicData uri="http://schemas.openxmlformats.org/drawingml/2006/table">
            <a:tbl>
              <a:tblPr firstRow="1" bandRow="1">
                <a:tableStyleId>{5940675A-B579-460E-94D1-54222C63F5DA}</a:tableStyleId>
              </a:tblPr>
              <a:tblGrid>
                <a:gridCol w="1915160"/>
                <a:gridCol w="1915160"/>
                <a:gridCol w="1915160"/>
                <a:gridCol w="1915160"/>
                <a:gridCol w="1915160"/>
                <a:gridCol w="1915160"/>
              </a:tblGrid>
              <a:tr h="347345">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二级指标</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AHP</a:t>
                      </a:r>
                      <a:endParaRPr lang="en-US" altLang="zh-CN"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熵修正</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相关性优化</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组合权重</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百分比</a:t>
                      </a: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solidFill>
                      <a:srgbClr val="FFC000"/>
                    </a:solidFill>
                  </a:tcPr>
                </a:tc>
              </a:tr>
              <a:tr h="347345">
                <a:tc>
                  <a:txBody>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11.80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13.20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15.00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16.30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16.30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小波变换</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17.60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19.50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21.20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22.60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22.60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水击边界指数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18.20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19.80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21.50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22.50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22.50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有效用液指数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4.56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3.50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2.30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1.50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施工曲线诊断</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8.00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9.58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7.90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7.90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停泵压降</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9.26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8.30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7.80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水击衰减系数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6.69</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8.05</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7.40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6.80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函数曲线量化</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5.15</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7.38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6.70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6.10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6.10</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裂缝支撑指数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9.00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9.88</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9.10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dirty="0">
                          <a:latin typeface="微软雅黑" panose="020B0503020204020204" pitchFamily="34" charset="-122"/>
                          <a:ea typeface="微软雅黑" panose="020B0503020204020204" pitchFamily="34" charset="-122"/>
                        </a:rPr>
                        <a:t>8.50</a:t>
                      </a:r>
                      <a:endParaRPr lang="en-US" altLang="zh-CN" sz="1200" dirty="0">
                        <a:latin typeface="微软雅黑" panose="020B0503020204020204" pitchFamily="34" charset="-122"/>
                        <a:ea typeface="微软雅黑" panose="020B0503020204020204" pitchFamily="34" charset="-122"/>
                      </a:endParaRPr>
                    </a:p>
                  </a:txBody>
                  <a:tcPr marL="0" marR="0" marT="0" marB="0" anchor="ctr"/>
                </a:tc>
              </a:tr>
            </a:tbl>
          </a:graphicData>
        </a:graphic>
      </p:graphicFrame>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、开展各指标权重敏感性分析，评价结果的稳定性</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对确定的指标权重进行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扰动分析</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，模拟各权重在合理范围内的变化</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若综合评价结果未发生实质性</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排序变化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，说明模型具有</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较高稳定性与抗干扰性</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结果表明本权重体系对微小权重调整不敏感，验证了模型结构的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科学性与鲁棒性</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6664325" y="2555240"/>
            <a:ext cx="4563745" cy="3442335"/>
          </a:xfrm>
          <a:prstGeom prst="rect">
            <a:avLst/>
          </a:prstGeom>
        </p:spPr>
      </p:pic>
      <p:sp>
        <p:nvSpPr>
          <p:cNvPr id="23" name="文本框 38"/>
          <p:cNvSpPr txBox="1"/>
          <p:nvPr>
            <p:custDataLst>
              <p:tags r:id="rId2"/>
            </p:custDataLst>
          </p:nvPr>
        </p:nvSpPr>
        <p:spPr>
          <a:xfrm>
            <a:off x="6663690" y="6087745"/>
            <a:ext cx="456501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蒙特卡洛敏感性模拟分析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8" name="表格 7"/>
          <p:cNvGraphicFramePr/>
          <p:nvPr>
            <p:custDataLst>
              <p:tags r:id="rId3"/>
            </p:custDataLst>
          </p:nvPr>
        </p:nvGraphicFramePr>
        <p:xfrm>
          <a:off x="334645" y="2602230"/>
          <a:ext cx="6014720" cy="3458210"/>
        </p:xfrm>
        <a:graphic>
          <a:graphicData uri="http://schemas.openxmlformats.org/drawingml/2006/table">
            <a:tbl>
              <a:tblPr firstRow="1" bandRow="1">
                <a:tableStyleId>{5940675A-B579-460E-94D1-54222C63F5DA}</a:tableStyleId>
              </a:tblPr>
              <a:tblGrid>
                <a:gridCol w="1181735"/>
                <a:gridCol w="1256665"/>
                <a:gridCol w="1078865"/>
                <a:gridCol w="1078230"/>
                <a:gridCol w="1419225"/>
              </a:tblGrid>
              <a:tr h="402590">
                <a:tc>
                  <a:txBody>
                    <a:bodyPr/>
                    <a:lstStyle/>
                    <a:p>
                      <a:pPr algn="ctr">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指标</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组合权重均值</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a:lnSpc>
                          <a:spcPct val="120000"/>
                        </a:lnSpc>
                      </a:pPr>
                      <a:r>
                        <a:rPr lang="zh-CN" altLang="en-US" sz="1200" b="1" spc="120">
                          <a:solidFill>
                            <a:schemeClr val="bg1"/>
                          </a:solidFill>
                          <a:latin typeface="微软雅黑" panose="020B0503020204020204" pitchFamily="34" charset="-122"/>
                          <a:ea typeface="微软雅黑" panose="020B0503020204020204" pitchFamily="34" charset="-122"/>
                        </a:rPr>
                        <a:t>标准差</a:t>
                      </a:r>
                      <a:endParaRPr lang="zh-CN" altLang="en-US" sz="1200" b="1"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a:lnSpc>
                          <a:spcPct val="120000"/>
                        </a:lnSpc>
                      </a:pPr>
                      <a:r>
                        <a:rPr lang="zh-CN" altLang="en-US" sz="1200" b="1" spc="120" dirty="0">
                          <a:solidFill>
                            <a:schemeClr val="bg1"/>
                          </a:solidFill>
                          <a:latin typeface="微软雅黑" panose="020B0503020204020204" pitchFamily="34" charset="-122"/>
                          <a:ea typeface="微软雅黑" panose="020B0503020204020204" pitchFamily="34" charset="-122"/>
                        </a:rPr>
                        <a:t>变异系数</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solidFill>
                      <a:srgbClr val="FFC000"/>
                    </a:solidFill>
                  </a:tcPr>
                </a:tc>
                <a:tc>
                  <a:txBody>
                    <a:bodyPr/>
                    <a:lstStyle/>
                    <a:p>
                      <a:pPr algn="ctr">
                        <a:lnSpc>
                          <a:spcPct val="120000"/>
                        </a:lnSpc>
                      </a:pPr>
                      <a:r>
                        <a:rPr lang="en-US" altLang="zh-CN" sz="12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95%</a:t>
                      </a:r>
                      <a:r>
                        <a:rPr lang="zh-CN" altLang="en-US" sz="12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置信区间</a:t>
                      </a:r>
                      <a:endParaRPr lang="zh-CN" altLang="en-US" sz="1200" b="1" spc="1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solidFill>
                      <a:srgbClr val="FFC000"/>
                    </a:solidFill>
                  </a:tcPr>
                </a:tc>
              </a:tr>
              <a:tr h="339725">
                <a:tc>
                  <a:txBody>
                    <a:bodyPr/>
                    <a:lstStyle/>
                    <a:p>
                      <a:pPr algn="ctr">
                        <a:lnSpc>
                          <a:spcPct val="12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16.30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1.45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0.089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[13.44, 19.12]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39090">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小波变换</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22.60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1.68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0.074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[19.34, 25.92]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39090">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水击边界指数</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22.50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1.72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0.077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[19.11, 25.85]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40360">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有效用液指数</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1.50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0.34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0.224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[0.85, 2.19]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38455">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施工曲线诊断</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7.90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0.89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0.113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[6.14, 9.62]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40360">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停泵压降</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7.80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0.85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0.109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[6.15, 9.49]</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40360">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水击衰减系数</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6.80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0.78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0.115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[5.25, 8.31]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38455">
                <a:tc>
                  <a:txBody>
                    <a:bodyPr/>
                    <a:lstStyle/>
                    <a:p>
                      <a:pPr algn="ctr">
                        <a:lnSpc>
                          <a:spcPct val="12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函数曲线量化</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6.10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0.71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0.116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[4.73, 7.51]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r>
              <a:tr h="339725">
                <a:tc>
                  <a:txBody>
                    <a:bodyPr/>
                    <a:lstStyle/>
                    <a:p>
                      <a:pPr algn="ctr">
                        <a:lnSpc>
                          <a:spcPct val="120000"/>
                        </a:lnSpc>
                      </a:pPr>
                      <a:r>
                        <a:rPr lang="zh-CN" altLang="en-US" sz="1200">
                          <a:latin typeface="微软雅黑" panose="020B0503020204020204" pitchFamily="34" charset="-122"/>
                          <a:ea typeface="微软雅黑" panose="020B0503020204020204" pitchFamily="34" charset="-122"/>
                        </a:rPr>
                        <a:t>裂缝支撑指数</a:t>
                      </a:r>
                      <a:endParaRPr lang="zh-CN" altLang="en-US"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r>
                        <a:rPr lang="en-US" altLang="zh-CN" sz="1200">
                          <a:latin typeface="微软雅黑" panose="020B0503020204020204" pitchFamily="34" charset="-122"/>
                          <a:ea typeface="微软雅黑" panose="020B0503020204020204" pitchFamily="34" charset="-122"/>
                        </a:rPr>
                        <a:t>8.50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0.96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a:latin typeface="微软雅黑" panose="020B0503020204020204" pitchFamily="34" charset="-122"/>
                          <a:ea typeface="微软雅黑" panose="020B0503020204020204" pitchFamily="34" charset="-122"/>
                        </a:rPr>
                        <a:t>0.113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tc>
                <a:tc>
                  <a:txBody>
                    <a:bodyPr/>
                    <a:lstStyle/>
                    <a:p>
                      <a:pPr algn="ctr">
                        <a:lnSpc>
                          <a:spcPct val="120000"/>
                        </a:lnSpc>
                      </a:pPr>
                      <a:r>
                        <a:rPr lang="en-US" altLang="zh-CN" sz="1200" dirty="0">
                          <a:latin typeface="微软雅黑" panose="020B0503020204020204" pitchFamily="34" charset="-122"/>
                          <a:ea typeface="微软雅黑" panose="020B0503020204020204" pitchFamily="34" charset="-122"/>
                        </a:rPr>
                        <a:t>[6.61, 10.37]</a:t>
                      </a:r>
                      <a:endParaRPr lang="en-US" altLang="zh-CN" sz="1200" dirty="0">
                        <a:latin typeface="微软雅黑" panose="020B0503020204020204" pitchFamily="34" charset="-122"/>
                        <a:ea typeface="微软雅黑" panose="020B0503020204020204" pitchFamily="34" charset="-122"/>
                      </a:endParaRPr>
                    </a:p>
                  </a:txBody>
                  <a:tcPr marL="25400" marR="25400" marT="6350" marB="6350" anchor="ctr"/>
                </a:tc>
              </a:tr>
            </a:tbl>
          </a:graphicData>
        </a:graphic>
      </p:graphicFrame>
      <p:sp>
        <p:nvSpPr>
          <p:cNvPr id="9" name="文本框 38"/>
          <p:cNvSpPr txBox="1"/>
          <p:nvPr>
            <p:custDataLst>
              <p:tags r:id="rId4"/>
            </p:custDataLst>
          </p:nvPr>
        </p:nvSpPr>
        <p:spPr>
          <a:xfrm>
            <a:off x="331470" y="6082665"/>
            <a:ext cx="601789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各指标组合权重与置信区间</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、压裂效果综合评估指标体系及方法构建总结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基于指标间的相关性分析，明确</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项指标的组合方式，构建三维两级的综合评价指标体系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通过权重确定与敏感性稳定性检验，形成一套</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结果稳健、可量化、可复现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的压裂效果评分方法</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建立统一的评价流程，实现压裂效果从单指标判断向</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体系化、多角度、可对比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的全面升级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38"/>
          <p:cNvSpPr txBox="1"/>
          <p:nvPr>
            <p:custDataLst>
              <p:tags r:id="rId1"/>
            </p:custDataLst>
          </p:nvPr>
        </p:nvSpPr>
        <p:spPr>
          <a:xfrm>
            <a:off x="331470" y="6082665"/>
            <a:ext cx="1147254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开展泸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203</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井区</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H123</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平台应用评价与分析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表格 4"/>
          <p:cNvGraphicFramePr/>
          <p:nvPr>
            <p:custDataLst>
              <p:tags r:id="rId2"/>
            </p:custDataLst>
          </p:nvPr>
        </p:nvGraphicFramePr>
        <p:xfrm>
          <a:off x="353060" y="2594610"/>
          <a:ext cx="11457940" cy="3493770"/>
        </p:xfrm>
        <a:graphic>
          <a:graphicData uri="http://schemas.openxmlformats.org/drawingml/2006/table">
            <a:tbl>
              <a:tblPr firstRow="1">
                <a:tableStyleId>{C25CCF9B-3BEF-4FDE-95DA-B136F59D0E50}</a:tableStyleId>
              </a:tblPr>
              <a:tblGrid>
                <a:gridCol w="850265"/>
                <a:gridCol w="850900"/>
                <a:gridCol w="849630"/>
                <a:gridCol w="1566545"/>
                <a:gridCol w="1925320"/>
                <a:gridCol w="1924685"/>
                <a:gridCol w="1565910"/>
                <a:gridCol w="1924685"/>
              </a:tblGrid>
              <a:tr h="365760">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井区</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平台</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井号</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压裂设计</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压裂施工秒点</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微地震小结</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压后总结</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施工参数表</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313055">
                <a:tc rowSpan="10">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1200" dirty="0">
                          <a:latin typeface="微软雅黑" panose="020B0503020204020204" pitchFamily="34" charset="-122"/>
                          <a:ea typeface="微软雅黑" panose="020B0503020204020204" pitchFamily="34" charset="-122"/>
                        </a:rPr>
                        <a:t>H10</a:t>
                      </a:r>
                      <a:endParaRPr lang="en-US" altLang="zh-CN" sz="12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24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305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305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305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24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2420">
                <a:tc vMerge="1">
                  <a:tcPr>
                    <a:lnL w="12700" cmpd="sng">
                      <a:solidFill>
                        <a:schemeClr val="tx1"/>
                      </a:solidFill>
                      <a:prstDash val="solid"/>
                    </a:lnL>
                    <a:lnR w="12700" cmpd="sng">
                      <a:solidFill>
                        <a:schemeClr val="tx1"/>
                      </a:solidFill>
                      <a:prstDash val="solid"/>
                    </a:lnR>
                  </a:tcPr>
                </a:tc>
                <a:tc rowSpan="4">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305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24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305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01593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、压裂效果综合评估指标体系及方法优化方案</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成果三、开展递进式权重优化与稳定性检验，建立压裂效果综合评估指标体系及方法</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在统一基础参数框架下，结合平台特性对关键参数进行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针对性微调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，得到更契合平台实际的评价结果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针对各平台提取最敏感的评价指标组合，形成</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平台化</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的压裂效果综合评估参数体系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跨平台可复用的优化流程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，实现评价方法从普适模型向平台精细化适配的系统升级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38"/>
          <p:cNvSpPr txBox="1"/>
          <p:nvPr>
            <p:custDataLst>
              <p:tags r:id="rId1"/>
            </p:custDataLst>
          </p:nvPr>
        </p:nvSpPr>
        <p:spPr>
          <a:xfrm>
            <a:off x="331470" y="6082665"/>
            <a:ext cx="1144460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针对平台特征，微调</a:t>
            </a:r>
            <a:r>
              <a:rPr lang="zh-CN" altLang="en-US" sz="11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压裂效果综合评估指标体系及方法</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p:nvPr>
            <p:custDataLst>
              <p:tags r:id="rId2"/>
            </p:custDataLst>
          </p:nvPr>
        </p:nvGraphicFramePr>
        <p:xfrm>
          <a:off x="333375" y="2590800"/>
          <a:ext cx="11442700" cy="3473450"/>
        </p:xfrm>
        <a:graphic>
          <a:graphicData uri="http://schemas.openxmlformats.org/drawingml/2006/table">
            <a:tbl>
              <a:tblPr firstRow="1" bandRow="1">
                <a:tableStyleId>{5940675A-B579-460E-94D1-54222C63F5DA}</a:tableStyleId>
              </a:tblPr>
              <a:tblGrid>
                <a:gridCol w="2288540"/>
                <a:gridCol w="2288540"/>
                <a:gridCol w="2288540"/>
                <a:gridCol w="2288540"/>
                <a:gridCol w="2288540"/>
              </a:tblGrid>
              <a:tr h="347345">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二级指标</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组合权重</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平台微调</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百分比</a:t>
                      </a: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solidFill>
                      <a:srgbClr val="FFC000"/>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微调幅度</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FFC000"/>
                    </a:solidFill>
                  </a:tcPr>
                </a:tc>
              </a:tr>
              <a:tr h="347345">
                <a:tc>
                  <a:txBody>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16.30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17.42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17.42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+1.12</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小波变换</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22.60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23.76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23.76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+1.16</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水击边界指数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22.50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23.56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23.56</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+1.06</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有效用液指数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1.50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0.74</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0.74</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-0.76</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施工曲线诊断</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7.90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7.41</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7.41</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-0.48</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停泵压降</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7.43</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7.43</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-0.38</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水击衰减系数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6.80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6.22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6.22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-0.58</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函数曲线量化</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6.10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5.64</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5.64</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-0.46</a:t>
                      </a:r>
                      <a:endParaRPr lang="en-US" altLang="zh-CN" sz="1200">
                        <a:latin typeface="微软雅黑" panose="020B0503020204020204" pitchFamily="34" charset="-122"/>
                        <a:ea typeface="微软雅黑" panose="020B0503020204020204" pitchFamily="34" charset="-122"/>
                      </a:endParaRPr>
                    </a:p>
                  </a:txBody>
                  <a:tcPr marL="0" marR="0" marT="0" marB="0" anchor="ctr"/>
                </a:tc>
              </a:tr>
              <a:tr h="347345">
                <a:tc>
                  <a:txBody>
                    <a:bodyPr/>
                    <a:lstStyle/>
                    <a:p>
                      <a:pPr algn="ctr"/>
                      <a:r>
                        <a:rPr lang="zh-CN" altLang="en-US" sz="1200">
                          <a:latin typeface="微软雅黑" panose="020B0503020204020204" pitchFamily="34" charset="-122"/>
                          <a:ea typeface="微软雅黑" panose="020B0503020204020204" pitchFamily="34" charset="-122"/>
                        </a:rPr>
                        <a:t>裂缝支撑指数</a:t>
                      </a:r>
                      <a:endParaRPr lang="zh-CN" altLang="en-US"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8.50</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7.82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a:latin typeface="微软雅黑" panose="020B0503020204020204" pitchFamily="34" charset="-122"/>
                          <a:ea typeface="微软雅黑" panose="020B0503020204020204" pitchFamily="34" charset="-122"/>
                        </a:rPr>
                        <a:t>7.82</a:t>
                      </a:r>
                      <a:endParaRPr lang="en-US" altLang="zh-CN" sz="120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1200" dirty="0">
                          <a:latin typeface="微软雅黑" panose="020B0503020204020204" pitchFamily="34" charset="-122"/>
                          <a:ea typeface="微软雅黑" panose="020B0503020204020204" pitchFamily="34" charset="-122"/>
                        </a:rPr>
                        <a:t>-0.68</a:t>
                      </a:r>
                      <a:endParaRPr lang="en-US" altLang="zh-CN" sz="1200" dirty="0">
                        <a:latin typeface="微软雅黑" panose="020B0503020204020204" pitchFamily="34" charset="-122"/>
                        <a:ea typeface="微软雅黑" panose="020B0503020204020204" pitchFamily="34" charset="-122"/>
                      </a:endParaRPr>
                    </a:p>
                  </a:txBody>
                  <a:tcPr marL="0" marR="0" marT="0" marB="0" anchor="ctr"/>
                </a:tc>
              </a:tr>
            </a:tbl>
          </a:graphicData>
        </a:graphic>
      </p:graphicFrame>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458908"/>
          </a:xfrm>
          <a:prstGeom prst="rect">
            <a:avLst/>
          </a:prstGeom>
          <a:noFill/>
          <a:ln>
            <a:noFill/>
          </a:ln>
        </p:spPr>
        <p:txBody>
          <a:bodyPr wrap="square" lIns="91440" tIns="45720" rIns="91440" bIns="45720" anchor="t">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1</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a:t>
            </a:r>
            <a:r>
              <a:rPr lang="zh-CN" altLang="en-US">
                <a:solidFill>
                  <a:prstClr val="black"/>
                </a:solidFill>
                <a:latin typeface="微软雅黑" panose="020B0503020204020204" pitchFamily="34" charset="-122"/>
                <a:ea typeface="微软雅黑" panose="020B0503020204020204" pitchFamily="34" charset="-122"/>
                <a:sym typeface="+mn-ea"/>
              </a:rPr>
              <a:t>综合评估指标体系</a:t>
            </a:r>
            <a:endPar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dirty="0">
                <a:solidFill>
                  <a:srgbClr val="FF0000"/>
                </a:solidFill>
                <a:latin typeface="微软雅黑" panose="020B0503020204020204" pitchFamily="34" charset="-122"/>
                <a:ea typeface="微软雅黑" panose="020B0503020204020204" pitchFamily="34" charset="-122"/>
                <a:sym typeface="+mn-ea"/>
              </a:rPr>
              <a:t>天然裂缝发育</a:t>
            </a:r>
            <a:r>
              <a:rPr lang="zh-CN" altLang="en-US" sz="1600" dirty="0">
                <a:solidFill>
                  <a:prstClr val="black"/>
                </a:solidFill>
                <a:latin typeface="微软雅黑" panose="020B0503020204020204" pitchFamily="34" charset="-122"/>
                <a:ea typeface="微软雅黑" panose="020B0503020204020204" pitchFamily="34" charset="-122"/>
                <a:sym typeface="+mn-ea"/>
              </a:rPr>
              <a:t>、压窜、套变风险高</a:t>
            </a:r>
            <a:endParaRPr lang="zh-CN" altLang="en-US" sz="1600" dirty="0">
              <a:solidFill>
                <a:prstClr val="black"/>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sym typeface="+mn-ea"/>
              </a:rPr>
              <a:t>分为</a:t>
            </a:r>
            <a:r>
              <a:rPr lang="zh-CN" altLang="en-US" sz="1600" dirty="0">
                <a:solidFill>
                  <a:srgbClr val="FF0000"/>
                </a:solidFill>
                <a:latin typeface="微软雅黑" panose="020B0503020204020204" pitchFamily="34" charset="-122"/>
                <a:ea typeface="微软雅黑" panose="020B0503020204020204" pitchFamily="34" charset="-122"/>
                <a:sym typeface="+mn-ea"/>
              </a:rPr>
              <a:t>主体段、渐进防控段、风险段</a:t>
            </a:r>
            <a:r>
              <a:rPr lang="zh-CN" altLang="en-US" sz="1600" dirty="0">
                <a:latin typeface="微软雅黑" panose="020B0503020204020204" pitchFamily="34" charset="-122"/>
                <a:ea typeface="微软雅黑" panose="020B0503020204020204" pitchFamily="34" charset="-122"/>
                <a:sym typeface="+mn-ea"/>
              </a:rPr>
              <a:t>差异化压裂设计</a:t>
            </a:r>
            <a:endParaRPr lang="zh-CN" altLang="en-US" sz="1600" dirty="0">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sz="1600" dirty="0">
                <a:solidFill>
                  <a:srgbClr val="000000"/>
                </a:solidFill>
                <a:latin typeface="微软雅黑" panose="020B0503020204020204" pitchFamily="34" charset="-122"/>
                <a:ea typeface="微软雅黑" panose="020B0503020204020204" pitchFamily="34" charset="-122"/>
                <a:sym typeface="+mn-ea"/>
              </a:rPr>
              <a:t>1-4</a:t>
            </a:r>
            <a:r>
              <a:rPr lang="zh-CN" altLang="en-US" sz="1600" dirty="0">
                <a:solidFill>
                  <a:srgbClr val="000000"/>
                </a:solidFill>
                <a:latin typeface="微软雅黑" panose="020B0503020204020204" pitchFamily="34" charset="-122"/>
                <a:ea typeface="微软雅黑" panose="020B0503020204020204" pitchFamily="34" charset="-122"/>
                <a:sym typeface="+mn-ea"/>
              </a:rPr>
              <a:t>井在压窜防控上未取得明显效果</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solidFill>
                  <a:srgbClr val="000000"/>
                </a:solidFill>
                <a:latin typeface="微软雅黑" panose="020B0503020204020204" pitchFamily="34" charset="-122"/>
                <a:ea typeface="微软雅黑" panose="020B0503020204020204" pitchFamily="34" charset="-122"/>
                <a:sym typeface="+mn-ea"/>
              </a:rPr>
              <a:t>5</a:t>
            </a:r>
            <a:r>
              <a:rPr lang="zh-CN" altLang="en-US" sz="1600" dirty="0">
                <a:solidFill>
                  <a:srgbClr val="000000"/>
                </a:solidFill>
                <a:latin typeface="微软雅黑" panose="020B0503020204020204" pitchFamily="34" charset="-122"/>
                <a:ea typeface="微软雅黑" panose="020B0503020204020204" pitchFamily="34" charset="-122"/>
                <a:sym typeface="+mn-ea"/>
              </a:rPr>
              <a:t>、</a:t>
            </a:r>
            <a:r>
              <a:rPr lang="en-US" altLang="zh-CN" sz="1600" dirty="0">
                <a:solidFill>
                  <a:srgbClr val="000000"/>
                </a:solidFill>
                <a:latin typeface="微软雅黑" panose="020B0503020204020204" pitchFamily="34" charset="-122"/>
                <a:ea typeface="微软雅黑" panose="020B0503020204020204" pitchFamily="34" charset="-122"/>
                <a:sym typeface="+mn-ea"/>
              </a:rPr>
              <a:t>6</a:t>
            </a:r>
            <a:r>
              <a:rPr lang="zh-CN" altLang="en-US" sz="1600" dirty="0">
                <a:solidFill>
                  <a:srgbClr val="000000"/>
                </a:solidFill>
                <a:latin typeface="微软雅黑" panose="020B0503020204020204" pitchFamily="34" charset="-122"/>
                <a:ea typeface="微软雅黑" panose="020B0503020204020204" pitchFamily="34" charset="-122"/>
                <a:sym typeface="+mn-ea"/>
              </a:rPr>
              <a:t>井在压窜防控上取得良好效果，</a:t>
            </a:r>
            <a:r>
              <a:rPr lang="en-US" altLang="zh-CN" sz="1600" dirty="0">
                <a:latin typeface="微软雅黑" panose="020B0503020204020204" pitchFamily="34" charset="-122"/>
                <a:ea typeface="微软雅黑" panose="020B0503020204020204" pitchFamily="34" charset="-122"/>
                <a:sym typeface="+mn-ea"/>
              </a:rPr>
              <a:t>1-6</a:t>
            </a:r>
            <a:r>
              <a:rPr lang="zh-CN" altLang="en-US" sz="1600" dirty="0">
                <a:latin typeface="微软雅黑" panose="020B0503020204020204" pitchFamily="34" charset="-122"/>
                <a:ea typeface="微软雅黑" panose="020B0503020204020204" pitchFamily="34" charset="-122"/>
                <a:sym typeface="+mn-ea"/>
              </a:rPr>
              <a:t>井均未发生套变</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0" name="图片 29" descr="图片1"/>
          <p:cNvPicPr>
            <a:picLocks noChangeAspect="1"/>
          </p:cNvPicPr>
          <p:nvPr/>
        </p:nvPicPr>
        <p:blipFill>
          <a:blip r:embed="rId1"/>
          <a:stretch>
            <a:fillRect/>
          </a:stretch>
        </p:blipFill>
        <p:spPr>
          <a:xfrm>
            <a:off x="134620" y="2555240"/>
            <a:ext cx="3449955" cy="3519170"/>
          </a:xfrm>
          <a:prstGeom prst="rect">
            <a:avLst/>
          </a:prstGeom>
        </p:spPr>
      </p:pic>
      <p:sp>
        <p:nvSpPr>
          <p:cNvPr id="31" name="TextBox 23"/>
          <p:cNvSpPr>
            <a:spLocks noChangeArrowheads="1"/>
          </p:cNvSpPr>
          <p:nvPr>
            <p:custDataLst>
              <p:tags r:id="rId2"/>
            </p:custDataLst>
          </p:nvPr>
        </p:nvSpPr>
        <p:spPr bwMode="auto">
          <a:xfrm>
            <a:off x="134620" y="6074410"/>
            <a:ext cx="344932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H10</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平台区域多级断裂平面分布图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93" name="组合 192"/>
          <p:cNvGrpSpPr/>
          <p:nvPr/>
        </p:nvGrpSpPr>
        <p:grpSpPr>
          <a:xfrm>
            <a:off x="3625215" y="2555240"/>
            <a:ext cx="2700000" cy="1620000"/>
            <a:chOff x="9136" y="5420"/>
            <a:chExt cx="9828" cy="3969"/>
          </a:xfrm>
        </p:grpSpPr>
        <p:pic>
          <p:nvPicPr>
            <p:cNvPr id="194" name="图片 193"/>
            <p:cNvPicPr>
              <a:picLocks noChangeAspect="1"/>
            </p:cNvPicPr>
            <p:nvPr>
              <p:custDataLst>
                <p:tags r:id="rId3"/>
              </p:custDataLst>
            </p:nvPr>
          </p:nvPicPr>
          <p:blipFill>
            <a:blip r:embed="rId4"/>
            <a:stretch>
              <a:fillRect/>
            </a:stretch>
          </p:blipFill>
          <p:spPr>
            <a:xfrm>
              <a:off x="9136" y="5420"/>
              <a:ext cx="9828" cy="3969"/>
            </a:xfrm>
            <a:prstGeom prst="rect">
              <a:avLst/>
            </a:prstGeom>
          </p:spPr>
        </p:pic>
        <p:sp>
          <p:nvSpPr>
            <p:cNvPr id="195" name="椭圆 194"/>
            <p:cNvSpPr/>
            <p:nvPr>
              <p:custDataLst>
                <p:tags r:id="rId5"/>
              </p:custDataLst>
            </p:nvPr>
          </p:nvSpPr>
          <p:spPr bwMode="auto">
            <a:xfrm rot="9091808">
              <a:off x="12342" y="7126"/>
              <a:ext cx="474" cy="106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6" name="椭圆 195"/>
            <p:cNvSpPr/>
            <p:nvPr>
              <p:custDataLst>
                <p:tags r:id="rId6"/>
              </p:custDataLst>
            </p:nvPr>
          </p:nvSpPr>
          <p:spPr bwMode="auto">
            <a:xfrm rot="10800000">
              <a:off x="13733" y="7192"/>
              <a:ext cx="408" cy="1158"/>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7" name="椭圆 196"/>
            <p:cNvSpPr/>
            <p:nvPr>
              <p:custDataLst>
                <p:tags r:id="rId7"/>
              </p:custDataLst>
            </p:nvPr>
          </p:nvSpPr>
          <p:spPr bwMode="auto">
            <a:xfrm rot="9575690">
              <a:off x="15353" y="7272"/>
              <a:ext cx="384" cy="1660"/>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8" name="椭圆 197"/>
            <p:cNvSpPr/>
            <p:nvPr>
              <p:custDataLst>
                <p:tags r:id="rId8"/>
              </p:custDataLst>
            </p:nvPr>
          </p:nvSpPr>
          <p:spPr bwMode="auto">
            <a:xfrm rot="9664841">
              <a:off x="15647" y="7089"/>
              <a:ext cx="460" cy="121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9" name="椭圆 198"/>
            <p:cNvSpPr/>
            <p:nvPr>
              <p:custDataLst>
                <p:tags r:id="rId9"/>
              </p:custDataLst>
            </p:nvPr>
          </p:nvSpPr>
          <p:spPr bwMode="auto">
            <a:xfrm rot="10800000">
              <a:off x="16373" y="7224"/>
              <a:ext cx="460" cy="870"/>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0" name="椭圆 199"/>
            <p:cNvSpPr/>
            <p:nvPr>
              <p:custDataLst>
                <p:tags r:id="rId10"/>
              </p:custDataLst>
            </p:nvPr>
          </p:nvSpPr>
          <p:spPr bwMode="auto">
            <a:xfrm rot="10800000">
              <a:off x="17882" y="7097"/>
              <a:ext cx="455" cy="785"/>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1" name="文本框 200"/>
            <p:cNvSpPr txBox="1"/>
            <p:nvPr>
              <p:custDataLst>
                <p:tags r:id="rId11"/>
              </p:custDataLst>
            </p:nvPr>
          </p:nvSpPr>
          <p:spPr>
            <a:xfrm>
              <a:off x="9136" y="5420"/>
              <a:ext cx="523" cy="629"/>
            </a:xfrm>
            <a:prstGeom prst="rect">
              <a:avLst/>
            </a:prstGeom>
            <a:noFill/>
          </p:spPr>
          <p:txBody>
            <a:bodyPr wrap="square" rtlCol="0">
              <a:spAutoFit/>
            </a:bodyPr>
            <a:lstStyle/>
            <a:p>
              <a:r>
                <a:rPr lang="en-US" altLang="zh-CN" sz="1200" dirty="0"/>
                <a:t>A</a:t>
              </a:r>
              <a:endParaRPr lang="en-US" altLang="zh-CN" sz="1200" dirty="0"/>
            </a:p>
          </p:txBody>
        </p:sp>
        <p:sp>
          <p:nvSpPr>
            <p:cNvPr id="202" name="文本框 201"/>
            <p:cNvSpPr txBox="1"/>
            <p:nvPr>
              <p:custDataLst>
                <p:tags r:id="rId12"/>
              </p:custDataLst>
            </p:nvPr>
          </p:nvSpPr>
          <p:spPr>
            <a:xfrm>
              <a:off x="18470" y="5435"/>
              <a:ext cx="493" cy="629"/>
            </a:xfrm>
            <a:prstGeom prst="rect">
              <a:avLst/>
            </a:prstGeom>
            <a:noFill/>
          </p:spPr>
          <p:txBody>
            <a:bodyPr wrap="square" rtlCol="0">
              <a:spAutoFit/>
            </a:bodyPr>
            <a:lstStyle/>
            <a:p>
              <a:r>
                <a:rPr lang="en-US" altLang="zh-CN" sz="1200" dirty="0"/>
                <a:t>B</a:t>
              </a:r>
              <a:endParaRPr lang="en-US" altLang="zh-CN" sz="1200" dirty="0"/>
            </a:p>
          </p:txBody>
        </p:sp>
      </p:grpSp>
      <p:grpSp>
        <p:nvGrpSpPr>
          <p:cNvPr id="204" name="组合 203"/>
          <p:cNvGrpSpPr/>
          <p:nvPr/>
        </p:nvGrpSpPr>
        <p:grpSpPr>
          <a:xfrm>
            <a:off x="6494145" y="2562225"/>
            <a:ext cx="2700000" cy="1620000"/>
            <a:chOff x="13644" y="2996"/>
            <a:chExt cx="5069" cy="2071"/>
          </a:xfrm>
        </p:grpSpPr>
        <p:pic>
          <p:nvPicPr>
            <p:cNvPr id="205" name="图片 204"/>
            <p:cNvPicPr>
              <a:picLocks noChangeAspect="1"/>
            </p:cNvPicPr>
            <p:nvPr>
              <p:custDataLst>
                <p:tags r:id="rId13"/>
              </p:custDataLst>
            </p:nvPr>
          </p:nvPicPr>
          <p:blipFill>
            <a:blip r:embed="rId14"/>
            <a:stretch>
              <a:fillRect/>
            </a:stretch>
          </p:blipFill>
          <p:spPr>
            <a:xfrm>
              <a:off x="13644" y="2996"/>
              <a:ext cx="5057" cy="2071"/>
            </a:xfrm>
            <a:prstGeom prst="rect">
              <a:avLst/>
            </a:prstGeom>
          </p:spPr>
        </p:pic>
        <p:sp>
          <p:nvSpPr>
            <p:cNvPr id="206" name="椭圆 205"/>
            <p:cNvSpPr/>
            <p:nvPr>
              <p:custDataLst>
                <p:tags r:id="rId15"/>
              </p:custDataLst>
            </p:nvPr>
          </p:nvSpPr>
          <p:spPr bwMode="auto">
            <a:xfrm rot="799312">
              <a:off x="14663" y="3966"/>
              <a:ext cx="163" cy="351"/>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7" name="椭圆 206"/>
            <p:cNvSpPr/>
            <p:nvPr>
              <p:custDataLst>
                <p:tags r:id="rId16"/>
              </p:custDataLst>
            </p:nvPr>
          </p:nvSpPr>
          <p:spPr bwMode="auto">
            <a:xfrm rot="877861">
              <a:off x="15149" y="3922"/>
              <a:ext cx="284" cy="494"/>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8" name="椭圆 207"/>
            <p:cNvSpPr/>
            <p:nvPr>
              <p:custDataLst>
                <p:tags r:id="rId17"/>
              </p:custDataLst>
            </p:nvPr>
          </p:nvSpPr>
          <p:spPr bwMode="auto">
            <a:xfrm rot="20955592">
              <a:off x="16069" y="3809"/>
              <a:ext cx="284" cy="750"/>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9" name="椭圆 208"/>
            <p:cNvSpPr/>
            <p:nvPr>
              <p:custDataLst>
                <p:tags r:id="rId18"/>
              </p:custDataLst>
            </p:nvPr>
          </p:nvSpPr>
          <p:spPr bwMode="auto">
            <a:xfrm rot="844694">
              <a:off x="16863" y="3899"/>
              <a:ext cx="291" cy="61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0" name="椭圆 209"/>
            <p:cNvSpPr/>
            <p:nvPr>
              <p:custDataLst>
                <p:tags r:id="rId19"/>
              </p:custDataLst>
            </p:nvPr>
          </p:nvSpPr>
          <p:spPr bwMode="auto">
            <a:xfrm rot="958822">
              <a:off x="17480" y="3698"/>
              <a:ext cx="415" cy="732"/>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1" name="文本框 210"/>
            <p:cNvSpPr txBox="1"/>
            <p:nvPr>
              <p:custDataLst>
                <p:tags r:id="rId20"/>
              </p:custDataLst>
            </p:nvPr>
          </p:nvSpPr>
          <p:spPr>
            <a:xfrm>
              <a:off x="13668" y="2996"/>
              <a:ext cx="269" cy="434"/>
            </a:xfrm>
            <a:prstGeom prst="rect">
              <a:avLst/>
            </a:prstGeom>
            <a:noFill/>
          </p:spPr>
          <p:txBody>
            <a:bodyPr wrap="square" rtlCol="0">
              <a:spAutoFit/>
            </a:bodyPr>
            <a:lstStyle/>
            <a:p>
              <a:r>
                <a:rPr lang="en-US" altLang="zh-CN" sz="1200" dirty="0"/>
                <a:t>A</a:t>
              </a:r>
              <a:endParaRPr lang="en-US" altLang="zh-CN" sz="1200" dirty="0"/>
            </a:p>
          </p:txBody>
        </p:sp>
        <p:sp>
          <p:nvSpPr>
            <p:cNvPr id="212" name="文本框 211"/>
            <p:cNvSpPr txBox="1"/>
            <p:nvPr>
              <p:custDataLst>
                <p:tags r:id="rId21"/>
              </p:custDataLst>
            </p:nvPr>
          </p:nvSpPr>
          <p:spPr>
            <a:xfrm>
              <a:off x="18460" y="2996"/>
              <a:ext cx="253" cy="434"/>
            </a:xfrm>
            <a:prstGeom prst="rect">
              <a:avLst/>
            </a:prstGeom>
            <a:noFill/>
          </p:spPr>
          <p:txBody>
            <a:bodyPr wrap="square" rtlCol="0">
              <a:spAutoFit/>
            </a:bodyPr>
            <a:lstStyle/>
            <a:p>
              <a:r>
                <a:rPr lang="en-US" altLang="zh-CN" sz="1200" dirty="0"/>
                <a:t>B</a:t>
              </a:r>
              <a:endParaRPr lang="en-US" altLang="zh-CN" sz="1200" dirty="0"/>
            </a:p>
          </p:txBody>
        </p:sp>
      </p:grpSp>
      <p:grpSp>
        <p:nvGrpSpPr>
          <p:cNvPr id="213" name="组合 212"/>
          <p:cNvGrpSpPr/>
          <p:nvPr/>
        </p:nvGrpSpPr>
        <p:grpSpPr>
          <a:xfrm>
            <a:off x="9275445" y="2555240"/>
            <a:ext cx="2700000" cy="1620000"/>
            <a:chOff x="8508" y="5411"/>
            <a:chExt cx="4867" cy="2088"/>
          </a:xfrm>
        </p:grpSpPr>
        <p:pic>
          <p:nvPicPr>
            <p:cNvPr id="214" name="图片 213"/>
            <p:cNvPicPr>
              <a:picLocks noChangeAspect="1"/>
            </p:cNvPicPr>
            <p:nvPr>
              <p:custDataLst>
                <p:tags r:id="rId22"/>
              </p:custDataLst>
            </p:nvPr>
          </p:nvPicPr>
          <p:blipFill>
            <a:blip r:embed="rId23"/>
            <a:stretch>
              <a:fillRect/>
            </a:stretch>
          </p:blipFill>
          <p:spPr>
            <a:xfrm>
              <a:off x="8508" y="5411"/>
              <a:ext cx="4867" cy="2088"/>
            </a:xfrm>
            <a:prstGeom prst="rect">
              <a:avLst/>
            </a:prstGeom>
          </p:spPr>
        </p:pic>
        <p:sp>
          <p:nvSpPr>
            <p:cNvPr id="215" name="椭圆 214"/>
            <p:cNvSpPr/>
            <p:nvPr>
              <p:custDataLst>
                <p:tags r:id="rId24"/>
              </p:custDataLst>
            </p:nvPr>
          </p:nvSpPr>
          <p:spPr bwMode="auto">
            <a:xfrm rot="20479867">
              <a:off x="9537" y="6326"/>
              <a:ext cx="275" cy="63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6" name="椭圆 215"/>
            <p:cNvSpPr/>
            <p:nvPr>
              <p:custDataLst>
                <p:tags r:id="rId25"/>
              </p:custDataLst>
            </p:nvPr>
          </p:nvSpPr>
          <p:spPr bwMode="auto">
            <a:xfrm rot="21217173">
              <a:off x="10010" y="6314"/>
              <a:ext cx="275" cy="62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7" name="椭圆 216"/>
            <p:cNvSpPr/>
            <p:nvPr>
              <p:custDataLst>
                <p:tags r:id="rId26"/>
              </p:custDataLst>
            </p:nvPr>
          </p:nvSpPr>
          <p:spPr bwMode="auto">
            <a:xfrm rot="21322842">
              <a:off x="10641" y="6213"/>
              <a:ext cx="329" cy="724"/>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8" name="椭圆 217"/>
            <p:cNvSpPr/>
            <p:nvPr>
              <p:custDataLst>
                <p:tags r:id="rId27"/>
              </p:custDataLst>
            </p:nvPr>
          </p:nvSpPr>
          <p:spPr bwMode="auto">
            <a:xfrm rot="628411">
              <a:off x="11310" y="6406"/>
              <a:ext cx="239" cy="63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9" name="椭圆 218"/>
            <p:cNvSpPr/>
            <p:nvPr>
              <p:custDataLst>
                <p:tags r:id="rId28"/>
              </p:custDataLst>
            </p:nvPr>
          </p:nvSpPr>
          <p:spPr bwMode="auto">
            <a:xfrm rot="2184308">
              <a:off x="12222" y="6162"/>
              <a:ext cx="290" cy="692"/>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0" name="椭圆 219"/>
            <p:cNvSpPr/>
            <p:nvPr>
              <p:custDataLst>
                <p:tags r:id="rId29"/>
              </p:custDataLst>
            </p:nvPr>
          </p:nvSpPr>
          <p:spPr bwMode="auto">
            <a:xfrm>
              <a:off x="12623" y="6432"/>
              <a:ext cx="236" cy="18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1" name="文本框 220"/>
            <p:cNvSpPr txBox="1"/>
            <p:nvPr>
              <p:custDataLst>
                <p:tags r:id="rId30"/>
              </p:custDataLst>
            </p:nvPr>
          </p:nvSpPr>
          <p:spPr>
            <a:xfrm>
              <a:off x="8511" y="5411"/>
              <a:ext cx="252" cy="306"/>
            </a:xfrm>
            <a:prstGeom prst="rect">
              <a:avLst/>
            </a:prstGeom>
          </p:spPr>
          <p:txBody>
            <a:bodyPr wrap="square" rtlCol="0">
              <a:noAutofit/>
            </a:bodyPr>
            <a:lstStyle/>
            <a:p>
              <a:r>
                <a:rPr lang="en-US" altLang="zh-CN" sz="1200" dirty="0"/>
                <a:t>A</a:t>
              </a:r>
              <a:endParaRPr lang="en-US" altLang="zh-CN" sz="1200" dirty="0"/>
            </a:p>
          </p:txBody>
        </p:sp>
        <p:sp>
          <p:nvSpPr>
            <p:cNvPr id="222" name="文本框 221"/>
            <p:cNvSpPr txBox="1"/>
            <p:nvPr>
              <p:custDataLst>
                <p:tags r:id="rId31"/>
              </p:custDataLst>
            </p:nvPr>
          </p:nvSpPr>
          <p:spPr>
            <a:xfrm>
              <a:off x="13138" y="5420"/>
              <a:ext cx="237" cy="434"/>
            </a:xfrm>
            <a:prstGeom prst="rect">
              <a:avLst/>
            </a:prstGeom>
          </p:spPr>
          <p:txBody>
            <a:bodyPr wrap="square" rtlCol="0">
              <a:spAutoFit/>
            </a:bodyPr>
            <a:lstStyle/>
            <a:p>
              <a:r>
                <a:rPr lang="en-US" altLang="zh-CN" sz="1200" dirty="0"/>
                <a:t>B</a:t>
              </a:r>
              <a:endParaRPr lang="en-US" altLang="zh-CN" sz="1200" dirty="0"/>
            </a:p>
          </p:txBody>
        </p:sp>
      </p:grpSp>
      <p:grpSp>
        <p:nvGrpSpPr>
          <p:cNvPr id="223" name="组合 222"/>
          <p:cNvGrpSpPr/>
          <p:nvPr/>
        </p:nvGrpSpPr>
        <p:grpSpPr>
          <a:xfrm>
            <a:off x="3613785" y="4293235"/>
            <a:ext cx="2700020" cy="1701800"/>
            <a:chOff x="8870" y="5426"/>
            <a:chExt cx="10106" cy="4081"/>
          </a:xfrm>
        </p:grpSpPr>
        <p:pic>
          <p:nvPicPr>
            <p:cNvPr id="224" name="图片 223"/>
            <p:cNvPicPr>
              <a:picLocks noChangeAspect="1"/>
            </p:cNvPicPr>
            <p:nvPr>
              <p:custDataLst>
                <p:tags r:id="rId32"/>
              </p:custDataLst>
            </p:nvPr>
          </p:nvPicPr>
          <p:blipFill>
            <a:blip r:embed="rId33"/>
            <a:stretch>
              <a:fillRect/>
            </a:stretch>
          </p:blipFill>
          <p:spPr>
            <a:xfrm>
              <a:off x="9005" y="5450"/>
              <a:ext cx="9956" cy="4057"/>
            </a:xfrm>
            <a:prstGeom prst="rect">
              <a:avLst/>
            </a:prstGeom>
          </p:spPr>
        </p:pic>
        <p:sp>
          <p:nvSpPr>
            <p:cNvPr id="225" name="椭圆 224"/>
            <p:cNvSpPr/>
            <p:nvPr>
              <p:custDataLst>
                <p:tags r:id="rId34"/>
              </p:custDataLst>
            </p:nvPr>
          </p:nvSpPr>
          <p:spPr bwMode="auto">
            <a:xfrm rot="20182866">
              <a:off x="11367" y="7228"/>
              <a:ext cx="806" cy="134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6" name="椭圆 225"/>
            <p:cNvSpPr/>
            <p:nvPr>
              <p:custDataLst>
                <p:tags r:id="rId35"/>
              </p:custDataLst>
            </p:nvPr>
          </p:nvSpPr>
          <p:spPr bwMode="auto">
            <a:xfrm rot="1111610">
              <a:off x="12787" y="7572"/>
              <a:ext cx="536" cy="134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7" name="椭圆 226"/>
            <p:cNvSpPr/>
            <p:nvPr>
              <p:custDataLst>
                <p:tags r:id="rId36"/>
              </p:custDataLst>
            </p:nvPr>
          </p:nvSpPr>
          <p:spPr bwMode="auto">
            <a:xfrm rot="20307562">
              <a:off x="14486" y="6948"/>
              <a:ext cx="881" cy="134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8" name="椭圆 227"/>
            <p:cNvSpPr/>
            <p:nvPr>
              <p:custDataLst>
                <p:tags r:id="rId37"/>
              </p:custDataLst>
            </p:nvPr>
          </p:nvSpPr>
          <p:spPr bwMode="auto">
            <a:xfrm rot="1201247">
              <a:off x="17201" y="6855"/>
              <a:ext cx="805" cy="1318"/>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0" name="文本框 229"/>
            <p:cNvSpPr txBox="1"/>
            <p:nvPr>
              <p:custDataLst>
                <p:tags r:id="rId38"/>
              </p:custDataLst>
            </p:nvPr>
          </p:nvSpPr>
          <p:spPr>
            <a:xfrm>
              <a:off x="8870" y="5426"/>
              <a:ext cx="523" cy="661"/>
            </a:xfrm>
            <a:prstGeom prst="rect">
              <a:avLst/>
            </a:prstGeom>
          </p:spPr>
          <p:txBody>
            <a:bodyPr wrap="square" rtlCol="0">
              <a:spAutoFit/>
            </a:bodyPr>
            <a:lstStyle/>
            <a:p>
              <a:r>
                <a:rPr lang="en-US" altLang="zh-CN" sz="1200" dirty="0"/>
                <a:t>A</a:t>
              </a:r>
              <a:endParaRPr lang="en-US" altLang="zh-CN" sz="1200" dirty="0"/>
            </a:p>
          </p:txBody>
        </p:sp>
        <p:sp>
          <p:nvSpPr>
            <p:cNvPr id="231" name="文本框 230"/>
            <p:cNvSpPr txBox="1"/>
            <p:nvPr>
              <p:custDataLst>
                <p:tags r:id="rId39"/>
              </p:custDataLst>
            </p:nvPr>
          </p:nvSpPr>
          <p:spPr>
            <a:xfrm>
              <a:off x="18483" y="5522"/>
              <a:ext cx="493" cy="661"/>
            </a:xfrm>
            <a:prstGeom prst="rect">
              <a:avLst/>
            </a:prstGeom>
          </p:spPr>
          <p:txBody>
            <a:bodyPr wrap="square" rtlCol="0">
              <a:spAutoFit/>
            </a:bodyPr>
            <a:lstStyle/>
            <a:p>
              <a:r>
                <a:rPr lang="en-US" altLang="zh-CN" sz="1200" dirty="0"/>
                <a:t>B</a:t>
              </a:r>
              <a:endParaRPr lang="en-US" altLang="zh-CN" sz="1200" dirty="0"/>
            </a:p>
          </p:txBody>
        </p:sp>
      </p:grpSp>
      <p:grpSp>
        <p:nvGrpSpPr>
          <p:cNvPr id="232" name="组合 231"/>
          <p:cNvGrpSpPr/>
          <p:nvPr/>
        </p:nvGrpSpPr>
        <p:grpSpPr>
          <a:xfrm>
            <a:off x="6458585" y="4304057"/>
            <a:ext cx="2700000" cy="1696173"/>
            <a:chOff x="9005" y="5260"/>
            <a:chExt cx="9814" cy="4164"/>
          </a:xfrm>
        </p:grpSpPr>
        <p:pic>
          <p:nvPicPr>
            <p:cNvPr id="233" name="图片 232"/>
            <p:cNvPicPr>
              <a:picLocks noChangeAspect="1"/>
            </p:cNvPicPr>
            <p:nvPr>
              <p:custDataLst>
                <p:tags r:id="rId40"/>
              </p:custDataLst>
            </p:nvPr>
          </p:nvPicPr>
          <p:blipFill>
            <a:blip r:embed="rId41"/>
            <a:stretch>
              <a:fillRect/>
            </a:stretch>
          </p:blipFill>
          <p:spPr>
            <a:xfrm>
              <a:off x="9005" y="5260"/>
              <a:ext cx="9807" cy="4164"/>
            </a:xfrm>
            <a:prstGeom prst="rect">
              <a:avLst/>
            </a:prstGeom>
          </p:spPr>
        </p:pic>
        <p:sp>
          <p:nvSpPr>
            <p:cNvPr id="234" name="椭圆 233"/>
            <p:cNvSpPr/>
            <p:nvPr>
              <p:custDataLst>
                <p:tags r:id="rId42"/>
              </p:custDataLst>
            </p:nvPr>
          </p:nvSpPr>
          <p:spPr bwMode="auto">
            <a:xfrm rot="1969788">
              <a:off x="13446" y="6953"/>
              <a:ext cx="409" cy="898"/>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5" name="椭圆 234"/>
            <p:cNvSpPr/>
            <p:nvPr>
              <p:custDataLst>
                <p:tags r:id="rId43"/>
              </p:custDataLst>
            </p:nvPr>
          </p:nvSpPr>
          <p:spPr bwMode="auto">
            <a:xfrm rot="6155926">
              <a:off x="15722" y="7144"/>
              <a:ext cx="344" cy="671"/>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6" name="椭圆 235"/>
            <p:cNvSpPr/>
            <p:nvPr>
              <p:custDataLst>
                <p:tags r:id="rId44"/>
              </p:custDataLst>
            </p:nvPr>
          </p:nvSpPr>
          <p:spPr bwMode="auto">
            <a:xfrm rot="12240048">
              <a:off x="17249" y="7426"/>
              <a:ext cx="314" cy="701"/>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8" name="文本框 237"/>
            <p:cNvSpPr txBox="1"/>
            <p:nvPr>
              <p:custDataLst>
                <p:tags r:id="rId45"/>
              </p:custDataLst>
            </p:nvPr>
          </p:nvSpPr>
          <p:spPr>
            <a:xfrm>
              <a:off x="9005" y="5448"/>
              <a:ext cx="527" cy="724"/>
            </a:xfrm>
            <a:prstGeom prst="rect">
              <a:avLst/>
            </a:prstGeom>
          </p:spPr>
          <p:txBody>
            <a:bodyPr wrap="square" rtlCol="0">
              <a:spAutoFit/>
            </a:bodyPr>
            <a:lstStyle/>
            <a:p>
              <a:r>
                <a:rPr lang="en-US" altLang="zh-CN" sz="1200" dirty="0"/>
                <a:t>A</a:t>
              </a:r>
              <a:endParaRPr lang="en-US" altLang="zh-CN" sz="1200" dirty="0"/>
            </a:p>
          </p:txBody>
        </p:sp>
        <p:sp>
          <p:nvSpPr>
            <p:cNvPr id="239" name="文本框 238"/>
            <p:cNvSpPr txBox="1"/>
            <p:nvPr>
              <p:custDataLst>
                <p:tags r:id="rId46"/>
              </p:custDataLst>
            </p:nvPr>
          </p:nvSpPr>
          <p:spPr>
            <a:xfrm>
              <a:off x="18323" y="5447"/>
              <a:ext cx="496" cy="724"/>
            </a:xfrm>
            <a:prstGeom prst="rect">
              <a:avLst/>
            </a:prstGeom>
          </p:spPr>
          <p:txBody>
            <a:bodyPr wrap="square" rtlCol="0">
              <a:spAutoFit/>
            </a:bodyPr>
            <a:lstStyle/>
            <a:p>
              <a:r>
                <a:rPr lang="en-US" altLang="zh-CN" sz="1200" dirty="0"/>
                <a:t>B</a:t>
              </a:r>
              <a:endParaRPr lang="en-US" altLang="zh-CN" sz="1200" dirty="0"/>
            </a:p>
          </p:txBody>
        </p:sp>
      </p:grpSp>
      <p:grpSp>
        <p:nvGrpSpPr>
          <p:cNvPr id="240" name="组合 239"/>
          <p:cNvGrpSpPr/>
          <p:nvPr/>
        </p:nvGrpSpPr>
        <p:grpSpPr>
          <a:xfrm>
            <a:off x="9275445" y="4303949"/>
            <a:ext cx="2700000" cy="1697551"/>
            <a:chOff x="9069" y="5354"/>
            <a:chExt cx="9580" cy="4159"/>
          </a:xfrm>
        </p:grpSpPr>
        <p:pic>
          <p:nvPicPr>
            <p:cNvPr id="241" name="图片 240"/>
            <p:cNvPicPr>
              <a:picLocks noChangeAspect="1"/>
            </p:cNvPicPr>
            <p:nvPr>
              <p:custDataLst>
                <p:tags r:id="rId47"/>
              </p:custDataLst>
            </p:nvPr>
          </p:nvPicPr>
          <p:blipFill>
            <a:blip r:embed="rId48"/>
            <a:stretch>
              <a:fillRect/>
            </a:stretch>
          </p:blipFill>
          <p:spPr>
            <a:xfrm>
              <a:off x="9069" y="5354"/>
              <a:ext cx="9535" cy="4159"/>
            </a:xfrm>
            <a:prstGeom prst="rect">
              <a:avLst/>
            </a:prstGeom>
          </p:spPr>
        </p:pic>
        <p:sp>
          <p:nvSpPr>
            <p:cNvPr id="242" name="椭圆 241"/>
            <p:cNvSpPr/>
            <p:nvPr>
              <p:custDataLst>
                <p:tags r:id="rId49"/>
              </p:custDataLst>
            </p:nvPr>
          </p:nvSpPr>
          <p:spPr bwMode="auto">
            <a:xfrm rot="20021616">
              <a:off x="11201" y="7362"/>
              <a:ext cx="539" cy="90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3" name="椭圆 242"/>
            <p:cNvSpPr/>
            <p:nvPr>
              <p:custDataLst>
                <p:tags r:id="rId50"/>
              </p:custDataLst>
            </p:nvPr>
          </p:nvSpPr>
          <p:spPr bwMode="auto">
            <a:xfrm rot="837307">
              <a:off x="12742" y="7294"/>
              <a:ext cx="421" cy="70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4" name="椭圆 243"/>
            <p:cNvSpPr/>
            <p:nvPr>
              <p:custDataLst>
                <p:tags r:id="rId51"/>
              </p:custDataLst>
            </p:nvPr>
          </p:nvSpPr>
          <p:spPr bwMode="auto">
            <a:xfrm rot="18110742">
              <a:off x="13649" y="7356"/>
              <a:ext cx="447" cy="72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5" name="椭圆 244"/>
            <p:cNvSpPr/>
            <p:nvPr>
              <p:custDataLst>
                <p:tags r:id="rId52"/>
              </p:custDataLst>
            </p:nvPr>
          </p:nvSpPr>
          <p:spPr bwMode="auto">
            <a:xfrm rot="21007306">
              <a:off x="16321" y="7515"/>
              <a:ext cx="377" cy="82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6" name="椭圆 245"/>
            <p:cNvSpPr/>
            <p:nvPr>
              <p:custDataLst>
                <p:tags r:id="rId53"/>
              </p:custDataLst>
            </p:nvPr>
          </p:nvSpPr>
          <p:spPr bwMode="auto">
            <a:xfrm rot="18965535">
              <a:off x="17534" y="7198"/>
              <a:ext cx="508" cy="847"/>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8" name="文本框 247"/>
            <p:cNvSpPr txBox="1"/>
            <p:nvPr>
              <p:custDataLst>
                <p:tags r:id="rId54"/>
              </p:custDataLst>
            </p:nvPr>
          </p:nvSpPr>
          <p:spPr>
            <a:xfrm>
              <a:off x="9069" y="5563"/>
              <a:ext cx="527" cy="713"/>
            </a:xfrm>
            <a:prstGeom prst="rect">
              <a:avLst/>
            </a:prstGeom>
          </p:spPr>
          <p:txBody>
            <a:bodyPr wrap="square" rtlCol="0">
              <a:spAutoFit/>
            </a:bodyPr>
            <a:lstStyle/>
            <a:p>
              <a:r>
                <a:rPr lang="en-US" altLang="zh-CN" sz="1200" dirty="0"/>
                <a:t>A</a:t>
              </a:r>
              <a:endParaRPr lang="en-US" altLang="zh-CN" sz="1200" dirty="0"/>
            </a:p>
          </p:txBody>
        </p:sp>
        <p:sp>
          <p:nvSpPr>
            <p:cNvPr id="249" name="文本框 248"/>
            <p:cNvSpPr txBox="1"/>
            <p:nvPr>
              <p:custDataLst>
                <p:tags r:id="rId55"/>
              </p:custDataLst>
            </p:nvPr>
          </p:nvSpPr>
          <p:spPr>
            <a:xfrm>
              <a:off x="18153" y="5555"/>
              <a:ext cx="496" cy="713"/>
            </a:xfrm>
            <a:prstGeom prst="rect">
              <a:avLst/>
            </a:prstGeom>
          </p:spPr>
          <p:txBody>
            <a:bodyPr wrap="square" rtlCol="0">
              <a:spAutoFit/>
            </a:bodyPr>
            <a:lstStyle/>
            <a:p>
              <a:r>
                <a:rPr lang="en-US" altLang="zh-CN" sz="1200" dirty="0"/>
                <a:t>B</a:t>
              </a:r>
              <a:endParaRPr lang="en-US" altLang="zh-CN" sz="1200" dirty="0"/>
            </a:p>
          </p:txBody>
        </p:sp>
      </p:grpSp>
      <p:sp>
        <p:nvSpPr>
          <p:cNvPr id="250" name="文本框 249"/>
          <p:cNvSpPr txBox="1"/>
          <p:nvPr/>
        </p:nvSpPr>
        <p:spPr>
          <a:xfrm>
            <a:off x="4732020" y="2707005"/>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1" name="文本框 250"/>
          <p:cNvSpPr txBox="1"/>
          <p:nvPr/>
        </p:nvSpPr>
        <p:spPr>
          <a:xfrm>
            <a:off x="7614920" y="2707005"/>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5" name="TextBox 23"/>
          <p:cNvSpPr>
            <a:spLocks noChangeArrowheads="1"/>
          </p:cNvSpPr>
          <p:nvPr>
            <p:custDataLst>
              <p:tags r:id="rId56"/>
            </p:custDataLst>
          </p:nvPr>
        </p:nvSpPr>
        <p:spPr bwMode="auto">
          <a:xfrm>
            <a:off x="3624580" y="6074410"/>
            <a:ext cx="835088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sym typeface="+mn-ea"/>
              </a:rPr>
              <a:t>泸</a:t>
            </a:r>
            <a:r>
              <a:rPr lang="en-US" altLang="zh-CN" sz="1200" dirty="0">
                <a:solidFill>
                  <a:srgbClr val="000000"/>
                </a:solidFill>
                <a:latin typeface="微软雅黑" panose="020B0503020204020204" pitchFamily="34" charset="-122"/>
                <a:ea typeface="微软雅黑" panose="020B0503020204020204" pitchFamily="34" charset="-122"/>
                <a:sym typeface="+mn-ea"/>
              </a:rPr>
              <a:t>203</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H10</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1-6</a:t>
            </a:r>
            <a:r>
              <a:rPr lang="zh-CN" altLang="en-US" sz="1200" dirty="0">
                <a:solidFill>
                  <a:srgbClr val="000000"/>
                </a:solidFill>
                <a:latin typeface="微软雅黑" panose="020B0503020204020204" pitchFamily="34" charset="-122"/>
                <a:ea typeface="微软雅黑" panose="020B0503020204020204" pitchFamily="34" charset="-122"/>
                <a:sym typeface="+mn-ea"/>
              </a:rPr>
              <a:t>井多级裂缝预测剖面图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6" name="文本框 305"/>
          <p:cNvSpPr txBox="1"/>
          <p:nvPr/>
        </p:nvSpPr>
        <p:spPr>
          <a:xfrm>
            <a:off x="10436225" y="2707005"/>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 name="文本框 306"/>
          <p:cNvSpPr txBox="1"/>
          <p:nvPr/>
        </p:nvSpPr>
        <p:spPr>
          <a:xfrm>
            <a:off x="4732020" y="4452620"/>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8" name="文本框 307"/>
          <p:cNvSpPr txBox="1"/>
          <p:nvPr/>
        </p:nvSpPr>
        <p:spPr>
          <a:xfrm>
            <a:off x="7614920" y="4452620"/>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9" name="文本框 308"/>
          <p:cNvSpPr txBox="1"/>
          <p:nvPr/>
        </p:nvSpPr>
        <p:spPr>
          <a:xfrm>
            <a:off x="10436225" y="4452620"/>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874407"/>
          </a:xfrm>
          <a:prstGeom prst="rect">
            <a:avLst/>
          </a:prstGeom>
          <a:noFill/>
          <a:ln>
            <a:noFill/>
          </a:ln>
        </p:spPr>
        <p:txBody>
          <a:bodyPr wrap="square" lIns="91440" tIns="45720" rIns="91440" bIns="45720" anchor="t">
            <a:spAutoFit/>
          </a:bodyPr>
          <a:lstStyle/>
          <a:p>
            <a:pPr marL="802005" indent="-802005">
              <a:lnSpc>
                <a:spcPct val="150000"/>
              </a:lnSpc>
              <a:defRPr/>
            </a:pPr>
            <a:r>
              <a:rPr lang="en-US" dirty="0">
                <a:solidFill>
                  <a:prstClr val="black"/>
                </a:solidFill>
                <a:latin typeface="微软雅黑" panose="020B0503020204020204" pitchFamily="34" charset="-122"/>
                <a:ea typeface="+mn-lt"/>
                <a:sym typeface="+mn-ea"/>
              </a:rPr>
              <a:t>1</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noProof="0" dirty="0">
                <a:ln>
                  <a:noFill/>
                </a:ln>
                <a:solidFill>
                  <a:prstClr val="black"/>
                </a:solidFill>
                <a:effectLst/>
                <a:uLnTx/>
                <a:uFillTx/>
                <a:latin typeface="微软雅黑" panose="020B0503020204020204" pitchFamily="34" charset="-122"/>
                <a:ea typeface="+mn-lt"/>
                <a:sym typeface="+mn-ea"/>
              </a:rPr>
              <a:t>203</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noProof="0" dirty="0">
                <a:ln>
                  <a:noFill/>
                </a:ln>
                <a:solidFill>
                  <a:prstClr val="black"/>
                </a:solidFill>
                <a:effectLst/>
                <a:uLnTx/>
                <a:uFillTx/>
                <a:latin typeface="微软雅黑" panose="020B0503020204020204" pitchFamily="34" charset="-122"/>
                <a:ea typeface="+mn-lt"/>
                <a:sym typeface="+mn-ea"/>
              </a:rPr>
              <a:t>H10</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noProof="0" dirty="0">
                <a:ln>
                  <a:noFill/>
                </a:ln>
                <a:solidFill>
                  <a:prstClr val="black"/>
                </a:solidFill>
                <a:effectLst/>
                <a:uLnTx/>
                <a:uFillTx/>
                <a:latin typeface="微软雅黑" panose="020B0503020204020204" pitchFamily="34" charset="-122"/>
                <a:ea typeface="+mn-lt"/>
                <a:sym typeface="+mn-ea"/>
              </a:rPr>
              <a:t>-</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a:t>
            </a:r>
            <a:r>
              <a:rPr lang="zh-CN">
                <a:solidFill>
                  <a:prstClr val="black"/>
                </a:solidFill>
                <a:latin typeface="微软雅黑" panose="020B0503020204020204" pitchFamily="34" charset="-122"/>
                <a:ea typeface="微软雅黑" panose="020B0503020204020204" pitchFamily="34" charset="-122"/>
                <a:sym typeface="+mn-ea"/>
              </a:rPr>
              <a:t>综合评估</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指标</a:t>
            </a:r>
            <a:r>
              <a:rPr lang="zh-CN">
                <a:solidFill>
                  <a:prstClr val="black"/>
                </a:solidFill>
                <a:latin typeface="微软雅黑" panose="020B0503020204020204" pitchFamily="34" charset="-122"/>
                <a:ea typeface="微软雅黑" panose="020B0503020204020204" pitchFamily="34" charset="-122"/>
                <a:sym typeface="+mn-ea"/>
              </a:rPr>
              <a:t>体系</a:t>
            </a:r>
            <a:endParaRPr lang="en-US" altLang="zh-CN">
              <a:solidFill>
                <a:prstClr val="black"/>
              </a:solidFill>
              <a:latin typeface="微软雅黑" panose="020B0503020204020204" pitchFamily="34" charset="-122"/>
              <a:ea typeface="+mn-lt"/>
              <a:sym typeface="+mn-ea"/>
            </a:endParaRPr>
          </a:p>
          <a:p>
            <a:pPr marL="802005" marR="0" lvl="0" indent="-802005" algn="l" defTabSz="914400">
              <a:lnSpc>
                <a:spcPct val="150000"/>
              </a:lnSpc>
              <a:spcBef>
                <a:spcPts val="0"/>
              </a:spcBef>
              <a:spcAft>
                <a:spcPts val="0"/>
              </a:spcAft>
              <a:buSzTx/>
              <a:buFontTx/>
              <a:buNone/>
              <a:defRPr/>
            </a:pP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334645" y="6074410"/>
            <a:ext cx="114579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ctr" fontAlgn="base">
              <a:spcBef>
                <a:spcPct val="0"/>
              </a:spcBef>
              <a:spcAft>
                <a:spcPct val="0"/>
              </a:spcAft>
              <a:defRPr/>
            </a:pP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H10</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1-6</a:t>
            </a:r>
            <a:r>
              <a:rPr lang="zh-CN" altLang="en-US" sz="1200">
                <a:solidFill>
                  <a:srgbClr val="000000"/>
                </a:solidFill>
                <a:latin typeface="微软雅黑" panose="020B0503020204020204" pitchFamily="34" charset="-122"/>
                <a:ea typeface="微软雅黑" panose="020B0503020204020204" pitchFamily="34" charset="-122"/>
                <a:sym typeface="+mn-ea"/>
              </a:rPr>
              <a:t>井综合评估指标体系</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结果与</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EUR</a:t>
            </a:r>
            <a:endParaRPr lang="zh-CN" dirty="0">
              <a:cs typeface="Tahoma" panose="020B0604030504040204"/>
            </a:endParaRPr>
          </a:p>
        </p:txBody>
      </p:sp>
      <p:graphicFrame>
        <p:nvGraphicFramePr>
          <p:cNvPr id="5" name="表格 4"/>
          <p:cNvGraphicFramePr>
            <a:graphicFrameLocks noGrp="1"/>
          </p:cNvGraphicFramePr>
          <p:nvPr>
            <p:custDataLst>
              <p:tags r:id="rId2"/>
            </p:custDataLst>
          </p:nvPr>
        </p:nvGraphicFramePr>
        <p:xfrm>
          <a:off x="272415" y="2541905"/>
          <a:ext cx="11520170" cy="3517900"/>
        </p:xfrm>
        <a:graphic>
          <a:graphicData uri="http://schemas.openxmlformats.org/drawingml/2006/table">
            <a:tbl>
              <a:tblPr firstRow="1" bandRow="1">
                <a:tableStyleId>{5940675A-B579-460E-94D1-54222C63F5DA}</a:tableStyleId>
              </a:tblPr>
              <a:tblGrid>
                <a:gridCol w="828040"/>
                <a:gridCol w="972185"/>
                <a:gridCol w="971550"/>
                <a:gridCol w="972185"/>
                <a:gridCol w="972185"/>
                <a:gridCol w="971550"/>
                <a:gridCol w="972185"/>
                <a:gridCol w="972185"/>
                <a:gridCol w="972185"/>
                <a:gridCol w="971550"/>
                <a:gridCol w="972185"/>
                <a:gridCol w="972185"/>
              </a:tblGrid>
              <a:tr h="603250">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井号</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反演</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小波</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变换</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水击边界</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指数</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有效用液</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指数</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施工曲线</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诊断</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停泵</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压降</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水击衰减</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系数</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曲线量化</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裂缝支撑</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指数</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千米</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20000"/>
                        </a:lnSpc>
                        <a:buNone/>
                      </a:pPr>
                      <a:r>
                        <a:rPr lang="en-US" altLang="zh-CN"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最终得分</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r>
              <a:tr h="48577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LH10-1</a:t>
                      </a:r>
                      <a:endParaRPr lang="en-US"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6.851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8.169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8.974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8.173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8.376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7.573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9.127</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6.615</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9.945</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0.516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0.5559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r>
              <a:tr h="48577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LH10-2</a:t>
                      </a:r>
                      <a:endParaRPr lang="en-US"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6.819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8.031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8.781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8.423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8.354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8.11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9.389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6.505</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9.48</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0.488</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0.4192</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r>
              <a:tr h="48577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LH10-3</a:t>
                      </a:r>
                      <a:endParaRPr lang="en-US"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7.254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8.217</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8.636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8.859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8.379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7.416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8.629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6.994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9.999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0.599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0.613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r>
              <a:tr h="48577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LH10-4</a:t>
                      </a:r>
                      <a:endParaRPr lang="en-US"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7.029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7.818</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8.786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8.581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8.404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7.95</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9.136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6.339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9.91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0.391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0.4399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r>
              <a:tr h="48577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LH10-5</a:t>
                      </a:r>
                      <a:endParaRPr lang="en-US"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6.883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7.854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9.103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9.105</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8.373</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8.109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8.576</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6.408</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9.968</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0.407</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0.4427</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r>
              <a:tr h="48577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LH10-6</a:t>
                      </a:r>
                      <a:endParaRPr lang="en-US"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6.79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7.89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8.974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8.601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8.451</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7.692</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9.029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6.45</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9.909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0.459</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0.4364</a:t>
                      </a:r>
                      <a:endParaRPr lang="en-US" altLang="zh-CN" sz="1200" dirty="0">
                        <a:effectLst/>
                        <a:latin typeface="微软雅黑" panose="020B0503020204020204" pitchFamily="34" charset="-122"/>
                        <a:ea typeface="微软雅黑" panose="020B0503020204020204" pitchFamily="34" charset="-122"/>
                      </a:endParaRPr>
                    </a:p>
                  </a:txBody>
                  <a:tcPr marL="136525" marR="136525" marT="82550" marB="82550" anchor="ctr"/>
                </a:tc>
              </a:tr>
            </a:tbl>
          </a:graphicData>
        </a:graphic>
      </p:graphicFrame>
      <p:sp>
        <p:nvSpPr>
          <p:cNvPr id="3"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综合评分最高，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函数反演体积与小波分析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评分均衡</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，反映天然裂缝发育促进缝网形成，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改造体积大且支撑有效性好</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评分居第二，小波体积评分全平台最高，说明地震监测捕捉到强能量事件，</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裂缝激活充分但改造集中度较</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井略低</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评分偏低在</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左右，主钻</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小层存在明显液体滤失，</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高砂浓支撑剂易砂堵</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，导致改造体积和导流能力指标评分受限</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lIns="91440" tIns="45720" rIns="91440" bIns="45720" anchor="t">
            <a:spAutoFit/>
          </a:bodyPr>
          <a:lstStyle/>
          <a:p>
            <a:pPr marL="802005"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评价</a:t>
            </a:r>
            <a:r>
              <a:rPr lang="zh-CN">
                <a:solidFill>
                  <a:prstClr val="black"/>
                </a:solidFill>
                <a:latin typeface="微软雅黑" panose="020B0503020204020204" pitchFamily="34" charset="-122"/>
                <a:ea typeface="微软雅黑" panose="020B0503020204020204" pitchFamily="34" charset="-122"/>
                <a:sym typeface="+mn-ea"/>
              </a:rPr>
              <a:t>综合评估</a:t>
            </a:r>
            <a:r>
              <a:rPr 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指标</a:t>
            </a:r>
            <a:r>
              <a:rPr lang="zh-CN">
                <a:solidFill>
                  <a:prstClr val="black"/>
                </a:solidFill>
                <a:latin typeface="微软雅黑" panose="020B0503020204020204" pitchFamily="34" charset="-122"/>
                <a:ea typeface="微软雅黑" panose="020B0503020204020204" pitchFamily="34" charset="-122"/>
                <a:sym typeface="+mn-ea"/>
              </a:rPr>
              <a:t>体系</a:t>
            </a: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a:t>
            </a:r>
            <a:r>
              <a:rPr 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区内发育</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小规模断裂</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井区北部、中部以中低密度网状缝为主，北东向单向缝较为发育</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sym typeface="+mn-ea"/>
              </a:rPr>
              <a:t>分为</a:t>
            </a:r>
            <a:r>
              <a:rPr lang="zh-CN" altLang="en-US" sz="1600" dirty="0">
                <a:solidFill>
                  <a:srgbClr val="FF0000"/>
                </a:solidFill>
                <a:latin typeface="微软雅黑" panose="020B0503020204020204" pitchFamily="34" charset="-122"/>
                <a:ea typeface="微软雅黑" panose="020B0503020204020204" pitchFamily="34" charset="-122"/>
                <a:sym typeface="+mn-ea"/>
              </a:rPr>
              <a:t>主体段、渐进防控段、风险段</a:t>
            </a:r>
            <a:r>
              <a:rPr lang="zh-CN" altLang="en-US" sz="1600" dirty="0">
                <a:latin typeface="微软雅黑" panose="020B0503020204020204" pitchFamily="34" charset="-122"/>
                <a:ea typeface="微软雅黑" panose="020B0503020204020204" pitchFamily="34" charset="-122"/>
                <a:sym typeface="+mn-ea"/>
              </a:rPr>
              <a:t>差异化压裂设计</a:t>
            </a:r>
            <a:endParaRPr lang="zh-CN" altLang="en-US" sz="1600" dirty="0">
              <a:latin typeface="微软雅黑" panose="020B0503020204020204" pitchFamily="34" charset="-122"/>
              <a:ea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地质条件评价：</a:t>
            </a:r>
            <a:r>
              <a:rPr lang="en-US" altLang="zh-CN" sz="1600" dirty="0">
                <a:latin typeface="微软雅黑" panose="020B0503020204020204" pitchFamily="34" charset="-122"/>
                <a:ea typeface="微软雅黑" panose="020B0503020204020204" pitchFamily="34" charset="-122"/>
                <a:sym typeface="+mn-ea"/>
              </a:rPr>
              <a:t>I</a:t>
            </a:r>
            <a:r>
              <a:rPr lang="zh-CN" altLang="en-US" sz="1600" dirty="0">
                <a:latin typeface="微软雅黑" panose="020B0503020204020204" pitchFamily="34" charset="-122"/>
                <a:ea typeface="微软雅黑" panose="020B0503020204020204" pitchFamily="34" charset="-122"/>
                <a:sym typeface="+mn-ea"/>
              </a:rPr>
              <a:t>类（</a:t>
            </a:r>
            <a:r>
              <a:rPr lang="en-US" altLang="zh-CN" sz="1600" dirty="0">
                <a:latin typeface="微软雅黑" panose="020B0503020204020204" pitchFamily="34" charset="-122"/>
                <a:ea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sym typeface="+mn-ea"/>
              </a:rPr>
              <a:t>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，II类（5、7井）；工程风险评价：</a:t>
            </a:r>
            <a:r>
              <a:rPr lang="en-US" altLang="zh-CN" sz="1600" dirty="0">
                <a:latin typeface="微软雅黑" panose="020B0503020204020204" pitchFamily="34" charset="-122"/>
                <a:ea typeface="微软雅黑" panose="020B0503020204020204" pitchFamily="34" charset="-122"/>
                <a:sym typeface="+mn-ea"/>
              </a:rPr>
              <a:t>I</a:t>
            </a:r>
            <a:r>
              <a:rPr lang="zh-CN" altLang="en-US" sz="1600" dirty="0">
                <a:latin typeface="微软雅黑" panose="020B0503020204020204" pitchFamily="34" charset="-122"/>
                <a:ea typeface="微软雅黑" panose="020B0503020204020204" pitchFamily="34" charset="-122"/>
                <a:sym typeface="+mn-ea"/>
              </a:rPr>
              <a:t>类（</a:t>
            </a:r>
            <a:r>
              <a:rPr lang="en-US" altLang="zh-CN" sz="1600" dirty="0">
                <a:latin typeface="微软雅黑" panose="020B0503020204020204" pitchFamily="34" charset="-122"/>
                <a:ea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5</a:t>
            </a:r>
            <a:r>
              <a:rPr lang="zh-CN" altLang="en-US" sz="1600" dirty="0">
                <a:latin typeface="微软雅黑" panose="020B0503020204020204" pitchFamily="34" charset="-122"/>
                <a:ea typeface="微软雅黑" panose="020B0503020204020204" pitchFamily="34" charset="-122"/>
                <a:sym typeface="+mn-ea"/>
              </a:rPr>
              <a:t>井），</a:t>
            </a:r>
            <a:r>
              <a:rPr lang="en-US" altLang="zh-CN" sz="1600" dirty="0">
                <a:latin typeface="微软雅黑" panose="020B0503020204020204" pitchFamily="34" charset="-122"/>
                <a:ea typeface="微软雅黑" panose="020B0503020204020204" pitchFamily="34" charset="-122"/>
                <a:sym typeface="+mn-ea"/>
              </a:rPr>
              <a:t>II</a:t>
            </a:r>
            <a:r>
              <a:rPr lang="zh-CN" altLang="en-US" sz="1600" dirty="0">
                <a:latin typeface="微软雅黑" panose="020B0503020204020204" pitchFamily="34" charset="-122"/>
                <a:ea typeface="微软雅黑" panose="020B0503020204020204" pitchFamily="34" charset="-122"/>
                <a:sym typeface="+mn-ea"/>
              </a:rPr>
              <a:t>类（</a:t>
            </a:r>
            <a:r>
              <a:rPr lang="en-US" altLang="zh-CN" sz="1600" dirty="0">
                <a:latin typeface="微软雅黑" panose="020B0503020204020204" pitchFamily="34" charset="-122"/>
                <a:ea typeface="微软雅黑" panose="020B0503020204020204" pitchFamily="34" charset="-122"/>
                <a:sym typeface="+mn-ea"/>
              </a:rPr>
              <a:t>7</a:t>
            </a:r>
            <a:r>
              <a:rPr lang="zh-CN" altLang="en-US" sz="1600" dirty="0">
                <a:latin typeface="微软雅黑" panose="020B0503020204020204" pitchFamily="34" charset="-122"/>
                <a:ea typeface="微软雅黑" panose="020B0503020204020204" pitchFamily="34" charset="-122"/>
                <a:sym typeface="+mn-ea"/>
              </a:rPr>
              <a:t>井）</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449580" y="6074410"/>
            <a:ext cx="472821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H123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平台区域多级断裂平面分布图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5" name="TextBox 23"/>
          <p:cNvSpPr>
            <a:spLocks noChangeArrowheads="1"/>
          </p:cNvSpPr>
          <p:nvPr>
            <p:custDataLst>
              <p:tags r:id="rId2"/>
            </p:custDataLst>
          </p:nvPr>
        </p:nvSpPr>
        <p:spPr bwMode="auto">
          <a:xfrm>
            <a:off x="5772150" y="6074410"/>
            <a:ext cx="600646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sym typeface="+mn-ea"/>
              </a:rPr>
              <a:t>泸</a:t>
            </a:r>
            <a:r>
              <a:rPr lang="en-US" altLang="zh-CN" sz="1200" dirty="0">
                <a:solidFill>
                  <a:srgbClr val="000000"/>
                </a:solidFill>
                <a:latin typeface="微软雅黑" panose="020B0503020204020204" pitchFamily="34" charset="-122"/>
                <a:ea typeface="微软雅黑" panose="020B0503020204020204" pitchFamily="34" charset="-122"/>
                <a:sym typeface="+mn-ea"/>
              </a:rPr>
              <a:t>203</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H123</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1-4</a:t>
            </a:r>
            <a:r>
              <a:rPr lang="zh-CN" altLang="en-US" sz="1200" dirty="0">
                <a:solidFill>
                  <a:srgbClr val="000000"/>
                </a:solidFill>
                <a:latin typeface="微软雅黑" panose="020B0503020204020204" pitchFamily="34" charset="-122"/>
                <a:ea typeface="微软雅黑" panose="020B0503020204020204" pitchFamily="34" charset="-122"/>
                <a:sym typeface="+mn-ea"/>
              </a:rPr>
              <a:t>井多级裂缝预测剖面图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3"/>
          <a:stretch>
            <a:fillRect/>
          </a:stretch>
        </p:blipFill>
        <p:spPr>
          <a:xfrm>
            <a:off x="429895" y="2544445"/>
            <a:ext cx="5130800" cy="3480435"/>
          </a:xfrm>
          <a:prstGeom prst="rect">
            <a:avLst/>
          </a:prstGeom>
          <a:ln>
            <a:noFill/>
          </a:ln>
        </p:spPr>
      </p:pic>
      <p:pic>
        <p:nvPicPr>
          <p:cNvPr id="6" name="图片 5"/>
          <p:cNvPicPr>
            <a:picLocks noChangeAspect="1"/>
          </p:cNvPicPr>
          <p:nvPr/>
        </p:nvPicPr>
        <p:blipFill>
          <a:blip r:embed="rId4"/>
          <a:stretch>
            <a:fillRect/>
          </a:stretch>
        </p:blipFill>
        <p:spPr>
          <a:xfrm>
            <a:off x="5791835" y="2562860"/>
            <a:ext cx="5986145" cy="3350260"/>
          </a:xfrm>
          <a:prstGeom prst="rect">
            <a:avLst/>
          </a:prstGeom>
          <a:ln>
            <a:noFill/>
          </a:ln>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874407"/>
          </a:xfrm>
          <a:prstGeom prst="rect">
            <a:avLst/>
          </a:prstGeom>
          <a:noFill/>
          <a:ln>
            <a:noFill/>
          </a:ln>
        </p:spPr>
        <p:txBody>
          <a:bodyPr wrap="square" lIns="91440" tIns="45720" rIns="91440" bIns="45720" anchor="t">
            <a:spAutoFit/>
          </a:bodyPr>
          <a:lstStyle/>
          <a:p>
            <a:pPr marL="802005"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sym typeface="+mn-ea"/>
              </a:rPr>
              <a:t>2</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a:t>
            </a:r>
            <a:r>
              <a:rPr lang="zh-CN" altLang="en-US">
                <a:solidFill>
                  <a:prstClr val="black"/>
                </a:solidFill>
                <a:latin typeface="微软雅黑" panose="020B0503020204020204" pitchFamily="34" charset="-122"/>
                <a:ea typeface="微软雅黑" panose="020B0503020204020204" pitchFamily="34" charset="-122"/>
                <a:sym typeface="+mn-ea"/>
              </a:rPr>
              <a:t>综合评估</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指标</a:t>
            </a:r>
            <a:r>
              <a:rPr lang="zh-CN" altLang="en-US">
                <a:solidFill>
                  <a:prstClr val="black"/>
                </a:solidFill>
                <a:latin typeface="微软雅黑" panose="020B0503020204020204" pitchFamily="34" charset="-122"/>
                <a:ea typeface="微软雅黑" panose="020B0503020204020204" pitchFamily="34" charset="-122"/>
                <a:sym typeface="+mn-ea"/>
              </a:rPr>
              <a:t>体系</a:t>
            </a:r>
            <a:endParaRPr lang="zh-CN" altLang="en-US" dirty="0">
              <a:solidFill>
                <a:prstClr val="black"/>
              </a:solidFill>
              <a:latin typeface="微软雅黑" panose="020B0503020204020204" pitchFamily="34" charset="-122"/>
              <a:ea typeface="微软雅黑" panose="020B0503020204020204" pitchFamily="34" charset="-122"/>
              <a:sym typeface="+mn-ea"/>
            </a:endParaRPr>
          </a:p>
          <a:p>
            <a:pPr marL="802005" indent="-802005">
              <a:lnSpc>
                <a:spcPct val="150000"/>
              </a:lnSpc>
              <a:defRPr/>
            </a:pP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nchor="t">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900">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井</a:t>
            </a:r>
            <a:r>
              <a:rPr lang="zh-CN" altLang="en-US" sz="1600" dirty="0">
                <a:solidFill>
                  <a:prstClr val="black"/>
                </a:solidFill>
                <a:latin typeface="微软雅黑" panose="020B0503020204020204" pitchFamily="34" charset="-122"/>
                <a:ea typeface="微软雅黑" panose="020B0503020204020204" pitchFamily="34" charset="-122"/>
              </a:rPr>
              <a:t>停泵压降快、水击衰减系数高</a:t>
            </a:r>
            <a:r>
              <a:rPr lang="en-US" altLang="zh-CN" sz="1600" dirty="0">
                <a:solidFill>
                  <a:prstClr val="black"/>
                </a:solidFill>
                <a:latin typeface="微软雅黑" panose="020B0503020204020204" pitchFamily="34" charset="-122"/>
                <a:ea typeface="微软雅黑" panose="020B0503020204020204" pitchFamily="34" charset="-122"/>
              </a:rPr>
              <a:t>，反映</a:t>
            </a:r>
            <a:r>
              <a:rPr lang="en-US" altLang="zh-CN" sz="1600" dirty="0">
                <a:solidFill>
                  <a:srgbClr val="FF0000"/>
                </a:solidFill>
                <a:latin typeface="微软雅黑" panose="020B0503020204020204" pitchFamily="34" charset="-122"/>
                <a:ea typeface="微软雅黑" panose="020B0503020204020204" pitchFamily="34" charset="-122"/>
              </a:rPr>
              <a:t>裂缝连通性好但滤失较大</a:t>
            </a:r>
            <a:r>
              <a:rPr lang="zh-CN" altLang="en-US" sz="1600" dirty="0">
                <a:solidFill>
                  <a:prstClr val="black"/>
                </a:solidFill>
                <a:latin typeface="微软雅黑" panose="020B0503020204020204" pitchFamily="34" charset="-122"/>
                <a:ea typeface="微软雅黑" panose="020B0503020204020204" pitchFamily="34" charset="-122"/>
              </a:rPr>
              <a:t>，与该井位于向斜主体</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网状缝发育特征吻合</a:t>
            </a:r>
            <a:endParaRPr lang="en-US" altLang="zh-CN" sz="1600" dirty="0">
              <a:solidFill>
                <a:prstClr val="black"/>
              </a:solidFill>
              <a:latin typeface="微软雅黑" panose="020B0503020204020204" pitchFamily="34" charset="-122"/>
              <a:ea typeface="微软雅黑" panose="020B0503020204020204" pitchFamily="34" charset="-122"/>
            </a:endParaRPr>
          </a:p>
          <a:p>
            <a:pPr marL="342265" indent="-342900">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rPr>
              <a:t>2</a:t>
            </a:r>
            <a:r>
              <a:rPr lang="zh-CN" sz="1600">
                <a:solidFill>
                  <a:srgbClr val="FF0000"/>
                </a:solidFill>
                <a:latin typeface="微软雅黑" panose="020B0503020204020204" pitchFamily="34" charset="-122"/>
                <a:ea typeface="微软雅黑" panose="020B0503020204020204" pitchFamily="34" charset="-122"/>
              </a:rPr>
              <a:t>井</a:t>
            </a:r>
            <a:r>
              <a:rPr lang="zh-CN" sz="1600">
                <a:solidFill>
                  <a:prstClr val="black"/>
                </a:solidFill>
                <a:latin typeface="微软雅黑" panose="020B0503020204020204" pitchFamily="34" charset="-122"/>
                <a:ea typeface="微软雅黑" panose="020B0503020204020204" pitchFamily="34" charset="-122"/>
              </a:rPr>
              <a:t>虽G</a:t>
            </a:r>
            <a:r>
              <a:rPr lang="zh-CN" altLang="en-US" sz="1600">
                <a:solidFill>
                  <a:prstClr val="black"/>
                </a:solidFill>
                <a:latin typeface="微软雅黑" panose="020B0503020204020204" pitchFamily="34" charset="-122"/>
                <a:ea typeface="微软雅黑" panose="020B0503020204020204" pitchFamily="34" charset="-122"/>
              </a:rPr>
              <a:t>函</a:t>
            </a:r>
            <a:r>
              <a:rPr lang="zh-CN" sz="1600">
                <a:solidFill>
                  <a:prstClr val="black"/>
                </a:solidFill>
                <a:latin typeface="微软雅黑" panose="020B0503020204020204" pitchFamily="34" charset="-122"/>
                <a:ea typeface="微软雅黑" panose="020B0503020204020204" pitchFamily="34" charset="-122"/>
              </a:rPr>
              <a:t>数最低但裂缝支撑指数</a:t>
            </a:r>
            <a:r>
              <a:rPr lang="zh-CN" altLang="en-US" sz="1600">
                <a:solidFill>
                  <a:prstClr val="black"/>
                </a:solidFill>
                <a:latin typeface="微软雅黑" panose="020B0503020204020204" pitchFamily="34" charset="-122"/>
                <a:ea typeface="微软雅黑" panose="020B0503020204020204" pitchFamily="34" charset="-122"/>
              </a:rPr>
              <a:t>和</a:t>
            </a:r>
            <a:r>
              <a:rPr lang="zh-CN" sz="1600">
                <a:solidFill>
                  <a:prstClr val="black"/>
                </a:solidFill>
                <a:latin typeface="微软雅黑" panose="020B0503020204020204" pitchFamily="34" charset="-122"/>
                <a:ea typeface="微软雅黑" panose="020B0503020204020204" pitchFamily="34" charset="-122"/>
              </a:rPr>
              <a:t>水击边界指数获最高分，</a:t>
            </a:r>
            <a:r>
              <a:rPr lang="zh-CN" sz="1600">
                <a:solidFill>
                  <a:srgbClr val="FF0000"/>
                </a:solidFill>
                <a:latin typeface="微软雅黑" panose="020B0503020204020204" pitchFamily="34" charset="-122"/>
                <a:ea typeface="微软雅黑" panose="020B0503020204020204" pitchFamily="34" charset="-122"/>
              </a:rPr>
              <a:t>4井</a:t>
            </a:r>
            <a:r>
              <a:rPr lang="zh-CN" sz="1600">
                <a:solidFill>
                  <a:prstClr val="black"/>
                </a:solidFill>
                <a:latin typeface="微软雅黑" panose="020B0503020204020204" pitchFamily="34" charset="-122"/>
                <a:ea typeface="微软雅黑" panose="020B0503020204020204" pitchFamily="34" charset="-122"/>
              </a:rPr>
              <a:t>受套变3处挠曲240米影响导致</a:t>
            </a:r>
            <a:r>
              <a:rPr lang="zh-CN" altLang="en-US" sz="1600">
                <a:solidFill>
                  <a:prstClr val="black"/>
                </a:solidFill>
                <a:latin typeface="微软雅黑" panose="020B0503020204020204" pitchFamily="34" charset="-122"/>
                <a:ea typeface="微软雅黑" panose="020B0503020204020204" pitchFamily="34" charset="-122"/>
              </a:rPr>
              <a:t>最终得分最低</a:t>
            </a:r>
            <a:endParaRPr lang="zh-CN">
              <a:solidFill>
                <a:prstClr val="black"/>
              </a:solidFill>
            </a:endParaRPr>
          </a:p>
          <a:p>
            <a:pPr marL="342265" indent="-342900" algn="just">
              <a:lnSpc>
                <a:spcPct val="150000"/>
              </a:lnSpc>
              <a:buClr>
                <a:srgbClr val="FF0000"/>
              </a:buClr>
              <a:buFont typeface="Wingdings" panose="05000000000000000000" charset="0"/>
              <a:buChar char="l"/>
            </a:pP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井</a:t>
            </a:r>
            <a:r>
              <a:rPr lang="zh-CN" altLang="en-US" sz="160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综合得</a:t>
            </a:r>
            <a:r>
              <a:rPr lang="zh-CN" sz="160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分最高，该井天然裂缝密度大、I类储层钻遇率高，施工曲线显示</a:t>
            </a:r>
            <a:r>
              <a:rPr 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暂堵转向效果明显</a:t>
            </a:r>
            <a:r>
              <a:rPr lang="zh-CN" altLang="en-US" sz="160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（压力涨幅</a:t>
            </a:r>
            <a:r>
              <a:rPr lang="en-US" altLang="zh-CN"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2.6MPa</a:t>
            </a:r>
            <a:r>
              <a:rPr lang="zh-CN" altLang="en-US" sz="160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TextBox 23"/>
          <p:cNvSpPr>
            <a:spLocks noChangeArrowheads="1"/>
          </p:cNvSpPr>
          <p:nvPr>
            <p:custDataLst>
              <p:tags r:id="rId1"/>
            </p:custDataLst>
          </p:nvPr>
        </p:nvSpPr>
        <p:spPr bwMode="auto">
          <a:xfrm>
            <a:off x="334645" y="6074410"/>
            <a:ext cx="114858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ctr" fontAlgn="base">
              <a:spcBef>
                <a:spcPct val="0"/>
              </a:spcBef>
              <a:spcAft>
                <a:spcPct val="0"/>
              </a:spcAft>
              <a:defRPr/>
            </a:pP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H123</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1-4</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井</a:t>
            </a:r>
            <a:r>
              <a:rPr lang="zh-CN" altLang="en-US" sz="1200">
                <a:solidFill>
                  <a:srgbClr val="000000"/>
                </a:solidFill>
                <a:latin typeface="微软雅黑" panose="020B0503020204020204" pitchFamily="34" charset="-122"/>
                <a:ea typeface="微软雅黑" panose="020B0503020204020204" pitchFamily="34" charset="-122"/>
                <a:sym typeface="+mn-ea"/>
              </a:rPr>
              <a:t>综合评估指标体系</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与</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EUR</a:t>
            </a:r>
            <a:endParaRPr lang="zh-CN" dirty="0"/>
          </a:p>
        </p:txBody>
      </p:sp>
      <p:graphicFrame>
        <p:nvGraphicFramePr>
          <p:cNvPr id="5" name="表格 4"/>
          <p:cNvGraphicFramePr>
            <a:graphicFrameLocks noGrp="1"/>
          </p:cNvGraphicFramePr>
          <p:nvPr>
            <p:custDataLst>
              <p:tags r:id="rId2"/>
            </p:custDataLst>
          </p:nvPr>
        </p:nvGraphicFramePr>
        <p:xfrm>
          <a:off x="272415" y="2592070"/>
          <a:ext cx="11591925" cy="3482340"/>
        </p:xfrm>
        <a:graphic>
          <a:graphicData uri="http://schemas.openxmlformats.org/drawingml/2006/table">
            <a:tbl>
              <a:tblPr firstRow="1" bandRow="1">
                <a:tableStyleId>{5940675A-B579-460E-94D1-54222C63F5DA}</a:tableStyleId>
              </a:tblPr>
              <a:tblGrid>
                <a:gridCol w="899795"/>
                <a:gridCol w="972185"/>
                <a:gridCol w="971550"/>
                <a:gridCol w="972185"/>
                <a:gridCol w="972185"/>
                <a:gridCol w="971550"/>
                <a:gridCol w="972185"/>
                <a:gridCol w="972185"/>
                <a:gridCol w="972185"/>
                <a:gridCol w="971550"/>
                <a:gridCol w="972185"/>
                <a:gridCol w="972185"/>
              </a:tblGrid>
              <a:tr h="824865">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井号</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反演</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小波</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变换</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水击边界</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指数</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有效用液</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指数</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施工曲线</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诊断</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停泵</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压降</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水击衰减</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a:solidFill>
                            <a:schemeClr val="bg1"/>
                          </a:solidFill>
                          <a:effectLst/>
                          <a:latin typeface="微软雅黑" panose="020B0503020204020204" pitchFamily="34" charset="-122"/>
                          <a:ea typeface="微软雅黑" panose="020B0503020204020204" pitchFamily="34" charset="-122"/>
                        </a:rPr>
                        <a:t>系数</a:t>
                      </a:r>
                      <a:endParaRPr lang="zh-CN" altLang="en-US" sz="1200" b="1" spc="12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曲线量化</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裂缝支撑</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指数</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千米</a:t>
                      </a:r>
                      <a:endParaRPr lang="zh-CN" altLang="en-US"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20000"/>
                        </a:lnSpc>
                        <a:buNone/>
                      </a:pPr>
                      <a:r>
                        <a:rPr lang="en-US" altLang="zh-CN"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spc="12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36525" marR="136525" marT="82550" marB="82550" anchor="ctr">
                    <a:solidFill>
                      <a:srgbClr val="FFC000"/>
                    </a:solidFill>
                  </a:tcPr>
                </a:tc>
                <a:tc>
                  <a:txBody>
                    <a:bodyPr/>
                    <a:lstStyle/>
                    <a:p>
                      <a:pPr algn="ctr">
                        <a:lnSpc>
                          <a:spcPct val="120000"/>
                        </a:lnSpc>
                        <a:buNone/>
                      </a:pPr>
                      <a:r>
                        <a:rPr lang="zh-CN" altLang="en-US" sz="1200" b="1" spc="120" dirty="0">
                          <a:solidFill>
                            <a:schemeClr val="bg1"/>
                          </a:solidFill>
                          <a:effectLst/>
                          <a:latin typeface="微软雅黑" panose="020B0503020204020204" pitchFamily="34" charset="-122"/>
                          <a:ea typeface="微软雅黑" panose="020B0503020204020204" pitchFamily="34" charset="-122"/>
                        </a:rPr>
                        <a:t>最终得分</a:t>
                      </a:r>
                      <a:endParaRPr lang="zh-CN" altLang="en-US" sz="1200" b="1" spc="120" dirty="0">
                        <a:solidFill>
                          <a:schemeClr val="bg1"/>
                        </a:solidFill>
                        <a:effectLst/>
                        <a:latin typeface="微软雅黑" panose="020B0503020204020204" pitchFamily="34" charset="-122"/>
                        <a:ea typeface="微软雅黑" panose="020B0503020204020204" pitchFamily="34" charset="-122"/>
                      </a:endParaRPr>
                    </a:p>
                  </a:txBody>
                  <a:tcPr marL="136525" marR="136525" marT="82550" marB="82550" anchor="ctr">
                    <a:solidFill>
                      <a:srgbClr val="FFC000"/>
                    </a:solidFill>
                  </a:tcPr>
                </a:tc>
              </a:tr>
              <a:tr h="664210">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LH123-1</a:t>
                      </a:r>
                      <a:endParaRPr lang="en-US"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6.756</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8.32</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7.78</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8.636</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8.67</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9.284</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9.165</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7.105</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9.574</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0.455</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0.4847</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r>
              <a:tr h="664210">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LH123-2</a:t>
                      </a:r>
                      <a:endParaRPr lang="en-US"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6.754</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8.378</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8.565</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9.262</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8.301</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9.614</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9.389</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7.442</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9.841</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0.59</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0.6621</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r>
              <a:tr h="664845">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LH123-3</a:t>
                      </a:r>
                      <a:endParaRPr lang="en-US"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6.938</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8.409</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7.793</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9.042</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8.489</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9.48</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9.256</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7.343</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9.767</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0.575</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0.5937</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r>
              <a:tr h="664210">
                <a:tc>
                  <a:txBody>
                    <a:bodyPr/>
                    <a:lstStyle/>
                    <a:p>
                      <a:pPr algn="ctr">
                        <a:lnSpc>
                          <a:spcPct val="120000"/>
                        </a:lnSpc>
                        <a:buNone/>
                      </a:pPr>
                      <a:r>
                        <a:rPr lang="en-US" sz="1200" dirty="0">
                          <a:effectLst/>
                          <a:latin typeface="微软雅黑" panose="020B0503020204020204" pitchFamily="34" charset="-122"/>
                          <a:ea typeface="微软雅黑" panose="020B0503020204020204" pitchFamily="34" charset="-122"/>
                        </a:rPr>
                        <a:t>LH123-4</a:t>
                      </a:r>
                      <a:endParaRPr lang="en-US"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6.619</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8.157</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8.131</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8.618</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8.475</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9.653</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9.134</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7.036</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9.567</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0.391</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c>
                  <a:txBody>
                    <a:bodyPr/>
                    <a:lstStyle/>
                    <a:p>
                      <a:pPr algn="ctr">
                        <a:lnSpc>
                          <a:spcPct val="120000"/>
                        </a:lnSpc>
                        <a:buNone/>
                      </a:pPr>
                      <a:r>
                        <a:rPr lang="en-US" altLang="zh-CN" sz="1200" dirty="0">
                          <a:effectLst/>
                          <a:latin typeface="微软雅黑" panose="020B0503020204020204" pitchFamily="34" charset="-122"/>
                          <a:ea typeface="微软雅黑" panose="020B0503020204020204" pitchFamily="34" charset="-122"/>
                        </a:rPr>
                        <a:t>0.4102</a:t>
                      </a:r>
                      <a:endParaRPr lang="en-US" altLang="zh-CN" sz="1200" dirty="0">
                        <a:effectLst/>
                        <a:latin typeface="微软雅黑" panose="020B0503020204020204" pitchFamily="34" charset="-122"/>
                        <a:ea typeface="微软雅黑" panose="020B0503020204020204" pitchFamily="34" charset="-122"/>
                      </a:endParaRPr>
                    </a:p>
                  </a:txBody>
                  <a:tcPr marL="136525" marR="136525" marT="107950" marB="107950" anchor="ctr"/>
                </a:tc>
              </a:tr>
            </a:tbl>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953008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平台和</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平台的地质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a:t>
            </a:r>
            <a:r>
              <a:rPr lang="zh-CN" altLang="en-US"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评分差异的决定性因素</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认识与结论</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5" name="TextBox 23"/>
          <p:cNvSpPr>
            <a:spLocks noChangeArrowheads="1"/>
          </p:cNvSpPr>
          <p:nvPr>
            <p:custDataLst>
              <p:tags r:id="rId1"/>
            </p:custDataLst>
          </p:nvPr>
        </p:nvSpPr>
        <p:spPr bwMode="auto">
          <a:xfrm>
            <a:off x="335280" y="6076950"/>
            <a:ext cx="1146111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平台和</a:t>
            </a:r>
            <a:r>
              <a:rPr lang="en-US" altLang="zh-CN"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平台对比维度与启示</a:t>
            </a:r>
            <a:endPar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graphicFrame>
        <p:nvGraphicFramePr>
          <p:cNvPr id="9" name="表格 8"/>
          <p:cNvGraphicFramePr>
            <a:graphicFrameLocks noGrp="1"/>
          </p:cNvGraphicFramePr>
          <p:nvPr>
            <p:custDataLst>
              <p:tags r:id="rId2"/>
            </p:custDataLst>
          </p:nvPr>
        </p:nvGraphicFramePr>
        <p:xfrm>
          <a:off x="335280" y="2592705"/>
          <a:ext cx="11487150" cy="3432175"/>
        </p:xfrm>
        <a:graphic>
          <a:graphicData uri="http://schemas.openxmlformats.org/drawingml/2006/table">
            <a:tbl>
              <a:tblPr firstRow="1" bandRow="1">
                <a:tableStyleId>{5940675A-B579-460E-94D1-54222C63F5DA}</a:tableStyleId>
              </a:tblPr>
              <a:tblGrid>
                <a:gridCol w="1743710"/>
                <a:gridCol w="3222625"/>
                <a:gridCol w="2563495"/>
                <a:gridCol w="3957320"/>
              </a:tblGrid>
              <a:tr h="686435">
                <a:tc>
                  <a:txBody>
                    <a:bodyPr/>
                    <a:lstStyle/>
                    <a:p>
                      <a:pPr algn="ctr">
                        <a:lnSpc>
                          <a:spcPct val="120000"/>
                        </a:lnSpc>
                        <a:buNone/>
                      </a:pPr>
                      <a:r>
                        <a:rPr lang="zh-CN" altLang="en-US" sz="1200" b="1" spc="120" dirty="0">
                          <a:solidFill>
                            <a:schemeClr val="bg1"/>
                          </a:solidFill>
                          <a:effectLst/>
                        </a:rPr>
                        <a:t>对比维度</a:t>
                      </a:r>
                      <a:endParaRPr lang="zh-CN" altLang="en-US" sz="1200" b="1" spc="120" dirty="0">
                        <a:solidFill>
                          <a:schemeClr val="bg1"/>
                        </a:solidFill>
                        <a:effectLst/>
                      </a:endParaRPr>
                    </a:p>
                  </a:txBody>
                  <a:tcPr marL="254000" marR="254000" marT="177800" marB="177800" anchor="ctr">
                    <a:solidFill>
                      <a:srgbClr val="FFC000"/>
                    </a:solidFill>
                  </a:tcPr>
                </a:tc>
                <a:tc>
                  <a:txBody>
                    <a:bodyPr/>
                    <a:lstStyle/>
                    <a:p>
                      <a:pPr algn="ctr">
                        <a:lnSpc>
                          <a:spcPct val="120000"/>
                        </a:lnSpc>
                        <a:buNone/>
                      </a:pPr>
                      <a:r>
                        <a:rPr lang="en-US" sz="1200" b="1" dirty="0">
                          <a:solidFill>
                            <a:schemeClr val="bg1"/>
                          </a:solidFill>
                          <a:effectLst/>
                        </a:rPr>
                        <a:t>H10</a:t>
                      </a:r>
                      <a:r>
                        <a:rPr lang="zh-CN" altLang="en-US" sz="1200" b="1" dirty="0">
                          <a:solidFill>
                            <a:schemeClr val="bg1"/>
                          </a:solidFill>
                          <a:effectLst/>
                        </a:rPr>
                        <a:t>平台</a:t>
                      </a:r>
                      <a:endParaRPr lang="zh-CN" altLang="en-US" sz="1200" b="1" dirty="0">
                        <a:solidFill>
                          <a:schemeClr val="bg1"/>
                        </a:solidFill>
                        <a:effectLst/>
                      </a:endParaRPr>
                    </a:p>
                  </a:txBody>
                  <a:tcPr marL="254000" marR="254000" marT="177800" marB="177800" anchor="ctr">
                    <a:solidFill>
                      <a:srgbClr val="FFC000"/>
                    </a:solidFill>
                  </a:tcPr>
                </a:tc>
                <a:tc>
                  <a:txBody>
                    <a:bodyPr/>
                    <a:lstStyle/>
                    <a:p>
                      <a:pPr algn="ctr">
                        <a:lnSpc>
                          <a:spcPct val="120000"/>
                        </a:lnSpc>
                        <a:buNone/>
                      </a:pPr>
                      <a:r>
                        <a:rPr lang="en-US" sz="1200" b="1" dirty="0">
                          <a:solidFill>
                            <a:schemeClr val="bg1"/>
                          </a:solidFill>
                          <a:effectLst/>
                        </a:rPr>
                        <a:t>H123</a:t>
                      </a:r>
                      <a:r>
                        <a:rPr lang="zh-CN" altLang="en-US" sz="1200" b="1" dirty="0">
                          <a:solidFill>
                            <a:schemeClr val="bg1"/>
                          </a:solidFill>
                          <a:effectLst/>
                        </a:rPr>
                        <a:t>平台</a:t>
                      </a:r>
                      <a:endParaRPr lang="zh-CN" altLang="en-US" sz="1200" b="1" dirty="0">
                        <a:solidFill>
                          <a:schemeClr val="bg1"/>
                        </a:solidFill>
                        <a:effectLst/>
                      </a:endParaRPr>
                    </a:p>
                  </a:txBody>
                  <a:tcPr marL="254000" marR="254000" marT="177800" marB="177800" anchor="ctr">
                    <a:solidFill>
                      <a:srgbClr val="FFC000"/>
                    </a:solidFill>
                  </a:tcPr>
                </a:tc>
                <a:tc>
                  <a:txBody>
                    <a:bodyPr/>
                    <a:lstStyle/>
                    <a:p>
                      <a:pPr algn="ctr">
                        <a:lnSpc>
                          <a:spcPct val="120000"/>
                        </a:lnSpc>
                        <a:buNone/>
                      </a:pPr>
                      <a:r>
                        <a:rPr lang="zh-CN" altLang="en-US" sz="1200" b="1" dirty="0">
                          <a:solidFill>
                            <a:schemeClr val="bg1"/>
                          </a:solidFill>
                          <a:effectLst/>
                        </a:rPr>
                        <a:t>启示</a:t>
                      </a:r>
                      <a:endParaRPr lang="zh-CN" altLang="en-US" sz="1200" b="1" dirty="0">
                        <a:solidFill>
                          <a:schemeClr val="bg1"/>
                        </a:solidFill>
                        <a:effectLst/>
                      </a:endParaRPr>
                    </a:p>
                  </a:txBody>
                  <a:tcPr marL="254000" marR="254000" marT="177800" marB="177800" anchor="ctr">
                    <a:solidFill>
                      <a:srgbClr val="FFC000"/>
                    </a:solidFill>
                  </a:tcPr>
                </a:tc>
              </a:tr>
              <a:tr h="686435">
                <a:tc>
                  <a:txBody>
                    <a:bodyPr/>
                    <a:lstStyle/>
                    <a:p>
                      <a:pPr algn="ctr">
                        <a:lnSpc>
                          <a:spcPct val="120000"/>
                        </a:lnSpc>
                        <a:buNone/>
                      </a:pPr>
                      <a:r>
                        <a:rPr lang="zh-CN" altLang="en-US" sz="1200" spc="120">
                          <a:effectLst/>
                        </a:rPr>
                        <a:t>主控因素</a:t>
                      </a:r>
                      <a:endParaRPr lang="zh-CN" altLang="en-US" sz="1200" spc="120">
                        <a:effectLst/>
                      </a:endParaRPr>
                    </a:p>
                  </a:txBody>
                  <a:tcPr marL="254000" marR="254000" marT="177800" marB="177800" anchor="ctr"/>
                </a:tc>
                <a:tc>
                  <a:txBody>
                    <a:bodyPr/>
                    <a:lstStyle/>
                    <a:p>
                      <a:pPr algn="ctr">
                        <a:lnSpc>
                          <a:spcPct val="120000"/>
                        </a:lnSpc>
                        <a:buNone/>
                      </a:pPr>
                      <a:r>
                        <a:rPr lang="zh-CN" altLang="en-US" sz="1200"/>
                        <a:t>液体渗失控制</a:t>
                      </a:r>
                      <a:endParaRPr lang="zh-CN" altLang="en-US" sz="1200"/>
                    </a:p>
                  </a:txBody>
                  <a:tcPr marL="254000" marR="254000" marT="177800" marB="177800" anchor="ctr"/>
                </a:tc>
                <a:tc>
                  <a:txBody>
                    <a:bodyPr/>
                    <a:lstStyle/>
                    <a:p>
                      <a:pPr algn="ctr">
                        <a:lnSpc>
                          <a:spcPct val="120000"/>
                        </a:lnSpc>
                        <a:buNone/>
                      </a:pPr>
                      <a:r>
                        <a:rPr lang="zh-CN" altLang="en-US" sz="1200"/>
                        <a:t>天然裂缝发育程度</a:t>
                      </a:r>
                      <a:endParaRPr lang="zh-CN" altLang="en-US" sz="1200"/>
                    </a:p>
                  </a:txBody>
                  <a:tcPr marL="254000" marR="254000" marT="177800" marB="177800" anchor="ctr"/>
                </a:tc>
                <a:tc>
                  <a:txBody>
                    <a:bodyPr/>
                    <a:lstStyle/>
                    <a:p>
                      <a:pPr algn="ctr">
                        <a:lnSpc>
                          <a:spcPct val="120000"/>
                        </a:lnSpc>
                        <a:buNone/>
                      </a:pPr>
                      <a:r>
                        <a:rPr lang="zh-CN" altLang="en-US" sz="1200"/>
                        <a:t>不同地质背景需差异化工程对策</a:t>
                      </a:r>
                      <a:endParaRPr lang="zh-CN" altLang="en-US" sz="1200"/>
                    </a:p>
                  </a:txBody>
                  <a:tcPr marL="254000" marR="254000" marT="177800" marB="177800" anchor="ctr"/>
                </a:tc>
              </a:tr>
              <a:tr h="686435">
                <a:tc>
                  <a:txBody>
                    <a:bodyPr/>
                    <a:lstStyle/>
                    <a:p>
                      <a:pPr algn="ctr">
                        <a:lnSpc>
                          <a:spcPct val="120000"/>
                        </a:lnSpc>
                        <a:buNone/>
                      </a:pPr>
                      <a:r>
                        <a:rPr lang="zh-CN" altLang="en-US" sz="1200" spc="120">
                          <a:effectLst/>
                        </a:rPr>
                        <a:t>评分区间</a:t>
                      </a:r>
                      <a:endParaRPr lang="zh-CN" altLang="en-US" sz="1200" spc="120">
                        <a:effectLst/>
                      </a:endParaRPr>
                    </a:p>
                  </a:txBody>
                  <a:tcPr marL="254000" marR="254000" marT="177800" marB="177800" anchor="ctr"/>
                </a:tc>
                <a:tc>
                  <a:txBody>
                    <a:bodyPr/>
                    <a:lstStyle/>
                    <a:p>
                      <a:pPr algn="ctr">
                        <a:lnSpc>
                          <a:spcPct val="120000"/>
                        </a:lnSpc>
                        <a:buNone/>
                      </a:pPr>
                      <a:r>
                        <a:rPr lang="en-US" altLang="zh-CN" sz="1200" dirty="0"/>
                        <a:t>0.42-0.61</a:t>
                      </a:r>
                      <a:endParaRPr lang="en-US" altLang="zh-CN" sz="1200" dirty="0"/>
                    </a:p>
                  </a:txBody>
                  <a:tcPr marL="254000" marR="254000" marT="177800" marB="177800" anchor="ctr"/>
                </a:tc>
                <a:tc>
                  <a:txBody>
                    <a:bodyPr/>
                    <a:lstStyle/>
                    <a:p>
                      <a:pPr algn="ctr">
                        <a:lnSpc>
                          <a:spcPct val="120000"/>
                        </a:lnSpc>
                        <a:buNone/>
                      </a:pPr>
                      <a:r>
                        <a:rPr lang="en-US" altLang="zh-CN" sz="1200" dirty="0"/>
                        <a:t>0.41-0.66</a:t>
                      </a:r>
                      <a:endParaRPr lang="en-US" altLang="zh-CN" sz="1200" dirty="0"/>
                    </a:p>
                  </a:txBody>
                  <a:tcPr marL="254000" marR="254000" marT="177800" marB="177800" anchor="ctr"/>
                </a:tc>
                <a:tc>
                  <a:txBody>
                    <a:bodyPr/>
                    <a:lstStyle/>
                    <a:p>
                      <a:pPr algn="ctr">
                        <a:lnSpc>
                          <a:spcPct val="120000"/>
                        </a:lnSpc>
                        <a:buNone/>
                      </a:pPr>
                      <a:r>
                        <a:rPr lang="en-US" sz="1200" dirty="0"/>
                        <a:t>H123</a:t>
                      </a:r>
                      <a:r>
                        <a:rPr lang="zh-CN" altLang="en-US" sz="1200"/>
                        <a:t>平台分化更明显</a:t>
                      </a:r>
                      <a:endParaRPr lang="zh-CN" altLang="en-US" sz="1200"/>
                    </a:p>
                  </a:txBody>
                  <a:tcPr marL="254000" marR="254000" marT="177800" marB="177800" anchor="ctr"/>
                </a:tc>
              </a:tr>
              <a:tr h="686435">
                <a:tc>
                  <a:txBody>
                    <a:bodyPr/>
                    <a:lstStyle/>
                    <a:p>
                      <a:pPr algn="ctr">
                        <a:lnSpc>
                          <a:spcPct val="120000"/>
                        </a:lnSpc>
                        <a:buNone/>
                      </a:pPr>
                      <a:r>
                        <a:rPr lang="zh-CN" altLang="en-US" sz="1200" spc="120">
                          <a:effectLst/>
                        </a:rPr>
                        <a:t>工程风险</a:t>
                      </a:r>
                      <a:endParaRPr lang="zh-CN" altLang="en-US" sz="1200" spc="120">
                        <a:effectLst/>
                      </a:endParaRPr>
                    </a:p>
                  </a:txBody>
                  <a:tcPr marL="254000" marR="254000" marT="177800" marB="177800" anchor="ctr"/>
                </a:tc>
                <a:tc>
                  <a:txBody>
                    <a:bodyPr/>
                    <a:lstStyle/>
                    <a:p>
                      <a:pPr algn="ctr">
                        <a:lnSpc>
                          <a:spcPct val="120000"/>
                        </a:lnSpc>
                        <a:buNone/>
                      </a:pPr>
                      <a:r>
                        <a:rPr lang="zh-CN" altLang="en-US" sz="1200"/>
                        <a:t>高砂浓砂堵</a:t>
                      </a:r>
                      <a:endParaRPr lang="zh-CN" altLang="en-US" sz="1200"/>
                    </a:p>
                  </a:txBody>
                  <a:tcPr marL="254000" marR="254000" marT="177800" marB="177800" anchor="ctr"/>
                </a:tc>
                <a:tc>
                  <a:txBody>
                    <a:bodyPr/>
                    <a:lstStyle/>
                    <a:p>
                      <a:pPr algn="ctr">
                        <a:lnSpc>
                          <a:spcPct val="120000"/>
                        </a:lnSpc>
                        <a:buNone/>
                      </a:pPr>
                      <a:r>
                        <a:rPr lang="zh-CN" altLang="en-US" sz="1200"/>
                        <a:t>套变挤井、压降快</a:t>
                      </a:r>
                      <a:endParaRPr lang="zh-CN" altLang="en-US" sz="1200"/>
                    </a:p>
                  </a:txBody>
                  <a:tcPr marL="254000" marR="254000" marT="177800" marB="177800" anchor="ctr"/>
                </a:tc>
                <a:tc>
                  <a:txBody>
                    <a:bodyPr/>
                    <a:lstStyle/>
                    <a:p>
                      <a:pPr algn="ctr">
                        <a:lnSpc>
                          <a:spcPct val="120000"/>
                        </a:lnSpc>
                        <a:buNone/>
                      </a:pPr>
                      <a:r>
                        <a:rPr lang="zh-CN" altLang="en-US" sz="1200"/>
                        <a:t>风险前置识别至关重要</a:t>
                      </a:r>
                      <a:endParaRPr lang="zh-CN" altLang="en-US" sz="1200"/>
                    </a:p>
                  </a:txBody>
                  <a:tcPr marL="254000" marR="254000" marT="177800" marB="177800" anchor="ctr"/>
                </a:tc>
              </a:tr>
              <a:tr h="686435">
                <a:tc>
                  <a:txBody>
                    <a:bodyPr/>
                    <a:lstStyle/>
                    <a:p>
                      <a:pPr algn="ctr">
                        <a:lnSpc>
                          <a:spcPct val="120000"/>
                        </a:lnSpc>
                        <a:buNone/>
                      </a:pPr>
                      <a:r>
                        <a:rPr lang="zh-CN" altLang="en-US" sz="1200" spc="120">
                          <a:effectLst/>
                        </a:rPr>
                        <a:t>优化方向</a:t>
                      </a:r>
                      <a:endParaRPr lang="zh-CN" altLang="en-US" sz="1200" spc="120">
                        <a:effectLst/>
                      </a:endParaRPr>
                    </a:p>
                  </a:txBody>
                  <a:tcPr marL="254000" marR="254000" marT="177800" marB="177800" anchor="ctr"/>
                </a:tc>
                <a:tc>
                  <a:txBody>
                    <a:bodyPr/>
                    <a:lstStyle/>
                    <a:p>
                      <a:pPr algn="ctr">
                        <a:lnSpc>
                          <a:spcPct val="120000"/>
                        </a:lnSpc>
                        <a:buNone/>
                      </a:pPr>
                      <a:r>
                        <a:rPr lang="zh-CN" altLang="en-US" sz="1200"/>
                        <a:t>加强渗失控制</a:t>
                      </a:r>
                      <a:r>
                        <a:rPr lang="en-US" altLang="zh-CN" sz="1200" dirty="0"/>
                        <a:t>+</a:t>
                      </a:r>
                      <a:r>
                        <a:rPr lang="zh-CN" altLang="en-US" sz="1200"/>
                        <a:t>支撑剂优选</a:t>
                      </a:r>
                      <a:endParaRPr lang="zh-CN" altLang="en-US" sz="1200"/>
                    </a:p>
                  </a:txBody>
                  <a:tcPr marL="254000" marR="254000" marT="177800" marB="177800" anchor="ctr"/>
                </a:tc>
                <a:tc>
                  <a:txBody>
                    <a:bodyPr/>
                    <a:lstStyle/>
                    <a:p>
                      <a:pPr algn="ctr">
                        <a:lnSpc>
                          <a:spcPct val="120000"/>
                        </a:lnSpc>
                        <a:buNone/>
                      </a:pPr>
                      <a:r>
                        <a:rPr lang="zh-CN" altLang="en-US" sz="1200"/>
                        <a:t>暂堵转向</a:t>
                      </a:r>
                      <a:r>
                        <a:rPr lang="en-US" altLang="zh-CN" sz="1200" dirty="0"/>
                        <a:t>+</a:t>
                      </a:r>
                      <a:r>
                        <a:rPr lang="zh-CN" altLang="en-US" sz="1200"/>
                        <a:t>套变防控</a:t>
                      </a:r>
                      <a:endParaRPr lang="zh-CN" altLang="en-US" sz="1200"/>
                    </a:p>
                  </a:txBody>
                  <a:tcPr marL="254000" marR="254000" marT="177800" marB="177800" anchor="ctr"/>
                </a:tc>
                <a:tc>
                  <a:txBody>
                    <a:bodyPr/>
                    <a:lstStyle/>
                    <a:p>
                      <a:pPr algn="ctr">
                        <a:lnSpc>
                          <a:spcPct val="120000"/>
                        </a:lnSpc>
                        <a:buNone/>
                      </a:pPr>
                      <a:r>
                        <a:rPr lang="zh-CN" altLang="en-US" sz="1200" dirty="0"/>
                        <a:t>精细化施工设计提升</a:t>
                      </a:r>
                      <a:r>
                        <a:rPr lang="en-US" altLang="zh-CN" sz="1200" dirty="0"/>
                        <a:t>30%</a:t>
                      </a:r>
                      <a:r>
                        <a:rPr lang="zh-CN" altLang="en-US" sz="1200" dirty="0"/>
                        <a:t>潜力空间</a:t>
                      </a:r>
                      <a:endParaRPr lang="zh-CN" altLang="en-US" sz="1200" dirty="0"/>
                    </a:p>
                  </a:txBody>
                  <a:tcPr marL="254000" marR="254000" marT="177800" marB="177800" anchor="ctr"/>
                </a:tc>
              </a:tr>
            </a:tbl>
          </a:graphicData>
        </a:graphic>
      </p:graphicFrame>
      <p:sp>
        <p:nvSpPr>
          <p:cNvPr id="3"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nchor="t">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900">
              <a:buFont typeface="Wingdings" panose="05000000000000000000" charset="0"/>
              <a:buChar char="l"/>
            </a:pPr>
            <a:r>
              <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通过建立三维两级量化评价结构，开展评价指标间相关性与权重分析，发现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天然裂缝发育程度、储层品质、施工参数优化及工程风险控制</a:t>
            </a:r>
            <a:r>
              <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的协同作用，直接决定了改造效果的优劣，验证了多技术综合评价指标的正确性</a:t>
            </a:r>
            <a:endPar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342265" indent="-342900">
              <a:buFont typeface="Wingdings" panose="05000000000000000000" charset="0"/>
              <a:buChar char="l"/>
            </a:pPr>
            <a:r>
              <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天然裂缝既能促进缝网形成提升改造体积，也可能导致液体渗失降低支撑效率，需要</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针对性优化暂堵转向工艺</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27013" y="900954"/>
            <a:ext cx="12072937"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项目总经费</a:t>
            </a:r>
            <a:r>
              <a:rPr lang="en-US" altLang="zh-CN" sz="1600" dirty="0">
                <a:solidFill>
                  <a:prstClr val="black"/>
                </a:solidFill>
                <a:latin typeface="微软雅黑" panose="020B0503020204020204" pitchFamily="34" charset="-122"/>
                <a:ea typeface="微软雅黑" panose="020B0503020204020204" pitchFamily="34" charset="-122"/>
              </a:rPr>
              <a:t>62.2</a:t>
            </a:r>
            <a:r>
              <a:rPr lang="zh-CN" altLang="en-US" sz="1600" dirty="0">
                <a:solidFill>
                  <a:prstClr val="black"/>
                </a:solidFill>
                <a:latin typeface="微软雅黑" panose="020B0503020204020204" pitchFamily="34" charset="-122"/>
                <a:ea typeface="微软雅黑" panose="020B0503020204020204" pitchFamily="34" charset="-122"/>
              </a:rPr>
              <a:t>万元，经费使用严格按照预算和财务要求进行，未出现无预算、超预算等情况，执行情况较好</a:t>
            </a:r>
            <a:endParaRPr lang="en-US" altLang="zh-CN" sz="1600" dirty="0">
              <a:solidFill>
                <a:prstClr val="black"/>
              </a:solidFill>
              <a:latin typeface="微软雅黑" panose="020B0503020204020204" pitchFamily="34" charset="-122"/>
              <a:ea typeface="微软雅黑" panose="020B0503020204020204" pitchFamily="34" charset="-122"/>
            </a:endParaRPr>
          </a:p>
        </p:txBody>
      </p:sp>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研究经费决算情况</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3"/>
          <p:cNvGraphicFramePr>
            <a:graphicFrameLocks noGrp="1"/>
          </p:cNvGraphicFramePr>
          <p:nvPr>
            <p:custDataLst>
              <p:tags r:id="rId1"/>
            </p:custDataLst>
          </p:nvPr>
        </p:nvGraphicFramePr>
        <p:xfrm>
          <a:off x="407670" y="1779905"/>
          <a:ext cx="11377295" cy="4197985"/>
        </p:xfrm>
        <a:graphic>
          <a:graphicData uri="http://schemas.openxmlformats.org/drawingml/2006/table">
            <a:tbl>
              <a:tblPr/>
              <a:tblGrid>
                <a:gridCol w="3792220"/>
                <a:gridCol w="3792855"/>
                <a:gridCol w="3792220"/>
              </a:tblGrid>
              <a:tr h="395605">
                <a:tc gridSpan="2">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编号与类型</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marL="9525" marR="9525" marT="9525" marB="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394335">
                <a:tc>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编号</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48831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设计制图费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40</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577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图书资料费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出版</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文献</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知识产权费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2.4</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办公费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差旅费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4.50235</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测试计算分析费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5.4</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68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管理费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8.086</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04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税费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1.811650</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gridSpan="2">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合计（万元）</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525" marR="9525" marT="9525" marB="0" anchor="ctr">
                    <a:lnL w="6350" cap="flat" cmpd="sng" algn="ctr">
                      <a:solidFill>
                        <a:schemeClr val="tx1"/>
                      </a:solidFill>
                      <a:prstDash val="solid"/>
                      <a:round/>
                      <a:headEnd type="none" w="med" len="med"/>
                      <a:tailEnd type="none" w="med" len="med"/>
                    </a:lnL>
                    <a:lnR>
                      <a:noFill/>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62.2</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27013" y="854069"/>
            <a:ext cx="10644187" cy="460375"/>
          </a:xfrm>
          <a:prstGeom prst="rect">
            <a:avLst/>
          </a:prstGeom>
          <a:noFill/>
        </p:spPr>
        <p:txBody>
          <a:bodyPr wrap="square">
            <a:spAutoFit/>
          </a:bodyPr>
          <a:lstStyle/>
          <a:p>
            <a:pPr marL="342900" indent="-342900">
              <a:lnSpc>
                <a:spcPct val="150000"/>
              </a:lnSpc>
              <a:buClr>
                <a:srgbClr val="FF0000"/>
              </a:buClr>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主要研究人员：</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胡晓东研究员牵头组织，多位硕士、博士深度参与</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4" name="表格 2"/>
          <p:cNvGraphicFramePr>
            <a:graphicFrameLocks noGrp="1"/>
          </p:cNvGraphicFramePr>
          <p:nvPr>
            <p:custDataLst>
              <p:tags r:id="rId1"/>
            </p:custDataLst>
          </p:nvPr>
        </p:nvGraphicFramePr>
        <p:xfrm>
          <a:off x="319405" y="1464945"/>
          <a:ext cx="11500485" cy="4497705"/>
        </p:xfrm>
        <a:graphic>
          <a:graphicData uri="http://schemas.openxmlformats.org/drawingml/2006/table">
            <a:tbl>
              <a:tblPr firstRow="1" bandRow="1">
                <a:tableStyleId>{5940675A-B579-460E-94D1-54222C63F5DA}</a:tableStyleId>
              </a:tblPr>
              <a:tblGrid>
                <a:gridCol w="1332865"/>
                <a:gridCol w="1301115"/>
                <a:gridCol w="832485"/>
                <a:gridCol w="1267460"/>
                <a:gridCol w="1221740"/>
                <a:gridCol w="1237615"/>
                <a:gridCol w="2384425"/>
                <a:gridCol w="1922780"/>
              </a:tblGrid>
              <a:tr h="499745">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职务</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姓 名</a:t>
                      </a:r>
                      <a:endParaRPr lang="zh-CN" sz="1600" b="1" kern="100" baseline="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性别</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年龄</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学历</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职称</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专业特长</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altLang="en-US" sz="1600" b="1" kern="100" baseline="0" dirty="0">
                          <a:solidFill>
                            <a:schemeClr val="bg1"/>
                          </a:solidFill>
                          <a:effectLst/>
                          <a:latin typeface="微软雅黑" panose="020B0503020204020204" pitchFamily="34" charset="-122"/>
                          <a:ea typeface="微软雅黑" panose="020B0503020204020204" pitchFamily="34" charset="-122"/>
                        </a:rPr>
                        <a:t>项目参与时间</a:t>
                      </a:r>
                      <a:endParaRPr lang="zh-CN" altLang="en-US"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r>
              <a:tr h="499745">
                <a:tc>
                  <a:txBody>
                    <a:bodyPr/>
                    <a:lstStyle/>
                    <a:p>
                      <a:pPr algn="ctr">
                        <a:spcAft>
                          <a:spcPts val="0"/>
                        </a:spcAft>
                      </a:pPr>
                      <a:r>
                        <a:rPr lang="zh-CN" altLang="zh-CN" sz="1600" kern="100" baseline="0" dirty="0">
                          <a:effectLst/>
                          <a:latin typeface="微软雅黑" panose="020B0503020204020204" pitchFamily="34" charset="-122"/>
                          <a:ea typeface="微软雅黑" panose="020B0503020204020204" pitchFamily="34" charset="-122"/>
                        </a:rPr>
                        <a:t>项目</a:t>
                      </a:r>
                      <a:r>
                        <a:rPr lang="zh-CN" altLang="en-US" sz="1600" kern="100" baseline="0" dirty="0">
                          <a:effectLst/>
                          <a:latin typeface="微软雅黑" panose="020B0503020204020204" pitchFamily="34" charset="-122"/>
                          <a:ea typeface="微软雅黑" panose="020B0503020204020204" pitchFamily="34" charset="-122"/>
                        </a:rPr>
                        <a:t>长</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胡晓东</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男</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35</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博士</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副</a:t>
                      </a:r>
                      <a:r>
                        <a:rPr lang="zh-CN" sz="1600" kern="100" baseline="0" dirty="0">
                          <a:effectLst/>
                          <a:latin typeface="微软雅黑" panose="020B0503020204020204" pitchFamily="34" charset="-122"/>
                          <a:ea typeface="微软雅黑" panose="020B0503020204020204" pitchFamily="34" charset="-122"/>
                        </a:rPr>
                        <a:t>研究员</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压裂诊断</a:t>
                      </a:r>
                      <a:r>
                        <a:rPr lang="en-US" sz="1600" kern="100" baseline="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sz="160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储层改造</a:t>
                      </a:r>
                      <a:endParaRPr lang="zh-CN" sz="1600" kern="100" baseline="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rowSpan="7">
                  <a:txBody>
                    <a:bodyPr/>
                    <a:lstStyle/>
                    <a:p>
                      <a:pPr algn="ctr"/>
                      <a:r>
                        <a:rPr lang="zh-CN" altLang="en-US" sz="1400" dirty="0">
                          <a:latin typeface="微软雅黑" panose="020B0503020204020204" pitchFamily="34" charset="-122"/>
                          <a:ea typeface="微软雅黑" panose="020B0503020204020204" pitchFamily="34" charset="-122"/>
                        </a:rPr>
                        <a:t>主要研究人员</a:t>
                      </a:r>
                      <a:endParaRPr lang="zh-CN" altLang="en-US" sz="1400" dirty="0">
                        <a:latin typeface="微软雅黑" panose="020B0503020204020204" pitchFamily="34" charset="-122"/>
                        <a:ea typeface="微软雅黑" panose="020B0503020204020204" pitchFamily="34" charset="-122"/>
                      </a:endParaRPr>
                    </a:p>
                  </a:txBody>
                  <a:tcPr vert="eaVert"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董恩佳</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男</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algn="ctr" defTabSz="914400" rtl="0" eaLnBrk="1" latinLnBrk="0" hangingPunct="1">
                        <a:spcAft>
                          <a:spcPts val="0"/>
                        </a:spcAft>
                      </a:pPr>
                      <a:r>
                        <a:rPr lang="en-US" sz="1600" kern="100" baseline="0" dirty="0">
                          <a:effectLst/>
                          <a:latin typeface="微软雅黑" panose="020B0503020204020204" pitchFamily="34" charset="-122"/>
                          <a:ea typeface="微软雅黑" panose="020B0503020204020204" pitchFamily="34" charset="-122"/>
                        </a:rPr>
                        <a:t>27</a:t>
                      </a:r>
                      <a:endParaRPr lang="en-US"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学生</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储层改造</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周乾龙</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algn="ctr" defTabSz="914400" rtl="0" eaLnBrk="1" latinLnBrk="0" hangingPunct="1">
                        <a:spcAft>
                          <a:spcPts val="0"/>
                        </a:spcAft>
                      </a:pPr>
                      <a:r>
                        <a:rPr lang="en-US" altLang="zh-CN" sz="1600" kern="100" baseline="0" dirty="0">
                          <a:effectLst/>
                          <a:latin typeface="微软雅黑" panose="020B0503020204020204" pitchFamily="34" charset="-122"/>
                          <a:ea typeface="微软雅黑" panose="020B0503020204020204" pitchFamily="34" charset="-122"/>
                        </a:rPr>
                        <a:t>26</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kern="100" baseline="0" dirty="0">
                          <a:effectLst/>
                          <a:latin typeface="微软雅黑" panose="020B0503020204020204" pitchFamily="34" charset="-122"/>
                          <a:ea typeface="微软雅黑" panose="020B0503020204020204" pitchFamily="34" charset="-122"/>
                        </a:rPr>
                        <a:t>储层改造</a:t>
                      </a:r>
                      <a:endParaRPr lang="zh-CN"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闻吉鹏</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algn="ctr" defTabSz="914400" rtl="0" eaLnBrk="1" latinLnBrk="0" hangingPunct="1">
                        <a:spcAft>
                          <a:spcPts val="0"/>
                        </a:spcAft>
                      </a:pPr>
                      <a:r>
                        <a:rPr lang="en-US" altLang="zh-CN" sz="1600" kern="100" baseline="0" dirty="0">
                          <a:effectLst/>
                          <a:latin typeface="微软雅黑" panose="020B0503020204020204" pitchFamily="34" charset="-122"/>
                          <a:ea typeface="微软雅黑" panose="020B0503020204020204" pitchFamily="34" charset="-122"/>
                        </a:rPr>
                        <a:t>25</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kern="100" baseline="0" dirty="0">
                          <a:effectLst/>
                          <a:latin typeface="微软雅黑" panose="020B0503020204020204" pitchFamily="34" charset="-122"/>
                          <a:ea typeface="微软雅黑" panose="020B0503020204020204" pitchFamily="34" charset="-122"/>
                        </a:rPr>
                        <a:t>压裂诊断</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邓宇通</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24</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赖文俊</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24</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硕士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张铭志</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24</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硕士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vert="eaVert"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杨鑫婕</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女</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22</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硕士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2025.03-2025.12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bl>
          </a:graphicData>
        </a:graphic>
      </p:graphicFrame>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227013" y="899811"/>
            <a:ext cx="118443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为保证项目推进，团队配合页岩气研究院组织多次项目阶段检查和对接，并按月提交月报，实时把控项目进度</a:t>
            </a:r>
            <a:endPar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319405" y="3944620"/>
            <a:ext cx="2748915" cy="1546225"/>
          </a:xfrm>
          <a:prstGeom prst="rect">
            <a:avLst/>
          </a:prstGeom>
          <a:ln>
            <a:solidFill>
              <a:schemeClr val="tx1"/>
            </a:solidFill>
          </a:ln>
        </p:spPr>
      </p:pic>
      <p:pic>
        <p:nvPicPr>
          <p:cNvPr id="11" name="图片 10"/>
          <p:cNvPicPr>
            <a:picLocks noChangeAspect="1"/>
          </p:cNvPicPr>
          <p:nvPr/>
        </p:nvPicPr>
        <p:blipFill>
          <a:blip r:embed="rId2"/>
          <a:stretch>
            <a:fillRect/>
          </a:stretch>
        </p:blipFill>
        <p:spPr>
          <a:xfrm>
            <a:off x="3188335" y="3943985"/>
            <a:ext cx="2758440" cy="1551940"/>
          </a:xfrm>
          <a:prstGeom prst="rect">
            <a:avLst/>
          </a:prstGeom>
          <a:ln>
            <a:solidFill>
              <a:schemeClr val="tx1"/>
            </a:solidFill>
          </a:ln>
        </p:spPr>
      </p:pic>
      <p:pic>
        <p:nvPicPr>
          <p:cNvPr id="12" name="图片 11"/>
          <p:cNvPicPr>
            <a:picLocks noChangeAspect="1"/>
          </p:cNvPicPr>
          <p:nvPr/>
        </p:nvPicPr>
        <p:blipFill>
          <a:blip r:embed="rId3"/>
          <a:stretch>
            <a:fillRect/>
          </a:stretch>
        </p:blipFill>
        <p:spPr>
          <a:xfrm>
            <a:off x="6149340" y="1938020"/>
            <a:ext cx="2620645" cy="1865630"/>
          </a:xfrm>
          <a:prstGeom prst="rect">
            <a:avLst/>
          </a:prstGeom>
          <a:ln>
            <a:solidFill>
              <a:schemeClr val="tx1"/>
            </a:solidFill>
          </a:ln>
        </p:spPr>
      </p:pic>
      <p:pic>
        <p:nvPicPr>
          <p:cNvPr id="16" name="图片 15"/>
          <p:cNvPicPr>
            <a:picLocks noChangeAspect="1"/>
          </p:cNvPicPr>
          <p:nvPr/>
        </p:nvPicPr>
        <p:blipFill>
          <a:blip r:embed="rId4"/>
          <a:stretch>
            <a:fillRect/>
          </a:stretch>
        </p:blipFill>
        <p:spPr>
          <a:xfrm>
            <a:off x="8855710" y="1938020"/>
            <a:ext cx="2625725" cy="1866265"/>
          </a:xfrm>
          <a:prstGeom prst="rect">
            <a:avLst/>
          </a:prstGeom>
          <a:ln>
            <a:solidFill>
              <a:schemeClr val="tx1"/>
            </a:solidFill>
          </a:ln>
        </p:spPr>
      </p:pic>
      <p:pic>
        <p:nvPicPr>
          <p:cNvPr id="17" name="图片 16"/>
          <p:cNvPicPr>
            <a:picLocks noChangeAspect="1"/>
          </p:cNvPicPr>
          <p:nvPr/>
        </p:nvPicPr>
        <p:blipFill>
          <a:blip r:embed="rId5"/>
          <a:stretch>
            <a:fillRect/>
          </a:stretch>
        </p:blipFill>
        <p:spPr>
          <a:xfrm>
            <a:off x="7456170" y="3891280"/>
            <a:ext cx="2729865" cy="1950085"/>
          </a:xfrm>
          <a:prstGeom prst="rect">
            <a:avLst/>
          </a:prstGeom>
          <a:ln>
            <a:solidFill>
              <a:schemeClr val="tx1"/>
            </a:solidFill>
          </a:ln>
        </p:spPr>
      </p:pic>
      <p:sp>
        <p:nvSpPr>
          <p:cNvPr id="23" name="文本框 38"/>
          <p:cNvSpPr txBox="1"/>
          <p:nvPr>
            <p:custDataLst>
              <p:tags r:id="rId6"/>
            </p:custDataLst>
          </p:nvPr>
        </p:nvSpPr>
        <p:spPr>
          <a:xfrm>
            <a:off x="312420" y="6087745"/>
            <a:ext cx="49530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阶段汇报交流</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8" name="图片 17"/>
          <p:cNvPicPr>
            <a:picLocks noChangeAspect="1"/>
          </p:cNvPicPr>
          <p:nvPr/>
        </p:nvPicPr>
        <p:blipFill>
          <a:blip r:embed="rId7"/>
          <a:stretch>
            <a:fillRect/>
          </a:stretch>
        </p:blipFill>
        <p:spPr>
          <a:xfrm>
            <a:off x="319405" y="2172335"/>
            <a:ext cx="2748280" cy="1546225"/>
          </a:xfrm>
          <a:prstGeom prst="rect">
            <a:avLst/>
          </a:prstGeom>
          <a:ln>
            <a:solidFill>
              <a:schemeClr val="tx1"/>
            </a:solidFill>
          </a:ln>
        </p:spPr>
      </p:pic>
      <p:pic>
        <p:nvPicPr>
          <p:cNvPr id="19" name="图片 18"/>
          <p:cNvPicPr>
            <a:picLocks noChangeAspect="1"/>
          </p:cNvPicPr>
          <p:nvPr/>
        </p:nvPicPr>
        <p:blipFill>
          <a:blip r:embed="rId8"/>
          <a:stretch>
            <a:fillRect/>
          </a:stretch>
        </p:blipFill>
        <p:spPr>
          <a:xfrm>
            <a:off x="3188335" y="2172335"/>
            <a:ext cx="2747010" cy="1545590"/>
          </a:xfrm>
          <a:prstGeom prst="rect">
            <a:avLst/>
          </a:prstGeom>
          <a:ln>
            <a:solidFill>
              <a:schemeClr val="tx1"/>
            </a:solidFill>
          </a:ln>
        </p:spPr>
      </p:pic>
      <p:sp>
        <p:nvSpPr>
          <p:cNvPr id="20" name="文本框 38"/>
          <p:cNvSpPr txBox="1"/>
          <p:nvPr>
            <p:custDataLst>
              <p:tags r:id="rId9"/>
            </p:custDataLst>
          </p:nvPr>
        </p:nvSpPr>
        <p:spPr>
          <a:xfrm>
            <a:off x="6148705" y="6087745"/>
            <a:ext cx="533273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定期月报</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r>
              <a:rPr lang="zh-CN" altLang="en-US" sz="2400" b="1" kern="0" dirty="0">
                <a:solidFill>
                  <a:srgbClr val="FF0000"/>
                </a:solidFill>
                <a:latin typeface="微软雅黑" panose="020B0503020204020204" pitchFamily="34" charset="-122"/>
                <a:ea typeface="微软雅黑" panose="020B0503020204020204" pitchFamily="34" charset="-122"/>
              </a:rPr>
              <a:t>、</a:t>
            </a:r>
            <a:r>
              <a:rPr lang="en-US" altLang="zh-CN" sz="2400" b="1" kern="0" dirty="0">
                <a:solidFill>
                  <a:srgbClr val="FF0000"/>
                </a:solidFill>
                <a:latin typeface="微软雅黑" panose="020B0503020204020204" pitchFamily="34" charset="-122"/>
                <a:ea typeface="微软雅黑" panose="020B0503020204020204" pitchFamily="34" charset="-122"/>
              </a:rPr>
              <a:t>HSE</a:t>
            </a:r>
            <a:r>
              <a:rPr lang="zh-CN" altLang="en-US" sz="2400" b="1" kern="0" dirty="0">
                <a:solidFill>
                  <a:srgbClr val="FF0000"/>
                </a:solidFill>
                <a:latin typeface="微软雅黑" panose="020B0503020204020204" pitchFamily="34" charset="-122"/>
                <a:ea typeface="微软雅黑" panose="020B0503020204020204" pitchFamily="34" charset="-122"/>
              </a:rPr>
              <a:t>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645" y="910590"/>
            <a:ext cx="11485880" cy="355854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marR="0" lvl="0" indent="-358775"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lang="en-US" altLang="zh-CN" sz="1600" kern="0" dirty="0">
                <a:solidFill>
                  <a:prstClr val="black"/>
                </a:solidFill>
                <a:sym typeface="+mn-ea"/>
              </a:rPr>
              <a:t>HSE</a:t>
            </a:r>
            <a:r>
              <a:rPr lang="zh-CN" altLang="en-US" sz="1600" kern="0" dirty="0">
                <a:solidFill>
                  <a:prstClr val="black"/>
                </a:solidFill>
                <a:sym typeface="+mn-ea"/>
              </a:rPr>
              <a:t>风险识别</a:t>
            </a:r>
            <a:endParaRPr lang="zh-CN" altLang="en-US" sz="1600" kern="0" dirty="0">
              <a:solidFill>
                <a:prstClr val="black"/>
              </a:solidFill>
              <a:sym typeface="+mn-ea"/>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r>
              <a:rPr lang="zh-CN" altLang="en-US" sz="1600" kern="0" dirty="0">
                <a:solidFill>
                  <a:prstClr val="black"/>
                </a:solidFill>
                <a:sym typeface="+mn-ea"/>
              </a:rPr>
              <a:t>项目涉及到室内加温实验，需对电子设备使用安全高度重视，保证室内电路安全，防止火灾，实验过程中可能出现高压管线泄漏、脱落，高温液体泄漏等安全隐患，提升涉及现场施工跟踪作业，施工过程可能出现停泵管线整改等安全隐患，编制了</a:t>
            </a:r>
            <a:r>
              <a:rPr lang="en-US" altLang="zh-CN" sz="1600" kern="0" dirty="0">
                <a:solidFill>
                  <a:prstClr val="black"/>
                </a:solidFill>
                <a:sym typeface="+mn-ea"/>
              </a:rPr>
              <a:t>HSE</a:t>
            </a:r>
            <a:r>
              <a:rPr lang="zh-CN" altLang="en-US" sz="1600" kern="0" dirty="0">
                <a:solidFill>
                  <a:prstClr val="black"/>
                </a:solidFill>
                <a:sym typeface="+mn-ea"/>
              </a:rPr>
              <a:t>管理预案，要求设备保养准备到位，责任落实到位</a:t>
            </a:r>
            <a:endParaRPr lang="zh-CN" altLang="en-US" sz="1600" kern="0" dirty="0">
              <a:solidFill>
                <a:prstClr val="black"/>
              </a:solidFill>
              <a:sym typeface="+mn-ea"/>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endParaRPr lang="zh-CN" altLang="en-US" sz="1600" kern="0" dirty="0">
              <a:solidFill>
                <a:prstClr val="black"/>
              </a:solidFill>
              <a:sym typeface="+mn-ea"/>
            </a:endParaRPr>
          </a:p>
          <a:p>
            <a:pPr marL="0" marR="0" lvl="0" indent="-358775"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lang="zh-CN" altLang="en-US" sz="1600" kern="0" dirty="0">
                <a:solidFill>
                  <a:prstClr val="black"/>
                </a:solidFill>
                <a:sym typeface="+mn-ea"/>
              </a:rPr>
              <a:t>应对措施预案</a:t>
            </a:r>
            <a:endParaRPr kumimoji="1" lang="zh-CN" altLang="en-US" sz="1600" kern="0" dirty="0">
              <a:solidFill>
                <a:prstClr val="black"/>
              </a:solidFill>
              <a:latin typeface="微软雅黑" panose="020B0503020204020204" pitchFamily="34" charset="-122"/>
              <a:ea typeface="微软雅黑" panose="020B0503020204020204" pitchFamily="34" charset="-122"/>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r>
              <a:rPr lang="zh-CN" altLang="en-US" sz="1600" kern="0" dirty="0">
                <a:solidFill>
                  <a:prstClr val="black"/>
                </a:solidFill>
                <a:sym typeface="+mn-ea"/>
              </a:rPr>
              <a:t>项目应对措施预案涉及信息报告、现场作业应急处置程序、实验人员高温灼伤程序、人员触电应急处置程序、电器及其他火灾应急处置程序、碰伤</a:t>
            </a:r>
            <a:r>
              <a:rPr lang="en-US" altLang="zh-CN" sz="1600" kern="0" dirty="0">
                <a:solidFill>
                  <a:prstClr val="black"/>
                </a:solidFill>
                <a:sym typeface="+mn-ea"/>
              </a:rPr>
              <a:t>-</a:t>
            </a:r>
            <a:r>
              <a:rPr lang="zh-CN" altLang="en-US" sz="1600" kern="0" dirty="0">
                <a:solidFill>
                  <a:prstClr val="black"/>
                </a:solidFill>
                <a:sym typeface="+mn-ea"/>
              </a:rPr>
              <a:t>撞伤</a:t>
            </a:r>
            <a:r>
              <a:rPr lang="en-US" altLang="zh-CN" sz="1600" kern="0" dirty="0">
                <a:solidFill>
                  <a:prstClr val="black"/>
                </a:solidFill>
                <a:sym typeface="+mn-ea"/>
              </a:rPr>
              <a:t>-</a:t>
            </a:r>
            <a:r>
              <a:rPr lang="zh-CN" altLang="en-US" sz="1600" kern="0" dirty="0">
                <a:solidFill>
                  <a:prstClr val="black"/>
                </a:solidFill>
                <a:sym typeface="+mn-ea"/>
              </a:rPr>
              <a:t>砸伤</a:t>
            </a:r>
            <a:r>
              <a:rPr lang="en-US" altLang="zh-CN" sz="1600" kern="0" dirty="0">
                <a:solidFill>
                  <a:prstClr val="black"/>
                </a:solidFill>
                <a:sym typeface="+mn-ea"/>
              </a:rPr>
              <a:t>-</a:t>
            </a:r>
            <a:r>
              <a:rPr lang="zh-CN" altLang="en-US" sz="1600" kern="0" dirty="0">
                <a:solidFill>
                  <a:prstClr val="black"/>
                </a:solidFill>
                <a:sym typeface="+mn-ea"/>
              </a:rPr>
              <a:t>划伤</a:t>
            </a:r>
            <a:r>
              <a:rPr lang="en-US" altLang="zh-CN" sz="1600" kern="0" dirty="0">
                <a:solidFill>
                  <a:prstClr val="black"/>
                </a:solidFill>
                <a:sym typeface="+mn-ea"/>
              </a:rPr>
              <a:t>-</a:t>
            </a:r>
            <a:r>
              <a:rPr lang="zh-CN" altLang="en-US" sz="1600" kern="0" dirty="0">
                <a:solidFill>
                  <a:prstClr val="black"/>
                </a:solidFill>
                <a:sym typeface="+mn-ea"/>
              </a:rPr>
              <a:t>割伤</a:t>
            </a:r>
            <a:r>
              <a:rPr lang="en-US" altLang="zh-CN" sz="1600" kern="0" dirty="0">
                <a:solidFill>
                  <a:prstClr val="black"/>
                </a:solidFill>
                <a:sym typeface="+mn-ea"/>
              </a:rPr>
              <a:t>-</a:t>
            </a:r>
            <a:r>
              <a:rPr lang="zh-CN" altLang="en-US" sz="1600" kern="0" dirty="0">
                <a:solidFill>
                  <a:prstClr val="black"/>
                </a:solidFill>
                <a:sym typeface="+mn-ea"/>
              </a:rPr>
              <a:t>滑倒摔伤应急处置程序、上下班或出差途中发生交通事故应急处置程序和发生资料被盗或泄密事件应急处置程序等 </a:t>
            </a:r>
            <a:endParaRPr lang="zh-CN" altLang="en-US" sz="1600" dirty="0">
              <a:cs typeface="微软雅黑" panose="020B0503020204020204" pitchFamily="34" charset="-122"/>
              <a:sym typeface="+mn-ea"/>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存在问题、解决措施及</a:t>
            </a:r>
            <a:r>
              <a:rPr lang="zh-CN" altLang="en-US" sz="2400" b="1" kern="0" dirty="0">
                <a:solidFill>
                  <a:srgbClr val="FF0000"/>
                </a:solidFill>
                <a:latin typeface="微软雅黑" panose="020B0503020204020204" pitchFamily="34" charset="-122"/>
                <a:ea typeface="微软雅黑" panose="020B0503020204020204" pitchFamily="34" charset="-122"/>
              </a:rPr>
              <a:t>建议</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46037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需要结合更多井次的所内技术指标，完善压裂效果评估方法</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七、下步工作安排</a:t>
            </a:r>
            <a:r>
              <a:rPr lang="zh-CN" altLang="en-US" sz="3200" dirty="0">
                <a:solidFill>
                  <a:srgbClr val="000000"/>
                </a:solidFill>
                <a:latin typeface="方正大黑简体" panose="02000000000000000000" pitchFamily="65" charset="-122"/>
                <a:ea typeface="方正大黑简体" panose="02000000000000000000" pitchFamily="65" charset="-122"/>
              </a:rPr>
              <a:t>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下步工作</a:t>
            </a:r>
            <a:r>
              <a:rPr lang="zh-CN" altLang="en-US" sz="2400" b="1" kern="0" dirty="0">
                <a:solidFill>
                  <a:srgbClr val="FF0000"/>
                </a:solidFill>
                <a:latin typeface="微软雅黑" panose="020B0503020204020204" pitchFamily="34" charset="-122"/>
                <a:ea typeface="微软雅黑" panose="020B0503020204020204" pitchFamily="34" charset="-122"/>
              </a:rPr>
              <a:t>安排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扩大方法验证范围，不断完善优化压裂效果评估方法</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推进项目知识产权</a:t>
            </a:r>
            <a:r>
              <a:rPr lang="zh-CN" altLang="en-US" sz="1600" dirty="0">
                <a:solidFill>
                  <a:prstClr val="black"/>
                </a:solidFill>
                <a:latin typeface="微软雅黑" panose="020B0503020204020204" pitchFamily="34" charset="-122"/>
                <a:ea typeface="微软雅黑" panose="020B0503020204020204" pitchFamily="34" charset="-122"/>
              </a:rPr>
              <a:t>撰写</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304540" y="1126192"/>
            <a:ext cx="11582920" cy="4423708"/>
            <a:chOff x="1487488" y="1786592"/>
            <a:chExt cx="9201151" cy="3514071"/>
          </a:xfrm>
        </p:grpSpPr>
        <p:sp>
          <p:nvSpPr>
            <p:cNvPr id="29" name="矩形 28"/>
            <p:cNvSpPr/>
            <p:nvPr/>
          </p:nvSpPr>
          <p:spPr>
            <a:xfrm>
              <a:off x="1524000" y="3284538"/>
              <a:ext cx="9144000" cy="1998662"/>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charset="-122"/>
                <a:cs typeface="+mn-cs"/>
              </a:endParaRPr>
            </a:p>
          </p:txBody>
        </p:sp>
        <p:grpSp>
          <p:nvGrpSpPr>
            <p:cNvPr id="70659" name="组合 14"/>
            <p:cNvGrpSpPr/>
            <p:nvPr/>
          </p:nvGrpSpPr>
          <p:grpSpPr bwMode="auto">
            <a:xfrm>
              <a:off x="1487488" y="5256213"/>
              <a:ext cx="9201151" cy="44450"/>
              <a:chOff x="-36512" y="1081950"/>
              <a:chExt cx="9201237" cy="45719"/>
            </a:xfrm>
          </p:grpSpPr>
          <p:cxnSp>
            <p:nvCxnSpPr>
              <p:cNvPr id="33" name="直接连接符 32"/>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34" name="矩形 33"/>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charset="-122"/>
                  <a:cs typeface="+mn-cs"/>
                </a:endParaRPr>
              </a:p>
            </p:txBody>
          </p:sp>
        </p:grpSp>
        <p:pic>
          <p:nvPicPr>
            <p:cNvPr id="22" name="Picture 2" descr="d:\My Documents\焦页12#平台.jpg"/>
            <p:cNvPicPr>
              <a:picLocks noChangeArrowheads="1"/>
            </p:cNvPicPr>
            <p:nvPr/>
          </p:nvPicPr>
          <p:blipFill>
            <a:blip r:embed="rId1" cstate="print"/>
            <a:srcRect t="6314" r="21319" b="8766"/>
            <a:stretch>
              <a:fillRect/>
            </a:stretch>
          </p:blipFill>
          <p:spPr bwMode="auto">
            <a:xfrm>
              <a:off x="6355370"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6" descr="D:\20150506总经办汇报材料\2014年美照\2014年美照\威201井.jpg"/>
            <p:cNvPicPr>
              <a:picLocks noChangeAspect="1" noChangeArrowheads="1"/>
            </p:cNvPicPr>
            <p:nvPr/>
          </p:nvPicPr>
          <p:blipFill>
            <a:blip r:embed="rId2" cstate="print"/>
            <a:srcRect/>
            <a:stretch>
              <a:fillRect/>
            </a:stretch>
          </p:blipFill>
          <p:spPr bwMode="auto">
            <a:xfrm>
              <a:off x="4828516" y="4166252"/>
              <a:ext cx="1008357"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 descr="D:\20150506总经办汇报材料\2014年美照\2014年美照\40亿方净化厂一期投产.bmp"/>
            <p:cNvPicPr>
              <a:picLocks noChangeArrowheads="1"/>
            </p:cNvPicPr>
            <p:nvPr/>
          </p:nvPicPr>
          <p:blipFill>
            <a:blip r:embed="rId3" cstate="print"/>
            <a:srcRect/>
            <a:stretch>
              <a:fillRect/>
            </a:stretch>
          </p:blipFill>
          <p:spPr bwMode="auto">
            <a:xfrm>
              <a:off x="78818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3" descr="D:\20150506总经办汇报材料\2014年美照\2014年美照\2014.6.29 阿姆河项目B区处理厂全厂投运成功.bmp"/>
            <p:cNvPicPr>
              <a:picLocks noChangeArrowheads="1"/>
            </p:cNvPicPr>
            <p:nvPr/>
          </p:nvPicPr>
          <p:blipFill>
            <a:blip r:embed="rId4" cstate="print"/>
            <a:srcRect/>
            <a:stretch>
              <a:fillRect/>
            </a:stretch>
          </p:blipFill>
          <p:spPr bwMode="auto">
            <a:xfrm>
              <a:off x="1775519"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4" descr="D:\20150506总经办汇报材料\2014年美照\2014年美照\2014.6.30 中国石油阿姆河第二天然气处理厂成功投运.jpg"/>
            <p:cNvPicPr>
              <a:picLocks noChangeArrowheads="1"/>
            </p:cNvPicPr>
            <p:nvPr/>
          </p:nvPicPr>
          <p:blipFill>
            <a:blip r:embed="rId5" cstate="print"/>
            <a:srcRect/>
            <a:stretch>
              <a:fillRect/>
            </a:stretch>
          </p:blipFill>
          <p:spPr bwMode="auto">
            <a:xfrm>
              <a:off x="94083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7" descr="E:\2.临时任务\2012年\规划处-中石油川渝石油石化规划\PPT\fuza.jpg"/>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2017"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0666" name="Freeform 1" descr="밝은 수평선"/>
            <p:cNvSpPr/>
            <p:nvPr/>
          </p:nvSpPr>
          <p:spPr bwMode="auto">
            <a:xfrm flipV="1">
              <a:off x="1497012" y="3068638"/>
              <a:ext cx="9170988" cy="715962"/>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方正楷体简体" panose="02000000000000000000" pitchFamily="2" charset="-122"/>
                <a:ea typeface="宋体" panose="02010600030101010101" pitchFamily="2" charset="-122"/>
                <a:cs typeface="+mn-cs"/>
              </a:endParaRPr>
            </a:p>
          </p:txBody>
        </p:sp>
        <p:pic>
          <p:nvPicPr>
            <p:cNvPr id="31" name="Picture 17" descr="logo"/>
            <p:cNvPicPr>
              <a:picLocks noChangeAspect="1" noChangeArrowheads="1"/>
            </p:cNvPicPr>
            <p:nvPr/>
          </p:nvPicPr>
          <p:blipFill>
            <a:blip r:embed="rId7"/>
            <a:srcRect/>
            <a:stretch>
              <a:fillRect/>
            </a:stretch>
          </p:blipFill>
          <p:spPr bwMode="auto">
            <a:xfrm>
              <a:off x="3071814" y="2225676"/>
              <a:ext cx="1806575" cy="1058863"/>
            </a:xfrm>
            <a:prstGeom prst="rect">
              <a:avLst/>
            </a:prstGeom>
            <a:noFill/>
            <a:ln>
              <a:noFill/>
            </a:ln>
            <a:effectLst>
              <a:outerShdw blurRad="50800" dist="38100" dir="2700000" algn="tl" rotWithShape="0">
                <a:prstClr val="black">
                  <a:alpha val="40000"/>
                </a:prstClr>
              </a:outerShdw>
            </a:effectLst>
          </p:spPr>
        </p:pic>
        <p:pic>
          <p:nvPicPr>
            <p:cNvPr id="7066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64" y="1786592"/>
              <a:ext cx="4032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spd="slow" p14:dur="2000" advTm="2342"/>
    </mc:Choice>
    <mc:Fallback>
      <p:transition spd="slow" advTm="2342"/>
    </mc:Fallback>
  </mc:AlternateContent>
</p:sld>
</file>

<file path=ppt/tags/tag1.xml><?xml version="1.0" encoding="utf-8"?>
<p:tagLst xmlns:p="http://schemas.openxmlformats.org/presentationml/2006/main">
  <p:tag name="TABLE_ENDDRAG_ORIGIN_RECT" val="901*351"/>
  <p:tag name="TABLE_ENDDRAG_RECT" val="27*166*901*351"/>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ABLE_ENDDRAG_ORIGIN_RECT" val="896*309"/>
  <p:tag name="TABLE_ENDDRAG_RECT" val="33*198*896*309"/>
</p:tagLst>
</file>

<file path=ppt/tags/tag7.xml><?xml version="1.0" encoding="utf-8"?>
<p:tagLst xmlns:p="http://schemas.openxmlformats.org/presentationml/2006/main">
  <p:tag name="TABLE_ENDDRAG_ORIGIN_RECT" val="907*348"/>
  <p:tag name="TABLE_ENDDRAG_RECT" val="26*105*907*348"/>
</p:tagLst>
</file>

<file path=ppt/tags/tag8.xml><?xml version="1.0" encoding="utf-8"?>
<p:tagLst xmlns:p="http://schemas.openxmlformats.org/presentationml/2006/main">
  <p:tag name="TABLE_ENDDRAG_ORIGIN_RECT" val="907*362"/>
  <p:tag name="TABLE_ENDDRAG_RECT" val="26*105*907*362"/>
</p:tagLst>
</file>

<file path=ppt/tags/tag9.xml><?xml version="1.0" encoding="utf-8"?>
<p:tagLst xmlns:p="http://schemas.openxmlformats.org/presentationml/2006/main">
  <p:tag name="TABLE_ENDDRAG_ORIGIN_RECT" val="907*363"/>
  <p:tag name="TABLE_ENDDRAG_RECT" val="26*105*907*363"/>
</p:tagLst>
</file>

<file path=ppt/tags/tag10.xml><?xml version="1.0" encoding="utf-8"?>
<p:tagLst xmlns:p="http://schemas.openxmlformats.org/presentationml/2006/main">
  <p:tag name="KSO_WM_UNIT_TABLE_BEAUTIFY" val="smartTable{161aa34d-652f-407e-baae-45d72fa23dbf}"/>
  <p:tag name="KSO_WM_BEAUTIFY_FLAG" val=""/>
  <p:tag name="TABLE_ENDDRAG_ORIGIN_RECT" val="369*106"/>
  <p:tag name="TABLE_ENDDRAG_RECT" val="551*337*369*106"/>
</p:tagLst>
</file>

<file path=ppt/tags/tag11.xml><?xml version="1.0" encoding="utf-8"?>
<p:tagLst xmlns:p="http://schemas.openxmlformats.org/presentationml/2006/main">
  <p:tag name="TABLE_ENDDRAG_ORIGIN_RECT" val="907*363"/>
  <p:tag name="TABLE_ENDDRAG_RECT" val="26*105*907*363"/>
</p:tagLst>
</file>

<file path=ppt/tags/tag12.xml><?xml version="1.0" encoding="utf-8"?>
<p:tagLst xmlns:p="http://schemas.openxmlformats.org/presentationml/2006/main">
  <p:tag name="TABLE_ENDDRAG_ORIGIN_RECT" val="907*348"/>
  <p:tag name="TABLE_ENDDRAG_RECT" val="26*105*907*348"/>
</p:tagLst>
</file>

<file path=ppt/tags/tag13.xml><?xml version="1.0" encoding="utf-8"?>
<p:tagLst xmlns:p="http://schemas.openxmlformats.org/presentationml/2006/main">
  <p:tag name="TABLE_ENDDRAG_ORIGIN_RECT" val="907*364"/>
  <p:tag name="TABLE_ENDDRAG_RECT" val="26*105*908*364"/>
</p:tagLst>
</file>

<file path=ppt/tags/tag14.xml><?xml version="1.0" encoding="utf-8"?>
<p:tagLst xmlns:p="http://schemas.openxmlformats.org/presentationml/2006/main">
  <p:tag name="TABLE_ENDDRAG_ORIGIN_RECT" val="540*275"/>
  <p:tag name="TABLE_ENDDRAG_RECT" val="393*204*540*275"/>
</p:tagLst>
</file>

<file path=ppt/tags/tag15.xml><?xml version="1.0" encoding="utf-8"?>
<p:tagLst xmlns:p="http://schemas.openxmlformats.org/presentationml/2006/main">
  <p:tag name="TABLE_ENDDRAG_ORIGIN_RECT" val="909*357"/>
  <p:tag name="TABLE_ENDDRAG_RECT" val="26*106*909*357"/>
</p:tagLst>
</file>

<file path=ppt/tags/tag16.xml><?xml version="1.0" encoding="utf-8"?>
<p:tagLst xmlns:p="http://schemas.openxmlformats.org/presentationml/2006/main">
  <p:tag name="TABLE_ENDDRAG_ORIGIN_RECT" val="903*365"/>
  <p:tag name="TABLE_ENDDRAG_RECT" val="26*103*903*365"/>
</p:tagLst>
</file>

<file path=ppt/tags/tag17.xml><?xml version="1.0" encoding="utf-8"?>
<p:tagLst xmlns:p="http://schemas.openxmlformats.org/presentationml/2006/main">
  <p:tag name="KSO_WM_DIAGRAM_VIRTUALLY_FRAME" val="{&quot;height&quot;:285.4,&quot;left&quot;:241.1,&quot;top&quot;:218.95,&quot;width&quot;:458}"/>
</p:tagLst>
</file>

<file path=ppt/tags/tag18.xml><?xml version="1.0" encoding="utf-8"?>
<p:tagLst xmlns:p="http://schemas.openxmlformats.org/presentationml/2006/main">
  <p:tag name="KSO_WM_DIAGRAM_VIRTUALLY_FRAME" val="{&quot;height&quot;:285.4,&quot;left&quot;:241.1,&quot;top&quot;:218.95,&quot;width&quot;:458}"/>
</p:tagLst>
</file>

<file path=ppt/tags/tag19.xml><?xml version="1.0" encoding="utf-8"?>
<p:tagLst xmlns:p="http://schemas.openxmlformats.org/presentationml/2006/main">
  <p:tag name="KSO_WM_DIAGRAM_VIRTUALLY_FRAME" val="{&quot;height&quot;:285.4,&quot;left&quot;:241.1,&quot;top&quot;:218.95,&quot;width&quot;:458}"/>
</p:tagLst>
</file>

<file path=ppt/tags/tag20.xml><?xml version="1.0" encoding="utf-8"?>
<p:tagLst xmlns:p="http://schemas.openxmlformats.org/presentationml/2006/main">
  <p:tag name="TABLE_ENDDRAG_ORIGIN_RECT" val="906*362"/>
  <p:tag name="TABLE_ENDDRAG_RECT" val="26*104*906*362"/>
</p:tagLst>
</file>

<file path=ppt/tags/tag21.xml><?xml version="1.0" encoding="utf-8"?>
<p:tagLst xmlns:p="http://schemas.openxmlformats.org/presentationml/2006/main">
  <p:tag name="KSO_WM_DIAGRAM_VIRTUALLY_FRAME" val="{&quot;height&quot;:285.4,&quot;left&quot;:241.1,&quot;top&quot;:218.95,&quot;width&quot;:458}"/>
</p:tagLst>
</file>

<file path=ppt/tags/tag22.xml><?xml version="1.0" encoding="utf-8"?>
<p:tagLst xmlns:p="http://schemas.openxmlformats.org/presentationml/2006/main">
  <p:tag name="KSO_WM_DIAGRAM_VIRTUALLY_FRAME" val="{&quot;height&quot;:285.4,&quot;left&quot;:241.1,&quot;top&quot;:218.95,&quot;width&quot;:458}"/>
</p:tagLst>
</file>

<file path=ppt/tags/tag23.xml><?xml version="1.0" encoding="utf-8"?>
<p:tagLst xmlns:p="http://schemas.openxmlformats.org/presentationml/2006/main">
  <p:tag name="KSO_WM_DIAGRAM_VIRTUALLY_FRAME" val="{&quot;height&quot;:285.4,&quot;left&quot;:241.1,&quot;top&quot;:218.95,&quot;width&quot;:458}"/>
</p:tagLst>
</file>

<file path=ppt/tags/tag24.xml><?xml version="1.0" encoding="utf-8"?>
<p:tagLst xmlns:p="http://schemas.openxmlformats.org/presentationml/2006/main">
  <p:tag name="KSO_WM_DIAGRAM_VIRTUALLY_FRAME" val="{&quot;height&quot;:285.4,&quot;left&quot;:241.1,&quot;top&quot;:218.95,&quot;width&quot;:458}"/>
</p:tagLst>
</file>

<file path=ppt/tags/tag25.xml><?xml version="1.0" encoding="utf-8"?>
<p:tagLst xmlns:p="http://schemas.openxmlformats.org/presentationml/2006/main">
  <p:tag name="KSO_WM_DIAGRAM_VIRTUALLY_FRAME" val="{&quot;height&quot;:285.4,&quot;left&quot;:241.1,&quot;top&quot;:218.95,&quot;width&quot;:458}"/>
</p:tagLst>
</file>

<file path=ppt/tags/tag26.xml><?xml version="1.0" encoding="utf-8"?>
<p:tagLst xmlns:p="http://schemas.openxmlformats.org/presentationml/2006/main">
  <p:tag name="TABLE_ENDDRAG_ORIGIN_RECT" val="898*363"/>
  <p:tag name="TABLE_ENDDRAG_RECT" val="26*106*898*363"/>
</p:tagLst>
</file>

<file path=ppt/tags/tag27.xml><?xml version="1.0" encoding="utf-8"?>
<p:tagLst xmlns:p="http://schemas.openxmlformats.org/presentationml/2006/main">
  <p:tag name="TABLE_ENDDRAG_ORIGIN_RECT" val="898*362"/>
  <p:tag name="TABLE_ENDDRAG_RECT" val="26*106*898*362"/>
</p:tagLst>
</file>

<file path=ppt/tags/tag28.xml><?xml version="1.0" encoding="utf-8"?>
<p:tagLst xmlns:p="http://schemas.openxmlformats.org/presentationml/2006/main">
  <p:tag name="TABLE_ENDDRAG_ORIGIN_RECT" val="141*280"/>
  <p:tag name="TABLE_ENDDRAG_RECT" val="242*198*141*280"/>
</p:tagLst>
</file>

<file path=ppt/tags/tag29.xml><?xml version="1.0" encoding="utf-8"?>
<p:tagLst xmlns:p="http://schemas.openxmlformats.org/presentationml/2006/main">
  <p:tag name="KSO_WM_DIAGRAM_VIRTUALLY_FRAME" val="{&quot;height&quot;:277.1809448818898,&quot;left&quot;:44.4,&quot;top&quot;:221.6255118110236,&quot;width&quot;:864.455905511811}"/>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TABLE_ENDDRAG_ORIGIN_RECT" val="904*276"/>
  <p:tag name="TABLE_ENDDRAG_RECT" val="26*201*904*276"/>
</p:tagLst>
</file>

<file path=ppt/tags/tag48.xml><?xml version="1.0" encoding="utf-8"?>
<p:tagLst xmlns:p="http://schemas.openxmlformats.org/presentationml/2006/main">
  <p:tag name="TABLE_ENDDRAG_ORIGIN_RECT" val="274*274"/>
  <p:tag name="TABLE_ENDDRAG_RECT" val="6*203*274*274"/>
</p:tagLst>
</file>

<file path=ppt/tags/tag49.xml><?xml version="1.0" encoding="utf-8"?>
<p:tagLst xmlns:p="http://schemas.openxmlformats.org/presentationml/2006/main">
  <p:tag name="TABLE_ENDDRAG_ORIGIN_RECT" val="236*273"/>
  <p:tag name="TABLE_ENDDRAG_RECT" val="288*204*236*273"/>
</p:tagLst>
</file>

<file path=ppt/tags/tag50.xml><?xml version="1.0" encoding="utf-8"?>
<p:tagLst xmlns:p="http://schemas.openxmlformats.org/presentationml/2006/main">
  <p:tag name="TABLE_ENDDRAG_ORIGIN_RECT" val="268*275"/>
  <p:tag name="TABLE_ENDDRAG_RECT" val="532*204*268*275"/>
</p:tagLst>
</file>

<file path=ppt/tags/tag51.xml><?xml version="1.0" encoding="utf-8"?>
<p:tagLst xmlns:p="http://schemas.openxmlformats.org/presentationml/2006/main">
  <p:tag name="TABLE_ENDDRAG_ORIGIN_RECT" val="148*108"/>
  <p:tag name="TABLE_ENDDRAG_RECT" val="808*210*148*108"/>
</p:tagLst>
</file>

<file path=ppt/tags/tag52.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53.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54.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55.xml><?xml version="1.0" encoding="utf-8"?>
<p:tagLst xmlns:p="http://schemas.openxmlformats.org/presentationml/2006/main">
  <p:tag name="KSO_WM_DIAGRAM_VIRTUALLY_FRAME" val="{&quot;height&quot;:277.1809448818898,&quot;left&quot;:44.4,&quot;top&quot;:221.6255118110236,&quot;width&quot;:864.455905511811}"/>
</p:tagLst>
</file>

<file path=ppt/tags/tag56.xml><?xml version="1.0" encoding="utf-8"?>
<p:tagLst xmlns:p="http://schemas.openxmlformats.org/presentationml/2006/main">
  <p:tag name="KSO_WM_DIAGRAM_VIRTUALLY_FRAME" val="{&quot;height&quot;:277.1809448818898,&quot;left&quot;:44.4,&quot;top&quot;:221.6255118110236,&quot;width&quot;:864.455905511811}"/>
</p:tagLst>
</file>

<file path=ppt/tags/tag57.xml><?xml version="1.0" encoding="utf-8"?>
<p:tagLst xmlns:p="http://schemas.openxmlformats.org/presentationml/2006/main">
  <p:tag name="KSO_WM_DIAGRAM_VIRTUALLY_FRAME" val="{&quot;height&quot;:277.1809448818898,&quot;left&quot;:44.4,&quot;top&quot;:221.6255118110236,&quot;width&quot;:864.455905511811}"/>
</p:tagLst>
</file>

<file path=ppt/tags/tag58.xml><?xml version="1.0" encoding="utf-8"?>
<p:tagLst xmlns:p="http://schemas.openxmlformats.org/presentationml/2006/main">
  <p:tag name="KSO_WM_DIAGRAM_VIRTUALLY_FRAME" val="{&quot;height&quot;:277.1809448818898,&quot;left&quot;:44.4,&quot;top&quot;:221.6255118110236,&quot;width&quot;:864.455905511811}"/>
</p:tagLst>
</file>

<file path=ppt/tags/tag59.xml><?xml version="1.0" encoding="utf-8"?>
<p:tagLst xmlns:p="http://schemas.openxmlformats.org/presentationml/2006/main">
  <p:tag name="KSO_WM_DIAGRAM_VIRTUALLY_FRAME" val="{&quot;height&quot;:277.1809448818898,&quot;left&quot;:44.4,&quot;top&quot;:221.6255118110236,&quot;width&quot;:864.455905511811}"/>
</p:tagLst>
</file>

<file path=ppt/tags/tag60.xml><?xml version="1.0" encoding="utf-8"?>
<p:tagLst xmlns:p="http://schemas.openxmlformats.org/presentationml/2006/main">
  <p:tag name="KSO_WM_DIAGRAM_VIRTUALLY_FRAME" val="{&quot;height&quot;:277.1809448818898,&quot;left&quot;:44.4,&quot;top&quot;:221.6255118110236,&quot;width&quot;:864.455905511811}"/>
</p:tagLst>
</file>

<file path=ppt/tags/tag61.xml><?xml version="1.0" encoding="utf-8"?>
<p:tagLst xmlns:p="http://schemas.openxmlformats.org/presentationml/2006/main">
  <p:tag name="KSO_WM_DIAGRAM_VIRTUALLY_FRAME" val="{&quot;height&quot;:277.1809448818898,&quot;left&quot;:44.4,&quot;top&quot;:221.6255118110236,&quot;width&quot;:864.455905511811}"/>
</p:tagLst>
</file>

<file path=ppt/tags/tag62.xml><?xml version="1.0" encoding="utf-8"?>
<p:tagLst xmlns:p="http://schemas.openxmlformats.org/presentationml/2006/main">
  <p:tag name="KSO_WM_DIAGRAM_VIRTUALLY_FRAME" val="{&quot;height&quot;:277.1809448818898,&quot;left&quot;:44.4,&quot;top&quot;:221.6255118110236,&quot;width&quot;:864.455905511811}"/>
</p:tagLst>
</file>

<file path=ppt/tags/tag63.xml><?xml version="1.0" encoding="utf-8"?>
<p:tagLst xmlns:p="http://schemas.openxmlformats.org/presentationml/2006/main">
  <p:tag name="KSO_WM_DIAGRAM_VIRTUALLY_FRAME" val="{&quot;height&quot;:277.1809448818898,&quot;left&quot;:44.4,&quot;top&quot;:221.6255118110236,&quot;width&quot;:864.455905511811}"/>
</p:tagLst>
</file>

<file path=ppt/tags/tag64.xml><?xml version="1.0" encoding="utf-8"?>
<p:tagLst xmlns:p="http://schemas.openxmlformats.org/presentationml/2006/main">
  <p:tag name="KSO_WM_DIAGRAM_VIRTUALLY_FRAME" val="{&quot;height&quot;:277.1809448818898,&quot;left&quot;:44.4,&quot;top&quot;:221.6255118110236,&quot;width&quot;:864.455905511811}"/>
</p:tagLst>
</file>

<file path=ppt/tags/tag65.xml><?xml version="1.0" encoding="utf-8"?>
<p:tagLst xmlns:p="http://schemas.openxmlformats.org/presentationml/2006/main">
  <p:tag name="KSO_WM_DIAGRAM_VIRTUALLY_FRAME" val="{&quot;height&quot;:277.1809448818898,&quot;left&quot;:44.4,&quot;top&quot;:221.6255118110236,&quot;width&quot;:864.455905511811}"/>
</p:tagLst>
</file>

<file path=ppt/tags/tag66.xml><?xml version="1.0" encoding="utf-8"?>
<p:tagLst xmlns:p="http://schemas.openxmlformats.org/presentationml/2006/main">
  <p:tag name="KSO_WM_DIAGRAM_VIRTUALLY_FRAME" val="{&quot;height&quot;:277.1809448818898,&quot;left&quot;:44.4,&quot;top&quot;:221.6255118110236,&quot;width&quot;:864.455905511811}"/>
</p:tagLst>
</file>

<file path=ppt/tags/tag67.xml><?xml version="1.0" encoding="utf-8"?>
<p:tagLst xmlns:p="http://schemas.openxmlformats.org/presentationml/2006/main">
  <p:tag name="TABLE_ENDDRAG_ORIGIN_RECT" val="274*274"/>
  <p:tag name="TABLE_ENDDRAG_RECT" val="6*203*274*274"/>
</p:tagLst>
</file>

<file path=ppt/tags/tag68.xml><?xml version="1.0" encoding="utf-8"?>
<p:tagLst xmlns:p="http://schemas.openxmlformats.org/presentationml/2006/main">
  <p:tag name="TABLE_ENDDRAG_ORIGIN_RECT" val="236*273"/>
  <p:tag name="TABLE_ENDDRAG_RECT" val="288*204*236*273"/>
</p:tagLst>
</file>

<file path=ppt/tags/tag69.xml><?xml version="1.0" encoding="utf-8"?>
<p:tagLst xmlns:p="http://schemas.openxmlformats.org/presentationml/2006/main">
  <p:tag name="TABLE_ENDDRAG_ORIGIN_RECT" val="268*274"/>
  <p:tag name="TABLE_ENDDRAG_RECT" val="532*203*268*274"/>
</p:tagLst>
</file>

<file path=ppt/tags/tag70.xml><?xml version="1.0" encoding="utf-8"?>
<p:tagLst xmlns:p="http://schemas.openxmlformats.org/presentationml/2006/main">
  <p:tag name="TABLE_ENDDRAG_ORIGIN_RECT" val="148*108"/>
  <p:tag name="TABLE_ENDDRAG_RECT" val="808*210*148*108"/>
</p:tagLst>
</file>

<file path=ppt/tags/tag71.xml><?xml version="1.0" encoding="utf-8"?>
<p:tagLst xmlns:p="http://schemas.openxmlformats.org/presentationml/2006/main">
  <p:tag name="KSO_WM_DIAGRAM_VIRTUALLY_FRAME" val="{&quot;height&quot;:277.1809448818898,&quot;left&quot;:44.4,&quot;top&quot;:221.6255118110236,&quot;width&quot;:864.455905511811}"/>
</p:tagLst>
</file>

<file path=ppt/tags/tag72.xml><?xml version="1.0" encoding="utf-8"?>
<p:tagLst xmlns:p="http://schemas.openxmlformats.org/presentationml/2006/main">
  <p:tag name="KSO_WM_DIAGRAM_VIRTUALLY_FRAME" val="{&quot;height&quot;:277.1809448818898,&quot;left&quot;:44.4,&quot;top&quot;:221.6255118110236,&quot;width&quot;:864.455905511811}"/>
</p:tagLst>
</file>

<file path=ppt/tags/tag73.xml><?xml version="1.0" encoding="utf-8"?>
<p:tagLst xmlns:p="http://schemas.openxmlformats.org/presentationml/2006/main">
  <p:tag name="KSO_WM_DIAGRAM_VIRTUALLY_FRAME" val="{&quot;height&quot;:277.1809448818898,&quot;left&quot;:44.4,&quot;top&quot;:221.6255118110236,&quot;width&quot;:864.455905511811}"/>
</p:tagLst>
</file>

<file path=ppt/tags/tag74.xml><?xml version="1.0" encoding="utf-8"?>
<p:tagLst xmlns:p="http://schemas.openxmlformats.org/presentationml/2006/main">
  <p:tag name="KSO_WM_DIAGRAM_VIRTUALLY_FRAME" val="{&quot;height&quot;:277.1809448818898,&quot;left&quot;:44.4,&quot;top&quot;:221.6255118110236,&quot;width&quot;:864.455905511811}"/>
</p:tagLst>
</file>

<file path=ppt/tags/tag75.xml><?xml version="1.0" encoding="utf-8"?>
<p:tagLst xmlns:p="http://schemas.openxmlformats.org/presentationml/2006/main">
  <p:tag name="KSO_WM_DIAGRAM_VIRTUALLY_FRAME" val="{&quot;height&quot;:277.1809448818898,&quot;left&quot;:44.4,&quot;top&quot;:221.6255118110236,&quot;width&quot;:864.455905511811}"/>
</p:tagLst>
</file>

<file path=ppt/tags/tag76.xml><?xml version="1.0" encoding="utf-8"?>
<p:tagLst xmlns:p="http://schemas.openxmlformats.org/presentationml/2006/main">
  <p:tag name="KSO_WM_DIAGRAM_VIRTUALLY_FRAME" val="{&quot;height&quot;:277.1809448818898,&quot;left&quot;:44.4,&quot;top&quot;:221.6255118110236,&quot;width&quot;:864.455905511811}"/>
</p:tagLst>
</file>

<file path=ppt/tags/tag77.xml><?xml version="1.0" encoding="utf-8"?>
<p:tagLst xmlns:p="http://schemas.openxmlformats.org/presentationml/2006/main">
  <p:tag name="KSO_WM_DIAGRAM_VIRTUALLY_FRAME" val="{&quot;height&quot;:277.1809448818898,&quot;left&quot;:44.4,&quot;top&quot;:221.6255118110236,&quot;width&quot;:864.455905511811}"/>
</p:tagLst>
</file>

<file path=ppt/tags/tag78.xml><?xml version="1.0" encoding="utf-8"?>
<p:tagLst xmlns:p="http://schemas.openxmlformats.org/presentationml/2006/main">
  <p:tag name="KSO_WM_DIAGRAM_VIRTUALLY_FRAME" val="{&quot;height&quot;:277.1809448818898,&quot;left&quot;:44.4,&quot;top&quot;:221.6255118110236,&quot;width&quot;:864.455905511811}"/>
</p:tagLst>
</file>

<file path=ppt/tags/tag79.xml><?xml version="1.0" encoding="utf-8"?>
<p:tagLst xmlns:p="http://schemas.openxmlformats.org/presentationml/2006/main">
  <p:tag name="KSO_WM_DIAGRAM_VIRTUALLY_FRAME" val="{&quot;height&quot;:277.1809448818898,&quot;left&quot;:44.4,&quot;top&quot;:221.6255118110236,&quot;width&quot;:864.455905511811}"/>
</p:tagLst>
</file>

<file path=ppt/tags/tag80.xml><?xml version="1.0" encoding="utf-8"?>
<p:tagLst xmlns:p="http://schemas.openxmlformats.org/presentationml/2006/main">
  <p:tag name="KSO_WM_DIAGRAM_VIRTUALLY_FRAME" val="{&quot;height&quot;:277.1809448818898,&quot;left&quot;:44.4,&quot;top&quot;:221.6255118110236,&quot;width&quot;:864.455905511811}"/>
</p:tagLst>
</file>

<file path=ppt/tags/tag81.xml><?xml version="1.0" encoding="utf-8"?>
<p:tagLst xmlns:p="http://schemas.openxmlformats.org/presentationml/2006/main">
  <p:tag name="KSO_WM_DIAGRAM_VIRTUALLY_FRAME" val="{&quot;height&quot;:277.1809448818898,&quot;left&quot;:44.4,&quot;top&quot;:221.6255118110236,&quot;width&quot;:864.455905511811}"/>
</p:tagLst>
</file>

<file path=ppt/tags/tag82.xml><?xml version="1.0" encoding="utf-8"?>
<p:tagLst xmlns:p="http://schemas.openxmlformats.org/presentationml/2006/main">
  <p:tag name="TABLE_ENDDRAG_ORIGIN_RECT" val="312*180"/>
  <p:tag name="TABLE_ENDDRAG_RECT" val="3*200*312*180"/>
</p:tagLst>
</file>

<file path=ppt/tags/tag83.xml><?xml version="1.0" encoding="utf-8"?>
<p:tagLst xmlns:p="http://schemas.openxmlformats.org/presentationml/2006/main">
  <p:tag name="TABLE_ENDDRAG_ORIGIN_RECT" val="313*94"/>
  <p:tag name="TABLE_ENDDRAG_RECT" val="3*383*313*94"/>
</p:tagLst>
</file>

<file path=ppt/tags/tag84.xml><?xml version="1.0" encoding="utf-8"?>
<p:tagLst xmlns:p="http://schemas.openxmlformats.org/presentationml/2006/main">
  <p:tag name="TABLE_ENDDRAG_ORIGIN_RECT" val="315*103"/>
  <p:tag name="TABLE_ENDDRAG_RECT" val="577*252*315*103"/>
</p:tagLst>
</file>

<file path=ppt/tags/tag85.xml><?xml version="1.0" encoding="utf-8"?>
<p:tagLst xmlns:p="http://schemas.openxmlformats.org/presentationml/2006/main">
  <p:tag name="TABLE_ENDDRAG_ORIGIN_RECT" val="315*103"/>
  <p:tag name="TABLE_ENDDRAG_RECT" val="577*252*315*103"/>
</p:tagLst>
</file>

<file path=ppt/tags/tag86.xml><?xml version="1.0" encoding="utf-8"?>
<p:tagLst xmlns:p="http://schemas.openxmlformats.org/presentationml/2006/main">
  <p:tag name="TABLE_ENDDRAG_ORIGIN_RECT" val="636*94"/>
  <p:tag name="TABLE_ENDDRAG_RECT" val="321*383*636*94"/>
</p:tagLst>
</file>

<file path=ppt/tags/tag87.xml><?xml version="1.0" encoding="utf-8"?>
<p:tagLst xmlns:p="http://schemas.openxmlformats.org/presentationml/2006/main">
  <p:tag name="KSO_WM_DIAGRAM_VIRTUALLY_FRAME" val="{&quot;height&quot;:277.1809448818898,&quot;left&quot;:44.4,&quot;top&quot;:221.6255118110236,&quot;width&quot;:864.455905511811}"/>
</p:tagLst>
</file>

<file path=ppt/tags/tag88.xml><?xml version="1.0" encoding="utf-8"?>
<p:tagLst xmlns:p="http://schemas.openxmlformats.org/presentationml/2006/main">
  <p:tag name="KSO_WM_DIAGRAM_VIRTUALLY_FRAME" val="{&quot;height&quot;:277.1809448818898,&quot;left&quot;:44.4,&quot;top&quot;:221.6255118110236,&quot;width&quot;:864.455905511811}"/>
</p:tagLst>
</file>

<file path=ppt/tags/tag89.xml><?xml version="1.0" encoding="utf-8"?>
<p:tagLst xmlns:p="http://schemas.openxmlformats.org/presentationml/2006/main">
  <p:tag name="TABLE_ENDDRAG_ORIGIN_RECT" val="709*272"/>
  <p:tag name="TABLE_ENDDRAG_RECT" val="8*202*709*272"/>
</p:tagLst>
</file>

<file path=ppt/tags/tag90.xml><?xml version="1.0" encoding="utf-8"?>
<p:tagLst xmlns:p="http://schemas.openxmlformats.org/presentationml/2006/main">
  <p:tag name="TABLE_ENDDRAG_ORIGIN_RECT" val="205*270"/>
  <p:tag name="TABLE_ENDDRAG_RECT" val="725*204*205*270"/>
</p:tagLst>
</file>

<file path=ppt/tags/tag91.xml><?xml version="1.0" encoding="utf-8"?>
<p:tagLst xmlns:p="http://schemas.openxmlformats.org/presentationml/2006/main">
  <p:tag name="KSO_WM_DIAGRAM_VIRTUALLY_FRAME" val="{&quot;height&quot;:277.1809448818898,&quot;left&quot;:44.4,&quot;top&quot;:221.6255118110236,&quot;width&quot;:864.455905511811}"/>
</p:tagLst>
</file>

<file path=ppt/tags/tag92.xml><?xml version="1.0" encoding="utf-8"?>
<p:tagLst xmlns:p="http://schemas.openxmlformats.org/presentationml/2006/main">
  <p:tag name="KSO_WM_DIAGRAM_VIRTUALLY_FRAME" val="{&quot;height&quot;:277.1809448818898,&quot;left&quot;:44.4,&quot;top&quot;:221.6255118110236,&quot;width&quot;:864.455905511811}"/>
</p:tagLst>
</file>

<file path=ppt/tags/tag93.xml><?xml version="1.0" encoding="utf-8"?>
<p:tagLst xmlns:p="http://schemas.openxmlformats.org/presentationml/2006/main">
  <p:tag name="TABLE_ENDDRAG_ORIGIN_RECT" val="901*274"/>
  <p:tag name="TABLE_ENDDRAG_RECT" val="29*204*901*274"/>
</p:tagLst>
</file>

<file path=ppt/tags/tag94.xml><?xml version="1.0" encoding="utf-8"?>
<p:tagLst xmlns:p="http://schemas.openxmlformats.org/presentationml/2006/main">
  <p:tag name="KSO_WM_DIAGRAM_VIRTUALLY_FRAME" val="{&quot;height&quot;:277.1809448818898,&quot;left&quot;:44.4,&quot;top&quot;:221.6255118110236,&quot;width&quot;:864.455905511811}"/>
</p:tagLst>
</file>

<file path=ppt/tags/tag95.xml><?xml version="1.0" encoding="utf-8"?>
<p:tagLst xmlns:p="http://schemas.openxmlformats.org/presentationml/2006/main">
  <p:tag name="KSO_WM_DIAGRAM_VIRTUALLY_FRAME" val="{&quot;height&quot;:277.1809448818898,&quot;left&quot;:44.4,&quot;top&quot;:221.6255118110236,&quot;width&quot;:864.455905511811}"/>
</p:tagLst>
</file>

<file path=ppt/tags/tag96.xml><?xml version="1.0" encoding="utf-8"?>
<p:tagLst xmlns:p="http://schemas.openxmlformats.org/presentationml/2006/main">
  <p:tag name="TABLE_ENDDRAG_ORIGIN_RECT" val="904*278"/>
  <p:tag name="TABLE_ENDDRAG_RECT" val="26*204*904*278"/>
</p:tagLst>
</file>

<file path=ppt/tags/tag97.xml><?xml version="1.0" encoding="utf-8"?>
<p:tagLst xmlns:p="http://schemas.openxmlformats.org/presentationml/2006/main">
  <p:tag name="KSO_WM_DIAGRAM_VIRTUALLY_FRAME" val="{&quot;height&quot;:277.1809448818898,&quot;left&quot;:44.4,&quot;top&quot;:221.6255118110236,&quot;width&quot;:864.455905511811}"/>
</p:tagLst>
</file>

<file path=ppt/tags/tag98.xml><?xml version="1.0" encoding="utf-8"?>
<p:tagLst xmlns:p="http://schemas.openxmlformats.org/presentationml/2006/main">
  <p:tag name="TABLE_ENDDRAG_ORIGIN_RECT" val="473*272"/>
  <p:tag name="TABLE_ENDDRAG_RECT" val="26*204*473*272"/>
</p:tagLst>
</file>

<file path=ppt/tags/tag99.xml><?xml version="1.0" encoding="utf-8"?>
<p:tagLst xmlns:p="http://schemas.openxmlformats.org/presentationml/2006/main">
  <p:tag name="KSO_WM_DIAGRAM_VIRTUALLY_FRAME" val="{&quot;height&quot;:277.1809448818898,&quot;left&quot;:44.4,&quot;top&quot;:221.6255118110236,&quot;width&quot;:864.455905511811}"/>
</p:tagLst>
</file>

<file path=ppt/tags/tag100.xml><?xml version="1.0" encoding="utf-8"?>
<p:tagLst xmlns:p="http://schemas.openxmlformats.org/presentationml/2006/main">
  <p:tag name="KSO_WM_DIAGRAM_VIRTUALLY_FRAME" val="{&quot;height&quot;:277.1809448818898,&quot;left&quot;:44.4,&quot;top&quot;:221.6255118110236,&quot;width&quot;:864.455905511811}"/>
</p:tagLst>
</file>

<file path=ppt/tags/tag101.xml><?xml version="1.0" encoding="utf-8"?>
<p:tagLst xmlns:p="http://schemas.openxmlformats.org/presentationml/2006/main">
  <p:tag name="TABLE_ENDDRAG_ORIGIN_RECT" val="902*275"/>
  <p:tag name="TABLE_ENDDRAG_RECT" val="27*204*902*275"/>
</p:tagLst>
</file>

<file path=ppt/tags/tag102.xml><?xml version="1.0" encoding="utf-8"?>
<p:tagLst xmlns:p="http://schemas.openxmlformats.org/presentationml/2006/main">
  <p:tag name="KSO_WM_DIAGRAM_VIRTUALLY_FRAME" val="{&quot;height&quot;:277.1809448818898,&quot;left&quot;:44.4,&quot;top&quot;:221.6255118110236,&quot;width&quot;:864.455905511811}"/>
</p:tagLst>
</file>

<file path=ppt/tags/tag103.xml><?xml version="1.0" encoding="utf-8"?>
<p:tagLst xmlns:p="http://schemas.openxmlformats.org/presentationml/2006/main">
  <p:tag name="TABLE_ENDDRAG_ORIGIN_RECT" val="900*273"/>
  <p:tag name="TABLE_ENDDRAG_RECT" val="26*204*900*273"/>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TABLE_ENDDRAG_ORIGIN_RECT" val="919*243"/>
  <p:tag name="TABLE_ENDDRAG_RECT" val="8*211*919*243"/>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TABLE_ENDDRAG_ORIGIN_RECT" val="912*274"/>
  <p:tag name="TABLE_ENDDRAG_RECT" val="21*204*912*274"/>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TABLE_ENDDRAG_ORIGIN_RECT" val="904*270"/>
  <p:tag name="TABLE_ENDDRAG_RECT" val="26*204*904*270"/>
</p:tagLst>
</file>

<file path=ppt/tags/tag161.xml><?xml version="1.0" encoding="utf-8"?>
<p:tagLst xmlns:p="http://schemas.openxmlformats.org/presentationml/2006/main">
  <p:tag name="TABLE_ENDDRAG_ORIGIN_RECT" val="895*331"/>
  <p:tag name="TABLE_ENDDRAG_RECT" val="32*140*895*331"/>
</p:tagLst>
</file>

<file path=ppt/tags/tag162.xml><?xml version="1.0" encoding="utf-8"?>
<p:tagLst xmlns:p="http://schemas.openxmlformats.org/presentationml/2006/main">
  <p:tag name="TABLE_ENDDRAG_ORIGIN_RECT" val="905*327"/>
  <p:tag name="TABLE_ENDDRAG_RECT" val="25*141*905*327"/>
</p:tagLst>
</file>

<file path=ppt/tags/tag163.xml><?xml version="1.0" encoding="utf-8"?>
<p:tagLst xmlns:p="http://schemas.openxmlformats.org/presentationml/2006/main">
  <p:tag name="KSO_WM_DIAGRAM_VIRTUALLY_FRAME" val="{&quot;height&quot;:277.1809448818898,&quot;left&quot;:44.4,&quot;top&quot;:221.6255118110236,&quot;width&quot;:864.455905511811}"/>
</p:tagLst>
</file>

<file path=ppt/tags/tag164.xml><?xml version="1.0" encoding="utf-8"?>
<p:tagLst xmlns:p="http://schemas.openxmlformats.org/presentationml/2006/main">
  <p:tag name="KSO_WM_DIAGRAM_VIRTUALLY_FRAME" val="{&quot;height&quot;:277.1809448818898,&quot;left&quot;:44.4,&quot;top&quot;:221.6255118110236,&quot;width&quot;:864.455905511811}"/>
</p:tagLst>
</file>

<file path=ppt/tags/tag165.xml><?xml version="1.0" encoding="utf-8"?>
<p:tagLst xmlns:p="http://schemas.openxmlformats.org/presentationml/2006/main">
  <p:tag name="RESOURCE_RECORD_KEY" val="{&quot;29&quot;:[50053052]}"/>
</p:tagLst>
</file>

<file path=ppt/theme/theme1.xml><?xml version="1.0" encoding="utf-8"?>
<a:theme xmlns:a="http://schemas.openxmlformats.org/drawingml/2006/main" name="6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00000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00000000000000000" pitchFamily="65" charset="-122"/>
            <a:ea typeface="方正大黑简体" panose="02000000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33213</Words>
  <Application>WPS 演示</Application>
  <PresentationFormat>宽屏</PresentationFormat>
  <Paragraphs>5211</Paragraphs>
  <Slides>95</Slides>
  <Notes>81</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95</vt:i4>
      </vt:variant>
    </vt:vector>
  </HeadingPairs>
  <TitlesOfParts>
    <vt:vector size="117" baseType="lpstr">
      <vt:lpstr>Arial</vt:lpstr>
      <vt:lpstr>宋体</vt:lpstr>
      <vt:lpstr>Wingdings</vt:lpstr>
      <vt:lpstr>Tahoma</vt:lpstr>
      <vt:lpstr>方正大黑简体</vt:lpstr>
      <vt:lpstr>黑体</vt:lpstr>
      <vt:lpstr>Arial</vt:lpstr>
      <vt:lpstr>Tahoma</vt:lpstr>
      <vt:lpstr>等线</vt:lpstr>
      <vt:lpstr>楷体</vt:lpstr>
      <vt:lpstr>微软雅黑</vt:lpstr>
      <vt:lpstr>Times New Roman</vt:lpstr>
      <vt:lpstr>方正粗宋简体</vt:lpstr>
      <vt:lpstr>Arial Unicode MS</vt:lpstr>
      <vt:lpstr>Wingdings</vt:lpstr>
      <vt:lpstr>Cambria Math</vt:lpstr>
      <vt:lpstr>Times New Roman</vt:lpstr>
      <vt:lpstr>方正楷体简体</vt:lpstr>
      <vt:lpstr>Calibri</vt:lpstr>
      <vt:lpstr>6_Blends</vt:lpstr>
      <vt:lpstr>Paint.Picture</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3627</cp:revision>
  <dcterms:created xsi:type="dcterms:W3CDTF">2021-06-29T01:23:00Z</dcterms:created>
  <dcterms:modified xsi:type="dcterms:W3CDTF">2026-01-19T07:41:45Z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1417FBEC099442DABB9C26914E9A72FA_13</vt:lpwstr>
  </property>
</Properties>
</file>