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gif" ContentType="image/gif"/>
  <Default Extension="wmf" ContentType="image/x-wmf"/>
  <Default Extension="jpeg" ContentType="image/jpeg"/>
  <Default Extension="JPG" ContentType="image/.jpg"/>
  <Default Extension="tiff" ContentType="image/tif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98"/>
  </p:handoutMasterIdLst>
  <p:sldIdLst>
    <p:sldId id="7238" r:id="rId3"/>
    <p:sldId id="7241" r:id="rId5"/>
    <p:sldId id="7242" r:id="rId6"/>
    <p:sldId id="7243" r:id="rId7"/>
    <p:sldId id="7244" r:id="rId8"/>
    <p:sldId id="7459" r:id="rId9"/>
    <p:sldId id="7345" r:id="rId10"/>
    <p:sldId id="7245" r:id="rId11"/>
    <p:sldId id="7246" r:id="rId12"/>
    <p:sldId id="7247" r:id="rId13"/>
    <p:sldId id="7249" r:id="rId14"/>
    <p:sldId id="7373" r:id="rId15"/>
    <p:sldId id="7368" r:id="rId16"/>
    <p:sldId id="7250" r:id="rId17"/>
    <p:sldId id="7239" r:id="rId18"/>
    <p:sldId id="7336" r:id="rId19"/>
    <p:sldId id="7337" r:id="rId20"/>
    <p:sldId id="7401" r:id="rId21"/>
    <p:sldId id="7338" r:id="rId22"/>
    <p:sldId id="7253" r:id="rId23"/>
    <p:sldId id="7438" r:id="rId24"/>
    <p:sldId id="7254" r:id="rId25"/>
    <p:sldId id="7255" r:id="rId26"/>
    <p:sldId id="7269" r:id="rId27"/>
    <p:sldId id="7306" r:id="rId28"/>
    <p:sldId id="7307" r:id="rId29"/>
    <p:sldId id="7375" r:id="rId30"/>
    <p:sldId id="7397" r:id="rId31"/>
    <p:sldId id="7439" r:id="rId32"/>
    <p:sldId id="7457" r:id="rId33"/>
    <p:sldId id="7458" r:id="rId34"/>
    <p:sldId id="7374" r:id="rId35"/>
    <p:sldId id="7402" r:id="rId36"/>
    <p:sldId id="7403" r:id="rId37"/>
    <p:sldId id="7404" r:id="rId38"/>
    <p:sldId id="7405" r:id="rId39"/>
    <p:sldId id="7406" r:id="rId40"/>
    <p:sldId id="7407" r:id="rId41"/>
    <p:sldId id="7408" r:id="rId42"/>
    <p:sldId id="7409" r:id="rId43"/>
    <p:sldId id="7413" r:id="rId44"/>
    <p:sldId id="7414" r:id="rId45"/>
    <p:sldId id="7410" r:id="rId46"/>
    <p:sldId id="7411" r:id="rId47"/>
    <p:sldId id="7393" r:id="rId48"/>
    <p:sldId id="7416" r:id="rId49"/>
    <p:sldId id="7417" r:id="rId50"/>
    <p:sldId id="7418" r:id="rId51"/>
    <p:sldId id="7419" r:id="rId52"/>
    <p:sldId id="7420" r:id="rId53"/>
    <p:sldId id="7421" r:id="rId54"/>
    <p:sldId id="7422" r:id="rId55"/>
    <p:sldId id="7423" r:id="rId56"/>
    <p:sldId id="7376" r:id="rId57"/>
    <p:sldId id="7391" r:id="rId58"/>
    <p:sldId id="7392" r:id="rId59"/>
    <p:sldId id="7441" r:id="rId60"/>
    <p:sldId id="7442" r:id="rId61"/>
    <p:sldId id="7443" r:id="rId62"/>
    <p:sldId id="7444" r:id="rId63"/>
    <p:sldId id="7445" r:id="rId64"/>
    <p:sldId id="7446" r:id="rId65"/>
    <p:sldId id="7453" r:id="rId66"/>
    <p:sldId id="7454" r:id="rId67"/>
    <p:sldId id="7447" r:id="rId68"/>
    <p:sldId id="7448" r:id="rId69"/>
    <p:sldId id="7456" r:id="rId70"/>
    <p:sldId id="7384" r:id="rId71"/>
    <p:sldId id="7385" r:id="rId72"/>
    <p:sldId id="7386" r:id="rId73"/>
    <p:sldId id="7387" r:id="rId74"/>
    <p:sldId id="7388" r:id="rId75"/>
    <p:sldId id="7313" r:id="rId76"/>
    <p:sldId id="7452" r:id="rId77"/>
    <p:sldId id="7314" r:id="rId78"/>
    <p:sldId id="7398" r:id="rId79"/>
    <p:sldId id="7399" r:id="rId80"/>
    <p:sldId id="7400" r:id="rId81"/>
    <p:sldId id="7339" r:id="rId82"/>
    <p:sldId id="7284" r:id="rId83"/>
    <p:sldId id="7356" r:id="rId84"/>
    <p:sldId id="7436" r:id="rId85"/>
    <p:sldId id="7437" r:id="rId86"/>
    <p:sldId id="7286" r:id="rId87"/>
    <p:sldId id="7435" r:id="rId88"/>
    <p:sldId id="7290" r:id="rId89"/>
    <p:sldId id="7364" r:id="rId90"/>
    <p:sldId id="7292" r:id="rId91"/>
    <p:sldId id="7360" r:id="rId92"/>
    <p:sldId id="7361" r:id="rId93"/>
    <p:sldId id="7415" r:id="rId94"/>
    <p:sldId id="7362" r:id="rId95"/>
    <p:sldId id="7359" r:id="rId96"/>
    <p:sldId id="7294" r:id="rId97"/>
  </p:sldIdLst>
  <p:sldSz cx="12192000" cy="6858000"/>
  <p:notesSz cx="6858000" cy="9144000"/>
  <p:custDataLst>
    <p:tags r:id="rId10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8F2C84F-378A-4105-B54C-D81CDCC09504}">
          <p14:sldIdLst>
            <p14:sldId id="7238"/>
            <p14:sldId id="7241"/>
            <p14:sldId id="7242"/>
            <p14:sldId id="7243"/>
            <p14:sldId id="7244"/>
            <p14:sldId id="7459"/>
            <p14:sldId id="7345"/>
            <p14:sldId id="7245"/>
            <p14:sldId id="7246"/>
            <p14:sldId id="7247"/>
            <p14:sldId id="7249"/>
            <p14:sldId id="7373"/>
            <p14:sldId id="7368"/>
            <p14:sldId id="7250"/>
            <p14:sldId id="7239"/>
            <p14:sldId id="7336"/>
            <p14:sldId id="7337"/>
            <p14:sldId id="7401"/>
            <p14:sldId id="7338"/>
            <p14:sldId id="7253"/>
            <p14:sldId id="7438"/>
            <p14:sldId id="7254"/>
            <p14:sldId id="7255"/>
            <p14:sldId id="7269"/>
            <p14:sldId id="7306"/>
            <p14:sldId id="7307"/>
            <p14:sldId id="7375"/>
            <p14:sldId id="7397"/>
            <p14:sldId id="7439"/>
            <p14:sldId id="7457"/>
            <p14:sldId id="7458"/>
            <p14:sldId id="7374"/>
            <p14:sldId id="7402"/>
            <p14:sldId id="7403"/>
            <p14:sldId id="7404"/>
            <p14:sldId id="7405"/>
            <p14:sldId id="7406"/>
            <p14:sldId id="7407"/>
            <p14:sldId id="7408"/>
            <p14:sldId id="7409"/>
            <p14:sldId id="7413"/>
            <p14:sldId id="7414"/>
            <p14:sldId id="7410"/>
            <p14:sldId id="7411"/>
            <p14:sldId id="7393"/>
            <p14:sldId id="7416"/>
            <p14:sldId id="7417"/>
            <p14:sldId id="7418"/>
            <p14:sldId id="7419"/>
            <p14:sldId id="7420"/>
            <p14:sldId id="7421"/>
            <p14:sldId id="7422"/>
            <p14:sldId id="7423"/>
            <p14:sldId id="7376"/>
            <p14:sldId id="7391"/>
            <p14:sldId id="7392"/>
            <p14:sldId id="7441"/>
            <p14:sldId id="7442"/>
            <p14:sldId id="7443"/>
            <p14:sldId id="7444"/>
            <p14:sldId id="7445"/>
            <p14:sldId id="7446"/>
            <p14:sldId id="7453"/>
            <p14:sldId id="7454"/>
            <p14:sldId id="7447"/>
            <p14:sldId id="7448"/>
            <p14:sldId id="7456"/>
            <p14:sldId id="7384"/>
            <p14:sldId id="7385"/>
            <p14:sldId id="7386"/>
            <p14:sldId id="7387"/>
            <p14:sldId id="7388"/>
            <p14:sldId id="7313"/>
            <p14:sldId id="7452"/>
            <p14:sldId id="7314"/>
            <p14:sldId id="7398"/>
            <p14:sldId id="7399"/>
            <p14:sldId id="7400"/>
            <p14:sldId id="7339"/>
            <p14:sldId id="7284"/>
            <p14:sldId id="7356"/>
            <p14:sldId id="7436"/>
            <p14:sldId id="7437"/>
            <p14:sldId id="7286"/>
            <p14:sldId id="7435"/>
            <p14:sldId id="7290"/>
            <p14:sldId id="7364"/>
            <p14:sldId id="7292"/>
            <p14:sldId id="7360"/>
            <p14:sldId id="7361"/>
            <p14:sldId id="7415"/>
            <p14:sldId id="7362"/>
            <p14:sldId id="7359"/>
            <p14:sldId id="7294"/>
          </p14:sldIdLst>
        </p14:section>
      </p14:sectionLst>
    </p:ext>
    <p:ext uri="{EFAFB233-063F-42B5-8137-9DF3F51BA10A}">
      <p15:sldGuideLst xmlns:p15="http://schemas.microsoft.com/office/powerpoint/2012/main">
        <p15:guide id="2" orient="horz" pos="857" userDrawn="1">
          <p15:clr>
            <a:srgbClr val="A4A3A4"/>
          </p15:clr>
        </p15:guide>
        <p15:guide id="5" orient="horz" pos="3823" userDrawn="1">
          <p15:clr>
            <a:srgbClr val="A4A3A4"/>
          </p15:clr>
        </p15:guide>
        <p15:guide id="7" orient="horz" pos="496" userDrawn="1">
          <p15:clr>
            <a:srgbClr val="A4A3A4"/>
          </p15:clr>
        </p15:guide>
        <p15:guide id="9" pos="217" userDrawn="1">
          <p15:clr>
            <a:srgbClr val="A4A3A4"/>
          </p15:clr>
        </p15:guide>
        <p15:guide id="11" pos="735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白 亚超" initials="白" lastIdx="2" clrIdx="0"/>
  <p:cmAuthor id="2" name="enjia dong" initials="ed"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00000"/>
    <a:srgbClr val="F2F2F2"/>
    <a:srgbClr val="54CAF5"/>
    <a:srgbClr val="FFFF6B"/>
    <a:srgbClr val="FF00FF"/>
    <a:srgbClr val="000066"/>
    <a:srgbClr val="000099"/>
    <a:srgbClr val="0000CC"/>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E4D548-8C41-4F88-B064-536A38F55382}" styleName="表样式 1 25">
    <a:wholeTbl>
      <a:tcTxStyle>
        <a:fontRef idx="none">
          <a:schemeClr val="tx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w="9525" cmpd="sng">
              <a:solidFill>
                <a:schemeClr val="accent4">
                  <a:lumMod val="40000"/>
                  <a:lumOff val="60000"/>
                </a:schemeClr>
              </a:solidFill>
              <a:prstDash val="solid"/>
            </a:ln>
          </a:insideV>
        </a:tcBdr>
        <a:fill>
          <a:solidFill>
            <a:schemeClr val="bg1">
              <a:alpha val="0"/>
            </a:schemeClr>
          </a:solidFill>
        </a:fill>
      </a:tcStyle>
    </a:wholeTbl>
    <a:band2H>
      <a:tcStyle>
        <a:tcBdr/>
        <a:fill>
          <a:solidFill>
            <a:schemeClr val="accent4">
              <a:lumMod val="40000"/>
              <a:lumOff val="60000"/>
              <a:alpha val="25000"/>
            </a:schemeClr>
          </a:solidFill>
        </a:fill>
      </a:tcStyle>
    </a:band2H>
    <a:band1V>
      <a:tcStyle>
        <a:tcBdr/>
        <a:fill>
          <a:solidFill>
            <a:schemeClr val="accent4">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lumMod val="40000"/>
              <a:lumOff val="60000"/>
              <a:alpha val="40000"/>
            </a:schemeClr>
          </a:solidFill>
        </a:fill>
      </a:tcStyle>
    </a:lastCol>
    <a:firstCol>
      <a:tcTxStyle b="on">
        <a:fontRef idx="none">
          <a:schemeClr val="tx1"/>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lumMod val="40000"/>
              <a:lumOff val="60000"/>
              <a:alpha val="40000"/>
            </a:schemeClr>
          </a:solidFill>
        </a:fill>
      </a:tcStyle>
    </a:firstCol>
    <a:lastRow>
      <a:tcTxStyle b="on">
        <a:fontRef idx="none">
          <a:schemeClr val="accent4"/>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eCell>
    <a:swCell>
      <a:tcTxStyle b="on">
        <a:fontRef idx="none">
          <a:schemeClr val="accent4"/>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w="9525" cmpd="sng">
              <a:solidFill>
                <a:schemeClr val="accent4">
                  <a:lumMod val="40000"/>
                  <a:lumOff val="60000"/>
                </a:schemeClr>
              </a:solidFill>
              <a:prstDash val="solid"/>
            </a:ln>
          </a:insideV>
        </a:tcBdr>
        <a:fill>
          <a:solidFill>
            <a:schemeClr val="accent4"/>
          </a:solidFill>
        </a:fill>
      </a:tcStyle>
    </a:firstRow>
    <a:n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lumMod val="40000"/>
                  <a:lumOff val="60000"/>
                </a:schemeClr>
              </a:solidFill>
              <a:prstDash val="solid"/>
            </a:ln>
          </a:bottom>
          <a:insideH>
            <a:ln>
              <a:noFill/>
            </a:ln>
          </a:insideH>
          <a:insideV>
            <a:ln>
              <a:noFill/>
            </a:ln>
          </a:insideV>
        </a:tcBdr>
      </a:tcStyle>
    </a:neCell>
  </a:tblStyle>
  <a:tblStyle styleId="{C26BC3A4-E4F5-41A5-BAB4-3147584A4A20}" styleName="表样式 1 25">
    <a:wholeTbl>
      <a:tcTxStyle>
        <a:fontRef idx="none">
          <a:schemeClr val="tx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w="9525" cmpd="sng">
              <a:solidFill>
                <a:schemeClr val="accent4">
                  <a:lumMod val="40000"/>
                  <a:lumOff val="60000"/>
                </a:schemeClr>
              </a:solidFill>
              <a:prstDash val="solid"/>
            </a:ln>
          </a:insideV>
        </a:tcBdr>
        <a:fill>
          <a:solidFill>
            <a:schemeClr val="bg1">
              <a:alpha val="0"/>
            </a:schemeClr>
          </a:solidFill>
        </a:fill>
      </a:tcStyle>
    </a:wholeTbl>
    <a:band2H>
      <a:tcStyle>
        <a:tcBdr/>
        <a:fill>
          <a:solidFill>
            <a:schemeClr val="accent4">
              <a:lumMod val="40000"/>
              <a:lumOff val="60000"/>
              <a:alpha val="25000"/>
            </a:schemeClr>
          </a:solidFill>
        </a:fill>
      </a:tcStyle>
    </a:band2H>
    <a:band1V>
      <a:tcStyle>
        <a:tcBdr/>
        <a:fill>
          <a:solidFill>
            <a:schemeClr val="accent4">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lumMod val="40000"/>
              <a:lumOff val="60000"/>
              <a:alpha val="40000"/>
            </a:schemeClr>
          </a:solidFill>
        </a:fill>
      </a:tcStyle>
    </a:lastCol>
    <a:firstCol>
      <a:tcTxStyle b="on">
        <a:fontRef idx="none">
          <a:schemeClr val="tx1"/>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lumMod val="40000"/>
              <a:lumOff val="60000"/>
              <a:alpha val="40000"/>
            </a:schemeClr>
          </a:solidFill>
        </a:fill>
      </a:tcStyle>
    </a:firstCol>
    <a:lastRow>
      <a:tcTxStyle b="on">
        <a:fontRef idx="none">
          <a:schemeClr val="accent4"/>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eCell>
    <a:swCell>
      <a:tcTxStyle b="on">
        <a:fontRef idx="none">
          <a:schemeClr val="accent4"/>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w="9525" cmpd="sng">
              <a:solidFill>
                <a:schemeClr val="accent4">
                  <a:lumMod val="40000"/>
                  <a:lumOff val="60000"/>
                </a:schemeClr>
              </a:solidFill>
              <a:prstDash val="solid"/>
            </a:ln>
          </a:insideV>
        </a:tcBdr>
        <a:fill>
          <a:solidFill>
            <a:schemeClr val="accent4"/>
          </a:solidFill>
        </a:fill>
      </a:tcStyle>
    </a:firstRow>
    <a:n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lumMod val="40000"/>
                  <a:lumOff val="60000"/>
                </a:schemeClr>
              </a:solidFill>
              <a:prstDash val="solid"/>
            </a:ln>
          </a:bottom>
          <a:insideH>
            <a:ln>
              <a:noFill/>
            </a:ln>
          </a:insideH>
          <a:insideV>
            <a:ln>
              <a:noFill/>
            </a:ln>
          </a:insideV>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2DB8C7E-BE71-4567-9549-45A95488CC2F}" styleName="表样式 1 25">
    <a:wholeTbl>
      <a:tcTxStyle>
        <a:fontRef idx="none">
          <a:schemeClr val="tx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w="9525" cmpd="sng">
              <a:solidFill>
                <a:schemeClr val="accent4">
                  <a:lumMod val="40000"/>
                  <a:lumOff val="60000"/>
                </a:schemeClr>
              </a:solidFill>
              <a:prstDash val="solid"/>
            </a:ln>
          </a:insideV>
        </a:tcBdr>
        <a:fill>
          <a:solidFill>
            <a:schemeClr val="bg1">
              <a:alpha val="0"/>
            </a:schemeClr>
          </a:solidFill>
        </a:fill>
      </a:tcStyle>
    </a:wholeTbl>
    <a:band2H>
      <a:tcStyle>
        <a:tcBdr/>
        <a:fill>
          <a:solidFill>
            <a:schemeClr val="accent4">
              <a:lumMod val="40000"/>
              <a:lumOff val="60000"/>
              <a:alpha val="25000"/>
            </a:schemeClr>
          </a:solidFill>
        </a:fill>
      </a:tcStyle>
    </a:band2H>
    <a:band1V>
      <a:tcStyle>
        <a:tcBdr/>
        <a:fill>
          <a:solidFill>
            <a:schemeClr val="accent4">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lumMod val="40000"/>
              <a:lumOff val="60000"/>
              <a:alpha val="40000"/>
            </a:schemeClr>
          </a:solidFill>
        </a:fill>
      </a:tcStyle>
    </a:lastCol>
    <a:firstCol>
      <a:tcTxStyle b="on">
        <a:fontRef idx="none">
          <a:schemeClr val="tx1"/>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lumMod val="40000"/>
              <a:lumOff val="60000"/>
              <a:alpha val="40000"/>
            </a:schemeClr>
          </a:solidFill>
        </a:fill>
      </a:tcStyle>
    </a:firstCol>
    <a:lastRow>
      <a:tcTxStyle b="on">
        <a:fontRef idx="none">
          <a:schemeClr val="accent4"/>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eCell>
    <a:swCell>
      <a:tcTxStyle b="on">
        <a:fontRef idx="none">
          <a:schemeClr val="accent4"/>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w="9525" cmpd="sng">
              <a:solidFill>
                <a:schemeClr val="accent4">
                  <a:lumMod val="40000"/>
                  <a:lumOff val="60000"/>
                </a:schemeClr>
              </a:solidFill>
              <a:prstDash val="solid"/>
            </a:ln>
          </a:insideV>
        </a:tcBdr>
        <a:fill>
          <a:solidFill>
            <a:schemeClr val="accent4"/>
          </a:solidFill>
        </a:fill>
      </a:tcStyle>
    </a:firstRow>
    <a:n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lumMod val="40000"/>
                  <a:lumOff val="60000"/>
                </a:schemeClr>
              </a:solidFill>
              <a:prstDash val="solid"/>
            </a:ln>
          </a:bottom>
          <a:insideH>
            <a:ln>
              <a:noFill/>
            </a:ln>
          </a:insideH>
          <a:insideV>
            <a:ln>
              <a:noFill/>
            </a:ln>
          </a:insideV>
        </a:tcBdr>
      </a:tcStyle>
    </a:neCell>
  </a:tblStyle>
  <a:tblStyle styleId="{6408FC46-EBB3-42D5-8D6B-1D6FCACC751E}" styleName="表样式 1 25">
    <a:wholeTbl>
      <a:tcTxStyle>
        <a:fontRef idx="none">
          <a:schemeClr val="tx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w="9525" cmpd="sng">
              <a:solidFill>
                <a:schemeClr val="accent4">
                  <a:lumMod val="40000"/>
                  <a:lumOff val="60000"/>
                </a:schemeClr>
              </a:solidFill>
              <a:prstDash val="solid"/>
            </a:ln>
          </a:insideV>
        </a:tcBdr>
        <a:fill>
          <a:solidFill>
            <a:schemeClr val="bg1">
              <a:alpha val="0"/>
            </a:schemeClr>
          </a:solidFill>
        </a:fill>
      </a:tcStyle>
    </a:wholeTbl>
    <a:band2H>
      <a:tcStyle>
        <a:tcBdr/>
        <a:fill>
          <a:solidFill>
            <a:schemeClr val="accent4">
              <a:lumMod val="40000"/>
              <a:lumOff val="60000"/>
              <a:alpha val="25000"/>
            </a:schemeClr>
          </a:solidFill>
        </a:fill>
      </a:tcStyle>
    </a:band2H>
    <a:band1V>
      <a:tcStyle>
        <a:tcBdr/>
        <a:fill>
          <a:solidFill>
            <a:schemeClr val="accent4">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lumMod val="40000"/>
              <a:lumOff val="60000"/>
              <a:alpha val="40000"/>
            </a:schemeClr>
          </a:solidFill>
        </a:fill>
      </a:tcStyle>
    </a:lastCol>
    <a:firstCol>
      <a:tcTxStyle b="on">
        <a:fontRef idx="none">
          <a:schemeClr val="tx1"/>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lumMod val="40000"/>
              <a:lumOff val="60000"/>
              <a:alpha val="40000"/>
            </a:schemeClr>
          </a:solidFill>
        </a:fill>
      </a:tcStyle>
    </a:firstCol>
    <a:lastRow>
      <a:tcTxStyle b="on">
        <a:fontRef idx="none">
          <a:schemeClr val="accent4"/>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eCell>
    <a:swCell>
      <a:tcTxStyle b="on">
        <a:fontRef idx="none">
          <a:schemeClr val="accent4"/>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w="9525" cmpd="sng">
              <a:solidFill>
                <a:schemeClr val="accent4">
                  <a:lumMod val="40000"/>
                  <a:lumOff val="60000"/>
                </a:schemeClr>
              </a:solidFill>
              <a:prstDash val="solid"/>
            </a:ln>
          </a:insideV>
        </a:tcBdr>
        <a:fill>
          <a:solidFill>
            <a:schemeClr val="accent4"/>
          </a:solidFill>
        </a:fill>
      </a:tcStyle>
    </a:firstRow>
    <a:n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lumMod val="40000"/>
                  <a:lumOff val="60000"/>
                </a:schemeClr>
              </a:solidFill>
              <a:prstDash val="solid"/>
            </a:ln>
          </a:bottom>
          <a:insideH>
            <a:ln>
              <a:noFill/>
            </a:ln>
          </a:insideH>
          <a:insideV>
            <a:ln>
              <a:noFill/>
            </a:ln>
          </a:insideV>
        </a:tcBdr>
      </a:tcStyle>
    </a:neCell>
  </a:tblStyle>
  <a:tblStyle styleId="{34FFEE73-4567-4F0C-ADBF-53AAFBF85BA7}" styleName="表样式 1 25">
    <a:wholeTbl>
      <a:tcTxStyle>
        <a:fontRef idx="none">
          <a:schemeClr val="tx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w="9525" cmpd="sng">
              <a:solidFill>
                <a:schemeClr val="accent4">
                  <a:lumMod val="40000"/>
                  <a:lumOff val="60000"/>
                </a:schemeClr>
              </a:solidFill>
              <a:prstDash val="solid"/>
            </a:ln>
          </a:insideV>
        </a:tcBdr>
        <a:fill>
          <a:solidFill>
            <a:schemeClr val="bg1">
              <a:alpha val="0"/>
            </a:schemeClr>
          </a:solidFill>
        </a:fill>
      </a:tcStyle>
    </a:wholeTbl>
    <a:band2H>
      <a:tcStyle>
        <a:tcBdr/>
        <a:fill>
          <a:solidFill>
            <a:schemeClr val="accent4">
              <a:alpha val="25000"/>
              <a:lumMod val="40000"/>
              <a:lumOff val="60000"/>
            </a:schemeClr>
          </a:solidFill>
        </a:fill>
      </a:tcStyle>
    </a:band2H>
    <a:band1V>
      <a:tcStyle>
        <a:tcBdr/>
        <a:fill>
          <a:solidFill>
            <a:schemeClr val="accent4">
              <a:alpha val="25000"/>
              <a:lumMod val="40000"/>
              <a:lumOff val="60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alpha val="40000"/>
              <a:lumMod val="40000"/>
              <a:lumOff val="60000"/>
            </a:schemeClr>
          </a:solidFill>
        </a:fill>
      </a:tcStyle>
    </a:lastCol>
    <a:firstCol>
      <a:tcTxStyle b="on">
        <a:fontRef idx="none">
          <a:schemeClr val="tx1"/>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alpha val="40000"/>
              <a:lumMod val="40000"/>
              <a:lumOff val="60000"/>
            </a:schemeClr>
          </a:solidFill>
        </a:fill>
      </a:tcStyle>
    </a:firstCol>
    <a:lastRow>
      <a:tcTxStyle b="on">
        <a:fontRef idx="none">
          <a:schemeClr val="accent4"/>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eCell>
    <a:swCell>
      <a:tcTxStyle b="on">
        <a:fontRef idx="none">
          <a:schemeClr val="accent4"/>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w="9525" cmpd="sng">
              <a:solidFill>
                <a:schemeClr val="accent4">
                  <a:lumMod val="40000"/>
                  <a:lumOff val="60000"/>
                </a:schemeClr>
              </a:solidFill>
              <a:prstDash val="solid"/>
            </a:ln>
          </a:insideV>
        </a:tcBdr>
        <a:fill>
          <a:solidFill>
            <a:schemeClr val="accent4"/>
          </a:solidFill>
        </a:fill>
      </a:tcStyle>
    </a:firstRow>
    <a:n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91" autoAdjust="0"/>
    <p:restoredTop sz="90369" autoAdjust="0"/>
  </p:normalViewPr>
  <p:slideViewPr>
    <p:cSldViewPr snapToGrid="0" showGuides="1">
      <p:cViewPr varScale="1">
        <p:scale>
          <a:sx n="78" d="100"/>
          <a:sy n="78" d="100"/>
        </p:scale>
        <p:origin x="907" y="43"/>
      </p:cViewPr>
      <p:guideLst>
        <p:guide orient="horz" pos="857"/>
        <p:guide orient="horz" pos="3823"/>
        <p:guide orient="horz" pos="496"/>
        <p:guide pos="217"/>
        <p:guide pos="7357"/>
      </p:guideLst>
    </p:cSldViewPr>
  </p:slideViewPr>
  <p:notesTextViewPr>
    <p:cViewPr>
      <p:scale>
        <a:sx n="150" d="100"/>
        <a:sy n="150" d="100"/>
      </p:scale>
      <p:origin x="0" y="0"/>
    </p:cViewPr>
  </p:notesTextViewPr>
  <p:sorterViewPr>
    <p:cViewPr>
      <p:scale>
        <a:sx n="150" d="100"/>
        <a:sy n="150" d="100"/>
      </p:scale>
      <p:origin x="0" y="0"/>
    </p:cViewPr>
  </p:sorterViewPr>
  <p:notesViewPr>
    <p:cSldViewPr snapToGrid="0">
      <p:cViewPr varScale="1">
        <p:scale>
          <a:sx n="86" d="100"/>
          <a:sy n="86" d="100"/>
        </p:scale>
        <p:origin x="3864" y="72"/>
      </p:cViewPr>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handoutMaster" Target="handoutMasters/handoutMaster1.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3" Type="http://schemas.openxmlformats.org/officeDocument/2006/relationships/tags" Target="tags/tag152.xml"/><Relationship Id="rId102" Type="http://schemas.openxmlformats.org/officeDocument/2006/relationships/commentAuthors" Target="commentAuthors.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E:\BaiduSyncdisk\&#22522;&#20110;&#23567;&#27874;&#20998;&#26512;&#30340;&#27700;&#21147;&#21387;&#35010;&#26045;&#24037;&#21387;&#21147;&#21709;&#24212;&#29305;&#24449;&#20998;&#26512;\&#23567;&#27874;&#20998;&#26512;&#20195;&#30721;-&#37011;&#23431;&#36890;\&#36830;&#32493;&#23567;&#27874;\selected_subset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solidFill>
                <a:latin typeface="+mn-lt"/>
                <a:ea typeface="+mn-ea"/>
                <a:cs typeface="+mn-cs"/>
              </a:defRPr>
            </a:pPr>
            <a:r>
              <a:rPr lang="zh-CN" altLang="en-US">
                <a:solidFill>
                  <a:schemeClr val="tx1"/>
                </a:solidFill>
              </a:rPr>
              <a:t>离散小波改造体积评分</a:t>
            </a:r>
            <a:r>
              <a:rPr lang="en-US" altLang="zh-CN">
                <a:solidFill>
                  <a:schemeClr val="tx1"/>
                </a:solidFill>
              </a:rPr>
              <a:t>-</a:t>
            </a:r>
            <a:r>
              <a:rPr lang="zh-CN" altLang="en-US">
                <a:solidFill>
                  <a:schemeClr val="tx1"/>
                </a:solidFill>
              </a:rPr>
              <a:t>微地震监测</a:t>
            </a:r>
            <a:r>
              <a:rPr lang="en-US" altLang="zh-CN">
                <a:solidFill>
                  <a:schemeClr val="tx1"/>
                </a:solidFill>
              </a:rPr>
              <a:t>SRV</a:t>
            </a:r>
            <a:endParaRPr lang="en-US" altLang="zh-CN">
              <a:solidFill>
                <a:schemeClr val="tx1"/>
              </a:solidFill>
            </a:endParaRPr>
          </a:p>
        </c:rich>
      </c:tx>
      <c:layout>
        <c:manualLayout>
          <c:xMode val="edge"/>
          <c:yMode val="edge"/>
          <c:x val="0.171378586424073"/>
          <c:y val="0.0194986072423398"/>
        </c:manualLayout>
      </c:layout>
      <c:overlay val="0"/>
      <c:spPr>
        <a:noFill/>
        <a:ln>
          <a:noFill/>
        </a:ln>
        <a:effectLst/>
      </c:spPr>
    </c:title>
    <c:autoTitleDeleted val="0"/>
    <c:plotArea>
      <c:layout>
        <c:manualLayout>
          <c:layoutTarget val="inner"/>
          <c:xMode val="edge"/>
          <c:yMode val="edge"/>
          <c:x val="0.125906228131561"/>
          <c:y val="0.13091922005571"/>
          <c:w val="0.835745276417075"/>
          <c:h val="0.705292479108635"/>
        </c:manualLayout>
      </c:layout>
      <c:scatterChart>
        <c:scatterStyle val="lineMarker"/>
        <c:varyColors val="0"/>
        <c:ser>
          <c:idx val="0"/>
          <c:order val="0"/>
          <c:spPr>
            <a:ln w="19050" cap="rnd">
              <a:noFill/>
              <a:round/>
            </a:ln>
            <a:effectLst/>
          </c:spPr>
          <c:marker>
            <c:symbol val="circle"/>
            <c:size val="5"/>
            <c:spPr>
              <a:solidFill>
                <a:schemeClr val="accent4"/>
              </a:solidFill>
              <a:ln w="9525">
                <a:solidFill>
                  <a:schemeClr val="accent4"/>
                </a:solidFill>
              </a:ln>
              <a:effectLst/>
            </c:spPr>
          </c:marker>
          <c:dLbls>
            <c:delete val="1"/>
          </c:dLbls>
          <c:trendline>
            <c:spPr>
              <a:ln w="19050" cap="rnd">
                <a:solidFill>
                  <a:schemeClr val="accent4"/>
                </a:solidFill>
                <a:prstDash val="sysDot"/>
              </a:ln>
              <a:effectLst/>
            </c:spPr>
            <c:trendlineType val="linear"/>
            <c:dispRSqr val="1"/>
            <c:dispEq val="1"/>
            <c:trendlineLbl>
              <c:layout>
                <c:manualLayout>
                  <c:x val="-0.453157894736842"/>
                  <c:y val="-0.0222222222222222"/>
                </c:manualLayout>
              </c:layout>
              <c:numFmt formatCode="General" sourceLinked="0"/>
              <c:spPr>
                <a:noFill/>
                <a:ln>
                  <a:noFill/>
                </a:ln>
                <a:effectLst/>
              </c:spPr>
              <c:txPr>
                <a:bodyPr rot="0" spcFirstLastPara="0" vertOverflow="ellipsis" vert="horz" wrap="square" anchor="ctr" anchorCtr="1"/>
                <a:lstStyle/>
                <a:p>
                  <a:pPr>
                    <a:defRPr lang="zh-CN" sz="900" b="0" i="0" u="none" strike="noStrike" kern="1200" baseline="0">
                      <a:solidFill>
                        <a:schemeClr val="tx1"/>
                      </a:solidFill>
                      <a:latin typeface="+mn-lt"/>
                      <a:ea typeface="+mn-ea"/>
                      <a:cs typeface="+mn-cs"/>
                    </a:defRPr>
                  </a:pPr>
                </a:p>
              </c:txPr>
            </c:trendlineLbl>
          </c:trendline>
          <c:xVal>
            <c:numRef>
              <c:f>'[selected_subsets.xlsx]col连续-量_vs_col微地震改造体积'!$G$2:$G$196</c:f>
              <c:numCache>
                <c:formatCode>General</c:formatCode>
                <c:ptCount val="195"/>
                <c:pt idx="0">
                  <c:v>74.1882281853508</c:v>
                </c:pt>
                <c:pt idx="1">
                  <c:v>74.2754599105255</c:v>
                </c:pt>
                <c:pt idx="2">
                  <c:v>72.5529267324468</c:v>
                </c:pt>
                <c:pt idx="3">
                  <c:v>72.4591074380155</c:v>
                </c:pt>
                <c:pt idx="4">
                  <c:v>81.0558192483279</c:v>
                </c:pt>
                <c:pt idx="5">
                  <c:v>74.5337857723727</c:v>
                </c:pt>
                <c:pt idx="6">
                  <c:v>73.821569399679</c:v>
                </c:pt>
                <c:pt idx="7">
                  <c:v>75.0910151772672</c:v>
                </c:pt>
                <c:pt idx="8">
                  <c:v>76.4332228839</c:v>
                </c:pt>
                <c:pt idx="9">
                  <c:v>75.9135158209247</c:v>
                </c:pt>
                <c:pt idx="10">
                  <c:v>75.3631516834718</c:v>
                </c:pt>
                <c:pt idx="11">
                  <c:v>78.1680506596994</c:v>
                </c:pt>
                <c:pt idx="12">
                  <c:v>77.396116174974</c:v>
                </c:pt>
                <c:pt idx="13">
                  <c:v>77.7445299744875</c:v>
                </c:pt>
                <c:pt idx="14">
                  <c:v>78.3787754644472</c:v>
                </c:pt>
                <c:pt idx="15">
                  <c:v>76.7754379051841</c:v>
                </c:pt>
                <c:pt idx="16">
                  <c:v>75.9513143662245</c:v>
                </c:pt>
                <c:pt idx="17">
                  <c:v>73.2997213436506</c:v>
                </c:pt>
                <c:pt idx="18">
                  <c:v>71.7817818214737</c:v>
                </c:pt>
                <c:pt idx="19">
                  <c:v>73.0134325410861</c:v>
                </c:pt>
                <c:pt idx="20">
                  <c:v>76.8044662151927</c:v>
                </c:pt>
                <c:pt idx="21">
                  <c:v>76.4866479982131</c:v>
                </c:pt>
                <c:pt idx="22">
                  <c:v>76.3054973521166</c:v>
                </c:pt>
                <c:pt idx="23">
                  <c:v>76.2467276025699</c:v>
                </c:pt>
                <c:pt idx="24">
                  <c:v>76.5368724774621</c:v>
                </c:pt>
                <c:pt idx="25">
                  <c:v>75.6753704946014</c:v>
                </c:pt>
                <c:pt idx="26">
                  <c:v>76.208942667003</c:v>
                </c:pt>
                <c:pt idx="27">
                  <c:v>73.6476203436181</c:v>
                </c:pt>
                <c:pt idx="28">
                  <c:v>77.3244829968221</c:v>
                </c:pt>
                <c:pt idx="29">
                  <c:v>76.8357687301702</c:v>
                </c:pt>
                <c:pt idx="30">
                  <c:v>76.6617679643021</c:v>
                </c:pt>
                <c:pt idx="31">
                  <c:v>76.5013340342316</c:v>
                </c:pt>
                <c:pt idx="32">
                  <c:v>74.4700648822507</c:v>
                </c:pt>
                <c:pt idx="33">
                  <c:v>75.5569821619186</c:v>
                </c:pt>
                <c:pt idx="34">
                  <c:v>74.1705049302855</c:v>
                </c:pt>
                <c:pt idx="35">
                  <c:v>72.2185475294069</c:v>
                </c:pt>
                <c:pt idx="36">
                  <c:v>72.2673606589447</c:v>
                </c:pt>
                <c:pt idx="37">
                  <c:v>71.9193383228133</c:v>
                </c:pt>
                <c:pt idx="38">
                  <c:v>73.6110068587269</c:v>
                </c:pt>
                <c:pt idx="39">
                  <c:v>75.2693538778647</c:v>
                </c:pt>
                <c:pt idx="40">
                  <c:v>76.3975456300341</c:v>
                </c:pt>
                <c:pt idx="41">
                  <c:v>75.853737260523</c:v>
                </c:pt>
                <c:pt idx="42">
                  <c:v>76.7477146830591</c:v>
                </c:pt>
                <c:pt idx="43">
                  <c:v>75.1387959074733</c:v>
                </c:pt>
                <c:pt idx="44">
                  <c:v>78.568026281831</c:v>
                </c:pt>
                <c:pt idx="45">
                  <c:v>78.7718873990502</c:v>
                </c:pt>
                <c:pt idx="46">
                  <c:v>79.3820981299679</c:v>
                </c:pt>
                <c:pt idx="47">
                  <c:v>79.2714214102467</c:v>
                </c:pt>
                <c:pt idx="48">
                  <c:v>79.0416518462744</c:v>
                </c:pt>
                <c:pt idx="49">
                  <c:v>79.4773640790608</c:v>
                </c:pt>
                <c:pt idx="50">
                  <c:v>78.7892706860991</c:v>
                </c:pt>
                <c:pt idx="51">
                  <c:v>79.258772087154</c:v>
                </c:pt>
                <c:pt idx="52">
                  <c:v>79.4759221493667</c:v>
                </c:pt>
                <c:pt idx="53">
                  <c:v>79.2478204855701</c:v>
                </c:pt>
                <c:pt idx="54">
                  <c:v>78.9186353536632</c:v>
                </c:pt>
                <c:pt idx="55">
                  <c:v>79.1598940656582</c:v>
                </c:pt>
                <c:pt idx="56">
                  <c:v>78.7777669592327</c:v>
                </c:pt>
                <c:pt idx="57">
                  <c:v>79.3061219888339</c:v>
                </c:pt>
                <c:pt idx="58">
                  <c:v>76.4825197226239</c:v>
                </c:pt>
                <c:pt idx="59">
                  <c:v>79.1910179256215</c:v>
                </c:pt>
                <c:pt idx="60">
                  <c:v>78.867183137537</c:v>
                </c:pt>
                <c:pt idx="61">
                  <c:v>78.6824072905686</c:v>
                </c:pt>
                <c:pt idx="62">
                  <c:v>78.8864275285157</c:v>
                </c:pt>
                <c:pt idx="63">
                  <c:v>79.1422993866926</c:v>
                </c:pt>
                <c:pt idx="64">
                  <c:v>79.2916851681697</c:v>
                </c:pt>
                <c:pt idx="65">
                  <c:v>79.5711539057159</c:v>
                </c:pt>
                <c:pt idx="66">
                  <c:v>79.6523800485498</c:v>
                </c:pt>
                <c:pt idx="67">
                  <c:v>79.3803009420741</c:v>
                </c:pt>
                <c:pt idx="68">
                  <c:v>79.6441227987098</c:v>
                </c:pt>
                <c:pt idx="69">
                  <c:v>78.6125626549893</c:v>
                </c:pt>
                <c:pt idx="70">
                  <c:v>79.462859926332</c:v>
                </c:pt>
                <c:pt idx="71">
                  <c:v>79.242143494982</c:v>
                </c:pt>
                <c:pt idx="72">
                  <c:v>79.1840588618332</c:v>
                </c:pt>
                <c:pt idx="73">
                  <c:v>79.2308461861363</c:v>
                </c:pt>
                <c:pt idx="74">
                  <c:v>79.0394210438229</c:v>
                </c:pt>
                <c:pt idx="75">
                  <c:v>79.3485203461522</c:v>
                </c:pt>
                <c:pt idx="76">
                  <c:v>78.5125293046581</c:v>
                </c:pt>
                <c:pt idx="77">
                  <c:v>78.2151284529059</c:v>
                </c:pt>
                <c:pt idx="78">
                  <c:v>77.7526332152591</c:v>
                </c:pt>
                <c:pt idx="79">
                  <c:v>78.6842821357945</c:v>
                </c:pt>
                <c:pt idx="80">
                  <c:v>78.3589707488187</c:v>
                </c:pt>
                <c:pt idx="81">
                  <c:v>78.5395602781857</c:v>
                </c:pt>
                <c:pt idx="82">
                  <c:v>78.23301865779</c:v>
                </c:pt>
                <c:pt idx="83">
                  <c:v>79.0454944087835</c:v>
                </c:pt>
                <c:pt idx="84">
                  <c:v>78.1901510497215</c:v>
                </c:pt>
                <c:pt idx="85">
                  <c:v>77.9038872654942</c:v>
                </c:pt>
                <c:pt idx="86">
                  <c:v>77.7850276622292</c:v>
                </c:pt>
                <c:pt idx="87">
                  <c:v>78.3181028975785</c:v>
                </c:pt>
                <c:pt idx="88">
                  <c:v>78.0974296586971</c:v>
                </c:pt>
                <c:pt idx="89">
                  <c:v>79.0729349307449</c:v>
                </c:pt>
                <c:pt idx="90">
                  <c:v>78.3591354819117</c:v>
                </c:pt>
                <c:pt idx="91">
                  <c:v>78.0888635349424</c:v>
                </c:pt>
                <c:pt idx="92">
                  <c:v>77.324802465154</c:v>
                </c:pt>
                <c:pt idx="93">
                  <c:v>78.276636618174</c:v>
                </c:pt>
                <c:pt idx="94">
                  <c:v>77.9381831863504</c:v>
                </c:pt>
                <c:pt idx="95">
                  <c:v>78.1350560941221</c:v>
                </c:pt>
                <c:pt idx="96">
                  <c:v>78.7036063228402</c:v>
                </c:pt>
                <c:pt idx="97">
                  <c:v>78.2281457096422</c:v>
                </c:pt>
                <c:pt idx="98">
                  <c:v>78.1014975510341</c:v>
                </c:pt>
                <c:pt idx="99">
                  <c:v>78.8846055601959</c:v>
                </c:pt>
                <c:pt idx="100">
                  <c:v>77.7951019406764</c:v>
                </c:pt>
                <c:pt idx="101">
                  <c:v>77.429361216512</c:v>
                </c:pt>
                <c:pt idx="102">
                  <c:v>77.7847742601362</c:v>
                </c:pt>
                <c:pt idx="103">
                  <c:v>77.9034192147426</c:v>
                </c:pt>
                <c:pt idx="104">
                  <c:v>78.2906230700241</c:v>
                </c:pt>
                <c:pt idx="105">
                  <c:v>78.5915472050376</c:v>
                </c:pt>
                <c:pt idx="106">
                  <c:v>77.8335152149478</c:v>
                </c:pt>
                <c:pt idx="107">
                  <c:v>77.4862521806336</c:v>
                </c:pt>
                <c:pt idx="108">
                  <c:v>77.9667060185483</c:v>
                </c:pt>
                <c:pt idx="109">
                  <c:v>77.4089023913372</c:v>
                </c:pt>
                <c:pt idx="110">
                  <c:v>77.6566749583178</c:v>
                </c:pt>
                <c:pt idx="111">
                  <c:v>77.341257619393</c:v>
                </c:pt>
                <c:pt idx="112">
                  <c:v>77.840710492066</c:v>
                </c:pt>
                <c:pt idx="113">
                  <c:v>77.9760251835531</c:v>
                </c:pt>
                <c:pt idx="114">
                  <c:v>78.348660048235</c:v>
                </c:pt>
                <c:pt idx="115">
                  <c:v>78.0862089591285</c:v>
                </c:pt>
                <c:pt idx="116">
                  <c:v>78.2592586003079</c:v>
                </c:pt>
                <c:pt idx="117">
                  <c:v>78.6031016633501</c:v>
                </c:pt>
                <c:pt idx="118">
                  <c:v>78.3996535105764</c:v>
                </c:pt>
                <c:pt idx="119">
                  <c:v>78.0291138173735</c:v>
                </c:pt>
                <c:pt idx="120">
                  <c:v>77.9427649842613</c:v>
                </c:pt>
                <c:pt idx="121">
                  <c:v>78.3207061991599</c:v>
                </c:pt>
                <c:pt idx="122">
                  <c:v>77.5008517170236</c:v>
                </c:pt>
                <c:pt idx="123">
                  <c:v>77.5289287504885</c:v>
                </c:pt>
                <c:pt idx="124">
                  <c:v>77.6038379655333</c:v>
                </c:pt>
                <c:pt idx="125">
                  <c:v>77.9505479809352</c:v>
                </c:pt>
                <c:pt idx="126">
                  <c:v>78.0646124551186</c:v>
                </c:pt>
                <c:pt idx="127">
                  <c:v>77.4960054522559</c:v>
                </c:pt>
                <c:pt idx="128">
                  <c:v>77.9325308845278</c:v>
                </c:pt>
                <c:pt idx="129">
                  <c:v>78.1618400405686</c:v>
                </c:pt>
                <c:pt idx="130">
                  <c:v>77.9793397434043</c:v>
                </c:pt>
                <c:pt idx="131">
                  <c:v>78.3849300034387</c:v>
                </c:pt>
                <c:pt idx="132">
                  <c:v>78.380027162381</c:v>
                </c:pt>
                <c:pt idx="133">
                  <c:v>77.9061359974744</c:v>
                </c:pt>
                <c:pt idx="134">
                  <c:v>77.6202672236049</c:v>
                </c:pt>
                <c:pt idx="135">
                  <c:v>78.624797882325</c:v>
                </c:pt>
                <c:pt idx="136">
                  <c:v>77.8829239133828</c:v>
                </c:pt>
                <c:pt idx="137">
                  <c:v>76.2240797861756</c:v>
                </c:pt>
                <c:pt idx="138">
                  <c:v>78.2853285961368</c:v>
                </c:pt>
                <c:pt idx="139">
                  <c:v>78.6667485488255</c:v>
                </c:pt>
                <c:pt idx="140">
                  <c:v>78.2109027560769</c:v>
                </c:pt>
                <c:pt idx="141">
                  <c:v>78.7276776937932</c:v>
                </c:pt>
                <c:pt idx="142">
                  <c:v>75.7293773421039</c:v>
                </c:pt>
                <c:pt idx="143">
                  <c:v>77.8180087036227</c:v>
                </c:pt>
                <c:pt idx="144">
                  <c:v>78.7945919867154</c:v>
                </c:pt>
                <c:pt idx="145">
                  <c:v>79.5705413531532</c:v>
                </c:pt>
                <c:pt idx="146">
                  <c:v>79.1950141318222</c:v>
                </c:pt>
                <c:pt idx="147">
                  <c:v>77.3822758895257</c:v>
                </c:pt>
                <c:pt idx="148">
                  <c:v>77.8652721257156</c:v>
                </c:pt>
                <c:pt idx="149">
                  <c:v>78.4139704812001</c:v>
                </c:pt>
                <c:pt idx="150">
                  <c:v>77.7374789888017</c:v>
                </c:pt>
                <c:pt idx="151">
                  <c:v>78.5087049199538</c:v>
                </c:pt>
                <c:pt idx="152">
                  <c:v>78.9198364767216</c:v>
                </c:pt>
                <c:pt idx="153">
                  <c:v>78.1367180092607</c:v>
                </c:pt>
                <c:pt idx="154">
                  <c:v>78.9348380361332</c:v>
                </c:pt>
                <c:pt idx="155">
                  <c:v>78.923682179363</c:v>
                </c:pt>
                <c:pt idx="156">
                  <c:v>78.4749193473379</c:v>
                </c:pt>
                <c:pt idx="157">
                  <c:v>77.6432110697105</c:v>
                </c:pt>
                <c:pt idx="158">
                  <c:v>78.8762130879718</c:v>
                </c:pt>
                <c:pt idx="159">
                  <c:v>78.4944132973501</c:v>
                </c:pt>
                <c:pt idx="160">
                  <c:v>79.1930021871291</c:v>
                </c:pt>
                <c:pt idx="161">
                  <c:v>78.6998518994662</c:v>
                </c:pt>
                <c:pt idx="162">
                  <c:v>78.9523015634328</c:v>
                </c:pt>
                <c:pt idx="163">
                  <c:v>78.8423742355335</c:v>
                </c:pt>
                <c:pt idx="164">
                  <c:v>78.8076097889186</c:v>
                </c:pt>
                <c:pt idx="165">
                  <c:v>78.480805427873</c:v>
                </c:pt>
                <c:pt idx="166">
                  <c:v>78.5484070438573</c:v>
                </c:pt>
                <c:pt idx="167">
                  <c:v>78.8391627044392</c:v>
                </c:pt>
                <c:pt idx="168">
                  <c:v>78.5284792709813</c:v>
                </c:pt>
                <c:pt idx="169">
                  <c:v>75.9312385116901</c:v>
                </c:pt>
                <c:pt idx="170">
                  <c:v>78.1961802434494</c:v>
                </c:pt>
                <c:pt idx="171">
                  <c:v>78.6212084124283</c:v>
                </c:pt>
                <c:pt idx="172">
                  <c:v>78.0914519503273</c:v>
                </c:pt>
                <c:pt idx="173">
                  <c:v>78.4961429758797</c:v>
                </c:pt>
                <c:pt idx="174">
                  <c:v>79.032005302174</c:v>
                </c:pt>
                <c:pt idx="175">
                  <c:v>76.6671904320628</c:v>
                </c:pt>
                <c:pt idx="176">
                  <c:v>77.0796332898102</c:v>
                </c:pt>
                <c:pt idx="177">
                  <c:v>77.0457689362545</c:v>
                </c:pt>
                <c:pt idx="178">
                  <c:v>77.5548366848312</c:v>
                </c:pt>
                <c:pt idx="179">
                  <c:v>77.1170628015492</c:v>
                </c:pt>
                <c:pt idx="180">
                  <c:v>76.9542789547181</c:v>
                </c:pt>
                <c:pt idx="181">
                  <c:v>78.7271189418571</c:v>
                </c:pt>
                <c:pt idx="182">
                  <c:v>77.5173816367404</c:v>
                </c:pt>
                <c:pt idx="183">
                  <c:v>77.350137062035</c:v>
                </c:pt>
                <c:pt idx="184">
                  <c:v>77.5342471730806</c:v>
                </c:pt>
                <c:pt idx="185">
                  <c:v>77.527115552263</c:v>
                </c:pt>
                <c:pt idx="186">
                  <c:v>78.9208979042112</c:v>
                </c:pt>
                <c:pt idx="187">
                  <c:v>77.5534019080749</c:v>
                </c:pt>
                <c:pt idx="188">
                  <c:v>77.7981107580122</c:v>
                </c:pt>
                <c:pt idx="189">
                  <c:v>76.9287172558365</c:v>
                </c:pt>
                <c:pt idx="190">
                  <c:v>76.983741023499</c:v>
                </c:pt>
                <c:pt idx="191">
                  <c:v>77.1716303579028</c:v>
                </c:pt>
                <c:pt idx="192">
                  <c:v>77.0085671189099</c:v>
                </c:pt>
                <c:pt idx="193">
                  <c:v>77.5154818280929</c:v>
                </c:pt>
                <c:pt idx="194">
                  <c:v>77.1688199546054</c:v>
                </c:pt>
              </c:numCache>
            </c:numRef>
          </c:xVal>
          <c:yVal>
            <c:numRef>
              <c:f>'[selected_subsets.xlsx]col连续-量_vs_col微地震改造体积'!$I$2:$I$196</c:f>
              <c:numCache>
                <c:formatCode>General</c:formatCode>
                <c:ptCount val="195"/>
                <c:pt idx="0">
                  <c:v>56</c:v>
                </c:pt>
                <c:pt idx="1">
                  <c:v>96.8</c:v>
                </c:pt>
                <c:pt idx="2">
                  <c:v>54.4</c:v>
                </c:pt>
                <c:pt idx="3">
                  <c:v>124</c:v>
                </c:pt>
                <c:pt idx="4">
                  <c:v>431.2</c:v>
                </c:pt>
                <c:pt idx="5">
                  <c:v>91.2</c:v>
                </c:pt>
                <c:pt idx="6">
                  <c:v>90.8</c:v>
                </c:pt>
                <c:pt idx="7">
                  <c:v>104.4</c:v>
                </c:pt>
                <c:pt idx="8">
                  <c:v>139.2</c:v>
                </c:pt>
                <c:pt idx="9">
                  <c:v>124.4</c:v>
                </c:pt>
                <c:pt idx="10">
                  <c:v>264.8</c:v>
                </c:pt>
                <c:pt idx="11">
                  <c:v>193.6</c:v>
                </c:pt>
                <c:pt idx="12">
                  <c:v>166</c:v>
                </c:pt>
                <c:pt idx="13">
                  <c:v>193.2</c:v>
                </c:pt>
                <c:pt idx="14">
                  <c:v>322.4</c:v>
                </c:pt>
                <c:pt idx="15">
                  <c:v>142.8</c:v>
                </c:pt>
                <c:pt idx="16">
                  <c:v>138</c:v>
                </c:pt>
                <c:pt idx="17">
                  <c:v>27.2</c:v>
                </c:pt>
                <c:pt idx="18">
                  <c:v>99.2</c:v>
                </c:pt>
                <c:pt idx="19">
                  <c:v>27.2</c:v>
                </c:pt>
                <c:pt idx="20">
                  <c:v>217.6</c:v>
                </c:pt>
                <c:pt idx="21">
                  <c:v>276.4</c:v>
                </c:pt>
                <c:pt idx="22">
                  <c:v>133.2</c:v>
                </c:pt>
                <c:pt idx="23">
                  <c:v>140.4</c:v>
                </c:pt>
                <c:pt idx="24">
                  <c:v>150.8</c:v>
                </c:pt>
                <c:pt idx="25">
                  <c:v>114</c:v>
                </c:pt>
                <c:pt idx="26">
                  <c:v>187.2</c:v>
                </c:pt>
                <c:pt idx="27">
                  <c:v>201.2</c:v>
                </c:pt>
                <c:pt idx="28">
                  <c:v>304</c:v>
                </c:pt>
                <c:pt idx="29">
                  <c:v>168.8</c:v>
                </c:pt>
                <c:pt idx="30">
                  <c:v>183.6</c:v>
                </c:pt>
                <c:pt idx="31">
                  <c:v>201.2</c:v>
                </c:pt>
                <c:pt idx="32">
                  <c:v>136</c:v>
                </c:pt>
                <c:pt idx="33">
                  <c:v>163.2</c:v>
                </c:pt>
                <c:pt idx="34">
                  <c:v>110.4</c:v>
                </c:pt>
                <c:pt idx="35">
                  <c:v>88.8</c:v>
                </c:pt>
                <c:pt idx="36">
                  <c:v>81.6</c:v>
                </c:pt>
                <c:pt idx="37">
                  <c:v>59.2</c:v>
                </c:pt>
                <c:pt idx="38">
                  <c:v>176.4</c:v>
                </c:pt>
                <c:pt idx="39">
                  <c:v>160</c:v>
                </c:pt>
                <c:pt idx="40">
                  <c:v>213.2</c:v>
                </c:pt>
                <c:pt idx="41">
                  <c:v>136.8</c:v>
                </c:pt>
                <c:pt idx="42">
                  <c:v>168.8</c:v>
                </c:pt>
                <c:pt idx="43">
                  <c:v>204.8</c:v>
                </c:pt>
                <c:pt idx="44">
                  <c:v>247.5</c:v>
                </c:pt>
                <c:pt idx="45">
                  <c:v>262.5</c:v>
                </c:pt>
                <c:pt idx="46">
                  <c:v>322.5</c:v>
                </c:pt>
                <c:pt idx="47">
                  <c:v>322.5</c:v>
                </c:pt>
                <c:pt idx="48">
                  <c:v>330</c:v>
                </c:pt>
                <c:pt idx="49">
                  <c:v>345</c:v>
                </c:pt>
                <c:pt idx="50">
                  <c:v>345</c:v>
                </c:pt>
                <c:pt idx="51">
                  <c:v>307.5</c:v>
                </c:pt>
                <c:pt idx="52">
                  <c:v>262.5</c:v>
                </c:pt>
                <c:pt idx="53">
                  <c:v>270</c:v>
                </c:pt>
                <c:pt idx="54">
                  <c:v>307.5</c:v>
                </c:pt>
                <c:pt idx="55">
                  <c:v>277.5</c:v>
                </c:pt>
                <c:pt idx="56">
                  <c:v>247.5</c:v>
                </c:pt>
                <c:pt idx="57">
                  <c:v>270</c:v>
                </c:pt>
                <c:pt idx="58">
                  <c:v>247.5</c:v>
                </c:pt>
                <c:pt idx="59">
                  <c:v>375</c:v>
                </c:pt>
                <c:pt idx="60">
                  <c:v>277.5</c:v>
                </c:pt>
                <c:pt idx="61">
                  <c:v>272.5</c:v>
                </c:pt>
                <c:pt idx="62">
                  <c:v>240</c:v>
                </c:pt>
                <c:pt idx="63">
                  <c:v>300</c:v>
                </c:pt>
                <c:pt idx="64">
                  <c:v>225</c:v>
                </c:pt>
                <c:pt idx="65">
                  <c:v>315</c:v>
                </c:pt>
                <c:pt idx="66">
                  <c:v>262.5</c:v>
                </c:pt>
                <c:pt idx="67">
                  <c:v>270</c:v>
                </c:pt>
                <c:pt idx="68">
                  <c:v>262.5</c:v>
                </c:pt>
                <c:pt idx="69">
                  <c:v>285</c:v>
                </c:pt>
                <c:pt idx="70">
                  <c:v>352.5</c:v>
                </c:pt>
                <c:pt idx="71">
                  <c:v>300</c:v>
                </c:pt>
                <c:pt idx="72">
                  <c:v>300</c:v>
                </c:pt>
                <c:pt idx="73">
                  <c:v>322.5</c:v>
                </c:pt>
                <c:pt idx="74">
                  <c:v>255</c:v>
                </c:pt>
                <c:pt idx="75">
                  <c:v>337.5</c:v>
                </c:pt>
                <c:pt idx="76">
                  <c:v>262.5</c:v>
                </c:pt>
                <c:pt idx="77">
                  <c:v>225</c:v>
                </c:pt>
                <c:pt idx="78">
                  <c:v>285</c:v>
                </c:pt>
                <c:pt idx="79">
                  <c:v>315</c:v>
                </c:pt>
                <c:pt idx="80">
                  <c:v>307.5</c:v>
                </c:pt>
                <c:pt idx="81">
                  <c:v>315</c:v>
                </c:pt>
                <c:pt idx="82">
                  <c:v>285</c:v>
                </c:pt>
                <c:pt idx="83">
                  <c:v>255</c:v>
                </c:pt>
                <c:pt idx="84">
                  <c:v>262.5</c:v>
                </c:pt>
                <c:pt idx="85">
                  <c:v>247.5</c:v>
                </c:pt>
                <c:pt idx="86">
                  <c:v>292.5</c:v>
                </c:pt>
                <c:pt idx="87">
                  <c:v>225</c:v>
                </c:pt>
                <c:pt idx="88">
                  <c:v>217.5</c:v>
                </c:pt>
                <c:pt idx="89">
                  <c:v>292.5</c:v>
                </c:pt>
                <c:pt idx="90">
                  <c:v>232.5</c:v>
                </c:pt>
                <c:pt idx="91">
                  <c:v>240</c:v>
                </c:pt>
                <c:pt idx="92">
                  <c:v>270</c:v>
                </c:pt>
                <c:pt idx="93">
                  <c:v>270</c:v>
                </c:pt>
                <c:pt idx="94">
                  <c:v>337.5</c:v>
                </c:pt>
                <c:pt idx="95">
                  <c:v>322.5</c:v>
                </c:pt>
                <c:pt idx="96">
                  <c:v>300</c:v>
                </c:pt>
                <c:pt idx="97">
                  <c:v>367.5</c:v>
                </c:pt>
                <c:pt idx="98">
                  <c:v>352.5</c:v>
                </c:pt>
                <c:pt idx="99">
                  <c:v>382.5</c:v>
                </c:pt>
                <c:pt idx="100">
                  <c:v>337.5</c:v>
                </c:pt>
                <c:pt idx="101">
                  <c:v>210</c:v>
                </c:pt>
                <c:pt idx="102">
                  <c:v>330</c:v>
                </c:pt>
                <c:pt idx="103">
                  <c:v>262.5</c:v>
                </c:pt>
                <c:pt idx="104">
                  <c:v>315</c:v>
                </c:pt>
                <c:pt idx="105">
                  <c:v>277.5</c:v>
                </c:pt>
                <c:pt idx="106">
                  <c:v>307.5</c:v>
                </c:pt>
                <c:pt idx="107">
                  <c:v>247.5</c:v>
                </c:pt>
                <c:pt idx="108">
                  <c:v>345</c:v>
                </c:pt>
                <c:pt idx="109">
                  <c:v>262.5</c:v>
                </c:pt>
                <c:pt idx="110">
                  <c:v>300</c:v>
                </c:pt>
                <c:pt idx="111">
                  <c:v>300</c:v>
                </c:pt>
                <c:pt idx="112">
                  <c:v>300</c:v>
                </c:pt>
                <c:pt idx="113">
                  <c:v>262.5</c:v>
                </c:pt>
                <c:pt idx="114">
                  <c:v>222.5</c:v>
                </c:pt>
                <c:pt idx="115">
                  <c:v>291</c:v>
                </c:pt>
                <c:pt idx="116">
                  <c:v>273</c:v>
                </c:pt>
                <c:pt idx="117">
                  <c:v>344.5</c:v>
                </c:pt>
                <c:pt idx="118">
                  <c:v>269</c:v>
                </c:pt>
                <c:pt idx="119">
                  <c:v>326.5</c:v>
                </c:pt>
                <c:pt idx="120">
                  <c:v>296.5</c:v>
                </c:pt>
                <c:pt idx="121">
                  <c:v>277</c:v>
                </c:pt>
                <c:pt idx="122">
                  <c:v>327.5</c:v>
                </c:pt>
                <c:pt idx="123">
                  <c:v>304.5</c:v>
                </c:pt>
                <c:pt idx="124">
                  <c:v>341.5</c:v>
                </c:pt>
                <c:pt idx="125">
                  <c:v>300</c:v>
                </c:pt>
                <c:pt idx="126">
                  <c:v>335</c:v>
                </c:pt>
                <c:pt idx="127">
                  <c:v>267.5</c:v>
                </c:pt>
                <c:pt idx="128">
                  <c:v>290</c:v>
                </c:pt>
                <c:pt idx="129">
                  <c:v>306</c:v>
                </c:pt>
                <c:pt idx="130">
                  <c:v>312.5</c:v>
                </c:pt>
                <c:pt idx="131">
                  <c:v>325.5</c:v>
                </c:pt>
                <c:pt idx="132">
                  <c:v>335</c:v>
                </c:pt>
                <c:pt idx="133">
                  <c:v>315.5</c:v>
                </c:pt>
                <c:pt idx="134">
                  <c:v>274.5</c:v>
                </c:pt>
                <c:pt idx="135">
                  <c:v>246</c:v>
                </c:pt>
                <c:pt idx="136">
                  <c:v>297.5</c:v>
                </c:pt>
                <c:pt idx="137">
                  <c:v>279</c:v>
                </c:pt>
                <c:pt idx="138">
                  <c:v>304</c:v>
                </c:pt>
                <c:pt idx="139">
                  <c:v>279.5</c:v>
                </c:pt>
                <c:pt idx="140">
                  <c:v>265</c:v>
                </c:pt>
                <c:pt idx="141">
                  <c:v>274</c:v>
                </c:pt>
                <c:pt idx="142">
                  <c:v>205.5</c:v>
                </c:pt>
                <c:pt idx="143">
                  <c:v>249</c:v>
                </c:pt>
                <c:pt idx="144">
                  <c:v>287</c:v>
                </c:pt>
                <c:pt idx="145">
                  <c:v>310</c:v>
                </c:pt>
                <c:pt idx="146">
                  <c:v>272.5</c:v>
                </c:pt>
                <c:pt idx="147">
                  <c:v>287.5</c:v>
                </c:pt>
                <c:pt idx="148">
                  <c:v>347.5</c:v>
                </c:pt>
                <c:pt idx="149">
                  <c:v>317.5</c:v>
                </c:pt>
                <c:pt idx="150">
                  <c:v>295</c:v>
                </c:pt>
                <c:pt idx="151">
                  <c:v>280</c:v>
                </c:pt>
                <c:pt idx="152">
                  <c:v>265</c:v>
                </c:pt>
                <c:pt idx="153">
                  <c:v>295</c:v>
                </c:pt>
                <c:pt idx="154">
                  <c:v>287.5</c:v>
                </c:pt>
                <c:pt idx="155">
                  <c:v>280</c:v>
                </c:pt>
                <c:pt idx="156">
                  <c:v>305</c:v>
                </c:pt>
                <c:pt idx="157">
                  <c:v>287.5</c:v>
                </c:pt>
                <c:pt idx="158">
                  <c:v>280</c:v>
                </c:pt>
                <c:pt idx="159">
                  <c:v>289</c:v>
                </c:pt>
                <c:pt idx="160">
                  <c:v>240</c:v>
                </c:pt>
                <c:pt idx="161">
                  <c:v>295</c:v>
                </c:pt>
                <c:pt idx="162">
                  <c:v>302.5</c:v>
                </c:pt>
                <c:pt idx="163">
                  <c:v>272.5</c:v>
                </c:pt>
                <c:pt idx="164">
                  <c:v>257.5</c:v>
                </c:pt>
                <c:pt idx="165">
                  <c:v>280</c:v>
                </c:pt>
                <c:pt idx="166">
                  <c:v>285</c:v>
                </c:pt>
                <c:pt idx="167">
                  <c:v>307.5</c:v>
                </c:pt>
                <c:pt idx="168">
                  <c:v>285</c:v>
                </c:pt>
                <c:pt idx="169">
                  <c:v>255</c:v>
                </c:pt>
                <c:pt idx="170">
                  <c:v>287.5</c:v>
                </c:pt>
                <c:pt idx="171">
                  <c:v>270</c:v>
                </c:pt>
                <c:pt idx="172">
                  <c:v>270</c:v>
                </c:pt>
                <c:pt idx="173">
                  <c:v>272.5</c:v>
                </c:pt>
                <c:pt idx="174">
                  <c:v>272</c:v>
                </c:pt>
                <c:pt idx="175">
                  <c:v>304.5</c:v>
                </c:pt>
                <c:pt idx="176">
                  <c:v>323.5</c:v>
                </c:pt>
                <c:pt idx="177">
                  <c:v>305.5</c:v>
                </c:pt>
                <c:pt idx="178">
                  <c:v>314</c:v>
                </c:pt>
                <c:pt idx="179">
                  <c:v>301</c:v>
                </c:pt>
                <c:pt idx="180">
                  <c:v>329</c:v>
                </c:pt>
                <c:pt idx="181">
                  <c:v>340</c:v>
                </c:pt>
                <c:pt idx="182">
                  <c:v>318.5</c:v>
                </c:pt>
                <c:pt idx="183">
                  <c:v>300</c:v>
                </c:pt>
                <c:pt idx="184">
                  <c:v>320</c:v>
                </c:pt>
                <c:pt idx="185">
                  <c:v>274</c:v>
                </c:pt>
                <c:pt idx="186">
                  <c:v>333.5</c:v>
                </c:pt>
                <c:pt idx="187">
                  <c:v>309.5</c:v>
                </c:pt>
                <c:pt idx="188">
                  <c:v>292.5</c:v>
                </c:pt>
                <c:pt idx="189">
                  <c:v>309</c:v>
                </c:pt>
                <c:pt idx="190">
                  <c:v>326</c:v>
                </c:pt>
                <c:pt idx="191">
                  <c:v>292</c:v>
                </c:pt>
                <c:pt idx="192">
                  <c:v>316.5</c:v>
                </c:pt>
                <c:pt idx="193">
                  <c:v>296</c:v>
                </c:pt>
                <c:pt idx="194">
                  <c:v>297</c:v>
                </c:pt>
              </c:numCache>
            </c:numRef>
          </c:yVal>
          <c:smooth val="0"/>
        </c:ser>
        <c:dLbls>
          <c:showLegendKey val="0"/>
          <c:showVal val="0"/>
          <c:showCatName val="0"/>
          <c:showSerName val="0"/>
          <c:showPercent val="0"/>
          <c:showBubbleSize val="0"/>
        </c:dLbls>
        <c:axId val="729251750"/>
        <c:axId val="103888188"/>
      </c:scatterChart>
      <c:valAx>
        <c:axId val="729251750"/>
        <c:scaling>
          <c:orientation val="minMax"/>
          <c:min val="72"/>
        </c:scaling>
        <c:delete val="0"/>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zh-CN" sz="1000" b="0" i="0" u="none" strike="noStrike" kern="1200" baseline="0">
                    <a:solidFill>
                      <a:schemeClr val="tx1"/>
                    </a:solidFill>
                    <a:latin typeface="+mn-lt"/>
                    <a:ea typeface="+mn-ea"/>
                    <a:cs typeface="+mn-cs"/>
                  </a:defRPr>
                </a:pPr>
                <a:r>
                  <a:rPr lang="zh-CN" altLang="en-US">
                    <a:solidFill>
                      <a:schemeClr val="tx1"/>
                    </a:solidFill>
                  </a:rPr>
                  <a:t>离散小波改造体积评分</a:t>
                </a:r>
                <a:r>
                  <a:rPr lang="en-US" altLang="zh-CN">
                    <a:solidFill>
                      <a:schemeClr val="tx1"/>
                    </a:solidFill>
                  </a:rPr>
                  <a:t>/</a:t>
                </a:r>
                <a:r>
                  <a:rPr lang="zh-CN" altLang="en-US">
                    <a:solidFill>
                      <a:schemeClr val="tx1"/>
                    </a:solidFill>
                  </a:rPr>
                  <a:t>百分制</a:t>
                </a:r>
                <a:endParaRPr lang="zh-CN" altLang="en-US">
                  <a:solidFill>
                    <a:schemeClr val="tx1"/>
                  </a:solidFill>
                </a:endParaRPr>
              </a:p>
            </c:rich>
          </c:tx>
          <c:layout>
            <c:manualLayout>
              <c:xMode val="edge"/>
              <c:yMode val="edge"/>
              <c:x val="0.323921052631579"/>
              <c:y val="0.916203703703704"/>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solidFill>
                <a:latin typeface="+mn-lt"/>
                <a:ea typeface="+mn-ea"/>
                <a:cs typeface="+mn-cs"/>
              </a:defRPr>
            </a:pPr>
          </a:p>
        </c:txPr>
        <c:crossAx val="103888188"/>
        <c:crosses val="autoZero"/>
        <c:crossBetween val="midCat"/>
      </c:valAx>
      <c:valAx>
        <c:axId val="103888188"/>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solidFill>
                    <a:latin typeface="+mn-lt"/>
                    <a:ea typeface="+mn-ea"/>
                    <a:cs typeface="+mn-cs"/>
                  </a:defRPr>
                </a:pPr>
                <a:r>
                  <a:rPr lang="zh-CN" altLang="en-US">
                    <a:solidFill>
                      <a:schemeClr val="tx1"/>
                    </a:solidFill>
                  </a:rPr>
                  <a:t>微地震监测</a:t>
                </a:r>
                <a:r>
                  <a:rPr lang="en-US" altLang="zh-CN">
                    <a:solidFill>
                      <a:schemeClr val="tx1"/>
                    </a:solidFill>
                  </a:rPr>
                  <a:t>SRV/</a:t>
                </a:r>
                <a:r>
                  <a:rPr lang="zh-CN" altLang="en-US">
                    <a:solidFill>
                      <a:schemeClr val="tx1"/>
                    </a:solidFill>
                  </a:rPr>
                  <a:t>万方</a:t>
                </a:r>
                <a:endParaRPr lang="zh-CN" altLang="en-US">
                  <a:solidFill>
                    <a:schemeClr val="tx1"/>
                  </a:solidFill>
                </a:endParaRP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solidFill>
                <a:latin typeface="+mn-lt"/>
                <a:ea typeface="+mn-ea"/>
                <a:cs typeface="+mn-cs"/>
              </a:defRPr>
            </a:pPr>
          </a:p>
        </c:txPr>
        <c:crossAx val="729251750"/>
        <c:crosses val="autoZero"/>
        <c:crossBetween val="midCat"/>
      </c:valAx>
      <c:spPr>
        <a:noFill/>
        <a:ln w="9525" cap="flat" cmpd="sng" algn="ctr">
          <a:solidFill>
            <a:schemeClr val="tx1">
              <a:lumMod val="15000"/>
              <a:lumOff val="85000"/>
            </a:schemeClr>
          </a:solidFill>
          <a:round/>
        </a:ln>
        <a:effectLst/>
      </c:spPr>
    </c:plotArea>
    <c:plotVisOnly val="1"/>
    <c:dispBlanksAs val="gap"/>
    <c:showDLblsOverMax val="0"/>
    <c:extLst>
      <c:ext uri="{0b15fc19-7d7d-44ad-8c2d-2c3a37ce22c3}">
        <chartProps xmlns="https://web.wps.cn/et/2018/main" chartId="{93530376-f34d-42a9-b134-b096fa13de59}"/>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1017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D318E-B422-411C-B047-DCD95D3A32B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2D27F2-61DB-4CA3-9344-190B6BB4669D}"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C9FFD-D8AA-488B-9BFA-098B695BC29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00846-457A-42D0-BAE3-D1C1DA28179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2" name="直接连接符 1"/>
          <p:cNvCxnSpPr/>
          <p:nvPr userDrawn="1"/>
        </p:nvCxnSpPr>
        <p:spPr bwMode="auto">
          <a:xfrm>
            <a:off x="375072" y="127053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764704"/>
            <a:ext cx="12192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lIns="121869" tIns="60935" rIns="121869" bIns="60935"/>
          <a:lstStyle/>
          <a:p>
            <a:pPr marL="0" marR="0" lvl="0" indent="0" algn="l" defTabSz="1218565"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pic>
        <p:nvPicPr>
          <p:cNvPr id="6" name="Picture 17" descr="logo"/>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
        <p:nvSpPr>
          <p:cNvPr id="5"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59289A8C-BE81-4798-AA0F-338892BB7184}" type="slidenum">
              <a:rPr kumimoji="1" lang="zh-CN" altLang="en-US" sz="13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94</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85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1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77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89965"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3365"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2965"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12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08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04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694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790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095"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26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png"/><Relationship Id="rId3" Type="http://schemas.openxmlformats.org/officeDocument/2006/relationships/image" Target="../media/image20.jpeg"/><Relationship Id="rId2" Type="http://schemas.openxmlformats.org/officeDocument/2006/relationships/image" Target="../media/image19.jpeg"/><Relationship Id="rId12" Type="http://schemas.openxmlformats.org/officeDocument/2006/relationships/notesSlide" Target="../notesSlides/notesSlide13.xml"/><Relationship Id="rId11" Type="http://schemas.openxmlformats.org/officeDocument/2006/relationships/slideLayout" Target="../slideLayouts/slideLayout1.xml"/><Relationship Id="rId10" Type="http://schemas.openxmlformats.org/officeDocument/2006/relationships/image" Target="../media/image27.png"/><Relationship Id="rId1" Type="http://schemas.openxmlformats.org/officeDocument/2006/relationships/image" Target="../media/image18.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xml"/><Relationship Id="rId7" Type="http://schemas.openxmlformats.org/officeDocument/2006/relationships/image" Target="../media/image34.png"/><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jpe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xml"/><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2.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8.png"/><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4" Type="http://schemas.openxmlformats.org/officeDocument/2006/relationships/notesSlide" Target="../notesSlides/notesSlide17.xml"/><Relationship Id="rId13" Type="http://schemas.openxmlformats.org/officeDocument/2006/relationships/slideLayout" Target="../slideLayouts/slideLayout1.xml"/><Relationship Id="rId12" Type="http://schemas.openxmlformats.org/officeDocument/2006/relationships/image" Target="../media/image52.png"/><Relationship Id="rId11" Type="http://schemas.openxmlformats.org/officeDocument/2006/relationships/image" Target="../media/image51.png"/><Relationship Id="rId10" Type="http://schemas.openxmlformats.org/officeDocument/2006/relationships/image" Target="../media/image50.png"/><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54.png"/><Relationship Id="rId1" Type="http://schemas.openxmlformats.org/officeDocument/2006/relationships/image" Target="../media/image53.png"/></Relationships>
</file>

<file path=ppt/slides/_rels/slide24.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8.wmf"/><Relationship Id="rId7" Type="http://schemas.openxmlformats.org/officeDocument/2006/relationships/oleObject" Target="../embeddings/oleObject4.bin"/><Relationship Id="rId6" Type="http://schemas.openxmlformats.org/officeDocument/2006/relationships/image" Target="../media/image57.wmf"/><Relationship Id="rId5" Type="http://schemas.openxmlformats.org/officeDocument/2006/relationships/oleObject" Target="../embeddings/oleObject3.bin"/><Relationship Id="rId4" Type="http://schemas.openxmlformats.org/officeDocument/2006/relationships/image" Target="../media/image56.wmf"/><Relationship Id="rId3" Type="http://schemas.openxmlformats.org/officeDocument/2006/relationships/oleObject" Target="../embeddings/oleObject2.bin"/><Relationship Id="rId2" Type="http://schemas.openxmlformats.org/officeDocument/2006/relationships/image" Target="../media/image55.wmf"/><Relationship Id="rId12" Type="http://schemas.openxmlformats.org/officeDocument/2006/relationships/notesSlide" Target="../notesSlides/notesSlide19.xml"/><Relationship Id="rId11" Type="http://schemas.openxmlformats.org/officeDocument/2006/relationships/vmlDrawing" Target="../drawings/vmlDrawing1.vml"/><Relationship Id="rId10" Type="http://schemas.openxmlformats.org/officeDocument/2006/relationships/slideLayout" Target="../slideLayouts/slideLayout1.xml"/><Relationship Id="rId1"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tags" Target="../tags/tag4.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28.xml.rels><?xml version="1.0" encoding="UTF-8" standalone="yes"?>
<Relationships xmlns="http://schemas.openxmlformats.org/package/2006/relationships"><Relationship Id="rId9" Type="http://schemas.openxmlformats.org/officeDocument/2006/relationships/image" Target="../media/image70.png"/><Relationship Id="rId8" Type="http://schemas.openxmlformats.org/officeDocument/2006/relationships/image" Target="../media/image69.png"/><Relationship Id="rId7" Type="http://schemas.openxmlformats.org/officeDocument/2006/relationships/image" Target="../media/image46.pn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68.png"/><Relationship Id="rId12" Type="http://schemas.openxmlformats.org/officeDocument/2006/relationships/notesSlide" Target="../notesSlides/notesSlide23.xml"/><Relationship Id="rId11" Type="http://schemas.openxmlformats.org/officeDocument/2006/relationships/slideLayout" Target="../slideLayouts/slideLayout1.xml"/><Relationship Id="rId10" Type="http://schemas.openxmlformats.org/officeDocument/2006/relationships/image" Target="../media/image71.png"/><Relationship Id="rId1" Type="http://schemas.openxmlformats.org/officeDocument/2006/relationships/image" Target="../media/image67.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30.xml.rels><?xml version="1.0" encoding="UTF-8" standalone="yes"?>
<Relationships xmlns="http://schemas.openxmlformats.org/package/2006/relationships"><Relationship Id="rId9" Type="http://schemas.openxmlformats.org/officeDocument/2006/relationships/image" Target="../media/image80.jpeg"/><Relationship Id="rId8" Type="http://schemas.openxmlformats.org/officeDocument/2006/relationships/image" Target="../media/image79.jpeg"/><Relationship Id="rId7" Type="http://schemas.openxmlformats.org/officeDocument/2006/relationships/image" Target="../media/image78.jpeg"/><Relationship Id="rId6" Type="http://schemas.openxmlformats.org/officeDocument/2006/relationships/image" Target="../media/image77.jpeg"/><Relationship Id="rId5" Type="http://schemas.openxmlformats.org/officeDocument/2006/relationships/image" Target="../media/image76.jpeg"/><Relationship Id="rId4" Type="http://schemas.openxmlformats.org/officeDocument/2006/relationships/image" Target="../media/image75.jpeg"/><Relationship Id="rId3" Type="http://schemas.openxmlformats.org/officeDocument/2006/relationships/image" Target="../media/image74.jpeg"/><Relationship Id="rId2" Type="http://schemas.openxmlformats.org/officeDocument/2006/relationships/image" Target="../media/image73.jpeg"/><Relationship Id="rId12" Type="http://schemas.openxmlformats.org/officeDocument/2006/relationships/notesSlide" Target="../notesSlides/notesSlide25.xml"/><Relationship Id="rId11" Type="http://schemas.openxmlformats.org/officeDocument/2006/relationships/slideLayout" Target="../slideLayouts/slideLayout1.xml"/><Relationship Id="rId10" Type="http://schemas.openxmlformats.org/officeDocument/2006/relationships/image" Target="../media/image81.jpeg"/><Relationship Id="rId1" Type="http://schemas.openxmlformats.org/officeDocument/2006/relationships/image" Target="../media/image72.pn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9.png"/><Relationship Id="rId7" Type="http://schemas.openxmlformats.org/officeDocument/2006/relationships/image" Target="../media/image88.png"/><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0" Type="http://schemas.openxmlformats.org/officeDocument/2006/relationships/notesSlide" Target="../notesSlides/notesSlide26.xml"/><Relationship Id="rId1" Type="http://schemas.openxmlformats.org/officeDocument/2006/relationships/image" Target="../media/image82.pn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vmlDrawing" Target="../drawings/vmlDrawing2.vml"/><Relationship Id="rId5" Type="http://schemas.openxmlformats.org/officeDocument/2006/relationships/slideLayout" Target="../slideLayouts/slideLayout1.xml"/><Relationship Id="rId4" Type="http://schemas.openxmlformats.org/officeDocument/2006/relationships/image" Target="../media/image90.wmf"/><Relationship Id="rId3" Type="http://schemas.openxmlformats.org/officeDocument/2006/relationships/oleObject" Target="../embeddings/oleObject5.bin"/><Relationship Id="rId2" Type="http://schemas.openxmlformats.org/officeDocument/2006/relationships/tags" Target="../tags/tag8.xml"/><Relationship Id="rId1" Type="http://schemas.openxmlformats.org/officeDocument/2006/relationships/chart" Target="../charts/chart1.xml"/></Relationships>
</file>

<file path=ppt/slides/_rels/slide33.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8" Type="http://schemas.openxmlformats.org/officeDocument/2006/relationships/notesSlide" Target="../notesSlides/notesSlide28.xml"/><Relationship Id="rId57" Type="http://schemas.openxmlformats.org/officeDocument/2006/relationships/slideLayout" Target="../slideLayouts/slideLayout1.xml"/><Relationship Id="rId56" Type="http://schemas.openxmlformats.org/officeDocument/2006/relationships/tags" Target="../tags/tag57.xml"/><Relationship Id="rId55" Type="http://schemas.openxmlformats.org/officeDocument/2006/relationships/tags" Target="../tags/tag56.xml"/><Relationship Id="rId54" Type="http://schemas.openxmlformats.org/officeDocument/2006/relationships/tags" Target="../tags/tag55.xml"/><Relationship Id="rId53" Type="http://schemas.openxmlformats.org/officeDocument/2006/relationships/tags" Target="../tags/tag54.xml"/><Relationship Id="rId52" Type="http://schemas.openxmlformats.org/officeDocument/2006/relationships/tags" Target="../tags/tag53.xml"/><Relationship Id="rId51" Type="http://schemas.openxmlformats.org/officeDocument/2006/relationships/tags" Target="../tags/tag52.xml"/><Relationship Id="rId50" Type="http://schemas.openxmlformats.org/officeDocument/2006/relationships/tags" Target="../tags/tag51.xml"/><Relationship Id="rId5" Type="http://schemas.openxmlformats.org/officeDocument/2006/relationships/tags" Target="../tags/tag11.xml"/><Relationship Id="rId49" Type="http://schemas.openxmlformats.org/officeDocument/2006/relationships/tags" Target="../tags/tag50.xml"/><Relationship Id="rId48" Type="http://schemas.openxmlformats.org/officeDocument/2006/relationships/image" Target="../media/image97.png"/><Relationship Id="rId47" Type="http://schemas.openxmlformats.org/officeDocument/2006/relationships/tags" Target="../tags/tag49.xml"/><Relationship Id="rId46" Type="http://schemas.openxmlformats.org/officeDocument/2006/relationships/tags" Target="../tags/tag48.xml"/><Relationship Id="rId45" Type="http://schemas.openxmlformats.org/officeDocument/2006/relationships/tags" Target="../tags/tag47.xml"/><Relationship Id="rId44" Type="http://schemas.openxmlformats.org/officeDocument/2006/relationships/tags" Target="../tags/tag46.xml"/><Relationship Id="rId43" Type="http://schemas.openxmlformats.org/officeDocument/2006/relationships/tags" Target="../tags/tag45.xml"/><Relationship Id="rId42" Type="http://schemas.openxmlformats.org/officeDocument/2006/relationships/tags" Target="../tags/tag44.xml"/><Relationship Id="rId41" Type="http://schemas.openxmlformats.org/officeDocument/2006/relationships/image" Target="../media/image96.png"/><Relationship Id="rId40" Type="http://schemas.openxmlformats.org/officeDocument/2006/relationships/tags" Target="../tags/tag43.xml"/><Relationship Id="rId4" Type="http://schemas.openxmlformats.org/officeDocument/2006/relationships/image" Target="../media/image92.png"/><Relationship Id="rId39" Type="http://schemas.openxmlformats.org/officeDocument/2006/relationships/tags" Target="../tags/tag42.xml"/><Relationship Id="rId38" Type="http://schemas.openxmlformats.org/officeDocument/2006/relationships/tags" Target="../tags/tag41.xml"/><Relationship Id="rId37" Type="http://schemas.openxmlformats.org/officeDocument/2006/relationships/tags" Target="../tags/tag40.xml"/><Relationship Id="rId36" Type="http://schemas.openxmlformats.org/officeDocument/2006/relationships/tags" Target="../tags/tag39.xml"/><Relationship Id="rId35" Type="http://schemas.openxmlformats.org/officeDocument/2006/relationships/tags" Target="../tags/tag38.xml"/><Relationship Id="rId34" Type="http://schemas.openxmlformats.org/officeDocument/2006/relationships/tags" Target="../tags/tag37.xml"/><Relationship Id="rId33" Type="http://schemas.openxmlformats.org/officeDocument/2006/relationships/image" Target="../media/image95.png"/><Relationship Id="rId32" Type="http://schemas.openxmlformats.org/officeDocument/2006/relationships/tags" Target="../tags/tag36.xml"/><Relationship Id="rId31" Type="http://schemas.openxmlformats.org/officeDocument/2006/relationships/tags" Target="../tags/tag35.xml"/><Relationship Id="rId30" Type="http://schemas.openxmlformats.org/officeDocument/2006/relationships/tags" Target="../tags/tag34.xml"/><Relationship Id="rId3" Type="http://schemas.openxmlformats.org/officeDocument/2006/relationships/tags" Target="../tags/tag10.xml"/><Relationship Id="rId29" Type="http://schemas.openxmlformats.org/officeDocument/2006/relationships/tags" Target="../tags/tag33.xml"/><Relationship Id="rId28" Type="http://schemas.openxmlformats.org/officeDocument/2006/relationships/tags" Target="../tags/tag32.xml"/><Relationship Id="rId27" Type="http://schemas.openxmlformats.org/officeDocument/2006/relationships/tags" Target="../tags/tag31.xml"/><Relationship Id="rId26" Type="http://schemas.openxmlformats.org/officeDocument/2006/relationships/tags" Target="../tags/tag30.xml"/><Relationship Id="rId25" Type="http://schemas.openxmlformats.org/officeDocument/2006/relationships/tags" Target="../tags/tag29.xml"/><Relationship Id="rId24" Type="http://schemas.openxmlformats.org/officeDocument/2006/relationships/tags" Target="../tags/tag28.xml"/><Relationship Id="rId23" Type="http://schemas.openxmlformats.org/officeDocument/2006/relationships/image" Target="../media/image94.png"/><Relationship Id="rId22" Type="http://schemas.openxmlformats.org/officeDocument/2006/relationships/tags" Target="../tags/tag27.xml"/><Relationship Id="rId21" Type="http://schemas.openxmlformats.org/officeDocument/2006/relationships/tags" Target="../tags/tag26.xml"/><Relationship Id="rId20" Type="http://schemas.openxmlformats.org/officeDocument/2006/relationships/tags" Target="../tags/tag25.xml"/><Relationship Id="rId2" Type="http://schemas.openxmlformats.org/officeDocument/2006/relationships/tags" Target="../tags/tag9.xml"/><Relationship Id="rId19" Type="http://schemas.openxmlformats.org/officeDocument/2006/relationships/tags" Target="../tags/tag24.xml"/><Relationship Id="rId18" Type="http://schemas.openxmlformats.org/officeDocument/2006/relationships/tags" Target="../tags/tag23.xml"/><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tags" Target="../tags/tag20.xml"/><Relationship Id="rId14" Type="http://schemas.openxmlformats.org/officeDocument/2006/relationships/image" Target="../media/image93.png"/><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image" Target="../media/image91.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1.xml"/><Relationship Id="rId4" Type="http://schemas.openxmlformats.org/officeDocument/2006/relationships/image" Target="../media/image99.png"/><Relationship Id="rId3" Type="http://schemas.openxmlformats.org/officeDocument/2006/relationships/image" Target="../media/image98.png"/><Relationship Id="rId2" Type="http://schemas.openxmlformats.org/officeDocument/2006/relationships/tags" Target="../tags/tag61.xml"/><Relationship Id="rId1" Type="http://schemas.openxmlformats.org/officeDocument/2006/relationships/tags" Target="../tags/tag60.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tags" Target="../tags/tag62.xml"/></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xml"/><Relationship Id="rId4" Type="http://schemas.openxmlformats.org/officeDocument/2006/relationships/image" Target="../media/image102.png"/><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tags" Target="../tags/tag64.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tags" Target="../tags/tag66.xml"/><Relationship Id="rId1" Type="http://schemas.openxmlformats.org/officeDocument/2006/relationships/tags" Target="../tags/tag65.xml"/></Relationships>
</file>

<file path=ppt/slides/_rels/slide39.xml.rels><?xml version="1.0" encoding="UTF-8" standalone="yes"?>
<Relationships xmlns="http://schemas.openxmlformats.org/package/2006/relationships"><Relationship Id="rId9" Type="http://schemas.openxmlformats.org/officeDocument/2006/relationships/notesSlide" Target="../notesSlides/notesSlide34.xml"/><Relationship Id="rId8" Type="http://schemas.openxmlformats.org/officeDocument/2006/relationships/slideLayout" Target="../slideLayouts/slideLayout1.xml"/><Relationship Id="rId7" Type="http://schemas.openxmlformats.org/officeDocument/2006/relationships/tags" Target="../tags/tag69.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GIF"/><Relationship Id="rId3" Type="http://schemas.openxmlformats.org/officeDocument/2006/relationships/image" Target="../media/image103.png"/><Relationship Id="rId2" Type="http://schemas.openxmlformats.org/officeDocument/2006/relationships/tags" Target="../tags/tag68.xml"/><Relationship Id="rId1" Type="http://schemas.openxmlformats.org/officeDocument/2006/relationships/tags" Target="../tags/tag67.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tags" Target="../tags/tag71.xml"/><Relationship Id="rId1" Type="http://schemas.openxmlformats.org/officeDocument/2006/relationships/tags" Target="../tags/tag70.xml"/></Relationships>
</file>

<file path=ppt/slides/_rels/slide41.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slideLayout" Target="../slideLayouts/slideLayout1.xml"/><Relationship Id="rId6" Type="http://schemas.openxmlformats.org/officeDocument/2006/relationships/tags" Target="../tags/tag74.xml"/><Relationship Id="rId5" Type="http://schemas.openxmlformats.org/officeDocument/2006/relationships/image" Target="../media/image109.png"/><Relationship Id="rId4" Type="http://schemas.openxmlformats.org/officeDocument/2006/relationships/image" Target="../media/image108.png"/><Relationship Id="rId3" Type="http://schemas.openxmlformats.org/officeDocument/2006/relationships/image" Target="../media/image107.png"/><Relationship Id="rId2" Type="http://schemas.openxmlformats.org/officeDocument/2006/relationships/tags" Target="../tags/tag73.xml"/><Relationship Id="rId1" Type="http://schemas.openxmlformats.org/officeDocument/2006/relationships/tags" Target="../tags/tag72.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tags" Target="../tags/tag76.xml"/><Relationship Id="rId1" Type="http://schemas.openxmlformats.org/officeDocument/2006/relationships/tags" Target="../tags/tag75.xml"/></Relationships>
</file>

<file path=ppt/slides/_rels/slide43.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image" Target="../media/image110.png"/><Relationship Id="rId2" Type="http://schemas.openxmlformats.org/officeDocument/2006/relationships/tags" Target="../tags/tag78.xml"/><Relationship Id="rId16" Type="http://schemas.openxmlformats.org/officeDocument/2006/relationships/notesSlide" Target="../notesSlides/notesSlide38.xml"/><Relationship Id="rId15" Type="http://schemas.openxmlformats.org/officeDocument/2006/relationships/slideLayout" Target="../slideLayouts/slideLayout1.xml"/><Relationship Id="rId14" Type="http://schemas.openxmlformats.org/officeDocument/2006/relationships/image" Target="../media/image112.png"/><Relationship Id="rId13" Type="http://schemas.openxmlformats.org/officeDocument/2006/relationships/image" Target="../media/image104.GIF"/><Relationship Id="rId12" Type="http://schemas.openxmlformats.org/officeDocument/2006/relationships/image" Target="../media/image111.png"/><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tags" Target="../tags/tag77.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tags" Target="../tags/tag88.xml"/><Relationship Id="rId1" Type="http://schemas.openxmlformats.org/officeDocument/2006/relationships/tags" Target="../tags/tag8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slideLayout" Target="../slideLayouts/slideLayout1.xml"/><Relationship Id="rId5" Type="http://schemas.openxmlformats.org/officeDocument/2006/relationships/tags" Target="../tags/tag91.xml"/><Relationship Id="rId4" Type="http://schemas.openxmlformats.org/officeDocument/2006/relationships/image" Target="../media/image114.png"/><Relationship Id="rId3" Type="http://schemas.openxmlformats.org/officeDocument/2006/relationships/image" Target="../media/image113.png"/><Relationship Id="rId2" Type="http://schemas.openxmlformats.org/officeDocument/2006/relationships/tags" Target="../tags/tag90.xml"/><Relationship Id="rId1" Type="http://schemas.openxmlformats.org/officeDocument/2006/relationships/tags" Target="../tags/tag89.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tags" Target="../tags/tag92.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1.xml"/><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image" Target="../media/image115.png"/></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22.png"/><Relationship Id="rId7" Type="http://schemas.openxmlformats.org/officeDocument/2006/relationships/tags" Target="../tags/tag95.xml"/><Relationship Id="rId6" Type="http://schemas.openxmlformats.org/officeDocument/2006/relationships/image" Target="../media/image121.png"/><Relationship Id="rId5" Type="http://schemas.openxmlformats.org/officeDocument/2006/relationships/tags" Target="../tags/tag94.xml"/><Relationship Id="rId4" Type="http://schemas.openxmlformats.org/officeDocument/2006/relationships/image" Target="../media/image120.png"/><Relationship Id="rId3" Type="http://schemas.openxmlformats.org/officeDocument/2006/relationships/image" Target="../media/image119.png"/><Relationship Id="rId2" Type="http://schemas.openxmlformats.org/officeDocument/2006/relationships/image" Target="../media/image118.png"/><Relationship Id="rId10" Type="http://schemas.openxmlformats.org/officeDocument/2006/relationships/notesSlide" Target="../notesSlides/notesSlide43.xml"/><Relationship Id="rId1" Type="http://schemas.openxmlformats.org/officeDocument/2006/relationships/tags" Target="../tags/tag93.xml"/></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1.xml"/><Relationship Id="rId4" Type="http://schemas.openxmlformats.org/officeDocument/2006/relationships/image" Target="../media/image125.png"/><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tags" Target="../tags/tag96.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tags" Target="../tags/tag97.xml"/></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02.xml"/><Relationship Id="rId7" Type="http://schemas.openxmlformats.org/officeDocument/2006/relationships/image" Target="../media/image128.png"/><Relationship Id="rId6" Type="http://schemas.openxmlformats.org/officeDocument/2006/relationships/image" Target="../media/image127.png"/><Relationship Id="rId5" Type="http://schemas.openxmlformats.org/officeDocument/2006/relationships/tags" Target="../tags/tag101.xml"/><Relationship Id="rId4" Type="http://schemas.openxmlformats.org/officeDocument/2006/relationships/image" Target="../media/image126.png"/><Relationship Id="rId3" Type="http://schemas.openxmlformats.org/officeDocument/2006/relationships/tags" Target="../tags/tag100.xml"/><Relationship Id="rId2" Type="http://schemas.openxmlformats.org/officeDocument/2006/relationships/tags" Target="../tags/tag99.xml"/><Relationship Id="rId10" Type="http://schemas.openxmlformats.org/officeDocument/2006/relationships/notesSlide" Target="../notesSlides/notesSlide46.xml"/><Relationship Id="rId1" Type="http://schemas.openxmlformats.org/officeDocument/2006/relationships/tags" Target="../tags/tag98.xml"/></Relationships>
</file>

<file path=ppt/slides/_rels/slide53.xml.rels><?xml version="1.0" encoding="UTF-8" standalone="yes"?>
<Relationships xmlns="http://schemas.openxmlformats.org/package/2006/relationships"><Relationship Id="rId7" Type="http://schemas.openxmlformats.org/officeDocument/2006/relationships/notesSlide" Target="../notesSlides/notesSlide47.xml"/><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image" Target="../media/image130.png"/><Relationship Id="rId3" Type="http://schemas.openxmlformats.org/officeDocument/2006/relationships/tags" Target="../tags/tag103.xml"/><Relationship Id="rId2" Type="http://schemas.openxmlformats.org/officeDocument/2006/relationships/image" Target="../media/image129.wmf"/><Relationship Id="rId1" Type="http://schemas.openxmlformats.org/officeDocument/2006/relationships/oleObject" Target="../embeddings/oleObject6.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131.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tags" Target="../tags/tag104.xml"/></Relationships>
</file>

<file path=ppt/slides/_rels/slide57.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1.xml"/><Relationship Id="rId4" Type="http://schemas.openxmlformats.org/officeDocument/2006/relationships/image" Target="../media/image133.png"/><Relationship Id="rId3" Type="http://schemas.openxmlformats.org/officeDocument/2006/relationships/image" Target="../media/image132.png"/><Relationship Id="rId2" Type="http://schemas.openxmlformats.org/officeDocument/2006/relationships/tags" Target="../tags/tag106.xml"/><Relationship Id="rId1" Type="http://schemas.openxmlformats.org/officeDocument/2006/relationships/tags" Target="../tags/tag10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tags" Target="../tags/tag107.xml"/></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2.xml"/><Relationship Id="rId5" Type="http://schemas.openxmlformats.org/officeDocument/2006/relationships/slideLayout" Target="../slideLayouts/slideLayout1.xml"/><Relationship Id="rId4" Type="http://schemas.openxmlformats.org/officeDocument/2006/relationships/image" Target="../media/image135.png"/><Relationship Id="rId3" Type="http://schemas.openxmlformats.org/officeDocument/2006/relationships/image" Target="../media/image134.png"/><Relationship Id="rId2" Type="http://schemas.openxmlformats.org/officeDocument/2006/relationships/tags" Target="../tags/tag109.xml"/><Relationship Id="rId1" Type="http://schemas.openxmlformats.org/officeDocument/2006/relationships/tags" Target="../tags/tag108.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tags" Target="../tags/tag110.xml"/></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1.xml"/><Relationship Id="rId3" Type="http://schemas.openxmlformats.org/officeDocument/2006/relationships/image" Target="../media/image136.png"/><Relationship Id="rId2" Type="http://schemas.openxmlformats.org/officeDocument/2006/relationships/tags" Target="../tags/tag112.xml"/><Relationship Id="rId1" Type="http://schemas.openxmlformats.org/officeDocument/2006/relationships/tags" Target="../tags/tag111.xml"/></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1.xml"/><Relationship Id="rId3" Type="http://schemas.openxmlformats.org/officeDocument/2006/relationships/tags" Target="../tags/tag114.xml"/><Relationship Id="rId2" Type="http://schemas.openxmlformats.org/officeDocument/2006/relationships/image" Target="../media/image137.png"/><Relationship Id="rId1" Type="http://schemas.openxmlformats.org/officeDocument/2006/relationships/tags" Target="../tags/tag113.xml"/></Relationships>
</file>

<file path=ppt/slides/_rels/slide63.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slideLayout" Target="../slideLayouts/slideLayout1.xml"/><Relationship Id="rId4" Type="http://schemas.openxmlformats.org/officeDocument/2006/relationships/image" Target="../media/image139.png"/><Relationship Id="rId3" Type="http://schemas.openxmlformats.org/officeDocument/2006/relationships/image" Target="../media/image138.png"/><Relationship Id="rId2" Type="http://schemas.openxmlformats.org/officeDocument/2006/relationships/tags" Target="../tags/tag116.xml"/><Relationship Id="rId1" Type="http://schemas.openxmlformats.org/officeDocument/2006/relationships/tags" Target="../tags/tag115.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tags" Target="../tags/tag117.xml"/></Relationships>
</file>

<file path=ppt/slides/_rels/slide65.xml.rels><?xml version="1.0" encoding="UTF-8" standalone="yes"?>
<Relationships xmlns="http://schemas.openxmlformats.org/package/2006/relationships"><Relationship Id="rId6" Type="http://schemas.openxmlformats.org/officeDocument/2006/relationships/notesSlide" Target="../notesSlides/notesSlide58.xml"/><Relationship Id="rId5" Type="http://schemas.openxmlformats.org/officeDocument/2006/relationships/slideLayout" Target="../slideLayouts/slideLayout1.xml"/><Relationship Id="rId4" Type="http://schemas.openxmlformats.org/officeDocument/2006/relationships/image" Target="../media/image141.png"/><Relationship Id="rId3" Type="http://schemas.openxmlformats.org/officeDocument/2006/relationships/image" Target="../media/image140.png"/><Relationship Id="rId2" Type="http://schemas.openxmlformats.org/officeDocument/2006/relationships/tags" Target="../tags/tag119.xml"/><Relationship Id="rId1" Type="http://schemas.openxmlformats.org/officeDocument/2006/relationships/tags" Target="../tags/tag118.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tags" Target="../tags/tag120.xml"/></Relationships>
</file>

<file path=ppt/slides/_rels/slide67.xml.rels><?xml version="1.0" encoding="UTF-8" standalone="yes"?>
<Relationships xmlns="http://schemas.openxmlformats.org/package/2006/relationships"><Relationship Id="rId5" Type="http://schemas.openxmlformats.org/officeDocument/2006/relationships/notesSlide" Target="../notesSlides/notesSlide60.xml"/><Relationship Id="rId4" Type="http://schemas.openxmlformats.org/officeDocument/2006/relationships/slideLayout" Target="../slideLayouts/slideLayout1.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image" Target="../media/image142.png"/></Relationships>
</file>

<file path=ppt/slides/_rels/slide68.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image" Target="../media/image144.png"/><Relationship Id="rId5" Type="http://schemas.openxmlformats.org/officeDocument/2006/relationships/tags" Target="../tags/tag126.xml"/><Relationship Id="rId4" Type="http://schemas.openxmlformats.org/officeDocument/2006/relationships/image" Target="../media/image143.png"/><Relationship Id="rId3" Type="http://schemas.openxmlformats.org/officeDocument/2006/relationships/tags" Target="../tags/tag125.xml"/><Relationship Id="rId2" Type="http://schemas.openxmlformats.org/officeDocument/2006/relationships/tags" Target="../tags/tag124.xml"/><Relationship Id="rId19" Type="http://schemas.openxmlformats.org/officeDocument/2006/relationships/notesSlide" Target="../notesSlides/notesSlide61.xml"/><Relationship Id="rId18" Type="http://schemas.openxmlformats.org/officeDocument/2006/relationships/slideLayout" Target="../slideLayouts/slideLayout1.xml"/><Relationship Id="rId17" Type="http://schemas.openxmlformats.org/officeDocument/2006/relationships/tags" Target="../tags/tag136.xml"/><Relationship Id="rId16" Type="http://schemas.openxmlformats.org/officeDocument/2006/relationships/tags" Target="../tags/tag135.xml"/><Relationship Id="rId15" Type="http://schemas.openxmlformats.org/officeDocument/2006/relationships/tags" Target="../tags/tag134.xml"/><Relationship Id="rId14" Type="http://schemas.openxmlformats.org/officeDocument/2006/relationships/tags" Target="../tags/tag133.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image" Target="../media/image145.png"/><Relationship Id="rId1" Type="http://schemas.openxmlformats.org/officeDocument/2006/relationships/tags" Target="../tags/tag123.xml"/></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62.xml"/><Relationship Id="rId4" Type="http://schemas.openxmlformats.org/officeDocument/2006/relationships/slideLayout" Target="../slideLayouts/slideLayout1.xml"/><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image" Target="../media/image146.tiff"/></Relationships>
</file>

<file path=ppt/slides/_rels/slide70.xml.rels><?xml version="1.0" encoding="UTF-8" standalone="yes"?>
<Relationships xmlns="http://schemas.openxmlformats.org/package/2006/relationships"><Relationship Id="rId5" Type="http://schemas.openxmlformats.org/officeDocument/2006/relationships/notesSlide" Target="../notesSlides/notesSlide63.xml"/><Relationship Id="rId4" Type="http://schemas.openxmlformats.org/officeDocument/2006/relationships/slideLayout" Target="../slideLayouts/slideLayout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image" Target="../media/image147.tiff"/></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xml"/><Relationship Id="rId2" Type="http://schemas.openxmlformats.org/officeDocument/2006/relationships/image" Target="../media/image148.png"/><Relationship Id="rId1" Type="http://schemas.openxmlformats.org/officeDocument/2006/relationships/tags" Target="../tags/tag141.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xml"/><Relationship Id="rId2" Type="http://schemas.openxmlformats.org/officeDocument/2006/relationships/image" Target="../media/image149.png"/><Relationship Id="rId1" Type="http://schemas.openxmlformats.org/officeDocument/2006/relationships/tags" Target="../tags/tag142.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xml"/><Relationship Id="rId2" Type="http://schemas.openxmlformats.org/officeDocument/2006/relationships/image" Target="../media/image151.png"/><Relationship Id="rId1" Type="http://schemas.openxmlformats.org/officeDocument/2006/relationships/image" Target="../media/image150.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xml"/><Relationship Id="rId2" Type="http://schemas.openxmlformats.org/officeDocument/2006/relationships/image" Target="../media/image152.png"/><Relationship Id="rId1" Type="http://schemas.openxmlformats.org/officeDocument/2006/relationships/tags" Target="../tags/tag143.xml"/></Relationships>
</file>

<file path=ppt/slides/_rels/slide75.xml.rels><?xml version="1.0" encoding="UTF-8" standalone="yes"?>
<Relationships xmlns="http://schemas.openxmlformats.org/package/2006/relationships"><Relationship Id="rId6" Type="http://schemas.openxmlformats.org/officeDocument/2006/relationships/notesSlide" Target="../notesSlides/notesSlide68.xml"/><Relationship Id="rId5" Type="http://schemas.openxmlformats.org/officeDocument/2006/relationships/slideLayout" Target="../slideLayouts/slideLayout1.xml"/><Relationship Id="rId4" Type="http://schemas.openxmlformats.org/officeDocument/2006/relationships/image" Target="../media/image156.png"/><Relationship Id="rId3" Type="http://schemas.openxmlformats.org/officeDocument/2006/relationships/image" Target="../media/image155.jpeg"/><Relationship Id="rId2" Type="http://schemas.openxmlformats.org/officeDocument/2006/relationships/image" Target="../media/image154.jpeg"/><Relationship Id="rId1" Type="http://schemas.openxmlformats.org/officeDocument/2006/relationships/image" Target="../media/image153.pn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1.xml"/><Relationship Id="rId2" Type="http://schemas.openxmlformats.org/officeDocument/2006/relationships/image" Target="../media/image158.png"/><Relationship Id="rId1" Type="http://schemas.openxmlformats.org/officeDocument/2006/relationships/image" Target="../media/image157.pn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1.xml"/><Relationship Id="rId2" Type="http://schemas.openxmlformats.org/officeDocument/2006/relationships/image" Target="../media/image156.png"/><Relationship Id="rId1" Type="http://schemas.openxmlformats.org/officeDocument/2006/relationships/image" Target="../media/image159.pn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1.xml"/><Relationship Id="rId2" Type="http://schemas.openxmlformats.org/officeDocument/2006/relationships/image" Target="../media/image161.png"/><Relationship Id="rId1" Type="http://schemas.openxmlformats.org/officeDocument/2006/relationships/image" Target="../media/image160.png"/></Relationships>
</file>

<file path=ppt/slides/_rels/slide79.xml.rels><?xml version="1.0" encoding="UTF-8" standalone="yes"?>
<Relationships xmlns="http://schemas.openxmlformats.org/package/2006/relationships"><Relationship Id="rId5" Type="http://schemas.openxmlformats.org/officeDocument/2006/relationships/notesSlide" Target="../notesSlides/notesSlide72.xml"/><Relationship Id="rId4" Type="http://schemas.openxmlformats.org/officeDocument/2006/relationships/slideLayout" Target="../slideLayouts/slideLayout1.xml"/><Relationship Id="rId3" Type="http://schemas.openxmlformats.org/officeDocument/2006/relationships/image" Target="../media/image162.png"/><Relationship Id="rId2" Type="http://schemas.microsoft.com/office/2007/relationships/media" Target="../media/media1.mp4"/><Relationship Id="rId1" Type="http://schemas.openxmlformats.org/officeDocument/2006/relationships/video" Target="../media/media1.mp4"/></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1.xml"/><Relationship Id="rId2" Type="http://schemas.openxmlformats.org/officeDocument/2006/relationships/tags" Target="../tags/tag145.xml"/><Relationship Id="rId1" Type="http://schemas.openxmlformats.org/officeDocument/2006/relationships/tags" Target="../tags/tag144.xml"/></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1.xml"/><Relationship Id="rId2" Type="http://schemas.openxmlformats.org/officeDocument/2006/relationships/tags" Target="../tags/tag147.xml"/><Relationship Id="rId1" Type="http://schemas.openxmlformats.org/officeDocument/2006/relationships/tags" Target="../tags/tag146.xml"/></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1.xml"/><Relationship Id="rId2" Type="http://schemas.openxmlformats.org/officeDocument/2006/relationships/tags" Target="../tags/tag149.xml"/><Relationship Id="rId1" Type="http://schemas.openxmlformats.org/officeDocument/2006/relationships/tags" Target="../tags/tag14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xml"/><Relationship Id="rId1" Type="http://schemas.openxmlformats.org/officeDocument/2006/relationships/tags" Target="../tags/tag150.xml"/></Relationships>
</file>

<file path=ppt/slides/_rels/slide90.xml.rels><?xml version="1.0" encoding="UTF-8" standalone="yes"?>
<Relationships xmlns="http://schemas.openxmlformats.org/package/2006/relationships"><Relationship Id="rId8" Type="http://schemas.openxmlformats.org/officeDocument/2006/relationships/notesSlide" Target="../notesSlides/notesSlide79.xml"/><Relationship Id="rId7" Type="http://schemas.openxmlformats.org/officeDocument/2006/relationships/slideLayout" Target="../slideLayouts/slideLayout1.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166.png"/><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image" Target="../media/image163.png"/></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1.xml"/><Relationship Id="rId2" Type="http://schemas.openxmlformats.org/officeDocument/2006/relationships/image" Target="../media/image170.jpeg"/><Relationship Id="rId1" Type="http://schemas.openxmlformats.org/officeDocument/2006/relationships/image" Target="../media/image169.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1.xml"/></Relationships>
</file>

<file path=ppt/slides/_rels/slide9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78.png"/><Relationship Id="rId7" Type="http://schemas.openxmlformats.org/officeDocument/2006/relationships/image" Target="../media/image177.png"/><Relationship Id="rId6" Type="http://schemas.openxmlformats.org/officeDocument/2006/relationships/image" Target="../media/image176.jpeg"/><Relationship Id="rId5" Type="http://schemas.openxmlformats.org/officeDocument/2006/relationships/image" Target="../media/image175.jpeg"/><Relationship Id="rId4" Type="http://schemas.openxmlformats.org/officeDocument/2006/relationships/image" Target="../media/image174.png"/><Relationship Id="rId3" Type="http://schemas.openxmlformats.org/officeDocument/2006/relationships/image" Target="../media/image173.png"/><Relationship Id="rId2" Type="http://schemas.openxmlformats.org/officeDocument/2006/relationships/image" Target="../media/image172.jpeg"/><Relationship Id="rId10" Type="http://schemas.openxmlformats.org/officeDocument/2006/relationships/notesSlide" Target="../notesSlides/notesSlide81.xml"/><Relationship Id="rId1" Type="http://schemas.openxmlformats.org/officeDocument/2006/relationships/image" Target="../media/image17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933467"/>
            <a:ext cx="12192001" cy="4431487"/>
            <a:chOff x="-1524000" y="1917139"/>
            <a:chExt cx="12192001" cy="4431487"/>
          </a:xfrm>
        </p:grpSpPr>
        <p:sp>
          <p:nvSpPr>
            <p:cNvPr id="6" name="Text Box 2"/>
            <p:cNvSpPr txBox="1">
              <a:spLocks noChangeArrowheads="1"/>
            </p:cNvSpPr>
            <p:nvPr/>
          </p:nvSpPr>
          <p:spPr bwMode="auto">
            <a:xfrm>
              <a:off x="-1524000" y="1917139"/>
              <a:ext cx="1219200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3600" b="1" dirty="0">
                  <a:solidFill>
                    <a:srgbClr val="FF0000"/>
                  </a:solidFill>
                  <a:latin typeface="方正大黑简体" panose="02000000000000000000" pitchFamily="65" charset="-122"/>
                  <a:ea typeface="方正大黑简体" panose="02000000000000000000" pitchFamily="65" charset="-122"/>
                </a:rPr>
                <a:t>《</a:t>
              </a:r>
              <a:r>
                <a:rPr lang="zh-CN" altLang="en-US" sz="3600" b="1" dirty="0">
                  <a:solidFill>
                    <a:srgbClr val="FF0000"/>
                  </a:solidFill>
                  <a:latin typeface="方正大黑简体" panose="02000000000000000000" pitchFamily="65" charset="-122"/>
                  <a:ea typeface="方正大黑简体" panose="02000000000000000000" pitchFamily="65" charset="-122"/>
                </a:rPr>
                <a:t>基于页岩气井压裂施工资料的压裂评估方法与应用</a:t>
              </a:r>
              <a:r>
                <a:rPr lang="en-US" altLang="zh-CN" sz="3600" b="1" dirty="0">
                  <a:solidFill>
                    <a:srgbClr val="FF0000"/>
                  </a:solidFill>
                  <a:latin typeface="方正大黑简体" panose="02000000000000000000" pitchFamily="65" charset="-122"/>
                  <a:ea typeface="方正大黑简体" panose="02000000000000000000" pitchFamily="65" charset="-122"/>
                </a:rPr>
                <a:t>》</a:t>
              </a:r>
              <a:endParaRPr lang="en-US" altLang="zh-CN" sz="3600" b="1" dirty="0">
                <a:solidFill>
                  <a:srgbClr val="FF0000"/>
                </a:solidFill>
                <a:latin typeface="方正大黑简体" panose="02000000000000000000" pitchFamily="65" charset="-122"/>
                <a:ea typeface="方正大黑简体" panose="02000000000000000000" pitchFamily="65" charset="-122"/>
              </a:endParaRPr>
            </a:p>
            <a:p>
              <a:pPr algn="ctr" eaLnBrk="1" hangingPunct="1">
                <a:spcBef>
                  <a:spcPct val="50000"/>
                </a:spcBef>
              </a:pPr>
              <a:r>
                <a:rPr lang="zh-CN" altLang="en-US" sz="3600" b="1" dirty="0">
                  <a:solidFill>
                    <a:srgbClr val="FF0000"/>
                  </a:solidFill>
                  <a:latin typeface="方正大黑简体" panose="02000000000000000000" pitchFamily="65" charset="-122"/>
                  <a:ea typeface="方正大黑简体" panose="02000000000000000000" pitchFamily="65" charset="-122"/>
                </a:rPr>
                <a:t>验收汇报</a:t>
              </a:r>
              <a:endParaRPr lang="zh-CN" altLang="en-US" sz="3600" b="1" dirty="0">
                <a:solidFill>
                  <a:srgbClr val="FF0000"/>
                </a:solidFill>
                <a:latin typeface="方正大黑简体" panose="02000000000000000000" pitchFamily="65" charset="-122"/>
                <a:ea typeface="方正大黑简体" panose="02000000000000000000" pitchFamily="65" charset="-122"/>
              </a:endParaRPr>
            </a:p>
          </p:txBody>
        </p:sp>
        <p:sp>
          <p:nvSpPr>
            <p:cNvPr id="10" name="Text Box 4"/>
            <p:cNvSpPr txBox="1">
              <a:spLocks noChangeArrowheads="1"/>
            </p:cNvSpPr>
            <p:nvPr/>
          </p:nvSpPr>
          <p:spPr bwMode="auto">
            <a:xfrm>
              <a:off x="-1523999" y="5565036"/>
              <a:ext cx="12192000" cy="783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dirty="0">
                  <a:solidFill>
                    <a:srgbClr val="000000"/>
                  </a:solidFill>
                  <a:latin typeface="楷体" panose="02010609060101010101" pitchFamily="49" charset="-122"/>
                  <a:ea typeface="楷体" panose="02010609060101010101" pitchFamily="49" charset="-122"/>
                </a:rPr>
                <a:t>承担单位：中国石油大学（北京）</a:t>
              </a:r>
              <a:endParaRPr lang="en-US" altLang="zh-CN" b="1" dirty="0">
                <a:solidFill>
                  <a:srgbClr val="000000"/>
                </a:solidFill>
                <a:latin typeface="楷体" panose="02010609060101010101" pitchFamily="49" charset="-122"/>
                <a:ea typeface="楷体" panose="02010609060101010101" pitchFamily="49" charset="-122"/>
              </a:endParaRPr>
            </a:p>
            <a:p>
              <a:pPr algn="ctr" eaLnBrk="1" hangingPunct="1">
                <a:spcBef>
                  <a:spcPct val="50000"/>
                </a:spcBef>
              </a:pPr>
              <a:r>
                <a:rPr lang="en-US" altLang="zh-CN" b="1" dirty="0">
                  <a:solidFill>
                    <a:srgbClr val="000000"/>
                  </a:solidFill>
                  <a:latin typeface="楷体" panose="02010609060101010101" pitchFamily="49" charset="-122"/>
                  <a:ea typeface="楷体" panose="02010609060101010101" pitchFamily="49" charset="-122"/>
                </a:rPr>
                <a:t>2025</a:t>
              </a:r>
              <a:r>
                <a:rPr lang="zh-CN" altLang="en-US" b="1" dirty="0">
                  <a:solidFill>
                    <a:srgbClr val="000000"/>
                  </a:solidFill>
                  <a:latin typeface="楷体" panose="02010609060101010101" pitchFamily="49" charset="-122"/>
                  <a:ea typeface="楷体" panose="02010609060101010101" pitchFamily="49" charset="-122"/>
                </a:rPr>
                <a:t>年</a:t>
              </a:r>
              <a:r>
                <a:rPr lang="en-US" altLang="zh-CN" b="1" dirty="0">
                  <a:solidFill>
                    <a:srgbClr val="000000"/>
                  </a:solidFill>
                  <a:latin typeface="楷体" panose="02010609060101010101" pitchFamily="49" charset="-122"/>
                  <a:ea typeface="楷体" panose="02010609060101010101" pitchFamily="49" charset="-122"/>
                </a:rPr>
                <a:t>11</a:t>
              </a:r>
              <a:r>
                <a:rPr lang="zh-CN" altLang="en-US" b="1" dirty="0">
                  <a:solidFill>
                    <a:srgbClr val="000000"/>
                  </a:solidFill>
                  <a:latin typeface="楷体" panose="02010609060101010101" pitchFamily="49" charset="-122"/>
                  <a:ea typeface="楷体" panose="02010609060101010101" pitchFamily="49" charset="-122"/>
                </a:rPr>
                <a:t>月</a:t>
              </a:r>
              <a:r>
                <a:rPr lang="en-US" altLang="zh-CN" b="1" dirty="0">
                  <a:solidFill>
                    <a:srgbClr val="000000"/>
                  </a:solidFill>
                  <a:latin typeface="楷体" panose="02010609060101010101" pitchFamily="49" charset="-122"/>
                  <a:ea typeface="楷体" panose="02010609060101010101" pitchFamily="49" charset="-122"/>
                </a:rPr>
                <a:t>28</a:t>
              </a:r>
              <a:r>
                <a:rPr lang="zh-CN" altLang="en-US" b="1" dirty="0">
                  <a:solidFill>
                    <a:srgbClr val="000000"/>
                  </a:solidFill>
                  <a:latin typeface="楷体" panose="02010609060101010101" pitchFamily="49" charset="-122"/>
                  <a:ea typeface="楷体" panose="02010609060101010101" pitchFamily="49" charset="-122"/>
                </a:rPr>
                <a:t>日</a:t>
              </a:r>
              <a:endParaRPr lang="zh-CN" altLang="en-US" b="1" dirty="0">
                <a:solidFill>
                  <a:srgbClr val="000000"/>
                </a:solidFill>
                <a:latin typeface="楷体" panose="02010609060101010101" pitchFamily="49" charset="-122"/>
                <a:ea typeface="楷体" panose="02010609060101010101" pitchFamily="49" charset="-122"/>
              </a:endParaRPr>
            </a:p>
          </p:txBody>
        </p:sp>
        <p:sp>
          <p:nvSpPr>
            <p:cNvPr id="11" name="矩形 3"/>
            <p:cNvSpPr>
              <a:spLocks noChangeArrowheads="1"/>
            </p:cNvSpPr>
            <p:nvPr/>
          </p:nvSpPr>
          <p:spPr bwMode="auto">
            <a:xfrm>
              <a:off x="-1524000" y="4278251"/>
              <a:ext cx="1219200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0000"/>
                  </a:solidFill>
                  <a:latin typeface="方正大黑简体" panose="02000000000000000000" pitchFamily="65" charset="-122"/>
                  <a:ea typeface="方正大黑简体" panose="02000000000000000000" pitchFamily="65" charset="-122"/>
                </a:rPr>
                <a:t>项目经理：周福建（教授） 胡晓东（研究员）</a:t>
              </a:r>
              <a:endParaRPr lang="en-US" altLang="zh-CN" sz="2400" b="1" dirty="0">
                <a:solidFill>
                  <a:srgbClr val="000000"/>
                </a:solidFill>
                <a:latin typeface="方正大黑简体" panose="02000000000000000000" pitchFamily="65" charset="-122"/>
                <a:ea typeface="方正大黑简体" panose="02000000000000000000" pitchFamily="65" charset="-122"/>
              </a:endParaRPr>
            </a:p>
            <a:p>
              <a:pPr algn="ctr" eaLnBrk="1" hangingPunct="1">
                <a:spcBef>
                  <a:spcPct val="50000"/>
                </a:spcBef>
              </a:pPr>
              <a:r>
                <a:rPr lang="zh-CN" altLang="en-US" sz="2400" b="1" dirty="0">
                  <a:solidFill>
                    <a:srgbClr val="000000"/>
                  </a:solidFill>
                  <a:latin typeface="方正大黑简体" panose="02000000000000000000" pitchFamily="65" charset="-122"/>
                  <a:ea typeface="方正大黑简体" panose="02000000000000000000" pitchFamily="65" charset="-122"/>
                </a:rPr>
                <a:t>汇 报 人：胡晓东（研究员）</a:t>
              </a:r>
              <a:endParaRPr lang="zh-CN" altLang="en-US" sz="2400" b="1" dirty="0">
                <a:solidFill>
                  <a:srgbClr val="000000"/>
                </a:solidFill>
                <a:latin typeface="方正大黑简体" panose="02000000000000000000" pitchFamily="65" charset="-122"/>
                <a:ea typeface="方正大黑简体" panose="02000000000000000000" pitchFamily="65" charset="-122"/>
              </a:endParaRPr>
            </a:p>
          </p:txBody>
        </p:sp>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一、项目概况</a:t>
            </a:r>
            <a:endParaRPr lang="zh-CN" altLang="en-US" sz="3200" dirty="0">
              <a:solidFill>
                <a:srgbClr val="FF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二、完成的主要工作量</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三、取得的主要成果</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四、成果的应用及效果、效益</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五、认识与结论</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六、问题及建议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七、项目的组织与HSE管理执行情况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nvGraphicFramePr>
        <p:xfrm>
          <a:off x="779929" y="1937487"/>
          <a:ext cx="10919012" cy="4032000"/>
        </p:xfrm>
        <a:graphic>
          <a:graphicData uri="http://schemas.openxmlformats.org/drawingml/2006/table">
            <a:tbl>
              <a:tblPr bandRow="1">
                <a:tableStyleId>{21E4AEA4-8DFA-4A89-87EB-49C32662AFE0}</a:tableStyleId>
              </a:tblPr>
              <a:tblGrid>
                <a:gridCol w="2547769"/>
                <a:gridCol w="8371243"/>
              </a:tblGrid>
              <a:tr h="576000">
                <a:tc>
                  <a:txBody>
                    <a:bodyPr/>
                    <a:lstStyle/>
                    <a:p>
                      <a:pPr marL="0" algn="ctr" fontAlgn="ctr">
                        <a:lnSpc>
                          <a:spcPct val="100000"/>
                        </a:lnSpc>
                      </a:pP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项目名称</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基于页岩气井压裂施工资料的压裂评估方法与应用</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下达文号</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pPr>
                      <a:r>
                        <a:rPr 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2024</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a:t>
                      </a:r>
                      <a:endParaRPr 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项目编号</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pPr>
                      <a:r>
                        <a:rPr 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2024-9304</a:t>
                      </a:r>
                      <a:endParaRPr 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项目隶属关系</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pPr>
                      <a:r>
                        <a:rPr lang="zh-CN" altLang="en-US" sz="1200" dirty="0">
                          <a:latin typeface="微软雅黑" panose="020B0503020204020204" pitchFamily="34" charset="-122"/>
                          <a:ea typeface="微软雅黑" panose="020B0503020204020204" pitchFamily="34" charset="-122"/>
                        </a:rPr>
                        <a:t>西南油气田页研院</a:t>
                      </a:r>
                      <a:r>
                        <a:rPr lang="en-US" altLang="zh-CN" sz="1200" dirty="0">
                          <a:latin typeface="微软雅黑" panose="020B0503020204020204" pitchFamily="34" charset="-122"/>
                          <a:ea typeface="微软雅黑" panose="020B0503020204020204" pitchFamily="34" charset="-122"/>
                        </a:rPr>
                        <a:t>2024</a:t>
                      </a:r>
                      <a:r>
                        <a:rPr lang="zh-CN" altLang="en-US" sz="1200" dirty="0">
                          <a:latin typeface="微软雅黑" panose="020B0503020204020204" pitchFamily="34" charset="-122"/>
                          <a:ea typeface="微软雅黑" panose="020B0503020204020204" pitchFamily="34" charset="-122"/>
                        </a:rPr>
                        <a:t>年对外合作项目</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承担单位</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pPr>
                      <a:r>
                        <a:rPr lang="zh-CN" altLang="en-US" sz="1200" b="0" u="none" strike="noStrike" dirty="0">
                          <a:effectLst/>
                          <a:latin typeface="微软雅黑" panose="020B0503020204020204" pitchFamily="34" charset="-122"/>
                          <a:ea typeface="微软雅黑" panose="020B0503020204020204" pitchFamily="34" charset="-122"/>
                          <a:cs typeface="Times New Roman" panose="02020603050405020304" pitchFamily="18" charset="0"/>
                        </a:rPr>
                        <a:t>中国石油大学（北京）</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涉及学科</a:t>
                      </a:r>
                      <a:r>
                        <a:rPr lang="en-US" altLang="zh-CN"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专业</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石油与天然气工程</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项目起止时间</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fontAlgn="ctr">
                        <a:lnSpc>
                          <a:spcPct val="100000"/>
                        </a:lnSpc>
                      </a:pP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2024</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—2025</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12</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月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6" name="Rectangle 11"/>
          <p:cNvSpPr>
            <a:spLocks noChangeArrowheads="1"/>
          </p:cNvSpPr>
          <p:nvPr/>
        </p:nvSpPr>
        <p:spPr bwMode="auto">
          <a:xfrm>
            <a:off x="1" y="-42299"/>
            <a:ext cx="12191999" cy="830981"/>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一、项目</a:t>
            </a: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来源</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34963" y="915408"/>
            <a:ext cx="11641883" cy="829945"/>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本项目来源于院级科研项目</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基于页岩气井压裂施工资料的压裂评估方法与应用</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，由西南油气田分公司页岩气研究院委托中国石油大学（北京）承担，研究时间 </a:t>
            </a:r>
            <a:r>
              <a:rPr lang="en-US" altLang="zh-CN" sz="1600" dirty="0">
                <a:solidFill>
                  <a:prstClr val="black"/>
                </a:solidFill>
                <a:latin typeface="微软雅黑" panose="020B0503020204020204" pitchFamily="34" charset="-122"/>
                <a:ea typeface="微软雅黑" panose="020B0503020204020204" pitchFamily="34" charset="-122"/>
              </a:rPr>
              <a:t>2024</a:t>
            </a:r>
            <a:r>
              <a:rPr lang="zh-CN" altLang="en-US" sz="1600" dirty="0">
                <a:solidFill>
                  <a:prstClr val="black"/>
                </a:solidFill>
                <a:latin typeface="微软雅黑" panose="020B0503020204020204" pitchFamily="34" charset="-122"/>
                <a:ea typeface="微软雅黑" panose="020B0503020204020204" pitchFamily="34" charset="-122"/>
              </a:rPr>
              <a:t>年</a:t>
            </a:r>
            <a:r>
              <a:rPr lang="en-US" altLang="zh-CN" sz="1600" dirty="0">
                <a:solidFill>
                  <a:prstClr val="black"/>
                </a:solidFill>
                <a:latin typeface="微软雅黑" panose="020B0503020204020204" pitchFamily="34" charset="-122"/>
                <a:ea typeface="微软雅黑" panose="020B0503020204020204" pitchFamily="34" charset="-122"/>
              </a:rPr>
              <a:t>6</a:t>
            </a:r>
            <a:r>
              <a:rPr lang="zh-CN" altLang="en-US" sz="1600" dirty="0">
                <a:solidFill>
                  <a:prstClr val="black"/>
                </a:solidFill>
                <a:latin typeface="微软雅黑" panose="020B0503020204020204" pitchFamily="34" charset="-122"/>
                <a:ea typeface="微软雅黑" panose="020B0503020204020204" pitchFamily="34" charset="-122"/>
              </a:rPr>
              <a:t>月</a:t>
            </a:r>
            <a:r>
              <a:rPr lang="en-US" altLang="zh-CN" sz="1600" dirty="0">
                <a:solidFill>
                  <a:prstClr val="black"/>
                </a:solidFill>
                <a:latin typeface="微软雅黑" panose="020B0503020204020204" pitchFamily="34" charset="-122"/>
                <a:ea typeface="微软雅黑" panose="020B0503020204020204" pitchFamily="34" charset="-122"/>
              </a:rPr>
              <a:t>~ 2025</a:t>
            </a:r>
            <a:r>
              <a:rPr lang="zh-CN" altLang="en-US" sz="1600" dirty="0">
                <a:solidFill>
                  <a:prstClr val="black"/>
                </a:solidFill>
                <a:latin typeface="微软雅黑" panose="020B0503020204020204" pitchFamily="34" charset="-122"/>
                <a:ea typeface="微软雅黑" panose="020B0503020204020204" pitchFamily="34" charset="-122"/>
              </a:rPr>
              <a:t>年</a:t>
            </a:r>
            <a:r>
              <a:rPr lang="en-US" altLang="zh-CN" sz="1600" dirty="0">
                <a:solidFill>
                  <a:prstClr val="black"/>
                </a:solidFill>
                <a:latin typeface="微软雅黑" panose="020B0503020204020204" pitchFamily="34" charset="-122"/>
                <a:ea typeface="微软雅黑" panose="020B0503020204020204" pitchFamily="34" charset="-122"/>
              </a:rPr>
              <a:t>12</a:t>
            </a:r>
            <a:r>
              <a:rPr lang="zh-CN" altLang="en-US" sz="1600" dirty="0">
                <a:solidFill>
                  <a:prstClr val="black"/>
                </a:solidFill>
                <a:latin typeface="微软雅黑" panose="020B0503020204020204" pitchFamily="34" charset="-122"/>
                <a:ea typeface="微软雅黑" panose="020B0503020204020204" pitchFamily="34" charset="-122"/>
              </a:rPr>
              <a:t>月，主要研究工区位于川南页岩区块</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34964" y="917015"/>
            <a:ext cx="11485562" cy="230695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研究内容：</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针对川南地区页岩气高效开发面临的压裂评估诊断技术难点，开展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基于小波分析的水力压裂施工压力响应特征分析、基于压降曲线分析的停泵期裂缝尺寸反演、基于地质工程一体化的多源异构大数据库智能构建、基于大数据库分析的压裂效果综合评估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研究</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研究目标：</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针对川南地区页岩气井压裂现场施工资料开展诊断评估研究，</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明确水力压裂过程中的施工压力响应特征规律和压后裂缝尺寸反演规律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，揭示不同压裂参数与压裂改造效果的关联特征，</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形成一套基于页岩气井压裂施工资料的综合评估方法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，从而为现场压裂作业优化设计提供评价依据，提高压裂效果，支撑川南区块页岩气井水力压裂安全施工 </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TextBox 7"/>
          <p:cNvSpPr txBox="1"/>
          <p:nvPr/>
        </p:nvSpPr>
        <p:spPr bwMode="auto">
          <a:xfrm>
            <a:off x="2722880" y="3353435"/>
            <a:ext cx="7028180" cy="2647315"/>
          </a:xfrm>
          <a:prstGeom prst="rect">
            <a:avLst/>
          </a:prstGeom>
          <a:noFill/>
          <a:ln>
            <a:noFill/>
          </a:ln>
        </p:spPr>
        <p:txBody>
          <a:bodyPr wrap="square">
            <a:no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rPr>
              <a:t>研究内容一：基于小波分析的水力压裂施工压力响应特征分析</a:t>
            </a:r>
            <a:endParaRPr lang="en-US" altLang="zh-CN" kern="0" dirty="0">
              <a:solidFill>
                <a:schemeClr val="tx1"/>
              </a:solidFill>
              <a:latin typeface="微软雅黑" panose="020B0503020204020204" pitchFamily="34" charset="-122"/>
              <a:ea typeface="微软雅黑" panose="020B0503020204020204" pitchFamily="34" charset="-122"/>
            </a:endParaRPr>
          </a:p>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rPr>
              <a:t>研究内容二：基于压降曲线分析的停泵期裂缝尺寸反演</a:t>
            </a:r>
            <a:endParaRPr lang="en-US" altLang="zh-CN" kern="0" dirty="0">
              <a:solidFill>
                <a:schemeClr val="tx1"/>
              </a:solidFill>
              <a:latin typeface="微软雅黑" panose="020B0503020204020204" pitchFamily="34" charset="-122"/>
              <a:ea typeface="微软雅黑" panose="020B0503020204020204" pitchFamily="34" charset="-122"/>
            </a:endParaRPr>
          </a:p>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rPr>
              <a:t>研究内容三：基于地质工程一体化的多源异构大数据库智能构建</a:t>
            </a:r>
            <a:endParaRPr lang="en-US" altLang="zh-CN" kern="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200000"/>
              </a:lnSpc>
              <a:spcBef>
                <a:spcPts val="600"/>
              </a:spcBef>
              <a:spcAft>
                <a:spcPts val="0"/>
              </a:spcAft>
              <a:buClrTx/>
              <a:buSzTx/>
              <a:buFontTx/>
              <a:buNone/>
              <a:defRPr/>
            </a:pPr>
            <a:r>
              <a:rPr lang="zh-CN" altLang="en-US" kern="0" dirty="0">
                <a:solidFill>
                  <a:schemeClr val="tx1"/>
                </a:solidFill>
                <a:latin typeface="微软雅黑" panose="020B0503020204020204" pitchFamily="34" charset="-122"/>
                <a:ea typeface="微软雅黑" panose="020B0503020204020204" pitchFamily="34" charset="-122"/>
              </a:rPr>
              <a:t>研究内容</a:t>
            </a:r>
            <a:r>
              <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四：基于大数据库分析的压裂效果综合评估</a:t>
            </a:r>
            <a:endPar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二、主要研究内容与目标</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bwMode="auto">
          <a:xfrm>
            <a:off x="431799" y="927848"/>
            <a:ext cx="11658600" cy="411203"/>
          </a:xfrm>
          <a:prstGeom prst="rect">
            <a:avLst/>
          </a:prstGeom>
          <a:noFill/>
          <a:ln>
            <a:noFill/>
          </a:ln>
        </p:spPr>
        <p:txBody>
          <a:bodyPr wrap="square" lIns="0" tIns="0" rIns="0" bIns="0">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0" marR="0" lvl="0" indent="0" algn="just" defTabSz="914400" rtl="0" eaLnBrk="1" fontAlgn="auto" latinLnBrk="0" hangingPunct="1">
              <a:lnSpc>
                <a:spcPct val="150000"/>
              </a:lnSpc>
              <a:spcBef>
                <a:spcPts val="0"/>
              </a:spcBef>
              <a:spcAft>
                <a:spcPts val="0"/>
              </a:spcAft>
              <a:buClr>
                <a:srgbClr val="FF0000"/>
              </a:buClr>
              <a:buSzTx/>
              <a:buFontTx/>
              <a:buNone/>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2000000000000000000" pitchFamily="65" charset="-122"/>
                <a:cs typeface="Times New Roman" panose="02020603050405020304" pitchFamily="18" charset="0"/>
              </a:rPr>
              <a:t> </a:t>
            </a: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2000000000000000000" pitchFamily="65" charset="-122"/>
              <a:cs typeface="Times New Roman" panose="02020603050405020304" pitchFamily="18" charset="0"/>
            </a:endParaRPr>
          </a:p>
        </p:txBody>
      </p:sp>
      <p:sp>
        <p:nvSpPr>
          <p:cNvPr id="9"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三、主要技术经济考核指标</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11" name="矩形 6"/>
          <p:cNvSpPr>
            <a:spLocks noChangeArrowheads="1"/>
          </p:cNvSpPr>
          <p:nvPr/>
        </p:nvSpPr>
        <p:spPr bwMode="auto">
          <a:xfrm>
            <a:off x="668283" y="2057093"/>
            <a:ext cx="11353387" cy="1218410"/>
          </a:xfrm>
          <a:prstGeom prst="rect">
            <a:avLst/>
          </a:prstGeom>
          <a:noFill/>
          <a:ln>
            <a:noFill/>
          </a:ln>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0" fontAlgn="base" hangingPunct="0">
              <a:lnSpc>
                <a:spcPct val="250000"/>
              </a:lnSpc>
              <a:spcBef>
                <a:spcPct val="0"/>
              </a:spcBef>
              <a:spcAft>
                <a:spcPct val="0"/>
              </a:spcAft>
              <a:buFontTx/>
              <a:buNone/>
              <a:defRPr/>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、建立基于压降曲线分析的停泵期裂缝参数反演方法、建立基于地质工程一体化的多源异构大数据库、建立一套基于大数据分析的压裂效果综合评估方法</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3" name="组合 12"/>
          <p:cNvGrpSpPr/>
          <p:nvPr/>
        </p:nvGrpSpPr>
        <p:grpSpPr>
          <a:xfrm>
            <a:off x="505644" y="1390766"/>
            <a:ext cx="1933164" cy="644388"/>
            <a:chOff x="503405" y="1575997"/>
            <a:chExt cx="1190552" cy="677869"/>
          </a:xfrm>
        </p:grpSpPr>
        <p:sp>
          <p:nvSpPr>
            <p:cNvPr id="14" name="矩形: 圆角 720"/>
            <p:cNvSpPr/>
            <p:nvPr/>
          </p:nvSpPr>
          <p:spPr>
            <a:xfrm>
              <a:off x="503405" y="1575997"/>
              <a:ext cx="620289" cy="632600"/>
            </a:xfrm>
            <a:prstGeom prst="roundRect">
              <a:avLst>
                <a:gd name="adj" fmla="val 9129"/>
              </a:avLst>
            </a:prstGeom>
            <a:solidFill>
              <a:srgbClr val="C00000"/>
            </a:solidFill>
            <a:ln>
              <a:noFill/>
            </a:ln>
            <a:effectLst>
              <a:outerShdw blurRad="50800" dist="38100" dir="5400000" algn="t" rotWithShape="0">
                <a:prstClr val="black">
                  <a:alpha val="40000"/>
                </a:prstClr>
              </a:outerShdw>
            </a:effectLst>
          </p:spPr>
          <p:txBody>
            <a:bodyPr wrap="square" lIns="36000" tIns="36000" rIns="36000" bIns="36000">
              <a:noAutofit/>
            </a:bodyPr>
            <a:lstStyle/>
            <a:p>
              <a:pPr algn="ctr">
                <a:buClr>
                  <a:srgbClr val="FF0000"/>
                </a:buClr>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矩形: 圆角 720"/>
            <p:cNvSpPr/>
            <p:nvPr/>
          </p:nvSpPr>
          <p:spPr>
            <a:xfrm>
              <a:off x="577957" y="1650774"/>
              <a:ext cx="1116000" cy="603092"/>
            </a:xfrm>
            <a:prstGeom prst="roundRect">
              <a:avLst>
                <a:gd name="adj" fmla="val 9129"/>
              </a:avLst>
            </a:prstGeom>
            <a:solidFill>
              <a:schemeClr val="bg1">
                <a:lumMod val="95000"/>
              </a:schemeClr>
            </a:solidFill>
            <a:ln>
              <a:solidFill>
                <a:srgbClr val="C00000"/>
              </a:solidFill>
            </a:ln>
            <a:effectLst>
              <a:outerShdw blurRad="50800" dist="38100" dir="5400000" algn="t" rotWithShape="0">
                <a:prstClr val="black">
                  <a:alpha val="40000"/>
                </a:prstClr>
              </a:outerShdw>
            </a:effectLst>
          </p:spPr>
          <p:txBody>
            <a:bodyPr wrap="square" lIns="36000" tIns="36000" rIns="36000" bIns="36000" anchor="ctr">
              <a:noAutofit/>
            </a:bodyPr>
            <a:lstStyle/>
            <a:p>
              <a:pPr lvl="0" algn="ctr">
                <a:buClr>
                  <a:srgbClr val="FF0000"/>
                </a:buClr>
                <a:defRPr/>
              </a:pP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技术经济指标</a:t>
              </a:r>
              <a:endPar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9" name="组合 18"/>
          <p:cNvGrpSpPr/>
          <p:nvPr/>
        </p:nvGrpSpPr>
        <p:grpSpPr>
          <a:xfrm>
            <a:off x="505643" y="3799964"/>
            <a:ext cx="1937625" cy="645875"/>
            <a:chOff x="503405" y="1575997"/>
            <a:chExt cx="1190552" cy="677869"/>
          </a:xfrm>
        </p:grpSpPr>
        <p:sp>
          <p:nvSpPr>
            <p:cNvPr id="20" name="矩形: 圆角 720"/>
            <p:cNvSpPr/>
            <p:nvPr/>
          </p:nvSpPr>
          <p:spPr>
            <a:xfrm>
              <a:off x="503405" y="1575997"/>
              <a:ext cx="620289" cy="632600"/>
            </a:xfrm>
            <a:prstGeom prst="roundRect">
              <a:avLst>
                <a:gd name="adj" fmla="val 9129"/>
              </a:avLst>
            </a:prstGeom>
            <a:solidFill>
              <a:srgbClr val="C00000"/>
            </a:solidFill>
            <a:ln>
              <a:noFill/>
            </a:ln>
            <a:effectLst>
              <a:outerShdw blurRad="50800" dist="38100" dir="5400000" algn="t" rotWithShape="0">
                <a:prstClr val="black">
                  <a:alpha val="40000"/>
                </a:prstClr>
              </a:outerShdw>
            </a:effectLst>
          </p:spPr>
          <p:txBody>
            <a:bodyPr wrap="square" lIns="36000" tIns="36000" rIns="36000" bIns="36000">
              <a:noAutofit/>
            </a:bodyPr>
            <a:lstStyle/>
            <a:p>
              <a:pPr algn="ctr">
                <a:buClr>
                  <a:srgbClr val="FF0000"/>
                </a:buClr>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矩形: 圆角 720"/>
            <p:cNvSpPr/>
            <p:nvPr/>
          </p:nvSpPr>
          <p:spPr>
            <a:xfrm>
              <a:off x="577957" y="1650774"/>
              <a:ext cx="1116000" cy="603092"/>
            </a:xfrm>
            <a:prstGeom prst="roundRect">
              <a:avLst>
                <a:gd name="adj" fmla="val 9129"/>
              </a:avLst>
            </a:prstGeom>
            <a:solidFill>
              <a:schemeClr val="bg1">
                <a:lumMod val="95000"/>
              </a:schemeClr>
            </a:solidFill>
            <a:ln>
              <a:solidFill>
                <a:srgbClr val="C00000"/>
              </a:solidFill>
            </a:ln>
            <a:effectLst>
              <a:outerShdw blurRad="50800" dist="38100" dir="5400000" algn="t" rotWithShape="0">
                <a:prstClr val="black">
                  <a:alpha val="40000"/>
                </a:prstClr>
              </a:outerShdw>
            </a:effectLst>
          </p:spPr>
          <p:txBody>
            <a:bodyPr wrap="square" lIns="36000" tIns="36000" rIns="36000" bIns="36000" anchor="ctr">
              <a:noAutofit/>
            </a:bodyPr>
            <a:lstStyle/>
            <a:p>
              <a:pPr lvl="0" algn="ctr">
                <a:buClr>
                  <a:srgbClr val="FF0000"/>
                </a:buClr>
                <a:defRPr/>
              </a:pP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知识产权指标</a:t>
              </a:r>
              <a:endPar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2" name="矩形 21"/>
          <p:cNvSpPr/>
          <p:nvPr/>
        </p:nvSpPr>
        <p:spPr>
          <a:xfrm>
            <a:off x="668284" y="4516439"/>
            <a:ext cx="7382022" cy="602857"/>
          </a:xfrm>
          <a:prstGeom prst="rect">
            <a:avLst/>
          </a:prstGeom>
        </p:spPr>
        <p:txBody>
          <a:bodyPr wrap="square">
            <a:spAutoFit/>
          </a:bodyPr>
          <a:lstStyle/>
          <a:p>
            <a:pPr marL="88900" lvl="1" indent="-88900" algn="just" eaLnBrk="0" fontAlgn="base" hangingPunct="0">
              <a:lnSpc>
                <a:spcPct val="250000"/>
              </a:lnSpc>
              <a:spcBef>
                <a:spcPct val="0"/>
              </a:spcBef>
              <a:spcAft>
                <a:spcPct val="0"/>
              </a:spcAft>
              <a:defRPr/>
            </a:pP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、提交国家发明专利申请文本</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项和期刊论文文本</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项</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44365" y="915408"/>
            <a:ext cx="11594483" cy="4154170"/>
          </a:xfrm>
          <a:prstGeom prst="rect">
            <a:avLst/>
          </a:prstGeom>
          <a:noFill/>
        </p:spPr>
        <p:txBody>
          <a:bodyPr wrap="square">
            <a:spAutoFit/>
          </a:bodyPr>
          <a:lstStyle/>
          <a:p>
            <a:pPr marL="342900" indent="-342900" algn="just" fontAlgn="auto">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按照项目研究内容，取得了</a:t>
            </a:r>
            <a:r>
              <a:rPr lang="zh-CN" altLang="en-US" sz="1600" dirty="0">
                <a:solidFill>
                  <a:prstClr val="black"/>
                </a:solidFill>
                <a:latin typeface="微软雅黑" panose="020B0503020204020204" pitchFamily="34" charset="-122"/>
                <a:ea typeface="微软雅黑" panose="020B0503020204020204" pitchFamily="34" charset="-122"/>
              </a:rPr>
              <a:t>三项主要成果：</a:t>
            </a:r>
            <a:endParaRPr lang="zh-CN" altLang="en-US" sz="1600" dirty="0">
              <a:solidFill>
                <a:prstClr val="black"/>
              </a:solidFill>
              <a:latin typeface="微软雅黑" panose="020B0503020204020204" pitchFamily="34" charset="-122"/>
              <a:ea typeface="微软雅黑" panose="020B0503020204020204" pitchFamily="34" charset="-122"/>
            </a:endParaRPr>
          </a:p>
          <a:p>
            <a:pPr marL="800100" lvl="1" indent="-342900" algn="just" fontAlgn="auto">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成果一、基于小波分析施工期压力曲线，揭示裂缝扩展事件响应特征，构建了改造体积微观评估体系</a:t>
            </a:r>
            <a:endParaRPr lang="zh-CN" altLang="en-US" sz="1600" dirty="0">
              <a:solidFill>
                <a:prstClr val="black"/>
              </a:solidFill>
              <a:latin typeface="微软雅黑" panose="020B0503020204020204" pitchFamily="34" charset="-122"/>
              <a:ea typeface="微软雅黑" panose="020B0503020204020204" pitchFamily="34" charset="-122"/>
            </a:endParaRPr>
          </a:p>
          <a:p>
            <a:pPr marL="800100" lvl="1" indent="-342900" algn="just" fontAlgn="auto">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成果二、基于</a:t>
            </a:r>
            <a:r>
              <a:rPr lang="en-US" altLang="zh-CN" sz="1600" dirty="0">
                <a:solidFill>
                  <a:prstClr val="black"/>
                </a:solidFill>
                <a:latin typeface="微软雅黑" panose="020B0503020204020204" pitchFamily="34" charset="-122"/>
                <a:ea typeface="微软雅黑" panose="020B0503020204020204" pitchFamily="34" charset="-122"/>
              </a:rPr>
              <a:t>G</a:t>
            </a:r>
            <a:r>
              <a:rPr lang="zh-CN" altLang="en-US" sz="1600" dirty="0">
                <a:solidFill>
                  <a:prstClr val="black"/>
                </a:solidFill>
                <a:latin typeface="微软雅黑" panose="020B0503020204020204" pitchFamily="34" charset="-122"/>
                <a:ea typeface="微软雅黑" panose="020B0503020204020204" pitchFamily="34" charset="-122"/>
              </a:rPr>
              <a:t>函数分析停泵期压降曲线，揭示应力干扰下裂缝尺寸规律，构建了改造体积宏观评估体系</a:t>
            </a:r>
            <a:endParaRPr lang="zh-CN" altLang="en-US" sz="1600" dirty="0">
              <a:solidFill>
                <a:prstClr val="black"/>
              </a:solidFill>
              <a:latin typeface="微软雅黑" panose="020B0503020204020204" pitchFamily="34" charset="-122"/>
              <a:ea typeface="微软雅黑" panose="020B0503020204020204" pitchFamily="34" charset="-122"/>
            </a:endParaRPr>
          </a:p>
          <a:p>
            <a:pPr marL="800100" lvl="1" indent="-342900" algn="just" fontAlgn="auto">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900" lvl="0" indent="-342900" algn="just" fontAlgn="auto">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取得的主要认识：</a:t>
            </a:r>
            <a:endParaRPr lang="zh-CN" altLang="en-US" sz="1600" dirty="0">
              <a:solidFill>
                <a:prstClr val="black"/>
              </a:solidFill>
              <a:latin typeface="微软雅黑" panose="020B0503020204020204" pitchFamily="34" charset="-122"/>
              <a:ea typeface="微软雅黑" panose="020B0503020204020204" pitchFamily="34" charset="-122"/>
            </a:endParaRPr>
          </a:p>
          <a:p>
            <a:pPr marL="800100" lvl="1" indent="-342900" algn="just" fontAlgn="auto">
              <a:lnSpc>
                <a:spcPct val="150000"/>
              </a:lnSpc>
              <a:buClr>
                <a:srgbClr val="FF0000"/>
              </a:buClr>
              <a:buFont typeface="Wingdings" panose="05000000000000000000" pitchFamily="2" charset="2"/>
              <a:buChar char="l"/>
            </a:pP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、小波分析方法能够识别压裂过程中的主裂缝扩展、缝网扩展事件及裂缝扩展能量，从而对改造体积进行定量化评价</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auto">
              <a:lnSpc>
                <a:spcPct val="150000"/>
              </a:lnSpc>
              <a:buClr>
                <a:srgbClr val="FF0000"/>
              </a:buClr>
              <a:buFont typeface="Wingdings" panose="05000000000000000000" pitchFamily="2" charset="2"/>
              <a:buChar char="l"/>
            </a:pP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函数分析方法通过压降曲线的特征变化识别裂缝闭合规律，可对主裂缝的扩展质量进行量化判断</a:t>
            </a:r>
            <a:endPar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auto">
              <a:lnSpc>
                <a:spcPct val="150000"/>
              </a:lnSpc>
              <a:buClr>
                <a:srgbClr val="FF0000"/>
              </a:buClr>
              <a:buFont typeface="Wingdings" panose="05000000000000000000" pitchFamily="2" charset="2"/>
              <a:buChar char="l"/>
            </a:pP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、两种方法从不同维度刻画压裂效果，形成了互为补充、相互验证的评价模型框架，从而使压裂效果评价更加精确</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知识产权：</a:t>
            </a:r>
            <a:endParaRPr lang="zh-CN" altLang="en-US" sz="1600" dirty="0">
              <a:solidFill>
                <a:prstClr val="black"/>
              </a:solidFill>
              <a:latin typeface="微软雅黑" panose="020B0503020204020204" pitchFamily="34" charset="-122"/>
              <a:ea typeface="微软雅黑" panose="020B0503020204020204" pitchFamily="34" charset="-122"/>
            </a:endParaRPr>
          </a:p>
          <a:p>
            <a:pPr marL="800100" lvl="1" indent="-342900" algn="just" fontAlgn="auto">
              <a:lnSpc>
                <a:spcPct val="150000"/>
              </a:lnSpc>
              <a:buClr>
                <a:srgbClr val="FF0000"/>
              </a:buClr>
              <a:buFont typeface="Wingdings" panose="05000000000000000000" pitchFamily="2" charset="2"/>
              <a:buChar char="l"/>
            </a:pPr>
            <a:r>
              <a:rPr lang="en-US" altLang="zh-CN" sz="1600" dirty="0">
                <a:solidFill>
                  <a:prstClr val="black"/>
                </a:solidFill>
                <a:latin typeface="微软雅黑" panose="020B0503020204020204" pitchFamily="34" charset="-122"/>
                <a:ea typeface="微软雅黑" panose="020B0503020204020204" pitchFamily="34" charset="-122"/>
              </a:rPr>
              <a:t>1</a:t>
            </a:r>
            <a:r>
              <a:rPr lang="zh-CN" altLang="en-US" sz="1600" dirty="0">
                <a:solidFill>
                  <a:prstClr val="black"/>
                </a:solidFill>
                <a:latin typeface="微软雅黑" panose="020B0503020204020204" pitchFamily="34" charset="-122"/>
                <a:ea typeface="微软雅黑" panose="020B0503020204020204" pitchFamily="34" charset="-122"/>
              </a:rPr>
              <a:t>、形成了与</a:t>
            </a:r>
            <a:r>
              <a:rPr lang="zh-CN" altLang="en-US" sz="1600" dirty="0">
                <a:solidFill>
                  <a:prstClr val="black"/>
                </a:solidFill>
                <a:latin typeface="微软雅黑" panose="020B0503020204020204" pitchFamily="34" charset="-122"/>
                <a:ea typeface="微软雅黑" panose="020B0503020204020204" pitchFamily="34" charset="-122"/>
                <a:sym typeface="+mn-ea"/>
              </a:rPr>
              <a:t>研究强相关的发明专利文本</a:t>
            </a:r>
            <a:r>
              <a:rPr lang="en-US" altLang="zh-CN" sz="1600" dirty="0">
                <a:solidFill>
                  <a:srgbClr val="FF0000"/>
                </a:solidFill>
                <a:latin typeface="微软雅黑" panose="020B0503020204020204" pitchFamily="34" charset="-122"/>
                <a:ea typeface="微软雅黑" panose="020B0503020204020204" pitchFamily="34" charset="-122"/>
                <a:sym typeface="+mn-ea"/>
              </a:rPr>
              <a:t>1</a:t>
            </a:r>
            <a:r>
              <a:rPr lang="zh-CN" altLang="en-US" sz="1600" dirty="0">
                <a:solidFill>
                  <a:prstClr val="black"/>
                </a:solidFill>
                <a:latin typeface="微软雅黑" panose="020B0503020204020204" pitchFamily="34" charset="-122"/>
                <a:ea typeface="微软雅黑" panose="020B0503020204020204" pitchFamily="34" charset="-122"/>
                <a:sym typeface="+mn-ea"/>
              </a:rPr>
              <a:t>项</a:t>
            </a:r>
            <a:endParaRPr lang="zh-CN" altLang="en-US" sz="1600" dirty="0">
              <a:solidFill>
                <a:prstClr val="black"/>
              </a:solidFill>
              <a:latin typeface="微软雅黑" panose="020B0503020204020204" pitchFamily="34" charset="-122"/>
              <a:ea typeface="微软雅黑" panose="020B0503020204020204" pitchFamily="34" charset="-122"/>
              <a:sym typeface="+mn-ea"/>
            </a:endParaRPr>
          </a:p>
          <a:p>
            <a:pPr marL="800100" lvl="1" indent="-342900" algn="just" fontAlgn="auto">
              <a:lnSpc>
                <a:spcPct val="150000"/>
              </a:lnSpc>
              <a:buClr>
                <a:srgbClr val="FF0000"/>
              </a:buClr>
              <a:buFont typeface="Wingdings" panose="05000000000000000000" pitchFamily="2" charset="2"/>
              <a:buChar char="l"/>
            </a:pPr>
            <a:r>
              <a:rPr lang="en-US" altLang="zh-CN" sz="1600" dirty="0">
                <a:solidFill>
                  <a:prstClr val="black"/>
                </a:solidFill>
                <a:latin typeface="微软雅黑" panose="020B0503020204020204" pitchFamily="34" charset="-122"/>
                <a:ea typeface="微软雅黑" panose="020B0503020204020204" pitchFamily="34" charset="-122"/>
                <a:sym typeface="+mn-ea"/>
              </a:rPr>
              <a:t>2</a:t>
            </a:r>
            <a:r>
              <a:rPr lang="zh-CN" altLang="en-US" sz="1600" dirty="0">
                <a:solidFill>
                  <a:prstClr val="black"/>
                </a:solidFill>
                <a:latin typeface="微软雅黑" panose="020B0503020204020204" pitchFamily="34" charset="-122"/>
                <a:ea typeface="微软雅黑" panose="020B0503020204020204" pitchFamily="34" charset="-122"/>
                <a:sym typeface="+mn-ea"/>
              </a:rPr>
              <a:t>、形成了与</a:t>
            </a:r>
            <a:r>
              <a:rPr lang="zh-CN" altLang="en-US" sz="1600" dirty="0">
                <a:solidFill>
                  <a:prstClr val="black"/>
                </a:solidFill>
                <a:latin typeface="微软雅黑" panose="020B0503020204020204" pitchFamily="34" charset="-122"/>
                <a:ea typeface="微软雅黑" panose="020B0503020204020204" pitchFamily="34" charset="-122"/>
                <a:sym typeface="+mn-ea"/>
              </a:rPr>
              <a:t>研究强相关的</a:t>
            </a:r>
            <a:r>
              <a:rPr lang="zh-CN" altLang="en-US" sz="1600" dirty="0">
                <a:solidFill>
                  <a:prstClr val="black"/>
                </a:solidFill>
                <a:latin typeface="微软雅黑" panose="020B0503020204020204" pitchFamily="34" charset="-122"/>
                <a:ea typeface="微软雅黑" panose="020B0503020204020204" pitchFamily="34" charset="-122"/>
                <a:sym typeface="+mn-ea"/>
              </a:rPr>
              <a:t>论文文本</a:t>
            </a:r>
            <a:r>
              <a:rPr lang="en-US" altLang="zh-CN" sz="1600" dirty="0">
                <a:solidFill>
                  <a:srgbClr val="FF0000"/>
                </a:solidFill>
                <a:latin typeface="微软雅黑" panose="020B0503020204020204" pitchFamily="34" charset="-122"/>
                <a:ea typeface="微软雅黑" panose="020B0503020204020204" pitchFamily="34" charset="-122"/>
                <a:sym typeface="+mn-ea"/>
              </a:rPr>
              <a:t>1</a:t>
            </a:r>
            <a:r>
              <a:rPr lang="zh-CN" altLang="en-US" sz="1600" dirty="0">
                <a:solidFill>
                  <a:prstClr val="black"/>
                </a:solidFill>
                <a:latin typeface="微软雅黑" panose="020B0503020204020204" pitchFamily="34" charset="-122"/>
                <a:ea typeface="微软雅黑" panose="020B0503020204020204" pitchFamily="34" charset="-122"/>
                <a:sym typeface="+mn-ea"/>
              </a:rPr>
              <a:t>篇</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11"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四、取得的主要成果及认识概述</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34963" y="915946"/>
            <a:ext cx="11485562" cy="372025"/>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项目研究技术路线从</a:t>
            </a:r>
            <a:r>
              <a:rPr lang="zh-CN" altLang="en-US" sz="1600" dirty="0">
                <a:solidFill>
                  <a:srgbClr val="FF0000"/>
                </a:solidFill>
                <a:latin typeface="微软雅黑" panose="020B0503020204020204" pitchFamily="34" charset="-122"/>
                <a:ea typeface="微软雅黑" panose="020B0503020204020204" pitchFamily="34" charset="-122"/>
              </a:rPr>
              <a:t>压力响应特征分析、裂缝尺寸反演、大数据库构建、压裂效果综合评估</a:t>
            </a:r>
            <a:r>
              <a:rPr lang="zh-CN" altLang="en-US" sz="1600" dirty="0">
                <a:solidFill>
                  <a:prstClr val="black"/>
                </a:solidFill>
                <a:latin typeface="微软雅黑" panose="020B0503020204020204" pitchFamily="34" charset="-122"/>
                <a:ea typeface="微软雅黑" panose="020B0503020204020204" pitchFamily="34" charset="-122"/>
              </a:rPr>
              <a:t>四方面进行</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10" name="文本框 1"/>
          <p:cNvSpPr txBox="1">
            <a:spLocks noChangeArrowheads="1"/>
          </p:cNvSpPr>
          <p:nvPr/>
        </p:nvSpPr>
        <p:spPr bwMode="auto">
          <a:xfrm>
            <a:off x="448945" y="1578610"/>
            <a:ext cx="2520000" cy="40703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ln>
                  <a:noFill/>
                </a:ln>
                <a:solidFill>
                  <a:schemeClr val="tx1"/>
                </a:solidFill>
                <a:latin typeface="Times New Roman" panose="02020603050405020304" pitchFamily="18" charset="0"/>
                <a:ea typeface="黑体" panose="02010609060101010101" charset="-122"/>
                <a:cs typeface="Times New Roman" panose="02020603050405020304" pitchFamily="18" charset="0"/>
              </a:rPr>
              <a:t>压力响应特征分析</a:t>
            </a:r>
            <a:endParaRPr lang="zh-CN" altLang="en-US" sz="2000" b="1" dirty="0">
              <a:ln>
                <a:noFill/>
              </a:ln>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11" name="文本框 1"/>
          <p:cNvSpPr txBox="1">
            <a:spLocks noChangeArrowheads="1"/>
          </p:cNvSpPr>
          <p:nvPr/>
        </p:nvSpPr>
        <p:spPr bwMode="auto">
          <a:xfrm>
            <a:off x="3378520" y="1578610"/>
            <a:ext cx="2519680" cy="40703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ln>
                  <a:noFill/>
                </a:ln>
                <a:solidFill>
                  <a:schemeClr val="tx1"/>
                </a:solidFill>
                <a:latin typeface="Times New Roman" panose="02020603050405020304" pitchFamily="18" charset="0"/>
                <a:ea typeface="黑体" panose="02010609060101010101" charset="-122"/>
                <a:cs typeface="Times New Roman" panose="02020603050405020304" pitchFamily="18" charset="0"/>
              </a:rPr>
              <a:t>裂缝尺寸反演</a:t>
            </a:r>
            <a:endParaRPr lang="zh-CN" altLang="en-US" sz="2000" b="1" dirty="0">
              <a:ln>
                <a:noFill/>
              </a:ln>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12" name="文本框 1"/>
          <p:cNvSpPr txBox="1">
            <a:spLocks noChangeArrowheads="1"/>
          </p:cNvSpPr>
          <p:nvPr/>
        </p:nvSpPr>
        <p:spPr bwMode="auto">
          <a:xfrm>
            <a:off x="6307775" y="1578610"/>
            <a:ext cx="2519680" cy="40703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ln>
                  <a:noFill/>
                </a:ln>
                <a:solidFill>
                  <a:schemeClr val="tx1"/>
                </a:solidFill>
                <a:latin typeface="Times New Roman" panose="02020603050405020304" pitchFamily="18" charset="0"/>
                <a:ea typeface="黑体" panose="02010609060101010101" charset="-122"/>
                <a:cs typeface="Times New Roman" panose="02020603050405020304" pitchFamily="18" charset="0"/>
              </a:rPr>
              <a:t>大数据库构建</a:t>
            </a:r>
            <a:endParaRPr lang="zh-CN" altLang="en-US" sz="2000" b="1" dirty="0">
              <a:ln>
                <a:noFill/>
              </a:ln>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13" name="文本框 1"/>
          <p:cNvSpPr txBox="1">
            <a:spLocks noChangeArrowheads="1"/>
          </p:cNvSpPr>
          <p:nvPr/>
        </p:nvSpPr>
        <p:spPr bwMode="auto">
          <a:xfrm>
            <a:off x="9237030" y="1578610"/>
            <a:ext cx="2519680" cy="40703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ln>
                  <a:noFill/>
                </a:ln>
                <a:solidFill>
                  <a:schemeClr val="tx1"/>
                </a:solidFill>
                <a:latin typeface="Times New Roman" panose="02020603050405020304" pitchFamily="18" charset="0"/>
                <a:ea typeface="黑体" panose="02010609060101010101" charset="-122"/>
                <a:cs typeface="Times New Roman" panose="02020603050405020304" pitchFamily="18" charset="0"/>
              </a:rPr>
              <a:t>压裂效果综合评估</a:t>
            </a:r>
            <a:endParaRPr lang="zh-CN" altLang="en-US" sz="2000" b="1" dirty="0">
              <a:ln>
                <a:noFill/>
              </a:ln>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15" name="矩形 14"/>
          <p:cNvSpPr/>
          <p:nvPr/>
        </p:nvSpPr>
        <p:spPr>
          <a:xfrm>
            <a:off x="719455" y="2105025"/>
            <a:ext cx="1980000" cy="888365"/>
          </a:xfrm>
          <a:prstGeom prst="rect">
            <a:avLst/>
          </a:prstGeom>
          <a:noFill/>
          <a:ln>
            <a:solidFill>
              <a:schemeClr val="tx1"/>
            </a:solidFill>
          </a:ln>
          <a:extLst>
            <a:ext uri="{909E8E84-426E-40DD-AFC4-6F175D3DCCD1}">
              <a14:hiddenFill xmlns:a14="http://schemas.microsoft.com/office/drawing/2010/main">
                <a:solidFill>
                  <a:srgbClr val="F4B183"/>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建立水力压裂压力响应诊断模型</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15"/>
          <p:cNvSpPr/>
          <p:nvPr/>
        </p:nvSpPr>
        <p:spPr>
          <a:xfrm>
            <a:off x="719455" y="3279140"/>
            <a:ext cx="1980000" cy="888365"/>
          </a:xfrm>
          <a:prstGeom prst="rect">
            <a:avLst/>
          </a:prstGeom>
          <a:noFill/>
          <a:ln>
            <a:solidFill>
              <a:schemeClr val="tx1"/>
            </a:solidFill>
          </a:ln>
          <a:extLst>
            <a:ext uri="{909E8E84-426E-40DD-AFC4-6F175D3DCCD1}">
              <a14:hiddenFill xmlns:a14="http://schemas.microsoft.com/office/drawing/2010/main">
                <a:solidFill>
                  <a:srgbClr val="A8D08D"/>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优选压力信号的最优小波基和最优分解层次</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矩形 16"/>
          <p:cNvSpPr/>
          <p:nvPr/>
        </p:nvSpPr>
        <p:spPr>
          <a:xfrm>
            <a:off x="719455" y="4453255"/>
            <a:ext cx="1980000" cy="888365"/>
          </a:xfrm>
          <a:prstGeom prst="rect">
            <a:avLst/>
          </a:prstGeom>
          <a:noFill/>
          <a:ln>
            <a:solidFill>
              <a:schemeClr val="tx1"/>
            </a:solidFill>
          </a:ln>
          <a:extLst>
            <a:ext uri="{909E8E84-426E-40DD-AFC4-6F175D3DCCD1}">
              <a14:hiddenFill xmlns:a14="http://schemas.microsoft.com/office/drawing/2010/main">
                <a:solidFill>
                  <a:srgbClr val="FFD965"/>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明确水力压裂过程中的施工压力响应特征规律</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矩形 17"/>
          <p:cNvSpPr/>
          <p:nvPr/>
        </p:nvSpPr>
        <p:spPr>
          <a:xfrm>
            <a:off x="2638425" y="5862955"/>
            <a:ext cx="6814820" cy="426085"/>
          </a:xfrm>
          <a:prstGeom prst="rect">
            <a:avLst/>
          </a:prstGeom>
          <a:noFill/>
          <a:ln>
            <a:solidFill>
              <a:schemeClr val="tx1"/>
            </a:solidFill>
          </a:ln>
          <a:extLst>
            <a:ext uri="{909E8E84-426E-40DD-AFC4-6F175D3DCCD1}">
              <a14:hiddenFill xmlns:a14="http://schemas.microsoft.com/office/drawing/2010/main">
                <a:solidFill>
                  <a:srgbClr val="7EFFFF"/>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形成一套基于页岩气井压裂施工资料的综合评估方法</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矩形 18"/>
          <p:cNvSpPr/>
          <p:nvPr/>
        </p:nvSpPr>
        <p:spPr>
          <a:xfrm>
            <a:off x="3648780" y="2100580"/>
            <a:ext cx="1979930" cy="888365"/>
          </a:xfrm>
          <a:prstGeom prst="rect">
            <a:avLst/>
          </a:prstGeom>
          <a:noFill/>
          <a:ln>
            <a:solidFill>
              <a:schemeClr val="tx1"/>
            </a:solidFill>
          </a:ln>
          <a:extLst>
            <a:ext uri="{909E8E84-426E-40DD-AFC4-6F175D3DCCD1}">
              <a14:hiddenFill xmlns:a14="http://schemas.microsoft.com/office/drawing/2010/main">
                <a:solidFill>
                  <a:srgbClr val="F4B183"/>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建立停泵期</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G</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函数压降分析模型</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矩形 19"/>
          <p:cNvSpPr/>
          <p:nvPr/>
        </p:nvSpPr>
        <p:spPr>
          <a:xfrm>
            <a:off x="6578035" y="2107565"/>
            <a:ext cx="1979930" cy="888365"/>
          </a:xfrm>
          <a:prstGeom prst="rect">
            <a:avLst/>
          </a:prstGeom>
          <a:noFill/>
          <a:ln>
            <a:solidFill>
              <a:schemeClr val="tx1"/>
            </a:solidFill>
          </a:ln>
          <a:extLst>
            <a:ext uri="{909E8E84-426E-40DD-AFC4-6F175D3DCCD1}">
              <a14:hiddenFill xmlns:a14="http://schemas.microsoft.com/office/drawing/2010/main">
                <a:solidFill>
                  <a:srgbClr val="F4B183"/>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采集施工过程中多种来源、不同结构的数据</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矩形 20"/>
          <p:cNvSpPr/>
          <p:nvPr/>
        </p:nvSpPr>
        <p:spPr>
          <a:xfrm>
            <a:off x="9507290" y="2109470"/>
            <a:ext cx="1979930" cy="888365"/>
          </a:xfrm>
          <a:prstGeom prst="rect">
            <a:avLst/>
          </a:prstGeom>
          <a:noFill/>
          <a:ln>
            <a:solidFill>
              <a:schemeClr val="tx1"/>
            </a:solidFill>
          </a:ln>
          <a:extLst>
            <a:ext uri="{909E8E84-426E-40DD-AFC4-6F175D3DCCD1}">
              <a14:hiddenFill xmlns:a14="http://schemas.microsoft.com/office/drawing/2010/main">
                <a:solidFill>
                  <a:srgbClr val="F4B183"/>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压裂施工资料综合分类汇总分析</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矩形 21"/>
          <p:cNvSpPr/>
          <p:nvPr/>
        </p:nvSpPr>
        <p:spPr>
          <a:xfrm>
            <a:off x="3641795" y="3279140"/>
            <a:ext cx="1979930" cy="888365"/>
          </a:xfrm>
          <a:prstGeom prst="rect">
            <a:avLst/>
          </a:prstGeom>
          <a:noFill/>
          <a:ln>
            <a:solidFill>
              <a:schemeClr val="tx1"/>
            </a:solidFill>
          </a:ln>
          <a:extLst>
            <a:ext uri="{909E8E84-426E-40DD-AFC4-6F175D3DCCD1}">
              <a14:hiddenFill xmlns:a14="http://schemas.microsoft.com/office/drawing/2010/main">
                <a:solidFill>
                  <a:srgbClr val="A8D08D"/>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反演压后多裂缝几何尺寸参数</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矩形 22"/>
          <p:cNvSpPr/>
          <p:nvPr/>
        </p:nvSpPr>
        <p:spPr>
          <a:xfrm>
            <a:off x="6564065" y="3279140"/>
            <a:ext cx="1979930" cy="888365"/>
          </a:xfrm>
          <a:prstGeom prst="rect">
            <a:avLst/>
          </a:prstGeom>
          <a:noFill/>
          <a:ln>
            <a:solidFill>
              <a:schemeClr val="tx1"/>
            </a:solidFill>
          </a:ln>
          <a:extLst>
            <a:ext uri="{909E8E84-426E-40DD-AFC4-6F175D3DCCD1}">
              <a14:hiddenFill xmlns:a14="http://schemas.microsoft.com/office/drawing/2010/main">
                <a:solidFill>
                  <a:srgbClr val="A8D08D"/>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构建含地质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工程参数的多源异构大数据库</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矩形 23"/>
          <p:cNvSpPr/>
          <p:nvPr/>
        </p:nvSpPr>
        <p:spPr>
          <a:xfrm>
            <a:off x="9486335" y="3265805"/>
            <a:ext cx="1979930" cy="888365"/>
          </a:xfrm>
          <a:prstGeom prst="rect">
            <a:avLst/>
          </a:prstGeom>
          <a:noFill/>
          <a:ln>
            <a:solidFill>
              <a:schemeClr val="tx1"/>
            </a:solidFill>
          </a:ln>
          <a:extLst>
            <a:ext uri="{909E8E84-426E-40DD-AFC4-6F175D3DCCD1}">
              <a14:hiddenFill xmlns:a14="http://schemas.microsoft.com/office/drawing/2010/main">
                <a:solidFill>
                  <a:srgbClr val="A8D08D"/>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开展基于大数据库分析的压裂效果综合评估研究</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矩形 24"/>
          <p:cNvSpPr/>
          <p:nvPr/>
        </p:nvSpPr>
        <p:spPr>
          <a:xfrm>
            <a:off x="3641795" y="4453255"/>
            <a:ext cx="1979930" cy="888365"/>
          </a:xfrm>
          <a:prstGeom prst="rect">
            <a:avLst/>
          </a:prstGeom>
          <a:noFill/>
          <a:ln>
            <a:solidFill>
              <a:schemeClr val="tx1"/>
            </a:solidFill>
          </a:ln>
          <a:extLst>
            <a:ext uri="{909E8E84-426E-40DD-AFC4-6F175D3DCCD1}">
              <a14:hiddenFill xmlns:a14="http://schemas.microsoft.com/office/drawing/2010/main">
                <a:solidFill>
                  <a:srgbClr val="FFD965"/>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计算停泵时刻多裂缝长度及缝宽分布</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矩形 25"/>
          <p:cNvSpPr/>
          <p:nvPr/>
        </p:nvSpPr>
        <p:spPr>
          <a:xfrm>
            <a:off x="9486335" y="4455795"/>
            <a:ext cx="1979930" cy="888365"/>
          </a:xfrm>
          <a:prstGeom prst="rect">
            <a:avLst/>
          </a:prstGeom>
          <a:noFill/>
          <a:ln>
            <a:solidFill>
              <a:schemeClr val="tx1"/>
            </a:solidFill>
          </a:ln>
          <a:extLst>
            <a:ext uri="{909E8E84-426E-40DD-AFC4-6F175D3DCCD1}">
              <a14:hiddenFill xmlns:a14="http://schemas.microsoft.com/office/drawing/2010/main">
                <a:solidFill>
                  <a:srgbClr val="FFD965"/>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为现场压裂作业优化设计提供评价依据</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矩形 26"/>
          <p:cNvSpPr/>
          <p:nvPr/>
        </p:nvSpPr>
        <p:spPr>
          <a:xfrm>
            <a:off x="6564065" y="4450715"/>
            <a:ext cx="1979930" cy="888365"/>
          </a:xfrm>
          <a:prstGeom prst="rect">
            <a:avLst/>
          </a:prstGeom>
          <a:noFill/>
          <a:ln>
            <a:solidFill>
              <a:schemeClr val="tx1"/>
            </a:solidFill>
          </a:ln>
          <a:extLst>
            <a:ext uri="{909E8E84-426E-40DD-AFC4-6F175D3DCCD1}">
              <a14:hiddenFill xmlns:a14="http://schemas.microsoft.com/office/drawing/2010/main">
                <a:solidFill>
                  <a:srgbClr val="FFD965"/>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揭示压裂参数与压裂改造效果的关联特征</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五、</a:t>
            </a:r>
            <a:r>
              <a:rPr lang="zh-CN" altLang="en-US" sz="2400" b="1" kern="0" dirty="0">
                <a:solidFill>
                  <a:srgbClr val="FF0000"/>
                </a:solidFill>
                <a:latin typeface="微软雅黑" panose="020B0503020204020204" pitchFamily="34" charset="-122"/>
                <a:ea typeface="微软雅黑" panose="020B0503020204020204" pitchFamily="34" charset="-122"/>
                <a:sym typeface="+mn-ea"/>
              </a:rPr>
              <a:t>项目研究技术路线</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cxnSp>
        <p:nvCxnSpPr>
          <p:cNvPr id="2" name="直接箭头连接符 1"/>
          <p:cNvCxnSpPr>
            <a:stCxn id="15" idx="2"/>
            <a:endCxn id="16" idx="0"/>
          </p:cNvCxnSpPr>
          <p:nvPr/>
        </p:nvCxnSpPr>
        <p:spPr>
          <a:xfrm>
            <a:off x="1709420" y="2993390"/>
            <a:ext cx="0" cy="28575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 name="直接箭头连接符 2"/>
          <p:cNvCxnSpPr>
            <a:stCxn id="16" idx="2"/>
            <a:endCxn id="17" idx="0"/>
          </p:cNvCxnSpPr>
          <p:nvPr/>
        </p:nvCxnSpPr>
        <p:spPr>
          <a:xfrm>
            <a:off x="1709420" y="4167505"/>
            <a:ext cx="0" cy="28575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4" name="直接箭头连接符 3"/>
          <p:cNvCxnSpPr>
            <a:stCxn id="19" idx="2"/>
            <a:endCxn id="22" idx="0"/>
          </p:cNvCxnSpPr>
          <p:nvPr/>
        </p:nvCxnSpPr>
        <p:spPr>
          <a:xfrm flipH="1">
            <a:off x="4631690" y="2988945"/>
            <a:ext cx="6985" cy="29019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5" name="直接箭头连接符 4"/>
          <p:cNvCxnSpPr>
            <a:stCxn id="22" idx="2"/>
            <a:endCxn id="25" idx="0"/>
          </p:cNvCxnSpPr>
          <p:nvPr/>
        </p:nvCxnSpPr>
        <p:spPr>
          <a:xfrm>
            <a:off x="4631690" y="4167505"/>
            <a:ext cx="0" cy="28575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7" name="直接箭头连接符 6"/>
          <p:cNvCxnSpPr>
            <a:stCxn id="20" idx="2"/>
            <a:endCxn id="23" idx="0"/>
          </p:cNvCxnSpPr>
          <p:nvPr/>
        </p:nvCxnSpPr>
        <p:spPr>
          <a:xfrm flipH="1">
            <a:off x="7553960" y="2995930"/>
            <a:ext cx="13970" cy="28321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9" name="直接箭头连接符 8"/>
          <p:cNvCxnSpPr>
            <a:stCxn id="23" idx="2"/>
            <a:endCxn id="27" idx="0"/>
          </p:cNvCxnSpPr>
          <p:nvPr/>
        </p:nvCxnSpPr>
        <p:spPr>
          <a:xfrm>
            <a:off x="7553960" y="4167505"/>
            <a:ext cx="0" cy="28321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44" name="直接箭头连接符 43"/>
          <p:cNvCxnSpPr>
            <a:stCxn id="21" idx="2"/>
            <a:endCxn id="24" idx="0"/>
          </p:cNvCxnSpPr>
          <p:nvPr/>
        </p:nvCxnSpPr>
        <p:spPr>
          <a:xfrm flipH="1">
            <a:off x="10476230" y="2997835"/>
            <a:ext cx="20955" cy="26797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45" name="直接箭头连接符 44"/>
          <p:cNvCxnSpPr>
            <a:stCxn id="24" idx="2"/>
            <a:endCxn id="26" idx="0"/>
          </p:cNvCxnSpPr>
          <p:nvPr/>
        </p:nvCxnSpPr>
        <p:spPr>
          <a:xfrm>
            <a:off x="10476230" y="4154170"/>
            <a:ext cx="0" cy="30162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46" name="肘形连接符 45"/>
          <p:cNvCxnSpPr>
            <a:stCxn id="17" idx="2"/>
            <a:endCxn id="18" idx="0"/>
          </p:cNvCxnSpPr>
          <p:nvPr/>
        </p:nvCxnSpPr>
        <p:spPr>
          <a:xfrm rot="5400000" flipV="1">
            <a:off x="3616960" y="3434080"/>
            <a:ext cx="521335" cy="4336415"/>
          </a:xfrm>
          <a:prstGeom prst="bentConnector3">
            <a:avLst>
              <a:gd name="adj1" fmla="val 5006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47" name="肘形连接符 46"/>
          <p:cNvCxnSpPr>
            <a:stCxn id="26" idx="2"/>
            <a:endCxn id="18" idx="0"/>
          </p:cNvCxnSpPr>
          <p:nvPr/>
        </p:nvCxnSpPr>
        <p:spPr>
          <a:xfrm rot="5400000">
            <a:off x="8001635" y="3388360"/>
            <a:ext cx="518795" cy="4430395"/>
          </a:xfrm>
          <a:prstGeom prst="bentConnector3">
            <a:avLst>
              <a:gd name="adj1" fmla="val 50061"/>
            </a:avLst>
          </a:prstGeom>
          <a:ln>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48" name="右箭头 47"/>
          <p:cNvSpPr/>
          <p:nvPr/>
        </p:nvSpPr>
        <p:spPr>
          <a:xfrm>
            <a:off x="2960370" y="4702810"/>
            <a:ext cx="421005" cy="313690"/>
          </a:xfrm>
          <a:prstGeom prst="rightArrow">
            <a:avLst/>
          </a:prstGeom>
          <a:solidFill>
            <a:schemeClr val="tx1"/>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9" name="右箭头 48"/>
          <p:cNvSpPr/>
          <p:nvPr/>
        </p:nvSpPr>
        <p:spPr>
          <a:xfrm>
            <a:off x="5882640" y="4702810"/>
            <a:ext cx="421005" cy="313690"/>
          </a:xfrm>
          <a:prstGeom prst="rightArrow">
            <a:avLst/>
          </a:prstGeom>
          <a:solidFill>
            <a:schemeClr val="tx1"/>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50" name="右箭头 49"/>
          <p:cNvSpPr/>
          <p:nvPr/>
        </p:nvSpPr>
        <p:spPr>
          <a:xfrm>
            <a:off x="8804275" y="4702810"/>
            <a:ext cx="421005" cy="313690"/>
          </a:xfrm>
          <a:prstGeom prst="rightArrow">
            <a:avLst/>
          </a:prstGeom>
          <a:solidFill>
            <a:schemeClr val="tx1"/>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44365" y="915408"/>
            <a:ext cx="11594483" cy="398780"/>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项目研究周期为</a:t>
            </a:r>
            <a:r>
              <a:rPr lang="en-US" altLang="zh-CN" sz="1600" dirty="0">
                <a:solidFill>
                  <a:prstClr val="black"/>
                </a:solidFill>
                <a:latin typeface="微软雅黑" panose="020B0503020204020204" pitchFamily="34" charset="-122"/>
                <a:ea typeface="微软雅黑" panose="020B0503020204020204" pitchFamily="34" charset="-122"/>
              </a:rPr>
              <a:t>18</a:t>
            </a:r>
            <a:r>
              <a:rPr lang="zh-CN" altLang="en-US" sz="1600" dirty="0">
                <a:solidFill>
                  <a:prstClr val="black"/>
                </a:solidFill>
                <a:latin typeface="微软雅黑" panose="020B0503020204020204" pitchFamily="34" charset="-122"/>
                <a:ea typeface="微软雅黑" panose="020B0503020204020204" pitchFamily="34" charset="-122"/>
              </a:rPr>
              <a:t>个月，按照项目研究内容，总共分为</a:t>
            </a:r>
            <a:r>
              <a:rPr lang="en-US" altLang="zh-CN" sz="1600" dirty="0">
                <a:solidFill>
                  <a:prstClr val="black"/>
                </a:solidFill>
                <a:latin typeface="微软雅黑" panose="020B0503020204020204" pitchFamily="34" charset="-122"/>
                <a:ea typeface="微软雅黑" panose="020B0503020204020204" pitchFamily="34" charset="-122"/>
              </a:rPr>
              <a:t>8</a:t>
            </a:r>
            <a:r>
              <a:rPr lang="zh-CN" altLang="en-US" sz="1600" dirty="0">
                <a:solidFill>
                  <a:prstClr val="black"/>
                </a:solidFill>
                <a:latin typeface="微软雅黑" panose="020B0503020204020204" pitchFamily="34" charset="-122"/>
                <a:ea typeface="微软雅黑" panose="020B0503020204020204" pitchFamily="34" charset="-122"/>
              </a:rPr>
              <a:t>个阶段有序开展</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nvGraphicFramePr>
        <p:xfrm>
          <a:off x="458470" y="1361440"/>
          <a:ext cx="11301095" cy="4707890"/>
        </p:xfrm>
        <a:graphic>
          <a:graphicData uri="http://schemas.openxmlformats.org/drawingml/2006/table">
            <a:tbl>
              <a:tblPr firstRow="1" bandRow="1">
                <a:effectLst/>
              </a:tblPr>
              <a:tblGrid>
                <a:gridCol w="850900"/>
                <a:gridCol w="1513840"/>
                <a:gridCol w="4163695"/>
                <a:gridCol w="3548380"/>
                <a:gridCol w="1224280"/>
              </a:tblGrid>
              <a:tr h="310515">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研究阶段</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起止时间</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研究内容</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阶段目标</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altLang="en-US" sz="1200" b="1" kern="1200" dirty="0">
                          <a:solidFill>
                            <a:schemeClr val="bg1"/>
                          </a:solidFill>
                          <a:latin typeface="微软雅黑" panose="020B0503020204020204" pitchFamily="34" charset="-122"/>
                          <a:ea typeface="微软雅黑" panose="020B0503020204020204" pitchFamily="34" charset="-122"/>
                          <a:cs typeface="+mn-cs"/>
                        </a:rPr>
                        <a:t>负责人</a:t>
                      </a:r>
                      <a:endParaRPr lang="zh-CN" altLang="en-US"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732790">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2024.06~2024.07</a:t>
                      </a:r>
                      <a:endPar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完成</a:t>
                      </a:r>
                      <a:r>
                        <a:rPr lang="zh-CN" altLang="en-US" sz="1200" kern="100" dirty="0">
                          <a:effectLst/>
                          <a:latin typeface="微软雅黑" panose="020B0503020204020204" pitchFamily="34" charset="-122"/>
                          <a:ea typeface="微软雅黑" panose="020B0503020204020204" pitchFamily="34" charset="-122"/>
                        </a:rPr>
                        <a:t>项目</a:t>
                      </a:r>
                      <a:r>
                        <a:rPr lang="zh-CN" sz="1200" kern="100" dirty="0">
                          <a:effectLst/>
                          <a:latin typeface="微软雅黑" panose="020B0503020204020204" pitchFamily="34" charset="-122"/>
                          <a:ea typeface="微软雅黑" panose="020B0503020204020204" pitchFamily="34" charset="-122"/>
                        </a:rPr>
                        <a:t>开题立项，文献调研</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完成项目开题</a:t>
                      </a:r>
                      <a:endParaRPr lang="zh-CN" sz="1200" kern="10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周福建</a:t>
                      </a:r>
                      <a:r>
                        <a:rPr lang="zh-CN" sz="1200" kern="100" dirty="0">
                          <a:effectLst/>
                          <a:latin typeface="微软雅黑" panose="020B0503020204020204" pitchFamily="34" charset="-122"/>
                          <a:ea typeface="微软雅黑" panose="020B0503020204020204" pitchFamily="34" charset="-122"/>
                        </a:rPr>
                        <a:t>、</a:t>
                      </a:r>
                      <a:r>
                        <a:rPr lang="zh-CN" altLang="en-US" sz="1200" kern="100" dirty="0">
                          <a:effectLst/>
                          <a:latin typeface="微软雅黑" panose="020B0503020204020204" pitchFamily="34" charset="-122"/>
                          <a:ea typeface="微软雅黑" panose="020B0503020204020204" pitchFamily="34" charset="-122"/>
                        </a:rPr>
                        <a:t>胡晓东</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34695">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noProof="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sz="1200" b="0" kern="1200" noProof="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2024.07~2024.09</a:t>
                      </a:r>
                      <a:endPar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收集整理压裂施工数据、汇总分析</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分析数据，获得数据统计认识</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周福建</a:t>
                      </a:r>
                      <a:r>
                        <a:rPr kumimoji="0" lang="zh-CN" altLang="zh-CN"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32155">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3</a:t>
                      </a:r>
                      <a:endParaRPr lang="en-US" altLang="zh-CN"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2024.09~2024.12</a:t>
                      </a:r>
                      <a:endPar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开展水力压裂压力曲线小波分解分析</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建立水力压裂小波分解模型，明确水力压裂施工压力响应特征规律</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周福建</a:t>
                      </a:r>
                      <a:r>
                        <a:rPr kumimoji="0" lang="zh-CN" altLang="zh-CN"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32790">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4</a:t>
                      </a:r>
                      <a:endParaRPr lang="en-US" altLang="zh-CN"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2024.12~2025.04</a:t>
                      </a:r>
                      <a:endPar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开展</a:t>
                      </a:r>
                      <a:r>
                        <a:rPr lang="zh-CN" altLang="en-US" sz="1200" kern="100" dirty="0">
                          <a:effectLst/>
                          <a:latin typeface="微软雅黑" panose="020B0503020204020204" pitchFamily="34" charset="-122"/>
                          <a:ea typeface="微软雅黑" panose="020B0503020204020204" pitchFamily="34" charset="-122"/>
                        </a:rPr>
                        <a:t>基于压降曲线分析的停泵期裂缝尺寸反演研究</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rPr>
                        <a:t>建立</a:t>
                      </a:r>
                      <a:r>
                        <a:rPr lang="en-US" altLang="zh-CN" sz="1200" kern="100" dirty="0">
                          <a:effectLst/>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rPr>
                        <a:t>函数压降模型，计算压后裂缝尺寸参数</a:t>
                      </a:r>
                      <a:endPar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周福建</a:t>
                      </a:r>
                      <a:r>
                        <a:rPr kumimoji="0" lang="zh-CN" altLang="zh-CN"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32155">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Aft>
                          <a:spcPts val="0"/>
                        </a:spcAft>
                      </a:pPr>
                      <a:r>
                        <a:rPr lang="en-US" altLang="zh-CN"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7</a:t>
                      </a:r>
                      <a:endParaRPr lang="en-US" altLang="zh-CN"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altLang="zh-CN" sz="1200" kern="100" dirty="0">
                          <a:effectLst/>
                          <a:latin typeface="微软雅黑" panose="020B0503020204020204" pitchFamily="34" charset="-122"/>
                          <a:ea typeface="微软雅黑" panose="020B0503020204020204" pitchFamily="34" charset="-122"/>
                          <a:cs typeface="Times New Roman" panose="02020603050405020304" pitchFamily="18" charset="0"/>
                        </a:rPr>
                        <a:t>2025.04</a:t>
                      </a: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kern="100" dirty="0">
                          <a:effectLst/>
                          <a:latin typeface="微软雅黑" panose="020B0503020204020204" pitchFamily="34" charset="-122"/>
                          <a:ea typeface="微软雅黑" panose="020B0503020204020204" pitchFamily="34" charset="-122"/>
                          <a:cs typeface="Times New Roman" panose="02020603050405020304" pitchFamily="18" charset="0"/>
                        </a:rPr>
                        <a:t>2025.10</a:t>
                      </a:r>
                      <a:endPar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开展基于地质工程一体化的多源异构大数据库智能构建研究</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构建数据库，明确页岩气井压裂施工主控因素</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周福建</a:t>
                      </a:r>
                      <a:r>
                        <a:rPr kumimoji="0" lang="zh-CN" altLang="zh-CN"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32790">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en-US" altLang="zh-CN" sz="1200" b="0" kern="1200" noProof="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8</a:t>
                      </a:r>
                      <a:endParaRPr lang="en-US" altLang="zh-CN" sz="1200" b="0" kern="1200" noProof="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2025.10~2025.12</a:t>
                      </a:r>
                      <a:endPar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编写项目结题报告，准备验收</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建立一套基于大数据分析的压裂效果综合评估方法</a:t>
                      </a:r>
                      <a:r>
                        <a:rPr lang="zh-CN" sz="1200" kern="100" dirty="0">
                          <a:effectLst/>
                          <a:latin typeface="微软雅黑" panose="020B0503020204020204" pitchFamily="34" charset="-122"/>
                          <a:ea typeface="微软雅黑" panose="020B0503020204020204" pitchFamily="34" charset="-122"/>
                        </a:rPr>
                        <a:t>、完成项目验收及归档</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周福建</a:t>
                      </a:r>
                      <a:r>
                        <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bl>
          </a:graphicData>
        </a:graphic>
      </p:graphicFrame>
      <p:sp>
        <p:nvSpPr>
          <p:cNvPr id="11"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六、项目进度计划</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latin typeface="方正大黑简体" panose="02000000000000000000" pitchFamily="65" charset="-122"/>
                <a:ea typeface="方正大黑简体" panose="02000000000000000000" pitchFamily="65" charset="-122"/>
              </a:rPr>
              <a:t>一、项目概况</a:t>
            </a:r>
            <a:endParaRPr lang="zh-CN" altLang="en-US" sz="3200" dirty="0">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二、完成的主要工作量</a:t>
            </a:r>
            <a:endParaRPr lang="zh-CN" altLang="en-US" sz="3200" dirty="0">
              <a:solidFill>
                <a:srgbClr val="FF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三、取得的主要成果</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四、成果的应用及效果、效益</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五、认识与结论</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六、问题及建议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七、项目的组织与HSE管理执行情况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34963" y="910684"/>
            <a:ext cx="11857037" cy="398780"/>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已严格按照项目合同要求，完成了全部研究内容</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44" name="表格 43"/>
          <p:cNvGraphicFramePr>
            <a:graphicFrameLocks noGrp="1"/>
          </p:cNvGraphicFramePr>
          <p:nvPr/>
        </p:nvGraphicFramePr>
        <p:xfrm>
          <a:off x="452120" y="1351915"/>
          <a:ext cx="11312525" cy="4708525"/>
        </p:xfrm>
        <a:graphic>
          <a:graphicData uri="http://schemas.openxmlformats.org/drawingml/2006/table">
            <a:tbl>
              <a:tblPr firstRow="1" bandRow="1">
                <a:effectLst/>
              </a:tblPr>
              <a:tblGrid>
                <a:gridCol w="861060"/>
                <a:gridCol w="1243330"/>
                <a:gridCol w="4168140"/>
                <a:gridCol w="3815080"/>
                <a:gridCol w="1224915"/>
              </a:tblGrid>
              <a:tr h="310515">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bg1"/>
                          </a:solidFill>
                          <a:latin typeface="微软雅黑" panose="020B0503020204020204" pitchFamily="34" charset="-122"/>
                          <a:ea typeface="微软雅黑" panose="020B0503020204020204" pitchFamily="34" charset="-122"/>
                          <a:cs typeface="+mn-cs"/>
                        </a:rPr>
                        <a:t>研究阶段</a:t>
                      </a:r>
                      <a:endParaRPr lang="zh-CN" sz="11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bg1"/>
                          </a:solidFill>
                          <a:latin typeface="微软雅黑" panose="020B0503020204020204" pitchFamily="34" charset="-122"/>
                          <a:ea typeface="微软雅黑" panose="020B0503020204020204" pitchFamily="34" charset="-122"/>
                          <a:cs typeface="+mn-cs"/>
                        </a:rPr>
                        <a:t>起止时间</a:t>
                      </a:r>
                      <a:endParaRPr lang="zh-CN" sz="11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bg1"/>
                          </a:solidFill>
                          <a:latin typeface="微软雅黑" panose="020B0503020204020204" pitchFamily="34" charset="-122"/>
                          <a:ea typeface="微软雅黑" panose="020B0503020204020204" pitchFamily="34" charset="-122"/>
                          <a:cs typeface="+mn-cs"/>
                        </a:rPr>
                        <a:t>研究内容</a:t>
                      </a:r>
                      <a:endParaRPr lang="zh-CN" sz="11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bg1"/>
                          </a:solidFill>
                          <a:latin typeface="微软雅黑" panose="020B0503020204020204" pitchFamily="34" charset="-122"/>
                          <a:ea typeface="微软雅黑" panose="020B0503020204020204" pitchFamily="34" charset="-122"/>
                          <a:cs typeface="+mn-cs"/>
                        </a:rPr>
                        <a:t>阶段目标</a:t>
                      </a:r>
                      <a:endParaRPr lang="zh-CN" sz="11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altLang="en-US" sz="1100" b="1" kern="1200" dirty="0">
                          <a:solidFill>
                            <a:schemeClr val="bg1"/>
                          </a:solidFill>
                          <a:latin typeface="微软雅黑" panose="020B0503020204020204" pitchFamily="34" charset="-122"/>
                          <a:ea typeface="微软雅黑" panose="020B0503020204020204" pitchFamily="34" charset="-122"/>
                          <a:cs typeface="+mn-cs"/>
                        </a:rPr>
                        <a:t>完成情况</a:t>
                      </a:r>
                      <a:endParaRPr lang="zh-CN" altLang="en-US" sz="11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733425">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1</a:t>
                      </a:r>
                      <a:endParaRPr lang="zh-CN"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2024.06~2024.07</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完成项目开题立项，文献调研</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a:solidFill>
                            <a:schemeClr val="tx1"/>
                          </a:solidFill>
                          <a:effectLst/>
                          <a:latin typeface="微软雅黑" panose="020B0503020204020204" pitchFamily="34" charset="-122"/>
                          <a:ea typeface="微软雅黑" panose="020B0503020204020204" pitchFamily="34" charset="-122"/>
                          <a:cs typeface="+mn-cs"/>
                        </a:rPr>
                        <a:t>完成项目开题</a:t>
                      </a:r>
                      <a:endParaRPr lang="zh-CN" altLang="en-US" sz="1200" kern="10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rgbClr val="FF0000"/>
                          </a:solidFill>
                          <a:effectLst/>
                          <a:latin typeface="微软雅黑" panose="020B0503020204020204" pitchFamily="34" charset="-122"/>
                          <a:ea typeface="微软雅黑" panose="020B0503020204020204" pitchFamily="34" charset="-122"/>
                          <a:cs typeface="+mn-cs"/>
                        </a:rPr>
                        <a:t>已完成</a:t>
                      </a:r>
                      <a:endParaRPr lang="zh-CN" altLang="en-US" sz="1200" kern="100" dirty="0">
                        <a:solidFill>
                          <a:srgbClr val="FF0000"/>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33425">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rPr>
                        <a:t>2</a:t>
                      </a:r>
                      <a:endParaRPr lang="zh-CN" altLang="en-US"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2024.07~2024.09</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收集整理压裂施工数据、汇总分析</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分析数据，获得数据统计认识</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a:solidFill>
                            <a:srgbClr val="FF0000"/>
                          </a:solidFill>
                          <a:effectLst/>
                          <a:latin typeface="微软雅黑" panose="020B0503020204020204" pitchFamily="34" charset="-122"/>
                          <a:ea typeface="微软雅黑" panose="020B0503020204020204" pitchFamily="34" charset="-122"/>
                          <a:cs typeface="+mn-cs"/>
                        </a:rPr>
                        <a:t>已完成</a:t>
                      </a:r>
                      <a:endParaRPr lang="zh-CN" altLang="en-US" sz="1200" kern="100" noProof="0" dirty="0">
                        <a:solidFill>
                          <a:srgbClr val="FF0000"/>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32790">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3</a:t>
                      </a:r>
                      <a:endParaRPr 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2024.09~2024.12</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开展水力压裂压力曲线小波分解分析</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建立水力压裂小波分解模型，明确水力压裂施工压力响应特征规律</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solidFill>
                            <a:srgbClr val="FF0000"/>
                          </a:solidFill>
                          <a:effectLst/>
                          <a:latin typeface="微软雅黑" panose="020B0503020204020204" pitchFamily="34" charset="-122"/>
                          <a:ea typeface="微软雅黑" panose="020B0503020204020204" pitchFamily="34" charset="-122"/>
                          <a:cs typeface="+mn-cs"/>
                        </a:rPr>
                        <a:t>已完成</a:t>
                      </a:r>
                      <a:endParaRPr lang="zh-CN" altLang="en-US" sz="1200" kern="100" noProof="0" dirty="0">
                        <a:solidFill>
                          <a:srgbClr val="FF0000"/>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32790">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4</a:t>
                      </a:r>
                      <a:endParaRPr 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2024.12~2025.04</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开展基于压降曲线分析的停泵期裂缝尺寸反演研究</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建立</a:t>
                      </a:r>
                      <a:r>
                        <a:rPr lang="en-US" altLang="zh-CN" sz="1200" kern="100" dirty="0">
                          <a:solidFill>
                            <a:schemeClr val="tx1"/>
                          </a:solidFill>
                          <a:effectLst/>
                          <a:latin typeface="微软雅黑" panose="020B0503020204020204" pitchFamily="34" charset="-122"/>
                          <a:ea typeface="微软雅黑" panose="020B0503020204020204" pitchFamily="34" charset="-122"/>
                          <a:cs typeface="+mn-cs"/>
                        </a:rPr>
                        <a:t>G</a:t>
                      </a: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函数压降模型，计算压后裂缝尺寸参数</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solidFill>
                            <a:srgbClr val="FF0000"/>
                          </a:solidFill>
                          <a:effectLst/>
                          <a:latin typeface="微软雅黑" panose="020B0503020204020204" pitchFamily="34" charset="-122"/>
                          <a:ea typeface="微软雅黑" panose="020B0503020204020204" pitchFamily="34" charset="-122"/>
                          <a:cs typeface="+mn-cs"/>
                        </a:rPr>
                        <a:t>已完成</a:t>
                      </a:r>
                      <a:endParaRPr lang="zh-CN" altLang="en-US" sz="1200" kern="100" noProof="0" dirty="0">
                        <a:solidFill>
                          <a:srgbClr val="FF0000"/>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32155">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7</a:t>
                      </a:r>
                      <a:endParaRPr lang="zh-CN" altLang="en-US"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altLang="zh-CN"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2025.04</a:t>
                      </a: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2025.10</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开展基于地质工程一体化的多源异构大数据库智能构建研究</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构建数据库，明确页岩气井压裂施工主控因素</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solidFill>
                            <a:srgbClr val="FF0000"/>
                          </a:solidFill>
                          <a:effectLst/>
                          <a:latin typeface="微软雅黑" panose="020B0503020204020204" pitchFamily="34" charset="-122"/>
                          <a:ea typeface="微软雅黑" panose="020B0503020204020204" pitchFamily="34" charset="-122"/>
                          <a:cs typeface="+mn-cs"/>
                        </a:rPr>
                        <a:t>已完成</a:t>
                      </a:r>
                      <a:endParaRPr lang="zh-CN" altLang="en-US" sz="1200" kern="100" noProof="0" dirty="0">
                        <a:solidFill>
                          <a:srgbClr val="FF0000"/>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33425">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en-US" altLang="zh-CN"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rPr>
                        <a:t>8</a:t>
                      </a:r>
                      <a:endParaRPr lang="zh-CN" altLang="en-US"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2025.10~2025.12</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编写项目结题报告，准备验收</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建立一套基于大数据分析的压裂效果综合评估方法、完成项目验收及归档</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solidFill>
                            <a:srgbClr val="FF0000"/>
                          </a:solidFill>
                          <a:effectLst/>
                          <a:latin typeface="微软雅黑" panose="020B0503020204020204" pitchFamily="34" charset="-122"/>
                          <a:ea typeface="微软雅黑" panose="020B0503020204020204" pitchFamily="34" charset="-122"/>
                          <a:sym typeface="+mn-ea"/>
                        </a:rPr>
                        <a:t>已完成</a:t>
                      </a:r>
                      <a:endParaRPr lang="zh-CN" altLang="en-US" sz="1200" kern="100" noProof="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bl>
          </a:graphicData>
        </a:graphic>
      </p:graphicFrame>
      <p:sp>
        <p:nvSpPr>
          <p:cNvPr id="6" name="Rectangle 11"/>
          <p:cNvSpPr>
            <a:spLocks noChangeArrowheads="1"/>
          </p:cNvSpPr>
          <p:nvPr/>
        </p:nvSpPr>
        <p:spPr bwMode="auto">
          <a:xfrm>
            <a:off x="1" y="-42299"/>
            <a:ext cx="12191999" cy="830981"/>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一、计划完成情况</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53216" y="917015"/>
            <a:ext cx="11467309"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按照项目研究内容要求，完成了基于页岩气井压裂施工资料的压裂评估方法与应用方向的</a:t>
            </a:r>
            <a:r>
              <a:rPr lang="zh-CN" altLang="en-US" sz="1600" dirty="0">
                <a:solidFill>
                  <a:srgbClr val="FF0000"/>
                </a:solidFill>
                <a:latin typeface="微软雅黑" panose="020B0503020204020204" pitchFamily="34" charset="-122"/>
                <a:ea typeface="微软雅黑" panose="020B0503020204020204" pitchFamily="34" charset="-122"/>
              </a:rPr>
              <a:t>文献调研</a:t>
            </a:r>
            <a:r>
              <a:rPr lang="zh-CN" altLang="en-US" sz="1600" dirty="0">
                <a:solidFill>
                  <a:prstClr val="black"/>
                </a:solidFill>
                <a:latin typeface="微软雅黑" panose="020B0503020204020204" pitchFamily="34" charset="-122"/>
                <a:ea typeface="微软雅黑" panose="020B0503020204020204" pitchFamily="34" charset="-122"/>
              </a:rPr>
              <a:t>，明确了压裂改造效果的</a:t>
            </a:r>
            <a:r>
              <a:rPr lang="zh-CN" altLang="en-US" sz="1600" dirty="0">
                <a:solidFill>
                  <a:srgbClr val="FF0000"/>
                </a:solidFill>
                <a:latin typeface="微软雅黑" panose="020B0503020204020204" pitchFamily="34" charset="-122"/>
                <a:ea typeface="微软雅黑" panose="020B0503020204020204" pitchFamily="34" charset="-122"/>
              </a:rPr>
              <a:t>影响因素</a:t>
            </a:r>
            <a:r>
              <a:rPr lang="zh-CN" altLang="en-US"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构建了施工压力</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小波分析模型</a:t>
            </a:r>
            <a:r>
              <a:rPr lang="zh-CN" altLang="en-US" sz="1600" dirty="0">
                <a:solidFill>
                  <a:prstClr val="black"/>
                </a:solidFill>
                <a:latin typeface="微软雅黑" panose="020B0503020204020204" pitchFamily="34" charset="-122"/>
                <a:ea typeface="微软雅黑" panose="020B0503020204020204" pitchFamily="34" charset="-122"/>
              </a:rPr>
              <a:t>，建立了停泵期裂缝尺寸反演</a:t>
            </a:r>
            <a:r>
              <a:rPr lang="zh-CN" altLang="en-US" sz="1600" dirty="0">
                <a:solidFill>
                  <a:srgbClr val="FF0000"/>
                </a:solidFill>
                <a:latin typeface="微软雅黑" panose="020B0503020204020204" pitchFamily="34" charset="-122"/>
                <a:ea typeface="微软雅黑" panose="020B0503020204020204" pitchFamily="34" charset="-122"/>
              </a:rPr>
              <a:t>半解析模型</a:t>
            </a:r>
            <a:r>
              <a:rPr lang="zh-CN" altLang="en-US" sz="1600" dirty="0">
                <a:solidFill>
                  <a:prstClr val="black"/>
                </a:solidFill>
                <a:latin typeface="微软雅黑" panose="020B0503020204020204" pitchFamily="34" charset="-122"/>
                <a:ea typeface="微软雅黑" panose="020B0503020204020204" pitchFamily="34" charset="-122"/>
              </a:rPr>
              <a:t>，搭建了</a:t>
            </a:r>
            <a:r>
              <a:rPr lang="zh-CN" altLang="en-US" sz="1600" dirty="0">
                <a:solidFill>
                  <a:srgbClr val="FF0000"/>
                </a:solidFill>
                <a:latin typeface="微软雅黑" panose="020B0503020204020204" pitchFamily="34" charset="-122"/>
                <a:ea typeface="微软雅黑" panose="020B0503020204020204" pitchFamily="34" charset="-122"/>
              </a:rPr>
              <a:t>数据库</a:t>
            </a:r>
            <a:r>
              <a:rPr lang="zh-CN" altLang="en-US" sz="1600" dirty="0">
                <a:solidFill>
                  <a:prstClr val="black"/>
                </a:solidFill>
                <a:latin typeface="微软雅黑" panose="020B0503020204020204" pitchFamily="34" charset="-122"/>
                <a:ea typeface="微软雅黑" panose="020B0503020204020204" pitchFamily="34" charset="-122"/>
              </a:rPr>
              <a:t>并开发了</a:t>
            </a:r>
            <a:r>
              <a:rPr lang="zh-CN" altLang="en-US" sz="1600" dirty="0">
                <a:solidFill>
                  <a:srgbClr val="FF0000"/>
                </a:solidFill>
                <a:latin typeface="微软雅黑" panose="020B0503020204020204" pitchFamily="34" charset="-122"/>
                <a:ea typeface="微软雅黑" panose="020B0503020204020204" pitchFamily="34" charset="-122"/>
              </a:rPr>
              <a:t>可视化应用软件</a:t>
            </a:r>
            <a:r>
              <a:rPr lang="zh-CN" altLang="en-US" sz="1600" dirty="0">
                <a:solidFill>
                  <a:prstClr val="black"/>
                </a:solidFill>
                <a:latin typeface="微软雅黑" panose="020B0503020204020204" pitchFamily="34" charset="-122"/>
                <a:ea typeface="微软雅黑" panose="020B0503020204020204" pitchFamily="34" charset="-122"/>
              </a:rPr>
              <a:t>，累计驻场办公</a:t>
            </a:r>
            <a:r>
              <a:rPr lang="en-US" altLang="zh-CN" sz="1600" dirty="0">
                <a:solidFill>
                  <a:srgbClr val="FF0000"/>
                </a:solidFill>
                <a:latin typeface="微软雅黑" panose="020B0503020204020204" pitchFamily="34" charset="-122"/>
                <a:ea typeface="微软雅黑" panose="020B0503020204020204" pitchFamily="34" charset="-122"/>
              </a:rPr>
              <a:t>100</a:t>
            </a:r>
            <a:r>
              <a:rPr lang="zh-CN" altLang="en-US" sz="1600" dirty="0">
                <a:solidFill>
                  <a:prstClr val="black"/>
                </a:solidFill>
                <a:latin typeface="微软雅黑" panose="020B0503020204020204" pitchFamily="34" charset="-122"/>
                <a:ea typeface="微软雅黑" panose="020B0503020204020204" pitchFamily="34" charset="-122"/>
              </a:rPr>
              <a:t>余人</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天，计算分析</a:t>
            </a:r>
            <a:r>
              <a:rPr lang="en-US" altLang="zh-CN" sz="1600" dirty="0">
                <a:solidFill>
                  <a:srgbClr val="FF0000"/>
                </a:solidFill>
                <a:latin typeface="微软雅黑" panose="020B0503020204020204" pitchFamily="34" charset="-122"/>
                <a:ea typeface="微软雅黑" panose="020B0503020204020204" pitchFamily="34" charset="-122"/>
              </a:rPr>
              <a:t>28</a:t>
            </a:r>
            <a:r>
              <a:rPr lang="zh-CN" altLang="en-US" sz="1600" dirty="0">
                <a:solidFill>
                  <a:prstClr val="black"/>
                </a:solidFill>
                <a:latin typeface="微软雅黑" panose="020B0503020204020204" pitchFamily="34" charset="-122"/>
                <a:ea typeface="微软雅黑" panose="020B0503020204020204" pitchFamily="34" charset="-122"/>
              </a:rPr>
              <a:t>井次，形成了与研究强相关的发明专利文本</a:t>
            </a:r>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prstClr val="black"/>
                </a:solidFill>
                <a:latin typeface="微软雅黑" panose="020B0503020204020204" pitchFamily="34" charset="-122"/>
                <a:ea typeface="微软雅黑" panose="020B0503020204020204" pitchFamily="34" charset="-122"/>
              </a:rPr>
              <a:t>项、论文文本</a:t>
            </a:r>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prstClr val="black"/>
                </a:solidFill>
                <a:latin typeface="微软雅黑" panose="020B0503020204020204" pitchFamily="34" charset="-122"/>
                <a:ea typeface="微软雅黑" panose="020B0503020204020204" pitchFamily="34" charset="-122"/>
              </a:rPr>
              <a:t>篇</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43" name="表格 42"/>
          <p:cNvGraphicFramePr>
            <a:graphicFrameLocks noGrp="1"/>
          </p:cNvGraphicFramePr>
          <p:nvPr>
            <p:custDataLst>
              <p:tags r:id="rId1"/>
            </p:custDataLst>
          </p:nvPr>
        </p:nvGraphicFramePr>
        <p:xfrm>
          <a:off x="447040" y="2115820"/>
          <a:ext cx="11355705" cy="4377055"/>
        </p:xfrm>
        <a:graphic>
          <a:graphicData uri="http://schemas.openxmlformats.org/drawingml/2006/table">
            <a:tbl>
              <a:tblPr/>
              <a:tblGrid>
                <a:gridCol w="859790"/>
                <a:gridCol w="2439670"/>
                <a:gridCol w="4718050"/>
                <a:gridCol w="1833880"/>
                <a:gridCol w="1504315"/>
              </a:tblGrid>
              <a:tr h="677545">
                <a:tc>
                  <a:txBody>
                    <a:bodyPr/>
                    <a:lstStyle/>
                    <a:p>
                      <a:pPr algn="ctr" fontAlgn="ct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rPr>
                        <a:t>序号</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lstStyle/>
                    <a:p>
                      <a:pPr algn="ctr" fontAlgn="ct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rPr>
                        <a:t>分类</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lstStyle/>
                    <a:p>
                      <a:pPr algn="ctr" fontAlgn="ct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rPr>
                        <a:t>工作内容</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gridSpan="2">
                  <a:txBody>
                    <a:bodyPr/>
                    <a:lstStyle/>
                    <a:p>
                      <a:pPr algn="ctr" fontAlgn="ct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rPr>
                        <a:t>实物工作量</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hMerge="1">
                  <a:tcPr marL="5492" marR="5492" marT="5492" marB="0" anchor="ctr">
                    <a:lnL w="6350" cap="flat" cmpd="sng" algn="ctr">
                      <a:solidFill>
                        <a:srgbClr val="000000"/>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solidFill>
                      <a:srgbClr val="E7E6E6"/>
                    </a:solidFill>
                  </a:tcPr>
                </a:tc>
              </a:tr>
              <a:tr h="421640">
                <a:tc rowSpan="4">
                  <a:txBody>
                    <a:bodyPr/>
                    <a:lstStyle/>
                    <a:p>
                      <a:pPr algn="ctr" fontAlgn="ctr"/>
                      <a:r>
                        <a:rPr lang="zh-CN" altLang="en-US"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一</a:t>
                      </a:r>
                      <a:endParaRPr lang="zh-CN" altLang="en-US"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rowSpan="4">
                  <a:txBody>
                    <a:bodyPr/>
                    <a:lstStyle/>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国内外研究现状调研</a:t>
                      </a:r>
                      <a:endParaRPr lang="zh-CN" altLang="en-US" sz="12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水力压裂施工压力响应特征分析研究现状</a:t>
                      </a:r>
                      <a:endParaRPr lang="zh-CN" altLang="en-US" sz="12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36</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篇</a:t>
                      </a:r>
                      <a:endPar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rowSpan="4">
                  <a:txBody>
                    <a:bodyPr/>
                    <a:lstStyle/>
                    <a:p>
                      <a:pPr algn="ctr" fontAlgn="ctr"/>
                      <a:r>
                        <a:rPr lang="en-US" altLang="zh-CN"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123</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篇</a:t>
                      </a:r>
                      <a:endPar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421005">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基于压降曲线分析的压裂诊断方法研究现状</a:t>
                      </a:r>
                      <a:endParaRPr lang="zh-CN" altLang="en-US" sz="12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28</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篇</a:t>
                      </a:r>
                      <a:endPar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1640">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地质工程参数大数据库研究现状</a:t>
                      </a:r>
                      <a:endParaRPr lang="zh-CN" altLang="en-US" sz="12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33</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篇</a:t>
                      </a:r>
                      <a:endPar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1640">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12700">
                      <a:solidFill>
                        <a:schemeClr val="tx1"/>
                      </a:solidFill>
                      <a:prstDash val="soli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12700">
                      <a:solidFill>
                        <a:schemeClr val="tx1"/>
                      </a:solidFill>
                      <a:prstDash val="solid"/>
                    </a:lnB>
                  </a:tcPr>
                </a:tc>
                <a:tc>
                  <a:txBody>
                    <a:bodyPr/>
                    <a:lstStyle/>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基于大数据库分析的压裂效果综合评估研究现状</a:t>
                      </a:r>
                      <a:endParaRPr lang="zh-CN" altLang="en-US" sz="12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26</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篇</a:t>
                      </a:r>
                      <a:endPar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12700">
                      <a:solidFill>
                        <a:schemeClr val="tx1"/>
                      </a:solidFill>
                      <a:prstDash val="solid"/>
                    </a:lnB>
                  </a:tcPr>
                </a:tc>
              </a:tr>
              <a:tr h="434340">
                <a:tc>
                  <a:txBody>
                    <a:bodyPr/>
                    <a:lstStyle/>
                    <a:p>
                      <a:pPr algn="ctr" fontAlgn="ctr"/>
                      <a:r>
                        <a:rPr lang="zh-CN" altLang="en-US"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二</a:t>
                      </a:r>
                      <a:endParaRPr lang="zh-CN" altLang="en-US"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基于小波分析的水力压裂</a:t>
                      </a:r>
                      <a:endParaRPr lang="zh-CN" altLang="en-US" sz="1200" kern="1200" dirty="0">
                        <a:solidFill>
                          <a:prstClr val="black"/>
                        </a:solidFill>
                        <a:latin typeface="微软雅黑" panose="020B0503020204020204" pitchFamily="34" charset="-122"/>
                        <a:ea typeface="微软雅黑" panose="020B0503020204020204" pitchFamily="34" charset="-122"/>
                        <a:cs typeface="+mn-cs"/>
                      </a:endParaRPr>
                    </a:p>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施工压力响应特征分析</a:t>
                      </a:r>
                      <a:endParaRPr lang="en-US" altLang="zh-CN" sz="12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构建施工压力小波分析模型，</a:t>
                      </a:r>
                      <a:endParaRPr lang="zh-CN" altLang="en-US" sz="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fontAlgn="ctr"/>
                      <a:r>
                        <a:rPr lang="zh-CN" altLang="en-US" sz="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完成</a:t>
                      </a:r>
                      <a:r>
                        <a:rPr lang="en-US" sz="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23</a:t>
                      </a:r>
                      <a:r>
                        <a:rPr lang="zh-CN" altLang="en-US" sz="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口井裂缝扩展事件时间定位与强度评估</a:t>
                      </a:r>
                      <a:endParaRPr lang="zh-CN" altLang="en-US" sz="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573</a:t>
                      </a:r>
                      <a:r>
                        <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组</a:t>
                      </a:r>
                      <a:endPar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573</a:t>
                      </a:r>
                      <a:r>
                        <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组</a:t>
                      </a:r>
                      <a:endPar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525780">
                <a:tc>
                  <a:txBody>
                    <a:bodyPr/>
                    <a:lstStyle/>
                    <a:p>
                      <a:pPr algn="ctr" fontAlgn="ctr"/>
                      <a:r>
                        <a:rPr lang="zh-CN" altLang="en-US"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三</a:t>
                      </a:r>
                      <a:endParaRPr lang="zh-CN" altLang="en-US"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基于压降曲线分析的停泵期</a:t>
                      </a:r>
                      <a:endParaRPr lang="zh-CN" altLang="en-US" sz="1200" kern="1200" dirty="0">
                        <a:solidFill>
                          <a:prstClr val="black"/>
                        </a:solidFill>
                        <a:latin typeface="微软雅黑" panose="020B0503020204020204" pitchFamily="34" charset="-122"/>
                        <a:ea typeface="微软雅黑" panose="020B0503020204020204" pitchFamily="34" charset="-122"/>
                        <a:cs typeface="+mn-cs"/>
                      </a:endParaRPr>
                    </a:p>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裂缝尺寸反演</a:t>
                      </a:r>
                      <a:endParaRPr lang="zh-CN" altLang="en-US" sz="12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构建</a:t>
                      </a:r>
                      <a:r>
                        <a:rPr lang="zh-CN" altLang="en-US" sz="1200" dirty="0">
                          <a:solidFill>
                            <a:prstClr val="black"/>
                          </a:solidFill>
                          <a:latin typeface="微软雅黑" panose="020B0503020204020204" pitchFamily="34" charset="-122"/>
                          <a:ea typeface="微软雅黑" panose="020B0503020204020204" pitchFamily="34" charset="-122"/>
                          <a:sym typeface="+mn-ea"/>
                        </a:rPr>
                        <a:t>停泵期裂缝尺寸反演模型，</a:t>
                      </a:r>
                      <a:endParaRPr lang="zh-CN" altLang="en-US" sz="1200" dirty="0">
                        <a:solidFill>
                          <a:prstClr val="black"/>
                        </a:solidFill>
                        <a:latin typeface="微软雅黑" panose="020B0503020204020204" pitchFamily="34" charset="-122"/>
                        <a:ea typeface="微软雅黑" panose="020B0503020204020204" pitchFamily="34" charset="-122"/>
                        <a:sym typeface="+mn-ea"/>
                      </a:endParaRPr>
                    </a:p>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完成</a:t>
                      </a:r>
                      <a:r>
                        <a:rPr 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23</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口井裂缝长度及缝宽分布计算</a:t>
                      </a:r>
                      <a:endPar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573</a:t>
                      </a:r>
                      <a:r>
                        <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组</a:t>
                      </a:r>
                      <a:endPar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573</a:t>
                      </a:r>
                      <a:r>
                        <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组</a:t>
                      </a:r>
                      <a:endPar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526415">
                <a:tc>
                  <a:txBody>
                    <a:bodyPr/>
                    <a:lstStyle/>
                    <a:p>
                      <a:pPr algn="ctr" font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四</a:t>
                      </a:r>
                      <a:endParaRPr lang="zh-CN" altLang="en-US"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buNone/>
                      </a:pPr>
                      <a:r>
                        <a:rPr lang="zh-CN" altLang="en-US" sz="1200" kern="0" dirty="0">
                          <a:latin typeface="微软雅黑" panose="020B0503020204020204" pitchFamily="34" charset="-122"/>
                          <a:ea typeface="微软雅黑" panose="020B0503020204020204" pitchFamily="34" charset="-122"/>
                          <a:sym typeface="+mn-ea"/>
                        </a:rPr>
                        <a:t>基于地质工程一体化的</a:t>
                      </a:r>
                      <a:endParaRPr lang="zh-CN" altLang="en-US" sz="1200" kern="0" dirty="0">
                        <a:latin typeface="微软雅黑" panose="020B0503020204020204" pitchFamily="34" charset="-122"/>
                        <a:ea typeface="微软雅黑" panose="020B0503020204020204" pitchFamily="34" charset="-122"/>
                        <a:sym typeface="+mn-ea"/>
                      </a:endParaRPr>
                    </a:p>
                    <a:p>
                      <a:pPr algn="ctr" fontAlgn="ctr">
                        <a:buNone/>
                      </a:pPr>
                      <a:r>
                        <a:rPr lang="zh-CN" altLang="en-US" sz="1200" kern="0" dirty="0">
                          <a:latin typeface="微软雅黑" panose="020B0503020204020204" pitchFamily="34" charset="-122"/>
                          <a:ea typeface="微软雅黑" panose="020B0503020204020204" pitchFamily="34" charset="-122"/>
                          <a:sym typeface="+mn-ea"/>
                        </a:rPr>
                        <a:t>多源异构大数据库智能构建</a:t>
                      </a:r>
                      <a:endParaRPr lang="zh-CN" altLang="en-US" sz="1200" kern="100" dirty="0">
                        <a:effectLst/>
                        <a:latin typeface="微软雅黑" panose="020B0503020204020204" pitchFamily="34" charset="-122"/>
                        <a:ea typeface="微软雅黑" panose="020B0503020204020204" pitchFamily="34" charset="-122"/>
                        <a:sym typeface="+mn-ea"/>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buNone/>
                      </a:pP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构建多源异构大数据库，开发</a:t>
                      </a:r>
                      <a:r>
                        <a:rPr lang="zh-CN" altLang="en-US" sz="1200" dirty="0">
                          <a:solidFill>
                            <a:prstClr val="black"/>
                          </a:solidFill>
                          <a:latin typeface="微软雅黑" panose="020B0503020204020204" pitchFamily="34" charset="-122"/>
                          <a:ea typeface="微软雅黑" panose="020B0503020204020204" pitchFamily="34" charset="-122"/>
                          <a:sym typeface="+mn-ea"/>
                        </a:rPr>
                        <a:t>压裂评估</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可视化应用软件</a:t>
                      </a:r>
                      <a:endPar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项</a:t>
                      </a:r>
                      <a:endPar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项</a:t>
                      </a:r>
                      <a:endPar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527050">
                <a:tc>
                  <a:txBody>
                    <a:bodyPr/>
                    <a:lstStyle/>
                    <a:p>
                      <a:pPr algn="ctr" fontAlgn="ctr"/>
                      <a:r>
                        <a:rPr lang="zh-CN" altLang="en-US"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五</a:t>
                      </a:r>
                      <a:endParaRPr lang="zh-CN" altLang="en-US" sz="1200" b="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知识产权</a:t>
                      </a:r>
                      <a:endParaRPr lang="zh-CN" altLang="en-US" sz="12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200" kern="1200" dirty="0">
                          <a:solidFill>
                            <a:prstClr val="black"/>
                          </a:solidFill>
                          <a:latin typeface="微软雅黑" panose="020B0503020204020204" pitchFamily="34" charset="-122"/>
                          <a:ea typeface="微软雅黑" panose="020B0503020204020204" pitchFamily="34" charset="-122"/>
                          <a:cs typeface="+mn-cs"/>
                        </a:rPr>
                        <a:t>发明专利、论文文本</a:t>
                      </a:r>
                      <a:endParaRPr lang="zh-CN" altLang="en-US" sz="12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项、</a:t>
                      </a:r>
                      <a:r>
                        <a:rPr lang="en-US" altLang="zh-CN"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篇</a:t>
                      </a:r>
                      <a:endPar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项、</a:t>
                      </a:r>
                      <a:r>
                        <a:rPr lang="en-US" altLang="zh-CN"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篇</a:t>
                      </a:r>
                      <a:endParaRPr lang="zh-CN" altLang="en-US" sz="1200" kern="1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bl>
          </a:graphicData>
        </a:graphic>
      </p:graphicFrame>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二、完成的主要工作量</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53216" y="917015"/>
            <a:ext cx="11467309"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按照项目研究内容要求，完成了基于页岩气井压裂施工资料的压裂评估方法与应用方向的</a:t>
            </a:r>
            <a:r>
              <a:rPr lang="zh-CN" altLang="en-US" sz="1600" dirty="0">
                <a:solidFill>
                  <a:srgbClr val="FF0000"/>
                </a:solidFill>
                <a:latin typeface="微软雅黑" panose="020B0503020204020204" pitchFamily="34" charset="-122"/>
                <a:ea typeface="微软雅黑" panose="020B0503020204020204" pitchFamily="34" charset="-122"/>
              </a:rPr>
              <a:t>文献调研</a:t>
            </a:r>
            <a:r>
              <a:rPr lang="zh-CN" altLang="en-US" sz="1600" dirty="0">
                <a:solidFill>
                  <a:prstClr val="black"/>
                </a:solidFill>
                <a:latin typeface="微软雅黑" panose="020B0503020204020204" pitchFamily="34" charset="-122"/>
                <a:ea typeface="微软雅黑" panose="020B0503020204020204" pitchFamily="34" charset="-122"/>
              </a:rPr>
              <a:t>，明确了压裂改造效果的</a:t>
            </a:r>
            <a:r>
              <a:rPr lang="zh-CN" altLang="en-US" sz="1600" dirty="0">
                <a:solidFill>
                  <a:srgbClr val="FF0000"/>
                </a:solidFill>
                <a:latin typeface="微软雅黑" panose="020B0503020204020204" pitchFamily="34" charset="-122"/>
                <a:ea typeface="微软雅黑" panose="020B0503020204020204" pitchFamily="34" charset="-122"/>
              </a:rPr>
              <a:t>影响因素</a:t>
            </a:r>
            <a:r>
              <a:rPr lang="zh-CN" altLang="en-US"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构建了施工压力</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小波分析模型</a:t>
            </a:r>
            <a:r>
              <a:rPr lang="zh-CN" altLang="en-US" sz="1600" dirty="0">
                <a:solidFill>
                  <a:prstClr val="black"/>
                </a:solidFill>
                <a:latin typeface="微软雅黑" panose="020B0503020204020204" pitchFamily="34" charset="-122"/>
                <a:ea typeface="微软雅黑" panose="020B0503020204020204" pitchFamily="34" charset="-122"/>
              </a:rPr>
              <a:t>，建立了停泵期裂缝尺寸反演</a:t>
            </a:r>
            <a:r>
              <a:rPr lang="zh-CN" altLang="en-US" sz="1600" dirty="0">
                <a:solidFill>
                  <a:srgbClr val="FF0000"/>
                </a:solidFill>
                <a:latin typeface="微软雅黑" panose="020B0503020204020204" pitchFamily="34" charset="-122"/>
                <a:ea typeface="微软雅黑" panose="020B0503020204020204" pitchFamily="34" charset="-122"/>
              </a:rPr>
              <a:t>半解析模型</a:t>
            </a:r>
            <a:r>
              <a:rPr lang="zh-CN" altLang="en-US" sz="1600" dirty="0">
                <a:solidFill>
                  <a:prstClr val="black"/>
                </a:solidFill>
                <a:latin typeface="微软雅黑" panose="020B0503020204020204" pitchFamily="34" charset="-122"/>
                <a:ea typeface="微软雅黑" panose="020B0503020204020204" pitchFamily="34" charset="-122"/>
              </a:rPr>
              <a:t>，搭建了</a:t>
            </a:r>
            <a:r>
              <a:rPr lang="zh-CN" altLang="en-US" sz="1600" dirty="0">
                <a:solidFill>
                  <a:srgbClr val="FF0000"/>
                </a:solidFill>
                <a:latin typeface="微软雅黑" panose="020B0503020204020204" pitchFamily="34" charset="-122"/>
                <a:ea typeface="微软雅黑" panose="020B0503020204020204" pitchFamily="34" charset="-122"/>
              </a:rPr>
              <a:t>数据库</a:t>
            </a:r>
            <a:r>
              <a:rPr lang="zh-CN" altLang="en-US" sz="1600" dirty="0">
                <a:solidFill>
                  <a:prstClr val="black"/>
                </a:solidFill>
                <a:latin typeface="微软雅黑" panose="020B0503020204020204" pitchFamily="34" charset="-122"/>
                <a:ea typeface="微软雅黑" panose="020B0503020204020204" pitchFamily="34" charset="-122"/>
              </a:rPr>
              <a:t>并开发了</a:t>
            </a:r>
            <a:r>
              <a:rPr lang="zh-CN" altLang="en-US" sz="1600" dirty="0">
                <a:solidFill>
                  <a:srgbClr val="FF0000"/>
                </a:solidFill>
                <a:latin typeface="微软雅黑" panose="020B0503020204020204" pitchFamily="34" charset="-122"/>
                <a:ea typeface="微软雅黑" panose="020B0503020204020204" pitchFamily="34" charset="-122"/>
              </a:rPr>
              <a:t>可视化应用软件</a:t>
            </a:r>
            <a:r>
              <a:rPr lang="zh-CN" altLang="en-US" sz="1600" dirty="0">
                <a:solidFill>
                  <a:prstClr val="black"/>
                </a:solidFill>
                <a:latin typeface="微软雅黑" panose="020B0503020204020204" pitchFamily="34" charset="-122"/>
                <a:ea typeface="微软雅黑" panose="020B0503020204020204" pitchFamily="34" charset="-122"/>
              </a:rPr>
              <a:t>，累计驻场办公</a:t>
            </a:r>
            <a:r>
              <a:rPr lang="en-US" altLang="zh-CN" sz="1600" dirty="0">
                <a:solidFill>
                  <a:srgbClr val="FF0000"/>
                </a:solidFill>
                <a:latin typeface="微软雅黑" panose="020B0503020204020204" pitchFamily="34" charset="-122"/>
                <a:ea typeface="微软雅黑" panose="020B0503020204020204" pitchFamily="34" charset="-122"/>
              </a:rPr>
              <a:t>100</a:t>
            </a:r>
            <a:r>
              <a:rPr lang="zh-CN" altLang="en-US" sz="1600" dirty="0">
                <a:solidFill>
                  <a:prstClr val="black"/>
                </a:solidFill>
                <a:latin typeface="微软雅黑" panose="020B0503020204020204" pitchFamily="34" charset="-122"/>
                <a:ea typeface="微软雅黑" panose="020B0503020204020204" pitchFamily="34" charset="-122"/>
              </a:rPr>
              <a:t>余人</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天，计算分析</a:t>
            </a:r>
            <a:r>
              <a:rPr lang="en-US" altLang="zh-CN" sz="1600" dirty="0">
                <a:solidFill>
                  <a:srgbClr val="FF0000"/>
                </a:solidFill>
                <a:latin typeface="微软雅黑" panose="020B0503020204020204" pitchFamily="34" charset="-122"/>
                <a:ea typeface="微软雅黑" panose="020B0503020204020204" pitchFamily="34" charset="-122"/>
              </a:rPr>
              <a:t>28</a:t>
            </a:r>
            <a:r>
              <a:rPr lang="zh-CN" altLang="en-US" sz="1600" dirty="0">
                <a:solidFill>
                  <a:prstClr val="black"/>
                </a:solidFill>
                <a:latin typeface="微软雅黑" panose="020B0503020204020204" pitchFamily="34" charset="-122"/>
                <a:ea typeface="微软雅黑" panose="020B0503020204020204" pitchFamily="34" charset="-122"/>
              </a:rPr>
              <a:t>井次，形成了与研究强相关的</a:t>
            </a:r>
            <a:r>
              <a:rPr lang="zh-CN" altLang="en-US" sz="1600" dirty="0">
                <a:solidFill>
                  <a:prstClr val="black"/>
                </a:solidFill>
                <a:latin typeface="微软雅黑" panose="020B0503020204020204" pitchFamily="34" charset="-122"/>
                <a:ea typeface="微软雅黑" panose="020B0503020204020204" pitchFamily="34" charset="-122"/>
                <a:sym typeface="+mn-ea"/>
              </a:rPr>
              <a:t>发明专利文本</a:t>
            </a:r>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prstClr val="black"/>
                </a:solidFill>
                <a:latin typeface="微软雅黑" panose="020B0503020204020204" pitchFamily="34" charset="-122"/>
                <a:ea typeface="微软雅黑" panose="020B0503020204020204" pitchFamily="34" charset="-122"/>
              </a:rPr>
              <a:t>项、论文文本</a:t>
            </a:r>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prstClr val="black"/>
                </a:solidFill>
                <a:latin typeface="微软雅黑" panose="020B0503020204020204" pitchFamily="34" charset="-122"/>
                <a:ea typeface="微软雅黑" panose="020B0503020204020204" pitchFamily="34" charset="-122"/>
              </a:rPr>
              <a:t>篇</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二、完成的主要工作量</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7" name="组合 6"/>
          <p:cNvGrpSpPr/>
          <p:nvPr/>
        </p:nvGrpSpPr>
        <p:grpSpPr>
          <a:xfrm>
            <a:off x="427355" y="2115185"/>
            <a:ext cx="5570220" cy="3940810"/>
            <a:chOff x="868" y="3331"/>
            <a:chExt cx="8772" cy="6206"/>
          </a:xfrm>
        </p:grpSpPr>
        <p:pic>
          <p:nvPicPr>
            <p:cNvPr id="2" name="图片 1" descr="专利稿_01"/>
            <p:cNvPicPr>
              <a:picLocks noChangeAspect="1"/>
            </p:cNvPicPr>
            <p:nvPr/>
          </p:nvPicPr>
          <p:blipFill>
            <a:blip r:embed="rId1"/>
            <a:srcRect t="8926" b="35898"/>
            <a:stretch>
              <a:fillRect/>
            </a:stretch>
          </p:blipFill>
          <p:spPr>
            <a:xfrm>
              <a:off x="868" y="3332"/>
              <a:ext cx="4577" cy="3573"/>
            </a:xfrm>
            <a:prstGeom prst="rect">
              <a:avLst/>
            </a:prstGeom>
            <a:ln>
              <a:noFill/>
            </a:ln>
          </p:spPr>
        </p:pic>
        <p:pic>
          <p:nvPicPr>
            <p:cNvPr id="3" name="图片 2" descr="专利稿_02"/>
            <p:cNvPicPr>
              <a:picLocks noChangeAspect="1"/>
            </p:cNvPicPr>
            <p:nvPr/>
          </p:nvPicPr>
          <p:blipFill>
            <a:blip r:embed="rId2"/>
            <a:srcRect t="8472" b="52380"/>
            <a:stretch>
              <a:fillRect/>
            </a:stretch>
          </p:blipFill>
          <p:spPr>
            <a:xfrm>
              <a:off x="868" y="7003"/>
              <a:ext cx="4576" cy="2535"/>
            </a:xfrm>
            <a:prstGeom prst="rect">
              <a:avLst/>
            </a:prstGeom>
            <a:ln>
              <a:noFill/>
            </a:ln>
          </p:spPr>
        </p:pic>
        <p:pic>
          <p:nvPicPr>
            <p:cNvPr id="9" name="图片 8" descr="专利稿_03"/>
            <p:cNvPicPr>
              <a:picLocks noChangeAspect="1"/>
            </p:cNvPicPr>
            <p:nvPr/>
          </p:nvPicPr>
          <p:blipFill>
            <a:blip r:embed="rId3"/>
            <a:srcRect l="12780" t="8938" r="12431" b="10720"/>
            <a:stretch>
              <a:fillRect/>
            </a:stretch>
          </p:blipFill>
          <p:spPr>
            <a:xfrm>
              <a:off x="5568" y="3331"/>
              <a:ext cx="4073" cy="6190"/>
            </a:xfrm>
            <a:prstGeom prst="rect">
              <a:avLst/>
            </a:prstGeom>
            <a:ln>
              <a:noFill/>
            </a:ln>
          </p:spPr>
        </p:pic>
      </p:grpSp>
      <p:pic>
        <p:nvPicPr>
          <p:cNvPr id="10" name="图片 9" descr="Log-Log Pressure Curve–Based Analysis and Evaluation_11"/>
          <p:cNvPicPr>
            <a:picLocks noChangeAspect="1"/>
          </p:cNvPicPr>
          <p:nvPr/>
        </p:nvPicPr>
        <p:blipFill>
          <a:blip r:embed="rId4"/>
          <a:stretch>
            <a:fillRect/>
          </a:stretch>
        </p:blipFill>
        <p:spPr>
          <a:xfrm>
            <a:off x="9023985" y="2115820"/>
            <a:ext cx="2788285" cy="3920490"/>
          </a:xfrm>
          <a:prstGeom prst="rect">
            <a:avLst/>
          </a:prstGeom>
          <a:ln>
            <a:noFill/>
          </a:ln>
        </p:spPr>
      </p:pic>
      <p:sp>
        <p:nvSpPr>
          <p:cNvPr id="19" name="文本框 1"/>
          <p:cNvSpPr txBox="1">
            <a:spLocks noChangeArrowheads="1"/>
          </p:cNvSpPr>
          <p:nvPr/>
        </p:nvSpPr>
        <p:spPr bwMode="auto">
          <a:xfrm>
            <a:off x="427355" y="6074410"/>
            <a:ext cx="557085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项目专利文本</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1" name="文本框 1"/>
          <p:cNvSpPr txBox="1">
            <a:spLocks noChangeArrowheads="1"/>
          </p:cNvSpPr>
          <p:nvPr/>
        </p:nvSpPr>
        <p:spPr bwMode="auto">
          <a:xfrm>
            <a:off x="6104890" y="6074410"/>
            <a:ext cx="571563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项目论文</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文本</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12" name="图片 11"/>
          <p:cNvPicPr>
            <a:picLocks noChangeAspect="1"/>
          </p:cNvPicPr>
          <p:nvPr/>
        </p:nvPicPr>
        <p:blipFill>
          <a:blip r:embed="rId5"/>
          <a:stretch>
            <a:fillRect/>
          </a:stretch>
        </p:blipFill>
        <p:spPr>
          <a:xfrm>
            <a:off x="6027420" y="2115185"/>
            <a:ext cx="3206750" cy="3930015"/>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53216" y="917015"/>
            <a:ext cx="11467309"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研究包含了泸</a:t>
            </a:r>
            <a:r>
              <a:rPr lang="en-US" altLang="zh-CN" sz="1600" dirty="0">
                <a:solidFill>
                  <a:prstClr val="black"/>
                </a:solidFill>
                <a:latin typeface="微软雅黑" panose="020B0503020204020204" pitchFamily="34" charset="-122"/>
                <a:ea typeface="微软雅黑" panose="020B0503020204020204" pitchFamily="34" charset="-122"/>
              </a:rPr>
              <a:t>203</a:t>
            </a:r>
            <a:r>
              <a:rPr lang="zh-CN" altLang="en-US" sz="1600" dirty="0">
                <a:solidFill>
                  <a:prstClr val="black"/>
                </a:solidFill>
                <a:latin typeface="微软雅黑" panose="020B0503020204020204" pitchFamily="34" charset="-122"/>
                <a:ea typeface="微软雅黑" panose="020B0503020204020204" pitchFamily="34" charset="-122"/>
              </a:rPr>
              <a:t>、泸</a:t>
            </a:r>
            <a:r>
              <a:rPr lang="en-US" altLang="zh-CN" sz="1600" dirty="0">
                <a:solidFill>
                  <a:prstClr val="black"/>
                </a:solidFill>
                <a:latin typeface="微软雅黑" panose="020B0503020204020204" pitchFamily="34" charset="-122"/>
                <a:ea typeface="微软雅黑" panose="020B0503020204020204" pitchFamily="34" charset="-122"/>
              </a:rPr>
              <a:t>206</a:t>
            </a:r>
            <a:r>
              <a:rPr lang="zh-CN" altLang="en-US" sz="1600" dirty="0">
                <a:solidFill>
                  <a:prstClr val="black"/>
                </a:solidFill>
                <a:latin typeface="微软雅黑" panose="020B0503020204020204" pitchFamily="34" charset="-122"/>
                <a:ea typeface="微软雅黑" panose="020B0503020204020204" pitchFamily="34" charset="-122"/>
              </a:rPr>
              <a:t>、足</a:t>
            </a:r>
            <a:r>
              <a:rPr lang="en-US" altLang="zh-CN" sz="1600" dirty="0">
                <a:solidFill>
                  <a:prstClr val="black"/>
                </a:solidFill>
                <a:latin typeface="微软雅黑" panose="020B0503020204020204" pitchFamily="34" charset="-122"/>
                <a:ea typeface="微软雅黑" panose="020B0503020204020204" pitchFamily="34" charset="-122"/>
              </a:rPr>
              <a:t>201</a:t>
            </a:r>
            <a:r>
              <a:rPr lang="zh-CN" altLang="en-US" sz="1600" dirty="0">
                <a:solidFill>
                  <a:prstClr val="black"/>
                </a:solidFill>
                <a:latin typeface="微软雅黑" panose="020B0503020204020204" pitchFamily="34" charset="-122"/>
                <a:ea typeface="微软雅黑" panose="020B0503020204020204" pitchFamily="34" charset="-122"/>
              </a:rPr>
              <a:t>等</a:t>
            </a:r>
            <a:r>
              <a:rPr lang="en-US" altLang="zh-CN" sz="1600" dirty="0">
                <a:solidFill>
                  <a:prstClr val="black"/>
                </a:solidFill>
                <a:latin typeface="微软雅黑" panose="020B0503020204020204" pitchFamily="34" charset="-122"/>
                <a:ea typeface="微软雅黑" panose="020B0503020204020204" pitchFamily="34" charset="-122"/>
              </a:rPr>
              <a:t>3</a:t>
            </a:r>
            <a:r>
              <a:rPr lang="zh-CN" altLang="en-US" sz="1600" dirty="0">
                <a:solidFill>
                  <a:prstClr val="black"/>
                </a:solidFill>
                <a:latin typeface="微软雅黑" panose="020B0503020204020204" pitchFamily="34" charset="-122"/>
                <a:ea typeface="微软雅黑" panose="020B0503020204020204" pitchFamily="34" charset="-122"/>
              </a:rPr>
              <a:t>个井区</a:t>
            </a:r>
            <a:r>
              <a:rPr lang="en-US" altLang="zh-CN" sz="1600" dirty="0">
                <a:solidFill>
                  <a:prstClr val="black"/>
                </a:solidFill>
                <a:latin typeface="微软雅黑" panose="020B0503020204020204" pitchFamily="34" charset="-122"/>
                <a:ea typeface="微软雅黑" panose="020B0503020204020204" pitchFamily="34" charset="-122"/>
              </a:rPr>
              <a:t>6</a:t>
            </a:r>
            <a:r>
              <a:rPr lang="zh-CN" altLang="en-US" sz="1600" dirty="0">
                <a:solidFill>
                  <a:prstClr val="black"/>
                </a:solidFill>
                <a:latin typeface="微软雅黑" panose="020B0503020204020204" pitchFamily="34" charset="-122"/>
                <a:ea typeface="微软雅黑" panose="020B0503020204020204" pitchFamily="34" charset="-122"/>
              </a:rPr>
              <a:t>个平台数据，能够很好地体现</a:t>
            </a:r>
            <a:r>
              <a:rPr lang="zh-CN" altLang="en-US" sz="1600" dirty="0">
                <a:solidFill>
                  <a:srgbClr val="FF0000"/>
                </a:solidFill>
                <a:latin typeface="微软雅黑" panose="020B0503020204020204" pitchFamily="34" charset="-122"/>
                <a:ea typeface="微软雅黑" panose="020B0503020204020204" pitchFamily="34" charset="-122"/>
              </a:rPr>
              <a:t>不同地质与工程条件</a:t>
            </a:r>
            <a:r>
              <a:rPr lang="zh-CN" altLang="en-US" sz="1600" dirty="0">
                <a:solidFill>
                  <a:prstClr val="black"/>
                </a:solidFill>
                <a:latin typeface="微软雅黑" panose="020B0503020204020204" pitchFamily="34" charset="-122"/>
                <a:ea typeface="微软雅黑" panose="020B0503020204020204" pitchFamily="34" charset="-122"/>
              </a:rPr>
              <a:t>下的压裂响应差异</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研究选取了共</a:t>
            </a:r>
            <a:r>
              <a:rPr lang="en-US" altLang="zh-CN" sz="1600" dirty="0">
                <a:solidFill>
                  <a:prstClr val="black"/>
                </a:solidFill>
                <a:latin typeface="微软雅黑" panose="020B0503020204020204" pitchFamily="34" charset="-122"/>
                <a:ea typeface="微软雅黑" panose="020B0503020204020204" pitchFamily="34" charset="-122"/>
              </a:rPr>
              <a:t>28</a:t>
            </a:r>
            <a:r>
              <a:rPr lang="zh-CN" altLang="en-US" sz="1600" dirty="0">
                <a:solidFill>
                  <a:prstClr val="black"/>
                </a:solidFill>
                <a:latin typeface="微软雅黑" panose="020B0503020204020204" pitchFamily="34" charset="-122"/>
                <a:ea typeface="微软雅黑" panose="020B0503020204020204" pitchFamily="34" charset="-122"/>
              </a:rPr>
              <a:t>口井、</a:t>
            </a:r>
            <a:r>
              <a:rPr lang="en-US" altLang="zh-CN" sz="1600" dirty="0">
                <a:solidFill>
                  <a:prstClr val="black"/>
                </a:solidFill>
                <a:latin typeface="微软雅黑" panose="020B0503020204020204" pitchFamily="34" charset="-122"/>
                <a:ea typeface="微软雅黑" panose="020B0503020204020204" pitchFamily="34" charset="-122"/>
              </a:rPr>
              <a:t>731</a:t>
            </a:r>
            <a:r>
              <a:rPr lang="zh-CN" altLang="en-US" sz="1600" dirty="0">
                <a:solidFill>
                  <a:prstClr val="black"/>
                </a:solidFill>
                <a:latin typeface="微软雅黑" panose="020B0503020204020204" pitchFamily="34" charset="-122"/>
                <a:ea typeface="微软雅黑" panose="020B0503020204020204" pitchFamily="34" charset="-122"/>
              </a:rPr>
              <a:t>段的多类型样本，具有较强区分性，可全面覆盖</a:t>
            </a:r>
            <a:r>
              <a:rPr lang="zh-CN" altLang="en-US" sz="1600" dirty="0">
                <a:solidFill>
                  <a:srgbClr val="FF0000"/>
                </a:solidFill>
                <a:latin typeface="微软雅黑" panose="020B0503020204020204" pitchFamily="34" charset="-122"/>
                <a:ea typeface="微软雅黑" panose="020B0503020204020204" pitchFamily="34" charset="-122"/>
              </a:rPr>
              <a:t>高产、低产</a:t>
            </a:r>
            <a:r>
              <a:rPr lang="zh-CN" altLang="en-US" sz="1600" dirty="0">
                <a:solidFill>
                  <a:prstClr val="black"/>
                </a:solidFill>
                <a:latin typeface="微软雅黑" panose="020B0503020204020204" pitchFamily="34" charset="-122"/>
                <a:ea typeface="微软雅黑" panose="020B0503020204020204" pitchFamily="34" charset="-122"/>
              </a:rPr>
              <a:t>及不同工艺条件</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数据范围横跨多个区块与施工方案，能够较好</a:t>
            </a:r>
            <a:r>
              <a:rPr lang="zh-CN" altLang="en-US" sz="1600" dirty="0">
                <a:solidFill>
                  <a:prstClr val="black"/>
                </a:solidFill>
                <a:latin typeface="微软雅黑" panose="020B0503020204020204" pitchFamily="34" charset="-122"/>
                <a:ea typeface="微软雅黑" panose="020B0503020204020204" pitchFamily="34" charset="-122"/>
              </a:rPr>
              <a:t>地反映储层差异、井况差异和工艺差异，为分析规律提供</a:t>
            </a:r>
            <a:r>
              <a:rPr lang="zh-CN" altLang="en-US" sz="1600" dirty="0">
                <a:solidFill>
                  <a:srgbClr val="FF0000"/>
                </a:solidFill>
                <a:latin typeface="微软雅黑" panose="020B0503020204020204" pitchFamily="34" charset="-122"/>
                <a:ea typeface="微软雅黑" panose="020B0503020204020204" pitchFamily="34" charset="-122"/>
              </a:rPr>
              <a:t>充分数据支撑</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二、完成的主要工作量</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表格 4"/>
          <p:cNvGraphicFramePr/>
          <p:nvPr>
            <p:custDataLst>
              <p:tags r:id="rId1"/>
            </p:custDataLst>
          </p:nvPr>
        </p:nvGraphicFramePr>
        <p:xfrm>
          <a:off x="429895" y="2115820"/>
          <a:ext cx="5665470" cy="3939540"/>
        </p:xfrm>
        <a:graphic>
          <a:graphicData uri="http://schemas.openxmlformats.org/drawingml/2006/table">
            <a:tbl>
              <a:tblPr firstRow="1">
                <a:tableStyleId>{87E4D548-8C41-4F88-B064-536A38F55382}</a:tableStyleId>
              </a:tblPr>
              <a:tblGrid>
                <a:gridCol w="586105"/>
                <a:gridCol w="586105"/>
                <a:gridCol w="586105"/>
                <a:gridCol w="781685"/>
                <a:gridCol w="781685"/>
                <a:gridCol w="781050"/>
                <a:gridCol w="781685"/>
                <a:gridCol w="781050"/>
              </a:tblGrid>
              <a:tr h="480695">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井区</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平台</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井号</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压裂</a:t>
                      </a:r>
                      <a:endParaRPr lang="zh-CN" altLang="en-US" sz="1200" spc="6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设计</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压裂施工</a:t>
                      </a:r>
                      <a:endParaRPr lang="zh-CN" altLang="en-US" sz="1200" spc="6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秒点</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微地震</a:t>
                      </a:r>
                      <a:endParaRPr lang="zh-CN" altLang="en-US" sz="1200" spc="6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小结</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压后</a:t>
                      </a:r>
                      <a:endParaRPr lang="zh-CN" altLang="en-US" sz="1200" spc="6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总结</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施工</a:t>
                      </a:r>
                      <a:endParaRPr lang="zh-CN" altLang="en-US" sz="1200" spc="6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参数表</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247015">
                <a:tc rowSpan="10">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6">
                  <a:txBody>
                    <a:bodyPr/>
                    <a:lstStyle/>
                    <a:p>
                      <a:pPr algn="ctr" fontAlgn="ctr">
                        <a:lnSpc>
                          <a:spcPct val="120000"/>
                        </a:lnSpc>
                      </a:pPr>
                      <a:r>
                        <a:rPr lang="en-US" altLang="zh-CN" sz="1200" dirty="0">
                          <a:latin typeface="微软雅黑" panose="020B0503020204020204" pitchFamily="34" charset="-122"/>
                          <a:ea typeface="微软雅黑" panose="020B0503020204020204" pitchFamily="34" charset="-122"/>
                        </a:rPr>
                        <a:t>H10</a:t>
                      </a:r>
                      <a:endParaRPr lang="en-US" altLang="zh-CN" sz="1200" dirty="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6</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tcPr>
                </a:tc>
                <a:tc rowSpan="4">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H123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65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rowSpan="4">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206</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4">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H7</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7015">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graphicFrame>
        <p:nvGraphicFramePr>
          <p:cNvPr id="2" name="表格 1"/>
          <p:cNvGraphicFramePr/>
          <p:nvPr>
            <p:custDataLst>
              <p:tags r:id="rId2"/>
            </p:custDataLst>
          </p:nvPr>
        </p:nvGraphicFramePr>
        <p:xfrm>
          <a:off x="6154420" y="2115820"/>
          <a:ext cx="5666105" cy="3939540"/>
        </p:xfrm>
        <a:graphic>
          <a:graphicData uri="http://schemas.openxmlformats.org/drawingml/2006/table">
            <a:tbl>
              <a:tblPr firstRow="1">
                <a:tableStyleId>{87E4D548-8C41-4F88-B064-536A38F55382}</a:tableStyleId>
              </a:tblPr>
              <a:tblGrid>
                <a:gridCol w="586105"/>
                <a:gridCol w="586105"/>
                <a:gridCol w="586105"/>
                <a:gridCol w="781685"/>
                <a:gridCol w="781685"/>
                <a:gridCol w="781685"/>
                <a:gridCol w="781685"/>
                <a:gridCol w="781050"/>
              </a:tblGrid>
              <a:tr h="459740">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井区</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平台</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井号</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压裂</a:t>
                      </a:r>
                      <a:endParaRPr lang="zh-CN" altLang="en-US" sz="1200" spc="6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设计</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压裂施工</a:t>
                      </a:r>
                      <a:endParaRPr lang="zh-CN" altLang="en-US" sz="1200" spc="6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秒点</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微地震</a:t>
                      </a:r>
                      <a:endParaRPr lang="zh-CN" altLang="en-US" sz="1200" spc="6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小结</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压后</a:t>
                      </a:r>
                      <a:endParaRPr lang="zh-CN" altLang="en-US" sz="1200" spc="6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总结</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施工</a:t>
                      </a:r>
                      <a:endParaRPr lang="zh-CN" altLang="en-US" sz="1200" spc="60" dirty="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spc="60" dirty="0">
                          <a:solidFill>
                            <a:schemeClr val="bg1"/>
                          </a:solidFill>
                          <a:latin typeface="微软雅黑" panose="020B0503020204020204" pitchFamily="34" charset="-122"/>
                          <a:ea typeface="微软雅黑" panose="020B0503020204020204" pitchFamily="34" charset="-122"/>
                        </a:rPr>
                        <a:t>参数表</a:t>
                      </a:r>
                      <a:endParaRPr lang="zh-CN" altLang="en-US" sz="12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235585">
                <a:tc rowSpan="3">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206</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3">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H8</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6</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3622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7</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36220">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8</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36220">
                <a:tc rowSpan="11">
                  <a:txBody>
                    <a:bodyPr/>
                    <a:lstStyle/>
                    <a:p>
                      <a:pPr algn="ctr" fontAlgn="ctr">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6">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H21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3622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3622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3622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3622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3622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6</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36220">
                <a:tc vMerge="1">
                  <a:tcPr>
                    <a:lnL w="12700" cmpd="sng">
                      <a:solidFill>
                        <a:schemeClr val="tx1"/>
                      </a:solidFill>
                      <a:prstDash val="solid"/>
                    </a:lnL>
                    <a:lnR w="12700" cmpd="sng">
                      <a:solidFill>
                        <a:schemeClr val="tx1"/>
                      </a:solidFill>
                      <a:prstDash val="solid"/>
                    </a:lnR>
                  </a:tcPr>
                </a:tc>
                <a:tc rowSpan="5">
                  <a:txBody>
                    <a:bodyPr/>
                    <a:p>
                      <a:pPr algn="ctr" fontAlgn="ctr"/>
                      <a:r>
                        <a:rPr lang="en-US" altLang="zh-CN" sz="1200" b="0" i="0">
                          <a:latin typeface="微软雅黑" panose="020B0503020204020204" pitchFamily="34" charset="-122"/>
                          <a:ea typeface="微软雅黑" panose="020B0503020204020204" pitchFamily="34" charset="-122"/>
                        </a:rPr>
                        <a:t>H8</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b="0" i="0">
                          <a:latin typeface="微软雅黑" panose="020B0503020204020204" pitchFamily="34" charset="-122"/>
                          <a:ea typeface="微软雅黑" panose="020B0503020204020204" pitchFamily="34" charset="-122"/>
                        </a:rPr>
                        <a:t>3</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lnSpc>
                          <a:spcPct val="120000"/>
                        </a:lnSpc>
                        <a:buNone/>
                      </a:pPr>
                      <a:r>
                        <a:rPr lang="en-US" altLang="zh-CN" sz="1200">
                          <a:latin typeface="微软雅黑" panose="020B0503020204020204" pitchFamily="34" charset="-122"/>
                          <a:ea typeface="微软雅黑" panose="020B0503020204020204" pitchFamily="34" charset="-122"/>
                          <a:sym typeface="+mn-ea"/>
                        </a:rPr>
                        <a:t>√</a:t>
                      </a:r>
                      <a:endParaRPr lang="en-US" altLang="zh-CN" sz="1200">
                        <a:latin typeface="微软雅黑" panose="020B0503020204020204" pitchFamily="34" charset="-122"/>
                        <a:ea typeface="微软雅黑" panose="020B0503020204020204" pitchFamily="34" charset="-122"/>
                        <a:sym typeface="+mn-ea"/>
                      </a:endParaRPr>
                    </a:p>
                  </a:txBody>
                  <a:tcPr marL="25400" marR="25400" marT="6350" marB="635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9400">
                <a:tc vMerge="1">
                  <a:tcPr>
                    <a:lnL w="12700" cmpd="sng">
                      <a:solidFill>
                        <a:schemeClr val="tx1"/>
                      </a:solidFill>
                      <a:prstDash val="solid"/>
                    </a:lnL>
                    <a:lnR w="12700" cmpd="sng">
                      <a:solidFill>
                        <a:schemeClr val="tx1"/>
                      </a:solidFill>
                      <a:prstDash val="solid"/>
                    </a:lnR>
                  </a:tcPr>
                </a:tc>
                <a:tc vMerge="1">
                  <a:tcPr marL="7937" marR="7937" marT="7937" marB="0" anchor="ctr" anchorCtr="0">
                    <a:lnL w="12700" cmpd="sng">
                      <a:solidFill>
                        <a:schemeClr val="tx1"/>
                      </a:solidFill>
                      <a:prstDash val="solid"/>
                    </a:lnL>
                    <a:lnR w="12700" cmpd="sng">
                      <a:solidFill>
                        <a:schemeClr val="tx1"/>
                      </a:solidFill>
                      <a:prstDash val="solid"/>
                    </a:lnR>
                  </a:tcPr>
                </a:tc>
                <a:tc>
                  <a:txBody>
                    <a:bodyPr/>
                    <a:p>
                      <a:pPr algn="ctr" fontAlgn="ctr"/>
                      <a:r>
                        <a:rPr lang="en-US" altLang="zh-CN" sz="1200" b="0" i="0">
                          <a:latin typeface="微软雅黑" panose="020B0503020204020204" pitchFamily="34" charset="-122"/>
                          <a:ea typeface="微软雅黑" panose="020B0503020204020204" pitchFamily="34" charset="-122"/>
                        </a:rPr>
                        <a:t>4</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200">
                          <a:latin typeface="微软雅黑" panose="020B0503020204020204" pitchFamily="34" charset="-122"/>
                          <a:ea typeface="微软雅黑" panose="020B0503020204020204" pitchFamily="34" charset="-122"/>
                          <a:sym typeface="+mn-ea"/>
                        </a:rPr>
                        <a:t>√</a:t>
                      </a:r>
                      <a:endParaRPr lang="en-US" altLang="zh-CN" sz="1200">
                        <a:latin typeface="微软雅黑" panose="020B0503020204020204" pitchFamily="34" charset="-122"/>
                        <a:ea typeface="微软雅黑" panose="020B0503020204020204" pitchFamily="3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80035">
                <a:tc vMerge="1">
                  <a:tcPr>
                    <a:lnL w="12700" cmpd="sng">
                      <a:solidFill>
                        <a:schemeClr val="tx1"/>
                      </a:solidFill>
                      <a:prstDash val="solid"/>
                    </a:lnL>
                    <a:lnR w="12700" cmpd="sng">
                      <a:solidFill>
                        <a:schemeClr val="tx1"/>
                      </a:solidFill>
                      <a:prstDash val="solid"/>
                    </a:lnR>
                  </a:tcPr>
                </a:tc>
                <a:tc vMerge="1">
                  <a:tcPr marL="7937" marR="7937" marT="7937" marB="0" anchor="ctr" anchorCtr="0">
                    <a:lnL w="12700" cmpd="sng">
                      <a:solidFill>
                        <a:schemeClr val="tx1"/>
                      </a:solidFill>
                      <a:prstDash val="solid"/>
                    </a:lnL>
                    <a:lnR w="12700" cmpd="sng">
                      <a:solidFill>
                        <a:schemeClr val="tx1"/>
                      </a:solidFill>
                      <a:prstDash val="solid"/>
                    </a:lnR>
                  </a:tcPr>
                </a:tc>
                <a:tc>
                  <a:txBody>
                    <a:bodyPr/>
                    <a:p>
                      <a:pPr algn="ctr" fontAlgn="ctr"/>
                      <a:r>
                        <a:rPr lang="en-US" altLang="zh-CN" sz="1200" b="0" i="0">
                          <a:latin typeface="微软雅黑" panose="020B0503020204020204" pitchFamily="34" charset="-122"/>
                          <a:ea typeface="微软雅黑" panose="020B0503020204020204" pitchFamily="34" charset="-122"/>
                        </a:rPr>
                        <a:t>5</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200">
                          <a:latin typeface="微软雅黑" panose="020B0503020204020204" pitchFamily="34" charset="-122"/>
                          <a:ea typeface="微软雅黑" panose="020B0503020204020204" pitchFamily="34" charset="-122"/>
                          <a:sym typeface="+mn-ea"/>
                        </a:rPr>
                        <a:t>√</a:t>
                      </a:r>
                      <a:endParaRPr lang="en-US" altLang="zh-CN" sz="1200">
                        <a:latin typeface="微软雅黑" panose="020B0503020204020204" pitchFamily="34" charset="-122"/>
                        <a:ea typeface="微软雅黑" panose="020B0503020204020204" pitchFamily="3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9400">
                <a:tc vMerge="1">
                  <a:tcPr>
                    <a:lnL w="12700" cmpd="sng">
                      <a:solidFill>
                        <a:schemeClr val="tx1"/>
                      </a:solidFill>
                      <a:prstDash val="solid"/>
                    </a:lnL>
                    <a:lnR w="12700" cmpd="sng">
                      <a:solidFill>
                        <a:schemeClr val="tx1"/>
                      </a:solidFill>
                      <a:prstDash val="solid"/>
                    </a:lnR>
                  </a:tcPr>
                </a:tc>
                <a:tc vMerge="1">
                  <a:tcPr marL="7937" marR="7937" marT="7937" marB="0" anchor="ctr" anchorCtr="0">
                    <a:lnL w="12700" cmpd="sng">
                      <a:solidFill>
                        <a:schemeClr val="tx1"/>
                      </a:solidFill>
                      <a:prstDash val="solid"/>
                    </a:lnL>
                    <a:lnR w="12700" cmpd="sng">
                      <a:solidFill>
                        <a:schemeClr val="tx1"/>
                      </a:solidFill>
                      <a:prstDash val="solid"/>
                    </a:lnR>
                  </a:tcPr>
                </a:tc>
                <a:tc>
                  <a:txBody>
                    <a:bodyPr/>
                    <a:p>
                      <a:pPr algn="ctr" fontAlgn="ctr"/>
                      <a:r>
                        <a:rPr lang="en-US" altLang="zh-CN" sz="1200" b="0" i="0">
                          <a:latin typeface="微软雅黑" panose="020B0503020204020204" pitchFamily="34" charset="-122"/>
                          <a:ea typeface="微软雅黑" panose="020B0503020204020204" pitchFamily="34" charset="-122"/>
                        </a:rPr>
                        <a:t>6</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200">
                          <a:latin typeface="微软雅黑" panose="020B0503020204020204" pitchFamily="34" charset="-122"/>
                          <a:ea typeface="微软雅黑" panose="020B0503020204020204" pitchFamily="34" charset="-122"/>
                          <a:sym typeface="+mn-ea"/>
                        </a:rPr>
                        <a:t>√</a:t>
                      </a:r>
                      <a:endParaRPr lang="en-US" altLang="zh-CN" sz="1200">
                        <a:latin typeface="微软雅黑" panose="020B0503020204020204" pitchFamily="34" charset="-122"/>
                        <a:ea typeface="微软雅黑" panose="020B0503020204020204" pitchFamily="3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9400">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marL="7937" marR="7937" marT="7937" marB="0" anchor="ctr" anchorCtr="0">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p>
                      <a:pPr algn="ctr" fontAlgn="ctr"/>
                      <a:r>
                        <a:rPr lang="en-US" altLang="zh-CN" sz="1200" b="0" i="0">
                          <a:latin typeface="微软雅黑" panose="020B0503020204020204" pitchFamily="34" charset="-122"/>
                          <a:ea typeface="微软雅黑" panose="020B0503020204020204" pitchFamily="34" charset="-122"/>
                        </a:rPr>
                        <a:t>7</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200">
                          <a:latin typeface="微软雅黑" panose="020B0503020204020204" pitchFamily="34" charset="-122"/>
                          <a:ea typeface="微软雅黑" panose="020B0503020204020204" pitchFamily="34" charset="-122"/>
                          <a:sym typeface="+mn-ea"/>
                        </a:rPr>
                        <a:t>√</a:t>
                      </a:r>
                      <a:endParaRPr lang="en-US" altLang="zh-CN" sz="1200">
                        <a:latin typeface="微软雅黑" panose="020B0503020204020204" pitchFamily="34" charset="-122"/>
                        <a:ea typeface="微软雅黑" panose="020B0503020204020204" pitchFamily="3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fontAlgn="ctr"/>
                      <a:r>
                        <a:rPr lang="en-US" altLang="zh-CN" sz="1200">
                          <a:latin typeface="微软雅黑" panose="020B0503020204020204" pitchFamily="34" charset="-122"/>
                          <a:ea typeface="微软雅黑" panose="020B0503020204020204" pitchFamily="34" charset="-122"/>
                          <a:sym typeface="+mn-ea"/>
                        </a:rPr>
                        <a:t>√</a:t>
                      </a:r>
                      <a:endParaRPr lang="en-US" altLang="zh-CN" sz="1200" b="0" i="0">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一、项目概况</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二、完成的主要工作量</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FF0000"/>
                </a:solidFill>
                <a:effectLst/>
                <a:uLnTx/>
                <a:uFillTx/>
                <a:latin typeface="方正大黑简体" panose="02000000000000000000" pitchFamily="65" charset="-122"/>
                <a:ea typeface="方正大黑简体" panose="02000000000000000000" pitchFamily="65" charset="-122"/>
                <a:cs typeface="+mn-cs"/>
              </a:rPr>
              <a:t>三、取得的主要成果</a:t>
            </a:r>
            <a:endParaRPr kumimoji="0" lang="zh-CN" altLang="en-US" sz="3200" b="0" i="0" u="none" strike="noStrike" kern="1200" cap="none" spc="0" normalizeH="0" baseline="0" noProof="0" dirty="0">
              <a:ln>
                <a:noFill/>
              </a:ln>
              <a:solidFill>
                <a:srgbClr val="FF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四、成果的应用及效果、效益</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五、认识与结论</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六、问题及建议</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七、项目的组织与HSE管理执行情况 </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44500" y="932815"/>
            <a:ext cx="11360150" cy="1174750"/>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600"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成果一、基于小波分析施工期压力曲线，揭示裂缝扩展事件响应特征，构建了改造体积微观评估体系</a:t>
            </a:r>
            <a:endParaRPr kumimoji="0" lang="zh-CN" altLang="en-US" sz="3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2" name="Text Box 6"/>
          <p:cNvSpPr txBox="1">
            <a:spLocks noChangeArrowheads="1"/>
          </p:cNvSpPr>
          <p:nvPr/>
        </p:nvSpPr>
        <p:spPr bwMode="auto">
          <a:xfrm>
            <a:off x="444500" y="2025650"/>
            <a:ext cx="11360785" cy="3905885"/>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（一）研究背景</a:t>
            </a:r>
            <a:r>
              <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调研</a:t>
            </a:r>
            <a:endPar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（二）</a:t>
            </a:r>
            <a:r>
              <a:rPr lang="zh-CN" altLang="en-US" sz="2400" b="1" noProof="0" dirty="0">
                <a:ln>
                  <a:noFill/>
                </a:ln>
                <a:effectLst/>
                <a:uLnTx/>
                <a:uFillTx/>
                <a:latin typeface="微软雅黑" panose="020B0503020204020204" pitchFamily="34" charset="-122"/>
                <a:ea typeface="微软雅黑" panose="020B0503020204020204" pitchFamily="34" charset="-122"/>
                <a:sym typeface="+mn-ea"/>
              </a:rPr>
              <a:t>小波分析模型构建</a:t>
            </a:r>
            <a:endPar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（三）</a:t>
            </a:r>
            <a:r>
              <a:rPr lang="zh-CN" altLang="en-US" sz="2400" b="1" noProof="0" dirty="0">
                <a:ln>
                  <a:noFill/>
                </a:ln>
                <a:effectLst/>
                <a:uLnTx/>
                <a:uFillTx/>
                <a:latin typeface="微软雅黑" panose="020B0503020204020204" pitchFamily="34" charset="-122"/>
                <a:ea typeface="微软雅黑" panose="020B0503020204020204" pitchFamily="34" charset="-122"/>
                <a:sym typeface="+mn-ea"/>
              </a:rPr>
              <a:t>小波评价指标构建</a:t>
            </a:r>
            <a:endPar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（四）小波评价指标分析</a:t>
            </a:r>
            <a:endPar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现状及存在问题</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solidFill>
                  <a:schemeClr val="tx1">
                    <a:lumMod val="95000"/>
                    <a:lumOff val="5000"/>
                  </a:schemeClr>
                </a:solidFill>
                <a:cs typeface="Times New Roman" panose="02020603050405020304" pitchFamily="18" charset="0"/>
                <a:sym typeface="+mn-ea"/>
              </a:rPr>
              <a:t>微地震、光纤等监测技术</a:t>
            </a:r>
            <a:r>
              <a:rPr lang="zh-CN" altLang="en-US" sz="1600" dirty="0">
                <a:solidFill>
                  <a:srgbClr val="FF0000"/>
                </a:solidFill>
                <a:cs typeface="Times New Roman" panose="02020603050405020304" pitchFamily="18" charset="0"/>
                <a:sym typeface="+mn-ea"/>
              </a:rPr>
              <a:t>成本较高</a:t>
            </a:r>
            <a:r>
              <a:rPr lang="zh-CN" altLang="en-US" sz="1600" dirty="0">
                <a:solidFill>
                  <a:schemeClr val="tx1">
                    <a:lumMod val="95000"/>
                    <a:lumOff val="5000"/>
                  </a:schemeClr>
                </a:solidFill>
                <a:cs typeface="Times New Roman" panose="02020603050405020304" pitchFamily="18" charset="0"/>
                <a:sym typeface="+mn-ea"/>
              </a:rPr>
              <a:t>，现场难以大规模推广；压裂施工曲线获取较为容易</a:t>
            </a:r>
            <a:endParaRPr lang="zh-CN" altLang="en-US" sz="1600" dirty="0">
              <a:solidFill>
                <a:srgbClr val="FF0000"/>
              </a:solidFill>
              <a:cs typeface="微软雅黑" panose="020B0503020204020204" pitchFamily="34" charset="-122"/>
            </a:endParaRPr>
          </a:p>
          <a:p>
            <a:pPr marL="342900" indent="-342900" algn="just">
              <a:lnSpc>
                <a:spcPct val="150000"/>
              </a:lnSpc>
              <a:buClr>
                <a:srgbClr val="FF0000"/>
              </a:buClr>
              <a:buFont typeface="Wingdings" panose="05000000000000000000" charset="0"/>
              <a:buChar char="l"/>
            </a:pPr>
            <a:r>
              <a:rPr lang="zh-CN" altLang="en-US" sz="1600">
                <a:sym typeface="+mn-ea"/>
              </a:rPr>
              <a:t>依赖</a:t>
            </a:r>
            <a:r>
              <a:rPr lang="en-US" altLang="zh-CN" sz="1600">
                <a:sym typeface="+mn-ea"/>
              </a:rPr>
              <a:t>EUR</a:t>
            </a:r>
            <a:r>
              <a:rPr lang="zh-CN" altLang="en-US" sz="1600">
                <a:sym typeface="+mn-ea"/>
              </a:rPr>
              <a:t>等产量指标的压裂改造效果评估，</a:t>
            </a:r>
            <a:r>
              <a:rPr lang="zh-CN" altLang="en-US" sz="1600">
                <a:solidFill>
                  <a:srgbClr val="FF0000"/>
                </a:solidFill>
                <a:sym typeface="+mn-ea"/>
              </a:rPr>
              <a:t>时间周期较长</a:t>
            </a:r>
            <a:r>
              <a:rPr lang="zh-CN" altLang="en-US" sz="1600">
                <a:sym typeface="+mn-ea"/>
              </a:rPr>
              <a:t>，反馈较慢，难以对压裂改造效果实时评估</a:t>
            </a:r>
            <a:endParaRPr lang="zh-CN" altLang="en-US" sz="1600">
              <a:sym typeface="+mn-ea"/>
            </a:endParaRPr>
          </a:p>
          <a:p>
            <a:pPr marL="342900" indent="-342900" algn="just">
              <a:lnSpc>
                <a:spcPct val="150000"/>
              </a:lnSpc>
              <a:buClr>
                <a:srgbClr val="FF0000"/>
              </a:buClr>
              <a:buFont typeface="Wingdings" panose="05000000000000000000" charset="0"/>
              <a:buChar char="l"/>
            </a:pPr>
            <a:r>
              <a:rPr lang="zh-CN" altLang="en-US" sz="1600">
                <a:sym typeface="+mn-ea"/>
              </a:rPr>
              <a:t>现有压裂曲线分析多停留在宏观趋势判断，缺乏细粒度分析手段，</a:t>
            </a:r>
            <a:r>
              <a:rPr lang="zh-CN" altLang="en-US" sz="1600">
                <a:solidFill>
                  <a:srgbClr val="FF0000"/>
                </a:solidFill>
                <a:sym typeface="+mn-ea"/>
              </a:rPr>
              <a:t>难以客观量化</a:t>
            </a:r>
            <a:r>
              <a:rPr lang="zh-CN" altLang="en-US" sz="1600">
                <a:sym typeface="+mn-ea"/>
              </a:rPr>
              <a:t>改造效果</a:t>
            </a:r>
            <a:endParaRPr lang="zh-CN" altLang="en-US" sz="1600">
              <a:sym typeface="+mn-ea"/>
            </a:endParaRPr>
          </a:p>
        </p:txBody>
      </p:sp>
      <p:sp>
        <p:nvSpPr>
          <p:cNvPr id="16"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pic>
        <p:nvPicPr>
          <p:cNvPr id="52" name="图片 51"/>
          <p:cNvPicPr>
            <a:picLocks noChangeAspect="1"/>
          </p:cNvPicPr>
          <p:nvPr/>
        </p:nvPicPr>
        <p:blipFill>
          <a:blip r:embed="rId1"/>
          <a:stretch>
            <a:fillRect/>
          </a:stretch>
        </p:blipFill>
        <p:spPr>
          <a:xfrm>
            <a:off x="704215" y="4779010"/>
            <a:ext cx="4465955" cy="1275080"/>
          </a:xfrm>
          <a:prstGeom prst="rect">
            <a:avLst/>
          </a:prstGeom>
          <a:ln>
            <a:noFill/>
          </a:ln>
        </p:spPr>
      </p:pic>
      <p:sp>
        <p:nvSpPr>
          <p:cNvPr id="51" name="矩形 50"/>
          <p:cNvSpPr/>
          <p:nvPr/>
        </p:nvSpPr>
        <p:spPr>
          <a:xfrm>
            <a:off x="1635125" y="4489450"/>
            <a:ext cx="2880000" cy="286385"/>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EUR</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标定周期长</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p:cNvPicPr>
            <a:picLocks noChangeAspect="1"/>
          </p:cNvPicPr>
          <p:nvPr/>
        </p:nvPicPr>
        <p:blipFill>
          <a:blip r:embed="rId2"/>
          <a:stretch>
            <a:fillRect/>
          </a:stretch>
        </p:blipFill>
        <p:spPr>
          <a:xfrm>
            <a:off x="825500" y="2886710"/>
            <a:ext cx="2028825" cy="1564005"/>
          </a:xfrm>
          <a:prstGeom prst="rect">
            <a:avLst/>
          </a:prstGeom>
          <a:ln>
            <a:noFill/>
          </a:ln>
        </p:spPr>
      </p:pic>
      <p:sp>
        <p:nvSpPr>
          <p:cNvPr id="14" name="矩形 13"/>
          <p:cNvSpPr/>
          <p:nvPr/>
        </p:nvSpPr>
        <p:spPr>
          <a:xfrm>
            <a:off x="1635125" y="2552700"/>
            <a:ext cx="2880000" cy="286385"/>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微地震、光纤等技术成本高昂</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7" name="图片 16"/>
          <p:cNvPicPr>
            <a:picLocks noChangeAspect="1"/>
          </p:cNvPicPr>
          <p:nvPr/>
        </p:nvPicPr>
        <p:blipFill>
          <a:blip r:embed="rId3"/>
          <a:stretch>
            <a:fillRect/>
          </a:stretch>
        </p:blipFill>
        <p:spPr>
          <a:xfrm>
            <a:off x="2905760" y="2891790"/>
            <a:ext cx="2189480" cy="1551305"/>
          </a:xfrm>
          <a:prstGeom prst="rect">
            <a:avLst/>
          </a:prstGeom>
          <a:ln>
            <a:noFill/>
          </a:ln>
        </p:spPr>
      </p:pic>
      <p:sp>
        <p:nvSpPr>
          <p:cNvPr id="19" name="文本框 1"/>
          <p:cNvSpPr txBox="1">
            <a:spLocks noChangeArrowheads="1"/>
          </p:cNvSpPr>
          <p:nvPr/>
        </p:nvSpPr>
        <p:spPr bwMode="auto">
          <a:xfrm>
            <a:off x="825500" y="6074410"/>
            <a:ext cx="1081341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现有压裂效果评估技术存在问题</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41" name="图片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49570" y="2886710"/>
            <a:ext cx="3096260" cy="1622425"/>
          </a:xfrm>
          <a:prstGeom prst="rect">
            <a:avLst/>
          </a:prstGeom>
          <a:ln>
            <a:noFill/>
          </a:ln>
        </p:spPr>
      </p:pic>
      <p:pic>
        <p:nvPicPr>
          <p:cNvPr id="40" name="图片 39"/>
          <p:cNvPicPr>
            <a:picLocks noChangeAspect="1"/>
          </p:cNvPicPr>
          <p:nvPr/>
        </p:nvPicPr>
        <p:blipFill>
          <a:blip r:embed="rId5"/>
          <a:stretch>
            <a:fillRect/>
          </a:stretch>
        </p:blipFill>
        <p:spPr>
          <a:xfrm>
            <a:off x="5449570" y="4618990"/>
            <a:ext cx="3110865" cy="1434465"/>
          </a:xfrm>
          <a:prstGeom prst="rect">
            <a:avLst/>
          </a:prstGeom>
          <a:ln>
            <a:noFill/>
          </a:ln>
        </p:spPr>
      </p:pic>
      <p:pic>
        <p:nvPicPr>
          <p:cNvPr id="23" name="图片 22"/>
          <p:cNvPicPr>
            <a:picLocks noChangeAspect="1"/>
          </p:cNvPicPr>
          <p:nvPr/>
        </p:nvPicPr>
        <p:blipFill rotWithShape="1">
          <a:blip r:embed="rId6"/>
          <a:srcRect r="4202"/>
          <a:stretch>
            <a:fillRect/>
          </a:stretch>
        </p:blipFill>
        <p:spPr>
          <a:xfrm>
            <a:off x="8573135" y="2886710"/>
            <a:ext cx="3065780" cy="3168650"/>
          </a:xfrm>
          <a:prstGeom prst="rect">
            <a:avLst/>
          </a:prstGeom>
        </p:spPr>
      </p:pic>
      <p:sp>
        <p:nvSpPr>
          <p:cNvPr id="24" name="矩形 23"/>
          <p:cNvSpPr/>
          <p:nvPr/>
        </p:nvSpPr>
        <p:spPr>
          <a:xfrm>
            <a:off x="6969125" y="2552700"/>
            <a:ext cx="2880000" cy="286385"/>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压裂曲线分析定性多，定量少</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研究</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背景</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b="1" dirty="0">
                <a:cs typeface="Times New Roman" panose="02020603050405020304" pitchFamily="18" charset="0"/>
              </a:rPr>
              <a:t>成本高</a:t>
            </a:r>
            <a:r>
              <a:rPr lang="en-US" altLang="zh-CN" sz="1600" dirty="0">
                <a:cs typeface="Times New Roman" panose="02020603050405020304" pitchFamily="18" charset="0"/>
              </a:rPr>
              <a:t>→</a:t>
            </a:r>
            <a:r>
              <a:rPr lang="zh-CN" altLang="en-US" sz="1600" dirty="0">
                <a:cs typeface="Times New Roman" panose="02020603050405020304" pitchFamily="18" charset="0"/>
              </a:rPr>
              <a:t>小波分析充分利用现场已有的</a:t>
            </a:r>
            <a:r>
              <a:rPr lang="zh-CN" altLang="en-US" sz="1600" dirty="0">
                <a:solidFill>
                  <a:srgbClr val="FF0000"/>
                </a:solidFill>
                <a:cs typeface="Times New Roman" panose="02020603050405020304" pitchFamily="18" charset="0"/>
              </a:rPr>
              <a:t>压力、排量、砂浓度曲线</a:t>
            </a:r>
            <a:r>
              <a:rPr lang="zh-CN" altLang="en-US" sz="1600" dirty="0">
                <a:cs typeface="Times New Roman" panose="02020603050405020304" pitchFamily="18" charset="0"/>
              </a:rPr>
              <a:t>，避免额外监测投入，实现成本可控</a:t>
            </a:r>
            <a:endParaRPr lang="zh-CN" altLang="en-US" sz="1600" dirty="0">
              <a:cs typeface="Times New Roman" panose="02020603050405020304" pitchFamily="18" charset="0"/>
            </a:endParaRPr>
          </a:p>
          <a:p>
            <a:pPr marL="342900" indent="-342900" algn="just">
              <a:lnSpc>
                <a:spcPct val="150000"/>
              </a:lnSpc>
              <a:buClr>
                <a:srgbClr val="FF0000"/>
              </a:buClr>
              <a:buFont typeface="Wingdings" panose="05000000000000000000" charset="0"/>
              <a:buChar char="l"/>
            </a:pPr>
            <a:r>
              <a:rPr lang="zh-CN" altLang="en-US" sz="1600" b="1" dirty="0">
                <a:cs typeface="Times New Roman" panose="02020603050405020304" pitchFamily="18" charset="0"/>
              </a:rPr>
              <a:t>周期长</a:t>
            </a:r>
            <a:r>
              <a:rPr lang="en-US" altLang="zh-CN" sz="1600" dirty="0">
                <a:cs typeface="Times New Roman" panose="02020603050405020304" pitchFamily="18" charset="0"/>
                <a:sym typeface="+mn-ea"/>
              </a:rPr>
              <a:t>→</a:t>
            </a:r>
            <a:r>
              <a:rPr lang="zh-CN" altLang="en-US" sz="1600" dirty="0">
                <a:cs typeface="Times New Roman" panose="02020603050405020304" pitchFamily="18" charset="0"/>
                <a:sym typeface="+mn-ea"/>
              </a:rPr>
              <a:t>小波分析可在</a:t>
            </a:r>
            <a:r>
              <a:rPr lang="zh-CN" altLang="en-US" sz="1600" dirty="0">
                <a:solidFill>
                  <a:srgbClr val="FF0000"/>
                </a:solidFill>
                <a:cs typeface="Times New Roman" panose="02020603050405020304" pitchFamily="18" charset="0"/>
              </a:rPr>
              <a:t>施工期</a:t>
            </a:r>
            <a:r>
              <a:rPr lang="zh-CN" altLang="en-US" sz="1600" dirty="0">
                <a:cs typeface="Times New Roman" panose="02020603050405020304" pitchFamily="18" charset="0"/>
              </a:rPr>
              <a:t>实时捕捉曲线变化，实现压裂效果的</a:t>
            </a:r>
            <a:r>
              <a:rPr lang="zh-CN" altLang="en-US" sz="1600" dirty="0">
                <a:solidFill>
                  <a:srgbClr val="FF0000"/>
                </a:solidFill>
                <a:cs typeface="Times New Roman" panose="02020603050405020304" pitchFamily="18" charset="0"/>
              </a:rPr>
              <a:t>快速反馈</a:t>
            </a:r>
            <a:endParaRPr lang="zh-CN" altLang="en-US" sz="1600" dirty="0">
              <a:cs typeface="Times New Roman" panose="02020603050405020304" pitchFamily="18" charset="0"/>
            </a:endParaRPr>
          </a:p>
          <a:p>
            <a:pPr marL="342900" indent="-342900" algn="just">
              <a:lnSpc>
                <a:spcPct val="150000"/>
              </a:lnSpc>
              <a:buClr>
                <a:srgbClr val="FF0000"/>
              </a:buClr>
              <a:buFont typeface="Wingdings" panose="05000000000000000000" charset="0"/>
              <a:buChar char="l"/>
            </a:pPr>
            <a:r>
              <a:rPr lang="zh-CN" altLang="en-US" sz="1600" b="1" dirty="0">
                <a:cs typeface="Times New Roman" panose="02020603050405020304" pitchFamily="18" charset="0"/>
              </a:rPr>
              <a:t>难以量化</a:t>
            </a:r>
            <a:r>
              <a:rPr lang="en-US" altLang="zh-CN" sz="1600" dirty="0">
                <a:cs typeface="Times New Roman" panose="02020603050405020304" pitchFamily="18" charset="0"/>
                <a:sym typeface="+mn-ea"/>
              </a:rPr>
              <a:t>→</a:t>
            </a:r>
            <a:r>
              <a:rPr lang="zh-CN" altLang="en-US" sz="1600" dirty="0">
                <a:cs typeface="Times New Roman" panose="02020603050405020304" pitchFamily="18" charset="0"/>
                <a:sym typeface="+mn-ea"/>
              </a:rPr>
              <a:t>小波分析能够提取信号的</a:t>
            </a:r>
            <a:r>
              <a:rPr lang="zh-CN" altLang="en-US" sz="1600" dirty="0">
                <a:cs typeface="Times New Roman" panose="02020603050405020304" pitchFamily="18" charset="0"/>
              </a:rPr>
              <a:t>多尺度特征，将</a:t>
            </a:r>
            <a:r>
              <a:rPr lang="zh-CN" altLang="en-US" sz="1600" dirty="0">
                <a:solidFill>
                  <a:srgbClr val="FF0000"/>
                </a:solidFill>
                <a:cs typeface="Times New Roman" panose="02020603050405020304" pitchFamily="18" charset="0"/>
              </a:rPr>
              <a:t>裂缝扩展频次与强度</a:t>
            </a:r>
            <a:r>
              <a:rPr lang="zh-CN" altLang="en-US" sz="1600" dirty="0">
                <a:cs typeface="Times New Roman" panose="02020603050405020304" pitchFamily="18" charset="0"/>
              </a:rPr>
              <a:t>等转化为量化指标</a:t>
            </a:r>
            <a:endParaRPr lang="zh-CN" altLang="en-US" sz="1600" dirty="0">
              <a:cs typeface="Times New Roman" panose="02020603050405020304" pitchFamily="18" charset="0"/>
            </a:endParaRPr>
          </a:p>
        </p:txBody>
      </p:sp>
      <p:sp>
        <p:nvSpPr>
          <p:cNvPr id="15" name="文本框 1"/>
          <p:cNvSpPr txBox="1">
            <a:spLocks noChangeArrowheads="1"/>
          </p:cNvSpPr>
          <p:nvPr/>
        </p:nvSpPr>
        <p:spPr bwMode="auto">
          <a:xfrm>
            <a:off x="4991100" y="6099175"/>
            <a:ext cx="674814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采用小波变换对改造效果进行量化</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6" name="文本框 1"/>
          <p:cNvSpPr txBox="1">
            <a:spLocks noChangeArrowheads="1"/>
          </p:cNvSpPr>
          <p:nvPr/>
        </p:nvSpPr>
        <p:spPr bwMode="auto">
          <a:xfrm>
            <a:off x="475615" y="6091555"/>
            <a:ext cx="444944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采用小波变换对施工曲线进行实时分析</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9"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958080" y="2654300"/>
            <a:ext cx="6781165" cy="3361055"/>
            <a:chOff x="1437" y="4379"/>
            <a:chExt cx="15801" cy="5743"/>
          </a:xfrm>
        </p:grpSpPr>
        <p:sp>
          <p:nvSpPr>
            <p:cNvPr id="12" name="文本框 1"/>
            <p:cNvSpPr txBox="1">
              <a:spLocks noChangeArrowheads="1"/>
            </p:cNvSpPr>
            <p:nvPr/>
          </p:nvSpPr>
          <p:spPr bwMode="auto">
            <a:xfrm>
              <a:off x="1437" y="8785"/>
              <a:ext cx="1050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多尺度小波基函数</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3"/>
            <p:cNvPicPr>
              <a:picLocks noChangeAspect="1"/>
            </p:cNvPicPr>
            <p:nvPr/>
          </p:nvPicPr>
          <p:blipFill>
            <a:blip r:embed="rId1">
              <a:extLst>
                <a:ext uri="{28A0092B-C50C-407E-A947-70E740481C1C}">
                  <a14:useLocalDpi xmlns:a14="http://schemas.microsoft.com/office/drawing/2010/main" val="0"/>
                </a:ext>
              </a:extLst>
            </a:blip>
            <a:srcRect b="54115"/>
            <a:stretch>
              <a:fillRect/>
            </a:stretch>
          </p:blipFill>
          <p:spPr bwMode="auto">
            <a:xfrm>
              <a:off x="8971" y="4471"/>
              <a:ext cx="8267" cy="2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
            <p:cNvPicPr>
              <a:picLocks noChangeAspect="1"/>
            </p:cNvPicPr>
            <p:nvPr/>
          </p:nvPicPr>
          <p:blipFill>
            <a:blip r:embed="rId2">
              <a:extLst>
                <a:ext uri="{28A0092B-C50C-407E-A947-70E740481C1C}">
                  <a14:useLocalDpi xmlns:a14="http://schemas.microsoft.com/office/drawing/2010/main" val="0"/>
                </a:ext>
              </a:extLst>
            </a:blip>
            <a:srcRect b="8830"/>
            <a:stretch>
              <a:fillRect/>
            </a:stretch>
          </p:blipFill>
          <p:spPr bwMode="auto">
            <a:xfrm>
              <a:off x="9119" y="7081"/>
              <a:ext cx="7991" cy="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Content Placeholder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13" y="4379"/>
              <a:ext cx="7456" cy="5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3"/>
            <p:cNvSpPr>
              <a:spLocks noChangeArrowheads="1"/>
            </p:cNvSpPr>
            <p:nvPr/>
          </p:nvSpPr>
          <p:spPr bwMode="auto">
            <a:xfrm>
              <a:off x="5591" y="4781"/>
              <a:ext cx="3213"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FF0000"/>
                  </a:solidFill>
                  <a:latin typeface="微软雅黑" panose="020B0503020204020204" pitchFamily="34" charset="-122"/>
                  <a:ea typeface="微软雅黑" panose="020B0503020204020204" pitchFamily="34" charset="-122"/>
                </a:rPr>
                <a:t>压裂施工曲线</a:t>
              </a:r>
              <a:endParaRPr lang="zh-CN" altLang="en-US" sz="1400" dirty="0">
                <a:latin typeface="Times New Roman" panose="02020603050405020304" pitchFamily="18" charset="0"/>
              </a:endParaRPr>
            </a:p>
          </p:txBody>
        </p:sp>
        <p:sp>
          <p:nvSpPr>
            <p:cNvPr id="21" name="上弧形箭头 12"/>
            <p:cNvSpPr>
              <a:spLocks noChangeArrowheads="1"/>
            </p:cNvSpPr>
            <p:nvPr/>
          </p:nvSpPr>
          <p:spPr bwMode="auto">
            <a:xfrm>
              <a:off x="6041" y="5348"/>
              <a:ext cx="4126" cy="607"/>
            </a:xfrm>
            <a:prstGeom prst="curvedDownArrow">
              <a:avLst>
                <a:gd name="adj1" fmla="val 25074"/>
                <a:gd name="adj2" fmla="val 50179"/>
                <a:gd name="adj3" fmla="val 25000"/>
              </a:avLst>
            </a:prstGeom>
            <a:solidFill>
              <a:srgbClr val="FF0000"/>
            </a:solidFill>
            <a:ln w="9525" algn="ctr">
              <a:solidFill>
                <a:schemeClr val="tx1"/>
              </a:solidFill>
              <a:round/>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60000"/>
                </a:lnSpc>
              </a:pPr>
              <a:endParaRPr lang="zh-CN" altLang="en-US" sz="2000" b="1">
                <a:ea typeface="楷体_GB2312" pitchFamily="49" charset="-122"/>
              </a:endParaRPr>
            </a:p>
          </p:txBody>
        </p:sp>
        <p:sp>
          <p:nvSpPr>
            <p:cNvPr id="22" name="矩形 15"/>
            <p:cNvSpPr>
              <a:spLocks noChangeArrowheads="1"/>
            </p:cNvSpPr>
            <p:nvPr/>
          </p:nvSpPr>
          <p:spPr bwMode="auto">
            <a:xfrm>
              <a:off x="11712" y="9591"/>
              <a:ext cx="5398"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FF0000"/>
                  </a:solidFill>
                  <a:latin typeface="微软雅黑" panose="020B0503020204020204" pitchFamily="34" charset="-122"/>
                  <a:ea typeface="微软雅黑" panose="020B0503020204020204" pitchFamily="34" charset="-122"/>
                </a:rPr>
                <a:t>实时分析与量化改造效果</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grpSp>
      <p:pic>
        <p:nvPicPr>
          <p:cNvPr id="17" name="图片 16" descr="泸203H10-1井加砂压裂第1段曲线"/>
          <p:cNvPicPr>
            <a:picLocks noChangeAspect="1"/>
          </p:cNvPicPr>
          <p:nvPr/>
        </p:nvPicPr>
        <p:blipFill>
          <a:blip r:embed="rId4"/>
          <a:stretch>
            <a:fillRect/>
          </a:stretch>
        </p:blipFill>
        <p:spPr>
          <a:xfrm>
            <a:off x="443230" y="2625725"/>
            <a:ext cx="4482465" cy="3388995"/>
          </a:xfrm>
          <a:prstGeom prst="rect">
            <a:avLst/>
          </a:prstGeom>
        </p:spPr>
      </p:pic>
      <p:pic>
        <p:nvPicPr>
          <p:cNvPr id="18" name="图片 17"/>
          <p:cNvPicPr>
            <a:picLocks noChangeAspect="1"/>
          </p:cNvPicPr>
          <p:nvPr/>
        </p:nvPicPr>
        <p:blipFill>
          <a:blip r:embed="rId5"/>
          <a:stretch>
            <a:fillRect/>
          </a:stretch>
        </p:blipFill>
        <p:spPr>
          <a:xfrm>
            <a:off x="1801495" y="3903980"/>
            <a:ext cx="359410" cy="331470"/>
          </a:xfrm>
          <a:prstGeom prst="rect">
            <a:avLst/>
          </a:prstGeom>
        </p:spPr>
      </p:pic>
      <p:pic>
        <p:nvPicPr>
          <p:cNvPr id="32" name="图片 31"/>
          <p:cNvPicPr>
            <a:picLocks noChangeAspect="1"/>
          </p:cNvPicPr>
          <p:nvPr/>
        </p:nvPicPr>
        <p:blipFill>
          <a:blip r:embed="rId5"/>
          <a:stretch>
            <a:fillRect/>
          </a:stretch>
        </p:blipFill>
        <p:spPr>
          <a:xfrm>
            <a:off x="1801495" y="4752975"/>
            <a:ext cx="359410" cy="331470"/>
          </a:xfrm>
          <a:prstGeom prst="rect">
            <a:avLst/>
          </a:prstGeom>
        </p:spPr>
      </p:pic>
      <p:sp>
        <p:nvSpPr>
          <p:cNvPr id="33" name="椭圆 32"/>
          <p:cNvSpPr/>
          <p:nvPr/>
        </p:nvSpPr>
        <p:spPr>
          <a:xfrm>
            <a:off x="1977390" y="5655310"/>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4" name="椭圆 33"/>
          <p:cNvSpPr/>
          <p:nvPr/>
        </p:nvSpPr>
        <p:spPr>
          <a:xfrm>
            <a:off x="2089150" y="5601970"/>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5" name="椭圆 34"/>
          <p:cNvSpPr/>
          <p:nvPr/>
        </p:nvSpPr>
        <p:spPr>
          <a:xfrm>
            <a:off x="2188210" y="5551805"/>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6" name="椭圆 35"/>
          <p:cNvSpPr/>
          <p:nvPr/>
        </p:nvSpPr>
        <p:spPr>
          <a:xfrm>
            <a:off x="2287270" y="5481320"/>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7" name="椭圆 36"/>
          <p:cNvSpPr/>
          <p:nvPr/>
        </p:nvSpPr>
        <p:spPr>
          <a:xfrm>
            <a:off x="2422525" y="5427345"/>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8" name="椭圆 37"/>
          <p:cNvSpPr/>
          <p:nvPr/>
        </p:nvSpPr>
        <p:spPr>
          <a:xfrm>
            <a:off x="2809240" y="5429885"/>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9" name="椭圆 38"/>
          <p:cNvSpPr/>
          <p:nvPr/>
        </p:nvSpPr>
        <p:spPr>
          <a:xfrm>
            <a:off x="2860675" y="5493385"/>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0" name="椭圆 39"/>
          <p:cNvSpPr/>
          <p:nvPr/>
        </p:nvSpPr>
        <p:spPr>
          <a:xfrm>
            <a:off x="3220720" y="5551805"/>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1" name="椭圆 40"/>
          <p:cNvSpPr/>
          <p:nvPr/>
        </p:nvSpPr>
        <p:spPr>
          <a:xfrm>
            <a:off x="3319780" y="5601970"/>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2" name="椭圆 41"/>
          <p:cNvSpPr/>
          <p:nvPr/>
        </p:nvSpPr>
        <p:spPr>
          <a:xfrm>
            <a:off x="3411220" y="5529580"/>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3" name="椭圆 42"/>
          <p:cNvSpPr/>
          <p:nvPr/>
        </p:nvSpPr>
        <p:spPr>
          <a:xfrm>
            <a:off x="3807460" y="5547360"/>
            <a:ext cx="54000" cy="540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00"/>
                                  </p:stCondLst>
                                  <p:childTnLst>
                                    <p:animMotion origin="layout" path="M 0 0 L 0.165885 0 " pathEditMode="relative" rAng="0" ptsTypes="">
                                      <p:cBhvr>
                                        <p:cTn id="6" dur="5000" fill="hold"/>
                                        <p:tgtEl>
                                          <p:spTgt spid="18"/>
                                        </p:tgtEl>
                                        <p:attrNameLst>
                                          <p:attrName>ppt_x</p:attrName>
                                          <p:attrName>ppt_y</p:attrName>
                                        </p:attrNameLst>
                                      </p:cBhvr>
                                      <p:rCtr x="79" y="0"/>
                                    </p:animMotion>
                                  </p:childTnLst>
                                </p:cTn>
                              </p:par>
                              <p:par>
                                <p:cTn id="7" presetID="0" presetClass="path" presetSubtype="0" accel="50000" decel="50000" fill="hold" nodeType="withEffect">
                                  <p:stCondLst>
                                    <p:cond delay="100"/>
                                  </p:stCondLst>
                                  <p:childTnLst>
                                    <p:animMotion origin="layout" path="M 0 0 L 0.165885 0 " pathEditMode="relative" rAng="0" ptsTypes="">
                                      <p:cBhvr>
                                        <p:cTn id="8" dur="5000" fill="hold"/>
                                        <p:tgtEl>
                                          <p:spTgt spid="32"/>
                                        </p:tgtEl>
                                        <p:attrNameLst>
                                          <p:attrName>ppt_x</p:attrName>
                                          <p:attrName>ppt_y</p:attrName>
                                        </p:attrNameLst>
                                      </p:cBhvr>
                                      <p:rCtr x="79" y="0"/>
                                    </p:animMotion>
                                  </p:childTnLst>
                                </p:cTn>
                              </p:par>
                              <p:par>
                                <p:cTn id="9" presetID="22" presetClass="entr" presetSubtype="4"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down)">
                                      <p:cBhvr>
                                        <p:cTn id="11" dur="500"/>
                                        <p:tgtEl>
                                          <p:spTgt spid="33"/>
                                        </p:tgtEl>
                                      </p:cBhvr>
                                    </p:animEffect>
                                  </p:childTnLst>
                                </p:cTn>
                              </p:par>
                              <p:par>
                                <p:cTn id="12" presetID="22" presetClass="entr" presetSubtype="4" fill="hold" grpId="0" nodeType="withEffect">
                                  <p:stCondLst>
                                    <p:cond delay="500"/>
                                  </p:stCondLst>
                                  <p:childTnLst>
                                    <p:set>
                                      <p:cBhvr>
                                        <p:cTn id="13" dur="1" fill="hold">
                                          <p:stCondLst>
                                            <p:cond delay="0"/>
                                          </p:stCondLst>
                                        </p:cTn>
                                        <p:tgtEl>
                                          <p:spTgt spid="34"/>
                                        </p:tgtEl>
                                        <p:attrNameLst>
                                          <p:attrName>style.visibility</p:attrName>
                                        </p:attrNameLst>
                                      </p:cBhvr>
                                      <p:to>
                                        <p:strVal val="visible"/>
                                      </p:to>
                                    </p:set>
                                    <p:animEffect transition="in" filter="wipe(down)">
                                      <p:cBhvr>
                                        <p:cTn id="14" dur="500"/>
                                        <p:tgtEl>
                                          <p:spTgt spid="34"/>
                                        </p:tgtEl>
                                      </p:cBhvr>
                                    </p:animEffect>
                                  </p:childTnLst>
                                </p:cTn>
                              </p:par>
                              <p:par>
                                <p:cTn id="15" presetID="22" presetClass="entr" presetSubtype="4" fill="hold" grpId="0" nodeType="withEffect">
                                  <p:stCondLst>
                                    <p:cond delay="1000"/>
                                  </p:stCondLst>
                                  <p:childTnLst>
                                    <p:set>
                                      <p:cBhvr>
                                        <p:cTn id="16" dur="1" fill="hold">
                                          <p:stCondLst>
                                            <p:cond delay="0"/>
                                          </p:stCondLst>
                                        </p:cTn>
                                        <p:tgtEl>
                                          <p:spTgt spid="35"/>
                                        </p:tgtEl>
                                        <p:attrNameLst>
                                          <p:attrName>style.visibility</p:attrName>
                                        </p:attrNameLst>
                                      </p:cBhvr>
                                      <p:to>
                                        <p:strVal val="visible"/>
                                      </p:to>
                                    </p:set>
                                    <p:animEffect transition="in" filter="wipe(down)">
                                      <p:cBhvr>
                                        <p:cTn id="17" dur="500"/>
                                        <p:tgtEl>
                                          <p:spTgt spid="35"/>
                                        </p:tgtEl>
                                      </p:cBhvr>
                                    </p:animEffect>
                                  </p:childTnLst>
                                </p:cTn>
                              </p:par>
                              <p:par>
                                <p:cTn id="18" presetID="22" presetClass="entr" presetSubtype="4" fill="hold" grpId="0" nodeType="withEffect">
                                  <p:stCondLst>
                                    <p:cond delay="1500"/>
                                  </p:stCondLst>
                                  <p:childTnLst>
                                    <p:set>
                                      <p:cBhvr>
                                        <p:cTn id="19" dur="1" fill="hold">
                                          <p:stCondLst>
                                            <p:cond delay="0"/>
                                          </p:stCondLst>
                                        </p:cTn>
                                        <p:tgtEl>
                                          <p:spTgt spid="36"/>
                                        </p:tgtEl>
                                        <p:attrNameLst>
                                          <p:attrName>style.visibility</p:attrName>
                                        </p:attrNameLst>
                                      </p:cBhvr>
                                      <p:to>
                                        <p:strVal val="visible"/>
                                      </p:to>
                                    </p:set>
                                    <p:animEffect transition="in" filter="wipe(down)">
                                      <p:cBhvr>
                                        <p:cTn id="20" dur="500"/>
                                        <p:tgtEl>
                                          <p:spTgt spid="36"/>
                                        </p:tgtEl>
                                      </p:cBhvr>
                                    </p:animEffect>
                                  </p:childTnLst>
                                </p:cTn>
                              </p:par>
                              <p:par>
                                <p:cTn id="21" presetID="22" presetClass="entr" presetSubtype="4" fill="hold" grpId="0" nodeType="withEffect">
                                  <p:stCondLst>
                                    <p:cond delay="2000"/>
                                  </p:stCondLst>
                                  <p:childTnLst>
                                    <p:set>
                                      <p:cBhvr>
                                        <p:cTn id="22" dur="1" fill="hold">
                                          <p:stCondLst>
                                            <p:cond delay="0"/>
                                          </p:stCondLst>
                                        </p:cTn>
                                        <p:tgtEl>
                                          <p:spTgt spid="37"/>
                                        </p:tgtEl>
                                        <p:attrNameLst>
                                          <p:attrName>style.visibility</p:attrName>
                                        </p:attrNameLst>
                                      </p:cBhvr>
                                      <p:to>
                                        <p:strVal val="visible"/>
                                      </p:to>
                                    </p:set>
                                    <p:animEffect transition="in" filter="wipe(down)">
                                      <p:cBhvr>
                                        <p:cTn id="23" dur="500"/>
                                        <p:tgtEl>
                                          <p:spTgt spid="37"/>
                                        </p:tgtEl>
                                      </p:cBhvr>
                                    </p:animEffect>
                                  </p:childTnLst>
                                </p:cTn>
                              </p:par>
                              <p:par>
                                <p:cTn id="24" presetID="22" presetClass="entr" presetSubtype="4" fill="hold" grpId="0" nodeType="withEffect">
                                  <p:stCondLst>
                                    <p:cond delay="2500"/>
                                  </p:stCondLst>
                                  <p:childTnLst>
                                    <p:set>
                                      <p:cBhvr>
                                        <p:cTn id="25" dur="1" fill="hold">
                                          <p:stCondLst>
                                            <p:cond delay="0"/>
                                          </p:stCondLst>
                                        </p:cTn>
                                        <p:tgtEl>
                                          <p:spTgt spid="38"/>
                                        </p:tgtEl>
                                        <p:attrNameLst>
                                          <p:attrName>style.visibility</p:attrName>
                                        </p:attrNameLst>
                                      </p:cBhvr>
                                      <p:to>
                                        <p:strVal val="visible"/>
                                      </p:to>
                                    </p:set>
                                    <p:animEffect transition="in" filter="wipe(down)">
                                      <p:cBhvr>
                                        <p:cTn id="26" dur="500"/>
                                        <p:tgtEl>
                                          <p:spTgt spid="38"/>
                                        </p:tgtEl>
                                      </p:cBhvr>
                                    </p:animEffect>
                                  </p:childTnLst>
                                </p:cTn>
                              </p:par>
                              <p:par>
                                <p:cTn id="27" presetID="22" presetClass="entr" presetSubtype="4" fill="hold" grpId="0" nodeType="withEffect">
                                  <p:stCondLst>
                                    <p:cond delay="3000"/>
                                  </p:stCondLst>
                                  <p:childTnLst>
                                    <p:set>
                                      <p:cBhvr>
                                        <p:cTn id="28" dur="1" fill="hold">
                                          <p:stCondLst>
                                            <p:cond delay="0"/>
                                          </p:stCondLst>
                                        </p:cTn>
                                        <p:tgtEl>
                                          <p:spTgt spid="39"/>
                                        </p:tgtEl>
                                        <p:attrNameLst>
                                          <p:attrName>style.visibility</p:attrName>
                                        </p:attrNameLst>
                                      </p:cBhvr>
                                      <p:to>
                                        <p:strVal val="visible"/>
                                      </p:to>
                                    </p:set>
                                    <p:animEffect transition="in" filter="wipe(down)">
                                      <p:cBhvr>
                                        <p:cTn id="29" dur="500"/>
                                        <p:tgtEl>
                                          <p:spTgt spid="39"/>
                                        </p:tgtEl>
                                      </p:cBhvr>
                                    </p:animEffect>
                                  </p:childTnLst>
                                </p:cTn>
                              </p:par>
                              <p:par>
                                <p:cTn id="30" presetID="22" presetClass="entr" presetSubtype="4" fill="hold" grpId="0" nodeType="withEffect">
                                  <p:stCondLst>
                                    <p:cond delay="3500"/>
                                  </p:stCondLst>
                                  <p:childTnLst>
                                    <p:set>
                                      <p:cBhvr>
                                        <p:cTn id="31" dur="1" fill="hold">
                                          <p:stCondLst>
                                            <p:cond delay="0"/>
                                          </p:stCondLst>
                                        </p:cTn>
                                        <p:tgtEl>
                                          <p:spTgt spid="40"/>
                                        </p:tgtEl>
                                        <p:attrNameLst>
                                          <p:attrName>style.visibility</p:attrName>
                                        </p:attrNameLst>
                                      </p:cBhvr>
                                      <p:to>
                                        <p:strVal val="visible"/>
                                      </p:to>
                                    </p:set>
                                    <p:animEffect transition="in" filter="wipe(down)">
                                      <p:cBhvr>
                                        <p:cTn id="32" dur="500"/>
                                        <p:tgtEl>
                                          <p:spTgt spid="40"/>
                                        </p:tgtEl>
                                      </p:cBhvr>
                                    </p:animEffect>
                                  </p:childTnLst>
                                </p:cTn>
                              </p:par>
                              <p:par>
                                <p:cTn id="33" presetID="22" presetClass="entr" presetSubtype="4" fill="hold" grpId="0" nodeType="withEffect">
                                  <p:stCondLst>
                                    <p:cond delay="4000"/>
                                  </p:stCondLst>
                                  <p:childTnLst>
                                    <p:set>
                                      <p:cBhvr>
                                        <p:cTn id="34" dur="1" fill="hold">
                                          <p:stCondLst>
                                            <p:cond delay="0"/>
                                          </p:stCondLst>
                                        </p:cTn>
                                        <p:tgtEl>
                                          <p:spTgt spid="41"/>
                                        </p:tgtEl>
                                        <p:attrNameLst>
                                          <p:attrName>style.visibility</p:attrName>
                                        </p:attrNameLst>
                                      </p:cBhvr>
                                      <p:to>
                                        <p:strVal val="visible"/>
                                      </p:to>
                                    </p:set>
                                    <p:animEffect transition="in" filter="wipe(down)">
                                      <p:cBhvr>
                                        <p:cTn id="35" dur="500"/>
                                        <p:tgtEl>
                                          <p:spTgt spid="41"/>
                                        </p:tgtEl>
                                      </p:cBhvr>
                                    </p:animEffect>
                                  </p:childTnLst>
                                </p:cTn>
                              </p:par>
                              <p:par>
                                <p:cTn id="36" presetID="22" presetClass="entr" presetSubtype="4" fill="hold" grpId="0" nodeType="withEffect">
                                  <p:stCondLst>
                                    <p:cond delay="4500"/>
                                  </p:stCondLst>
                                  <p:childTnLst>
                                    <p:set>
                                      <p:cBhvr>
                                        <p:cTn id="37" dur="1" fill="hold">
                                          <p:stCondLst>
                                            <p:cond delay="0"/>
                                          </p:stCondLst>
                                        </p:cTn>
                                        <p:tgtEl>
                                          <p:spTgt spid="42"/>
                                        </p:tgtEl>
                                        <p:attrNameLst>
                                          <p:attrName>style.visibility</p:attrName>
                                        </p:attrNameLst>
                                      </p:cBhvr>
                                      <p:to>
                                        <p:strVal val="visible"/>
                                      </p:to>
                                    </p:set>
                                    <p:animEffect transition="in" filter="wipe(down)">
                                      <p:cBhvr>
                                        <p:cTn id="38" dur="500"/>
                                        <p:tgtEl>
                                          <p:spTgt spid="42"/>
                                        </p:tgtEl>
                                      </p:cBhvr>
                                    </p:animEffect>
                                  </p:childTnLst>
                                </p:cTn>
                              </p:par>
                              <p:par>
                                <p:cTn id="39" presetID="22" presetClass="entr" presetSubtype="4" fill="hold" grpId="0" nodeType="withEffect">
                                  <p:stCondLst>
                                    <p:cond delay="5000"/>
                                  </p:stCondLst>
                                  <p:childTnLst>
                                    <p:set>
                                      <p:cBhvr>
                                        <p:cTn id="40" dur="1" fill="hold">
                                          <p:stCondLst>
                                            <p:cond delay="0"/>
                                          </p:stCondLst>
                                        </p:cTn>
                                        <p:tgtEl>
                                          <p:spTgt spid="43"/>
                                        </p:tgtEl>
                                        <p:attrNameLst>
                                          <p:attrName>style.visibility</p:attrName>
                                        </p:attrNameLst>
                                      </p:cBhvr>
                                      <p:to>
                                        <p:strVal val="visible"/>
                                      </p:to>
                                    </p:set>
                                    <p:animEffect transition="in" filter="wipe(down)">
                                      <p:cBhvr>
                                        <p:cTn id="4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P spid="34" grpId="0" bldLvl="0" animBg="1"/>
      <p:bldP spid="35" grpId="0" bldLvl="0" animBg="1"/>
      <p:bldP spid="36" grpId="0" bldLvl="0" animBg="1"/>
      <p:bldP spid="37" grpId="0" bldLvl="0" animBg="1"/>
      <p:bldP spid="38" grpId="0" bldLvl="0" animBg="1"/>
      <p:bldP spid="39" grpId="0" bldLvl="0" animBg="1"/>
      <p:bldP spid="40" grpId="0" bldLvl="0" animBg="1"/>
      <p:bldP spid="41" grpId="0" bldLvl="0" animBg="1"/>
      <p:bldP spid="42" grpId="0" bldLvl="0" animBg="1"/>
      <p:bldP spid="4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研究</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背景</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en-US" altLang="zh-CN" sz="1600" dirty="0">
                <a:cs typeface="Times New Roman" panose="02020603050405020304" pitchFamily="18" charset="0"/>
              </a:rPr>
              <a:t>1980s</a:t>
            </a:r>
            <a:r>
              <a:rPr lang="zh-CN" altLang="en-US" sz="1600" dirty="0">
                <a:cs typeface="Times New Roman" panose="02020603050405020304" pitchFamily="18" charset="0"/>
              </a:rPr>
              <a:t>小波变换从地震信号需求中诞生，解决非平稳反射的</a:t>
            </a:r>
            <a:r>
              <a:rPr lang="zh-CN" altLang="en-US" sz="1600" dirty="0">
                <a:solidFill>
                  <a:srgbClr val="FF0000"/>
                </a:solidFill>
                <a:cs typeface="Times New Roman" panose="02020603050405020304" pitchFamily="18" charset="0"/>
              </a:rPr>
              <a:t>时频局部化与多尺度表示</a:t>
            </a:r>
            <a:endParaRPr lang="en-US" altLang="zh-CN" sz="1600" dirty="0">
              <a:cs typeface="Times New Roman" panose="02020603050405020304" pitchFamily="18" charset="0"/>
            </a:endParaRPr>
          </a:p>
          <a:p>
            <a:pPr marL="342900" indent="-342900" algn="just">
              <a:lnSpc>
                <a:spcPct val="150000"/>
              </a:lnSpc>
              <a:buClr>
                <a:srgbClr val="FF0000"/>
              </a:buClr>
              <a:buFont typeface="Wingdings" panose="05000000000000000000" charset="0"/>
              <a:buChar char="l"/>
            </a:pPr>
            <a:r>
              <a:rPr lang="en-US" altLang="zh-CN" sz="1600" dirty="0">
                <a:cs typeface="Times New Roman" panose="02020603050405020304" pitchFamily="18" charset="0"/>
              </a:rPr>
              <a:t>1990s–2000s </a:t>
            </a:r>
            <a:r>
              <a:rPr lang="zh-CN" altLang="en-US" sz="1600" dirty="0">
                <a:cs typeface="Times New Roman" panose="02020603050405020304" pitchFamily="18" charset="0"/>
              </a:rPr>
              <a:t>小波理论工程化：能量与阈值去噪体系成熟，并进入储层</a:t>
            </a:r>
            <a:r>
              <a:rPr lang="en-US" altLang="zh-CN" sz="1600" dirty="0">
                <a:cs typeface="Times New Roman" panose="02020603050405020304" pitchFamily="18" charset="0"/>
              </a:rPr>
              <a:t>/</a:t>
            </a:r>
            <a:r>
              <a:rPr lang="zh-CN" altLang="en-US" sz="1600" dirty="0">
                <a:cs typeface="Times New Roman" panose="02020603050405020304" pitchFamily="18" charset="0"/>
              </a:rPr>
              <a:t>试井</a:t>
            </a:r>
            <a:r>
              <a:rPr lang="zh-CN" altLang="en-US" sz="1600" dirty="0">
                <a:solidFill>
                  <a:srgbClr val="FF0000"/>
                </a:solidFill>
                <a:cs typeface="Times New Roman" panose="02020603050405020304" pitchFamily="18" charset="0"/>
              </a:rPr>
              <a:t>压力瞬变曲线解释</a:t>
            </a:r>
            <a:endParaRPr lang="en-US" altLang="zh-CN" sz="1600" dirty="0">
              <a:cs typeface="Times New Roman" panose="02020603050405020304" pitchFamily="18" charset="0"/>
            </a:endParaRPr>
          </a:p>
          <a:p>
            <a:pPr marL="342900" indent="-342900" algn="just">
              <a:lnSpc>
                <a:spcPct val="150000"/>
              </a:lnSpc>
              <a:buClr>
                <a:srgbClr val="FF0000"/>
              </a:buClr>
              <a:buFont typeface="Wingdings" panose="05000000000000000000" charset="0"/>
              <a:buChar char="l"/>
            </a:pPr>
            <a:r>
              <a:rPr lang="en-US" altLang="zh-CN" sz="1600" dirty="0">
                <a:cs typeface="Times New Roman" panose="02020603050405020304" pitchFamily="18" charset="0"/>
              </a:rPr>
              <a:t>2018 </a:t>
            </a:r>
            <a:r>
              <a:rPr lang="zh-CN" altLang="en-US" sz="1600" dirty="0">
                <a:cs typeface="Times New Roman" panose="02020603050405020304" pitchFamily="18" charset="0"/>
              </a:rPr>
              <a:t>后小波走向压裂施工实时诊断：</a:t>
            </a:r>
            <a:r>
              <a:rPr lang="zh-CN" altLang="en-US" sz="1600" dirty="0">
                <a:solidFill>
                  <a:srgbClr val="FF0000"/>
                </a:solidFill>
                <a:cs typeface="Times New Roman" panose="02020603050405020304" pitchFamily="18" charset="0"/>
              </a:rPr>
              <a:t>能量峰值放大微弱事件</a:t>
            </a:r>
            <a:r>
              <a:rPr lang="zh-CN" altLang="en-US" sz="1600" dirty="0">
                <a:cs typeface="Times New Roman" panose="02020603050405020304" pitchFamily="18" charset="0"/>
              </a:rPr>
              <a:t>，配合数模实现分型识别与预警</a:t>
            </a:r>
            <a:endParaRPr lang="zh-CN" altLang="en-US" sz="1600" dirty="0">
              <a:cs typeface="Times New Roman" panose="02020603050405020304" pitchFamily="18" charset="0"/>
            </a:endParaRPr>
          </a:p>
        </p:txBody>
      </p:sp>
      <p:sp>
        <p:nvSpPr>
          <p:cNvPr id="16" name="文本框 1"/>
          <p:cNvSpPr txBox="1">
            <a:spLocks noChangeArrowheads="1"/>
          </p:cNvSpPr>
          <p:nvPr/>
        </p:nvSpPr>
        <p:spPr bwMode="auto">
          <a:xfrm>
            <a:off x="475615" y="6101715"/>
            <a:ext cx="183451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1982</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Geophysics</a:t>
            </a:r>
            <a:endPar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国际地球物理顶级期刊</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9"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pic>
        <p:nvPicPr>
          <p:cNvPr id="5" name="图片 4" descr="J. Morlet"/>
          <p:cNvPicPr/>
          <p:nvPr/>
        </p:nvPicPr>
        <p:blipFill>
          <a:blip r:embed="rId1"/>
          <a:srcRect b="24550"/>
          <a:stretch>
            <a:fillRect/>
          </a:stretch>
        </p:blipFill>
        <p:spPr>
          <a:xfrm>
            <a:off x="588645" y="2594610"/>
            <a:ext cx="1440000" cy="1440000"/>
          </a:xfrm>
          <a:prstGeom prst="rect">
            <a:avLst/>
          </a:prstGeom>
        </p:spPr>
      </p:pic>
      <p:pic>
        <p:nvPicPr>
          <p:cNvPr id="6" name="图片 5"/>
          <p:cNvPicPr/>
          <p:nvPr/>
        </p:nvPicPr>
        <p:blipFill>
          <a:blip r:embed="rId2"/>
          <a:srcRect l="20799" r="16328"/>
          <a:stretch>
            <a:fillRect/>
          </a:stretch>
        </p:blipFill>
        <p:spPr>
          <a:xfrm>
            <a:off x="2928440" y="2594610"/>
            <a:ext cx="1439545" cy="1440000"/>
          </a:xfrm>
          <a:prstGeom prst="rect">
            <a:avLst/>
          </a:prstGeom>
        </p:spPr>
      </p:pic>
      <p:pic>
        <p:nvPicPr>
          <p:cNvPr id="7" name="图片 6"/>
          <p:cNvPicPr/>
          <p:nvPr/>
        </p:nvPicPr>
        <p:blipFill>
          <a:blip r:embed="rId3"/>
          <a:srcRect l="11439" r="12009"/>
          <a:stretch>
            <a:fillRect/>
          </a:stretch>
        </p:blipFill>
        <p:spPr>
          <a:xfrm>
            <a:off x="5267780" y="2594610"/>
            <a:ext cx="1439545" cy="1440000"/>
          </a:xfrm>
          <a:prstGeom prst="rect">
            <a:avLst/>
          </a:prstGeom>
        </p:spPr>
      </p:pic>
      <p:pic>
        <p:nvPicPr>
          <p:cNvPr id="8" name="图片 7"/>
          <p:cNvPicPr/>
          <p:nvPr/>
        </p:nvPicPr>
        <p:blipFill>
          <a:blip r:embed="rId4"/>
          <a:stretch>
            <a:fillRect/>
          </a:stretch>
        </p:blipFill>
        <p:spPr>
          <a:xfrm>
            <a:off x="454660" y="4542790"/>
            <a:ext cx="1800000" cy="1440000"/>
          </a:xfrm>
          <a:prstGeom prst="rect">
            <a:avLst/>
          </a:prstGeom>
          <a:ln>
            <a:noFill/>
          </a:ln>
        </p:spPr>
      </p:pic>
      <p:pic>
        <p:nvPicPr>
          <p:cNvPr id="19" name="图片 18"/>
          <p:cNvPicPr/>
          <p:nvPr/>
        </p:nvPicPr>
        <p:blipFill>
          <a:blip r:embed="rId5"/>
          <a:srcRect t="7820" b="27554"/>
          <a:stretch>
            <a:fillRect/>
          </a:stretch>
        </p:blipFill>
        <p:spPr>
          <a:xfrm>
            <a:off x="9946460" y="2600325"/>
            <a:ext cx="1439545" cy="1440000"/>
          </a:xfrm>
          <a:prstGeom prst="rect">
            <a:avLst/>
          </a:prstGeom>
        </p:spPr>
      </p:pic>
      <p:pic>
        <p:nvPicPr>
          <p:cNvPr id="20" name="图片 19" descr="avatar_scholar_256"/>
          <p:cNvPicPr/>
          <p:nvPr/>
        </p:nvPicPr>
        <p:blipFill>
          <a:blip r:embed="rId6"/>
          <a:srcRect l="8829" t="8053" r="8533" b="14259"/>
          <a:stretch>
            <a:fillRect/>
          </a:stretch>
        </p:blipFill>
        <p:spPr>
          <a:xfrm>
            <a:off x="7607120" y="2594610"/>
            <a:ext cx="1439545" cy="1440000"/>
          </a:xfrm>
          <a:prstGeom prst="rect">
            <a:avLst/>
          </a:prstGeom>
        </p:spPr>
      </p:pic>
      <p:pic>
        <p:nvPicPr>
          <p:cNvPr id="23" name="图片 22"/>
          <p:cNvPicPr/>
          <p:nvPr/>
        </p:nvPicPr>
        <p:blipFill>
          <a:blip r:embed="rId7"/>
          <a:stretch>
            <a:fillRect/>
          </a:stretch>
        </p:blipFill>
        <p:spPr>
          <a:xfrm>
            <a:off x="7476900" y="4538345"/>
            <a:ext cx="1799590" cy="1440000"/>
          </a:xfrm>
          <a:prstGeom prst="rect">
            <a:avLst/>
          </a:prstGeom>
          <a:ln>
            <a:noFill/>
          </a:ln>
        </p:spPr>
      </p:pic>
      <p:pic>
        <p:nvPicPr>
          <p:cNvPr id="24" name="图片 23"/>
          <p:cNvPicPr/>
          <p:nvPr/>
        </p:nvPicPr>
        <p:blipFill>
          <a:blip r:embed="rId8"/>
          <a:srcRect r="33273"/>
          <a:stretch>
            <a:fillRect/>
          </a:stretch>
        </p:blipFill>
        <p:spPr>
          <a:xfrm>
            <a:off x="2795680" y="4547870"/>
            <a:ext cx="1799590" cy="1440000"/>
          </a:xfrm>
          <a:prstGeom prst="rect">
            <a:avLst/>
          </a:prstGeom>
          <a:ln>
            <a:noFill/>
          </a:ln>
        </p:spPr>
      </p:pic>
      <p:pic>
        <p:nvPicPr>
          <p:cNvPr id="25" name="图片 24"/>
          <p:cNvPicPr/>
          <p:nvPr/>
        </p:nvPicPr>
        <p:blipFill>
          <a:blip r:embed="rId9"/>
          <a:stretch>
            <a:fillRect/>
          </a:stretch>
        </p:blipFill>
        <p:spPr>
          <a:xfrm>
            <a:off x="5136290" y="4536440"/>
            <a:ext cx="1799590" cy="1440000"/>
          </a:xfrm>
          <a:prstGeom prst="rect">
            <a:avLst/>
          </a:prstGeom>
          <a:ln>
            <a:noFill/>
          </a:ln>
        </p:spPr>
      </p:pic>
      <p:pic>
        <p:nvPicPr>
          <p:cNvPr id="26" name="图片 25"/>
          <p:cNvPicPr/>
          <p:nvPr/>
        </p:nvPicPr>
        <p:blipFill>
          <a:blip r:embed="rId10"/>
          <a:stretch>
            <a:fillRect/>
          </a:stretch>
        </p:blipFill>
        <p:spPr>
          <a:xfrm>
            <a:off x="9817510" y="4536440"/>
            <a:ext cx="1799590" cy="1440000"/>
          </a:xfrm>
          <a:prstGeom prst="rect">
            <a:avLst/>
          </a:prstGeom>
          <a:ln>
            <a:noFill/>
          </a:ln>
        </p:spPr>
      </p:pic>
      <p:sp>
        <p:nvSpPr>
          <p:cNvPr id="27" name="文本框 1"/>
          <p:cNvSpPr txBox="1">
            <a:spLocks noChangeArrowheads="1"/>
          </p:cNvSpPr>
          <p:nvPr/>
        </p:nvSpPr>
        <p:spPr bwMode="auto">
          <a:xfrm>
            <a:off x="571500" y="4044315"/>
            <a:ext cx="145669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J. Morlet</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法国地球物理学家</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30" name="文本框 1"/>
          <p:cNvSpPr txBox="1">
            <a:spLocks noChangeArrowheads="1"/>
          </p:cNvSpPr>
          <p:nvPr/>
        </p:nvSpPr>
        <p:spPr bwMode="auto">
          <a:xfrm>
            <a:off x="2950845" y="4045585"/>
            <a:ext cx="141668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C. S. Burrus</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，莱斯大学讲席荣休教授</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31" name="文本框 1"/>
          <p:cNvSpPr txBox="1">
            <a:spLocks noChangeArrowheads="1"/>
          </p:cNvSpPr>
          <p:nvPr/>
        </p:nvSpPr>
        <p:spPr bwMode="auto">
          <a:xfrm>
            <a:off x="5268595" y="4045585"/>
            <a:ext cx="145034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M. Y. Soliman</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，休斯敦大学讲席教授</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4" name="文本框 1"/>
          <p:cNvSpPr txBox="1">
            <a:spLocks noChangeArrowheads="1"/>
          </p:cNvSpPr>
          <p:nvPr/>
        </p:nvSpPr>
        <p:spPr bwMode="auto">
          <a:xfrm>
            <a:off x="7620000" y="4042410"/>
            <a:ext cx="140779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E. Unal</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休斯敦大学</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石油工程</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系</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5" name="文本框 1"/>
          <p:cNvSpPr txBox="1">
            <a:spLocks noChangeArrowheads="1"/>
          </p:cNvSpPr>
          <p:nvPr/>
        </p:nvSpPr>
        <p:spPr bwMode="auto">
          <a:xfrm>
            <a:off x="9935210" y="4047490"/>
            <a:ext cx="146050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胡晓东，中国石油大学（</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北京）研究员</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6" name="文本框 1"/>
          <p:cNvSpPr txBox="1">
            <a:spLocks noChangeArrowheads="1"/>
          </p:cNvSpPr>
          <p:nvPr/>
        </p:nvSpPr>
        <p:spPr bwMode="auto">
          <a:xfrm>
            <a:off x="2649855" y="6099175"/>
            <a:ext cx="183451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1998</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Prentice Hall</a:t>
            </a:r>
            <a:endPar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国际权威教材</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7" name="文本框 1"/>
          <p:cNvSpPr txBox="1">
            <a:spLocks noChangeArrowheads="1"/>
          </p:cNvSpPr>
          <p:nvPr/>
        </p:nvSpPr>
        <p:spPr bwMode="auto">
          <a:xfrm>
            <a:off x="5070475" y="6101715"/>
            <a:ext cx="183451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2001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SPE</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会议</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石油工程领域顶级会议</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8" name="文本框 1"/>
          <p:cNvSpPr txBox="1">
            <a:spLocks noChangeArrowheads="1"/>
          </p:cNvSpPr>
          <p:nvPr/>
        </p:nvSpPr>
        <p:spPr bwMode="auto">
          <a:xfrm>
            <a:off x="7464425" y="6098540"/>
            <a:ext cx="183451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2018</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SPE</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会议</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石油工程领域顶级会议</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9" name="文本框 1"/>
          <p:cNvSpPr txBox="1">
            <a:spLocks noChangeArrowheads="1"/>
          </p:cNvSpPr>
          <p:nvPr/>
        </p:nvSpPr>
        <p:spPr bwMode="auto">
          <a:xfrm>
            <a:off x="9782810" y="6101715"/>
            <a:ext cx="183451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2022</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JPSE</a:t>
            </a:r>
            <a:endPar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SCI </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期刊、</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Top/Q1</a:t>
            </a:r>
            <a:endPar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50" name="右箭头 49"/>
          <p:cNvSpPr/>
          <p:nvPr/>
        </p:nvSpPr>
        <p:spPr>
          <a:xfrm>
            <a:off x="2248535" y="3114675"/>
            <a:ext cx="461010" cy="382270"/>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sp>
        <p:nvSpPr>
          <p:cNvPr id="51" name="右箭头 50"/>
          <p:cNvSpPr/>
          <p:nvPr/>
        </p:nvSpPr>
        <p:spPr>
          <a:xfrm>
            <a:off x="4587240" y="3114675"/>
            <a:ext cx="461010" cy="382270"/>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sp>
        <p:nvSpPr>
          <p:cNvPr id="52" name="右箭头 51"/>
          <p:cNvSpPr/>
          <p:nvPr/>
        </p:nvSpPr>
        <p:spPr>
          <a:xfrm>
            <a:off x="6927215" y="3114675"/>
            <a:ext cx="461010" cy="382270"/>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sp>
        <p:nvSpPr>
          <p:cNvPr id="53" name="右箭头 52"/>
          <p:cNvSpPr/>
          <p:nvPr/>
        </p:nvSpPr>
        <p:spPr>
          <a:xfrm>
            <a:off x="9265920" y="3114675"/>
            <a:ext cx="461010" cy="382270"/>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小波分析原理</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a:sym typeface="+mn-ea"/>
              </a:rPr>
              <a:t>小波分析就像一个</a:t>
            </a:r>
            <a:r>
              <a:rPr lang="zh-CN" altLang="en-US" sz="1600">
                <a:solidFill>
                  <a:srgbClr val="FF0000"/>
                </a:solidFill>
                <a:sym typeface="+mn-ea"/>
              </a:rPr>
              <a:t>音频分离器</a:t>
            </a:r>
            <a:r>
              <a:rPr lang="zh-CN" altLang="en-US" sz="1600">
                <a:sym typeface="+mn-ea"/>
              </a:rPr>
              <a:t>，能够把施工曲线这个反应</a:t>
            </a:r>
            <a:r>
              <a:rPr lang="zh-CN" altLang="en-US" sz="1600">
                <a:solidFill>
                  <a:srgbClr val="FF0000"/>
                </a:solidFill>
                <a:sym typeface="+mn-ea"/>
              </a:rPr>
              <a:t>井下多重事件</a:t>
            </a:r>
            <a:r>
              <a:rPr lang="zh-CN" altLang="en-US" sz="1600">
                <a:sym typeface="+mn-ea"/>
              </a:rPr>
              <a:t>构成的</a:t>
            </a:r>
            <a:r>
              <a:rPr lang="en-US" altLang="zh-CN" sz="1600">
                <a:sym typeface="+mn-ea"/>
              </a:rPr>
              <a:t>“</a:t>
            </a:r>
            <a:r>
              <a:rPr lang="zh-CN" altLang="en-US" sz="1600">
                <a:sym typeface="+mn-ea"/>
              </a:rPr>
              <a:t>交响乐</a:t>
            </a:r>
            <a:r>
              <a:rPr lang="en-US" altLang="zh-CN" sz="1600">
                <a:sym typeface="+mn-ea"/>
              </a:rPr>
              <a:t>”</a:t>
            </a:r>
            <a:r>
              <a:rPr lang="zh-CN" altLang="en-US" sz="1600">
                <a:sym typeface="+mn-ea"/>
              </a:rPr>
              <a:t>拆分到不同</a:t>
            </a:r>
            <a:r>
              <a:rPr lang="en-US" altLang="zh-CN" sz="1600">
                <a:sym typeface="+mn-ea"/>
              </a:rPr>
              <a:t>“</a:t>
            </a:r>
            <a:r>
              <a:rPr lang="zh-CN" altLang="en-US" sz="1600">
                <a:sym typeface="+mn-ea"/>
              </a:rPr>
              <a:t>音轨</a:t>
            </a:r>
            <a:r>
              <a:rPr lang="en-US" altLang="zh-CN" sz="1600">
                <a:sym typeface="+mn-ea"/>
              </a:rPr>
              <a:t>”</a:t>
            </a:r>
            <a:endParaRPr lang="en-US" altLang="zh-CN" sz="1600">
              <a:sym typeface="+mn-ea"/>
            </a:endParaRPr>
          </a:p>
          <a:p>
            <a:pPr marL="342900" indent="-342900" algn="just">
              <a:lnSpc>
                <a:spcPct val="150000"/>
              </a:lnSpc>
              <a:buClr>
                <a:srgbClr val="FF0000"/>
              </a:buClr>
              <a:buFont typeface="Wingdings" panose="05000000000000000000" charset="0"/>
              <a:buChar char="l"/>
            </a:pPr>
            <a:r>
              <a:rPr lang="en-US" altLang="zh-CN" sz="1600">
                <a:sym typeface="+mn-ea"/>
              </a:rPr>
              <a:t>小波</a:t>
            </a:r>
            <a:r>
              <a:rPr lang="en-US" altLang="zh-CN" sz="1600">
                <a:solidFill>
                  <a:srgbClr val="FF0000"/>
                </a:solidFill>
                <a:sym typeface="+mn-ea"/>
              </a:rPr>
              <a:t>低分解等级</a:t>
            </a:r>
            <a:r>
              <a:rPr lang="zh-CN" altLang="en-US" sz="1600">
                <a:sym typeface="+mn-ea"/>
              </a:rPr>
              <a:t>下的峰值表征信号的</a:t>
            </a:r>
            <a:r>
              <a:rPr lang="zh-CN" altLang="en-US" sz="1600">
                <a:solidFill>
                  <a:srgbClr val="FF0000"/>
                </a:solidFill>
                <a:sym typeface="+mn-ea"/>
              </a:rPr>
              <a:t>高频</a:t>
            </a:r>
            <a:r>
              <a:rPr lang="zh-CN" altLang="en-US" sz="1600">
                <a:sym typeface="+mn-ea"/>
              </a:rPr>
              <a:t>/高音成分，能够捕捉到</a:t>
            </a:r>
            <a:r>
              <a:rPr lang="zh-CN" altLang="en-US" sz="1600">
                <a:solidFill>
                  <a:srgbClr val="FF0000"/>
                </a:solidFill>
                <a:sym typeface="+mn-ea"/>
              </a:rPr>
              <a:t>主裂缝的快速扩展</a:t>
            </a:r>
            <a:r>
              <a:rPr lang="zh-CN" altLang="en-US" sz="1600">
                <a:sym typeface="+mn-ea"/>
              </a:rPr>
              <a:t>（钢琴、吉他等乐器声）</a:t>
            </a:r>
            <a:endParaRPr lang="zh-CN" altLang="en-US" sz="1600">
              <a:sym typeface="+mn-ea"/>
            </a:endParaRPr>
          </a:p>
          <a:p>
            <a:pPr marL="342900" indent="-342900" algn="just">
              <a:lnSpc>
                <a:spcPct val="150000"/>
              </a:lnSpc>
              <a:buClr>
                <a:srgbClr val="FF0000"/>
              </a:buClr>
              <a:buFont typeface="Wingdings" panose="05000000000000000000" charset="0"/>
              <a:buChar char="l"/>
            </a:pPr>
            <a:r>
              <a:rPr lang="zh-CN" altLang="en-US" sz="1600">
                <a:sym typeface="+mn-ea"/>
              </a:rPr>
              <a:t>小波</a:t>
            </a:r>
            <a:r>
              <a:rPr lang="zh-CN" altLang="en-US" sz="1600">
                <a:solidFill>
                  <a:srgbClr val="FF0000"/>
                </a:solidFill>
                <a:sym typeface="+mn-ea"/>
              </a:rPr>
              <a:t>高分解等级</a:t>
            </a:r>
            <a:r>
              <a:rPr lang="zh-CN" altLang="en-US" sz="1600">
                <a:sym typeface="+mn-ea"/>
              </a:rPr>
              <a:t>下的峰值表征信号的</a:t>
            </a:r>
            <a:r>
              <a:rPr lang="zh-CN" altLang="en-US" sz="1600">
                <a:solidFill>
                  <a:srgbClr val="FF0000"/>
                </a:solidFill>
                <a:sym typeface="+mn-ea"/>
              </a:rPr>
              <a:t>低频</a:t>
            </a:r>
            <a:r>
              <a:rPr lang="zh-CN" altLang="en-US" sz="1600">
                <a:sym typeface="+mn-ea"/>
              </a:rPr>
              <a:t>/低音成分，能够捕捉到</a:t>
            </a:r>
            <a:r>
              <a:rPr lang="zh-CN" altLang="en-US" sz="1600" dirty="0">
                <a:solidFill>
                  <a:srgbClr val="FF0000"/>
                </a:solidFill>
                <a:sym typeface="+mn-ea"/>
              </a:rPr>
              <a:t>缝网形成和裂缝缓慢延伸</a:t>
            </a:r>
            <a:r>
              <a:rPr lang="zh-CN" altLang="en-US" sz="1600" dirty="0">
                <a:sym typeface="+mn-ea"/>
              </a:rPr>
              <a:t>（低音人声、低音鼓等）</a:t>
            </a:r>
            <a:endParaRPr lang="zh-CN" altLang="en-US" sz="1600" dirty="0">
              <a:sym typeface="+mn-ea"/>
            </a:endParaRPr>
          </a:p>
        </p:txBody>
      </p:sp>
      <p:sp>
        <p:nvSpPr>
          <p:cNvPr id="10" name="文本框 1"/>
          <p:cNvSpPr txBox="1">
            <a:spLocks noChangeArrowheads="1"/>
          </p:cNvSpPr>
          <p:nvPr/>
        </p:nvSpPr>
        <p:spPr bwMode="auto">
          <a:xfrm>
            <a:off x="1047115" y="6072505"/>
            <a:ext cx="1013968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小波分析简化示意图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6"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1898650" y="3071495"/>
            <a:ext cx="269875" cy="0"/>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38" name="任意多边形 37"/>
          <p:cNvSpPr/>
          <p:nvPr/>
        </p:nvSpPr>
        <p:spPr>
          <a:xfrm>
            <a:off x="2172970" y="2642235"/>
            <a:ext cx="2421890" cy="635635"/>
          </a:xfrm>
          <a:custGeom>
            <a:avLst/>
            <a:gdLst>
              <a:gd name="connisteX0" fmla="*/ 0 w 2255520"/>
              <a:gd name="connsiteY0" fmla="*/ 1905011 h 2805968"/>
              <a:gd name="connisteX1" fmla="*/ 396240 w 2255520"/>
              <a:gd name="connsiteY1" fmla="*/ 579131 h 2805968"/>
              <a:gd name="connisteX2" fmla="*/ 822960 w 2255520"/>
              <a:gd name="connsiteY2" fmla="*/ 2773691 h 2805968"/>
              <a:gd name="connisteX3" fmla="*/ 1112520 w 2255520"/>
              <a:gd name="connsiteY3" fmla="*/ 11 h 2805968"/>
              <a:gd name="connisteX4" fmla="*/ 1531620 w 2255520"/>
              <a:gd name="connsiteY4" fmla="*/ 2804171 h 2805968"/>
              <a:gd name="connisteX5" fmla="*/ 1859280 w 2255520"/>
              <a:gd name="connsiteY5" fmla="*/ 381011 h 2805968"/>
              <a:gd name="connisteX6" fmla="*/ 2255520 w 2255520"/>
              <a:gd name="connsiteY6" fmla="*/ 2164091 h 2805968"/>
              <a:gd name="connisteX7" fmla="*/ 2301240 w 2255520"/>
              <a:gd name="connsiteY7" fmla="*/ 2270771 h 280596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Lst>
            <a:rect l="l" t="t" r="r" b="b"/>
            <a:pathLst>
              <a:path w="2255520" h="2805969">
                <a:moveTo>
                  <a:pt x="0" y="1905011"/>
                </a:moveTo>
                <a:cubicBezTo>
                  <a:pt x="70485" y="1595766"/>
                  <a:pt x="231775" y="405141"/>
                  <a:pt x="396240" y="579131"/>
                </a:cubicBezTo>
                <a:cubicBezTo>
                  <a:pt x="560705" y="753121"/>
                  <a:pt x="679450" y="2889261"/>
                  <a:pt x="822960" y="2773691"/>
                </a:cubicBezTo>
                <a:cubicBezTo>
                  <a:pt x="966470" y="2658121"/>
                  <a:pt x="970915" y="-6339"/>
                  <a:pt x="1112520" y="11"/>
                </a:cubicBezTo>
                <a:cubicBezTo>
                  <a:pt x="1254125" y="6361"/>
                  <a:pt x="1382395" y="2727971"/>
                  <a:pt x="1531620" y="2804171"/>
                </a:cubicBezTo>
                <a:cubicBezTo>
                  <a:pt x="1680845" y="2880371"/>
                  <a:pt x="1714500" y="509281"/>
                  <a:pt x="1859280" y="381011"/>
                </a:cubicBezTo>
                <a:cubicBezTo>
                  <a:pt x="2004060" y="252741"/>
                  <a:pt x="2167255" y="1786266"/>
                  <a:pt x="2255520" y="2164091"/>
                </a:cubicBezTo>
              </a:path>
            </a:pathLst>
          </a:custGeom>
          <a:ln w="19050">
            <a:solidFill>
              <a:srgbClr val="FF0000"/>
            </a:solidFill>
          </a:ln>
        </p:spPr>
        <p:style>
          <a:lnRef idx="2">
            <a:schemeClr val="accent1"/>
          </a:lnRef>
          <a:fillRef idx="0">
            <a:srgbClr val="FFFFFF"/>
          </a:fillRef>
          <a:effectRef idx="0">
            <a:srgbClr val="FFFFFF"/>
          </a:effectRef>
          <a:fontRef idx="minor">
            <a:schemeClr val="tx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cxnSp>
        <p:nvCxnSpPr>
          <p:cNvPr id="39" name="直接连接符 38"/>
          <p:cNvCxnSpPr>
            <a:stCxn id="38" idx="6"/>
          </p:cNvCxnSpPr>
          <p:nvPr/>
        </p:nvCxnSpPr>
        <p:spPr>
          <a:xfrm>
            <a:off x="4594860" y="3132455"/>
            <a:ext cx="244475" cy="0"/>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grpSp>
        <p:nvGrpSpPr>
          <p:cNvPr id="24" name="组合 23"/>
          <p:cNvGrpSpPr/>
          <p:nvPr/>
        </p:nvGrpSpPr>
        <p:grpSpPr>
          <a:xfrm>
            <a:off x="3072765" y="2886710"/>
            <a:ext cx="250190" cy="217805"/>
            <a:chOff x="3781" y="5992"/>
            <a:chExt cx="710" cy="1832"/>
          </a:xfrm>
        </p:grpSpPr>
        <p:cxnSp>
          <p:nvCxnSpPr>
            <p:cNvPr id="25" name="直接连接符 24"/>
            <p:cNvCxnSpPr/>
            <p:nvPr/>
          </p:nvCxnSpPr>
          <p:spPr>
            <a:xfrm flipH="1">
              <a:off x="3781" y="6656"/>
              <a:ext cx="90" cy="739"/>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26" name="直接连接符 25"/>
            <p:cNvCxnSpPr/>
            <p:nvPr/>
          </p:nvCxnSpPr>
          <p:spPr>
            <a:xfrm>
              <a:off x="3879" y="6660"/>
              <a:ext cx="109" cy="113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27" name="直接连接符 26"/>
            <p:cNvCxnSpPr/>
            <p:nvPr/>
          </p:nvCxnSpPr>
          <p:spPr>
            <a:xfrm flipV="1">
              <a:off x="3988" y="6000"/>
              <a:ext cx="151" cy="179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28" name="直接连接符 27"/>
            <p:cNvCxnSpPr/>
            <p:nvPr/>
          </p:nvCxnSpPr>
          <p:spPr>
            <a:xfrm>
              <a:off x="4155" y="5992"/>
              <a:ext cx="116" cy="1828"/>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29" name="直接连接符 28"/>
            <p:cNvCxnSpPr/>
            <p:nvPr/>
          </p:nvCxnSpPr>
          <p:spPr>
            <a:xfrm flipH="1">
              <a:off x="4269" y="6684"/>
              <a:ext cx="170" cy="1140"/>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30" name="直接连接符 29"/>
            <p:cNvCxnSpPr/>
            <p:nvPr/>
          </p:nvCxnSpPr>
          <p:spPr>
            <a:xfrm>
              <a:off x="4447" y="6685"/>
              <a:ext cx="44" cy="663"/>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grpSp>
      <p:grpSp>
        <p:nvGrpSpPr>
          <p:cNvPr id="31" name="组合 30"/>
          <p:cNvGrpSpPr/>
          <p:nvPr/>
        </p:nvGrpSpPr>
        <p:grpSpPr>
          <a:xfrm>
            <a:off x="4300855" y="2759075"/>
            <a:ext cx="201295" cy="210185"/>
            <a:chOff x="3781" y="5992"/>
            <a:chExt cx="710" cy="1832"/>
          </a:xfrm>
        </p:grpSpPr>
        <p:cxnSp>
          <p:nvCxnSpPr>
            <p:cNvPr id="32" name="直接连接符 31"/>
            <p:cNvCxnSpPr/>
            <p:nvPr/>
          </p:nvCxnSpPr>
          <p:spPr>
            <a:xfrm flipH="1">
              <a:off x="3781" y="6656"/>
              <a:ext cx="90" cy="739"/>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33" name="直接连接符 32"/>
            <p:cNvCxnSpPr/>
            <p:nvPr/>
          </p:nvCxnSpPr>
          <p:spPr>
            <a:xfrm>
              <a:off x="3879" y="6660"/>
              <a:ext cx="109" cy="113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34" name="直接连接符 33"/>
            <p:cNvCxnSpPr/>
            <p:nvPr/>
          </p:nvCxnSpPr>
          <p:spPr>
            <a:xfrm flipV="1">
              <a:off x="3988" y="6000"/>
              <a:ext cx="151" cy="179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4155" y="5992"/>
              <a:ext cx="116" cy="1828"/>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36" name="直接连接符 35"/>
            <p:cNvCxnSpPr/>
            <p:nvPr/>
          </p:nvCxnSpPr>
          <p:spPr>
            <a:xfrm flipH="1">
              <a:off x="4269" y="6684"/>
              <a:ext cx="170" cy="1140"/>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37" name="直接连接符 36"/>
            <p:cNvCxnSpPr/>
            <p:nvPr/>
          </p:nvCxnSpPr>
          <p:spPr>
            <a:xfrm>
              <a:off x="4447" y="6685"/>
              <a:ext cx="44" cy="663"/>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grpSp>
      <p:grpSp>
        <p:nvGrpSpPr>
          <p:cNvPr id="23" name="组合 22"/>
          <p:cNvGrpSpPr/>
          <p:nvPr/>
        </p:nvGrpSpPr>
        <p:grpSpPr>
          <a:xfrm>
            <a:off x="2352675" y="2687320"/>
            <a:ext cx="250190" cy="255905"/>
            <a:chOff x="3781" y="5992"/>
            <a:chExt cx="710" cy="1832"/>
          </a:xfrm>
        </p:grpSpPr>
        <p:cxnSp>
          <p:nvCxnSpPr>
            <p:cNvPr id="11" name="直接连接符 10"/>
            <p:cNvCxnSpPr/>
            <p:nvPr/>
          </p:nvCxnSpPr>
          <p:spPr>
            <a:xfrm flipH="1">
              <a:off x="3781" y="6656"/>
              <a:ext cx="90" cy="739"/>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a:off x="3879" y="6660"/>
              <a:ext cx="109" cy="113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flipV="1">
              <a:off x="3988" y="6000"/>
              <a:ext cx="151" cy="179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7" name="直接连接符 16"/>
            <p:cNvCxnSpPr/>
            <p:nvPr/>
          </p:nvCxnSpPr>
          <p:spPr>
            <a:xfrm>
              <a:off x="4155" y="5992"/>
              <a:ext cx="116" cy="1828"/>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flipH="1">
              <a:off x="4269" y="6684"/>
              <a:ext cx="170" cy="1140"/>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22" name="直接连接符 21"/>
            <p:cNvCxnSpPr/>
            <p:nvPr/>
          </p:nvCxnSpPr>
          <p:spPr>
            <a:xfrm>
              <a:off x="4447" y="6685"/>
              <a:ext cx="44" cy="663"/>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grpSp>
      <p:cxnSp>
        <p:nvCxnSpPr>
          <p:cNvPr id="40" name="直接连接符 39"/>
          <p:cNvCxnSpPr/>
          <p:nvPr/>
        </p:nvCxnSpPr>
        <p:spPr>
          <a:xfrm>
            <a:off x="1898650" y="3577590"/>
            <a:ext cx="2978150" cy="0"/>
          </a:xfrm>
          <a:prstGeom prst="line">
            <a:avLst/>
          </a:prstGeom>
          <a:ln w="19050" cap="rnd">
            <a:solidFill>
              <a:srgbClr val="0000FF"/>
            </a:solidFill>
            <a:round/>
            <a:headEnd type="none" w="med" len="med"/>
            <a:tailEnd type="none" w="med" len="med"/>
          </a:ln>
        </p:spPr>
        <p:style>
          <a:lnRef idx="0">
            <a:srgbClr val="FFFFFF"/>
          </a:lnRef>
          <a:fillRef idx="0">
            <a:srgbClr val="FFFFFF"/>
          </a:fillRef>
          <a:effectRef idx="0">
            <a:srgbClr val="FFFFFF"/>
          </a:effectRef>
          <a:fontRef idx="minor">
            <a:schemeClr val="tx1"/>
          </a:fontRef>
        </p:style>
      </p:cxnSp>
      <p:cxnSp>
        <p:nvCxnSpPr>
          <p:cNvPr id="46" name="直接连接符 45"/>
          <p:cNvCxnSpPr/>
          <p:nvPr/>
        </p:nvCxnSpPr>
        <p:spPr>
          <a:xfrm>
            <a:off x="1880235" y="4081780"/>
            <a:ext cx="3025140" cy="0"/>
          </a:xfrm>
          <a:prstGeom prst="line">
            <a:avLst/>
          </a:prstGeom>
          <a:ln w="1905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48" name="文本框 47"/>
          <p:cNvSpPr txBox="1"/>
          <p:nvPr/>
        </p:nvSpPr>
        <p:spPr>
          <a:xfrm>
            <a:off x="1049020" y="2882900"/>
            <a:ext cx="852805" cy="294005"/>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压力</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1050290" y="3384550"/>
            <a:ext cx="850900" cy="294005"/>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排量</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1049655" y="3886200"/>
            <a:ext cx="850900" cy="294005"/>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砂浓度</a:t>
            </a:r>
            <a:endParaRPr lang="zh-CN" altLang="en-US" sz="1600" dirty="0">
              <a:solidFill>
                <a:schemeClr val="tx1"/>
              </a:solidFill>
              <a:latin typeface="微软雅黑" panose="020B0503020204020204" pitchFamily="34" charset="-122"/>
              <a:ea typeface="微软雅黑" panose="020B0503020204020204" pitchFamily="34" charset="-122"/>
            </a:endParaRPr>
          </a:p>
        </p:txBody>
      </p:sp>
      <p:cxnSp>
        <p:nvCxnSpPr>
          <p:cNvPr id="51" name="直接连接符 50"/>
          <p:cNvCxnSpPr>
            <a:endCxn id="56" idx="0"/>
          </p:cNvCxnSpPr>
          <p:nvPr/>
        </p:nvCxnSpPr>
        <p:spPr>
          <a:xfrm>
            <a:off x="1910715" y="4810125"/>
            <a:ext cx="453390" cy="635"/>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2" name="直接连接符 51"/>
          <p:cNvCxnSpPr/>
          <p:nvPr/>
        </p:nvCxnSpPr>
        <p:spPr>
          <a:xfrm>
            <a:off x="2488565" y="2578735"/>
            <a:ext cx="0" cy="3328035"/>
          </a:xfrm>
          <a:prstGeom prst="line">
            <a:avLst/>
          </a:prstGeom>
          <a:ln w="31750" cap="rnd">
            <a:solidFill>
              <a:srgbClr val="7030A0"/>
            </a:solidFill>
            <a:prstDash val="sysDot"/>
            <a:round/>
            <a:headEnd type="none" w="med" len="med"/>
            <a:tailEnd type="none" w="med" len="med"/>
          </a:ln>
        </p:spPr>
        <p:style>
          <a:lnRef idx="0">
            <a:srgbClr val="FFFFFF"/>
          </a:lnRef>
          <a:fillRef idx="0">
            <a:srgbClr val="FFFFFF"/>
          </a:fillRef>
          <a:effectRef idx="0">
            <a:srgbClr val="FFFFFF"/>
          </a:effectRef>
          <a:fontRef idx="minor">
            <a:schemeClr val="tx1"/>
          </a:fontRef>
        </p:style>
      </p:cxnSp>
      <p:cxnSp>
        <p:nvCxnSpPr>
          <p:cNvPr id="53" name="直接连接符 52"/>
          <p:cNvCxnSpPr/>
          <p:nvPr/>
        </p:nvCxnSpPr>
        <p:spPr>
          <a:xfrm>
            <a:off x="3207385" y="2574290"/>
            <a:ext cx="0" cy="3307715"/>
          </a:xfrm>
          <a:prstGeom prst="line">
            <a:avLst/>
          </a:prstGeom>
          <a:ln w="31750" cap="rnd">
            <a:solidFill>
              <a:srgbClr val="7030A0"/>
            </a:solidFill>
            <a:prstDash val="sysDot"/>
            <a:round/>
            <a:headEnd type="none" w="med" len="med"/>
            <a:tailEnd type="none" w="med" len="med"/>
          </a:ln>
        </p:spPr>
        <p:style>
          <a:lnRef idx="0">
            <a:srgbClr val="FFFFFF"/>
          </a:lnRef>
          <a:fillRef idx="0">
            <a:srgbClr val="FFFFFF"/>
          </a:fillRef>
          <a:effectRef idx="0">
            <a:srgbClr val="FFFFFF"/>
          </a:effectRef>
          <a:fontRef idx="minor">
            <a:schemeClr val="tx1"/>
          </a:fontRef>
        </p:style>
      </p:cxnSp>
      <p:cxnSp>
        <p:nvCxnSpPr>
          <p:cNvPr id="54" name="直接连接符 53"/>
          <p:cNvCxnSpPr/>
          <p:nvPr/>
        </p:nvCxnSpPr>
        <p:spPr>
          <a:xfrm>
            <a:off x="4399280" y="2555240"/>
            <a:ext cx="0" cy="3338830"/>
          </a:xfrm>
          <a:prstGeom prst="line">
            <a:avLst/>
          </a:prstGeom>
          <a:ln w="31750" cap="rnd">
            <a:solidFill>
              <a:srgbClr val="7030A0"/>
            </a:solidFill>
            <a:prstDash val="sysDot"/>
            <a:round/>
            <a:headEnd type="none" w="med" len="med"/>
            <a:tailEnd type="none" w="med" len="med"/>
          </a:ln>
        </p:spPr>
        <p:style>
          <a:lnRef idx="0">
            <a:srgbClr val="FFFFFF"/>
          </a:lnRef>
          <a:fillRef idx="0">
            <a:srgbClr val="FFFFFF"/>
          </a:fillRef>
          <a:effectRef idx="0">
            <a:srgbClr val="FFFFFF"/>
          </a:effectRef>
          <a:fontRef idx="minor">
            <a:schemeClr val="tx1"/>
          </a:fontRef>
        </p:style>
      </p:cxnSp>
      <p:sp>
        <p:nvSpPr>
          <p:cNvPr id="56" name="任意多边形 55"/>
          <p:cNvSpPr/>
          <p:nvPr/>
        </p:nvSpPr>
        <p:spPr>
          <a:xfrm>
            <a:off x="2364105" y="4261485"/>
            <a:ext cx="250190" cy="549275"/>
          </a:xfrm>
          <a:custGeom>
            <a:avLst/>
            <a:gdLst>
              <a:gd name="connisteX0" fmla="*/ 0 w 762000"/>
              <a:gd name="connsiteY0" fmla="*/ 1973598 h 1973598"/>
              <a:gd name="connisteX1" fmla="*/ 373380 w 762000"/>
              <a:gd name="connsiteY1" fmla="*/ 18 h 1973598"/>
              <a:gd name="connisteX2" fmla="*/ 762000 w 762000"/>
              <a:gd name="connsiteY2" fmla="*/ 1943118 h 1973598"/>
              <a:gd name="connisteX3" fmla="*/ 830580 w 762000"/>
              <a:gd name="connsiteY3" fmla="*/ 1805958 h 1973598"/>
            </a:gdLst>
            <a:ahLst/>
            <a:cxnLst>
              <a:cxn ang="0">
                <a:pos x="connisteX0" y="connsiteY0"/>
              </a:cxn>
              <a:cxn ang="0">
                <a:pos x="connisteX1" y="connsiteY1"/>
              </a:cxn>
              <a:cxn ang="0">
                <a:pos x="connisteX2" y="connsiteY2"/>
              </a:cxn>
              <a:cxn ang="0">
                <a:pos x="connisteX3" y="connsiteY3"/>
              </a:cxn>
            </a:cxnLst>
            <a:rect l="l" t="t" r="r" b="b"/>
            <a:pathLst>
              <a:path w="762000" h="1973599">
                <a:moveTo>
                  <a:pt x="0" y="1973599"/>
                </a:moveTo>
                <a:cubicBezTo>
                  <a:pt x="66675" y="1539894"/>
                  <a:pt x="220980" y="6369"/>
                  <a:pt x="373380" y="19"/>
                </a:cubicBezTo>
                <a:cubicBezTo>
                  <a:pt x="525780" y="-6331"/>
                  <a:pt x="670560" y="1581804"/>
                  <a:pt x="762000" y="1943119"/>
                </a:cubicBezTo>
              </a:path>
            </a:pathLst>
          </a:custGeom>
          <a:ln w="19050">
            <a:solidFill>
              <a:srgbClr val="FF0000"/>
            </a:solidFill>
          </a:ln>
        </p:spPr>
        <p:style>
          <a:lnRef idx="2">
            <a:schemeClr val="accent1"/>
          </a:lnRef>
          <a:fillRef idx="0">
            <a:srgbClr val="FFFFFF"/>
          </a:fillRef>
          <a:effectRef idx="0">
            <a:srgbClr val="FFFFFF"/>
          </a:effectRef>
          <a:fontRef idx="minor">
            <a:schemeClr val="tx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57" name="任意多边形 56"/>
          <p:cNvSpPr/>
          <p:nvPr/>
        </p:nvSpPr>
        <p:spPr>
          <a:xfrm>
            <a:off x="3082290" y="4246880"/>
            <a:ext cx="250190" cy="549275"/>
          </a:xfrm>
          <a:custGeom>
            <a:avLst/>
            <a:gdLst>
              <a:gd name="connisteX0" fmla="*/ 0 w 762000"/>
              <a:gd name="connsiteY0" fmla="*/ 1973598 h 1973598"/>
              <a:gd name="connisteX1" fmla="*/ 373380 w 762000"/>
              <a:gd name="connsiteY1" fmla="*/ 18 h 1973598"/>
              <a:gd name="connisteX2" fmla="*/ 762000 w 762000"/>
              <a:gd name="connsiteY2" fmla="*/ 1943118 h 1973598"/>
              <a:gd name="connisteX3" fmla="*/ 830580 w 762000"/>
              <a:gd name="connsiteY3" fmla="*/ 1805958 h 1973598"/>
            </a:gdLst>
            <a:ahLst/>
            <a:cxnLst>
              <a:cxn ang="0">
                <a:pos x="connisteX0" y="connsiteY0"/>
              </a:cxn>
              <a:cxn ang="0">
                <a:pos x="connisteX1" y="connsiteY1"/>
              </a:cxn>
              <a:cxn ang="0">
                <a:pos x="connisteX2" y="connsiteY2"/>
              </a:cxn>
              <a:cxn ang="0">
                <a:pos x="connisteX3" y="connsiteY3"/>
              </a:cxn>
            </a:cxnLst>
            <a:rect l="l" t="t" r="r" b="b"/>
            <a:pathLst>
              <a:path w="762000" h="1973599">
                <a:moveTo>
                  <a:pt x="0" y="1973599"/>
                </a:moveTo>
                <a:cubicBezTo>
                  <a:pt x="66675" y="1539894"/>
                  <a:pt x="220980" y="6369"/>
                  <a:pt x="373380" y="19"/>
                </a:cubicBezTo>
                <a:cubicBezTo>
                  <a:pt x="525780" y="-6331"/>
                  <a:pt x="670560" y="1581804"/>
                  <a:pt x="762000" y="1943119"/>
                </a:cubicBezTo>
              </a:path>
            </a:pathLst>
          </a:custGeom>
          <a:ln w="19050">
            <a:solidFill>
              <a:srgbClr val="FF0000"/>
            </a:solidFill>
          </a:ln>
        </p:spPr>
        <p:style>
          <a:lnRef idx="2">
            <a:schemeClr val="accent1"/>
          </a:lnRef>
          <a:fillRef idx="0">
            <a:srgbClr val="FFFFFF"/>
          </a:fillRef>
          <a:effectRef idx="0">
            <a:srgbClr val="FFFFFF"/>
          </a:effectRef>
          <a:fontRef idx="minor">
            <a:schemeClr val="tx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58" name="任意多边形 57"/>
          <p:cNvSpPr/>
          <p:nvPr/>
        </p:nvSpPr>
        <p:spPr>
          <a:xfrm>
            <a:off x="4277360" y="4241165"/>
            <a:ext cx="250190" cy="549275"/>
          </a:xfrm>
          <a:custGeom>
            <a:avLst/>
            <a:gdLst>
              <a:gd name="connisteX0" fmla="*/ 0 w 762000"/>
              <a:gd name="connsiteY0" fmla="*/ 1973598 h 1973598"/>
              <a:gd name="connisteX1" fmla="*/ 373380 w 762000"/>
              <a:gd name="connsiteY1" fmla="*/ 18 h 1973598"/>
              <a:gd name="connisteX2" fmla="*/ 762000 w 762000"/>
              <a:gd name="connsiteY2" fmla="*/ 1943118 h 1973598"/>
              <a:gd name="connisteX3" fmla="*/ 830580 w 762000"/>
              <a:gd name="connsiteY3" fmla="*/ 1805958 h 1973598"/>
            </a:gdLst>
            <a:ahLst/>
            <a:cxnLst>
              <a:cxn ang="0">
                <a:pos x="connisteX0" y="connsiteY0"/>
              </a:cxn>
              <a:cxn ang="0">
                <a:pos x="connisteX1" y="connsiteY1"/>
              </a:cxn>
              <a:cxn ang="0">
                <a:pos x="connisteX2" y="connsiteY2"/>
              </a:cxn>
              <a:cxn ang="0">
                <a:pos x="connisteX3" y="connsiteY3"/>
              </a:cxn>
            </a:cxnLst>
            <a:rect l="l" t="t" r="r" b="b"/>
            <a:pathLst>
              <a:path w="762000" h="1973599">
                <a:moveTo>
                  <a:pt x="0" y="1973599"/>
                </a:moveTo>
                <a:cubicBezTo>
                  <a:pt x="66675" y="1539894"/>
                  <a:pt x="220980" y="6369"/>
                  <a:pt x="373380" y="19"/>
                </a:cubicBezTo>
                <a:cubicBezTo>
                  <a:pt x="525780" y="-6331"/>
                  <a:pt x="670560" y="1581804"/>
                  <a:pt x="762000" y="1943119"/>
                </a:cubicBezTo>
              </a:path>
            </a:pathLst>
          </a:custGeom>
          <a:ln w="19050">
            <a:solidFill>
              <a:srgbClr val="FF0000"/>
            </a:solidFill>
          </a:ln>
        </p:spPr>
        <p:style>
          <a:lnRef idx="2">
            <a:schemeClr val="accent1"/>
          </a:lnRef>
          <a:fillRef idx="0">
            <a:srgbClr val="FFFFFF"/>
          </a:fillRef>
          <a:effectRef idx="0">
            <a:srgbClr val="FFFFFF"/>
          </a:effectRef>
          <a:fontRef idx="minor">
            <a:schemeClr val="tx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cxnSp>
        <p:nvCxnSpPr>
          <p:cNvPr id="59" name="直接连接符 58"/>
          <p:cNvCxnSpPr>
            <a:endCxn id="60" idx="0"/>
          </p:cNvCxnSpPr>
          <p:nvPr/>
        </p:nvCxnSpPr>
        <p:spPr>
          <a:xfrm flipV="1">
            <a:off x="1878330" y="5745480"/>
            <a:ext cx="294640" cy="635"/>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60" name="任意多边形 59"/>
          <p:cNvSpPr/>
          <p:nvPr/>
        </p:nvSpPr>
        <p:spPr>
          <a:xfrm>
            <a:off x="2172970" y="5022215"/>
            <a:ext cx="2522855" cy="723265"/>
          </a:xfrm>
          <a:custGeom>
            <a:avLst/>
            <a:gdLst>
              <a:gd name="connisteX0" fmla="*/ 0 w 762000"/>
              <a:gd name="connsiteY0" fmla="*/ 1973598 h 1973598"/>
              <a:gd name="connisteX1" fmla="*/ 373380 w 762000"/>
              <a:gd name="connsiteY1" fmla="*/ 18 h 1973598"/>
              <a:gd name="connisteX2" fmla="*/ 762000 w 762000"/>
              <a:gd name="connsiteY2" fmla="*/ 1943118 h 1973598"/>
              <a:gd name="connisteX3" fmla="*/ 830580 w 762000"/>
              <a:gd name="connsiteY3" fmla="*/ 1805958 h 1973598"/>
            </a:gdLst>
            <a:ahLst/>
            <a:cxnLst>
              <a:cxn ang="0">
                <a:pos x="connisteX0" y="connsiteY0"/>
              </a:cxn>
              <a:cxn ang="0">
                <a:pos x="connisteX1" y="connsiteY1"/>
              </a:cxn>
              <a:cxn ang="0">
                <a:pos x="connisteX2" y="connsiteY2"/>
              </a:cxn>
              <a:cxn ang="0">
                <a:pos x="connisteX3" y="connsiteY3"/>
              </a:cxn>
            </a:cxnLst>
            <a:rect l="l" t="t" r="r" b="b"/>
            <a:pathLst>
              <a:path w="762000" h="1973599">
                <a:moveTo>
                  <a:pt x="0" y="1973599"/>
                </a:moveTo>
                <a:cubicBezTo>
                  <a:pt x="66675" y="1539894"/>
                  <a:pt x="220980" y="6369"/>
                  <a:pt x="373380" y="19"/>
                </a:cubicBezTo>
                <a:cubicBezTo>
                  <a:pt x="525780" y="-6331"/>
                  <a:pt x="670560" y="1581804"/>
                  <a:pt x="762000" y="1943119"/>
                </a:cubicBezTo>
              </a:path>
            </a:pathLst>
          </a:custGeom>
          <a:ln w="19050">
            <a:solidFill>
              <a:srgbClr val="FF0000"/>
            </a:solidFill>
          </a:ln>
        </p:spPr>
        <p:style>
          <a:lnRef idx="2">
            <a:schemeClr val="accent1"/>
          </a:lnRef>
          <a:fillRef idx="0">
            <a:srgbClr val="FFFFFF"/>
          </a:fillRef>
          <a:effectRef idx="0">
            <a:srgbClr val="FFFFFF"/>
          </a:effectRef>
          <a:fontRef idx="minor">
            <a:schemeClr val="tx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61" name="文本框 60"/>
          <p:cNvSpPr txBox="1"/>
          <p:nvPr/>
        </p:nvSpPr>
        <p:spPr>
          <a:xfrm>
            <a:off x="1047750" y="4464685"/>
            <a:ext cx="850900" cy="561340"/>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小波</a:t>
            </a:r>
            <a:r>
              <a:rPr lang="en-US" altLang="zh-CN" sz="1600" dirty="0">
                <a:solidFill>
                  <a:schemeClr val="tx1"/>
                </a:solidFill>
                <a:latin typeface="微软雅黑" panose="020B0503020204020204" pitchFamily="34" charset="-122"/>
                <a:ea typeface="微软雅黑" panose="020B0503020204020204" pitchFamily="34" charset="-122"/>
              </a:rPr>
              <a:t>1</a:t>
            </a:r>
            <a:r>
              <a:rPr lang="zh-CN" altLang="en-US" sz="1600" dirty="0">
                <a:solidFill>
                  <a:schemeClr val="tx1"/>
                </a:solidFill>
                <a:latin typeface="微软雅黑" panose="020B0503020204020204" pitchFamily="34" charset="-122"/>
                <a:ea typeface="微软雅黑" panose="020B0503020204020204" pitchFamily="34" charset="-122"/>
              </a:rPr>
              <a:t>级分解</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1050925" y="5320665"/>
            <a:ext cx="850900" cy="561340"/>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小波</a:t>
            </a:r>
            <a:r>
              <a:rPr lang="en-US" altLang="zh-CN" sz="1600" dirty="0">
                <a:solidFill>
                  <a:schemeClr val="tx1"/>
                </a:solidFill>
                <a:latin typeface="微软雅黑" panose="020B0503020204020204" pitchFamily="34" charset="-122"/>
                <a:ea typeface="微软雅黑" panose="020B0503020204020204" pitchFamily="34" charset="-122"/>
              </a:rPr>
              <a:t>12</a:t>
            </a:r>
            <a:r>
              <a:rPr lang="zh-CN" altLang="en-US" sz="1600" dirty="0">
                <a:solidFill>
                  <a:schemeClr val="tx1"/>
                </a:solidFill>
                <a:latin typeface="微软雅黑" panose="020B0503020204020204" pitchFamily="34" charset="-122"/>
                <a:ea typeface="微软雅黑" panose="020B0503020204020204" pitchFamily="34" charset="-122"/>
              </a:rPr>
              <a:t>级分解</a:t>
            </a:r>
            <a:endParaRPr lang="zh-CN" altLang="en-US" sz="1600" dirty="0">
              <a:solidFill>
                <a:schemeClr val="tx1"/>
              </a:solidFill>
              <a:latin typeface="微软雅黑" panose="020B0503020204020204" pitchFamily="34" charset="-122"/>
              <a:ea typeface="微软雅黑" panose="020B0503020204020204" pitchFamily="34" charset="-122"/>
            </a:endParaRPr>
          </a:p>
        </p:txBody>
      </p:sp>
      <p:cxnSp>
        <p:nvCxnSpPr>
          <p:cNvPr id="63" name="直接连接符 62"/>
          <p:cNvCxnSpPr>
            <a:endCxn id="57" idx="0"/>
          </p:cNvCxnSpPr>
          <p:nvPr/>
        </p:nvCxnSpPr>
        <p:spPr>
          <a:xfrm>
            <a:off x="2616200" y="4792345"/>
            <a:ext cx="466090" cy="3810"/>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4" name="直接连接符 63"/>
          <p:cNvCxnSpPr>
            <a:endCxn id="58" idx="0"/>
          </p:cNvCxnSpPr>
          <p:nvPr/>
        </p:nvCxnSpPr>
        <p:spPr>
          <a:xfrm>
            <a:off x="3332480" y="4779010"/>
            <a:ext cx="944880" cy="11430"/>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5" name="直接连接符 64"/>
          <p:cNvCxnSpPr/>
          <p:nvPr/>
        </p:nvCxnSpPr>
        <p:spPr>
          <a:xfrm>
            <a:off x="4527550" y="4778375"/>
            <a:ext cx="453390" cy="635"/>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6" name="直接连接符 65"/>
          <p:cNvCxnSpPr/>
          <p:nvPr/>
        </p:nvCxnSpPr>
        <p:spPr>
          <a:xfrm flipV="1">
            <a:off x="4686300" y="5729605"/>
            <a:ext cx="294640" cy="635"/>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67" name="文本框 66"/>
          <p:cNvSpPr txBox="1"/>
          <p:nvPr/>
        </p:nvSpPr>
        <p:spPr>
          <a:xfrm>
            <a:off x="5097145" y="4464685"/>
            <a:ext cx="2159000" cy="561340"/>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高频事件（高音）</a:t>
            </a:r>
            <a:endParaRPr lang="zh-CN" altLang="en-US" sz="1600" dirty="0">
              <a:solidFill>
                <a:schemeClr val="tx1"/>
              </a:solidFill>
              <a:latin typeface="微软雅黑" panose="020B0503020204020204" pitchFamily="34" charset="-122"/>
              <a:ea typeface="微软雅黑" panose="020B0503020204020204" pitchFamily="34" charset="-122"/>
            </a:endParaRPr>
          </a:p>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主裂缝快速扩展</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5097145" y="5320665"/>
            <a:ext cx="2158365" cy="561340"/>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低频事件（低音）</a:t>
            </a:r>
            <a:endParaRPr lang="zh-CN" altLang="en-US" sz="1600" dirty="0">
              <a:solidFill>
                <a:schemeClr val="tx1"/>
              </a:solidFill>
              <a:latin typeface="微软雅黑" panose="020B0503020204020204" pitchFamily="34" charset="-122"/>
              <a:ea typeface="微软雅黑" panose="020B0503020204020204" pitchFamily="34" charset="-122"/>
            </a:endParaRPr>
          </a:p>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缝网形成、缓慢延伸</a:t>
            </a:r>
            <a:endParaRPr lang="zh-CN" altLang="en-US" sz="1600" dirty="0">
              <a:solidFill>
                <a:schemeClr val="tx1"/>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8103870" y="3096260"/>
            <a:ext cx="269875" cy="0"/>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70" name="任意多边形 69"/>
          <p:cNvSpPr/>
          <p:nvPr/>
        </p:nvSpPr>
        <p:spPr>
          <a:xfrm>
            <a:off x="8378190" y="2667000"/>
            <a:ext cx="2421890" cy="635635"/>
          </a:xfrm>
          <a:custGeom>
            <a:avLst/>
            <a:gdLst>
              <a:gd name="connisteX0" fmla="*/ 0 w 2255520"/>
              <a:gd name="connsiteY0" fmla="*/ 1905011 h 2805968"/>
              <a:gd name="connisteX1" fmla="*/ 396240 w 2255520"/>
              <a:gd name="connsiteY1" fmla="*/ 579131 h 2805968"/>
              <a:gd name="connisteX2" fmla="*/ 822960 w 2255520"/>
              <a:gd name="connsiteY2" fmla="*/ 2773691 h 2805968"/>
              <a:gd name="connisteX3" fmla="*/ 1112520 w 2255520"/>
              <a:gd name="connsiteY3" fmla="*/ 11 h 2805968"/>
              <a:gd name="connisteX4" fmla="*/ 1531620 w 2255520"/>
              <a:gd name="connsiteY4" fmla="*/ 2804171 h 2805968"/>
              <a:gd name="connisteX5" fmla="*/ 1859280 w 2255520"/>
              <a:gd name="connsiteY5" fmla="*/ 381011 h 2805968"/>
              <a:gd name="connisteX6" fmla="*/ 2255520 w 2255520"/>
              <a:gd name="connsiteY6" fmla="*/ 2164091 h 2805968"/>
              <a:gd name="connisteX7" fmla="*/ 2301240 w 2255520"/>
              <a:gd name="connsiteY7" fmla="*/ 2270771 h 280596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Lst>
            <a:rect l="l" t="t" r="r" b="b"/>
            <a:pathLst>
              <a:path w="2255520" h="2805969">
                <a:moveTo>
                  <a:pt x="0" y="1905011"/>
                </a:moveTo>
                <a:cubicBezTo>
                  <a:pt x="70485" y="1595766"/>
                  <a:pt x="231775" y="405141"/>
                  <a:pt x="396240" y="579131"/>
                </a:cubicBezTo>
                <a:cubicBezTo>
                  <a:pt x="560705" y="753121"/>
                  <a:pt x="679450" y="2889261"/>
                  <a:pt x="822960" y="2773691"/>
                </a:cubicBezTo>
                <a:cubicBezTo>
                  <a:pt x="966470" y="2658121"/>
                  <a:pt x="970915" y="-6339"/>
                  <a:pt x="1112520" y="11"/>
                </a:cubicBezTo>
                <a:cubicBezTo>
                  <a:pt x="1254125" y="6361"/>
                  <a:pt x="1382395" y="2727971"/>
                  <a:pt x="1531620" y="2804171"/>
                </a:cubicBezTo>
                <a:cubicBezTo>
                  <a:pt x="1680845" y="2880371"/>
                  <a:pt x="1714500" y="509281"/>
                  <a:pt x="1859280" y="381011"/>
                </a:cubicBezTo>
                <a:cubicBezTo>
                  <a:pt x="2004060" y="252741"/>
                  <a:pt x="2167255" y="1786266"/>
                  <a:pt x="2255520" y="2164091"/>
                </a:cubicBezTo>
              </a:path>
            </a:pathLst>
          </a:custGeom>
          <a:ln w="19050">
            <a:solidFill>
              <a:srgbClr val="FF0000"/>
            </a:solidFill>
          </a:ln>
        </p:spPr>
        <p:style>
          <a:lnRef idx="2">
            <a:schemeClr val="accent1"/>
          </a:lnRef>
          <a:fillRef idx="0">
            <a:srgbClr val="FFFFFF"/>
          </a:fillRef>
          <a:effectRef idx="0">
            <a:srgbClr val="FFFFFF"/>
          </a:effectRef>
          <a:fontRef idx="minor">
            <a:schemeClr val="tx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cxnSp>
        <p:nvCxnSpPr>
          <p:cNvPr id="71" name="直接连接符 70"/>
          <p:cNvCxnSpPr>
            <a:stCxn id="70" idx="6"/>
          </p:cNvCxnSpPr>
          <p:nvPr/>
        </p:nvCxnSpPr>
        <p:spPr>
          <a:xfrm>
            <a:off x="10800080" y="3157220"/>
            <a:ext cx="244475" cy="0"/>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grpSp>
        <p:nvGrpSpPr>
          <p:cNvPr id="72" name="组合 71"/>
          <p:cNvGrpSpPr/>
          <p:nvPr/>
        </p:nvGrpSpPr>
        <p:grpSpPr>
          <a:xfrm>
            <a:off x="9277985" y="2911475"/>
            <a:ext cx="250190" cy="217805"/>
            <a:chOff x="3781" y="5992"/>
            <a:chExt cx="710" cy="1832"/>
          </a:xfrm>
        </p:grpSpPr>
        <p:cxnSp>
          <p:nvCxnSpPr>
            <p:cNvPr id="73" name="直接连接符 72"/>
            <p:cNvCxnSpPr/>
            <p:nvPr/>
          </p:nvCxnSpPr>
          <p:spPr>
            <a:xfrm flipH="1">
              <a:off x="3781" y="6656"/>
              <a:ext cx="90" cy="739"/>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4" name="直接连接符 73"/>
            <p:cNvCxnSpPr/>
            <p:nvPr/>
          </p:nvCxnSpPr>
          <p:spPr>
            <a:xfrm>
              <a:off x="3879" y="6660"/>
              <a:ext cx="109" cy="113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5" name="直接连接符 74"/>
            <p:cNvCxnSpPr/>
            <p:nvPr/>
          </p:nvCxnSpPr>
          <p:spPr>
            <a:xfrm flipV="1">
              <a:off x="3988" y="6000"/>
              <a:ext cx="151" cy="179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6" name="直接连接符 75"/>
            <p:cNvCxnSpPr/>
            <p:nvPr/>
          </p:nvCxnSpPr>
          <p:spPr>
            <a:xfrm>
              <a:off x="4155" y="5992"/>
              <a:ext cx="116" cy="1828"/>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7" name="直接连接符 76"/>
            <p:cNvCxnSpPr/>
            <p:nvPr/>
          </p:nvCxnSpPr>
          <p:spPr>
            <a:xfrm flipH="1">
              <a:off x="4269" y="6684"/>
              <a:ext cx="170" cy="1140"/>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8" name="直接连接符 77"/>
            <p:cNvCxnSpPr/>
            <p:nvPr/>
          </p:nvCxnSpPr>
          <p:spPr>
            <a:xfrm>
              <a:off x="4447" y="6685"/>
              <a:ext cx="44" cy="663"/>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grpSp>
      <p:grpSp>
        <p:nvGrpSpPr>
          <p:cNvPr id="79" name="组合 78"/>
          <p:cNvGrpSpPr/>
          <p:nvPr/>
        </p:nvGrpSpPr>
        <p:grpSpPr>
          <a:xfrm>
            <a:off x="10506075" y="2783840"/>
            <a:ext cx="201295" cy="210185"/>
            <a:chOff x="3781" y="5992"/>
            <a:chExt cx="710" cy="1832"/>
          </a:xfrm>
        </p:grpSpPr>
        <p:cxnSp>
          <p:nvCxnSpPr>
            <p:cNvPr id="80" name="直接连接符 79"/>
            <p:cNvCxnSpPr/>
            <p:nvPr/>
          </p:nvCxnSpPr>
          <p:spPr>
            <a:xfrm flipH="1">
              <a:off x="3781" y="6656"/>
              <a:ext cx="90" cy="739"/>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1" name="直接连接符 80"/>
            <p:cNvCxnSpPr/>
            <p:nvPr/>
          </p:nvCxnSpPr>
          <p:spPr>
            <a:xfrm>
              <a:off x="3879" y="6660"/>
              <a:ext cx="109" cy="113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2" name="直接连接符 81"/>
            <p:cNvCxnSpPr/>
            <p:nvPr/>
          </p:nvCxnSpPr>
          <p:spPr>
            <a:xfrm flipV="1">
              <a:off x="3988" y="6000"/>
              <a:ext cx="151" cy="179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3" name="直接连接符 82"/>
            <p:cNvCxnSpPr/>
            <p:nvPr/>
          </p:nvCxnSpPr>
          <p:spPr>
            <a:xfrm>
              <a:off x="4155" y="5992"/>
              <a:ext cx="116" cy="1828"/>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4" name="直接连接符 83"/>
            <p:cNvCxnSpPr/>
            <p:nvPr/>
          </p:nvCxnSpPr>
          <p:spPr>
            <a:xfrm flipH="1">
              <a:off x="4269" y="6684"/>
              <a:ext cx="170" cy="1140"/>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5" name="直接连接符 84"/>
            <p:cNvCxnSpPr/>
            <p:nvPr/>
          </p:nvCxnSpPr>
          <p:spPr>
            <a:xfrm>
              <a:off x="4447" y="6685"/>
              <a:ext cx="44" cy="663"/>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grpSp>
      <p:grpSp>
        <p:nvGrpSpPr>
          <p:cNvPr id="86" name="组合 85"/>
          <p:cNvGrpSpPr/>
          <p:nvPr/>
        </p:nvGrpSpPr>
        <p:grpSpPr>
          <a:xfrm>
            <a:off x="8557895" y="2712085"/>
            <a:ext cx="250190" cy="255905"/>
            <a:chOff x="3781" y="5992"/>
            <a:chExt cx="710" cy="1832"/>
          </a:xfrm>
        </p:grpSpPr>
        <p:cxnSp>
          <p:nvCxnSpPr>
            <p:cNvPr id="87" name="直接连接符 86"/>
            <p:cNvCxnSpPr/>
            <p:nvPr/>
          </p:nvCxnSpPr>
          <p:spPr>
            <a:xfrm flipH="1">
              <a:off x="3781" y="6656"/>
              <a:ext cx="90" cy="739"/>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8" name="直接连接符 87"/>
            <p:cNvCxnSpPr/>
            <p:nvPr/>
          </p:nvCxnSpPr>
          <p:spPr>
            <a:xfrm>
              <a:off x="3879" y="6660"/>
              <a:ext cx="109" cy="113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9" name="直接连接符 88"/>
            <p:cNvCxnSpPr/>
            <p:nvPr/>
          </p:nvCxnSpPr>
          <p:spPr>
            <a:xfrm flipV="1">
              <a:off x="3988" y="6000"/>
              <a:ext cx="151" cy="1794"/>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90" name="直接连接符 89"/>
            <p:cNvCxnSpPr/>
            <p:nvPr/>
          </p:nvCxnSpPr>
          <p:spPr>
            <a:xfrm>
              <a:off x="4155" y="5992"/>
              <a:ext cx="116" cy="1828"/>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91" name="直接连接符 90"/>
            <p:cNvCxnSpPr/>
            <p:nvPr/>
          </p:nvCxnSpPr>
          <p:spPr>
            <a:xfrm flipH="1">
              <a:off x="4269" y="6684"/>
              <a:ext cx="170" cy="1140"/>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92" name="直接连接符 91"/>
            <p:cNvCxnSpPr/>
            <p:nvPr/>
          </p:nvCxnSpPr>
          <p:spPr>
            <a:xfrm>
              <a:off x="4447" y="6685"/>
              <a:ext cx="44" cy="663"/>
            </a:xfrm>
            <a:prstGeom prst="line">
              <a:avLst/>
            </a:prstGeom>
            <a:ln w="19050">
              <a:solidFill>
                <a:srgbClr val="00B050"/>
              </a:solidFill>
              <a:headEnd type="none" w="med" len="med"/>
              <a:tailEnd type="none" w="med" len="med"/>
            </a:ln>
          </p:spPr>
          <p:style>
            <a:lnRef idx="2">
              <a:schemeClr val="accent1"/>
            </a:lnRef>
            <a:fillRef idx="0">
              <a:srgbClr val="FFFFFF"/>
            </a:fillRef>
            <a:effectRef idx="0">
              <a:srgbClr val="FFFFFF"/>
            </a:effectRef>
            <a:fontRef idx="minor">
              <a:schemeClr val="tx1"/>
            </a:fontRef>
          </p:style>
        </p:cxnSp>
      </p:grpSp>
      <p:cxnSp>
        <p:nvCxnSpPr>
          <p:cNvPr id="93" name="直接连接符 92"/>
          <p:cNvCxnSpPr/>
          <p:nvPr/>
        </p:nvCxnSpPr>
        <p:spPr>
          <a:xfrm flipV="1">
            <a:off x="8813800" y="3602355"/>
            <a:ext cx="2268220" cy="2540"/>
          </a:xfrm>
          <a:prstGeom prst="line">
            <a:avLst/>
          </a:prstGeom>
          <a:ln w="19050" cap="rnd">
            <a:solidFill>
              <a:srgbClr val="0000FF"/>
            </a:solidFill>
            <a:round/>
            <a:headEnd type="none" w="med" len="med"/>
            <a:tailEnd type="none" w="med" len="med"/>
          </a:ln>
        </p:spPr>
        <p:style>
          <a:lnRef idx="0">
            <a:srgbClr val="FFFFFF"/>
          </a:lnRef>
          <a:fillRef idx="0">
            <a:srgbClr val="FFFFFF"/>
          </a:fillRef>
          <a:effectRef idx="0">
            <a:srgbClr val="FFFFFF"/>
          </a:effectRef>
          <a:fontRef idx="minor">
            <a:schemeClr val="tx1"/>
          </a:fontRef>
        </p:style>
      </p:cxnSp>
      <p:cxnSp>
        <p:nvCxnSpPr>
          <p:cNvPr id="94" name="直接连接符 93"/>
          <p:cNvCxnSpPr/>
          <p:nvPr/>
        </p:nvCxnSpPr>
        <p:spPr>
          <a:xfrm flipV="1">
            <a:off x="8085455" y="4105910"/>
            <a:ext cx="1195705" cy="635"/>
          </a:xfrm>
          <a:prstGeom prst="line">
            <a:avLst/>
          </a:prstGeom>
          <a:ln w="1905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95" name="文本框 94"/>
          <p:cNvSpPr txBox="1"/>
          <p:nvPr/>
        </p:nvSpPr>
        <p:spPr>
          <a:xfrm>
            <a:off x="7254240" y="2907665"/>
            <a:ext cx="852805" cy="294005"/>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压力</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96" name="文本框 95"/>
          <p:cNvSpPr txBox="1"/>
          <p:nvPr/>
        </p:nvSpPr>
        <p:spPr>
          <a:xfrm>
            <a:off x="7255510" y="3409315"/>
            <a:ext cx="850900" cy="294005"/>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排量</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7254875" y="3910965"/>
            <a:ext cx="850900" cy="294005"/>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砂浓度</a:t>
            </a:r>
            <a:endParaRPr lang="zh-CN" altLang="en-US" sz="1600" dirty="0">
              <a:solidFill>
                <a:schemeClr val="tx1"/>
              </a:solidFill>
              <a:latin typeface="微软雅黑" panose="020B0503020204020204" pitchFamily="34" charset="-122"/>
              <a:ea typeface="微软雅黑" panose="020B0503020204020204" pitchFamily="34" charset="-122"/>
            </a:endParaRPr>
          </a:p>
        </p:txBody>
      </p:sp>
      <p:cxnSp>
        <p:nvCxnSpPr>
          <p:cNvPr id="99" name="直接连接符 98"/>
          <p:cNvCxnSpPr/>
          <p:nvPr/>
        </p:nvCxnSpPr>
        <p:spPr>
          <a:xfrm>
            <a:off x="8693785" y="2603500"/>
            <a:ext cx="0" cy="3328035"/>
          </a:xfrm>
          <a:prstGeom prst="line">
            <a:avLst/>
          </a:prstGeom>
          <a:ln w="31750" cap="rnd">
            <a:solidFill>
              <a:srgbClr val="7030A0"/>
            </a:solidFill>
            <a:prstDash val="sysDot"/>
            <a:round/>
            <a:headEnd type="none" w="med" len="med"/>
            <a:tailEnd type="none" w="med" len="med"/>
          </a:ln>
        </p:spPr>
        <p:style>
          <a:lnRef idx="0">
            <a:srgbClr val="FFFFFF"/>
          </a:lnRef>
          <a:fillRef idx="0">
            <a:srgbClr val="FFFFFF"/>
          </a:fillRef>
          <a:effectRef idx="0">
            <a:srgbClr val="FFFFFF"/>
          </a:effectRef>
          <a:fontRef idx="minor">
            <a:schemeClr val="tx1"/>
          </a:fontRef>
        </p:style>
      </p:cxnSp>
      <p:cxnSp>
        <p:nvCxnSpPr>
          <p:cNvPr id="100" name="直接连接符 99"/>
          <p:cNvCxnSpPr/>
          <p:nvPr/>
        </p:nvCxnSpPr>
        <p:spPr>
          <a:xfrm>
            <a:off x="9412605" y="2599055"/>
            <a:ext cx="0" cy="3307715"/>
          </a:xfrm>
          <a:prstGeom prst="line">
            <a:avLst/>
          </a:prstGeom>
          <a:ln w="31750" cap="rnd">
            <a:solidFill>
              <a:srgbClr val="7030A0"/>
            </a:solidFill>
            <a:prstDash val="sysDot"/>
            <a:round/>
            <a:headEnd type="none" w="med" len="med"/>
            <a:tailEnd type="none" w="med" len="med"/>
          </a:ln>
        </p:spPr>
        <p:style>
          <a:lnRef idx="0">
            <a:srgbClr val="FFFFFF"/>
          </a:lnRef>
          <a:fillRef idx="0">
            <a:srgbClr val="FFFFFF"/>
          </a:fillRef>
          <a:effectRef idx="0">
            <a:srgbClr val="FFFFFF"/>
          </a:effectRef>
          <a:fontRef idx="minor">
            <a:schemeClr val="tx1"/>
          </a:fontRef>
        </p:style>
      </p:cxnSp>
      <p:cxnSp>
        <p:nvCxnSpPr>
          <p:cNvPr id="101" name="直接连接符 100"/>
          <p:cNvCxnSpPr/>
          <p:nvPr/>
        </p:nvCxnSpPr>
        <p:spPr>
          <a:xfrm>
            <a:off x="10604500" y="2580005"/>
            <a:ext cx="0" cy="3338830"/>
          </a:xfrm>
          <a:prstGeom prst="line">
            <a:avLst/>
          </a:prstGeom>
          <a:ln w="31750" cap="rnd">
            <a:solidFill>
              <a:srgbClr val="7030A0"/>
            </a:solidFill>
            <a:prstDash val="sysDot"/>
            <a:round/>
            <a:headEnd type="none" w="med" len="med"/>
            <a:tailEnd type="none" w="med" len="med"/>
          </a:ln>
        </p:spPr>
        <p:style>
          <a:lnRef idx="0">
            <a:srgbClr val="FFFFFF"/>
          </a:lnRef>
          <a:fillRef idx="0">
            <a:srgbClr val="FFFFFF"/>
          </a:fillRef>
          <a:effectRef idx="0">
            <a:srgbClr val="FFFFFF"/>
          </a:effectRef>
          <a:fontRef idx="minor">
            <a:schemeClr val="tx1"/>
          </a:fontRef>
        </p:style>
      </p:cxnSp>
      <p:sp>
        <p:nvSpPr>
          <p:cNvPr id="103" name="任意多边形 102"/>
          <p:cNvSpPr/>
          <p:nvPr/>
        </p:nvSpPr>
        <p:spPr>
          <a:xfrm>
            <a:off x="9287510" y="4271645"/>
            <a:ext cx="250190" cy="549275"/>
          </a:xfrm>
          <a:custGeom>
            <a:avLst/>
            <a:gdLst>
              <a:gd name="connisteX0" fmla="*/ 0 w 762000"/>
              <a:gd name="connsiteY0" fmla="*/ 1973598 h 1973598"/>
              <a:gd name="connisteX1" fmla="*/ 373380 w 762000"/>
              <a:gd name="connsiteY1" fmla="*/ 18 h 1973598"/>
              <a:gd name="connisteX2" fmla="*/ 762000 w 762000"/>
              <a:gd name="connsiteY2" fmla="*/ 1943118 h 1973598"/>
              <a:gd name="connisteX3" fmla="*/ 830580 w 762000"/>
              <a:gd name="connsiteY3" fmla="*/ 1805958 h 1973598"/>
            </a:gdLst>
            <a:ahLst/>
            <a:cxnLst>
              <a:cxn ang="0">
                <a:pos x="connisteX0" y="connsiteY0"/>
              </a:cxn>
              <a:cxn ang="0">
                <a:pos x="connisteX1" y="connsiteY1"/>
              </a:cxn>
              <a:cxn ang="0">
                <a:pos x="connisteX2" y="connsiteY2"/>
              </a:cxn>
              <a:cxn ang="0">
                <a:pos x="connisteX3" y="connsiteY3"/>
              </a:cxn>
            </a:cxnLst>
            <a:rect l="l" t="t" r="r" b="b"/>
            <a:pathLst>
              <a:path w="762000" h="1973599">
                <a:moveTo>
                  <a:pt x="0" y="1973599"/>
                </a:moveTo>
                <a:cubicBezTo>
                  <a:pt x="66675" y="1539894"/>
                  <a:pt x="220980" y="6369"/>
                  <a:pt x="373380" y="19"/>
                </a:cubicBezTo>
                <a:cubicBezTo>
                  <a:pt x="525780" y="-6331"/>
                  <a:pt x="670560" y="1581804"/>
                  <a:pt x="762000" y="1943119"/>
                </a:cubicBezTo>
              </a:path>
            </a:pathLst>
          </a:custGeom>
          <a:ln w="19050">
            <a:solidFill>
              <a:srgbClr val="FF0000"/>
            </a:solidFill>
          </a:ln>
        </p:spPr>
        <p:style>
          <a:lnRef idx="2">
            <a:schemeClr val="accent1"/>
          </a:lnRef>
          <a:fillRef idx="0">
            <a:srgbClr val="FFFFFF"/>
          </a:fillRef>
          <a:effectRef idx="0">
            <a:srgbClr val="FFFFFF"/>
          </a:effectRef>
          <a:fontRef idx="minor">
            <a:schemeClr val="tx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04" name="任意多边形 103"/>
          <p:cNvSpPr/>
          <p:nvPr/>
        </p:nvSpPr>
        <p:spPr>
          <a:xfrm>
            <a:off x="10482580" y="4265930"/>
            <a:ext cx="250190" cy="549275"/>
          </a:xfrm>
          <a:custGeom>
            <a:avLst/>
            <a:gdLst>
              <a:gd name="connisteX0" fmla="*/ 0 w 762000"/>
              <a:gd name="connsiteY0" fmla="*/ 1973598 h 1973598"/>
              <a:gd name="connisteX1" fmla="*/ 373380 w 762000"/>
              <a:gd name="connsiteY1" fmla="*/ 18 h 1973598"/>
              <a:gd name="connisteX2" fmla="*/ 762000 w 762000"/>
              <a:gd name="connsiteY2" fmla="*/ 1943118 h 1973598"/>
              <a:gd name="connisteX3" fmla="*/ 830580 w 762000"/>
              <a:gd name="connsiteY3" fmla="*/ 1805958 h 1973598"/>
            </a:gdLst>
            <a:ahLst/>
            <a:cxnLst>
              <a:cxn ang="0">
                <a:pos x="connisteX0" y="connsiteY0"/>
              </a:cxn>
              <a:cxn ang="0">
                <a:pos x="connisteX1" y="connsiteY1"/>
              </a:cxn>
              <a:cxn ang="0">
                <a:pos x="connisteX2" y="connsiteY2"/>
              </a:cxn>
              <a:cxn ang="0">
                <a:pos x="connisteX3" y="connsiteY3"/>
              </a:cxn>
            </a:cxnLst>
            <a:rect l="l" t="t" r="r" b="b"/>
            <a:pathLst>
              <a:path w="762000" h="1973599">
                <a:moveTo>
                  <a:pt x="0" y="1973599"/>
                </a:moveTo>
                <a:cubicBezTo>
                  <a:pt x="66675" y="1539894"/>
                  <a:pt x="220980" y="6369"/>
                  <a:pt x="373380" y="19"/>
                </a:cubicBezTo>
                <a:cubicBezTo>
                  <a:pt x="525780" y="-6331"/>
                  <a:pt x="670560" y="1581804"/>
                  <a:pt x="762000" y="1943119"/>
                </a:cubicBezTo>
              </a:path>
            </a:pathLst>
          </a:custGeom>
          <a:ln w="19050">
            <a:solidFill>
              <a:srgbClr val="FF0000"/>
            </a:solidFill>
          </a:ln>
        </p:spPr>
        <p:style>
          <a:lnRef idx="2">
            <a:schemeClr val="accent1"/>
          </a:lnRef>
          <a:fillRef idx="0">
            <a:srgbClr val="FFFFFF"/>
          </a:fillRef>
          <a:effectRef idx="0">
            <a:srgbClr val="FFFFFF"/>
          </a:effectRef>
          <a:fontRef idx="minor">
            <a:schemeClr val="tx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cxnSp>
        <p:nvCxnSpPr>
          <p:cNvPr id="105" name="直接连接符 104"/>
          <p:cNvCxnSpPr>
            <a:endCxn id="106" idx="0"/>
          </p:cNvCxnSpPr>
          <p:nvPr/>
        </p:nvCxnSpPr>
        <p:spPr>
          <a:xfrm flipV="1">
            <a:off x="8083550" y="5770245"/>
            <a:ext cx="294640" cy="635"/>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106" name="任意多边形 105"/>
          <p:cNvSpPr/>
          <p:nvPr/>
        </p:nvSpPr>
        <p:spPr>
          <a:xfrm>
            <a:off x="8378190" y="5046980"/>
            <a:ext cx="899795" cy="723265"/>
          </a:xfrm>
          <a:custGeom>
            <a:avLst/>
            <a:gdLst>
              <a:gd name="connisteX0" fmla="*/ 0 w 762000"/>
              <a:gd name="connsiteY0" fmla="*/ 1973598 h 1973598"/>
              <a:gd name="connisteX1" fmla="*/ 373380 w 762000"/>
              <a:gd name="connsiteY1" fmla="*/ 18 h 1973598"/>
              <a:gd name="connisteX2" fmla="*/ 762000 w 762000"/>
              <a:gd name="connsiteY2" fmla="*/ 1943118 h 1973598"/>
              <a:gd name="connisteX3" fmla="*/ 830580 w 762000"/>
              <a:gd name="connsiteY3" fmla="*/ 1805958 h 1973598"/>
            </a:gdLst>
            <a:ahLst/>
            <a:cxnLst>
              <a:cxn ang="0">
                <a:pos x="connisteX0" y="connsiteY0"/>
              </a:cxn>
              <a:cxn ang="0">
                <a:pos x="connisteX1" y="connsiteY1"/>
              </a:cxn>
              <a:cxn ang="0">
                <a:pos x="connisteX2" y="connsiteY2"/>
              </a:cxn>
              <a:cxn ang="0">
                <a:pos x="connisteX3" y="connsiteY3"/>
              </a:cxn>
            </a:cxnLst>
            <a:rect l="l" t="t" r="r" b="b"/>
            <a:pathLst>
              <a:path w="762000" h="1973599">
                <a:moveTo>
                  <a:pt x="0" y="1973599"/>
                </a:moveTo>
                <a:cubicBezTo>
                  <a:pt x="66675" y="1539894"/>
                  <a:pt x="220980" y="6369"/>
                  <a:pt x="373380" y="19"/>
                </a:cubicBezTo>
                <a:cubicBezTo>
                  <a:pt x="525780" y="-6331"/>
                  <a:pt x="670560" y="1581804"/>
                  <a:pt x="762000" y="1943119"/>
                </a:cubicBezTo>
              </a:path>
            </a:pathLst>
          </a:custGeom>
          <a:ln w="19050">
            <a:solidFill>
              <a:srgbClr val="FF0000"/>
            </a:solidFill>
          </a:ln>
        </p:spPr>
        <p:style>
          <a:lnRef idx="2">
            <a:schemeClr val="accent1"/>
          </a:lnRef>
          <a:fillRef idx="0">
            <a:srgbClr val="FFFFFF"/>
          </a:fillRef>
          <a:effectRef idx="0">
            <a:srgbClr val="FFFFFF"/>
          </a:effectRef>
          <a:fontRef idx="minor">
            <a:schemeClr val="tx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07" name="文本框 106"/>
          <p:cNvSpPr txBox="1"/>
          <p:nvPr/>
        </p:nvSpPr>
        <p:spPr>
          <a:xfrm>
            <a:off x="7256145" y="4485640"/>
            <a:ext cx="850900" cy="561340"/>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小波</a:t>
            </a:r>
            <a:r>
              <a:rPr lang="en-US" altLang="zh-CN" sz="1600" dirty="0">
                <a:solidFill>
                  <a:schemeClr val="tx1"/>
                </a:solidFill>
                <a:latin typeface="微软雅黑" panose="020B0503020204020204" pitchFamily="34" charset="-122"/>
                <a:ea typeface="微软雅黑" panose="020B0503020204020204" pitchFamily="34" charset="-122"/>
              </a:rPr>
              <a:t>1</a:t>
            </a:r>
            <a:r>
              <a:rPr lang="zh-CN" altLang="en-US" sz="1600" dirty="0">
                <a:solidFill>
                  <a:schemeClr val="tx1"/>
                </a:solidFill>
                <a:latin typeface="微软雅黑" panose="020B0503020204020204" pitchFamily="34" charset="-122"/>
                <a:ea typeface="微软雅黑" panose="020B0503020204020204" pitchFamily="34" charset="-122"/>
              </a:rPr>
              <a:t>级分解</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08" name="文本框 107"/>
          <p:cNvSpPr txBox="1"/>
          <p:nvPr/>
        </p:nvSpPr>
        <p:spPr>
          <a:xfrm>
            <a:off x="7256145" y="5345430"/>
            <a:ext cx="850900" cy="561340"/>
          </a:xfrm>
          <a:prstGeom prst="rect">
            <a:avLst/>
          </a:prstGeom>
          <a:noFill/>
          <a:ln>
            <a:noFill/>
          </a:ln>
        </p:spPr>
        <p:txBody>
          <a:bodyPr wrap="square"/>
          <a:lstStyle/>
          <a:p>
            <a:pPr marL="0" indent="0" algn="ctr">
              <a:lnSpc>
                <a:spcPct val="10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rPr>
              <a:t>小波</a:t>
            </a:r>
            <a:r>
              <a:rPr lang="en-US" altLang="zh-CN" sz="1600" dirty="0">
                <a:solidFill>
                  <a:schemeClr val="tx1"/>
                </a:solidFill>
                <a:latin typeface="微软雅黑" panose="020B0503020204020204" pitchFamily="34" charset="-122"/>
                <a:ea typeface="微软雅黑" panose="020B0503020204020204" pitchFamily="34" charset="-122"/>
              </a:rPr>
              <a:t>12</a:t>
            </a:r>
            <a:r>
              <a:rPr lang="zh-CN" altLang="en-US" sz="1600" dirty="0">
                <a:solidFill>
                  <a:schemeClr val="tx1"/>
                </a:solidFill>
                <a:latin typeface="微软雅黑" panose="020B0503020204020204" pitchFamily="34" charset="-122"/>
                <a:ea typeface="微软雅黑" panose="020B0503020204020204" pitchFamily="34" charset="-122"/>
              </a:rPr>
              <a:t>级分解</a:t>
            </a:r>
            <a:endParaRPr lang="zh-CN" altLang="en-US" sz="1600" dirty="0">
              <a:solidFill>
                <a:schemeClr val="tx1"/>
              </a:solidFill>
              <a:latin typeface="微软雅黑" panose="020B0503020204020204" pitchFamily="34" charset="-122"/>
              <a:ea typeface="微软雅黑" panose="020B0503020204020204" pitchFamily="34" charset="-122"/>
            </a:endParaRPr>
          </a:p>
        </p:txBody>
      </p:sp>
      <p:cxnSp>
        <p:nvCxnSpPr>
          <p:cNvPr id="109" name="直接连接符 108"/>
          <p:cNvCxnSpPr>
            <a:endCxn id="103" idx="0"/>
          </p:cNvCxnSpPr>
          <p:nvPr/>
        </p:nvCxnSpPr>
        <p:spPr>
          <a:xfrm flipV="1">
            <a:off x="8105140" y="4820920"/>
            <a:ext cx="1182370" cy="3175"/>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10" name="直接连接符 109"/>
          <p:cNvCxnSpPr>
            <a:endCxn id="104" idx="0"/>
          </p:cNvCxnSpPr>
          <p:nvPr/>
        </p:nvCxnSpPr>
        <p:spPr>
          <a:xfrm>
            <a:off x="9537700" y="4803775"/>
            <a:ext cx="944880" cy="11430"/>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11" name="直接连接符 110"/>
          <p:cNvCxnSpPr/>
          <p:nvPr/>
        </p:nvCxnSpPr>
        <p:spPr>
          <a:xfrm>
            <a:off x="10732770" y="4803140"/>
            <a:ext cx="453390" cy="635"/>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12" name="直接连接符 111"/>
          <p:cNvCxnSpPr/>
          <p:nvPr/>
        </p:nvCxnSpPr>
        <p:spPr>
          <a:xfrm flipV="1">
            <a:off x="10891520" y="5754370"/>
            <a:ext cx="294640" cy="635"/>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grpSp>
        <p:nvGrpSpPr>
          <p:cNvPr id="115" name="组合 114"/>
          <p:cNvGrpSpPr/>
          <p:nvPr/>
        </p:nvGrpSpPr>
        <p:grpSpPr>
          <a:xfrm>
            <a:off x="8557895" y="3418205"/>
            <a:ext cx="250190" cy="255905"/>
            <a:chOff x="3781" y="5992"/>
            <a:chExt cx="710" cy="1832"/>
          </a:xfrm>
        </p:grpSpPr>
        <p:cxnSp>
          <p:nvCxnSpPr>
            <p:cNvPr id="116" name="直接连接符 115"/>
            <p:cNvCxnSpPr/>
            <p:nvPr/>
          </p:nvCxnSpPr>
          <p:spPr>
            <a:xfrm flipH="1">
              <a:off x="3781" y="6656"/>
              <a:ext cx="90" cy="739"/>
            </a:xfrm>
            <a:prstGeom prst="line">
              <a:avLst/>
            </a:prstGeom>
            <a:ln w="19050">
              <a:solidFill>
                <a:srgbClr val="0000FF"/>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17" name="直接连接符 116"/>
            <p:cNvCxnSpPr/>
            <p:nvPr/>
          </p:nvCxnSpPr>
          <p:spPr>
            <a:xfrm>
              <a:off x="3879" y="6660"/>
              <a:ext cx="109" cy="1134"/>
            </a:xfrm>
            <a:prstGeom prst="line">
              <a:avLst/>
            </a:prstGeom>
            <a:ln w="19050">
              <a:solidFill>
                <a:srgbClr val="0000FF"/>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18" name="直接连接符 117"/>
            <p:cNvCxnSpPr/>
            <p:nvPr/>
          </p:nvCxnSpPr>
          <p:spPr>
            <a:xfrm flipV="1">
              <a:off x="3988" y="6000"/>
              <a:ext cx="151" cy="1794"/>
            </a:xfrm>
            <a:prstGeom prst="line">
              <a:avLst/>
            </a:prstGeom>
            <a:ln w="19050">
              <a:solidFill>
                <a:srgbClr val="0000FF"/>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19" name="直接连接符 118"/>
            <p:cNvCxnSpPr/>
            <p:nvPr/>
          </p:nvCxnSpPr>
          <p:spPr>
            <a:xfrm>
              <a:off x="4155" y="5992"/>
              <a:ext cx="116" cy="1828"/>
            </a:xfrm>
            <a:prstGeom prst="line">
              <a:avLst/>
            </a:prstGeom>
            <a:ln w="19050">
              <a:solidFill>
                <a:srgbClr val="0000FF"/>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20" name="直接连接符 119"/>
            <p:cNvCxnSpPr/>
            <p:nvPr/>
          </p:nvCxnSpPr>
          <p:spPr>
            <a:xfrm flipH="1">
              <a:off x="4269" y="6684"/>
              <a:ext cx="170" cy="1140"/>
            </a:xfrm>
            <a:prstGeom prst="line">
              <a:avLst/>
            </a:prstGeom>
            <a:ln w="19050">
              <a:solidFill>
                <a:srgbClr val="0000FF"/>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21" name="直接连接符 120"/>
            <p:cNvCxnSpPr/>
            <p:nvPr/>
          </p:nvCxnSpPr>
          <p:spPr>
            <a:xfrm>
              <a:off x="4447" y="6685"/>
              <a:ext cx="44" cy="663"/>
            </a:xfrm>
            <a:prstGeom prst="line">
              <a:avLst/>
            </a:prstGeom>
            <a:ln w="19050">
              <a:solidFill>
                <a:srgbClr val="0000FF"/>
              </a:solidFill>
              <a:headEnd type="none" w="med" len="med"/>
              <a:tailEnd type="none" w="med" len="med"/>
            </a:ln>
          </p:spPr>
          <p:style>
            <a:lnRef idx="2">
              <a:schemeClr val="accent1"/>
            </a:lnRef>
            <a:fillRef idx="0">
              <a:srgbClr val="FFFFFF"/>
            </a:fillRef>
            <a:effectRef idx="0">
              <a:srgbClr val="FFFFFF"/>
            </a:effectRef>
            <a:fontRef idx="minor">
              <a:schemeClr val="tx1"/>
            </a:fontRef>
          </p:style>
        </p:cxnSp>
      </p:grpSp>
      <p:cxnSp>
        <p:nvCxnSpPr>
          <p:cNvPr id="122" name="直接连接符 121"/>
          <p:cNvCxnSpPr/>
          <p:nvPr/>
        </p:nvCxnSpPr>
        <p:spPr>
          <a:xfrm flipV="1">
            <a:off x="8103870" y="3607435"/>
            <a:ext cx="443865" cy="635"/>
          </a:xfrm>
          <a:prstGeom prst="line">
            <a:avLst/>
          </a:prstGeom>
          <a:ln w="19050" cap="rnd">
            <a:solidFill>
              <a:srgbClr val="0000FF"/>
            </a:solidFill>
            <a:round/>
            <a:headEnd type="none" w="med" len="med"/>
            <a:tailEnd type="none" w="med" len="med"/>
          </a:ln>
        </p:spPr>
        <p:style>
          <a:lnRef idx="0">
            <a:srgbClr val="FFFFFF"/>
          </a:lnRef>
          <a:fillRef idx="0">
            <a:srgbClr val="FFFFFF"/>
          </a:fillRef>
          <a:effectRef idx="0">
            <a:srgbClr val="FFFFFF"/>
          </a:effectRef>
          <a:fontRef idx="minor">
            <a:schemeClr val="tx1"/>
          </a:fontRef>
        </p:style>
      </p:cxnSp>
      <p:cxnSp>
        <p:nvCxnSpPr>
          <p:cNvPr id="123" name="直接连接符 122"/>
          <p:cNvCxnSpPr/>
          <p:nvPr/>
        </p:nvCxnSpPr>
        <p:spPr>
          <a:xfrm flipV="1">
            <a:off x="9277350" y="3945255"/>
            <a:ext cx="242570" cy="161290"/>
          </a:xfrm>
          <a:prstGeom prst="line">
            <a:avLst/>
          </a:prstGeom>
          <a:ln w="1905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26" name="直接连接符 125"/>
          <p:cNvCxnSpPr/>
          <p:nvPr/>
        </p:nvCxnSpPr>
        <p:spPr>
          <a:xfrm flipV="1">
            <a:off x="9512935" y="3888105"/>
            <a:ext cx="320040" cy="57150"/>
          </a:xfrm>
          <a:prstGeom prst="line">
            <a:avLst/>
          </a:prstGeom>
          <a:ln w="1905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27" name="直接连接符 126"/>
          <p:cNvCxnSpPr/>
          <p:nvPr/>
        </p:nvCxnSpPr>
        <p:spPr>
          <a:xfrm flipV="1">
            <a:off x="9830435" y="3722370"/>
            <a:ext cx="200025" cy="165735"/>
          </a:xfrm>
          <a:prstGeom prst="line">
            <a:avLst/>
          </a:prstGeom>
          <a:ln w="1905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30" name="直接连接符 129"/>
          <p:cNvCxnSpPr/>
          <p:nvPr/>
        </p:nvCxnSpPr>
        <p:spPr>
          <a:xfrm>
            <a:off x="10030460" y="3724275"/>
            <a:ext cx="1054100" cy="1270"/>
          </a:xfrm>
          <a:prstGeom prst="line">
            <a:avLst/>
          </a:prstGeom>
          <a:ln w="1905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134" name="任意多边形 133"/>
          <p:cNvSpPr/>
          <p:nvPr/>
        </p:nvSpPr>
        <p:spPr>
          <a:xfrm>
            <a:off x="10055225" y="5039995"/>
            <a:ext cx="836295" cy="723265"/>
          </a:xfrm>
          <a:custGeom>
            <a:avLst/>
            <a:gdLst>
              <a:gd name="connisteX0" fmla="*/ 0 w 762000"/>
              <a:gd name="connsiteY0" fmla="*/ 1973598 h 1973598"/>
              <a:gd name="connisteX1" fmla="*/ 373380 w 762000"/>
              <a:gd name="connsiteY1" fmla="*/ 18 h 1973598"/>
              <a:gd name="connisteX2" fmla="*/ 762000 w 762000"/>
              <a:gd name="connsiteY2" fmla="*/ 1943118 h 1973598"/>
              <a:gd name="connisteX3" fmla="*/ 830580 w 762000"/>
              <a:gd name="connsiteY3" fmla="*/ 1805958 h 1973598"/>
            </a:gdLst>
            <a:ahLst/>
            <a:cxnLst>
              <a:cxn ang="0">
                <a:pos x="connisteX0" y="connsiteY0"/>
              </a:cxn>
              <a:cxn ang="0">
                <a:pos x="connisteX1" y="connsiteY1"/>
              </a:cxn>
              <a:cxn ang="0">
                <a:pos x="connisteX2" y="connsiteY2"/>
              </a:cxn>
              <a:cxn ang="0">
                <a:pos x="connisteX3" y="connsiteY3"/>
              </a:cxn>
            </a:cxnLst>
            <a:rect l="l" t="t" r="r" b="b"/>
            <a:pathLst>
              <a:path w="762000" h="1973599">
                <a:moveTo>
                  <a:pt x="0" y="1973599"/>
                </a:moveTo>
                <a:cubicBezTo>
                  <a:pt x="66675" y="1539894"/>
                  <a:pt x="220980" y="6369"/>
                  <a:pt x="373380" y="19"/>
                </a:cubicBezTo>
                <a:cubicBezTo>
                  <a:pt x="525780" y="-6331"/>
                  <a:pt x="670560" y="1581804"/>
                  <a:pt x="762000" y="1943119"/>
                </a:cubicBezTo>
              </a:path>
            </a:pathLst>
          </a:custGeom>
          <a:ln w="19050">
            <a:solidFill>
              <a:srgbClr val="FF0000"/>
            </a:solidFill>
          </a:ln>
        </p:spPr>
        <p:style>
          <a:lnRef idx="2">
            <a:schemeClr val="accent1"/>
          </a:lnRef>
          <a:fillRef idx="0">
            <a:srgbClr val="FFFFFF"/>
          </a:fillRef>
          <a:effectRef idx="0">
            <a:srgbClr val="FFFFFF"/>
          </a:effectRef>
          <a:fontRef idx="minor">
            <a:schemeClr val="tx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cxnSp>
        <p:nvCxnSpPr>
          <p:cNvPr id="135" name="直接连接符 134"/>
          <p:cNvCxnSpPr>
            <a:stCxn id="106" idx="2"/>
            <a:endCxn id="134" idx="0"/>
          </p:cNvCxnSpPr>
          <p:nvPr/>
        </p:nvCxnSpPr>
        <p:spPr>
          <a:xfrm>
            <a:off x="9277985" y="5758815"/>
            <a:ext cx="777240" cy="4445"/>
          </a:xfrm>
          <a:prstGeom prst="line">
            <a:avLst/>
          </a:prstGeom>
          <a:ln w="19050">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136" name="矩形 135"/>
          <p:cNvSpPr/>
          <p:nvPr/>
        </p:nvSpPr>
        <p:spPr>
          <a:xfrm>
            <a:off x="8531225" y="2549525"/>
            <a:ext cx="283210" cy="3281680"/>
          </a:xfrm>
          <a:prstGeom prst="rect">
            <a:avLst/>
          </a:prstGeom>
          <a:solidFill>
            <a:schemeClr val="accent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37" name="矩形 136"/>
          <p:cNvSpPr/>
          <p:nvPr/>
        </p:nvSpPr>
        <p:spPr>
          <a:xfrm>
            <a:off x="9277350" y="2555240"/>
            <a:ext cx="778510" cy="3281680"/>
          </a:xfrm>
          <a:prstGeom prst="rect">
            <a:avLst/>
          </a:prstGeom>
          <a:solidFill>
            <a:schemeClr val="tx2">
              <a:lumMod val="60000"/>
              <a:lumOff val="40000"/>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、基于水力压裂施工信号特征，构建小波分析模型</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rPr>
              <a:t>截取</a:t>
            </a:r>
            <a:r>
              <a:rPr lang="zh-CN" altLang="en-US" sz="1600" dirty="0">
                <a:solidFill>
                  <a:srgbClr val="FF0000"/>
                </a:solidFill>
                <a:cs typeface="微软雅黑" panose="020B0503020204020204" pitchFamily="34" charset="-122"/>
              </a:rPr>
              <a:t>裂缝延伸过程</a:t>
            </a:r>
            <a:r>
              <a:rPr lang="zh-CN" altLang="en-US" sz="1600" dirty="0">
                <a:cs typeface="微软雅黑" panose="020B0503020204020204" pitchFamily="34" charset="-122"/>
              </a:rPr>
              <a:t>的压裂施工数据进行分析，寻找裂缝延伸事件的特征 </a:t>
            </a:r>
            <a:endParaRPr lang="zh-CN" altLang="en-US" sz="1600" dirty="0">
              <a:cs typeface="微软雅黑" panose="020B0503020204020204" pitchFamily="34" charset="-122"/>
            </a:endParaRPr>
          </a:p>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rPr>
              <a:t>信号表现为</a:t>
            </a:r>
            <a:r>
              <a:rPr lang="zh-CN" altLang="en-US" sz="1600" dirty="0">
                <a:solidFill>
                  <a:srgbClr val="FF0000"/>
                </a:solidFill>
                <a:cs typeface="微软雅黑" panose="020B0503020204020204" pitchFamily="34" charset="-122"/>
              </a:rPr>
              <a:t>压力、排量变化较为平稳</a:t>
            </a:r>
            <a:r>
              <a:rPr lang="zh-CN" altLang="en-US" sz="1600" dirty="0">
                <a:cs typeface="微软雅黑" panose="020B0503020204020204" pitchFamily="34" charset="-122"/>
              </a:rPr>
              <a:t>，常常为从加砂开始至加砂完全结束 </a:t>
            </a:r>
            <a:endParaRPr lang="zh-CN" altLang="en-US" sz="1600" dirty="0">
              <a:cs typeface="微软雅黑" panose="020B0503020204020204" pitchFamily="34" charset="-122"/>
            </a:endParaRPr>
          </a:p>
        </p:txBody>
      </p:sp>
      <p:pic>
        <p:nvPicPr>
          <p:cNvPr id="6" name="图片 5" descr="泸203H8平台2井第5段施工"/>
          <p:cNvPicPr/>
          <p:nvPr/>
        </p:nvPicPr>
        <p:blipFill>
          <a:blip r:embed="rId1"/>
          <a:stretch>
            <a:fillRect/>
          </a:stretch>
        </p:blipFill>
        <p:spPr>
          <a:xfrm>
            <a:off x="9087485" y="5145565"/>
            <a:ext cx="2340000" cy="1259840"/>
          </a:xfrm>
          <a:prstGeom prst="rect">
            <a:avLst/>
          </a:prstGeom>
        </p:spPr>
      </p:pic>
      <p:pic>
        <p:nvPicPr>
          <p:cNvPr id="7" name="图片 6" descr="泸203H8平台2井第1段施工"/>
          <p:cNvPicPr/>
          <p:nvPr/>
        </p:nvPicPr>
        <p:blipFill>
          <a:blip r:embed="rId2"/>
          <a:stretch>
            <a:fillRect/>
          </a:stretch>
        </p:blipFill>
        <p:spPr>
          <a:xfrm>
            <a:off x="9088145" y="2202815"/>
            <a:ext cx="2339975" cy="1260000"/>
          </a:xfrm>
          <a:prstGeom prst="rect">
            <a:avLst/>
          </a:prstGeom>
        </p:spPr>
      </p:pic>
      <p:pic>
        <p:nvPicPr>
          <p:cNvPr id="8" name="图片 7" descr="泸203H8平台2井第3段施工"/>
          <p:cNvPicPr/>
          <p:nvPr/>
        </p:nvPicPr>
        <p:blipFill>
          <a:blip r:embed="rId3"/>
          <a:stretch>
            <a:fillRect/>
          </a:stretch>
        </p:blipFill>
        <p:spPr>
          <a:xfrm>
            <a:off x="9088780" y="3674270"/>
            <a:ext cx="2339975" cy="1259840"/>
          </a:xfrm>
          <a:prstGeom prst="rect">
            <a:avLst/>
          </a:prstGeom>
        </p:spPr>
      </p:pic>
      <p:pic>
        <p:nvPicPr>
          <p:cNvPr id="10" name="图片 9" descr="图片5"/>
          <p:cNvPicPr/>
          <p:nvPr/>
        </p:nvPicPr>
        <p:blipFill>
          <a:blip r:embed="rId4"/>
          <a:stretch>
            <a:fillRect/>
          </a:stretch>
        </p:blipFill>
        <p:spPr>
          <a:xfrm>
            <a:off x="6038240" y="5145565"/>
            <a:ext cx="2339975" cy="1259840"/>
          </a:xfrm>
          <a:prstGeom prst="rect">
            <a:avLst/>
          </a:prstGeom>
        </p:spPr>
      </p:pic>
      <p:pic>
        <p:nvPicPr>
          <p:cNvPr id="11" name="图片 10" descr="图片1"/>
          <p:cNvPicPr/>
          <p:nvPr/>
        </p:nvPicPr>
        <p:blipFill>
          <a:blip r:embed="rId5"/>
          <a:stretch>
            <a:fillRect/>
          </a:stretch>
        </p:blipFill>
        <p:spPr>
          <a:xfrm>
            <a:off x="6016625" y="2186305"/>
            <a:ext cx="2340000" cy="1260000"/>
          </a:xfrm>
          <a:prstGeom prst="rect">
            <a:avLst/>
          </a:prstGeom>
        </p:spPr>
      </p:pic>
      <p:pic>
        <p:nvPicPr>
          <p:cNvPr id="12" name="图片 11" descr="图片3"/>
          <p:cNvPicPr/>
          <p:nvPr/>
        </p:nvPicPr>
        <p:blipFill>
          <a:blip r:embed="rId6"/>
          <a:stretch>
            <a:fillRect/>
          </a:stretch>
        </p:blipFill>
        <p:spPr>
          <a:xfrm>
            <a:off x="6059830" y="3666015"/>
            <a:ext cx="2339975" cy="1259840"/>
          </a:xfrm>
          <a:prstGeom prst="rect">
            <a:avLst/>
          </a:prstGeom>
        </p:spPr>
      </p:pic>
      <p:cxnSp>
        <p:nvCxnSpPr>
          <p:cNvPr id="13" name="直接箭头连接符 12"/>
          <p:cNvCxnSpPr>
            <a:stCxn id="11" idx="3"/>
            <a:endCxn id="7" idx="1"/>
          </p:cNvCxnSpPr>
          <p:nvPr/>
        </p:nvCxnSpPr>
        <p:spPr>
          <a:xfrm>
            <a:off x="8356600" y="2816225"/>
            <a:ext cx="731520" cy="1651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17" name="直接箭头连接符 16"/>
          <p:cNvCxnSpPr>
            <a:stCxn id="12" idx="3"/>
            <a:endCxn id="8" idx="1"/>
          </p:cNvCxnSpPr>
          <p:nvPr/>
        </p:nvCxnSpPr>
        <p:spPr>
          <a:xfrm>
            <a:off x="8399780" y="4295775"/>
            <a:ext cx="688975" cy="8255"/>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19" name="直接箭头连接符 18"/>
          <p:cNvCxnSpPr>
            <a:stCxn id="10" idx="3"/>
            <a:endCxn id="6" idx="1"/>
          </p:cNvCxnSpPr>
          <p:nvPr/>
        </p:nvCxnSpPr>
        <p:spPr>
          <a:xfrm>
            <a:off x="8378190" y="5775325"/>
            <a:ext cx="709295" cy="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pic>
        <p:nvPicPr>
          <p:cNvPr id="23" name="图片 22"/>
          <p:cNvPicPr>
            <a:picLocks noChangeAspect="1"/>
          </p:cNvPicPr>
          <p:nvPr/>
        </p:nvPicPr>
        <p:blipFill>
          <a:blip r:embed="rId7"/>
          <a:stretch>
            <a:fillRect/>
          </a:stretch>
        </p:blipFill>
        <p:spPr>
          <a:xfrm>
            <a:off x="828675" y="2551430"/>
            <a:ext cx="4777740" cy="3249295"/>
          </a:xfrm>
          <a:prstGeom prst="rect">
            <a:avLst/>
          </a:prstGeom>
        </p:spPr>
      </p:pic>
      <p:sp>
        <p:nvSpPr>
          <p:cNvPr id="5" name="矩形 4"/>
          <p:cNvSpPr/>
          <p:nvPr/>
        </p:nvSpPr>
        <p:spPr>
          <a:xfrm>
            <a:off x="6916420" y="2331085"/>
            <a:ext cx="690880" cy="1061720"/>
          </a:xfrm>
          <a:prstGeom prst="rect">
            <a:avLst/>
          </a:prstGeom>
          <a:solidFill>
            <a:srgbClr val="00B050">
              <a:alpha val="20000"/>
            </a:srgb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9" name="矩形 8"/>
          <p:cNvSpPr/>
          <p:nvPr/>
        </p:nvSpPr>
        <p:spPr>
          <a:xfrm>
            <a:off x="6576060" y="3811270"/>
            <a:ext cx="1168400" cy="1052195"/>
          </a:xfrm>
          <a:prstGeom prst="rect">
            <a:avLst/>
          </a:prstGeom>
          <a:solidFill>
            <a:srgbClr val="00B050">
              <a:alpha val="20000"/>
            </a:srgb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4" name="矩形 13"/>
          <p:cNvSpPr/>
          <p:nvPr/>
        </p:nvSpPr>
        <p:spPr>
          <a:xfrm>
            <a:off x="6677660" y="5281930"/>
            <a:ext cx="1147445" cy="1061720"/>
          </a:xfrm>
          <a:prstGeom prst="rect">
            <a:avLst/>
          </a:prstGeom>
          <a:solidFill>
            <a:srgbClr val="00B050">
              <a:alpha val="20000"/>
            </a:srgb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、基于水力压裂施工信号特征，构建小波分析模型</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en-US" altLang="zh-CN" sz="1600" dirty="0">
                <a:cs typeface="微软雅黑" panose="020B0503020204020204" pitchFamily="34" charset="-122"/>
              </a:rPr>
              <a:t>Db</a:t>
            </a:r>
            <a:r>
              <a:rPr lang="zh-CN" altLang="en-US" sz="1600" dirty="0">
                <a:cs typeface="微软雅黑" panose="020B0503020204020204" pitchFamily="34" charset="-122"/>
              </a:rPr>
              <a:t>小波的</a:t>
            </a:r>
            <a:r>
              <a:rPr lang="zh-CN" altLang="en-US" sz="1600" dirty="0">
                <a:solidFill>
                  <a:srgbClr val="FF0000"/>
                </a:solidFill>
                <a:cs typeface="微软雅黑" panose="020B0503020204020204" pitchFamily="34" charset="-122"/>
              </a:rPr>
              <a:t>紧支撑性</a:t>
            </a:r>
            <a:r>
              <a:rPr lang="zh-CN" altLang="en-US" sz="1600" dirty="0">
                <a:cs typeface="微软雅黑" panose="020B0503020204020204" pitchFamily="34" charset="-122"/>
              </a:rPr>
              <a:t>优于</a:t>
            </a:r>
            <a:r>
              <a:rPr lang="en-US" altLang="zh-CN" sz="1600" dirty="0">
                <a:cs typeface="微软雅黑" panose="020B0503020204020204" pitchFamily="34" charset="-122"/>
              </a:rPr>
              <a:t>Coif</a:t>
            </a:r>
            <a:r>
              <a:rPr lang="zh-CN" altLang="en-US" sz="1600" dirty="0">
                <a:cs typeface="微软雅黑" panose="020B0503020204020204" pitchFamily="34" charset="-122"/>
              </a:rPr>
              <a:t>、墨西哥帽等多种小波，对施工曲线中的尖峰定位更准；同时</a:t>
            </a:r>
            <a:r>
              <a:rPr lang="zh-CN" altLang="en-US" sz="1600" dirty="0">
                <a:solidFill>
                  <a:srgbClr val="FF0000"/>
                </a:solidFill>
                <a:cs typeface="微软雅黑" panose="020B0503020204020204" pitchFamily="34" charset="-122"/>
              </a:rPr>
              <a:t>严格正交</a:t>
            </a:r>
            <a:r>
              <a:rPr lang="zh-CN" altLang="en-US" sz="1600" dirty="0">
                <a:cs typeface="微软雅黑" panose="020B0503020204020204" pitchFamily="34" charset="-122"/>
              </a:rPr>
              <a:t>保证</a:t>
            </a:r>
            <a:r>
              <a:rPr lang="zh-CN" altLang="en-US" sz="1600" dirty="0">
                <a:cs typeface="微软雅黑" panose="020B0503020204020204" pitchFamily="34" charset="-122"/>
              </a:rPr>
              <a:t>了稳定重构</a:t>
            </a:r>
            <a:endParaRPr lang="zh-CN" altLang="en-US" sz="1600" dirty="0">
              <a:cs typeface="微软雅黑" panose="020B0503020204020204" pitchFamily="34" charset="-122"/>
            </a:endParaRPr>
          </a:p>
          <a:p>
            <a:pPr marL="342900" indent="-342900" algn="just">
              <a:lnSpc>
                <a:spcPct val="150000"/>
              </a:lnSpc>
              <a:buClr>
                <a:srgbClr val="FF0000"/>
              </a:buClr>
              <a:buFont typeface="Wingdings" panose="05000000000000000000" charset="0"/>
              <a:buChar char="l"/>
            </a:pPr>
            <a:r>
              <a:rPr lang="en-US" altLang="zh-CN" sz="1600" dirty="0">
                <a:cs typeface="微软雅黑" panose="020B0503020204020204" pitchFamily="34" charset="-122"/>
              </a:rPr>
              <a:t>Db7</a:t>
            </a:r>
            <a:r>
              <a:rPr lang="zh-CN" altLang="en-US" sz="1600" dirty="0">
                <a:cs typeface="微软雅黑" panose="020B0503020204020204" pitchFamily="34" charset="-122"/>
              </a:rPr>
              <a:t>小波具有较</a:t>
            </a:r>
            <a:r>
              <a:rPr lang="zh-CN" altLang="en-US" sz="1600" dirty="0">
                <a:solidFill>
                  <a:srgbClr val="FF0000"/>
                </a:solidFill>
                <a:cs typeface="微软雅黑" panose="020B0503020204020204" pitchFamily="34" charset="-122"/>
              </a:rPr>
              <a:t>高消失矩</a:t>
            </a:r>
            <a:r>
              <a:rPr lang="zh-CN" altLang="en-US" sz="1600" dirty="0">
                <a:cs typeface="微软雅黑" panose="020B0503020204020204" pitchFamily="34" charset="-122"/>
              </a:rPr>
              <a:t>，相比</a:t>
            </a:r>
            <a:r>
              <a:rPr lang="en-US" altLang="zh-CN" sz="1600" dirty="0">
                <a:cs typeface="微软雅黑" panose="020B0503020204020204" pitchFamily="34" charset="-122"/>
              </a:rPr>
              <a:t>Db3</a:t>
            </a:r>
            <a:r>
              <a:rPr lang="zh-CN" altLang="en-US" sz="1600" dirty="0">
                <a:cs typeface="微软雅黑" panose="020B0503020204020204" pitchFamily="34" charset="-122"/>
              </a:rPr>
              <a:t>等低阶小波在细节提取上更精确，可提升裂缝扩展阶段特征识别度</a:t>
            </a:r>
            <a:r>
              <a:rPr lang="zh-CN" altLang="en-US" sz="1600" dirty="0">
                <a:cs typeface="微软雅黑" panose="020B0503020204020204" pitchFamily="34" charset="-122"/>
              </a:rPr>
              <a:t> </a:t>
            </a:r>
            <a:endParaRPr lang="zh-CN" altLang="en-US" sz="1600" dirty="0">
              <a:cs typeface="微软雅黑" panose="020B0503020204020204" pitchFamily="34" charset="-122"/>
            </a:endParaRPr>
          </a:p>
          <a:p>
            <a:pPr marL="342900" indent="-342900" algn="just">
              <a:lnSpc>
                <a:spcPct val="150000"/>
              </a:lnSpc>
              <a:buClr>
                <a:srgbClr val="FF0000"/>
              </a:buClr>
              <a:buFont typeface="Wingdings" panose="05000000000000000000" charset="0"/>
              <a:buChar char="l"/>
            </a:pPr>
            <a:r>
              <a:rPr lang="en-US" altLang="zh-CN" sz="1600" dirty="0">
                <a:cs typeface="微软雅黑" panose="020B0503020204020204" pitchFamily="34" charset="-122"/>
              </a:rPr>
              <a:t>Db7</a:t>
            </a:r>
            <a:r>
              <a:rPr lang="zh-CN" altLang="en-US" sz="1600" dirty="0">
                <a:cs typeface="微软雅黑" panose="020B0503020204020204" pitchFamily="34" charset="-122"/>
                <a:sym typeface="+mn-ea"/>
              </a:rPr>
              <a:t>小波</a:t>
            </a:r>
            <a:r>
              <a:rPr lang="zh-CN" altLang="en-US" sz="1600" dirty="0">
                <a:cs typeface="微软雅黑" panose="020B0503020204020204" pitchFamily="34" charset="-122"/>
              </a:rPr>
              <a:t>在分解深度与</a:t>
            </a:r>
            <a:r>
              <a:rPr lang="zh-CN" altLang="en-US" sz="1600" dirty="0">
                <a:solidFill>
                  <a:srgbClr val="FF0000"/>
                </a:solidFill>
                <a:cs typeface="微软雅黑" panose="020B0503020204020204" pitchFamily="34" charset="-122"/>
              </a:rPr>
              <a:t>计算开销</a:t>
            </a:r>
            <a:r>
              <a:rPr lang="zh-CN" altLang="en-US" sz="1600" dirty="0">
                <a:cs typeface="微软雅黑" panose="020B0503020204020204" pitchFamily="34" charset="-122"/>
              </a:rPr>
              <a:t>之间具备良好平衡，相比更高阶小波如</a:t>
            </a:r>
            <a:r>
              <a:rPr lang="en-US" altLang="zh-CN" sz="1600" dirty="0">
                <a:cs typeface="微软雅黑" panose="020B0503020204020204" pitchFamily="34" charset="-122"/>
              </a:rPr>
              <a:t>Db10</a:t>
            </a:r>
            <a:r>
              <a:rPr lang="zh-CN" altLang="en-US" sz="1600" dirty="0">
                <a:cs typeface="微软雅黑" panose="020B0503020204020204" pitchFamily="34" charset="-122"/>
              </a:rPr>
              <a:t>更适合实时压裂施工过程分析</a:t>
            </a:r>
            <a:endParaRPr lang="zh-CN" altLang="en-US" sz="1600" dirty="0">
              <a:cs typeface="微软雅黑" panose="020B0503020204020204" pitchFamily="34" charset="-122"/>
            </a:endParaRPr>
          </a:p>
        </p:txBody>
      </p:sp>
      <p:sp>
        <p:nvSpPr>
          <p:cNvPr id="16" name="文本框 15"/>
          <p:cNvSpPr txBox="1"/>
          <p:nvPr/>
        </p:nvSpPr>
        <p:spPr>
          <a:xfrm>
            <a:off x="443865" y="6074410"/>
            <a:ext cx="11376660" cy="26035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小波</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基函数</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选取</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 name="图片 10" descr="bior5.5"/>
          <p:cNvPicPr/>
          <p:nvPr/>
        </p:nvPicPr>
        <p:blipFill>
          <a:blip r:embed="rId1"/>
          <a:stretch>
            <a:fillRect/>
          </a:stretch>
        </p:blipFill>
        <p:spPr>
          <a:xfrm>
            <a:off x="334645" y="4274185"/>
            <a:ext cx="3600000" cy="1800000"/>
          </a:xfrm>
          <a:prstGeom prst="rect">
            <a:avLst/>
          </a:prstGeom>
        </p:spPr>
      </p:pic>
      <p:sp>
        <p:nvSpPr>
          <p:cNvPr id="12" name="文本框 11"/>
          <p:cNvSpPr txBox="1"/>
          <p:nvPr/>
        </p:nvSpPr>
        <p:spPr>
          <a:xfrm>
            <a:off x="443865" y="4386580"/>
            <a:ext cx="1310640" cy="347345"/>
          </a:xfrm>
          <a:prstGeom prst="rect">
            <a:avLst/>
          </a:prstGeom>
          <a:noFill/>
          <a:ln>
            <a:noFill/>
          </a:ln>
        </p:spPr>
        <p:txBody>
          <a:bodyPr wrap="square"/>
          <a:p>
            <a:pPr marL="0" indent="0">
              <a:lnSpc>
                <a:spcPct val="1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双正交小波</a:t>
            </a:r>
            <a:endParaRPr lang="zh-CN" altLang="en-US" sz="1600" dirty="0">
              <a:solidFill>
                <a:srgbClr val="FF0000"/>
              </a:solidFill>
              <a:latin typeface="微软雅黑" panose="020B0503020204020204" pitchFamily="34" charset="-122"/>
              <a:ea typeface="微软雅黑" panose="020B0503020204020204" pitchFamily="34" charset="-122"/>
            </a:endParaRPr>
          </a:p>
        </p:txBody>
      </p:sp>
      <p:pic>
        <p:nvPicPr>
          <p:cNvPr id="13" name="图片 12" descr="mexh"/>
          <p:cNvPicPr/>
          <p:nvPr/>
        </p:nvPicPr>
        <p:blipFill>
          <a:blip r:embed="rId2"/>
          <a:stretch>
            <a:fillRect/>
          </a:stretch>
        </p:blipFill>
        <p:spPr>
          <a:xfrm>
            <a:off x="4203065" y="2555240"/>
            <a:ext cx="3600000" cy="1800000"/>
          </a:xfrm>
          <a:prstGeom prst="rect">
            <a:avLst/>
          </a:prstGeom>
        </p:spPr>
      </p:pic>
      <p:sp>
        <p:nvSpPr>
          <p:cNvPr id="14" name="文本框 13"/>
          <p:cNvSpPr txBox="1"/>
          <p:nvPr/>
        </p:nvSpPr>
        <p:spPr>
          <a:xfrm>
            <a:off x="4328795" y="2698750"/>
            <a:ext cx="1584325" cy="347345"/>
          </a:xfrm>
          <a:prstGeom prst="rect">
            <a:avLst/>
          </a:prstGeom>
          <a:noFill/>
          <a:ln>
            <a:noFill/>
          </a:ln>
        </p:spPr>
        <p:txBody>
          <a:bodyPr wrap="square"/>
          <a:p>
            <a:pPr marL="0" indent="0">
              <a:lnSpc>
                <a:spcPct val="1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墨西哥帽小波</a:t>
            </a:r>
            <a:endParaRPr lang="zh-CN" altLang="en-US" sz="1600" dirty="0">
              <a:solidFill>
                <a:srgbClr val="FF0000"/>
              </a:solidFill>
              <a:latin typeface="微软雅黑" panose="020B0503020204020204" pitchFamily="34" charset="-122"/>
              <a:ea typeface="微软雅黑" panose="020B0503020204020204" pitchFamily="34" charset="-122"/>
            </a:endParaRPr>
          </a:p>
        </p:txBody>
      </p:sp>
      <p:pic>
        <p:nvPicPr>
          <p:cNvPr id="17" name="图片 16" descr="morl"/>
          <p:cNvPicPr/>
          <p:nvPr/>
        </p:nvPicPr>
        <p:blipFill>
          <a:blip r:embed="rId3"/>
          <a:stretch>
            <a:fillRect/>
          </a:stretch>
        </p:blipFill>
        <p:spPr>
          <a:xfrm>
            <a:off x="4203065" y="4274185"/>
            <a:ext cx="3600000" cy="1800000"/>
          </a:xfrm>
          <a:prstGeom prst="rect">
            <a:avLst/>
          </a:prstGeom>
        </p:spPr>
      </p:pic>
      <p:sp>
        <p:nvSpPr>
          <p:cNvPr id="19" name="文本框 18"/>
          <p:cNvSpPr txBox="1"/>
          <p:nvPr/>
        </p:nvSpPr>
        <p:spPr>
          <a:xfrm>
            <a:off x="4328795" y="4426585"/>
            <a:ext cx="1310640" cy="347345"/>
          </a:xfrm>
          <a:prstGeom prst="rect">
            <a:avLst/>
          </a:prstGeom>
          <a:noFill/>
          <a:ln>
            <a:noFill/>
          </a:ln>
        </p:spPr>
        <p:txBody>
          <a:bodyPr wrap="square"/>
          <a:p>
            <a:pPr marL="0" indent="0">
              <a:lnSpc>
                <a:spcPct val="100000"/>
              </a:lnSpc>
              <a:buClr>
                <a:srgbClr val="FF0000"/>
              </a:buClr>
            </a:pPr>
            <a:r>
              <a:rPr lang="en-US" altLang="zh-CN" sz="1600" dirty="0">
                <a:solidFill>
                  <a:srgbClr val="FF0000"/>
                </a:solidFill>
                <a:latin typeface="微软雅黑" panose="020B0503020204020204" pitchFamily="34" charset="-122"/>
                <a:ea typeface="微软雅黑" panose="020B0503020204020204" pitchFamily="34" charset="-122"/>
              </a:rPr>
              <a:t>Morlet</a:t>
            </a:r>
            <a:r>
              <a:rPr lang="zh-CN" altLang="en-US" sz="1600" dirty="0">
                <a:solidFill>
                  <a:srgbClr val="FF0000"/>
                </a:solidFill>
                <a:latin typeface="微软雅黑" panose="020B0503020204020204" pitchFamily="34" charset="-122"/>
                <a:ea typeface="微软雅黑" panose="020B0503020204020204" pitchFamily="34" charset="-122"/>
              </a:rPr>
              <a:t>小波</a:t>
            </a:r>
            <a:endParaRPr lang="zh-CN" altLang="en-US" sz="1600" dirty="0">
              <a:solidFill>
                <a:srgbClr val="FF0000"/>
              </a:solidFill>
              <a:latin typeface="微软雅黑" panose="020B0503020204020204" pitchFamily="34" charset="-122"/>
              <a:ea typeface="微软雅黑" panose="020B0503020204020204" pitchFamily="34" charset="-122"/>
            </a:endParaRPr>
          </a:p>
        </p:txBody>
      </p:sp>
      <p:pic>
        <p:nvPicPr>
          <p:cNvPr id="23" name="图片 22" descr="coif5"/>
          <p:cNvPicPr/>
          <p:nvPr/>
        </p:nvPicPr>
        <p:blipFill>
          <a:blip r:embed="rId4"/>
          <a:stretch>
            <a:fillRect/>
          </a:stretch>
        </p:blipFill>
        <p:spPr>
          <a:xfrm>
            <a:off x="334645" y="2555240"/>
            <a:ext cx="3600000" cy="1800000"/>
          </a:xfrm>
          <a:prstGeom prst="rect">
            <a:avLst/>
          </a:prstGeom>
        </p:spPr>
      </p:pic>
      <p:sp>
        <p:nvSpPr>
          <p:cNvPr id="26" name="文本框 25"/>
          <p:cNvSpPr txBox="1"/>
          <p:nvPr/>
        </p:nvSpPr>
        <p:spPr>
          <a:xfrm>
            <a:off x="443865" y="2698750"/>
            <a:ext cx="1310640" cy="347345"/>
          </a:xfrm>
          <a:prstGeom prst="rect">
            <a:avLst/>
          </a:prstGeom>
          <a:noFill/>
          <a:ln>
            <a:noFill/>
          </a:ln>
        </p:spPr>
        <p:txBody>
          <a:bodyPr wrap="square"/>
          <a:p>
            <a:pPr marL="0" indent="0">
              <a:lnSpc>
                <a:spcPct val="100000"/>
              </a:lnSpc>
              <a:buClr>
                <a:srgbClr val="FF0000"/>
              </a:buClr>
            </a:pPr>
            <a:r>
              <a:rPr lang="en-US" altLang="zh-CN" sz="1600" dirty="0">
                <a:solidFill>
                  <a:srgbClr val="FF0000"/>
                </a:solidFill>
                <a:latin typeface="微软雅黑" panose="020B0503020204020204" pitchFamily="34" charset="-122"/>
                <a:ea typeface="微软雅黑" panose="020B0503020204020204" pitchFamily="34" charset="-122"/>
              </a:rPr>
              <a:t>Coif</a:t>
            </a:r>
            <a:r>
              <a:rPr lang="zh-CN" altLang="en-US" sz="1600" dirty="0">
                <a:solidFill>
                  <a:srgbClr val="FF0000"/>
                </a:solidFill>
                <a:latin typeface="微软雅黑" panose="020B0503020204020204" pitchFamily="34" charset="-122"/>
                <a:ea typeface="微软雅黑" panose="020B0503020204020204" pitchFamily="34" charset="-122"/>
              </a:rPr>
              <a:t>小波</a:t>
            </a:r>
            <a:endParaRPr lang="zh-CN" altLang="en-US" sz="1600" dirty="0">
              <a:solidFill>
                <a:srgbClr val="FF0000"/>
              </a:solidFill>
              <a:latin typeface="微软雅黑" panose="020B0503020204020204" pitchFamily="34" charset="-122"/>
              <a:ea typeface="微软雅黑" panose="020B0503020204020204" pitchFamily="34" charset="-122"/>
            </a:endParaRPr>
          </a:p>
        </p:txBody>
      </p:sp>
      <p:pic>
        <p:nvPicPr>
          <p:cNvPr id="27" name="图片 26" descr="db10"/>
          <p:cNvPicPr/>
          <p:nvPr/>
        </p:nvPicPr>
        <p:blipFill>
          <a:blip r:embed="rId5"/>
          <a:stretch>
            <a:fillRect/>
          </a:stretch>
        </p:blipFill>
        <p:spPr>
          <a:xfrm>
            <a:off x="8071485" y="4888975"/>
            <a:ext cx="3600000" cy="1151890"/>
          </a:xfrm>
          <a:prstGeom prst="rect">
            <a:avLst/>
          </a:prstGeom>
        </p:spPr>
      </p:pic>
      <p:pic>
        <p:nvPicPr>
          <p:cNvPr id="28" name="图片 27" descr="db3"/>
          <p:cNvPicPr/>
          <p:nvPr/>
        </p:nvPicPr>
        <p:blipFill>
          <a:blip r:embed="rId6"/>
          <a:stretch>
            <a:fillRect/>
          </a:stretch>
        </p:blipFill>
        <p:spPr>
          <a:xfrm>
            <a:off x="8072940" y="2559685"/>
            <a:ext cx="3599815" cy="1152000"/>
          </a:xfrm>
          <a:prstGeom prst="rect">
            <a:avLst/>
          </a:prstGeom>
        </p:spPr>
      </p:pic>
      <p:pic>
        <p:nvPicPr>
          <p:cNvPr id="29" name="图片 28" descr="db7"/>
          <p:cNvPicPr/>
          <p:nvPr/>
        </p:nvPicPr>
        <p:blipFill>
          <a:blip r:embed="rId7"/>
          <a:stretch>
            <a:fillRect/>
          </a:stretch>
        </p:blipFill>
        <p:spPr>
          <a:xfrm>
            <a:off x="8072940" y="3724385"/>
            <a:ext cx="3599815" cy="1151890"/>
          </a:xfrm>
          <a:prstGeom prst="rect">
            <a:avLst/>
          </a:prstGeom>
        </p:spPr>
      </p:pic>
      <p:sp>
        <p:nvSpPr>
          <p:cNvPr id="30" name="文本框 29"/>
          <p:cNvSpPr txBox="1"/>
          <p:nvPr/>
        </p:nvSpPr>
        <p:spPr>
          <a:xfrm>
            <a:off x="8216265" y="2670810"/>
            <a:ext cx="1310640" cy="347345"/>
          </a:xfrm>
          <a:prstGeom prst="rect">
            <a:avLst/>
          </a:prstGeom>
          <a:noFill/>
          <a:ln>
            <a:noFill/>
          </a:ln>
        </p:spPr>
        <p:txBody>
          <a:bodyPr wrap="square"/>
          <a:p>
            <a:pPr marL="0" indent="0">
              <a:lnSpc>
                <a:spcPct val="100000"/>
              </a:lnSpc>
              <a:buClr>
                <a:srgbClr val="FF0000"/>
              </a:buClr>
            </a:pPr>
            <a:r>
              <a:rPr lang="en-US" altLang="zh-CN" sz="1600" dirty="0">
                <a:solidFill>
                  <a:srgbClr val="FF0000"/>
                </a:solidFill>
                <a:latin typeface="微软雅黑" panose="020B0503020204020204" pitchFamily="34" charset="-122"/>
                <a:ea typeface="微软雅黑" panose="020B0503020204020204" pitchFamily="34" charset="-122"/>
              </a:rPr>
              <a:t>Db3</a:t>
            </a:r>
            <a:r>
              <a:rPr lang="zh-CN" altLang="en-US" sz="1600" dirty="0">
                <a:solidFill>
                  <a:srgbClr val="FF0000"/>
                </a:solidFill>
                <a:latin typeface="微软雅黑" panose="020B0503020204020204" pitchFamily="34" charset="-122"/>
                <a:ea typeface="微软雅黑" panose="020B0503020204020204" pitchFamily="34" charset="-122"/>
              </a:rPr>
              <a:t>小波</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8216265" y="3830955"/>
            <a:ext cx="1310640" cy="347345"/>
          </a:xfrm>
          <a:prstGeom prst="rect">
            <a:avLst/>
          </a:prstGeom>
          <a:noFill/>
          <a:ln>
            <a:noFill/>
          </a:ln>
        </p:spPr>
        <p:txBody>
          <a:bodyPr wrap="square"/>
          <a:p>
            <a:pPr marL="0" indent="0">
              <a:lnSpc>
                <a:spcPct val="100000"/>
              </a:lnSpc>
              <a:buClr>
                <a:srgbClr val="FF0000"/>
              </a:buClr>
            </a:pPr>
            <a:r>
              <a:rPr lang="en-US" altLang="zh-CN" sz="1600" dirty="0">
                <a:solidFill>
                  <a:srgbClr val="FF0000"/>
                </a:solidFill>
                <a:latin typeface="微软雅黑" panose="020B0503020204020204" pitchFamily="34" charset="-122"/>
                <a:ea typeface="微软雅黑" panose="020B0503020204020204" pitchFamily="34" charset="-122"/>
              </a:rPr>
              <a:t>Db7</a:t>
            </a:r>
            <a:r>
              <a:rPr lang="zh-CN" altLang="en-US" sz="1600" dirty="0">
                <a:solidFill>
                  <a:srgbClr val="FF0000"/>
                </a:solidFill>
                <a:latin typeface="微软雅黑" panose="020B0503020204020204" pitchFamily="34" charset="-122"/>
                <a:ea typeface="微软雅黑" panose="020B0503020204020204" pitchFamily="34" charset="-122"/>
              </a:rPr>
              <a:t>小波</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8216265" y="4991100"/>
            <a:ext cx="1310640" cy="347345"/>
          </a:xfrm>
          <a:prstGeom prst="rect">
            <a:avLst/>
          </a:prstGeom>
          <a:noFill/>
          <a:ln>
            <a:noFill/>
          </a:ln>
        </p:spPr>
        <p:txBody>
          <a:bodyPr wrap="square"/>
          <a:p>
            <a:pPr marL="0" indent="0">
              <a:lnSpc>
                <a:spcPct val="100000"/>
              </a:lnSpc>
              <a:buClr>
                <a:srgbClr val="FF0000"/>
              </a:buClr>
            </a:pPr>
            <a:r>
              <a:rPr lang="en-US" altLang="zh-CN" sz="1600" dirty="0">
                <a:solidFill>
                  <a:srgbClr val="FF0000"/>
                </a:solidFill>
                <a:latin typeface="微软雅黑" panose="020B0503020204020204" pitchFamily="34" charset="-122"/>
                <a:ea typeface="微软雅黑" panose="020B0503020204020204" pitchFamily="34" charset="-122"/>
              </a:rPr>
              <a:t>Db10</a:t>
            </a:r>
            <a:r>
              <a:rPr lang="zh-CN" altLang="en-US" sz="1600" dirty="0">
                <a:solidFill>
                  <a:srgbClr val="FF0000"/>
                </a:solidFill>
                <a:latin typeface="微软雅黑" panose="020B0503020204020204" pitchFamily="34" charset="-122"/>
                <a:ea typeface="微软雅黑" panose="020B0503020204020204" pitchFamily="34" charset="-122"/>
              </a:rPr>
              <a:t>小波</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、基于水力压裂施工信号特征，构建小波分析模型</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5" name="图片 4" descr="泸203H10-1井加砂压裂第1段曲线"/>
          <p:cNvPicPr/>
          <p:nvPr/>
        </p:nvPicPr>
        <p:blipFill>
          <a:blip r:embed="rId1"/>
          <a:stretch>
            <a:fillRect/>
          </a:stretch>
        </p:blipFill>
        <p:spPr>
          <a:xfrm>
            <a:off x="706755" y="2186305"/>
            <a:ext cx="3600000" cy="2160000"/>
          </a:xfrm>
          <a:prstGeom prst="rect">
            <a:avLst/>
          </a:prstGeom>
        </p:spPr>
      </p:pic>
      <p:sp>
        <p:nvSpPr>
          <p:cNvPr id="6"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rPr>
              <a:t>小波函数在截取信号上随时间</a:t>
            </a:r>
            <a:r>
              <a:rPr lang="zh-CN" altLang="en-US" sz="1600" dirty="0">
                <a:solidFill>
                  <a:srgbClr val="FF0000"/>
                </a:solidFill>
                <a:cs typeface="微软雅黑" panose="020B0503020204020204" pitchFamily="34" charset="-122"/>
              </a:rPr>
              <a:t>平移</a:t>
            </a:r>
            <a:r>
              <a:rPr lang="zh-CN" altLang="en-US" sz="1600" dirty="0">
                <a:cs typeface="微软雅黑" panose="020B0503020204020204" pitchFamily="34" charset="-122"/>
              </a:rPr>
              <a:t>进行</a:t>
            </a:r>
            <a:r>
              <a:rPr lang="zh-CN" altLang="en-US" sz="1600" dirty="0">
                <a:solidFill>
                  <a:srgbClr val="FF0000"/>
                </a:solidFill>
                <a:cs typeface="微软雅黑" panose="020B0503020204020204" pitchFamily="34" charset="-122"/>
              </a:rPr>
              <a:t>卷积</a:t>
            </a:r>
            <a:r>
              <a:rPr lang="zh-CN" altLang="en-US" sz="1600" dirty="0">
                <a:cs typeface="微软雅黑" panose="020B0503020204020204" pitchFamily="34" charset="-122"/>
              </a:rPr>
              <a:t>运算，提取出信号的</a:t>
            </a:r>
            <a:r>
              <a:rPr lang="zh-CN" altLang="en-US" sz="1600" dirty="0">
                <a:solidFill>
                  <a:srgbClr val="FF0000"/>
                </a:solidFill>
                <a:cs typeface="微软雅黑" panose="020B0503020204020204" pitchFamily="34" charset="-122"/>
              </a:rPr>
              <a:t>高频分量</a:t>
            </a:r>
            <a:r>
              <a:rPr lang="zh-CN" altLang="en-US" sz="1600" dirty="0">
                <a:cs typeface="微软雅黑" panose="020B0503020204020204" pitchFamily="34" charset="-122"/>
              </a:rPr>
              <a:t> </a:t>
            </a:r>
            <a:endParaRPr lang="zh-CN" altLang="en-US" sz="1600" dirty="0">
              <a:cs typeface="微软雅黑" panose="020B0503020204020204" pitchFamily="34" charset="-122"/>
            </a:endParaRPr>
          </a:p>
          <a:p>
            <a:pPr marL="342900" indent="-342900" algn="just">
              <a:lnSpc>
                <a:spcPct val="150000"/>
              </a:lnSpc>
              <a:buClr>
                <a:srgbClr val="FF0000"/>
              </a:buClr>
              <a:buFont typeface="Wingdings" panose="05000000000000000000" charset="0"/>
              <a:buChar char="l"/>
            </a:pPr>
            <a:r>
              <a:rPr lang="zh-CN" altLang="en-US" sz="1600" dirty="0">
                <a:solidFill>
                  <a:srgbClr val="FF0000"/>
                </a:solidFill>
                <a:cs typeface="微软雅黑" panose="020B0503020204020204" pitchFamily="34" charset="-122"/>
              </a:rPr>
              <a:t>改变</a:t>
            </a:r>
            <a:r>
              <a:rPr lang="zh-CN" altLang="en-US" sz="1600" dirty="0">
                <a:cs typeface="微软雅黑" panose="020B0503020204020204" pitchFamily="34" charset="-122"/>
              </a:rPr>
              <a:t>小波函数的</a:t>
            </a:r>
            <a:r>
              <a:rPr lang="zh-CN" altLang="en-US" sz="1600" dirty="0">
                <a:solidFill>
                  <a:srgbClr val="FF0000"/>
                </a:solidFill>
                <a:cs typeface="微软雅黑" panose="020B0503020204020204" pitchFamily="34" charset="-122"/>
              </a:rPr>
              <a:t>尺寸</a:t>
            </a:r>
            <a:r>
              <a:rPr lang="zh-CN" altLang="en-US" sz="1600" dirty="0">
                <a:cs typeface="微软雅黑" panose="020B0503020204020204" pitchFamily="34" charset="-122"/>
              </a:rPr>
              <a:t>，对运算后的信号高频分量继续卷积运算，直到达到</a:t>
            </a:r>
            <a:r>
              <a:rPr lang="zh-CN" altLang="en-US" sz="1600" dirty="0">
                <a:solidFill>
                  <a:srgbClr val="FF0000"/>
                </a:solidFill>
                <a:cs typeface="微软雅黑" panose="020B0503020204020204" pitchFamily="34" charset="-122"/>
              </a:rPr>
              <a:t>最大分解等级（</a:t>
            </a:r>
            <a:r>
              <a:rPr lang="en-US" altLang="zh-CN" sz="1600" dirty="0">
                <a:solidFill>
                  <a:srgbClr val="FF0000"/>
                </a:solidFill>
                <a:cs typeface="微软雅黑" panose="020B0503020204020204" pitchFamily="34" charset="-122"/>
              </a:rPr>
              <a:t>10</a:t>
            </a:r>
            <a:r>
              <a:rPr lang="zh-CN" altLang="en-US" sz="1600" dirty="0">
                <a:solidFill>
                  <a:srgbClr val="FF0000"/>
                </a:solidFill>
                <a:cs typeface="微软雅黑" panose="020B0503020204020204" pitchFamily="34" charset="-122"/>
              </a:rPr>
              <a:t>级）</a:t>
            </a:r>
            <a:r>
              <a:rPr lang="zh-CN" altLang="en-US" sz="1600" dirty="0">
                <a:cs typeface="微软雅黑" panose="020B0503020204020204" pitchFamily="34" charset="-122"/>
              </a:rPr>
              <a:t> </a:t>
            </a:r>
            <a:endParaRPr lang="zh-CN" altLang="en-US" sz="1600" dirty="0">
              <a:cs typeface="微软雅黑" panose="020B0503020204020204" pitchFamily="34" charset="-122"/>
            </a:endParaRPr>
          </a:p>
        </p:txBody>
      </p:sp>
      <p:pic>
        <p:nvPicPr>
          <p:cNvPr id="25" name="图片 24" descr="泸203井区H10平台1井第1段第1级分解"/>
          <p:cNvPicPr/>
          <p:nvPr/>
        </p:nvPicPr>
        <p:blipFill>
          <a:blip r:embed="rId2"/>
          <a:stretch>
            <a:fillRect/>
          </a:stretch>
        </p:blipFill>
        <p:spPr>
          <a:xfrm>
            <a:off x="715645" y="4392930"/>
            <a:ext cx="3600000" cy="1080168"/>
          </a:xfrm>
          <a:prstGeom prst="rect">
            <a:avLst/>
          </a:prstGeom>
          <a:ln>
            <a:solidFill>
              <a:schemeClr val="tx1"/>
            </a:solidFill>
          </a:ln>
        </p:spPr>
      </p:pic>
      <p:pic>
        <p:nvPicPr>
          <p:cNvPr id="26" name="图片 25" descr="泸203井区H10平台1井第1段第2级分解"/>
          <p:cNvPicPr/>
          <p:nvPr/>
        </p:nvPicPr>
        <p:blipFill>
          <a:blip r:embed="rId3"/>
          <a:stretch>
            <a:fillRect/>
          </a:stretch>
        </p:blipFill>
        <p:spPr>
          <a:xfrm>
            <a:off x="715645" y="5520055"/>
            <a:ext cx="3600000" cy="1080168"/>
          </a:xfrm>
          <a:prstGeom prst="rect">
            <a:avLst/>
          </a:prstGeom>
          <a:ln>
            <a:solidFill>
              <a:schemeClr val="tx1"/>
            </a:solidFill>
          </a:ln>
        </p:spPr>
      </p:pic>
      <p:pic>
        <p:nvPicPr>
          <p:cNvPr id="27" name="图片 26" descr="泸203井区H10平台1井第1段第3级分解"/>
          <p:cNvPicPr/>
          <p:nvPr/>
        </p:nvPicPr>
        <p:blipFill>
          <a:blip r:embed="rId4"/>
          <a:stretch>
            <a:fillRect/>
          </a:stretch>
        </p:blipFill>
        <p:spPr>
          <a:xfrm>
            <a:off x="4361815" y="2141220"/>
            <a:ext cx="3600000" cy="1080168"/>
          </a:xfrm>
          <a:prstGeom prst="rect">
            <a:avLst/>
          </a:prstGeom>
          <a:ln>
            <a:solidFill>
              <a:schemeClr val="tx1"/>
            </a:solidFill>
          </a:ln>
        </p:spPr>
      </p:pic>
      <p:pic>
        <p:nvPicPr>
          <p:cNvPr id="28" name="图片 27" descr="泸203井区H10平台1井第1段第4级分解"/>
          <p:cNvPicPr/>
          <p:nvPr/>
        </p:nvPicPr>
        <p:blipFill>
          <a:blip r:embed="rId5"/>
          <a:stretch>
            <a:fillRect/>
          </a:stretch>
        </p:blipFill>
        <p:spPr>
          <a:xfrm>
            <a:off x="4361815" y="3266473"/>
            <a:ext cx="3600000" cy="1080135"/>
          </a:xfrm>
          <a:prstGeom prst="rect">
            <a:avLst/>
          </a:prstGeom>
          <a:ln>
            <a:solidFill>
              <a:schemeClr val="tx1"/>
            </a:solidFill>
          </a:ln>
        </p:spPr>
      </p:pic>
      <p:pic>
        <p:nvPicPr>
          <p:cNvPr id="29" name="图片 28" descr="泸203井区H10平台1井第1段第5级分解"/>
          <p:cNvPicPr/>
          <p:nvPr/>
        </p:nvPicPr>
        <p:blipFill>
          <a:blip r:embed="rId6"/>
          <a:stretch>
            <a:fillRect/>
          </a:stretch>
        </p:blipFill>
        <p:spPr>
          <a:xfrm>
            <a:off x="4366260" y="4391693"/>
            <a:ext cx="3600000" cy="1080135"/>
          </a:xfrm>
          <a:prstGeom prst="rect">
            <a:avLst/>
          </a:prstGeom>
          <a:ln>
            <a:solidFill>
              <a:schemeClr val="tx1"/>
            </a:solidFill>
          </a:ln>
        </p:spPr>
      </p:pic>
      <p:pic>
        <p:nvPicPr>
          <p:cNvPr id="30" name="图片 29" descr="泸203井区H10平台1井第1段第6级分解"/>
          <p:cNvPicPr/>
          <p:nvPr/>
        </p:nvPicPr>
        <p:blipFill>
          <a:blip r:embed="rId7"/>
          <a:stretch>
            <a:fillRect/>
          </a:stretch>
        </p:blipFill>
        <p:spPr>
          <a:xfrm>
            <a:off x="4366260" y="5516913"/>
            <a:ext cx="3600000" cy="1080135"/>
          </a:xfrm>
          <a:prstGeom prst="rect">
            <a:avLst/>
          </a:prstGeom>
          <a:ln>
            <a:solidFill>
              <a:schemeClr val="tx1"/>
            </a:solidFill>
          </a:ln>
        </p:spPr>
      </p:pic>
      <p:pic>
        <p:nvPicPr>
          <p:cNvPr id="31" name="图片 30" descr="泸203井区H10平台1井第1段第7级分解"/>
          <p:cNvPicPr/>
          <p:nvPr/>
        </p:nvPicPr>
        <p:blipFill>
          <a:blip r:embed="rId8"/>
          <a:stretch>
            <a:fillRect/>
          </a:stretch>
        </p:blipFill>
        <p:spPr>
          <a:xfrm>
            <a:off x="8016875" y="2141220"/>
            <a:ext cx="3600000" cy="1080168"/>
          </a:xfrm>
          <a:prstGeom prst="rect">
            <a:avLst/>
          </a:prstGeom>
          <a:ln>
            <a:solidFill>
              <a:schemeClr val="tx1"/>
            </a:solidFill>
          </a:ln>
        </p:spPr>
      </p:pic>
      <p:pic>
        <p:nvPicPr>
          <p:cNvPr id="32" name="图片 31" descr="泸203井区H10平台1井第1段第10级分解"/>
          <p:cNvPicPr/>
          <p:nvPr/>
        </p:nvPicPr>
        <p:blipFill>
          <a:blip r:embed="rId9"/>
          <a:stretch>
            <a:fillRect/>
          </a:stretch>
        </p:blipFill>
        <p:spPr>
          <a:xfrm>
            <a:off x="8016875" y="5520088"/>
            <a:ext cx="3600000" cy="1080135"/>
          </a:xfrm>
          <a:prstGeom prst="rect">
            <a:avLst/>
          </a:prstGeom>
          <a:ln>
            <a:solidFill>
              <a:schemeClr val="tx1"/>
            </a:solidFill>
          </a:ln>
        </p:spPr>
      </p:pic>
      <p:pic>
        <p:nvPicPr>
          <p:cNvPr id="33" name="图片 32" descr="泸203井区H10平台1井第1段第8级分解"/>
          <p:cNvPicPr/>
          <p:nvPr/>
        </p:nvPicPr>
        <p:blipFill>
          <a:blip r:embed="rId10"/>
          <a:stretch>
            <a:fillRect/>
          </a:stretch>
        </p:blipFill>
        <p:spPr>
          <a:xfrm>
            <a:off x="8016875" y="3261393"/>
            <a:ext cx="3600000" cy="1080135"/>
          </a:xfrm>
          <a:prstGeom prst="rect">
            <a:avLst/>
          </a:prstGeom>
          <a:ln>
            <a:solidFill>
              <a:schemeClr val="tx1"/>
            </a:solidFill>
          </a:ln>
        </p:spPr>
      </p:pic>
      <p:pic>
        <p:nvPicPr>
          <p:cNvPr id="34" name="图片 33" descr="泸203井区H10平台1井第1段第9级分解"/>
          <p:cNvPicPr/>
          <p:nvPr/>
        </p:nvPicPr>
        <p:blipFill>
          <a:blip r:embed="rId11"/>
          <a:stretch>
            <a:fillRect/>
          </a:stretch>
        </p:blipFill>
        <p:spPr>
          <a:xfrm>
            <a:off x="8016875" y="4381533"/>
            <a:ext cx="3600000" cy="1080135"/>
          </a:xfrm>
          <a:prstGeom prst="rect">
            <a:avLst/>
          </a:prstGeom>
          <a:ln>
            <a:solidFill>
              <a:schemeClr val="tx1"/>
            </a:solidFill>
          </a:ln>
        </p:spPr>
      </p:pic>
      <p:pic>
        <p:nvPicPr>
          <p:cNvPr id="7" name="图片 6" descr="E:/桌面/QQ20251124-075843.pngQQ20251124-075843"/>
          <p:cNvPicPr>
            <a:picLocks noChangeAspect="1"/>
          </p:cNvPicPr>
          <p:nvPr/>
        </p:nvPicPr>
        <p:blipFill>
          <a:blip r:embed="rId12"/>
          <a:srcRect t="2120" b="2120"/>
          <a:stretch>
            <a:fillRect/>
          </a:stretch>
        </p:blipFill>
        <p:spPr>
          <a:xfrm>
            <a:off x="1936115" y="2962275"/>
            <a:ext cx="359410" cy="286385"/>
          </a:xfrm>
          <a:prstGeom prst="rect">
            <a:avLst/>
          </a:prstGeom>
        </p:spPr>
      </p:pic>
      <p:sp>
        <p:nvSpPr>
          <p:cNvPr id="40" name="矩形 39"/>
          <p:cNvSpPr/>
          <p:nvPr/>
        </p:nvSpPr>
        <p:spPr>
          <a:xfrm>
            <a:off x="885190" y="4465320"/>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44" name="矩形 43"/>
          <p:cNvSpPr/>
          <p:nvPr/>
        </p:nvSpPr>
        <p:spPr>
          <a:xfrm>
            <a:off x="885190" y="5592445"/>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3" name="矩形 52"/>
          <p:cNvSpPr/>
          <p:nvPr/>
        </p:nvSpPr>
        <p:spPr>
          <a:xfrm>
            <a:off x="4577715" y="3343275"/>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4" name="矩形 53"/>
          <p:cNvSpPr/>
          <p:nvPr/>
        </p:nvSpPr>
        <p:spPr>
          <a:xfrm>
            <a:off x="4577080" y="4464050"/>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5" name="矩形 54"/>
          <p:cNvSpPr/>
          <p:nvPr/>
        </p:nvSpPr>
        <p:spPr>
          <a:xfrm>
            <a:off x="4582160" y="5592445"/>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6" name="矩形 55"/>
          <p:cNvSpPr/>
          <p:nvPr/>
        </p:nvSpPr>
        <p:spPr>
          <a:xfrm>
            <a:off x="8232775" y="2218055"/>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7" name="矩形 56"/>
          <p:cNvSpPr/>
          <p:nvPr/>
        </p:nvSpPr>
        <p:spPr>
          <a:xfrm>
            <a:off x="8232775" y="3336290"/>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8" name="矩形 57"/>
          <p:cNvSpPr/>
          <p:nvPr/>
        </p:nvSpPr>
        <p:spPr>
          <a:xfrm>
            <a:off x="8232775" y="4456430"/>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9" name="矩形 58"/>
          <p:cNvSpPr/>
          <p:nvPr/>
        </p:nvSpPr>
        <p:spPr>
          <a:xfrm>
            <a:off x="8232775" y="5592445"/>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37" name="矩形 36"/>
          <p:cNvSpPr/>
          <p:nvPr/>
        </p:nvSpPr>
        <p:spPr>
          <a:xfrm>
            <a:off x="4578350" y="2214245"/>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afterEffect">
                                  <p:stCondLst>
                                    <p:cond delay="0"/>
                                  </p:stCondLst>
                                  <p:childTnLst>
                                    <p:animMotion origin="layout" path="M -0.0139062 0 L 0.117188 0.00111111 " pathEditMode="relative" rAng="0" ptsTypes="">
                                      <p:cBhvr>
                                        <p:cTn id="6" dur="2000" fill="hold"/>
                                        <p:tgtEl>
                                          <p:spTgt spid="7"/>
                                        </p:tgtEl>
                                        <p:attrNameLst>
                                          <p:attrName>ppt_x</p:attrName>
                                          <p:attrName>ppt_y</p:attrName>
                                        </p:attrNameLst>
                                      </p:cBhvr>
                                      <p:rCtr x="91" y="0"/>
                                    </p:animMotion>
                                  </p:childTnLst>
                                </p:cTn>
                              </p:par>
                              <p:par>
                                <p:cTn id="7" presetID="22" presetClass="exit" presetSubtype="8" fill="hold" grpId="0" nodeType="withEffect">
                                  <p:stCondLst>
                                    <p:cond delay="0"/>
                                  </p:stCondLst>
                                  <p:childTnLst>
                                    <p:animEffect transition="out" filter="wipe(left)">
                                      <p:cBhvr>
                                        <p:cTn id="8" dur="2000"/>
                                        <p:tgtEl>
                                          <p:spTgt spid="40"/>
                                        </p:tgtEl>
                                      </p:cBhvr>
                                    </p:animEffect>
                                    <p:set>
                                      <p:cBhvr>
                                        <p:cTn id="9" dur="1" fill="hold">
                                          <p:stCondLst>
                                            <p:cond delay="1996"/>
                                          </p:stCondLst>
                                        </p:cTn>
                                        <p:tgtEl>
                                          <p:spTgt spid="40"/>
                                        </p:tgtEl>
                                        <p:attrNameLst>
                                          <p:attrName>style.visibility</p:attrName>
                                        </p:attrNameLst>
                                      </p:cBhvr>
                                      <p:to>
                                        <p:strVal val="hidden"/>
                                      </p:to>
                                    </p:set>
                                  </p:childTnLst>
                                </p:cTn>
                              </p:par>
                            </p:childTnLst>
                          </p:cTn>
                        </p:par>
                        <p:par>
                          <p:cTn id="10" fill="hold">
                            <p:stCondLst>
                              <p:cond delay="2000"/>
                            </p:stCondLst>
                            <p:childTnLst>
                              <p:par>
                                <p:cTn id="11" presetID="0" presetClass="path" presetSubtype="0" accel="50000" decel="50000" fill="hold" nodeType="afterEffect">
                                  <p:stCondLst>
                                    <p:cond delay="0"/>
                                  </p:stCondLst>
                                  <p:childTnLst>
                                    <p:animMotion origin="layout" path="M 0.115573 0.00101852 L -0.104062 0.316852 " pathEditMode="relative" rAng="0" ptsTypes="">
                                      <p:cBhvr>
                                        <p:cTn id="12" dur="1000" fill="hold"/>
                                        <p:tgtEl>
                                          <p:spTgt spid="7"/>
                                        </p:tgtEl>
                                        <p:attrNameLst>
                                          <p:attrName>ppt_x</p:attrName>
                                          <p:attrName>ppt_y</p:attrName>
                                        </p:attrNameLst>
                                      </p:cBhvr>
                                      <p:rCtr x="-109" y="151"/>
                                    </p:animMotion>
                                  </p:childTnLst>
                                </p:cTn>
                              </p:par>
                            </p:childTnLst>
                          </p:cTn>
                        </p:par>
                        <p:par>
                          <p:cTn id="13" fill="hold">
                            <p:stCondLst>
                              <p:cond delay="3000"/>
                            </p:stCondLst>
                            <p:childTnLst>
                              <p:par>
                                <p:cTn id="14" presetID="0" presetClass="path" presetSubtype="0" accel="50000" decel="50000" fill="hold" nodeType="afterEffect">
                                  <p:stCondLst>
                                    <p:cond delay="0"/>
                                  </p:stCondLst>
                                  <p:childTnLst>
                                    <p:animMotion origin="layout" path="M -0.103073 0.315093 L 0.167969 0.316852 " pathEditMode="relative" rAng="0" ptsTypes="">
                                      <p:cBhvr>
                                        <p:cTn id="15" dur="2000" fill="hold"/>
                                        <p:tgtEl>
                                          <p:spTgt spid="7"/>
                                        </p:tgtEl>
                                        <p:attrNameLst>
                                          <p:attrName>ppt_x</p:attrName>
                                          <p:attrName>ppt_y</p:attrName>
                                        </p:attrNameLst>
                                      </p:cBhvr>
                                      <p:rCtr x="132" y="-8"/>
                                    </p:animMotion>
                                  </p:childTnLst>
                                </p:cTn>
                              </p:par>
                              <p:par>
                                <p:cTn id="16" presetID="22" presetClass="exit" presetSubtype="8" fill="hold" grpId="0" nodeType="withEffect">
                                  <p:stCondLst>
                                    <p:cond delay="0"/>
                                  </p:stCondLst>
                                  <p:childTnLst>
                                    <p:animEffect transition="out" filter="wipe(left)">
                                      <p:cBhvr>
                                        <p:cTn id="17" dur="2000"/>
                                        <p:tgtEl>
                                          <p:spTgt spid="44"/>
                                        </p:tgtEl>
                                      </p:cBhvr>
                                    </p:animEffect>
                                    <p:set>
                                      <p:cBhvr>
                                        <p:cTn id="18" dur="1" fill="hold">
                                          <p:stCondLst>
                                            <p:cond delay="1996"/>
                                          </p:stCondLst>
                                        </p:cTn>
                                        <p:tgtEl>
                                          <p:spTgt spid="44"/>
                                        </p:tgtEl>
                                        <p:attrNameLst>
                                          <p:attrName>style.visibility</p:attrName>
                                        </p:attrNameLst>
                                      </p:cBhvr>
                                      <p:to>
                                        <p:strVal val="hidden"/>
                                      </p:to>
                                    </p:set>
                                  </p:childTnLst>
                                </p:cTn>
                              </p:par>
                            </p:childTnLst>
                          </p:cTn>
                        </p:par>
                        <p:par>
                          <p:cTn id="19" fill="hold">
                            <p:stCondLst>
                              <p:cond delay="5000"/>
                            </p:stCondLst>
                            <p:childTnLst>
                              <p:par>
                                <p:cTn id="20" presetID="0" presetClass="path" presetSubtype="0" accel="50000" decel="50000" fill="hold" nodeType="afterEffect">
                                  <p:stCondLst>
                                    <p:cond delay="0"/>
                                  </p:stCondLst>
                                  <p:childTnLst>
                                    <p:animMotion origin="layout" path="M 0.166406 0.315926 L -0.102552 0.477963 " pathEditMode="relative" rAng="0" ptsTypes="">
                                      <p:cBhvr>
                                        <p:cTn id="21" dur="2000" fill="hold"/>
                                        <p:tgtEl>
                                          <p:spTgt spid="7"/>
                                        </p:tgtEl>
                                        <p:attrNameLst>
                                          <p:attrName>ppt_x</p:attrName>
                                          <p:attrName>ppt_y</p:attrName>
                                        </p:attrNameLst>
                                      </p:cBhvr>
                                      <p:rCtr x="-133" y="77"/>
                                    </p:animMotion>
                                  </p:childTnLst>
                                </p:cTn>
                              </p:par>
                            </p:childTnLst>
                          </p:cTn>
                        </p:par>
                        <p:par>
                          <p:cTn id="22" fill="hold">
                            <p:stCondLst>
                              <p:cond delay="7000"/>
                            </p:stCondLst>
                            <p:childTnLst>
                              <p:par>
                                <p:cTn id="23" presetID="0" presetClass="path" presetSubtype="0" accel="50000" decel="50000" fill="hold" nodeType="afterEffect">
                                  <p:stCondLst>
                                    <p:cond delay="0"/>
                                  </p:stCondLst>
                                  <p:childTnLst>
                                    <p:animMotion origin="layout" path="M -0.101615 0.479815 L 0.167448 0.479815 " pathEditMode="relative" rAng="0" ptsTypes="">
                                      <p:cBhvr>
                                        <p:cTn id="24" dur="2000" fill="hold"/>
                                        <p:tgtEl>
                                          <p:spTgt spid="7"/>
                                        </p:tgtEl>
                                        <p:attrNameLst>
                                          <p:attrName>ppt_x</p:attrName>
                                          <p:attrName>ppt_y</p:attrName>
                                        </p:attrNameLst>
                                      </p:cBhvr>
                                      <p:rCtr x="131" y="-7"/>
                                    </p:animMotion>
                                  </p:childTnLst>
                                </p:cTn>
                              </p:par>
                              <p:par>
                                <p:cTn id="25" presetID="22" presetClass="exit" presetSubtype="8" fill="hold" grpId="0" nodeType="withEffect">
                                  <p:stCondLst>
                                    <p:cond delay="0"/>
                                  </p:stCondLst>
                                  <p:childTnLst>
                                    <p:animEffect transition="out" filter="wipe(left)">
                                      <p:cBhvr>
                                        <p:cTn id="26" dur="2000"/>
                                        <p:tgtEl>
                                          <p:spTgt spid="37"/>
                                        </p:tgtEl>
                                      </p:cBhvr>
                                    </p:animEffect>
                                    <p:set>
                                      <p:cBhvr>
                                        <p:cTn id="27" dur="1" fill="hold">
                                          <p:stCondLst>
                                            <p:cond delay="1996"/>
                                          </p:stCondLst>
                                        </p:cTn>
                                        <p:tgtEl>
                                          <p:spTgt spid="37"/>
                                        </p:tgtEl>
                                        <p:attrNameLst>
                                          <p:attrName>style.visibility</p:attrName>
                                        </p:attrNameLst>
                                      </p:cBhvr>
                                      <p:to>
                                        <p:strVal val="hidden"/>
                                      </p:to>
                                    </p:set>
                                  </p:childTnLst>
                                </p:cTn>
                              </p:par>
                            </p:childTnLst>
                          </p:cTn>
                        </p:par>
                        <p:par>
                          <p:cTn id="28" fill="hold">
                            <p:stCondLst>
                              <p:cond delay="9000"/>
                            </p:stCondLst>
                            <p:childTnLst>
                              <p:par>
                                <p:cTn id="29" presetID="0" presetClass="path" presetSubtype="0" accel="50000" decel="50000" fill="hold" nodeType="afterEffect">
                                  <p:stCondLst>
                                    <p:cond delay="0"/>
                                  </p:stCondLst>
                                  <p:childTnLst>
                                    <p:animMotion origin="layout" path="M 0.165469 0.47713 L 0.19651 -0.017963 " pathEditMode="relative" rAng="0" ptsTypes="">
                                      <p:cBhvr>
                                        <p:cTn id="30" dur="1000" fill="hold"/>
                                        <p:tgtEl>
                                          <p:spTgt spid="7"/>
                                        </p:tgtEl>
                                        <p:attrNameLst>
                                          <p:attrName>ppt_x</p:attrName>
                                          <p:attrName>ppt_y</p:attrName>
                                        </p:attrNameLst>
                                      </p:cBhvr>
                                      <p:rCtr x="21" y="-252"/>
                                    </p:animMotion>
                                  </p:childTnLst>
                                </p:cTn>
                              </p:par>
                            </p:childTnLst>
                          </p:cTn>
                        </p:par>
                        <p:par>
                          <p:cTn id="31" fill="hold">
                            <p:stCondLst>
                              <p:cond delay="10000"/>
                            </p:stCondLst>
                            <p:childTnLst>
                              <p:par>
                                <p:cTn id="32" presetID="0" presetClass="path" presetSubtype="0" accel="50000" decel="50000" fill="hold" nodeType="afterEffect">
                                  <p:stCondLst>
                                    <p:cond delay="0"/>
                                  </p:stCondLst>
                                  <p:childTnLst>
                                    <p:animMotion origin="layout" path="M 0.19599 -0.0144444 L 0.46599 -0.0153704 " pathEditMode="relative" rAng="0" ptsTypes="">
                                      <p:cBhvr>
                                        <p:cTn id="33" dur="2000" fill="hold"/>
                                        <p:tgtEl>
                                          <p:spTgt spid="7"/>
                                        </p:tgtEl>
                                        <p:attrNameLst>
                                          <p:attrName>ppt_x</p:attrName>
                                          <p:attrName>ppt_y</p:attrName>
                                        </p:attrNameLst>
                                      </p:cBhvr>
                                      <p:rCtr x="135" y="1"/>
                                    </p:animMotion>
                                  </p:childTnLst>
                                </p:cTn>
                              </p:par>
                              <p:par>
                                <p:cTn id="34" presetID="22" presetClass="exit" presetSubtype="8" fill="hold" grpId="0" nodeType="withEffect">
                                  <p:stCondLst>
                                    <p:cond delay="0"/>
                                  </p:stCondLst>
                                  <p:childTnLst>
                                    <p:animEffect transition="out" filter="wipe(left)">
                                      <p:cBhvr>
                                        <p:cTn id="35" dur="2000"/>
                                        <p:tgtEl>
                                          <p:spTgt spid="53"/>
                                        </p:tgtEl>
                                      </p:cBhvr>
                                    </p:animEffect>
                                    <p:set>
                                      <p:cBhvr>
                                        <p:cTn id="36" dur="1" fill="hold">
                                          <p:stCondLst>
                                            <p:cond delay="1996"/>
                                          </p:stCondLst>
                                        </p:cTn>
                                        <p:tgtEl>
                                          <p:spTgt spid="53"/>
                                        </p:tgtEl>
                                        <p:attrNameLst>
                                          <p:attrName>style.visibility</p:attrName>
                                        </p:attrNameLst>
                                      </p:cBhvr>
                                      <p:to>
                                        <p:strVal val="hidden"/>
                                      </p:to>
                                    </p:set>
                                  </p:childTnLst>
                                </p:cTn>
                              </p:par>
                            </p:childTnLst>
                          </p:cTn>
                        </p:par>
                        <p:par>
                          <p:cTn id="37" fill="hold">
                            <p:stCondLst>
                              <p:cond delay="12000"/>
                            </p:stCondLst>
                            <p:childTnLst>
                              <p:par>
                                <p:cTn id="38" presetID="0" presetClass="path" presetSubtype="0" accel="50000" decel="50000" fill="hold" nodeType="afterEffect">
                                  <p:stCondLst>
                                    <p:cond delay="0"/>
                                  </p:stCondLst>
                                  <p:childTnLst>
                                    <p:animMotion origin="layout" path="M 0.463333 -0.0159259 L 0.195573 0.153519 " pathEditMode="relative" rAng="0" ptsTypes="">
                                      <p:cBhvr>
                                        <p:cTn id="39" dur="1000" fill="hold"/>
                                        <p:tgtEl>
                                          <p:spTgt spid="7"/>
                                        </p:tgtEl>
                                        <p:attrNameLst>
                                          <p:attrName>ppt_x</p:attrName>
                                          <p:attrName>ppt_y</p:attrName>
                                        </p:attrNameLst>
                                      </p:cBhvr>
                                      <p:rCtr x="-128" y="81"/>
                                    </p:animMotion>
                                  </p:childTnLst>
                                </p:cTn>
                              </p:par>
                            </p:childTnLst>
                          </p:cTn>
                        </p:par>
                        <p:par>
                          <p:cTn id="40" fill="hold">
                            <p:stCondLst>
                              <p:cond delay="13000"/>
                            </p:stCondLst>
                            <p:childTnLst>
                              <p:par>
                                <p:cTn id="41" presetID="0" presetClass="path" presetSubtype="0" accel="50000" decel="50000" fill="hold" nodeType="afterEffect">
                                  <p:stCondLst>
                                    <p:cond delay="0"/>
                                  </p:stCondLst>
                                  <p:childTnLst>
                                    <p:animMotion origin="layout" path="M 0.196094 0.153519 L 0.467604 0.153519 " pathEditMode="relative" rAng="0" ptsTypes="">
                                      <p:cBhvr>
                                        <p:cTn id="42" dur="2000" fill="hold"/>
                                        <p:tgtEl>
                                          <p:spTgt spid="7"/>
                                        </p:tgtEl>
                                        <p:attrNameLst>
                                          <p:attrName>ppt_x</p:attrName>
                                          <p:attrName>ppt_y</p:attrName>
                                        </p:attrNameLst>
                                      </p:cBhvr>
                                      <p:rCtr x="136" y="0"/>
                                    </p:animMotion>
                                  </p:childTnLst>
                                </p:cTn>
                              </p:par>
                              <p:par>
                                <p:cTn id="43" presetID="22" presetClass="exit" presetSubtype="8" fill="hold" grpId="0" nodeType="withEffect">
                                  <p:stCondLst>
                                    <p:cond delay="0"/>
                                  </p:stCondLst>
                                  <p:childTnLst>
                                    <p:animEffect transition="out" filter="wipe(left)">
                                      <p:cBhvr>
                                        <p:cTn id="44" dur="2000"/>
                                        <p:tgtEl>
                                          <p:spTgt spid="54"/>
                                        </p:tgtEl>
                                      </p:cBhvr>
                                    </p:animEffect>
                                    <p:set>
                                      <p:cBhvr>
                                        <p:cTn id="45" dur="1" fill="hold">
                                          <p:stCondLst>
                                            <p:cond delay="1996"/>
                                          </p:stCondLst>
                                        </p:cTn>
                                        <p:tgtEl>
                                          <p:spTgt spid="54"/>
                                        </p:tgtEl>
                                        <p:attrNameLst>
                                          <p:attrName>style.visibility</p:attrName>
                                        </p:attrNameLst>
                                      </p:cBhvr>
                                      <p:to>
                                        <p:strVal val="hidden"/>
                                      </p:to>
                                    </p:set>
                                  </p:childTnLst>
                                </p:cTn>
                              </p:par>
                            </p:childTnLst>
                          </p:cTn>
                        </p:par>
                        <p:par>
                          <p:cTn id="46" fill="hold">
                            <p:stCondLst>
                              <p:cond delay="15000"/>
                            </p:stCondLst>
                            <p:childTnLst>
                              <p:par>
                                <p:cTn id="47" presetID="0" presetClass="path" presetSubtype="0" accel="50000" decel="50000" fill="hold" nodeType="afterEffect">
                                  <p:stCondLst>
                                    <p:cond delay="0"/>
                                  </p:stCondLst>
                                  <p:childTnLst>
                                    <p:animMotion origin="layout" path="M 0.465573 0.150926 L 0.194583 0.312685 " pathEditMode="relative" rAng="0" ptsTypes="">
                                      <p:cBhvr>
                                        <p:cTn id="48" dur="1000" fill="hold"/>
                                        <p:tgtEl>
                                          <p:spTgt spid="7"/>
                                        </p:tgtEl>
                                        <p:attrNameLst>
                                          <p:attrName>ppt_x</p:attrName>
                                          <p:attrName>ppt_y</p:attrName>
                                        </p:attrNameLst>
                                      </p:cBhvr>
                                      <p:rCtr x="-131" y="77"/>
                                    </p:animMotion>
                                  </p:childTnLst>
                                </p:cTn>
                              </p:par>
                            </p:childTnLst>
                          </p:cTn>
                        </p:par>
                        <p:par>
                          <p:cTn id="49" fill="hold">
                            <p:stCondLst>
                              <p:cond delay="16000"/>
                            </p:stCondLst>
                            <p:childTnLst>
                              <p:par>
                                <p:cTn id="50" presetID="0" presetClass="path" presetSubtype="0" accel="50000" decel="50000" fill="hold" nodeType="afterEffect">
                                  <p:stCondLst>
                                    <p:cond delay="0"/>
                                  </p:stCondLst>
                                  <p:childTnLst>
                                    <p:animMotion origin="layout" path="M 0.196458 0.313519 L 0.468594 0.316204 " pathEditMode="relative" rAng="0" ptsTypes="">
                                      <p:cBhvr>
                                        <p:cTn id="51" dur="2000" fill="hold"/>
                                        <p:tgtEl>
                                          <p:spTgt spid="7"/>
                                        </p:tgtEl>
                                        <p:attrNameLst>
                                          <p:attrName>ppt_x</p:attrName>
                                          <p:attrName>ppt_y</p:attrName>
                                        </p:attrNameLst>
                                      </p:cBhvr>
                                      <p:rCtr x="136" y="2"/>
                                    </p:animMotion>
                                  </p:childTnLst>
                                </p:cTn>
                              </p:par>
                              <p:par>
                                <p:cTn id="52" presetID="22" presetClass="exit" presetSubtype="8" fill="hold" grpId="0" nodeType="withEffect">
                                  <p:stCondLst>
                                    <p:cond delay="0"/>
                                  </p:stCondLst>
                                  <p:childTnLst>
                                    <p:animEffect transition="out" filter="wipe(left)">
                                      <p:cBhvr>
                                        <p:cTn id="53" dur="2000"/>
                                        <p:tgtEl>
                                          <p:spTgt spid="55"/>
                                        </p:tgtEl>
                                      </p:cBhvr>
                                    </p:animEffect>
                                    <p:set>
                                      <p:cBhvr>
                                        <p:cTn id="54" dur="1" fill="hold">
                                          <p:stCondLst>
                                            <p:cond delay="1996"/>
                                          </p:stCondLst>
                                        </p:cTn>
                                        <p:tgtEl>
                                          <p:spTgt spid="55"/>
                                        </p:tgtEl>
                                        <p:attrNameLst>
                                          <p:attrName>style.visibility</p:attrName>
                                        </p:attrNameLst>
                                      </p:cBhvr>
                                      <p:to>
                                        <p:strVal val="hidden"/>
                                      </p:to>
                                    </p:set>
                                  </p:childTnLst>
                                </p:cTn>
                              </p:par>
                            </p:childTnLst>
                          </p:cTn>
                        </p:par>
                        <p:par>
                          <p:cTn id="55" fill="hold">
                            <p:stCondLst>
                              <p:cond delay="18000"/>
                            </p:stCondLst>
                            <p:childTnLst>
                              <p:par>
                                <p:cTn id="56" presetID="0" presetClass="path" presetSubtype="0" accel="50000" decel="50000" fill="hold" nodeType="afterEffect">
                                  <p:stCondLst>
                                    <p:cond delay="0"/>
                                  </p:stCondLst>
                                  <p:childTnLst>
                                    <p:animMotion origin="layout" path="M 0.467552 0.313519 L 0.195573 0.474444 " pathEditMode="relative" rAng="0" ptsTypes="">
                                      <p:cBhvr>
                                        <p:cTn id="57" dur="1000" fill="hold"/>
                                        <p:tgtEl>
                                          <p:spTgt spid="7"/>
                                        </p:tgtEl>
                                        <p:attrNameLst>
                                          <p:attrName>ppt_x</p:attrName>
                                          <p:attrName>ppt_y</p:attrName>
                                        </p:attrNameLst>
                                      </p:cBhvr>
                                      <p:rCtr x="-133" y="77"/>
                                    </p:animMotion>
                                  </p:childTnLst>
                                </p:cTn>
                              </p:par>
                            </p:childTnLst>
                          </p:cTn>
                        </p:par>
                        <p:par>
                          <p:cTn id="58" fill="hold">
                            <p:stCondLst>
                              <p:cond delay="19000"/>
                            </p:stCondLst>
                            <p:childTnLst>
                              <p:par>
                                <p:cTn id="59" presetID="0" presetClass="path" presetSubtype="0" accel="50000" decel="50000" fill="hold" nodeType="afterEffect">
                                  <p:stCondLst>
                                    <p:cond delay="0"/>
                                  </p:stCondLst>
                                  <p:childTnLst>
                                    <p:animMotion origin="layout" path="M 0.196979 0.476204 L 0.466563 0.477963 " pathEditMode="relative" rAng="0" ptsTypes="">
                                      <p:cBhvr>
                                        <p:cTn id="60" dur="2000" fill="hold"/>
                                        <p:tgtEl>
                                          <p:spTgt spid="7"/>
                                        </p:tgtEl>
                                        <p:attrNameLst>
                                          <p:attrName>ppt_x</p:attrName>
                                          <p:attrName>ppt_y</p:attrName>
                                        </p:attrNameLst>
                                      </p:cBhvr>
                                      <p:rCtr x="135" y="2"/>
                                    </p:animMotion>
                                  </p:childTnLst>
                                </p:cTn>
                              </p:par>
                              <p:par>
                                <p:cTn id="61" presetID="22" presetClass="exit" presetSubtype="8" fill="hold" grpId="0" nodeType="withEffect">
                                  <p:stCondLst>
                                    <p:cond delay="0"/>
                                  </p:stCondLst>
                                  <p:childTnLst>
                                    <p:animEffect transition="out" filter="wipe(left)">
                                      <p:cBhvr>
                                        <p:cTn id="62" dur="2000"/>
                                        <p:tgtEl>
                                          <p:spTgt spid="56"/>
                                        </p:tgtEl>
                                      </p:cBhvr>
                                    </p:animEffect>
                                    <p:set>
                                      <p:cBhvr>
                                        <p:cTn id="63" dur="1" fill="hold">
                                          <p:stCondLst>
                                            <p:cond delay="1996"/>
                                          </p:stCondLst>
                                        </p:cTn>
                                        <p:tgtEl>
                                          <p:spTgt spid="56"/>
                                        </p:tgtEl>
                                        <p:attrNameLst>
                                          <p:attrName>style.visibility</p:attrName>
                                        </p:attrNameLst>
                                      </p:cBhvr>
                                      <p:to>
                                        <p:strVal val="hidden"/>
                                      </p:to>
                                    </p:set>
                                  </p:childTnLst>
                                </p:cTn>
                              </p:par>
                            </p:childTnLst>
                          </p:cTn>
                        </p:par>
                        <p:par>
                          <p:cTn id="64" fill="hold">
                            <p:stCondLst>
                              <p:cond delay="21000"/>
                            </p:stCondLst>
                            <p:childTnLst>
                              <p:par>
                                <p:cTn id="65" presetID="0" presetClass="path" presetSubtype="0" accel="50000" decel="50000" fill="hold" nodeType="afterEffect">
                                  <p:stCondLst>
                                    <p:cond delay="0"/>
                                  </p:stCondLst>
                                  <p:childTnLst>
                                    <p:animMotion origin="layout" path="M 0.465052 0.480556 L 0.498333 -0.0224074 " pathEditMode="relative" rAng="0" ptsTypes="">
                                      <p:cBhvr>
                                        <p:cTn id="66" dur="1000" fill="hold"/>
                                        <p:tgtEl>
                                          <p:spTgt spid="7"/>
                                        </p:tgtEl>
                                        <p:attrNameLst>
                                          <p:attrName>ppt_x</p:attrName>
                                          <p:attrName>ppt_y</p:attrName>
                                        </p:attrNameLst>
                                      </p:cBhvr>
                                      <p:rCtr x="18" y="-254"/>
                                    </p:animMotion>
                                  </p:childTnLst>
                                </p:cTn>
                              </p:par>
                            </p:childTnLst>
                          </p:cTn>
                        </p:par>
                        <p:par>
                          <p:cTn id="67" fill="hold">
                            <p:stCondLst>
                              <p:cond delay="22000"/>
                            </p:stCondLst>
                            <p:childTnLst>
                              <p:par>
                                <p:cTn id="68" presetID="0" presetClass="path" presetSubtype="0" accel="50000" decel="50000" fill="hold" nodeType="afterEffect">
                                  <p:stCondLst>
                                    <p:cond delay="0"/>
                                  </p:stCondLst>
                                  <p:childTnLst>
                                    <p:animMotion origin="layout" path="M 0.498281 -0.0162037 L 0.767292 -0.0162037 " pathEditMode="relative" rAng="0" ptsTypes="">
                                      <p:cBhvr>
                                        <p:cTn id="69" dur="2000" fill="hold"/>
                                        <p:tgtEl>
                                          <p:spTgt spid="7"/>
                                        </p:tgtEl>
                                        <p:attrNameLst>
                                          <p:attrName>ppt_x</p:attrName>
                                          <p:attrName>ppt_y</p:attrName>
                                        </p:attrNameLst>
                                      </p:cBhvr>
                                      <p:rCtr x="131" y="-5"/>
                                    </p:animMotion>
                                  </p:childTnLst>
                                </p:cTn>
                              </p:par>
                              <p:par>
                                <p:cTn id="70" presetID="22" presetClass="exit" presetSubtype="8" fill="hold" grpId="0" nodeType="withEffect">
                                  <p:stCondLst>
                                    <p:cond delay="0"/>
                                  </p:stCondLst>
                                  <p:childTnLst>
                                    <p:animEffect transition="out" filter="wipe(left)">
                                      <p:cBhvr>
                                        <p:cTn id="71" dur="2000"/>
                                        <p:tgtEl>
                                          <p:spTgt spid="57"/>
                                        </p:tgtEl>
                                      </p:cBhvr>
                                    </p:animEffect>
                                    <p:set>
                                      <p:cBhvr>
                                        <p:cTn id="72" dur="1" fill="hold">
                                          <p:stCondLst>
                                            <p:cond delay="1996"/>
                                          </p:stCondLst>
                                        </p:cTn>
                                        <p:tgtEl>
                                          <p:spTgt spid="57"/>
                                        </p:tgtEl>
                                        <p:attrNameLst>
                                          <p:attrName>style.visibility</p:attrName>
                                        </p:attrNameLst>
                                      </p:cBhvr>
                                      <p:to>
                                        <p:strVal val="hidden"/>
                                      </p:to>
                                    </p:set>
                                  </p:childTnLst>
                                </p:cTn>
                              </p:par>
                            </p:childTnLst>
                          </p:cTn>
                        </p:par>
                        <p:par>
                          <p:cTn id="73" fill="hold">
                            <p:stCondLst>
                              <p:cond delay="24000"/>
                            </p:stCondLst>
                            <p:childTnLst>
                              <p:par>
                                <p:cTn id="74" presetID="0" presetClass="path" presetSubtype="0" accel="50000" decel="50000" fill="hold" nodeType="afterEffect">
                                  <p:stCondLst>
                                    <p:cond delay="0"/>
                                  </p:stCondLst>
                                  <p:childTnLst>
                                    <p:animMotion origin="layout" path="M 0.765781 -0.0189815 L 0.497292 0.147315 " pathEditMode="relative" rAng="0" ptsTypes="">
                                      <p:cBhvr>
                                        <p:cTn id="75" dur="1000" fill="hold"/>
                                        <p:tgtEl>
                                          <p:spTgt spid="7"/>
                                        </p:tgtEl>
                                        <p:attrNameLst>
                                          <p:attrName>ppt_x</p:attrName>
                                          <p:attrName>ppt_y</p:attrName>
                                        </p:attrNameLst>
                                      </p:cBhvr>
                                      <p:rCtr x="-131" y="82"/>
                                    </p:animMotion>
                                  </p:childTnLst>
                                </p:cTn>
                              </p:par>
                            </p:childTnLst>
                          </p:cTn>
                        </p:par>
                        <p:par>
                          <p:cTn id="76" fill="hold">
                            <p:stCondLst>
                              <p:cond delay="25000"/>
                            </p:stCondLst>
                            <p:childTnLst>
                              <p:par>
                                <p:cTn id="77" presetID="0" presetClass="path" presetSubtype="0" accel="50000" decel="50000" fill="hold" nodeType="afterEffect">
                                  <p:stCondLst>
                                    <p:cond delay="0"/>
                                  </p:stCondLst>
                                  <p:childTnLst>
                                    <p:animMotion origin="layout" path="M 0.497813 0.145556 L 0.767292 0.14463 " pathEditMode="relative" rAng="0" ptsTypes="">
                                      <p:cBhvr>
                                        <p:cTn id="78" dur="2000" fill="hold"/>
                                        <p:tgtEl>
                                          <p:spTgt spid="7"/>
                                        </p:tgtEl>
                                        <p:attrNameLst>
                                          <p:attrName>ppt_x</p:attrName>
                                          <p:attrName>ppt_y</p:attrName>
                                        </p:attrNameLst>
                                      </p:cBhvr>
                                      <p:rCtr x="135" y="0"/>
                                    </p:animMotion>
                                  </p:childTnLst>
                                </p:cTn>
                              </p:par>
                              <p:par>
                                <p:cTn id="79" presetID="22" presetClass="exit" presetSubtype="8" fill="hold" grpId="0" nodeType="withEffect">
                                  <p:stCondLst>
                                    <p:cond delay="0"/>
                                  </p:stCondLst>
                                  <p:childTnLst>
                                    <p:animEffect transition="out" filter="wipe(left)">
                                      <p:cBhvr>
                                        <p:cTn id="80" dur="2000"/>
                                        <p:tgtEl>
                                          <p:spTgt spid="58"/>
                                        </p:tgtEl>
                                      </p:cBhvr>
                                    </p:animEffect>
                                    <p:set>
                                      <p:cBhvr>
                                        <p:cTn id="81" dur="1" fill="hold">
                                          <p:stCondLst>
                                            <p:cond delay="1996"/>
                                          </p:stCondLst>
                                        </p:cTn>
                                        <p:tgtEl>
                                          <p:spTgt spid="58"/>
                                        </p:tgtEl>
                                        <p:attrNameLst>
                                          <p:attrName>style.visibility</p:attrName>
                                        </p:attrNameLst>
                                      </p:cBhvr>
                                      <p:to>
                                        <p:strVal val="hidden"/>
                                      </p:to>
                                    </p:set>
                                  </p:childTnLst>
                                </p:cTn>
                              </p:par>
                            </p:childTnLst>
                          </p:cTn>
                        </p:par>
                        <p:par>
                          <p:cTn id="82" fill="hold">
                            <p:stCondLst>
                              <p:cond delay="27000"/>
                            </p:stCondLst>
                            <p:childTnLst>
                              <p:par>
                                <p:cTn id="83" presetID="0" presetClass="path" presetSubtype="0" accel="50000" decel="50000" fill="hold" nodeType="afterEffect">
                                  <p:stCondLst>
                                    <p:cond delay="0"/>
                                  </p:stCondLst>
                                  <p:childTnLst>
                                    <p:animMotion origin="layout" path="M 0.76625 0.14463 L 0.495313 0.311759 " pathEditMode="relative" rAng="0" ptsTypes="">
                                      <p:cBhvr>
                                        <p:cTn id="84" dur="1000" fill="hold"/>
                                        <p:tgtEl>
                                          <p:spTgt spid="7"/>
                                        </p:tgtEl>
                                        <p:attrNameLst>
                                          <p:attrName>ppt_x</p:attrName>
                                          <p:attrName>ppt_y</p:attrName>
                                        </p:attrNameLst>
                                      </p:cBhvr>
                                      <p:rCtr x="-132" y="81"/>
                                    </p:animMotion>
                                  </p:childTnLst>
                                </p:cTn>
                              </p:par>
                            </p:childTnLst>
                          </p:cTn>
                        </p:par>
                        <p:par>
                          <p:cTn id="85" fill="hold">
                            <p:stCondLst>
                              <p:cond delay="28000"/>
                            </p:stCondLst>
                            <p:childTnLst>
                              <p:par>
                                <p:cTn id="86" presetID="0" presetClass="path" presetSubtype="0" accel="50000" decel="50000" fill="hold" nodeType="afterEffect">
                                  <p:stCondLst>
                                    <p:cond delay="0"/>
                                  </p:stCondLst>
                                  <p:childTnLst>
                                    <p:animMotion origin="layout" path="M 0.496823 0.31 L 0.767292 0.311759 " pathEditMode="relative" rAng="0" ptsTypes="">
                                      <p:cBhvr>
                                        <p:cTn id="87" dur="2000" fill="hold"/>
                                        <p:tgtEl>
                                          <p:spTgt spid="7"/>
                                        </p:tgtEl>
                                        <p:attrNameLst>
                                          <p:attrName>ppt_x</p:attrName>
                                          <p:attrName>ppt_y</p:attrName>
                                        </p:attrNameLst>
                                      </p:cBhvr>
                                      <p:rCtr x="136" y="2"/>
                                    </p:animMotion>
                                  </p:childTnLst>
                                </p:cTn>
                              </p:par>
                              <p:par>
                                <p:cTn id="88" presetID="22" presetClass="exit" presetSubtype="8" fill="hold" grpId="0" nodeType="withEffect">
                                  <p:stCondLst>
                                    <p:cond delay="0"/>
                                  </p:stCondLst>
                                  <p:childTnLst>
                                    <p:animEffect transition="out" filter="wipe(left)">
                                      <p:cBhvr>
                                        <p:cTn id="89" dur="2000"/>
                                        <p:tgtEl>
                                          <p:spTgt spid="59"/>
                                        </p:tgtEl>
                                      </p:cBhvr>
                                    </p:animEffect>
                                    <p:set>
                                      <p:cBhvr>
                                        <p:cTn id="90" dur="1" fill="hold">
                                          <p:stCondLst>
                                            <p:cond delay="1996"/>
                                          </p:stCondLst>
                                        </p:cTn>
                                        <p:tgtEl>
                                          <p:spTgt spid="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P spid="44" grpId="0" bldLvl="0" animBg="1"/>
      <p:bldP spid="53" grpId="0" bldLvl="0" animBg="1"/>
      <p:bldP spid="54" grpId="0" bldLvl="0" animBg="1"/>
      <p:bldP spid="55" grpId="0" bldLvl="0" animBg="1"/>
      <p:bldP spid="56" grpId="0" bldLvl="0" animBg="1"/>
      <p:bldP spid="57" grpId="0" bldLvl="0" animBg="1"/>
      <p:bldP spid="58" grpId="0" bldLvl="0" animBg="1"/>
      <p:bldP spid="59" grpId="0" bldLvl="0" animBg="1"/>
      <p:bldP spid="37"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371475" y="811530"/>
            <a:ext cx="1131443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、基于压力、排量、砂浓度小波能量响应规律，</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结合微地震监测结果</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校验，确立裂缝扩展事件筛选标准</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6" name="TextBox 2"/>
          <p:cNvSpPr txBox="1">
            <a:spLocks noChangeArrowheads="1"/>
          </p:cNvSpPr>
          <p:nvPr/>
        </p:nvSpPr>
        <p:spPr bwMode="auto">
          <a:xfrm>
            <a:off x="334963" y="1357435"/>
            <a:ext cx="11414126"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algn="just" fontAlgn="auto">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统计各井平均井深，根据压力在液体和固体中的传导速度推理确定压力传导时延约为</a:t>
            </a:r>
            <a:r>
              <a:rPr lang="en-US" altLang="zh-CN" sz="1600" dirty="0">
                <a:solidFill>
                  <a:srgbClr val="FF0000"/>
                </a:solidFill>
                <a:cs typeface="微软雅黑" panose="020B0503020204020204" pitchFamily="34" charset="-122"/>
                <a:sym typeface="+mn-ea"/>
              </a:rPr>
              <a:t>8</a:t>
            </a:r>
            <a:r>
              <a:rPr lang="zh-CN" altLang="en-US" sz="1600" dirty="0">
                <a:solidFill>
                  <a:srgbClr val="FF0000"/>
                </a:solidFill>
                <a:cs typeface="微软雅黑" panose="020B0503020204020204" pitchFamily="34" charset="-122"/>
                <a:sym typeface="+mn-ea"/>
              </a:rPr>
              <a:t>秒</a:t>
            </a:r>
            <a:endParaRPr lang="zh-CN" altLang="en-US" sz="1600" dirty="0">
              <a:cs typeface="微软雅黑" panose="020B0503020204020204" pitchFamily="34" charset="-122"/>
              <a:sym typeface="+mn-ea"/>
            </a:endParaRPr>
          </a:p>
          <a:p>
            <a:pPr marL="342265" indent="-342265" algn="just" fontAlgn="auto">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当相邻压力、排量的峰值间隔</a:t>
            </a:r>
            <a:r>
              <a:rPr lang="zh-CN" altLang="en-US" sz="1600" dirty="0">
                <a:solidFill>
                  <a:srgbClr val="FF0000"/>
                </a:solidFill>
                <a:cs typeface="微软雅黑" panose="020B0503020204020204" pitchFamily="34" charset="-122"/>
                <a:sym typeface="+mn-ea"/>
              </a:rPr>
              <a:t>＞</a:t>
            </a:r>
            <a:r>
              <a:rPr lang="en-US" altLang="zh-CN" sz="1600" dirty="0">
                <a:solidFill>
                  <a:srgbClr val="FF0000"/>
                </a:solidFill>
                <a:cs typeface="微软雅黑" panose="020B0503020204020204" pitchFamily="34" charset="-122"/>
                <a:sym typeface="+mn-ea"/>
              </a:rPr>
              <a:t>8</a:t>
            </a:r>
            <a:r>
              <a:rPr lang="zh-CN" altLang="en-US" sz="1600" dirty="0">
                <a:solidFill>
                  <a:srgbClr val="FF0000"/>
                </a:solidFill>
                <a:cs typeface="微软雅黑" panose="020B0503020204020204" pitchFamily="34" charset="-122"/>
                <a:sym typeface="+mn-ea"/>
              </a:rPr>
              <a:t>秒</a:t>
            </a:r>
            <a:r>
              <a:rPr lang="zh-CN" altLang="en-US" sz="1600" dirty="0">
                <a:cs typeface="微软雅黑" panose="020B0503020204020204" pitchFamily="34" charset="-122"/>
                <a:sym typeface="+mn-ea"/>
              </a:rPr>
              <a:t>时，或间隔</a:t>
            </a:r>
            <a:r>
              <a:rPr lang="en-US" altLang="zh-CN" sz="1600" dirty="0">
                <a:solidFill>
                  <a:srgbClr val="FF0000"/>
                </a:solidFill>
                <a:cs typeface="微软雅黑" panose="020B0503020204020204" pitchFamily="34" charset="-122"/>
                <a:sym typeface="+mn-ea"/>
              </a:rPr>
              <a:t>&lt;8</a:t>
            </a:r>
            <a:r>
              <a:rPr lang="zh-CN" altLang="en-US" sz="1600" dirty="0">
                <a:solidFill>
                  <a:srgbClr val="FF0000"/>
                </a:solidFill>
                <a:cs typeface="微软雅黑" panose="020B0503020204020204" pitchFamily="34" charset="-122"/>
                <a:sym typeface="+mn-ea"/>
              </a:rPr>
              <a:t>秒</a:t>
            </a:r>
            <a:r>
              <a:rPr lang="zh-CN" altLang="en-US" sz="1600" noProof="0" dirty="0">
                <a:ln>
                  <a:noFill/>
                </a:ln>
                <a:effectLst/>
                <a:uLnTx/>
                <a:uFillTx/>
                <a:cs typeface="微软雅黑" panose="020B0503020204020204" pitchFamily="34" charset="-122"/>
                <a:sym typeface="+mn-ea"/>
              </a:rPr>
              <a:t>但</a:t>
            </a:r>
            <a:r>
              <a:rPr lang="zh-CN" altLang="en-US" sz="1600" noProof="0" dirty="0">
                <a:ln>
                  <a:noFill/>
                </a:ln>
                <a:solidFill>
                  <a:srgbClr val="FF0000"/>
                </a:solidFill>
                <a:effectLst/>
                <a:uLnTx/>
                <a:uFillTx/>
                <a:cs typeface="微软雅黑" panose="020B0503020204020204" pitchFamily="34" charset="-122"/>
                <a:sym typeface="+mn-ea"/>
              </a:rPr>
              <a:t>压力峰值显著高于排量峰值</a:t>
            </a:r>
            <a:r>
              <a:rPr lang="zh-CN" altLang="en-US" sz="1600" noProof="0" dirty="0">
                <a:ln>
                  <a:noFill/>
                </a:ln>
                <a:effectLst/>
                <a:uLnTx/>
                <a:uFillTx/>
                <a:cs typeface="微软雅黑" panose="020B0503020204020204" pitchFamily="34" charset="-122"/>
                <a:sym typeface="+mn-ea"/>
              </a:rPr>
              <a:t>时，认为是</a:t>
            </a:r>
            <a:r>
              <a:rPr lang="zh-CN" altLang="en-US" sz="1600" noProof="0" dirty="0">
                <a:ln>
                  <a:noFill/>
                </a:ln>
                <a:solidFill>
                  <a:srgbClr val="FF0000"/>
                </a:solidFill>
                <a:effectLst/>
                <a:uLnTx/>
                <a:uFillTx/>
                <a:cs typeface="微软雅黑" panose="020B0503020204020204" pitchFamily="34" charset="-122"/>
                <a:sym typeface="+mn-ea"/>
              </a:rPr>
              <a:t>裂缝扩展事件</a:t>
            </a:r>
            <a:endParaRPr lang="zh-CN" altLang="en-US" sz="1600" noProof="0" dirty="0">
              <a:ln>
                <a:noFill/>
              </a:ln>
              <a:solidFill>
                <a:srgbClr val="FF0000"/>
              </a:solidFill>
              <a:effectLst/>
              <a:uLnTx/>
              <a:uFillTx/>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裂缝扩展事件表现为</a:t>
            </a:r>
            <a:r>
              <a:rPr lang="zh-CN" altLang="en-US" sz="1600" dirty="0">
                <a:solidFill>
                  <a:srgbClr val="FF0000"/>
                </a:solidFill>
                <a:cs typeface="Times New Roman" panose="02020603050405020304" pitchFamily="18" charset="0"/>
                <a:sym typeface="+mn-ea"/>
              </a:rPr>
              <a:t>排量小波能量响应不明显，而压力小波能量响应剧烈，</a:t>
            </a:r>
            <a:r>
              <a:rPr lang="zh-CN" altLang="en-US" sz="1600" dirty="0">
                <a:cs typeface="Times New Roman" panose="02020603050405020304" pitchFamily="18" charset="0"/>
                <a:sym typeface="+mn-ea"/>
              </a:rPr>
              <a:t>反之则压力响应可能是由于排量的波动造成的</a:t>
            </a:r>
            <a:endParaRPr lang="zh-CN" altLang="en-US" sz="1600" dirty="0">
              <a:solidFill>
                <a:srgbClr val="FF0000"/>
              </a:solidFill>
              <a:cs typeface="微软雅黑" panose="020B0503020204020204" pitchFamily="34" charset="-122"/>
              <a:sym typeface="+mn-ea"/>
            </a:endParaRPr>
          </a:p>
        </p:txBody>
      </p:sp>
      <p:sp>
        <p:nvSpPr>
          <p:cNvPr id="4" name="文本框 3"/>
          <p:cNvSpPr txBox="1"/>
          <p:nvPr/>
        </p:nvSpPr>
        <p:spPr>
          <a:xfrm>
            <a:off x="73025" y="6076950"/>
            <a:ext cx="5707380" cy="26035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考虑排量变化的裂缝扩展事件识别流程</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2" name="文本框 11"/>
          <p:cNvSpPr txBox="1"/>
          <p:nvPr/>
        </p:nvSpPr>
        <p:spPr>
          <a:xfrm>
            <a:off x="5780405" y="6076950"/>
            <a:ext cx="6327140" cy="26035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裂缝扩展事件识别结果示意图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9" name="图片 8" descr="图片2"/>
          <p:cNvPicPr>
            <a:picLocks noChangeAspect="1"/>
          </p:cNvPicPr>
          <p:nvPr/>
        </p:nvPicPr>
        <p:blipFill>
          <a:blip r:embed="rId1"/>
          <a:stretch>
            <a:fillRect/>
          </a:stretch>
        </p:blipFill>
        <p:spPr>
          <a:xfrm>
            <a:off x="5781040" y="3152775"/>
            <a:ext cx="6326505" cy="2419350"/>
          </a:xfrm>
          <a:prstGeom prst="rect">
            <a:avLst/>
          </a:prstGeom>
        </p:spPr>
      </p:pic>
      <p:pic>
        <p:nvPicPr>
          <p:cNvPr id="10" name="图片 9" descr="图片3"/>
          <p:cNvPicPr>
            <a:picLocks noChangeAspect="1"/>
          </p:cNvPicPr>
          <p:nvPr/>
        </p:nvPicPr>
        <p:blipFill>
          <a:blip r:embed="rId2"/>
          <a:stretch>
            <a:fillRect/>
          </a:stretch>
        </p:blipFill>
        <p:spPr>
          <a:xfrm>
            <a:off x="73660" y="2934970"/>
            <a:ext cx="5706745" cy="2637155"/>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sym typeface="+mn-ea"/>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452183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砂浓度变化对压力的影响主要通过改变</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流体的表观粘度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和改变</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井筒摩阻</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携砂液在井筒内的流动速度：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井口砂浓度变化后传输到井底的时间为：</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井底的压力波动传回井口的时间为：</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砂浓度变化响应时延计算方式如下：</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对象 -2147482566"/>
          <p:cNvGraphicFramePr>
            <a:graphicFrameLocks noChangeAspect="1"/>
          </p:cNvGraphicFramePr>
          <p:nvPr/>
        </p:nvGraphicFramePr>
        <p:xfrm>
          <a:off x="1586230" y="2225675"/>
          <a:ext cx="1616710" cy="608330"/>
        </p:xfrm>
        <a:graphic>
          <a:graphicData uri="http://schemas.openxmlformats.org/presentationml/2006/ole">
            <mc:AlternateContent xmlns:mc="http://schemas.openxmlformats.org/markup-compatibility/2006">
              <mc:Choice xmlns:v="urn:schemas-microsoft-com:vml" Requires="v">
                <p:oleObj spid="_x0000_s5" name="" r:id="rId1" imgW="1040765" imgH="393700" progId="Equation.DSMT4">
                  <p:embed/>
                </p:oleObj>
              </mc:Choice>
              <mc:Fallback>
                <p:oleObj name="" r:id="rId1" imgW="1040765" imgH="393700" progId="Equation.DSMT4">
                  <p:embed/>
                  <p:pic>
                    <p:nvPicPr>
                      <p:cNvPr id="0" name="图片 3075"/>
                      <p:cNvPicPr/>
                      <p:nvPr/>
                    </p:nvPicPr>
                    <p:blipFill>
                      <a:blip r:embed="rId2"/>
                      <a:stretch>
                        <a:fillRect/>
                      </a:stretch>
                    </p:blipFill>
                    <p:spPr>
                      <a:xfrm>
                        <a:off x="1586230" y="2225675"/>
                        <a:ext cx="1616710" cy="608330"/>
                      </a:xfrm>
                      <a:prstGeom prst="rect">
                        <a:avLst/>
                      </a:prstGeom>
                      <a:noFill/>
                      <a:ln w="38100">
                        <a:noFill/>
                        <a:miter/>
                      </a:ln>
                    </p:spPr>
                  </p:pic>
                </p:oleObj>
              </mc:Fallback>
            </mc:AlternateContent>
          </a:graphicData>
        </a:graphic>
      </p:graphicFrame>
      <p:graphicFrame>
        <p:nvGraphicFramePr>
          <p:cNvPr id="6" name="对象 -2147482561"/>
          <p:cNvGraphicFramePr>
            <a:graphicFrameLocks noChangeAspect="1"/>
          </p:cNvGraphicFramePr>
          <p:nvPr/>
        </p:nvGraphicFramePr>
        <p:xfrm>
          <a:off x="1586230" y="3312160"/>
          <a:ext cx="1779905" cy="634365"/>
        </p:xfrm>
        <a:graphic>
          <a:graphicData uri="http://schemas.openxmlformats.org/presentationml/2006/ole">
            <mc:AlternateContent xmlns:mc="http://schemas.openxmlformats.org/markup-compatibility/2006">
              <mc:Choice xmlns:v="urn:schemas-microsoft-com:vml" Requires="v">
                <p:oleObj spid="_x0000_s7" name="" r:id="rId3" imgW="1282700" imgH="457200" progId="Equation.DSMT4">
                  <p:embed/>
                </p:oleObj>
              </mc:Choice>
              <mc:Fallback>
                <p:oleObj name="" r:id="rId3" imgW="1282700" imgH="457200" progId="Equation.DSMT4">
                  <p:embed/>
                  <p:pic>
                    <p:nvPicPr>
                      <p:cNvPr id="0" name="图片 2"/>
                      <p:cNvPicPr/>
                      <p:nvPr/>
                    </p:nvPicPr>
                    <p:blipFill>
                      <a:blip r:embed="rId4"/>
                      <a:stretch>
                        <a:fillRect/>
                      </a:stretch>
                    </p:blipFill>
                    <p:spPr>
                      <a:xfrm>
                        <a:off x="1586230" y="3312160"/>
                        <a:ext cx="1779905" cy="634365"/>
                      </a:xfrm>
                      <a:prstGeom prst="rect">
                        <a:avLst/>
                      </a:prstGeom>
                      <a:noFill/>
                      <a:ln w="38100">
                        <a:noFill/>
                        <a:miter/>
                      </a:ln>
                    </p:spPr>
                  </p:pic>
                </p:oleObj>
              </mc:Fallback>
            </mc:AlternateContent>
          </a:graphicData>
        </a:graphic>
      </p:graphicFrame>
      <p:graphicFrame>
        <p:nvGraphicFramePr>
          <p:cNvPr id="8" name="对象 -2147482558"/>
          <p:cNvGraphicFramePr>
            <a:graphicFrameLocks noChangeAspect="1"/>
          </p:cNvGraphicFramePr>
          <p:nvPr/>
        </p:nvGraphicFramePr>
        <p:xfrm>
          <a:off x="1936115" y="4424680"/>
          <a:ext cx="916940" cy="610870"/>
        </p:xfrm>
        <a:graphic>
          <a:graphicData uri="http://schemas.openxmlformats.org/presentationml/2006/ole">
            <mc:AlternateContent xmlns:mc="http://schemas.openxmlformats.org/markup-compatibility/2006">
              <mc:Choice xmlns:v="urn:schemas-microsoft-com:vml" Requires="v">
                <p:oleObj spid="_x0000_s9" name="" r:id="rId5" imgW="596900" imgH="393700" progId="Equation.DSMT4">
                  <p:embed/>
                </p:oleObj>
              </mc:Choice>
              <mc:Fallback>
                <p:oleObj name="" r:id="rId5" imgW="596900" imgH="393700" progId="Equation.DSMT4">
                  <p:embed/>
                  <p:pic>
                    <p:nvPicPr>
                      <p:cNvPr id="0" name="图片 4"/>
                      <p:cNvPicPr/>
                      <p:nvPr/>
                    </p:nvPicPr>
                    <p:blipFill>
                      <a:blip r:embed="rId6"/>
                      <a:stretch>
                        <a:fillRect/>
                      </a:stretch>
                    </p:blipFill>
                    <p:spPr>
                      <a:xfrm>
                        <a:off x="1936115" y="4424680"/>
                        <a:ext cx="916940" cy="610870"/>
                      </a:xfrm>
                      <a:prstGeom prst="rect">
                        <a:avLst/>
                      </a:prstGeom>
                      <a:noFill/>
                      <a:ln w="38100">
                        <a:noFill/>
                        <a:miter/>
                      </a:ln>
                    </p:spPr>
                  </p:pic>
                </p:oleObj>
              </mc:Fallback>
            </mc:AlternateContent>
          </a:graphicData>
        </a:graphic>
      </p:graphicFrame>
      <p:graphicFrame>
        <p:nvGraphicFramePr>
          <p:cNvPr id="10" name="对象 -2147482556"/>
          <p:cNvGraphicFramePr>
            <a:graphicFrameLocks noChangeAspect="1"/>
          </p:cNvGraphicFramePr>
          <p:nvPr/>
        </p:nvGraphicFramePr>
        <p:xfrm>
          <a:off x="991870" y="5488305"/>
          <a:ext cx="3037840" cy="702310"/>
        </p:xfrm>
        <a:graphic>
          <a:graphicData uri="http://schemas.openxmlformats.org/presentationml/2006/ole">
            <mc:AlternateContent xmlns:mc="http://schemas.openxmlformats.org/markup-compatibility/2006">
              <mc:Choice xmlns:v="urn:schemas-microsoft-com:vml" Requires="v">
                <p:oleObj spid="_x0000_s11" name="" r:id="rId7" imgW="1917065" imgH="444500" progId="Equation.DSMT4">
                  <p:embed/>
                </p:oleObj>
              </mc:Choice>
              <mc:Fallback>
                <p:oleObj name="" r:id="rId7" imgW="1917065" imgH="444500" progId="Equation.DSMT4">
                  <p:embed/>
                  <p:pic>
                    <p:nvPicPr>
                      <p:cNvPr id="0" name="图片 6"/>
                      <p:cNvPicPr/>
                      <p:nvPr/>
                    </p:nvPicPr>
                    <p:blipFill>
                      <a:blip r:embed="rId8"/>
                      <a:stretch>
                        <a:fillRect/>
                      </a:stretch>
                    </p:blipFill>
                    <p:spPr>
                      <a:xfrm>
                        <a:off x="991870" y="5488305"/>
                        <a:ext cx="3037840" cy="702310"/>
                      </a:xfrm>
                      <a:prstGeom prst="rect">
                        <a:avLst/>
                      </a:prstGeom>
                      <a:noFill/>
                      <a:ln w="38100">
                        <a:noFill/>
                        <a:miter/>
                      </a:ln>
                    </p:spPr>
                  </p:pic>
                </p:oleObj>
              </mc:Fallback>
            </mc:AlternateContent>
          </a:graphicData>
        </a:graphic>
      </p:graphicFrame>
      <p:pic>
        <p:nvPicPr>
          <p:cNvPr id="12" name="图片 12" descr="泸203井区H8平台2井第1段施工-截砂浓度影响范围"/>
          <p:cNvPicPr>
            <a:picLocks noChangeAspect="1"/>
          </p:cNvPicPr>
          <p:nvPr/>
        </p:nvPicPr>
        <p:blipFill>
          <a:blip r:embed="rId9"/>
          <a:stretch>
            <a:fillRect/>
          </a:stretch>
        </p:blipFill>
        <p:spPr>
          <a:xfrm>
            <a:off x="4556125" y="2315210"/>
            <a:ext cx="7264400" cy="3632200"/>
          </a:xfrm>
          <a:prstGeom prst="rect">
            <a:avLst/>
          </a:prstGeom>
        </p:spPr>
      </p:pic>
      <p:sp>
        <p:nvSpPr>
          <p:cNvPr id="13" name="文本框 12"/>
          <p:cNvSpPr txBox="1"/>
          <p:nvPr/>
        </p:nvSpPr>
        <p:spPr>
          <a:xfrm>
            <a:off x="4555490" y="6097270"/>
            <a:ext cx="7265670" cy="26035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考虑砂浓度变化响应的裂缝扩展事件误判剔除机制示意图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4" name="矩形 13"/>
          <p:cNvSpPr/>
          <p:nvPr/>
        </p:nvSpPr>
        <p:spPr>
          <a:xfrm>
            <a:off x="371475" y="811530"/>
            <a:ext cx="1131443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、基于压力、排量、砂浓度小波能量响应规律，</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结合微地震监测结果</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校验，确立裂缝扩展事件筛选标准</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51118"/>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sym typeface="+mn-ea"/>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56718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0"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如泸</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段所示，</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橙色虚线代表微地震监测得到的事件点，共</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点代表传统方法识别得到的裂缝扩展事件，共</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点代表考虑压力传导时延后仍然保留的裂缝扩展事件，共</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点代表考虑压力传导时延与支撑剂浓度变化响应后仍然保留的裂缝扩展事件，共</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 </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7" name="图片 7" descr="图片1"/>
          <p:cNvPicPr>
            <a:picLocks noChangeAspect="1"/>
          </p:cNvPicPr>
          <p:nvPr/>
        </p:nvPicPr>
        <p:blipFill>
          <a:blip r:embed="rId1"/>
          <a:stretch>
            <a:fillRect/>
          </a:stretch>
        </p:blipFill>
        <p:spPr>
          <a:xfrm>
            <a:off x="799465" y="1873311"/>
            <a:ext cx="180000" cy="180000"/>
          </a:xfrm>
          <a:prstGeom prst="rect">
            <a:avLst/>
          </a:prstGeom>
        </p:spPr>
      </p:pic>
      <p:pic>
        <p:nvPicPr>
          <p:cNvPr id="9" name="图片 9" descr="图片2"/>
          <p:cNvPicPr>
            <a:picLocks noChangeAspect="1"/>
          </p:cNvPicPr>
          <p:nvPr/>
        </p:nvPicPr>
        <p:blipFill>
          <a:blip r:embed="rId2"/>
          <a:stretch>
            <a:fillRect/>
          </a:stretch>
        </p:blipFill>
        <p:spPr>
          <a:xfrm>
            <a:off x="799465" y="2248249"/>
            <a:ext cx="180000" cy="180000"/>
          </a:xfrm>
          <a:prstGeom prst="rect">
            <a:avLst/>
          </a:prstGeom>
        </p:spPr>
      </p:pic>
      <p:pic>
        <p:nvPicPr>
          <p:cNvPr id="10" name="图片 10" descr="图片3"/>
          <p:cNvPicPr>
            <a:picLocks noChangeAspect="1"/>
          </p:cNvPicPr>
          <p:nvPr/>
        </p:nvPicPr>
        <p:blipFill>
          <a:blip r:embed="rId3"/>
          <a:stretch>
            <a:fillRect/>
          </a:stretch>
        </p:blipFill>
        <p:spPr>
          <a:xfrm>
            <a:off x="799465" y="2623185"/>
            <a:ext cx="180000" cy="180000"/>
          </a:xfrm>
          <a:prstGeom prst="rect">
            <a:avLst/>
          </a:prstGeom>
        </p:spPr>
      </p:pic>
      <p:pic>
        <p:nvPicPr>
          <p:cNvPr id="12" name="图片 11" descr="泸203井区H8平台2井第1段施工"/>
          <p:cNvPicPr>
            <a:picLocks noChangeAspect="1"/>
          </p:cNvPicPr>
          <p:nvPr/>
        </p:nvPicPr>
        <p:blipFill>
          <a:blip r:embed="rId4"/>
          <a:stretch>
            <a:fillRect/>
          </a:stretch>
        </p:blipFill>
        <p:spPr>
          <a:xfrm>
            <a:off x="429895" y="2968625"/>
            <a:ext cx="11389995" cy="3416935"/>
          </a:xfrm>
          <a:prstGeom prst="rect">
            <a:avLst/>
          </a:prstGeom>
        </p:spPr>
      </p:pic>
      <p:sp>
        <p:nvSpPr>
          <p:cNvPr id="3" name="矩形 2"/>
          <p:cNvSpPr/>
          <p:nvPr/>
        </p:nvSpPr>
        <p:spPr>
          <a:xfrm>
            <a:off x="371475" y="811530"/>
            <a:ext cx="1131443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、基于压力、排量、砂浓度小波能量响应规律，</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结合微地震监测结果</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校验，确立裂缝扩展事件筛选标准</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51118"/>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sym typeface="+mn-ea"/>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56718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0"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如泸</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段所示，</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橙色虚线代表微地震监测得到的事件点，共</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点代表传统方法识别得到的裂缝扩展事件，共</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点代表考虑压力传导时延后仍然保留的裂缝扩展事件，共</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点代表考虑压力传导时延与支撑剂浓度变化响应后仍然保留的裂缝扩展事件，共</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 </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 name="表格 5"/>
          <p:cNvGraphicFramePr/>
          <p:nvPr>
            <p:custDataLst>
              <p:tags r:id="rId1"/>
            </p:custDataLst>
          </p:nvPr>
        </p:nvGraphicFramePr>
        <p:xfrm>
          <a:off x="430530" y="2964688"/>
          <a:ext cx="11343005" cy="3178048"/>
        </p:xfrm>
        <a:graphic>
          <a:graphicData uri="http://schemas.openxmlformats.org/drawingml/2006/table">
            <a:tbl>
              <a:tblPr firstRow="1" bandRow="1">
                <a:tableStyleId>{C26BC3A4-E4F5-41A5-BAB4-3147584A4A20}</a:tableStyleId>
              </a:tblPr>
              <a:tblGrid>
                <a:gridCol w="3277235"/>
                <a:gridCol w="2230120"/>
                <a:gridCol w="1760220"/>
                <a:gridCol w="1358265"/>
                <a:gridCol w="1358900"/>
                <a:gridCol w="1358265"/>
              </a:tblGrid>
              <a:tr h="647700">
                <a:tc>
                  <a:txBody>
                    <a:bodyPr/>
                    <a:lstStyle/>
                    <a:p>
                      <a:pPr marL="0" indent="0" algn="ctr" eaLnBrk="0" fontAlgn="ctr" hangingPunct="0">
                        <a:lnSpc>
                          <a:spcPct val="120000"/>
                        </a:lnSpc>
                        <a:spcBef>
                          <a:spcPct val="0"/>
                        </a:spcBef>
                        <a:spcAft>
                          <a:spcPct val="0"/>
                        </a:spcAft>
                      </a:pPr>
                      <a:r>
                        <a:rPr lang="zh-CN" sz="1600" spc="130" dirty="0">
                          <a:solidFill>
                            <a:schemeClr val="bg1"/>
                          </a:solidFill>
                          <a:latin typeface="微软雅黑" panose="020B0503020204020204" pitchFamily="34" charset="-122"/>
                          <a:ea typeface="微软雅黑" panose="020B0503020204020204" pitchFamily="34" charset="-122"/>
                        </a:rPr>
                        <a:t>方法</a:t>
                      </a:r>
                      <a:endParaRPr lang="zh-CN" sz="1600" spc="130" dirty="0">
                        <a:solidFill>
                          <a:schemeClr val="bg1"/>
                        </a:solidFill>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marL="0" indent="0" algn="ctr" eaLnBrk="0" fontAlgn="ctr" hangingPunct="0">
                        <a:lnSpc>
                          <a:spcPct val="120000"/>
                        </a:lnSpc>
                        <a:spcBef>
                          <a:spcPct val="0"/>
                        </a:spcBef>
                        <a:spcAft>
                          <a:spcPct val="0"/>
                        </a:spcAft>
                      </a:pPr>
                      <a:r>
                        <a:rPr lang="zh-CN" sz="1600" spc="130" dirty="0">
                          <a:solidFill>
                            <a:schemeClr val="bg1"/>
                          </a:solidFill>
                          <a:latin typeface="微软雅黑" panose="020B0503020204020204" pitchFamily="34" charset="-122"/>
                          <a:ea typeface="微软雅黑" panose="020B0503020204020204" pitchFamily="34" charset="-122"/>
                        </a:rPr>
                        <a:t>裂缝扩展事件数</a:t>
                      </a:r>
                      <a:endParaRPr lang="zh-CN" sz="1600" spc="130" dirty="0">
                        <a:solidFill>
                          <a:schemeClr val="bg1"/>
                        </a:solidFill>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marL="0" indent="0" algn="ctr" eaLnBrk="0" fontAlgn="ctr" hangingPunct="0">
                        <a:lnSpc>
                          <a:spcPct val="120000"/>
                        </a:lnSpc>
                        <a:spcBef>
                          <a:spcPct val="0"/>
                        </a:spcBef>
                        <a:spcAft>
                          <a:spcPct val="0"/>
                        </a:spcAft>
                      </a:pPr>
                      <a:r>
                        <a:rPr lang="zh-CN" sz="1600" spc="130" dirty="0">
                          <a:solidFill>
                            <a:schemeClr val="bg1"/>
                          </a:solidFill>
                          <a:latin typeface="微软雅黑" panose="020B0503020204020204" pitchFamily="34" charset="-122"/>
                          <a:ea typeface="微软雅黑" panose="020B0503020204020204" pitchFamily="34" charset="-122"/>
                        </a:rPr>
                        <a:t>正确识别数</a:t>
                      </a:r>
                      <a:endParaRPr lang="zh-CN" sz="1600" spc="130" dirty="0">
                        <a:solidFill>
                          <a:schemeClr val="bg1"/>
                        </a:solidFill>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marL="0" indent="0" algn="ctr" eaLnBrk="0" fontAlgn="ctr" hangingPunct="0">
                        <a:lnSpc>
                          <a:spcPct val="120000"/>
                        </a:lnSpc>
                        <a:spcBef>
                          <a:spcPct val="0"/>
                        </a:spcBef>
                        <a:spcAft>
                          <a:spcPct val="0"/>
                        </a:spcAft>
                      </a:pPr>
                      <a:r>
                        <a:rPr lang="zh-CN" sz="1600" spc="130" dirty="0">
                          <a:solidFill>
                            <a:schemeClr val="bg1"/>
                          </a:solidFill>
                          <a:latin typeface="微软雅黑" panose="020B0503020204020204" pitchFamily="34" charset="-122"/>
                          <a:ea typeface="微软雅黑" panose="020B0503020204020204" pitchFamily="34" charset="-122"/>
                        </a:rPr>
                        <a:t>误判数</a:t>
                      </a:r>
                      <a:endParaRPr lang="zh-CN" sz="1600" spc="130" dirty="0">
                        <a:solidFill>
                          <a:schemeClr val="bg1"/>
                        </a:solidFill>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marL="0" indent="0" algn="ctr" eaLnBrk="0" fontAlgn="ctr" hangingPunct="0">
                        <a:lnSpc>
                          <a:spcPct val="120000"/>
                        </a:lnSpc>
                        <a:spcBef>
                          <a:spcPct val="0"/>
                        </a:spcBef>
                        <a:spcAft>
                          <a:spcPct val="0"/>
                        </a:spcAft>
                      </a:pPr>
                      <a:r>
                        <a:rPr lang="zh-CN" sz="1600" spc="130" dirty="0">
                          <a:solidFill>
                            <a:schemeClr val="bg1"/>
                          </a:solidFill>
                          <a:latin typeface="微软雅黑" panose="020B0503020204020204" pitchFamily="34" charset="-122"/>
                          <a:ea typeface="微软雅黑" panose="020B0503020204020204" pitchFamily="34" charset="-122"/>
                        </a:rPr>
                        <a:t>准确率</a:t>
                      </a:r>
                      <a:endParaRPr lang="zh-CN" sz="1600" spc="130" dirty="0">
                        <a:solidFill>
                          <a:schemeClr val="bg1"/>
                        </a:solidFill>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marL="0" indent="0" algn="ctr" eaLnBrk="0" fontAlgn="ctr" hangingPunct="0">
                        <a:lnSpc>
                          <a:spcPct val="120000"/>
                        </a:lnSpc>
                        <a:spcBef>
                          <a:spcPct val="0"/>
                        </a:spcBef>
                        <a:spcAft>
                          <a:spcPct val="0"/>
                        </a:spcAft>
                      </a:pPr>
                      <a:r>
                        <a:rPr lang="zh-CN" sz="1600" spc="130" dirty="0">
                          <a:solidFill>
                            <a:schemeClr val="bg1"/>
                          </a:solidFill>
                          <a:latin typeface="微软雅黑" panose="020B0503020204020204" pitchFamily="34" charset="-122"/>
                          <a:ea typeface="微软雅黑" panose="020B0503020204020204" pitchFamily="34" charset="-122"/>
                        </a:rPr>
                        <a:t>误判率</a:t>
                      </a:r>
                      <a:endParaRPr lang="zh-CN" sz="1600" spc="130" dirty="0">
                        <a:solidFill>
                          <a:schemeClr val="bg1"/>
                        </a:solidFill>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647700">
                <a:tc>
                  <a:txBody>
                    <a:bodyPr/>
                    <a:lstStyle/>
                    <a:p>
                      <a:pPr marL="0" indent="0" algn="ctr" eaLnBrk="0" fontAlgn="ctr" hangingPunct="0">
                        <a:lnSpc>
                          <a:spcPct val="120000"/>
                        </a:lnSpc>
                        <a:spcBef>
                          <a:spcPct val="0"/>
                        </a:spcBef>
                        <a:spcAft>
                          <a:spcPct val="0"/>
                        </a:spcAft>
                      </a:pPr>
                      <a:r>
                        <a:rPr lang="zh-CN" sz="1600" dirty="0">
                          <a:latin typeface="微软雅黑" panose="020B0503020204020204" pitchFamily="34" charset="-122"/>
                          <a:ea typeface="微软雅黑" panose="020B0503020204020204" pitchFamily="34" charset="-122"/>
                        </a:rPr>
                        <a:t>传统方法</a:t>
                      </a:r>
                      <a:endParaRPr lang="zh-CN" sz="1600" dirty="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ctr" eaLnBrk="0" fontAlgn="ctr" hangingPunct="0">
                        <a:lnSpc>
                          <a:spcPct val="120000"/>
                        </a:lnSpc>
                        <a:spcBef>
                          <a:spcPct val="0"/>
                        </a:spcBef>
                        <a:spcAft>
                          <a:spcPct val="0"/>
                        </a:spcAft>
                      </a:pPr>
                      <a:r>
                        <a:rPr lang="en-US" altLang="zh-CN" sz="1600">
                          <a:latin typeface="微软雅黑" panose="020B0503020204020204" pitchFamily="34" charset="-122"/>
                          <a:ea typeface="微软雅黑" panose="020B0503020204020204" pitchFamily="34" charset="-122"/>
                        </a:rPr>
                        <a:t>45</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ctr" eaLnBrk="0" fontAlgn="ctr" hangingPunct="0">
                        <a:lnSpc>
                          <a:spcPct val="120000"/>
                        </a:lnSpc>
                        <a:spcBef>
                          <a:spcPct val="0"/>
                        </a:spcBef>
                        <a:spcAft>
                          <a:spcPct val="0"/>
                        </a:spcAft>
                      </a:pPr>
                      <a:r>
                        <a:rPr lang="en-US" altLang="zh-CN" sz="1600">
                          <a:latin typeface="微软雅黑" panose="020B0503020204020204" pitchFamily="34" charset="-122"/>
                          <a:ea typeface="微软雅黑" panose="020B0503020204020204" pitchFamily="34" charset="-122"/>
                        </a:rPr>
                        <a:t>25</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ctr" eaLnBrk="0" fontAlgn="ctr" hangingPunct="0">
                        <a:lnSpc>
                          <a:spcPct val="120000"/>
                        </a:lnSpc>
                        <a:spcBef>
                          <a:spcPct val="0"/>
                        </a:spcBef>
                        <a:spcAft>
                          <a:spcPct val="0"/>
                        </a:spcAft>
                      </a:pPr>
                      <a:r>
                        <a:rPr lang="en-US" altLang="zh-CN" sz="1600">
                          <a:latin typeface="微软雅黑" panose="020B0503020204020204" pitchFamily="34" charset="-122"/>
                          <a:ea typeface="微软雅黑" panose="020B0503020204020204" pitchFamily="34" charset="-122"/>
                        </a:rPr>
                        <a:t>20</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pPr>
                      <a:r>
                        <a:rPr lang="en-US" altLang="zh-CN" sz="1600">
                          <a:latin typeface="微软雅黑" panose="020B0503020204020204" pitchFamily="34" charset="-122"/>
                          <a:ea typeface="微软雅黑" panose="020B0503020204020204" pitchFamily="34" charset="-122"/>
                        </a:rPr>
                        <a:t>55.56%</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pPr>
                      <a:r>
                        <a:rPr lang="en-US" altLang="zh-CN" sz="1600">
                          <a:latin typeface="微软雅黑" panose="020B0503020204020204" pitchFamily="34" charset="-122"/>
                          <a:ea typeface="微软雅黑" panose="020B0503020204020204" pitchFamily="34" charset="-122"/>
                        </a:rPr>
                        <a:t>44.44%</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939800">
                <a:tc>
                  <a:txBody>
                    <a:bodyPr/>
                    <a:lstStyle/>
                    <a:p>
                      <a:pPr marL="0" indent="0" algn="ctr" eaLnBrk="0" fontAlgn="ctr" hangingPunct="0">
                        <a:lnSpc>
                          <a:spcPct val="120000"/>
                        </a:lnSpc>
                        <a:spcBef>
                          <a:spcPct val="0"/>
                        </a:spcBef>
                        <a:spcAft>
                          <a:spcPct val="0"/>
                        </a:spcAft>
                      </a:pPr>
                      <a:r>
                        <a:rPr lang="zh-CN" sz="1600" dirty="0">
                          <a:latin typeface="微软雅黑" panose="020B0503020204020204" pitchFamily="34" charset="-122"/>
                          <a:ea typeface="微软雅黑" panose="020B0503020204020204" pitchFamily="34" charset="-122"/>
                        </a:rPr>
                        <a:t>仅考虑压力</a:t>
                      </a:r>
                      <a:endParaRPr lang="zh-CN" sz="1600" dirty="0">
                        <a:latin typeface="微软雅黑" panose="020B0503020204020204" pitchFamily="34" charset="-122"/>
                        <a:ea typeface="微软雅黑" panose="020B0503020204020204" pitchFamily="34" charset="-122"/>
                      </a:endParaRPr>
                    </a:p>
                    <a:p>
                      <a:pPr marL="0" indent="0" algn="ctr" eaLnBrk="0" fontAlgn="ctr" hangingPunct="0">
                        <a:lnSpc>
                          <a:spcPct val="120000"/>
                        </a:lnSpc>
                        <a:spcBef>
                          <a:spcPct val="0"/>
                        </a:spcBef>
                        <a:spcAft>
                          <a:spcPct val="0"/>
                        </a:spcAft>
                      </a:pPr>
                      <a:r>
                        <a:rPr lang="zh-CN" sz="1600" dirty="0">
                          <a:latin typeface="微软雅黑" panose="020B0503020204020204" pitchFamily="34" charset="-122"/>
                          <a:ea typeface="微软雅黑" panose="020B0503020204020204" pitchFamily="34" charset="-122"/>
                        </a:rPr>
                        <a:t>传导时延</a:t>
                      </a:r>
                      <a:endParaRPr lang="zh-CN" sz="1600" dirty="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ctr" eaLnBrk="0" fontAlgn="ctr" hangingPunct="0">
                        <a:lnSpc>
                          <a:spcPct val="120000"/>
                        </a:lnSpc>
                        <a:spcBef>
                          <a:spcPct val="0"/>
                        </a:spcBef>
                        <a:spcAft>
                          <a:spcPct val="0"/>
                        </a:spcAft>
                      </a:pPr>
                      <a:r>
                        <a:rPr lang="en-US" altLang="zh-CN" sz="1600">
                          <a:latin typeface="微软雅黑" panose="020B0503020204020204" pitchFamily="34" charset="-122"/>
                          <a:ea typeface="微软雅黑" panose="020B0503020204020204" pitchFamily="34" charset="-122"/>
                        </a:rPr>
                        <a:t>39</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ctr" eaLnBrk="0" fontAlgn="ctr" hangingPunct="0">
                        <a:lnSpc>
                          <a:spcPct val="120000"/>
                        </a:lnSpc>
                        <a:spcBef>
                          <a:spcPct val="0"/>
                        </a:spcBef>
                        <a:spcAft>
                          <a:spcPct val="0"/>
                        </a:spcAft>
                      </a:pPr>
                      <a:r>
                        <a:rPr lang="en-US" altLang="zh-CN" sz="1600">
                          <a:latin typeface="微软雅黑" panose="020B0503020204020204" pitchFamily="34" charset="-122"/>
                          <a:ea typeface="微软雅黑" panose="020B0503020204020204" pitchFamily="34" charset="-122"/>
                        </a:rPr>
                        <a:t>23</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ctr" eaLnBrk="0" fontAlgn="ctr" hangingPunct="0">
                        <a:lnSpc>
                          <a:spcPct val="120000"/>
                        </a:lnSpc>
                        <a:spcBef>
                          <a:spcPct val="0"/>
                        </a:spcBef>
                        <a:spcAft>
                          <a:spcPct val="0"/>
                        </a:spcAft>
                      </a:pPr>
                      <a:r>
                        <a:rPr lang="en-US" altLang="zh-CN" sz="1600">
                          <a:latin typeface="微软雅黑" panose="020B0503020204020204" pitchFamily="34" charset="-122"/>
                          <a:ea typeface="微软雅黑" panose="020B0503020204020204" pitchFamily="34" charset="-122"/>
                        </a:rPr>
                        <a:t>16</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pPr>
                      <a:r>
                        <a:rPr lang="en-US" altLang="zh-CN" sz="1600">
                          <a:latin typeface="微软雅黑" panose="020B0503020204020204" pitchFamily="34" charset="-122"/>
                          <a:ea typeface="微软雅黑" panose="020B0503020204020204" pitchFamily="34" charset="-122"/>
                        </a:rPr>
                        <a:t>58.97%</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pPr>
                      <a:r>
                        <a:rPr lang="en-US" altLang="zh-CN" sz="1600">
                          <a:latin typeface="微软雅黑" panose="020B0503020204020204" pitchFamily="34" charset="-122"/>
                          <a:ea typeface="微软雅黑" panose="020B0503020204020204" pitchFamily="34" charset="-122"/>
                        </a:rPr>
                        <a:t>41.03%</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939800">
                <a:tc>
                  <a:txBody>
                    <a:bodyPr/>
                    <a:lstStyle/>
                    <a:p>
                      <a:pPr marL="0" indent="0" algn="ctr" eaLnBrk="0" fontAlgn="ctr" hangingPunct="0">
                        <a:lnSpc>
                          <a:spcPct val="120000"/>
                        </a:lnSpc>
                        <a:spcBef>
                          <a:spcPct val="0"/>
                        </a:spcBef>
                        <a:spcAft>
                          <a:spcPct val="0"/>
                        </a:spcAft>
                      </a:pPr>
                      <a:r>
                        <a:rPr lang="zh-CN" sz="1600">
                          <a:latin typeface="微软雅黑" panose="020B0503020204020204" pitchFamily="34" charset="-122"/>
                          <a:ea typeface="微软雅黑" panose="020B0503020204020204" pitchFamily="34" charset="-122"/>
                        </a:rPr>
                        <a:t>考虑压力传导时延与</a:t>
                      </a:r>
                      <a:endParaRPr lang="zh-CN" sz="1600">
                        <a:latin typeface="微软雅黑" panose="020B0503020204020204" pitchFamily="34" charset="-122"/>
                        <a:ea typeface="微软雅黑" panose="020B0503020204020204" pitchFamily="34" charset="-122"/>
                      </a:endParaRPr>
                    </a:p>
                    <a:p>
                      <a:pPr marL="0" indent="0" algn="ctr" eaLnBrk="0" fontAlgn="ctr" hangingPunct="0">
                        <a:lnSpc>
                          <a:spcPct val="120000"/>
                        </a:lnSpc>
                        <a:spcBef>
                          <a:spcPct val="0"/>
                        </a:spcBef>
                        <a:spcAft>
                          <a:spcPct val="0"/>
                        </a:spcAft>
                      </a:pPr>
                      <a:r>
                        <a:rPr lang="zh-CN" sz="1600">
                          <a:latin typeface="微软雅黑" panose="020B0503020204020204" pitchFamily="34" charset="-122"/>
                          <a:ea typeface="微软雅黑" panose="020B0503020204020204" pitchFamily="34" charset="-122"/>
                        </a:rPr>
                        <a:t>支撑剂浓度变化响应</a:t>
                      </a:r>
                      <a:endParaRPr 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ctr" eaLnBrk="0" fontAlgn="ctr" hangingPunct="0">
                        <a:lnSpc>
                          <a:spcPct val="120000"/>
                        </a:lnSpc>
                        <a:spcBef>
                          <a:spcPct val="0"/>
                        </a:spcBef>
                        <a:spcAft>
                          <a:spcPct val="0"/>
                        </a:spcAft>
                      </a:pPr>
                      <a:r>
                        <a:rPr lang="en-US" altLang="zh-CN" sz="1600">
                          <a:latin typeface="微软雅黑" panose="020B0503020204020204" pitchFamily="34" charset="-122"/>
                          <a:ea typeface="微软雅黑" panose="020B0503020204020204" pitchFamily="34" charset="-122"/>
                        </a:rPr>
                        <a:t>29</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ctr" eaLnBrk="0" fontAlgn="ctr" hangingPunct="0">
                        <a:lnSpc>
                          <a:spcPct val="120000"/>
                        </a:lnSpc>
                        <a:spcBef>
                          <a:spcPct val="0"/>
                        </a:spcBef>
                        <a:spcAft>
                          <a:spcPct val="0"/>
                        </a:spcAft>
                      </a:pPr>
                      <a:r>
                        <a:rPr lang="en-US" altLang="zh-CN" sz="1600">
                          <a:latin typeface="微软雅黑" panose="020B0503020204020204" pitchFamily="34" charset="-122"/>
                          <a:ea typeface="微软雅黑" panose="020B0503020204020204" pitchFamily="34" charset="-122"/>
                        </a:rPr>
                        <a:t>23</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ctr" eaLnBrk="0" fontAlgn="ctr" hangingPunct="0">
                        <a:lnSpc>
                          <a:spcPct val="120000"/>
                        </a:lnSpc>
                        <a:spcBef>
                          <a:spcPct val="0"/>
                        </a:spcBef>
                        <a:spcAft>
                          <a:spcPct val="0"/>
                        </a:spcAft>
                      </a:pPr>
                      <a:r>
                        <a:rPr lang="en-US" altLang="zh-CN" sz="1600">
                          <a:latin typeface="微软雅黑" panose="020B0503020204020204" pitchFamily="34" charset="-122"/>
                          <a:ea typeface="微软雅黑" panose="020B0503020204020204" pitchFamily="34" charset="-122"/>
                        </a:rPr>
                        <a:t>6</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pPr>
                      <a:r>
                        <a:rPr lang="en-US" altLang="zh-CN" sz="1600">
                          <a:latin typeface="微软雅黑" panose="020B0503020204020204" pitchFamily="34" charset="-122"/>
                          <a:ea typeface="微软雅黑" panose="020B0503020204020204" pitchFamily="34" charset="-122"/>
                        </a:rPr>
                        <a:t>79.31%</a:t>
                      </a:r>
                      <a:endParaRPr lang="en-US" altLang="zh-CN" sz="160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pPr>
                      <a:r>
                        <a:rPr lang="en-US" altLang="zh-CN" sz="1600" dirty="0">
                          <a:latin typeface="微软雅黑" panose="020B0503020204020204" pitchFamily="34" charset="-122"/>
                          <a:ea typeface="微软雅黑" panose="020B0503020204020204" pitchFamily="34" charset="-122"/>
                        </a:rPr>
                        <a:t>20.69%</a:t>
                      </a:r>
                      <a:endParaRPr lang="en-US" altLang="zh-CN" sz="1600" dirty="0">
                        <a:latin typeface="微软雅黑" panose="020B0503020204020204" pitchFamily="34" charset="-122"/>
                        <a:ea typeface="微软雅黑" panose="020B0503020204020204" pitchFamily="34" charset="-122"/>
                      </a:endParaRPr>
                    </a:p>
                  </a:txBody>
                  <a:tcPr marL="254000" marR="254000" marT="177800" marB="1778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pic>
        <p:nvPicPr>
          <p:cNvPr id="3" name="图片 7" descr="图片1"/>
          <p:cNvPicPr>
            <a:picLocks noChangeAspect="1"/>
          </p:cNvPicPr>
          <p:nvPr/>
        </p:nvPicPr>
        <p:blipFill>
          <a:blip r:embed="rId2"/>
          <a:stretch>
            <a:fillRect/>
          </a:stretch>
        </p:blipFill>
        <p:spPr>
          <a:xfrm>
            <a:off x="799465" y="1873311"/>
            <a:ext cx="180000" cy="180000"/>
          </a:xfrm>
          <a:prstGeom prst="rect">
            <a:avLst/>
          </a:prstGeom>
        </p:spPr>
      </p:pic>
      <p:pic>
        <p:nvPicPr>
          <p:cNvPr id="5" name="图片 9" descr="图片2"/>
          <p:cNvPicPr>
            <a:picLocks noChangeAspect="1"/>
          </p:cNvPicPr>
          <p:nvPr/>
        </p:nvPicPr>
        <p:blipFill>
          <a:blip r:embed="rId3"/>
          <a:stretch>
            <a:fillRect/>
          </a:stretch>
        </p:blipFill>
        <p:spPr>
          <a:xfrm>
            <a:off x="799465" y="2248249"/>
            <a:ext cx="180000" cy="180000"/>
          </a:xfrm>
          <a:prstGeom prst="rect">
            <a:avLst/>
          </a:prstGeom>
        </p:spPr>
      </p:pic>
      <p:pic>
        <p:nvPicPr>
          <p:cNvPr id="8" name="图片 10" descr="图片3"/>
          <p:cNvPicPr>
            <a:picLocks noChangeAspect="1"/>
          </p:cNvPicPr>
          <p:nvPr/>
        </p:nvPicPr>
        <p:blipFill>
          <a:blip r:embed="rId4"/>
          <a:stretch>
            <a:fillRect/>
          </a:stretch>
        </p:blipFill>
        <p:spPr>
          <a:xfrm>
            <a:off x="799465" y="2623185"/>
            <a:ext cx="180000" cy="180000"/>
          </a:xfrm>
          <a:prstGeom prst="rect">
            <a:avLst/>
          </a:prstGeom>
        </p:spPr>
      </p:pic>
      <p:sp>
        <p:nvSpPr>
          <p:cNvPr id="7" name="矩形 6"/>
          <p:cNvSpPr/>
          <p:nvPr/>
        </p:nvSpPr>
        <p:spPr>
          <a:xfrm>
            <a:off x="371475" y="811530"/>
            <a:ext cx="1131443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、基于压力、排量、砂浓度小波能量响应规律，</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结合微地震监测结果</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校验，确立裂缝扩展事件筛选标准</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基于小波能量响应频带与裂缝扩展特征，建立小波分析指标与井下事件关联关系</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267525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b="1" dirty="0">
                <a:cs typeface="微软雅黑" panose="020B0503020204020204" pitchFamily="34" charset="-122"/>
              </a:rPr>
              <a:t>①低分解等级裂缝扩展事件数量：</a:t>
            </a:r>
            <a:r>
              <a:rPr lang="zh-CN" altLang="en-US" sz="1600" dirty="0">
                <a:cs typeface="微软雅黑" panose="020B0503020204020204" pitchFamily="34" charset="-122"/>
              </a:rPr>
              <a:t>选取小波分解等级</a:t>
            </a:r>
            <a:r>
              <a:rPr lang="en-US" altLang="zh-CN" sz="1600" dirty="0">
                <a:cs typeface="微软雅黑" panose="020B0503020204020204" pitchFamily="34" charset="-122"/>
              </a:rPr>
              <a:t>1~5</a:t>
            </a:r>
            <a:r>
              <a:rPr lang="zh-CN" altLang="en-US" sz="1600" dirty="0">
                <a:cs typeface="微软雅黑" panose="020B0503020204020204" pitchFamily="34" charset="-122"/>
              </a:rPr>
              <a:t>级上检测到的裂缝扩展事件，此类事件的周期在</a:t>
            </a:r>
            <a:r>
              <a:rPr lang="en-US" altLang="zh-CN" sz="1600" dirty="0">
                <a:solidFill>
                  <a:srgbClr val="FF0000"/>
                </a:solidFill>
                <a:cs typeface="微软雅黑" panose="020B0503020204020204" pitchFamily="34" charset="-122"/>
              </a:rPr>
              <a:t>1</a:t>
            </a:r>
            <a:r>
              <a:rPr lang="zh-CN" altLang="en-US" sz="1600" dirty="0">
                <a:solidFill>
                  <a:srgbClr val="FF0000"/>
                </a:solidFill>
                <a:cs typeface="微软雅黑" panose="020B0503020204020204" pitchFamily="34" charset="-122"/>
              </a:rPr>
              <a:t>秒</a:t>
            </a:r>
            <a:r>
              <a:rPr lang="en-US" altLang="zh-CN" sz="1600" dirty="0">
                <a:solidFill>
                  <a:srgbClr val="FF0000"/>
                </a:solidFill>
                <a:cs typeface="微软雅黑" panose="020B0503020204020204" pitchFamily="34" charset="-122"/>
              </a:rPr>
              <a:t>~1</a:t>
            </a:r>
            <a:r>
              <a:rPr lang="zh-CN" altLang="en-US" sz="1600" dirty="0">
                <a:solidFill>
                  <a:srgbClr val="FF0000"/>
                </a:solidFill>
                <a:cs typeface="微软雅黑" panose="020B0503020204020204" pitchFamily="34" charset="-122"/>
                <a:sym typeface="+mn-ea"/>
              </a:rPr>
              <a:t>分钟</a:t>
            </a:r>
            <a:endParaRPr lang="zh-CN" altLang="en-US" sz="1600" dirty="0">
              <a:cs typeface="微软雅黑" panose="020B0503020204020204" pitchFamily="34" charset="-122"/>
            </a:endParaRPr>
          </a:p>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rPr>
              <a:t>检测到</a:t>
            </a:r>
            <a:r>
              <a:rPr lang="zh-CN" altLang="en-US" sz="1600" dirty="0">
                <a:solidFill>
                  <a:srgbClr val="FF0000"/>
                </a:solidFill>
                <a:cs typeface="微软雅黑" panose="020B0503020204020204" pitchFamily="34" charset="-122"/>
              </a:rPr>
              <a:t>压力</a:t>
            </a:r>
            <a:r>
              <a:rPr lang="zh-CN" altLang="en-US" sz="1600" dirty="0">
                <a:solidFill>
                  <a:srgbClr val="FF0000"/>
                </a:solidFill>
                <a:cs typeface="微软雅黑" panose="020B0503020204020204" pitchFamily="34" charset="-122"/>
                <a:sym typeface="+mn-ea"/>
              </a:rPr>
              <a:t>急剧下降和快速恢复</a:t>
            </a:r>
            <a:r>
              <a:rPr lang="zh-CN" altLang="en-US" sz="1600" dirty="0">
                <a:cs typeface="微软雅黑" panose="020B0503020204020204" pitchFamily="34" charset="-122"/>
                <a:sym typeface="+mn-ea"/>
              </a:rPr>
              <a:t>过程，通常代表：①</a:t>
            </a:r>
            <a:r>
              <a:rPr kumimoji="1"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张拉裂缝</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：通常伴随着明显的位移变化，位移发生在压力下降之前-流体滞后于裂缝尖端；②</a:t>
            </a:r>
            <a:r>
              <a:rPr kumimoji="1"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简单裂缝</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：压力曲线表现为明显的压力上升后急剧下降，表明裂缝沿着单一平面传播</a:t>
            </a:r>
            <a:endParaRPr kumimoji="1" lang="en-US" altLang="zh-CN" sz="13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buFont typeface="Wingdings" panose="05000000000000000000" charset="0"/>
              <a:buChar char="l"/>
            </a:pPr>
            <a:r>
              <a:rPr lang="zh-CN" altLang="en-US" sz="1600" b="1" dirty="0">
                <a:cs typeface="微软雅黑" panose="020B0503020204020204" pitchFamily="34" charset="-122"/>
              </a:rPr>
              <a:t>②高分解等级裂缝扩展事件数量：</a:t>
            </a:r>
            <a:r>
              <a:rPr lang="zh-CN" altLang="en-US" sz="1600" dirty="0">
                <a:cs typeface="微软雅黑" panose="020B0503020204020204" pitchFamily="34" charset="-122"/>
                <a:sym typeface="+mn-ea"/>
              </a:rPr>
              <a:t>选取小波分解等级</a:t>
            </a:r>
            <a:r>
              <a:rPr lang="en-US" altLang="zh-CN" sz="1600" dirty="0">
                <a:cs typeface="微软雅黑" panose="020B0503020204020204" pitchFamily="34" charset="-122"/>
                <a:sym typeface="+mn-ea"/>
              </a:rPr>
              <a:t>6</a:t>
            </a:r>
            <a:r>
              <a:rPr lang="zh-CN" altLang="en-US" sz="1600" dirty="0">
                <a:cs typeface="微软雅黑" panose="020B0503020204020204" pitchFamily="34" charset="-122"/>
                <a:sym typeface="+mn-ea"/>
              </a:rPr>
              <a:t>~</a:t>
            </a:r>
            <a:r>
              <a:rPr lang="en-US" altLang="zh-CN" sz="1600" dirty="0">
                <a:cs typeface="微软雅黑" panose="020B0503020204020204" pitchFamily="34" charset="-122"/>
                <a:sym typeface="+mn-ea"/>
              </a:rPr>
              <a:t>10</a:t>
            </a:r>
            <a:r>
              <a:rPr lang="zh-CN" altLang="en-US" sz="1600" dirty="0">
                <a:cs typeface="微软雅黑" panose="020B0503020204020204" pitchFamily="34" charset="-122"/>
                <a:sym typeface="+mn-ea"/>
              </a:rPr>
              <a:t>级上检测到的裂缝扩展事件，此类事件的周期在</a:t>
            </a:r>
            <a:r>
              <a:rPr lang="en-US" altLang="zh-CN" sz="1600" dirty="0">
                <a:solidFill>
                  <a:srgbClr val="FF0000"/>
                </a:solidFill>
                <a:cs typeface="微软雅黑" panose="020B0503020204020204" pitchFamily="34" charset="-122"/>
                <a:sym typeface="+mn-ea"/>
              </a:rPr>
              <a:t>1</a:t>
            </a:r>
            <a:r>
              <a:rPr lang="zh-CN" altLang="en-US" sz="1600" dirty="0">
                <a:solidFill>
                  <a:srgbClr val="FF0000"/>
                </a:solidFill>
                <a:cs typeface="微软雅黑" panose="020B0503020204020204" pitchFamily="34" charset="-122"/>
                <a:sym typeface="+mn-ea"/>
              </a:rPr>
              <a:t>分钟</a:t>
            </a:r>
            <a:r>
              <a:rPr lang="zh-CN" altLang="en-US" sz="1600" dirty="0">
                <a:solidFill>
                  <a:srgbClr val="FF0000"/>
                </a:solidFill>
                <a:cs typeface="微软雅黑" panose="020B0503020204020204" pitchFamily="34" charset="-122"/>
                <a:sym typeface="+mn-ea"/>
              </a:rPr>
              <a:t>~</a:t>
            </a:r>
            <a:r>
              <a:rPr lang="en-US" altLang="zh-CN" sz="1600" dirty="0">
                <a:solidFill>
                  <a:srgbClr val="FF0000"/>
                </a:solidFill>
                <a:cs typeface="微软雅黑" panose="020B0503020204020204" pitchFamily="34" charset="-122"/>
                <a:sym typeface="+mn-ea"/>
              </a:rPr>
              <a:t>30</a:t>
            </a:r>
            <a:r>
              <a:rPr lang="zh-CN" altLang="en-US" sz="1600" dirty="0">
                <a:solidFill>
                  <a:srgbClr val="FF0000"/>
                </a:solidFill>
                <a:cs typeface="微软雅黑" panose="020B0503020204020204" pitchFamily="34" charset="-122"/>
                <a:sym typeface="+mn-ea"/>
              </a:rPr>
              <a:t>分钟</a:t>
            </a:r>
            <a:endParaRPr lang="zh-CN" altLang="en-US" sz="1600" dirty="0">
              <a:cs typeface="微软雅黑" panose="020B0503020204020204" pitchFamily="34" charset="-122"/>
              <a:sym typeface="+mn-ea"/>
            </a:endParaRPr>
          </a:p>
          <a:p>
            <a:pPr marL="342900" lvl="0" indent="-342900">
              <a:buFont typeface="Wingdings" panose="05000000000000000000" charset="0"/>
              <a:buChar char="l"/>
            </a:pPr>
            <a:r>
              <a:rPr lang="zh-CN" altLang="en-US" sz="1600" dirty="0">
                <a:cs typeface="微软雅黑" panose="020B0503020204020204" pitchFamily="34" charset="-122"/>
                <a:sym typeface="+mn-ea"/>
              </a:rPr>
              <a:t>检测到</a:t>
            </a:r>
            <a:r>
              <a:rPr lang="zh-CN" altLang="en-US" sz="1600" dirty="0">
                <a:solidFill>
                  <a:srgbClr val="FF0000"/>
                </a:solidFill>
                <a:cs typeface="微软雅黑" panose="020B0503020204020204" pitchFamily="34" charset="-122"/>
                <a:sym typeface="+mn-ea"/>
              </a:rPr>
              <a:t>压力的逐渐变化与慢速恢复</a:t>
            </a:r>
            <a:r>
              <a:rPr lang="zh-CN" altLang="en-US" sz="1600" dirty="0">
                <a:cs typeface="微软雅黑" panose="020B0503020204020204" pitchFamily="34" charset="-122"/>
                <a:sym typeface="+mn-ea"/>
              </a:rPr>
              <a:t>过程，通常代表：①</a:t>
            </a:r>
            <a:r>
              <a:rPr kumimoji="1"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剪切/滑移裂缝</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：通常伴随着缓慢的位移变化，且可能在注射停止后继续滑移；②</a:t>
            </a:r>
            <a:r>
              <a:rPr kumimoji="1"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复杂裂缝</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：表现出小的压力下降和逐渐的压力变化，表明裂缝网络复杂，可能涉及多个裂缝的相互作用</a:t>
            </a:r>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buFont typeface="Wingdings" panose="05000000000000000000" charset="0"/>
              <a:buChar char="l"/>
            </a:pPr>
            <a:r>
              <a:rPr lang="zh-CN" altLang="en-US" sz="1600" b="1" dirty="0">
                <a:cs typeface="微软雅黑" panose="020B0503020204020204" pitchFamily="34" charset="-122"/>
                <a:sym typeface="+mn-ea"/>
              </a:rPr>
              <a:t>③总</a:t>
            </a:r>
            <a:r>
              <a:rPr lang="zh-CN" altLang="en-US" sz="1600" b="1" dirty="0">
                <a:cs typeface="微软雅黑" panose="020B0503020204020204" pitchFamily="34" charset="-122"/>
                <a:sym typeface="+mn-ea"/>
              </a:rPr>
              <a:t>裂缝扩展能量：</a:t>
            </a:r>
            <a:r>
              <a:rPr lang="zh-CN" altLang="en-US" sz="1600" dirty="0">
                <a:cs typeface="微软雅黑" panose="020B0503020204020204" pitchFamily="34" charset="-122"/>
                <a:sym typeface="+mn-ea"/>
              </a:rPr>
              <a:t>统计压力小波能量与排量小波能量的差值，包含了所有</a:t>
            </a:r>
            <a:r>
              <a:rPr lang="zh-CN" altLang="en-US" sz="1600" dirty="0">
                <a:solidFill>
                  <a:srgbClr val="FF0000"/>
                </a:solidFill>
                <a:cs typeface="微软雅黑" panose="020B0503020204020204" pitchFamily="34" charset="-122"/>
                <a:sym typeface="+mn-ea"/>
              </a:rPr>
              <a:t>裂缝扩展事件的能量</a:t>
            </a: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5" descr="test01"/>
          <p:cNvPicPr/>
          <p:nvPr/>
        </p:nvPicPr>
        <p:blipFill>
          <a:blip r:embed="rId1"/>
          <a:stretch>
            <a:fillRect/>
          </a:stretch>
        </p:blipFill>
        <p:spPr>
          <a:xfrm>
            <a:off x="8492490" y="3933507"/>
            <a:ext cx="3060000" cy="2160000"/>
          </a:xfrm>
          <a:prstGeom prst="rect">
            <a:avLst/>
          </a:prstGeom>
        </p:spPr>
      </p:pic>
      <p:pic>
        <p:nvPicPr>
          <p:cNvPr id="7" name="图片 6" descr="test02"/>
          <p:cNvPicPr/>
          <p:nvPr/>
        </p:nvPicPr>
        <p:blipFill>
          <a:blip r:embed="rId2"/>
          <a:stretch>
            <a:fillRect/>
          </a:stretch>
        </p:blipFill>
        <p:spPr>
          <a:xfrm>
            <a:off x="4898514" y="3935197"/>
            <a:ext cx="3060000" cy="2160000"/>
          </a:xfrm>
          <a:prstGeom prst="rect">
            <a:avLst/>
          </a:prstGeom>
        </p:spPr>
      </p:pic>
      <p:pic>
        <p:nvPicPr>
          <p:cNvPr id="8" name="图片 7" descr="test01"/>
          <p:cNvPicPr/>
          <p:nvPr/>
        </p:nvPicPr>
        <p:blipFill>
          <a:blip r:embed="rId3"/>
          <a:stretch>
            <a:fillRect/>
          </a:stretch>
        </p:blipFill>
        <p:spPr>
          <a:xfrm>
            <a:off x="633474" y="3939765"/>
            <a:ext cx="3060000" cy="2160000"/>
          </a:xfrm>
          <a:prstGeom prst="rect">
            <a:avLst/>
          </a:prstGeom>
        </p:spPr>
      </p:pic>
      <p:sp>
        <p:nvSpPr>
          <p:cNvPr id="11" name="文本框 10"/>
          <p:cNvSpPr txBox="1"/>
          <p:nvPr/>
        </p:nvSpPr>
        <p:spPr>
          <a:xfrm>
            <a:off x="633730" y="6090285"/>
            <a:ext cx="10918825" cy="266700"/>
          </a:xfrm>
          <a:prstGeom prst="rect">
            <a:avLst/>
          </a:prstGeom>
          <a:noFill/>
        </p:spPr>
        <p:txBody>
          <a:bodyPr wrap="square" rtlCol="0">
            <a:no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压力小波能量</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-2*</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排量小波能量</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裂缝扩展事件小波能量</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cxnSp>
        <p:nvCxnSpPr>
          <p:cNvPr id="12" name="直接连接符 11"/>
          <p:cNvCxnSpPr/>
          <p:nvPr/>
        </p:nvCxnSpPr>
        <p:spPr>
          <a:xfrm>
            <a:off x="3859246" y="5007477"/>
            <a:ext cx="264160" cy="0"/>
          </a:xfrm>
          <a:prstGeom prst="line">
            <a:avLst/>
          </a:prstGeom>
          <a:ln w="76200" cap="rnd">
            <a:solidFill>
              <a:srgbClr val="FF0000"/>
            </a:solidFill>
            <a:round/>
            <a:headEnd type="none" w="med" len="med"/>
            <a:tailEnd type="none" w="med" len="med"/>
          </a:ln>
        </p:spPr>
        <p:style>
          <a:lnRef idx="0">
            <a:srgbClr val="FFFFFF"/>
          </a:lnRef>
          <a:fillRef idx="0">
            <a:srgbClr val="FFFFFF"/>
          </a:fillRef>
          <a:effectRef idx="0">
            <a:srgbClr val="FFFFFF"/>
          </a:effectRef>
          <a:fontRef idx="minor">
            <a:schemeClr val="tx1"/>
          </a:fontRef>
        </p:style>
      </p:cxnSp>
      <p:cxnSp>
        <p:nvCxnSpPr>
          <p:cNvPr id="13" name="直接连接符 12"/>
          <p:cNvCxnSpPr/>
          <p:nvPr/>
        </p:nvCxnSpPr>
        <p:spPr>
          <a:xfrm>
            <a:off x="8123803" y="4904740"/>
            <a:ext cx="264160" cy="0"/>
          </a:xfrm>
          <a:prstGeom prst="line">
            <a:avLst/>
          </a:prstGeom>
          <a:ln w="76200" cap="rnd">
            <a:solidFill>
              <a:srgbClr val="FF0000"/>
            </a:solidFill>
            <a:round/>
            <a:headEnd type="none" w="med" len="med"/>
            <a:tailEnd type="none" w="med" len="med"/>
          </a:ln>
        </p:spPr>
        <p:style>
          <a:lnRef idx="0">
            <a:srgbClr val="FFFFFF"/>
          </a:lnRef>
          <a:fillRef idx="0">
            <a:srgbClr val="FFFFFF"/>
          </a:fillRef>
          <a:effectRef idx="0">
            <a:srgbClr val="FFFFFF"/>
          </a:effectRef>
          <a:fontRef idx="minor">
            <a:schemeClr val="tx1"/>
          </a:fontRef>
        </p:style>
      </p:cxnSp>
      <p:cxnSp>
        <p:nvCxnSpPr>
          <p:cNvPr id="14" name="直接连接符 13"/>
          <p:cNvCxnSpPr/>
          <p:nvPr/>
        </p:nvCxnSpPr>
        <p:spPr>
          <a:xfrm>
            <a:off x="8123803" y="5122545"/>
            <a:ext cx="264160" cy="0"/>
          </a:xfrm>
          <a:prstGeom prst="line">
            <a:avLst/>
          </a:prstGeom>
          <a:ln w="76200" cap="rnd">
            <a:solidFill>
              <a:srgbClr val="FF0000"/>
            </a:solidFill>
            <a:round/>
            <a:headEnd type="none" w="med" len="med"/>
            <a:tailEnd type="none" w="med" len="med"/>
          </a:ln>
        </p:spPr>
        <p:style>
          <a:lnRef idx="0">
            <a:srgbClr val="FFFFFF"/>
          </a:lnRef>
          <a:fillRef idx="0">
            <a:srgbClr val="FFFFFF"/>
          </a:fillRef>
          <a:effectRef idx="0">
            <a:srgbClr val="FFFFFF"/>
          </a:effectRef>
          <a:fontRef idx="minor">
            <a:schemeClr val="tx1"/>
          </a:fontRef>
        </p:style>
      </p:cxnSp>
      <p:sp>
        <p:nvSpPr>
          <p:cNvPr id="15" name="文本框 14"/>
          <p:cNvSpPr txBox="1"/>
          <p:nvPr/>
        </p:nvSpPr>
        <p:spPr>
          <a:xfrm>
            <a:off x="4225641" y="4693787"/>
            <a:ext cx="721360" cy="639445"/>
          </a:xfrm>
          <a:prstGeom prst="rect">
            <a:avLst/>
          </a:prstGeom>
          <a:noFill/>
          <a:ln>
            <a:noFill/>
          </a:ln>
        </p:spPr>
        <p:txBody>
          <a:bodyPr wrap="square"/>
          <a:lstStyle/>
          <a:p>
            <a:pPr marL="0" indent="0">
              <a:lnSpc>
                <a:spcPct val="100000"/>
              </a:lnSpc>
              <a:buClr>
                <a:srgbClr val="FF0000"/>
              </a:buClr>
            </a:pPr>
            <a:r>
              <a:rPr lang="en-US" altLang="zh-CN" sz="3200" b="1" dirty="0">
                <a:solidFill>
                  <a:srgbClr val="FF0000"/>
                </a:solidFill>
                <a:latin typeface="微软雅黑" panose="020B0503020204020204" pitchFamily="34" charset="-122"/>
                <a:ea typeface="微软雅黑" panose="020B0503020204020204" pitchFamily="34" charset="-122"/>
              </a:rPr>
              <a:t>2*</a:t>
            </a:r>
            <a:endParaRPr lang="en-US" altLang="zh-CN" sz="32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图片 46" descr="泸203井区H10平台1井第1段第7级分解"/>
          <p:cNvPicPr/>
          <p:nvPr/>
        </p:nvPicPr>
        <p:blipFill>
          <a:blip r:embed="rId1"/>
          <a:stretch>
            <a:fillRect/>
          </a:stretch>
        </p:blipFill>
        <p:spPr>
          <a:xfrm>
            <a:off x="6871970" y="2426335"/>
            <a:ext cx="3600000" cy="900000"/>
          </a:xfrm>
          <a:prstGeom prst="rect">
            <a:avLst/>
          </a:prstGeom>
          <a:ln>
            <a:solidFill>
              <a:schemeClr val="tx1"/>
            </a:solidFill>
          </a:ln>
        </p:spPr>
      </p:pic>
      <p:pic>
        <p:nvPicPr>
          <p:cNvPr id="48" name="图片 47" descr="泸203井区H10平台1井第1段第6级分解"/>
          <p:cNvPicPr/>
          <p:nvPr/>
        </p:nvPicPr>
        <p:blipFill>
          <a:blip r:embed="rId2"/>
          <a:stretch>
            <a:fillRect/>
          </a:stretch>
        </p:blipFill>
        <p:spPr>
          <a:xfrm>
            <a:off x="6871335" y="1432560"/>
            <a:ext cx="3600000" cy="900000"/>
          </a:xfrm>
          <a:prstGeom prst="rect">
            <a:avLst/>
          </a:prstGeom>
          <a:ln>
            <a:solidFill>
              <a:schemeClr val="tx1"/>
            </a:solidFill>
          </a:ln>
        </p:spPr>
      </p:pic>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基于小波能量响应频带与裂缝扩展特征，建立小波分析指标与井下事件关联关系</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9" name="图片 8" descr="泸203井区H10平台1井第1段第1级分解"/>
          <p:cNvPicPr/>
          <p:nvPr/>
        </p:nvPicPr>
        <p:blipFill>
          <a:blip r:embed="rId3"/>
          <a:stretch>
            <a:fillRect/>
          </a:stretch>
        </p:blipFill>
        <p:spPr>
          <a:xfrm>
            <a:off x="1702435" y="1435100"/>
            <a:ext cx="3600000" cy="900000"/>
          </a:xfrm>
          <a:prstGeom prst="rect">
            <a:avLst/>
          </a:prstGeom>
          <a:ln>
            <a:solidFill>
              <a:schemeClr val="tx1"/>
            </a:solidFill>
          </a:ln>
        </p:spPr>
      </p:pic>
      <p:pic>
        <p:nvPicPr>
          <p:cNvPr id="10" name="图片 9" descr="泸203井区H10平台1井第1段第2级分解"/>
          <p:cNvPicPr/>
          <p:nvPr/>
        </p:nvPicPr>
        <p:blipFill>
          <a:blip r:embed="rId4"/>
          <a:stretch>
            <a:fillRect/>
          </a:stretch>
        </p:blipFill>
        <p:spPr>
          <a:xfrm>
            <a:off x="1702435" y="2430350"/>
            <a:ext cx="3600000" cy="899795"/>
          </a:xfrm>
          <a:prstGeom prst="rect">
            <a:avLst/>
          </a:prstGeom>
          <a:ln>
            <a:solidFill>
              <a:schemeClr val="tx1"/>
            </a:solidFill>
          </a:ln>
        </p:spPr>
      </p:pic>
      <p:pic>
        <p:nvPicPr>
          <p:cNvPr id="16" name="图片 15" descr="泸203井区H10平台1井第1段第3级分解"/>
          <p:cNvPicPr/>
          <p:nvPr/>
        </p:nvPicPr>
        <p:blipFill>
          <a:blip r:embed="rId5"/>
          <a:stretch>
            <a:fillRect/>
          </a:stretch>
        </p:blipFill>
        <p:spPr>
          <a:xfrm>
            <a:off x="1702435" y="3425395"/>
            <a:ext cx="3600000" cy="899795"/>
          </a:xfrm>
          <a:prstGeom prst="rect">
            <a:avLst/>
          </a:prstGeom>
          <a:ln>
            <a:solidFill>
              <a:schemeClr val="tx1"/>
            </a:solidFill>
          </a:ln>
        </p:spPr>
      </p:pic>
      <p:pic>
        <p:nvPicPr>
          <p:cNvPr id="17" name="图片 16" descr="泸203井区H10平台1井第1段第4级分解"/>
          <p:cNvPicPr/>
          <p:nvPr/>
        </p:nvPicPr>
        <p:blipFill>
          <a:blip r:embed="rId6"/>
          <a:stretch>
            <a:fillRect/>
          </a:stretch>
        </p:blipFill>
        <p:spPr>
          <a:xfrm>
            <a:off x="1702435" y="4420440"/>
            <a:ext cx="3600000" cy="899795"/>
          </a:xfrm>
          <a:prstGeom prst="rect">
            <a:avLst/>
          </a:prstGeom>
          <a:ln>
            <a:solidFill>
              <a:schemeClr val="tx1"/>
            </a:solidFill>
          </a:ln>
        </p:spPr>
      </p:pic>
      <p:pic>
        <p:nvPicPr>
          <p:cNvPr id="18" name="图片 17" descr="泸203井区H10平台1井第1段第5级分解"/>
          <p:cNvPicPr/>
          <p:nvPr/>
        </p:nvPicPr>
        <p:blipFill>
          <a:blip r:embed="rId7"/>
          <a:stretch>
            <a:fillRect/>
          </a:stretch>
        </p:blipFill>
        <p:spPr>
          <a:xfrm>
            <a:off x="1702435" y="5415485"/>
            <a:ext cx="3600000" cy="899795"/>
          </a:xfrm>
          <a:prstGeom prst="rect">
            <a:avLst/>
          </a:prstGeom>
          <a:ln>
            <a:solidFill>
              <a:schemeClr val="tx1"/>
            </a:solidFill>
          </a:ln>
        </p:spPr>
      </p:pic>
      <p:sp>
        <p:nvSpPr>
          <p:cNvPr id="24" name="圆角矩形 23"/>
          <p:cNvSpPr/>
          <p:nvPr/>
        </p:nvSpPr>
        <p:spPr>
          <a:xfrm>
            <a:off x="495935" y="3608070"/>
            <a:ext cx="812800" cy="53340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p>
            <a:pPr algn="ctr">
              <a:lnSpc>
                <a:spcPct val="100000"/>
              </a:lnSpc>
              <a:spcBef>
                <a:spcPct val="20000"/>
              </a:spcBef>
              <a:buClr>
                <a:srgbClr val="FF0000"/>
              </a:buClr>
              <a:buSzPct val="100000"/>
            </a:pPr>
            <a:r>
              <a:rPr lang="en-US" altLang="zh-CN" b="1"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I1</a:t>
            </a:r>
            <a:endParaRPr lang="en-US" altLang="zh-CN" b="1"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圆角矩形 24"/>
          <p:cNvSpPr/>
          <p:nvPr/>
        </p:nvSpPr>
        <p:spPr>
          <a:xfrm>
            <a:off x="5680710" y="3625850"/>
            <a:ext cx="812800" cy="53340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p>
            <a:pPr algn="ctr">
              <a:lnSpc>
                <a:spcPct val="100000"/>
              </a:lnSpc>
              <a:spcBef>
                <a:spcPct val="20000"/>
              </a:spcBef>
              <a:buClr>
                <a:srgbClr val="FF0000"/>
              </a:buClr>
              <a:buSzPct val="100000"/>
            </a:pPr>
            <a:r>
              <a:rPr lang="en-US" altLang="zh-CN" b="1"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I2</a:t>
            </a:r>
            <a:endParaRPr lang="en-US" altLang="zh-CN" b="1"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圆角矩形 25"/>
          <p:cNvSpPr/>
          <p:nvPr/>
        </p:nvSpPr>
        <p:spPr>
          <a:xfrm>
            <a:off x="10738485" y="3608705"/>
            <a:ext cx="812800" cy="53340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p>
            <a:pPr algn="ctr">
              <a:lnSpc>
                <a:spcPct val="100000"/>
              </a:lnSpc>
              <a:spcBef>
                <a:spcPct val="20000"/>
              </a:spcBef>
              <a:buClr>
                <a:srgbClr val="FF0000"/>
              </a:buClr>
              <a:buSzPct val="100000"/>
            </a:pPr>
            <a:r>
              <a:rPr lang="en-US" altLang="zh-CN" b="1"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I3</a:t>
            </a:r>
            <a:endParaRPr lang="en-US" altLang="zh-CN" b="1"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7" name="直接箭头连接符 26"/>
          <p:cNvCxnSpPr>
            <a:endCxn id="24" idx="0"/>
          </p:cNvCxnSpPr>
          <p:nvPr/>
        </p:nvCxnSpPr>
        <p:spPr>
          <a:xfrm flipH="1">
            <a:off x="902335" y="1629410"/>
            <a:ext cx="1540510" cy="1978660"/>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8" name="直接箭头连接符 27"/>
          <p:cNvCxnSpPr/>
          <p:nvPr/>
        </p:nvCxnSpPr>
        <p:spPr>
          <a:xfrm flipH="1">
            <a:off x="1299845" y="2635250"/>
            <a:ext cx="1397000" cy="990600"/>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9" name="直接箭头连接符 28"/>
          <p:cNvCxnSpPr>
            <a:endCxn id="24" idx="3"/>
          </p:cNvCxnSpPr>
          <p:nvPr/>
        </p:nvCxnSpPr>
        <p:spPr>
          <a:xfrm flipH="1" flipV="1">
            <a:off x="1308735" y="3874770"/>
            <a:ext cx="1335405" cy="5080"/>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0" name="直接箭头连接符 29"/>
          <p:cNvCxnSpPr/>
          <p:nvPr/>
        </p:nvCxnSpPr>
        <p:spPr>
          <a:xfrm flipH="1" flipV="1">
            <a:off x="1301115" y="4119880"/>
            <a:ext cx="1853565" cy="450850"/>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1" name="直接箭头连接符 30"/>
          <p:cNvCxnSpPr>
            <a:endCxn id="24" idx="2"/>
          </p:cNvCxnSpPr>
          <p:nvPr/>
        </p:nvCxnSpPr>
        <p:spPr>
          <a:xfrm flipH="1" flipV="1">
            <a:off x="902335" y="4141470"/>
            <a:ext cx="2154555" cy="1569085"/>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2" name="直接箭头连接符 31"/>
          <p:cNvCxnSpPr>
            <a:endCxn id="25" idx="0"/>
          </p:cNvCxnSpPr>
          <p:nvPr/>
        </p:nvCxnSpPr>
        <p:spPr>
          <a:xfrm flipH="1">
            <a:off x="6087110" y="1758315"/>
            <a:ext cx="1875790" cy="1867535"/>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pic>
        <p:nvPicPr>
          <p:cNvPr id="38" name="图片 37" descr="泸203井区H10平台1井第1段第9级分解"/>
          <p:cNvPicPr/>
          <p:nvPr/>
        </p:nvPicPr>
        <p:blipFill>
          <a:blip r:embed="rId8"/>
          <a:stretch>
            <a:fillRect/>
          </a:stretch>
        </p:blipFill>
        <p:spPr>
          <a:xfrm>
            <a:off x="6871335" y="4416425"/>
            <a:ext cx="3600000" cy="900000"/>
          </a:xfrm>
          <a:prstGeom prst="rect">
            <a:avLst/>
          </a:prstGeom>
          <a:ln>
            <a:solidFill>
              <a:schemeClr val="tx1"/>
            </a:solidFill>
          </a:ln>
        </p:spPr>
      </p:pic>
      <p:pic>
        <p:nvPicPr>
          <p:cNvPr id="39" name="图片 38" descr="泸203井区H10平台1井第1段第10级分解"/>
          <p:cNvPicPr/>
          <p:nvPr/>
        </p:nvPicPr>
        <p:blipFill>
          <a:blip r:embed="rId9"/>
          <a:stretch>
            <a:fillRect/>
          </a:stretch>
        </p:blipFill>
        <p:spPr>
          <a:xfrm>
            <a:off x="6871335" y="5413375"/>
            <a:ext cx="3600000" cy="900000"/>
          </a:xfrm>
          <a:prstGeom prst="rect">
            <a:avLst/>
          </a:prstGeom>
          <a:ln>
            <a:solidFill>
              <a:schemeClr val="tx1"/>
            </a:solidFill>
          </a:ln>
        </p:spPr>
      </p:pic>
      <p:pic>
        <p:nvPicPr>
          <p:cNvPr id="40" name="图片 39" descr="泸203井区H10平台1井第1段第8级分解"/>
          <p:cNvPicPr/>
          <p:nvPr/>
        </p:nvPicPr>
        <p:blipFill>
          <a:blip r:embed="rId10"/>
          <a:stretch>
            <a:fillRect/>
          </a:stretch>
        </p:blipFill>
        <p:spPr>
          <a:xfrm>
            <a:off x="6871970" y="3420110"/>
            <a:ext cx="3600000" cy="900000"/>
          </a:xfrm>
          <a:prstGeom prst="rect">
            <a:avLst/>
          </a:prstGeom>
          <a:ln>
            <a:solidFill>
              <a:schemeClr val="tx1"/>
            </a:solidFill>
          </a:ln>
        </p:spPr>
      </p:pic>
      <p:cxnSp>
        <p:nvCxnSpPr>
          <p:cNvPr id="41" name="直接箭头连接符 40"/>
          <p:cNvCxnSpPr>
            <a:endCxn id="26" idx="2"/>
          </p:cNvCxnSpPr>
          <p:nvPr/>
        </p:nvCxnSpPr>
        <p:spPr>
          <a:xfrm flipV="1">
            <a:off x="8071485" y="4142105"/>
            <a:ext cx="3073400" cy="1834515"/>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42" name="直接箭头连接符 41"/>
          <p:cNvCxnSpPr/>
          <p:nvPr/>
        </p:nvCxnSpPr>
        <p:spPr>
          <a:xfrm flipV="1">
            <a:off x="8345805" y="3972560"/>
            <a:ext cx="2408555" cy="1112520"/>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nvCxnSpPr>
        <p:spPr>
          <a:xfrm flipV="1">
            <a:off x="7439025" y="3728720"/>
            <a:ext cx="3291205" cy="27940"/>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3" name="直接箭头连接符 32"/>
          <p:cNvCxnSpPr/>
          <p:nvPr/>
        </p:nvCxnSpPr>
        <p:spPr>
          <a:xfrm flipH="1">
            <a:off x="6523355" y="2807970"/>
            <a:ext cx="1355090" cy="846455"/>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67310" y="4692015"/>
            <a:ext cx="1635125" cy="914400"/>
          </a:xfrm>
          <a:prstGeom prst="rect">
            <a:avLst/>
          </a:prstGeom>
          <a:noFill/>
          <a:ln>
            <a:noFill/>
          </a:ln>
        </p:spPr>
        <p:txBody>
          <a:bodyPr wrap="square"/>
          <a:p>
            <a:pPr marL="0" indent="0" algn="ctr">
              <a:lnSpc>
                <a:spcPct val="1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低分解等级</a:t>
            </a:r>
            <a:endParaRPr lang="zh-CN" altLang="en-US" sz="1600" dirty="0">
              <a:solidFill>
                <a:srgbClr val="FF0000"/>
              </a:solidFill>
              <a:latin typeface="微软雅黑" panose="020B0503020204020204" pitchFamily="34" charset="-122"/>
              <a:ea typeface="微软雅黑" panose="020B0503020204020204" pitchFamily="34" charset="-122"/>
            </a:endParaRPr>
          </a:p>
          <a:p>
            <a:pPr marL="0" indent="0" algn="ctr">
              <a:lnSpc>
                <a:spcPct val="1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裂缝扩展事件</a:t>
            </a:r>
            <a:endParaRPr lang="zh-CN" altLang="en-US" sz="1600" dirty="0">
              <a:solidFill>
                <a:srgbClr val="FF0000"/>
              </a:solidFill>
              <a:latin typeface="微软雅黑" panose="020B0503020204020204" pitchFamily="34" charset="-122"/>
              <a:ea typeface="微软雅黑" panose="020B0503020204020204" pitchFamily="34" charset="-122"/>
            </a:endParaRPr>
          </a:p>
          <a:p>
            <a:pPr marL="0" indent="0" algn="ctr">
              <a:lnSpc>
                <a:spcPct val="1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数量</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5302250" y="4688840"/>
            <a:ext cx="1635125" cy="914400"/>
          </a:xfrm>
          <a:prstGeom prst="rect">
            <a:avLst/>
          </a:prstGeom>
          <a:noFill/>
          <a:ln>
            <a:noFill/>
          </a:ln>
        </p:spPr>
        <p:txBody>
          <a:bodyPr wrap="square"/>
          <a:p>
            <a:pPr marL="0" indent="0" algn="ctr">
              <a:lnSpc>
                <a:spcPct val="1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高分解等级</a:t>
            </a:r>
            <a:endParaRPr lang="zh-CN" altLang="en-US" sz="1600" dirty="0">
              <a:solidFill>
                <a:srgbClr val="FF0000"/>
              </a:solidFill>
              <a:latin typeface="微软雅黑" panose="020B0503020204020204" pitchFamily="34" charset="-122"/>
              <a:ea typeface="微软雅黑" panose="020B0503020204020204" pitchFamily="34" charset="-122"/>
            </a:endParaRPr>
          </a:p>
          <a:p>
            <a:pPr marL="0" indent="0" algn="ctr">
              <a:lnSpc>
                <a:spcPct val="1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裂缝扩展事件</a:t>
            </a:r>
            <a:endParaRPr lang="zh-CN" altLang="en-US" sz="1600" dirty="0">
              <a:solidFill>
                <a:srgbClr val="FF0000"/>
              </a:solidFill>
              <a:latin typeface="微软雅黑" panose="020B0503020204020204" pitchFamily="34" charset="-122"/>
              <a:ea typeface="微软雅黑" panose="020B0503020204020204" pitchFamily="34" charset="-122"/>
            </a:endParaRPr>
          </a:p>
          <a:p>
            <a:pPr marL="0" indent="0" algn="ctr">
              <a:lnSpc>
                <a:spcPct val="1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数量</a:t>
            </a:r>
            <a:endParaRPr lang="zh-CN" altLang="en-US" sz="1600" dirty="0">
              <a:solidFill>
                <a:srgbClr val="FF0000"/>
              </a:solidFill>
              <a:latin typeface="微软雅黑" panose="020B0503020204020204" pitchFamily="34" charset="-122"/>
              <a:ea typeface="微软雅黑" panose="020B0503020204020204" pitchFamily="34" charset="-122"/>
            </a:endParaRPr>
          </a:p>
        </p:txBody>
      </p:sp>
      <p:cxnSp>
        <p:nvCxnSpPr>
          <p:cNvPr id="35" name="直接箭头连接符 34"/>
          <p:cNvCxnSpPr>
            <a:endCxn id="25" idx="3"/>
          </p:cNvCxnSpPr>
          <p:nvPr/>
        </p:nvCxnSpPr>
        <p:spPr>
          <a:xfrm flipH="1">
            <a:off x="6493510" y="3771900"/>
            <a:ext cx="803910" cy="120650"/>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flipH="1" flipV="1">
            <a:off x="6659245" y="4144010"/>
            <a:ext cx="894080" cy="538480"/>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6" name="直接箭头连接符 35"/>
          <p:cNvCxnSpPr>
            <a:endCxn id="25" idx="2"/>
          </p:cNvCxnSpPr>
          <p:nvPr/>
        </p:nvCxnSpPr>
        <p:spPr>
          <a:xfrm flipH="1" flipV="1">
            <a:off x="6087110" y="4159250"/>
            <a:ext cx="1974850" cy="1503680"/>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46" name="文本框 45"/>
          <p:cNvSpPr txBox="1"/>
          <p:nvPr/>
        </p:nvSpPr>
        <p:spPr>
          <a:xfrm>
            <a:off x="10556875" y="4835525"/>
            <a:ext cx="1214755" cy="628015"/>
          </a:xfrm>
          <a:prstGeom prst="rect">
            <a:avLst/>
          </a:prstGeom>
          <a:noFill/>
          <a:ln>
            <a:noFill/>
          </a:ln>
        </p:spPr>
        <p:txBody>
          <a:bodyPr wrap="square"/>
          <a:p>
            <a:pPr marL="0" indent="0" algn="ctr">
              <a:lnSpc>
                <a:spcPct val="1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总</a:t>
            </a:r>
            <a:r>
              <a:rPr lang="zh-CN" altLang="en-US" sz="1600" dirty="0">
                <a:solidFill>
                  <a:srgbClr val="FF0000"/>
                </a:solidFill>
                <a:latin typeface="微软雅黑" panose="020B0503020204020204" pitchFamily="34" charset="-122"/>
                <a:ea typeface="微软雅黑" panose="020B0503020204020204" pitchFamily="34" charset="-122"/>
              </a:rPr>
              <a:t>裂缝扩展</a:t>
            </a:r>
            <a:endParaRPr lang="zh-CN" altLang="en-US" sz="1600" dirty="0">
              <a:solidFill>
                <a:srgbClr val="FF0000"/>
              </a:solidFill>
              <a:latin typeface="微软雅黑" panose="020B0503020204020204" pitchFamily="34" charset="-122"/>
              <a:ea typeface="微软雅黑" panose="020B0503020204020204" pitchFamily="34" charset="-122"/>
            </a:endParaRPr>
          </a:p>
          <a:p>
            <a:pPr marL="0" indent="0" algn="ctr">
              <a:lnSpc>
                <a:spcPct val="1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能量</a:t>
            </a:r>
            <a:endParaRPr lang="zh-CN" altLang="en-US" sz="1600" dirty="0">
              <a:solidFill>
                <a:srgbClr val="FF0000"/>
              </a:solidFill>
              <a:latin typeface="微软雅黑" panose="020B0503020204020204" pitchFamily="34" charset="-122"/>
              <a:ea typeface="微软雅黑" panose="020B0503020204020204" pitchFamily="34" charset="-122"/>
            </a:endParaRPr>
          </a:p>
        </p:txBody>
      </p:sp>
      <p:cxnSp>
        <p:nvCxnSpPr>
          <p:cNvPr id="49" name="直接箭头连接符 48"/>
          <p:cNvCxnSpPr/>
          <p:nvPr/>
        </p:nvCxnSpPr>
        <p:spPr>
          <a:xfrm>
            <a:off x="9389745" y="3025140"/>
            <a:ext cx="1402080" cy="594360"/>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50" name="直接箭头连接符 49"/>
          <p:cNvCxnSpPr>
            <a:endCxn id="26" idx="0"/>
          </p:cNvCxnSpPr>
          <p:nvPr/>
        </p:nvCxnSpPr>
        <p:spPr>
          <a:xfrm>
            <a:off x="9450705" y="2156460"/>
            <a:ext cx="1694180" cy="1452245"/>
          </a:xfrm>
          <a:prstGeom prst="straightConnector1">
            <a:avLst/>
          </a:prstGeom>
          <a:ln>
            <a:solidFill>
              <a:srgbClr val="C0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1702435" y="6320155"/>
            <a:ext cx="3599815" cy="26035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小波</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1~5</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级</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分解</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 name="文本框 3"/>
          <p:cNvSpPr txBox="1"/>
          <p:nvPr/>
        </p:nvSpPr>
        <p:spPr>
          <a:xfrm>
            <a:off x="6871335" y="6318250"/>
            <a:ext cx="3599815" cy="26035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小波</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6</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~10</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级</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分解</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基于小波能量响应频带与裂缝扩展特征，建立小波分析指标与井下事件关联关系</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 name="TextBox 2"/>
          <p:cNvSpPr txBox="1">
            <a:spLocks noChangeArrowheads="1"/>
          </p:cNvSpPr>
          <p:nvPr/>
        </p:nvSpPr>
        <p:spPr bwMode="auto">
          <a:xfrm>
            <a:off x="334645" y="1357630"/>
            <a:ext cx="11342370"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分别表征主裂缝与缝网扩展的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活跃程度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表征裂缝扩展</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强度</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，小波</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低分解等级</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下对应</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高频频带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以微地震监测</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为参照，系统调整</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的权重组合，逐一计算</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的相关系数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，比较不同组合下的拟合优度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指标为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0.25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权重为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0.15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权重为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的组合下，小波改造体积评分与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的相关性最高，</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baseline="30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达</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0.6</a:t>
            </a:r>
            <a:endPar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8" name="表格 7"/>
          <p:cNvGraphicFramePr/>
          <p:nvPr>
            <p:custDataLst>
              <p:tags r:id="rId1"/>
            </p:custDataLst>
          </p:nvPr>
        </p:nvGraphicFramePr>
        <p:xfrm>
          <a:off x="376555" y="2555240"/>
          <a:ext cx="6299835" cy="3517900"/>
        </p:xfrm>
        <a:graphic>
          <a:graphicData uri="http://schemas.openxmlformats.org/drawingml/2006/table">
            <a:tbl>
              <a:tblPr firstRow="1" bandRow="1">
                <a:tableStyleId>{5940675A-B579-460E-94D1-54222C63F5DA}</a:tableStyleId>
              </a:tblPr>
              <a:tblGrid>
                <a:gridCol w="720090"/>
                <a:gridCol w="1979930"/>
                <a:gridCol w="1259840"/>
                <a:gridCol w="1080135"/>
                <a:gridCol w="1259840"/>
              </a:tblGrid>
              <a:tr h="420370">
                <a:tc>
                  <a:txBody>
                    <a:bodyPr/>
                    <a:p>
                      <a:pPr algn="ctr">
                        <a:buNone/>
                      </a:pPr>
                      <a:r>
                        <a:rPr lang="zh-CN" altLang="en-US" sz="1600" b="1">
                          <a:solidFill>
                            <a:schemeClr val="bg1"/>
                          </a:solidFill>
                          <a:latin typeface="Times New Roman" panose="02020603050405020304" pitchFamily="18" charset="0"/>
                          <a:ea typeface="微软雅黑" panose="020B0503020204020204" pitchFamily="34" charset="-122"/>
                        </a:rPr>
                        <a:t>指标</a:t>
                      </a:r>
                      <a:endParaRPr lang="zh-CN" altLang="en-US" sz="1600" b="1">
                        <a:solidFill>
                          <a:schemeClr val="bg1"/>
                        </a:solidFill>
                        <a:latin typeface="Times New Roman" panose="02020603050405020304" pitchFamily="18" charset="0"/>
                        <a:ea typeface="微软雅黑" panose="020B0503020204020204" pitchFamily="34" charset="-122"/>
                      </a:endParaRPr>
                    </a:p>
                  </a:txBody>
                  <a:tcPr anchor="ctr" anchorCtr="0">
                    <a:solidFill>
                      <a:srgbClr val="FFC000"/>
                    </a:solidFill>
                  </a:tcPr>
                </a:tc>
                <a:tc>
                  <a:txBody>
                    <a:bodyPr/>
                    <a:p>
                      <a:pPr algn="ctr">
                        <a:buNone/>
                      </a:pPr>
                      <a:r>
                        <a:rPr lang="zh-CN" altLang="en-US" sz="1600" b="1">
                          <a:solidFill>
                            <a:schemeClr val="bg1"/>
                          </a:solidFill>
                          <a:latin typeface="Times New Roman" panose="02020603050405020304" pitchFamily="18" charset="0"/>
                          <a:ea typeface="微软雅黑" panose="020B0503020204020204" pitchFamily="34" charset="-122"/>
                        </a:rPr>
                        <a:t>含义</a:t>
                      </a:r>
                      <a:endParaRPr lang="zh-CN" altLang="en-US" sz="1600" b="1">
                        <a:solidFill>
                          <a:schemeClr val="bg1"/>
                        </a:solidFill>
                        <a:latin typeface="Times New Roman" panose="02020603050405020304" pitchFamily="18" charset="0"/>
                        <a:ea typeface="微软雅黑" panose="020B0503020204020204" pitchFamily="34" charset="-122"/>
                      </a:endParaRPr>
                    </a:p>
                  </a:txBody>
                  <a:tcPr anchor="ctr" anchorCtr="0">
                    <a:solidFill>
                      <a:srgbClr val="FFC000"/>
                    </a:solidFill>
                  </a:tcPr>
                </a:tc>
                <a:tc>
                  <a:txBody>
                    <a:bodyPr/>
                    <a:p>
                      <a:pPr algn="ctr">
                        <a:buNone/>
                      </a:pPr>
                      <a:r>
                        <a:rPr lang="zh-CN" altLang="en-US" sz="16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简称</a:t>
                      </a:r>
                      <a:endParaRPr lang="zh-CN" altLang="en-US" sz="16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solidFill>
                      <a:srgbClr val="FFC000"/>
                    </a:solidFill>
                  </a:tcPr>
                </a:tc>
                <a:tc>
                  <a:txBody>
                    <a:bodyPr/>
                    <a:p>
                      <a:pPr algn="ctr">
                        <a:buNone/>
                      </a:pPr>
                      <a:r>
                        <a:rPr lang="zh-CN" altLang="en-US" sz="1600" b="1">
                          <a:solidFill>
                            <a:schemeClr val="bg1"/>
                          </a:solidFill>
                          <a:latin typeface="Times New Roman" panose="02020603050405020304" pitchFamily="18" charset="0"/>
                          <a:ea typeface="微软雅黑" panose="020B0503020204020204" pitchFamily="34" charset="-122"/>
                          <a:sym typeface="+mn-ea"/>
                        </a:rPr>
                        <a:t>频带</a:t>
                      </a:r>
                      <a:endParaRPr lang="zh-CN" altLang="en-US" sz="1600" b="1">
                        <a:solidFill>
                          <a:schemeClr val="bg1"/>
                        </a:solidFill>
                        <a:latin typeface="Times New Roman" panose="02020603050405020304" pitchFamily="18" charset="0"/>
                        <a:ea typeface="微软雅黑" panose="020B0503020204020204" pitchFamily="34" charset="-122"/>
                        <a:sym typeface="+mn-ea"/>
                      </a:endParaRPr>
                    </a:p>
                  </a:txBody>
                  <a:tcPr anchor="ctr" anchorCtr="0">
                    <a:solidFill>
                      <a:srgbClr val="FFC000"/>
                    </a:solidFill>
                  </a:tcPr>
                </a:tc>
                <a:tc>
                  <a:txBody>
                    <a:bodyPr/>
                    <a:p>
                      <a:pPr algn="ctr">
                        <a:buNone/>
                      </a:pPr>
                      <a:r>
                        <a:rPr lang="zh-CN" altLang="en-US" sz="1600" b="1">
                          <a:solidFill>
                            <a:schemeClr val="bg1"/>
                          </a:solidFill>
                          <a:latin typeface="Times New Roman" panose="02020603050405020304" pitchFamily="18" charset="0"/>
                          <a:ea typeface="微软雅黑" panose="020B0503020204020204" pitchFamily="34" charset="-122"/>
                          <a:sym typeface="+mn-ea"/>
                        </a:rPr>
                        <a:t>表征</a:t>
                      </a:r>
                      <a:endParaRPr lang="zh-CN" altLang="en-US" sz="1600" b="1">
                        <a:solidFill>
                          <a:schemeClr val="bg1"/>
                        </a:solidFill>
                        <a:latin typeface="Times New Roman" panose="02020603050405020304" pitchFamily="18" charset="0"/>
                        <a:ea typeface="微软雅黑" panose="020B0503020204020204" pitchFamily="34" charset="-122"/>
                        <a:sym typeface="+mn-ea"/>
                      </a:endParaRPr>
                    </a:p>
                  </a:txBody>
                  <a:tcPr anchor="ctr" anchorCtr="0">
                    <a:solidFill>
                      <a:srgbClr val="FFC000"/>
                    </a:solidFill>
                  </a:tcPr>
                </a:tc>
              </a:tr>
              <a:tr h="1032510">
                <a:tc>
                  <a:txBody>
                    <a:bodyPr/>
                    <a:p>
                      <a:pPr algn="ctr">
                        <a:buNone/>
                      </a:pPr>
                      <a:r>
                        <a:rPr lang="en-US" altLang="zh-CN" sz="1600" b="0">
                          <a:latin typeface="Times New Roman" panose="02020603050405020304" pitchFamily="18" charset="0"/>
                          <a:ea typeface="微软雅黑" panose="020B0503020204020204" pitchFamily="34" charset="-122"/>
                          <a:cs typeface="Times New Roman" panose="02020603050405020304" pitchFamily="18" charset="0"/>
                        </a:rPr>
                        <a:t>I1</a:t>
                      </a:r>
                      <a:endParaRPr lang="en-US" altLang="zh-CN"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小波分解</a:t>
                      </a:r>
                      <a:r>
                        <a:rPr lang="en-US" altLang="zh-CN" sz="1600" b="0">
                          <a:latin typeface="Times New Roman" panose="02020603050405020304" pitchFamily="18" charset="0"/>
                          <a:ea typeface="微软雅黑" panose="020B0503020204020204" pitchFamily="34" charset="-122"/>
                          <a:cs typeface="Times New Roman" panose="02020603050405020304" pitchFamily="18" charset="0"/>
                        </a:rPr>
                        <a:t>1~5</a:t>
                      </a: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级上各级裂缝扩展事件数量总和</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dirty="0">
                          <a:latin typeface="Times New Roman" panose="02020603050405020304" pitchFamily="18" charset="0"/>
                          <a:ea typeface="微软雅黑" panose="020B0503020204020204" pitchFamily="34" charset="-122"/>
                          <a:cs typeface="微软雅黑" panose="020B0503020204020204" pitchFamily="34" charset="-122"/>
                          <a:sym typeface="+mn-ea"/>
                        </a:rPr>
                        <a:t>低分解等级裂缝扩展事件数量</a:t>
                      </a:r>
                      <a:endParaRPr lang="zh-CN" altLang="en-US" sz="1600" b="0" dirty="0">
                        <a:latin typeface="Times New Roman" panose="02020603050405020304" pitchFamily="18" charset="0"/>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高频频带</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主裂缝扩展</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活跃程度</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r>
              <a:tr h="1032510">
                <a:tc>
                  <a:txBody>
                    <a:bodyPr/>
                    <a:p>
                      <a:pPr algn="ctr">
                        <a:buNone/>
                      </a:pPr>
                      <a:r>
                        <a:rPr lang="en-US" altLang="zh-CN" sz="1600" b="0">
                          <a:latin typeface="Times New Roman" panose="02020603050405020304" pitchFamily="18" charset="0"/>
                          <a:ea typeface="微软雅黑" panose="020B0503020204020204" pitchFamily="34" charset="-122"/>
                          <a:cs typeface="Times New Roman" panose="02020603050405020304" pitchFamily="18" charset="0"/>
                        </a:rPr>
                        <a:t>I2</a:t>
                      </a:r>
                      <a:endParaRPr lang="en-US" altLang="zh-CN"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sym typeface="+mn-ea"/>
                        </a:rPr>
                        <a:t>小波分解</a:t>
                      </a:r>
                      <a:r>
                        <a:rPr lang="en-US" altLang="zh-CN" sz="1600" b="0">
                          <a:latin typeface="Times New Roman" panose="02020603050405020304" pitchFamily="18" charset="0"/>
                          <a:ea typeface="微软雅黑" panose="020B0503020204020204" pitchFamily="34" charset="-122"/>
                          <a:cs typeface="Times New Roman" panose="02020603050405020304" pitchFamily="18" charset="0"/>
                          <a:sym typeface="+mn-ea"/>
                        </a:rPr>
                        <a:t>6~10</a:t>
                      </a:r>
                      <a:r>
                        <a:rPr lang="zh-CN" altLang="en-US" sz="1600" b="0">
                          <a:latin typeface="Times New Roman" panose="02020603050405020304" pitchFamily="18" charset="0"/>
                          <a:ea typeface="微软雅黑" panose="020B0503020204020204" pitchFamily="34" charset="-122"/>
                          <a:cs typeface="Times New Roman" panose="02020603050405020304" pitchFamily="18" charset="0"/>
                          <a:sym typeface="+mn-ea"/>
                        </a:rPr>
                        <a:t>级上各级裂缝扩展事件数量总和</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dirty="0">
                          <a:latin typeface="Times New Roman" panose="02020603050405020304" pitchFamily="18" charset="0"/>
                          <a:ea typeface="微软雅黑" panose="020B0503020204020204" pitchFamily="34" charset="-122"/>
                          <a:cs typeface="微软雅黑" panose="020B0503020204020204" pitchFamily="34" charset="-122"/>
                          <a:sym typeface="+mn-ea"/>
                        </a:rPr>
                        <a:t>高分解等级裂缝扩展事件数量</a:t>
                      </a:r>
                      <a:endParaRPr lang="zh-CN" altLang="en-US" sz="1600" b="0" dirty="0">
                        <a:latin typeface="Times New Roman" panose="02020603050405020304" pitchFamily="18" charset="0"/>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低频频带</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缝网扩展</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活跃程度</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r>
              <a:tr h="1032510">
                <a:tc>
                  <a:txBody>
                    <a:bodyPr/>
                    <a:p>
                      <a:pPr algn="ctr">
                        <a:buNone/>
                      </a:pPr>
                      <a:r>
                        <a:rPr lang="en-US" altLang="zh-CN" sz="1600" b="0">
                          <a:latin typeface="Times New Roman" panose="02020603050405020304" pitchFamily="18" charset="0"/>
                          <a:ea typeface="微软雅黑" panose="020B0503020204020204" pitchFamily="34" charset="-122"/>
                          <a:cs typeface="Times New Roman" panose="02020603050405020304" pitchFamily="18" charset="0"/>
                        </a:rPr>
                        <a:t>I3</a:t>
                      </a:r>
                      <a:endParaRPr lang="en-US" altLang="zh-CN"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sym typeface="+mn-ea"/>
                        </a:rPr>
                        <a:t>小波分解</a:t>
                      </a:r>
                      <a:r>
                        <a:rPr lang="en-US" altLang="zh-CN" sz="1600" b="0">
                          <a:latin typeface="Times New Roman" panose="02020603050405020304" pitchFamily="18" charset="0"/>
                          <a:ea typeface="微软雅黑" panose="020B0503020204020204" pitchFamily="34" charset="-122"/>
                          <a:cs typeface="Times New Roman" panose="02020603050405020304" pitchFamily="18" charset="0"/>
                          <a:sym typeface="+mn-ea"/>
                        </a:rPr>
                        <a:t>1~10</a:t>
                      </a:r>
                      <a:r>
                        <a:rPr lang="zh-CN" altLang="en-US" sz="1600" b="0">
                          <a:latin typeface="Times New Roman" panose="02020603050405020304" pitchFamily="18" charset="0"/>
                          <a:ea typeface="微软雅黑" panose="020B0503020204020204" pitchFamily="34" charset="-122"/>
                          <a:cs typeface="Times New Roman" panose="02020603050405020304" pitchFamily="18" charset="0"/>
                          <a:sym typeface="+mn-ea"/>
                        </a:rPr>
                        <a:t>级上各级裂缝扩展</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sym typeface="+mn-ea"/>
                      </a:endParaRPr>
                    </a:p>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sym typeface="+mn-ea"/>
                        </a:rPr>
                        <a:t>能量总和</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dirty="0">
                          <a:latin typeface="Times New Roman" panose="02020603050405020304" pitchFamily="18" charset="0"/>
                          <a:ea typeface="微软雅黑" panose="020B0503020204020204" pitchFamily="34" charset="-122"/>
                          <a:cs typeface="微软雅黑" panose="020B0503020204020204" pitchFamily="34" charset="-122"/>
                          <a:sym typeface="+mn-ea"/>
                        </a:rPr>
                        <a:t>总裂缝扩展能量</a:t>
                      </a:r>
                      <a:endParaRPr lang="zh-CN" altLang="en-US" sz="1600" b="0" dirty="0">
                        <a:latin typeface="Times New Roman" panose="02020603050405020304" pitchFamily="18" charset="0"/>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全部频带</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裂缝扩展</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强度</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r>
            </a:tbl>
          </a:graphicData>
        </a:graphic>
      </p:graphicFrame>
      <p:graphicFrame>
        <p:nvGraphicFramePr>
          <p:cNvPr id="11" name="表格 10"/>
          <p:cNvGraphicFramePr/>
          <p:nvPr>
            <p:custDataLst>
              <p:tags r:id="rId2"/>
            </p:custDataLst>
          </p:nvPr>
        </p:nvGraphicFramePr>
        <p:xfrm>
          <a:off x="6812280" y="4000500"/>
          <a:ext cx="4860290" cy="2072640"/>
        </p:xfrm>
        <a:graphic>
          <a:graphicData uri="http://schemas.openxmlformats.org/drawingml/2006/table">
            <a:tbl>
              <a:tblPr firstRow="1" bandRow="1">
                <a:tableStyleId>{5940675A-B579-460E-94D1-54222C63F5DA}</a:tableStyleId>
              </a:tblPr>
              <a:tblGrid>
                <a:gridCol w="1080135"/>
                <a:gridCol w="2700020"/>
                <a:gridCol w="1080135"/>
              </a:tblGrid>
              <a:tr h="335280">
                <a:tc>
                  <a:txBody>
                    <a:bodyPr/>
                    <a:p>
                      <a:pPr algn="ctr">
                        <a:buNone/>
                      </a:pPr>
                      <a:r>
                        <a:rPr lang="zh-CN" altLang="en-US" sz="1600" b="1">
                          <a:solidFill>
                            <a:schemeClr val="bg1"/>
                          </a:solidFill>
                          <a:latin typeface="Times New Roman" panose="02020603050405020304" pitchFamily="18" charset="0"/>
                          <a:ea typeface="微软雅黑" panose="020B0503020204020204" pitchFamily="34" charset="-122"/>
                        </a:rPr>
                        <a:t>权重</a:t>
                      </a:r>
                      <a:endParaRPr lang="zh-CN" altLang="en-US" sz="1600" b="1">
                        <a:solidFill>
                          <a:schemeClr val="bg1"/>
                        </a:solidFill>
                        <a:latin typeface="Times New Roman" panose="02020603050405020304" pitchFamily="18" charset="0"/>
                        <a:ea typeface="微软雅黑" panose="020B0503020204020204" pitchFamily="34" charset="-122"/>
                      </a:endParaRPr>
                    </a:p>
                  </a:txBody>
                  <a:tcPr anchor="ctr" anchorCtr="0">
                    <a:solidFill>
                      <a:srgbClr val="FFC000"/>
                    </a:solidFill>
                  </a:tcPr>
                </a:tc>
                <a:tc>
                  <a:txBody>
                    <a:bodyPr/>
                    <a:p>
                      <a:pPr algn="ctr">
                        <a:buNone/>
                      </a:pPr>
                      <a:r>
                        <a:rPr lang="zh-CN" altLang="en-US" sz="1600" b="1">
                          <a:solidFill>
                            <a:schemeClr val="bg1"/>
                          </a:solidFill>
                          <a:latin typeface="Times New Roman" panose="02020603050405020304" pitchFamily="18" charset="0"/>
                          <a:ea typeface="微软雅黑" panose="020B0503020204020204" pitchFamily="34" charset="-122"/>
                        </a:rPr>
                        <a:t>含义</a:t>
                      </a:r>
                      <a:endParaRPr lang="zh-CN" altLang="en-US" sz="1600" b="1">
                        <a:solidFill>
                          <a:schemeClr val="bg1"/>
                        </a:solidFill>
                        <a:latin typeface="Times New Roman" panose="02020603050405020304" pitchFamily="18" charset="0"/>
                        <a:ea typeface="微软雅黑" panose="020B0503020204020204" pitchFamily="34" charset="-122"/>
                      </a:endParaRPr>
                    </a:p>
                  </a:txBody>
                  <a:tcPr anchor="ctr" anchorCtr="0">
                    <a:solidFill>
                      <a:srgbClr val="FFC000"/>
                    </a:solidFill>
                  </a:tcPr>
                </a:tc>
                <a:tc>
                  <a:txBody>
                    <a:bodyPr/>
                    <a:p>
                      <a:pPr algn="ctr">
                        <a:buNone/>
                      </a:pPr>
                      <a:r>
                        <a:rPr lang="zh-CN" altLang="en-US" sz="16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最优权重</a:t>
                      </a:r>
                      <a:endParaRPr lang="zh-CN" altLang="en-US" sz="16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solidFill>
                      <a:srgbClr val="FFC000"/>
                    </a:solidFill>
                  </a:tcPr>
                </a:tc>
              </a:tr>
              <a:tr h="579120">
                <a:tc>
                  <a:txBody>
                    <a:bodyPr/>
                    <a:p>
                      <a:pPr algn="ctr">
                        <a:buNone/>
                      </a:pPr>
                      <a:r>
                        <a:rPr lang="en-US" altLang="zh-CN" sz="1600" b="0">
                          <a:latin typeface="Times New Roman" panose="02020603050405020304" pitchFamily="18" charset="0"/>
                          <a:ea typeface="微软雅黑" panose="020B0503020204020204" pitchFamily="34" charset="-122"/>
                          <a:cs typeface="Times New Roman" panose="02020603050405020304" pitchFamily="18" charset="0"/>
                        </a:rPr>
                        <a:t>w1</a:t>
                      </a:r>
                      <a:endParaRPr lang="en-US" altLang="zh-CN"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rPr>
                        <a:t>主裂缝扩展活跃程度与改造体积的相关性</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en-US" altLang="zh-CN" sz="1600" b="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0.25</a:t>
                      </a:r>
                      <a:endParaRPr lang="en-US" altLang="zh-CN" sz="1600" b="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anchor="ctr" anchorCtr="0"/>
                </a:tc>
              </a:tr>
              <a:tr h="579120">
                <a:tc>
                  <a:txBody>
                    <a:bodyPr/>
                    <a:p>
                      <a:pPr algn="ctr">
                        <a:buNone/>
                      </a:pPr>
                      <a:r>
                        <a:rPr lang="en-US" altLang="zh-CN" sz="1600" b="0">
                          <a:latin typeface="Times New Roman" panose="02020603050405020304" pitchFamily="18" charset="0"/>
                          <a:ea typeface="微软雅黑" panose="020B0503020204020204" pitchFamily="34" charset="-122"/>
                          <a:cs typeface="Times New Roman" panose="02020603050405020304" pitchFamily="18" charset="0"/>
                        </a:rPr>
                        <a:t>w2</a:t>
                      </a:r>
                      <a:endParaRPr lang="en-US" altLang="zh-CN"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sym typeface="+mn-ea"/>
                        </a:rPr>
                        <a:t>缝网扩展活跃程度与改造体积的相关性</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anchor="ctr" anchorCtr="0"/>
                </a:tc>
                <a:tc>
                  <a:txBody>
                    <a:bodyPr/>
                    <a:p>
                      <a:pPr algn="ctr">
                        <a:buNone/>
                      </a:pPr>
                      <a:r>
                        <a:rPr lang="en-US" altLang="zh-CN" sz="1600" b="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0.15</a:t>
                      </a:r>
                      <a:endParaRPr lang="en-US" altLang="zh-CN" sz="1600" b="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anchor="ctr" anchorCtr="0"/>
                </a:tc>
              </a:tr>
              <a:tr h="579120">
                <a:tc>
                  <a:txBody>
                    <a:bodyPr/>
                    <a:p>
                      <a:pPr algn="ctr">
                        <a:buNone/>
                      </a:pPr>
                      <a:r>
                        <a:rPr lang="en-US" altLang="zh-CN" sz="1600" b="0">
                          <a:latin typeface="Times New Roman" panose="02020603050405020304" pitchFamily="18" charset="0"/>
                          <a:ea typeface="微软雅黑" panose="020B0503020204020204" pitchFamily="34" charset="-122"/>
                          <a:cs typeface="Times New Roman" panose="02020603050405020304" pitchFamily="18" charset="0"/>
                        </a:rPr>
                        <a:t>w3</a:t>
                      </a:r>
                      <a:endParaRPr lang="en-US" altLang="zh-CN"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zh-CN" altLang="en-US" sz="1600" b="0">
                          <a:latin typeface="Times New Roman" panose="02020603050405020304" pitchFamily="18" charset="0"/>
                          <a:ea typeface="微软雅黑" panose="020B0503020204020204" pitchFamily="34" charset="-122"/>
                          <a:cs typeface="Times New Roman" panose="02020603050405020304" pitchFamily="18" charset="0"/>
                          <a:sym typeface="+mn-ea"/>
                        </a:rPr>
                        <a:t>裂缝扩展强度</a:t>
                      </a:r>
                      <a:r>
                        <a:rPr lang="zh-CN" altLang="en-US" sz="1600" b="0">
                          <a:latin typeface="Times New Roman" panose="02020603050405020304" pitchFamily="18" charset="0"/>
                          <a:ea typeface="微软雅黑" panose="020B0503020204020204" pitchFamily="34" charset="-122"/>
                          <a:cs typeface="Times New Roman" panose="02020603050405020304" pitchFamily="18" charset="0"/>
                          <a:sym typeface="+mn-ea"/>
                        </a:rPr>
                        <a:t>与改造体积的相关性</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en-US" altLang="zh-CN" sz="1600" b="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0.6</a:t>
                      </a:r>
                      <a:endParaRPr lang="en-US" altLang="zh-CN" sz="1600" b="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anchor="ctr" anchorCtr="0"/>
                </a:tc>
              </a:tr>
            </a:tbl>
          </a:graphicData>
        </a:graphic>
      </p:graphicFrame>
      <p:graphicFrame>
        <p:nvGraphicFramePr>
          <p:cNvPr id="12" name="表格 11"/>
          <p:cNvGraphicFramePr/>
          <p:nvPr>
            <p:custDataLst>
              <p:tags r:id="rId3"/>
            </p:custDataLst>
          </p:nvPr>
        </p:nvGraphicFramePr>
        <p:xfrm>
          <a:off x="6812280" y="2555240"/>
          <a:ext cx="4865370" cy="1341120"/>
        </p:xfrm>
        <a:graphic>
          <a:graphicData uri="http://schemas.openxmlformats.org/drawingml/2006/table">
            <a:tbl>
              <a:tblPr firstRow="1" bandRow="1">
                <a:tableStyleId>{5940675A-B579-460E-94D1-54222C63F5DA}</a:tableStyleId>
              </a:tblPr>
              <a:tblGrid>
                <a:gridCol w="2432685"/>
                <a:gridCol w="2432685"/>
              </a:tblGrid>
              <a:tr h="335280">
                <a:tc>
                  <a:txBody>
                    <a:bodyPr/>
                    <a:p>
                      <a:pPr algn="ctr">
                        <a:buNone/>
                      </a:pPr>
                      <a:r>
                        <a:rPr lang="zh-CN" altLang="en-US" sz="1600" b="1">
                          <a:solidFill>
                            <a:schemeClr val="bg1"/>
                          </a:solidFill>
                          <a:latin typeface="Times New Roman" panose="02020603050405020304" pitchFamily="18" charset="0"/>
                          <a:ea typeface="微软雅黑" panose="020B0503020204020204" pitchFamily="34" charset="-122"/>
                        </a:rPr>
                        <a:t>权重</a:t>
                      </a:r>
                      <a:r>
                        <a:rPr lang="zh-CN" altLang="en-US" sz="1600" b="1">
                          <a:solidFill>
                            <a:schemeClr val="bg1"/>
                          </a:solidFill>
                          <a:latin typeface="Times New Roman" panose="02020603050405020304" pitchFamily="18" charset="0"/>
                          <a:ea typeface="微软雅黑" panose="020B0503020204020204" pitchFamily="34" charset="-122"/>
                        </a:rPr>
                        <a:t>组合</a:t>
                      </a:r>
                      <a:endParaRPr lang="zh-CN" altLang="en-US" sz="1600" b="1">
                        <a:solidFill>
                          <a:schemeClr val="bg1"/>
                        </a:solidFill>
                        <a:latin typeface="Times New Roman" panose="02020603050405020304" pitchFamily="18" charset="0"/>
                        <a:ea typeface="微软雅黑" panose="020B0503020204020204" pitchFamily="34" charset="-122"/>
                      </a:endParaRPr>
                    </a:p>
                  </a:txBody>
                  <a:tcPr anchor="ctr" anchorCtr="0">
                    <a:solidFill>
                      <a:srgbClr val="FFC000"/>
                    </a:solidFill>
                  </a:tcPr>
                </a:tc>
                <a:tc>
                  <a:txBody>
                    <a:bodyPr/>
                    <a:p>
                      <a:pPr algn="ctr">
                        <a:buNone/>
                      </a:pPr>
                      <a:r>
                        <a:rPr lang="zh-CN" altLang="en-US" sz="16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6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SRV</a:t>
                      </a:r>
                      <a:r>
                        <a:rPr lang="zh-CN" altLang="en-US" sz="16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相关性</a:t>
                      </a:r>
                      <a:r>
                        <a:rPr lang="en-US" altLang="zh-CN" sz="16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6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²</a:t>
                      </a:r>
                      <a:endParaRPr lang="en-US" altLang="zh-CN" sz="16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solidFill>
                      <a:srgbClr val="FFC000"/>
                    </a:solidFill>
                  </a:tcPr>
                </a:tc>
              </a:tr>
              <a:tr h="335280">
                <a:tc>
                  <a:txBody>
                    <a:bodyPr/>
                    <a:p>
                      <a:pPr algn="ctr">
                        <a:buNone/>
                      </a:pPr>
                      <a:r>
                        <a:rPr lang="en-US" altLang="zh-CN" sz="1600" b="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w1=0.6</a:t>
                      </a:r>
                      <a:r>
                        <a:rPr lang="en-US" altLang="zh-CN" sz="1600" b="0">
                          <a:latin typeface="Times New Roman" panose="02020603050405020304" pitchFamily="18" charset="0"/>
                          <a:ea typeface="微软雅黑" panose="020B0503020204020204" pitchFamily="34" charset="-122"/>
                          <a:cs typeface="Times New Roman" panose="02020603050405020304" pitchFamily="18" charset="0"/>
                        </a:rPr>
                        <a:t>,w2=0.2,w3=0.2</a:t>
                      </a:r>
                      <a:endParaRPr lang="zh-CN" altLang="en-US"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sym typeface="+mn-ea"/>
                        </a:rPr>
                        <a:t>0.42</a:t>
                      </a:r>
                      <a:endPar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anchor="ctr" anchorCtr="0"/>
                </a:tc>
              </a:tr>
              <a:tr h="335280">
                <a:tc>
                  <a:txBody>
                    <a:bodyPr/>
                    <a:p>
                      <a:pPr algn="ctr">
                        <a:buNone/>
                      </a:pPr>
                      <a:r>
                        <a:rPr lang="en-US" altLang="zh-CN" sz="1600">
                          <a:latin typeface="Times New Roman" panose="02020603050405020304" pitchFamily="18" charset="0"/>
                          <a:ea typeface="微软雅黑" panose="020B0503020204020204" pitchFamily="34" charset="-122"/>
                          <a:cs typeface="Times New Roman" panose="02020603050405020304" pitchFamily="18" charset="0"/>
                          <a:sym typeface="+mn-ea"/>
                        </a:rPr>
                        <a:t>w1=0.2,</a:t>
                      </a:r>
                      <a:r>
                        <a:rPr lang="en-US" altLang="zh-CN" sz="16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w2=0.6</a:t>
                      </a:r>
                      <a:r>
                        <a:rPr lang="en-US" altLang="zh-CN" sz="1600">
                          <a:latin typeface="Times New Roman" panose="02020603050405020304" pitchFamily="18" charset="0"/>
                          <a:ea typeface="微软雅黑" panose="020B0503020204020204" pitchFamily="34" charset="-122"/>
                          <a:cs typeface="Times New Roman" panose="02020603050405020304" pitchFamily="18" charset="0"/>
                          <a:sym typeface="+mn-ea"/>
                        </a:rPr>
                        <a:t>,w3=0.2</a:t>
                      </a:r>
                      <a:endParaRPr lang="en-US" altLang="zh-CN" sz="1600" b="0">
                        <a:latin typeface="Times New Roman" panose="02020603050405020304" pitchFamily="18" charset="0"/>
                        <a:ea typeface="微软雅黑" panose="020B0503020204020204" pitchFamily="34" charset="-122"/>
                        <a:cs typeface="Times New Roman" panose="02020603050405020304" pitchFamily="18" charset="0"/>
                      </a:endParaRPr>
                    </a:p>
                  </a:txBody>
                  <a:tcPr anchor="ctr" anchorCtr="0"/>
                </a:tc>
                <a:tc>
                  <a:txBody>
                    <a:bodyPr/>
                    <a:p>
                      <a:pPr algn="ctr">
                        <a:buNone/>
                      </a:pP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sym typeface="+mn-ea"/>
                        </a:rPr>
                        <a:t>0.45</a:t>
                      </a:r>
                      <a:endPar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anchor="ctr" anchorCtr="0"/>
                </a:tc>
              </a:tr>
              <a:tr h="335280">
                <a:tc>
                  <a:txBody>
                    <a:bodyPr/>
                    <a:p>
                      <a:pPr algn="ctr">
                        <a:buNone/>
                      </a:pPr>
                      <a:r>
                        <a:rPr lang="en-US" altLang="zh-CN" sz="1600">
                          <a:latin typeface="Times New Roman" panose="02020603050405020304" pitchFamily="18" charset="0"/>
                          <a:ea typeface="微软雅黑" panose="020B0503020204020204" pitchFamily="34" charset="-122"/>
                          <a:cs typeface="Times New Roman" panose="02020603050405020304" pitchFamily="18" charset="0"/>
                          <a:sym typeface="+mn-ea"/>
                        </a:rPr>
                        <a:t>w1=0.2,w2=0.2,</a:t>
                      </a:r>
                      <a:r>
                        <a:rPr lang="en-US" altLang="zh-CN" sz="16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w3=0.6</a:t>
                      </a:r>
                      <a:endParaRPr lang="en-US" altLang="zh-CN" sz="1600" b="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anchor="ctr" anchorCtr="0"/>
                </a:tc>
                <a:tc>
                  <a:txBody>
                    <a:bodyPr/>
                    <a:p>
                      <a:pPr algn="ctr">
                        <a:buNone/>
                      </a:pPr>
                      <a:r>
                        <a:rPr lang="en-US" altLang="zh-CN" sz="1600" b="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0.58</a:t>
                      </a:r>
                      <a:endParaRPr lang="en-US" altLang="zh-CN" sz="1600" b="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anchor="ctr" anchorCtr="0"/>
                </a:tc>
              </a:tr>
            </a:tbl>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11427437" cy="506730"/>
          </a:xfrm>
          <a:prstGeom prst="rect">
            <a:avLst/>
          </a:prstGeom>
          <a:noFill/>
          <a:ln>
            <a:noFill/>
          </a:ln>
        </p:spPr>
        <p:txBody>
          <a:bodyPr wrap="square">
            <a:spAutoFit/>
          </a:bodyPr>
          <a:lstStyle/>
          <a:p>
            <a:pPr marL="802005" lvl="0" indent="-802005">
              <a:lnSpc>
                <a:spcPct val="150000"/>
              </a:lnSpc>
              <a:buClr>
                <a:srgbClr val="FF0000"/>
              </a:buClr>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、开展室内三轴压裂实验，验证小波分析模型的</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准确性</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sym typeface="+mn-ea"/>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研究共开展</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组页岩真三轴压裂实验</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，监测压裂过程中压力变化，并验证了小波分析模型</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左图为我团队</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LQM-II</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型真三轴压裂设备</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可实现最大应力</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30MPa</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，最大排量</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100ml/min</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，承压</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65MPa</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，可实时监测压力</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右图为本实验所用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页岩样品</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，取自长宁龙马溪组露头，采用环氧树脂固结钢制井筒，</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累计</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发表多篇高水平论文</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 name="图片 7"/>
          <p:cNvPicPr>
            <a:picLocks noChangeAspect="1"/>
          </p:cNvPicPr>
          <p:nvPr/>
        </p:nvPicPr>
        <p:blipFill>
          <a:blip r:embed="rId1"/>
          <a:stretch>
            <a:fillRect/>
          </a:stretch>
        </p:blipFill>
        <p:spPr>
          <a:xfrm>
            <a:off x="314325" y="2804160"/>
            <a:ext cx="4654550" cy="3244215"/>
          </a:xfrm>
          <a:prstGeom prst="rect">
            <a:avLst/>
          </a:prstGeom>
        </p:spPr>
      </p:pic>
      <p:sp>
        <p:nvSpPr>
          <p:cNvPr id="11" name="文本框 10"/>
          <p:cNvSpPr txBox="1"/>
          <p:nvPr/>
        </p:nvSpPr>
        <p:spPr>
          <a:xfrm>
            <a:off x="489585" y="6055360"/>
            <a:ext cx="11367770" cy="266700"/>
          </a:xfrm>
          <a:prstGeom prst="rect">
            <a:avLst/>
          </a:prstGeom>
          <a:noFill/>
        </p:spPr>
        <p:txBody>
          <a:bodyPr wrap="square" rtlCol="0">
            <a:no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三轴压裂实验设备及压裂岩样照片</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5" name="图片 4"/>
          <p:cNvPicPr>
            <a:picLocks noChangeAspect="1"/>
          </p:cNvPicPr>
          <p:nvPr/>
        </p:nvPicPr>
        <p:blipFill rotWithShape="1">
          <a:blip r:embed="rId2"/>
          <a:srcRect l="29250" t="11642" r="31075" b="2654"/>
          <a:stretch>
            <a:fillRect/>
          </a:stretch>
        </p:blipFill>
        <p:spPr>
          <a:xfrm>
            <a:off x="5050305" y="3039402"/>
            <a:ext cx="1260000" cy="1260000"/>
          </a:xfrm>
          <a:prstGeom prst="rect">
            <a:avLst/>
          </a:prstGeom>
        </p:spPr>
      </p:pic>
      <p:pic>
        <p:nvPicPr>
          <p:cNvPr id="7" name="图片 6"/>
          <p:cNvPicPr>
            <a:picLocks noChangeAspect="1"/>
          </p:cNvPicPr>
          <p:nvPr/>
        </p:nvPicPr>
        <p:blipFill rotWithShape="1">
          <a:blip r:embed="rId3"/>
          <a:srcRect l="4779" t="29324" r="12631" b="32810"/>
          <a:stretch>
            <a:fillRect/>
          </a:stretch>
        </p:blipFill>
        <p:spPr>
          <a:xfrm rot="-5400000">
            <a:off x="6393434" y="3054416"/>
            <a:ext cx="1260000" cy="1260000"/>
          </a:xfrm>
          <a:prstGeom prst="rect">
            <a:avLst/>
          </a:prstGeom>
        </p:spPr>
      </p:pic>
      <p:pic>
        <p:nvPicPr>
          <p:cNvPr id="10" name="图片 9"/>
          <p:cNvPicPr>
            <a:picLocks noChangeAspect="1"/>
          </p:cNvPicPr>
          <p:nvPr/>
        </p:nvPicPr>
        <p:blipFill rotWithShape="1">
          <a:blip r:embed="rId4"/>
          <a:srcRect l="32325" t="14185" r="31947" b="7985"/>
          <a:stretch>
            <a:fillRect/>
          </a:stretch>
        </p:blipFill>
        <p:spPr>
          <a:xfrm>
            <a:off x="7729253" y="3039402"/>
            <a:ext cx="1260000" cy="1260000"/>
          </a:xfrm>
          <a:prstGeom prst="rect">
            <a:avLst/>
          </a:prstGeom>
        </p:spPr>
      </p:pic>
      <p:pic>
        <p:nvPicPr>
          <p:cNvPr id="13" name="图片 12"/>
          <p:cNvPicPr>
            <a:picLocks noChangeAspect="1"/>
          </p:cNvPicPr>
          <p:nvPr/>
        </p:nvPicPr>
        <p:blipFill rotWithShape="1">
          <a:blip r:embed="rId5"/>
          <a:srcRect l="30075" t="11642" r="30826" b="5799"/>
          <a:stretch>
            <a:fillRect/>
          </a:stretch>
        </p:blipFill>
        <p:spPr>
          <a:xfrm>
            <a:off x="9070555" y="3039402"/>
            <a:ext cx="1260000" cy="1260000"/>
          </a:xfrm>
          <a:prstGeom prst="rect">
            <a:avLst/>
          </a:prstGeom>
        </p:spPr>
      </p:pic>
      <p:pic>
        <p:nvPicPr>
          <p:cNvPr id="15" name="图片 14"/>
          <p:cNvPicPr>
            <a:picLocks noChangeAspect="1"/>
          </p:cNvPicPr>
          <p:nvPr/>
        </p:nvPicPr>
        <p:blipFill rotWithShape="1">
          <a:blip r:embed="rId6"/>
          <a:srcRect l="2640" t="28150" r="6395" b="30383"/>
          <a:stretch>
            <a:fillRect/>
          </a:stretch>
        </p:blipFill>
        <p:spPr>
          <a:xfrm rot="-5400000">
            <a:off x="5055942" y="4549621"/>
            <a:ext cx="1260000" cy="1259840"/>
          </a:xfrm>
          <a:prstGeom prst="rect">
            <a:avLst/>
          </a:prstGeom>
        </p:spPr>
      </p:pic>
      <p:pic>
        <p:nvPicPr>
          <p:cNvPr id="18" name="图片 17"/>
          <p:cNvPicPr>
            <a:picLocks noChangeAspect="1"/>
          </p:cNvPicPr>
          <p:nvPr/>
        </p:nvPicPr>
        <p:blipFill rotWithShape="1">
          <a:blip r:embed="rId7"/>
          <a:srcRect l="5473" t="30355" r="7894" b="31130"/>
          <a:stretch>
            <a:fillRect/>
          </a:stretch>
        </p:blipFill>
        <p:spPr>
          <a:xfrm rot="-5400000">
            <a:off x="6397244" y="4526601"/>
            <a:ext cx="1260000" cy="1260000"/>
          </a:xfrm>
          <a:prstGeom prst="rect">
            <a:avLst/>
          </a:prstGeom>
        </p:spPr>
      </p:pic>
      <p:pic>
        <p:nvPicPr>
          <p:cNvPr id="22" name="图片 21"/>
          <p:cNvPicPr>
            <a:picLocks noChangeAspect="1"/>
          </p:cNvPicPr>
          <p:nvPr/>
        </p:nvPicPr>
        <p:blipFill rotWithShape="1">
          <a:blip r:embed="rId8"/>
          <a:srcRect l="5480" t="30667" r="10534" b="30555"/>
          <a:stretch>
            <a:fillRect/>
          </a:stretch>
        </p:blipFill>
        <p:spPr>
          <a:xfrm rot="-5400000">
            <a:off x="7736109" y="4532476"/>
            <a:ext cx="1260000" cy="1259840"/>
          </a:xfrm>
          <a:prstGeom prst="rect">
            <a:avLst/>
          </a:prstGeom>
        </p:spPr>
      </p:pic>
      <p:pic>
        <p:nvPicPr>
          <p:cNvPr id="24" name="图片 23"/>
          <p:cNvPicPr>
            <a:picLocks noChangeAspect="1"/>
          </p:cNvPicPr>
          <p:nvPr/>
        </p:nvPicPr>
        <p:blipFill rotWithShape="1">
          <a:blip r:embed="rId9"/>
          <a:srcRect l="9015" t="31216" r="10129" b="31562"/>
          <a:stretch>
            <a:fillRect/>
          </a:stretch>
        </p:blipFill>
        <p:spPr>
          <a:xfrm rot="-5400000">
            <a:off x="9077411" y="4538191"/>
            <a:ext cx="1260000" cy="1259840"/>
          </a:xfrm>
          <a:prstGeom prst="rect">
            <a:avLst/>
          </a:prstGeom>
        </p:spPr>
      </p:pic>
      <p:pic>
        <p:nvPicPr>
          <p:cNvPr id="26" name="图片 25"/>
          <p:cNvPicPr>
            <a:picLocks noChangeAspect="1"/>
          </p:cNvPicPr>
          <p:nvPr/>
        </p:nvPicPr>
        <p:blipFill rotWithShape="1">
          <a:blip r:embed="rId10"/>
          <a:srcRect t="29003" r="10444" b="29470"/>
          <a:stretch>
            <a:fillRect/>
          </a:stretch>
        </p:blipFill>
        <p:spPr>
          <a:xfrm rot="-5400000">
            <a:off x="10413840" y="4543906"/>
            <a:ext cx="1260000" cy="1259840"/>
          </a:xfrm>
          <a:prstGeom prst="rect">
            <a:avLst/>
          </a:prstGeom>
        </p:spPr>
      </p:pic>
      <p:pic>
        <p:nvPicPr>
          <p:cNvPr id="3" name="图片 2"/>
          <p:cNvPicPr>
            <a:picLocks noChangeAspect="1"/>
          </p:cNvPicPr>
          <p:nvPr/>
        </p:nvPicPr>
        <p:blipFill rotWithShape="1">
          <a:blip r:embed="rId2"/>
          <a:srcRect l="29250" t="11642" r="31075" b="2654"/>
          <a:stretch>
            <a:fillRect/>
          </a:stretch>
        </p:blipFill>
        <p:spPr>
          <a:xfrm>
            <a:off x="10412245" y="3039402"/>
            <a:ext cx="1260000" cy="1260000"/>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11427437" cy="506730"/>
          </a:xfrm>
          <a:prstGeom prst="rect">
            <a:avLst/>
          </a:prstGeom>
          <a:noFill/>
          <a:ln>
            <a:noFill/>
          </a:ln>
        </p:spPr>
        <p:txBody>
          <a:bodyPr wrap="square">
            <a:spAutoFit/>
          </a:bodyPr>
          <a:lstStyle/>
          <a:p>
            <a:pPr marL="802005" lvl="0" indent="-802005">
              <a:lnSpc>
                <a:spcPct val="150000"/>
              </a:lnSpc>
              <a:buClr>
                <a:srgbClr val="FF0000"/>
              </a:buClr>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开展室内三轴压裂实验，验证小波分析模型的准确性</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sym typeface="+mn-ea"/>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页岩试样加载过程中，对压力曲线进行</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小波分析</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声发射监测</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能量对比，两种方法的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高能量区在时间上高度吻合</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亚克力试块压裂</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裂缝产生</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瞬间，压力曲线突降，</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小波细节系数同时出现尖峰响应</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，与可视化裂缝扩展过程对应良好</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基于施工期压力曲线的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小波分析能够有效识别裂缝起裂与扩展事件</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，实现对裂缝扩展过程的可靠监测</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5"/>
          <p:cNvPicPr>
            <a:picLocks noChangeAspect="1"/>
          </p:cNvPicPr>
          <p:nvPr/>
        </p:nvPicPr>
        <p:blipFill>
          <a:blip r:embed="rId1"/>
          <a:stretch>
            <a:fillRect/>
          </a:stretch>
        </p:blipFill>
        <p:spPr>
          <a:xfrm>
            <a:off x="6007735" y="2512695"/>
            <a:ext cx="2552065" cy="1708150"/>
          </a:xfrm>
          <a:prstGeom prst="rect">
            <a:avLst/>
          </a:prstGeom>
        </p:spPr>
      </p:pic>
      <p:pic>
        <p:nvPicPr>
          <p:cNvPr id="10" name="图片 9"/>
          <p:cNvPicPr>
            <a:picLocks noChangeAspect="1"/>
          </p:cNvPicPr>
          <p:nvPr/>
        </p:nvPicPr>
        <p:blipFill>
          <a:blip r:embed="rId2"/>
          <a:stretch>
            <a:fillRect/>
          </a:stretch>
        </p:blipFill>
        <p:spPr>
          <a:xfrm>
            <a:off x="6144260" y="4290060"/>
            <a:ext cx="2279015" cy="1752600"/>
          </a:xfrm>
          <a:prstGeom prst="rect">
            <a:avLst/>
          </a:prstGeom>
        </p:spPr>
      </p:pic>
      <p:pic>
        <p:nvPicPr>
          <p:cNvPr id="11" name="图片 10"/>
          <p:cNvPicPr>
            <a:picLocks noChangeAspect="1"/>
          </p:cNvPicPr>
          <p:nvPr/>
        </p:nvPicPr>
        <p:blipFill>
          <a:blip r:embed="rId3"/>
          <a:stretch>
            <a:fillRect/>
          </a:stretch>
        </p:blipFill>
        <p:spPr>
          <a:xfrm>
            <a:off x="8940165" y="4290060"/>
            <a:ext cx="2270125" cy="1745615"/>
          </a:xfrm>
          <a:prstGeom prst="rect">
            <a:avLst/>
          </a:prstGeom>
        </p:spPr>
      </p:pic>
      <p:pic>
        <p:nvPicPr>
          <p:cNvPr id="12" name="图片 11"/>
          <p:cNvPicPr>
            <a:picLocks noChangeAspect="1"/>
          </p:cNvPicPr>
          <p:nvPr/>
        </p:nvPicPr>
        <p:blipFill>
          <a:blip r:embed="rId4"/>
          <a:stretch>
            <a:fillRect/>
          </a:stretch>
        </p:blipFill>
        <p:spPr>
          <a:xfrm>
            <a:off x="8734425" y="2555240"/>
            <a:ext cx="1381760" cy="1663065"/>
          </a:xfrm>
          <a:prstGeom prst="rect">
            <a:avLst/>
          </a:prstGeom>
        </p:spPr>
      </p:pic>
      <p:pic>
        <p:nvPicPr>
          <p:cNvPr id="13" name="图片 12"/>
          <p:cNvPicPr>
            <a:picLocks noChangeAspect="1"/>
          </p:cNvPicPr>
          <p:nvPr/>
        </p:nvPicPr>
        <p:blipFill>
          <a:blip r:embed="rId5"/>
          <a:stretch>
            <a:fillRect/>
          </a:stretch>
        </p:blipFill>
        <p:spPr>
          <a:xfrm>
            <a:off x="10290810" y="2512695"/>
            <a:ext cx="1421130" cy="1705610"/>
          </a:xfrm>
          <a:prstGeom prst="rect">
            <a:avLst/>
          </a:prstGeom>
        </p:spPr>
      </p:pic>
      <p:pic>
        <p:nvPicPr>
          <p:cNvPr id="5" name="图片 4"/>
          <p:cNvPicPr>
            <a:picLocks noChangeAspect="1"/>
          </p:cNvPicPr>
          <p:nvPr/>
        </p:nvPicPr>
        <p:blipFill>
          <a:blip r:embed="rId6"/>
          <a:stretch>
            <a:fillRect/>
          </a:stretch>
        </p:blipFill>
        <p:spPr>
          <a:xfrm>
            <a:off x="3258185" y="2508250"/>
            <a:ext cx="1933575" cy="1889125"/>
          </a:xfrm>
          <a:prstGeom prst="rect">
            <a:avLst/>
          </a:prstGeom>
        </p:spPr>
      </p:pic>
      <p:pic>
        <p:nvPicPr>
          <p:cNvPr id="7" name="图片 6" descr="图片3"/>
          <p:cNvPicPr>
            <a:picLocks noChangeAspect="1"/>
          </p:cNvPicPr>
          <p:nvPr/>
        </p:nvPicPr>
        <p:blipFill>
          <a:blip r:embed="rId7"/>
          <a:stretch>
            <a:fillRect/>
          </a:stretch>
        </p:blipFill>
        <p:spPr>
          <a:xfrm>
            <a:off x="645795" y="2508250"/>
            <a:ext cx="2258695" cy="1888490"/>
          </a:xfrm>
          <a:prstGeom prst="rect">
            <a:avLst/>
          </a:prstGeom>
        </p:spPr>
      </p:pic>
      <p:sp>
        <p:nvSpPr>
          <p:cNvPr id="8" name="文本框 7"/>
          <p:cNvSpPr txBox="1"/>
          <p:nvPr/>
        </p:nvSpPr>
        <p:spPr>
          <a:xfrm>
            <a:off x="489585" y="6053455"/>
            <a:ext cx="5015230" cy="266700"/>
          </a:xfrm>
          <a:prstGeom prst="rect">
            <a:avLst/>
          </a:prstGeom>
          <a:noFill/>
        </p:spPr>
        <p:txBody>
          <a:bodyPr wrap="square" rtlCol="0">
            <a:no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页岩试样加载过程中压力与声发射能量响应</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4" name="文本框 13"/>
          <p:cNvSpPr txBox="1"/>
          <p:nvPr/>
        </p:nvSpPr>
        <p:spPr>
          <a:xfrm>
            <a:off x="6007735" y="6058535"/>
            <a:ext cx="5651500" cy="266700"/>
          </a:xfrm>
          <a:prstGeom prst="rect">
            <a:avLst/>
          </a:prstGeom>
          <a:noFill/>
        </p:spPr>
        <p:txBody>
          <a:bodyPr wrap="square" rtlCol="0">
            <a:no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亚克力试块水力压裂压力与小波能量响应</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15" name="图片 14" descr="url_1764925225_04835a08_34604af0"/>
          <p:cNvPicPr>
            <a:picLocks noChangeAspect="1"/>
          </p:cNvPicPr>
          <p:nvPr/>
        </p:nvPicPr>
        <p:blipFill>
          <a:blip r:embed="rId8"/>
          <a:stretch>
            <a:fillRect/>
          </a:stretch>
        </p:blipFill>
        <p:spPr>
          <a:xfrm>
            <a:off x="489585" y="4396740"/>
            <a:ext cx="5015230" cy="1656715"/>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基于井口施工曲线多级小波分解，构建了一种改造体积综合评估方法</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综合考虑</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排量变化</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支撑剂浓度变化</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对压力响应的影响</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综合</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高频与低频</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波段的裂缝扩展信息，捕捉裂缝扩展时刻及裂缝扩展强度特征</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改造体积综合评估指标</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多维度、多角度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量化改造效果优劣</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 name="图表 5"/>
          <p:cNvGraphicFramePr/>
          <p:nvPr/>
        </p:nvGraphicFramePr>
        <p:xfrm>
          <a:off x="527685" y="4061460"/>
          <a:ext cx="4664075" cy="229933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7" name="表格 6"/>
          <p:cNvGraphicFramePr/>
          <p:nvPr>
            <p:custDataLst>
              <p:tags r:id="rId2"/>
            </p:custDataLst>
          </p:nvPr>
        </p:nvGraphicFramePr>
        <p:xfrm>
          <a:off x="5410835" y="2550160"/>
          <a:ext cx="6409690" cy="3825240"/>
        </p:xfrm>
        <a:graphic>
          <a:graphicData uri="http://schemas.openxmlformats.org/drawingml/2006/table">
            <a:tbl>
              <a:tblPr firstRow="1" bandRow="1">
                <a:tableStyleId>{62DB8C7E-BE71-4567-9549-45A95488CC2F}</a:tableStyleId>
              </a:tblPr>
              <a:tblGrid>
                <a:gridCol w="864870"/>
                <a:gridCol w="866775"/>
                <a:gridCol w="860425"/>
                <a:gridCol w="532130"/>
                <a:gridCol w="1934210"/>
                <a:gridCol w="1351280"/>
              </a:tblGrid>
              <a:tr h="318770">
                <a:tc>
                  <a:txBody>
                    <a:bodyPr/>
                    <a:lstStyle/>
                    <a:p>
                      <a:pPr algn="ctr" fontAlgn="t"/>
                      <a:r>
                        <a:rPr lang="zh-CN" altLang="en-US" sz="1200" b="1" i="0" dirty="0">
                          <a:solidFill>
                            <a:schemeClr val="bg1"/>
                          </a:solidFill>
                          <a:latin typeface="微软雅黑" panose="020B0503020204020204" pitchFamily="34" charset="-122"/>
                          <a:ea typeface="微软雅黑" panose="020B0503020204020204" pitchFamily="34" charset="-122"/>
                        </a:rPr>
                        <a:t>井区</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t"/>
                      <a:r>
                        <a:rPr lang="zh-CN" altLang="en-US" sz="1200" b="1" i="0" dirty="0">
                          <a:solidFill>
                            <a:schemeClr val="bg1"/>
                          </a:solidFill>
                          <a:latin typeface="微软雅黑" panose="020B0503020204020204" pitchFamily="34" charset="-122"/>
                          <a:ea typeface="微软雅黑" panose="020B0503020204020204" pitchFamily="34" charset="-122"/>
                        </a:rPr>
                        <a:t>平台</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t"/>
                      <a:r>
                        <a:rPr lang="zh-CN" altLang="en-US" sz="1200" b="1" i="0" dirty="0">
                          <a:solidFill>
                            <a:schemeClr val="bg1"/>
                          </a:solidFill>
                          <a:latin typeface="微软雅黑" panose="020B0503020204020204" pitchFamily="34" charset="-122"/>
                          <a:ea typeface="微软雅黑" panose="020B0503020204020204" pitchFamily="34" charset="-122"/>
                        </a:rPr>
                        <a:t>井号</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t"/>
                      <a:r>
                        <a:rPr lang="zh-CN" altLang="en-US" sz="1200" b="1" i="0" dirty="0">
                          <a:solidFill>
                            <a:schemeClr val="bg1"/>
                          </a:solidFill>
                          <a:latin typeface="微软雅黑" panose="020B0503020204020204" pitchFamily="34" charset="-122"/>
                          <a:ea typeface="微软雅黑" panose="020B0503020204020204" pitchFamily="34" charset="-122"/>
                        </a:rPr>
                        <a:t>段号</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t"/>
                      <a:r>
                        <a:rPr lang="zh-CN" altLang="en-US" sz="1200" b="1" i="0" dirty="0">
                          <a:solidFill>
                            <a:schemeClr val="bg1"/>
                          </a:solidFill>
                          <a:latin typeface="微软雅黑" panose="020B0503020204020204" pitchFamily="34" charset="-122"/>
                          <a:ea typeface="微软雅黑" panose="020B0503020204020204" pitchFamily="34" charset="-122"/>
                        </a:rPr>
                        <a:t>离散小波改造体积</a:t>
                      </a:r>
                      <a:r>
                        <a:rPr lang="zh-CN" altLang="en-US" sz="1200" b="1" i="0" dirty="0">
                          <a:solidFill>
                            <a:schemeClr val="bg1"/>
                          </a:solidFill>
                          <a:latin typeface="微软雅黑" panose="020B0503020204020204" pitchFamily="34" charset="-122"/>
                          <a:ea typeface="微软雅黑" panose="020B0503020204020204" pitchFamily="34" charset="-122"/>
                        </a:rPr>
                        <a:t>评分</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t"/>
                      <a:r>
                        <a:rPr lang="zh-CN" altLang="en-US" sz="1200" b="1" i="0" dirty="0">
                          <a:solidFill>
                            <a:schemeClr val="bg1"/>
                          </a:solidFill>
                          <a:latin typeface="微软雅黑" panose="020B0503020204020204" pitchFamily="34" charset="-122"/>
                          <a:ea typeface="微软雅黑" panose="020B0503020204020204" pitchFamily="34" charset="-122"/>
                        </a:rPr>
                        <a:t>微地震</a:t>
                      </a:r>
                      <a:r>
                        <a:rPr lang="en-US" altLang="zh-CN" sz="1200" b="1" i="0" dirty="0">
                          <a:solidFill>
                            <a:schemeClr val="bg1"/>
                          </a:solidFill>
                          <a:latin typeface="微软雅黑" panose="020B0503020204020204" pitchFamily="34" charset="-122"/>
                          <a:ea typeface="微软雅黑" panose="020B0503020204020204" pitchFamily="34" charset="-122"/>
                        </a:rPr>
                        <a:t>SRV</a:t>
                      </a:r>
                      <a:endParaRPr lang="en-US" altLang="zh-CN" sz="1200" b="1" i="0" dirty="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318770">
                <a:tc>
                  <a:txBody>
                    <a:bodyPr/>
                    <a:lstStyle/>
                    <a:p>
                      <a:pPr algn="ctr" fontAlgn="b">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H21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14</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85.88</a:t>
                      </a:r>
                      <a:r>
                        <a:rPr lang="en-US" altLang="zh-CN" sz="1200" b="0" i="0">
                          <a:solidFill>
                            <a:srgbClr val="000000"/>
                          </a:solidFill>
                          <a:latin typeface="微软雅黑" panose="020B0503020204020204" pitchFamily="34" charset="-122"/>
                          <a:ea typeface="微软雅黑" panose="020B0503020204020204" pitchFamily="34" charset="-122"/>
                        </a:rPr>
                        <a:t>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382.5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8770">
                <a:tc>
                  <a:txBody>
                    <a:bodyPr/>
                    <a:lstStyle/>
                    <a:p>
                      <a:pPr algn="ctr" fontAlgn="b">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H21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18</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86.19</a:t>
                      </a:r>
                      <a:r>
                        <a:rPr lang="en-US" altLang="zh-CN" sz="1200" b="0" i="0">
                          <a:solidFill>
                            <a:srgbClr val="000000"/>
                          </a:solidFill>
                          <a:latin typeface="微软雅黑" panose="020B0503020204020204" pitchFamily="34" charset="-122"/>
                          <a:ea typeface="微软雅黑" panose="020B0503020204020204" pitchFamily="34" charset="-122"/>
                        </a:rPr>
                        <a:t>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375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8770">
                <a:tc>
                  <a:txBody>
                    <a:bodyPr/>
                    <a:lstStyle/>
                    <a:p>
                      <a:pPr algn="ctr" fontAlgn="b">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201</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H21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11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85.23</a:t>
                      </a:r>
                      <a:r>
                        <a:rPr lang="en-US" altLang="zh-CN" sz="1200" b="0" i="0">
                          <a:solidFill>
                            <a:srgbClr val="000000"/>
                          </a:solidFill>
                          <a:latin typeface="微软雅黑" panose="020B0503020204020204" pitchFamily="34" charset="-122"/>
                          <a:ea typeface="微软雅黑" panose="020B0503020204020204" pitchFamily="34" charset="-122"/>
                        </a:rPr>
                        <a:t>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367.5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8770">
                <a:tc>
                  <a:txBody>
                    <a:bodyPr/>
                    <a:lstStyle/>
                    <a:p>
                      <a:pPr algn="ctr" fontAlgn="b">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H21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86.46</a:t>
                      </a:r>
                      <a:r>
                        <a:rPr lang="en-US" altLang="zh-CN" sz="1200" b="0" i="0">
                          <a:solidFill>
                            <a:srgbClr val="000000"/>
                          </a:solidFill>
                          <a:latin typeface="微软雅黑" panose="020B0503020204020204" pitchFamily="34" charset="-122"/>
                          <a:ea typeface="微软雅黑" panose="020B0503020204020204" pitchFamily="34" charset="-122"/>
                        </a:rPr>
                        <a:t>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352.5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8770">
                <a:tc>
                  <a:txBody>
                    <a:bodyPr/>
                    <a:lstStyle/>
                    <a:p>
                      <a:pPr algn="ctr" fontAlgn="b">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H21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3</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12</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85.10</a:t>
                      </a:r>
                      <a:r>
                        <a:rPr lang="en-US" altLang="zh-CN" sz="1200" b="0" i="0">
                          <a:solidFill>
                            <a:srgbClr val="000000"/>
                          </a:solidFill>
                          <a:latin typeface="微软雅黑" panose="020B0503020204020204" pitchFamily="34" charset="-122"/>
                          <a:ea typeface="微软雅黑" panose="020B0503020204020204" pitchFamily="34" charset="-122"/>
                        </a:rPr>
                        <a:t>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352.5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8770">
                <a:tc>
                  <a:txBody>
                    <a:bodyPr/>
                    <a:lstStyle/>
                    <a:p>
                      <a:pPr algn="ctr" fontAlgn="b">
                        <a:lnSpc>
                          <a:spcPct val="12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H21</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6</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84.87</a:t>
                      </a:r>
                      <a:r>
                        <a:rPr lang="en-US" altLang="zh-CN" sz="1200" b="0" i="0">
                          <a:solidFill>
                            <a:srgbClr val="000000"/>
                          </a:solidFill>
                          <a:latin typeface="微软雅黑" panose="020B0503020204020204" pitchFamily="34" charset="-122"/>
                          <a:ea typeface="微软雅黑" panose="020B0503020204020204" pitchFamily="34" charset="-122"/>
                        </a:rPr>
                        <a:t>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pPr>
                      <a:r>
                        <a:rPr lang="en-US" altLang="zh-CN" sz="1200">
                          <a:latin typeface="微软雅黑" panose="020B0503020204020204" pitchFamily="34" charset="-122"/>
                          <a:ea typeface="微软雅黑" panose="020B0503020204020204" pitchFamily="34" charset="-122"/>
                        </a:rPr>
                        <a:t>347.5</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8770">
                <a:tc>
                  <a:txBody>
                    <a:bodyPr/>
                    <a:lstStyle/>
                    <a:p>
                      <a:pPr algn="ctr" fontAlgn="b">
                        <a:lnSpc>
                          <a:spcPct val="120000"/>
                        </a:lnSpc>
                        <a:buNone/>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buNone/>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buNone/>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buNone/>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lnSpc>
                          <a:spcPct val="120000"/>
                        </a:lnSpc>
                        <a:buNone/>
                      </a:pP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877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H123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22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75.14</a:t>
                      </a:r>
                      <a:r>
                        <a:rPr lang="en-US" altLang="zh-CN" sz="1200" b="0" i="0">
                          <a:solidFill>
                            <a:srgbClr val="000000"/>
                          </a:solidFill>
                          <a:latin typeface="微软雅黑" panose="020B0503020204020204" pitchFamily="34" charset="-122"/>
                          <a:ea typeface="微软雅黑" panose="020B0503020204020204" pitchFamily="34" charset="-122"/>
                        </a:rPr>
                        <a:t>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204.8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877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H123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11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73.65</a:t>
                      </a:r>
                      <a:r>
                        <a:rPr lang="en-US" altLang="zh-CN" sz="1200" b="0" i="0">
                          <a:solidFill>
                            <a:srgbClr val="000000"/>
                          </a:solidFill>
                          <a:latin typeface="微软雅黑" panose="020B0503020204020204" pitchFamily="34" charset="-122"/>
                          <a:ea typeface="微软雅黑" panose="020B0503020204020204" pitchFamily="34" charset="-122"/>
                        </a:rPr>
                        <a:t>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201.2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877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H123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21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76.50</a:t>
                      </a:r>
                      <a:r>
                        <a:rPr lang="en-US" altLang="zh-CN" sz="1200" b="0" i="0">
                          <a:solidFill>
                            <a:srgbClr val="000000"/>
                          </a:solidFill>
                          <a:latin typeface="微软雅黑" panose="020B0503020204020204" pitchFamily="34" charset="-122"/>
                          <a:ea typeface="微软雅黑" panose="020B0503020204020204" pitchFamily="34" charset="-122"/>
                        </a:rPr>
                        <a:t>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201.2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877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H123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78.17</a:t>
                      </a:r>
                      <a:r>
                        <a:rPr lang="en-US" altLang="zh-CN" sz="1200" b="0" i="0">
                          <a:solidFill>
                            <a:srgbClr val="000000"/>
                          </a:solidFill>
                          <a:latin typeface="微软雅黑" panose="020B0503020204020204" pitchFamily="34" charset="-122"/>
                          <a:ea typeface="微软雅黑" panose="020B0503020204020204" pitchFamily="34" charset="-122"/>
                        </a:rPr>
                        <a:t>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b"/>
                      <a:r>
                        <a:rPr lang="en-US" altLang="zh-CN" sz="1200" b="0" i="0" dirty="0">
                          <a:solidFill>
                            <a:srgbClr val="000000"/>
                          </a:solidFill>
                          <a:latin typeface="微软雅黑" panose="020B0503020204020204" pitchFamily="34" charset="-122"/>
                          <a:ea typeface="微软雅黑" panose="020B0503020204020204" pitchFamily="34" charset="-122"/>
                        </a:rPr>
                        <a:t>193.6</a:t>
                      </a:r>
                      <a:endParaRPr lang="en-US" altLang="zh-CN" sz="12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graphicFrame>
        <p:nvGraphicFramePr>
          <p:cNvPr id="10" name="对象 9"/>
          <p:cNvGraphicFramePr/>
          <p:nvPr/>
        </p:nvGraphicFramePr>
        <p:xfrm>
          <a:off x="527685" y="2555240"/>
          <a:ext cx="4324985" cy="1506220"/>
        </p:xfrm>
        <a:graphic>
          <a:graphicData uri="http://schemas.openxmlformats.org/presentationml/2006/ole">
            <mc:AlternateContent xmlns:mc="http://schemas.openxmlformats.org/markup-compatibility/2006">
              <mc:Choice xmlns:v="urn:schemas-microsoft-com:vml" Requires="v">
                <p:oleObj spid="_x0000_s3" name="Equation" r:id="rId3" imgW="3416300" imgH="1193800" progId="Equation.DSMT4">
                  <p:embed/>
                </p:oleObj>
              </mc:Choice>
              <mc:Fallback>
                <p:oleObj name="Equation" r:id="rId3" imgW="3416300" imgH="1193800" progId="Equation.DSMT4">
                  <p:embed/>
                  <p:pic>
                    <p:nvPicPr>
                      <p:cNvPr id="0" name="图片 14"/>
                      <p:cNvPicPr/>
                      <p:nvPr/>
                    </p:nvPicPr>
                    <p:blipFill>
                      <a:blip r:embed="rId4"/>
                      <a:stretch>
                        <a:fillRect/>
                      </a:stretch>
                    </p:blipFill>
                    <p:spPr>
                      <a:xfrm>
                        <a:off x="527685" y="2555240"/>
                        <a:ext cx="4324985" cy="1506220"/>
                      </a:xfrm>
                      <a:prstGeom prst="rect">
                        <a:avLst/>
                      </a:prstGeom>
                    </p:spPr>
                  </p:pic>
                </p:oleObj>
              </mc:Fallback>
            </mc:AlternateContent>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dirty="0">
                <a:solidFill>
                  <a:srgbClr val="FF0000"/>
                </a:solidFill>
                <a:latin typeface="微软雅黑" panose="020B0503020204020204" pitchFamily="34" charset="-122"/>
                <a:ea typeface="微软雅黑" panose="020B0503020204020204" pitchFamily="34" charset="-122"/>
                <a:sym typeface="+mn-ea"/>
              </a:rPr>
              <a:t>天然裂缝发育</a:t>
            </a:r>
            <a:r>
              <a:rPr lang="zh-CN" altLang="en-US" sz="1600" dirty="0">
                <a:solidFill>
                  <a:prstClr val="black"/>
                </a:solidFill>
                <a:latin typeface="微软雅黑" panose="020B0503020204020204" pitchFamily="34" charset="-122"/>
                <a:ea typeface="微软雅黑" panose="020B0503020204020204" pitchFamily="34" charset="-122"/>
                <a:sym typeface="+mn-ea"/>
              </a:rPr>
              <a:t>、压窜、套变风险高</a:t>
            </a:r>
            <a:endParaRPr lang="zh-CN" altLang="en-US" sz="1600" dirty="0">
              <a:solidFill>
                <a:prstClr val="black"/>
              </a:solidFill>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sym typeface="+mn-ea"/>
              </a:rPr>
              <a:t>分为</a:t>
            </a:r>
            <a:r>
              <a:rPr lang="zh-CN" altLang="en-US" sz="1600" dirty="0">
                <a:solidFill>
                  <a:srgbClr val="FF0000"/>
                </a:solidFill>
                <a:latin typeface="微软雅黑" panose="020B0503020204020204" pitchFamily="34" charset="-122"/>
                <a:ea typeface="微软雅黑" panose="020B0503020204020204" pitchFamily="34" charset="-122"/>
                <a:sym typeface="+mn-ea"/>
              </a:rPr>
              <a:t>主体段、渐进防控段、风险段</a:t>
            </a:r>
            <a:r>
              <a:rPr lang="zh-CN" altLang="en-US" sz="1600" dirty="0">
                <a:latin typeface="微软雅黑" panose="020B0503020204020204" pitchFamily="34" charset="-122"/>
                <a:ea typeface="微软雅黑" panose="020B0503020204020204" pitchFamily="34" charset="-122"/>
                <a:sym typeface="+mn-ea"/>
              </a:rPr>
              <a:t>差异化压裂设计</a:t>
            </a:r>
            <a:endParaRPr lang="zh-CN" altLang="en-US" sz="1600" dirty="0">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sz="1600" dirty="0">
                <a:solidFill>
                  <a:srgbClr val="000000"/>
                </a:solidFill>
                <a:latin typeface="微软雅黑" panose="020B0503020204020204" pitchFamily="34" charset="-122"/>
                <a:ea typeface="微软雅黑" panose="020B0503020204020204" pitchFamily="34" charset="-122"/>
                <a:sym typeface="+mn-ea"/>
              </a:rPr>
              <a:t>1-4</a:t>
            </a:r>
            <a:r>
              <a:rPr lang="zh-CN" altLang="en-US" sz="1600" dirty="0">
                <a:solidFill>
                  <a:srgbClr val="000000"/>
                </a:solidFill>
                <a:latin typeface="微软雅黑" panose="020B0503020204020204" pitchFamily="34" charset="-122"/>
                <a:ea typeface="微软雅黑" panose="020B0503020204020204" pitchFamily="34" charset="-122"/>
                <a:sym typeface="+mn-ea"/>
              </a:rPr>
              <a:t>井在压窜防控上未取得明显效果</a:t>
            </a:r>
            <a:r>
              <a:rPr lang="zh-CN" altLang="en-US" sz="1600" dirty="0">
                <a:latin typeface="微软雅黑" panose="020B0503020204020204" pitchFamily="34" charset="-122"/>
                <a:ea typeface="微软雅黑" panose="020B0503020204020204" pitchFamily="34" charset="-122"/>
                <a:sym typeface="+mn-ea"/>
              </a:rPr>
              <a:t>，</a:t>
            </a:r>
            <a:r>
              <a:rPr lang="en-US" altLang="zh-CN" sz="1600" dirty="0">
                <a:solidFill>
                  <a:srgbClr val="FF0000"/>
                </a:solidFill>
                <a:latin typeface="微软雅黑" panose="020B0503020204020204" pitchFamily="34" charset="-122"/>
                <a:ea typeface="微软雅黑" panose="020B0503020204020204" pitchFamily="34" charset="-122"/>
                <a:sym typeface="+mn-ea"/>
              </a:rPr>
              <a:t>5</a:t>
            </a:r>
            <a:r>
              <a:rPr lang="zh-CN" altLang="en-US" sz="1600" dirty="0">
                <a:solidFill>
                  <a:srgbClr val="FF0000"/>
                </a:solidFill>
                <a:latin typeface="微软雅黑" panose="020B0503020204020204" pitchFamily="34" charset="-122"/>
                <a:ea typeface="微软雅黑" panose="020B0503020204020204" pitchFamily="34" charset="-122"/>
                <a:sym typeface="+mn-ea"/>
              </a:rPr>
              <a:t>、</a:t>
            </a:r>
            <a:r>
              <a:rPr lang="en-US" altLang="zh-CN" sz="1600" dirty="0">
                <a:solidFill>
                  <a:srgbClr val="FF0000"/>
                </a:solidFill>
                <a:latin typeface="微软雅黑" panose="020B0503020204020204" pitchFamily="34" charset="-122"/>
                <a:ea typeface="微软雅黑" panose="020B0503020204020204" pitchFamily="34" charset="-122"/>
                <a:sym typeface="+mn-ea"/>
              </a:rPr>
              <a:t>6</a:t>
            </a:r>
            <a:r>
              <a:rPr lang="zh-CN" altLang="en-US" sz="1600" dirty="0">
                <a:solidFill>
                  <a:srgbClr val="FF0000"/>
                </a:solidFill>
                <a:latin typeface="微软雅黑" panose="020B0503020204020204" pitchFamily="34" charset="-122"/>
                <a:ea typeface="微软雅黑" panose="020B0503020204020204" pitchFamily="34" charset="-122"/>
                <a:sym typeface="+mn-ea"/>
              </a:rPr>
              <a:t>井</a:t>
            </a:r>
            <a:r>
              <a:rPr lang="zh-CN" altLang="en-US" sz="1600" dirty="0">
                <a:solidFill>
                  <a:srgbClr val="000000"/>
                </a:solidFill>
                <a:latin typeface="微软雅黑" panose="020B0503020204020204" pitchFamily="34" charset="-122"/>
                <a:ea typeface="微软雅黑" panose="020B0503020204020204" pitchFamily="34" charset="-122"/>
                <a:sym typeface="+mn-ea"/>
              </a:rPr>
              <a:t>在</a:t>
            </a:r>
            <a:r>
              <a:rPr lang="zh-CN" altLang="en-US" sz="1600" dirty="0">
                <a:solidFill>
                  <a:srgbClr val="FF0000"/>
                </a:solidFill>
                <a:latin typeface="微软雅黑" panose="020B0503020204020204" pitchFamily="34" charset="-122"/>
                <a:ea typeface="微软雅黑" panose="020B0503020204020204" pitchFamily="34" charset="-122"/>
                <a:sym typeface="+mn-ea"/>
              </a:rPr>
              <a:t>压窜防控</a:t>
            </a:r>
            <a:r>
              <a:rPr lang="zh-CN" altLang="en-US" sz="1600" dirty="0">
                <a:solidFill>
                  <a:srgbClr val="000000"/>
                </a:solidFill>
                <a:latin typeface="微软雅黑" panose="020B0503020204020204" pitchFamily="34" charset="-122"/>
                <a:ea typeface="微软雅黑" panose="020B0503020204020204" pitchFamily="34" charset="-122"/>
                <a:sym typeface="+mn-ea"/>
              </a:rPr>
              <a:t>上取得</a:t>
            </a:r>
            <a:r>
              <a:rPr lang="zh-CN" altLang="en-US" sz="1600" dirty="0">
                <a:solidFill>
                  <a:srgbClr val="FF0000"/>
                </a:solidFill>
                <a:latin typeface="微软雅黑" panose="020B0503020204020204" pitchFamily="34" charset="-122"/>
                <a:ea typeface="微软雅黑" panose="020B0503020204020204" pitchFamily="34" charset="-122"/>
                <a:sym typeface="+mn-ea"/>
              </a:rPr>
              <a:t>良好</a:t>
            </a:r>
            <a:r>
              <a:rPr lang="zh-CN" altLang="en-US" sz="1600" dirty="0">
                <a:solidFill>
                  <a:srgbClr val="000000"/>
                </a:solidFill>
                <a:latin typeface="微软雅黑" panose="020B0503020204020204" pitchFamily="34" charset="-122"/>
                <a:ea typeface="微软雅黑" panose="020B0503020204020204" pitchFamily="34" charset="-122"/>
                <a:sym typeface="+mn-ea"/>
              </a:rPr>
              <a:t>效果，</a:t>
            </a:r>
            <a:r>
              <a:rPr lang="en-US" altLang="zh-CN" sz="1600" dirty="0">
                <a:latin typeface="微软雅黑" panose="020B0503020204020204" pitchFamily="34" charset="-122"/>
                <a:ea typeface="微软雅黑" panose="020B0503020204020204" pitchFamily="34" charset="-122"/>
                <a:sym typeface="+mn-ea"/>
              </a:rPr>
              <a:t>1-6</a:t>
            </a:r>
            <a:r>
              <a:rPr lang="zh-CN" altLang="en-US" sz="1600" dirty="0">
                <a:latin typeface="微软雅黑" panose="020B0503020204020204" pitchFamily="34" charset="-122"/>
                <a:ea typeface="微软雅黑" panose="020B0503020204020204" pitchFamily="34" charset="-122"/>
                <a:sym typeface="+mn-ea"/>
              </a:rPr>
              <a:t>井均未发生套变</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0" name="图片 29" descr="图片1"/>
          <p:cNvPicPr>
            <a:picLocks noChangeAspect="1"/>
          </p:cNvPicPr>
          <p:nvPr/>
        </p:nvPicPr>
        <p:blipFill>
          <a:blip r:embed="rId1"/>
          <a:stretch>
            <a:fillRect/>
          </a:stretch>
        </p:blipFill>
        <p:spPr>
          <a:xfrm>
            <a:off x="134620" y="2555240"/>
            <a:ext cx="3449955" cy="3519170"/>
          </a:xfrm>
          <a:prstGeom prst="rect">
            <a:avLst/>
          </a:prstGeom>
        </p:spPr>
      </p:pic>
      <p:sp>
        <p:nvSpPr>
          <p:cNvPr id="31" name="TextBox 23"/>
          <p:cNvSpPr>
            <a:spLocks noChangeArrowheads="1"/>
          </p:cNvSpPr>
          <p:nvPr>
            <p:custDataLst>
              <p:tags r:id="rId2"/>
            </p:custDataLst>
          </p:nvPr>
        </p:nvSpPr>
        <p:spPr bwMode="auto">
          <a:xfrm>
            <a:off x="134620" y="6074410"/>
            <a:ext cx="344932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H10</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平台区域多级断裂平面分布图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193" name="组合 192"/>
          <p:cNvGrpSpPr/>
          <p:nvPr/>
        </p:nvGrpSpPr>
        <p:grpSpPr>
          <a:xfrm>
            <a:off x="3625215" y="2555240"/>
            <a:ext cx="2700000" cy="1620000"/>
            <a:chOff x="9136" y="5420"/>
            <a:chExt cx="9828" cy="3969"/>
          </a:xfrm>
        </p:grpSpPr>
        <p:pic>
          <p:nvPicPr>
            <p:cNvPr id="194" name="图片 193"/>
            <p:cNvPicPr>
              <a:picLocks noChangeAspect="1"/>
            </p:cNvPicPr>
            <p:nvPr>
              <p:custDataLst>
                <p:tags r:id="rId3"/>
              </p:custDataLst>
            </p:nvPr>
          </p:nvPicPr>
          <p:blipFill>
            <a:blip r:embed="rId4"/>
            <a:stretch>
              <a:fillRect/>
            </a:stretch>
          </p:blipFill>
          <p:spPr>
            <a:xfrm>
              <a:off x="9136" y="5420"/>
              <a:ext cx="9828" cy="3969"/>
            </a:xfrm>
            <a:prstGeom prst="rect">
              <a:avLst/>
            </a:prstGeom>
          </p:spPr>
        </p:pic>
        <p:sp>
          <p:nvSpPr>
            <p:cNvPr id="195" name="椭圆 194"/>
            <p:cNvSpPr/>
            <p:nvPr>
              <p:custDataLst>
                <p:tags r:id="rId5"/>
              </p:custDataLst>
            </p:nvPr>
          </p:nvSpPr>
          <p:spPr bwMode="auto">
            <a:xfrm rot="9091808">
              <a:off x="12342" y="7126"/>
              <a:ext cx="474" cy="1066"/>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6" name="椭圆 195"/>
            <p:cNvSpPr/>
            <p:nvPr>
              <p:custDataLst>
                <p:tags r:id="rId6"/>
              </p:custDataLst>
            </p:nvPr>
          </p:nvSpPr>
          <p:spPr bwMode="auto">
            <a:xfrm rot="10800000">
              <a:off x="13733" y="7192"/>
              <a:ext cx="408" cy="1158"/>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7" name="椭圆 196"/>
            <p:cNvSpPr/>
            <p:nvPr>
              <p:custDataLst>
                <p:tags r:id="rId7"/>
              </p:custDataLst>
            </p:nvPr>
          </p:nvSpPr>
          <p:spPr bwMode="auto">
            <a:xfrm rot="9575690">
              <a:off x="15353" y="7272"/>
              <a:ext cx="384" cy="1660"/>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8" name="椭圆 197"/>
            <p:cNvSpPr/>
            <p:nvPr>
              <p:custDataLst>
                <p:tags r:id="rId8"/>
              </p:custDataLst>
            </p:nvPr>
          </p:nvSpPr>
          <p:spPr bwMode="auto">
            <a:xfrm rot="9664841">
              <a:off x="15647" y="7089"/>
              <a:ext cx="460" cy="1219"/>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9" name="椭圆 198"/>
            <p:cNvSpPr/>
            <p:nvPr>
              <p:custDataLst>
                <p:tags r:id="rId9"/>
              </p:custDataLst>
            </p:nvPr>
          </p:nvSpPr>
          <p:spPr bwMode="auto">
            <a:xfrm rot="10800000">
              <a:off x="16373" y="7224"/>
              <a:ext cx="460" cy="870"/>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0" name="椭圆 199"/>
            <p:cNvSpPr/>
            <p:nvPr>
              <p:custDataLst>
                <p:tags r:id="rId10"/>
              </p:custDataLst>
            </p:nvPr>
          </p:nvSpPr>
          <p:spPr bwMode="auto">
            <a:xfrm rot="10800000">
              <a:off x="17882" y="7097"/>
              <a:ext cx="455" cy="785"/>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12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1" name="文本框 200"/>
            <p:cNvSpPr txBox="1"/>
            <p:nvPr>
              <p:custDataLst>
                <p:tags r:id="rId11"/>
              </p:custDataLst>
            </p:nvPr>
          </p:nvSpPr>
          <p:spPr>
            <a:xfrm>
              <a:off x="9136" y="5420"/>
              <a:ext cx="523" cy="629"/>
            </a:xfrm>
            <a:prstGeom prst="rect">
              <a:avLst/>
            </a:prstGeom>
            <a:noFill/>
          </p:spPr>
          <p:txBody>
            <a:bodyPr wrap="square" rtlCol="0">
              <a:spAutoFit/>
            </a:bodyPr>
            <a:lstStyle/>
            <a:p>
              <a:r>
                <a:rPr lang="en-US" altLang="zh-CN" sz="1200" dirty="0"/>
                <a:t>A</a:t>
              </a:r>
              <a:endParaRPr lang="en-US" altLang="zh-CN" sz="1200" dirty="0"/>
            </a:p>
          </p:txBody>
        </p:sp>
        <p:sp>
          <p:nvSpPr>
            <p:cNvPr id="202" name="文本框 201"/>
            <p:cNvSpPr txBox="1"/>
            <p:nvPr>
              <p:custDataLst>
                <p:tags r:id="rId12"/>
              </p:custDataLst>
            </p:nvPr>
          </p:nvSpPr>
          <p:spPr>
            <a:xfrm>
              <a:off x="18470" y="5435"/>
              <a:ext cx="493" cy="629"/>
            </a:xfrm>
            <a:prstGeom prst="rect">
              <a:avLst/>
            </a:prstGeom>
            <a:noFill/>
          </p:spPr>
          <p:txBody>
            <a:bodyPr wrap="square" rtlCol="0">
              <a:spAutoFit/>
            </a:bodyPr>
            <a:lstStyle/>
            <a:p>
              <a:r>
                <a:rPr lang="en-US" altLang="zh-CN" sz="1200" dirty="0"/>
                <a:t>B</a:t>
              </a:r>
              <a:endParaRPr lang="en-US" altLang="zh-CN" sz="1200" dirty="0"/>
            </a:p>
          </p:txBody>
        </p:sp>
      </p:grpSp>
      <p:grpSp>
        <p:nvGrpSpPr>
          <p:cNvPr id="204" name="组合 203"/>
          <p:cNvGrpSpPr/>
          <p:nvPr/>
        </p:nvGrpSpPr>
        <p:grpSpPr>
          <a:xfrm>
            <a:off x="6494145" y="2562225"/>
            <a:ext cx="2700000" cy="1620000"/>
            <a:chOff x="13644" y="2996"/>
            <a:chExt cx="5069" cy="2071"/>
          </a:xfrm>
        </p:grpSpPr>
        <p:pic>
          <p:nvPicPr>
            <p:cNvPr id="205" name="图片 204"/>
            <p:cNvPicPr>
              <a:picLocks noChangeAspect="1"/>
            </p:cNvPicPr>
            <p:nvPr>
              <p:custDataLst>
                <p:tags r:id="rId13"/>
              </p:custDataLst>
            </p:nvPr>
          </p:nvPicPr>
          <p:blipFill>
            <a:blip r:embed="rId14"/>
            <a:stretch>
              <a:fillRect/>
            </a:stretch>
          </p:blipFill>
          <p:spPr>
            <a:xfrm>
              <a:off x="13644" y="2996"/>
              <a:ext cx="5057" cy="2071"/>
            </a:xfrm>
            <a:prstGeom prst="rect">
              <a:avLst/>
            </a:prstGeom>
          </p:spPr>
        </p:pic>
        <p:sp>
          <p:nvSpPr>
            <p:cNvPr id="206" name="椭圆 205"/>
            <p:cNvSpPr/>
            <p:nvPr>
              <p:custDataLst>
                <p:tags r:id="rId15"/>
              </p:custDataLst>
            </p:nvPr>
          </p:nvSpPr>
          <p:spPr bwMode="auto">
            <a:xfrm rot="799312">
              <a:off x="14663" y="3966"/>
              <a:ext cx="163" cy="351"/>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7" name="椭圆 206"/>
            <p:cNvSpPr/>
            <p:nvPr>
              <p:custDataLst>
                <p:tags r:id="rId16"/>
              </p:custDataLst>
            </p:nvPr>
          </p:nvSpPr>
          <p:spPr bwMode="auto">
            <a:xfrm rot="877861">
              <a:off x="15149" y="3922"/>
              <a:ext cx="284" cy="494"/>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8" name="椭圆 207"/>
            <p:cNvSpPr/>
            <p:nvPr>
              <p:custDataLst>
                <p:tags r:id="rId17"/>
              </p:custDataLst>
            </p:nvPr>
          </p:nvSpPr>
          <p:spPr bwMode="auto">
            <a:xfrm rot="20955592">
              <a:off x="16069" y="3809"/>
              <a:ext cx="284" cy="750"/>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9" name="椭圆 208"/>
            <p:cNvSpPr/>
            <p:nvPr>
              <p:custDataLst>
                <p:tags r:id="rId18"/>
              </p:custDataLst>
            </p:nvPr>
          </p:nvSpPr>
          <p:spPr bwMode="auto">
            <a:xfrm rot="844694">
              <a:off x="16863" y="3899"/>
              <a:ext cx="291" cy="613"/>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0" name="椭圆 209"/>
            <p:cNvSpPr/>
            <p:nvPr>
              <p:custDataLst>
                <p:tags r:id="rId19"/>
              </p:custDataLst>
            </p:nvPr>
          </p:nvSpPr>
          <p:spPr bwMode="auto">
            <a:xfrm rot="958822">
              <a:off x="17480" y="3698"/>
              <a:ext cx="415" cy="732"/>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1" name="文本框 210"/>
            <p:cNvSpPr txBox="1"/>
            <p:nvPr>
              <p:custDataLst>
                <p:tags r:id="rId20"/>
              </p:custDataLst>
            </p:nvPr>
          </p:nvSpPr>
          <p:spPr>
            <a:xfrm>
              <a:off x="13668" y="2996"/>
              <a:ext cx="269" cy="434"/>
            </a:xfrm>
            <a:prstGeom prst="rect">
              <a:avLst/>
            </a:prstGeom>
            <a:noFill/>
          </p:spPr>
          <p:txBody>
            <a:bodyPr wrap="square" rtlCol="0">
              <a:spAutoFit/>
            </a:bodyPr>
            <a:lstStyle/>
            <a:p>
              <a:r>
                <a:rPr lang="en-US" altLang="zh-CN" sz="1200" dirty="0"/>
                <a:t>A</a:t>
              </a:r>
              <a:endParaRPr lang="en-US" altLang="zh-CN" sz="1200" dirty="0"/>
            </a:p>
          </p:txBody>
        </p:sp>
        <p:sp>
          <p:nvSpPr>
            <p:cNvPr id="212" name="文本框 211"/>
            <p:cNvSpPr txBox="1"/>
            <p:nvPr>
              <p:custDataLst>
                <p:tags r:id="rId21"/>
              </p:custDataLst>
            </p:nvPr>
          </p:nvSpPr>
          <p:spPr>
            <a:xfrm>
              <a:off x="18460" y="2996"/>
              <a:ext cx="253" cy="434"/>
            </a:xfrm>
            <a:prstGeom prst="rect">
              <a:avLst/>
            </a:prstGeom>
            <a:noFill/>
          </p:spPr>
          <p:txBody>
            <a:bodyPr wrap="square" rtlCol="0">
              <a:spAutoFit/>
            </a:bodyPr>
            <a:lstStyle/>
            <a:p>
              <a:r>
                <a:rPr lang="en-US" altLang="zh-CN" sz="1200" dirty="0"/>
                <a:t>B</a:t>
              </a:r>
              <a:endParaRPr lang="en-US" altLang="zh-CN" sz="1200" dirty="0"/>
            </a:p>
          </p:txBody>
        </p:sp>
      </p:grpSp>
      <p:grpSp>
        <p:nvGrpSpPr>
          <p:cNvPr id="213" name="组合 212"/>
          <p:cNvGrpSpPr/>
          <p:nvPr/>
        </p:nvGrpSpPr>
        <p:grpSpPr>
          <a:xfrm>
            <a:off x="9275445" y="2555240"/>
            <a:ext cx="2700000" cy="1620000"/>
            <a:chOff x="8508" y="5411"/>
            <a:chExt cx="4867" cy="2088"/>
          </a:xfrm>
        </p:grpSpPr>
        <p:pic>
          <p:nvPicPr>
            <p:cNvPr id="214" name="图片 213"/>
            <p:cNvPicPr>
              <a:picLocks noChangeAspect="1"/>
            </p:cNvPicPr>
            <p:nvPr>
              <p:custDataLst>
                <p:tags r:id="rId22"/>
              </p:custDataLst>
            </p:nvPr>
          </p:nvPicPr>
          <p:blipFill>
            <a:blip r:embed="rId23"/>
            <a:stretch>
              <a:fillRect/>
            </a:stretch>
          </p:blipFill>
          <p:spPr>
            <a:xfrm>
              <a:off x="8508" y="5411"/>
              <a:ext cx="4867" cy="2088"/>
            </a:xfrm>
            <a:prstGeom prst="rect">
              <a:avLst/>
            </a:prstGeom>
          </p:spPr>
        </p:pic>
        <p:sp>
          <p:nvSpPr>
            <p:cNvPr id="215" name="椭圆 214"/>
            <p:cNvSpPr/>
            <p:nvPr>
              <p:custDataLst>
                <p:tags r:id="rId24"/>
              </p:custDataLst>
            </p:nvPr>
          </p:nvSpPr>
          <p:spPr bwMode="auto">
            <a:xfrm rot="20479867">
              <a:off x="9537" y="6326"/>
              <a:ext cx="275" cy="636"/>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6" name="椭圆 215"/>
            <p:cNvSpPr/>
            <p:nvPr>
              <p:custDataLst>
                <p:tags r:id="rId25"/>
              </p:custDataLst>
            </p:nvPr>
          </p:nvSpPr>
          <p:spPr bwMode="auto">
            <a:xfrm rot="21217173">
              <a:off x="10010" y="6314"/>
              <a:ext cx="275" cy="629"/>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7" name="椭圆 216"/>
            <p:cNvSpPr/>
            <p:nvPr>
              <p:custDataLst>
                <p:tags r:id="rId26"/>
              </p:custDataLst>
            </p:nvPr>
          </p:nvSpPr>
          <p:spPr bwMode="auto">
            <a:xfrm rot="21322842">
              <a:off x="10641" y="6213"/>
              <a:ext cx="329" cy="724"/>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8" name="椭圆 217"/>
            <p:cNvSpPr/>
            <p:nvPr>
              <p:custDataLst>
                <p:tags r:id="rId27"/>
              </p:custDataLst>
            </p:nvPr>
          </p:nvSpPr>
          <p:spPr bwMode="auto">
            <a:xfrm rot="628411">
              <a:off x="11310" y="6406"/>
              <a:ext cx="239" cy="633"/>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9" name="椭圆 218"/>
            <p:cNvSpPr/>
            <p:nvPr>
              <p:custDataLst>
                <p:tags r:id="rId28"/>
              </p:custDataLst>
            </p:nvPr>
          </p:nvSpPr>
          <p:spPr bwMode="auto">
            <a:xfrm rot="2184308">
              <a:off x="12222" y="6162"/>
              <a:ext cx="290" cy="692"/>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0" name="椭圆 219"/>
            <p:cNvSpPr/>
            <p:nvPr>
              <p:custDataLst>
                <p:tags r:id="rId29"/>
              </p:custDataLst>
            </p:nvPr>
          </p:nvSpPr>
          <p:spPr bwMode="auto">
            <a:xfrm>
              <a:off x="12623" y="6432"/>
              <a:ext cx="236" cy="183"/>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1" name="文本框 220"/>
            <p:cNvSpPr txBox="1"/>
            <p:nvPr>
              <p:custDataLst>
                <p:tags r:id="rId30"/>
              </p:custDataLst>
            </p:nvPr>
          </p:nvSpPr>
          <p:spPr>
            <a:xfrm>
              <a:off x="8511" y="5411"/>
              <a:ext cx="252" cy="306"/>
            </a:xfrm>
            <a:prstGeom prst="rect">
              <a:avLst/>
            </a:prstGeom>
          </p:spPr>
          <p:txBody>
            <a:bodyPr wrap="square" rtlCol="0">
              <a:noAutofit/>
            </a:bodyPr>
            <a:lstStyle/>
            <a:p>
              <a:r>
                <a:rPr lang="en-US" altLang="zh-CN" sz="1200" dirty="0"/>
                <a:t>A</a:t>
              </a:r>
              <a:endParaRPr lang="en-US" altLang="zh-CN" sz="1200" dirty="0"/>
            </a:p>
          </p:txBody>
        </p:sp>
        <p:sp>
          <p:nvSpPr>
            <p:cNvPr id="222" name="文本框 221"/>
            <p:cNvSpPr txBox="1"/>
            <p:nvPr>
              <p:custDataLst>
                <p:tags r:id="rId31"/>
              </p:custDataLst>
            </p:nvPr>
          </p:nvSpPr>
          <p:spPr>
            <a:xfrm>
              <a:off x="13138" y="5420"/>
              <a:ext cx="237" cy="434"/>
            </a:xfrm>
            <a:prstGeom prst="rect">
              <a:avLst/>
            </a:prstGeom>
          </p:spPr>
          <p:txBody>
            <a:bodyPr wrap="square" rtlCol="0">
              <a:spAutoFit/>
            </a:bodyPr>
            <a:lstStyle/>
            <a:p>
              <a:r>
                <a:rPr lang="en-US" altLang="zh-CN" sz="1200" dirty="0"/>
                <a:t>B</a:t>
              </a:r>
              <a:endParaRPr lang="en-US" altLang="zh-CN" sz="1200" dirty="0"/>
            </a:p>
          </p:txBody>
        </p:sp>
      </p:grpSp>
      <p:grpSp>
        <p:nvGrpSpPr>
          <p:cNvPr id="223" name="组合 222"/>
          <p:cNvGrpSpPr/>
          <p:nvPr/>
        </p:nvGrpSpPr>
        <p:grpSpPr>
          <a:xfrm>
            <a:off x="3613785" y="4293235"/>
            <a:ext cx="2700020" cy="1701800"/>
            <a:chOff x="8870" y="5426"/>
            <a:chExt cx="10106" cy="4081"/>
          </a:xfrm>
        </p:grpSpPr>
        <p:pic>
          <p:nvPicPr>
            <p:cNvPr id="224" name="图片 223"/>
            <p:cNvPicPr>
              <a:picLocks noChangeAspect="1"/>
            </p:cNvPicPr>
            <p:nvPr>
              <p:custDataLst>
                <p:tags r:id="rId32"/>
              </p:custDataLst>
            </p:nvPr>
          </p:nvPicPr>
          <p:blipFill>
            <a:blip r:embed="rId33"/>
            <a:stretch>
              <a:fillRect/>
            </a:stretch>
          </p:blipFill>
          <p:spPr>
            <a:xfrm>
              <a:off x="9005" y="5450"/>
              <a:ext cx="9956" cy="4057"/>
            </a:xfrm>
            <a:prstGeom prst="rect">
              <a:avLst/>
            </a:prstGeom>
          </p:spPr>
        </p:pic>
        <p:sp>
          <p:nvSpPr>
            <p:cNvPr id="225" name="椭圆 224"/>
            <p:cNvSpPr/>
            <p:nvPr>
              <p:custDataLst>
                <p:tags r:id="rId34"/>
              </p:custDataLst>
            </p:nvPr>
          </p:nvSpPr>
          <p:spPr bwMode="auto">
            <a:xfrm rot="20182866">
              <a:off x="11367" y="7228"/>
              <a:ext cx="806" cy="1346"/>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6" name="椭圆 225"/>
            <p:cNvSpPr/>
            <p:nvPr>
              <p:custDataLst>
                <p:tags r:id="rId35"/>
              </p:custDataLst>
            </p:nvPr>
          </p:nvSpPr>
          <p:spPr bwMode="auto">
            <a:xfrm rot="1111610">
              <a:off x="12787" y="7572"/>
              <a:ext cx="536" cy="1346"/>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7" name="椭圆 226"/>
            <p:cNvSpPr/>
            <p:nvPr>
              <p:custDataLst>
                <p:tags r:id="rId36"/>
              </p:custDataLst>
            </p:nvPr>
          </p:nvSpPr>
          <p:spPr bwMode="auto">
            <a:xfrm rot="20307562">
              <a:off x="14486" y="6948"/>
              <a:ext cx="881" cy="1346"/>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8" name="椭圆 227"/>
            <p:cNvSpPr/>
            <p:nvPr>
              <p:custDataLst>
                <p:tags r:id="rId37"/>
              </p:custDataLst>
            </p:nvPr>
          </p:nvSpPr>
          <p:spPr bwMode="auto">
            <a:xfrm rot="1201247">
              <a:off x="17201" y="6855"/>
              <a:ext cx="805" cy="1318"/>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0" name="文本框 229"/>
            <p:cNvSpPr txBox="1"/>
            <p:nvPr>
              <p:custDataLst>
                <p:tags r:id="rId38"/>
              </p:custDataLst>
            </p:nvPr>
          </p:nvSpPr>
          <p:spPr>
            <a:xfrm>
              <a:off x="8870" y="5426"/>
              <a:ext cx="523" cy="661"/>
            </a:xfrm>
            <a:prstGeom prst="rect">
              <a:avLst/>
            </a:prstGeom>
          </p:spPr>
          <p:txBody>
            <a:bodyPr wrap="square" rtlCol="0">
              <a:spAutoFit/>
            </a:bodyPr>
            <a:lstStyle/>
            <a:p>
              <a:r>
                <a:rPr lang="en-US" altLang="zh-CN" sz="1200" dirty="0"/>
                <a:t>A</a:t>
              </a:r>
              <a:endParaRPr lang="en-US" altLang="zh-CN" sz="1200" dirty="0"/>
            </a:p>
          </p:txBody>
        </p:sp>
        <p:sp>
          <p:nvSpPr>
            <p:cNvPr id="231" name="文本框 230"/>
            <p:cNvSpPr txBox="1"/>
            <p:nvPr>
              <p:custDataLst>
                <p:tags r:id="rId39"/>
              </p:custDataLst>
            </p:nvPr>
          </p:nvSpPr>
          <p:spPr>
            <a:xfrm>
              <a:off x="18483" y="5522"/>
              <a:ext cx="493" cy="661"/>
            </a:xfrm>
            <a:prstGeom prst="rect">
              <a:avLst/>
            </a:prstGeom>
          </p:spPr>
          <p:txBody>
            <a:bodyPr wrap="square" rtlCol="0">
              <a:spAutoFit/>
            </a:bodyPr>
            <a:lstStyle/>
            <a:p>
              <a:r>
                <a:rPr lang="en-US" altLang="zh-CN" sz="1200" dirty="0"/>
                <a:t>B</a:t>
              </a:r>
              <a:endParaRPr lang="en-US" altLang="zh-CN" sz="1200" dirty="0"/>
            </a:p>
          </p:txBody>
        </p:sp>
      </p:grpSp>
      <p:grpSp>
        <p:nvGrpSpPr>
          <p:cNvPr id="232" name="组合 231"/>
          <p:cNvGrpSpPr/>
          <p:nvPr/>
        </p:nvGrpSpPr>
        <p:grpSpPr>
          <a:xfrm>
            <a:off x="6458585" y="4304057"/>
            <a:ext cx="2700000" cy="1696173"/>
            <a:chOff x="9005" y="5260"/>
            <a:chExt cx="9814" cy="4164"/>
          </a:xfrm>
        </p:grpSpPr>
        <p:pic>
          <p:nvPicPr>
            <p:cNvPr id="233" name="图片 232"/>
            <p:cNvPicPr>
              <a:picLocks noChangeAspect="1"/>
            </p:cNvPicPr>
            <p:nvPr>
              <p:custDataLst>
                <p:tags r:id="rId40"/>
              </p:custDataLst>
            </p:nvPr>
          </p:nvPicPr>
          <p:blipFill>
            <a:blip r:embed="rId41"/>
            <a:stretch>
              <a:fillRect/>
            </a:stretch>
          </p:blipFill>
          <p:spPr>
            <a:xfrm>
              <a:off x="9005" y="5260"/>
              <a:ext cx="9807" cy="4164"/>
            </a:xfrm>
            <a:prstGeom prst="rect">
              <a:avLst/>
            </a:prstGeom>
          </p:spPr>
        </p:pic>
        <p:sp>
          <p:nvSpPr>
            <p:cNvPr id="234" name="椭圆 233"/>
            <p:cNvSpPr/>
            <p:nvPr>
              <p:custDataLst>
                <p:tags r:id="rId42"/>
              </p:custDataLst>
            </p:nvPr>
          </p:nvSpPr>
          <p:spPr bwMode="auto">
            <a:xfrm rot="1969788">
              <a:off x="13446" y="6953"/>
              <a:ext cx="409" cy="898"/>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5" name="椭圆 234"/>
            <p:cNvSpPr/>
            <p:nvPr>
              <p:custDataLst>
                <p:tags r:id="rId43"/>
              </p:custDataLst>
            </p:nvPr>
          </p:nvSpPr>
          <p:spPr bwMode="auto">
            <a:xfrm rot="6155926">
              <a:off x="15722" y="7144"/>
              <a:ext cx="344" cy="671"/>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6" name="椭圆 235"/>
            <p:cNvSpPr/>
            <p:nvPr>
              <p:custDataLst>
                <p:tags r:id="rId44"/>
              </p:custDataLst>
            </p:nvPr>
          </p:nvSpPr>
          <p:spPr bwMode="auto">
            <a:xfrm rot="12240048">
              <a:off x="17249" y="7426"/>
              <a:ext cx="314" cy="701"/>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8" name="文本框 237"/>
            <p:cNvSpPr txBox="1"/>
            <p:nvPr>
              <p:custDataLst>
                <p:tags r:id="rId45"/>
              </p:custDataLst>
            </p:nvPr>
          </p:nvSpPr>
          <p:spPr>
            <a:xfrm>
              <a:off x="9005" y="5448"/>
              <a:ext cx="527" cy="724"/>
            </a:xfrm>
            <a:prstGeom prst="rect">
              <a:avLst/>
            </a:prstGeom>
          </p:spPr>
          <p:txBody>
            <a:bodyPr wrap="square" rtlCol="0">
              <a:spAutoFit/>
            </a:bodyPr>
            <a:lstStyle/>
            <a:p>
              <a:r>
                <a:rPr lang="en-US" altLang="zh-CN" sz="1200" dirty="0"/>
                <a:t>A</a:t>
              </a:r>
              <a:endParaRPr lang="en-US" altLang="zh-CN" sz="1200" dirty="0"/>
            </a:p>
          </p:txBody>
        </p:sp>
        <p:sp>
          <p:nvSpPr>
            <p:cNvPr id="239" name="文本框 238"/>
            <p:cNvSpPr txBox="1"/>
            <p:nvPr>
              <p:custDataLst>
                <p:tags r:id="rId46"/>
              </p:custDataLst>
            </p:nvPr>
          </p:nvSpPr>
          <p:spPr>
            <a:xfrm>
              <a:off x="18323" y="5447"/>
              <a:ext cx="496" cy="724"/>
            </a:xfrm>
            <a:prstGeom prst="rect">
              <a:avLst/>
            </a:prstGeom>
          </p:spPr>
          <p:txBody>
            <a:bodyPr wrap="square" rtlCol="0">
              <a:spAutoFit/>
            </a:bodyPr>
            <a:lstStyle/>
            <a:p>
              <a:r>
                <a:rPr lang="en-US" altLang="zh-CN" sz="1200" dirty="0"/>
                <a:t>B</a:t>
              </a:r>
              <a:endParaRPr lang="en-US" altLang="zh-CN" sz="1200" dirty="0"/>
            </a:p>
          </p:txBody>
        </p:sp>
      </p:grpSp>
      <p:grpSp>
        <p:nvGrpSpPr>
          <p:cNvPr id="240" name="组合 239"/>
          <p:cNvGrpSpPr/>
          <p:nvPr/>
        </p:nvGrpSpPr>
        <p:grpSpPr>
          <a:xfrm>
            <a:off x="9275445" y="4303949"/>
            <a:ext cx="2700000" cy="1697551"/>
            <a:chOff x="9069" y="5354"/>
            <a:chExt cx="9580" cy="4159"/>
          </a:xfrm>
        </p:grpSpPr>
        <p:pic>
          <p:nvPicPr>
            <p:cNvPr id="241" name="图片 240"/>
            <p:cNvPicPr>
              <a:picLocks noChangeAspect="1"/>
            </p:cNvPicPr>
            <p:nvPr>
              <p:custDataLst>
                <p:tags r:id="rId47"/>
              </p:custDataLst>
            </p:nvPr>
          </p:nvPicPr>
          <p:blipFill>
            <a:blip r:embed="rId48"/>
            <a:stretch>
              <a:fillRect/>
            </a:stretch>
          </p:blipFill>
          <p:spPr>
            <a:xfrm>
              <a:off x="9069" y="5354"/>
              <a:ext cx="9535" cy="4159"/>
            </a:xfrm>
            <a:prstGeom prst="rect">
              <a:avLst/>
            </a:prstGeom>
          </p:spPr>
        </p:pic>
        <p:sp>
          <p:nvSpPr>
            <p:cNvPr id="242" name="椭圆 241"/>
            <p:cNvSpPr/>
            <p:nvPr>
              <p:custDataLst>
                <p:tags r:id="rId49"/>
              </p:custDataLst>
            </p:nvPr>
          </p:nvSpPr>
          <p:spPr bwMode="auto">
            <a:xfrm rot="20021616">
              <a:off x="11201" y="7362"/>
              <a:ext cx="539" cy="903"/>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3" name="椭圆 242"/>
            <p:cNvSpPr/>
            <p:nvPr>
              <p:custDataLst>
                <p:tags r:id="rId50"/>
              </p:custDataLst>
            </p:nvPr>
          </p:nvSpPr>
          <p:spPr bwMode="auto">
            <a:xfrm rot="837307">
              <a:off x="12742" y="7294"/>
              <a:ext cx="421" cy="709"/>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4" name="椭圆 243"/>
            <p:cNvSpPr/>
            <p:nvPr>
              <p:custDataLst>
                <p:tags r:id="rId51"/>
              </p:custDataLst>
            </p:nvPr>
          </p:nvSpPr>
          <p:spPr bwMode="auto">
            <a:xfrm rot="18110742">
              <a:off x="13649" y="7356"/>
              <a:ext cx="447" cy="729"/>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5" name="椭圆 244"/>
            <p:cNvSpPr/>
            <p:nvPr>
              <p:custDataLst>
                <p:tags r:id="rId52"/>
              </p:custDataLst>
            </p:nvPr>
          </p:nvSpPr>
          <p:spPr bwMode="auto">
            <a:xfrm rot="21007306">
              <a:off x="16321" y="7515"/>
              <a:ext cx="377" cy="823"/>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6" name="椭圆 245"/>
            <p:cNvSpPr/>
            <p:nvPr>
              <p:custDataLst>
                <p:tags r:id="rId53"/>
              </p:custDataLst>
            </p:nvPr>
          </p:nvSpPr>
          <p:spPr bwMode="auto">
            <a:xfrm rot="18965535">
              <a:off x="17534" y="7198"/>
              <a:ext cx="508" cy="847"/>
            </a:xfrm>
            <a:prstGeom prst="ellipse">
              <a:avLst/>
            </a:prstGeom>
            <a:noFill/>
            <a:ln w="19050" cap="flat" cmpd="sng" algn="ctr">
              <a:solidFill>
                <a:srgbClr val="FF00FF"/>
              </a:solidFill>
              <a:prstDash val="dash"/>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lnSpc>
                  <a:spcPct val="125000"/>
                </a:lnSpc>
                <a:spcBef>
                  <a:spcPct val="0"/>
                </a:spcBef>
                <a:spcAft>
                  <a:spcPct val="0"/>
                </a:spcAft>
                <a:buClr>
                  <a:srgbClr val="FF0000"/>
                </a:buClr>
                <a:buSzPct val="125000"/>
                <a:buFont typeface="Wingdings" panose="05000000000000000000" pitchFamily="2" charset="2"/>
                <a:buChar char="u"/>
              </a:pPr>
              <a:endParaRPr lang="zh-CN" altLang="en-US" sz="800" b="1" dirty="0">
                <a:solidFill>
                  <a:srgbClr val="0033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8" name="文本框 247"/>
            <p:cNvSpPr txBox="1"/>
            <p:nvPr>
              <p:custDataLst>
                <p:tags r:id="rId54"/>
              </p:custDataLst>
            </p:nvPr>
          </p:nvSpPr>
          <p:spPr>
            <a:xfrm>
              <a:off x="9069" y="5563"/>
              <a:ext cx="527" cy="713"/>
            </a:xfrm>
            <a:prstGeom prst="rect">
              <a:avLst/>
            </a:prstGeom>
          </p:spPr>
          <p:txBody>
            <a:bodyPr wrap="square" rtlCol="0">
              <a:spAutoFit/>
            </a:bodyPr>
            <a:lstStyle/>
            <a:p>
              <a:r>
                <a:rPr lang="en-US" altLang="zh-CN" sz="1200" dirty="0"/>
                <a:t>A</a:t>
              </a:r>
              <a:endParaRPr lang="en-US" altLang="zh-CN" sz="1200" dirty="0"/>
            </a:p>
          </p:txBody>
        </p:sp>
        <p:sp>
          <p:nvSpPr>
            <p:cNvPr id="249" name="文本框 248"/>
            <p:cNvSpPr txBox="1"/>
            <p:nvPr>
              <p:custDataLst>
                <p:tags r:id="rId55"/>
              </p:custDataLst>
            </p:nvPr>
          </p:nvSpPr>
          <p:spPr>
            <a:xfrm>
              <a:off x="18153" y="5555"/>
              <a:ext cx="496" cy="713"/>
            </a:xfrm>
            <a:prstGeom prst="rect">
              <a:avLst/>
            </a:prstGeom>
          </p:spPr>
          <p:txBody>
            <a:bodyPr wrap="square" rtlCol="0">
              <a:spAutoFit/>
            </a:bodyPr>
            <a:lstStyle/>
            <a:p>
              <a:r>
                <a:rPr lang="en-US" altLang="zh-CN" sz="1200" dirty="0"/>
                <a:t>B</a:t>
              </a:r>
              <a:endParaRPr lang="en-US" altLang="zh-CN" sz="1200" dirty="0"/>
            </a:p>
          </p:txBody>
        </p:sp>
      </p:grpSp>
      <p:sp>
        <p:nvSpPr>
          <p:cNvPr id="250" name="文本框 249"/>
          <p:cNvSpPr txBox="1"/>
          <p:nvPr/>
        </p:nvSpPr>
        <p:spPr>
          <a:xfrm>
            <a:off x="4732020" y="2707005"/>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1" name="文本框 250"/>
          <p:cNvSpPr txBox="1"/>
          <p:nvPr/>
        </p:nvSpPr>
        <p:spPr>
          <a:xfrm>
            <a:off x="7614920" y="2707005"/>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5" name="TextBox 23"/>
          <p:cNvSpPr>
            <a:spLocks noChangeArrowheads="1"/>
          </p:cNvSpPr>
          <p:nvPr>
            <p:custDataLst>
              <p:tags r:id="rId56"/>
            </p:custDataLst>
          </p:nvPr>
        </p:nvSpPr>
        <p:spPr bwMode="auto">
          <a:xfrm>
            <a:off x="3624580" y="6074410"/>
            <a:ext cx="835088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sym typeface="+mn-ea"/>
              </a:rPr>
              <a:t>泸</a:t>
            </a:r>
            <a:r>
              <a:rPr lang="en-US" altLang="zh-CN" sz="1200" dirty="0">
                <a:solidFill>
                  <a:srgbClr val="000000"/>
                </a:solidFill>
                <a:latin typeface="微软雅黑" panose="020B0503020204020204" pitchFamily="34" charset="-122"/>
                <a:ea typeface="微软雅黑" panose="020B0503020204020204" pitchFamily="34" charset="-122"/>
                <a:sym typeface="+mn-ea"/>
              </a:rPr>
              <a:t>203</a:t>
            </a:r>
            <a:r>
              <a:rPr lang="zh-CN" altLang="en-US" sz="1200" dirty="0">
                <a:solidFill>
                  <a:srgbClr val="000000"/>
                </a:solidFill>
                <a:latin typeface="微软雅黑" panose="020B0503020204020204" pitchFamily="34" charset="-122"/>
                <a:ea typeface="微软雅黑" panose="020B0503020204020204" pitchFamily="34" charset="-122"/>
                <a:sym typeface="+mn-ea"/>
              </a:rPr>
              <a:t>平台</a:t>
            </a:r>
            <a:r>
              <a:rPr lang="en-US" altLang="zh-CN" sz="1200" dirty="0">
                <a:solidFill>
                  <a:srgbClr val="000000"/>
                </a:solidFill>
                <a:latin typeface="微软雅黑" panose="020B0503020204020204" pitchFamily="34" charset="-122"/>
                <a:ea typeface="微软雅黑" panose="020B0503020204020204" pitchFamily="34" charset="-122"/>
                <a:sym typeface="+mn-ea"/>
              </a:rPr>
              <a:t>H10</a:t>
            </a:r>
            <a:r>
              <a:rPr lang="zh-CN" altLang="en-US" sz="1200" dirty="0">
                <a:solidFill>
                  <a:srgbClr val="000000"/>
                </a:solidFill>
                <a:latin typeface="微软雅黑" panose="020B0503020204020204" pitchFamily="34" charset="-122"/>
                <a:ea typeface="微软雅黑" panose="020B0503020204020204" pitchFamily="34" charset="-122"/>
                <a:sym typeface="+mn-ea"/>
              </a:rPr>
              <a:t>平台</a:t>
            </a:r>
            <a:r>
              <a:rPr lang="en-US" altLang="zh-CN" sz="1200" dirty="0">
                <a:solidFill>
                  <a:srgbClr val="000000"/>
                </a:solidFill>
                <a:latin typeface="微软雅黑" panose="020B0503020204020204" pitchFamily="34" charset="-122"/>
                <a:ea typeface="微软雅黑" panose="020B0503020204020204" pitchFamily="34" charset="-122"/>
                <a:sym typeface="+mn-ea"/>
              </a:rPr>
              <a:t>1-6</a:t>
            </a:r>
            <a:r>
              <a:rPr lang="zh-CN" altLang="en-US" sz="1200" dirty="0">
                <a:solidFill>
                  <a:srgbClr val="000000"/>
                </a:solidFill>
                <a:latin typeface="微软雅黑" panose="020B0503020204020204" pitchFamily="34" charset="-122"/>
                <a:ea typeface="微软雅黑" panose="020B0503020204020204" pitchFamily="34" charset="-122"/>
                <a:sym typeface="+mn-ea"/>
              </a:rPr>
              <a:t>井多级裂缝预测剖面图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06" name="文本框 305"/>
          <p:cNvSpPr txBox="1"/>
          <p:nvPr/>
        </p:nvSpPr>
        <p:spPr>
          <a:xfrm>
            <a:off x="10436225" y="2707005"/>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7" name="文本框 306"/>
          <p:cNvSpPr txBox="1"/>
          <p:nvPr/>
        </p:nvSpPr>
        <p:spPr>
          <a:xfrm>
            <a:off x="4732020" y="4452620"/>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8" name="文本框 307"/>
          <p:cNvSpPr txBox="1"/>
          <p:nvPr/>
        </p:nvSpPr>
        <p:spPr>
          <a:xfrm>
            <a:off x="7614920" y="4452620"/>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9" name="文本框 308"/>
          <p:cNvSpPr txBox="1"/>
          <p:nvPr/>
        </p:nvSpPr>
        <p:spPr>
          <a:xfrm>
            <a:off x="10436225" y="4452620"/>
            <a:ext cx="633730" cy="435610"/>
          </a:xfrm>
          <a:prstGeom prst="rect">
            <a:avLst/>
          </a:prstGeom>
          <a:noFill/>
          <a:ln>
            <a:noFill/>
          </a:ln>
        </p:spPr>
        <p:txBody>
          <a:bodyPr wrap="square"/>
          <a:lstStyle/>
          <a:p>
            <a:pPr marL="0" indent="0">
              <a:lnSpc>
                <a:spcPct val="100000"/>
              </a:lnSpc>
              <a:buClr>
                <a:srgbClr val="FF0000"/>
              </a:buClr>
            </a:pP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井</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en-US" altLang="zh-CN" sz="1600" dirty="0">
                <a:solidFill>
                  <a:srgbClr val="000000"/>
                </a:solidFill>
                <a:latin typeface="微软雅黑" panose="020B0503020204020204" pitchFamily="34" charset="-122"/>
                <a:ea typeface="微软雅黑" panose="020B0503020204020204" pitchFamily="34" charset="-122"/>
                <a:sym typeface="+mn-ea"/>
              </a:rPr>
              <a:t>1</a:t>
            </a:r>
            <a:r>
              <a:rPr lang="zh-CN" altLang="en-US" sz="1600" dirty="0">
                <a:solidFill>
                  <a:srgbClr val="000000"/>
                </a:solidFill>
                <a:latin typeface="微软雅黑" panose="020B0503020204020204" pitchFamily="34" charset="-122"/>
                <a:ea typeface="微软雅黑" panose="020B0503020204020204" pitchFamily="34" charset="-122"/>
                <a:sym typeface="+mn-ea"/>
              </a:rPr>
              <a:t>井评分最高但千米</a:t>
            </a:r>
            <a:r>
              <a:rPr lang="en-US" altLang="zh-CN" sz="1600" dirty="0">
                <a:solidFill>
                  <a:srgbClr val="000000"/>
                </a:solidFill>
                <a:latin typeface="微软雅黑" panose="020B0503020204020204" pitchFamily="34" charset="-122"/>
                <a:ea typeface="微软雅黑" panose="020B0503020204020204" pitchFamily="34" charset="-122"/>
                <a:sym typeface="+mn-ea"/>
              </a:rPr>
              <a:t>EUR</a:t>
            </a:r>
            <a:r>
              <a:rPr lang="zh-CN" altLang="en-US" sz="1600" dirty="0">
                <a:solidFill>
                  <a:srgbClr val="000000"/>
                </a:solidFill>
                <a:latin typeface="微软雅黑" panose="020B0503020204020204" pitchFamily="34" charset="-122"/>
                <a:ea typeface="微软雅黑" panose="020B0503020204020204" pitchFamily="34" charset="-122"/>
                <a:sym typeface="+mn-ea"/>
              </a:rPr>
              <a:t>仅</a:t>
            </a:r>
            <a:r>
              <a:rPr lang="en-US" altLang="zh-CN" sz="1600" dirty="0">
                <a:solidFill>
                  <a:srgbClr val="000000"/>
                </a:solidFill>
                <a:latin typeface="微软雅黑" panose="020B0503020204020204" pitchFamily="34" charset="-122"/>
                <a:ea typeface="微软雅黑" panose="020B0503020204020204" pitchFamily="34" charset="-122"/>
                <a:sym typeface="+mn-ea"/>
              </a:rPr>
              <a:t>0.5157</a:t>
            </a:r>
            <a:r>
              <a:rPr lang="zh-CN" altLang="en-US" sz="1600" dirty="0">
                <a:solidFill>
                  <a:srgbClr val="000000"/>
                </a:solidFill>
                <a:latin typeface="微软雅黑" panose="020B0503020204020204" pitchFamily="34" charset="-122"/>
                <a:ea typeface="微软雅黑" panose="020B0503020204020204" pitchFamily="34" charset="-122"/>
                <a:sym typeface="+mn-ea"/>
              </a:rPr>
              <a:t>，改造效率中等偏上，</a:t>
            </a:r>
            <a:r>
              <a:rPr lang="en-US" altLang="zh-CN" sz="1600" dirty="0">
                <a:solidFill>
                  <a:srgbClr val="000000"/>
                </a:solidFill>
                <a:latin typeface="微软雅黑" panose="020B0503020204020204" pitchFamily="34" charset="-122"/>
                <a:ea typeface="微软雅黑" panose="020B0503020204020204" pitchFamily="34" charset="-122"/>
                <a:sym typeface="+mn-ea"/>
              </a:rPr>
              <a:t>说明</a:t>
            </a:r>
            <a:r>
              <a:rPr lang="en-US" altLang="zh-CN" sz="1600" dirty="0">
                <a:solidFill>
                  <a:srgbClr val="FF0000"/>
                </a:solidFill>
                <a:latin typeface="微软雅黑" panose="020B0503020204020204" pitchFamily="34" charset="-122"/>
                <a:ea typeface="微软雅黑" panose="020B0503020204020204" pitchFamily="34" charset="-122"/>
                <a:sym typeface="+mn-ea"/>
              </a:rPr>
              <a:t>储层致密导致虽有高能量释放但并未带来最优的单位长度产能</a:t>
            </a:r>
            <a:endParaRPr lang="zh-CN" altLang="en-US" sz="1600" dirty="0">
              <a:solidFill>
                <a:srgbClr val="000000"/>
              </a:solidFill>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rgbClr val="000000"/>
                </a:solidFill>
                <a:latin typeface="微软雅黑" panose="020B0503020204020204" pitchFamily="34" charset="-122"/>
                <a:ea typeface="微软雅黑" panose="020B0503020204020204" pitchFamily="34" charset="-122"/>
                <a:sym typeface="+mn-ea"/>
              </a:rPr>
              <a:t>4</a:t>
            </a:r>
            <a:r>
              <a:rPr lang="zh-CN" altLang="en-US" sz="1600" dirty="0">
                <a:solidFill>
                  <a:srgbClr val="000000"/>
                </a:solidFill>
                <a:latin typeface="微软雅黑" panose="020B0503020204020204" pitchFamily="34" charset="-122"/>
                <a:ea typeface="微软雅黑" panose="020B0503020204020204" pitchFamily="34" charset="-122"/>
                <a:sym typeface="+mn-ea"/>
              </a:rPr>
              <a:t>井表现最差：</a:t>
            </a:r>
            <a:r>
              <a:rPr lang="en-US" altLang="zh-CN" sz="1600" dirty="0">
                <a:solidFill>
                  <a:srgbClr val="000000"/>
                </a:solidFill>
                <a:latin typeface="微软雅黑" panose="020B0503020204020204" pitchFamily="34" charset="-122"/>
                <a:ea typeface="微软雅黑" panose="020B0503020204020204" pitchFamily="34" charset="-122"/>
                <a:sym typeface="+mn-ea"/>
              </a:rPr>
              <a:t>EUR</a:t>
            </a:r>
            <a:r>
              <a:rPr lang="zh-CN" altLang="en-US" sz="1600" dirty="0">
                <a:solidFill>
                  <a:srgbClr val="000000"/>
                </a:solidFill>
                <a:latin typeface="微软雅黑" panose="020B0503020204020204" pitchFamily="34" charset="-122"/>
                <a:ea typeface="微软雅黑" panose="020B0503020204020204" pitchFamily="34" charset="-122"/>
                <a:sym typeface="+mn-ea"/>
              </a:rPr>
              <a:t>和千米</a:t>
            </a:r>
            <a:r>
              <a:rPr lang="en-US" altLang="zh-CN" sz="1600" dirty="0">
                <a:solidFill>
                  <a:srgbClr val="000000"/>
                </a:solidFill>
                <a:latin typeface="微软雅黑" panose="020B0503020204020204" pitchFamily="34" charset="-122"/>
                <a:ea typeface="微软雅黑" panose="020B0503020204020204" pitchFamily="34" charset="-122"/>
                <a:sym typeface="+mn-ea"/>
              </a:rPr>
              <a:t>EUR</a:t>
            </a:r>
            <a:r>
              <a:rPr lang="zh-CN" altLang="en-US" sz="1600" dirty="0">
                <a:solidFill>
                  <a:srgbClr val="000000"/>
                </a:solidFill>
                <a:latin typeface="微软雅黑" panose="020B0503020204020204" pitchFamily="34" charset="-122"/>
                <a:ea typeface="微软雅黑" panose="020B0503020204020204" pitchFamily="34" charset="-122"/>
                <a:sym typeface="+mn-ea"/>
              </a:rPr>
              <a:t>均为最低，但缝网事件</a:t>
            </a:r>
            <a:r>
              <a:rPr lang="en-US" altLang="zh-CN" sz="1600" dirty="0">
                <a:solidFill>
                  <a:srgbClr val="000000"/>
                </a:solidFill>
                <a:latin typeface="微软雅黑" panose="020B0503020204020204" pitchFamily="34" charset="-122"/>
                <a:ea typeface="微软雅黑" panose="020B0503020204020204" pitchFamily="34" charset="-122"/>
                <a:sym typeface="+mn-ea"/>
              </a:rPr>
              <a:t>108.3</a:t>
            </a:r>
            <a:r>
              <a:rPr lang="zh-CN" altLang="en-US" sz="1600" dirty="0">
                <a:solidFill>
                  <a:srgbClr val="000000"/>
                </a:solidFill>
                <a:latin typeface="微软雅黑" panose="020B0503020204020204" pitchFamily="34" charset="-122"/>
                <a:ea typeface="微软雅黑" panose="020B0503020204020204" pitchFamily="34" charset="-122"/>
                <a:sym typeface="+mn-ea"/>
              </a:rPr>
              <a:t>为平台最高，说明</a:t>
            </a:r>
            <a:r>
              <a:rPr lang="zh-CN" altLang="en-US" sz="1600" dirty="0">
                <a:solidFill>
                  <a:srgbClr val="FF0000"/>
                </a:solidFill>
                <a:latin typeface="微软雅黑" panose="020B0503020204020204" pitchFamily="34" charset="-122"/>
                <a:ea typeface="微软雅黑" panose="020B0503020204020204" pitchFamily="34" charset="-122"/>
                <a:sym typeface="+mn-ea"/>
              </a:rPr>
              <a:t>分支裂缝可能未能有效沟通优质储层</a:t>
            </a:r>
            <a:endParaRPr lang="zh-CN" altLang="en-US" sz="1600" dirty="0">
              <a:solidFill>
                <a:srgbClr val="000000"/>
              </a:solidFill>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rgbClr val="000000"/>
                </a:solidFill>
                <a:latin typeface="微软雅黑" panose="020B0503020204020204" pitchFamily="34" charset="-122"/>
                <a:ea typeface="微软雅黑" panose="020B0503020204020204" pitchFamily="34" charset="-122"/>
                <a:sym typeface="+mn-ea"/>
              </a:rPr>
              <a:t>该平台整体千米</a:t>
            </a:r>
            <a:r>
              <a:rPr lang="en-US" altLang="zh-CN" sz="1600" dirty="0">
                <a:solidFill>
                  <a:srgbClr val="000000"/>
                </a:solidFill>
                <a:latin typeface="微软雅黑" panose="020B0503020204020204" pitchFamily="34" charset="-122"/>
                <a:ea typeface="微软雅黑" panose="020B0503020204020204" pitchFamily="34" charset="-122"/>
                <a:sym typeface="+mn-ea"/>
              </a:rPr>
              <a:t>EUR</a:t>
            </a:r>
            <a:r>
              <a:rPr lang="zh-CN" altLang="en-US" sz="1600" dirty="0">
                <a:solidFill>
                  <a:srgbClr val="000000"/>
                </a:solidFill>
                <a:latin typeface="微软雅黑" panose="020B0503020204020204" pitchFamily="34" charset="-122"/>
                <a:ea typeface="微软雅黑" panose="020B0503020204020204" pitchFamily="34" charset="-122"/>
                <a:sym typeface="+mn-ea"/>
              </a:rPr>
              <a:t>为</a:t>
            </a:r>
            <a:r>
              <a:rPr lang="en-US" altLang="zh-CN" sz="1600" dirty="0">
                <a:solidFill>
                  <a:srgbClr val="000000"/>
                </a:solidFill>
                <a:latin typeface="微软雅黑" panose="020B0503020204020204" pitchFamily="34" charset="-122"/>
                <a:ea typeface="微软雅黑" panose="020B0503020204020204" pitchFamily="34" charset="-122"/>
                <a:sym typeface="+mn-ea"/>
              </a:rPr>
              <a:t>0.4764</a:t>
            </a:r>
            <a:r>
              <a:rPr lang="zh-CN" altLang="en-US" sz="1600" dirty="0">
                <a:solidFill>
                  <a:srgbClr val="000000"/>
                </a:solidFill>
                <a:latin typeface="微软雅黑" panose="020B0503020204020204" pitchFamily="34" charset="-122"/>
                <a:ea typeface="微软雅黑" panose="020B0503020204020204" pitchFamily="34" charset="-122"/>
                <a:sym typeface="+mn-ea"/>
              </a:rPr>
              <a:t>，在</a:t>
            </a:r>
            <a:r>
              <a:rPr lang="en-US" altLang="zh-CN" sz="1600" dirty="0">
                <a:solidFill>
                  <a:srgbClr val="000000"/>
                </a:solidFill>
                <a:latin typeface="微软雅黑" panose="020B0503020204020204" pitchFamily="34" charset="-122"/>
                <a:ea typeface="微软雅黑" panose="020B0503020204020204" pitchFamily="34" charset="-122"/>
                <a:sym typeface="+mn-ea"/>
              </a:rPr>
              <a:t>6</a:t>
            </a:r>
            <a:r>
              <a:rPr lang="zh-CN" altLang="en-US" sz="1600" dirty="0">
                <a:solidFill>
                  <a:srgbClr val="000000"/>
                </a:solidFill>
                <a:latin typeface="微软雅黑" panose="020B0503020204020204" pitchFamily="34" charset="-122"/>
                <a:ea typeface="微软雅黑" panose="020B0503020204020204" pitchFamily="34" charset="-122"/>
                <a:sym typeface="+mn-ea"/>
              </a:rPr>
              <a:t>个平台中排名倒数第二，反映了泸</a:t>
            </a:r>
            <a:r>
              <a:rPr lang="en-US" altLang="zh-CN" sz="1600" dirty="0">
                <a:solidFill>
                  <a:srgbClr val="000000"/>
                </a:solidFill>
                <a:latin typeface="微软雅黑" panose="020B0503020204020204" pitchFamily="34" charset="-122"/>
                <a:ea typeface="微软雅黑" panose="020B0503020204020204" pitchFamily="34" charset="-122"/>
                <a:sym typeface="+mn-ea"/>
              </a:rPr>
              <a:t>203</a:t>
            </a:r>
            <a:r>
              <a:rPr lang="zh-CN" altLang="en-US" sz="1600" dirty="0">
                <a:solidFill>
                  <a:srgbClr val="000000"/>
                </a:solidFill>
                <a:latin typeface="微软雅黑" panose="020B0503020204020204" pitchFamily="34" charset="-122"/>
                <a:ea typeface="微软雅黑" panose="020B0503020204020204" pitchFamily="34" charset="-122"/>
                <a:sym typeface="+mn-ea"/>
              </a:rPr>
              <a:t>区块</a:t>
            </a:r>
            <a:r>
              <a:rPr lang="en-US" altLang="zh-CN" sz="1600" dirty="0">
                <a:solidFill>
                  <a:srgbClr val="000000"/>
                </a:solidFill>
                <a:latin typeface="微软雅黑" panose="020B0503020204020204" pitchFamily="34" charset="-122"/>
                <a:ea typeface="微软雅黑" panose="020B0503020204020204" pitchFamily="34" charset="-122"/>
                <a:sym typeface="+mn-ea"/>
              </a:rPr>
              <a:t>H10</a:t>
            </a:r>
            <a:r>
              <a:rPr lang="zh-CN" altLang="en-US" sz="1600" dirty="0">
                <a:solidFill>
                  <a:srgbClr val="000000"/>
                </a:solidFill>
                <a:latin typeface="微软雅黑" panose="020B0503020204020204" pitchFamily="34" charset="-122"/>
                <a:ea typeface="微软雅黑" panose="020B0503020204020204" pitchFamily="34" charset="-122"/>
                <a:sym typeface="+mn-ea"/>
              </a:rPr>
              <a:t>层系</a:t>
            </a:r>
            <a:r>
              <a:rPr lang="zh-CN" altLang="en-US" sz="1600" dirty="0">
                <a:solidFill>
                  <a:srgbClr val="FF0000"/>
                </a:solidFill>
                <a:latin typeface="微软雅黑" panose="020B0503020204020204" pitchFamily="34" charset="-122"/>
                <a:ea typeface="微软雅黑" panose="020B0503020204020204" pitchFamily="34" charset="-122"/>
                <a:sym typeface="+mn-ea"/>
              </a:rPr>
              <a:t>储层品质和改造效果整体偏差</a:t>
            </a:r>
            <a:endParaRPr lang="zh-CN" altLang="en-US" sz="1600" dirty="0">
              <a:solidFill>
                <a:srgbClr val="FF0000"/>
              </a:solidFill>
              <a:latin typeface="微软雅黑" panose="020B0503020204020204" pitchFamily="34" charset="-122"/>
              <a:ea typeface="微软雅黑" panose="020B0503020204020204" pitchFamily="34" charset="-122"/>
              <a:sym typeface="+mn-ea"/>
            </a:endParaRPr>
          </a:p>
        </p:txBody>
      </p:sp>
      <p:sp>
        <p:nvSpPr>
          <p:cNvPr id="31" name="TextBox 23"/>
          <p:cNvSpPr>
            <a:spLocks noChangeArrowheads="1"/>
          </p:cNvSpPr>
          <p:nvPr>
            <p:custDataLst>
              <p:tags r:id="rId1"/>
            </p:custDataLst>
          </p:nvPr>
        </p:nvSpPr>
        <p:spPr bwMode="auto">
          <a:xfrm>
            <a:off x="387350" y="6076950"/>
            <a:ext cx="1122997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H10</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平台各井小波分析指标与评分</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graphicFrame>
        <p:nvGraphicFramePr>
          <p:cNvPr id="6" name="表格 5"/>
          <p:cNvGraphicFramePr/>
          <p:nvPr>
            <p:custDataLst>
              <p:tags r:id="rId2"/>
            </p:custDataLst>
          </p:nvPr>
        </p:nvGraphicFramePr>
        <p:xfrm>
          <a:off x="387350" y="2579370"/>
          <a:ext cx="11245215" cy="3497580"/>
        </p:xfrm>
        <a:graphic>
          <a:graphicData uri="http://schemas.openxmlformats.org/drawingml/2006/table">
            <a:tbl>
              <a:tblPr/>
              <a:tblGrid>
                <a:gridCol w="1093470"/>
                <a:gridCol w="1093470"/>
                <a:gridCol w="1336675"/>
                <a:gridCol w="1336675"/>
                <a:gridCol w="1744345"/>
                <a:gridCol w="1744345"/>
                <a:gridCol w="1094105"/>
                <a:gridCol w="1802130"/>
              </a:tblGrid>
              <a:tr h="760730">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井号</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段数</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主裂缝扩展事件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缝网扩展事件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裂缝扩展能量</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小波评分</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en-US" altLang="zh-CN" sz="1200" b="1" i="0" spc="120">
                          <a:solidFill>
                            <a:schemeClr val="bg1"/>
                          </a:solidFill>
                          <a:latin typeface="微软雅黑" panose="020B0503020204020204" pitchFamily="34" charset="-122"/>
                          <a:ea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千米</a:t>
                      </a:r>
                      <a:r>
                        <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r>
              <a:tr h="391160">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1032.1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88.5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276.47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78.2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0.64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0.5157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90525">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751.7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103.7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196.22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76.45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0.65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0.4876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91160">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620.2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88.9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158.2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75.1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0.85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0.5986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91160">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21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737.1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108.3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193.08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76.67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0.3909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90525">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22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955.8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74.9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240.82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77.03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0.64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0.4069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91795">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22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676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69.1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180.9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75.07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0.79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0.4585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90525">
                <a:tc>
                  <a:txBody>
                    <a:bodyPr/>
                    <a:p>
                      <a:pPr algn="ctr" fontAlgn="ctr">
                        <a:lnSpc>
                          <a:spcPct val="120000"/>
                        </a:lnSpc>
                      </a:pPr>
                      <a:r>
                        <a:rPr lang="zh-CN" altLang="en-US" sz="1200" b="0" i="0">
                          <a:solidFill>
                            <a:srgbClr val="333333"/>
                          </a:solidFill>
                          <a:latin typeface="微软雅黑" panose="020B0503020204020204" pitchFamily="34" charset="-122"/>
                          <a:ea typeface="微软雅黑" panose="020B0503020204020204" pitchFamily="34" charset="-122"/>
                        </a:rPr>
                        <a:t>均值</a:t>
                      </a:r>
                      <a:endParaRPr lang="zh-CN" altLang="en-US"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19.3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795.5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88.9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207.62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76.42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0.695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lnSpc>
                          <a:spcPct val="120000"/>
                        </a:lnSpc>
                      </a:pPr>
                      <a:r>
                        <a:rPr lang="en-US" altLang="zh-CN" sz="1200" b="0" i="0">
                          <a:solidFill>
                            <a:srgbClr val="333333"/>
                          </a:solidFill>
                          <a:latin typeface="微软雅黑" panose="020B0503020204020204" pitchFamily="34" charset="-122"/>
                          <a:ea typeface="微软雅黑" panose="020B0503020204020204" pitchFamily="34" charset="-122"/>
                        </a:rPr>
                        <a:t>0.4764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a:t>
            </a:r>
            <a:r>
              <a:rPr 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区内发育</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小规模断裂</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井区北部、中部以中低密度网状缝为主，北东向单向缝较为发育</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sym typeface="+mn-ea"/>
              </a:rPr>
              <a:t>分为</a:t>
            </a:r>
            <a:r>
              <a:rPr lang="zh-CN" altLang="en-US" sz="1600" dirty="0">
                <a:solidFill>
                  <a:srgbClr val="FF0000"/>
                </a:solidFill>
                <a:latin typeface="微软雅黑" panose="020B0503020204020204" pitchFamily="34" charset="-122"/>
                <a:ea typeface="微软雅黑" panose="020B0503020204020204" pitchFamily="34" charset="-122"/>
                <a:sym typeface="+mn-ea"/>
              </a:rPr>
              <a:t>主体段、渐进防控段、风险段</a:t>
            </a:r>
            <a:r>
              <a:rPr lang="zh-CN" altLang="en-US" sz="1600" dirty="0">
                <a:latin typeface="微软雅黑" panose="020B0503020204020204" pitchFamily="34" charset="-122"/>
                <a:ea typeface="微软雅黑" panose="020B0503020204020204" pitchFamily="34" charset="-122"/>
                <a:sym typeface="+mn-ea"/>
              </a:rPr>
              <a:t>差异化压裂设计</a:t>
            </a:r>
            <a:endParaRPr lang="zh-CN" altLang="en-US" sz="1600" dirty="0">
              <a:latin typeface="微软雅黑" panose="020B0503020204020204" pitchFamily="34" charset="-122"/>
              <a:ea typeface="微软雅黑" panose="020B0503020204020204" pitchFamily="34" charset="-122"/>
              <a:sym typeface="+mn-ea"/>
            </a:endParaRPr>
          </a:p>
          <a:p>
            <a:pPr marL="0"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地质条件评价：</a:t>
            </a:r>
            <a:r>
              <a:rPr lang="en-US" altLang="zh-CN" sz="1600" dirty="0">
                <a:latin typeface="微软雅黑" panose="020B0503020204020204" pitchFamily="34" charset="-122"/>
                <a:ea typeface="微软雅黑" panose="020B0503020204020204" pitchFamily="34" charset="-122"/>
                <a:sym typeface="+mn-ea"/>
              </a:rPr>
              <a:t>I</a:t>
            </a:r>
            <a:r>
              <a:rPr lang="zh-CN" altLang="en-US" sz="1600" dirty="0">
                <a:latin typeface="微软雅黑" panose="020B0503020204020204" pitchFamily="34" charset="-122"/>
                <a:ea typeface="微软雅黑" panose="020B0503020204020204" pitchFamily="34" charset="-122"/>
                <a:sym typeface="+mn-ea"/>
              </a:rPr>
              <a:t>类（</a:t>
            </a:r>
            <a:r>
              <a:rPr lang="en-US" altLang="zh-CN" sz="1600" dirty="0">
                <a:latin typeface="微软雅黑" panose="020B0503020204020204" pitchFamily="34" charset="-122"/>
                <a:ea typeface="微软雅黑" panose="020B0503020204020204" pitchFamily="34" charset="-122"/>
                <a:sym typeface="+mn-ea"/>
              </a:rPr>
              <a:t>1</a:t>
            </a:r>
            <a:r>
              <a:rPr lang="zh-CN" altLang="en-US" sz="1600" dirty="0">
                <a:latin typeface="微软雅黑" panose="020B0503020204020204" pitchFamily="34" charset="-122"/>
                <a:ea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sym typeface="+mn-ea"/>
              </a:rPr>
              <a:t>3</a:t>
            </a:r>
            <a:r>
              <a:rPr lang="zh-CN" altLang="en-US" sz="1600" dirty="0">
                <a:latin typeface="微软雅黑" panose="020B0503020204020204" pitchFamily="34" charset="-122"/>
                <a:ea typeface="微软雅黑" panose="020B0503020204020204" pitchFamily="34" charset="-122"/>
                <a:sym typeface="+mn-ea"/>
              </a:rPr>
              <a:t>井）</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，II类（5、7井）；工程风险评价：</a:t>
            </a:r>
            <a:r>
              <a:rPr lang="en-US" altLang="zh-CN" sz="1600" dirty="0">
                <a:latin typeface="微软雅黑" panose="020B0503020204020204" pitchFamily="34" charset="-122"/>
                <a:ea typeface="微软雅黑" panose="020B0503020204020204" pitchFamily="34" charset="-122"/>
                <a:sym typeface="+mn-ea"/>
              </a:rPr>
              <a:t>I</a:t>
            </a:r>
            <a:r>
              <a:rPr lang="zh-CN" altLang="en-US" sz="1600" dirty="0">
                <a:latin typeface="微软雅黑" panose="020B0503020204020204" pitchFamily="34" charset="-122"/>
                <a:ea typeface="微软雅黑" panose="020B0503020204020204" pitchFamily="34" charset="-122"/>
                <a:sym typeface="+mn-ea"/>
              </a:rPr>
              <a:t>类（</a:t>
            </a:r>
            <a:r>
              <a:rPr lang="en-US" altLang="zh-CN" sz="1600" dirty="0">
                <a:latin typeface="微软雅黑" panose="020B0503020204020204" pitchFamily="34" charset="-122"/>
                <a:ea typeface="微软雅黑" panose="020B0503020204020204" pitchFamily="34" charset="-122"/>
                <a:sym typeface="+mn-ea"/>
              </a:rPr>
              <a:t>1</a:t>
            </a:r>
            <a:r>
              <a:rPr lang="zh-CN" altLang="en-US" sz="1600" dirty="0">
                <a:latin typeface="微软雅黑" panose="020B0503020204020204" pitchFamily="34" charset="-122"/>
                <a:ea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sym typeface="+mn-ea"/>
              </a:rPr>
              <a:t>3</a:t>
            </a:r>
            <a:r>
              <a:rPr lang="zh-CN" altLang="en-US" sz="1600" dirty="0">
                <a:latin typeface="微软雅黑" panose="020B0503020204020204" pitchFamily="34" charset="-122"/>
                <a:ea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sym typeface="+mn-ea"/>
              </a:rPr>
              <a:t>5</a:t>
            </a:r>
            <a:r>
              <a:rPr lang="zh-CN" altLang="en-US" sz="1600" dirty="0">
                <a:latin typeface="微软雅黑" panose="020B0503020204020204" pitchFamily="34" charset="-122"/>
                <a:ea typeface="微软雅黑" panose="020B0503020204020204" pitchFamily="34" charset="-122"/>
                <a:sym typeface="+mn-ea"/>
              </a:rPr>
              <a:t>井），</a:t>
            </a:r>
            <a:r>
              <a:rPr lang="en-US" altLang="zh-CN" sz="1600" dirty="0">
                <a:latin typeface="微软雅黑" panose="020B0503020204020204" pitchFamily="34" charset="-122"/>
                <a:ea typeface="微软雅黑" panose="020B0503020204020204" pitchFamily="34" charset="-122"/>
                <a:sym typeface="+mn-ea"/>
              </a:rPr>
              <a:t>II</a:t>
            </a:r>
            <a:r>
              <a:rPr lang="zh-CN" altLang="en-US" sz="1600" dirty="0">
                <a:latin typeface="微软雅黑" panose="020B0503020204020204" pitchFamily="34" charset="-122"/>
                <a:ea typeface="微软雅黑" panose="020B0503020204020204" pitchFamily="34" charset="-122"/>
                <a:sym typeface="+mn-ea"/>
              </a:rPr>
              <a:t>类（</a:t>
            </a:r>
            <a:r>
              <a:rPr lang="en-US" altLang="zh-CN" sz="1600" dirty="0">
                <a:latin typeface="微软雅黑" panose="020B0503020204020204" pitchFamily="34" charset="-122"/>
                <a:ea typeface="微软雅黑" panose="020B0503020204020204" pitchFamily="34" charset="-122"/>
                <a:sym typeface="+mn-ea"/>
              </a:rPr>
              <a:t>7</a:t>
            </a:r>
            <a:r>
              <a:rPr lang="zh-CN" altLang="en-US" sz="1600" dirty="0">
                <a:latin typeface="微软雅黑" panose="020B0503020204020204" pitchFamily="34" charset="-122"/>
                <a:ea typeface="微软雅黑" panose="020B0503020204020204" pitchFamily="34" charset="-122"/>
                <a:sym typeface="+mn-ea"/>
              </a:rPr>
              <a:t>井）</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1" name="TextBox 23"/>
          <p:cNvSpPr>
            <a:spLocks noChangeArrowheads="1"/>
          </p:cNvSpPr>
          <p:nvPr>
            <p:custDataLst>
              <p:tags r:id="rId1"/>
            </p:custDataLst>
          </p:nvPr>
        </p:nvSpPr>
        <p:spPr bwMode="auto">
          <a:xfrm>
            <a:off x="449580" y="6074410"/>
            <a:ext cx="511111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H123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平台区域多级断裂平面分布图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05" name="TextBox 23"/>
          <p:cNvSpPr>
            <a:spLocks noChangeArrowheads="1"/>
          </p:cNvSpPr>
          <p:nvPr>
            <p:custDataLst>
              <p:tags r:id="rId2"/>
            </p:custDataLst>
          </p:nvPr>
        </p:nvSpPr>
        <p:spPr bwMode="auto">
          <a:xfrm>
            <a:off x="5772150" y="6074410"/>
            <a:ext cx="600646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sym typeface="+mn-ea"/>
              </a:rPr>
              <a:t>泸</a:t>
            </a:r>
            <a:r>
              <a:rPr lang="en-US" altLang="zh-CN" sz="1200" dirty="0">
                <a:solidFill>
                  <a:srgbClr val="000000"/>
                </a:solidFill>
                <a:latin typeface="微软雅黑" panose="020B0503020204020204" pitchFamily="34" charset="-122"/>
                <a:ea typeface="微软雅黑" panose="020B0503020204020204" pitchFamily="34" charset="-122"/>
                <a:sym typeface="+mn-ea"/>
              </a:rPr>
              <a:t>203</a:t>
            </a:r>
            <a:r>
              <a:rPr lang="zh-CN" altLang="en-US" sz="1200" dirty="0">
                <a:solidFill>
                  <a:srgbClr val="000000"/>
                </a:solidFill>
                <a:latin typeface="微软雅黑" panose="020B0503020204020204" pitchFamily="34" charset="-122"/>
                <a:ea typeface="微软雅黑" panose="020B0503020204020204" pitchFamily="34" charset="-122"/>
                <a:sym typeface="+mn-ea"/>
              </a:rPr>
              <a:t>平台</a:t>
            </a:r>
            <a:r>
              <a:rPr lang="en-US" altLang="zh-CN" sz="1200" dirty="0">
                <a:solidFill>
                  <a:srgbClr val="000000"/>
                </a:solidFill>
                <a:latin typeface="微软雅黑" panose="020B0503020204020204" pitchFamily="34" charset="-122"/>
                <a:ea typeface="微软雅黑" panose="020B0503020204020204" pitchFamily="34" charset="-122"/>
                <a:sym typeface="+mn-ea"/>
              </a:rPr>
              <a:t>H123</a:t>
            </a:r>
            <a:r>
              <a:rPr lang="zh-CN" altLang="en-US" sz="1200" dirty="0">
                <a:solidFill>
                  <a:srgbClr val="000000"/>
                </a:solidFill>
                <a:latin typeface="微软雅黑" panose="020B0503020204020204" pitchFamily="34" charset="-122"/>
                <a:ea typeface="微软雅黑" panose="020B0503020204020204" pitchFamily="34" charset="-122"/>
                <a:sym typeface="+mn-ea"/>
              </a:rPr>
              <a:t>平台</a:t>
            </a:r>
            <a:r>
              <a:rPr lang="en-US" altLang="zh-CN" sz="1200" dirty="0">
                <a:solidFill>
                  <a:srgbClr val="000000"/>
                </a:solidFill>
                <a:latin typeface="微软雅黑" panose="020B0503020204020204" pitchFamily="34" charset="-122"/>
                <a:ea typeface="微软雅黑" panose="020B0503020204020204" pitchFamily="34" charset="-122"/>
                <a:sym typeface="+mn-ea"/>
              </a:rPr>
              <a:t>1-4</a:t>
            </a:r>
            <a:r>
              <a:rPr lang="zh-CN" altLang="en-US" sz="1200" dirty="0">
                <a:solidFill>
                  <a:srgbClr val="000000"/>
                </a:solidFill>
                <a:latin typeface="微软雅黑" panose="020B0503020204020204" pitchFamily="34" charset="-122"/>
                <a:ea typeface="微软雅黑" panose="020B0503020204020204" pitchFamily="34" charset="-122"/>
                <a:sym typeface="+mn-ea"/>
              </a:rPr>
              <a:t>井多级裂缝预测剖面图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3" name="图片 2"/>
          <p:cNvPicPr>
            <a:picLocks noChangeAspect="1"/>
          </p:cNvPicPr>
          <p:nvPr/>
        </p:nvPicPr>
        <p:blipFill>
          <a:blip r:embed="rId3"/>
          <a:stretch>
            <a:fillRect/>
          </a:stretch>
        </p:blipFill>
        <p:spPr>
          <a:xfrm>
            <a:off x="429895" y="2544445"/>
            <a:ext cx="5130800" cy="3480435"/>
          </a:xfrm>
          <a:prstGeom prst="rect">
            <a:avLst/>
          </a:prstGeom>
          <a:ln>
            <a:noFill/>
          </a:ln>
        </p:spPr>
      </p:pic>
      <p:pic>
        <p:nvPicPr>
          <p:cNvPr id="6" name="图片 5"/>
          <p:cNvPicPr>
            <a:picLocks noChangeAspect="1"/>
          </p:cNvPicPr>
          <p:nvPr/>
        </p:nvPicPr>
        <p:blipFill>
          <a:blip r:embed="rId4"/>
          <a:stretch>
            <a:fillRect/>
          </a:stretch>
        </p:blipFill>
        <p:spPr>
          <a:xfrm>
            <a:off x="5791835" y="2562860"/>
            <a:ext cx="5986145" cy="3350260"/>
          </a:xfrm>
          <a:prstGeom prst="rect">
            <a:avLst/>
          </a:prstGeom>
          <a:ln>
            <a:noFill/>
          </a:ln>
        </p:spPr>
      </p:pic>
      <p:sp>
        <p:nvSpPr>
          <p:cNvPr id="5"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000000"/>
                </a:solidFill>
                <a:latin typeface="微软雅黑" panose="020B0503020204020204" pitchFamily="34" charset="-122"/>
                <a:ea typeface="微软雅黑" panose="020B0503020204020204" pitchFamily="34" charset="-122"/>
                <a:sym typeface="+mn-ea"/>
              </a:rPr>
              <a:t>2井为该平台"效率标杆"：以中等评分（76.40）获得最高千米EUR和最高EUR，体现了</a:t>
            </a:r>
            <a:r>
              <a:rPr lang="zh-CN" altLang="en-US" sz="1600" dirty="0">
                <a:solidFill>
                  <a:srgbClr val="FF0000"/>
                </a:solidFill>
                <a:latin typeface="微软雅黑" panose="020B0503020204020204" pitchFamily="34" charset="-122"/>
                <a:ea typeface="微软雅黑" panose="020B0503020204020204" pitchFamily="34" charset="-122"/>
                <a:sym typeface="+mn-ea"/>
              </a:rPr>
              <a:t>"精准改造"优于"大规模改造"</a:t>
            </a:r>
            <a:r>
              <a:rPr lang="zh-CN" altLang="en-US" sz="1600" dirty="0">
                <a:solidFill>
                  <a:srgbClr val="000000"/>
                </a:solidFill>
                <a:latin typeface="微软雅黑" panose="020B0503020204020204" pitchFamily="34" charset="-122"/>
                <a:ea typeface="微软雅黑" panose="020B0503020204020204" pitchFamily="34" charset="-122"/>
                <a:sym typeface="+mn-ea"/>
              </a:rPr>
              <a:t>的理念</a:t>
            </a:r>
            <a:endParaRPr lang="zh-CN" altLang="en-US" sz="1600" dirty="0">
              <a:solidFill>
                <a:srgbClr val="000000"/>
              </a:solidFill>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rgbClr val="000000"/>
                </a:solidFill>
                <a:latin typeface="微软雅黑" panose="020B0503020204020204" pitchFamily="34" charset="-122"/>
                <a:ea typeface="微软雅黑" panose="020B0503020204020204" pitchFamily="34" charset="-122"/>
                <a:sym typeface="+mn-ea"/>
              </a:rPr>
              <a:t>3井评分最高（77.02）、能量最高，但千米EUR略低于2井，说明</a:t>
            </a:r>
            <a:r>
              <a:rPr lang="zh-CN" altLang="en-US" sz="1600" dirty="0">
                <a:solidFill>
                  <a:srgbClr val="FF0000"/>
                </a:solidFill>
                <a:latin typeface="微软雅黑" panose="020B0503020204020204" pitchFamily="34" charset="-122"/>
                <a:ea typeface="微软雅黑" panose="020B0503020204020204" pitchFamily="34" charset="-122"/>
                <a:sym typeface="+mn-ea"/>
              </a:rPr>
              <a:t>单纯追求高改造评分并不能保证最优的改造效率</a:t>
            </a:r>
            <a:endParaRPr lang="zh-CN" altLang="en-US" sz="1600" dirty="0">
              <a:solidFill>
                <a:srgbClr val="000000"/>
              </a:solidFill>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rgbClr val="000000"/>
                </a:solidFill>
                <a:latin typeface="微软雅黑" panose="020B0503020204020204" pitchFamily="34" charset="-122"/>
                <a:ea typeface="微软雅黑" panose="020B0503020204020204" pitchFamily="34" charset="-122"/>
                <a:sym typeface="+mn-ea"/>
              </a:rPr>
              <a:t>对比H10平台，H123平台千米EUR更高，且评分与千米EUR正相关性更优，说明</a:t>
            </a:r>
            <a:r>
              <a:rPr lang="zh-CN" altLang="en-US" sz="1600" dirty="0">
                <a:solidFill>
                  <a:srgbClr val="FF0000"/>
                </a:solidFill>
                <a:latin typeface="微软雅黑" panose="020B0503020204020204" pitchFamily="34" charset="-122"/>
                <a:ea typeface="微软雅黑" panose="020B0503020204020204" pitchFamily="34" charset="-122"/>
                <a:sym typeface="+mn-ea"/>
              </a:rPr>
              <a:t>小波评价方法受天然裂缝发育影响较大</a:t>
            </a:r>
            <a:endPar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87350" y="6076950"/>
            <a:ext cx="1122997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H123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平台各井小波分析指标与评分</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8" name="表格 7"/>
          <p:cNvGraphicFramePr/>
          <p:nvPr>
            <p:custDataLst>
              <p:tags r:id="rId2"/>
            </p:custDataLst>
          </p:nvPr>
        </p:nvGraphicFramePr>
        <p:xfrm>
          <a:off x="375920" y="2594610"/>
          <a:ext cx="11242040" cy="3481705"/>
        </p:xfrm>
        <a:graphic>
          <a:graphicData uri="http://schemas.openxmlformats.org/drawingml/2006/table">
            <a:tbl>
              <a:tblPr/>
              <a:tblGrid>
                <a:gridCol w="1405255"/>
                <a:gridCol w="1405255"/>
                <a:gridCol w="1405255"/>
                <a:gridCol w="1405255"/>
                <a:gridCol w="1405255"/>
                <a:gridCol w="1405255"/>
                <a:gridCol w="1405255"/>
                <a:gridCol w="1405255"/>
              </a:tblGrid>
              <a:tr h="1118235">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井号</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段数</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主裂缝扩展事件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缝网扩展事件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裂缝扩展能量</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小波评分</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en-US" altLang="zh-CN" sz="1200" b="1" i="0" spc="120">
                          <a:solidFill>
                            <a:schemeClr val="bg1"/>
                          </a:solidFill>
                          <a:latin typeface="微软雅黑" panose="020B0503020204020204" pitchFamily="34" charset="-122"/>
                          <a:ea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千米</a:t>
                      </a:r>
                      <a:r>
                        <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r>
              <a:tr h="47307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766.5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74.5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221.55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76.24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0.78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0.4553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7244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714.7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205.34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76.4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0.5903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7244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20</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900.6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98.6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236.9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77.02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0.5747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7307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580.6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81.6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162.73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75.1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0.68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0.3913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72440">
                <a:tc>
                  <a:txBody>
                    <a:bodyPr/>
                    <a:p>
                      <a:pPr algn="ctr" fontAlgn="ctr"/>
                      <a:r>
                        <a:rPr lang="zh-CN" altLang="en-US" sz="1200" b="0" i="0">
                          <a:solidFill>
                            <a:srgbClr val="333333"/>
                          </a:solidFill>
                          <a:latin typeface="微软雅黑" panose="020B0503020204020204" pitchFamily="34" charset="-122"/>
                          <a:ea typeface="微软雅黑" panose="020B0503020204020204" pitchFamily="34" charset="-122"/>
                        </a:rPr>
                        <a:t>均值</a:t>
                      </a:r>
                      <a:endParaRPr lang="zh-CN" altLang="en-US"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740.6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87.4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206.63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76.19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0.845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0.5029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206</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H7</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H7</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断裂伴生裂缝</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、构造变形产生的调节裂缝（地震断裂探测、最大正曲率属性）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五峰组</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龙马溪组界面处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频繁穿层</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、且井眼轨迹狗腿度变化较大的层段</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套变不严重</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井段采用小直径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桥塞分段压裂</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套变严重</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井采用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暂堵分段压裂</a:t>
            </a:r>
            <a:endPar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5" name="TextBox 23"/>
          <p:cNvSpPr>
            <a:spLocks noChangeArrowheads="1"/>
          </p:cNvSpPr>
          <p:nvPr>
            <p:custDataLst>
              <p:tags r:id="rId1"/>
            </p:custDataLst>
          </p:nvPr>
        </p:nvSpPr>
        <p:spPr bwMode="auto">
          <a:xfrm>
            <a:off x="256540" y="6080125"/>
            <a:ext cx="840105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206H7</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平台位置示意图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29" name="图片 28" descr="图片2"/>
          <p:cNvPicPr>
            <a:picLocks noChangeAspect="1"/>
          </p:cNvPicPr>
          <p:nvPr/>
        </p:nvPicPr>
        <p:blipFill>
          <a:blip r:embed="rId2"/>
          <a:stretch>
            <a:fillRect/>
          </a:stretch>
        </p:blipFill>
        <p:spPr>
          <a:xfrm>
            <a:off x="256540" y="2594610"/>
            <a:ext cx="4664710" cy="3484880"/>
          </a:xfrm>
          <a:prstGeom prst="rect">
            <a:avLst/>
          </a:prstGeom>
        </p:spPr>
      </p:pic>
      <p:pic>
        <p:nvPicPr>
          <p:cNvPr id="30" name="图片 29" descr="图片3"/>
          <p:cNvPicPr>
            <a:picLocks noChangeAspect="1"/>
          </p:cNvPicPr>
          <p:nvPr/>
        </p:nvPicPr>
        <p:blipFill>
          <a:blip r:embed="rId3"/>
          <a:stretch>
            <a:fillRect/>
          </a:stretch>
        </p:blipFill>
        <p:spPr>
          <a:xfrm>
            <a:off x="4921250" y="2600960"/>
            <a:ext cx="3736340" cy="3463925"/>
          </a:xfrm>
          <a:prstGeom prst="rect">
            <a:avLst/>
          </a:prstGeom>
        </p:spPr>
      </p:pic>
      <p:pic>
        <p:nvPicPr>
          <p:cNvPr id="33" name="图片 32" descr="图片4"/>
          <p:cNvPicPr>
            <a:picLocks noChangeAspect="1"/>
          </p:cNvPicPr>
          <p:nvPr/>
        </p:nvPicPr>
        <p:blipFill>
          <a:blip r:embed="rId4"/>
          <a:stretch>
            <a:fillRect/>
          </a:stretch>
        </p:blipFill>
        <p:spPr>
          <a:xfrm>
            <a:off x="8657590" y="2601595"/>
            <a:ext cx="3203575" cy="3430270"/>
          </a:xfrm>
          <a:prstGeom prst="rect">
            <a:avLst/>
          </a:prstGeom>
        </p:spPr>
      </p:pic>
      <p:sp>
        <p:nvSpPr>
          <p:cNvPr id="34" name="文本框 33"/>
          <p:cNvSpPr txBox="1"/>
          <p:nvPr/>
        </p:nvSpPr>
        <p:spPr>
          <a:xfrm>
            <a:off x="8657590" y="6078220"/>
            <a:ext cx="3202940" cy="275590"/>
          </a:xfrm>
          <a:prstGeom prst="rect">
            <a:avLst/>
          </a:prstGeom>
          <a:noFill/>
        </p:spPr>
        <p:txBody>
          <a:bodyPr wrap="square" rtlCol="0">
            <a:spAutoFit/>
          </a:bodyPr>
          <a:lstStyle>
            <a:defPPr>
              <a:defRPr lang="zh-CN"/>
            </a:defPPr>
            <a:lvl1pPr algn="ctr">
              <a:defRPr sz="1200">
                <a:solidFill>
                  <a:srgbClr val="C00000"/>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solidFill>
                  <a:srgbClr val="000000"/>
                </a:solidFill>
                <a:cs typeface="+mn-cs"/>
              </a:rPr>
              <a:t>泸206H7平台平面图</a:t>
            </a:r>
            <a:endParaRPr lang="zh-CN" altLang="en-US" dirty="0"/>
          </a:p>
        </p:txBody>
      </p:sp>
      <p:sp>
        <p:nvSpPr>
          <p:cNvPr id="3"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206</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H7</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井缝网事件最高，</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井缝网事件较低，但</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井千米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更高，说明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过度复杂的缝网可能导致支撑剂分散，反而降低改造效率</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井千米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达</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0.7109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口井中最高，评分与能量均处于中等水平，说明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该井位于最佳甜点位置，储层动用效果最好</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该平台千米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均值</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0.6134</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亿方</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平台中排名第一，反映了泸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H7</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层系</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优异的储层品质和改造效果</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87350" y="6076950"/>
            <a:ext cx="1122997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206</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H7</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平台各井小波分析指标与评分</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表格 4"/>
          <p:cNvGraphicFramePr/>
          <p:nvPr>
            <p:custDataLst>
              <p:tags r:id="rId2"/>
            </p:custDataLst>
          </p:nvPr>
        </p:nvGraphicFramePr>
        <p:xfrm>
          <a:off x="386080" y="2576195"/>
          <a:ext cx="11231880" cy="3500755"/>
        </p:xfrm>
        <a:graphic>
          <a:graphicData uri="http://schemas.openxmlformats.org/drawingml/2006/table">
            <a:tbl>
              <a:tblPr/>
              <a:tblGrid>
                <a:gridCol w="1403985"/>
                <a:gridCol w="1403985"/>
                <a:gridCol w="1403985"/>
                <a:gridCol w="1403985"/>
                <a:gridCol w="1403985"/>
                <a:gridCol w="1403985"/>
                <a:gridCol w="1403985"/>
                <a:gridCol w="1403985"/>
              </a:tblGrid>
              <a:tr h="1124585">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井号</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段数</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主裂缝扩展事件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缝网扩展事件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裂缝扩展能量</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小波评分</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en-US" altLang="zh-CN" sz="1200" b="1" i="0" spc="120">
                          <a:solidFill>
                            <a:schemeClr val="bg1"/>
                          </a:solidFill>
                          <a:latin typeface="微软雅黑" panose="020B0503020204020204" pitchFamily="34" charset="-122"/>
                          <a:ea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千米</a:t>
                      </a:r>
                      <a:r>
                        <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r>
              <a:tr h="47561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3421.8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124.8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835.81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84.58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0.658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7498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3224.9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99.5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786.44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83.81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0.6361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7498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3141.2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97.6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780.35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83.78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0.77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0.4485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7561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3257.2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105.8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812.15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84.06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0.7109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74980">
                <a:tc>
                  <a:txBody>
                    <a:bodyPr/>
                    <a:p>
                      <a:pPr algn="ctr" fontAlgn="ctr"/>
                      <a:r>
                        <a:rPr lang="zh-CN" altLang="en-US" sz="1200" b="0" i="0">
                          <a:solidFill>
                            <a:srgbClr val="333333"/>
                          </a:solidFill>
                          <a:latin typeface="微软雅黑" panose="020B0503020204020204" pitchFamily="34" charset="-122"/>
                          <a:ea typeface="微软雅黑" panose="020B0503020204020204" pitchFamily="34" charset="-122"/>
                        </a:rPr>
                        <a:t>均值</a:t>
                      </a:r>
                      <a:endParaRPr lang="zh-CN" altLang="en-US"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26.5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3261.3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106.9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803.69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84.06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0.968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0.6134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206</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H8</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多级</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裂缝滑移风险较高</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5</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井有实钻断层</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东</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西向裂缝带稳定性变差，</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H8</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靠近</a:t>
            </a:r>
            <a:r>
              <a:rPr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A</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点附近滑移风险较高</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，具有诱发套变、压窜的风险</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kern="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AB</a:t>
            </a:r>
            <a:r>
              <a:rPr lang="zh-CN" altLang="en-US" sz="1600" kern="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间最小水平主应力</a:t>
            </a:r>
            <a:r>
              <a:rPr lang="en-US" altLang="zh-CN" sz="1600" kern="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98~101MPa</a:t>
            </a:r>
            <a:r>
              <a:rPr lang="zh-CN" altLang="en-US" sz="1600" kern="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，受天然裂缝影响地应力分布在</a:t>
            </a:r>
            <a:r>
              <a:rPr lang="en-US" altLang="zh-CN" sz="1600" kern="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H8</a:t>
            </a:r>
            <a:r>
              <a:rPr lang="zh-CN" altLang="en-US" sz="1600" kern="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平台</a:t>
            </a:r>
            <a:r>
              <a:rPr lang="en-US" altLang="zh-CN" sz="1600" kern="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B</a:t>
            </a:r>
            <a:r>
              <a:rPr lang="zh-CN" altLang="en-US" sz="1600" kern="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点附近存在应力高值区</a:t>
            </a:r>
            <a:endParaRPr lang="zh-CN" altLang="en-US" sz="1600" kern="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31" name="TextBox 23"/>
          <p:cNvSpPr>
            <a:spLocks noChangeArrowheads="1"/>
          </p:cNvSpPr>
          <p:nvPr>
            <p:custDataLst>
              <p:tags r:id="rId1"/>
            </p:custDataLst>
          </p:nvPr>
        </p:nvSpPr>
        <p:spPr bwMode="auto">
          <a:xfrm>
            <a:off x="165735" y="6074410"/>
            <a:ext cx="40944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206</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H8</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平台区域多级断裂平面分布图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05" name="TextBox 23"/>
          <p:cNvSpPr>
            <a:spLocks noChangeArrowheads="1"/>
          </p:cNvSpPr>
          <p:nvPr>
            <p:custDataLst>
              <p:tags r:id="rId2"/>
            </p:custDataLst>
          </p:nvPr>
        </p:nvSpPr>
        <p:spPr bwMode="auto">
          <a:xfrm>
            <a:off x="4318000" y="6074410"/>
            <a:ext cx="393128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sym typeface="+mn-ea"/>
              </a:rPr>
              <a:t>泸</a:t>
            </a:r>
            <a:r>
              <a:rPr lang="en-US" altLang="zh-CN" sz="1200" dirty="0">
                <a:solidFill>
                  <a:srgbClr val="000000"/>
                </a:solidFill>
                <a:latin typeface="微软雅黑" panose="020B0503020204020204" pitchFamily="34" charset="-122"/>
                <a:ea typeface="微软雅黑" panose="020B0503020204020204" pitchFamily="34" charset="-122"/>
                <a:sym typeface="+mn-ea"/>
              </a:rPr>
              <a:t>206</a:t>
            </a:r>
            <a:r>
              <a:rPr lang="zh-CN" altLang="en-US" sz="1200" dirty="0">
                <a:solidFill>
                  <a:srgbClr val="000000"/>
                </a:solidFill>
                <a:latin typeface="微软雅黑" panose="020B0503020204020204" pitchFamily="34" charset="-122"/>
                <a:ea typeface="微软雅黑" panose="020B0503020204020204" pitchFamily="34" charset="-122"/>
                <a:sym typeface="+mn-ea"/>
              </a:rPr>
              <a:t>井区</a:t>
            </a:r>
            <a:r>
              <a:rPr lang="en-US" altLang="zh-CN" sz="1200" dirty="0">
                <a:solidFill>
                  <a:srgbClr val="000000"/>
                </a:solidFill>
                <a:latin typeface="微软雅黑" panose="020B0503020204020204" pitchFamily="34" charset="-122"/>
                <a:ea typeface="微软雅黑" panose="020B0503020204020204" pitchFamily="34" charset="-122"/>
                <a:sym typeface="+mn-ea"/>
              </a:rPr>
              <a:t>H8</a:t>
            </a:r>
            <a:r>
              <a:rPr lang="zh-CN" altLang="en-US" sz="1200" dirty="0">
                <a:solidFill>
                  <a:srgbClr val="000000"/>
                </a:solidFill>
                <a:latin typeface="微软雅黑" panose="020B0503020204020204" pitchFamily="34" charset="-122"/>
                <a:ea typeface="微软雅黑" panose="020B0503020204020204" pitchFamily="34" charset="-122"/>
                <a:sym typeface="+mn-ea"/>
              </a:rPr>
              <a:t>平台裂缝稳定性预测图</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p:txBody>
      </p:sp>
      <p:grpSp>
        <p:nvGrpSpPr>
          <p:cNvPr id="19" name="组合 18"/>
          <p:cNvGrpSpPr/>
          <p:nvPr/>
        </p:nvGrpSpPr>
        <p:grpSpPr>
          <a:xfrm>
            <a:off x="165735" y="2602230"/>
            <a:ext cx="4095115" cy="3429000"/>
            <a:chOff x="860" y="3998"/>
            <a:chExt cx="7904" cy="5871"/>
          </a:xfrm>
        </p:grpSpPr>
        <p:pic>
          <p:nvPicPr>
            <p:cNvPr id="24" name="图片 23"/>
            <p:cNvPicPr>
              <a:picLocks noChangeAspect="1"/>
            </p:cNvPicPr>
            <p:nvPr/>
          </p:nvPicPr>
          <p:blipFill>
            <a:blip r:embed="rId3"/>
            <a:stretch>
              <a:fillRect/>
            </a:stretch>
          </p:blipFill>
          <p:spPr>
            <a:xfrm>
              <a:off x="860" y="3998"/>
              <a:ext cx="7904" cy="5871"/>
            </a:xfrm>
            <a:prstGeom prst="rect">
              <a:avLst/>
            </a:prstGeom>
          </p:spPr>
        </p:pic>
        <p:grpSp>
          <p:nvGrpSpPr>
            <p:cNvPr id="25" name="组合 24"/>
            <p:cNvGrpSpPr/>
            <p:nvPr/>
          </p:nvGrpSpPr>
          <p:grpSpPr>
            <a:xfrm>
              <a:off x="3764" y="8048"/>
              <a:ext cx="164" cy="513"/>
              <a:chOff x="2587767" y="4307904"/>
              <a:chExt cx="104085" cy="325438"/>
            </a:xfrm>
          </p:grpSpPr>
          <p:pic>
            <p:nvPicPr>
              <p:cNvPr id="26" name="Picture 12" descr="x1"/>
              <p:cNvPicPr preferRelativeResize="0">
                <a:picLocks noChangeArrowheads="1" noCrop="1"/>
              </p:cNvPicPr>
              <p:nvPr/>
            </p:nvPicPr>
            <p:blipFill>
              <a:blip r:embed="rId4"/>
              <a:srcRect/>
              <a:stretch>
                <a:fillRect/>
              </a:stretch>
            </p:blipFill>
            <p:spPr bwMode="auto">
              <a:xfrm>
                <a:off x="2587767" y="4370539"/>
                <a:ext cx="101620" cy="9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7" name="直接连接符 26"/>
              <p:cNvCxnSpPr/>
              <p:nvPr/>
            </p:nvCxnSpPr>
            <p:spPr>
              <a:xfrm flipH="1">
                <a:off x="2609372" y="4467655"/>
                <a:ext cx="57079" cy="139063"/>
              </a:xfrm>
              <a:prstGeom prst="line">
                <a:avLst/>
              </a:prstGeom>
              <a:ln w="63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2622897" y="4480156"/>
                <a:ext cx="54432" cy="140685"/>
              </a:xfrm>
              <a:prstGeom prst="line">
                <a:avLst/>
              </a:prstGeom>
              <a:ln w="63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2639120" y="4489606"/>
                <a:ext cx="52732" cy="143736"/>
              </a:xfrm>
              <a:prstGeom prst="line">
                <a:avLst/>
              </a:prstGeom>
              <a:ln w="63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a:off x="2619729" y="4307904"/>
                <a:ext cx="52732" cy="143736"/>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grpSp>
      </p:grpSp>
      <p:pic>
        <p:nvPicPr>
          <p:cNvPr id="5" name="图片 4"/>
          <p:cNvPicPr>
            <a:picLocks noChangeAspect="1"/>
          </p:cNvPicPr>
          <p:nvPr/>
        </p:nvPicPr>
        <p:blipFill>
          <a:blip r:embed="rId5"/>
          <a:stretch>
            <a:fillRect/>
          </a:stretch>
        </p:blipFill>
        <p:spPr>
          <a:xfrm>
            <a:off x="4318000" y="2599690"/>
            <a:ext cx="3931920" cy="3430905"/>
          </a:xfrm>
          <a:prstGeom prst="rect">
            <a:avLst/>
          </a:prstGeom>
          <a:ln>
            <a:solidFill>
              <a:schemeClr val="bg1">
                <a:lumMod val="50000"/>
              </a:schemeClr>
            </a:solidFill>
          </a:ln>
        </p:spPr>
      </p:pic>
      <p:pic>
        <p:nvPicPr>
          <p:cNvPr id="6" name="图片 5"/>
          <p:cNvPicPr>
            <a:picLocks noChangeAspect="1"/>
          </p:cNvPicPr>
          <p:nvPr/>
        </p:nvPicPr>
        <p:blipFill>
          <a:blip r:embed="rId6"/>
          <a:stretch>
            <a:fillRect/>
          </a:stretch>
        </p:blipFill>
        <p:spPr>
          <a:xfrm>
            <a:off x="8307070" y="2597150"/>
            <a:ext cx="3749040" cy="3435985"/>
          </a:xfrm>
          <a:prstGeom prst="rect">
            <a:avLst/>
          </a:prstGeom>
          <a:ln>
            <a:solidFill>
              <a:schemeClr val="bg1">
                <a:lumMod val="65000"/>
              </a:schemeClr>
            </a:solidFill>
          </a:ln>
        </p:spPr>
      </p:pic>
      <p:sp>
        <p:nvSpPr>
          <p:cNvPr id="7" name="TextBox 23"/>
          <p:cNvSpPr>
            <a:spLocks noChangeArrowheads="1"/>
          </p:cNvSpPr>
          <p:nvPr>
            <p:custDataLst>
              <p:tags r:id="rId7"/>
            </p:custDataLst>
          </p:nvPr>
        </p:nvSpPr>
        <p:spPr bwMode="auto">
          <a:xfrm>
            <a:off x="8307070" y="6076950"/>
            <a:ext cx="374840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泸206井区H</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8</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平台北半支井轨迹叠合裂缝滑移风险图</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p:txBody>
      </p:sp>
      <p:sp>
        <p:nvSpPr>
          <p:cNvPr id="8"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206</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H8</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该井区</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小波评分与</a:t>
            </a:r>
            <a:r>
              <a:rPr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高度正相关</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，评价方法在该平台表现出极强预测能力，井级相关系数高达</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0.986</a:t>
            </a:r>
            <a:endPar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井具有最高的经济效益</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：段数最少、</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改造能量最低、但千米</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最高，用最少的改造投入获得了最高的单位长度产出</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对比</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H7</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平台能量水平更低，但</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均值更高，千米</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接近，说明</a:t>
            </a:r>
            <a:r>
              <a:rPr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层位储层含气性更好，具有更好的经济性</a:t>
            </a:r>
            <a:endPar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87350" y="6076950"/>
            <a:ext cx="1122997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206</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H8</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平台各井小波分析指标与评分</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6"/>
          <p:cNvGraphicFramePr/>
          <p:nvPr>
            <p:custDataLst>
              <p:tags r:id="rId2"/>
            </p:custDataLst>
          </p:nvPr>
        </p:nvGraphicFramePr>
        <p:xfrm>
          <a:off x="375920" y="2583815"/>
          <a:ext cx="11242040" cy="3487420"/>
        </p:xfrm>
        <a:graphic>
          <a:graphicData uri="http://schemas.openxmlformats.org/drawingml/2006/table">
            <a:tbl>
              <a:tblPr/>
              <a:tblGrid>
                <a:gridCol w="1405255"/>
                <a:gridCol w="1405255"/>
                <a:gridCol w="1405255"/>
                <a:gridCol w="1405255"/>
                <a:gridCol w="1405255"/>
                <a:gridCol w="1405255"/>
                <a:gridCol w="1405255"/>
                <a:gridCol w="1405255"/>
              </a:tblGrid>
              <a:tr h="1296670">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井号</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段数</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主裂缝扩展事件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缝网扩展事件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裂缝扩展能量</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小波评分</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en-US" altLang="zh-CN" sz="1200" b="1" i="0" spc="120">
                          <a:solidFill>
                            <a:schemeClr val="bg1"/>
                          </a:solidFill>
                          <a:latin typeface="微软雅黑" panose="020B0503020204020204" pitchFamily="34" charset="-122"/>
                          <a:ea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千米</a:t>
                      </a:r>
                      <a:r>
                        <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r>
              <a:tr h="54737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2066.1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94.2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620.8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82.02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1.15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0.6179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54737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1525.2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80.7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428.14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79.69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0.544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54800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1388.7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96.8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429.27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78.82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0.6367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548005">
                <a:tc>
                  <a:txBody>
                    <a:bodyPr/>
                    <a:p>
                      <a:pPr algn="ctr" fontAlgn="ctr"/>
                      <a:r>
                        <a:rPr lang="zh-CN" altLang="en-US" sz="1200" b="0" i="0">
                          <a:solidFill>
                            <a:srgbClr val="333333"/>
                          </a:solidFill>
                          <a:latin typeface="微软雅黑" panose="020B0503020204020204" pitchFamily="34" charset="-122"/>
                          <a:ea typeface="微软雅黑" panose="020B0503020204020204" pitchFamily="34" charset="-122"/>
                        </a:rPr>
                        <a:t>均值</a:t>
                      </a:r>
                      <a:endParaRPr lang="zh-CN" altLang="en-US"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24.7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1660</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90.6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492.74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80.18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1.093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0.5995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5</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、结合足</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H8</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0" lvl="1" indent="-342900" algn="just" fontAlgn="auto">
              <a:lnSpc>
                <a:spcPct val="150000"/>
              </a:lnSpc>
              <a:buClr>
                <a:srgbClr val="FF0000"/>
              </a:buClr>
              <a:buFont typeface="Wingdings" panose="05000000000000000000" charset="0"/>
              <a:buChar char="l"/>
            </a:pP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足</a:t>
            </a:r>
            <a:r>
              <a:rPr lang="en-US" altLang="zh-CN"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201</a:t>
            </a: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H8</a:t>
            </a: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a:t>
            </a:r>
            <a:r>
              <a:rPr lang="en-US" altLang="zh-CN"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5</a:t>
            </a: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井周</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裂缝较发育</a:t>
            </a: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，多为网状缝，</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多级断裂预测裂缝预测实钻断层、挠曲符合度</a:t>
            </a:r>
            <a:r>
              <a:rPr lang="zh-CN" altLang="en-US" sz="1600"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mn-ea"/>
              </a:rPr>
              <a:t>较高</a:t>
            </a: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latin typeface="微软雅黑" panose="020B0503020204020204" pitchFamily="34" charset="-122"/>
                <a:ea typeface="微软雅黑" panose="020B0503020204020204" pitchFamily="34" charset="-122"/>
                <a:sym typeface="+mn-ea"/>
              </a:rPr>
              <a:t>6</a:t>
            </a:r>
            <a:r>
              <a:rPr lang="zh-CN" altLang="en-US" sz="1600" dirty="0">
                <a:latin typeface="微软雅黑" panose="020B0503020204020204" pitchFamily="34" charset="-122"/>
                <a:ea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sym typeface="+mn-ea"/>
              </a:rPr>
              <a:t>7</a:t>
            </a:r>
            <a:r>
              <a:rPr lang="zh-CN" altLang="en-US" sz="1600" dirty="0">
                <a:latin typeface="微软雅黑" panose="020B0503020204020204" pitchFamily="34" charset="-122"/>
                <a:ea typeface="微软雅黑" panose="020B0503020204020204" pitchFamily="34" charset="-122"/>
                <a:sym typeface="+mn-ea"/>
              </a:rPr>
              <a:t>井预测成果与实钻断层无明显特征响应，</a:t>
            </a:r>
            <a:r>
              <a:rPr lang="en-US" altLang="zh-CN" sz="1600" dirty="0">
                <a:latin typeface="微软雅黑" panose="020B0503020204020204" pitchFamily="34" charset="-122"/>
                <a:ea typeface="微软雅黑" panose="020B0503020204020204" pitchFamily="34" charset="-122"/>
                <a:sym typeface="+mn-ea"/>
              </a:rPr>
              <a:t>7</a:t>
            </a:r>
            <a:r>
              <a:rPr lang="zh-CN" altLang="en-US" sz="1600" dirty="0">
                <a:latin typeface="微软雅黑" panose="020B0503020204020204" pitchFamily="34" charset="-122"/>
                <a:ea typeface="微软雅黑" panose="020B0503020204020204" pitchFamily="34" charset="-122"/>
                <a:sym typeface="+mn-ea"/>
              </a:rPr>
              <a:t>井</a:t>
            </a:r>
            <a:r>
              <a:rPr lang="zh-CN" altLang="en-US" sz="1600" dirty="0">
                <a:solidFill>
                  <a:srgbClr val="FF0000"/>
                </a:solidFill>
                <a:latin typeface="微软雅黑" panose="020B0503020204020204" pitchFamily="34" charset="-122"/>
                <a:ea typeface="微软雅黑" panose="020B0503020204020204" pitchFamily="34" charset="-122"/>
                <a:sym typeface="+mn-ea"/>
              </a:rPr>
              <a:t>多处天然裂缝响应</a:t>
            </a:r>
            <a:endParaRPr lang="zh-CN" altLang="en-US" sz="1600" dirty="0">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sym typeface="+mn-ea"/>
              </a:rPr>
              <a:t>微地震显示</a:t>
            </a:r>
            <a:r>
              <a:rPr lang="zh-CN" altLang="en-US" sz="1600" dirty="0">
                <a:solidFill>
                  <a:srgbClr val="FF0000"/>
                </a:solidFill>
                <a:latin typeface="微软雅黑" panose="020B0503020204020204" pitchFamily="34" charset="-122"/>
                <a:ea typeface="微软雅黑" panose="020B0503020204020204" pitchFamily="34" charset="-122"/>
                <a:sym typeface="+mn-ea"/>
              </a:rPr>
              <a:t>8、9、10井波及面积较6、7井略小</a:t>
            </a:r>
            <a:endParaRPr lang="zh-CN" altLang="en-US" sz="1600" dirty="0">
              <a:solidFill>
                <a:srgbClr val="FF0000"/>
              </a:solidFill>
              <a:latin typeface="微软雅黑" panose="020B0503020204020204" pitchFamily="34" charset="-122"/>
              <a:ea typeface="微软雅黑" panose="020B0503020204020204" pitchFamily="34" charset="-122"/>
              <a:sym typeface="+mn-ea"/>
            </a:endParaRPr>
          </a:p>
        </p:txBody>
      </p:sp>
      <p:sp>
        <p:nvSpPr>
          <p:cNvPr id="31" name="TextBox 23"/>
          <p:cNvSpPr>
            <a:spLocks noChangeArrowheads="1"/>
          </p:cNvSpPr>
          <p:nvPr>
            <p:custDataLst>
              <p:tags r:id="rId1"/>
            </p:custDataLst>
          </p:nvPr>
        </p:nvSpPr>
        <p:spPr bwMode="auto">
          <a:xfrm>
            <a:off x="548005" y="6076950"/>
            <a:ext cx="28968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200"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mn-ea"/>
              </a:rPr>
              <a:t>足</a:t>
            </a:r>
            <a:r>
              <a:rPr lang="en-US" altLang="zh-CN" sz="1200"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mn-ea"/>
              </a:rPr>
              <a:t>201H8</a:t>
            </a:r>
            <a:r>
              <a:rPr lang="zh-CN" altLang="en-US" sz="1200"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lang="en-US" altLang="zh-CN" sz="1200"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mn-ea"/>
              </a:rPr>
              <a:t>3~5</a:t>
            </a:r>
            <a:r>
              <a:rPr lang="zh-CN" altLang="en-US" sz="1200"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mn-ea"/>
              </a:rPr>
              <a:t>井多级裂缝平面图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 name="TextBox 23"/>
          <p:cNvSpPr>
            <a:spLocks noChangeArrowheads="1"/>
          </p:cNvSpPr>
          <p:nvPr>
            <p:custDataLst>
              <p:tags r:id="rId2"/>
            </p:custDataLst>
          </p:nvPr>
        </p:nvSpPr>
        <p:spPr bwMode="auto">
          <a:xfrm>
            <a:off x="7410450" y="6083935"/>
            <a:ext cx="40017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足</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201H8</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井现场微地震监测总图</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3"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pic>
        <p:nvPicPr>
          <p:cNvPr id="14" name="图片 7"/>
          <p:cNvPicPr>
            <a:picLocks noChangeAspect="1"/>
          </p:cNvPicPr>
          <p:nvPr/>
        </p:nvPicPr>
        <p:blipFill>
          <a:blip r:embed="rId3"/>
          <a:stretch>
            <a:fillRect/>
          </a:stretch>
        </p:blipFill>
        <p:spPr>
          <a:xfrm>
            <a:off x="7411085" y="2707640"/>
            <a:ext cx="3968115" cy="3341370"/>
          </a:xfrm>
          <a:prstGeom prst="rect">
            <a:avLst/>
          </a:prstGeom>
          <a:ln>
            <a:solidFill>
              <a:schemeClr val="bg2">
                <a:lumMod val="50000"/>
              </a:schemeClr>
            </a:solidFill>
          </a:ln>
        </p:spPr>
      </p:pic>
      <p:pic>
        <p:nvPicPr>
          <p:cNvPr id="10" name="图片 9"/>
          <p:cNvPicPr>
            <a:picLocks noChangeAspect="1"/>
          </p:cNvPicPr>
          <p:nvPr/>
        </p:nvPicPr>
        <p:blipFill>
          <a:blip r:embed="rId4"/>
          <a:stretch>
            <a:fillRect/>
          </a:stretch>
        </p:blipFill>
        <p:spPr>
          <a:xfrm>
            <a:off x="3842385" y="2693035"/>
            <a:ext cx="3171190" cy="3343275"/>
          </a:xfrm>
          <a:prstGeom prst="rect">
            <a:avLst/>
          </a:prstGeom>
        </p:spPr>
      </p:pic>
      <p:pic>
        <p:nvPicPr>
          <p:cNvPr id="11" name="图片 10"/>
          <p:cNvPicPr>
            <a:picLocks noChangeAspect="1"/>
          </p:cNvPicPr>
          <p:nvPr/>
        </p:nvPicPr>
        <p:blipFill>
          <a:blip r:embed="rId5"/>
          <a:stretch>
            <a:fillRect/>
          </a:stretch>
        </p:blipFill>
        <p:spPr>
          <a:xfrm>
            <a:off x="547370" y="2693035"/>
            <a:ext cx="2897505" cy="3355975"/>
          </a:xfrm>
          <a:prstGeom prst="rect">
            <a:avLst/>
          </a:prstGeom>
        </p:spPr>
      </p:pic>
      <p:sp>
        <p:nvSpPr>
          <p:cNvPr id="13" name="TextBox 23"/>
          <p:cNvSpPr>
            <a:spLocks noChangeArrowheads="1"/>
          </p:cNvSpPr>
          <p:nvPr>
            <p:custDataLst>
              <p:tags r:id="rId6"/>
            </p:custDataLst>
          </p:nvPr>
        </p:nvSpPr>
        <p:spPr bwMode="auto">
          <a:xfrm>
            <a:off x="3842385" y="6083935"/>
            <a:ext cx="317119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足</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201H8</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6</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7</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井多级断裂预测平面图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5</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、结合足</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H8</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该平台为小波评价方法</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最成功的案例</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：评分与</a:t>
            </a:r>
            <a:r>
              <a:rPr lang="en-US" altLang="zh-CN"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达到</a:t>
            </a:r>
            <a:r>
              <a:rPr lang="en-US" altLang="zh-CN"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r=0.996</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，与千米</a:t>
            </a:r>
            <a:r>
              <a:rPr lang="en-US" altLang="zh-CN"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达到</a:t>
            </a:r>
            <a:r>
              <a:rPr lang="en-US" altLang="zh-CN"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r=0.980</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，均达到</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极高</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统计显著</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水平</a:t>
            </a:r>
            <a:endPar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能量与千米</a:t>
            </a:r>
            <a:r>
              <a:rPr lang="en-US" altLang="zh-CN"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的相关系数高达</a:t>
            </a:r>
            <a:r>
              <a:rPr lang="en-US" altLang="zh-CN"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0.993</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，为</a:t>
            </a:r>
            <a:r>
              <a:rPr lang="en-US" altLang="zh-CN"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个平台中最高的，说明</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该平台能量指标能</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精确</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预测总产能与改造效率</a:t>
            </a:r>
            <a:endPar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该平台水平段长度为</a:t>
            </a:r>
            <a:r>
              <a:rPr lang="en-US" altLang="zh-CN"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平台之首，虽提高了</a:t>
            </a:r>
            <a:r>
              <a:rPr lang="en-US" altLang="zh-CN"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，但千米</a:t>
            </a:r>
            <a:r>
              <a:rPr lang="en-US" altLang="zh-CN"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并未有显著提升，说明</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长度增加带来的储量暴露边际收益下降</a:t>
            </a:r>
            <a:endPar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87350" y="6076950"/>
            <a:ext cx="1122997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足</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201</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H8</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平台各井小波分析指标与评分</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 name="表格 1"/>
          <p:cNvGraphicFramePr/>
          <p:nvPr>
            <p:custDataLst>
              <p:tags r:id="rId2"/>
            </p:custDataLst>
          </p:nvPr>
        </p:nvGraphicFramePr>
        <p:xfrm>
          <a:off x="386080" y="2594610"/>
          <a:ext cx="11247120" cy="3481705"/>
        </p:xfrm>
        <a:graphic>
          <a:graphicData uri="http://schemas.openxmlformats.org/drawingml/2006/table">
            <a:tbl>
              <a:tblPr/>
              <a:tblGrid>
                <a:gridCol w="1405890"/>
                <a:gridCol w="1405890"/>
                <a:gridCol w="1405890"/>
                <a:gridCol w="1405890"/>
                <a:gridCol w="1405890"/>
                <a:gridCol w="1405890"/>
                <a:gridCol w="1405890"/>
                <a:gridCol w="1405890"/>
              </a:tblGrid>
              <a:tr h="998220">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井号</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段数</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主裂缝扩展事件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缝网扩展事件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裂缝扩展能量</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小波评分</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en-US" altLang="zh-CN" sz="1200" b="1" i="0" spc="120">
                          <a:solidFill>
                            <a:schemeClr val="bg1"/>
                          </a:solidFill>
                          <a:latin typeface="微软雅黑" panose="020B0503020204020204" pitchFamily="34" charset="-122"/>
                          <a:ea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千米</a:t>
                      </a:r>
                      <a:r>
                        <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r>
              <a:tr h="41465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3531.9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125.3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957.91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85.22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1.25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0.5473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1338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2712.8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107.4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712.49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83.53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1.17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0.5138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1402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3146.3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129.5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864.21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84.86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1.26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0.5521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1402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441.3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107.1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134.84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74.39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0.82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0.4008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1338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922.3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118.5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261.5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77.98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0.99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0.4186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414020">
                <a:tc>
                  <a:txBody>
                    <a:bodyPr/>
                    <a:p>
                      <a:pPr algn="ctr" fontAlgn="ctr"/>
                      <a:r>
                        <a:rPr lang="zh-CN" altLang="en-US" sz="1200" b="0" i="0">
                          <a:solidFill>
                            <a:srgbClr val="333333"/>
                          </a:solidFill>
                          <a:latin typeface="微软雅黑" panose="020B0503020204020204" pitchFamily="34" charset="-122"/>
                          <a:ea typeface="微软雅黑" panose="020B0503020204020204" pitchFamily="34" charset="-122"/>
                        </a:rPr>
                        <a:t>均值</a:t>
                      </a:r>
                      <a:endParaRPr lang="zh-CN" altLang="en-US"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31.6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2150.9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117.6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586.19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81.2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1.098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0.4865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6</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、结合足</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H21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H21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dirty="0">
                <a:solidFill>
                  <a:srgbClr val="FF0000"/>
                </a:solidFill>
                <a:latin typeface="微软雅黑" panose="020B0503020204020204" pitchFamily="34" charset="-122"/>
                <a:ea typeface="微软雅黑" panose="020B0503020204020204" pitchFamily="34" charset="-122"/>
                <a:sym typeface="+mn-ea"/>
              </a:rPr>
              <a:t>微细裂缝较发育</a:t>
            </a:r>
            <a:r>
              <a:rPr lang="zh-CN" altLang="en-US" sz="1600" dirty="0">
                <a:latin typeface="微软雅黑" panose="020B0503020204020204" pitchFamily="34" charset="-122"/>
                <a:ea typeface="微软雅黑" panose="020B0503020204020204" pitchFamily="34" charset="-122"/>
                <a:sym typeface="+mn-ea"/>
              </a:rPr>
              <a:t>，南半支较北半支更为发育</a:t>
            </a:r>
            <a:endParaRPr lang="zh-CN" altLang="en-US" sz="1600" dirty="0">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latin typeface="微软雅黑" panose="020B0503020204020204" pitchFamily="34" charset="-122"/>
                <a:ea typeface="微软雅黑" panose="020B0503020204020204" pitchFamily="34" charset="-122"/>
                <a:sym typeface="+mn-ea"/>
              </a:rPr>
              <a:t>5</a:t>
            </a:r>
            <a:r>
              <a:rPr lang="zh-CN" altLang="en-US" sz="1600" dirty="0">
                <a:latin typeface="微软雅黑" panose="020B0503020204020204" pitchFamily="34" charset="-122"/>
                <a:ea typeface="微软雅黑" panose="020B0503020204020204" pitchFamily="34" charset="-122"/>
                <a:sym typeface="+mn-ea"/>
              </a:rPr>
              <a:t>井</a:t>
            </a:r>
            <a:r>
              <a:rPr lang="en-US" altLang="zh-CN" sz="1600" dirty="0">
                <a:latin typeface="微软雅黑" panose="020B0503020204020204" pitchFamily="34" charset="-122"/>
                <a:ea typeface="微软雅黑" panose="020B0503020204020204" pitchFamily="34" charset="-122"/>
                <a:sym typeface="+mn-ea"/>
              </a:rPr>
              <a:t>B</a:t>
            </a:r>
            <a:r>
              <a:rPr lang="zh-CN" altLang="en-US" sz="1600" dirty="0">
                <a:latin typeface="微软雅黑" panose="020B0503020204020204" pitchFamily="34" charset="-122"/>
                <a:ea typeface="微软雅黑" panose="020B0503020204020204" pitchFamily="34" charset="-122"/>
                <a:sym typeface="+mn-ea"/>
              </a:rPr>
              <a:t>点距离断层</a:t>
            </a:r>
            <a:r>
              <a:rPr lang="en-US" altLang="zh-CN" sz="1600" dirty="0">
                <a:latin typeface="微软雅黑" panose="020B0503020204020204" pitchFamily="34" charset="-122"/>
                <a:ea typeface="微软雅黑" panose="020B0503020204020204" pitchFamily="34" charset="-122"/>
                <a:sym typeface="+mn-ea"/>
              </a:rPr>
              <a:t>142</a:t>
            </a:r>
            <a:r>
              <a:rPr lang="zh-CN" altLang="en-US" sz="1600" dirty="0">
                <a:latin typeface="微软雅黑" panose="020B0503020204020204" pitchFamily="34" charset="-122"/>
                <a:ea typeface="微软雅黑" panose="020B0503020204020204" pitchFamily="34" charset="-122"/>
                <a:sym typeface="+mn-ea"/>
              </a:rPr>
              <a:t>米，</a:t>
            </a:r>
            <a:r>
              <a:rPr lang="en-US" altLang="zh-CN" sz="1600" dirty="0">
                <a:latin typeface="微软雅黑" panose="020B0503020204020204" pitchFamily="34" charset="-122"/>
                <a:ea typeface="微软雅黑" panose="020B0503020204020204" pitchFamily="34" charset="-122"/>
                <a:sym typeface="+mn-ea"/>
              </a:rPr>
              <a:t>4</a:t>
            </a:r>
            <a:r>
              <a:rPr lang="zh-CN" altLang="en-US" sz="1600" dirty="0">
                <a:latin typeface="微软雅黑" panose="020B0503020204020204" pitchFamily="34" charset="-122"/>
                <a:ea typeface="微软雅黑" panose="020B0503020204020204" pitchFamily="34" charset="-122"/>
                <a:sym typeface="+mn-ea"/>
              </a:rPr>
              <a:t>井</a:t>
            </a:r>
            <a:r>
              <a:rPr lang="en-US" altLang="zh-CN" sz="1600" dirty="0">
                <a:latin typeface="微软雅黑" panose="020B0503020204020204" pitchFamily="34" charset="-122"/>
                <a:ea typeface="微软雅黑" panose="020B0503020204020204" pitchFamily="34" charset="-122"/>
                <a:sym typeface="+mn-ea"/>
              </a:rPr>
              <a:t>B</a:t>
            </a:r>
            <a:r>
              <a:rPr lang="zh-CN" altLang="en-US" sz="1600" dirty="0">
                <a:latin typeface="微软雅黑" panose="020B0503020204020204" pitchFamily="34" charset="-122"/>
                <a:ea typeface="微软雅黑" panose="020B0503020204020204" pitchFamily="34" charset="-122"/>
                <a:sym typeface="+mn-ea"/>
              </a:rPr>
              <a:t>点在断层上；</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油气显示</a:t>
            </a:r>
            <a:r>
              <a:rPr lang="zh-CN" altLang="en-US" sz="1600" dirty="0">
                <a:latin typeface="微软雅黑" panose="020B0503020204020204" pitchFamily="34" charset="-122"/>
                <a:ea typeface="微软雅黑" panose="020B0503020204020204" pitchFamily="34" charset="-122"/>
                <a:sym typeface="+mn-ea"/>
              </a:rPr>
              <a:t>下半支显示比上半支差，</a:t>
            </a:r>
            <a:r>
              <a:rPr lang="en-US" altLang="zh-CN" sz="1600" dirty="0">
                <a:solidFill>
                  <a:srgbClr val="FF0000"/>
                </a:solidFill>
                <a:latin typeface="微软雅黑" panose="020B0503020204020204" pitchFamily="34" charset="-122"/>
                <a:ea typeface="微软雅黑" panose="020B0503020204020204" pitchFamily="34" charset="-122"/>
                <a:sym typeface="+mn-ea"/>
              </a:rPr>
              <a:t>5</a:t>
            </a:r>
            <a:r>
              <a:rPr lang="zh-CN" altLang="en-US" sz="1600" dirty="0">
                <a:solidFill>
                  <a:srgbClr val="FF0000"/>
                </a:solidFill>
                <a:latin typeface="微软雅黑" panose="020B0503020204020204" pitchFamily="34" charset="-122"/>
                <a:ea typeface="微软雅黑" panose="020B0503020204020204" pitchFamily="34" charset="-122"/>
                <a:sym typeface="+mn-ea"/>
              </a:rPr>
              <a:t>井显示优于</a:t>
            </a:r>
            <a:r>
              <a:rPr lang="en-US" altLang="zh-CN" sz="1600" dirty="0">
                <a:solidFill>
                  <a:srgbClr val="FF0000"/>
                </a:solidFill>
                <a:latin typeface="微软雅黑" panose="020B0503020204020204" pitchFamily="34" charset="-122"/>
                <a:ea typeface="微软雅黑" panose="020B0503020204020204" pitchFamily="34" charset="-122"/>
                <a:sym typeface="+mn-ea"/>
              </a:rPr>
              <a:t>4</a:t>
            </a:r>
            <a:r>
              <a:rPr lang="zh-CN" altLang="en-US" sz="1600" dirty="0">
                <a:solidFill>
                  <a:srgbClr val="FF0000"/>
                </a:solidFill>
                <a:latin typeface="微软雅黑" panose="020B0503020204020204" pitchFamily="34" charset="-122"/>
                <a:ea typeface="微软雅黑" panose="020B0503020204020204" pitchFamily="34" charset="-122"/>
                <a:sym typeface="+mn-ea"/>
              </a:rPr>
              <a:t>、</a:t>
            </a:r>
            <a:r>
              <a:rPr lang="en-US" altLang="zh-CN" sz="1600" dirty="0">
                <a:solidFill>
                  <a:srgbClr val="FF0000"/>
                </a:solidFill>
                <a:latin typeface="微软雅黑" panose="020B0503020204020204" pitchFamily="34" charset="-122"/>
                <a:ea typeface="微软雅黑" panose="020B0503020204020204" pitchFamily="34" charset="-122"/>
                <a:sym typeface="+mn-ea"/>
              </a:rPr>
              <a:t>6</a:t>
            </a:r>
            <a:r>
              <a:rPr lang="zh-CN" altLang="en-US" sz="1600" dirty="0">
                <a:solidFill>
                  <a:srgbClr val="FF0000"/>
                </a:solidFill>
                <a:latin typeface="微软雅黑" panose="020B0503020204020204" pitchFamily="34" charset="-122"/>
                <a:ea typeface="微软雅黑" panose="020B0503020204020204" pitchFamily="34" charset="-122"/>
                <a:sym typeface="+mn-ea"/>
              </a:rPr>
              <a:t>井</a:t>
            </a:r>
            <a:endParaRPr lang="zh-CN" altLang="en-US" sz="1600" dirty="0">
              <a:latin typeface="微软雅黑" panose="020B0503020204020204" pitchFamily="34" charset="-122"/>
              <a:ea typeface="微软雅黑" panose="020B0503020204020204" pitchFamily="34" charset="-122"/>
              <a:sym typeface="+mn-ea"/>
            </a:endParaRPr>
          </a:p>
          <a:p>
            <a:pPr marL="0"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sym typeface="+mn-ea"/>
              </a:rPr>
              <a:t>结合测井、多级裂缝刻画、实钻显示及邻井压裂响应，明确有</a:t>
            </a:r>
            <a:r>
              <a:rPr lang="en-US" altLang="zh-CN" sz="1600" dirty="0">
                <a:solidFill>
                  <a:srgbClr val="FF0000"/>
                </a:solidFill>
                <a:latin typeface="微软雅黑" panose="020B0503020204020204" pitchFamily="34" charset="-122"/>
                <a:ea typeface="微软雅黑" panose="020B0503020204020204" pitchFamily="34" charset="-122"/>
                <a:sym typeface="+mn-ea"/>
              </a:rPr>
              <a:t>3</a:t>
            </a:r>
            <a:r>
              <a:rPr lang="zh-CN" altLang="en-US" sz="1600" dirty="0">
                <a:solidFill>
                  <a:srgbClr val="FF0000"/>
                </a:solidFill>
                <a:latin typeface="微软雅黑" panose="020B0503020204020204" pitchFamily="34" charset="-122"/>
                <a:ea typeface="微软雅黑" panose="020B0503020204020204" pitchFamily="34" charset="-122"/>
                <a:sym typeface="+mn-ea"/>
              </a:rPr>
              <a:t>条联通天然裂缝带</a:t>
            </a:r>
            <a:endPar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4" name="矩形 73"/>
          <p:cNvSpPr/>
          <p:nvPr>
            <p:custDataLst>
              <p:tags r:id="rId1"/>
            </p:custDataLst>
          </p:nvPr>
        </p:nvSpPr>
        <p:spPr>
          <a:xfrm>
            <a:off x="468630" y="6075680"/>
            <a:ext cx="3686810" cy="275590"/>
          </a:xfrm>
          <a:prstGeom prst="rect">
            <a:avLst/>
          </a:prstGeom>
        </p:spPr>
        <p:txBody>
          <a:bodyPr wrap="square">
            <a:spAutoFit/>
          </a:bodyPr>
          <a:lstStyle/>
          <a:p>
            <a:pPr algn="ctr">
              <a:defRPr/>
            </a:pPr>
            <a:r>
              <a:rPr lang="zh-CN" altLang="en-US" sz="1200" dirty="0">
                <a:latin typeface="微软雅黑" panose="020B0503020204020204" pitchFamily="34" charset="-122"/>
                <a:ea typeface="微软雅黑" panose="020B0503020204020204" pitchFamily="34" charset="-122"/>
                <a:cs typeface="Arial" panose="020B0604020202020204" pitchFamily="34" charset="0"/>
              </a:rPr>
              <a:t>足</a:t>
            </a:r>
            <a:r>
              <a:rPr lang="en-US" altLang="zh-CN" sz="1200" dirty="0">
                <a:latin typeface="微软雅黑" panose="020B0503020204020204" pitchFamily="34" charset="-122"/>
                <a:ea typeface="微软雅黑" panose="020B0503020204020204" pitchFamily="34" charset="-122"/>
                <a:cs typeface="Arial" panose="020B0604020202020204" pitchFamily="34" charset="0"/>
              </a:rPr>
              <a:t>201</a:t>
            </a:r>
            <a:r>
              <a:rPr lang="zh-CN" altLang="zh-CN" sz="1200" dirty="0">
                <a:latin typeface="微软雅黑" panose="020B0503020204020204" pitchFamily="34" charset="-122"/>
                <a:ea typeface="微软雅黑" panose="020B0503020204020204" pitchFamily="34" charset="-122"/>
                <a:cs typeface="Arial" panose="020B0604020202020204" pitchFamily="34" charset="0"/>
              </a:rPr>
              <a:t>井</a:t>
            </a:r>
            <a:r>
              <a:rPr lang="zh-CN" altLang="en-US" sz="1200" dirty="0">
                <a:latin typeface="微软雅黑" panose="020B0503020204020204" pitchFamily="34" charset="-122"/>
                <a:ea typeface="微软雅黑" panose="020B0503020204020204" pitchFamily="34" charset="-122"/>
                <a:cs typeface="Arial" panose="020B0604020202020204" pitchFamily="34" charset="0"/>
              </a:rPr>
              <a:t>区</a:t>
            </a:r>
            <a:r>
              <a:rPr lang="zh-CN" altLang="zh-CN" sz="1200" dirty="0">
                <a:latin typeface="微软雅黑" panose="020B0503020204020204" pitchFamily="34" charset="-122"/>
                <a:ea typeface="微软雅黑" panose="020B0503020204020204" pitchFamily="34" charset="-122"/>
                <a:cs typeface="Arial" panose="020B0604020202020204" pitchFamily="34" charset="0"/>
              </a:rPr>
              <a:t>五峰组底界地震反射构造</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8" name="矩形 77"/>
          <p:cNvSpPr/>
          <p:nvPr>
            <p:custDataLst>
              <p:tags r:id="rId2"/>
            </p:custDataLst>
          </p:nvPr>
        </p:nvSpPr>
        <p:spPr>
          <a:xfrm>
            <a:off x="4393565" y="6092190"/>
            <a:ext cx="3375025" cy="275590"/>
          </a:xfrm>
          <a:prstGeom prst="rect">
            <a:avLst/>
          </a:prstGeom>
        </p:spPr>
        <p:txBody>
          <a:bodyPr wrap="square">
            <a:spAutoFit/>
          </a:bodyPr>
          <a:lstStyle/>
          <a:p>
            <a:pPr algn="ctr"/>
            <a:r>
              <a:rPr lang="zh-CN" altLang="en-US" sz="1200" dirty="0">
                <a:latin typeface="微软雅黑" panose="020B0503020204020204" pitchFamily="34" charset="-122"/>
                <a:ea typeface="微软雅黑" panose="020B0503020204020204" pitchFamily="34" charset="-122"/>
              </a:rPr>
              <a:t>足</a:t>
            </a:r>
            <a:r>
              <a:rPr lang="en-US" altLang="zh-CN" sz="1200" dirty="0">
                <a:latin typeface="微软雅黑" panose="020B0503020204020204" pitchFamily="34" charset="-122"/>
                <a:ea typeface="微软雅黑" panose="020B0503020204020204" pitchFamily="34" charset="-122"/>
              </a:rPr>
              <a:t>201H21</a:t>
            </a:r>
            <a:r>
              <a:rPr lang="zh-CN" altLang="en-US" sz="1200" dirty="0">
                <a:latin typeface="微软雅黑" panose="020B0503020204020204" pitchFamily="34" charset="-122"/>
                <a:ea typeface="微软雅黑" panose="020B0503020204020204" pitchFamily="34" charset="-122"/>
              </a:rPr>
              <a:t>平台井位图</a:t>
            </a:r>
            <a:endParaRPr lang="zh-CN" altLang="en-US" sz="1200" dirty="0">
              <a:latin typeface="微软雅黑" panose="020B0503020204020204" pitchFamily="34" charset="-122"/>
              <a:ea typeface="微软雅黑" panose="020B0503020204020204" pitchFamily="34" charset="-122"/>
            </a:endParaRPr>
          </a:p>
        </p:txBody>
      </p:sp>
      <p:grpSp>
        <p:nvGrpSpPr>
          <p:cNvPr id="151" name="组合 150"/>
          <p:cNvGrpSpPr/>
          <p:nvPr/>
        </p:nvGrpSpPr>
        <p:grpSpPr>
          <a:xfrm>
            <a:off x="4490085" y="2691130"/>
            <a:ext cx="3375660" cy="3295650"/>
            <a:chOff x="7057721" y="2058499"/>
            <a:chExt cx="4095657" cy="4185795"/>
          </a:xfrm>
        </p:grpSpPr>
        <p:pic>
          <p:nvPicPr>
            <p:cNvPr id="152" name="图片 151"/>
            <p:cNvPicPr>
              <a:picLocks noChangeAspect="1"/>
            </p:cNvPicPr>
            <p:nvPr/>
          </p:nvPicPr>
          <p:blipFill>
            <a:blip r:embed="rId3"/>
            <a:stretch>
              <a:fillRect/>
            </a:stretch>
          </p:blipFill>
          <p:spPr>
            <a:xfrm>
              <a:off x="7057721" y="2058499"/>
              <a:ext cx="4095657" cy="4185795"/>
            </a:xfrm>
            <a:prstGeom prst="rect">
              <a:avLst/>
            </a:prstGeom>
            <a:ln>
              <a:solidFill>
                <a:schemeClr val="tx1"/>
              </a:solidFill>
            </a:ln>
          </p:spPr>
        </p:pic>
        <p:grpSp>
          <p:nvGrpSpPr>
            <p:cNvPr id="153" name="组合 152"/>
            <p:cNvGrpSpPr/>
            <p:nvPr/>
          </p:nvGrpSpPr>
          <p:grpSpPr>
            <a:xfrm>
              <a:off x="7379970" y="2374265"/>
              <a:ext cx="1400810" cy="3307080"/>
              <a:chOff x="12098" y="3739"/>
              <a:chExt cx="2206" cy="5208"/>
            </a:xfrm>
          </p:grpSpPr>
          <p:cxnSp>
            <p:nvCxnSpPr>
              <p:cNvPr id="161" name="直接箭头连接符 160"/>
              <p:cNvCxnSpPr/>
              <p:nvPr>
                <p:custDataLst>
                  <p:tags r:id="rId4"/>
                </p:custDataLst>
              </p:nvPr>
            </p:nvCxnSpPr>
            <p:spPr>
              <a:xfrm>
                <a:off x="13587" y="7186"/>
                <a:ext cx="407" cy="270"/>
              </a:xfrm>
              <a:prstGeom prst="straightConnector1">
                <a:avLst/>
              </a:prstGeom>
              <a:ln w="12700">
                <a:solidFill>
                  <a:srgbClr val="FF0000"/>
                </a:solidFill>
                <a:headEnd type="arrow"/>
                <a:tailEnd type="arrow"/>
              </a:ln>
            </p:spPr>
            <p:style>
              <a:lnRef idx="2">
                <a:schemeClr val="accent1"/>
              </a:lnRef>
              <a:fillRef idx="0">
                <a:srgbClr val="FFFFFF"/>
              </a:fillRef>
              <a:effectRef idx="0">
                <a:srgbClr val="FFFFFF"/>
              </a:effectRef>
              <a:fontRef idx="minor">
                <a:schemeClr val="tx1"/>
              </a:fontRef>
            </p:style>
          </p:cxnSp>
          <p:cxnSp>
            <p:nvCxnSpPr>
              <p:cNvPr id="162" name="直接箭头连接符 161"/>
              <p:cNvCxnSpPr/>
              <p:nvPr>
                <p:custDataLst>
                  <p:tags r:id="rId5"/>
                </p:custDataLst>
              </p:nvPr>
            </p:nvCxnSpPr>
            <p:spPr>
              <a:xfrm>
                <a:off x="13004" y="7536"/>
                <a:ext cx="332" cy="221"/>
              </a:xfrm>
              <a:prstGeom prst="straightConnector1">
                <a:avLst/>
              </a:prstGeom>
              <a:ln w="12700">
                <a:solidFill>
                  <a:srgbClr val="FF0000"/>
                </a:solidFill>
                <a:headEnd type="arrow"/>
                <a:tailEnd type="arrow"/>
              </a:ln>
            </p:spPr>
            <p:style>
              <a:lnRef idx="2">
                <a:schemeClr val="accent1"/>
              </a:lnRef>
              <a:fillRef idx="0">
                <a:srgbClr val="FFFFFF"/>
              </a:fillRef>
              <a:effectRef idx="0">
                <a:srgbClr val="FFFFFF"/>
              </a:effectRef>
              <a:fontRef idx="minor">
                <a:schemeClr val="tx1"/>
              </a:fontRef>
            </p:style>
          </p:cxnSp>
          <p:sp>
            <p:nvSpPr>
              <p:cNvPr id="163" name="文本框 162"/>
              <p:cNvSpPr txBox="1"/>
              <p:nvPr>
                <p:custDataLst>
                  <p:tags r:id="rId6"/>
                </p:custDataLst>
              </p:nvPr>
            </p:nvSpPr>
            <p:spPr>
              <a:xfrm rot="1680000">
                <a:off x="12971" y="7170"/>
                <a:ext cx="730" cy="738"/>
              </a:xfrm>
              <a:prstGeom prst="rect">
                <a:avLst/>
              </a:prstGeom>
              <a:solidFill>
                <a:schemeClr val="bg1"/>
              </a:solidFill>
            </p:spPr>
            <p:txBody>
              <a:bodyPr wrap="square" lIns="0" tIns="0" rIns="0" bIns="0" rtlCol="0">
                <a:spAutoFit/>
              </a:bodyPr>
              <a:lstStyle/>
              <a:p>
                <a:r>
                  <a:rPr lang="en-US" sz="1200" dirty="0">
                    <a:ln>
                      <a:solidFill>
                        <a:srgbClr val="0000FF"/>
                      </a:solidFill>
                    </a:ln>
                    <a:solidFill>
                      <a:srgbClr val="0000FF"/>
                    </a:solidFill>
                    <a:latin typeface="微软雅黑" panose="020B0503020204020204" pitchFamily="34" charset="-122"/>
                    <a:ea typeface="微软雅黑" panose="020B0503020204020204" pitchFamily="34" charset="-122"/>
                  </a:rPr>
                  <a:t>359m</a:t>
                </a:r>
                <a:endParaRPr lang="en-US" sz="1200" dirty="0">
                  <a:ln>
                    <a:solidFill>
                      <a:srgbClr val="0000FF"/>
                    </a:solidFill>
                  </a:ln>
                  <a:solidFill>
                    <a:srgbClr val="0000FF"/>
                  </a:solidFill>
                  <a:latin typeface="微软雅黑" panose="020B0503020204020204" pitchFamily="34" charset="-122"/>
                  <a:ea typeface="微软雅黑" panose="020B0503020204020204" pitchFamily="34" charset="-122"/>
                </a:endParaRPr>
              </a:p>
            </p:txBody>
          </p:sp>
          <p:sp>
            <p:nvSpPr>
              <p:cNvPr id="164" name="文本框 163"/>
              <p:cNvSpPr txBox="1"/>
              <p:nvPr>
                <p:custDataLst>
                  <p:tags r:id="rId7"/>
                </p:custDataLst>
              </p:nvPr>
            </p:nvSpPr>
            <p:spPr>
              <a:xfrm rot="1680000">
                <a:off x="13574" y="6863"/>
                <a:ext cx="730" cy="738"/>
              </a:xfrm>
              <a:prstGeom prst="rect">
                <a:avLst/>
              </a:prstGeom>
              <a:solidFill>
                <a:schemeClr val="bg1"/>
              </a:solidFill>
            </p:spPr>
            <p:txBody>
              <a:bodyPr wrap="square" lIns="0" tIns="0" rIns="0" bIns="0" rtlCol="0">
                <a:spAutoFit/>
              </a:bodyPr>
              <a:lstStyle/>
              <a:p>
                <a:r>
                  <a:rPr lang="en-US" sz="1200" dirty="0">
                    <a:ln>
                      <a:solidFill>
                        <a:srgbClr val="0000FF"/>
                      </a:solidFill>
                    </a:ln>
                    <a:solidFill>
                      <a:srgbClr val="0000FF"/>
                    </a:solidFill>
                    <a:latin typeface="微软雅黑" panose="020B0503020204020204" pitchFamily="34" charset="-122"/>
                    <a:ea typeface="微软雅黑" panose="020B0503020204020204" pitchFamily="34" charset="-122"/>
                  </a:rPr>
                  <a:t>356m</a:t>
                </a:r>
                <a:endParaRPr lang="en-US" sz="1200" dirty="0">
                  <a:ln>
                    <a:solidFill>
                      <a:srgbClr val="0000FF"/>
                    </a:solidFill>
                  </a:ln>
                  <a:solidFill>
                    <a:srgbClr val="0000FF"/>
                  </a:solidFill>
                  <a:latin typeface="微软雅黑" panose="020B0503020204020204" pitchFamily="34" charset="-122"/>
                  <a:ea typeface="微软雅黑" panose="020B0503020204020204" pitchFamily="34" charset="-122"/>
                </a:endParaRPr>
              </a:p>
            </p:txBody>
          </p:sp>
          <p:sp>
            <p:nvSpPr>
              <p:cNvPr id="165" name="文本框 164"/>
              <p:cNvSpPr txBox="1"/>
              <p:nvPr/>
            </p:nvSpPr>
            <p:spPr>
              <a:xfrm rot="18000000">
                <a:off x="13028" y="7852"/>
                <a:ext cx="818" cy="647"/>
              </a:xfrm>
              <a:prstGeom prst="rect">
                <a:avLst/>
              </a:prstGeom>
              <a:noFill/>
            </p:spPr>
            <p:txBody>
              <a:bodyPr wrap="square" lIns="0" tIns="0" rIns="0" bIns="0" rtlCol="0">
                <a:spAutoFit/>
              </a:bodyPr>
              <a:lstStyle/>
              <a:p>
                <a:pPr algn="ctr"/>
                <a:r>
                  <a:rPr lang="en-US" altLang="zh-CN" sz="1100" dirty="0"/>
                  <a:t>2200m</a:t>
                </a:r>
                <a:endParaRPr lang="zh-CN" altLang="en-US" sz="1100" dirty="0"/>
              </a:p>
            </p:txBody>
          </p:sp>
          <p:sp>
            <p:nvSpPr>
              <p:cNvPr id="166" name="文本框 165"/>
              <p:cNvSpPr txBox="1"/>
              <p:nvPr/>
            </p:nvSpPr>
            <p:spPr>
              <a:xfrm rot="18000000">
                <a:off x="12516" y="8021"/>
                <a:ext cx="818" cy="647"/>
              </a:xfrm>
              <a:prstGeom prst="rect">
                <a:avLst/>
              </a:prstGeom>
              <a:noFill/>
            </p:spPr>
            <p:txBody>
              <a:bodyPr wrap="square" lIns="0" tIns="0" rIns="0" bIns="0" rtlCol="0">
                <a:spAutoFit/>
              </a:bodyPr>
              <a:lstStyle/>
              <a:p>
                <a:pPr algn="ctr"/>
                <a:r>
                  <a:rPr lang="en-US" altLang="zh-CN" sz="1100" dirty="0"/>
                  <a:t>2300m</a:t>
                </a:r>
                <a:endParaRPr lang="zh-CN" altLang="en-US" sz="1100" dirty="0"/>
              </a:p>
            </p:txBody>
          </p:sp>
          <p:sp>
            <p:nvSpPr>
              <p:cNvPr id="167" name="文本框 166"/>
              <p:cNvSpPr txBox="1"/>
              <p:nvPr/>
            </p:nvSpPr>
            <p:spPr>
              <a:xfrm rot="18000000">
                <a:off x="12060" y="8202"/>
                <a:ext cx="842" cy="647"/>
              </a:xfrm>
              <a:prstGeom prst="rect">
                <a:avLst/>
              </a:prstGeom>
              <a:noFill/>
            </p:spPr>
            <p:txBody>
              <a:bodyPr wrap="square" lIns="0" tIns="0" rIns="0" bIns="0" rtlCol="0">
                <a:spAutoFit/>
              </a:bodyPr>
              <a:lstStyle/>
              <a:p>
                <a:pPr algn="ctr"/>
                <a:r>
                  <a:rPr lang="en-US" altLang="zh-CN" sz="1100" dirty="0"/>
                  <a:t>2300m</a:t>
                </a:r>
                <a:endParaRPr lang="zh-CN" altLang="en-US" sz="1100" dirty="0"/>
              </a:p>
            </p:txBody>
          </p:sp>
          <p:cxnSp>
            <p:nvCxnSpPr>
              <p:cNvPr id="168" name="直接箭头连接符 167"/>
              <p:cNvCxnSpPr/>
              <p:nvPr/>
            </p:nvCxnSpPr>
            <p:spPr>
              <a:xfrm flipV="1">
                <a:off x="12098" y="3807"/>
                <a:ext cx="0" cy="104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9" name="文本框 168"/>
              <p:cNvSpPr txBox="1"/>
              <p:nvPr/>
            </p:nvSpPr>
            <p:spPr>
              <a:xfrm>
                <a:off x="12102" y="3739"/>
                <a:ext cx="758" cy="788"/>
              </a:xfrm>
              <a:prstGeom prst="rect">
                <a:avLst/>
              </a:prstGeom>
              <a:noFill/>
            </p:spPr>
            <p:txBody>
              <a:bodyPr wrap="square" rtlCol="0">
                <a:spAutoFit/>
              </a:bodyPr>
              <a:lstStyle/>
              <a:p>
                <a:pPr algn="ctr"/>
                <a:r>
                  <a:rPr lang="en-US" altLang="zh-CN" dirty="0"/>
                  <a:t>N</a:t>
                </a:r>
                <a:endParaRPr lang="zh-CN" altLang="en-US" dirty="0"/>
              </a:p>
            </p:txBody>
          </p:sp>
        </p:grpSp>
        <p:cxnSp>
          <p:nvCxnSpPr>
            <p:cNvPr id="154" name="直接箭头连接符 153"/>
            <p:cNvCxnSpPr/>
            <p:nvPr>
              <p:custDataLst>
                <p:tags r:id="rId8"/>
              </p:custDataLst>
            </p:nvPr>
          </p:nvCxnSpPr>
          <p:spPr>
            <a:xfrm>
              <a:off x="9093835" y="3388115"/>
              <a:ext cx="258445" cy="171450"/>
            </a:xfrm>
            <a:prstGeom prst="straightConnector1">
              <a:avLst/>
            </a:prstGeom>
            <a:ln w="12700">
              <a:solidFill>
                <a:srgbClr val="FF0000"/>
              </a:solidFill>
              <a:headEnd type="arrow"/>
              <a:tailEnd type="arrow"/>
            </a:ln>
          </p:spPr>
          <p:style>
            <a:lnRef idx="2">
              <a:schemeClr val="accent1"/>
            </a:lnRef>
            <a:fillRef idx="0">
              <a:srgbClr val="FFFFFF"/>
            </a:fillRef>
            <a:effectRef idx="0">
              <a:srgbClr val="FFFFFF"/>
            </a:effectRef>
            <a:fontRef idx="minor">
              <a:schemeClr val="tx1"/>
            </a:fontRef>
          </p:style>
        </p:cxnSp>
        <p:cxnSp>
          <p:nvCxnSpPr>
            <p:cNvPr id="155" name="直接箭头连接符 154"/>
            <p:cNvCxnSpPr/>
            <p:nvPr>
              <p:custDataLst>
                <p:tags r:id="rId9"/>
              </p:custDataLst>
            </p:nvPr>
          </p:nvCxnSpPr>
          <p:spPr>
            <a:xfrm>
              <a:off x="8723630" y="3610365"/>
              <a:ext cx="210820" cy="140335"/>
            </a:xfrm>
            <a:prstGeom prst="straightConnector1">
              <a:avLst/>
            </a:prstGeom>
            <a:ln w="12700">
              <a:solidFill>
                <a:srgbClr val="FF0000"/>
              </a:solidFill>
              <a:headEnd type="arrow"/>
              <a:tailEnd type="arrow"/>
            </a:ln>
          </p:spPr>
          <p:style>
            <a:lnRef idx="2">
              <a:schemeClr val="accent1"/>
            </a:lnRef>
            <a:fillRef idx="0">
              <a:srgbClr val="FFFFFF"/>
            </a:fillRef>
            <a:effectRef idx="0">
              <a:srgbClr val="FFFFFF"/>
            </a:effectRef>
            <a:fontRef idx="minor">
              <a:schemeClr val="tx1"/>
            </a:fontRef>
          </p:style>
        </p:cxnSp>
        <p:sp>
          <p:nvSpPr>
            <p:cNvPr id="156" name="文本框 155"/>
            <p:cNvSpPr txBox="1"/>
            <p:nvPr>
              <p:custDataLst>
                <p:tags r:id="rId10"/>
              </p:custDataLst>
            </p:nvPr>
          </p:nvSpPr>
          <p:spPr>
            <a:xfrm rot="1680000">
              <a:off x="8702675" y="3409314"/>
              <a:ext cx="463550" cy="468583"/>
            </a:xfrm>
            <a:prstGeom prst="rect">
              <a:avLst/>
            </a:prstGeom>
            <a:solidFill>
              <a:schemeClr val="bg1"/>
            </a:solidFill>
          </p:spPr>
          <p:txBody>
            <a:bodyPr wrap="square" lIns="0" tIns="0" rIns="0" bIns="0" rtlCol="0">
              <a:spAutoFit/>
            </a:bodyPr>
            <a:lstStyle/>
            <a:p>
              <a:r>
                <a:rPr lang="en-US" sz="1200" dirty="0">
                  <a:ln>
                    <a:solidFill>
                      <a:srgbClr val="0000FF"/>
                    </a:solidFill>
                  </a:ln>
                  <a:solidFill>
                    <a:srgbClr val="0000FF"/>
                  </a:solidFill>
                  <a:latin typeface="微软雅黑" panose="020B0503020204020204" pitchFamily="34" charset="-122"/>
                  <a:ea typeface="微软雅黑" panose="020B0503020204020204" pitchFamily="34" charset="-122"/>
                </a:rPr>
                <a:t>343m</a:t>
              </a:r>
              <a:endParaRPr lang="en-US" sz="1200" dirty="0">
                <a:ln>
                  <a:solidFill>
                    <a:srgbClr val="0000FF"/>
                  </a:solidFill>
                </a:ln>
                <a:solidFill>
                  <a:srgbClr val="0000FF"/>
                </a:solidFill>
                <a:latin typeface="微软雅黑" panose="020B0503020204020204" pitchFamily="34" charset="-122"/>
                <a:ea typeface="微软雅黑" panose="020B0503020204020204" pitchFamily="34" charset="-122"/>
              </a:endParaRPr>
            </a:p>
          </p:txBody>
        </p:sp>
        <p:sp>
          <p:nvSpPr>
            <p:cNvPr id="157" name="文本框 156"/>
            <p:cNvSpPr txBox="1"/>
            <p:nvPr>
              <p:custDataLst>
                <p:tags r:id="rId11"/>
              </p:custDataLst>
            </p:nvPr>
          </p:nvSpPr>
          <p:spPr>
            <a:xfrm rot="1680000">
              <a:off x="9172906" y="3200213"/>
              <a:ext cx="463550" cy="468583"/>
            </a:xfrm>
            <a:prstGeom prst="rect">
              <a:avLst/>
            </a:prstGeom>
            <a:solidFill>
              <a:schemeClr val="bg1"/>
            </a:solidFill>
          </p:spPr>
          <p:txBody>
            <a:bodyPr wrap="square" lIns="0" tIns="0" rIns="0" bIns="0" rtlCol="0">
              <a:spAutoFit/>
            </a:bodyPr>
            <a:lstStyle/>
            <a:p>
              <a:r>
                <a:rPr lang="en-US" sz="1200" dirty="0">
                  <a:ln>
                    <a:solidFill>
                      <a:srgbClr val="0000FF"/>
                    </a:solidFill>
                  </a:ln>
                  <a:solidFill>
                    <a:srgbClr val="0000FF"/>
                  </a:solidFill>
                  <a:latin typeface="微软雅黑" panose="020B0503020204020204" pitchFamily="34" charset="-122"/>
                  <a:ea typeface="微软雅黑" panose="020B0503020204020204" pitchFamily="34" charset="-122"/>
                </a:rPr>
                <a:t>358m</a:t>
              </a:r>
              <a:endParaRPr lang="en-US" sz="1200" dirty="0">
                <a:ln>
                  <a:solidFill>
                    <a:srgbClr val="0000FF"/>
                  </a:solidFill>
                </a:ln>
                <a:solidFill>
                  <a:srgbClr val="0000FF"/>
                </a:solidFill>
                <a:latin typeface="微软雅黑" panose="020B0503020204020204" pitchFamily="34" charset="-122"/>
                <a:ea typeface="微软雅黑" panose="020B0503020204020204" pitchFamily="34" charset="-122"/>
              </a:endParaRPr>
            </a:p>
          </p:txBody>
        </p:sp>
        <p:sp>
          <p:nvSpPr>
            <p:cNvPr id="158" name="文本框 157"/>
            <p:cNvSpPr txBox="1"/>
            <p:nvPr/>
          </p:nvSpPr>
          <p:spPr>
            <a:xfrm rot="18000000">
              <a:off x="9030819" y="2755745"/>
              <a:ext cx="519430" cy="410644"/>
            </a:xfrm>
            <a:prstGeom prst="rect">
              <a:avLst/>
            </a:prstGeom>
            <a:noFill/>
          </p:spPr>
          <p:txBody>
            <a:bodyPr wrap="square" lIns="0" tIns="0" rIns="0" bIns="0" rtlCol="0">
              <a:spAutoFit/>
            </a:bodyPr>
            <a:lstStyle/>
            <a:p>
              <a:pPr algn="ctr"/>
              <a:r>
                <a:rPr lang="en-US" altLang="zh-CN" sz="1100" dirty="0"/>
                <a:t>2300m</a:t>
              </a:r>
              <a:endParaRPr lang="zh-CN" altLang="en-US" sz="1100" dirty="0"/>
            </a:p>
          </p:txBody>
        </p:sp>
        <p:sp>
          <p:nvSpPr>
            <p:cNvPr id="159" name="文本框 158"/>
            <p:cNvSpPr txBox="1"/>
            <p:nvPr/>
          </p:nvSpPr>
          <p:spPr>
            <a:xfrm rot="18000000">
              <a:off x="8808975" y="2722881"/>
              <a:ext cx="519430" cy="410644"/>
            </a:xfrm>
            <a:prstGeom prst="rect">
              <a:avLst/>
            </a:prstGeom>
            <a:noFill/>
          </p:spPr>
          <p:txBody>
            <a:bodyPr wrap="square" lIns="0" tIns="0" rIns="0" bIns="0" rtlCol="0">
              <a:spAutoFit/>
            </a:bodyPr>
            <a:lstStyle/>
            <a:p>
              <a:pPr algn="ctr"/>
              <a:r>
                <a:rPr lang="en-US" altLang="zh-CN" sz="1100" dirty="0"/>
                <a:t>2300m</a:t>
              </a:r>
              <a:endParaRPr lang="zh-CN" altLang="en-US" sz="1100" dirty="0"/>
            </a:p>
          </p:txBody>
        </p:sp>
        <p:sp>
          <p:nvSpPr>
            <p:cNvPr id="160" name="文本框 159"/>
            <p:cNvSpPr txBox="1"/>
            <p:nvPr/>
          </p:nvSpPr>
          <p:spPr>
            <a:xfrm rot="18000000">
              <a:off x="9296019" y="2862316"/>
              <a:ext cx="519430" cy="410644"/>
            </a:xfrm>
            <a:prstGeom prst="rect">
              <a:avLst/>
            </a:prstGeom>
            <a:noFill/>
          </p:spPr>
          <p:txBody>
            <a:bodyPr wrap="square" lIns="0" tIns="0" rIns="0" bIns="0" rtlCol="0">
              <a:spAutoFit/>
            </a:bodyPr>
            <a:lstStyle/>
            <a:p>
              <a:pPr algn="ctr"/>
              <a:r>
                <a:rPr lang="en-US" altLang="zh-CN" sz="1100" dirty="0"/>
                <a:t>2300m</a:t>
              </a:r>
              <a:endParaRPr lang="zh-CN" altLang="en-US" sz="1100" dirty="0"/>
            </a:p>
          </p:txBody>
        </p:sp>
      </p:grpSp>
      <p:grpSp>
        <p:nvGrpSpPr>
          <p:cNvPr id="3" name="组合 2"/>
          <p:cNvGrpSpPr/>
          <p:nvPr/>
        </p:nvGrpSpPr>
        <p:grpSpPr>
          <a:xfrm>
            <a:off x="468630" y="2691130"/>
            <a:ext cx="3686810" cy="3295650"/>
            <a:chOff x="959485" y="2422187"/>
            <a:chExt cx="4610735" cy="4030683"/>
          </a:xfrm>
        </p:grpSpPr>
        <p:grpSp>
          <p:nvGrpSpPr>
            <p:cNvPr id="5" name="组合 4"/>
            <p:cNvGrpSpPr/>
            <p:nvPr/>
          </p:nvGrpSpPr>
          <p:grpSpPr>
            <a:xfrm>
              <a:off x="959485" y="2422187"/>
              <a:ext cx="4610735" cy="4030683"/>
              <a:chOff x="959485" y="2174875"/>
              <a:chExt cx="4610735" cy="4277995"/>
            </a:xfrm>
          </p:grpSpPr>
          <p:pic>
            <p:nvPicPr>
              <p:cNvPr id="72" name="图片 71"/>
              <p:cNvPicPr>
                <a:picLocks noChangeAspect="1"/>
              </p:cNvPicPr>
              <p:nvPr/>
            </p:nvPicPr>
            <p:blipFill>
              <a:blip r:embed="rId12"/>
              <a:stretch>
                <a:fillRect/>
              </a:stretch>
            </p:blipFill>
            <p:spPr>
              <a:xfrm>
                <a:off x="959485" y="2174875"/>
                <a:ext cx="4610735" cy="4277995"/>
              </a:xfrm>
              <a:prstGeom prst="rect">
                <a:avLst/>
              </a:prstGeom>
            </p:spPr>
          </p:pic>
          <p:pic>
            <p:nvPicPr>
              <p:cNvPr id="79" name="Picture 12" descr="x1"/>
              <p:cNvPicPr>
                <a:picLocks noChangeArrowheads="1" noCrop="1"/>
              </p:cNvPicPr>
              <p:nvPr/>
            </p:nvPicPr>
            <p:blipFill>
              <a:blip r:embed="rId13"/>
              <a:srcRect/>
              <a:stretch>
                <a:fillRect/>
              </a:stretch>
            </p:blipFill>
            <p:spPr bwMode="auto">
              <a:xfrm>
                <a:off x="3794125" y="3588385"/>
                <a:ext cx="72000" cy="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0" name="直接连接符 79"/>
              <p:cNvCxnSpPr/>
              <p:nvPr/>
            </p:nvCxnSpPr>
            <p:spPr bwMode="auto">
              <a:xfrm flipH="1">
                <a:off x="2073910" y="3529965"/>
                <a:ext cx="228600" cy="40640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81" name="直接连接符 80"/>
              <p:cNvCxnSpPr/>
              <p:nvPr/>
            </p:nvCxnSpPr>
            <p:spPr bwMode="auto">
              <a:xfrm flipH="1">
                <a:off x="2322195" y="2960370"/>
                <a:ext cx="237490" cy="40894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82" name="直接连接符 81"/>
              <p:cNvCxnSpPr/>
              <p:nvPr/>
            </p:nvCxnSpPr>
            <p:spPr bwMode="auto">
              <a:xfrm flipH="1">
                <a:off x="2223135" y="4752340"/>
                <a:ext cx="260985" cy="42545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83" name="直接连接符 82"/>
              <p:cNvCxnSpPr/>
              <p:nvPr/>
            </p:nvCxnSpPr>
            <p:spPr bwMode="auto">
              <a:xfrm flipH="1">
                <a:off x="2108835" y="4676775"/>
                <a:ext cx="259715" cy="43751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84" name="直接连接符 83"/>
              <p:cNvCxnSpPr/>
              <p:nvPr/>
            </p:nvCxnSpPr>
            <p:spPr bwMode="auto">
              <a:xfrm flipH="1">
                <a:off x="2112645" y="5405120"/>
                <a:ext cx="240665" cy="41211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85" name="直接连接符 84"/>
              <p:cNvCxnSpPr/>
              <p:nvPr/>
            </p:nvCxnSpPr>
            <p:spPr bwMode="auto">
              <a:xfrm flipH="1">
                <a:off x="1471930" y="5831840"/>
                <a:ext cx="370205" cy="37274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86" name="直接连接符 85"/>
              <p:cNvCxnSpPr/>
              <p:nvPr/>
            </p:nvCxnSpPr>
            <p:spPr bwMode="auto">
              <a:xfrm flipH="1">
                <a:off x="2806700" y="4925695"/>
                <a:ext cx="228600" cy="25209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87" name="直接连接符 86"/>
              <p:cNvCxnSpPr/>
              <p:nvPr/>
            </p:nvCxnSpPr>
            <p:spPr bwMode="auto">
              <a:xfrm flipH="1">
                <a:off x="2736850" y="4998720"/>
                <a:ext cx="358775" cy="36957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88" name="直接连接符 87"/>
              <p:cNvCxnSpPr/>
              <p:nvPr/>
            </p:nvCxnSpPr>
            <p:spPr bwMode="auto">
              <a:xfrm flipH="1">
                <a:off x="2828925" y="5049520"/>
                <a:ext cx="327025" cy="34099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89" name="直接连接符 88"/>
              <p:cNvCxnSpPr/>
              <p:nvPr/>
            </p:nvCxnSpPr>
            <p:spPr bwMode="auto">
              <a:xfrm flipH="1">
                <a:off x="3228975" y="4542790"/>
                <a:ext cx="352425" cy="35242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90" name="直接连接符 89"/>
              <p:cNvCxnSpPr/>
              <p:nvPr/>
            </p:nvCxnSpPr>
            <p:spPr bwMode="auto">
              <a:xfrm flipH="1">
                <a:off x="3152775" y="4472940"/>
                <a:ext cx="352425" cy="34607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91" name="直接连接符 90"/>
              <p:cNvCxnSpPr/>
              <p:nvPr/>
            </p:nvCxnSpPr>
            <p:spPr bwMode="auto">
              <a:xfrm flipH="1">
                <a:off x="3089275" y="3347720"/>
                <a:ext cx="114935" cy="31242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92" name="直接连接符 91"/>
              <p:cNvCxnSpPr/>
              <p:nvPr/>
            </p:nvCxnSpPr>
            <p:spPr bwMode="auto">
              <a:xfrm flipH="1">
                <a:off x="5111750" y="2983865"/>
                <a:ext cx="292100" cy="36195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93" name="直接连接符 92"/>
              <p:cNvCxnSpPr/>
              <p:nvPr/>
            </p:nvCxnSpPr>
            <p:spPr bwMode="auto">
              <a:xfrm flipH="1">
                <a:off x="3296920" y="2781300"/>
                <a:ext cx="259715" cy="44704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19" name="直接连接符 118"/>
              <p:cNvCxnSpPr/>
              <p:nvPr/>
            </p:nvCxnSpPr>
            <p:spPr bwMode="auto">
              <a:xfrm>
                <a:off x="1123950" y="2681605"/>
                <a:ext cx="424815" cy="0"/>
              </a:xfrm>
              <a:prstGeom prst="line">
                <a:avLst/>
              </a:prstGeom>
              <a:ln w="19050">
                <a:solidFill>
                  <a:srgbClr val="FF0000"/>
                </a:solidFill>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sp>
            <p:nvSpPr>
              <p:cNvPr id="120" name="矩形 119"/>
              <p:cNvSpPr/>
              <p:nvPr/>
            </p:nvSpPr>
            <p:spPr>
              <a:xfrm>
                <a:off x="1471930" y="2543175"/>
                <a:ext cx="652145" cy="187325"/>
              </a:xfrm>
              <a:prstGeom prst="rect">
                <a:avLst/>
              </a:prstGeom>
              <a:noFill/>
            </p:spPr>
            <p:txBody>
              <a:bodyPr rot="0" spcFirstLastPara="0" vertOverflow="overflow" horzOverflow="overflow" vert="horz" wrap="square" lIns="0" tIns="0" rIns="0" bIns="0" numCol="1" spcCol="0" rtlCol="0" fromWordArt="0" anchor="ctr" anchorCtr="0" forceAA="0" compatLnSpc="1">
                <a:noAutofit/>
              </a:bodyPr>
              <a:lstStyle/>
              <a:p>
                <a:pPr algn="ctr">
                  <a:lnSpc>
                    <a:spcPct val="180000"/>
                  </a:lnSpc>
                  <a:spcBef>
                    <a:spcPct val="20000"/>
                  </a:spcBef>
                  <a:buClr>
                    <a:srgbClr val="FF0000"/>
                  </a:buClr>
                  <a:buSzPct val="100000"/>
                </a:pPr>
                <a:r>
                  <a:rPr lang="zh-CN" altLang="en-US" sz="900" dirty="0">
                    <a:latin typeface="微软雅黑" panose="020B0503020204020204" pitchFamily="34" charset="-122"/>
                    <a:ea typeface="微软雅黑" panose="020B0503020204020204" pitchFamily="34" charset="-122"/>
                  </a:rPr>
                  <a:t>生产井</a:t>
                </a:r>
                <a:endParaRPr lang="zh-CN" altLang="en-US" sz="900" dirty="0">
                  <a:latin typeface="微软雅黑" panose="020B0503020204020204" pitchFamily="34" charset="-122"/>
                  <a:ea typeface="微软雅黑" panose="020B0503020204020204" pitchFamily="34" charset="-122"/>
                </a:endParaRPr>
              </a:p>
            </p:txBody>
          </p:sp>
          <p:pic>
            <p:nvPicPr>
              <p:cNvPr id="133" name="Picture 12" descr="x1"/>
              <p:cNvPicPr>
                <a:picLocks noChangeArrowheads="1" noCrop="1"/>
              </p:cNvPicPr>
              <p:nvPr/>
            </p:nvPicPr>
            <p:blipFill>
              <a:blip r:embed="rId13"/>
              <a:srcRect/>
              <a:stretch>
                <a:fillRect/>
              </a:stretch>
            </p:blipFill>
            <p:spPr bwMode="auto">
              <a:xfrm rot="18000000">
                <a:off x="3304081" y="3911558"/>
                <a:ext cx="504000" cy="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 name="Picture 12" descr="x1"/>
              <p:cNvPicPr>
                <a:picLocks noChangeArrowheads="1" noCrop="1"/>
              </p:cNvPicPr>
              <p:nvPr/>
            </p:nvPicPr>
            <p:blipFill>
              <a:blip r:embed="rId13"/>
              <a:srcRect/>
              <a:stretch>
                <a:fillRect/>
              </a:stretch>
            </p:blipFill>
            <p:spPr bwMode="auto">
              <a:xfrm rot="17940000">
                <a:off x="3410960" y="3879920"/>
                <a:ext cx="504000" cy="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 name="Picture 12" descr="x1"/>
              <p:cNvPicPr>
                <a:picLocks noChangeArrowheads="1" noCrop="1"/>
              </p:cNvPicPr>
              <p:nvPr/>
            </p:nvPicPr>
            <p:blipFill>
              <a:blip r:embed="rId13"/>
              <a:srcRect/>
              <a:stretch>
                <a:fillRect/>
              </a:stretch>
            </p:blipFill>
            <p:spPr bwMode="auto">
              <a:xfrm rot="17940000">
                <a:off x="3505959" y="3906459"/>
                <a:ext cx="468000" cy="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6" name="直接连接符 135"/>
              <p:cNvCxnSpPr/>
              <p:nvPr/>
            </p:nvCxnSpPr>
            <p:spPr bwMode="auto">
              <a:xfrm flipH="1">
                <a:off x="3224530" y="2749550"/>
                <a:ext cx="259715" cy="44704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37" name="直接连接符 136"/>
              <p:cNvCxnSpPr/>
              <p:nvPr/>
            </p:nvCxnSpPr>
            <p:spPr bwMode="auto">
              <a:xfrm flipH="1">
                <a:off x="2035810" y="5372735"/>
                <a:ext cx="250825" cy="43053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38" name="直接连接符 137"/>
              <p:cNvCxnSpPr/>
              <p:nvPr/>
            </p:nvCxnSpPr>
            <p:spPr bwMode="auto">
              <a:xfrm flipH="1">
                <a:off x="1972310" y="5335270"/>
                <a:ext cx="250825" cy="43053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39" name="直接连接符 138"/>
              <p:cNvCxnSpPr/>
              <p:nvPr/>
            </p:nvCxnSpPr>
            <p:spPr bwMode="auto">
              <a:xfrm flipH="1">
                <a:off x="1918970" y="5285740"/>
                <a:ext cx="250825" cy="43053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0" name="直接连接符 139"/>
              <p:cNvCxnSpPr/>
              <p:nvPr/>
            </p:nvCxnSpPr>
            <p:spPr bwMode="auto">
              <a:xfrm flipH="1">
                <a:off x="1851660" y="5250815"/>
                <a:ext cx="250825" cy="43053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1" name="直接连接符 140"/>
              <p:cNvCxnSpPr/>
              <p:nvPr/>
            </p:nvCxnSpPr>
            <p:spPr bwMode="auto">
              <a:xfrm flipH="1">
                <a:off x="2178685" y="4703445"/>
                <a:ext cx="252095" cy="43624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2" name="直接连接符 141"/>
              <p:cNvCxnSpPr/>
              <p:nvPr/>
            </p:nvCxnSpPr>
            <p:spPr bwMode="auto">
              <a:xfrm flipH="1">
                <a:off x="2042160" y="4676775"/>
                <a:ext cx="216535" cy="37401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3" name="直接连接符 142"/>
              <p:cNvCxnSpPr/>
              <p:nvPr/>
            </p:nvCxnSpPr>
            <p:spPr bwMode="auto">
              <a:xfrm flipH="1">
                <a:off x="1972310" y="4615815"/>
                <a:ext cx="219075" cy="37147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4" name="直接连接符 143"/>
              <p:cNvCxnSpPr/>
              <p:nvPr/>
            </p:nvCxnSpPr>
            <p:spPr bwMode="auto">
              <a:xfrm flipH="1">
                <a:off x="1816735" y="4517390"/>
                <a:ext cx="228600" cy="40322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5" name="直接连接符 144"/>
              <p:cNvCxnSpPr/>
              <p:nvPr/>
            </p:nvCxnSpPr>
            <p:spPr bwMode="auto">
              <a:xfrm flipH="1">
                <a:off x="1750060" y="4491990"/>
                <a:ext cx="234950" cy="40005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6" name="直接连接符 145"/>
              <p:cNvCxnSpPr/>
              <p:nvPr/>
            </p:nvCxnSpPr>
            <p:spPr bwMode="auto">
              <a:xfrm flipH="1">
                <a:off x="2239010" y="2928620"/>
                <a:ext cx="231775" cy="40322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7" name="直接连接符 146"/>
              <p:cNvCxnSpPr/>
              <p:nvPr/>
            </p:nvCxnSpPr>
            <p:spPr bwMode="auto">
              <a:xfrm flipH="1">
                <a:off x="1994535" y="3501390"/>
                <a:ext cx="234950" cy="40005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8" name="直接连接符 147"/>
              <p:cNvCxnSpPr/>
              <p:nvPr/>
            </p:nvCxnSpPr>
            <p:spPr bwMode="auto">
              <a:xfrm flipH="1">
                <a:off x="1911985" y="3466465"/>
                <a:ext cx="254000" cy="44132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9" name="直接连接符 148"/>
              <p:cNvCxnSpPr/>
              <p:nvPr/>
            </p:nvCxnSpPr>
            <p:spPr bwMode="auto">
              <a:xfrm flipH="1">
                <a:off x="1899285" y="3422015"/>
                <a:ext cx="200025" cy="352425"/>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50" name="直接连接符 149"/>
              <p:cNvCxnSpPr/>
              <p:nvPr/>
            </p:nvCxnSpPr>
            <p:spPr bwMode="auto">
              <a:xfrm flipV="1">
                <a:off x="5036820" y="2384425"/>
                <a:ext cx="190500" cy="297180"/>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pic>
            <p:nvPicPr>
              <p:cNvPr id="170" name="Picture 12" descr="x1"/>
              <p:cNvPicPr>
                <a:picLocks noChangeArrowheads="1" noCrop="1"/>
              </p:cNvPicPr>
              <p:nvPr/>
            </p:nvPicPr>
            <p:blipFill>
              <a:blip r:embed="rId13"/>
              <a:srcRect/>
              <a:stretch>
                <a:fillRect/>
              </a:stretch>
            </p:blipFill>
            <p:spPr bwMode="auto">
              <a:xfrm rot="18000000">
                <a:off x="3676191" y="3308943"/>
                <a:ext cx="504000" cy="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 name="Picture 12" descr="x1"/>
              <p:cNvPicPr>
                <a:picLocks noChangeArrowheads="1" noCrop="1"/>
              </p:cNvPicPr>
              <p:nvPr/>
            </p:nvPicPr>
            <p:blipFill>
              <a:blip r:embed="rId13"/>
              <a:srcRect/>
              <a:stretch>
                <a:fillRect/>
              </a:stretch>
            </p:blipFill>
            <p:spPr bwMode="auto">
              <a:xfrm rot="17940000">
                <a:off x="3748780" y="3323025"/>
                <a:ext cx="504000" cy="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2" name="Picture 12" descr="x1"/>
              <p:cNvPicPr>
                <a:picLocks noChangeArrowheads="1" noCrop="1"/>
              </p:cNvPicPr>
              <p:nvPr/>
            </p:nvPicPr>
            <p:blipFill>
              <a:blip r:embed="rId13"/>
              <a:srcRect/>
              <a:stretch>
                <a:fillRect/>
              </a:stretch>
            </p:blipFill>
            <p:spPr bwMode="auto">
              <a:xfrm rot="17940000">
                <a:off x="3805296" y="3378271"/>
                <a:ext cx="504000" cy="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66" name="直接连接符 65"/>
            <p:cNvCxnSpPr/>
            <p:nvPr/>
          </p:nvCxnSpPr>
          <p:spPr bwMode="auto">
            <a:xfrm>
              <a:off x="1123950" y="3145170"/>
              <a:ext cx="424815" cy="0"/>
            </a:xfrm>
            <a:prstGeom prst="line">
              <a:avLst/>
            </a:prstGeom>
            <a:ln w="19050">
              <a:solidFill>
                <a:srgbClr val="00B0F0"/>
              </a:solidFill>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sp>
          <p:nvSpPr>
            <p:cNvPr id="67" name="矩形 66"/>
            <p:cNvSpPr/>
            <p:nvPr/>
          </p:nvSpPr>
          <p:spPr>
            <a:xfrm>
              <a:off x="1488682" y="3040819"/>
              <a:ext cx="652145" cy="176496"/>
            </a:xfrm>
            <a:prstGeom prst="rect">
              <a:avLst/>
            </a:prstGeom>
            <a:noFill/>
          </p:spPr>
          <p:txBody>
            <a:bodyPr rot="0" spcFirstLastPara="0" vertOverflow="overflow" horzOverflow="overflow" vert="horz" wrap="square" lIns="0" tIns="0" rIns="0" bIns="0" numCol="1" spcCol="0" rtlCol="0" fromWordArt="0" anchor="ctr" anchorCtr="0" forceAA="0" compatLnSpc="1">
              <a:noAutofit/>
            </a:bodyPr>
            <a:lstStyle/>
            <a:p>
              <a:pPr algn="ctr">
                <a:lnSpc>
                  <a:spcPct val="180000"/>
                </a:lnSpc>
                <a:spcBef>
                  <a:spcPct val="20000"/>
                </a:spcBef>
                <a:buClr>
                  <a:srgbClr val="FF0000"/>
                </a:buClr>
                <a:buSzPct val="100000"/>
              </a:pPr>
              <a:r>
                <a:rPr lang="zh-CN" altLang="en-US" sz="900" dirty="0">
                  <a:latin typeface="微软雅黑" panose="020B0503020204020204" pitchFamily="34" charset="-122"/>
                  <a:ea typeface="微软雅黑" panose="020B0503020204020204" pitchFamily="34" charset="-122"/>
                </a:rPr>
                <a:t>正压井</a:t>
              </a:r>
              <a:endParaRPr lang="zh-CN" altLang="en-US" sz="900" dirty="0">
                <a:latin typeface="微软雅黑" panose="020B0503020204020204" pitchFamily="34" charset="-122"/>
                <a:ea typeface="微软雅黑" panose="020B0503020204020204" pitchFamily="34" charset="-122"/>
              </a:endParaRPr>
            </a:p>
          </p:txBody>
        </p:sp>
        <p:cxnSp>
          <p:nvCxnSpPr>
            <p:cNvPr id="69" name="直接连接符 68"/>
            <p:cNvCxnSpPr/>
            <p:nvPr/>
          </p:nvCxnSpPr>
          <p:spPr bwMode="auto">
            <a:xfrm flipH="1">
              <a:off x="3746751" y="3824064"/>
              <a:ext cx="243062" cy="410591"/>
            </a:xfrm>
            <a:prstGeom prst="line">
              <a:avLst/>
            </a:prstGeom>
            <a:ln>
              <a:solidFill>
                <a:srgbClr val="00B0F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70" name="直接连接符 69"/>
            <p:cNvCxnSpPr/>
            <p:nvPr/>
          </p:nvCxnSpPr>
          <p:spPr bwMode="auto">
            <a:xfrm flipH="1">
              <a:off x="3819998" y="3849626"/>
              <a:ext cx="243062" cy="410591"/>
            </a:xfrm>
            <a:prstGeom prst="line">
              <a:avLst/>
            </a:prstGeom>
            <a:ln>
              <a:solidFill>
                <a:srgbClr val="00B0F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71" name="直接连接符 70"/>
            <p:cNvCxnSpPr/>
            <p:nvPr/>
          </p:nvCxnSpPr>
          <p:spPr bwMode="auto">
            <a:xfrm flipH="1">
              <a:off x="3873076" y="3890392"/>
              <a:ext cx="243062" cy="410591"/>
            </a:xfrm>
            <a:prstGeom prst="line">
              <a:avLst/>
            </a:prstGeom>
            <a:ln>
              <a:solidFill>
                <a:srgbClr val="00B0F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grpSp>
      <p:sp>
        <p:nvSpPr>
          <p:cNvPr id="64" name="TextBox 5"/>
          <p:cNvSpPr txBox="1">
            <a:spLocks noChangeArrowheads="1"/>
          </p:cNvSpPr>
          <p:nvPr/>
        </p:nvSpPr>
        <p:spPr bwMode="auto">
          <a:xfrm>
            <a:off x="8157845" y="6092190"/>
            <a:ext cx="337820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3130">
              <a:defRPr>
                <a:solidFill>
                  <a:schemeClr val="tx1"/>
                </a:solidFill>
                <a:latin typeface="Calibri" panose="020F0502020204030204" pitchFamily="34" charset="0"/>
                <a:ea typeface="宋体" panose="02010600030101010101" pitchFamily="2" charset="-122"/>
              </a:defRPr>
            </a:lvl1pPr>
            <a:lvl2pPr marL="742950" indent="-285750" defTabSz="913130">
              <a:defRPr>
                <a:solidFill>
                  <a:schemeClr val="tx1"/>
                </a:solidFill>
                <a:latin typeface="Calibri" panose="020F0502020204030204" pitchFamily="34" charset="0"/>
                <a:ea typeface="宋体" panose="02010600030101010101" pitchFamily="2" charset="-122"/>
              </a:defRPr>
            </a:lvl2pPr>
            <a:lvl3pPr marL="1143000" indent="-228600" defTabSz="913130">
              <a:defRPr>
                <a:solidFill>
                  <a:schemeClr val="tx1"/>
                </a:solidFill>
                <a:latin typeface="Calibri" panose="020F0502020204030204" pitchFamily="34" charset="0"/>
                <a:ea typeface="宋体" panose="02010600030101010101" pitchFamily="2" charset="-122"/>
              </a:defRPr>
            </a:lvl3pPr>
            <a:lvl4pPr marL="1600200" indent="-228600" defTabSz="913130">
              <a:defRPr>
                <a:solidFill>
                  <a:schemeClr val="tx1"/>
                </a:solidFill>
                <a:latin typeface="Calibri" panose="020F0502020204030204" pitchFamily="34" charset="0"/>
                <a:ea typeface="宋体" panose="02010600030101010101" pitchFamily="2" charset="-122"/>
              </a:defRPr>
            </a:lvl4pPr>
            <a:lvl5pPr marL="2057400" indent="-228600" defTabSz="91313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3130" rtl="0" eaLnBrk="1" fontAlgn="auto" latinLnBrk="0" hangingPunct="1">
              <a:lnSpc>
                <a:spcPct val="100000"/>
              </a:lnSpc>
              <a:spcBef>
                <a:spcPts val="0"/>
              </a:spcBef>
              <a:spcAft>
                <a:spcPts val="0"/>
              </a:spcAft>
              <a:buClrTx/>
              <a:buSzTx/>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足</a:t>
            </a:r>
            <a:r>
              <a:rPr lang="en-US" altLang="zh-CN" sz="1200" dirty="0">
                <a:solidFill>
                  <a:srgbClr val="000000"/>
                </a:solidFill>
                <a:latin typeface="微软雅黑" panose="020B0503020204020204" pitchFamily="34" charset="-122"/>
                <a:ea typeface="微软雅黑" panose="020B0503020204020204" pitchFamily="34" charset="-122"/>
              </a:rPr>
              <a:t>201H21</a:t>
            </a:r>
            <a:r>
              <a:rPr lang="zh-CN" altLang="en-US" sz="1200" dirty="0">
                <a:solidFill>
                  <a:srgbClr val="000000"/>
                </a:solidFill>
                <a:latin typeface="微软雅黑" panose="020B0503020204020204" pitchFamily="34" charset="-122"/>
                <a:ea typeface="微软雅黑" panose="020B0503020204020204" pitchFamily="34" charset="-122"/>
              </a:rPr>
              <a:t>平台</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区域多级裂缝平面图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7" name="图片 16" descr="图片1"/>
          <p:cNvPicPr>
            <a:picLocks noChangeAspect="1"/>
          </p:cNvPicPr>
          <p:nvPr/>
        </p:nvPicPr>
        <p:blipFill>
          <a:blip r:embed="rId14"/>
          <a:stretch>
            <a:fillRect/>
          </a:stretch>
        </p:blipFill>
        <p:spPr>
          <a:xfrm>
            <a:off x="8157845" y="2691130"/>
            <a:ext cx="3378200" cy="3359785"/>
          </a:xfrm>
          <a:prstGeom prst="rect">
            <a:avLst/>
          </a:prstGeom>
        </p:spPr>
      </p:pic>
      <p:sp>
        <p:nvSpPr>
          <p:cNvPr id="6"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6</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、结合足</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H21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平台地质</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工程情况，评价改造体积评估指标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en-US" altLang="zh-CN" sz="1600" kern="0" dirty="0">
                <a:solidFill>
                  <a:prstClr val="black"/>
                </a:solidFill>
                <a:latin typeface="微软雅黑" panose="020B0503020204020204" pitchFamily="34" charset="-122"/>
                <a:ea typeface="微软雅黑" panose="020B0503020204020204" pitchFamily="34" charset="-122"/>
                <a:sym typeface="+mn-ea"/>
              </a:rPr>
              <a:t>1</a:t>
            </a:r>
            <a:r>
              <a:rPr lang="zh-CN" altLang="en-US" sz="1600" kern="0" dirty="0">
                <a:solidFill>
                  <a:prstClr val="black"/>
                </a:solidFill>
                <a:latin typeface="微软雅黑" panose="020B0503020204020204" pitchFamily="34" charset="-122"/>
                <a:ea typeface="微软雅黑" panose="020B0503020204020204" pitchFamily="34" charset="-122"/>
                <a:sym typeface="+mn-ea"/>
              </a:rPr>
              <a:t>井评分最高、能量最高，但千米</a:t>
            </a:r>
            <a:r>
              <a:rPr lang="en-US" altLang="zh-CN" sz="1600" kern="0" dirty="0">
                <a:solidFill>
                  <a:prstClr val="black"/>
                </a:solidFill>
                <a:latin typeface="微软雅黑" panose="020B0503020204020204" pitchFamily="34" charset="-122"/>
                <a:ea typeface="微软雅黑" panose="020B0503020204020204" pitchFamily="34" charset="-122"/>
                <a:sym typeface="+mn-ea"/>
              </a:rPr>
              <a:t>EUR</a:t>
            </a:r>
            <a:r>
              <a:rPr lang="zh-CN" altLang="en-US" sz="1600" kern="0" dirty="0">
                <a:solidFill>
                  <a:prstClr val="black"/>
                </a:solidFill>
                <a:latin typeface="微软雅黑" panose="020B0503020204020204" pitchFamily="34" charset="-122"/>
                <a:ea typeface="微软雅黑" panose="020B0503020204020204" pitchFamily="34" charset="-122"/>
                <a:sym typeface="+mn-ea"/>
              </a:rPr>
              <a:t>仅为中等水平，说明在某些区域，</a:t>
            </a:r>
            <a:r>
              <a:rPr lang="en-US" altLang="zh-CN" sz="1600" kern="0" dirty="0">
                <a:solidFill>
                  <a:srgbClr val="FF0000"/>
                </a:solidFill>
                <a:latin typeface="微软雅黑" panose="020B0503020204020204" pitchFamily="34" charset="-122"/>
                <a:ea typeface="微软雅黑" panose="020B0503020204020204" pitchFamily="34" charset="-122"/>
                <a:sym typeface="+mn-ea"/>
              </a:rPr>
              <a:t>"</a:t>
            </a:r>
            <a:r>
              <a:rPr lang="zh-CN" altLang="en-US" sz="1600" kern="0" dirty="0">
                <a:solidFill>
                  <a:srgbClr val="FF0000"/>
                </a:solidFill>
                <a:latin typeface="微软雅黑" panose="020B0503020204020204" pitchFamily="34" charset="-122"/>
                <a:ea typeface="微软雅黑" panose="020B0503020204020204" pitchFamily="34" charset="-122"/>
                <a:sym typeface="+mn-ea"/>
              </a:rPr>
              <a:t>拼命压</a:t>
            </a:r>
            <a:r>
              <a:rPr lang="en-US" altLang="zh-CN" sz="1600" kern="0" dirty="0">
                <a:solidFill>
                  <a:srgbClr val="FF0000"/>
                </a:solidFill>
                <a:latin typeface="微软雅黑" panose="020B0503020204020204" pitchFamily="34" charset="-122"/>
                <a:ea typeface="微软雅黑" panose="020B0503020204020204" pitchFamily="34" charset="-122"/>
                <a:sym typeface="+mn-ea"/>
              </a:rPr>
              <a:t>"</a:t>
            </a:r>
            <a:r>
              <a:rPr lang="zh-CN" altLang="en-US" sz="1600" kern="0" dirty="0">
                <a:solidFill>
                  <a:srgbClr val="FF0000"/>
                </a:solidFill>
                <a:latin typeface="微软雅黑" panose="020B0503020204020204" pitchFamily="34" charset="-122"/>
                <a:ea typeface="微软雅黑" panose="020B0503020204020204" pitchFamily="34" charset="-122"/>
                <a:sym typeface="+mn-ea"/>
              </a:rPr>
              <a:t>并不能取得更好的效果</a:t>
            </a:r>
            <a:endParaRPr lang="zh-CN" altLang="en-US" sz="1600" kern="0" dirty="0">
              <a:solidFill>
                <a:srgbClr val="FF0000"/>
              </a:solidFill>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kern="0" dirty="0">
                <a:solidFill>
                  <a:prstClr val="black"/>
                </a:solidFill>
                <a:latin typeface="微软雅黑" panose="020B0503020204020204" pitchFamily="34" charset="-122"/>
                <a:ea typeface="微软雅黑" panose="020B0503020204020204" pitchFamily="34" charset="-122"/>
                <a:sym typeface="+mn-ea"/>
              </a:rPr>
              <a:t>4</a:t>
            </a:r>
            <a:r>
              <a:rPr lang="zh-CN" altLang="en-US" sz="1600" kern="0" dirty="0">
                <a:solidFill>
                  <a:prstClr val="black"/>
                </a:solidFill>
                <a:latin typeface="微软雅黑" panose="020B0503020204020204" pitchFamily="34" charset="-122"/>
                <a:ea typeface="微软雅黑" panose="020B0503020204020204" pitchFamily="34" charset="-122"/>
                <a:sym typeface="+mn-ea"/>
              </a:rPr>
              <a:t>井和</a:t>
            </a:r>
            <a:r>
              <a:rPr lang="en-US" altLang="zh-CN" sz="1600" kern="0" dirty="0">
                <a:solidFill>
                  <a:prstClr val="black"/>
                </a:solidFill>
                <a:latin typeface="微软雅黑" panose="020B0503020204020204" pitchFamily="34" charset="-122"/>
                <a:ea typeface="微软雅黑" panose="020B0503020204020204" pitchFamily="34" charset="-122"/>
                <a:sym typeface="+mn-ea"/>
              </a:rPr>
              <a:t>6</a:t>
            </a:r>
            <a:r>
              <a:rPr lang="zh-CN" altLang="en-US" sz="1600" kern="0" dirty="0">
                <a:solidFill>
                  <a:prstClr val="black"/>
                </a:solidFill>
                <a:latin typeface="微软雅黑" panose="020B0503020204020204" pitchFamily="34" charset="-122"/>
                <a:ea typeface="微软雅黑" panose="020B0503020204020204" pitchFamily="34" charset="-122"/>
                <a:sym typeface="+mn-ea"/>
              </a:rPr>
              <a:t>井是</a:t>
            </a:r>
            <a:r>
              <a:rPr lang="en-US" altLang="zh-CN" sz="1600" kern="0" dirty="0">
                <a:solidFill>
                  <a:prstClr val="black"/>
                </a:solidFill>
                <a:latin typeface="微软雅黑" panose="020B0503020204020204" pitchFamily="34" charset="-122"/>
                <a:ea typeface="微软雅黑" panose="020B0503020204020204" pitchFamily="34" charset="-122"/>
                <a:sym typeface="+mn-ea"/>
              </a:rPr>
              <a:t>"</a:t>
            </a:r>
            <a:r>
              <a:rPr lang="zh-CN" altLang="en-US" sz="1600" kern="0" dirty="0">
                <a:solidFill>
                  <a:prstClr val="black"/>
                </a:solidFill>
                <a:latin typeface="微软雅黑" panose="020B0503020204020204" pitchFamily="34" charset="-122"/>
                <a:ea typeface="微软雅黑" panose="020B0503020204020204" pitchFamily="34" charset="-122"/>
                <a:sym typeface="+mn-ea"/>
              </a:rPr>
              <a:t>低评分高效率</a:t>
            </a:r>
            <a:r>
              <a:rPr lang="en-US" altLang="zh-CN" sz="1600" kern="0" dirty="0">
                <a:solidFill>
                  <a:prstClr val="black"/>
                </a:solidFill>
                <a:latin typeface="微软雅黑" panose="020B0503020204020204" pitchFamily="34" charset="-122"/>
                <a:ea typeface="微软雅黑" panose="020B0503020204020204" pitchFamily="34" charset="-122"/>
                <a:sym typeface="+mn-ea"/>
              </a:rPr>
              <a:t>"</a:t>
            </a:r>
            <a:r>
              <a:rPr lang="zh-CN" altLang="en-US" sz="1600" kern="0" dirty="0">
                <a:solidFill>
                  <a:prstClr val="black"/>
                </a:solidFill>
                <a:latin typeface="微软雅黑" panose="020B0503020204020204" pitchFamily="34" charset="-122"/>
                <a:ea typeface="微软雅黑" panose="020B0503020204020204" pitchFamily="34" charset="-122"/>
                <a:sym typeface="+mn-ea"/>
              </a:rPr>
              <a:t>的典型，用最少的改造能量获得了最高的改造效率，其位置可能存在</a:t>
            </a:r>
            <a:r>
              <a:rPr lang="zh-CN" altLang="en-US" sz="1600" kern="0" dirty="0">
                <a:solidFill>
                  <a:srgbClr val="FF0000"/>
                </a:solidFill>
                <a:latin typeface="微软雅黑" panose="020B0503020204020204" pitchFamily="34" charset="-122"/>
                <a:ea typeface="微软雅黑" panose="020B0503020204020204" pitchFamily="34" charset="-122"/>
                <a:sym typeface="+mn-ea"/>
              </a:rPr>
              <a:t>特殊的有利地质条件</a:t>
            </a:r>
            <a:endParaRPr lang="zh-CN" altLang="en-US" sz="1600" kern="0" dirty="0">
              <a:solidFill>
                <a:prstClr val="black"/>
              </a:solidFill>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kern="0" dirty="0">
                <a:solidFill>
                  <a:prstClr val="black"/>
                </a:solidFill>
                <a:latin typeface="微软雅黑" panose="020B0503020204020204" pitchFamily="34" charset="-122"/>
                <a:ea typeface="微软雅黑" panose="020B0503020204020204" pitchFamily="34" charset="-122"/>
                <a:sym typeface="+mn-ea"/>
              </a:rPr>
              <a:t>该平台千米</a:t>
            </a:r>
            <a:r>
              <a:rPr lang="en-US" altLang="zh-CN" sz="1600" kern="0" dirty="0">
                <a:solidFill>
                  <a:prstClr val="black"/>
                </a:solidFill>
                <a:latin typeface="微软雅黑" panose="020B0503020204020204" pitchFamily="34" charset="-122"/>
                <a:ea typeface="微软雅黑" panose="020B0503020204020204" pitchFamily="34" charset="-122"/>
                <a:sym typeface="+mn-ea"/>
              </a:rPr>
              <a:t>EUR</a:t>
            </a:r>
            <a:r>
              <a:rPr lang="zh-CN" altLang="en-US" sz="1600" kern="0" dirty="0">
                <a:solidFill>
                  <a:prstClr val="black"/>
                </a:solidFill>
                <a:latin typeface="微软雅黑" panose="020B0503020204020204" pitchFamily="34" charset="-122"/>
                <a:ea typeface="微软雅黑" panose="020B0503020204020204" pitchFamily="34" charset="-122"/>
                <a:sym typeface="+mn-ea"/>
              </a:rPr>
              <a:t>均值</a:t>
            </a:r>
            <a:r>
              <a:rPr lang="en-US" altLang="zh-CN" sz="1600" kern="0" dirty="0">
                <a:solidFill>
                  <a:prstClr val="black"/>
                </a:solidFill>
                <a:latin typeface="微软雅黑" panose="020B0503020204020204" pitchFamily="34" charset="-122"/>
                <a:ea typeface="微软雅黑" panose="020B0503020204020204" pitchFamily="34" charset="-122"/>
                <a:sym typeface="+mn-ea"/>
              </a:rPr>
              <a:t>0.5778</a:t>
            </a:r>
            <a:r>
              <a:rPr lang="zh-CN" altLang="en-US" sz="1600" kern="0" dirty="0">
                <a:solidFill>
                  <a:prstClr val="black"/>
                </a:solidFill>
                <a:latin typeface="微软雅黑" panose="020B0503020204020204" pitchFamily="34" charset="-122"/>
                <a:ea typeface="微软雅黑" panose="020B0503020204020204" pitchFamily="34" charset="-122"/>
                <a:sym typeface="+mn-ea"/>
              </a:rPr>
              <a:t>，在</a:t>
            </a:r>
            <a:r>
              <a:rPr lang="en-US" altLang="zh-CN" sz="1600" kern="0" dirty="0">
                <a:solidFill>
                  <a:prstClr val="black"/>
                </a:solidFill>
                <a:latin typeface="微软雅黑" panose="020B0503020204020204" pitchFamily="34" charset="-122"/>
                <a:ea typeface="微软雅黑" panose="020B0503020204020204" pitchFamily="34" charset="-122"/>
                <a:sym typeface="+mn-ea"/>
              </a:rPr>
              <a:t>6</a:t>
            </a:r>
            <a:r>
              <a:rPr lang="zh-CN" altLang="en-US" sz="1600" kern="0" dirty="0">
                <a:solidFill>
                  <a:prstClr val="black"/>
                </a:solidFill>
                <a:latin typeface="微软雅黑" panose="020B0503020204020204" pitchFamily="34" charset="-122"/>
                <a:ea typeface="微软雅黑" panose="020B0503020204020204" pitchFamily="34" charset="-122"/>
                <a:sym typeface="+mn-ea"/>
              </a:rPr>
              <a:t>平台中排名第二（仅次于泸</a:t>
            </a:r>
            <a:r>
              <a:rPr lang="en-US" altLang="zh-CN" sz="1600" kern="0" dirty="0">
                <a:solidFill>
                  <a:prstClr val="black"/>
                </a:solidFill>
                <a:latin typeface="微软雅黑" panose="020B0503020204020204" pitchFamily="34" charset="-122"/>
                <a:ea typeface="微软雅黑" panose="020B0503020204020204" pitchFamily="34" charset="-122"/>
                <a:sym typeface="+mn-ea"/>
              </a:rPr>
              <a:t>206</a:t>
            </a:r>
            <a:r>
              <a:rPr lang="zh-CN" altLang="en-US" sz="1600" kern="0" dirty="0">
                <a:solidFill>
                  <a:prstClr val="black"/>
                </a:solidFill>
                <a:latin typeface="微软雅黑" panose="020B0503020204020204" pitchFamily="34" charset="-122"/>
                <a:ea typeface="微软雅黑" panose="020B0503020204020204" pitchFamily="34" charset="-122"/>
                <a:sym typeface="+mn-ea"/>
              </a:rPr>
              <a:t>井区</a:t>
            </a:r>
            <a:r>
              <a:rPr lang="en-US" altLang="zh-CN" sz="1600" kern="0" dirty="0">
                <a:solidFill>
                  <a:prstClr val="black"/>
                </a:solidFill>
                <a:latin typeface="微软雅黑" panose="020B0503020204020204" pitchFamily="34" charset="-122"/>
                <a:ea typeface="微软雅黑" panose="020B0503020204020204" pitchFamily="34" charset="-122"/>
                <a:sym typeface="+mn-ea"/>
              </a:rPr>
              <a:t>H7</a:t>
            </a:r>
            <a:r>
              <a:rPr lang="zh-CN" altLang="en-US" sz="1600" kern="0" dirty="0">
                <a:solidFill>
                  <a:prstClr val="black"/>
                </a:solidFill>
                <a:latin typeface="微软雅黑" panose="020B0503020204020204" pitchFamily="34" charset="-122"/>
                <a:ea typeface="微软雅黑" panose="020B0503020204020204" pitchFamily="34" charset="-122"/>
                <a:sym typeface="+mn-ea"/>
              </a:rPr>
              <a:t>的</a:t>
            </a:r>
            <a:r>
              <a:rPr lang="en-US" altLang="zh-CN" sz="1600" kern="0" dirty="0">
                <a:solidFill>
                  <a:prstClr val="black"/>
                </a:solidFill>
                <a:latin typeface="微软雅黑" panose="020B0503020204020204" pitchFamily="34" charset="-122"/>
                <a:ea typeface="微软雅黑" panose="020B0503020204020204" pitchFamily="34" charset="-122"/>
                <a:sym typeface="+mn-ea"/>
              </a:rPr>
              <a:t>0.6134</a:t>
            </a:r>
            <a:r>
              <a:rPr lang="zh-CN" altLang="en-US" sz="1600" kern="0" dirty="0">
                <a:solidFill>
                  <a:prstClr val="black"/>
                </a:solidFill>
                <a:latin typeface="微软雅黑" panose="020B0503020204020204" pitchFamily="34" charset="-122"/>
                <a:ea typeface="微软雅黑" panose="020B0503020204020204" pitchFamily="34" charset="-122"/>
                <a:sym typeface="+mn-ea"/>
              </a:rPr>
              <a:t>），</a:t>
            </a:r>
            <a:r>
              <a:rPr lang="zh-CN" altLang="en-US" sz="1600" kern="0" dirty="0">
                <a:solidFill>
                  <a:srgbClr val="FF0000"/>
                </a:solidFill>
                <a:latin typeface="微软雅黑" panose="020B0503020204020204" pitchFamily="34" charset="-122"/>
                <a:ea typeface="微软雅黑" panose="020B0503020204020204" pitchFamily="34" charset="-122"/>
                <a:sym typeface="+mn-ea"/>
              </a:rPr>
              <a:t>整体改造效率较高</a:t>
            </a:r>
            <a:endParaRPr lang="zh-CN" altLang="en-US" sz="1600" kern="0" dirty="0">
              <a:solidFill>
                <a:srgbClr val="FF0000"/>
              </a:solidFill>
              <a:latin typeface="微软雅黑" panose="020B0503020204020204" pitchFamily="34" charset="-122"/>
              <a:ea typeface="微软雅黑" panose="020B0503020204020204" pitchFamily="34" charset="-122"/>
              <a:sym typeface="+mn-ea"/>
            </a:endParaRPr>
          </a:p>
        </p:txBody>
      </p:sp>
      <p:sp>
        <p:nvSpPr>
          <p:cNvPr id="3"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 成果一、基于小波分析施工期压力曲线，揭示裂缝扩展事件响应特征，构建了改造体积微观评估体系</a:t>
            </a:r>
            <a:endParaRPr lang="zh-CN" altLang="en-US"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7" name="TextBox 23"/>
          <p:cNvSpPr>
            <a:spLocks noChangeArrowheads="1"/>
          </p:cNvSpPr>
          <p:nvPr>
            <p:custDataLst>
              <p:tags r:id="rId1"/>
            </p:custDataLst>
          </p:nvPr>
        </p:nvSpPr>
        <p:spPr bwMode="auto">
          <a:xfrm>
            <a:off x="387350" y="6076950"/>
            <a:ext cx="1122997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足</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201</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H21</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平台各井小波分析指标与评分</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8" name="表格 7"/>
          <p:cNvGraphicFramePr/>
          <p:nvPr>
            <p:custDataLst>
              <p:tags r:id="rId2"/>
            </p:custDataLst>
          </p:nvPr>
        </p:nvGraphicFramePr>
        <p:xfrm>
          <a:off x="386080" y="2585720"/>
          <a:ext cx="11231880" cy="3490595"/>
        </p:xfrm>
        <a:graphic>
          <a:graphicData uri="http://schemas.openxmlformats.org/drawingml/2006/table">
            <a:tbl>
              <a:tblPr/>
              <a:tblGrid>
                <a:gridCol w="1403985"/>
                <a:gridCol w="1403985"/>
                <a:gridCol w="1403985"/>
                <a:gridCol w="1403985"/>
                <a:gridCol w="1403985"/>
                <a:gridCol w="1403985"/>
                <a:gridCol w="1403985"/>
                <a:gridCol w="1403985"/>
              </a:tblGrid>
              <a:tr h="763905">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井号</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段数</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主裂缝扩展事件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缝网扩展事件</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裂缝扩展能量</a:t>
                      </a:r>
                      <a:endParaRPr lang="zh-CN" altLang="en-US" sz="1200" b="1" i="0" spc="120">
                        <a:solidFill>
                          <a:schemeClr val="bg1"/>
                        </a:solidFill>
                        <a:latin typeface="微软雅黑" panose="020B0503020204020204" pitchFamily="34" charset="-122"/>
                        <a:ea typeface="微软雅黑" panose="020B0503020204020204" pitchFamily="34" charset="-122"/>
                      </a:endParaRPr>
                    </a:p>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均值</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rPr>
                        <a:t>小波评分</a:t>
                      </a:r>
                      <a:endParaRPr lang="zh-CN" altLang="en-US"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en-US" altLang="zh-CN" sz="1200" b="1" i="0" spc="120">
                          <a:solidFill>
                            <a:schemeClr val="bg1"/>
                          </a:solidFill>
                          <a:latin typeface="微软雅黑" panose="020B0503020204020204" pitchFamily="34" charset="-122"/>
                          <a:ea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lnSpc>
                          <a:spcPct val="120000"/>
                        </a:lnSpc>
                      </a:pPr>
                      <a:r>
                        <a:rPr lang="zh-CN" altLang="en-US"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千米</a:t>
                      </a:r>
                      <a:r>
                        <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EUR</a:t>
                      </a:r>
                      <a:endParaRPr lang="en-US" altLang="zh-CN" sz="1200" b="1" i="0" spc="12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r>
              <a:tr h="38925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1859.3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122.2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501.88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82.16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1.32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0.5764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8989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1792.3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122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475.32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81.72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1.27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0.5587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8925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1772.8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86.6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503.77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81.23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1.27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0.5639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8989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30</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1668.7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109.7</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431.12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80.79</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1.41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0.6486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89255">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1675.2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125.4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460.08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81.63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1.14</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0.5018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89890">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1786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94.6</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472.1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81.01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1.41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0.6173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89255">
                <a:tc>
                  <a:txBody>
                    <a:bodyPr/>
                    <a:p>
                      <a:pPr algn="ctr" fontAlgn="ctr"/>
                      <a:r>
                        <a:rPr lang="zh-CN" altLang="en-US" sz="1200" b="0" i="0">
                          <a:solidFill>
                            <a:srgbClr val="333333"/>
                          </a:solidFill>
                          <a:latin typeface="微软雅黑" panose="020B0503020204020204" pitchFamily="34" charset="-122"/>
                          <a:ea typeface="微软雅黑" panose="020B0503020204020204" pitchFamily="34" charset="-122"/>
                        </a:rPr>
                        <a:t>均值</a:t>
                      </a:r>
                      <a:endParaRPr lang="zh-CN" altLang="en-US"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31.5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1759.1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110.1</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474.05</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81.42</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1.303</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fontAlgn="ctr"/>
                      <a:r>
                        <a:rPr lang="en-US" altLang="zh-CN" sz="1200" b="0" i="0">
                          <a:solidFill>
                            <a:srgbClr val="333333"/>
                          </a:solidFill>
                          <a:latin typeface="微软雅黑" panose="020B0503020204020204" pitchFamily="34" charset="-122"/>
                          <a:ea typeface="微软雅黑" panose="020B0503020204020204" pitchFamily="34" charset="-122"/>
                        </a:rPr>
                        <a:t>0.5778</a:t>
                      </a:r>
                      <a:endParaRPr lang="en-US" altLang="zh-CN" sz="1200" b="0" i="0">
                        <a:solidFill>
                          <a:srgbClr val="333333"/>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44500" y="932815"/>
            <a:ext cx="11360150" cy="1174750"/>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成果二、基于</a:t>
            </a:r>
            <a:r>
              <a:rPr kumimoji="0" lang="en-US" altLang="zh-CN" sz="3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G</a:t>
            </a:r>
            <a:r>
              <a:rPr kumimoji="0" lang="zh-CN" altLang="en-US" sz="3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函数分析停泵期压降曲线，揭示应力干扰下裂缝尺寸规律，构建了改造体积宏观评估体系</a:t>
            </a:r>
            <a:endParaRPr kumimoji="0" lang="zh-CN" altLang="en-US" sz="3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2" name="Text Box 6"/>
          <p:cNvSpPr txBox="1">
            <a:spLocks noChangeArrowheads="1"/>
          </p:cNvSpPr>
          <p:nvPr/>
        </p:nvSpPr>
        <p:spPr bwMode="auto">
          <a:xfrm>
            <a:off x="444500" y="2025650"/>
            <a:ext cx="11360785" cy="3905885"/>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（一）研究背景调研</a:t>
            </a:r>
            <a:endPar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（二）</a:t>
            </a:r>
            <a:r>
              <a:rPr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G</a:t>
            </a:r>
            <a:r>
              <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函数分析模型构建</a:t>
            </a:r>
            <a:endPar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（三）</a:t>
            </a:r>
            <a:r>
              <a:rPr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G</a:t>
            </a:r>
            <a:r>
              <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函数评价指标构建</a:t>
            </a:r>
            <a:endPar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dirty="0">
                <a:solidFill>
                  <a:prstClr val="black"/>
                </a:solidFill>
                <a:latin typeface="微软雅黑" panose="020B0503020204020204" pitchFamily="34" charset="-122"/>
                <a:ea typeface="微软雅黑" panose="020B0503020204020204" pitchFamily="34" charset="-122"/>
                <a:sym typeface="+mn-ea"/>
              </a:rPr>
              <a:t>传统</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函数应用现状及</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存在问题</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18" name="Rectangle 11"/>
          <p:cNvSpPr>
            <a:spLocks noChangeArrowheads="1"/>
          </p:cNvSpPr>
          <p:nvPr/>
        </p:nvSpPr>
        <p:spPr bwMode="auto">
          <a:xfrm>
            <a:off x="376555" y="51118"/>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成果二、基于G函数分析停泵期压降曲线，揭示应力干扰下裂缝尺寸规律，构建了改造体积宏观评估体系</a:t>
            </a:r>
            <a:endPar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sp>
        <p:nvSpPr>
          <p:cNvPr id="21" name="TextBox 2"/>
          <p:cNvSpPr txBox="1">
            <a:spLocks noChangeArrowheads="1"/>
          </p:cNvSpPr>
          <p:nvPr/>
        </p:nvSpPr>
        <p:spPr bwMode="auto">
          <a:xfrm>
            <a:off x="334645" y="1342390"/>
            <a:ext cx="11520170" cy="1301115"/>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停泵期的</a:t>
            </a:r>
            <a:r>
              <a:rPr lang="zh-CN" altLang="en-US" sz="1600" dirty="0">
                <a:solidFill>
                  <a:srgbClr val="FF0000"/>
                </a:solidFill>
                <a:cs typeface="Times New Roman" panose="02020603050405020304" pitchFamily="18" charset="0"/>
              </a:rPr>
              <a:t>压降曲线</a:t>
            </a:r>
            <a:r>
              <a:rPr lang="zh-CN" altLang="en-US" sz="1600" dirty="0">
                <a:cs typeface="Times New Roman" panose="02020603050405020304" pitchFamily="18" charset="0"/>
              </a:rPr>
              <a:t>是反映裂缝闭合和压裂液滤失行为的重要数据载体，对揭示</a:t>
            </a:r>
            <a:r>
              <a:rPr lang="zh-CN" altLang="en-US" sz="1600" dirty="0">
                <a:solidFill>
                  <a:srgbClr val="FF0000"/>
                </a:solidFill>
                <a:cs typeface="Times New Roman" panose="02020603050405020304" pitchFamily="18" charset="0"/>
              </a:rPr>
              <a:t>地层渗流特征和改造效果</a:t>
            </a:r>
            <a:r>
              <a:rPr lang="zh-CN" altLang="en-US" sz="1600" dirty="0">
                <a:cs typeface="Times New Roman" panose="02020603050405020304" pitchFamily="18" charset="0"/>
              </a:rPr>
              <a:t>具有关键意义 </a:t>
            </a:r>
            <a:endParaRPr lang="zh-CN" altLang="en-US" sz="1600" dirty="0">
              <a:cs typeface="Times New Roman" panose="02020603050405020304" pitchFamily="18" charset="0"/>
            </a:endParaRPr>
          </a:p>
          <a:p>
            <a:pPr marL="342265" indent="-342265" fontAlgn="base">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现有行业实践多依赖经验公式或拟合模型分析压降曲线，其应用局限于</a:t>
            </a:r>
            <a:r>
              <a:rPr lang="zh-CN" altLang="en-US" sz="1600" dirty="0">
                <a:solidFill>
                  <a:srgbClr val="FF0000"/>
                </a:solidFill>
                <a:cs typeface="Times New Roman" panose="02020603050405020304" pitchFamily="18" charset="0"/>
              </a:rPr>
              <a:t>闭合压力</a:t>
            </a:r>
            <a:r>
              <a:rPr lang="zh-CN" altLang="en-US" sz="1600" dirty="0">
                <a:cs typeface="Times New Roman" panose="02020603050405020304" pitchFamily="18" charset="0"/>
              </a:rPr>
              <a:t>计算及</a:t>
            </a:r>
            <a:r>
              <a:rPr lang="zh-CN" altLang="en-US" sz="1600" dirty="0">
                <a:solidFill>
                  <a:srgbClr val="FF0000"/>
                </a:solidFill>
                <a:cs typeface="Times New Roman" panose="02020603050405020304" pitchFamily="18" charset="0"/>
              </a:rPr>
              <a:t>裂缝闭合特征</a:t>
            </a:r>
            <a:r>
              <a:rPr lang="zh-CN" altLang="en-US" sz="1600" dirty="0">
                <a:cs typeface="Times New Roman" panose="02020603050405020304" pitchFamily="18" charset="0"/>
              </a:rPr>
              <a:t>识别</a:t>
            </a:r>
            <a:endParaRPr lang="en-US" altLang="zh-CN" sz="1600" dirty="0">
              <a:cs typeface="Times New Roman" panose="02020603050405020304" pitchFamily="18" charset="0"/>
            </a:endParaRPr>
          </a:p>
          <a:p>
            <a:pPr marL="342265" indent="-342265" fontAlgn="base">
              <a:spcBef>
                <a:spcPts val="0"/>
              </a:spcBef>
              <a:spcAft>
                <a:spcPts val="0"/>
              </a:spcAft>
              <a:buFont typeface="Wingdings" panose="05000000000000000000" pitchFamily="2" charset="2"/>
              <a:buChar char="l"/>
              <a:defRPr/>
            </a:pPr>
            <a:r>
              <a:rPr lang="zh-CN" altLang="en-US" dirty="0"/>
              <a:t>裂缝越大、其与地层接触面积越广、滤失越快、压降越急。</a:t>
            </a:r>
            <a:r>
              <a:rPr lang="zh-CN" altLang="en-US" sz="1600" dirty="0"/>
              <a:t>利用压降速率可反推裂缝参数，但目前仍缺乏成熟反演方法。</a:t>
            </a:r>
            <a:endParaRPr lang="zh-CN" altLang="en-US" sz="1600" dirty="0">
              <a:solidFill>
                <a:srgbClr val="FF0000"/>
              </a:solidFill>
              <a:cs typeface="Times New Roman" panose="02020603050405020304" pitchFamily="18" charset="0"/>
            </a:endParaRPr>
          </a:p>
        </p:txBody>
      </p:sp>
      <p:sp>
        <p:nvSpPr>
          <p:cNvPr id="4" name="文本框 38"/>
          <p:cNvSpPr txBox="1"/>
          <p:nvPr>
            <p:custDataLst>
              <p:tags r:id="rId1"/>
            </p:custDataLst>
          </p:nvPr>
        </p:nvSpPr>
        <p:spPr>
          <a:xfrm>
            <a:off x="543560" y="6091555"/>
            <a:ext cx="529018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203H10-1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井第</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9</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段</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停泵期压降曲线</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7" name="图片 26"/>
          <p:cNvPicPr>
            <a:picLocks noChangeAspect="1"/>
          </p:cNvPicPr>
          <p:nvPr>
            <p:custDataLst>
              <p:tags r:id="rId2"/>
            </p:custDataLst>
          </p:nvPr>
        </p:nvPicPr>
        <p:blipFill>
          <a:blip r:embed="rId3"/>
          <a:srcRect t="8" b="8"/>
          <a:stretch>
            <a:fillRect/>
          </a:stretch>
        </p:blipFill>
        <p:spPr>
          <a:xfrm>
            <a:off x="543323" y="2715559"/>
            <a:ext cx="5290657" cy="3148691"/>
          </a:xfrm>
          <a:prstGeom prst="rect">
            <a:avLst/>
          </a:prstGeom>
          <a:ln>
            <a:solidFill>
              <a:schemeClr val="tx1"/>
            </a:solidFill>
          </a:ln>
        </p:spPr>
      </p:pic>
      <p:pic>
        <p:nvPicPr>
          <p:cNvPr id="3" name="图片 2"/>
          <p:cNvPicPr/>
          <p:nvPr/>
        </p:nvPicPr>
        <p:blipFill>
          <a:blip r:embed="rId4"/>
          <a:stretch>
            <a:fillRect/>
          </a:stretch>
        </p:blipFill>
        <p:spPr>
          <a:xfrm>
            <a:off x="6094730" y="2715559"/>
            <a:ext cx="5292000" cy="3150000"/>
          </a:xfrm>
          <a:prstGeom prst="rect">
            <a:avLst/>
          </a:prstGeom>
        </p:spPr>
      </p:pic>
      <p:sp>
        <p:nvSpPr>
          <p:cNvPr id="5" name="文本框 38"/>
          <p:cNvSpPr txBox="1"/>
          <p:nvPr>
            <p:custDataLst>
              <p:tags r:id="rId5"/>
            </p:custDataLst>
          </p:nvPr>
        </p:nvSpPr>
        <p:spPr>
          <a:xfrm>
            <a:off x="6096545" y="6091555"/>
            <a:ext cx="529018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IHS</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WellTest</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软件截图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函数技术国内外研究现状</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graphicFrame>
        <p:nvGraphicFramePr>
          <p:cNvPr id="32" name="表格 31"/>
          <p:cNvGraphicFramePr>
            <a:graphicFrameLocks noGrp="1"/>
          </p:cNvGraphicFramePr>
          <p:nvPr>
            <p:custDataLst>
              <p:tags r:id="rId1"/>
            </p:custDataLst>
          </p:nvPr>
        </p:nvGraphicFramePr>
        <p:xfrm>
          <a:off x="335280" y="1348740"/>
          <a:ext cx="11414125" cy="4608195"/>
        </p:xfrm>
        <a:graphic>
          <a:graphicData uri="http://schemas.openxmlformats.org/drawingml/2006/table">
            <a:tbl>
              <a:tblPr firstRow="1" bandRow="1">
                <a:tableStyleId>{5940675A-B579-460E-94D1-54222C63F5DA}</a:tableStyleId>
              </a:tblPr>
              <a:tblGrid>
                <a:gridCol w="1006475"/>
                <a:gridCol w="1455420"/>
                <a:gridCol w="6765925"/>
                <a:gridCol w="2186305"/>
              </a:tblGrid>
              <a:tr h="283210">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solidFill>
                      <a:srgbClr val="FFC000"/>
                    </a:solidFill>
                  </a:tcPr>
                </a:tc>
                <a:tc>
                  <a:txBody>
                    <a:bodyPr/>
                    <a:lstStyle/>
                    <a:p>
                      <a:pPr algn="ctr">
                        <a:buNone/>
                      </a:pPr>
                      <a:r>
                        <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solidFill>
                      <a:srgbClr val="FFC000"/>
                    </a:solidFill>
                  </a:tcPr>
                </a:tc>
              </a:tr>
              <a:tr h="6667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Guoqing</a:t>
                      </a: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 Liu</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结合 </a:t>
                      </a:r>
                      <a:r>
                        <a:rPr lang="en-US" altLang="zh-CN" sz="12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Bourdet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双对数曲线分析和</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函数曲线拟合模型，分别考虑了常规滤失和非线性滤失两种类型，其中，具体分析了开筒储集效应、尖端延伸和天然裂缝等因素对停泵后压裂液滤失行为的影响</a:t>
                      </a:r>
                      <a:endParaRPr 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拓展到非线性滤失情况</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r>
              <a:tr h="66802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时贤</a:t>
                      </a:r>
                      <a:endPar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考虑多层压裂流量动态分配、缝间应力干扰、射孔摩阻压降损耗，建立了多裂缝同步扩展模型。将缝簇间应力干扰对多裂缝同步扩展的影响以解析式进行了简单表达</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建立多裂缝同步扩展模型</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r>
              <a:tr h="106235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姚志远</a:t>
                      </a:r>
                      <a:endPar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基于停泵后压降曲线建立了评价压裂缝网的复杂度的</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函数分析模型。模型考虑了分支缝和天然裂缝的影响，认为多级分支缝的闭合时间与裂缝规模有关，且主裂缝最后闭合。因此可通过</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函数曲线中的多个拐点特征表征裂缝网络的多次闭合现象，计算闭合时间和对应滤失系数</a:t>
                      </a:r>
                      <a:endParaRPr lang="zh-CN"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引入分支缝和天然裂缝的考量</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r>
              <a:tr h="106299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2019</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0" marR="0" indent="0" algn="ctr" defTabSz="685800" rtl="0" eaLnBrk="1" fontAlgn="auto" latinLnBrk="0" hangingPunct="1">
                        <a:lnSpc>
                          <a:spcPct val="100000"/>
                        </a:lnSpc>
                        <a:spcBef>
                          <a:spcPts val="0"/>
                        </a:spcBef>
                        <a:spcAft>
                          <a:spcPts val="0"/>
                        </a:spcAft>
                        <a:buClrTx/>
                        <a:buSzTx/>
                        <a:buFontTx/>
                        <a:buNone/>
                        <a:defRPr/>
                      </a:pP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周彤</a:t>
                      </a:r>
                      <a:endParaRPr lang="zh-CN"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0" marR="0" indent="0" algn="ctr" defTabSz="685800" rtl="0" eaLnBrk="1" fontAlgn="auto" latinLnBrk="0" hangingPunct="1">
                        <a:lnSpc>
                          <a:spcPct val="100000"/>
                        </a:lnSpc>
                        <a:spcBef>
                          <a:spcPts val="0"/>
                        </a:spcBef>
                        <a:spcAft>
                          <a:spcPts val="0"/>
                        </a:spcAft>
                        <a:buClrTx/>
                        <a:buSzTx/>
                        <a:buFontTx/>
                        <a:buNone/>
                        <a:defRPr/>
                      </a:pPr>
                      <a:endParaRPr lang="zh-CN"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marL="0" marR="0" lvl="0" indent="0" algn="just" defTabSz="1218565" rtl="0" eaLnBrk="1" fontAlgn="auto" latinLnBrk="0" hangingPunct="1">
                        <a:lnSpc>
                          <a:spcPct val="100000"/>
                        </a:lnSpc>
                        <a:spcBef>
                          <a:spcPts val="0"/>
                        </a:spcBef>
                        <a:spcAft>
                          <a:spcPts val="0"/>
                        </a:spcAft>
                        <a:buClrTx/>
                        <a:buSzTx/>
                        <a:buFontTx/>
                        <a:buNone/>
                        <a:defRPr/>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 </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Liu-Economides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模型的基础上提出了一套针对主压裂停泵后压降曲线的分析方法。针对主压裂停泵后的压降曲线，模型先通过压前诊断测试获取地层的滤失系数、裂缝闭合压力，再通过双对数曲线确定</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ISIP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和拟合压力，最后结合 </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PKN</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KGD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或</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Radial</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等裂缝扩展模型，计算水力裂缝长度水力裂缝面积、天然裂缝面积</a:t>
                      </a:r>
                      <a:endParaRPr lang="zh-CN"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marL="0" marR="0" lvl="0" indent="0" algn="ctr" defTabSz="1218565" rtl="0" eaLnBrk="1" fontAlgn="auto" latinLnBrk="0" hangingPunct="1">
                        <a:lnSpc>
                          <a:spcPct val="100000"/>
                        </a:lnSpc>
                        <a:spcBef>
                          <a:spcPts val="0"/>
                        </a:spcBef>
                        <a:spcAft>
                          <a:spcPts val="0"/>
                        </a:spcAft>
                        <a:buClrTx/>
                        <a:buSzTx/>
                        <a:buFontTx/>
                        <a:buNone/>
                        <a:defRPr/>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反演单裂缝宏观几何参数</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algn="ctr">
                        <a:buNone/>
                      </a:pP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r>
              <a:tr h="86487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Guoqing</a:t>
                      </a: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 Liu</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algn="just"/>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首次使用水力压裂处理压力降低数据进行裂缝几何估计。讨论了</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函数模型的适用条件和限制，以及对数图中的</a:t>
                      </a:r>
                      <a:r>
                        <a:rPr lang="en-US" altLang="zh-CN" sz="1200" dirty="0" err="1">
                          <a:latin typeface="Times New Roman" panose="02020603050405020304" pitchFamily="18" charset="0"/>
                          <a:ea typeface="微软雅黑" panose="020B0503020204020204" pitchFamily="34" charset="-122"/>
                          <a:cs typeface="Times New Roman" panose="02020603050405020304" pitchFamily="18" charset="0"/>
                        </a:rPr>
                        <a:t>Bourdet</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导数对主水力裂缝诊断的适用性。对于多裂缝系统，</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Liu</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模型假设每个压裂阶段中每个裂缝的几何形状都相同</a:t>
                      </a:r>
                      <a:endParaRPr lang="zh-CN"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反演简单多裂缝几何参数</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tcPr>
                </a:tc>
              </a:tr>
            </a:tbl>
          </a:graphicData>
        </a:graphic>
      </p:graphicFrame>
      <p:sp>
        <p:nvSpPr>
          <p:cNvPr id="2" name="Rectangle 11"/>
          <p:cNvSpPr>
            <a:spLocks noChangeArrowheads="1"/>
          </p:cNvSpPr>
          <p:nvPr/>
        </p:nvSpPr>
        <p:spPr bwMode="auto">
          <a:xfrm>
            <a:off x="376555" y="51118"/>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成果二、基于G函数分析停泵期压降曲线，揭示应力干扰下裂缝尺寸规律，构建了改造体积宏观评估体系</a:t>
            </a:r>
            <a:endPar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研究思路</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645" y="1342390"/>
            <a:ext cx="11520170" cy="1250315"/>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spcBef>
                <a:spcPts val="0"/>
              </a:spcBef>
              <a:spcAft>
                <a:spcPts val="0"/>
              </a:spcAft>
              <a:buFont typeface="Wingdings" panose="05000000000000000000" pitchFamily="2" charset="2"/>
              <a:buChar char="l"/>
              <a:defRPr/>
            </a:pPr>
            <a:r>
              <a:rPr lang="zh-CN" altLang="en-US" sz="1600" dirty="0">
                <a:solidFill>
                  <a:srgbClr val="FF0000"/>
                </a:solidFill>
                <a:cs typeface="Times New Roman" panose="02020603050405020304" pitchFamily="18" charset="0"/>
              </a:rPr>
              <a:t>识别并去除水锤干扰</a:t>
            </a:r>
            <a:r>
              <a:rPr lang="zh-CN" altLang="en-US" sz="1600" dirty="0">
                <a:cs typeface="Times New Roman" panose="02020603050405020304" pitchFamily="18" charset="0"/>
              </a:rPr>
              <a:t>，停泵瞬间产生水锤效应，造成压力剧烈震荡；采用智能算法精准筛除干扰段，确保后续分析可靠性</a:t>
            </a:r>
            <a:endParaRPr lang="zh-CN" altLang="en-US" sz="1600" dirty="0">
              <a:cs typeface="Times New Roman" panose="02020603050405020304" pitchFamily="18" charset="0"/>
            </a:endParaRPr>
          </a:p>
          <a:p>
            <a:pPr marL="342265" indent="-342265" fontAlgn="base">
              <a:spcBef>
                <a:spcPts val="0"/>
              </a:spcBef>
              <a:spcAft>
                <a:spcPts val="0"/>
              </a:spcAft>
              <a:buFont typeface="Wingdings" panose="05000000000000000000" pitchFamily="2" charset="2"/>
              <a:buChar char="l"/>
              <a:defRPr/>
            </a:pPr>
            <a:r>
              <a:rPr lang="zh-CN" altLang="en-US" sz="1600" dirty="0">
                <a:solidFill>
                  <a:srgbClr val="FF0000"/>
                </a:solidFill>
                <a:cs typeface="Times New Roman" panose="02020603050405020304" pitchFamily="18" charset="0"/>
              </a:rPr>
              <a:t>补全早期缺失数据</a:t>
            </a:r>
            <a:r>
              <a:rPr lang="zh-CN" altLang="en-US" sz="1600" dirty="0">
                <a:cs typeface="Times New Roman" panose="02020603050405020304" pitchFamily="18" charset="0"/>
              </a:rPr>
              <a:t>，早期数据因水锤干扰缺失，根据后续稳定段压力变化规律，采用模型向前推算重建完整曲线</a:t>
            </a:r>
            <a:endParaRPr lang="zh-CN" altLang="en-US" sz="1600" dirty="0">
              <a:cs typeface="Times New Roman" panose="02020603050405020304" pitchFamily="18" charset="0"/>
            </a:endParaRPr>
          </a:p>
          <a:p>
            <a:pPr marL="342265" indent="-342265" fontAlgn="base">
              <a:spcBef>
                <a:spcPts val="0"/>
              </a:spcBef>
              <a:spcAft>
                <a:spcPts val="0"/>
              </a:spcAft>
              <a:buFont typeface="Wingdings" panose="05000000000000000000" pitchFamily="2" charset="2"/>
              <a:buChar char="l"/>
              <a:defRPr/>
            </a:pPr>
            <a:r>
              <a:rPr lang="zh-CN" altLang="en-US" sz="1600" dirty="0">
                <a:solidFill>
                  <a:srgbClr val="FF0000"/>
                </a:solidFill>
                <a:cs typeface="Times New Roman" panose="02020603050405020304" pitchFamily="18" charset="0"/>
              </a:rPr>
              <a:t>识别井段滤失类型</a:t>
            </a:r>
            <a:r>
              <a:rPr lang="zh-CN" altLang="en-US" sz="1600" dirty="0">
                <a:cs typeface="Times New Roman" panose="02020603050405020304" pitchFamily="18" charset="0"/>
              </a:rPr>
              <a:t>，利用</a:t>
            </a:r>
            <a:r>
              <a:rPr lang="en-US" altLang="zh-CN" sz="1600" dirty="0">
                <a:cs typeface="Times New Roman" panose="02020603050405020304" pitchFamily="18" charset="0"/>
              </a:rPr>
              <a:t>G</a:t>
            </a:r>
            <a:r>
              <a:rPr lang="zh-CN" altLang="en-US" sz="1600" dirty="0">
                <a:cs typeface="Times New Roman" panose="02020603050405020304" pitchFamily="18" charset="0"/>
              </a:rPr>
              <a:t>函数分析完整压降数据，绘制</a:t>
            </a:r>
            <a:r>
              <a:rPr lang="en-US" altLang="zh-CN" sz="1600" dirty="0">
                <a:cs typeface="Times New Roman" panose="02020603050405020304" pitchFamily="18" charset="0"/>
              </a:rPr>
              <a:t>GdP/dG-G</a:t>
            </a:r>
            <a:r>
              <a:rPr lang="zh-CN" altLang="en-US" sz="1600" dirty="0">
                <a:cs typeface="Times New Roman" panose="02020603050405020304" pitchFamily="18" charset="0"/>
              </a:rPr>
              <a:t>诊断图版，通过曲线形态特征识别三种典型滤失类型</a:t>
            </a:r>
            <a:endParaRPr lang="en-US" altLang="zh-CN" sz="1600" dirty="0">
              <a:cs typeface="Times New Roman" panose="02020603050405020304" pitchFamily="18" charset="0"/>
            </a:endParaRPr>
          </a:p>
        </p:txBody>
      </p:sp>
      <p:sp>
        <p:nvSpPr>
          <p:cNvPr id="2" name="Rectangle 11"/>
          <p:cNvSpPr>
            <a:spLocks noChangeArrowheads="1"/>
          </p:cNvSpPr>
          <p:nvPr/>
        </p:nvSpPr>
        <p:spPr bwMode="auto">
          <a:xfrm>
            <a:off x="376555" y="51118"/>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成果二、基于G函数分析停泵期压降曲线，揭示应力干扰下裂缝尺寸规律，构建了改造体积宏观评估体系</a:t>
            </a:r>
            <a:endPar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1"/>
          <a:srcRect/>
          <a:stretch>
            <a:fillRect/>
          </a:stretch>
        </p:blipFill>
        <p:spPr>
          <a:xfrm>
            <a:off x="5907405" y="2579370"/>
            <a:ext cx="5878195" cy="3419475"/>
          </a:xfrm>
          <a:prstGeom prst="rect">
            <a:avLst/>
          </a:prstGeom>
        </p:spPr>
      </p:pic>
      <p:pic>
        <p:nvPicPr>
          <p:cNvPr id="5" name="图片 4"/>
          <p:cNvPicPr>
            <a:picLocks noChangeAspect="1"/>
          </p:cNvPicPr>
          <p:nvPr/>
        </p:nvPicPr>
        <p:blipFill>
          <a:blip r:embed="rId2"/>
          <a:stretch>
            <a:fillRect/>
          </a:stretch>
        </p:blipFill>
        <p:spPr>
          <a:xfrm>
            <a:off x="3099435" y="2579370"/>
            <a:ext cx="2808000" cy="3369218"/>
          </a:xfrm>
          <a:prstGeom prst="rect">
            <a:avLst/>
          </a:prstGeom>
        </p:spPr>
      </p:pic>
      <p:pic>
        <p:nvPicPr>
          <p:cNvPr id="7" name="图片 6"/>
          <p:cNvPicPr>
            <a:picLocks noChangeAspect="1"/>
          </p:cNvPicPr>
          <p:nvPr/>
        </p:nvPicPr>
        <p:blipFill>
          <a:blip r:embed="rId3"/>
          <a:stretch>
            <a:fillRect/>
          </a:stretch>
        </p:blipFill>
        <p:spPr>
          <a:xfrm>
            <a:off x="334645" y="2560955"/>
            <a:ext cx="2808000" cy="3370344"/>
          </a:xfrm>
          <a:prstGeom prst="rect">
            <a:avLst/>
          </a:prstGeom>
        </p:spPr>
      </p:pic>
      <p:sp>
        <p:nvSpPr>
          <p:cNvPr id="8" name="文本框 38"/>
          <p:cNvSpPr txBox="1"/>
          <p:nvPr/>
        </p:nvSpPr>
        <p:spPr>
          <a:xfrm>
            <a:off x="430530" y="6091555"/>
            <a:ext cx="547751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实际停泵压力曲线（左）理想停泵压力曲线（右）</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p:nvPr/>
        </p:nvSpPr>
        <p:spPr>
          <a:xfrm>
            <a:off x="786765" y="2707005"/>
            <a:ext cx="796290" cy="2865120"/>
          </a:xfrm>
          <a:prstGeom prst="rect">
            <a:avLst/>
          </a:prstGeom>
          <a:solidFill>
            <a:schemeClr val="accent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0" name="文本框 9"/>
          <p:cNvSpPr txBox="1"/>
          <p:nvPr/>
        </p:nvSpPr>
        <p:spPr>
          <a:xfrm>
            <a:off x="786765" y="2827020"/>
            <a:ext cx="796290" cy="392430"/>
          </a:xfrm>
          <a:prstGeom prst="rect">
            <a:avLst/>
          </a:prstGeom>
          <a:noFill/>
          <a:ln>
            <a:noFill/>
          </a:ln>
        </p:spPr>
        <p:txBody>
          <a:bodyPr wrap="square"/>
          <a:lstStyle/>
          <a:p>
            <a:pPr marL="0" indent="0">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水锤效应</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13" name="矩形 12"/>
          <p:cNvSpPr/>
          <p:nvPr/>
        </p:nvSpPr>
        <p:spPr>
          <a:xfrm>
            <a:off x="1576705" y="2707005"/>
            <a:ext cx="1499235" cy="2864485"/>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4" name="文本框 13"/>
          <p:cNvSpPr txBox="1"/>
          <p:nvPr/>
        </p:nvSpPr>
        <p:spPr>
          <a:xfrm>
            <a:off x="1790700" y="3943350"/>
            <a:ext cx="1089025" cy="392430"/>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阶梯状下降</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15" name="文本框 38"/>
          <p:cNvSpPr txBox="1"/>
          <p:nvPr/>
        </p:nvSpPr>
        <p:spPr>
          <a:xfrm>
            <a:off x="6096000" y="6091555"/>
            <a:ext cx="568960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实际停泵压力曲线转化的</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dP</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dG</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 </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曲线图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15"/>
          <p:cNvSpPr/>
          <p:nvPr/>
        </p:nvSpPr>
        <p:spPr>
          <a:xfrm>
            <a:off x="6408420" y="2707640"/>
            <a:ext cx="1602105" cy="2894330"/>
          </a:xfrm>
          <a:prstGeom prst="rect">
            <a:avLst/>
          </a:prstGeom>
          <a:solidFill>
            <a:schemeClr val="accent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8" name="文本框 17"/>
          <p:cNvSpPr txBox="1"/>
          <p:nvPr/>
        </p:nvSpPr>
        <p:spPr>
          <a:xfrm>
            <a:off x="6728791" y="2986405"/>
            <a:ext cx="1281734" cy="716280"/>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信号干扰区</a:t>
            </a:r>
            <a:endParaRPr lang="zh-CN" altLang="en-US" sz="1200" b="1" dirty="0">
              <a:solidFill>
                <a:srgbClr val="FF0000"/>
              </a:solidFill>
              <a:latin typeface="微软雅黑" panose="020B0503020204020204" pitchFamily="34" charset="-122"/>
              <a:ea typeface="微软雅黑" panose="020B0503020204020204" pitchFamily="34" charset="-122"/>
            </a:endParaRPr>
          </a:p>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（水锤效应干扰）</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cxnSp>
        <p:nvCxnSpPr>
          <p:cNvPr id="21" name="直接箭头连接符 20"/>
          <p:cNvCxnSpPr/>
          <p:nvPr/>
        </p:nvCxnSpPr>
        <p:spPr>
          <a:xfrm flipH="1">
            <a:off x="8608060" y="4596765"/>
            <a:ext cx="406400" cy="86360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22" name="直接箭头连接符 21"/>
          <p:cNvCxnSpPr/>
          <p:nvPr/>
        </p:nvCxnSpPr>
        <p:spPr>
          <a:xfrm>
            <a:off x="9044940" y="4605655"/>
            <a:ext cx="75565" cy="83947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23" name="直接箭头连接符 22"/>
          <p:cNvCxnSpPr/>
          <p:nvPr/>
        </p:nvCxnSpPr>
        <p:spPr>
          <a:xfrm>
            <a:off x="9069070" y="4601210"/>
            <a:ext cx="479425" cy="843915"/>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24" name="文本框 23"/>
          <p:cNvSpPr txBox="1"/>
          <p:nvPr/>
        </p:nvSpPr>
        <p:spPr>
          <a:xfrm>
            <a:off x="8344163" y="3857942"/>
            <a:ext cx="1562154" cy="593725"/>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导数值长时间为</a:t>
            </a:r>
            <a:r>
              <a:rPr lang="en-US" altLang="zh-CN" sz="1200" b="1" dirty="0">
                <a:solidFill>
                  <a:srgbClr val="FF0000"/>
                </a:solidFill>
                <a:latin typeface="微软雅黑" panose="020B0503020204020204" pitchFamily="34" charset="-122"/>
                <a:ea typeface="微软雅黑" panose="020B0503020204020204" pitchFamily="34" charset="-122"/>
              </a:rPr>
              <a:t>0</a:t>
            </a:r>
            <a:br>
              <a:rPr lang="en-US" altLang="zh-CN" sz="1200" b="1" dirty="0">
                <a:solidFill>
                  <a:srgbClr val="FF0000"/>
                </a:solidFill>
                <a:latin typeface="微软雅黑" panose="020B0503020204020204" pitchFamily="34" charset="-122"/>
                <a:ea typeface="微软雅黑" panose="020B0503020204020204" pitchFamily="34" charset="-122"/>
              </a:rPr>
            </a:br>
            <a:r>
              <a:rPr lang="zh-CN" altLang="en-US" sz="1200" b="1" dirty="0">
                <a:solidFill>
                  <a:srgbClr val="FF0000"/>
                </a:solidFill>
                <a:latin typeface="微软雅黑" panose="020B0503020204020204" pitchFamily="34" charset="-122"/>
                <a:ea typeface="微软雅黑" panose="020B0503020204020204" pitchFamily="34" charset="-122"/>
              </a:rPr>
              <a:t>（压力停台阶）</a:t>
            </a:r>
            <a:endParaRPr lang="en-US" altLang="zh-CN" sz="1200" b="1" dirty="0">
              <a:solidFill>
                <a:srgbClr val="FF0000"/>
              </a:solidFill>
              <a:latin typeface="微软雅黑" panose="020B0503020204020204" pitchFamily="34" charset="-122"/>
              <a:ea typeface="微软雅黑" panose="020B0503020204020204" pitchFamily="34" charset="-122"/>
            </a:endParaRPr>
          </a:p>
        </p:txBody>
      </p:sp>
      <p:sp>
        <p:nvSpPr>
          <p:cNvPr id="25" name="矩形 24"/>
          <p:cNvSpPr/>
          <p:nvPr/>
        </p:nvSpPr>
        <p:spPr>
          <a:xfrm>
            <a:off x="10355580" y="5348605"/>
            <a:ext cx="359410" cy="15875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26" name="矩形 25"/>
          <p:cNvSpPr/>
          <p:nvPr/>
        </p:nvSpPr>
        <p:spPr>
          <a:xfrm>
            <a:off x="9793605" y="5348605"/>
            <a:ext cx="225425" cy="15875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28" name="矩形 27"/>
          <p:cNvSpPr/>
          <p:nvPr/>
        </p:nvSpPr>
        <p:spPr>
          <a:xfrm>
            <a:off x="10975975" y="5348605"/>
            <a:ext cx="347980" cy="15875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29" name="文本框 28"/>
          <p:cNvSpPr txBox="1"/>
          <p:nvPr/>
        </p:nvSpPr>
        <p:spPr>
          <a:xfrm>
            <a:off x="10019030" y="4594860"/>
            <a:ext cx="1229360" cy="716280"/>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导数值突变</a:t>
            </a:r>
            <a:endParaRPr lang="en-US" altLang="zh-CN" sz="1200" b="1" dirty="0">
              <a:solidFill>
                <a:srgbClr val="FF0000"/>
              </a:solidFill>
              <a:latin typeface="微软雅黑" panose="020B0503020204020204" pitchFamily="34" charset="-122"/>
              <a:ea typeface="微软雅黑" panose="020B0503020204020204" pitchFamily="34" charset="-122"/>
            </a:endParaRPr>
          </a:p>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（压力下台阶）</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4260850" y="3943032"/>
            <a:ext cx="1089025" cy="392430"/>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平滑下降</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51118"/>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成果二、基于G函数分析停泵期压降曲线，揭示应力干扰下裂缝尺寸规律，构建了改造体积宏观评估体系</a:t>
            </a:r>
            <a:endPar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pic>
        <p:nvPicPr>
          <p:cNvPr id="45" name="图片 44"/>
          <p:cNvPicPr>
            <a:picLocks noChangeAspect="1"/>
          </p:cNvPicPr>
          <p:nvPr>
            <p:custDataLst>
              <p:tags r:id="rId1"/>
            </p:custDataLst>
          </p:nvPr>
        </p:nvPicPr>
        <p:blipFill>
          <a:blip r:embed="rId2"/>
          <a:srcRect t="9125" b="9125"/>
          <a:stretch>
            <a:fillRect/>
          </a:stretch>
        </p:blipFill>
        <p:spPr>
          <a:xfrm>
            <a:off x="8148506" y="4806313"/>
            <a:ext cx="2044800" cy="1008000"/>
          </a:xfrm>
          <a:prstGeom prst="rect">
            <a:avLst/>
          </a:prstGeom>
        </p:spPr>
      </p:pic>
      <p:pic>
        <p:nvPicPr>
          <p:cNvPr id="41" name="图片 40" descr="G_P_data_18_analysis"/>
          <p:cNvPicPr>
            <a:picLocks noChangeAspect="1"/>
          </p:cNvPicPr>
          <p:nvPr/>
        </p:nvPicPr>
        <p:blipFill>
          <a:blip r:embed="rId3"/>
          <a:stretch>
            <a:fillRect/>
          </a:stretch>
        </p:blipFill>
        <p:spPr>
          <a:xfrm>
            <a:off x="4258310" y="3189605"/>
            <a:ext cx="3625215" cy="2175510"/>
          </a:xfrm>
          <a:prstGeom prst="rect">
            <a:avLst/>
          </a:prstGeom>
        </p:spPr>
      </p:pic>
      <p:pic>
        <p:nvPicPr>
          <p:cNvPr id="38" name="图片 37"/>
          <p:cNvPicPr>
            <a:picLocks noChangeAspect="1"/>
          </p:cNvPicPr>
          <p:nvPr/>
        </p:nvPicPr>
        <p:blipFill>
          <a:blip r:embed="rId4"/>
          <a:stretch>
            <a:fillRect/>
          </a:stretch>
        </p:blipFill>
        <p:spPr>
          <a:xfrm>
            <a:off x="146685" y="2896235"/>
            <a:ext cx="4165600" cy="2465070"/>
          </a:xfrm>
          <a:prstGeom prst="rect">
            <a:avLst/>
          </a:prstGeom>
        </p:spPr>
      </p:pic>
      <p:sp>
        <p:nvSpPr>
          <p:cNvPr id="6" name="矩形 5"/>
          <p:cNvSpPr/>
          <p:nvPr/>
        </p:nvSpPr>
        <p:spPr>
          <a:xfrm>
            <a:off x="429601" y="811428"/>
            <a:ext cx="11762399" cy="457433"/>
          </a:xfrm>
          <a:prstGeom prst="rect">
            <a:avLst/>
          </a:prstGeom>
          <a:noFill/>
          <a:ln>
            <a:noFill/>
          </a:ln>
        </p:spPr>
        <p:txBody>
          <a:bodyPr wrap="square">
            <a:spAutoFit/>
          </a:bodyPr>
          <a:lstStyle/>
          <a:p>
            <a:pPr marL="804545" marR="0" indent="-804545" algn="l" rtl="0" eaLnBrk="1" fontAlgn="auto" latinLnBrk="0" hangingPunct="1">
              <a:lnSpc>
                <a:spcPct val="150000"/>
              </a:lnSpc>
            </a:pPr>
            <a:r>
              <a:rPr lang="en-US" altLang="zh-CN" dirty="0">
                <a:solidFill>
                  <a:srgbClr val="000000"/>
                </a:solidFill>
                <a:latin typeface="微软雅黑" panose="020B0503020204020204" pitchFamily="34" charset="-122"/>
                <a:ea typeface="微软雅黑" panose="020B0503020204020204" pitchFamily="34" charset="-122"/>
              </a:rPr>
              <a:t>1</a:t>
            </a:r>
            <a:r>
              <a:rPr lang="zh-CN" altLang="zh-CN" sz="1800" kern="1200" dirty="0">
                <a:ln>
                  <a:noFill/>
                </a:ln>
                <a:solidFill>
                  <a:srgbClr val="000000"/>
                </a:solidFill>
                <a:effectLst/>
                <a:latin typeface="微软雅黑" panose="020B0503020204020204" pitchFamily="34" charset="-122"/>
                <a:ea typeface="微软雅黑" panose="020B0503020204020204" pitchFamily="34" charset="-122"/>
                <a:cs typeface="+mn-cs"/>
              </a:rPr>
              <a:t>、基于G函数理论，建立了识别不同滤失类型的诊断图版和分析流程</a:t>
            </a:r>
            <a:endParaRPr lang="zh-CN" altLang="zh-CN" dirty="0">
              <a:effectLst/>
            </a:endParaRPr>
          </a:p>
        </p:txBody>
      </p:sp>
      <p:sp>
        <p:nvSpPr>
          <p:cNvPr id="11" name="TextBox 2"/>
          <p:cNvSpPr txBox="1">
            <a:spLocks noChangeArrowheads="1"/>
          </p:cNvSpPr>
          <p:nvPr/>
        </p:nvSpPr>
        <p:spPr bwMode="auto">
          <a:xfrm>
            <a:off x="334962" y="1348799"/>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spcBef>
                <a:spcPts val="0"/>
              </a:spcBef>
              <a:spcAft>
                <a:spcPts val="0"/>
              </a:spcAft>
              <a:buFont typeface="Wingdings" panose="05000000000000000000" pitchFamily="2" charset="2"/>
              <a:buChar char="l"/>
              <a:defRPr/>
            </a:pPr>
            <a:r>
              <a:rPr lang="zh-CN" altLang="en-US" sz="1600" dirty="0" err="1">
                <a:cs typeface="Times New Roman" panose="02020603050405020304" pitchFamily="18" charset="0"/>
                <a:sym typeface="+mn-ea"/>
              </a:rPr>
              <a:t>首先，对压裂施工曲线</a:t>
            </a:r>
            <a:r>
              <a:rPr lang="zh-CN" altLang="en-US" sz="1600" dirty="0" err="1">
                <a:solidFill>
                  <a:srgbClr val="FF0000"/>
                </a:solidFill>
                <a:cs typeface="Times New Roman" panose="02020603050405020304" pitchFamily="18" charset="0"/>
                <a:sym typeface="+mn-ea"/>
              </a:rPr>
              <a:t>水锤特征</a:t>
            </a:r>
            <a:r>
              <a:rPr lang="zh-CN" altLang="en-US" sz="1600" dirty="0" err="1">
                <a:cs typeface="Times New Roman" panose="02020603050405020304" pitchFamily="18" charset="0"/>
                <a:sym typeface="+mn-ea"/>
              </a:rPr>
              <a:t>进行精准筛选，</a:t>
            </a:r>
            <a:r>
              <a:rPr sz="1600" dirty="0" err="1">
                <a:cs typeface="Times New Roman" panose="02020603050405020304" pitchFamily="18" charset="0"/>
                <a:sym typeface="+mn-ea"/>
              </a:rPr>
              <a:t>通过数据降噪和</a:t>
            </a:r>
            <a:r>
              <a:rPr sz="1600" dirty="0" err="1">
                <a:solidFill>
                  <a:srgbClr val="FF0000"/>
                </a:solidFill>
                <a:cs typeface="Times New Roman" panose="02020603050405020304" pitchFamily="18" charset="0"/>
                <a:sym typeface="+mn-ea"/>
              </a:rPr>
              <a:t>曲线平滑</a:t>
            </a:r>
            <a:r>
              <a:rPr sz="1600" dirty="0" err="1">
                <a:cs typeface="Times New Roman" panose="02020603050405020304" pitchFamily="18" charset="0"/>
                <a:sym typeface="+mn-ea"/>
              </a:rPr>
              <a:t>处理，确保</a:t>
            </a:r>
            <a:r>
              <a:rPr lang="zh-CN" sz="1600" dirty="0" err="1">
                <a:cs typeface="Times New Roman" panose="02020603050405020304" pitchFamily="18" charset="0"/>
                <a:sym typeface="+mn-ea"/>
              </a:rPr>
              <a:t>后续</a:t>
            </a:r>
            <a:r>
              <a:rPr sz="1600" dirty="0" err="1">
                <a:cs typeface="Times New Roman" panose="02020603050405020304" pitchFamily="18" charset="0"/>
                <a:sym typeface="+mn-ea"/>
              </a:rPr>
              <a:t>G函数分析的</a:t>
            </a:r>
            <a:r>
              <a:rPr lang="zh-CN" sz="1600" dirty="0" err="1">
                <a:cs typeface="Times New Roman" panose="02020603050405020304" pitchFamily="18" charset="0"/>
                <a:sym typeface="+mn-ea"/>
              </a:rPr>
              <a:t>准确性、可靠性</a:t>
            </a:r>
            <a:endParaRPr lang="zh-CN" sz="1600" dirty="0" err="1">
              <a:cs typeface="Times New Roman" panose="02020603050405020304" pitchFamily="18" charset="0"/>
              <a:sym typeface="+mn-ea"/>
            </a:endParaRPr>
          </a:p>
          <a:p>
            <a:pPr marL="342265" indent="-342265" fontAlgn="base">
              <a:spcBef>
                <a:spcPts val="0"/>
              </a:spcBef>
              <a:spcAft>
                <a:spcPts val="0"/>
              </a:spcAft>
              <a:buFont typeface="Wingdings" panose="05000000000000000000" pitchFamily="2" charset="2"/>
              <a:buChar char="l"/>
              <a:defRPr/>
            </a:pPr>
            <a:r>
              <a:rPr sz="1600" dirty="0">
                <a:solidFill>
                  <a:schemeClr val="tx1"/>
                </a:solidFill>
                <a:cs typeface="Times New Roman" panose="02020603050405020304" pitchFamily="18" charset="0"/>
              </a:rPr>
              <a:t>基于平滑曲线数据，精确绘制</a:t>
            </a:r>
            <a:r>
              <a:rPr sz="1600" dirty="0">
                <a:solidFill>
                  <a:srgbClr val="FF0000"/>
                </a:solidFill>
                <a:cs typeface="Times New Roman" panose="02020603050405020304" pitchFamily="18" charset="0"/>
              </a:rPr>
              <a:t>Gdp/dg-G函数关系图</a:t>
            </a:r>
            <a:r>
              <a:rPr sz="1600" dirty="0">
                <a:solidFill>
                  <a:schemeClr val="tx1"/>
                </a:solidFill>
                <a:cs typeface="Times New Roman" panose="02020603050405020304" pitchFamily="18" charset="0"/>
              </a:rPr>
              <a:t>，为后续各</a:t>
            </a:r>
            <a:r>
              <a:rPr lang="zh-CN" sz="1600" dirty="0">
                <a:solidFill>
                  <a:schemeClr val="tx1"/>
                </a:solidFill>
                <a:cs typeface="Times New Roman" panose="02020603050405020304" pitchFamily="18" charset="0"/>
              </a:rPr>
              <a:t>种滤失类型</a:t>
            </a:r>
            <a:r>
              <a:rPr sz="1600" dirty="0">
                <a:solidFill>
                  <a:schemeClr val="tx1"/>
                </a:solidFill>
                <a:cs typeface="Times New Roman" panose="02020603050405020304" pitchFamily="18" charset="0"/>
              </a:rPr>
              <a:t>的判断与识别提供了可视化分析基础</a:t>
            </a:r>
            <a:endParaRPr sz="1600" dirty="0">
              <a:solidFill>
                <a:schemeClr val="tx1"/>
              </a:solidFill>
              <a:cs typeface="Times New Roman" panose="02020603050405020304" pitchFamily="18" charset="0"/>
            </a:endParaRPr>
          </a:p>
          <a:p>
            <a:pPr marL="342265" indent="-342265" fontAlgn="base">
              <a:spcBef>
                <a:spcPts val="0"/>
              </a:spcBef>
              <a:spcAft>
                <a:spcPts val="0"/>
              </a:spcAft>
              <a:buFont typeface="Wingdings" panose="05000000000000000000" pitchFamily="2" charset="2"/>
              <a:buChar char="l"/>
              <a:defRPr/>
            </a:pPr>
            <a:r>
              <a:rPr sz="1600" dirty="0">
                <a:solidFill>
                  <a:schemeClr val="tx1"/>
                </a:solidFill>
                <a:cs typeface="Times New Roman" panose="02020603050405020304" pitchFamily="18" charset="0"/>
              </a:rPr>
              <a:t>根据Gdp/dg-G曲线图上的曲线</a:t>
            </a:r>
            <a:r>
              <a:rPr lang="zh-CN" sz="1600" dirty="0">
                <a:solidFill>
                  <a:schemeClr val="tx1"/>
                </a:solidFill>
                <a:cs typeface="Times New Roman" panose="02020603050405020304" pitchFamily="18" charset="0"/>
              </a:rPr>
              <a:t>特征</a:t>
            </a:r>
            <a:r>
              <a:rPr sz="1600" dirty="0">
                <a:solidFill>
                  <a:schemeClr val="tx1"/>
                </a:solidFill>
                <a:cs typeface="Times New Roman" panose="02020603050405020304" pitchFamily="18" charset="0"/>
              </a:rPr>
              <a:t>，系统解释并分类不同</a:t>
            </a:r>
            <a:r>
              <a:rPr sz="1600" dirty="0">
                <a:solidFill>
                  <a:srgbClr val="FF0000"/>
                </a:solidFill>
                <a:cs typeface="Times New Roman" panose="02020603050405020304" pitchFamily="18" charset="0"/>
              </a:rPr>
              <a:t>滤失类型</a:t>
            </a:r>
            <a:r>
              <a:rPr sz="1600" dirty="0">
                <a:solidFill>
                  <a:schemeClr val="tx1"/>
                </a:solidFill>
                <a:cs typeface="Times New Roman" panose="02020603050405020304" pitchFamily="18" charset="0"/>
              </a:rPr>
              <a:t>，</a:t>
            </a:r>
            <a:r>
              <a:rPr lang="zh-CN" sz="1600" dirty="0">
                <a:solidFill>
                  <a:schemeClr val="tx1"/>
                </a:solidFill>
                <a:cs typeface="Times New Roman" panose="02020603050405020304" pitchFamily="18" charset="0"/>
              </a:rPr>
              <a:t>明确研究区域的</a:t>
            </a:r>
            <a:r>
              <a:rPr lang="zh-CN" sz="1600" dirty="0">
                <a:solidFill>
                  <a:srgbClr val="FF0000"/>
                </a:solidFill>
                <a:cs typeface="Times New Roman" panose="02020603050405020304" pitchFamily="18" charset="0"/>
              </a:rPr>
              <a:t>滤失机制</a:t>
            </a:r>
            <a:endParaRPr lang="zh-CN" sz="1600" dirty="0">
              <a:solidFill>
                <a:srgbClr val="FF0000"/>
              </a:solidFill>
              <a:cs typeface="Times New Roman" panose="02020603050405020304" pitchFamily="18" charset="0"/>
            </a:endParaRPr>
          </a:p>
        </p:txBody>
      </p:sp>
      <p:grpSp>
        <p:nvGrpSpPr>
          <p:cNvPr id="12" name="组合 11"/>
          <p:cNvGrpSpPr/>
          <p:nvPr/>
        </p:nvGrpSpPr>
        <p:grpSpPr>
          <a:xfrm>
            <a:off x="375920" y="2640965"/>
            <a:ext cx="11344274" cy="3818890"/>
            <a:chOff x="554540" y="1573380"/>
            <a:chExt cx="9498245" cy="3091257"/>
          </a:xfrm>
        </p:grpSpPr>
        <p:grpSp>
          <p:nvGrpSpPr>
            <p:cNvPr id="17" name="组合 16"/>
            <p:cNvGrpSpPr/>
            <p:nvPr/>
          </p:nvGrpSpPr>
          <p:grpSpPr>
            <a:xfrm>
              <a:off x="554540" y="1573380"/>
              <a:ext cx="9492929" cy="2578718"/>
              <a:chOff x="506413" y="4300538"/>
              <a:chExt cx="9492929" cy="2578718"/>
            </a:xfrm>
          </p:grpSpPr>
          <p:sp>
            <p:nvSpPr>
              <p:cNvPr id="63" name="矩形 62"/>
              <p:cNvSpPr/>
              <p:nvPr/>
            </p:nvSpPr>
            <p:spPr>
              <a:xfrm>
                <a:off x="506413" y="4300538"/>
                <a:ext cx="3014148" cy="256839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p>
            </p:txBody>
          </p:sp>
          <p:sp>
            <p:nvSpPr>
              <p:cNvPr id="60" name="矩形 59"/>
              <p:cNvSpPr/>
              <p:nvPr/>
            </p:nvSpPr>
            <p:spPr>
              <a:xfrm>
                <a:off x="3771683" y="4310863"/>
                <a:ext cx="3014148" cy="256839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p>
            </p:txBody>
          </p:sp>
          <p:sp>
            <p:nvSpPr>
              <p:cNvPr id="19" name="矩形 18"/>
              <p:cNvSpPr/>
              <p:nvPr/>
            </p:nvSpPr>
            <p:spPr>
              <a:xfrm>
                <a:off x="6985194" y="4300539"/>
                <a:ext cx="3014148" cy="2568386"/>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p>
            </p:txBody>
          </p:sp>
        </p:grpSp>
        <p:sp>
          <p:nvSpPr>
            <p:cNvPr id="27" name="箭头: 右 9"/>
            <p:cNvSpPr/>
            <p:nvPr/>
          </p:nvSpPr>
          <p:spPr>
            <a:xfrm>
              <a:off x="3619573" y="2641389"/>
              <a:ext cx="183955" cy="272326"/>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31" name="矩形 30"/>
            <p:cNvSpPr/>
            <p:nvPr/>
          </p:nvSpPr>
          <p:spPr>
            <a:xfrm>
              <a:off x="555072" y="4366511"/>
              <a:ext cx="3013493" cy="29812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zh-CN" altLang="en-US" dirty="0">
                  <a:solidFill>
                    <a:srgbClr val="0000FF"/>
                  </a:solidFill>
                  <a:latin typeface="黑体" panose="02010609060101010101" charset="-122"/>
                  <a:ea typeface="黑体" panose="02010609060101010101" charset="-122"/>
                </a:rPr>
                <a:t>压降曲线平滑</a:t>
              </a:r>
              <a:endParaRPr lang="zh-CN" altLang="en-US" dirty="0">
                <a:solidFill>
                  <a:srgbClr val="0000FF"/>
                </a:solidFill>
                <a:latin typeface="黑体" panose="02010609060101010101" charset="-122"/>
                <a:ea typeface="黑体" panose="02010609060101010101" charset="-122"/>
              </a:endParaRPr>
            </a:p>
          </p:txBody>
        </p:sp>
        <p:sp>
          <p:nvSpPr>
            <p:cNvPr id="32" name="矩形 31"/>
            <p:cNvSpPr/>
            <p:nvPr/>
          </p:nvSpPr>
          <p:spPr>
            <a:xfrm>
              <a:off x="3820575" y="4366511"/>
              <a:ext cx="3019873" cy="29812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rgbClr val="0000FF"/>
                  </a:solidFill>
                  <a:latin typeface="黑体" panose="02010609060101010101" charset="-122"/>
                  <a:ea typeface="黑体" panose="02010609060101010101" charset="-122"/>
                </a:rPr>
                <a:t>绘制</a:t>
              </a:r>
              <a:r>
                <a:rPr lang="en-US" altLang="zh-CN" dirty="0">
                  <a:solidFill>
                    <a:srgbClr val="0000FF"/>
                  </a:solidFill>
                  <a:latin typeface="黑体" panose="02010609060101010101" charset="-122"/>
                  <a:ea typeface="黑体" panose="02010609060101010101" charset="-122"/>
                </a:rPr>
                <a:t>Gdp/dg-G</a:t>
              </a:r>
              <a:r>
                <a:rPr lang="zh-CN" altLang="en-US" dirty="0">
                  <a:solidFill>
                    <a:srgbClr val="0000FF"/>
                  </a:solidFill>
                  <a:latin typeface="黑体" panose="02010609060101010101" charset="-122"/>
                  <a:ea typeface="黑体" panose="02010609060101010101" charset="-122"/>
                </a:rPr>
                <a:t>图</a:t>
              </a:r>
              <a:endParaRPr lang="zh-CN" altLang="en-US" dirty="0">
                <a:solidFill>
                  <a:srgbClr val="0000FF"/>
                </a:solidFill>
                <a:latin typeface="黑体" panose="02010609060101010101" charset="-122"/>
                <a:ea typeface="黑体" panose="02010609060101010101" charset="-122"/>
              </a:endParaRPr>
            </a:p>
          </p:txBody>
        </p:sp>
        <p:sp>
          <p:nvSpPr>
            <p:cNvPr id="33" name="矩形 32"/>
            <p:cNvSpPr/>
            <p:nvPr/>
          </p:nvSpPr>
          <p:spPr>
            <a:xfrm>
              <a:off x="7032912" y="4366511"/>
              <a:ext cx="3019873" cy="29812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rgbClr val="0000FF"/>
                  </a:solidFill>
                  <a:latin typeface="黑体" panose="02010609060101010101" charset="-122"/>
                  <a:ea typeface="黑体" panose="02010609060101010101" charset="-122"/>
                </a:rPr>
                <a:t>滤失类型解释</a:t>
              </a:r>
              <a:endParaRPr lang="zh-CN" altLang="en-US" dirty="0">
                <a:solidFill>
                  <a:srgbClr val="0000FF"/>
                </a:solidFill>
                <a:latin typeface="黑体" panose="02010609060101010101" charset="-122"/>
                <a:ea typeface="黑体" panose="02010609060101010101" charset="-122"/>
              </a:endParaRPr>
            </a:p>
          </p:txBody>
        </p:sp>
      </p:grpSp>
      <p:sp>
        <p:nvSpPr>
          <p:cNvPr id="40" name="箭头: 右 9"/>
          <p:cNvSpPr/>
          <p:nvPr/>
        </p:nvSpPr>
        <p:spPr>
          <a:xfrm>
            <a:off x="7936230" y="444309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pic>
        <p:nvPicPr>
          <p:cNvPr id="43" name="图片 42"/>
          <p:cNvPicPr>
            <a:picLocks noChangeAspect="1"/>
          </p:cNvPicPr>
          <p:nvPr>
            <p:custDataLst>
              <p:tags r:id="rId5"/>
            </p:custDataLst>
          </p:nvPr>
        </p:nvPicPr>
        <p:blipFill>
          <a:blip r:embed="rId6"/>
          <a:srcRect t="9096" b="9096"/>
          <a:stretch>
            <a:fillRect/>
          </a:stretch>
        </p:blipFill>
        <p:spPr>
          <a:xfrm>
            <a:off x="8155940" y="2815145"/>
            <a:ext cx="2044800" cy="1008000"/>
          </a:xfrm>
          <a:prstGeom prst="rect">
            <a:avLst/>
          </a:prstGeom>
        </p:spPr>
      </p:pic>
      <p:pic>
        <p:nvPicPr>
          <p:cNvPr id="44" name="图片 43"/>
          <p:cNvPicPr>
            <a:picLocks noChangeAspect="1"/>
          </p:cNvPicPr>
          <p:nvPr>
            <p:custDataLst>
              <p:tags r:id="rId7"/>
            </p:custDataLst>
          </p:nvPr>
        </p:nvPicPr>
        <p:blipFill>
          <a:blip r:embed="rId8"/>
          <a:srcRect t="9125" b="9125"/>
          <a:stretch>
            <a:fillRect/>
          </a:stretch>
        </p:blipFill>
        <p:spPr>
          <a:xfrm>
            <a:off x="8166100" y="3832860"/>
            <a:ext cx="2044800" cy="1008000"/>
          </a:xfrm>
          <a:prstGeom prst="rect">
            <a:avLst/>
          </a:prstGeom>
          <a:noFill/>
          <a:ln>
            <a:noFill/>
          </a:ln>
        </p:spPr>
      </p:pic>
      <p:sp>
        <p:nvSpPr>
          <p:cNvPr id="46" name="箭头: 右 9"/>
          <p:cNvSpPr/>
          <p:nvPr/>
        </p:nvSpPr>
        <p:spPr>
          <a:xfrm>
            <a:off x="10340340" y="305117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47" name="箭头: 右 9"/>
          <p:cNvSpPr/>
          <p:nvPr/>
        </p:nvSpPr>
        <p:spPr>
          <a:xfrm>
            <a:off x="10340340" y="410527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48" name="箭头: 右 9"/>
          <p:cNvSpPr/>
          <p:nvPr/>
        </p:nvSpPr>
        <p:spPr>
          <a:xfrm>
            <a:off x="10340340" y="515937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49" name="文本框 48"/>
          <p:cNvSpPr txBox="1"/>
          <p:nvPr/>
        </p:nvSpPr>
        <p:spPr>
          <a:xfrm>
            <a:off x="10500995" y="2883535"/>
            <a:ext cx="1172210" cy="645160"/>
          </a:xfrm>
          <a:prstGeom prst="rect">
            <a:avLst/>
          </a:prstGeom>
          <a:noFill/>
          <a:ln>
            <a:noFill/>
          </a:ln>
        </p:spPr>
        <p:txBody>
          <a:bodyPr wrap="square" anchor="t">
            <a:spAutoFit/>
          </a:bodyPr>
          <a:lstStyle/>
          <a:p>
            <a:pPr marL="0" indent="0" algn="ctr">
              <a:lnSpc>
                <a:spcPct val="150000"/>
              </a:lnSpc>
              <a:buClr>
                <a:srgbClr val="FF0000"/>
              </a:buClr>
            </a:pPr>
            <a:r>
              <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rPr>
              <a:t>均匀基质</a:t>
            </a:r>
            <a:endPar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a:p>
            <a:pPr marL="0" indent="0" algn="ctr">
              <a:lnSpc>
                <a:spcPct val="150000"/>
              </a:lnSpc>
              <a:buClr>
                <a:srgbClr val="FF0000"/>
              </a:buClr>
            </a:pPr>
            <a:r>
              <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rPr>
              <a:t>滤失型</a:t>
            </a:r>
            <a:endPar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p:txBody>
      </p:sp>
      <p:sp>
        <p:nvSpPr>
          <p:cNvPr id="50" name="文本框 49"/>
          <p:cNvSpPr txBox="1"/>
          <p:nvPr/>
        </p:nvSpPr>
        <p:spPr>
          <a:xfrm>
            <a:off x="10547985" y="3916680"/>
            <a:ext cx="1172210" cy="645160"/>
          </a:xfrm>
          <a:prstGeom prst="rect">
            <a:avLst/>
          </a:prstGeom>
          <a:noFill/>
          <a:ln>
            <a:noFill/>
          </a:ln>
        </p:spPr>
        <p:txBody>
          <a:bodyPr wrap="square" anchor="t">
            <a:spAutoFit/>
          </a:bodyPr>
          <a:lstStyle/>
          <a:p>
            <a:pPr marL="0" indent="0" algn="ctr">
              <a:lnSpc>
                <a:spcPct val="150000"/>
              </a:lnSpc>
              <a:buClr>
                <a:srgbClr val="FF0000"/>
              </a:buClr>
            </a:pPr>
            <a:r>
              <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rPr>
              <a:t>天然裂缝增强</a:t>
            </a:r>
            <a:endPar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a:p>
            <a:pPr marL="0" indent="0" algn="ctr">
              <a:lnSpc>
                <a:spcPct val="150000"/>
              </a:lnSpc>
              <a:buClr>
                <a:srgbClr val="FF0000"/>
              </a:buClr>
            </a:pPr>
            <a:r>
              <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rPr>
              <a:t>滤失型</a:t>
            </a:r>
            <a:endPar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p:txBody>
      </p:sp>
      <p:sp>
        <p:nvSpPr>
          <p:cNvPr id="52" name="文本框 51"/>
          <p:cNvSpPr txBox="1"/>
          <p:nvPr/>
        </p:nvSpPr>
        <p:spPr>
          <a:xfrm>
            <a:off x="10547985" y="4949825"/>
            <a:ext cx="1172210" cy="645160"/>
          </a:xfrm>
          <a:prstGeom prst="rect">
            <a:avLst/>
          </a:prstGeom>
          <a:noFill/>
          <a:ln>
            <a:noFill/>
          </a:ln>
        </p:spPr>
        <p:txBody>
          <a:bodyPr wrap="square" anchor="t">
            <a:spAutoFit/>
          </a:bodyPr>
          <a:lstStyle/>
          <a:p>
            <a:pPr marL="0" indent="0" algn="ctr">
              <a:lnSpc>
                <a:spcPct val="150000"/>
              </a:lnSpc>
              <a:buClr>
                <a:srgbClr val="FF0000"/>
              </a:buClr>
            </a:pPr>
            <a:r>
              <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rPr>
              <a:t>次生裂缝减缓</a:t>
            </a:r>
            <a:endPar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a:p>
            <a:pPr marL="0" indent="0" algn="ctr">
              <a:lnSpc>
                <a:spcPct val="150000"/>
              </a:lnSpc>
              <a:buClr>
                <a:srgbClr val="FF0000"/>
              </a:buClr>
            </a:pPr>
            <a:r>
              <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rPr>
              <a:t>滤失型</a:t>
            </a:r>
            <a:endPar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3"/>
          <p:cNvSpPr>
            <a:spLocks noChangeArrowheads="1"/>
          </p:cNvSpPr>
          <p:nvPr>
            <p:custDataLst>
              <p:tags r:id="rId1"/>
            </p:custDataLst>
          </p:nvPr>
        </p:nvSpPr>
        <p:spPr bwMode="auto">
          <a:xfrm>
            <a:off x="1113649" y="6098678"/>
            <a:ext cx="351028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R="0" lvl="0" indent="0" algn="ctr" fontAlgn="base">
              <a:lnSpc>
                <a:spcPct val="100000"/>
              </a:lnSpc>
              <a:spcBef>
                <a:spcPct val="0"/>
              </a:spcBef>
              <a:spcAft>
                <a:spcPct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均匀基质滤失型</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函数分析图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矩形 19"/>
          <p:cNvSpPr/>
          <p:nvPr/>
        </p:nvSpPr>
        <p:spPr>
          <a:xfrm>
            <a:off x="429601" y="811428"/>
            <a:ext cx="1166810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G</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函数理论，建立了识别不同滤失类型的诊断图版和分析流程</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1" name="TextBox 2"/>
          <p:cNvSpPr txBox="1">
            <a:spLocks noChangeArrowheads="1"/>
          </p:cNvSpPr>
          <p:nvPr/>
        </p:nvSpPr>
        <p:spPr bwMode="auto">
          <a:xfrm>
            <a:off x="334645" y="1161415"/>
            <a:ext cx="11520170" cy="188087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spcBef>
                <a:spcPts val="0"/>
              </a:spcBef>
              <a:spcAft>
                <a:spcPts val="0"/>
              </a:spcAft>
              <a:buFont typeface="Wingdings" panose="05000000000000000000" pitchFamily="2" charset="2"/>
              <a:buChar char="l"/>
              <a:defRPr/>
            </a:pPr>
            <a:endParaRPr lang="zh-CN" altLang="en-US" sz="1600" dirty="0">
              <a:cs typeface="Times New Roman" panose="02020603050405020304" pitchFamily="18" charset="0"/>
            </a:endParaRPr>
          </a:p>
        </p:txBody>
      </p:sp>
      <p:sp>
        <p:nvSpPr>
          <p:cNvPr id="2" name="Rectangle 11"/>
          <p:cNvSpPr>
            <a:spLocks noChangeArrowheads="1"/>
          </p:cNvSpPr>
          <p:nvPr/>
        </p:nvSpPr>
        <p:spPr bwMode="auto">
          <a:xfrm>
            <a:off x="376555" y="51118"/>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成果二、基于G函数分析停泵期压降曲线，揭示应力干扰下裂缝尺寸规律，构建了改造体积宏观评估体系</a:t>
            </a:r>
            <a:endPar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376555" y="2860977"/>
            <a:ext cx="4931425" cy="2958855"/>
          </a:xfrm>
          <a:prstGeom prst="rect">
            <a:avLst/>
          </a:prstGeom>
        </p:spPr>
      </p:pic>
      <p:pic>
        <p:nvPicPr>
          <p:cNvPr id="9" name="图片 8"/>
          <p:cNvPicPr>
            <a:picLocks noChangeAspect="1"/>
          </p:cNvPicPr>
          <p:nvPr/>
        </p:nvPicPr>
        <p:blipFill>
          <a:blip r:embed="rId3"/>
          <a:stretch>
            <a:fillRect/>
          </a:stretch>
        </p:blipFill>
        <p:spPr>
          <a:xfrm>
            <a:off x="6983056" y="2469244"/>
            <a:ext cx="3134784" cy="1880870"/>
          </a:xfrm>
          <a:prstGeom prst="rect">
            <a:avLst/>
          </a:prstGeom>
        </p:spPr>
      </p:pic>
      <p:sp>
        <p:nvSpPr>
          <p:cNvPr id="10" name="矩形 9"/>
          <p:cNvSpPr/>
          <p:nvPr/>
        </p:nvSpPr>
        <p:spPr>
          <a:xfrm>
            <a:off x="429600" y="2843153"/>
            <a:ext cx="4816481" cy="317295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p>
        </p:txBody>
      </p:sp>
      <p:pic>
        <p:nvPicPr>
          <p:cNvPr id="16" name="图片 15"/>
          <p:cNvPicPr>
            <a:picLocks noChangeAspect="1"/>
          </p:cNvPicPr>
          <p:nvPr/>
        </p:nvPicPr>
        <p:blipFill>
          <a:blip r:embed="rId4"/>
          <a:srcRect/>
          <a:stretch>
            <a:fillRect/>
          </a:stretch>
        </p:blipFill>
        <p:spPr>
          <a:xfrm>
            <a:off x="6983057" y="4347983"/>
            <a:ext cx="3134783" cy="1880870"/>
          </a:xfrm>
          <a:prstGeom prst="rect">
            <a:avLst/>
          </a:prstGeom>
        </p:spPr>
      </p:pic>
      <p:cxnSp>
        <p:nvCxnSpPr>
          <p:cNvPr id="24" name="直线箭头连接符 23"/>
          <p:cNvCxnSpPr/>
          <p:nvPr/>
        </p:nvCxnSpPr>
        <p:spPr bwMode="auto">
          <a:xfrm>
            <a:off x="5307979" y="3185160"/>
            <a:ext cx="1675077" cy="0"/>
          </a:xfrm>
          <a:prstGeom prst="straightConnector1">
            <a:avLst/>
          </a:prstGeom>
          <a:solidFill>
            <a:schemeClr val="accent1"/>
          </a:solidFill>
          <a:ln w="9525" cap="flat" cmpd="sng" algn="ctr">
            <a:solidFill>
              <a:srgbClr val="FF000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25" name="直线箭头连接符 24"/>
          <p:cNvCxnSpPr/>
          <p:nvPr/>
        </p:nvCxnSpPr>
        <p:spPr bwMode="auto">
          <a:xfrm>
            <a:off x="5307979" y="5177511"/>
            <a:ext cx="1675077" cy="0"/>
          </a:xfrm>
          <a:prstGeom prst="straightConnector1">
            <a:avLst/>
          </a:prstGeom>
          <a:solidFill>
            <a:schemeClr val="accent1"/>
          </a:solidFill>
          <a:ln w="9525" cap="flat" cmpd="sng" algn="ctr">
            <a:solidFill>
              <a:srgbClr val="FF0000"/>
            </a:solidFill>
            <a:prstDash val="solid"/>
            <a:round/>
            <a:headEnd type="none" w="med" len="med"/>
            <a:tailEnd type="triangle"/>
          </a:ln>
          <a:effectLst>
            <a:outerShdw dist="17961" dir="2700000" algn="ctr" rotWithShape="0">
              <a:schemeClr val="tx1">
                <a:gamma/>
                <a:shade val="60000"/>
                <a:invGamma/>
                <a:alpha val="50000"/>
              </a:schemeClr>
            </a:outerShdw>
          </a:effectLst>
        </p:spPr>
      </p:cxnSp>
      <p:sp>
        <p:nvSpPr>
          <p:cNvPr id="26" name="文本框 25"/>
          <p:cNvSpPr txBox="1"/>
          <p:nvPr/>
        </p:nvSpPr>
        <p:spPr bwMode="auto">
          <a:xfrm>
            <a:off x="5453703" y="2783161"/>
            <a:ext cx="2330603" cy="418128"/>
          </a:xfrm>
          <a:prstGeom prst="rect">
            <a:avLst/>
          </a:prstGeom>
          <a:noFill/>
          <a:ln>
            <a:noFill/>
          </a:ln>
        </p:spPr>
        <p:txBody>
          <a:bodyPr wrap="square" rtlCol="0">
            <a:spAutoFit/>
          </a:bodyPr>
          <a:lstStyle/>
          <a:p>
            <a:pPr marL="0" indent="0">
              <a:lnSpc>
                <a:spcPct val="150000"/>
              </a:lnSpc>
              <a:buClr>
                <a:srgbClr val="FF0000"/>
              </a:buClr>
            </a:pPr>
            <a:r>
              <a:rPr kumimoji="1" lang="zh-CN" altLang="en-US" sz="1600" dirty="0">
                <a:solidFill>
                  <a:srgbClr val="0000FF"/>
                </a:solidFill>
                <a:latin typeface="方正大黑简体" panose="02000000000000000000" pitchFamily="65" charset="-122"/>
                <a:ea typeface="方正大黑简体" panose="02000000000000000000" pitchFamily="65" charset="-122"/>
              </a:rPr>
              <a:t>特征性隆起</a:t>
            </a:r>
            <a:endParaRPr kumimoji="1" lang="zh-CN" altLang="en-US" sz="1600" dirty="0">
              <a:solidFill>
                <a:srgbClr val="0000FF"/>
              </a:solidFill>
              <a:latin typeface="方正大黑简体" panose="02000000000000000000" pitchFamily="65" charset="-122"/>
              <a:ea typeface="方正大黑简体" panose="02000000000000000000" pitchFamily="65" charset="-122"/>
            </a:endParaRPr>
          </a:p>
        </p:txBody>
      </p:sp>
      <p:sp>
        <p:nvSpPr>
          <p:cNvPr id="28" name="文本框 27"/>
          <p:cNvSpPr txBox="1"/>
          <p:nvPr/>
        </p:nvSpPr>
        <p:spPr bwMode="auto">
          <a:xfrm>
            <a:off x="4980217" y="3105347"/>
            <a:ext cx="2330603" cy="787460"/>
          </a:xfrm>
          <a:prstGeom prst="rect">
            <a:avLst/>
          </a:prstGeom>
          <a:noFill/>
          <a:ln>
            <a:noFill/>
          </a:ln>
        </p:spPr>
        <p:txBody>
          <a:bodyPr wrap="square" rtlCol="0">
            <a:spAutoFit/>
          </a:bodyPr>
          <a:lstStyle/>
          <a:p>
            <a:pPr marL="0" indent="0" algn="ctr">
              <a:lnSpc>
                <a:spcPct val="150000"/>
              </a:lnSpc>
              <a:buClr>
                <a:srgbClr val="FF0000"/>
              </a:buClr>
            </a:pPr>
            <a:r>
              <a:rPr kumimoji="1" lang="zh-CN" altLang="en-US" sz="1600" dirty="0">
                <a:solidFill>
                  <a:srgbClr val="0000FF"/>
                </a:solidFill>
                <a:latin typeface="方正大黑简体" panose="02000000000000000000" pitchFamily="65" charset="-122"/>
                <a:ea typeface="方正大黑简体" panose="02000000000000000000" pitchFamily="65" charset="-122"/>
              </a:rPr>
              <a:t>存在天然裂缝 </a:t>
            </a:r>
            <a:br>
              <a:rPr kumimoji="1" lang="en-US" altLang="zh-CN" sz="1600" dirty="0">
                <a:solidFill>
                  <a:srgbClr val="0000FF"/>
                </a:solidFill>
                <a:latin typeface="方正大黑简体" panose="02000000000000000000" pitchFamily="65" charset="-122"/>
                <a:ea typeface="方正大黑简体" panose="02000000000000000000" pitchFamily="65" charset="-122"/>
              </a:rPr>
            </a:br>
            <a:r>
              <a:rPr kumimoji="1" lang="zh-CN" altLang="en-US" sz="1600" dirty="0">
                <a:solidFill>
                  <a:srgbClr val="0000FF"/>
                </a:solidFill>
                <a:latin typeface="方正大黑简体" panose="02000000000000000000" pitchFamily="65" charset="-122"/>
                <a:ea typeface="方正大黑简体" panose="02000000000000000000" pitchFamily="65" charset="-122"/>
              </a:rPr>
              <a:t>高压时滤失加快</a:t>
            </a:r>
            <a:endParaRPr kumimoji="1" lang="zh-CN" altLang="en-US" sz="1600" dirty="0">
              <a:solidFill>
                <a:srgbClr val="0000FF"/>
              </a:solidFill>
              <a:latin typeface="方正大黑简体" panose="02000000000000000000" pitchFamily="65" charset="-122"/>
              <a:ea typeface="方正大黑简体" panose="02000000000000000000" pitchFamily="65" charset="-122"/>
            </a:endParaRPr>
          </a:p>
        </p:txBody>
      </p:sp>
      <p:sp>
        <p:nvSpPr>
          <p:cNvPr id="29" name="文本框 28"/>
          <p:cNvSpPr txBox="1"/>
          <p:nvPr/>
        </p:nvSpPr>
        <p:spPr bwMode="auto">
          <a:xfrm>
            <a:off x="5550346" y="4782074"/>
            <a:ext cx="2330603" cy="418128"/>
          </a:xfrm>
          <a:prstGeom prst="rect">
            <a:avLst/>
          </a:prstGeom>
          <a:noFill/>
          <a:ln>
            <a:noFill/>
          </a:ln>
        </p:spPr>
        <p:txBody>
          <a:bodyPr wrap="square" rtlCol="0">
            <a:spAutoFit/>
          </a:bodyPr>
          <a:lstStyle/>
          <a:p>
            <a:pPr marL="0" indent="0">
              <a:lnSpc>
                <a:spcPct val="150000"/>
              </a:lnSpc>
              <a:buClr>
                <a:srgbClr val="FF0000"/>
              </a:buClr>
            </a:pPr>
            <a:r>
              <a:rPr kumimoji="1" lang="zh-CN" altLang="en-US" sz="1600" dirty="0">
                <a:solidFill>
                  <a:srgbClr val="0000FF"/>
                </a:solidFill>
                <a:latin typeface="方正大黑简体" panose="02000000000000000000" pitchFamily="65" charset="-122"/>
                <a:ea typeface="方正大黑简体" panose="02000000000000000000" pitchFamily="65" charset="-122"/>
              </a:rPr>
              <a:t>下凹特征</a:t>
            </a:r>
            <a:endParaRPr kumimoji="1" lang="zh-CN" altLang="en-US" sz="1600" dirty="0">
              <a:solidFill>
                <a:srgbClr val="0000FF"/>
              </a:solidFill>
              <a:latin typeface="方正大黑简体" panose="02000000000000000000" pitchFamily="65" charset="-122"/>
              <a:ea typeface="方正大黑简体" panose="02000000000000000000" pitchFamily="65" charset="-122"/>
            </a:endParaRPr>
          </a:p>
        </p:txBody>
      </p:sp>
      <p:sp>
        <p:nvSpPr>
          <p:cNvPr id="30" name="文本框 29"/>
          <p:cNvSpPr txBox="1"/>
          <p:nvPr/>
        </p:nvSpPr>
        <p:spPr bwMode="auto">
          <a:xfrm>
            <a:off x="4980217" y="5130509"/>
            <a:ext cx="2330603" cy="787460"/>
          </a:xfrm>
          <a:prstGeom prst="rect">
            <a:avLst/>
          </a:prstGeom>
          <a:noFill/>
          <a:ln>
            <a:noFill/>
          </a:ln>
        </p:spPr>
        <p:txBody>
          <a:bodyPr wrap="square" rtlCol="0">
            <a:spAutoFit/>
          </a:bodyPr>
          <a:lstStyle/>
          <a:p>
            <a:pPr marL="0" indent="0" algn="ctr">
              <a:lnSpc>
                <a:spcPct val="150000"/>
              </a:lnSpc>
              <a:buClr>
                <a:srgbClr val="FF0000"/>
              </a:buClr>
            </a:pPr>
            <a:r>
              <a:rPr kumimoji="1" lang="zh-CN" altLang="en-US" sz="1600" dirty="0">
                <a:solidFill>
                  <a:srgbClr val="0000FF"/>
                </a:solidFill>
                <a:latin typeface="方正大黑简体" panose="02000000000000000000" pitchFamily="65" charset="-122"/>
                <a:ea typeface="方正大黑简体" panose="02000000000000000000" pitchFamily="65" charset="-122"/>
              </a:rPr>
              <a:t>内部压力首先重分配</a:t>
            </a:r>
            <a:br>
              <a:rPr kumimoji="1" lang="en-US" altLang="zh-CN" sz="1600" dirty="0">
                <a:solidFill>
                  <a:srgbClr val="0000FF"/>
                </a:solidFill>
                <a:latin typeface="方正大黑简体" panose="02000000000000000000" pitchFamily="65" charset="-122"/>
                <a:ea typeface="方正大黑简体" panose="02000000000000000000" pitchFamily="65" charset="-122"/>
              </a:rPr>
            </a:br>
            <a:r>
              <a:rPr kumimoji="1" lang="zh-CN" altLang="en-US" sz="1600" dirty="0">
                <a:solidFill>
                  <a:srgbClr val="0000FF"/>
                </a:solidFill>
                <a:latin typeface="方正大黑简体" panose="02000000000000000000" pitchFamily="65" charset="-122"/>
                <a:ea typeface="方正大黑简体" panose="02000000000000000000" pitchFamily="65" charset="-122"/>
              </a:rPr>
              <a:t>逐渐接近一条直线</a:t>
            </a:r>
            <a:endParaRPr kumimoji="1" lang="zh-CN" altLang="en-US" sz="1600" dirty="0">
              <a:solidFill>
                <a:srgbClr val="0000FF"/>
              </a:solidFill>
              <a:latin typeface="方正大黑简体" panose="02000000000000000000" pitchFamily="65" charset="-122"/>
              <a:ea typeface="方正大黑简体" panose="02000000000000000000" pitchFamily="65" charset="-122"/>
            </a:endParaRPr>
          </a:p>
        </p:txBody>
      </p:sp>
      <p:sp>
        <p:nvSpPr>
          <p:cNvPr id="31" name="箭头: 右 9"/>
          <p:cNvSpPr/>
          <p:nvPr/>
        </p:nvSpPr>
        <p:spPr>
          <a:xfrm>
            <a:off x="10117840" y="3195002"/>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32" name="文本框 31"/>
          <p:cNvSpPr txBox="1"/>
          <p:nvPr/>
        </p:nvSpPr>
        <p:spPr>
          <a:xfrm>
            <a:off x="10325485" y="3006407"/>
            <a:ext cx="1172210" cy="645160"/>
          </a:xfrm>
          <a:prstGeom prst="rect">
            <a:avLst/>
          </a:prstGeom>
          <a:noFill/>
          <a:ln>
            <a:noFill/>
          </a:ln>
        </p:spPr>
        <p:txBody>
          <a:bodyPr wrap="square" anchor="t">
            <a:spAutoFit/>
          </a:bodyPr>
          <a:lstStyle/>
          <a:p>
            <a:pPr marL="0" indent="0" algn="ctr">
              <a:lnSpc>
                <a:spcPct val="150000"/>
              </a:lnSpc>
              <a:buClr>
                <a:srgbClr val="FF0000"/>
              </a:buClr>
            </a:pPr>
            <a:r>
              <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rPr>
              <a:t>天然裂缝增强</a:t>
            </a:r>
            <a:endPar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a:p>
            <a:pPr marL="0" indent="0" algn="ctr">
              <a:lnSpc>
                <a:spcPct val="150000"/>
              </a:lnSpc>
              <a:buClr>
                <a:srgbClr val="FF0000"/>
              </a:buClr>
            </a:pPr>
            <a:r>
              <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rPr>
              <a:t>滤失型</a:t>
            </a:r>
            <a:endPar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p:txBody>
      </p:sp>
      <p:sp>
        <p:nvSpPr>
          <p:cNvPr id="33" name="箭头: 右 9"/>
          <p:cNvSpPr/>
          <p:nvPr/>
        </p:nvSpPr>
        <p:spPr>
          <a:xfrm>
            <a:off x="10117840" y="5023940"/>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34" name="文本框 33"/>
          <p:cNvSpPr txBox="1"/>
          <p:nvPr/>
        </p:nvSpPr>
        <p:spPr>
          <a:xfrm>
            <a:off x="10325485" y="4814390"/>
            <a:ext cx="1172210" cy="645160"/>
          </a:xfrm>
          <a:prstGeom prst="rect">
            <a:avLst/>
          </a:prstGeom>
          <a:noFill/>
          <a:ln>
            <a:noFill/>
          </a:ln>
        </p:spPr>
        <p:txBody>
          <a:bodyPr wrap="square" anchor="t">
            <a:spAutoFit/>
          </a:bodyPr>
          <a:lstStyle/>
          <a:p>
            <a:pPr marL="0" indent="0" algn="ctr">
              <a:lnSpc>
                <a:spcPct val="150000"/>
              </a:lnSpc>
              <a:buClr>
                <a:srgbClr val="FF0000"/>
              </a:buClr>
            </a:pPr>
            <a:r>
              <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rPr>
              <a:t>次生裂缝减缓</a:t>
            </a:r>
            <a:endPar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a:p>
            <a:pPr marL="0" indent="0" algn="ctr">
              <a:lnSpc>
                <a:spcPct val="150000"/>
              </a:lnSpc>
              <a:buClr>
                <a:srgbClr val="FF0000"/>
              </a:buClr>
            </a:pPr>
            <a:r>
              <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rPr>
              <a:t>滤失型</a:t>
            </a:r>
            <a:endParaRPr lang="zh-CN" altLang="en-US" sz="12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p:txBody>
      </p:sp>
      <p:sp>
        <p:nvSpPr>
          <p:cNvPr id="3" name="TextBox 2"/>
          <p:cNvSpPr txBox="1">
            <a:spLocks noChangeArrowheads="1"/>
          </p:cNvSpPr>
          <p:nvPr/>
        </p:nvSpPr>
        <p:spPr bwMode="auto">
          <a:xfrm>
            <a:off x="334962" y="1348799"/>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lnSpc>
                <a:spcPct val="150000"/>
              </a:lnSpc>
              <a:spcBef>
                <a:spcPts val="0"/>
              </a:spcBef>
              <a:spcAft>
                <a:spcPts val="0"/>
              </a:spcAft>
              <a:buFont typeface="Wingdings" panose="05000000000000000000" pitchFamily="2" charset="2"/>
              <a:buChar char="l"/>
              <a:defRPr/>
            </a:pPr>
            <a:r>
              <a:rPr lang="en-US" altLang="zh-CN" sz="1600" dirty="0">
                <a:cs typeface="Times New Roman" panose="02020603050405020304" pitchFamily="18" charset="0"/>
              </a:rPr>
              <a:t>G</a:t>
            </a:r>
            <a:r>
              <a:rPr lang="zh-CN" altLang="en-US" sz="1600" dirty="0">
                <a:cs typeface="Times New Roman" panose="02020603050405020304" pitchFamily="18" charset="0"/>
              </a:rPr>
              <a:t>函数是专门构造的无量纲时间变量，其定义方式确保了在理想均匀地层条件下，压力与</a:t>
            </a:r>
            <a:r>
              <a:rPr lang="en-US" altLang="zh-CN" sz="1600" dirty="0">
                <a:cs typeface="Times New Roman" panose="02020603050405020304" pitchFamily="18" charset="0"/>
              </a:rPr>
              <a:t>G</a:t>
            </a:r>
            <a:r>
              <a:rPr lang="zh-CN" altLang="en-US" sz="1600" dirty="0">
                <a:cs typeface="Times New Roman" panose="02020603050405020304" pitchFamily="18" charset="0"/>
              </a:rPr>
              <a:t>函数之间必然呈现线性关系</a:t>
            </a:r>
            <a:endParaRPr lang="zh-CN" altLang="en-US" sz="1600" dirty="0">
              <a:cs typeface="Times New Roman" panose="02020603050405020304" pitchFamily="18" charset="0"/>
            </a:endParaRPr>
          </a:p>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根据这一线性特性可严格推导，</a:t>
            </a:r>
            <a:r>
              <a:rPr lang="en-US" altLang="zh-CN" sz="1600" dirty="0">
                <a:cs typeface="Times New Roman" panose="02020603050405020304" pitchFamily="18" charset="0"/>
              </a:rPr>
              <a:t>GdP/dG-G</a:t>
            </a:r>
            <a:r>
              <a:rPr lang="zh-CN" altLang="en-US" sz="1600" dirty="0">
                <a:cs typeface="Times New Roman" panose="02020603050405020304" pitchFamily="18" charset="0"/>
              </a:rPr>
              <a:t>曲线在理想均匀地层条件下必然表现为过原点的直线，成为诊断的基准参照</a:t>
            </a:r>
            <a:endParaRPr lang="zh-CN" altLang="en-US" sz="1600" dirty="0">
              <a:cs typeface="Times New Roman" panose="02020603050405020304" pitchFamily="18" charset="0"/>
            </a:endParaRPr>
          </a:p>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依据曲线的上凸或下凹形态差异，表明地层存在天然裂缝或次生缝网等复杂构造，可快速定性判断压后地下滤失类型</a:t>
            </a:r>
            <a:endParaRPr lang="zh-CN" altLang="en-US" sz="1600" dirty="0">
              <a:cs typeface="Times New Roman" panose="02020603050405020304" pitchFamily="18"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a:spLocks noChangeArrowheads="1"/>
          </p:cNvSpPr>
          <p:nvPr/>
        </p:nvSpPr>
        <p:spPr bwMode="auto">
          <a:xfrm>
            <a:off x="334645" y="1356995"/>
            <a:ext cx="11485880" cy="352425"/>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0" indent="0" fontAlgn="base">
              <a:lnSpc>
                <a:spcPct val="100000"/>
              </a:lnSpc>
              <a:spcBef>
                <a:spcPts val="600"/>
              </a:spcBef>
              <a:spcAft>
                <a:spcPts val="600"/>
              </a:spcAft>
              <a:buFont typeface="Wingdings" panose="05000000000000000000" pitchFamily="2" charset="2"/>
              <a:buNone/>
              <a:defRPr/>
            </a:pPr>
            <a:endParaRPr lang="en-US" altLang="zh-CN" sz="1600" dirty="0">
              <a:cs typeface="Times New Roman" panose="02020603050405020304" pitchFamily="18" charset="0"/>
            </a:endParaRPr>
          </a:p>
        </p:txBody>
      </p:sp>
      <p:sp>
        <p:nvSpPr>
          <p:cNvPr id="10" name="矩形 9"/>
          <p:cNvSpPr/>
          <p:nvPr/>
        </p:nvSpPr>
        <p:spPr>
          <a:xfrm>
            <a:off x="429601" y="811428"/>
            <a:ext cx="10052311"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G</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函数分析停泵期压降曲线特征，确定了各平台各井滤失类型分布</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537210" y="1397635"/>
          <a:ext cx="11081385" cy="5117465"/>
        </p:xfrm>
        <a:graphic>
          <a:graphicData uri="http://schemas.openxmlformats.org/drawingml/2006/table">
            <a:tbl>
              <a:tblPr firstRow="1" bandRow="1">
                <a:tableStyleId>{5C22544A-7EE6-4342-B048-85BDC9FD1C3A}</a:tableStyleId>
              </a:tblPr>
              <a:tblGrid>
                <a:gridCol w="989330"/>
                <a:gridCol w="4581525"/>
                <a:gridCol w="929640"/>
                <a:gridCol w="4580890"/>
              </a:tblGrid>
              <a:tr h="269875">
                <a:tc>
                  <a:txBody>
                    <a:bodyPr/>
                    <a:lstStyle/>
                    <a:p>
                      <a:pPr indent="0" algn="ctr">
                        <a:lnSpc>
                          <a:spcPct val="120000"/>
                        </a:lnSpc>
                        <a:spcBef>
                          <a:spcPts val="0"/>
                        </a:spcBef>
                        <a:spcAft>
                          <a:spcPts val="0"/>
                        </a:spcAft>
                        <a:buNone/>
                      </a:pPr>
                      <a:r>
                        <a:rPr lang="zh-CN" sz="800" b="1" spc="60">
                          <a:solidFill>
                            <a:schemeClr val="bg1"/>
                          </a:solidFill>
                          <a:latin typeface="微软雅黑" panose="020B0503020204020204" pitchFamily="34" charset="-122"/>
                          <a:ea typeface="微软雅黑" panose="020B0503020204020204" pitchFamily="34" charset="-122"/>
                        </a:rPr>
                        <a:t>井名</a:t>
                      </a:r>
                      <a:endParaRPr lang="zh-CN" sz="800" b="1" spc="6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C000"/>
                    </a:solidFill>
                  </a:tcPr>
                </a:tc>
                <a:tc>
                  <a:txBody>
                    <a:bodyPr/>
                    <a:lstStyle/>
                    <a:p>
                      <a:pPr indent="0" algn="ctr">
                        <a:lnSpc>
                          <a:spcPct val="120000"/>
                        </a:lnSpc>
                        <a:spcBef>
                          <a:spcPts val="0"/>
                        </a:spcBef>
                        <a:spcAft>
                          <a:spcPts val="0"/>
                        </a:spcAft>
                        <a:buNone/>
                      </a:pPr>
                      <a:r>
                        <a:rPr lang="zh-CN" sz="800" b="1" spc="60">
                          <a:solidFill>
                            <a:schemeClr val="bg1"/>
                          </a:solidFill>
                          <a:latin typeface="微软雅黑" panose="020B0503020204020204" pitchFamily="34" charset="-122"/>
                          <a:ea typeface="微软雅黑" panose="020B0503020204020204" pitchFamily="34" charset="-122"/>
                        </a:rPr>
                        <a:t>统计</a:t>
                      </a:r>
                      <a:endParaRPr lang="zh-CN" sz="800" b="1" spc="6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C000"/>
                    </a:solidFill>
                  </a:tcPr>
                </a:tc>
                <a:tc>
                  <a:txBody>
                    <a:bodyPr/>
                    <a:lstStyle/>
                    <a:p>
                      <a:pPr indent="0" algn="ctr">
                        <a:lnSpc>
                          <a:spcPct val="120000"/>
                        </a:lnSpc>
                        <a:spcBef>
                          <a:spcPts val="0"/>
                        </a:spcBef>
                        <a:spcAft>
                          <a:spcPts val="0"/>
                        </a:spcAft>
                        <a:buNone/>
                      </a:pPr>
                      <a:r>
                        <a:rPr lang="zh-CN" sz="800" b="1" spc="60">
                          <a:solidFill>
                            <a:schemeClr val="bg1"/>
                          </a:solidFill>
                          <a:latin typeface="微软雅黑" panose="020B0503020204020204" pitchFamily="34" charset="-122"/>
                          <a:ea typeface="微软雅黑" panose="020B0503020204020204" pitchFamily="34" charset="-122"/>
                        </a:rPr>
                        <a:t>井名</a:t>
                      </a:r>
                      <a:endParaRPr lang="zh-CN" sz="800" b="1" spc="6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C000"/>
                    </a:solidFill>
                  </a:tcPr>
                </a:tc>
                <a:tc>
                  <a:txBody>
                    <a:bodyPr/>
                    <a:lstStyle/>
                    <a:p>
                      <a:pPr indent="0" algn="ctr">
                        <a:lnSpc>
                          <a:spcPct val="120000"/>
                        </a:lnSpc>
                        <a:spcBef>
                          <a:spcPts val="0"/>
                        </a:spcBef>
                        <a:spcAft>
                          <a:spcPts val="0"/>
                        </a:spcAft>
                        <a:buNone/>
                      </a:pPr>
                      <a:r>
                        <a:rPr lang="zh-CN" sz="800" b="1" spc="60">
                          <a:solidFill>
                            <a:schemeClr val="bg1"/>
                          </a:solidFill>
                          <a:latin typeface="微软雅黑" panose="020B0503020204020204" pitchFamily="34" charset="-122"/>
                          <a:ea typeface="微软雅黑" panose="020B0503020204020204" pitchFamily="34" charset="-122"/>
                        </a:rPr>
                        <a:t>统计</a:t>
                      </a:r>
                      <a:endParaRPr lang="zh-CN" sz="800" b="1" spc="6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C000"/>
                    </a:solid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泸203H10平台1井</a:t>
                      </a:r>
                      <a:endPar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均匀基质滤失型，占比42.86%；天然裂缝增强滤失型，占比50%；次生裂缝减缓滤失型，占比7.14%</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阳101H11平台2井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均匀基质滤失型，占比50%；天然裂缝增强滤失型，占比43.33%；次生裂缝减缓滤失型，占比6.67%</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泸203H10平台2井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均匀基质滤失型，占比22.22%；天然裂缝增强滤失型，占比77.78%；次生裂缝减缓滤失型，占比0%</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阳101H11平台3井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均匀基质滤失型，占比45.83%；天然裂缝增强滤失型，占比50%；次生裂缝减缓滤失型，占比4.17%</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泸203H10平台3井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均匀基质滤失型，占比42.11%；天然裂缝增强滤失型，占比52.63%；次生裂缝减缓滤失型，占比5.26%</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阳101H11平台4井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均匀基质滤失型，占比65.63%；天然裂缝增强滤失型，占比21.88%；次生裂缝减缓滤失型，占比12.5%</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泸203H10平台4井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均匀基质滤失型，占比42.86%；天然裂缝增强滤失型，占比57.14%；次生裂缝减缓滤失型，占比0%</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阳101H33平台1井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均匀基质滤失型，占比55.56%；天然裂缝增强滤失型，占比33.33%；次生裂缝减缓滤失型，占比11.11%</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泸203H10平台5井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均匀基质滤失型，占比50.00%；天然裂缝增强滤失型，占比50.00%；次生裂缝减缓滤失型，占比0%</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阳101H33平台2井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均匀基质滤失型，占比55.56%；天然裂缝增强滤失型，占比33.33%；次生裂缝减缓滤失型，占比11.11%</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泸203H10平台6井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均匀基质滤失型，占比63.64%；天然裂缝增强滤失型，占比27.27%；次生裂缝减缓滤失型，占比9.09%</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阳101H33平台3井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均匀基质滤失型，占比41.38%；天然裂缝增强滤失型，占比44.83%；次生裂缝减缓滤失型，占比13.79%</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泸203H123平台1井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均匀基质滤失型，占比47.62%；天然裂缝增强滤失型，占比47.62%；次生裂缝减缓滤失型，占比4.76%</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阳101H36平台2井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均匀基质滤失型，占比62.5%；天然裂缝增强滤失型，占比25%；次生裂缝减缓滤失型，占比12.5%</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泸203H123平台2井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均匀基质滤失型，占比40%；天然裂缝增强滤失型，占比56%；次生裂缝减缓滤失型，占比4%</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阳101H42平台1井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均匀基质滤失型，占比57.14%；天然裂缝增强滤失型，占比42.86%；次生裂缝减缓滤失型，占比0%</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泸203H123平台3井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均匀基质滤失型，占比50%；天然裂缝增强滤失型，占比45%；次生裂缝减缓滤失型，占比5%</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阳101H42平台3井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均匀基质滤失型，占比45%；天然裂缝增强滤失型，占比45%；次生裂缝减缓滤失型，占比10%</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泸203H123平台4井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均匀基质滤失型，占比45.45%；天然裂缝增强滤失型，占比54.55%；次生裂缝减缓滤失型，占比0%</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阳101H43平台1井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均匀基质滤失型，占比60.87%；天然裂缝增强滤失型，占比21.74%；次生裂缝减缓滤失型，占比17.39%</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泸203H153平台1井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均匀基质滤失型，占比52.38%；天然裂缝增强滤失型，占比47.62%；次生裂缝减缓滤失型，占比0%</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阳101H43平台2井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均匀基质滤失型，占比46.15%；天然裂缝增强滤失型，占比46.15%；次生裂缝减缓滤失型，占比7.69%</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5971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泸203H153平台2井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均匀基质滤失型，占比44.44%；天然裂缝增强滤失型，占比48.15%；次生裂缝减缓滤失型，占比7.41%</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阳101H43平台5井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均匀基质滤失型，占比36.84%；天然裂缝增强滤失型，占比52.63%；次生裂缝减缓滤失型，占比10.53%</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泸203H153平台3井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均匀基质滤失型，占比50%；天然裂缝增强滤失型，占比31.25%；次生裂缝减缓滤失型，占比18.75%</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阳101H43平台6井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均匀基质滤失型，占比64%；天然裂缝增强滤失型，占比32%；次生裂缝减缓滤失型，占比4%</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泸203H153平台4井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均匀基质滤失型，占比42.86%；天然裂缝增强滤失型，占比50%；次生裂缝减缓滤失型，占比7.14%</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阳101H6平台1井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均匀基质滤失型，占比56.52%；天然裂缝增强滤失型，占比39.13%；次生裂缝减缓滤失型，占比4.35%</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泸203H153平台5井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均匀基质滤失型，占比38.24%；天然裂缝增强滤失型，占比47.06%；次生裂缝减缓滤失型，占比14.71%</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阳101H6平台2井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均匀基质滤失型，占比78.26%；天然裂缝增强滤失型，占比13.04%；次生裂缝减缓滤失型，占比8.7%</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泸203H153平台6井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均匀基质滤失型，占比33.33%；天然裂缝增强滤失型，占比51.85%；次生裂缝减缓滤失型，占比14.81%</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阳101H6平台6井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均匀基质滤失型，占比57.69%；天然裂缝增强滤失型，占比30.77%；次生裂缝减缓滤失型，占比11.54%</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泸203H153平台7井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均匀基质滤失型，占比34.62%；天然裂缝增强滤失型，占比46.15%；次生裂缝减缓滤失型，占比19.23%</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阳101H6平台8井</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均匀基质滤失型，占比72.41%；天然裂缝增强滤失型，占比27.59%；次生裂缝减缓滤失型，占比0%</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69875">
                <a:tc>
                  <a:txBody>
                    <a:bodyPr/>
                    <a:lstStyle/>
                    <a:p>
                      <a:pPr indent="0" algn="ctr">
                        <a:lnSpc>
                          <a:spcPct val="120000"/>
                        </a:lnSpc>
                        <a:spcBef>
                          <a:spcPts val="0"/>
                        </a:spcBef>
                        <a:spcAft>
                          <a:spcPts val="0"/>
                        </a:spcAft>
                        <a:buNone/>
                      </a:pPr>
                      <a:r>
                        <a:rPr lang="zh-CN"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阳101H11平台1井</a:t>
                      </a:r>
                      <a:endParaRPr lang="zh-CN" altLang="en-US" sz="6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r>
                        <a:rPr lang="zh-CN"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均匀基质滤失型，占比71.43%；天然裂缝增强滤失型，占比28.57%；次生裂缝减缓滤失型，占比0%</a:t>
                      </a:r>
                      <a:endParaRPr lang="zh-CN" altLang="en-US" sz="6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endParaRPr lang="zh-CN" altLang="en-US" sz="600" b="0" spc="60">
                        <a:solidFill>
                          <a:srgbClr val="404040"/>
                        </a:solidFill>
                        <a:latin typeface="微软雅黑" panose="020B0503020204020204" pitchFamily="34" charset="-122"/>
                        <a:ea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lnSpc>
                          <a:spcPct val="120000"/>
                        </a:lnSpc>
                        <a:spcBef>
                          <a:spcPts val="0"/>
                        </a:spcBef>
                        <a:spcAft>
                          <a:spcPts val="0"/>
                        </a:spcAft>
                        <a:buNone/>
                      </a:pPr>
                      <a:endParaRPr lang="zh-CN" altLang="en-US" sz="600" b="0" spc="60">
                        <a:solidFill>
                          <a:srgbClr val="404040"/>
                        </a:solidFill>
                        <a:latin typeface="微软雅黑" panose="020B0503020204020204" pitchFamily="34" charset="-122"/>
                        <a:ea typeface="微软雅黑" panose="020B0503020204020204" pitchFamily="3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
        <p:nvSpPr>
          <p:cNvPr id="5" name="Rectangle 11"/>
          <p:cNvSpPr>
            <a:spLocks noChangeArrowheads="1"/>
          </p:cNvSpPr>
          <p:nvPr/>
        </p:nvSpPr>
        <p:spPr bwMode="auto">
          <a:xfrm>
            <a:off x="376555" y="51118"/>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成果二、基于G函数分析停泵期压降曲线，揭示应力干扰下裂缝尺寸规律，构建了改造体积宏观评估体系</a:t>
            </a:r>
            <a:endPar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1112159"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、统计各井滤失类型数据，明确滤失类型与改造体积之间的影响规律</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1" name="TextBox 2"/>
          <p:cNvSpPr txBox="1">
            <a:spLocks noChangeArrowheads="1"/>
          </p:cNvSpPr>
          <p:nvPr/>
        </p:nvSpPr>
        <p:spPr bwMode="auto">
          <a:xfrm>
            <a:off x="334962" y="1348799"/>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泸</a:t>
            </a:r>
            <a:r>
              <a:rPr lang="en-US" altLang="zh-CN" sz="1600" dirty="0">
                <a:cs typeface="Times New Roman" panose="02020603050405020304" pitchFamily="18" charset="0"/>
              </a:rPr>
              <a:t>203</a:t>
            </a:r>
            <a:r>
              <a:rPr lang="zh-CN" altLang="en-US" sz="1600" dirty="0">
                <a:cs typeface="Times New Roman" panose="02020603050405020304" pitchFamily="18" charset="0"/>
              </a:rPr>
              <a:t>井区</a:t>
            </a:r>
            <a:r>
              <a:rPr lang="en-US" altLang="zh-CN" sz="1600" dirty="0">
                <a:cs typeface="Times New Roman" panose="02020603050405020304" pitchFamily="18" charset="0"/>
              </a:rPr>
              <a:t>H10</a:t>
            </a:r>
            <a:r>
              <a:rPr lang="zh-CN" altLang="en-US" sz="1600" dirty="0">
                <a:cs typeface="Times New Roman" panose="02020603050405020304" pitchFamily="18" charset="0"/>
              </a:rPr>
              <a:t>平台中均匀基质滤失型占</a:t>
            </a:r>
            <a:r>
              <a:rPr lang="en-US" altLang="zh-CN" sz="1600" dirty="0">
                <a:cs typeface="Times New Roman" panose="02020603050405020304" pitchFamily="18" charset="0"/>
              </a:rPr>
              <a:t>44.83%</a:t>
            </a:r>
            <a:r>
              <a:rPr lang="zh-CN" altLang="en-US" sz="1600" dirty="0">
                <a:cs typeface="Times New Roman" panose="02020603050405020304" pitchFamily="18" charset="0"/>
              </a:rPr>
              <a:t>，</a:t>
            </a:r>
            <a:r>
              <a:rPr lang="zh-CN" altLang="en-US" sz="1600" dirty="0">
                <a:solidFill>
                  <a:srgbClr val="FF0000"/>
                </a:solidFill>
                <a:sym typeface="+mn-ea"/>
              </a:rPr>
              <a:t>天然裂缝增强滤失型</a:t>
            </a:r>
            <a:r>
              <a:rPr lang="zh-CN" altLang="en-US" sz="1600" dirty="0">
                <a:cs typeface="Times New Roman" panose="02020603050405020304" pitchFamily="18" charset="0"/>
              </a:rPr>
              <a:t>占</a:t>
            </a:r>
            <a:r>
              <a:rPr lang="en-US" altLang="zh-CN" sz="1600" dirty="0">
                <a:cs typeface="Times New Roman" panose="02020603050405020304" pitchFamily="18" charset="0"/>
              </a:rPr>
              <a:t>51.72%</a:t>
            </a:r>
            <a:r>
              <a:rPr lang="zh-CN" altLang="en-US" sz="1600" dirty="0">
                <a:cs typeface="Times New Roman" panose="02020603050405020304" pitchFamily="18" charset="0"/>
              </a:rPr>
              <a:t>，次生裂缝减缓滤失型仅占</a:t>
            </a:r>
            <a:r>
              <a:rPr lang="en-US" altLang="zh-CN" sz="1600" dirty="0">
                <a:cs typeface="Times New Roman" panose="02020603050405020304" pitchFamily="18" charset="0"/>
              </a:rPr>
              <a:t>3.45%</a:t>
            </a:r>
            <a:r>
              <a:rPr lang="zh-CN" altLang="en-US" sz="1600" dirty="0">
                <a:cs typeface="Times New Roman" panose="02020603050405020304" pitchFamily="18" charset="0"/>
              </a:rPr>
              <a:t> </a:t>
            </a:r>
            <a:endParaRPr lang="zh-CN" altLang="en-US" sz="1600" dirty="0">
              <a:cs typeface="Times New Roman" panose="02020603050405020304" pitchFamily="18" charset="0"/>
            </a:endParaRPr>
          </a:p>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从各井分布看，天然裂缝增强滤失型在</a:t>
            </a:r>
            <a:r>
              <a:rPr lang="en-US" altLang="zh-CN" sz="1600" dirty="0">
                <a:solidFill>
                  <a:srgbClr val="FF0000"/>
                </a:solidFill>
                <a:cs typeface="Times New Roman" panose="02020603050405020304" pitchFamily="18" charset="0"/>
              </a:rPr>
              <a:t>2</a:t>
            </a:r>
            <a:r>
              <a:rPr lang="zh-CN" altLang="en-US" sz="1600" dirty="0">
                <a:solidFill>
                  <a:srgbClr val="FF0000"/>
                </a:solidFill>
                <a:cs typeface="Times New Roman" panose="02020603050405020304" pitchFamily="18" charset="0"/>
              </a:rPr>
              <a:t>井</a:t>
            </a:r>
            <a:r>
              <a:rPr lang="zh-CN" altLang="en-US" sz="1600" dirty="0">
                <a:cs typeface="Times New Roman" panose="02020603050405020304" pitchFamily="18" charset="0"/>
              </a:rPr>
              <a:t>达到峰值</a:t>
            </a:r>
            <a:r>
              <a:rPr lang="en-US" altLang="zh-CN" sz="1600" dirty="0">
                <a:cs typeface="Times New Roman" panose="02020603050405020304" pitchFamily="18" charset="0"/>
              </a:rPr>
              <a:t>77.78%</a:t>
            </a:r>
            <a:r>
              <a:rPr lang="zh-CN" altLang="en-US" sz="1600" dirty="0">
                <a:cs typeface="Times New Roman" panose="02020603050405020304" pitchFamily="18" charset="0"/>
              </a:rPr>
              <a:t>，表明该井</a:t>
            </a:r>
            <a:r>
              <a:rPr lang="zh-CN" altLang="en-US" sz="1600" dirty="0">
                <a:solidFill>
                  <a:srgbClr val="FF0000"/>
                </a:solidFill>
                <a:cs typeface="Times New Roman" panose="02020603050405020304" pitchFamily="18" charset="0"/>
              </a:rPr>
              <a:t>天然裂缝发育程度较高</a:t>
            </a:r>
            <a:r>
              <a:rPr lang="zh-CN" altLang="en-US" sz="1600" dirty="0">
                <a:cs typeface="Times New Roman" panose="02020603050405020304" pitchFamily="18" charset="0"/>
              </a:rPr>
              <a:t> </a:t>
            </a:r>
            <a:endParaRPr lang="zh-CN" altLang="en-US" sz="1600" dirty="0">
              <a:cs typeface="Times New Roman" panose="02020603050405020304" pitchFamily="18" charset="0"/>
            </a:endParaRPr>
          </a:p>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平均每段</a:t>
            </a:r>
            <a:r>
              <a:rPr lang="zh-CN" altLang="en-US" sz="1600" dirty="0">
                <a:solidFill>
                  <a:srgbClr val="FF0000"/>
                </a:solidFill>
                <a:cs typeface="Times New Roman" panose="02020603050405020304" pitchFamily="18" charset="0"/>
              </a:rPr>
              <a:t>人工改造体积</a:t>
            </a:r>
            <a:r>
              <a:rPr lang="zh-CN" altLang="en-US" sz="1600" dirty="0">
                <a:cs typeface="Times New Roman" panose="02020603050405020304" pitchFamily="18" charset="0"/>
              </a:rPr>
              <a:t>与</a:t>
            </a:r>
            <a:r>
              <a:rPr lang="zh-CN" altLang="en-US" sz="1600" dirty="0">
                <a:solidFill>
                  <a:srgbClr val="FF0000"/>
                </a:solidFill>
                <a:cs typeface="Times New Roman" panose="02020603050405020304" pitchFamily="18" charset="0"/>
                <a:sym typeface="+mn-ea"/>
              </a:rPr>
              <a:t>均匀基质滤失型比例</a:t>
            </a:r>
            <a:r>
              <a:rPr lang="zh-CN" altLang="en-US" sz="1600" dirty="0">
                <a:solidFill>
                  <a:srgbClr val="FF0000"/>
                </a:solidFill>
                <a:cs typeface="Times New Roman" panose="02020603050405020304" pitchFamily="18" charset="0"/>
              </a:rPr>
              <a:t>成正比</a:t>
            </a:r>
            <a:r>
              <a:rPr lang="zh-CN" altLang="en-US" sz="1600" dirty="0">
                <a:cs typeface="Times New Roman" panose="02020603050405020304" pitchFamily="18" charset="0"/>
              </a:rPr>
              <a:t>、与</a:t>
            </a:r>
            <a:r>
              <a:rPr lang="zh-CN" altLang="en-US" sz="1600" dirty="0">
                <a:solidFill>
                  <a:srgbClr val="FF0000"/>
                </a:solidFill>
                <a:cs typeface="Times New Roman" panose="02020603050405020304" pitchFamily="18" charset="0"/>
              </a:rPr>
              <a:t>天然裂缝增强滤失型成反比</a:t>
            </a:r>
            <a:r>
              <a:rPr lang="zh-CN" altLang="en-US" sz="1600" dirty="0">
                <a:cs typeface="Times New Roman" panose="02020603050405020304" pitchFamily="18" charset="0"/>
              </a:rPr>
              <a:t> </a:t>
            </a:r>
            <a:endParaRPr lang="zh-CN" altLang="en-US" sz="1600" dirty="0">
              <a:cs typeface="Times New Roman" panose="02020603050405020304" pitchFamily="18" charset="0"/>
            </a:endParaRPr>
          </a:p>
        </p:txBody>
      </p:sp>
      <p:sp>
        <p:nvSpPr>
          <p:cNvPr id="14" name="文本框 38"/>
          <p:cNvSpPr txBox="1"/>
          <p:nvPr>
            <p:custDataLst>
              <p:tags r:id="rId1"/>
            </p:custDataLst>
          </p:nvPr>
        </p:nvSpPr>
        <p:spPr>
          <a:xfrm>
            <a:off x="4034790" y="6091555"/>
            <a:ext cx="362521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203H10</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平台各井滤失类型占比分析图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文本框 38"/>
          <p:cNvSpPr txBox="1"/>
          <p:nvPr>
            <p:custDataLst>
              <p:tags r:id="rId2"/>
            </p:custDataLst>
          </p:nvPr>
        </p:nvSpPr>
        <p:spPr>
          <a:xfrm>
            <a:off x="7878445" y="6091555"/>
            <a:ext cx="3941445" cy="429895"/>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203H10</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平台</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1-4</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井各井滤失类型占比与平均每段人工改造体积对比图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6" name="图片 15"/>
          <p:cNvPicPr>
            <a:picLocks noChangeAspect="1"/>
          </p:cNvPicPr>
          <p:nvPr>
            <p:custDataLst>
              <p:tags r:id="rId3"/>
            </p:custDataLst>
          </p:nvPr>
        </p:nvPicPr>
        <p:blipFill>
          <a:blip r:embed="rId4"/>
          <a:srcRect l="1184" r="1184"/>
          <a:stretch>
            <a:fillRect/>
          </a:stretch>
        </p:blipFill>
        <p:spPr>
          <a:xfrm>
            <a:off x="7879080" y="2740025"/>
            <a:ext cx="3942080" cy="3054350"/>
          </a:xfrm>
          <a:prstGeom prst="rect">
            <a:avLst/>
          </a:prstGeom>
          <a:ln>
            <a:solidFill>
              <a:schemeClr val="tx1"/>
            </a:solidFill>
          </a:ln>
        </p:spPr>
      </p:pic>
      <p:pic>
        <p:nvPicPr>
          <p:cNvPr id="22" name="图片 21"/>
          <p:cNvPicPr>
            <a:picLocks noChangeAspect="1"/>
          </p:cNvPicPr>
          <p:nvPr>
            <p:custDataLst>
              <p:tags r:id="rId5"/>
            </p:custDataLst>
          </p:nvPr>
        </p:nvPicPr>
        <p:blipFill>
          <a:blip r:embed="rId6"/>
          <a:srcRect l="1186" r="1186"/>
          <a:stretch>
            <a:fillRect/>
          </a:stretch>
        </p:blipFill>
        <p:spPr>
          <a:xfrm>
            <a:off x="4034790" y="2740025"/>
            <a:ext cx="3625215" cy="3054350"/>
          </a:xfrm>
          <a:prstGeom prst="rect">
            <a:avLst/>
          </a:prstGeom>
          <a:ln>
            <a:solidFill>
              <a:schemeClr val="tx1"/>
            </a:solidFill>
          </a:ln>
        </p:spPr>
      </p:pic>
      <p:sp>
        <p:nvSpPr>
          <p:cNvPr id="2"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成果二、基于G函数分析停泵期压降曲线，揭示应力干扰下裂缝尺寸规律，构建了改造体积宏观评估体系</a:t>
            </a:r>
            <a:endPar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7"/>
          <a:stretch>
            <a:fillRect/>
          </a:stretch>
        </p:blipFill>
        <p:spPr>
          <a:xfrm>
            <a:off x="429895" y="2739390"/>
            <a:ext cx="3385820" cy="3055620"/>
          </a:xfrm>
          <a:prstGeom prst="rect">
            <a:avLst/>
          </a:prstGeom>
        </p:spPr>
      </p:pic>
      <p:sp>
        <p:nvSpPr>
          <p:cNvPr id="4" name="文本框 38"/>
          <p:cNvSpPr txBox="1"/>
          <p:nvPr>
            <p:custDataLst>
              <p:tags r:id="rId8"/>
            </p:custDataLst>
          </p:nvPr>
        </p:nvSpPr>
        <p:spPr>
          <a:xfrm>
            <a:off x="422910" y="6091555"/>
            <a:ext cx="339344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203H10</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平台区域多级断裂平面分布图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334962" y="1357435"/>
            <a:ext cx="11485563" cy="11567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buFont typeface="Wingdings" panose="05000000000000000000" charset="0"/>
              <a:buChar char="l"/>
            </a:pPr>
            <a:r>
              <a:rPr lang="zh-CN" altLang="en-US" sz="1600" dirty="0"/>
              <a:t>在多裂缝系统中，每条裂缝的形成都会推挤周围岩层，使邻近岩体受到挤压，导致其他裂缝的</a:t>
            </a:r>
            <a:r>
              <a:rPr lang="zh-CN" altLang="en-US" sz="1600" dirty="0">
                <a:solidFill>
                  <a:srgbClr val="FF0000"/>
                </a:solidFill>
              </a:rPr>
              <a:t>发育空间缩减</a:t>
            </a:r>
            <a:endParaRPr lang="en-US" altLang="zh-CN" sz="1600" dirty="0">
              <a:solidFill>
                <a:srgbClr val="FF0000"/>
              </a:solidFill>
            </a:endParaRPr>
          </a:p>
          <a:p>
            <a:pPr marL="342900" indent="-342900">
              <a:buFont typeface="Wingdings" panose="05000000000000000000" charset="0"/>
              <a:buChar char="l"/>
            </a:pPr>
            <a:r>
              <a:rPr lang="zh-CN" altLang="en-US" sz="1600" dirty="0">
                <a:cs typeface="Times New Roman" panose="02020603050405020304" pitchFamily="18" charset="0"/>
              </a:rPr>
              <a:t>引入“</a:t>
            </a:r>
            <a:r>
              <a:rPr lang="zh-CN" altLang="en-US" sz="1600" dirty="0">
                <a:solidFill>
                  <a:srgbClr val="FF0000"/>
                </a:solidFill>
                <a:cs typeface="Times New Roman" panose="02020603050405020304" pitchFamily="18" charset="0"/>
              </a:rPr>
              <a:t>缝间应力干扰因子</a:t>
            </a:r>
            <a:r>
              <a:rPr lang="zh-CN" altLang="en-US" sz="1600" dirty="0">
                <a:cs typeface="Times New Roman" panose="02020603050405020304" pitchFamily="18" charset="0"/>
              </a:rPr>
              <a:t>”定量表征相邻裂缝的应力干扰叠加效应</a:t>
            </a:r>
            <a:r>
              <a:rPr lang="en-US" altLang="zh-CN" sz="1600" dirty="0">
                <a:cs typeface="Times New Roman" panose="02020603050405020304" pitchFamily="18" charset="0"/>
              </a:rPr>
              <a:t>，</a:t>
            </a:r>
            <a:r>
              <a:rPr lang="zh-CN" altLang="en-US" sz="1600" dirty="0">
                <a:solidFill>
                  <a:srgbClr val="FF0000"/>
                </a:solidFill>
                <a:cs typeface="Times New Roman" panose="02020603050405020304" pitchFamily="18" charset="0"/>
              </a:rPr>
              <a:t>修正</a:t>
            </a:r>
            <a:r>
              <a:rPr lang="zh-CN" altLang="en-US" sz="1600" dirty="0">
                <a:cs typeface="Times New Roman" panose="02020603050405020304" pitchFamily="18" charset="0"/>
              </a:rPr>
              <a:t>每条裂缝的</a:t>
            </a:r>
            <a:r>
              <a:rPr lang="zh-CN" altLang="en-US" sz="1600" dirty="0">
                <a:solidFill>
                  <a:srgbClr val="FF0000"/>
                </a:solidFill>
                <a:cs typeface="Times New Roman" panose="02020603050405020304" pitchFamily="18" charset="0"/>
              </a:rPr>
              <a:t>净压力</a:t>
            </a:r>
            <a:r>
              <a:rPr lang="zh-CN" altLang="en-US" sz="1600" dirty="0">
                <a:cs typeface="Times New Roman" panose="02020603050405020304" pitchFamily="18" charset="0"/>
              </a:rPr>
              <a:t>、从而更准确地反演裂缝参数</a:t>
            </a:r>
            <a:endParaRPr lang="en-US" altLang="zh-CN" sz="1600" dirty="0">
              <a:cs typeface="Times New Roman" panose="02020603050405020304" pitchFamily="18" charset="0"/>
            </a:endParaRPr>
          </a:p>
          <a:p>
            <a:pPr marL="342900" indent="-342900">
              <a:buFont typeface="Wingdings" panose="05000000000000000000" charset="0"/>
              <a:buChar char="l"/>
            </a:pPr>
            <a:r>
              <a:rPr lang="zh-CN" altLang="en-US" sz="1600" dirty="0">
                <a:cs typeface="Times New Roman" panose="02020603050405020304" pitchFamily="18" charset="0"/>
              </a:rPr>
              <a:t>在体积守恒的约束下、联立方程得出</a:t>
            </a:r>
            <a:r>
              <a:rPr lang="zh-CN" altLang="en-US" sz="1600" dirty="0">
                <a:solidFill>
                  <a:srgbClr val="FF0000"/>
                </a:solidFill>
                <a:cs typeface="Times New Roman" panose="02020603050405020304" pitchFamily="18" charset="0"/>
              </a:rPr>
              <a:t>反演裂缝体积</a:t>
            </a:r>
            <a:r>
              <a:rPr lang="zh-CN" altLang="en-US" sz="1600" dirty="0">
                <a:cs typeface="Times New Roman" panose="02020603050405020304" pitchFamily="18" charset="0"/>
              </a:rPr>
              <a:t>、</a:t>
            </a:r>
            <a:r>
              <a:rPr lang="zh-CN" altLang="en-US" sz="1600" dirty="0">
                <a:solidFill>
                  <a:srgbClr val="FF0000"/>
                </a:solidFill>
                <a:cs typeface="Times New Roman" panose="02020603050405020304" pitchFamily="18" charset="0"/>
              </a:rPr>
              <a:t>平均滤失系数</a:t>
            </a:r>
            <a:r>
              <a:rPr lang="zh-CN" altLang="en-US" sz="1600" dirty="0">
                <a:cs typeface="Times New Roman" panose="02020603050405020304" pitchFamily="18" charset="0"/>
              </a:rPr>
              <a:t>关键系数，结合之前得到的滤失类型得出</a:t>
            </a:r>
            <a:r>
              <a:rPr lang="zh-CN" altLang="en-US" sz="1600" dirty="0">
                <a:solidFill>
                  <a:srgbClr val="FF0000"/>
                </a:solidFill>
                <a:cs typeface="Times New Roman" panose="02020603050405020304" pitchFamily="18" charset="0"/>
              </a:rPr>
              <a:t>综合评估分数</a:t>
            </a:r>
            <a:endParaRPr lang="zh-CN" altLang="en-US" sz="1600" dirty="0">
              <a:solidFill>
                <a:srgbClr val="FF0000"/>
              </a:solidFill>
              <a:cs typeface="Times New Roman" panose="02020603050405020304" pitchFamily="18" charset="0"/>
            </a:endParaRPr>
          </a:p>
        </p:txBody>
      </p:sp>
      <p:sp>
        <p:nvSpPr>
          <p:cNvPr id="20" name="矩形 19"/>
          <p:cNvSpPr/>
          <p:nvPr/>
        </p:nvSpPr>
        <p:spPr>
          <a:xfrm>
            <a:off x="429601" y="811428"/>
            <a:ext cx="10052311"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G</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函数分析实现滤失类型识别与裂缝尺寸计算，构建了一种改造体积综合评估方法</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graphicFrame>
        <p:nvGraphicFramePr>
          <p:cNvPr id="3" name="对象 2"/>
          <p:cNvGraphicFramePr>
            <a:graphicFrameLocks noChangeAspect="1"/>
          </p:cNvGraphicFramePr>
          <p:nvPr/>
        </p:nvGraphicFramePr>
        <p:xfrm>
          <a:off x="6146800" y="3327400"/>
          <a:ext cx="914400" cy="198438"/>
        </p:xfrm>
        <a:graphic>
          <a:graphicData uri="http://schemas.openxmlformats.org/presentationml/2006/ole">
            <mc:AlternateContent xmlns:mc="http://schemas.openxmlformats.org/markup-compatibility/2006">
              <mc:Choice xmlns:v="urn:schemas-microsoft-com:vml" Requires="v">
                <p:oleObj spid="_x0000_s2" name="Equation" r:id="rId1" imgW="2743200" imgH="4267200" progId="Equation.DSMT4">
                  <p:embed/>
                </p:oleObj>
              </mc:Choice>
              <mc:Fallback>
                <p:oleObj name="Equation" r:id="rId1" imgW="2743200" imgH="4267200" progId="Equation.DSMT4">
                  <p:embed/>
                  <p:pic>
                    <p:nvPicPr>
                      <p:cNvPr id="0" name="图片 14"/>
                      <p:cNvPicPr/>
                      <p:nvPr/>
                    </p:nvPicPr>
                    <p:blipFill>
                      <a:blip r:embed="rId2"/>
                      <a:stretch>
                        <a:fillRect/>
                      </a:stretch>
                    </p:blipFill>
                    <p:spPr>
                      <a:xfrm>
                        <a:off x="6146800" y="3327400"/>
                        <a:ext cx="914400" cy="198438"/>
                      </a:xfrm>
                      <a:prstGeom prst="rect">
                        <a:avLst/>
                      </a:prstGeom>
                    </p:spPr>
                  </p:pic>
                </p:oleObj>
              </mc:Fallback>
            </mc:AlternateContent>
          </a:graphicData>
        </a:graphic>
      </p:graphicFrame>
      <p:graphicFrame>
        <p:nvGraphicFramePr>
          <p:cNvPr id="50" name="表格 49"/>
          <p:cNvGraphicFramePr>
            <a:graphicFrameLocks noGrp="1"/>
          </p:cNvGraphicFramePr>
          <p:nvPr>
            <p:custDataLst>
              <p:tags r:id="rId3"/>
            </p:custDataLst>
          </p:nvPr>
        </p:nvGraphicFramePr>
        <p:xfrm>
          <a:off x="5894388" y="2691844"/>
          <a:ext cx="5789929" cy="3147420"/>
        </p:xfrm>
        <a:graphic>
          <a:graphicData uri="http://schemas.openxmlformats.org/drawingml/2006/table">
            <a:tbl>
              <a:tblPr firstRow="1" bandRow="1">
                <a:tableStyleId>{6408FC46-EBB3-42D5-8D6B-1D6FCACC751E}</a:tableStyleId>
              </a:tblPr>
              <a:tblGrid>
                <a:gridCol w="2026826"/>
                <a:gridCol w="2026826"/>
                <a:gridCol w="867932"/>
                <a:gridCol w="868345"/>
              </a:tblGrid>
              <a:tr h="644293">
                <a:tc>
                  <a:txBody>
                    <a:bodyPr/>
                    <a:lstStyle/>
                    <a:p>
                      <a:pPr marL="0" algn="ctr" rtl="0" eaLnBrk="1" fontAlgn="ctr" latinLnBrk="0" hangingPunct="1">
                        <a:lnSpc>
                          <a:spcPct val="120000"/>
                        </a:lnSpc>
                        <a:buNone/>
                      </a:pPr>
                      <a:r>
                        <a:rPr lang="zh-CN" altLang="en-US" sz="1200" u="none" strike="noStrike" kern="1200" spc="120" dirty="0">
                          <a:solidFill>
                            <a:schemeClr val="bg1"/>
                          </a:solidFill>
                          <a:effectLst/>
                          <a:latin typeface="微软雅黑" panose="020B0503020204020204" pitchFamily="34" charset="-122"/>
                          <a:ea typeface="微软雅黑" panose="020B0503020204020204" pitchFamily="34" charset="-122"/>
                        </a:rPr>
                        <a:t>井区</a:t>
                      </a:r>
                      <a:endParaRPr lang="zh-CN" altLang="en-US" sz="1200" u="none" strike="noStrike" kern="1200" spc="12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marL="0" algn="ctr" rtl="0" eaLnBrk="1" fontAlgn="ctr" latinLnBrk="0" hangingPunct="1">
                        <a:lnSpc>
                          <a:spcPct val="120000"/>
                        </a:lnSpc>
                        <a:buNone/>
                      </a:pPr>
                      <a:r>
                        <a:rPr lang="zh-CN" altLang="en-US" sz="1200" u="none" strike="noStrike" kern="1200" spc="120" dirty="0">
                          <a:solidFill>
                            <a:schemeClr val="bg1"/>
                          </a:solidFill>
                          <a:effectLst/>
                          <a:latin typeface="微软雅黑" panose="020B0503020204020204" pitchFamily="34" charset="-122"/>
                          <a:ea typeface="微软雅黑" panose="020B0503020204020204" pitchFamily="34" charset="-122"/>
                        </a:rPr>
                        <a:t>平台</a:t>
                      </a:r>
                      <a:endParaRPr lang="zh-CN" altLang="en-US" sz="1200" u="none" strike="noStrike" kern="1200" spc="12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marL="0" algn="ctr" rtl="0" eaLnBrk="1" fontAlgn="ctr" latinLnBrk="0" hangingPunct="1">
                        <a:lnSpc>
                          <a:spcPct val="120000"/>
                        </a:lnSpc>
                        <a:buNone/>
                      </a:pPr>
                      <a:r>
                        <a:rPr lang="zh-CN" altLang="en-US" sz="1200" u="none" strike="noStrike" kern="1200" spc="120" dirty="0">
                          <a:solidFill>
                            <a:schemeClr val="bg1"/>
                          </a:solidFill>
                          <a:effectLst/>
                          <a:latin typeface="微软雅黑" panose="020B0503020204020204" pitchFamily="34" charset="-122"/>
                          <a:ea typeface="微软雅黑" panose="020B0503020204020204" pitchFamily="34" charset="-122"/>
                        </a:rPr>
                        <a:t>千米</a:t>
                      </a:r>
                      <a:r>
                        <a:rPr lang="en-US" altLang="zh-CN" sz="1200" u="none" strike="noStrike" kern="1200" spc="120" dirty="0">
                          <a:solidFill>
                            <a:schemeClr val="bg1"/>
                          </a:solidFill>
                          <a:effectLst/>
                          <a:latin typeface="微软雅黑" panose="020B0503020204020204" pitchFamily="34" charset="-122"/>
                          <a:ea typeface="微软雅黑" panose="020B0503020204020204" pitchFamily="34" charset="-122"/>
                        </a:rPr>
                        <a:t>EUR</a:t>
                      </a:r>
                      <a:endParaRPr lang="en-US" altLang="zh-CN" sz="1200" u="none" strike="noStrike" kern="1200" spc="12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marL="0" algn="ctr" rtl="0" eaLnBrk="1" fontAlgn="ctr" latinLnBrk="0" hangingPunct="1">
                        <a:lnSpc>
                          <a:spcPct val="120000"/>
                        </a:lnSpc>
                        <a:buNone/>
                      </a:pPr>
                      <a:r>
                        <a:rPr lang="zh-CN" altLang="en-US" sz="1200" u="none" strike="noStrike" kern="1200" spc="120" dirty="0">
                          <a:solidFill>
                            <a:schemeClr val="bg1"/>
                          </a:solidFill>
                          <a:effectLst/>
                          <a:latin typeface="微软雅黑" panose="020B0503020204020204" pitchFamily="34" charset="-122"/>
                          <a:ea typeface="微软雅黑" panose="020B0503020204020204" pitchFamily="34" charset="-122"/>
                        </a:rPr>
                        <a:t>评价评分</a:t>
                      </a:r>
                      <a:endParaRPr lang="zh-CN" altLang="en-US" sz="1200" u="none" strike="noStrike" kern="1200" spc="12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417394">
                <a:tc rowSpan="2">
                  <a:txBody>
                    <a:bodyPr/>
                    <a:lstStyle/>
                    <a:p>
                      <a:pPr marL="0" marR="0" lvl="0" indent="0" algn="ctr" defTabSz="1218565" rtl="0" eaLnBrk="1" fontAlgn="ctr" latinLnBrk="0" hangingPunct="1">
                        <a:lnSpc>
                          <a:spcPct val="120000"/>
                        </a:lnSpc>
                        <a:spcBef>
                          <a:spcPts val="0"/>
                        </a:spcBef>
                        <a:spcAft>
                          <a:spcPts val="0"/>
                        </a:spcAft>
                        <a:buClrTx/>
                        <a:buSzTx/>
                        <a:buFontTx/>
                        <a:buNone/>
                        <a:defRPr/>
                      </a:pPr>
                      <a:r>
                        <a:rPr kumimoji="0" lang="zh-CN" altLang="en-US" sz="1200" u="none" strike="noStrike" kern="1200" cap="none" spc="0" normalizeH="0" baseline="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泸</a:t>
                      </a:r>
                      <a:r>
                        <a:rPr kumimoji="0" lang="en-US" altLang="zh-CN" sz="1200" u="none" strike="noStrike" kern="1200" cap="none" spc="0" normalizeH="0" baseline="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203</a:t>
                      </a:r>
                      <a:endParaRPr kumimoji="0" lang="zh-CN" altLang="en-US" sz="1200" u="none" strike="noStrike" kern="1200" cap="none" spc="0" normalizeH="0" baseline="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cs typeface="微软雅黑" panose="020B0503020204020204" pitchFamily="34" charset="-122"/>
                        </a:rPr>
                        <a:t>H10</a:t>
                      </a:r>
                      <a:endParaRPr lang="en-US" altLang="zh-CN" sz="1200" u="none" strike="noStrike" kern="12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0.48</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69.38</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17394">
                <a:tc vMerge="1">
                  <a:tcPr marL="25400" marR="25400" marT="6350" marB="6350" anchor="ct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marL="0" algn="ctr"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cs typeface="微软雅黑" panose="020B0503020204020204" pitchFamily="34" charset="-122"/>
                        </a:rPr>
                        <a:t>H123</a:t>
                      </a:r>
                      <a:endParaRPr lang="en-US" altLang="zh-CN" sz="1200" u="none" strike="noStrike" kern="12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0.50</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67.67</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17394">
                <a:tc rowSpan="2">
                  <a:txBody>
                    <a:bodyPr/>
                    <a:lstStyle/>
                    <a:p>
                      <a:pPr marL="0" marR="0" lvl="0" indent="0" algn="ctr" defTabSz="1218565" rtl="0" eaLnBrk="1" fontAlgn="ctr" latinLnBrk="0" hangingPunct="1">
                        <a:lnSpc>
                          <a:spcPct val="120000"/>
                        </a:lnSpc>
                        <a:spcBef>
                          <a:spcPts val="0"/>
                        </a:spcBef>
                        <a:spcAft>
                          <a:spcPts val="0"/>
                        </a:spcAft>
                        <a:buClrTx/>
                        <a:buSzTx/>
                        <a:buFontTx/>
                        <a:buNone/>
                        <a:defRPr/>
                      </a:pPr>
                      <a:r>
                        <a:rPr kumimoji="0" lang="zh-CN" altLang="en-US" sz="1200" u="none" strike="noStrike" kern="1200" cap="none" spc="0" normalizeH="0" baseline="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泸</a:t>
                      </a:r>
                      <a:r>
                        <a:rPr kumimoji="0" lang="en-US" altLang="zh-CN" sz="1200" u="none" strike="noStrike" kern="1200" cap="none" spc="0" normalizeH="0" baseline="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206</a:t>
                      </a:r>
                      <a:endParaRPr kumimoji="0" lang="zh-CN" altLang="en-US" sz="1200" u="none" strike="noStrike" kern="1200" cap="none" spc="0" normalizeH="0" baseline="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cs typeface="微软雅黑" panose="020B0503020204020204" pitchFamily="34" charset="-122"/>
                        </a:rPr>
                        <a:t>H7</a:t>
                      </a:r>
                      <a:endParaRPr lang="en-US" altLang="zh-CN" sz="1200" u="none" strike="noStrike" kern="12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0.53</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71.50</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17394">
                <a:tc vMerge="1">
                  <a:tcPr marL="25400" marR="25400" marT="6350" marB="6350" anchor="ct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marL="0" marR="0" lvl="0" indent="0" algn="ctr" defTabSz="1218565" rtl="0" eaLnBrk="1" fontAlgn="ctr" latinLnBrk="0" hangingPunct="1">
                        <a:lnSpc>
                          <a:spcPct val="120000"/>
                        </a:lnSpc>
                        <a:spcBef>
                          <a:spcPts val="0"/>
                        </a:spcBef>
                        <a:spcAft>
                          <a:spcPts val="0"/>
                        </a:spcAft>
                        <a:buClrTx/>
                        <a:buSzTx/>
                        <a:buFontTx/>
                        <a:buNone/>
                        <a:defRPr/>
                      </a:pPr>
                      <a:r>
                        <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H8</a:t>
                      </a:r>
                      <a:endPar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0.60</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82.33</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16710">
                <a:tc rowSpan="2">
                  <a:txBody>
                    <a:bodyPr/>
                    <a:lstStyle/>
                    <a:p>
                      <a:pPr marL="0" marR="0" lvl="0" indent="0" algn="ctr" defTabSz="1218565" rtl="0" eaLnBrk="1" fontAlgn="ctr" latinLnBrk="0" hangingPunct="1">
                        <a:lnSpc>
                          <a:spcPct val="120000"/>
                        </a:lnSpc>
                        <a:spcBef>
                          <a:spcPts val="0"/>
                        </a:spcBef>
                        <a:spcAft>
                          <a:spcPts val="0"/>
                        </a:spcAft>
                        <a:buClrTx/>
                        <a:buSzTx/>
                        <a:buFontTx/>
                        <a:buNone/>
                        <a:defRPr/>
                      </a:pPr>
                      <a:r>
                        <a:rPr kumimoji="0" lang="zh-CN" altLang="en-US" sz="120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足</a:t>
                      </a:r>
                      <a:r>
                        <a:rPr kumimoji="0" lang="en-US" altLang="zh-CN" sz="120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201</a:t>
                      </a:r>
                      <a:endParaRPr kumimoji="0" lang="zh-CN" altLang="en-US" sz="120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lvl="0" indent="0" algn="ctr" defTabSz="1218565" rtl="0" eaLnBrk="1" fontAlgn="ctr" latinLnBrk="0" hangingPunct="1">
                        <a:lnSpc>
                          <a:spcPct val="120000"/>
                        </a:lnSpc>
                        <a:spcBef>
                          <a:spcPts val="0"/>
                        </a:spcBef>
                        <a:spcAft>
                          <a:spcPts val="0"/>
                        </a:spcAft>
                        <a:buClrTx/>
                        <a:buSzTx/>
                        <a:buFontTx/>
                        <a:buNone/>
                        <a:defRPr/>
                      </a:pPr>
                      <a:r>
                        <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H21</a:t>
                      </a:r>
                      <a:endPar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0.49</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76.78</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16841">
                <a:tc vMerge="1">
                  <a:tcPr marL="25400" marR="25400" marT="6350" marB="6350" anchor="ct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marL="0" marR="0" lvl="0" indent="0" algn="ctr" defTabSz="1218565" rtl="0" eaLnBrk="1" fontAlgn="ctr" latinLnBrk="0" hangingPunct="1">
                        <a:lnSpc>
                          <a:spcPct val="120000"/>
                        </a:lnSpc>
                        <a:spcBef>
                          <a:spcPts val="0"/>
                        </a:spcBef>
                        <a:spcAft>
                          <a:spcPts val="0"/>
                        </a:spcAft>
                        <a:buClrTx/>
                        <a:buSzTx/>
                        <a:buFontTx/>
                        <a:buNone/>
                        <a:defRPr/>
                      </a:pPr>
                      <a:r>
                        <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H8</a:t>
                      </a:r>
                      <a:endPar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0.58</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1218565" rtl="0" eaLnBrk="1" fontAlgn="ctr" latinLnBrk="0" hangingPunct="1">
                        <a:lnSpc>
                          <a:spcPct val="120000"/>
                        </a:lnSpc>
                        <a:buNone/>
                      </a:pPr>
                      <a:r>
                        <a:rPr lang="en-US" altLang="zh-CN" sz="1200" u="none" strike="noStrike" kern="1200" dirty="0">
                          <a:effectLst/>
                          <a:latin typeface="微软雅黑" panose="020B0503020204020204" pitchFamily="34" charset="-122"/>
                          <a:ea typeface="微软雅黑" panose="020B0503020204020204" pitchFamily="34" charset="-122"/>
                        </a:rPr>
                        <a:t>75.61</a:t>
                      </a:r>
                      <a:endParaRPr lang="en-US" altLang="zh-CN" sz="1200" u="none" strike="noStrike" kern="1200"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5" name="Rectangle 11"/>
          <p:cNvSpPr>
            <a:spLocks noChangeArrowheads="1"/>
          </p:cNvSpPr>
          <p:nvPr/>
        </p:nvSpPr>
        <p:spPr bwMode="auto">
          <a:xfrm>
            <a:off x="376555" y="51118"/>
            <a:ext cx="11814810" cy="643890"/>
          </a:xfrm>
          <a:prstGeom prst="rect">
            <a:avLst/>
          </a:prstGeom>
        </p:spPr>
        <p:txBody>
          <a:bodyPr wrap="square" lIns="91424" tIns="45712" rIns="91424" bIns="45712" anchor="ctr">
            <a:spAutoFit/>
          </a:bodyPr>
          <a:lstStyle/>
          <a:p>
            <a:pPr lvl="0" algn="ctr">
              <a:lnSpc>
                <a:spcPct val="200000"/>
              </a:lnSpc>
              <a:defRPr/>
            </a:pPr>
            <a:r>
              <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成果二、基于G函数分析停泵期压降曲线，揭示应力干扰下裂缝尺寸规律，构建了改造体积宏观评估体系</a:t>
            </a:r>
            <a:endParaRPr lang="zh-CN" altLang="en-US"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sp>
        <p:nvSpPr>
          <p:cNvPr id="7" name="文本框 38"/>
          <p:cNvSpPr txBox="1"/>
          <p:nvPr/>
        </p:nvSpPr>
        <p:spPr>
          <a:xfrm>
            <a:off x="508635" y="6091555"/>
            <a:ext cx="521398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多裂缝应力干扰示意图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4"/>
          <a:srcRect l="6248" r="6248"/>
          <a:stretch>
            <a:fillRect/>
          </a:stretch>
        </p:blipFill>
        <p:spPr>
          <a:xfrm>
            <a:off x="507683" y="2691844"/>
            <a:ext cx="5215241" cy="3147421"/>
          </a:xfrm>
          <a:prstGeom prst="rect">
            <a:avLst/>
          </a:prstGeom>
          <a:ln>
            <a:solidFill>
              <a:schemeClr val="tx1"/>
            </a:solidFill>
          </a:ln>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44500" y="932815"/>
            <a:ext cx="11360150" cy="1174750"/>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600"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成果三、</a:t>
            </a:r>
            <a:r>
              <a:rPr kumimoji="0" lang="zh-CN" altLang="en-US" sz="3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构建了地质工程一体化多源异构大数据库，形成了压裂效果综合评估方法，开发了可视化操作界面</a:t>
            </a:r>
            <a:endParaRPr kumimoji="0" lang="zh-CN" altLang="en-US" sz="3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2" name="Text Box 6"/>
          <p:cNvSpPr txBox="1">
            <a:spLocks noChangeArrowheads="1"/>
          </p:cNvSpPr>
          <p:nvPr/>
        </p:nvSpPr>
        <p:spPr bwMode="auto">
          <a:xfrm>
            <a:off x="444500" y="2025650"/>
            <a:ext cx="11360785" cy="3905885"/>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effectLst/>
                <a:uLnTx/>
                <a:uFillTx/>
                <a:latin typeface="微软雅黑" panose="020B0503020204020204" pitchFamily="34" charset="-122"/>
                <a:ea typeface="微软雅黑" panose="020B0503020204020204" pitchFamily="34" charset="-122"/>
                <a:sym typeface="+mn-ea"/>
              </a:rPr>
              <a:t>（一）研究背景调研</a:t>
            </a:r>
            <a:endParaRPr 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effectLst/>
                <a:uLnTx/>
                <a:uFillTx/>
                <a:latin typeface="微软雅黑" panose="020B0503020204020204" pitchFamily="34" charset="-122"/>
                <a:ea typeface="微软雅黑" panose="020B0503020204020204" pitchFamily="34" charset="-122"/>
                <a:sym typeface="+mn-ea"/>
              </a:rPr>
              <a:t>（二）多源异构数据灰色关联分析</a:t>
            </a:r>
            <a:endParaRPr lang="zh-CN" sz="2400" b="1"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effectLst/>
                <a:uLnTx/>
                <a:uFillTx/>
                <a:latin typeface="微软雅黑" panose="020B0503020204020204" pitchFamily="34" charset="-122"/>
                <a:ea typeface="微软雅黑" panose="020B0503020204020204" pitchFamily="34" charset="-122"/>
                <a:sym typeface="+mn-ea"/>
              </a:rPr>
              <a:t>（三）</a:t>
            </a:r>
            <a:r>
              <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压裂效果综合评估方法建立与</a:t>
            </a:r>
            <a:r>
              <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应用</a:t>
            </a:r>
            <a:endPar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sz="2400" b="1" noProof="0" dirty="0">
                <a:ln>
                  <a:noFill/>
                </a:ln>
                <a:effectLst/>
                <a:uLnTx/>
                <a:uFillTx/>
                <a:latin typeface="微软雅黑" panose="020B0503020204020204" pitchFamily="34" charset="-122"/>
                <a:ea typeface="微软雅黑" panose="020B0503020204020204" pitchFamily="34" charset="-122"/>
                <a:sym typeface="+mn-ea"/>
              </a:rPr>
              <a:t>（四）</a:t>
            </a:r>
            <a:r>
              <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可视化操作界面设计与</a:t>
            </a:r>
            <a:r>
              <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演示</a:t>
            </a:r>
            <a:endPar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468911"/>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现状及存在问题</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 name="TextBox 2"/>
          <p:cNvSpPr txBox="1">
            <a:spLocks noChangeArrowheads="1"/>
          </p:cNvSpPr>
          <p:nvPr/>
        </p:nvSpPr>
        <p:spPr bwMode="auto">
          <a:xfrm>
            <a:off x="334962" y="134249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solidFill>
                  <a:srgbClr val="FF0000"/>
                </a:solidFill>
                <a:cs typeface="Times New Roman" panose="02020603050405020304" pitchFamily="18" charset="0"/>
              </a:rPr>
              <a:t>压裂中各项参数</a:t>
            </a:r>
            <a:r>
              <a:rPr lang="zh-CN" altLang="en-US" sz="1600" dirty="0">
                <a:cs typeface="Times New Roman" panose="02020603050405020304" pitchFamily="18" charset="0"/>
              </a:rPr>
              <a:t>都有可能直接影响</a:t>
            </a:r>
            <a:r>
              <a:rPr lang="zh-CN" altLang="en-US" sz="1600" dirty="0">
                <a:solidFill>
                  <a:srgbClr val="FF0000"/>
                </a:solidFill>
                <a:cs typeface="Times New Roman" panose="02020603050405020304" pitchFamily="18" charset="0"/>
              </a:rPr>
              <a:t>裂缝的形成及改造效果</a:t>
            </a:r>
            <a:r>
              <a:rPr lang="zh-CN" altLang="en-US" sz="1600" dirty="0">
                <a:cs typeface="Times New Roman" panose="02020603050405020304" pitchFamily="18" charset="0"/>
              </a:rPr>
              <a:t>，深入分析与研究能够为是油气藏开发评估提供重要</a:t>
            </a:r>
            <a:r>
              <a:rPr lang="zh-CN" altLang="en-US" sz="1600" dirty="0">
                <a:cs typeface="Times New Roman" panose="02020603050405020304" pitchFamily="18" charset="0"/>
              </a:rPr>
              <a:t>依据</a:t>
            </a:r>
            <a:endParaRPr lang="zh-CN" altLang="en-US" sz="1600" dirty="0">
              <a:cs typeface="Times New Roman" panose="02020603050405020304" pitchFamily="18" charset="0"/>
            </a:endParaRPr>
          </a:p>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当前对</a:t>
            </a:r>
            <a:r>
              <a:rPr lang="zh-CN" altLang="en-US" sz="1600" dirty="0">
                <a:solidFill>
                  <a:srgbClr val="FF0000"/>
                </a:solidFill>
                <a:cs typeface="Times New Roman" panose="02020603050405020304" pitchFamily="18" charset="0"/>
              </a:rPr>
              <a:t>压裂中参数与改造体积</a:t>
            </a:r>
            <a:r>
              <a:rPr lang="zh-CN" altLang="en-US" sz="1600" dirty="0">
                <a:cs typeface="Times New Roman" panose="02020603050405020304" pitchFamily="18" charset="0"/>
              </a:rPr>
              <a:t>的认识不足，传统分析方法多依赖经验或单一指标，难以全面揭示二者间的关联规律</a:t>
            </a:r>
            <a:endParaRPr lang="zh-CN" altLang="en-US" sz="1600" dirty="0">
              <a:cs typeface="Times New Roman" panose="02020603050405020304" pitchFamily="18" charset="0"/>
            </a:endParaRPr>
          </a:p>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运用</a:t>
            </a:r>
            <a:r>
              <a:rPr lang="zh-CN" altLang="en-US" sz="1600" dirty="0">
                <a:solidFill>
                  <a:srgbClr val="FF0000"/>
                </a:solidFill>
                <a:cs typeface="Times New Roman" panose="02020603050405020304" pitchFamily="18" charset="0"/>
              </a:rPr>
              <a:t>灰色关联度分析法</a:t>
            </a:r>
            <a:r>
              <a:rPr lang="zh-CN" altLang="en-US" sz="1600" dirty="0">
                <a:cs typeface="Times New Roman" panose="02020603050405020304" pitchFamily="18" charset="0"/>
              </a:rPr>
              <a:t>进行研究，能够揭示</a:t>
            </a:r>
            <a:r>
              <a:rPr lang="zh-CN" altLang="en-US" sz="1600" dirty="0">
                <a:solidFill>
                  <a:srgbClr val="FF0000"/>
                </a:solidFill>
                <a:cs typeface="Times New Roman" panose="02020603050405020304" pitchFamily="18" charset="0"/>
              </a:rPr>
              <a:t>关键参数对改造效果的影响</a:t>
            </a:r>
            <a:r>
              <a:rPr lang="zh-CN" altLang="en-US" sz="1600" dirty="0">
                <a:cs typeface="Times New Roman" panose="02020603050405020304" pitchFamily="18" charset="0"/>
              </a:rPr>
              <a:t>，提供</a:t>
            </a:r>
            <a:r>
              <a:rPr lang="zh-CN" altLang="en-US" sz="1600" dirty="0">
                <a:solidFill>
                  <a:srgbClr val="FF0000"/>
                </a:solidFill>
                <a:cs typeface="Times New Roman" panose="02020603050405020304" pitchFamily="18" charset="0"/>
              </a:rPr>
              <a:t>科学的压裂设计优化方案</a:t>
            </a:r>
            <a:endParaRPr lang="zh-CN" altLang="en-US" sz="1600" dirty="0">
              <a:cs typeface="Times New Roman" panose="02020603050405020304" pitchFamily="18" charset="0"/>
            </a:endParaRPr>
          </a:p>
        </p:txBody>
      </p:sp>
      <p:sp>
        <p:nvSpPr>
          <p:cNvPr id="12" name="文本框 38"/>
          <p:cNvSpPr txBox="1"/>
          <p:nvPr/>
        </p:nvSpPr>
        <p:spPr>
          <a:xfrm>
            <a:off x="668020" y="6091555"/>
            <a:ext cx="450088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压裂施工现场</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38"/>
          <p:cNvSpPr txBox="1"/>
          <p:nvPr/>
        </p:nvSpPr>
        <p:spPr>
          <a:xfrm>
            <a:off x="5889625" y="6091555"/>
            <a:ext cx="555307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压裂中</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各项参数与改造体积关联性尚不清楚</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pic>
        <p:nvPicPr>
          <p:cNvPr id="4" name="图片 3"/>
          <p:cNvPicPr/>
          <p:nvPr/>
        </p:nvPicPr>
        <p:blipFill>
          <a:blip r:embed="rId1"/>
          <a:stretch>
            <a:fillRect/>
          </a:stretch>
        </p:blipFill>
        <p:spPr>
          <a:xfrm>
            <a:off x="668655" y="2871470"/>
            <a:ext cx="4500245" cy="2989580"/>
          </a:xfrm>
          <a:prstGeom prst="rect">
            <a:avLst/>
          </a:prstGeom>
        </p:spPr>
      </p:pic>
      <p:sp>
        <p:nvSpPr>
          <p:cNvPr id="5" name="圆角矩形 4"/>
          <p:cNvSpPr/>
          <p:nvPr/>
        </p:nvSpPr>
        <p:spPr>
          <a:xfrm>
            <a:off x="6611620" y="3331845"/>
            <a:ext cx="1270000" cy="46736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bg1"/>
                </a:solidFill>
                <a:latin typeface="Tahoma" panose="020B0604030504040204"/>
                <a:ea typeface="方正大黑简体" panose="02000000000000000000" pitchFamily="65" charset="-122"/>
              </a:rPr>
              <a:t>用液强度</a:t>
            </a:r>
            <a:endParaRPr lang="zh-CN" altLang="en-US" dirty="0">
              <a:solidFill>
                <a:schemeClr val="bg1"/>
              </a:solidFill>
              <a:latin typeface="Tahoma" panose="020B0604030504040204"/>
              <a:ea typeface="方正大黑简体" panose="02000000000000000000" pitchFamily="65" charset="-122"/>
            </a:endParaRPr>
          </a:p>
        </p:txBody>
      </p:sp>
      <p:sp>
        <p:nvSpPr>
          <p:cNvPr id="6" name="圆角矩形 5"/>
          <p:cNvSpPr/>
          <p:nvPr/>
        </p:nvSpPr>
        <p:spPr>
          <a:xfrm>
            <a:off x="8100060" y="2754630"/>
            <a:ext cx="1270000" cy="46736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bg1"/>
                </a:solidFill>
                <a:latin typeface="Tahoma" panose="020B0604030504040204"/>
                <a:ea typeface="方正大黑简体" panose="02000000000000000000" pitchFamily="65" charset="-122"/>
              </a:rPr>
              <a:t>停泵压力</a:t>
            </a:r>
            <a:endParaRPr lang="zh-CN" altLang="en-US" dirty="0">
              <a:solidFill>
                <a:schemeClr val="bg1"/>
              </a:solidFill>
              <a:latin typeface="Tahoma" panose="020B0604030504040204"/>
              <a:ea typeface="方正大黑简体" panose="02000000000000000000" pitchFamily="65" charset="-122"/>
            </a:endParaRPr>
          </a:p>
        </p:txBody>
      </p:sp>
      <p:sp>
        <p:nvSpPr>
          <p:cNvPr id="10" name="圆角矩形 9"/>
          <p:cNvSpPr/>
          <p:nvPr/>
        </p:nvSpPr>
        <p:spPr>
          <a:xfrm>
            <a:off x="9588500" y="3326765"/>
            <a:ext cx="1270000" cy="46736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bg1"/>
                </a:solidFill>
                <a:latin typeface="Tahoma" panose="020B0604030504040204"/>
                <a:ea typeface="方正大黑简体" panose="02000000000000000000" pitchFamily="65" charset="-122"/>
              </a:rPr>
              <a:t>加砂强度</a:t>
            </a:r>
            <a:endParaRPr lang="zh-CN" altLang="en-US" dirty="0">
              <a:solidFill>
                <a:schemeClr val="bg1"/>
              </a:solidFill>
              <a:latin typeface="Tahoma" panose="020B0604030504040204"/>
              <a:ea typeface="方正大黑简体" panose="02000000000000000000" pitchFamily="65" charset="-122"/>
            </a:endParaRPr>
          </a:p>
        </p:txBody>
      </p:sp>
      <p:sp>
        <p:nvSpPr>
          <p:cNvPr id="11" name="圆角矩形 10"/>
          <p:cNvSpPr/>
          <p:nvPr/>
        </p:nvSpPr>
        <p:spPr>
          <a:xfrm>
            <a:off x="5890260" y="4187825"/>
            <a:ext cx="1270000" cy="46736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bg1"/>
                </a:solidFill>
                <a:latin typeface="Tahoma" panose="020B0604030504040204"/>
                <a:ea typeface="方正大黑简体" panose="02000000000000000000" pitchFamily="65" charset="-122"/>
              </a:rPr>
              <a:t>总液量</a:t>
            </a:r>
            <a:endParaRPr lang="zh-CN" altLang="en-US" dirty="0">
              <a:solidFill>
                <a:schemeClr val="bg1"/>
              </a:solidFill>
              <a:latin typeface="Tahoma" panose="020B0604030504040204"/>
              <a:ea typeface="方正大黑简体" panose="02000000000000000000" pitchFamily="65" charset="-122"/>
            </a:endParaRPr>
          </a:p>
        </p:txBody>
      </p:sp>
      <p:sp>
        <p:nvSpPr>
          <p:cNvPr id="13" name="圆角矩形 12"/>
          <p:cNvSpPr/>
          <p:nvPr/>
        </p:nvSpPr>
        <p:spPr>
          <a:xfrm>
            <a:off x="6027420" y="5186045"/>
            <a:ext cx="1270000" cy="46736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bg1"/>
                </a:solidFill>
                <a:latin typeface="Tahoma" panose="020B0604030504040204"/>
                <a:ea typeface="方正大黑简体" panose="02000000000000000000" pitchFamily="65" charset="-122"/>
              </a:rPr>
              <a:t>施工排量</a:t>
            </a:r>
            <a:endParaRPr lang="zh-CN" altLang="en-US" dirty="0">
              <a:solidFill>
                <a:schemeClr val="bg1"/>
              </a:solidFill>
              <a:latin typeface="Tahoma" panose="020B0604030504040204"/>
              <a:ea typeface="方正大黑简体" panose="02000000000000000000" pitchFamily="65" charset="-122"/>
            </a:endParaRPr>
          </a:p>
        </p:txBody>
      </p:sp>
      <p:sp>
        <p:nvSpPr>
          <p:cNvPr id="18" name="圆角矩形 17"/>
          <p:cNvSpPr/>
          <p:nvPr/>
        </p:nvSpPr>
        <p:spPr>
          <a:xfrm>
            <a:off x="10172700" y="5213985"/>
            <a:ext cx="1270000" cy="46736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bg1"/>
                </a:solidFill>
                <a:latin typeface="Tahoma" panose="020B0604030504040204"/>
                <a:ea typeface="方正大黑简体" panose="02000000000000000000" pitchFamily="65" charset="-122"/>
              </a:rPr>
              <a:t>起裂压力</a:t>
            </a:r>
            <a:endParaRPr lang="zh-CN" altLang="en-US" dirty="0">
              <a:solidFill>
                <a:schemeClr val="bg1"/>
              </a:solidFill>
              <a:latin typeface="Tahoma" panose="020B0604030504040204"/>
              <a:ea typeface="方正大黑简体" panose="02000000000000000000" pitchFamily="65" charset="-122"/>
            </a:endParaRPr>
          </a:p>
        </p:txBody>
      </p:sp>
      <p:sp>
        <p:nvSpPr>
          <p:cNvPr id="19" name="圆角矩形 18"/>
          <p:cNvSpPr/>
          <p:nvPr/>
        </p:nvSpPr>
        <p:spPr>
          <a:xfrm>
            <a:off x="10309860" y="4185285"/>
            <a:ext cx="1270000" cy="46736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bg1"/>
                </a:solidFill>
                <a:latin typeface="Tahoma" panose="020B0604030504040204"/>
                <a:ea typeface="方正大黑简体" panose="02000000000000000000" pitchFamily="65" charset="-122"/>
              </a:rPr>
              <a:t>总砂量</a:t>
            </a:r>
            <a:endParaRPr lang="zh-CN" altLang="en-US" dirty="0">
              <a:solidFill>
                <a:schemeClr val="bg1"/>
              </a:solidFill>
              <a:latin typeface="Tahoma" panose="020B0604030504040204"/>
              <a:ea typeface="方正大黑简体" panose="02000000000000000000" pitchFamily="65" charset="-122"/>
            </a:endParaRPr>
          </a:p>
        </p:txBody>
      </p:sp>
      <p:sp>
        <p:nvSpPr>
          <p:cNvPr id="20" name="椭圆 19"/>
          <p:cNvSpPr/>
          <p:nvPr/>
        </p:nvSpPr>
        <p:spPr>
          <a:xfrm>
            <a:off x="7881620" y="4285615"/>
            <a:ext cx="1706880" cy="1036955"/>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bg1"/>
                </a:solidFill>
                <a:latin typeface="Tahoma" panose="020B0604030504040204"/>
                <a:ea typeface="方正大黑简体" panose="02000000000000000000" pitchFamily="65" charset="-122"/>
              </a:rPr>
              <a:t>改造体积</a:t>
            </a:r>
            <a:endParaRPr lang="zh-CN" altLang="en-US" dirty="0">
              <a:solidFill>
                <a:schemeClr val="bg1"/>
              </a:solidFill>
              <a:latin typeface="Tahoma" panose="020B0604030504040204"/>
              <a:ea typeface="方正大黑简体" panose="02000000000000000000" pitchFamily="65" charset="-122"/>
            </a:endParaRPr>
          </a:p>
        </p:txBody>
      </p:sp>
      <p:cxnSp>
        <p:nvCxnSpPr>
          <p:cNvPr id="21" name="直接箭头连接符 20"/>
          <p:cNvCxnSpPr>
            <a:stCxn id="6" idx="2"/>
            <a:endCxn id="20" idx="0"/>
          </p:cNvCxnSpPr>
          <p:nvPr/>
        </p:nvCxnSpPr>
        <p:spPr>
          <a:xfrm>
            <a:off x="8735060" y="3221990"/>
            <a:ext cx="0" cy="1063625"/>
          </a:xfrm>
          <a:prstGeom prst="straightConnector1">
            <a:avLst/>
          </a:prstGeom>
          <a:solidFill>
            <a:schemeClr val="accent1"/>
          </a:solidFill>
          <a:ln w="19050" cap="flat" cmpd="sng" algn="ctr">
            <a:solidFill>
              <a:schemeClr val="tx1"/>
            </a:solidFill>
            <a:prstDash val="solid"/>
            <a:round/>
            <a:headEnd type="arrow" w="med" len="med"/>
            <a:tailEnd type="arrow" w="med" len="med"/>
          </a:ln>
          <a:effectLst>
            <a:outerShdw dist="17961" dir="2700000" algn="ctr" rotWithShape="0">
              <a:schemeClr val="tx1">
                <a:gamma/>
                <a:shade val="60000"/>
                <a:invGamma/>
                <a:alpha val="50000"/>
              </a:schemeClr>
            </a:outerShdw>
          </a:effectLst>
        </p:spPr>
      </p:cxnSp>
      <p:cxnSp>
        <p:nvCxnSpPr>
          <p:cNvPr id="22" name="直接箭头连接符 21"/>
          <p:cNvCxnSpPr>
            <a:stCxn id="5" idx="2"/>
            <a:endCxn id="20" idx="1"/>
          </p:cNvCxnSpPr>
          <p:nvPr/>
        </p:nvCxnSpPr>
        <p:spPr>
          <a:xfrm>
            <a:off x="7246620" y="3799205"/>
            <a:ext cx="885190" cy="638175"/>
          </a:xfrm>
          <a:prstGeom prst="straightConnector1">
            <a:avLst/>
          </a:prstGeom>
          <a:solidFill>
            <a:schemeClr val="accent1"/>
          </a:solidFill>
          <a:ln w="19050" cap="flat" cmpd="sng" algn="ctr">
            <a:solidFill>
              <a:schemeClr val="tx1"/>
            </a:solidFill>
            <a:prstDash val="solid"/>
            <a:round/>
            <a:headEnd type="arrow" w="med" len="med"/>
            <a:tailEnd type="arrow" w="med" len="med"/>
          </a:ln>
          <a:effectLst>
            <a:outerShdw dist="17961" dir="2700000" algn="ctr" rotWithShape="0">
              <a:schemeClr val="tx1">
                <a:gamma/>
                <a:shade val="60000"/>
                <a:invGamma/>
                <a:alpha val="50000"/>
              </a:schemeClr>
            </a:outerShdw>
          </a:effectLst>
        </p:spPr>
      </p:cxnSp>
      <p:cxnSp>
        <p:nvCxnSpPr>
          <p:cNvPr id="23" name="直接箭头连接符 22"/>
          <p:cNvCxnSpPr>
            <a:stCxn id="11" idx="2"/>
            <a:endCxn id="20" idx="2"/>
          </p:cNvCxnSpPr>
          <p:nvPr/>
        </p:nvCxnSpPr>
        <p:spPr>
          <a:xfrm>
            <a:off x="6525260" y="4655185"/>
            <a:ext cx="1356360" cy="149225"/>
          </a:xfrm>
          <a:prstGeom prst="straightConnector1">
            <a:avLst/>
          </a:prstGeom>
          <a:solidFill>
            <a:schemeClr val="accent1"/>
          </a:solidFill>
          <a:ln w="19050" cap="flat" cmpd="sng" algn="ctr">
            <a:solidFill>
              <a:schemeClr val="tx1"/>
            </a:solidFill>
            <a:prstDash val="solid"/>
            <a:round/>
            <a:headEnd type="arrow" w="med" len="med"/>
            <a:tailEnd type="arrow" w="med" len="med"/>
          </a:ln>
          <a:effectLst>
            <a:outerShdw dist="17961" dir="2700000" algn="ctr" rotWithShape="0">
              <a:schemeClr val="tx1">
                <a:gamma/>
                <a:shade val="60000"/>
                <a:invGamma/>
                <a:alpha val="50000"/>
              </a:schemeClr>
            </a:outerShdw>
          </a:effectLst>
        </p:spPr>
      </p:cxnSp>
      <p:cxnSp>
        <p:nvCxnSpPr>
          <p:cNvPr id="25" name="直接箭头连接符 24"/>
          <p:cNvCxnSpPr>
            <a:stCxn id="10" idx="2"/>
            <a:endCxn id="20" idx="7"/>
          </p:cNvCxnSpPr>
          <p:nvPr/>
        </p:nvCxnSpPr>
        <p:spPr>
          <a:xfrm flipH="1">
            <a:off x="9338310" y="3794125"/>
            <a:ext cx="885190" cy="643255"/>
          </a:xfrm>
          <a:prstGeom prst="straightConnector1">
            <a:avLst/>
          </a:prstGeom>
          <a:solidFill>
            <a:schemeClr val="accent1"/>
          </a:solidFill>
          <a:ln w="19050" cap="flat" cmpd="sng" algn="ctr">
            <a:solidFill>
              <a:schemeClr val="tx1"/>
            </a:solidFill>
            <a:prstDash val="solid"/>
            <a:round/>
            <a:headEnd type="arrow" w="med" len="med"/>
            <a:tailEnd type="arrow" w="med" len="med"/>
          </a:ln>
          <a:effectLst>
            <a:outerShdw dist="17961" dir="2700000" algn="ctr" rotWithShape="0">
              <a:schemeClr val="tx1">
                <a:gamma/>
                <a:shade val="60000"/>
                <a:invGamma/>
                <a:alpha val="50000"/>
              </a:schemeClr>
            </a:outerShdw>
          </a:effectLst>
        </p:spPr>
      </p:cxnSp>
      <p:cxnSp>
        <p:nvCxnSpPr>
          <p:cNvPr id="27" name="直接箭头连接符 26"/>
          <p:cNvCxnSpPr>
            <a:stCxn id="20" idx="6"/>
            <a:endCxn id="19" idx="2"/>
          </p:cNvCxnSpPr>
          <p:nvPr/>
        </p:nvCxnSpPr>
        <p:spPr>
          <a:xfrm flipV="1">
            <a:off x="9588500" y="4652645"/>
            <a:ext cx="1356360" cy="151765"/>
          </a:xfrm>
          <a:prstGeom prst="straightConnector1">
            <a:avLst/>
          </a:prstGeom>
          <a:solidFill>
            <a:schemeClr val="accent1"/>
          </a:solidFill>
          <a:ln w="19050" cap="flat" cmpd="sng" algn="ctr">
            <a:solidFill>
              <a:schemeClr val="tx1"/>
            </a:solidFill>
            <a:prstDash val="solid"/>
            <a:round/>
            <a:headEnd type="arrow" w="med" len="med"/>
            <a:tailEnd type="arrow" w="med" len="med"/>
          </a:ln>
          <a:effectLst>
            <a:outerShdw dist="17961" dir="2700000" algn="ctr" rotWithShape="0">
              <a:schemeClr val="tx1">
                <a:gamma/>
                <a:shade val="60000"/>
                <a:invGamma/>
                <a:alpha val="50000"/>
              </a:schemeClr>
            </a:outerShdw>
          </a:effectLst>
        </p:spPr>
      </p:cxnSp>
      <p:cxnSp>
        <p:nvCxnSpPr>
          <p:cNvPr id="28" name="直接箭头连接符 27"/>
          <p:cNvCxnSpPr>
            <a:stCxn id="18" idx="1"/>
            <a:endCxn id="20" idx="5"/>
          </p:cNvCxnSpPr>
          <p:nvPr/>
        </p:nvCxnSpPr>
        <p:spPr>
          <a:xfrm flipH="1" flipV="1">
            <a:off x="9338310" y="5170805"/>
            <a:ext cx="834390" cy="276860"/>
          </a:xfrm>
          <a:prstGeom prst="straightConnector1">
            <a:avLst/>
          </a:prstGeom>
          <a:solidFill>
            <a:schemeClr val="accent1"/>
          </a:solidFill>
          <a:ln w="19050" cap="flat" cmpd="sng" algn="ctr">
            <a:solidFill>
              <a:schemeClr val="tx1"/>
            </a:solidFill>
            <a:prstDash val="solid"/>
            <a:round/>
            <a:headEnd type="arrow" w="med" len="med"/>
            <a:tailEnd type="arrow" w="med" len="med"/>
          </a:ln>
          <a:effectLst>
            <a:outerShdw dist="17961" dir="2700000" algn="ctr" rotWithShape="0">
              <a:schemeClr val="tx1">
                <a:gamma/>
                <a:shade val="60000"/>
                <a:invGamma/>
                <a:alpha val="50000"/>
              </a:schemeClr>
            </a:outerShdw>
          </a:effectLst>
        </p:spPr>
      </p:cxnSp>
      <p:cxnSp>
        <p:nvCxnSpPr>
          <p:cNvPr id="30" name="直接箭头连接符 29"/>
          <p:cNvCxnSpPr>
            <a:stCxn id="13" idx="3"/>
            <a:endCxn id="20" idx="3"/>
          </p:cNvCxnSpPr>
          <p:nvPr/>
        </p:nvCxnSpPr>
        <p:spPr>
          <a:xfrm flipV="1">
            <a:off x="7297420" y="5170805"/>
            <a:ext cx="834390" cy="248920"/>
          </a:xfrm>
          <a:prstGeom prst="straightConnector1">
            <a:avLst/>
          </a:prstGeom>
          <a:solidFill>
            <a:schemeClr val="accent1"/>
          </a:solidFill>
          <a:ln w="19050" cap="flat" cmpd="sng" algn="ctr">
            <a:solidFill>
              <a:schemeClr val="tx1"/>
            </a:solidFill>
            <a:prstDash val="solid"/>
            <a:round/>
            <a:headEnd type="arrow" w="med" len="med"/>
            <a:tailEnd type="arrow" w="med" len="med"/>
          </a:ln>
          <a:effectLst>
            <a:outerShdw dist="17961" dir="2700000" algn="ctr" rotWithShape="0">
              <a:schemeClr val="tx1">
                <a:gamma/>
                <a:shade val="60000"/>
                <a:invGamma/>
                <a:alpha val="50000"/>
              </a:schemeClr>
            </a:outerShdw>
          </a:effectLst>
        </p:spPr>
      </p:cxnSp>
      <p:sp>
        <p:nvSpPr>
          <p:cNvPr id="31" name="文本框 30"/>
          <p:cNvSpPr txBox="1"/>
          <p:nvPr/>
        </p:nvSpPr>
        <p:spPr>
          <a:xfrm>
            <a:off x="8201025" y="4667885"/>
            <a:ext cx="1169035" cy="1193165"/>
          </a:xfrm>
          <a:prstGeom prst="rect">
            <a:avLst/>
          </a:prstGeom>
          <a:noFill/>
          <a:ln>
            <a:noFill/>
          </a:ln>
        </p:spPr>
        <p:txBody>
          <a:bodyPr wrap="square"/>
          <a:lstStyle/>
          <a:p>
            <a:pPr marL="0" indent="0">
              <a:lnSpc>
                <a:spcPct val="100000"/>
              </a:lnSpc>
              <a:buClr>
                <a:srgbClr val="FF0000"/>
              </a:buClr>
            </a:pPr>
            <a:r>
              <a:rPr lang="en-US" altLang="zh-CN" sz="8000" b="1" dirty="0">
                <a:solidFill>
                  <a:srgbClr val="C00000"/>
                </a:solidFill>
                <a:latin typeface="微软雅黑" panose="020B0503020204020204" pitchFamily="34" charset="-122"/>
                <a:ea typeface="微软雅黑" panose="020B0503020204020204" pitchFamily="34" charset="-122"/>
              </a:rPr>
              <a:t>...</a:t>
            </a:r>
            <a:endParaRPr lang="en-US" altLang="zh-CN" sz="80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研究思路</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 name="TextBox 2"/>
          <p:cNvSpPr txBox="1">
            <a:spLocks noChangeArrowheads="1"/>
          </p:cNvSpPr>
          <p:nvPr/>
        </p:nvSpPr>
        <p:spPr bwMode="auto">
          <a:xfrm>
            <a:off x="334962" y="134249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solidFill>
                  <a:srgbClr val="FF0000"/>
                </a:solidFill>
                <a:cs typeface="Times New Roman" panose="02020603050405020304" pitchFamily="18" charset="0"/>
              </a:rPr>
              <a:t>收集和整理</a:t>
            </a:r>
            <a:r>
              <a:rPr lang="zh-CN" altLang="en-US" sz="1600" dirty="0">
                <a:solidFill>
                  <a:schemeClr val="tx1"/>
                </a:solidFill>
                <a:cs typeface="Times New Roman" panose="02020603050405020304" pitchFamily="18" charset="0"/>
              </a:rPr>
              <a:t>不同井段的地质参数、压裂施工参数、曲线分析结果及对应的改造体积数据，</a:t>
            </a:r>
            <a:r>
              <a:rPr lang="zh-CN" altLang="en-US" sz="1600" dirty="0">
                <a:solidFill>
                  <a:srgbClr val="FF0000"/>
                </a:solidFill>
                <a:cs typeface="Times New Roman" panose="02020603050405020304" pitchFamily="18" charset="0"/>
              </a:rPr>
              <a:t>构建系统数据集</a:t>
            </a:r>
            <a:endParaRPr lang="zh-CN" altLang="en-US" sz="1600" dirty="0">
              <a:solidFill>
                <a:schemeClr val="tx1"/>
              </a:solidFill>
              <a:cs typeface="Times New Roman" panose="02020603050405020304" pitchFamily="18" charset="0"/>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solidFill>
                  <a:schemeClr val="tx1"/>
                </a:solidFill>
                <a:cs typeface="Times New Roman" panose="02020603050405020304" pitchFamily="18" charset="0"/>
              </a:rPr>
              <a:t>运用</a:t>
            </a:r>
            <a:r>
              <a:rPr lang="zh-CN" altLang="en-US" sz="1600" dirty="0">
                <a:solidFill>
                  <a:srgbClr val="FF0000"/>
                </a:solidFill>
                <a:cs typeface="Times New Roman" panose="02020603050405020304" pitchFamily="18" charset="0"/>
              </a:rPr>
              <a:t>灰色关联度分析法</a:t>
            </a:r>
            <a:r>
              <a:rPr lang="zh-CN" altLang="en-US" sz="1600" dirty="0">
                <a:solidFill>
                  <a:schemeClr val="tx1"/>
                </a:solidFill>
                <a:cs typeface="Times New Roman" panose="02020603050405020304" pitchFamily="18" charset="0"/>
              </a:rPr>
              <a:t>对各参数与改造体积间的</a:t>
            </a:r>
            <a:r>
              <a:rPr lang="zh-CN" altLang="en-US" sz="1600" dirty="0">
                <a:cs typeface="Times New Roman" panose="02020603050405020304" pitchFamily="18" charset="0"/>
              </a:rPr>
              <a:t>关联度进行定量评价</a:t>
            </a:r>
            <a:r>
              <a:rPr lang="zh-CN" altLang="en-US" sz="1600" dirty="0">
                <a:solidFill>
                  <a:schemeClr val="tx1"/>
                </a:solidFill>
                <a:cs typeface="Times New Roman" panose="02020603050405020304" pitchFamily="18" charset="0"/>
              </a:rPr>
              <a:t>，</a:t>
            </a:r>
            <a:r>
              <a:rPr lang="zh-CN" altLang="en-US" sz="1600" dirty="0">
                <a:solidFill>
                  <a:srgbClr val="FF0000"/>
                </a:solidFill>
                <a:cs typeface="Times New Roman" panose="02020603050405020304" pitchFamily="18" charset="0"/>
              </a:rPr>
              <a:t>识别影响改造体积的关键参数</a:t>
            </a:r>
            <a:endParaRPr lang="zh-CN" altLang="en-US" sz="1600" dirty="0">
              <a:solidFill>
                <a:schemeClr val="tx1"/>
              </a:solidFill>
              <a:cs typeface="Times New Roman" panose="02020603050405020304" pitchFamily="18" charset="0"/>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solidFill>
                  <a:schemeClr val="tx1"/>
                </a:solidFill>
                <a:cs typeface="Times New Roman" panose="02020603050405020304" pitchFamily="18" charset="0"/>
              </a:rPr>
              <a:t>结合</a:t>
            </a:r>
            <a:r>
              <a:rPr lang="zh-CN" altLang="en-US" sz="1600" dirty="0">
                <a:solidFill>
                  <a:srgbClr val="FF0000"/>
                </a:solidFill>
                <a:cs typeface="Times New Roman" panose="02020603050405020304" pitchFamily="18" charset="0"/>
              </a:rPr>
              <a:t>现场实际情况</a:t>
            </a:r>
            <a:r>
              <a:rPr lang="zh-CN" altLang="en-US" sz="1600" dirty="0">
                <a:solidFill>
                  <a:schemeClr val="tx1"/>
                </a:solidFill>
                <a:cs typeface="Times New Roman" panose="02020603050405020304" pitchFamily="18" charset="0"/>
              </a:rPr>
              <a:t>，分析不同参数变化与改造体积之间的</a:t>
            </a:r>
            <a:r>
              <a:rPr lang="zh-CN" altLang="en-US" sz="1600" dirty="0">
                <a:solidFill>
                  <a:srgbClr val="FF0000"/>
                </a:solidFill>
                <a:cs typeface="Times New Roman" panose="02020603050405020304" pitchFamily="18" charset="0"/>
              </a:rPr>
              <a:t>影响规律</a:t>
            </a:r>
            <a:endParaRPr lang="zh-CN" altLang="en-US" sz="1600" dirty="0">
              <a:solidFill>
                <a:schemeClr val="tx1"/>
              </a:solidFill>
              <a:cs typeface="Times New Roman" panose="02020603050405020304" pitchFamily="18" charset="0"/>
            </a:endParaRPr>
          </a:p>
        </p:txBody>
      </p:sp>
      <p:sp>
        <p:nvSpPr>
          <p:cNvPr id="29" name="文本框 38"/>
          <p:cNvSpPr txBox="1"/>
          <p:nvPr/>
        </p:nvSpPr>
        <p:spPr>
          <a:xfrm>
            <a:off x="480060" y="6091555"/>
            <a:ext cx="1133983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足</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201</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井区</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H21</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平台</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井施工参数表与微地震监测解释结果</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5" name="表格 4"/>
          <p:cNvGraphicFramePr>
            <a:graphicFrameLocks noGrp="1"/>
          </p:cNvGraphicFramePr>
          <p:nvPr>
            <p:custDataLst>
              <p:tags r:id="rId1"/>
            </p:custDataLst>
          </p:nvPr>
        </p:nvGraphicFramePr>
        <p:xfrm>
          <a:off x="240030" y="2540000"/>
          <a:ext cx="11712575" cy="3549015"/>
        </p:xfrm>
        <a:graphic>
          <a:graphicData uri="http://schemas.openxmlformats.org/drawingml/2006/table">
            <a:tbl>
              <a:tblPr firstRow="1" bandRow="1">
                <a:tableStyleId>{34FFEE73-4567-4F0C-ADBF-53AAFBF85BA7}</a:tableStyleId>
              </a:tblPr>
              <a:tblGrid>
                <a:gridCol w="823595"/>
                <a:gridCol w="424815"/>
                <a:gridCol w="503555"/>
                <a:gridCol w="1082040"/>
                <a:gridCol w="994410"/>
                <a:gridCol w="541020"/>
                <a:gridCol w="542290"/>
                <a:gridCol w="540385"/>
                <a:gridCol w="539750"/>
                <a:gridCol w="540385"/>
                <a:gridCol w="760730"/>
                <a:gridCol w="760095"/>
                <a:gridCol w="641985"/>
                <a:gridCol w="643255"/>
                <a:gridCol w="639445"/>
                <a:gridCol w="542290"/>
                <a:gridCol w="651510"/>
                <a:gridCol w="541020"/>
              </a:tblGrid>
              <a:tr h="378460">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井号</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a:solidFill>
                            <a:schemeClr val="bg1"/>
                          </a:solidFill>
                          <a:effectLst/>
                          <a:latin typeface="微软雅黑" panose="020B0503020204020204" pitchFamily="34" charset="-122"/>
                          <a:ea typeface="微软雅黑" panose="020B0503020204020204" pitchFamily="34" charset="-122"/>
                        </a:rPr>
                        <a:t>段号</a:t>
                      </a:r>
                      <a:endParaRPr lang="zh-CN" altLang="en-US" sz="1000" u="none" strike="noStrike" spc="6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段型</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en-US" sz="1000" u="none" strike="noStrike" spc="6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000" u="none" strike="noStrike" spc="6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函数反演</a:t>
                      </a:r>
                      <a:endParaRPr lang="zh-CN" altLang="en-US" sz="1000" u="none" strike="noStrike" spc="6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fontAlgn="ctr">
                        <a:lnSpc>
                          <a:spcPct val="120000"/>
                        </a:lnSpc>
                        <a:buNone/>
                      </a:pPr>
                      <a:r>
                        <a:rPr lang="zh-CN" altLang="en-US" sz="1000" u="none" strike="noStrike" spc="6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体积评分</a:t>
                      </a:r>
                      <a:endParaRPr lang="zh-CN" altLang="en-US" sz="1000" u="none" strike="noStrike" spc="6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小波分析</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体积评分</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总液量</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a:solidFill>
                            <a:schemeClr val="bg1"/>
                          </a:solidFill>
                          <a:effectLst/>
                          <a:latin typeface="微软雅黑" panose="020B0503020204020204" pitchFamily="34" charset="-122"/>
                          <a:ea typeface="微软雅黑" panose="020B0503020204020204" pitchFamily="34" charset="-122"/>
                        </a:rPr>
                        <a:t>用液</a:t>
                      </a:r>
                      <a:endParaRPr lang="zh-CN" altLang="en-US" sz="1000" u="none" strike="noStrike" spc="60">
                        <a:solidFill>
                          <a:schemeClr val="bg1"/>
                        </a:solidFill>
                        <a:effectLst/>
                        <a:latin typeface="微软雅黑" panose="020B0503020204020204" pitchFamily="34" charset="-122"/>
                        <a:ea typeface="微软雅黑" panose="020B0503020204020204" pitchFamily="34" charset="-122"/>
                      </a:endParaRPr>
                    </a:p>
                    <a:p>
                      <a:pPr algn="ctr" fontAlgn="ctr">
                        <a:lnSpc>
                          <a:spcPct val="120000"/>
                        </a:lnSpc>
                        <a:buNone/>
                      </a:pPr>
                      <a:r>
                        <a:rPr lang="zh-CN" altLang="en-US" sz="1000" u="none" strike="noStrike" spc="60">
                          <a:solidFill>
                            <a:schemeClr val="bg1"/>
                          </a:solidFill>
                          <a:effectLst/>
                          <a:latin typeface="微软雅黑" panose="020B0503020204020204" pitchFamily="34" charset="-122"/>
                          <a:ea typeface="微软雅黑" panose="020B0503020204020204" pitchFamily="34" charset="-122"/>
                        </a:rPr>
                        <a:t>强度</a:t>
                      </a:r>
                      <a:endParaRPr lang="zh-CN" altLang="en-US" sz="1000" u="none" strike="noStrike" spc="6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a:solidFill>
                            <a:schemeClr val="bg1"/>
                          </a:solidFill>
                          <a:effectLst/>
                          <a:latin typeface="微软雅黑" panose="020B0503020204020204" pitchFamily="34" charset="-122"/>
                          <a:ea typeface="微软雅黑" panose="020B0503020204020204" pitchFamily="34" charset="-122"/>
                        </a:rPr>
                        <a:t>总砂量</a:t>
                      </a:r>
                      <a:endParaRPr lang="zh-CN" altLang="en-US" sz="1000" u="none" strike="noStrike" spc="6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加砂</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强度</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a:solidFill>
                            <a:schemeClr val="bg1"/>
                          </a:solidFill>
                          <a:effectLst/>
                          <a:latin typeface="微软雅黑" panose="020B0503020204020204" pitchFamily="34" charset="-122"/>
                          <a:ea typeface="微软雅黑" panose="020B0503020204020204" pitchFamily="34" charset="-122"/>
                        </a:rPr>
                        <a:t>停泵</a:t>
                      </a:r>
                      <a:endParaRPr lang="zh-CN" altLang="en-US" sz="1000" u="none" strike="noStrike" spc="60">
                        <a:solidFill>
                          <a:schemeClr val="bg1"/>
                        </a:solidFill>
                        <a:effectLst/>
                        <a:latin typeface="微软雅黑" panose="020B0503020204020204" pitchFamily="34" charset="-122"/>
                        <a:ea typeface="微软雅黑" panose="020B0503020204020204" pitchFamily="34" charset="-122"/>
                      </a:endParaRPr>
                    </a:p>
                    <a:p>
                      <a:pPr algn="ctr" fontAlgn="ctr">
                        <a:lnSpc>
                          <a:spcPct val="120000"/>
                        </a:lnSpc>
                        <a:buNone/>
                      </a:pPr>
                      <a:r>
                        <a:rPr lang="zh-CN" altLang="en-US" sz="1000" u="none" strike="noStrike" spc="60">
                          <a:solidFill>
                            <a:schemeClr val="bg1"/>
                          </a:solidFill>
                          <a:effectLst/>
                          <a:latin typeface="微软雅黑" panose="020B0503020204020204" pitchFamily="34" charset="-122"/>
                          <a:ea typeface="微软雅黑" panose="020B0503020204020204" pitchFamily="34" charset="-122"/>
                        </a:rPr>
                        <a:t>压力</a:t>
                      </a:r>
                      <a:endParaRPr lang="zh-CN" altLang="en-US" sz="1000" u="none" strike="noStrike" spc="6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监测</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方式</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微地震</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事件点数</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微地震</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缝长</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微地震</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缝宽</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微地震</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缝高</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方位角</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微地震</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fontAlgn="ctr">
                        <a:lnSpc>
                          <a:spcPct val="120000"/>
                        </a:lnSpc>
                        <a:buNone/>
                      </a:pPr>
                      <a:r>
                        <a:rPr lang="en-US" altLang="zh-CN" sz="1000" u="none" strike="noStrike" spc="6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SRV</a:t>
                      </a:r>
                      <a:endParaRPr lang="en-US" altLang="zh-CN" sz="1000" u="none" strike="noStrike" spc="6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复杂</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p>
                      <a:pPr algn="ctr" fontAlgn="ctr">
                        <a:lnSpc>
                          <a:spcPct val="120000"/>
                        </a:lnSpc>
                        <a:buNone/>
                      </a:pPr>
                      <a:r>
                        <a:rPr lang="zh-CN" altLang="en-US" sz="1000" u="none" strike="noStrike" spc="60" dirty="0">
                          <a:solidFill>
                            <a:schemeClr val="bg1"/>
                          </a:solidFill>
                          <a:effectLst/>
                          <a:latin typeface="微软雅黑" panose="020B0503020204020204" pitchFamily="34" charset="-122"/>
                          <a:ea typeface="微软雅黑" panose="020B0503020204020204" pitchFamily="34" charset="-122"/>
                        </a:rPr>
                        <a:t>指数</a:t>
                      </a:r>
                      <a:endParaRPr lang="zh-CN" altLang="en-US" sz="1000" u="none" strike="noStrike" spc="60" dirty="0">
                        <a:solidFill>
                          <a:schemeClr val="bg1"/>
                        </a:solidFill>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316865">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201</a:t>
                      </a:r>
                      <a:r>
                        <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H21-3</a:t>
                      </a:r>
                      <a:endPar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主体段</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71.33</a:t>
                      </a:r>
                      <a:r>
                        <a:rPr lang="en-US" altLang="zh-CN" sz="1000" b="0" i="0">
                          <a:solidFill>
                            <a:srgbClr val="000000"/>
                          </a:solidFill>
                          <a:latin typeface="微软雅黑" panose="020B0503020204020204" pitchFamily="34" charset="-122"/>
                          <a:ea typeface="微软雅黑" panose="020B0503020204020204" pitchFamily="34" charset="-122"/>
                        </a:rPr>
                        <a:t> </a:t>
                      </a:r>
                      <a:endParaRPr lang="en-US" altLang="zh-CN" sz="1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effectLst/>
                          <a:latin typeface="微软雅黑" panose="020B0503020204020204" pitchFamily="34" charset="-122"/>
                          <a:ea typeface="微软雅黑" panose="020B0503020204020204" pitchFamily="34" charset="-122"/>
                        </a:rPr>
                        <a:t>85.36</a:t>
                      </a:r>
                      <a:endParaRPr lang="en-US" altLang="zh-CN" sz="1000" b="0" i="0">
                        <a:effectLst/>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2979.9</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41.15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266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3.8</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66.6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微地震</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95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286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118</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232.5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0.26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6865">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201</a:t>
                      </a:r>
                      <a:r>
                        <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H21-3</a:t>
                      </a:r>
                      <a:endPar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主体段</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73.56</a:t>
                      </a:r>
                      <a:r>
                        <a:rPr lang="en-US" altLang="zh-CN" sz="1000" b="0" i="0">
                          <a:solidFill>
                            <a:srgbClr val="000000"/>
                          </a:solidFill>
                          <a:latin typeface="微软雅黑" panose="020B0503020204020204" pitchFamily="34" charset="-122"/>
                          <a:ea typeface="微软雅黑" panose="020B0503020204020204" pitchFamily="34" charset="-122"/>
                        </a:rPr>
                        <a:t> </a:t>
                      </a:r>
                      <a:endParaRPr lang="en-US" altLang="zh-CN" sz="1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effectLst/>
                          <a:latin typeface="微软雅黑" panose="020B0503020204020204" pitchFamily="34" charset="-122"/>
                          <a:ea typeface="微软雅黑" panose="020B0503020204020204" pitchFamily="34" charset="-122"/>
                        </a:rPr>
                        <a:t>85.09</a:t>
                      </a:r>
                      <a:endParaRPr lang="en-US" altLang="zh-CN" sz="1000" b="0" i="0">
                        <a:effectLst/>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2916.6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40.18</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280.1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69.1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微地震</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99</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314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50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115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240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0.23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6865">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201</a:t>
                      </a:r>
                      <a:r>
                        <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H21-3</a:t>
                      </a:r>
                      <a:endPar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主体段</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72.94</a:t>
                      </a:r>
                      <a:r>
                        <a:rPr lang="en-US" altLang="zh-CN" sz="1000" b="0" i="0">
                          <a:solidFill>
                            <a:srgbClr val="000000"/>
                          </a:solidFill>
                          <a:latin typeface="微软雅黑" panose="020B0503020204020204" pitchFamily="34" charset="-122"/>
                          <a:ea typeface="微软雅黑" panose="020B0503020204020204" pitchFamily="34" charset="-122"/>
                        </a:rPr>
                        <a:t> </a:t>
                      </a:r>
                      <a:endParaRPr lang="en-US" altLang="zh-CN" sz="1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effectLst/>
                          <a:latin typeface="微软雅黑" panose="020B0503020204020204" pitchFamily="34" charset="-122"/>
                          <a:ea typeface="微软雅黑" panose="020B0503020204020204" pitchFamily="34" charset="-122"/>
                        </a:rPr>
                        <a:t>84.32</a:t>
                      </a:r>
                      <a:endParaRPr lang="en-US" altLang="zh-CN" sz="1000" b="0" i="0">
                        <a:effectLst/>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dirty="0">
                          <a:effectLst/>
                          <a:latin typeface="微软雅黑" panose="020B0503020204020204" pitchFamily="34" charset="-122"/>
                          <a:ea typeface="微软雅黑" panose="020B0503020204020204" pitchFamily="34" charset="-122"/>
                        </a:rPr>
                        <a:t>2930.3</a:t>
                      </a:r>
                      <a:endParaRPr lang="en-US" altLang="zh-CN" sz="1000" u="none" strike="noStrike"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40.37</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280.1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70.6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微地震</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103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316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97</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270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0.23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7500">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201</a:t>
                      </a:r>
                      <a:r>
                        <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H21-3</a:t>
                      </a:r>
                      <a:endPar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主体段</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74.77</a:t>
                      </a:r>
                      <a:r>
                        <a:rPr lang="en-US" altLang="zh-CN" sz="1000" b="0" i="0">
                          <a:solidFill>
                            <a:srgbClr val="000000"/>
                          </a:solidFill>
                          <a:latin typeface="微软雅黑" panose="020B0503020204020204" pitchFamily="34" charset="-122"/>
                          <a:ea typeface="微软雅黑" panose="020B0503020204020204" pitchFamily="34" charset="-122"/>
                        </a:rPr>
                        <a:t> </a:t>
                      </a:r>
                      <a:endParaRPr lang="en-US" altLang="zh-CN" sz="1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effectLst/>
                          <a:latin typeface="微软雅黑" panose="020B0503020204020204" pitchFamily="34" charset="-122"/>
                          <a:ea typeface="微软雅黑" panose="020B0503020204020204" pitchFamily="34" charset="-122"/>
                        </a:rPr>
                        <a:t>85.28</a:t>
                      </a:r>
                      <a:endParaRPr lang="en-US" altLang="zh-CN" sz="1000" b="0" i="0">
                        <a:effectLst/>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3341.4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45.39</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68.4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微地震</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106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327</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56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106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270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0.22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6865">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201</a:t>
                      </a:r>
                      <a:r>
                        <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H21-3</a:t>
                      </a:r>
                      <a:endPar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主体段</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76.83</a:t>
                      </a:r>
                      <a:r>
                        <a:rPr lang="en-US" altLang="zh-CN" sz="1000" b="0" i="0">
                          <a:solidFill>
                            <a:srgbClr val="000000"/>
                          </a:solidFill>
                          <a:latin typeface="微软雅黑" panose="020B0503020204020204" pitchFamily="34" charset="-122"/>
                          <a:ea typeface="微软雅黑" panose="020B0503020204020204" pitchFamily="34" charset="-122"/>
                        </a:rPr>
                        <a:t> </a:t>
                      </a:r>
                      <a:endParaRPr lang="en-US" altLang="zh-CN" sz="1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effectLst/>
                          <a:latin typeface="微软雅黑" panose="020B0503020204020204" pitchFamily="34" charset="-122"/>
                          <a:ea typeface="微软雅黑" panose="020B0503020204020204" pitchFamily="34" charset="-122"/>
                        </a:rPr>
                        <a:t>84.94</a:t>
                      </a:r>
                      <a:endParaRPr lang="en-US" altLang="zh-CN" sz="1000" b="0" i="0">
                        <a:effectLst/>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3272.6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44.42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65.2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微地震</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112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319</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53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108</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337.5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dirty="0">
                          <a:effectLst/>
                          <a:latin typeface="微软雅黑" panose="020B0503020204020204" pitchFamily="34" charset="-122"/>
                          <a:ea typeface="微软雅黑" panose="020B0503020204020204" pitchFamily="34" charset="-122"/>
                        </a:rPr>
                        <a:t>0.23</a:t>
                      </a:r>
                      <a:endParaRPr lang="en-US" altLang="zh-CN" sz="1000" u="none" strike="noStrike"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7500">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201</a:t>
                      </a:r>
                      <a:r>
                        <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H21-3</a:t>
                      </a:r>
                      <a:endPar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主体段</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77.09</a:t>
                      </a:r>
                      <a:r>
                        <a:rPr lang="en-US" altLang="zh-CN" sz="1000" b="0" i="0">
                          <a:solidFill>
                            <a:srgbClr val="000000"/>
                          </a:solidFill>
                          <a:latin typeface="微软雅黑" panose="020B0503020204020204" pitchFamily="34" charset="-122"/>
                          <a:ea typeface="微软雅黑" panose="020B0503020204020204" pitchFamily="34" charset="-122"/>
                        </a:rPr>
                        <a:t> </a:t>
                      </a:r>
                      <a:endParaRPr lang="en-US" altLang="zh-CN" sz="1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effectLst/>
                          <a:latin typeface="微软雅黑" panose="020B0503020204020204" pitchFamily="34" charset="-122"/>
                          <a:ea typeface="微软雅黑" panose="020B0503020204020204" pitchFamily="34" charset="-122"/>
                        </a:rPr>
                        <a:t>85.14</a:t>
                      </a:r>
                      <a:endParaRPr lang="en-US" altLang="zh-CN" sz="1000" b="0" i="0">
                        <a:effectLst/>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3312.6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44.98</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4.52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65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微地震</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117</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332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120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322.5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0.22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6865">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201</a:t>
                      </a:r>
                      <a:r>
                        <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H21-3</a:t>
                      </a:r>
                      <a:endPar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主体段</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76.31</a:t>
                      </a:r>
                      <a:r>
                        <a:rPr lang="en-US" altLang="zh-CN" sz="1000" b="0" i="0">
                          <a:solidFill>
                            <a:srgbClr val="000000"/>
                          </a:solidFill>
                          <a:latin typeface="微软雅黑" panose="020B0503020204020204" pitchFamily="34" charset="-122"/>
                          <a:ea typeface="微软雅黑" panose="020B0503020204020204" pitchFamily="34" charset="-122"/>
                        </a:rPr>
                        <a:t> </a:t>
                      </a:r>
                      <a:endParaRPr lang="en-US" altLang="zh-CN" sz="1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effectLst/>
                          <a:latin typeface="微软雅黑" panose="020B0503020204020204" pitchFamily="34" charset="-122"/>
                          <a:ea typeface="微软雅黑" panose="020B0503020204020204" pitchFamily="34" charset="-122"/>
                        </a:rPr>
                        <a:t>85.62</a:t>
                      </a:r>
                      <a:endParaRPr lang="en-US" altLang="zh-CN" sz="1000" b="0" i="0">
                        <a:effectLst/>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3308.5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44.95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315.1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4.44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66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微地震</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136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333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54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114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412.5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0.22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6865">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201</a:t>
                      </a:r>
                      <a:r>
                        <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H21-3</a:t>
                      </a:r>
                      <a:endPar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8</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主体段</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79.22</a:t>
                      </a:r>
                      <a:r>
                        <a:rPr lang="en-US" altLang="zh-CN" sz="1000" b="0" i="0">
                          <a:solidFill>
                            <a:srgbClr val="000000"/>
                          </a:solidFill>
                          <a:latin typeface="微软雅黑" panose="020B0503020204020204" pitchFamily="34" charset="-122"/>
                          <a:ea typeface="微软雅黑" panose="020B0503020204020204" pitchFamily="34" charset="-122"/>
                        </a:rPr>
                        <a:t> </a:t>
                      </a:r>
                      <a:endParaRPr lang="en-US" altLang="zh-CN" sz="1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effectLst/>
                          <a:latin typeface="微软雅黑" panose="020B0503020204020204" pitchFamily="34" charset="-122"/>
                          <a:ea typeface="微软雅黑" panose="020B0503020204020204" pitchFamily="34" charset="-122"/>
                        </a:rPr>
                        <a:t>85.16</a:t>
                      </a:r>
                      <a:endParaRPr lang="en-US" altLang="zh-CN" sz="1000" b="0" i="0">
                        <a:effectLst/>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3292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44.69</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320.1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63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微地震</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195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316</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48</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107</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832.5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0.23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6865">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201</a:t>
                      </a:r>
                      <a:r>
                        <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H21-3</a:t>
                      </a:r>
                      <a:endPar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9</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主体段</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77.67</a:t>
                      </a:r>
                      <a:r>
                        <a:rPr lang="en-US" altLang="zh-CN" sz="1000" b="0" i="0">
                          <a:solidFill>
                            <a:srgbClr val="000000"/>
                          </a:solidFill>
                          <a:latin typeface="微软雅黑" panose="020B0503020204020204" pitchFamily="34" charset="-122"/>
                          <a:ea typeface="微软雅黑" panose="020B0503020204020204" pitchFamily="34" charset="-122"/>
                        </a:rPr>
                        <a:t> </a:t>
                      </a:r>
                      <a:endParaRPr lang="en-US" altLang="zh-CN" sz="1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effectLst/>
                          <a:latin typeface="微软雅黑" panose="020B0503020204020204" pitchFamily="34" charset="-122"/>
                          <a:ea typeface="微软雅黑" panose="020B0503020204020204" pitchFamily="34" charset="-122"/>
                        </a:rPr>
                        <a:t>85.63</a:t>
                      </a:r>
                      <a:endParaRPr lang="en-US" altLang="zh-CN" sz="1000" b="0" i="0">
                        <a:effectLst/>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3318.7</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45.07</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320.1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64.4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微地震</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147</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313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111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420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0.24</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17500">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201</a:t>
                      </a:r>
                      <a:r>
                        <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rPr>
                        <a:t>H21-3</a:t>
                      </a:r>
                      <a:endParaRPr lang="en-GB" sz="1000" u="none" strike="noStrike">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主体段</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75.37</a:t>
                      </a:r>
                      <a:r>
                        <a:rPr lang="en-US" altLang="zh-CN" sz="1000" b="0" i="0">
                          <a:solidFill>
                            <a:srgbClr val="000000"/>
                          </a:solidFill>
                          <a:latin typeface="微软雅黑" panose="020B0503020204020204" pitchFamily="34" charset="-122"/>
                          <a:ea typeface="微软雅黑" panose="020B0503020204020204" pitchFamily="34" charset="-122"/>
                        </a:rPr>
                        <a:t> </a:t>
                      </a:r>
                      <a:endParaRPr lang="en-US" altLang="zh-CN" sz="1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r>
                        <a:rPr lang="en-US" altLang="zh-CN" sz="1000" b="0" i="0">
                          <a:effectLst/>
                          <a:latin typeface="微软雅黑" panose="020B0503020204020204" pitchFamily="34" charset="-122"/>
                          <a:ea typeface="微软雅黑" panose="020B0503020204020204" pitchFamily="34" charset="-122"/>
                        </a:rPr>
                        <a:t>85.7</a:t>
                      </a:r>
                      <a:endParaRPr lang="en-US" altLang="zh-CN" sz="1000" b="0" i="0">
                        <a:effectLst/>
                        <a:latin typeface="微软雅黑" panose="020B0503020204020204" pitchFamily="34" charset="-122"/>
                        <a:ea typeface="微软雅黑" panose="020B0503020204020204" pitchFamily="34" charset="-122"/>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3291.5</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44.68</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320.1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4.51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67.3</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zh-CN" altLang="en-US" sz="1000" u="none" strike="noStrike">
                          <a:effectLst/>
                          <a:latin typeface="微软雅黑" panose="020B0503020204020204" pitchFamily="34" charset="-122"/>
                          <a:ea typeface="微软雅黑" panose="020B0503020204020204" pitchFamily="34" charset="-122"/>
                        </a:rPr>
                        <a:t>微地震</a:t>
                      </a:r>
                      <a:endParaRPr lang="zh-CN" altLang="en-US"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110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301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72</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51</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120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a:effectLst/>
                          <a:latin typeface="微软雅黑" panose="020B0503020204020204" pitchFamily="34" charset="-122"/>
                          <a:ea typeface="微软雅黑" panose="020B0503020204020204" pitchFamily="34" charset="-122"/>
                        </a:rPr>
                        <a:t>300</a:t>
                      </a:r>
                      <a:endParaRPr lang="en-US" altLang="zh-CN" sz="1000" u="none" strike="noStrike">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fontAlgn="ctr">
                        <a:lnSpc>
                          <a:spcPct val="120000"/>
                        </a:lnSpc>
                        <a:buNone/>
                      </a:pPr>
                      <a:r>
                        <a:rPr lang="en-US" altLang="zh-CN" sz="1000" u="none" strike="noStrike" dirty="0">
                          <a:effectLst/>
                          <a:latin typeface="微软雅黑" panose="020B0503020204020204" pitchFamily="34" charset="-122"/>
                          <a:ea typeface="微软雅黑" panose="020B0503020204020204" pitchFamily="34" charset="-122"/>
                        </a:rPr>
                        <a:t>0.24</a:t>
                      </a:r>
                      <a:endParaRPr lang="en-US" altLang="zh-CN" sz="1000" u="none" strike="noStrike" dirty="0">
                        <a:effectLst/>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3"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376555" y="1727835"/>
            <a:ext cx="774700" cy="487680"/>
          </a:xfrm>
          <a:prstGeom prst="rect">
            <a:avLst/>
          </a:prstGeom>
          <a:noFill/>
          <a:ln>
            <a:noFill/>
          </a:ln>
        </p:spPr>
        <p:txBody>
          <a:bodyPr wrap="square"/>
          <a:lstStyle/>
          <a:p>
            <a:pPr marL="0" indent="0">
              <a:lnSpc>
                <a:spcPct val="150000"/>
              </a:lnSpc>
              <a:buClr>
                <a:srgbClr val="FF0000"/>
              </a:buClr>
            </a:pP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SRV</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p:cNvSpPr txBox="1"/>
          <p:nvPr/>
        </p:nvSpPr>
        <p:spPr>
          <a:xfrm>
            <a:off x="6018530" y="1727835"/>
            <a:ext cx="785495" cy="487680"/>
          </a:xfrm>
          <a:prstGeom prst="rect">
            <a:avLst/>
          </a:prstGeom>
          <a:noFill/>
          <a:ln>
            <a:noFill/>
          </a:ln>
        </p:spPr>
        <p:txBody>
          <a:bodyPr wrap="square"/>
          <a:lstStyle/>
          <a:p>
            <a:pPr marL="0" indent="0">
              <a:lnSpc>
                <a:spcPct val="150000"/>
              </a:lnSpc>
              <a:buClr>
                <a:srgbClr val="FF0000"/>
              </a:buClr>
            </a:pP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EUR</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p:cNvSpPr txBox="1"/>
          <p:nvPr>
            <p:custDataLst>
              <p:tags r:id="rId1"/>
            </p:custDataLst>
          </p:nvPr>
        </p:nvSpPr>
        <p:spPr>
          <a:xfrm>
            <a:off x="7038340" y="6059170"/>
            <a:ext cx="4544060" cy="260350"/>
          </a:xfrm>
          <a:prstGeom prst="rect">
            <a:avLst/>
          </a:prstGeom>
          <a:noFill/>
        </p:spPr>
        <p:txBody>
          <a:bodyPr wrap="square" rtlCol="0">
            <a:spAutoFit/>
          </a:bodyPr>
          <a:lstStyle/>
          <a:p>
            <a:pPr algn="ctr"/>
            <a:r>
              <a:rPr lang="zh-CN" altLang="en-US" sz="11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区块</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平台</a:t>
            </a:r>
            <a:r>
              <a:rPr lang="zh-CN" sz="1100">
                <a:latin typeface="微软雅黑" panose="020B0503020204020204" pitchFamily="34" charset="-122"/>
                <a:ea typeface="微软雅黑" panose="020B0503020204020204" pitchFamily="34" charset="-122"/>
                <a:cs typeface="微软雅黑" panose="020B0503020204020204" pitchFamily="34" charset="-122"/>
              </a:rPr>
              <a:t>各参数与</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的灰色关联度热力图</a:t>
            </a:r>
            <a:endParaRPr lang="zh-CN" altLang="en-US" sz="11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custDataLst>
              <p:tags r:id="rId2"/>
            </p:custDataLst>
          </p:nvPr>
        </p:nvSpPr>
        <p:spPr>
          <a:xfrm>
            <a:off x="1073785" y="6074410"/>
            <a:ext cx="4991735" cy="260350"/>
          </a:xfrm>
          <a:prstGeom prst="rect">
            <a:avLst/>
          </a:prstGeom>
          <a:noFill/>
        </p:spPr>
        <p:txBody>
          <a:bodyPr wrap="square" rtlCol="0">
            <a:spAutoFit/>
          </a:bodyPr>
          <a:lstStyle/>
          <a:p>
            <a:pPr algn="ctr"/>
            <a:r>
              <a:rPr lang="zh-CN" altLang="en-US" sz="11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区块</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平台</a:t>
            </a:r>
            <a:r>
              <a:rPr lang="zh-CN" sz="1100">
                <a:latin typeface="微软雅黑" panose="020B0503020204020204" pitchFamily="34" charset="-122"/>
                <a:ea typeface="微软雅黑" panose="020B0503020204020204" pitchFamily="34" charset="-122"/>
                <a:cs typeface="微软雅黑" panose="020B0503020204020204" pitchFamily="34" charset="-122"/>
              </a:rPr>
              <a:t>各参数与</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的灰色关联度热力图</a:t>
            </a:r>
            <a:endParaRPr lang="zh-CN" altLang="en-US" sz="11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 name="TextBox 2"/>
          <p:cNvSpPr txBox="1">
            <a:spLocks noChangeArrowheads="1"/>
          </p:cNvSpPr>
          <p:nvPr/>
        </p:nvSpPr>
        <p:spPr bwMode="auto">
          <a:xfrm>
            <a:off x="334962" y="1342495"/>
            <a:ext cx="11485563" cy="45910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泸</a:t>
            </a:r>
            <a:r>
              <a:rPr lang="en-US" altLang="zh-CN" sz="1600" dirty="0">
                <a:cs typeface="Times New Roman" panose="02020603050405020304" pitchFamily="18" charset="0"/>
              </a:rPr>
              <a:t>203</a:t>
            </a:r>
            <a:r>
              <a:rPr lang="zh-CN" altLang="en-US" sz="1600" dirty="0">
                <a:cs typeface="Times New Roman" panose="02020603050405020304" pitchFamily="18" charset="0"/>
              </a:rPr>
              <a:t>井区</a:t>
            </a:r>
            <a:r>
              <a:rPr lang="en-US" altLang="zh-CN" sz="1600" dirty="0">
                <a:cs typeface="Times New Roman" panose="02020603050405020304" pitchFamily="18" charset="0"/>
              </a:rPr>
              <a:t>H10</a:t>
            </a:r>
            <a:r>
              <a:rPr lang="zh-CN" altLang="en-US" sz="1600" dirty="0">
                <a:cs typeface="Times New Roman" panose="02020603050405020304" pitchFamily="18" charset="0"/>
              </a:rPr>
              <a:t>平台各参数与</a:t>
            </a:r>
            <a:r>
              <a:rPr lang="en-US" altLang="zh-CN" sz="1600" dirty="0">
                <a:solidFill>
                  <a:srgbClr val="FF0000"/>
                </a:solidFill>
                <a:cs typeface="Times New Roman" panose="02020603050405020304" pitchFamily="18" charset="0"/>
              </a:rPr>
              <a:t>SRV</a:t>
            </a:r>
            <a:r>
              <a:rPr lang="zh-CN" altLang="en-US" sz="1600" dirty="0">
                <a:solidFill>
                  <a:srgbClr val="FF0000"/>
                </a:solidFill>
                <a:cs typeface="Times New Roman" panose="02020603050405020304" pitchFamily="18" charset="0"/>
              </a:rPr>
              <a:t>、</a:t>
            </a:r>
            <a:r>
              <a:rPr lang="en-US" altLang="zh-CN" sz="1600" dirty="0">
                <a:solidFill>
                  <a:srgbClr val="FF0000"/>
                </a:solidFill>
                <a:cs typeface="Times New Roman" panose="02020603050405020304" pitchFamily="18" charset="0"/>
              </a:rPr>
              <a:t>EUR</a:t>
            </a:r>
            <a:r>
              <a:rPr lang="zh-CN" altLang="en-US" sz="1600" dirty="0">
                <a:cs typeface="Times New Roman" panose="02020603050405020304" pitchFamily="18" charset="0"/>
              </a:rPr>
              <a:t>的灰色关联度热力图</a:t>
            </a:r>
            <a:endParaRPr lang="zh-CN" altLang="en-US" sz="1600" dirty="0">
              <a:cs typeface="Times New Roman" panose="02020603050405020304" pitchFamily="18" charset="0"/>
            </a:endParaRPr>
          </a:p>
        </p:txBody>
      </p:sp>
      <p:sp>
        <p:nvSpPr>
          <p:cNvPr id="16" name="矩形 15"/>
          <p:cNvSpPr/>
          <p:nvPr/>
        </p:nvSpPr>
        <p:spPr>
          <a:xfrm>
            <a:off x="429895" y="811530"/>
            <a:ext cx="1120203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基于灰色关联分析法</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，确定泸203井区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平台改造效果评估关键参数</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 name="图片 4" descr="泸203H10--EUR"/>
          <p:cNvPicPr>
            <a:picLocks noChangeAspect="1"/>
          </p:cNvPicPr>
          <p:nvPr/>
        </p:nvPicPr>
        <p:blipFill>
          <a:blip r:embed="rId3"/>
          <a:srcRect l="5133" t="1389" r="5578" b="1694"/>
          <a:stretch>
            <a:fillRect/>
          </a:stretch>
        </p:blipFill>
        <p:spPr>
          <a:xfrm>
            <a:off x="6612890" y="1863090"/>
            <a:ext cx="4870450" cy="4229735"/>
          </a:xfrm>
          <a:prstGeom prst="rect">
            <a:avLst/>
          </a:prstGeom>
        </p:spPr>
      </p:pic>
      <p:pic>
        <p:nvPicPr>
          <p:cNvPr id="7" name="图片 6" descr="泸203H10--SRV"/>
          <p:cNvPicPr>
            <a:picLocks noChangeAspect="1"/>
          </p:cNvPicPr>
          <p:nvPr/>
        </p:nvPicPr>
        <p:blipFill>
          <a:blip r:embed="rId4"/>
          <a:srcRect l="6074" t="750" r="5793" b="1694"/>
          <a:stretch>
            <a:fillRect/>
          </a:stretch>
        </p:blipFill>
        <p:spPr>
          <a:xfrm>
            <a:off x="1151255" y="1801495"/>
            <a:ext cx="4854575" cy="4298950"/>
          </a:xfrm>
          <a:prstGeom prst="rect">
            <a:avLst/>
          </a:prstGeom>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27025" y="1301115"/>
            <a:ext cx="11571605" cy="1186180"/>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排序前六的各参数与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的灰色关联度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结果</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各参数对SRV的综合评价：</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停泵压力</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＞最小水平主应力＞</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小波分析体积评分</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＞杨氏模量&gt;</a:t>
            </a:r>
            <a:r>
              <a:rPr lang="en-US" altLang="zh-CN" sz="160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函数反演改造体积</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/泊松比</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150000"/>
              </a:lnSpc>
              <a:buClr>
                <a:srgbClr val="FF0000"/>
              </a:buClr>
              <a:buFont typeface="Wingdings" panose="05000000000000000000" charset="0"/>
              <a:buChar char="l"/>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各参数对EUR的综合评价：</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停泵压力</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函数反演改造体积</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小波分析体积评分&gt;</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用液强度</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加砂强度</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总液量</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a:graphicFrameLocks noGrp="1"/>
          </p:cNvGraphicFramePr>
          <p:nvPr>
            <p:custDataLst>
              <p:tags r:id="rId1"/>
            </p:custDataLst>
          </p:nvPr>
        </p:nvGraphicFramePr>
        <p:xfrm>
          <a:off x="375920" y="2562225"/>
          <a:ext cx="11296650" cy="3512185"/>
        </p:xfrm>
        <a:graphic>
          <a:graphicData uri="http://schemas.openxmlformats.org/drawingml/2006/table">
            <a:tbl>
              <a:tblPr/>
              <a:tblGrid>
                <a:gridCol w="1046480"/>
                <a:gridCol w="646430"/>
                <a:gridCol w="1376680"/>
                <a:gridCol w="1134745"/>
                <a:gridCol w="1245870"/>
                <a:gridCol w="1386205"/>
                <a:gridCol w="2054225"/>
                <a:gridCol w="2406015"/>
              </a:tblGrid>
              <a:tr h="490855">
                <a:tc rowSpan="6">
                  <a:txBody>
                    <a:bodyPr/>
                    <a:lstStyle/>
                    <a:p>
                      <a:pPr algn="ctr" fontAlgn="ctr"/>
                      <a:r>
                        <a:rPr lang="zh-CN" altLang="en-US"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井区</a:t>
                      </a:r>
                      <a:endParaRPr lang="zh-CN" altLang="en-US"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en-US" altLang="zh-CN"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rowSpan="3">
                  <a:txBody>
                    <a:bodyPr/>
                    <a:lstStyle/>
                    <a:p>
                      <a:pPr algn="ctr" fontAlgn="ctr"/>
                      <a:r>
                        <a:rPr lang="en-US" altLang="zh-CN" sz="1200" b="1" i="0" u="none" strike="noStrike">
                          <a:solidFill>
                            <a:schemeClr val="bg1"/>
                          </a:solidFill>
                          <a:effectLst/>
                          <a:latin typeface="微软雅黑" panose="020B0503020204020204" pitchFamily="34" charset="-122"/>
                          <a:ea typeface="微软雅黑" panose="020B0503020204020204" pitchFamily="34" charset="-122"/>
                        </a:rPr>
                        <a:t>SRV</a:t>
                      </a:r>
                      <a:endParaRPr lang="en-US" altLang="zh-CN" sz="1200" b="1" i="0" u="none" strike="noStrike">
                        <a:solidFill>
                          <a:schemeClr val="bg1"/>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施工参数</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地质参数</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压裂效果评估方法</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lnL w="12700" cmpd="sng">
                      <a:no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r>
              <a:tr h="956310">
                <a:tc vMerge="1">
                  <a:tcPr>
                    <a:lnL w="12700">
                      <a:solidFill>
                        <a:schemeClr val="tx1"/>
                      </a:solidFill>
                      <a:prstDash val="solid"/>
                    </a:lnL>
                    <a:lnR w="12700">
                      <a:solidFill>
                        <a:schemeClr val="tx1"/>
                      </a:solidFill>
                      <a:prstDash val="solid"/>
                    </a:lnR>
                  </a:tcPr>
                </a:tc>
                <a:tc vMerge="1">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CN" altLang="en-US" sz="1200" b="0" i="0" u="none" strike="noStrike">
                          <a:solidFill>
                            <a:schemeClr val="tx1"/>
                          </a:solidFill>
                          <a:effectLst/>
                          <a:latin typeface="微软雅黑" panose="020B0503020204020204" pitchFamily="34" charset="-122"/>
                          <a:ea typeface="微软雅黑" panose="020B0503020204020204" pitchFamily="34" charset="-122"/>
                        </a:rPr>
                        <a:t>停泵压力</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最小水平</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主应力</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杨氏模量</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泊松比</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小波分析体积评分</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0" i="0" u="none" strike="noStrike">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函数反演改造体积</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mpd="sng">
                      <a:solidFill>
                        <a:schemeClr val="tx1"/>
                      </a:solidFill>
                      <a:prstDash val="solid"/>
                    </a:lnT>
                    <a:lnB w="12700">
                      <a:solidFill>
                        <a:schemeClr val="tx1"/>
                      </a:solidFill>
                      <a:prstDash val="solid"/>
                    </a:lnB>
                    <a:noFill/>
                  </a:tcPr>
                </a:tc>
              </a:tr>
              <a:tr h="306705">
                <a:tc vMerge="1">
                  <a:tcPr>
                    <a:lnL w="12700">
                      <a:solidFill>
                        <a:schemeClr val="tx1"/>
                      </a:solidFill>
                      <a:prstDash val="solid"/>
                    </a:lnL>
                    <a:lnR w="12700">
                      <a:solidFill>
                        <a:schemeClr val="tx1"/>
                      </a:solidFill>
                      <a:prstDash val="solid"/>
                    </a:lnR>
                  </a:tcPr>
                </a:tc>
                <a:tc vMerge="1">
                  <a:tcPr>
                    <a:lnL w="12700">
                      <a:solidFill>
                        <a:schemeClr val="tx1"/>
                      </a:solidFill>
                      <a:prstDash val="solid"/>
                    </a:lnL>
                    <a:lnR w="12700">
                      <a:solidFill>
                        <a:schemeClr val="tx1"/>
                      </a:solidFill>
                      <a:prstDash val="solid"/>
                    </a:lnR>
                    <a:lnB w="12700" cap="flat" cmpd="sng" algn="ctr">
                      <a:solidFill>
                        <a:schemeClr val="tx1"/>
                      </a:solidFill>
                      <a:prstDash val="solid"/>
                      <a:round/>
                      <a:headEnd type="none" w="med" len="med"/>
                      <a:tailEnd type="none" w="med" len="med"/>
                    </a:lnB>
                  </a:tcPr>
                </a:tc>
                <a:tc>
                  <a:txBody>
                    <a:bodyPr/>
                    <a:lstStyle/>
                    <a:p>
                      <a:pPr algn="ctr" fontAlgn="ctr"/>
                      <a:r>
                        <a:rPr lang="en-US" altLang="zh-CN" sz="1200" b="0" i="0" u="none" strike="noStrike">
                          <a:solidFill>
                            <a:schemeClr val="tx1"/>
                          </a:solidFill>
                          <a:effectLst/>
                          <a:latin typeface="微软雅黑" panose="020B0503020204020204" pitchFamily="34" charset="-122"/>
                          <a:ea typeface="微软雅黑" panose="020B0503020204020204" pitchFamily="34" charset="-122"/>
                        </a:rPr>
                        <a:t>0.73</a:t>
                      </a:r>
                      <a:endParaRPr lang="en-US" altLang="zh-CN" sz="1200" b="0" i="0" u="none" strike="noStrike">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0.70</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0.67</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0.64</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0.69</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0.64</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r>
              <a:tr h="537845">
                <a:tc vMerge="1">
                  <a:tcPr>
                    <a:lnL w="12700">
                      <a:solidFill>
                        <a:schemeClr val="tx1"/>
                      </a:solidFill>
                      <a:prstDash val="solid"/>
                    </a:lnL>
                    <a:lnR w="12700">
                      <a:solidFill>
                        <a:schemeClr val="tx1"/>
                      </a:solidFill>
                      <a:prstDash val="solid"/>
                    </a:lnR>
                  </a:tcPr>
                </a:tc>
                <a:tc rowSpan="3">
                  <a:txBody>
                    <a:bodyPr/>
                    <a:lstStyle/>
                    <a:p>
                      <a:pPr algn="ctr" fontAlgn="ctr"/>
                      <a:r>
                        <a:rPr lang="en-US" altLang="zh-CN" sz="1200" b="1" i="0" u="none" strike="noStrike">
                          <a:solidFill>
                            <a:schemeClr val="bg1"/>
                          </a:solidFill>
                          <a:effectLst/>
                          <a:latin typeface="微软雅黑" panose="020B0503020204020204" pitchFamily="34" charset="-122"/>
                          <a:ea typeface="微软雅黑" panose="020B0503020204020204" pitchFamily="34" charset="-122"/>
                        </a:rPr>
                        <a:t>EUR</a:t>
                      </a:r>
                      <a:endParaRPr lang="en-US" altLang="zh-CN" sz="1200" b="1" i="0" u="none" strike="noStrike">
                        <a:solidFill>
                          <a:schemeClr val="bg1"/>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gridSpan="4">
                  <a:txBody>
                    <a:bodyPr/>
                    <a:lstStyle/>
                    <a:p>
                      <a:pPr algn="ctr" fontAlgn="ctr"/>
                      <a:r>
                        <a:rPr lang="zh-CN" altLang="en-US" sz="1200" b="0" i="0" u="none" strike="noStrike">
                          <a:solidFill>
                            <a:schemeClr val="tx1"/>
                          </a:solidFill>
                          <a:effectLst/>
                          <a:latin typeface="微软雅黑" panose="020B0503020204020204" pitchFamily="34" charset="-122"/>
                          <a:ea typeface="微软雅黑" panose="020B0503020204020204" pitchFamily="34" charset="-122"/>
                        </a:rPr>
                        <a:t>施工参数</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mpd="sng">
                      <a:noFill/>
                      <a:prstDash val="solid"/>
                    </a:lnL>
                    <a:lnT w="12700" cap="flat" cmpd="sng" algn="ctr">
                      <a:solidFill>
                        <a:schemeClr val="tx1"/>
                      </a:solidFill>
                      <a:prstDash val="solid"/>
                      <a:round/>
                      <a:headEnd type="none" w="med" len="med"/>
                      <a:tailEnd type="none" w="med" len="med"/>
                    </a:lnT>
                    <a:lnB w="12700" cmpd="sng">
                      <a:solidFill>
                        <a:schemeClr val="tx1"/>
                      </a:solidFill>
                      <a:prstDash val="solid"/>
                    </a:lnB>
                  </a:tcPr>
                </a:tc>
                <a:tc hMerge="1">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7620" marR="7620" marT="7620" marB="0" anchor="ctr">
                    <a:lnL>
                      <a:noFill/>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压裂效果评估方法</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mpd="sng">
                      <a:no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r>
              <a:tr h="914400">
                <a:tc vMerge="1">
                  <a:tcPr>
                    <a:lnL w="12700">
                      <a:solidFill>
                        <a:schemeClr val="tx1"/>
                      </a:solidFill>
                      <a:prstDash val="solid"/>
                    </a:lnL>
                    <a:lnR w="12700">
                      <a:solidFill>
                        <a:schemeClr val="tx1"/>
                      </a:solidFill>
                      <a:prstDash val="solid"/>
                    </a:lnR>
                  </a:tcPr>
                </a:tc>
                <a:tc vMerge="1">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CN" altLang="en-US" sz="1200" b="0" i="0" u="none" strike="noStrike">
                          <a:solidFill>
                            <a:schemeClr val="tx1"/>
                          </a:solidFill>
                          <a:effectLst/>
                          <a:latin typeface="微软雅黑" panose="020B0503020204020204" pitchFamily="34" charset="-122"/>
                          <a:ea typeface="微软雅黑" panose="020B0503020204020204" pitchFamily="34" charset="-122"/>
                        </a:rPr>
                        <a:t>停泵压力</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marL="0" marR="0" lvl="0" indent="0" algn="ctr" defTabSz="1218565" rtl="0" eaLnBrk="1" fontAlgn="ctr" latinLnBrk="0" hangingPunct="1">
                        <a:lnSpc>
                          <a:spcPct val="100000"/>
                        </a:lnSpc>
                        <a:spcBef>
                          <a:spcPts val="0"/>
                        </a:spcBef>
                        <a:spcAft>
                          <a:spcPts val="0"/>
                        </a:spcAft>
                        <a:buClrTx/>
                        <a:buSzTx/>
                        <a:buFontTx/>
                        <a:buNone/>
                        <a:defRPr/>
                      </a:pPr>
                      <a:r>
                        <a:rPr lang="zh-CN" altLang="en-US" sz="1200">
                          <a:solidFill>
                            <a:srgbClr val="000000"/>
                          </a:solidFill>
                          <a:effectLst/>
                          <a:latin typeface="微软雅黑" panose="020B0503020204020204" pitchFamily="34" charset="-122"/>
                          <a:ea typeface="微软雅黑" panose="020B0503020204020204" pitchFamily="34" charset="-122"/>
                          <a:sym typeface="+mn-ea"/>
                        </a:rPr>
                        <a:t>用液强度</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mpd="sng">
                      <a:solidFill>
                        <a:schemeClr val="tx1"/>
                      </a:solidFill>
                      <a:prstDash val="solid"/>
                    </a:lnT>
                    <a:lnB w="12700">
                      <a:solidFill>
                        <a:schemeClr val="tx1"/>
                      </a:solidFill>
                      <a:prstDash val="solid"/>
                    </a:lnB>
                    <a:no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加砂强度</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总液</a:t>
                      </a: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量</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小波分析体积评分</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0" i="0" u="none" strike="noStrike">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函数反演改造体积</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mpd="sng">
                      <a:solidFill>
                        <a:schemeClr val="tx1"/>
                      </a:solidFill>
                      <a:prstDash val="solid"/>
                    </a:lnT>
                    <a:lnB w="12700">
                      <a:solidFill>
                        <a:schemeClr val="tx1"/>
                      </a:solidFill>
                      <a:prstDash val="solid"/>
                    </a:lnB>
                    <a:noFill/>
                  </a:tcPr>
                </a:tc>
              </a:tr>
              <a:tr h="306070">
                <a:tc vMerge="1">
                  <a:tcPr>
                    <a:lnL w="12700">
                      <a:solidFill>
                        <a:schemeClr val="tx1"/>
                      </a:solidFill>
                      <a:prstDash val="solid"/>
                    </a:lnL>
                    <a:lnR w="12700">
                      <a:solidFill>
                        <a:schemeClr val="tx1"/>
                      </a:solidFill>
                      <a:prstDash val="solid"/>
                    </a:lnR>
                    <a:lnB w="12700" cap="flat" cmpd="sng" algn="ctr">
                      <a:solidFill>
                        <a:schemeClr val="tx1"/>
                      </a:solidFill>
                      <a:prstDash val="solid"/>
                      <a:round/>
                      <a:headEnd type="none" w="med" len="med"/>
                      <a:tailEnd type="none" w="med" len="med"/>
                    </a:lnB>
                  </a:tcPr>
                </a:tc>
                <a:tc vMerge="1">
                  <a:tcPr>
                    <a:lnL w="12700">
                      <a:solidFill>
                        <a:schemeClr val="tx1"/>
                      </a:solidFill>
                      <a:prstDash val="solid"/>
                    </a:lnL>
                    <a:lnR w="12700">
                      <a:solidFill>
                        <a:schemeClr val="tx1"/>
                      </a:solidFill>
                      <a:prstDash val="solid"/>
                    </a:lnR>
                    <a:lnB w="12700" cap="flat" cmpd="sng" algn="ctr">
                      <a:solidFill>
                        <a:schemeClr val="tx1"/>
                      </a:solidFill>
                      <a:prstDash val="solid"/>
                      <a:round/>
                      <a:headEnd type="none" w="med" len="med"/>
                      <a:tailEnd type="none" w="med" len="med"/>
                    </a:lnB>
                  </a:tcPr>
                </a:tc>
                <a:tc>
                  <a:txBody>
                    <a:bodyPr/>
                    <a:lstStyle/>
                    <a:p>
                      <a:pPr algn="ctr" fontAlgn="ctr"/>
                      <a:r>
                        <a:rPr lang="en-US" altLang="zh-CN" sz="1200" b="0" i="0" u="none" strike="noStrike">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0.75</a:t>
                      </a:r>
                      <a:endParaRPr lang="en-US" altLang="zh-CN" sz="1200" b="0" i="0" u="none" strike="noStrike">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0.61</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0.59</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0.59</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0.62</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0.73</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r>
            </a:tbl>
          </a:graphicData>
        </a:graphic>
      </p:graphicFrame>
      <p:sp>
        <p:nvSpPr>
          <p:cNvPr id="4"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16" name="矩形 15"/>
          <p:cNvSpPr/>
          <p:nvPr/>
        </p:nvSpPr>
        <p:spPr>
          <a:xfrm>
            <a:off x="429895" y="811530"/>
            <a:ext cx="911860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基于灰色关联分析法，确定泸203井区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平台改造效果评估关键参数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376555" y="1727835"/>
            <a:ext cx="774700" cy="487680"/>
          </a:xfrm>
          <a:prstGeom prst="rect">
            <a:avLst/>
          </a:prstGeom>
          <a:noFill/>
          <a:ln>
            <a:noFill/>
          </a:ln>
        </p:spPr>
        <p:txBody>
          <a:bodyPr wrap="square"/>
          <a:lstStyle/>
          <a:p>
            <a:pPr marL="0" indent="0">
              <a:lnSpc>
                <a:spcPct val="150000"/>
              </a:lnSpc>
              <a:buClr>
                <a:srgbClr val="FF0000"/>
              </a:buClr>
            </a:pP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SRV</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p:cNvSpPr txBox="1"/>
          <p:nvPr/>
        </p:nvSpPr>
        <p:spPr>
          <a:xfrm>
            <a:off x="5891530" y="1727835"/>
            <a:ext cx="785495" cy="487680"/>
          </a:xfrm>
          <a:prstGeom prst="rect">
            <a:avLst/>
          </a:prstGeom>
          <a:noFill/>
          <a:ln>
            <a:noFill/>
          </a:ln>
        </p:spPr>
        <p:txBody>
          <a:bodyPr wrap="square"/>
          <a:lstStyle/>
          <a:p>
            <a:pPr marL="0" indent="0">
              <a:lnSpc>
                <a:spcPct val="150000"/>
              </a:lnSpc>
              <a:buClr>
                <a:srgbClr val="FF0000"/>
              </a:buClr>
            </a:pP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EUR</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p:cNvSpPr txBox="1"/>
          <p:nvPr>
            <p:custDataLst>
              <p:tags r:id="rId1"/>
            </p:custDataLst>
          </p:nvPr>
        </p:nvSpPr>
        <p:spPr>
          <a:xfrm>
            <a:off x="6840220" y="6074410"/>
            <a:ext cx="4544060" cy="260350"/>
          </a:xfrm>
          <a:prstGeom prst="rect">
            <a:avLst/>
          </a:prstGeom>
          <a:noFill/>
        </p:spPr>
        <p:txBody>
          <a:bodyPr wrap="square" rtlCol="0">
            <a:spAutoFit/>
          </a:bodyPr>
          <a:lstStyle/>
          <a:p>
            <a:pPr algn="ctr"/>
            <a:r>
              <a:rPr lang="zh-CN" altLang="en-US" sz="11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区块</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平台</a:t>
            </a:r>
            <a:r>
              <a:rPr lang="zh-CN" sz="1100">
                <a:latin typeface="微软雅黑" panose="020B0503020204020204" pitchFamily="34" charset="-122"/>
                <a:ea typeface="微软雅黑" panose="020B0503020204020204" pitchFamily="34" charset="-122"/>
                <a:cs typeface="微软雅黑" panose="020B0503020204020204" pitchFamily="34" charset="-122"/>
              </a:rPr>
              <a:t>各参数与</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的灰色关联度热力图</a:t>
            </a:r>
            <a:endParaRPr lang="zh-CN" altLang="en-US" sz="11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custDataLst>
              <p:tags r:id="rId2"/>
            </p:custDataLst>
          </p:nvPr>
        </p:nvSpPr>
        <p:spPr>
          <a:xfrm>
            <a:off x="1073785" y="6074410"/>
            <a:ext cx="4991735" cy="260350"/>
          </a:xfrm>
          <a:prstGeom prst="rect">
            <a:avLst/>
          </a:prstGeom>
          <a:noFill/>
        </p:spPr>
        <p:txBody>
          <a:bodyPr wrap="square" rtlCol="0">
            <a:spAutoFit/>
          </a:bodyPr>
          <a:lstStyle/>
          <a:p>
            <a:pPr algn="ctr"/>
            <a:r>
              <a:rPr lang="zh-CN" altLang="en-US" sz="11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区块</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平台</a:t>
            </a:r>
            <a:r>
              <a:rPr lang="zh-CN" sz="1100">
                <a:latin typeface="微软雅黑" panose="020B0503020204020204" pitchFamily="34" charset="-122"/>
                <a:ea typeface="微软雅黑" panose="020B0503020204020204" pitchFamily="34" charset="-122"/>
                <a:cs typeface="微软雅黑" panose="020B0503020204020204" pitchFamily="34" charset="-122"/>
              </a:rPr>
              <a:t>各参数与</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的灰色关联度热力图</a:t>
            </a:r>
            <a:endParaRPr lang="zh-CN" altLang="en-US" sz="11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 name="TextBox 2"/>
          <p:cNvSpPr txBox="1">
            <a:spLocks noChangeArrowheads="1"/>
          </p:cNvSpPr>
          <p:nvPr/>
        </p:nvSpPr>
        <p:spPr bwMode="auto">
          <a:xfrm>
            <a:off x="334962" y="1342495"/>
            <a:ext cx="11485563" cy="45910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rPr>
              <a:t>泸</a:t>
            </a:r>
            <a:r>
              <a:rPr lang="en-US" altLang="zh-CN" sz="1600" dirty="0">
                <a:cs typeface="Times New Roman" panose="02020603050405020304" pitchFamily="18" charset="0"/>
              </a:rPr>
              <a:t>203</a:t>
            </a:r>
            <a:r>
              <a:rPr lang="zh-CN" altLang="en-US" sz="1600" dirty="0">
                <a:cs typeface="Times New Roman" panose="02020603050405020304" pitchFamily="18" charset="0"/>
              </a:rPr>
              <a:t>井区</a:t>
            </a:r>
            <a:r>
              <a:rPr lang="en-US" altLang="zh-CN" sz="1600" dirty="0">
                <a:cs typeface="Times New Roman" panose="02020603050405020304" pitchFamily="18" charset="0"/>
              </a:rPr>
              <a:t>H123</a:t>
            </a:r>
            <a:r>
              <a:rPr lang="zh-CN" altLang="en-US" sz="1600" dirty="0">
                <a:cs typeface="Times New Roman" panose="02020603050405020304" pitchFamily="18" charset="0"/>
              </a:rPr>
              <a:t>平台各参数与</a:t>
            </a:r>
            <a:r>
              <a:rPr lang="en-US" altLang="zh-CN" sz="1600" dirty="0">
                <a:solidFill>
                  <a:srgbClr val="FF0000"/>
                </a:solidFill>
                <a:cs typeface="Times New Roman" panose="02020603050405020304" pitchFamily="18" charset="0"/>
              </a:rPr>
              <a:t>SRV</a:t>
            </a:r>
            <a:r>
              <a:rPr lang="zh-CN" altLang="en-US" sz="1600" dirty="0">
                <a:solidFill>
                  <a:srgbClr val="FF0000"/>
                </a:solidFill>
                <a:cs typeface="Times New Roman" panose="02020603050405020304" pitchFamily="18" charset="0"/>
              </a:rPr>
              <a:t>、</a:t>
            </a:r>
            <a:r>
              <a:rPr lang="en-US" altLang="zh-CN" sz="1600" dirty="0">
                <a:solidFill>
                  <a:srgbClr val="FF0000"/>
                </a:solidFill>
                <a:cs typeface="Times New Roman" panose="02020603050405020304" pitchFamily="18" charset="0"/>
              </a:rPr>
              <a:t>EUR</a:t>
            </a:r>
            <a:r>
              <a:rPr lang="zh-CN" altLang="en-US" sz="1600" dirty="0">
                <a:cs typeface="Times New Roman" panose="02020603050405020304" pitchFamily="18" charset="0"/>
              </a:rPr>
              <a:t>的灰色关联度热力图</a:t>
            </a:r>
            <a:endParaRPr lang="zh-CN" altLang="en-US" sz="1600" dirty="0">
              <a:cs typeface="Times New Roman" panose="02020603050405020304" pitchFamily="18" charset="0"/>
            </a:endParaRPr>
          </a:p>
        </p:txBody>
      </p:sp>
      <p:sp>
        <p:nvSpPr>
          <p:cNvPr id="16" name="矩形 15"/>
          <p:cNvSpPr/>
          <p:nvPr/>
        </p:nvSpPr>
        <p:spPr>
          <a:xfrm>
            <a:off x="429895" y="811530"/>
            <a:ext cx="832993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基于灰色关联分析法，确定泸203井区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平台改造效果评估关键参数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3" name="图片 2" descr="泸203H123--SRV"/>
          <p:cNvPicPr>
            <a:picLocks noChangeAspect="1"/>
          </p:cNvPicPr>
          <p:nvPr/>
        </p:nvPicPr>
        <p:blipFill>
          <a:blip r:embed="rId3"/>
          <a:srcRect l="5926" t="750" r="3852" b="1333"/>
          <a:stretch>
            <a:fillRect/>
          </a:stretch>
        </p:blipFill>
        <p:spPr>
          <a:xfrm>
            <a:off x="1028700" y="1878330"/>
            <a:ext cx="4850765" cy="4211955"/>
          </a:xfrm>
          <a:prstGeom prst="rect">
            <a:avLst/>
          </a:prstGeom>
        </p:spPr>
      </p:pic>
      <p:pic>
        <p:nvPicPr>
          <p:cNvPr id="6" name="图片 5" descr="泸203H123--EUR"/>
          <p:cNvPicPr>
            <a:picLocks noChangeAspect="1"/>
          </p:cNvPicPr>
          <p:nvPr/>
        </p:nvPicPr>
        <p:blipFill>
          <a:blip r:embed="rId4"/>
          <a:srcRect l="5785" t="750" r="5289" b="1519"/>
          <a:stretch>
            <a:fillRect/>
          </a:stretch>
        </p:blipFill>
        <p:spPr>
          <a:xfrm>
            <a:off x="6501130" y="1877695"/>
            <a:ext cx="4791075" cy="4213225"/>
          </a:xfrm>
          <a:prstGeom prst="rect">
            <a:avLst/>
          </a:prstGeo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27025" y="1301115"/>
            <a:ext cx="11571605" cy="1186180"/>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排序前六的各参数与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的灰色关联度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结果</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各参数对SRV的综合评价：</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杨氏模量</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G函数反演改造体积</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停泵压力</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小波分析体积评分&gt;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总砂量</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总液量</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150000"/>
              </a:lnSpc>
              <a:buClr>
                <a:srgbClr val="FF0000"/>
              </a:buClr>
              <a:buFont typeface="Wingdings" panose="05000000000000000000" charset="0"/>
              <a:buChar char="l"/>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各参数对EUR的综合评价：</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加砂强度</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小波分析体积评分</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总液量</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/总砂量/</a:t>
            </a:r>
            <a:r>
              <a:rPr lang="en-US" altLang="zh-CN" sz="1600">
                <a:solidFill>
                  <a:srgbClr val="000000"/>
                </a:solidFill>
                <a:latin typeface="微软雅黑" panose="020B0503020204020204" pitchFamily="34" charset="-122"/>
                <a:ea typeface="微软雅黑" panose="020B0503020204020204" pitchFamily="34" charset="-122"/>
                <a:sym typeface="+mn-ea"/>
              </a:rPr>
              <a:t>G</a:t>
            </a:r>
            <a:r>
              <a:rPr lang="zh-CN" altLang="en-US" sz="1600">
                <a:solidFill>
                  <a:srgbClr val="000000"/>
                </a:solidFill>
                <a:latin typeface="微软雅黑" panose="020B0503020204020204" pitchFamily="34" charset="-122"/>
                <a:ea typeface="微软雅黑" panose="020B0503020204020204" pitchFamily="34" charset="-122"/>
                <a:sym typeface="+mn-ea"/>
              </a:rPr>
              <a:t>函数反演改造体积</a:t>
            </a:r>
            <a:r>
              <a:rPr lang="en-US" altLang="zh-CN"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泊松比</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16" name="矩形 15"/>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基于灰色关联分析法，确定泸203井区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平台改造效果评估关键参数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377190" y="2562860"/>
          <a:ext cx="11297285" cy="3493770"/>
        </p:xfrm>
        <a:graphic>
          <a:graphicData uri="http://schemas.openxmlformats.org/drawingml/2006/table">
            <a:tbl>
              <a:tblPr/>
              <a:tblGrid>
                <a:gridCol w="1412240"/>
                <a:gridCol w="548640"/>
                <a:gridCol w="1289050"/>
                <a:gridCol w="1289685"/>
                <a:gridCol w="1436370"/>
                <a:gridCol w="1240155"/>
                <a:gridCol w="2067560"/>
                <a:gridCol w="2013585"/>
              </a:tblGrid>
              <a:tr h="613410">
                <a:tc rowSpan="6">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泸</a:t>
                      </a:r>
                      <a:r>
                        <a:rPr lang="en-US" altLang="zh-CN" sz="1200" b="1" i="0">
                          <a:solidFill>
                            <a:srgbClr val="FFFFFF"/>
                          </a:solidFill>
                          <a:latin typeface="微软雅黑" panose="020B0503020204020204" pitchFamily="34" charset="-122"/>
                          <a:ea typeface="微软雅黑" panose="020B0503020204020204" pitchFamily="34" charset="-122"/>
                        </a:rPr>
                        <a:t>203</a:t>
                      </a:r>
                      <a:r>
                        <a:rPr lang="zh-CN" altLang="en-US" sz="1200" b="1" i="0">
                          <a:solidFill>
                            <a:srgbClr val="FFFFFF"/>
                          </a:solidFill>
                          <a:latin typeface="微软雅黑" panose="020B0503020204020204" pitchFamily="34" charset="-122"/>
                          <a:ea typeface="微软雅黑" panose="020B0503020204020204" pitchFamily="34" charset="-122"/>
                        </a:rPr>
                        <a:t>井区</a:t>
                      </a:r>
                      <a:endParaRPr lang="zh-CN" altLang="en-US" sz="1200" b="1" i="0">
                        <a:solidFill>
                          <a:srgbClr val="FFFFFF"/>
                        </a:solidFill>
                        <a:latin typeface="微软雅黑" panose="020B0503020204020204" pitchFamily="34" charset="-122"/>
                        <a:ea typeface="微软雅黑" panose="020B0503020204020204" pitchFamily="34" charset="-122"/>
                      </a:endParaRPr>
                    </a:p>
                    <a:p>
                      <a:pPr algn="ctr" fontAlgn="ctr"/>
                      <a:r>
                        <a:rPr lang="en-US" altLang="zh-CN" sz="1200" b="1" i="0">
                          <a:solidFill>
                            <a:srgbClr val="FFFFFF"/>
                          </a:solidFill>
                          <a:latin typeface="微软雅黑" panose="020B0503020204020204" pitchFamily="34" charset="-122"/>
                          <a:ea typeface="微软雅黑" panose="020B0503020204020204" pitchFamily="34" charset="-122"/>
                        </a:rPr>
                        <a:t>H123</a:t>
                      </a:r>
                      <a:r>
                        <a:rPr lang="zh-CN" altLang="en-US" sz="1200" b="1" i="0">
                          <a:solidFill>
                            <a:srgbClr val="FFFFFF"/>
                          </a:solidFill>
                          <a:latin typeface="微软雅黑" panose="020B0503020204020204" pitchFamily="34" charset="-122"/>
                          <a:ea typeface="微软雅黑" panose="020B0503020204020204" pitchFamily="34" charset="-122"/>
                        </a:rPr>
                        <a:t>平台</a:t>
                      </a:r>
                      <a:endParaRPr lang="zh-CN" altLang="en-US"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rowSpan="3">
                  <a:txBody>
                    <a:bodyPr/>
                    <a:p>
                      <a:pPr algn="ctr" fontAlgn="ctr"/>
                      <a:r>
                        <a:rPr lang="en-US" altLang="zh-CN" sz="1200" b="1" i="0">
                          <a:solidFill>
                            <a:srgbClr val="FFFFFF"/>
                          </a:solidFill>
                          <a:latin typeface="微软雅黑" panose="020B0503020204020204" pitchFamily="34" charset="-122"/>
                          <a:ea typeface="微软雅黑" panose="020B0503020204020204" pitchFamily="34" charset="-122"/>
                        </a:rPr>
                        <a:t>SRV</a:t>
                      </a:r>
                      <a:endParaRPr lang="en-US" altLang="zh-CN"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地质参数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gridSpan="3">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压裂效果评估方法</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77470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a:solidFill>
                            <a:srgbClr val="000000"/>
                          </a:solidFill>
                          <a:latin typeface="微软雅黑" panose="020B0503020204020204" pitchFamily="34" charset="-122"/>
                          <a:ea typeface="微软雅黑" panose="020B0503020204020204" pitchFamily="34" charset="-122"/>
                          <a:sym typeface="+mn-ea"/>
                        </a:rPr>
                        <a:t>杨氏模量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停泵压力</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总砂量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总液量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小波分析体积评分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rPr>
                        <a:t>函数反演改造体积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30797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0.79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0.71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59880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rowSpan="3">
                  <a:txBody>
                    <a:bodyPr/>
                    <a:p>
                      <a:pPr algn="ctr" fontAlgn="ctr"/>
                      <a:r>
                        <a:rPr lang="en-US" altLang="zh-CN" sz="1200" b="1" i="0">
                          <a:solidFill>
                            <a:srgbClr val="FFFFFF"/>
                          </a:solidFill>
                          <a:latin typeface="微软雅黑" panose="020B0503020204020204" pitchFamily="34" charset="-122"/>
                          <a:ea typeface="微软雅黑" panose="020B0503020204020204" pitchFamily="34" charset="-122"/>
                        </a:rPr>
                        <a:t>EUR</a:t>
                      </a:r>
                      <a:endParaRPr lang="en-US" altLang="zh-CN"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地质参数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gridSpan="3">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压裂效果评估方法</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89281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泊松比</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加砂强度</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总</a:t>
                      </a:r>
                      <a:r>
                        <a:rPr lang="zh-CN" altLang="en-US" sz="1200" b="0" i="0">
                          <a:solidFill>
                            <a:srgbClr val="000000"/>
                          </a:solidFill>
                          <a:latin typeface="微软雅黑" panose="020B0503020204020204" pitchFamily="34" charset="-122"/>
                          <a:ea typeface="微软雅黑" panose="020B0503020204020204" pitchFamily="34" charset="-122"/>
                        </a:rPr>
                        <a:t>砂量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总液量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小波分析体积评分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rPr>
                        <a:t>函数反演改造体积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30607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27025" y="1301115"/>
            <a:ext cx="11571605" cy="833120"/>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206</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H7</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平台各参数</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的灰色关联度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热力图</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各参数对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的综合评价：</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小波分析体积评分</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＞用液强度</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函数反演改造体积＞停泵压力＞施工排量</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最小水平主应力</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custDataLst>
              <p:tags r:id="rId1"/>
            </p:custDataLst>
          </p:nvPr>
        </p:nvSpPr>
        <p:spPr>
          <a:xfrm>
            <a:off x="6861175" y="6074410"/>
            <a:ext cx="4718685" cy="260350"/>
          </a:xfrm>
          <a:prstGeom prst="rect">
            <a:avLst/>
          </a:prstGeom>
          <a:noFill/>
        </p:spPr>
        <p:txBody>
          <a:bodyPr wrap="square" rtlCol="0">
            <a:spAutoFit/>
          </a:bodyPr>
          <a:lstStyle/>
          <a:p>
            <a:pPr algn="ctr"/>
            <a:r>
              <a:rPr lang="zh-CN" sz="1100">
                <a:latin typeface="微软雅黑" panose="020B0503020204020204" pitchFamily="34" charset="-122"/>
                <a:ea typeface="微软雅黑" panose="020B0503020204020204" pitchFamily="34" charset="-122"/>
                <a:cs typeface="微软雅黑" panose="020B0503020204020204" pitchFamily="34" charset="-122"/>
              </a:rPr>
              <a:t>泸206区块</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H7</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平台</a:t>
            </a:r>
            <a:r>
              <a:rPr lang="zh-CN" sz="1100">
                <a:latin typeface="微软雅黑" panose="020B0503020204020204" pitchFamily="34" charset="-122"/>
                <a:ea typeface="微软雅黑" panose="020B0503020204020204" pitchFamily="34" charset="-122"/>
                <a:cs typeface="微软雅黑" panose="020B0503020204020204" pitchFamily="34" charset="-122"/>
              </a:rPr>
              <a:t>各参数与EUR的灰色关联度热力图</a:t>
            </a:r>
            <a:endParaRPr lang="zh-CN" sz="11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8" name="表格 7"/>
          <p:cNvGraphicFramePr>
            <a:graphicFrameLocks noGrp="1"/>
          </p:cNvGraphicFramePr>
          <p:nvPr>
            <p:custDataLst>
              <p:tags r:id="rId2"/>
            </p:custDataLst>
          </p:nvPr>
        </p:nvGraphicFramePr>
        <p:xfrm>
          <a:off x="376555" y="2193290"/>
          <a:ext cx="5600700" cy="3889375"/>
        </p:xfrm>
        <a:graphic>
          <a:graphicData uri="http://schemas.openxmlformats.org/drawingml/2006/table">
            <a:tbl>
              <a:tblPr/>
              <a:tblGrid>
                <a:gridCol w="979170"/>
                <a:gridCol w="1251585"/>
                <a:gridCol w="2434590"/>
                <a:gridCol w="935355"/>
              </a:tblGrid>
              <a:tr h="420370">
                <a:tc gridSpan="4">
                  <a:txBody>
                    <a:bodyPr/>
                    <a:lstStyle/>
                    <a:p>
                      <a:pPr algn="ctr" fontAlgn="ctr"/>
                      <a:r>
                        <a:rPr lang="zh-CN" altLang="en-US" sz="1200" b="1" i="0" u="none" strike="noStrike">
                          <a:solidFill>
                            <a:schemeClr val="bg1"/>
                          </a:solidFill>
                          <a:effectLst/>
                          <a:latin typeface="微软雅黑" panose="020B0503020204020204" pitchFamily="34" charset="-122"/>
                          <a:ea typeface="微软雅黑" panose="020B0503020204020204" pitchFamily="34" charset="-122"/>
                        </a:rPr>
                        <a:t>关联度</a:t>
                      </a:r>
                      <a:endParaRPr lang="zh-CN" altLang="en-US" sz="1200" b="1" i="0" u="none" strike="noStrike">
                        <a:solidFill>
                          <a:schemeClr val="bg1"/>
                        </a:solidFill>
                        <a:effectLst/>
                        <a:latin typeface="微软雅黑" panose="020B0503020204020204" pitchFamily="34" charset="-122"/>
                        <a:ea typeface="微软雅黑" panose="020B0503020204020204" pitchFamily="34"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marL="7620" marR="7620" marT="7620" marB="0" anchor="ctr">
                    <a:lnL>
                      <a:noFill/>
                    </a:lnL>
                    <a:lnR w="12700">
                      <a:solidFill>
                        <a:schemeClr val="tx1"/>
                      </a:solidFill>
                      <a:prstDash val="solid"/>
                    </a:lnR>
                    <a:lnT w="12700" cap="flat" cmpd="sng" algn="ctr">
                      <a:solidFill>
                        <a:prstClr val="black"/>
                      </a:solidFill>
                      <a:prstDash val="solid"/>
                      <a:round/>
                      <a:headEnd type="none" w="med" len="med"/>
                      <a:tailEnd type="none" w="med" len="med"/>
                    </a:lnT>
                    <a:lnB w="12700">
                      <a:solidFill>
                        <a:schemeClr val="tx1"/>
                      </a:solidFill>
                      <a:prstDash val="solid"/>
                    </a:lnB>
                    <a:noFill/>
                  </a:tcPr>
                </a:tc>
                <a:tc hMerge="1">
                  <a:tcPr marL="7620" marR="7620" marT="7620" marB="0" anchor="ctr">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20370">
                <a:tc rowSpan="6">
                  <a:txBody>
                    <a:bodyPr/>
                    <a:lstStyle/>
                    <a:p>
                      <a:pPr algn="ctr" fontAlgn="ctr"/>
                      <a:r>
                        <a:rPr lang="zh-CN" altLang="en-US"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206</a:t>
                      </a:r>
                      <a:endParaRPr lang="en-US" altLang="zh-CN"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井区</a:t>
                      </a:r>
                      <a:endParaRPr lang="zh-CN" altLang="en-US"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en-US" altLang="zh-CN"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H7</a:t>
                      </a:r>
                      <a:r>
                        <a:rPr lang="zh-CN" altLang="en-US"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平台</a:t>
                      </a:r>
                      <a:endParaRPr lang="en-US" altLang="zh-CN"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en-US" altLang="zh-CN"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EUR</a:t>
                      </a:r>
                      <a:endParaRPr lang="en-US" altLang="zh-CN" sz="1200" b="1" i="0" u="none" strike="noStrike">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0" anchor="ctr">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rowSpan="3">
                  <a:txBody>
                    <a:bodyPr/>
                    <a:lstStyle/>
                    <a:p>
                      <a:pPr algn="ctr" fontAlgn="ctr"/>
                      <a:r>
                        <a:rPr lang="zh-CN" altLang="en-US" sz="1200" b="1" i="0" u="none" strike="noStrike">
                          <a:solidFill>
                            <a:schemeClr val="bg1"/>
                          </a:solidFill>
                          <a:effectLst/>
                          <a:latin typeface="微软雅黑" panose="020B0503020204020204" pitchFamily="34" charset="-122"/>
                          <a:ea typeface="微软雅黑" panose="020B0503020204020204" pitchFamily="34" charset="-122"/>
                        </a:rPr>
                        <a:t>施工参数</a:t>
                      </a:r>
                      <a:endParaRPr lang="zh-CN" altLang="en-US" sz="1200" b="1" i="0" u="none" strike="noStrike">
                        <a:solidFill>
                          <a:schemeClr val="bg1"/>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用液强度</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0.68</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 marR="7620" marT="7620" marB="0" anchor="ctr">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w="12700" cmpd="sng">
                      <a:noFill/>
                      <a:prstDash val="solid"/>
                    </a:lnTlToBr>
                    <a:lnBlToTr w="12700" cmpd="sng">
                      <a:noFill/>
                      <a:prstDash val="solid"/>
                    </a:lnBlToTr>
                    <a:noFill/>
                  </a:tcPr>
                </a:tc>
              </a:tr>
              <a:tr h="452120">
                <a:tc vMerge="1">
                  <a:tcPr>
                    <a:lnL w="12700" cap="flat" cmpd="sng" algn="ctr">
                      <a:solidFill>
                        <a:schemeClr val="tx1"/>
                      </a:solidFill>
                      <a:prstDash val="solid"/>
                      <a:round/>
                      <a:headEnd type="none" w="med" len="med"/>
                      <a:tailEnd type="none" w="med" len="med"/>
                    </a:lnL>
                    <a:lnR w="12700">
                      <a:solidFill>
                        <a:schemeClr val="tx1"/>
                      </a:solidFill>
                      <a:prstDash val="solid"/>
                    </a:lnR>
                  </a:tcPr>
                </a:tc>
                <a:tc vMerge="1">
                  <a:tcPr>
                    <a:lnL w="12700">
                      <a:solidFill>
                        <a:schemeClr val="tx1"/>
                      </a:solidFill>
                      <a:prstDash val="solid"/>
                    </a:lnL>
                    <a:lnR w="12700">
                      <a:solidFill>
                        <a:schemeClr val="tx1"/>
                      </a:solidFill>
                      <a:prstDash val="solid"/>
                    </a:lnR>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停泵压力</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0.64</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 marR="7620" marT="7620"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noFill/>
                  </a:tcPr>
                </a:tc>
              </a:tr>
              <a:tr h="472440">
                <a:tc vMerge="1">
                  <a:tcPr>
                    <a:lnL w="12700" cap="flat" cmpd="sng" algn="ctr">
                      <a:solidFill>
                        <a:schemeClr val="tx1"/>
                      </a:solidFill>
                      <a:prstDash val="solid"/>
                      <a:round/>
                      <a:headEnd type="none" w="med" len="med"/>
                      <a:tailEnd type="none" w="med" len="med"/>
                    </a:lnL>
                    <a:lnR w="12700">
                      <a:solidFill>
                        <a:schemeClr val="tx1"/>
                      </a:solidFill>
                      <a:prstDash val="solid"/>
                    </a:lnR>
                  </a:tcPr>
                </a:tc>
                <a:tc vMerge="1">
                  <a:tcPr>
                    <a:lnL w="12700">
                      <a:solidFill>
                        <a:schemeClr val="tx1"/>
                      </a:solidFill>
                      <a:prstDash val="solid"/>
                    </a:lnL>
                    <a:lnR w="12700">
                      <a:solidFill>
                        <a:schemeClr val="tx1"/>
                      </a:solidFill>
                      <a:prstDash val="solid"/>
                    </a:lnR>
                    <a:lnB w="12700" cap="flat" cmpd="sng" algn="ctr">
                      <a:solidFill>
                        <a:schemeClr val="tx1"/>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施工排量</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0.61</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 marR="7620" marT="7620"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21665">
                <a:tc vMerge="1">
                  <a:tcPr>
                    <a:lnL w="12700" cap="flat" cmpd="sng" algn="ctr">
                      <a:solidFill>
                        <a:schemeClr val="tx1"/>
                      </a:solidFill>
                      <a:prstDash val="solid"/>
                      <a:round/>
                      <a:headEnd type="none" w="med" len="med"/>
                      <a:tailEnd type="none" w="med" len="med"/>
                    </a:lnL>
                    <a:lnR w="12700">
                      <a:solidFill>
                        <a:schemeClr val="tx1"/>
                      </a:solidFill>
                      <a:prstDash val="solid"/>
                    </a:lnR>
                  </a:tcPr>
                </a:tc>
                <a:tc>
                  <a:txBody>
                    <a:bodyPr/>
                    <a:lstStyle/>
                    <a:p>
                      <a:pPr algn="ctr" fontAlgn="ctr"/>
                      <a:r>
                        <a:rPr lang="zh-CN" altLang="en-US" sz="1200" b="1" i="0" u="none" strike="noStrike">
                          <a:solidFill>
                            <a:schemeClr val="bg1"/>
                          </a:solidFill>
                          <a:effectLst/>
                          <a:latin typeface="微软雅黑" panose="020B0503020204020204" pitchFamily="34" charset="-122"/>
                          <a:ea typeface="微软雅黑" panose="020B0503020204020204" pitchFamily="34" charset="-122"/>
                        </a:rPr>
                        <a:t>地质参数</a:t>
                      </a:r>
                      <a:endParaRPr lang="zh-CN" altLang="en-US" sz="1200" b="1" i="0" u="none" strike="noStrike">
                        <a:solidFill>
                          <a:schemeClr val="bg1"/>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最小水平主应力</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0.61</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 marR="7620" marT="7620" marB="0" anchor="ctr">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88975">
                <a:tc vMerge="1">
                  <a:tcPr>
                    <a:lnL w="12700" cap="flat" cmpd="sng" algn="ctr">
                      <a:solidFill>
                        <a:schemeClr val="tx1"/>
                      </a:solidFill>
                      <a:prstDash val="solid"/>
                      <a:round/>
                      <a:headEnd type="none" w="med" len="med"/>
                      <a:tailEnd type="none" w="med" len="med"/>
                    </a:lnL>
                    <a:lnR w="12700">
                      <a:solidFill>
                        <a:schemeClr val="tx1"/>
                      </a:solidFill>
                      <a:prstDash val="solid"/>
                    </a:lnR>
                  </a:tcPr>
                </a:tc>
                <a:tc rowSpan="2">
                  <a:txBody>
                    <a:bodyPr/>
                    <a:lstStyle/>
                    <a:p>
                      <a:pPr algn="ctr" fontAlgn="ctr"/>
                      <a:r>
                        <a:rPr lang="zh-CN" altLang="en-US" sz="1200" b="1" i="0" u="none" strike="noStrike">
                          <a:solidFill>
                            <a:schemeClr val="bg1"/>
                          </a:solidFill>
                          <a:effectLst/>
                          <a:latin typeface="微软雅黑" panose="020B0503020204020204" pitchFamily="34" charset="-122"/>
                          <a:ea typeface="微软雅黑" panose="020B0503020204020204" pitchFamily="34" charset="-122"/>
                        </a:rPr>
                        <a:t>压裂效果</a:t>
                      </a:r>
                      <a:endParaRPr lang="en-US" altLang="zh-CN" sz="1200" b="1" i="0" u="none" strike="noStrike">
                        <a:solidFill>
                          <a:schemeClr val="bg1"/>
                        </a:solidFill>
                        <a:effectLst/>
                        <a:latin typeface="微软雅黑" panose="020B0503020204020204" pitchFamily="34" charset="-122"/>
                        <a:ea typeface="微软雅黑" panose="020B0503020204020204" pitchFamily="34" charset="-122"/>
                      </a:endParaRPr>
                    </a:p>
                    <a:p>
                      <a:pPr algn="ctr" fontAlgn="ctr"/>
                      <a:r>
                        <a:rPr lang="zh-CN" altLang="en-US" sz="1200" b="1" i="0" u="none" strike="noStrike">
                          <a:solidFill>
                            <a:schemeClr val="bg1"/>
                          </a:solidFill>
                          <a:effectLst/>
                          <a:latin typeface="微软雅黑" panose="020B0503020204020204" pitchFamily="34" charset="-122"/>
                          <a:ea typeface="微软雅黑" panose="020B0503020204020204" pitchFamily="34" charset="-122"/>
                        </a:rPr>
                        <a:t>评估方法</a:t>
                      </a:r>
                      <a:endParaRPr lang="zh-CN" altLang="en-US" sz="1200" b="1" i="0" u="none" strike="noStrike">
                        <a:solidFill>
                          <a:schemeClr val="bg1"/>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小波分析体积评分</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0.71</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 marR="7620" marT="7620" marB="0" anchor="ctr">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lnTlToBr w="12700" cmpd="sng">
                      <a:noFill/>
                      <a:prstDash val="solid"/>
                    </a:lnTlToBr>
                    <a:lnBlToTr w="12700" cmpd="sng">
                      <a:noFill/>
                      <a:prstDash val="solid"/>
                    </a:lnBlToTr>
                    <a:noFill/>
                  </a:tcPr>
                </a:tc>
              </a:tr>
              <a:tr h="813435">
                <a:tc vMerge="1">
                  <a:tcPr>
                    <a:lnL w="12700" cap="flat" cmpd="sng" algn="ctr">
                      <a:solidFill>
                        <a:schemeClr val="tx1"/>
                      </a:solidFill>
                      <a:prstDash val="solid"/>
                      <a:round/>
                      <a:headEnd type="none" w="med" len="med"/>
                      <a:tailEnd type="none" w="med" len="med"/>
                    </a:lnL>
                    <a:lnR w="12700">
                      <a:solidFill>
                        <a:schemeClr val="tx1"/>
                      </a:solidFill>
                      <a:prstDash val="solid"/>
                    </a:lnR>
                    <a:lnB w="12700" cap="flat" cmpd="sng" algn="ctr">
                      <a:solidFill>
                        <a:scrgbClr r="0" g="0" b="0"/>
                      </a:solidFill>
                      <a:prstDash val="solid"/>
                      <a:round/>
                      <a:headEnd type="none" w="med" len="med"/>
                      <a:tailEnd type="none" w="med" len="med"/>
                    </a:lnB>
                  </a:tcPr>
                </a:tc>
                <a:tc vMerge="1">
                  <a:tcPr>
                    <a:lnL w="12700">
                      <a:solidFill>
                        <a:schemeClr val="tx1"/>
                      </a:solidFill>
                      <a:prstDash val="solid"/>
                    </a:lnL>
                    <a:lnR w="12700">
                      <a:solidFill>
                        <a:schemeClr val="tx1"/>
                      </a:solidFill>
                      <a:prstDash val="solid"/>
                    </a:lnR>
                    <a:lnB w="12700" cap="flat" cmpd="sng" algn="ctr">
                      <a:solidFill>
                        <a:scrgbClr r="0" g="0" b="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0" i="0" u="none" strike="noStrike">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函数反演改造体积</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0.68</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 marR="7620" marT="7620"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6"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263640" y="2193290"/>
            <a:ext cx="785495" cy="487680"/>
          </a:xfrm>
          <a:prstGeom prst="rect">
            <a:avLst/>
          </a:prstGeom>
          <a:noFill/>
          <a:ln>
            <a:noFill/>
          </a:ln>
        </p:spPr>
        <p:txBody>
          <a:bodyPr wrap="square"/>
          <a:lstStyle/>
          <a:p>
            <a:pPr marL="0" indent="0">
              <a:lnSpc>
                <a:spcPct val="150000"/>
              </a:lnSpc>
              <a:buClr>
                <a:srgbClr val="FF0000"/>
              </a:buClr>
            </a:pP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EUR</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descr="泸206H7--EUR"/>
          <p:cNvPicPr>
            <a:picLocks noChangeAspect="1"/>
          </p:cNvPicPr>
          <p:nvPr/>
        </p:nvPicPr>
        <p:blipFill>
          <a:blip r:embed="rId3"/>
          <a:srcRect l="5785" t="750" r="4711" b="1426"/>
          <a:stretch>
            <a:fillRect/>
          </a:stretch>
        </p:blipFill>
        <p:spPr>
          <a:xfrm>
            <a:off x="6861175" y="2134235"/>
            <a:ext cx="4531995" cy="3963035"/>
          </a:xfrm>
          <a:prstGeom prst="rect">
            <a:avLst/>
          </a:prstGeom>
        </p:spPr>
      </p:pic>
      <p:sp>
        <p:nvSpPr>
          <p:cNvPr id="16" name="矩形 15"/>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基于灰色关联分析法，确定泸20</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H7</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平台改造效果评估关键参数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27025" y="1301115"/>
            <a:ext cx="11571605" cy="833120"/>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206</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平台各参数</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的灰色关联度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热力图</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各参数对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的综合评价：</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用液强度</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小波分析体积评分</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函数反演改造体积＞停泵压力</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杨氏模量</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最小水平主应力</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custDataLst>
              <p:tags r:id="rId1"/>
            </p:custDataLst>
          </p:nvPr>
        </p:nvSpPr>
        <p:spPr>
          <a:xfrm>
            <a:off x="6861175" y="6074410"/>
            <a:ext cx="4718685" cy="260350"/>
          </a:xfrm>
          <a:prstGeom prst="rect">
            <a:avLst/>
          </a:prstGeom>
          <a:noFill/>
        </p:spPr>
        <p:txBody>
          <a:bodyPr wrap="square" rtlCol="0">
            <a:spAutoFit/>
          </a:bodyPr>
          <a:lstStyle/>
          <a:p>
            <a:pPr algn="ctr"/>
            <a:r>
              <a:rPr lang="zh-CN" sz="1100">
                <a:latin typeface="微软雅黑" panose="020B0503020204020204" pitchFamily="34" charset="-122"/>
                <a:ea typeface="微软雅黑" panose="020B0503020204020204" pitchFamily="34" charset="-122"/>
                <a:cs typeface="微软雅黑" panose="020B0503020204020204" pitchFamily="34" charset="-122"/>
              </a:rPr>
              <a:t>泸206区块</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H8</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平台</a:t>
            </a:r>
            <a:r>
              <a:rPr lang="zh-CN" sz="1100">
                <a:latin typeface="微软雅黑" panose="020B0503020204020204" pitchFamily="34" charset="-122"/>
                <a:ea typeface="微软雅黑" panose="020B0503020204020204" pitchFamily="34" charset="-122"/>
                <a:cs typeface="微软雅黑" panose="020B0503020204020204" pitchFamily="34" charset="-122"/>
              </a:rPr>
              <a:t>各参数与EUR的灰色关联度热力图</a:t>
            </a:r>
            <a:endParaRPr lang="zh-CN" sz="11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288405" y="2193290"/>
            <a:ext cx="785495" cy="487680"/>
          </a:xfrm>
          <a:prstGeom prst="rect">
            <a:avLst/>
          </a:prstGeom>
          <a:noFill/>
          <a:ln>
            <a:noFill/>
          </a:ln>
        </p:spPr>
        <p:txBody>
          <a:bodyPr wrap="square"/>
          <a:lstStyle/>
          <a:p>
            <a:pPr marL="0" indent="0">
              <a:lnSpc>
                <a:spcPct val="150000"/>
              </a:lnSpc>
              <a:buClr>
                <a:srgbClr val="FF0000"/>
              </a:buClr>
            </a:pP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EUR</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descr="泸206H8--EUR"/>
          <p:cNvPicPr>
            <a:picLocks noChangeAspect="1"/>
          </p:cNvPicPr>
          <p:nvPr/>
        </p:nvPicPr>
        <p:blipFill>
          <a:blip r:embed="rId2"/>
          <a:srcRect l="5785" t="750" r="5222" b="1963"/>
          <a:stretch>
            <a:fillRect/>
          </a:stretch>
        </p:blipFill>
        <p:spPr>
          <a:xfrm>
            <a:off x="6861175" y="2134235"/>
            <a:ext cx="4541520" cy="3972560"/>
          </a:xfrm>
          <a:prstGeom prst="rect">
            <a:avLst/>
          </a:prstGeom>
        </p:spPr>
      </p:pic>
      <p:graphicFrame>
        <p:nvGraphicFramePr>
          <p:cNvPr id="5" name="表格 4"/>
          <p:cNvGraphicFramePr/>
          <p:nvPr>
            <p:custDataLst>
              <p:tags r:id="rId3"/>
            </p:custDataLst>
          </p:nvPr>
        </p:nvGraphicFramePr>
        <p:xfrm>
          <a:off x="371475" y="2245995"/>
          <a:ext cx="5588000" cy="3828415"/>
        </p:xfrm>
        <a:graphic>
          <a:graphicData uri="http://schemas.openxmlformats.org/drawingml/2006/table">
            <a:tbl>
              <a:tblPr/>
              <a:tblGrid>
                <a:gridCol w="871220"/>
                <a:gridCol w="1137285"/>
                <a:gridCol w="2614930"/>
                <a:gridCol w="964565"/>
              </a:tblGrid>
              <a:tr h="382905">
                <a:tc gridSpan="4">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关联度</a:t>
                      </a:r>
                      <a:endParaRPr lang="zh-CN" altLang="en-US"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506095">
                <a:tc rowSpan="6">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泸</a:t>
                      </a:r>
                      <a:r>
                        <a:rPr lang="en-US" altLang="zh-CN" sz="1200" b="1" i="0">
                          <a:solidFill>
                            <a:srgbClr val="FFFFFF"/>
                          </a:solidFill>
                          <a:latin typeface="微软雅黑" panose="020B0503020204020204" pitchFamily="34" charset="-122"/>
                          <a:ea typeface="微软雅黑" panose="020B0503020204020204" pitchFamily="34" charset="-122"/>
                        </a:rPr>
                        <a:t>206</a:t>
                      </a:r>
                      <a:endParaRPr lang="en-US" altLang="zh-CN" sz="1200" b="1" i="0">
                        <a:solidFill>
                          <a:srgbClr val="FFFFFF"/>
                        </a:solidFill>
                        <a:latin typeface="微软雅黑" panose="020B0503020204020204" pitchFamily="34" charset="-122"/>
                        <a:ea typeface="微软雅黑" panose="020B0503020204020204" pitchFamily="34" charset="-122"/>
                      </a:endParaRPr>
                    </a:p>
                    <a:p>
                      <a:pPr algn="ctr" fontAlgn="ctr"/>
                      <a:r>
                        <a:rPr lang="zh-CN" altLang="en-US" sz="1200" b="1" i="0">
                          <a:solidFill>
                            <a:srgbClr val="FFFFFF"/>
                          </a:solidFill>
                          <a:latin typeface="微软雅黑" panose="020B0503020204020204" pitchFamily="34" charset="-122"/>
                          <a:ea typeface="微软雅黑" panose="020B0503020204020204" pitchFamily="34" charset="-122"/>
                        </a:rPr>
                        <a:t>井区</a:t>
                      </a:r>
                      <a:endParaRPr lang="zh-CN" altLang="en-US" sz="1200" b="1" i="0">
                        <a:solidFill>
                          <a:srgbClr val="FFFFFF"/>
                        </a:solidFill>
                        <a:latin typeface="微软雅黑" panose="020B0503020204020204" pitchFamily="34" charset="-122"/>
                        <a:ea typeface="微软雅黑" panose="020B0503020204020204" pitchFamily="34" charset="-122"/>
                      </a:endParaRPr>
                    </a:p>
                    <a:p>
                      <a:pPr algn="ctr" fontAlgn="ctr"/>
                      <a:r>
                        <a:rPr lang="en-US" altLang="zh-CN" sz="1200" b="1" i="0">
                          <a:solidFill>
                            <a:srgbClr val="FFFFFF"/>
                          </a:solidFill>
                          <a:latin typeface="微软雅黑" panose="020B0503020204020204" pitchFamily="34" charset="-122"/>
                          <a:ea typeface="微软雅黑" panose="020B0503020204020204" pitchFamily="34" charset="-122"/>
                        </a:rPr>
                        <a:t>H8</a:t>
                      </a:r>
                      <a:r>
                        <a:rPr lang="zh-CN" altLang="en-US" sz="1200" b="1" i="0">
                          <a:solidFill>
                            <a:srgbClr val="FFFFFF"/>
                          </a:solidFill>
                          <a:latin typeface="微软雅黑" panose="020B0503020204020204" pitchFamily="34" charset="-122"/>
                          <a:ea typeface="微软雅黑" panose="020B0503020204020204" pitchFamily="34" charset="-122"/>
                        </a:rPr>
                        <a:t>平台</a:t>
                      </a:r>
                      <a:endParaRPr lang="zh-CN" altLang="en-US" sz="1200" b="1" i="0">
                        <a:solidFill>
                          <a:srgbClr val="FFFFFF"/>
                        </a:solidFill>
                        <a:latin typeface="微软雅黑" panose="020B0503020204020204" pitchFamily="34" charset="-122"/>
                        <a:ea typeface="微软雅黑" panose="020B0503020204020204" pitchFamily="34" charset="-122"/>
                      </a:endParaRPr>
                    </a:p>
                    <a:p>
                      <a:pPr algn="ctr" fontAlgn="ctr"/>
                      <a:r>
                        <a:rPr lang="en-US" altLang="zh-CN" sz="1200" b="1" i="0">
                          <a:solidFill>
                            <a:srgbClr val="FFFFFF"/>
                          </a:solidFill>
                          <a:latin typeface="微软雅黑" panose="020B0503020204020204" pitchFamily="34" charset="-122"/>
                          <a:ea typeface="微软雅黑" panose="020B0503020204020204" pitchFamily="34" charset="-122"/>
                        </a:rPr>
                        <a:t>EUR</a:t>
                      </a:r>
                      <a:endParaRPr lang="en-US" altLang="zh-CN"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rowSpan="2">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施工参数</a:t>
                      </a:r>
                      <a:endParaRPr lang="zh-CN" altLang="en-US"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用液强度</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0.70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50546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停泵压力</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57150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rowSpan="2">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地质参数</a:t>
                      </a:r>
                      <a:endParaRPr lang="zh-CN" altLang="en-US"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a:txBody>
                    <a:bodyPr/>
                    <a:p>
                      <a:pPr algn="ctr" fontAlgn="ctr"/>
                      <a:r>
                        <a:rPr lang="zh-CN" sz="1200" b="0" i="0">
                          <a:solidFill>
                            <a:srgbClr val="000000"/>
                          </a:solidFill>
                          <a:latin typeface="微软雅黑" panose="020B0503020204020204" pitchFamily="34" charset="-122"/>
                          <a:ea typeface="微软雅黑" panose="020B0503020204020204" pitchFamily="34" charset="-122"/>
                        </a:rPr>
                        <a:t>杨氏模量</a:t>
                      </a:r>
                      <a:endParaRPr 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sz="1200" b="0" i="0">
                          <a:solidFill>
                            <a:srgbClr val="000000"/>
                          </a:solidFill>
                          <a:latin typeface="微软雅黑" panose="020B0503020204020204" pitchFamily="34" charset="-122"/>
                          <a:ea typeface="微软雅黑" panose="020B0503020204020204" pitchFamily="34" charset="-122"/>
                        </a:rPr>
                        <a:t>0.66</a:t>
                      </a:r>
                      <a:endParaRPr 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63754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最小水平主应力</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65341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rowSpan="2">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压裂效果</a:t>
                      </a:r>
                      <a:endParaRPr lang="zh-CN" altLang="en-US" sz="1200" b="1" i="0">
                        <a:solidFill>
                          <a:srgbClr val="FFFFFF"/>
                        </a:solidFill>
                        <a:latin typeface="微软雅黑" panose="020B0503020204020204" pitchFamily="34" charset="-122"/>
                        <a:ea typeface="微软雅黑" panose="020B0503020204020204" pitchFamily="34" charset="-122"/>
                      </a:endParaRPr>
                    </a:p>
                    <a:p>
                      <a:pPr algn="ctr" fontAlgn="ctr"/>
                      <a:r>
                        <a:rPr lang="zh-CN" altLang="en-US" sz="1200" b="1" i="0">
                          <a:solidFill>
                            <a:srgbClr val="FFFFFF"/>
                          </a:solidFill>
                          <a:latin typeface="微软雅黑" panose="020B0503020204020204" pitchFamily="34" charset="-122"/>
                          <a:ea typeface="微软雅黑" panose="020B0503020204020204" pitchFamily="34" charset="-122"/>
                        </a:rPr>
                        <a:t>评估方法</a:t>
                      </a:r>
                      <a:endParaRPr lang="zh-CN" altLang="en-US"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小波分析体积评分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57150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rPr>
                        <a:t>函数反演改造体积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bl>
          </a:graphicData>
        </a:graphic>
      </p:graphicFrame>
      <p:sp>
        <p:nvSpPr>
          <p:cNvPr id="16" name="矩形 15"/>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基于灰色关联分析法，确定泸20</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平台改造效果评估关键参数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27025" y="1301115"/>
            <a:ext cx="11571605" cy="588645"/>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足</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平台各参数</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的灰色关联度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热力图</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文本框 23"/>
          <p:cNvSpPr txBox="1"/>
          <p:nvPr>
            <p:custDataLst>
              <p:tags r:id="rId1"/>
            </p:custDataLst>
          </p:nvPr>
        </p:nvSpPr>
        <p:spPr>
          <a:xfrm>
            <a:off x="6625590" y="6074410"/>
            <a:ext cx="5041900" cy="260350"/>
          </a:xfrm>
          <a:prstGeom prst="rect">
            <a:avLst/>
          </a:prstGeom>
          <a:noFill/>
        </p:spPr>
        <p:txBody>
          <a:bodyPr wrap="square" rtlCol="0">
            <a:spAutoFit/>
          </a:bodyPr>
          <a:lstStyle/>
          <a:p>
            <a:pPr algn="ctr"/>
            <a:r>
              <a:rPr lang="zh-CN" altLang="en-US" sz="1100">
                <a:latin typeface="微软雅黑" panose="020B0503020204020204" pitchFamily="34" charset="-122"/>
                <a:ea typeface="微软雅黑" panose="020B0503020204020204" pitchFamily="34" charset="-122"/>
                <a:cs typeface="微软雅黑" panose="020B0503020204020204" pitchFamily="34" charset="-122"/>
              </a:rPr>
              <a:t>足201区块</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H8</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平台各参数与EUR的灰色关联度热力图</a:t>
            </a:r>
            <a:endParaRPr lang="zh-CN" altLang="en-US" sz="1200" b="1">
              <a:latin typeface="Times New Roman" panose="02020603050405020304" pitchFamily="18" charset="0"/>
              <a:ea typeface="黑体" panose="02010609060101010101" charset="-122"/>
              <a:cs typeface="Times New Roman" panose="02020603050405020304" pitchFamily="18" charset="0"/>
            </a:endParaRPr>
          </a:p>
        </p:txBody>
      </p:sp>
      <p:sp>
        <p:nvSpPr>
          <p:cNvPr id="25" name="文本框 24"/>
          <p:cNvSpPr txBox="1"/>
          <p:nvPr>
            <p:custDataLst>
              <p:tags r:id="rId2"/>
            </p:custDataLst>
          </p:nvPr>
        </p:nvSpPr>
        <p:spPr>
          <a:xfrm>
            <a:off x="1151255" y="6074410"/>
            <a:ext cx="4803775" cy="260350"/>
          </a:xfrm>
          <a:prstGeom prst="rect">
            <a:avLst/>
          </a:prstGeom>
          <a:noFill/>
        </p:spPr>
        <p:txBody>
          <a:bodyPr wrap="square" rtlCol="0">
            <a:spAutoFit/>
          </a:bodyPr>
          <a:lstStyle/>
          <a:p>
            <a:pPr algn="ctr"/>
            <a:r>
              <a:rPr lang="zh-CN" altLang="en-US" sz="1100">
                <a:latin typeface="微软雅黑" panose="020B0503020204020204" pitchFamily="34" charset="-122"/>
                <a:ea typeface="微软雅黑" panose="020B0503020204020204" pitchFamily="34" charset="-122"/>
                <a:cs typeface="微软雅黑" panose="020B0503020204020204" pitchFamily="34" charset="-122"/>
              </a:rPr>
              <a:t>足201区块</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H8</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平台各参数与SRV的灰色关联度热力图</a:t>
            </a:r>
            <a:endParaRPr lang="zh-CN" altLang="en-US" sz="11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76555" y="1727835"/>
            <a:ext cx="774700" cy="487680"/>
          </a:xfrm>
          <a:prstGeom prst="rect">
            <a:avLst/>
          </a:prstGeom>
          <a:noFill/>
          <a:ln>
            <a:noFill/>
          </a:ln>
        </p:spPr>
        <p:txBody>
          <a:bodyPr wrap="square"/>
          <a:lstStyle/>
          <a:p>
            <a:pPr marL="0" indent="0">
              <a:lnSpc>
                <a:spcPct val="150000"/>
              </a:lnSpc>
              <a:buClr>
                <a:srgbClr val="FF0000"/>
              </a:buClr>
            </a:pP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SRV</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p:cNvSpPr txBox="1"/>
          <p:nvPr/>
        </p:nvSpPr>
        <p:spPr>
          <a:xfrm>
            <a:off x="5955030" y="1727835"/>
            <a:ext cx="785495" cy="487680"/>
          </a:xfrm>
          <a:prstGeom prst="rect">
            <a:avLst/>
          </a:prstGeom>
          <a:noFill/>
          <a:ln>
            <a:noFill/>
          </a:ln>
        </p:spPr>
        <p:txBody>
          <a:bodyPr wrap="square"/>
          <a:lstStyle/>
          <a:p>
            <a:pPr marL="0" indent="0">
              <a:lnSpc>
                <a:spcPct val="150000"/>
              </a:lnSpc>
              <a:buClr>
                <a:srgbClr val="FF0000"/>
              </a:buClr>
            </a:pP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EUR</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descr="足201H8--SRV"/>
          <p:cNvPicPr>
            <a:picLocks noChangeAspect="1"/>
          </p:cNvPicPr>
          <p:nvPr/>
        </p:nvPicPr>
        <p:blipFill>
          <a:blip r:embed="rId3"/>
          <a:srcRect l="5711" t="750" r="4570" b="889"/>
          <a:stretch>
            <a:fillRect/>
          </a:stretch>
        </p:blipFill>
        <p:spPr>
          <a:xfrm>
            <a:off x="977265" y="1727835"/>
            <a:ext cx="4977765" cy="4366260"/>
          </a:xfrm>
          <a:prstGeom prst="rect">
            <a:avLst/>
          </a:prstGeom>
        </p:spPr>
      </p:pic>
      <p:pic>
        <p:nvPicPr>
          <p:cNvPr id="7" name="图片 6" descr="足201H8--EUR"/>
          <p:cNvPicPr>
            <a:picLocks noChangeAspect="1"/>
          </p:cNvPicPr>
          <p:nvPr/>
        </p:nvPicPr>
        <p:blipFill>
          <a:blip r:embed="rId4"/>
          <a:srcRect l="5785" t="750" r="4859" b="1333"/>
          <a:stretch>
            <a:fillRect/>
          </a:stretch>
        </p:blipFill>
        <p:spPr>
          <a:xfrm>
            <a:off x="6520815" y="1727835"/>
            <a:ext cx="4983480" cy="4368800"/>
          </a:xfrm>
          <a:prstGeom prst="rect">
            <a:avLst/>
          </a:prstGeom>
        </p:spPr>
      </p:pic>
      <p:sp>
        <p:nvSpPr>
          <p:cNvPr id="16" name="矩形 15"/>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5、</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基于灰色关联分析法，确定足</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平台改造效果评估关键参数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27025" y="1301115"/>
            <a:ext cx="11571605" cy="1264920"/>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足</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排序前六的各参数与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的灰色关联度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结果</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各参数对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a:latin typeface="微软雅黑" panose="020B0503020204020204" pitchFamily="34" charset="-122"/>
                <a:ea typeface="微软雅黑" panose="020B0503020204020204" pitchFamily="34" charset="-122"/>
                <a:cs typeface="+mn-ea"/>
                <a:sym typeface="+mn-ea"/>
              </a:rPr>
              <a:t>的综合评价：</a:t>
            </a:r>
            <a:r>
              <a:rPr lang="zh-CN" altLang="en-US" sz="1600">
                <a:solidFill>
                  <a:srgbClr val="FF0000"/>
                </a:solidFill>
                <a:latin typeface="微软雅黑" panose="020B0503020204020204" pitchFamily="34" charset="-122"/>
                <a:ea typeface="微软雅黑" panose="020B0503020204020204" pitchFamily="34" charset="-122"/>
                <a:cs typeface="+mn-ea"/>
                <a:sym typeface="+mn-ea"/>
              </a:rPr>
              <a:t>最小水平主应力</a:t>
            </a:r>
            <a:r>
              <a:rPr lang="zh-CN" altLang="en-US" sz="1600">
                <a:latin typeface="微软雅黑" panose="020B0503020204020204" pitchFamily="34" charset="-122"/>
                <a:ea typeface="微软雅黑" panose="020B0503020204020204" pitchFamily="34" charset="-122"/>
                <a:cs typeface="+mn-ea"/>
                <a:sym typeface="+mn-ea"/>
              </a:rPr>
              <a:t>＞停泵压力＞G函数反演改造体积＞</a:t>
            </a:r>
            <a:r>
              <a:rPr lang="zh-CN" altLang="en-US" sz="1600">
                <a:latin typeface="微软雅黑" panose="020B0503020204020204" pitchFamily="34" charset="-122"/>
                <a:ea typeface="微软雅黑" panose="020B0503020204020204" pitchFamily="34" charset="-122"/>
                <a:cs typeface="+mn-ea"/>
                <a:sym typeface="+mn-ea"/>
              </a:rPr>
              <a:t>小波分析体积评分</a:t>
            </a:r>
            <a:r>
              <a:rPr lang="zh-CN" altLang="en-US" sz="1600">
                <a:latin typeface="微软雅黑" panose="020B0503020204020204" pitchFamily="34" charset="-122"/>
                <a:ea typeface="微软雅黑" panose="020B0503020204020204" pitchFamily="34" charset="-122"/>
                <a:cs typeface="+mn-ea"/>
                <a:sym typeface="+mn-ea"/>
              </a:rPr>
              <a:t>＞杨氏模量＞</a:t>
            </a:r>
            <a:r>
              <a:rPr lang="zh-CN" altLang="en-US" sz="1600">
                <a:latin typeface="微软雅黑" panose="020B0503020204020204" pitchFamily="34" charset="-122"/>
                <a:ea typeface="微软雅黑" panose="020B0503020204020204" pitchFamily="34" charset="-122"/>
                <a:cs typeface="+mn-ea"/>
                <a:sym typeface="+mn-ea"/>
              </a:rPr>
              <a:t>总液量</a:t>
            </a:r>
            <a:endParaRPr lang="zh-CN" altLang="en-US" sz="1600">
              <a:latin typeface="微软雅黑" panose="020B0503020204020204" pitchFamily="34" charset="-122"/>
              <a:ea typeface="微软雅黑" panose="020B0503020204020204" pitchFamily="34" charset="-122"/>
              <a:cs typeface="+mn-ea"/>
              <a:sym typeface="+mn-ea"/>
            </a:endParaRPr>
          </a:p>
          <a:p>
            <a:pPr marL="285750" indent="-285750">
              <a:lnSpc>
                <a:spcPct val="150000"/>
              </a:lnSpc>
              <a:buClr>
                <a:srgbClr val="FF0000"/>
              </a:buClr>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mn-ea"/>
                <a:sym typeface="+mn-ea"/>
              </a:rPr>
              <a:t>各参数对EUR的综合评价：</a:t>
            </a:r>
            <a:r>
              <a:rPr lang="zh-CN" altLang="en-US" sz="1600">
                <a:solidFill>
                  <a:srgbClr val="FF0000"/>
                </a:solidFill>
                <a:latin typeface="微软雅黑" panose="020B0503020204020204" pitchFamily="34" charset="-122"/>
                <a:ea typeface="微软雅黑" panose="020B0503020204020204" pitchFamily="34" charset="-122"/>
                <a:cs typeface="+mn-ea"/>
                <a:sym typeface="+mn-ea"/>
              </a:rPr>
              <a:t>小波分析体积评分</a:t>
            </a:r>
            <a:r>
              <a:rPr lang="zh-CN" altLang="en-US" sz="1600">
                <a:latin typeface="微软雅黑" panose="020B0503020204020204" pitchFamily="34" charset="-122"/>
                <a:ea typeface="微软雅黑" panose="020B0503020204020204" pitchFamily="34" charset="-122"/>
                <a:cs typeface="+mn-ea"/>
                <a:sym typeface="+mn-ea"/>
              </a:rPr>
              <a:t>＞</a:t>
            </a:r>
            <a:r>
              <a:rPr lang="zh-CN" altLang="en-US" sz="1600">
                <a:latin typeface="微软雅黑" panose="020B0503020204020204" pitchFamily="34" charset="-122"/>
                <a:ea typeface="微软雅黑" panose="020B0503020204020204" pitchFamily="34" charset="-122"/>
                <a:cs typeface="+mn-ea"/>
                <a:sym typeface="+mn-ea"/>
              </a:rPr>
              <a:t>用液强度</a:t>
            </a:r>
            <a:r>
              <a:rPr lang="en-US" altLang="zh-CN" sz="1600">
                <a:latin typeface="微软雅黑" panose="020B0503020204020204" pitchFamily="34" charset="-122"/>
                <a:ea typeface="微软雅黑" panose="020B0503020204020204" pitchFamily="34" charset="-122"/>
                <a:cs typeface="+mn-ea"/>
                <a:sym typeface="+mn-ea"/>
              </a:rPr>
              <a:t>&gt;</a:t>
            </a:r>
            <a:r>
              <a:rPr lang="zh-CN" altLang="en-US" sz="1600">
                <a:latin typeface="微软雅黑" panose="020B0503020204020204" pitchFamily="34" charset="-122"/>
                <a:ea typeface="微软雅黑" panose="020B0503020204020204" pitchFamily="34" charset="-122"/>
                <a:cs typeface="+mn-ea"/>
                <a:sym typeface="+mn-ea"/>
              </a:rPr>
              <a:t>加砂强度</a:t>
            </a:r>
            <a:r>
              <a:rPr lang="en-US" altLang="zh-CN" sz="1600">
                <a:latin typeface="微软雅黑" panose="020B0503020204020204" pitchFamily="34" charset="-122"/>
                <a:ea typeface="微软雅黑" panose="020B0503020204020204" pitchFamily="34" charset="-122"/>
                <a:cs typeface="+mn-ea"/>
                <a:sym typeface="+mn-ea"/>
              </a:rPr>
              <a:t>/</a:t>
            </a:r>
            <a:r>
              <a:rPr lang="en-US" altLang="zh-CN" sz="1600">
                <a:solidFill>
                  <a:srgbClr val="000000"/>
                </a:solidFill>
                <a:effectLst/>
                <a:latin typeface="微软雅黑" panose="020B0503020204020204" pitchFamily="34" charset="-122"/>
                <a:ea typeface="微软雅黑" panose="020B0503020204020204" pitchFamily="34" charset="-122"/>
                <a:sym typeface="+mn-ea"/>
              </a:rPr>
              <a:t>G</a:t>
            </a:r>
            <a:r>
              <a:rPr lang="zh-CN" altLang="en-US" sz="1600">
                <a:solidFill>
                  <a:srgbClr val="000000"/>
                </a:solidFill>
                <a:effectLst/>
                <a:latin typeface="微软雅黑" panose="020B0503020204020204" pitchFamily="34" charset="-122"/>
                <a:ea typeface="微软雅黑" panose="020B0503020204020204" pitchFamily="34" charset="-122"/>
                <a:sym typeface="+mn-ea"/>
              </a:rPr>
              <a:t>函数反演改造体积</a:t>
            </a:r>
            <a:r>
              <a:rPr lang="en-US" altLang="zh-CN" sz="1600">
                <a:latin typeface="微软雅黑" panose="020B0503020204020204" pitchFamily="34" charset="-122"/>
                <a:ea typeface="微软雅黑" panose="020B0503020204020204" pitchFamily="34" charset="-122"/>
                <a:cs typeface="+mn-ea"/>
                <a:sym typeface="+mn-ea"/>
              </a:rPr>
              <a:t>/</a:t>
            </a:r>
            <a:r>
              <a:rPr lang="zh-CN" altLang="en-US" sz="1600">
                <a:latin typeface="微软雅黑" panose="020B0503020204020204" pitchFamily="34" charset="-122"/>
                <a:ea typeface="微软雅黑" panose="020B0503020204020204" pitchFamily="34" charset="-122"/>
                <a:cs typeface="+mn-ea"/>
                <a:sym typeface="+mn-ea"/>
              </a:rPr>
              <a:t>施工排量</a:t>
            </a:r>
            <a:r>
              <a:rPr lang="zh-CN" altLang="en-US" sz="1600">
                <a:latin typeface="微软雅黑" panose="020B0503020204020204" pitchFamily="34" charset="-122"/>
                <a:ea typeface="微软雅黑" panose="020B0503020204020204" pitchFamily="34" charset="-122"/>
                <a:cs typeface="+mn-ea"/>
                <a:sym typeface="+mn-ea"/>
              </a:rPr>
              <a:t>＞总砂量</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377190" y="2566035"/>
          <a:ext cx="11292840" cy="3495675"/>
        </p:xfrm>
        <a:graphic>
          <a:graphicData uri="http://schemas.openxmlformats.org/drawingml/2006/table">
            <a:tbl>
              <a:tblPr/>
              <a:tblGrid>
                <a:gridCol w="1034415"/>
                <a:gridCol w="638810"/>
                <a:gridCol w="1362075"/>
                <a:gridCol w="1146175"/>
                <a:gridCol w="1207135"/>
                <a:gridCol w="1244600"/>
                <a:gridCol w="2277110"/>
                <a:gridCol w="2382520"/>
              </a:tblGrid>
              <a:tr h="611505">
                <a:tc rowSpan="6">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足</a:t>
                      </a:r>
                      <a:r>
                        <a:rPr lang="en-US" altLang="zh-CN" sz="1200" b="1" i="0">
                          <a:solidFill>
                            <a:srgbClr val="FFFFFF"/>
                          </a:solidFill>
                          <a:latin typeface="微软雅黑" panose="020B0503020204020204" pitchFamily="34" charset="-122"/>
                          <a:ea typeface="微软雅黑" panose="020B0503020204020204" pitchFamily="34" charset="-122"/>
                        </a:rPr>
                        <a:t>201</a:t>
                      </a:r>
                      <a:r>
                        <a:rPr lang="zh-CN" altLang="en-US" sz="1200" b="1" i="0">
                          <a:solidFill>
                            <a:srgbClr val="FFFFFF"/>
                          </a:solidFill>
                          <a:latin typeface="微软雅黑" panose="020B0503020204020204" pitchFamily="34" charset="-122"/>
                          <a:ea typeface="微软雅黑" panose="020B0503020204020204" pitchFamily="34" charset="-122"/>
                        </a:rPr>
                        <a:t>井区</a:t>
                      </a:r>
                      <a:endParaRPr lang="zh-CN" altLang="en-US" sz="1200" b="1" i="0">
                        <a:solidFill>
                          <a:srgbClr val="FFFFFF"/>
                        </a:solidFill>
                        <a:latin typeface="微软雅黑" panose="020B0503020204020204" pitchFamily="34" charset="-122"/>
                        <a:ea typeface="微软雅黑" panose="020B0503020204020204" pitchFamily="34" charset="-122"/>
                      </a:endParaRPr>
                    </a:p>
                    <a:p>
                      <a:pPr algn="ctr" fontAlgn="ctr"/>
                      <a:r>
                        <a:rPr lang="en-US" altLang="zh-CN" sz="1200" b="1" i="0">
                          <a:solidFill>
                            <a:srgbClr val="FFFFFF"/>
                          </a:solidFill>
                          <a:latin typeface="微软雅黑" panose="020B0503020204020204" pitchFamily="34" charset="-122"/>
                          <a:ea typeface="微软雅黑" panose="020B0503020204020204" pitchFamily="34" charset="-122"/>
                        </a:rPr>
                        <a:t>H8</a:t>
                      </a:r>
                      <a:r>
                        <a:rPr lang="zh-CN" altLang="en-US" sz="1200" b="1" i="0">
                          <a:solidFill>
                            <a:srgbClr val="FFFFFF"/>
                          </a:solidFill>
                          <a:latin typeface="微软雅黑" panose="020B0503020204020204" pitchFamily="34" charset="-122"/>
                          <a:ea typeface="微软雅黑" panose="020B0503020204020204" pitchFamily="34" charset="-122"/>
                        </a:rPr>
                        <a:t>平台</a:t>
                      </a:r>
                      <a:endParaRPr lang="zh-CN" altLang="en-US"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rowSpan="3">
                  <a:txBody>
                    <a:bodyPr/>
                    <a:p>
                      <a:pPr algn="ctr" fontAlgn="ctr"/>
                      <a:r>
                        <a:rPr lang="en-US" altLang="zh-CN" sz="1200" b="1" i="0">
                          <a:solidFill>
                            <a:srgbClr val="FFFFFF"/>
                          </a:solidFill>
                          <a:latin typeface="微软雅黑" panose="020B0503020204020204" pitchFamily="34" charset="-122"/>
                          <a:ea typeface="微软雅黑" panose="020B0503020204020204" pitchFamily="34" charset="-122"/>
                        </a:rPr>
                        <a:t>SRV</a:t>
                      </a:r>
                      <a:endParaRPr lang="en-US" altLang="zh-CN"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gridSpan="2">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地质参数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压裂效果评估方法</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81026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停泵压力</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sz="1200" b="0" i="0">
                          <a:solidFill>
                            <a:srgbClr val="000000"/>
                          </a:solidFill>
                          <a:latin typeface="微软雅黑" panose="020B0503020204020204" pitchFamily="34" charset="-122"/>
                          <a:ea typeface="微软雅黑" panose="020B0503020204020204" pitchFamily="34" charset="-122"/>
                        </a:rPr>
                        <a:t>总液量</a:t>
                      </a:r>
                      <a:endParaRPr 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最小水平主应力</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杨氏模量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小波分析体积评分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rPr>
                        <a:t>函数反演改造体积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31877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0.54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0.70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0.58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0.58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62547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rowSpan="3">
                  <a:txBody>
                    <a:bodyPr/>
                    <a:p>
                      <a:pPr algn="ctr" fontAlgn="ctr"/>
                      <a:r>
                        <a:rPr lang="en-US" altLang="zh-CN" sz="1200" b="1" i="0">
                          <a:solidFill>
                            <a:srgbClr val="FFFFFF"/>
                          </a:solidFill>
                          <a:latin typeface="微软雅黑" panose="020B0503020204020204" pitchFamily="34" charset="-122"/>
                          <a:ea typeface="微软雅黑" panose="020B0503020204020204" pitchFamily="34" charset="-122"/>
                        </a:rPr>
                        <a:t>EUR</a:t>
                      </a:r>
                      <a:endParaRPr lang="en-US" altLang="zh-CN"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gridSpan="4">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压裂效果评估方法</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80962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加砂强度</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用液强度</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施工排量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总</a:t>
                      </a:r>
                      <a:r>
                        <a:rPr lang="zh-CN" altLang="en-US" sz="1200" b="0" i="0">
                          <a:solidFill>
                            <a:srgbClr val="000000"/>
                          </a:solidFill>
                          <a:latin typeface="微软雅黑" panose="020B0503020204020204" pitchFamily="34" charset="-122"/>
                          <a:ea typeface="微软雅黑" panose="020B0503020204020204" pitchFamily="34" charset="-122"/>
                        </a:rPr>
                        <a:t>砂量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小波分析体积评分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rPr>
                        <a:t>函数反演改造体积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32004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0.71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bl>
          </a:graphicData>
        </a:graphic>
      </p:graphicFrame>
      <p:sp>
        <p:nvSpPr>
          <p:cNvPr id="16" name="矩形 15"/>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5、</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基于灰色关联分析法，确定足</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H8</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平台改造效果评估关键参数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27025" y="1301115"/>
            <a:ext cx="11571605" cy="588645"/>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足</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H21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平台各参数</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的灰色关联度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热力图</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文本框 23"/>
          <p:cNvSpPr txBox="1"/>
          <p:nvPr>
            <p:custDataLst>
              <p:tags r:id="rId1"/>
            </p:custDataLst>
          </p:nvPr>
        </p:nvSpPr>
        <p:spPr>
          <a:xfrm>
            <a:off x="6625590" y="6074410"/>
            <a:ext cx="5041900" cy="260350"/>
          </a:xfrm>
          <a:prstGeom prst="rect">
            <a:avLst/>
          </a:prstGeom>
          <a:noFill/>
        </p:spPr>
        <p:txBody>
          <a:bodyPr wrap="square" rtlCol="0">
            <a:spAutoFit/>
          </a:bodyPr>
          <a:lstStyle/>
          <a:p>
            <a:pPr algn="ctr"/>
            <a:r>
              <a:rPr lang="zh-CN" altLang="en-US" sz="1100">
                <a:latin typeface="微软雅黑" panose="020B0503020204020204" pitchFamily="34" charset="-122"/>
                <a:ea typeface="微软雅黑" panose="020B0503020204020204" pitchFamily="34" charset="-122"/>
                <a:cs typeface="微软雅黑" panose="020B0503020204020204" pitchFamily="34" charset="-122"/>
              </a:rPr>
              <a:t>足201区块</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H21</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平台各参数与EUR的灰色关联度热力图</a:t>
            </a:r>
            <a:endParaRPr lang="zh-CN" altLang="en-US" sz="1200" b="1">
              <a:latin typeface="Times New Roman" panose="02020603050405020304" pitchFamily="18" charset="0"/>
              <a:ea typeface="黑体" panose="02010609060101010101" charset="-122"/>
              <a:cs typeface="Times New Roman" panose="02020603050405020304" pitchFamily="18" charset="0"/>
            </a:endParaRPr>
          </a:p>
        </p:txBody>
      </p:sp>
      <p:sp>
        <p:nvSpPr>
          <p:cNvPr id="25" name="文本框 24"/>
          <p:cNvSpPr txBox="1"/>
          <p:nvPr>
            <p:custDataLst>
              <p:tags r:id="rId2"/>
            </p:custDataLst>
          </p:nvPr>
        </p:nvSpPr>
        <p:spPr>
          <a:xfrm>
            <a:off x="1151255" y="6074410"/>
            <a:ext cx="4803775" cy="260350"/>
          </a:xfrm>
          <a:prstGeom prst="rect">
            <a:avLst/>
          </a:prstGeom>
          <a:noFill/>
        </p:spPr>
        <p:txBody>
          <a:bodyPr wrap="square" rtlCol="0">
            <a:spAutoFit/>
          </a:bodyPr>
          <a:lstStyle/>
          <a:p>
            <a:pPr algn="ctr"/>
            <a:r>
              <a:rPr lang="zh-CN" altLang="en-US" sz="1100">
                <a:latin typeface="微软雅黑" panose="020B0503020204020204" pitchFamily="34" charset="-122"/>
                <a:ea typeface="微软雅黑" panose="020B0503020204020204" pitchFamily="34" charset="-122"/>
                <a:cs typeface="微软雅黑" panose="020B0503020204020204" pitchFamily="34" charset="-122"/>
              </a:rPr>
              <a:t>足201区块</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H21</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平台各参数与SRV的灰色关联度热力图</a:t>
            </a:r>
            <a:endParaRPr lang="zh-CN" altLang="en-US" sz="11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76555" y="1727835"/>
            <a:ext cx="774700" cy="487680"/>
          </a:xfrm>
          <a:prstGeom prst="rect">
            <a:avLst/>
          </a:prstGeom>
          <a:noFill/>
          <a:ln>
            <a:noFill/>
          </a:ln>
        </p:spPr>
        <p:txBody>
          <a:bodyPr wrap="square"/>
          <a:lstStyle/>
          <a:p>
            <a:pPr marL="0" indent="0">
              <a:lnSpc>
                <a:spcPct val="150000"/>
              </a:lnSpc>
              <a:buClr>
                <a:srgbClr val="FF0000"/>
              </a:buClr>
            </a:pP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SRV</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p:cNvSpPr txBox="1"/>
          <p:nvPr/>
        </p:nvSpPr>
        <p:spPr>
          <a:xfrm>
            <a:off x="5955030" y="1727835"/>
            <a:ext cx="785495" cy="487680"/>
          </a:xfrm>
          <a:prstGeom prst="rect">
            <a:avLst/>
          </a:prstGeom>
          <a:noFill/>
          <a:ln>
            <a:noFill/>
          </a:ln>
        </p:spPr>
        <p:txBody>
          <a:bodyPr wrap="square"/>
          <a:lstStyle/>
          <a:p>
            <a:pPr marL="0" indent="0">
              <a:lnSpc>
                <a:spcPct val="150000"/>
              </a:lnSpc>
              <a:buClr>
                <a:srgbClr val="FF0000"/>
              </a:buClr>
            </a:pP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EUR</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3"/>
          <a:stretch>
            <a:fillRect/>
          </a:stretch>
        </p:blipFill>
        <p:spPr>
          <a:xfrm>
            <a:off x="1003300" y="1781810"/>
            <a:ext cx="4951095" cy="4287520"/>
          </a:xfrm>
          <a:prstGeom prst="rect">
            <a:avLst/>
          </a:prstGeom>
        </p:spPr>
      </p:pic>
      <p:pic>
        <p:nvPicPr>
          <p:cNvPr id="9" name="图片 8" descr="足201H21--EUR1"/>
          <p:cNvPicPr>
            <a:picLocks noChangeAspect="1"/>
          </p:cNvPicPr>
          <p:nvPr/>
        </p:nvPicPr>
        <p:blipFill>
          <a:blip r:embed="rId4"/>
          <a:srcRect l="5711" t="750" r="5074" b="1333"/>
          <a:stretch>
            <a:fillRect/>
          </a:stretch>
        </p:blipFill>
        <p:spPr>
          <a:xfrm>
            <a:off x="6582410" y="1732915"/>
            <a:ext cx="4943475" cy="4341495"/>
          </a:xfrm>
          <a:prstGeom prst="rect">
            <a:avLst/>
          </a:prstGeom>
        </p:spPr>
      </p:pic>
      <p:sp>
        <p:nvSpPr>
          <p:cNvPr id="16" name="矩形 15"/>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6、</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基于灰色关联分析法，确定足</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H21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平台改造效果评估关键参数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27025" y="1301115"/>
            <a:ext cx="11571605" cy="1264920"/>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足</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H21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排序前六的各参数与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的灰色关联度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结果</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各参数对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a:latin typeface="微软雅黑" panose="020B0503020204020204" pitchFamily="34" charset="-122"/>
                <a:ea typeface="微软雅黑" panose="020B0503020204020204" pitchFamily="34" charset="-122"/>
                <a:cs typeface="+mn-ea"/>
                <a:sym typeface="+mn-ea"/>
              </a:rPr>
              <a:t>的综合评价：</a:t>
            </a:r>
            <a:r>
              <a:rPr lang="zh-CN" altLang="en-US" sz="1600">
                <a:solidFill>
                  <a:srgbClr val="FF0000"/>
                </a:solidFill>
                <a:latin typeface="微软雅黑" panose="020B0503020204020204" pitchFamily="34" charset="-122"/>
                <a:ea typeface="微软雅黑" panose="020B0503020204020204" pitchFamily="34" charset="-122"/>
                <a:cs typeface="+mn-ea"/>
                <a:sym typeface="+mn-ea"/>
              </a:rPr>
              <a:t>最小水平主应力</a:t>
            </a:r>
            <a:r>
              <a:rPr lang="zh-CN" altLang="en-US" sz="1600">
                <a:latin typeface="微软雅黑" panose="020B0503020204020204" pitchFamily="34" charset="-122"/>
                <a:ea typeface="微软雅黑" panose="020B0503020204020204" pitchFamily="34" charset="-122"/>
                <a:cs typeface="+mn-ea"/>
                <a:sym typeface="+mn-ea"/>
              </a:rPr>
              <a:t>＞停泵压力＞</a:t>
            </a:r>
            <a:r>
              <a:rPr lang="zh-CN" altLang="en-US" sz="1600">
                <a:latin typeface="微软雅黑" panose="020B0503020204020204" pitchFamily="34" charset="-122"/>
                <a:ea typeface="微软雅黑" panose="020B0503020204020204" pitchFamily="34" charset="-122"/>
                <a:cs typeface="+mn-ea"/>
                <a:sym typeface="+mn-ea"/>
              </a:rPr>
              <a:t>杨氏模量</a:t>
            </a:r>
            <a:r>
              <a:rPr lang="zh-CN" altLang="en-US" sz="1600">
                <a:latin typeface="微软雅黑" panose="020B0503020204020204" pitchFamily="34" charset="-122"/>
                <a:ea typeface="微软雅黑" panose="020B0503020204020204" pitchFamily="34" charset="-122"/>
                <a:cs typeface="+mn-ea"/>
                <a:sym typeface="+mn-ea"/>
              </a:rPr>
              <a:t>＞</a:t>
            </a:r>
            <a:r>
              <a:rPr lang="zh-CN" altLang="en-US" sz="1600">
                <a:latin typeface="微软雅黑" panose="020B0503020204020204" pitchFamily="34" charset="-122"/>
                <a:ea typeface="微软雅黑" panose="020B0503020204020204" pitchFamily="34" charset="-122"/>
                <a:cs typeface="+mn-ea"/>
                <a:sym typeface="+mn-ea"/>
              </a:rPr>
              <a:t>泊松比</a:t>
            </a:r>
            <a:r>
              <a:rPr lang="zh-CN" altLang="en-US" sz="1600">
                <a:latin typeface="微软雅黑" panose="020B0503020204020204" pitchFamily="34" charset="-122"/>
                <a:ea typeface="微软雅黑" panose="020B0503020204020204" pitchFamily="34" charset="-122"/>
                <a:cs typeface="+mn-ea"/>
                <a:sym typeface="+mn-ea"/>
              </a:rPr>
              <a:t>＞</a:t>
            </a:r>
            <a:r>
              <a:rPr lang="en-US" altLang="zh-CN" sz="160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函数反演改造体积</a:t>
            </a:r>
            <a:r>
              <a:rPr lang="zh-CN" altLang="en-US" sz="1600">
                <a:latin typeface="微软雅黑" panose="020B0503020204020204" pitchFamily="34" charset="-122"/>
                <a:ea typeface="微软雅黑" panose="020B0503020204020204" pitchFamily="34" charset="-122"/>
                <a:cs typeface="+mn-ea"/>
                <a:sym typeface="+mn-ea"/>
              </a:rPr>
              <a:t>＞</a:t>
            </a:r>
            <a:r>
              <a:rPr lang="zh-CN" altLang="en-US" sz="1600">
                <a:solidFill>
                  <a:srgbClr val="000000"/>
                </a:solidFill>
                <a:effectLst/>
                <a:latin typeface="微软雅黑" panose="020B0503020204020204" pitchFamily="34" charset="-122"/>
                <a:ea typeface="微软雅黑" panose="020B0503020204020204" pitchFamily="34" charset="-122"/>
                <a:sym typeface="+mn-ea"/>
              </a:rPr>
              <a:t>小波分析体积评分</a:t>
            </a:r>
            <a:endParaRPr lang="zh-CN" altLang="en-US" sz="1600">
              <a:latin typeface="微软雅黑" panose="020B0503020204020204" pitchFamily="34" charset="-122"/>
              <a:ea typeface="微软雅黑" panose="020B0503020204020204" pitchFamily="34" charset="-122"/>
              <a:cs typeface="+mn-ea"/>
              <a:sym typeface="+mn-ea"/>
            </a:endParaRPr>
          </a:p>
          <a:p>
            <a:pPr marL="285750" indent="-285750">
              <a:lnSpc>
                <a:spcPct val="150000"/>
              </a:lnSpc>
              <a:buClr>
                <a:srgbClr val="FF0000"/>
              </a:buClr>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mn-ea"/>
                <a:sym typeface="+mn-ea"/>
              </a:rPr>
              <a:t>各参数对EUR的综合评价：</a:t>
            </a:r>
            <a:r>
              <a:rPr lang="zh-CN" altLang="en-US" sz="1600">
                <a:solidFill>
                  <a:srgbClr val="FF0000"/>
                </a:solidFill>
                <a:latin typeface="微软雅黑" panose="020B0503020204020204" pitchFamily="34" charset="-122"/>
                <a:ea typeface="微软雅黑" panose="020B0503020204020204" pitchFamily="34" charset="-122"/>
                <a:cs typeface="+mn-ea"/>
                <a:sym typeface="+mn-ea"/>
              </a:rPr>
              <a:t>小波分析体积评分</a:t>
            </a:r>
            <a:r>
              <a:rPr lang="zh-CN" altLang="en-US" sz="1600">
                <a:latin typeface="微软雅黑" panose="020B0503020204020204" pitchFamily="34" charset="-122"/>
                <a:ea typeface="微软雅黑" panose="020B0503020204020204" pitchFamily="34" charset="-122"/>
                <a:cs typeface="+mn-ea"/>
                <a:sym typeface="+mn-ea"/>
              </a:rPr>
              <a:t>＞ 加砂强度</a:t>
            </a:r>
            <a:r>
              <a:rPr lang="en-US" altLang="zh-CN" sz="1600">
                <a:latin typeface="微软雅黑" panose="020B0503020204020204" pitchFamily="34" charset="-122"/>
                <a:ea typeface="微软雅黑" panose="020B0503020204020204" pitchFamily="34" charset="-122"/>
                <a:cs typeface="+mn-ea"/>
                <a:sym typeface="+mn-ea"/>
              </a:rPr>
              <a:t>/</a:t>
            </a:r>
            <a:r>
              <a:rPr lang="zh-CN" altLang="en-US" sz="1600">
                <a:latin typeface="微软雅黑" panose="020B0503020204020204" pitchFamily="34" charset="-122"/>
                <a:ea typeface="微软雅黑" panose="020B0503020204020204" pitchFamily="34" charset="-122"/>
                <a:cs typeface="+mn-ea"/>
                <a:sym typeface="+mn-ea"/>
              </a:rPr>
              <a:t>总液量</a:t>
            </a:r>
            <a:r>
              <a:rPr lang="en-US" altLang="zh-CN" sz="1600">
                <a:latin typeface="微软雅黑" panose="020B0503020204020204" pitchFamily="34" charset="-122"/>
                <a:ea typeface="微软雅黑" panose="020B0503020204020204" pitchFamily="34" charset="-122"/>
                <a:cs typeface="+mn-ea"/>
                <a:sym typeface="+mn-ea"/>
              </a:rPr>
              <a:t>/</a:t>
            </a:r>
            <a:r>
              <a:rPr lang="zh-CN" altLang="en-US" sz="1600">
                <a:latin typeface="微软雅黑" panose="020B0503020204020204" pitchFamily="34" charset="-122"/>
                <a:ea typeface="微软雅黑" panose="020B0503020204020204" pitchFamily="34" charset="-122"/>
                <a:cs typeface="+mn-ea"/>
                <a:sym typeface="+mn-ea"/>
              </a:rPr>
              <a:t>用液强度＞施工排量＞用液强度</a:t>
            </a:r>
            <a:r>
              <a:rPr lang="en-US" altLang="zh-CN" sz="1600">
                <a:latin typeface="微软雅黑" panose="020B0503020204020204" pitchFamily="34" charset="-122"/>
                <a:ea typeface="微软雅黑" panose="020B0503020204020204" pitchFamily="34" charset="-122"/>
                <a:cs typeface="+mn-ea"/>
                <a:sym typeface="+mn-ea"/>
              </a:rPr>
              <a:t>/</a:t>
            </a:r>
            <a:r>
              <a:rPr lang="en-US" altLang="zh-CN" sz="1600">
                <a:solidFill>
                  <a:srgbClr val="000000"/>
                </a:solidFill>
                <a:effectLst/>
                <a:latin typeface="微软雅黑" panose="020B0503020204020204" pitchFamily="34" charset="-122"/>
                <a:ea typeface="微软雅黑" panose="020B0503020204020204" pitchFamily="34" charset="-122"/>
                <a:sym typeface="+mn-ea"/>
              </a:rPr>
              <a:t>G</a:t>
            </a:r>
            <a:r>
              <a:rPr lang="zh-CN" altLang="en-US" sz="1600">
                <a:solidFill>
                  <a:srgbClr val="000000"/>
                </a:solidFill>
                <a:effectLst/>
                <a:latin typeface="微软雅黑" panose="020B0503020204020204" pitchFamily="34" charset="-122"/>
                <a:ea typeface="微软雅黑" panose="020B0503020204020204" pitchFamily="34" charset="-122"/>
                <a:sym typeface="+mn-ea"/>
              </a:rPr>
              <a:t>函数反演改造体积</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FF0000"/>
              </a:buClr>
              <a:buFont typeface="Wingdings" panose="05000000000000000000" charset="0"/>
              <a:buChar char="l"/>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6" name="表格 5"/>
          <p:cNvGraphicFramePr/>
          <p:nvPr>
            <p:custDataLst>
              <p:tags r:id="rId1"/>
            </p:custDataLst>
          </p:nvPr>
        </p:nvGraphicFramePr>
        <p:xfrm>
          <a:off x="376555" y="2566035"/>
          <a:ext cx="11258550" cy="3492500"/>
        </p:xfrm>
        <a:graphic>
          <a:graphicData uri="http://schemas.openxmlformats.org/drawingml/2006/table">
            <a:tbl>
              <a:tblPr/>
              <a:tblGrid>
                <a:gridCol w="923290"/>
                <a:gridCol w="598805"/>
                <a:gridCol w="1450975"/>
                <a:gridCol w="1613535"/>
                <a:gridCol w="1337945"/>
                <a:gridCol w="1314450"/>
                <a:gridCol w="1860550"/>
                <a:gridCol w="2159000"/>
              </a:tblGrid>
              <a:tr h="621665">
                <a:tc rowSpan="6">
                  <a:txBody>
                    <a:bodyPr/>
                    <a:p>
                      <a:pPr algn="ctr" fontAlgn="ctr"/>
                      <a:r>
                        <a:rPr lang="zh-CN" altLang="en-US" sz="1200" b="1" i="0">
                          <a:solidFill>
                            <a:srgbClr val="FFFFFF"/>
                          </a:solidFill>
                          <a:latin typeface="微软雅黑" panose="020B0503020204020204" pitchFamily="34" charset="-122"/>
                          <a:ea typeface="微软雅黑" panose="020B0503020204020204" pitchFamily="34" charset="-122"/>
                        </a:rPr>
                        <a:t>足</a:t>
                      </a:r>
                      <a:r>
                        <a:rPr lang="en-US" altLang="zh-CN" sz="1200" b="1" i="0">
                          <a:solidFill>
                            <a:srgbClr val="FFFFFF"/>
                          </a:solidFill>
                          <a:latin typeface="微软雅黑" panose="020B0503020204020204" pitchFamily="34" charset="-122"/>
                          <a:ea typeface="微软雅黑" panose="020B0503020204020204" pitchFamily="34" charset="-122"/>
                        </a:rPr>
                        <a:t>201</a:t>
                      </a:r>
                      <a:r>
                        <a:rPr lang="zh-CN" altLang="en-US" sz="1200" b="1" i="0">
                          <a:solidFill>
                            <a:srgbClr val="FFFFFF"/>
                          </a:solidFill>
                          <a:latin typeface="微软雅黑" panose="020B0503020204020204" pitchFamily="34" charset="-122"/>
                          <a:ea typeface="微软雅黑" panose="020B0503020204020204" pitchFamily="34" charset="-122"/>
                        </a:rPr>
                        <a:t>井区</a:t>
                      </a:r>
                      <a:endParaRPr lang="zh-CN" altLang="en-US" sz="1200" b="1" i="0">
                        <a:solidFill>
                          <a:srgbClr val="FFFFFF"/>
                        </a:solidFill>
                        <a:latin typeface="微软雅黑" panose="020B0503020204020204" pitchFamily="34" charset="-122"/>
                        <a:ea typeface="微软雅黑" panose="020B0503020204020204" pitchFamily="34" charset="-122"/>
                      </a:endParaRPr>
                    </a:p>
                    <a:p>
                      <a:pPr algn="ctr" fontAlgn="ctr"/>
                      <a:r>
                        <a:rPr lang="en-US" altLang="zh-CN" sz="1200" b="1" i="0">
                          <a:solidFill>
                            <a:srgbClr val="FFFFFF"/>
                          </a:solidFill>
                          <a:latin typeface="微软雅黑" panose="020B0503020204020204" pitchFamily="34" charset="-122"/>
                          <a:ea typeface="微软雅黑" panose="020B0503020204020204" pitchFamily="34" charset="-122"/>
                        </a:rPr>
                        <a:t>H21</a:t>
                      </a:r>
                      <a:r>
                        <a:rPr lang="zh-CN" altLang="en-US" sz="1200" b="1" i="0">
                          <a:solidFill>
                            <a:srgbClr val="FFFFFF"/>
                          </a:solidFill>
                          <a:latin typeface="微软雅黑" panose="020B0503020204020204" pitchFamily="34" charset="-122"/>
                          <a:ea typeface="微软雅黑" panose="020B0503020204020204" pitchFamily="34" charset="-122"/>
                        </a:rPr>
                        <a:t>平台</a:t>
                      </a:r>
                      <a:endParaRPr lang="zh-CN" altLang="en-US"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rowSpan="3">
                  <a:txBody>
                    <a:bodyPr/>
                    <a:p>
                      <a:pPr algn="ctr" fontAlgn="ctr"/>
                      <a:r>
                        <a:rPr lang="en-US" altLang="zh-CN" sz="1200" b="1" i="0">
                          <a:solidFill>
                            <a:srgbClr val="FFFFFF"/>
                          </a:solidFill>
                          <a:latin typeface="微软雅黑" panose="020B0503020204020204" pitchFamily="34" charset="-122"/>
                          <a:ea typeface="微软雅黑" panose="020B0503020204020204" pitchFamily="34" charset="-122"/>
                        </a:rPr>
                        <a:t>SRV</a:t>
                      </a:r>
                      <a:endParaRPr lang="en-US" altLang="zh-CN"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gridSpan="3">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地质参数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压裂效果评估方法</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80645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停泵压力</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最小水平主应力</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杨氏模量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泊松比</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小波分析体积评分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rPr>
                        <a:t>函数反演改造体积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31877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0.78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0.58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62166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rowSpan="3">
                  <a:txBody>
                    <a:bodyPr/>
                    <a:p>
                      <a:pPr algn="ctr" fontAlgn="ctr"/>
                      <a:r>
                        <a:rPr lang="en-US" altLang="zh-CN" sz="1200" b="1" i="0">
                          <a:solidFill>
                            <a:srgbClr val="FFFFFF"/>
                          </a:solidFill>
                          <a:latin typeface="微软雅黑" panose="020B0503020204020204" pitchFamily="34" charset="-122"/>
                          <a:ea typeface="微软雅黑" panose="020B0503020204020204" pitchFamily="34" charset="-122"/>
                        </a:rPr>
                        <a:t>EUR</a:t>
                      </a:r>
                      <a:endParaRPr lang="en-US" altLang="zh-CN" sz="1200" b="1" i="0">
                        <a:solidFill>
                          <a:srgbClr val="FFFFFF"/>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C000"/>
                    </a:solidFill>
                  </a:tcPr>
                </a:tc>
                <a:tc gridSpan="4">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压裂效果评估方法</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80581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加砂强度</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用液强度</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施工排量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总砂量</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小波分析体积评分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rPr>
                        <a:t>函数反演改造体积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31813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0.59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bl>
          </a:graphicData>
        </a:graphic>
      </p:graphicFrame>
      <p:sp>
        <p:nvSpPr>
          <p:cNvPr id="16" name="矩形 15"/>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6、</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基于灰色关联分析法，确定足</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H21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平台改造效果评估关键参数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16" name="矩形 15"/>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7、</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根据关联度排序结果，综合评价泸203、泸206、足201井区各参</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数关联度</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327025" y="1301115"/>
            <a:ext cx="11571605" cy="588645"/>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altLang="en-US" sz="1600" noProof="0">
                <a:ln>
                  <a:noFill/>
                </a:ln>
                <a:solidFill>
                  <a:prstClr val="black"/>
                </a:solidFill>
                <a:effectLst/>
                <a:uLnTx/>
                <a:uFillTx/>
                <a:latin typeface="微软雅黑" panose="020B0503020204020204" pitchFamily="34" charset="-122"/>
                <a:ea typeface="微软雅黑" panose="020B0503020204020204" pitchFamily="34" charset="-122"/>
                <a:sym typeface="+mn-ea"/>
              </a:rPr>
              <a:t>泸</a:t>
            </a:r>
            <a:r>
              <a:rPr lang="en-US" altLang="zh-CN" sz="1600" noProof="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sz="1600" noProof="0">
                <a:ln>
                  <a:noFill/>
                </a:ln>
                <a:solidFill>
                  <a:prstClr val="black"/>
                </a:solidFill>
                <a:effectLst/>
                <a:uLnTx/>
                <a:uFillTx/>
                <a:latin typeface="微软雅黑" panose="020B0503020204020204" pitchFamily="34" charset="-122"/>
                <a:ea typeface="微软雅黑" panose="020B0503020204020204" pitchFamily="34" charset="-122"/>
                <a:sym typeface="+mn-ea"/>
              </a:rPr>
              <a:t>、泸</a:t>
            </a:r>
            <a:r>
              <a:rPr lang="en-US" altLang="zh-CN" sz="1600" noProof="0">
                <a:ln>
                  <a:noFill/>
                </a:ln>
                <a:solidFill>
                  <a:prstClr val="black"/>
                </a:solidFill>
                <a:effectLst/>
                <a:uLnTx/>
                <a:uFillTx/>
                <a:latin typeface="微软雅黑" panose="020B0503020204020204" pitchFamily="34" charset="-122"/>
                <a:ea typeface="微软雅黑" panose="020B0503020204020204" pitchFamily="34" charset="-122"/>
                <a:sym typeface="+mn-ea"/>
              </a:rPr>
              <a:t>206</a:t>
            </a:r>
            <a:r>
              <a:rPr lang="zh-CN" altLang="en-US" sz="1600" noProof="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足</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井区各参数对</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压裂效果的综合评价可视化</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文本框 12"/>
          <p:cNvSpPr txBox="1"/>
          <p:nvPr/>
        </p:nvSpPr>
        <p:spPr>
          <a:xfrm>
            <a:off x="449263" y="4712600"/>
            <a:ext cx="6112492"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a:latin typeface="Times New Roman" panose="02020603050405020304" pitchFamily="18" charset="0"/>
                <a:ea typeface="微软雅黑" panose="020B0503020204020204" pitchFamily="34" charset="-122"/>
                <a:cs typeface="微软雅黑" panose="020B0503020204020204" pitchFamily="34" charset="-122"/>
              </a:rPr>
              <a:t>颜色梯度：用颜色深浅表示排名先后（</a:t>
            </a:r>
            <a:r>
              <a:rPr lang="en-US" altLang="zh-CN" sz="1600">
                <a:latin typeface="Times New Roman" panose="02020603050405020304" pitchFamily="18" charset="0"/>
                <a:ea typeface="微软雅黑" panose="020B0503020204020204" pitchFamily="34" charset="-122"/>
                <a:cs typeface="微软雅黑" panose="020B0503020204020204" pitchFamily="34" charset="-122"/>
              </a:rPr>
              <a:t>1=</a:t>
            </a:r>
            <a:r>
              <a:rPr lang="zh-CN" altLang="en-US" sz="1600">
                <a:latin typeface="Times New Roman" panose="02020603050405020304" pitchFamily="18" charset="0"/>
                <a:ea typeface="微软雅黑" panose="020B0503020204020204" pitchFamily="34" charset="-122"/>
                <a:cs typeface="微软雅黑" panose="020B0503020204020204" pitchFamily="34" charset="-122"/>
              </a:rPr>
              <a:t>深色，</a:t>
            </a:r>
            <a:r>
              <a:rPr lang="en-US" altLang="zh-CN" sz="1600">
                <a:latin typeface="Times New Roman" panose="02020603050405020304" pitchFamily="18" charset="0"/>
                <a:ea typeface="微软雅黑" panose="020B0503020204020204" pitchFamily="34" charset="-122"/>
                <a:cs typeface="微软雅黑" panose="020B0503020204020204" pitchFamily="34" charset="-122"/>
              </a:rPr>
              <a:t>5=</a:t>
            </a:r>
            <a:r>
              <a:rPr lang="zh-CN" altLang="en-US" sz="1600">
                <a:latin typeface="Times New Roman" panose="02020603050405020304" pitchFamily="18" charset="0"/>
                <a:ea typeface="微软雅黑" panose="020B0503020204020204" pitchFamily="34" charset="-122"/>
                <a:cs typeface="微软雅黑" panose="020B0503020204020204" pitchFamily="34" charset="-122"/>
              </a:rPr>
              <a:t>浅色）</a:t>
            </a:r>
            <a:endParaRPr lang="zh-CN" altLang="en-US" sz="160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8" name="文本框 12"/>
          <p:cNvSpPr txBox="1"/>
          <p:nvPr/>
        </p:nvSpPr>
        <p:spPr>
          <a:xfrm>
            <a:off x="327025" y="5090566"/>
            <a:ext cx="10749684" cy="163121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a:latin typeface="微软雅黑" panose="020B0503020204020204" pitchFamily="34" charset="-122"/>
                <a:ea typeface="微软雅黑" panose="020B0503020204020204" pitchFamily="34" charset="-122"/>
                <a:cs typeface="微软雅黑" panose="020B0503020204020204" pitchFamily="34" charset="-122"/>
              </a:rPr>
              <a:t>各参数对压裂效果</a:t>
            </a:r>
            <a:r>
              <a:rPr lang="en-US" altLang="zh-CN">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a:latin typeface="微软雅黑" panose="020B0503020204020204" pitchFamily="34" charset="-122"/>
                <a:ea typeface="微软雅黑" panose="020B0503020204020204" pitchFamily="34" charset="-122"/>
                <a:cs typeface="微软雅黑" panose="020B0503020204020204" pitchFamily="34" charset="-122"/>
              </a:rPr>
              <a:t>的综合评价：</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indent="457200"/>
            <a:r>
              <a:rPr lang="en-US" altLang="zh-CN">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a:latin typeface="微软雅黑" panose="020B0503020204020204" pitchFamily="34" charset="-122"/>
                <a:ea typeface="微软雅黑" panose="020B0503020204020204" pitchFamily="34" charset="-122"/>
                <a:cs typeface="+mn-ea"/>
                <a:sym typeface="+mn-ea"/>
              </a:rPr>
              <a:t>小波分析体积评分</a:t>
            </a:r>
            <a:endParaRPr lang="en-US" altLang="zh-CN" sz="1600">
              <a:latin typeface="微软雅黑" panose="020B0503020204020204" pitchFamily="34" charset="-122"/>
              <a:ea typeface="微软雅黑" panose="020B0503020204020204" pitchFamily="34" charset="-122"/>
              <a:cs typeface="+mn-ea"/>
              <a:sym typeface="+mn-ea"/>
            </a:endParaRPr>
          </a:p>
          <a:p>
            <a:pPr indent="457200"/>
            <a:r>
              <a:rPr lang="en-US" altLang="zh-CN" sz="1600">
                <a:latin typeface="微软雅黑" panose="020B0503020204020204" pitchFamily="34" charset="-122"/>
                <a:ea typeface="微软雅黑" panose="020B0503020204020204" pitchFamily="34" charset="-122"/>
                <a:cs typeface="+mn-ea"/>
                <a:sym typeface="+mn-ea"/>
              </a:rPr>
              <a:t>2.</a:t>
            </a:r>
            <a:r>
              <a:rPr lang="zh-CN" altLang="en-US" sz="1600">
                <a:latin typeface="微软雅黑" panose="020B0503020204020204" pitchFamily="34" charset="-122"/>
                <a:ea typeface="微软雅黑" panose="020B0503020204020204" pitchFamily="34" charset="-122"/>
                <a:cs typeface="+mn-ea"/>
                <a:sym typeface="+mn-ea"/>
              </a:rPr>
              <a:t>停泵压力</a:t>
            </a:r>
            <a:endParaRPr lang="en-US" altLang="zh-CN" sz="1600">
              <a:latin typeface="微软雅黑" panose="020B0503020204020204" pitchFamily="34" charset="-122"/>
              <a:ea typeface="微软雅黑" panose="020B0503020204020204" pitchFamily="34" charset="-122"/>
              <a:cs typeface="+mn-ea"/>
              <a:sym typeface="+mn-ea"/>
            </a:endParaRPr>
          </a:p>
          <a:p>
            <a:pPr indent="457200"/>
            <a:r>
              <a:rPr lang="en-US" altLang="zh-CN" sz="1600">
                <a:latin typeface="微软雅黑" panose="020B0503020204020204" pitchFamily="34" charset="-122"/>
                <a:ea typeface="微软雅黑" panose="020B0503020204020204" pitchFamily="34" charset="-122"/>
                <a:cs typeface="+mn-ea"/>
                <a:sym typeface="+mn-ea"/>
              </a:rPr>
              <a:t>3.G</a:t>
            </a:r>
            <a:r>
              <a:rPr lang="zh-CN" altLang="en-US" sz="1600">
                <a:latin typeface="微软雅黑" panose="020B0503020204020204" pitchFamily="34" charset="-122"/>
                <a:ea typeface="微软雅黑" panose="020B0503020204020204" pitchFamily="34" charset="-122"/>
                <a:cs typeface="+mn-ea"/>
                <a:sym typeface="+mn-ea"/>
              </a:rPr>
              <a:t>函数反演改造体积</a:t>
            </a:r>
            <a:endParaRPr lang="en-US" altLang="zh-CN" sz="1600">
              <a:latin typeface="微软雅黑" panose="020B0503020204020204" pitchFamily="34" charset="-122"/>
              <a:ea typeface="微软雅黑" panose="020B0503020204020204" pitchFamily="34" charset="-122"/>
              <a:cs typeface="+mn-ea"/>
              <a:sym typeface="+mn-ea"/>
            </a:endParaRPr>
          </a:p>
          <a:p>
            <a:pPr indent="457200"/>
            <a:r>
              <a:rPr lang="en-US" altLang="zh-CN" sz="1600">
                <a:latin typeface="微软雅黑" panose="020B0503020204020204" pitchFamily="34" charset="-122"/>
                <a:ea typeface="微软雅黑" panose="020B0503020204020204" pitchFamily="34" charset="-122"/>
                <a:cs typeface="+mn-ea"/>
                <a:sym typeface="+mn-ea"/>
              </a:rPr>
              <a:t>4.</a:t>
            </a:r>
            <a:r>
              <a:rPr lang="zh-CN" altLang="en-US" sz="1600">
                <a:latin typeface="微软雅黑" panose="020B0503020204020204" pitchFamily="34" charset="-122"/>
                <a:ea typeface="微软雅黑" panose="020B0503020204020204" pitchFamily="34" charset="-122"/>
                <a:cs typeface="+mn-ea"/>
                <a:sym typeface="+mn-ea"/>
              </a:rPr>
              <a:t>最小水平主应力</a:t>
            </a:r>
            <a:endParaRPr lang="en-US" altLang="zh-CN" sz="1600">
              <a:latin typeface="微软雅黑" panose="020B0503020204020204" pitchFamily="34" charset="-122"/>
              <a:ea typeface="微软雅黑" panose="020B0503020204020204" pitchFamily="34" charset="-122"/>
              <a:cs typeface="+mn-ea"/>
              <a:sym typeface="+mn-ea"/>
            </a:endParaRPr>
          </a:p>
          <a:p>
            <a:pPr indent="457200"/>
            <a:r>
              <a:rPr lang="en-US" altLang="zh-CN" sz="1600">
                <a:latin typeface="微软雅黑" panose="020B0503020204020204" pitchFamily="34" charset="-122"/>
                <a:ea typeface="微软雅黑" panose="020B0503020204020204" pitchFamily="34" charset="-122"/>
                <a:cs typeface="+mn-ea"/>
                <a:sym typeface="+mn-ea"/>
              </a:rPr>
              <a:t>5.</a:t>
            </a:r>
            <a:r>
              <a:rPr lang="zh-CN" altLang="en-US" sz="1600">
                <a:latin typeface="微软雅黑" panose="020B0503020204020204" pitchFamily="34" charset="-122"/>
                <a:ea typeface="微软雅黑" panose="020B0503020204020204" pitchFamily="34" charset="-122"/>
                <a:cs typeface="+mn-ea"/>
                <a:sym typeface="+mn-ea"/>
              </a:rPr>
              <a:t>用液强度</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 name="表格 9"/>
          <p:cNvGraphicFramePr>
            <a:graphicFrameLocks noGrp="1"/>
          </p:cNvGraphicFramePr>
          <p:nvPr/>
        </p:nvGraphicFramePr>
        <p:xfrm>
          <a:off x="449263" y="2156063"/>
          <a:ext cx="7024255" cy="2545873"/>
        </p:xfrm>
        <a:graphic>
          <a:graphicData uri="http://schemas.openxmlformats.org/drawingml/2006/table">
            <a:tbl>
              <a:tblPr/>
              <a:tblGrid>
                <a:gridCol w="1527298"/>
                <a:gridCol w="758201"/>
                <a:gridCol w="1203644"/>
                <a:gridCol w="1232077"/>
                <a:gridCol w="1156256"/>
                <a:gridCol w="1146779"/>
              </a:tblGrid>
              <a:tr h="280280">
                <a:tc rowSpan="2">
                  <a:txBody>
                    <a:bodyPr/>
                    <a:lstStyle/>
                    <a:p>
                      <a:pPr algn="ctr" fontAlgn="ctr"/>
                      <a:r>
                        <a:rPr lang="zh-CN" altLang="en-US" sz="1600" b="1" i="0" u="none" strike="noStrike" baseline="0">
                          <a:solidFill>
                            <a:schemeClr val="bg1"/>
                          </a:solidFill>
                          <a:effectLst/>
                          <a:latin typeface="Times New Roman" panose="02020603050405020304" pitchFamily="18" charset="0"/>
                          <a:ea typeface="微软雅黑" panose="020B0503020204020204" pitchFamily="34" charset="-122"/>
                        </a:rPr>
                        <a:t>参数</a:t>
                      </a:r>
                      <a:endParaRPr lang="zh-CN" altLang="en-US" sz="1600" b="1" i="0" u="none" strike="noStrike" baseline="0">
                        <a:solidFill>
                          <a:schemeClr val="bg1"/>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gridSpan="2">
                  <a:txBody>
                    <a:bodyPr/>
                    <a:lstStyle/>
                    <a:p>
                      <a:pPr algn="ctr" fontAlgn="ctr"/>
                      <a:r>
                        <a:rPr lang="zh-CN" altLang="en-US" sz="1600" b="1" i="0" u="none" strike="noStrike" baseline="0">
                          <a:solidFill>
                            <a:schemeClr val="bg1"/>
                          </a:solidFill>
                          <a:effectLst/>
                          <a:latin typeface="Times New Roman" panose="02020603050405020304" pitchFamily="18" charset="0"/>
                          <a:ea typeface="微软雅黑" panose="020B0503020204020204" pitchFamily="34" charset="-122"/>
                        </a:rPr>
                        <a:t>泸</a:t>
                      </a:r>
                      <a:r>
                        <a:rPr lang="en-US" altLang="zh-CN" sz="1600" b="1" i="0" u="none" strike="noStrike" baseline="0">
                          <a:solidFill>
                            <a:schemeClr val="bg1"/>
                          </a:solidFill>
                          <a:effectLst/>
                          <a:latin typeface="Times New Roman" panose="02020603050405020304" pitchFamily="18" charset="0"/>
                          <a:ea typeface="微软雅黑" panose="020B0503020204020204" pitchFamily="34" charset="-122"/>
                        </a:rPr>
                        <a:t>203</a:t>
                      </a:r>
                      <a:endParaRPr lang="en-US" altLang="zh-CN" sz="1600" b="1" i="0" u="none" strike="noStrike" baseline="0">
                        <a:solidFill>
                          <a:schemeClr val="bg1"/>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FFC000"/>
                    </a:solidFill>
                  </a:tcPr>
                </a:tc>
                <a:tc hMerge="1">
                  <a:tcPr>
                    <a:lnR w="12700">
                      <a:solidFill>
                        <a:schemeClr val="tx1"/>
                      </a:solidFill>
                      <a:prstDash val="solid"/>
                    </a:lnR>
                    <a:lnT w="12700" cap="flat" cmpd="sng" algn="ctr">
                      <a:solidFill>
                        <a:scrgbClr r="0" g="0" b="0"/>
                      </a:solidFill>
                      <a:prstDash val="solid"/>
                      <a:round/>
                      <a:headEnd type="none" w="med" len="med"/>
                      <a:tailEnd type="none" w="med" len="med"/>
                    </a:lnT>
                    <a:lnB w="12700">
                      <a:solidFill>
                        <a:schemeClr val="tx1"/>
                      </a:solidFill>
                      <a:prstDash val="solid"/>
                    </a:lnB>
                  </a:tcPr>
                </a:tc>
                <a:tc>
                  <a:txBody>
                    <a:bodyPr/>
                    <a:lstStyle/>
                    <a:p>
                      <a:pPr algn="ctr" fontAlgn="ctr"/>
                      <a:r>
                        <a:rPr lang="zh-CN" altLang="en-US" sz="1600" b="1" i="0" u="none" strike="noStrike" baseline="0">
                          <a:solidFill>
                            <a:schemeClr val="bg1"/>
                          </a:solidFill>
                          <a:effectLst/>
                          <a:latin typeface="Times New Roman" panose="02020603050405020304" pitchFamily="18" charset="0"/>
                          <a:ea typeface="微软雅黑" panose="020B0503020204020204" pitchFamily="34" charset="-122"/>
                        </a:rPr>
                        <a:t>泸</a:t>
                      </a:r>
                      <a:r>
                        <a:rPr lang="en-US" altLang="zh-CN" sz="1600" b="1" i="0" u="none" strike="noStrike" baseline="0">
                          <a:solidFill>
                            <a:schemeClr val="bg1"/>
                          </a:solidFill>
                          <a:effectLst/>
                          <a:latin typeface="Times New Roman" panose="02020603050405020304" pitchFamily="18" charset="0"/>
                          <a:ea typeface="微软雅黑" panose="020B0503020204020204" pitchFamily="34" charset="-122"/>
                        </a:rPr>
                        <a:t>206</a:t>
                      </a:r>
                      <a:endParaRPr lang="en-US" altLang="zh-CN" sz="1600" b="1" i="0" u="none" strike="noStrike" baseline="0">
                        <a:solidFill>
                          <a:schemeClr val="bg1"/>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FFC000"/>
                    </a:solidFill>
                  </a:tcPr>
                </a:tc>
                <a:tc gridSpan="2">
                  <a:txBody>
                    <a:bodyPr/>
                    <a:lstStyle/>
                    <a:p>
                      <a:pPr algn="ctr" fontAlgn="ctr"/>
                      <a:r>
                        <a:rPr lang="zh-CN" altLang="en-US" sz="1600" b="1" i="0" u="none" strike="noStrike" baseline="0">
                          <a:solidFill>
                            <a:schemeClr val="bg1"/>
                          </a:solidFill>
                          <a:effectLst/>
                          <a:latin typeface="Times New Roman" panose="02020603050405020304" pitchFamily="18" charset="0"/>
                          <a:ea typeface="微软雅黑" panose="020B0503020204020204" pitchFamily="34" charset="-122"/>
                        </a:rPr>
                        <a:t>足</a:t>
                      </a:r>
                      <a:r>
                        <a:rPr lang="en-US" altLang="zh-CN" sz="1600" b="1" i="0" u="none" strike="noStrike" baseline="0">
                          <a:solidFill>
                            <a:schemeClr val="bg1"/>
                          </a:solidFill>
                          <a:effectLst/>
                          <a:latin typeface="Times New Roman" panose="02020603050405020304" pitchFamily="18" charset="0"/>
                          <a:ea typeface="微软雅黑" panose="020B0503020204020204" pitchFamily="34" charset="-122"/>
                        </a:rPr>
                        <a:t>201</a:t>
                      </a:r>
                      <a:endParaRPr lang="en-US" altLang="zh-CN" sz="1600" b="1" i="0" u="none" strike="noStrike" baseline="0">
                        <a:solidFill>
                          <a:schemeClr val="bg1"/>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FFC000"/>
                    </a:solidFill>
                  </a:tcPr>
                </a:tc>
                <a:tc hMerge="1">
                  <a:tcPr>
                    <a:lnR w="12700">
                      <a:solidFill>
                        <a:schemeClr val="tx1"/>
                      </a:solidFill>
                      <a:prstDash val="solid"/>
                    </a:lnR>
                    <a:lnT w="12700" cap="flat" cmpd="sng" algn="ctr">
                      <a:solidFill>
                        <a:scrgbClr r="0" g="0" b="0"/>
                      </a:solidFill>
                      <a:prstDash val="solid"/>
                      <a:round/>
                      <a:headEnd type="none" w="med" len="med"/>
                      <a:tailEnd type="none" w="med" len="med"/>
                    </a:lnT>
                    <a:lnB w="12700">
                      <a:solidFill>
                        <a:schemeClr val="tx1"/>
                      </a:solidFill>
                      <a:prstDash val="solid"/>
                    </a:lnB>
                  </a:tcPr>
                </a:tc>
              </a:tr>
              <a:tr h="280280">
                <a:tc vMerge="1">
                  <a:tcPr>
                    <a:lnL w="12700">
                      <a:solidFill>
                        <a:schemeClr val="tx1"/>
                      </a:solidFill>
                      <a:prstDash val="solid"/>
                    </a:lnL>
                    <a:lnR w="12700">
                      <a:solidFill>
                        <a:schemeClr val="tx1"/>
                      </a:solidFill>
                      <a:prstDash val="solid"/>
                    </a:lnR>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baseline="0">
                          <a:solidFill>
                            <a:schemeClr val="bg1"/>
                          </a:solidFill>
                          <a:effectLst/>
                          <a:latin typeface="Times New Roman" panose="02020603050405020304" pitchFamily="18" charset="0"/>
                          <a:ea typeface="微软雅黑" panose="020B0503020204020204" pitchFamily="34" charset="-122"/>
                        </a:rPr>
                        <a:t>SRV</a:t>
                      </a:r>
                      <a:endParaRPr lang="en-US" sz="1600" b="1" i="0" u="none" strike="noStrike" baseline="0">
                        <a:solidFill>
                          <a:schemeClr val="bg1"/>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600" b="1" i="0" u="none" strike="noStrike" baseline="0">
                          <a:solidFill>
                            <a:schemeClr val="bg1"/>
                          </a:solidFill>
                          <a:effectLst/>
                          <a:latin typeface="Times New Roman" panose="02020603050405020304" pitchFamily="18" charset="0"/>
                          <a:ea typeface="微软雅黑" panose="020B0503020204020204" pitchFamily="34" charset="-122"/>
                        </a:rPr>
                        <a:t>EUR</a:t>
                      </a:r>
                      <a:endParaRPr lang="en-US" sz="1600" b="1" i="0" u="none" strike="noStrike" baseline="0">
                        <a:solidFill>
                          <a:schemeClr val="bg1"/>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600" b="1" i="0" u="none" strike="noStrike" baseline="0">
                          <a:solidFill>
                            <a:schemeClr val="bg1"/>
                          </a:solidFill>
                          <a:effectLst/>
                          <a:latin typeface="Times New Roman" panose="02020603050405020304" pitchFamily="18" charset="0"/>
                          <a:ea typeface="微软雅黑" panose="020B0503020204020204" pitchFamily="34" charset="-122"/>
                        </a:rPr>
                        <a:t>EUR</a:t>
                      </a:r>
                      <a:endParaRPr lang="en-US" sz="1600" b="1" i="0" u="none" strike="noStrike" baseline="0">
                        <a:solidFill>
                          <a:schemeClr val="bg1"/>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600" b="1" i="0" u="none" strike="noStrike" baseline="0">
                          <a:solidFill>
                            <a:schemeClr val="bg1"/>
                          </a:solidFill>
                          <a:effectLst/>
                          <a:latin typeface="Times New Roman" panose="02020603050405020304" pitchFamily="18" charset="0"/>
                          <a:ea typeface="微软雅黑" panose="020B0503020204020204" pitchFamily="34" charset="-122"/>
                        </a:rPr>
                        <a:t>SRV</a:t>
                      </a:r>
                      <a:endParaRPr lang="en-US" sz="1600" b="1" i="0" u="none" strike="noStrike" baseline="0">
                        <a:solidFill>
                          <a:schemeClr val="bg1"/>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600" b="1" i="0" u="none" strike="noStrike" baseline="0">
                          <a:solidFill>
                            <a:schemeClr val="bg1"/>
                          </a:solidFill>
                          <a:effectLst/>
                          <a:latin typeface="Times New Roman" panose="02020603050405020304" pitchFamily="18" charset="0"/>
                          <a:ea typeface="微软雅黑" panose="020B0503020204020204" pitchFamily="34" charset="-122"/>
                        </a:rPr>
                        <a:t>EUR</a:t>
                      </a:r>
                      <a:endParaRPr lang="en-US" sz="1600" b="1" i="0" u="none" strike="noStrike" baseline="0">
                        <a:solidFill>
                          <a:schemeClr val="bg1"/>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FFC000"/>
                    </a:solidFill>
                  </a:tcPr>
                </a:tc>
              </a:tr>
              <a:tr h="389277">
                <a:tc>
                  <a:txBody>
                    <a:bodyPr/>
                    <a:lstStyle/>
                    <a:p>
                      <a:pPr algn="ctr" fontAlgn="ctr"/>
                      <a:r>
                        <a:rPr lang="zh-CN" altLang="en-US" sz="1600" b="0" i="0" u="none" strike="noStrike" baseline="0">
                          <a:solidFill>
                            <a:srgbClr val="000000"/>
                          </a:solidFill>
                          <a:effectLst/>
                          <a:latin typeface="Times New Roman" panose="02020603050405020304" pitchFamily="18" charset="0"/>
                          <a:ea typeface="微软雅黑" panose="020B0503020204020204" pitchFamily="34" charset="-122"/>
                        </a:rPr>
                        <a:t>最小水平主应力</a:t>
                      </a:r>
                      <a:endParaRPr lang="zh-CN" altLang="en-US"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2</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FF0000"/>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no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5</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FADADE"/>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1</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C00000"/>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5</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FADADE"/>
                    </a:solidFill>
                  </a:tcPr>
                </a:tc>
              </a:tr>
              <a:tr h="389277">
                <a:tc>
                  <a:txBody>
                    <a:bodyPr/>
                    <a:lstStyle/>
                    <a:p>
                      <a:pPr algn="ctr" fontAlgn="ctr"/>
                      <a:r>
                        <a:rPr lang="zh-CN" altLang="en-US" sz="1600" b="0" i="0" u="none" strike="noStrike" baseline="0">
                          <a:solidFill>
                            <a:srgbClr val="000000"/>
                          </a:solidFill>
                          <a:effectLst/>
                          <a:latin typeface="Times New Roman" panose="02020603050405020304" pitchFamily="18" charset="0"/>
                          <a:ea typeface="微软雅黑" panose="020B0503020204020204" pitchFamily="34" charset="-122"/>
                        </a:rPr>
                        <a:t>停泵压力</a:t>
                      </a:r>
                      <a:endParaRPr lang="zh-CN" altLang="en-US"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1</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C00000"/>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3</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F949F"/>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4</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4B7BE"/>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2</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0000"/>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89277">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小波分析评分</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3</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F949F"/>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2</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0000"/>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1</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C00000"/>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5</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ADADE"/>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1</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C00000"/>
                    </a:solidFill>
                  </a:tcPr>
                </a:tc>
              </a:tr>
              <a:tr h="408741">
                <a:tc>
                  <a:txBody>
                    <a:bodyPr/>
                    <a:lstStyle/>
                    <a:p>
                      <a:pPr algn="ctr" fontAlgn="ctr"/>
                      <a:r>
                        <a:rPr lang="en-US" sz="1600" b="0" i="0" u="none" strike="noStrike" baseline="0">
                          <a:solidFill>
                            <a:srgbClr val="0F1115"/>
                          </a:solidFill>
                          <a:effectLst/>
                          <a:latin typeface="Times New Roman" panose="02020603050405020304" pitchFamily="18" charset="0"/>
                          <a:ea typeface="微软雅黑" panose="020B0503020204020204" pitchFamily="34" charset="-122"/>
                        </a:rPr>
                        <a:t>G</a:t>
                      </a: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函数反演</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4</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4B7BE"/>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1</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C00000"/>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3</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F949F"/>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3</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F949F"/>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5</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08741">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用液强度</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5</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FADADE"/>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2</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FF0000"/>
                    </a:solid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rPr>
                        <a:t>2</a:t>
                      </a:r>
                      <a:endParaRPr lang="en-US" altLang="zh-CN" sz="16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620" marR="7620" marT="7620" marB="0" anchor="ctr">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FF0000"/>
                    </a:solidFill>
                  </a:tcPr>
                </a:tc>
              </a:tr>
            </a:tbl>
          </a:graphicData>
        </a:graphic>
      </p:graphicFrame>
      <p:grpSp>
        <p:nvGrpSpPr>
          <p:cNvPr id="18" name="组合 17"/>
          <p:cNvGrpSpPr/>
          <p:nvPr/>
        </p:nvGrpSpPr>
        <p:grpSpPr>
          <a:xfrm>
            <a:off x="7668260" y="1270337"/>
            <a:ext cx="4196715" cy="3636264"/>
            <a:chOff x="5353994" y="1427319"/>
            <a:chExt cx="4068878" cy="3717121"/>
          </a:xfrm>
        </p:grpSpPr>
        <p:pic>
          <p:nvPicPr>
            <p:cNvPr id="3" name="图片 2" descr="图表, 雷达图&#10;&#10;AI 生成的内容可能不正确。"/>
            <p:cNvPicPr>
              <a:picLocks noChangeAspect="1"/>
            </p:cNvPicPr>
            <p:nvPr/>
          </p:nvPicPr>
          <p:blipFill>
            <a:blip r:embed="rId1"/>
            <a:srcRect l="9619" t="16364" r="20880" b="11157"/>
            <a:stretch>
              <a:fillRect/>
            </a:stretch>
          </p:blipFill>
          <p:spPr>
            <a:xfrm>
              <a:off x="5353994" y="1427319"/>
              <a:ext cx="4049240" cy="3717121"/>
            </a:xfrm>
            <a:prstGeom prst="rect">
              <a:avLst/>
            </a:prstGeom>
          </p:spPr>
        </p:pic>
        <p:pic>
          <p:nvPicPr>
            <p:cNvPr id="17" name="图片 16" descr="图表, 雷达图&#10;&#10;AI 生成的内容可能不正确。"/>
            <p:cNvPicPr>
              <a:picLocks noChangeAspect="1"/>
            </p:cNvPicPr>
            <p:nvPr/>
          </p:nvPicPr>
          <p:blipFill>
            <a:blip r:embed="rId1"/>
            <a:srcRect l="80834" t="11685" r="9840" b="78203"/>
            <a:stretch>
              <a:fillRect/>
            </a:stretch>
          </p:blipFill>
          <p:spPr>
            <a:xfrm>
              <a:off x="8696338" y="1500222"/>
              <a:ext cx="726534" cy="693464"/>
            </a:xfrm>
            <a:prstGeom prst="rect">
              <a:avLst/>
            </a:prstGeom>
          </p:spPr>
        </p:pic>
      </p:grpSp>
      <p:sp>
        <p:nvSpPr>
          <p:cNvPr id="22" name="文本框 21"/>
          <p:cNvSpPr txBox="1"/>
          <p:nvPr>
            <p:custDataLst>
              <p:tags r:id="rId2"/>
            </p:custDataLst>
          </p:nvPr>
        </p:nvSpPr>
        <p:spPr>
          <a:xfrm>
            <a:off x="2318385" y="1798135"/>
            <a:ext cx="3777615" cy="275590"/>
          </a:xfrm>
          <a:prstGeom prst="rect">
            <a:avLst/>
          </a:prstGeom>
          <a:noFill/>
        </p:spPr>
        <p:txBody>
          <a:bodyPr wrap="square" rtlCol="0">
            <a:spAutoFit/>
          </a:bodyPr>
          <a:lstStyle/>
          <a:p>
            <a:r>
              <a:rPr lang="zh-CN" altLang="en-US" sz="1200" b="1">
                <a:latin typeface="Times New Roman" panose="02020603050405020304" pitchFamily="18" charset="0"/>
                <a:ea typeface="黑体" panose="02010609060101010101" charset="-122"/>
                <a:cs typeface="Times New Roman" panose="02020603050405020304" pitchFamily="18" charset="0"/>
              </a:rPr>
              <a:t>三区块</a:t>
            </a:r>
            <a:r>
              <a:rPr lang="zh-CN" sz="1200" b="1">
                <a:latin typeface="Times New Roman" panose="02020603050405020304" pitchFamily="18" charset="0"/>
                <a:ea typeface="黑体" panose="02010609060101010101" charset="-122"/>
                <a:cs typeface="Times New Roman" panose="02020603050405020304" pitchFamily="18" charset="0"/>
              </a:rPr>
              <a:t>各参数与</a:t>
            </a:r>
            <a:r>
              <a:rPr lang="en-US" altLang="zh-CN" sz="1200" b="1">
                <a:latin typeface="Times New Roman" panose="02020603050405020304" pitchFamily="18" charset="0"/>
                <a:ea typeface="黑体" panose="02010609060101010101" charset="-122"/>
                <a:cs typeface="Times New Roman" panose="02020603050405020304" pitchFamily="18" charset="0"/>
              </a:rPr>
              <a:t>SRV</a:t>
            </a:r>
            <a:r>
              <a:rPr lang="zh-CN" altLang="en-US" sz="1200" b="1">
                <a:latin typeface="Times New Roman" panose="02020603050405020304" pitchFamily="18" charset="0"/>
                <a:ea typeface="黑体" panose="02010609060101010101" charset="-122"/>
                <a:cs typeface="Times New Roman" panose="02020603050405020304" pitchFamily="18" charset="0"/>
              </a:rPr>
              <a:t>、</a:t>
            </a:r>
            <a:r>
              <a:rPr lang="en-US" altLang="zh-CN" sz="1200" b="1">
                <a:latin typeface="Times New Roman" panose="02020603050405020304" pitchFamily="18" charset="0"/>
                <a:ea typeface="黑体" panose="02010609060101010101" charset="-122"/>
                <a:cs typeface="Times New Roman" panose="02020603050405020304" pitchFamily="18" charset="0"/>
              </a:rPr>
              <a:t>EUR</a:t>
            </a:r>
            <a:r>
              <a:rPr lang="zh-CN" altLang="en-US" sz="1200" b="1">
                <a:latin typeface="Times New Roman" panose="02020603050405020304" pitchFamily="18" charset="0"/>
                <a:ea typeface="黑体" panose="02010609060101010101" charset="-122"/>
                <a:cs typeface="Times New Roman" panose="02020603050405020304" pitchFamily="18" charset="0"/>
              </a:rPr>
              <a:t>的相关排序表</a:t>
            </a:r>
            <a:endParaRPr lang="zh-CN" altLang="en-US" sz="1200" b="1">
              <a:latin typeface="Times New Roman" panose="02020603050405020304" pitchFamily="18" charset="0"/>
              <a:ea typeface="黑体" panose="02010609060101010101" charset="-122"/>
              <a:cs typeface="Times New Roman" panose="02020603050405020304" pitchFamily="18" charset="0"/>
            </a:endParaRPr>
          </a:p>
        </p:txBody>
      </p:sp>
      <p:sp>
        <p:nvSpPr>
          <p:cNvPr id="23" name="文本框 22"/>
          <p:cNvSpPr txBox="1"/>
          <p:nvPr>
            <p:custDataLst>
              <p:tags r:id="rId3"/>
            </p:custDataLst>
          </p:nvPr>
        </p:nvSpPr>
        <p:spPr>
          <a:xfrm>
            <a:off x="9242040" y="4906601"/>
            <a:ext cx="1462781" cy="276999"/>
          </a:xfrm>
          <a:prstGeom prst="rect">
            <a:avLst/>
          </a:prstGeom>
          <a:noFill/>
        </p:spPr>
        <p:txBody>
          <a:bodyPr wrap="square" rtlCol="0">
            <a:spAutoFit/>
          </a:bodyPr>
          <a:lstStyle/>
          <a:p>
            <a:r>
              <a:rPr lang="zh-CN" altLang="en-US" sz="1200" b="1">
                <a:latin typeface="Times New Roman" panose="02020603050405020304" pitchFamily="18" charset="0"/>
                <a:ea typeface="黑体" panose="02010609060101010101" charset="-122"/>
                <a:cs typeface="Times New Roman" panose="02020603050405020304" pitchFamily="18" charset="0"/>
              </a:rPr>
              <a:t>各参数雷达对比图</a:t>
            </a:r>
            <a:endParaRPr lang="zh-CN" altLang="en-US" sz="1200" b="1">
              <a:latin typeface="Times New Roman" panose="02020603050405020304" pitchFamily="18" charset="0"/>
              <a:ea typeface="黑体" panose="02010609060101010101" charset="-122"/>
              <a:cs typeface="Times New Roman" panose="02020603050405020304" pitchFamily="18" charset="0"/>
            </a:endParaRPr>
          </a:p>
        </p:txBody>
      </p:sp>
      <p:sp>
        <p:nvSpPr>
          <p:cNvPr id="24" name="箭头: 右 23"/>
          <p:cNvSpPr/>
          <p:nvPr/>
        </p:nvSpPr>
        <p:spPr>
          <a:xfrm>
            <a:off x="3345873" y="5818910"/>
            <a:ext cx="1319645" cy="539352"/>
          </a:xfrm>
          <a:prstGeom prst="rightArrow">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25" name="文本框 24"/>
          <p:cNvSpPr txBox="1"/>
          <p:nvPr/>
        </p:nvSpPr>
        <p:spPr bwMode="auto">
          <a:xfrm>
            <a:off x="5122717" y="5399827"/>
            <a:ext cx="6504024" cy="1156855"/>
          </a:xfrm>
          <a:prstGeom prst="rect">
            <a:avLst/>
          </a:prstGeom>
          <a:noFill/>
          <a:ln>
            <a:noFill/>
          </a:ln>
        </p:spPr>
        <p:txBody>
          <a:bodyPr wrap="square" rtlCol="0">
            <a:spAutoFit/>
          </a:bodyPr>
          <a:lstStyle/>
          <a:p>
            <a:pPr marL="0" indent="0">
              <a:lnSpc>
                <a:spcPct val="150000"/>
              </a:lnSpc>
              <a:buClr>
                <a:srgbClr val="FF0000"/>
              </a:buClr>
            </a:pPr>
            <a:r>
              <a:rPr lang="zh-CN" altLang="en-US" sz="1600">
                <a:latin typeface="微软雅黑" panose="020B0503020204020204" pitchFamily="34" charset="-122"/>
                <a:ea typeface="微软雅黑" panose="020B0503020204020204" pitchFamily="34" charset="-122"/>
              </a:rPr>
              <a:t>揭示</a:t>
            </a:r>
            <a:r>
              <a:rPr lang="zh-CN" altLang="en-US" sz="1600" b="1">
                <a:latin typeface="微软雅黑" panose="020B0503020204020204" pitchFamily="34" charset="-122"/>
                <a:ea typeface="微软雅黑" panose="020B0503020204020204" pitchFamily="34" charset="-122"/>
              </a:rPr>
              <a:t>地质参数</a:t>
            </a:r>
            <a:r>
              <a:rPr lang="zh-CN" altLang="en-US" sz="1600">
                <a:latin typeface="微软雅黑" panose="020B0503020204020204" pitchFamily="34" charset="-122"/>
                <a:ea typeface="微软雅黑" panose="020B0503020204020204" pitchFamily="34" charset="-122"/>
              </a:rPr>
              <a:t>（最小水平主应力）、</a:t>
            </a:r>
            <a:r>
              <a:rPr lang="zh-CN" altLang="en-US" sz="1600" b="1">
                <a:latin typeface="微软雅黑" panose="020B0503020204020204" pitchFamily="34" charset="-122"/>
                <a:ea typeface="微软雅黑" panose="020B0503020204020204" pitchFamily="34" charset="-122"/>
              </a:rPr>
              <a:t>施工参数</a:t>
            </a:r>
            <a:r>
              <a:rPr lang="zh-CN" altLang="en-US" sz="1600">
                <a:latin typeface="微软雅黑" panose="020B0503020204020204" pitchFamily="34" charset="-122"/>
                <a:ea typeface="微软雅黑" panose="020B0503020204020204" pitchFamily="34" charset="-122"/>
              </a:rPr>
              <a:t>（停泵压力、用液强度）、</a:t>
            </a:r>
            <a:r>
              <a:rPr lang="zh-CN" altLang="en-US" sz="1600" b="1">
                <a:latin typeface="微软雅黑" panose="020B0503020204020204" pitchFamily="34" charset="-122"/>
                <a:ea typeface="微软雅黑" panose="020B0503020204020204" pitchFamily="34" charset="-122"/>
              </a:rPr>
              <a:t>压裂效果方法</a:t>
            </a:r>
            <a:r>
              <a:rPr lang="zh-CN" altLang="en-US" sz="1600">
                <a:latin typeface="微软雅黑" panose="020B0503020204020204" pitchFamily="34" charset="-122"/>
                <a:ea typeface="微软雅黑" panose="020B0503020204020204" pitchFamily="34" charset="-122"/>
              </a:rPr>
              <a:t>（小波体积评分、</a:t>
            </a:r>
            <a:r>
              <a:rPr lang="en-US" altLang="zh-CN" sz="1600">
                <a:latin typeface="微软雅黑" panose="020B0503020204020204" pitchFamily="34" charset="-122"/>
                <a:ea typeface="微软雅黑" panose="020B0503020204020204" pitchFamily="34" charset="-122"/>
              </a:rPr>
              <a:t>G</a:t>
            </a:r>
            <a:r>
              <a:rPr lang="zh-CN" altLang="en-US" sz="1600">
                <a:latin typeface="微软雅黑" panose="020B0503020204020204" pitchFamily="34" charset="-122"/>
                <a:ea typeface="微软雅黑" panose="020B0503020204020204" pitchFamily="34" charset="-122"/>
              </a:rPr>
              <a:t>函数反演改造体积）与压裂效果</a:t>
            </a:r>
            <a:r>
              <a:rPr lang="en-US" altLang="zh-CN" sz="1600">
                <a:latin typeface="微软雅黑" panose="020B0503020204020204" pitchFamily="34" charset="-122"/>
                <a:ea typeface="微软雅黑" panose="020B0503020204020204" pitchFamily="34" charset="-122"/>
              </a:rPr>
              <a:t>SRV</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EUR</a:t>
            </a:r>
            <a:r>
              <a:rPr lang="zh-CN" altLang="en-US" sz="1600" b="1">
                <a:latin typeface="微软雅黑" panose="020B0503020204020204" pitchFamily="34" charset="-122"/>
                <a:ea typeface="微软雅黑" panose="020B0503020204020204" pitchFamily="34" charset="-122"/>
              </a:rPr>
              <a:t>高相关性的内在机理</a:t>
            </a:r>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27025" y="1301115"/>
            <a:ext cx="11571605" cy="588645"/>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altLang="en-US" sz="1600" i="0">
                <a:solidFill>
                  <a:srgbClr val="0F1115"/>
                </a:solidFill>
                <a:effectLst/>
                <a:latin typeface="微软雅黑" panose="020B0503020204020204" pitchFamily="34" charset="-122"/>
                <a:ea typeface="微软雅黑" panose="020B0503020204020204" pitchFamily="34" charset="-122"/>
              </a:rPr>
              <a:t>最小水平主应力</a:t>
            </a:r>
            <a:r>
              <a:rPr lang="zh-CN" altLang="en-US" sz="1600" b="1" i="0">
                <a:solidFill>
                  <a:srgbClr val="0F1115"/>
                </a:solidFill>
                <a:effectLst/>
                <a:latin typeface="微软雅黑" panose="020B0503020204020204" pitchFamily="34" charset="-122"/>
                <a:ea typeface="微软雅黑" panose="020B0503020204020204" pitchFamily="34" charset="-122"/>
              </a:rPr>
              <a:t>：</a:t>
            </a:r>
            <a:r>
              <a:rPr lang="zh-CN" altLang="en-US" sz="1600" i="0">
                <a:solidFill>
                  <a:srgbClr val="0F1115"/>
                </a:solidFill>
                <a:effectLst/>
                <a:latin typeface="微软雅黑" panose="020B0503020204020204" pitchFamily="34" charset="-122"/>
                <a:ea typeface="微软雅黑" panose="020B0503020204020204" pitchFamily="34" charset="-122"/>
              </a:rPr>
              <a:t>指地下岩层在水平方向上所受的</a:t>
            </a:r>
            <a:r>
              <a:rPr lang="zh-CN" altLang="en-US" sz="1600">
                <a:solidFill>
                  <a:srgbClr val="FF0000"/>
                </a:solidFill>
                <a:effectLst/>
                <a:latin typeface="微软雅黑" panose="020B0503020204020204" pitchFamily="34" charset="-122"/>
                <a:ea typeface="微软雅黑" panose="020B0503020204020204" pitchFamily="34" charset="-122"/>
              </a:rPr>
              <a:t>最小压缩应力</a:t>
            </a:r>
            <a:r>
              <a:rPr lang="zh-CN" altLang="en-US" sz="1600">
                <a:solidFill>
                  <a:srgbClr val="0F1115"/>
                </a:solidFill>
                <a:effectLst/>
                <a:latin typeface="微软雅黑" panose="020B0503020204020204" pitchFamily="34" charset="-122"/>
                <a:ea typeface="微软雅黑" panose="020B0503020204020204" pitchFamily="34" charset="-122"/>
              </a:rPr>
              <a:t>，其</a:t>
            </a:r>
            <a:r>
              <a:rPr lang="zh-CN" altLang="en-US" sz="1600" i="0">
                <a:solidFill>
                  <a:srgbClr val="0F1115"/>
                </a:solidFill>
                <a:effectLst/>
                <a:latin typeface="微软雅黑" panose="020B0503020204020204" pitchFamily="34" charset="-122"/>
                <a:ea typeface="微软雅黑" panose="020B0503020204020204" pitchFamily="34" charset="-122"/>
              </a:rPr>
              <a:t>方向与最大水平主应力垂直。</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custDataLst>
              <p:tags r:id="rId1"/>
            </p:custDataLst>
          </p:nvPr>
        </p:nvSpPr>
        <p:spPr bwMode="auto">
          <a:xfrm>
            <a:off x="454314" y="1743955"/>
            <a:ext cx="6849235" cy="1156727"/>
          </a:xfrm>
          <a:prstGeom prst="rect">
            <a:avLst/>
          </a:prstGeom>
          <a:noFill/>
          <a:ln>
            <a:noFill/>
          </a:ln>
        </p:spPr>
        <p:txBody>
          <a:bodyPr wrap="square" rtlCol="0">
            <a:spAutoFit/>
          </a:bodyPr>
          <a:lstStyle/>
          <a:p>
            <a:pPr marL="0" indent="0">
              <a:lnSpc>
                <a:spcPct val="150000"/>
              </a:lnSpc>
              <a:buClr>
                <a:srgbClr val="FF0000"/>
              </a:buClr>
            </a:pPr>
            <a:r>
              <a:rPr lang="zh-CN" altLang="en-US" sz="1600">
                <a:latin typeface="Times New Roman" panose="02020603050405020304" pitchFamily="18" charset="0"/>
                <a:ea typeface="微软雅黑" panose="020B0503020204020204" pitchFamily="34" charset="-122"/>
                <a:cs typeface="Times New Roman" panose="02020603050405020304" pitchFamily="18" charset="0"/>
              </a:rPr>
              <a:t>泸</a:t>
            </a:r>
            <a:r>
              <a:rPr lang="en-US" altLang="zh-CN" sz="1600">
                <a:latin typeface="Times New Roman" panose="02020603050405020304" pitchFamily="18" charset="0"/>
                <a:ea typeface="微软雅黑" panose="020B0503020204020204" pitchFamily="34" charset="-122"/>
                <a:cs typeface="Times New Roman" panose="02020603050405020304" pitchFamily="18" charset="0"/>
              </a:rPr>
              <a:t>203</a:t>
            </a:r>
            <a:r>
              <a:rPr lang="zh-CN" altLang="en-US" sz="1600">
                <a:latin typeface="Times New Roman" panose="02020603050405020304" pitchFamily="18" charset="0"/>
                <a:ea typeface="微软雅黑" panose="020B0503020204020204" pitchFamily="34" charset="-122"/>
                <a:cs typeface="Times New Roman" panose="02020603050405020304" pitchFamily="18" charset="0"/>
              </a:rPr>
              <a:t>区块最小水平主应力＜</a:t>
            </a:r>
            <a:r>
              <a:rPr lang="en-US" altLang="zh-CN" sz="1600">
                <a:latin typeface="Times New Roman" panose="02020603050405020304" pitchFamily="18" charset="0"/>
                <a:ea typeface="微软雅黑" panose="020B0503020204020204" pitchFamily="34" charset="-122"/>
                <a:cs typeface="Times New Roman" panose="02020603050405020304" pitchFamily="18" charset="0"/>
              </a:rPr>
              <a:t>94.80MPa</a:t>
            </a:r>
            <a:r>
              <a:rPr lang="zh-CN" altLang="en-US" sz="1600">
                <a:latin typeface="Times New Roman" panose="02020603050405020304" pitchFamily="18" charset="0"/>
                <a:ea typeface="微软雅黑" panose="020B0503020204020204" pitchFamily="34" charset="-122"/>
                <a:cs typeface="Times New Roman" panose="02020603050405020304" pitchFamily="18" charset="0"/>
              </a:rPr>
              <a:t>时：</a:t>
            </a:r>
            <a:r>
              <a:rPr lang="en-US" altLang="zh-CN" sz="160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SRV</a:t>
            </a:r>
            <a:r>
              <a:rPr lang="zh-CN" altLang="en-US" sz="160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EUR</a:t>
            </a:r>
            <a:r>
              <a:rPr lang="zh-CN" altLang="en-US" sz="160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更大</a:t>
            </a:r>
            <a:endParaRPr lang="en-US" altLang="zh-CN" sz="160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Clr>
                <a:srgbClr val="FF0000"/>
              </a:buClr>
            </a:pPr>
            <a:r>
              <a:rPr lang="en-US" altLang="zh-CN" sz="1600">
                <a:latin typeface="Times New Roman" panose="02020603050405020304" pitchFamily="18" charset="0"/>
                <a:ea typeface="微软雅黑" panose="020B0503020204020204" pitchFamily="34" charset="-122"/>
                <a:cs typeface="Times New Roman" panose="02020603050405020304" pitchFamily="18" charset="0"/>
              </a:rPr>
              <a:t>SRVmean=247.97</a:t>
            </a:r>
            <a:r>
              <a:rPr lang="en-US" altLang="zh-CN" sz="1600"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en-US" altLang="zh-CN" sz="1600" kern="1200"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1600"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kern="1200"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a:latin typeface="Times New Roman" panose="02020603050405020304" pitchFamily="18" charset="0"/>
                <a:ea typeface="微软雅黑" panose="020B0503020204020204" pitchFamily="34" charset="-122"/>
                <a:cs typeface="Times New Roman" panose="02020603050405020304" pitchFamily="18" charset="0"/>
              </a:rPr>
              <a:t>EURmean=0.71</a:t>
            </a:r>
            <a:r>
              <a:rPr lang="en-US" altLang="zh-CN" sz="16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(10</a:t>
            </a:r>
            <a:r>
              <a:rPr lang="en-US" altLang="zh-CN" sz="1600" baseline="300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8</a:t>
            </a:r>
            <a:r>
              <a:rPr lang="en-US" altLang="zh-CN" sz="16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baseline="300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Clr>
                <a:srgbClr val="FF0000"/>
              </a:buClr>
            </a:pPr>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SRVmax=</a:t>
            </a:r>
            <a:r>
              <a:rPr lang="en-US" altLang="zh-CN" sz="1600" b="1"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514.8(10</a:t>
            </a:r>
            <a:r>
              <a:rPr lang="en-US" altLang="zh-CN" sz="1600" b="1" kern="1200"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1600" b="1"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b="1" kern="1200"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b="1"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6" name="组合 15"/>
          <p:cNvGrpSpPr/>
          <p:nvPr>
            <p:custDataLst>
              <p:tags r:id="rId2"/>
            </p:custDataLst>
          </p:nvPr>
        </p:nvGrpSpPr>
        <p:grpSpPr>
          <a:xfrm>
            <a:off x="406235" y="3053164"/>
            <a:ext cx="6022295" cy="2076140"/>
            <a:chOff x="130132" y="3283501"/>
            <a:chExt cx="6022295" cy="2076140"/>
          </a:xfrm>
        </p:grpSpPr>
        <p:pic>
          <p:nvPicPr>
            <p:cNvPr id="9" name="图片 8"/>
            <p:cNvPicPr>
              <a:picLocks noChangeAspect="1"/>
            </p:cNvPicPr>
            <p:nvPr>
              <p:custDataLst>
                <p:tags r:id="rId3"/>
              </p:custDataLst>
            </p:nvPr>
          </p:nvPicPr>
          <p:blipFill>
            <a:blip r:embed="rId4"/>
            <a:stretch>
              <a:fillRect/>
            </a:stretch>
          </p:blipFill>
          <p:spPr>
            <a:xfrm>
              <a:off x="130132" y="3283501"/>
              <a:ext cx="2236643" cy="2076139"/>
            </a:xfrm>
            <a:prstGeom prst="rect">
              <a:avLst/>
            </a:prstGeom>
            <a:ln>
              <a:solidFill>
                <a:schemeClr val="tx1"/>
              </a:solidFill>
            </a:ln>
          </p:spPr>
        </p:pic>
        <p:pic>
          <p:nvPicPr>
            <p:cNvPr id="10" name="图片 9"/>
            <p:cNvPicPr>
              <a:picLocks noChangeAspect="1"/>
            </p:cNvPicPr>
            <p:nvPr>
              <p:custDataLst>
                <p:tags r:id="rId5"/>
              </p:custDataLst>
            </p:nvPr>
          </p:nvPicPr>
          <p:blipFill>
            <a:blip r:embed="rId6"/>
            <a:stretch>
              <a:fillRect/>
            </a:stretch>
          </p:blipFill>
          <p:spPr>
            <a:xfrm>
              <a:off x="2373600" y="3283502"/>
              <a:ext cx="3778827" cy="2076139"/>
            </a:xfrm>
            <a:prstGeom prst="rect">
              <a:avLst/>
            </a:prstGeom>
            <a:ln>
              <a:solidFill>
                <a:schemeClr val="tx1"/>
              </a:solidFill>
            </a:ln>
          </p:spPr>
        </p:pic>
      </p:grpSp>
      <p:sp>
        <p:nvSpPr>
          <p:cNvPr id="11" name="文本框 10"/>
          <p:cNvSpPr txBox="1"/>
          <p:nvPr>
            <p:custDataLst>
              <p:tags r:id="rId7"/>
            </p:custDataLst>
          </p:nvPr>
        </p:nvSpPr>
        <p:spPr bwMode="auto">
          <a:xfrm>
            <a:off x="960102" y="5170280"/>
            <a:ext cx="3979719" cy="584775"/>
          </a:xfrm>
          <a:prstGeom prst="rect">
            <a:avLst/>
          </a:prstGeom>
          <a:noFill/>
          <a:ln>
            <a:noFill/>
          </a:ln>
        </p:spPr>
        <p:txBody>
          <a:bodyPr wrap="square" rtlCol="0">
            <a:spAutoFit/>
          </a:bodyPr>
          <a:lstStyle/>
          <a:p>
            <a:r>
              <a:rPr lang="zh-CN" altLang="en-US" sz="1600"/>
              <a:t>呈明显三维扩张，偏向</a:t>
            </a:r>
            <a:r>
              <a:rPr lang="zh-CN" altLang="en-US" sz="1600">
                <a:solidFill>
                  <a:srgbClr val="FF0000"/>
                </a:solidFill>
              </a:rPr>
              <a:t>西侧</a:t>
            </a:r>
            <a:r>
              <a:rPr lang="en-US" altLang="zh-CN" sz="1600"/>
              <a:t>;</a:t>
            </a:r>
            <a:endParaRPr lang="zh-CN" altLang="en-US" sz="1600"/>
          </a:p>
          <a:p>
            <a:r>
              <a:rPr lang="zh-CN" altLang="en-US" sz="1600"/>
              <a:t>微地震事件点</a:t>
            </a:r>
            <a:r>
              <a:rPr lang="zh-CN" altLang="en-US" sz="1600">
                <a:solidFill>
                  <a:srgbClr val="FF0000"/>
                </a:solidFill>
              </a:rPr>
              <a:t>分布离散</a:t>
            </a:r>
            <a:r>
              <a:rPr lang="zh-CN" altLang="en-US" sz="1600"/>
              <a:t>，网络化明显。</a:t>
            </a:r>
            <a:endParaRPr lang="zh-CN" altLang="en-US" sz="1600" dirty="0">
              <a:solidFill>
                <a:srgbClr val="0000FF"/>
              </a:solidFill>
              <a:latin typeface="方正大黑简体" panose="02000000000000000000" pitchFamily="65" charset="-122"/>
              <a:ea typeface="方正大黑简体" panose="02000000000000000000" pitchFamily="65" charset="-122"/>
            </a:endParaRPr>
          </a:p>
        </p:txBody>
      </p:sp>
      <p:sp>
        <p:nvSpPr>
          <p:cNvPr id="12" name="文本框 11"/>
          <p:cNvSpPr txBox="1"/>
          <p:nvPr>
            <p:custDataLst>
              <p:tags r:id="rId8"/>
            </p:custDataLst>
          </p:nvPr>
        </p:nvSpPr>
        <p:spPr bwMode="auto">
          <a:xfrm>
            <a:off x="6474259" y="1713176"/>
            <a:ext cx="5312844" cy="1196738"/>
          </a:xfrm>
          <a:prstGeom prst="rect">
            <a:avLst/>
          </a:prstGeom>
          <a:noFill/>
          <a:ln>
            <a:noFill/>
          </a:ln>
        </p:spPr>
        <p:txBody>
          <a:bodyPr wrap="square" rtlCol="0">
            <a:spAutoFit/>
          </a:bodyPr>
          <a:lstStyle/>
          <a:p>
            <a:pPr marL="0" indent="0">
              <a:lnSpc>
                <a:spcPct val="150000"/>
              </a:lnSpc>
              <a:buClr>
                <a:srgbClr val="FF0000"/>
              </a:buClr>
            </a:pPr>
            <a:r>
              <a:rPr lang="zh-CN" altLang="en-US" sz="1600">
                <a:latin typeface="Times New Roman" panose="02020603050405020304" pitchFamily="18" charset="0"/>
                <a:ea typeface="微软雅黑" panose="020B0503020204020204" pitchFamily="34" charset="-122"/>
                <a:cs typeface="Times New Roman" panose="02020603050405020304" pitchFamily="18" charset="0"/>
              </a:rPr>
              <a:t>泸</a:t>
            </a:r>
            <a:r>
              <a:rPr lang="en-US" altLang="zh-CN" sz="1600">
                <a:latin typeface="Times New Roman" panose="02020603050405020304" pitchFamily="18" charset="0"/>
                <a:ea typeface="微软雅黑" panose="020B0503020204020204" pitchFamily="34" charset="-122"/>
                <a:cs typeface="Times New Roman" panose="02020603050405020304" pitchFamily="18" charset="0"/>
              </a:rPr>
              <a:t>203</a:t>
            </a:r>
            <a:r>
              <a:rPr lang="zh-CN" altLang="en-US" sz="1600">
                <a:latin typeface="Times New Roman" panose="02020603050405020304" pitchFamily="18" charset="0"/>
                <a:ea typeface="微软雅黑" panose="020B0503020204020204" pitchFamily="34" charset="-122"/>
                <a:cs typeface="Times New Roman" panose="02020603050405020304" pitchFamily="18" charset="0"/>
              </a:rPr>
              <a:t>区块最小水平主应力＞</a:t>
            </a:r>
            <a:r>
              <a:rPr lang="en-US" altLang="zh-CN" sz="1600">
                <a:latin typeface="Times New Roman" panose="02020603050405020304" pitchFamily="18" charset="0"/>
                <a:ea typeface="微软雅黑" panose="020B0503020204020204" pitchFamily="34" charset="-122"/>
                <a:cs typeface="Times New Roman" panose="02020603050405020304" pitchFamily="18" charset="0"/>
              </a:rPr>
              <a:t>96.29Mpa</a:t>
            </a:r>
            <a:r>
              <a:rPr lang="zh-CN" altLang="en-US" sz="16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SRV</a:t>
            </a:r>
            <a:r>
              <a:rPr lang="zh-CN" altLang="en-US" sz="160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EUR</a:t>
            </a:r>
            <a:r>
              <a:rPr lang="zh-CN" altLang="en-US" sz="160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更小</a:t>
            </a:r>
            <a:r>
              <a:rPr lang="en-US" altLang="zh-CN" sz="1600" kern="1200">
                <a:solidFill>
                  <a:srgbClr val="000000"/>
                </a:solidFill>
                <a:effectLst/>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600" kern="1200">
              <a:solidFill>
                <a:srgbClr val="000000"/>
              </a:solidFill>
              <a:effectLst/>
              <a:highlight>
                <a:srgbClr val="FFFF00"/>
              </a:highlight>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Clr>
                <a:srgbClr val="FF0000"/>
              </a:buClr>
            </a:pPr>
            <a:r>
              <a:rPr lang="en-US" altLang="zh-CN" sz="1600"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SRVmean=283.14(10</a:t>
            </a:r>
            <a:r>
              <a:rPr lang="en-US" altLang="zh-CN" sz="1600" kern="1200"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1600"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kern="1200"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EURmean=0.68(10</a:t>
            </a:r>
            <a:r>
              <a:rPr lang="en-US" altLang="zh-CN" sz="1600" baseline="300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8</a:t>
            </a:r>
            <a:r>
              <a:rPr lang="en-US" altLang="zh-CN" sz="16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baseline="300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Clr>
                <a:srgbClr val="FF0000"/>
              </a:buClr>
            </a:pPr>
            <a:r>
              <a:rPr lang="en-US" altLang="zh-CN" sz="1600"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SRVmax=422.8</a:t>
            </a:r>
            <a:r>
              <a:rPr lang="en-US" altLang="zh-CN" sz="1800" b="1"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en-US" altLang="zh-CN" sz="1800" b="1" kern="1200"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1800" b="1"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800" b="1" kern="1200"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800" b="1" kern="12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4" name="图片 13"/>
          <p:cNvPicPr>
            <a:picLocks noChangeAspect="1"/>
          </p:cNvPicPr>
          <p:nvPr>
            <p:custDataLst>
              <p:tags r:id="rId9"/>
            </p:custDataLst>
          </p:nvPr>
        </p:nvPicPr>
        <p:blipFill>
          <a:blip r:embed="rId10"/>
          <a:stretch>
            <a:fillRect/>
          </a:stretch>
        </p:blipFill>
        <p:spPr>
          <a:xfrm>
            <a:off x="6732773" y="3038332"/>
            <a:ext cx="4799561" cy="2105802"/>
          </a:xfrm>
          <a:prstGeom prst="rect">
            <a:avLst/>
          </a:prstGeom>
          <a:ln>
            <a:solidFill>
              <a:schemeClr val="tx1"/>
            </a:solidFill>
          </a:ln>
        </p:spPr>
      </p:pic>
      <p:sp>
        <p:nvSpPr>
          <p:cNvPr id="17" name="文本框 16"/>
          <p:cNvSpPr txBox="1"/>
          <p:nvPr>
            <p:custDataLst>
              <p:tags r:id="rId11"/>
            </p:custDataLst>
          </p:nvPr>
        </p:nvSpPr>
        <p:spPr bwMode="auto">
          <a:xfrm>
            <a:off x="7252180" y="5215575"/>
            <a:ext cx="4385638" cy="584775"/>
          </a:xfrm>
          <a:prstGeom prst="rect">
            <a:avLst/>
          </a:prstGeom>
          <a:noFill/>
          <a:ln>
            <a:noFill/>
          </a:ln>
        </p:spPr>
        <p:txBody>
          <a:bodyPr wrap="square" rtlCol="0">
            <a:spAutoFit/>
          </a:bodyPr>
          <a:lstStyle/>
          <a:p>
            <a:r>
              <a:rPr lang="zh-CN" altLang="en-US" sz="1600"/>
              <a:t>裂缝两翼对称，高度仅</a:t>
            </a:r>
            <a:r>
              <a:rPr lang="en-US" altLang="zh-CN" sz="1600"/>
              <a:t>116 m</a:t>
            </a:r>
            <a:r>
              <a:rPr lang="zh-CN" altLang="en-US" sz="1600"/>
              <a:t>，</a:t>
            </a:r>
            <a:r>
              <a:rPr lang="zh-CN" altLang="en-US" sz="1600">
                <a:solidFill>
                  <a:srgbClr val="FF0000"/>
                </a:solidFill>
              </a:rPr>
              <a:t>受压控显著</a:t>
            </a:r>
            <a:r>
              <a:rPr lang="en-US" altLang="zh-CN" sz="1600"/>
              <a:t>;</a:t>
            </a:r>
            <a:endParaRPr lang="en-US" altLang="zh-CN" sz="1600"/>
          </a:p>
          <a:p>
            <a:r>
              <a:rPr lang="zh-CN" altLang="en-US" sz="1600"/>
              <a:t>裂缝形态更线性、</a:t>
            </a:r>
            <a:r>
              <a:rPr lang="zh-CN" altLang="en-US" sz="1600">
                <a:solidFill>
                  <a:srgbClr val="FF0000"/>
                </a:solidFill>
              </a:rPr>
              <a:t>受约束更强</a:t>
            </a:r>
            <a:r>
              <a:rPr lang="zh-CN" altLang="en-US" sz="1600"/>
              <a:t>。</a:t>
            </a:r>
            <a:endParaRPr lang="zh-CN" altLang="en-US" sz="1600" dirty="0">
              <a:solidFill>
                <a:srgbClr val="0000FF"/>
              </a:solidFill>
              <a:latin typeface="方正大黑简体" panose="02000000000000000000" pitchFamily="65" charset="-122"/>
              <a:ea typeface="方正大黑简体" panose="02000000000000000000" pitchFamily="65" charset="-122"/>
            </a:endParaRPr>
          </a:p>
        </p:txBody>
      </p:sp>
      <p:grpSp>
        <p:nvGrpSpPr>
          <p:cNvPr id="8" name="组合 7"/>
          <p:cNvGrpSpPr/>
          <p:nvPr>
            <p:custDataLst>
              <p:tags r:id="rId12"/>
            </p:custDataLst>
          </p:nvPr>
        </p:nvGrpSpPr>
        <p:grpSpPr>
          <a:xfrm>
            <a:off x="293370" y="1743955"/>
            <a:ext cx="12047220" cy="4771178"/>
            <a:chOff x="462" y="2746"/>
            <a:chExt cx="18972" cy="7514"/>
          </a:xfrm>
        </p:grpSpPr>
        <p:sp>
          <p:nvSpPr>
            <p:cNvPr id="21" name="文本框 20"/>
            <p:cNvSpPr txBox="1"/>
            <p:nvPr/>
          </p:nvSpPr>
          <p:spPr bwMode="auto">
            <a:xfrm>
              <a:off x="515" y="9341"/>
              <a:ext cx="18919" cy="919"/>
            </a:xfrm>
            <a:prstGeom prst="rect">
              <a:avLst/>
            </a:prstGeom>
            <a:noFill/>
            <a:ln>
              <a:noFill/>
            </a:ln>
          </p:spPr>
          <p:txBody>
            <a:bodyPr wrap="square" rtlCol="0">
              <a:spAutoFit/>
            </a:bodyPr>
            <a:lstStyle/>
            <a:p>
              <a:r>
                <a:rPr lang="zh-CN" altLang="en-US" sz="1600">
                  <a:highlight>
                    <a:srgbClr val="FFFF00"/>
                  </a:highlight>
                </a:rPr>
                <a:t>低</a:t>
              </a:r>
              <a:r>
                <a:rPr lang="zh-CN" altLang="en-US" sz="1600"/>
                <a:t>最小水平主应力：裂缝</a:t>
              </a:r>
              <a:r>
                <a:rPr lang="zh-CN" altLang="en-US" sz="1600">
                  <a:highlight>
                    <a:srgbClr val="FFFF00"/>
                  </a:highlight>
                </a:rPr>
                <a:t>易偏转、分叉</a:t>
              </a:r>
              <a:r>
                <a:rPr lang="zh-CN" altLang="en-US" sz="1600"/>
                <a:t>形成复杂网络；裂缝高度</a:t>
              </a:r>
              <a:r>
                <a:rPr lang="en-US" altLang="zh-CN" sz="1600"/>
                <a:t>/</a:t>
              </a:r>
              <a:r>
                <a:rPr lang="zh-CN" altLang="en-US" sz="1600"/>
                <a:t>宽度更大           </a:t>
              </a:r>
              <a:r>
                <a:rPr lang="en-US" altLang="zh-CN" sz="1600">
                  <a:highlight>
                    <a:srgbClr val="FFFF00"/>
                  </a:highlight>
                </a:rPr>
                <a:t>SRV</a:t>
              </a:r>
              <a:r>
                <a:rPr lang="zh-CN" altLang="en-US" sz="1600">
                  <a:highlight>
                    <a:srgbClr val="FFFF00"/>
                  </a:highlight>
                </a:rPr>
                <a:t>更大</a:t>
              </a:r>
              <a:r>
                <a:rPr lang="zh-CN" altLang="en-US" sz="1600"/>
                <a:t>、形态更不规则</a:t>
              </a:r>
              <a:r>
                <a:rPr lang="en-US" altLang="zh-CN" sz="1600"/>
                <a:t>           </a:t>
              </a:r>
              <a:r>
                <a:rPr lang="zh-CN" altLang="en-US" sz="1600">
                  <a:highlight>
                    <a:srgbClr val="FFFF00"/>
                  </a:highlight>
                </a:rPr>
                <a:t>高</a:t>
              </a:r>
              <a:r>
                <a:rPr lang="en-US" altLang="zh-CN" sz="1600">
                  <a:highlight>
                    <a:srgbClr val="FFFF00"/>
                  </a:highlight>
                </a:rPr>
                <a:t>EUR</a:t>
              </a:r>
              <a:endParaRPr lang="zh-CN" altLang="en-US" sz="1600">
                <a:highlight>
                  <a:srgbClr val="FFFF00"/>
                </a:highlight>
              </a:endParaRPr>
            </a:p>
            <a:p>
              <a:r>
                <a:rPr lang="zh-CN" altLang="en-US" sz="1600">
                  <a:highlight>
                    <a:srgbClr val="FFFF00"/>
                  </a:highlight>
                </a:rPr>
                <a:t>高</a:t>
              </a:r>
              <a:r>
                <a:rPr lang="zh-CN" altLang="en-US" sz="1600"/>
                <a:t>最小水平主应力：裂缝</a:t>
              </a:r>
              <a:r>
                <a:rPr lang="zh-CN" altLang="en-US" sz="1600">
                  <a:highlight>
                    <a:srgbClr val="FFFF00"/>
                  </a:highlight>
                </a:rPr>
                <a:t>更窄、更直</a:t>
              </a:r>
              <a:r>
                <a:rPr lang="zh-CN" altLang="en-US" sz="1600"/>
                <a:t>；扩展更多受地层应力约束</a:t>
              </a:r>
              <a:r>
                <a:rPr lang="en-US" altLang="zh-CN" sz="1600"/>
                <a:t> </a:t>
              </a:r>
              <a:r>
                <a:rPr lang="zh-CN" altLang="en-US" sz="1600"/>
                <a:t>          </a:t>
              </a:r>
              <a:r>
                <a:rPr lang="en-US" altLang="zh-CN" sz="1600">
                  <a:highlight>
                    <a:srgbClr val="FFFF00"/>
                  </a:highlight>
                </a:rPr>
                <a:t>SRV</a:t>
              </a:r>
              <a:r>
                <a:rPr lang="zh-CN" altLang="en-US" sz="1600">
                  <a:highlight>
                    <a:srgbClr val="FFFF00"/>
                  </a:highlight>
                </a:rPr>
                <a:t>较小</a:t>
              </a:r>
              <a:r>
                <a:rPr lang="zh-CN" altLang="en-US" sz="1600"/>
                <a:t>、呈线性延伸</a:t>
              </a:r>
              <a:r>
                <a:rPr lang="en-US" altLang="zh-CN" sz="1600"/>
                <a:t>            </a:t>
              </a:r>
              <a:r>
                <a:rPr lang="zh-CN" altLang="en-US" sz="1600">
                  <a:highlight>
                    <a:srgbClr val="FFFF00"/>
                  </a:highlight>
                </a:rPr>
                <a:t>低</a:t>
              </a:r>
              <a:r>
                <a:rPr lang="en-US" altLang="zh-CN" sz="1600">
                  <a:highlight>
                    <a:srgbClr val="FFFF00"/>
                  </a:highlight>
                </a:rPr>
                <a:t>EUR</a:t>
              </a:r>
              <a:endParaRPr lang="zh-CN" altLang="en-US" sz="3200" dirty="0">
                <a:solidFill>
                  <a:srgbClr val="0000FF"/>
                </a:solidFill>
                <a:latin typeface="方正大黑简体" panose="02000000000000000000" pitchFamily="65" charset="-122"/>
                <a:ea typeface="方正大黑简体" panose="02000000000000000000" pitchFamily="65" charset="-122"/>
              </a:endParaRPr>
            </a:p>
          </p:txBody>
        </p:sp>
        <p:sp>
          <p:nvSpPr>
            <p:cNvPr id="22" name="箭头: 右 21"/>
            <p:cNvSpPr/>
            <p:nvPr>
              <p:custDataLst>
                <p:tags r:id="rId13"/>
              </p:custDataLst>
            </p:nvPr>
          </p:nvSpPr>
          <p:spPr>
            <a:xfrm>
              <a:off x="11129" y="9350"/>
              <a:ext cx="818" cy="491"/>
            </a:xfrm>
            <a:prstGeom prst="rightArrow">
              <a:avLst/>
            </a:prstGeom>
            <a:solidFill>
              <a:srgbClr val="0070C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23" name="箭头: 右 22"/>
            <p:cNvSpPr/>
            <p:nvPr>
              <p:custDataLst>
                <p:tags r:id="rId14"/>
              </p:custDataLst>
            </p:nvPr>
          </p:nvSpPr>
          <p:spPr>
            <a:xfrm>
              <a:off x="9784" y="9740"/>
              <a:ext cx="819" cy="491"/>
            </a:xfrm>
            <a:prstGeom prst="rightArrow">
              <a:avLst/>
            </a:prstGeom>
            <a:solidFill>
              <a:srgbClr val="0070C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5" name="矩形 4"/>
            <p:cNvSpPr/>
            <p:nvPr>
              <p:custDataLst>
                <p:tags r:id="rId15"/>
              </p:custDataLst>
            </p:nvPr>
          </p:nvSpPr>
          <p:spPr>
            <a:xfrm>
              <a:off x="462" y="2746"/>
              <a:ext cx="18276" cy="6525"/>
            </a:xfrm>
            <a:prstGeom prst="rect">
              <a:avLst/>
            </a:prstGeom>
            <a:noFill/>
            <a:ln w="19050">
              <a:solidFill>
                <a:srgbClr val="002060"/>
              </a:solidFill>
              <a:prstDash val="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6" name="箭头: 右 21"/>
            <p:cNvSpPr/>
            <p:nvPr>
              <p:custDataLst>
                <p:tags r:id="rId16"/>
              </p:custDataLst>
            </p:nvPr>
          </p:nvSpPr>
          <p:spPr>
            <a:xfrm>
              <a:off x="15719" y="9350"/>
              <a:ext cx="818" cy="491"/>
            </a:xfrm>
            <a:prstGeom prst="rightArrow">
              <a:avLst/>
            </a:prstGeom>
            <a:solidFill>
              <a:srgbClr val="0070C0"/>
            </a:solidFill>
          </p:spPr>
          <p:txBody>
            <a:bodyPr rot="0" spcFirstLastPara="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7" name="箭头: 右 21"/>
            <p:cNvSpPr/>
            <p:nvPr>
              <p:custDataLst>
                <p:tags r:id="rId17"/>
              </p:custDataLst>
            </p:nvPr>
          </p:nvSpPr>
          <p:spPr>
            <a:xfrm>
              <a:off x="13970" y="9740"/>
              <a:ext cx="818" cy="491"/>
            </a:xfrm>
            <a:prstGeom prst="rightArrow">
              <a:avLst/>
            </a:prstGeom>
            <a:solidFill>
              <a:srgbClr val="0070C0"/>
            </a:solidFill>
          </p:spPr>
          <p:txBody>
            <a:bodyPr rot="0" spcFirstLastPara="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grpSp>
      <p:sp>
        <p:nvSpPr>
          <p:cNvPr id="13"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 name="矩形 1"/>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8、</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SRV</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EUR</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地质主控因素分析</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最小水平主应力（负相关）</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27025" y="1301115"/>
            <a:ext cx="11571605" cy="588645"/>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altLang="en-US" sz="1600" i="0">
                <a:solidFill>
                  <a:srgbClr val="0F1115"/>
                </a:solidFill>
                <a:effectLst/>
                <a:latin typeface="微软雅黑" panose="020B0503020204020204" pitchFamily="34" charset="-122"/>
                <a:ea typeface="微软雅黑" panose="020B0503020204020204" pitchFamily="34" charset="-122"/>
              </a:rPr>
              <a:t>停泵压力</a:t>
            </a:r>
            <a:r>
              <a:rPr lang="zh-CN" altLang="en-US" sz="1600" b="1" i="0">
                <a:solidFill>
                  <a:srgbClr val="0F1115"/>
                </a:solidFill>
                <a:effectLst/>
                <a:latin typeface="微软雅黑" panose="020B0503020204020204" pitchFamily="34" charset="-122"/>
                <a:ea typeface="微软雅黑" panose="020B0503020204020204" pitchFamily="34" charset="-122"/>
              </a:rPr>
              <a:t>：</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指在停泵和关井后，裂缝的压力。</a:t>
            </a:r>
            <a:r>
              <a:rPr lang="en-US" alt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停泵压力越高</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越有利于</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增加</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bwMode="auto">
          <a:xfrm>
            <a:off x="579667" y="1623039"/>
            <a:ext cx="11285308" cy="787523"/>
          </a:xfrm>
          <a:prstGeom prst="rect">
            <a:avLst/>
          </a:prstGeom>
          <a:noFill/>
          <a:ln>
            <a:noFill/>
          </a:ln>
        </p:spPr>
        <p:txBody>
          <a:bodyPr wrap="square" rtlCol="0">
            <a:spAutoFit/>
          </a:bodyPr>
          <a:lstStyle/>
          <a:p>
            <a:pPr marL="0" indent="0">
              <a:lnSpc>
                <a:spcPct val="150000"/>
              </a:lnSpc>
              <a:buClr>
                <a:srgbClr val="FF0000"/>
              </a:buClr>
            </a:pPr>
            <a:r>
              <a:rPr lang="zh-CN" altLang="en-US" sz="1600">
                <a:effectLst/>
                <a:latin typeface="微软雅黑" panose="020B0503020204020204" pitchFamily="34" charset="-122"/>
                <a:ea typeface="微软雅黑" panose="020B0503020204020204" pitchFamily="34" charset="-122"/>
                <a:cs typeface="Times New Roman" panose="02020603050405020304" pitchFamily="18" charset="0"/>
              </a:rPr>
              <a:t>机制：</a:t>
            </a: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高停泵压力能够</a:t>
            </a:r>
            <a:r>
              <a:rPr lang="zh-CN" altLang="zh-CN" sz="1600">
                <a:effectLst/>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提供远场延伸所需的能量</a:t>
            </a: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，代表持续延伸能力，停泵压力越高，裂缝在施工结束后仍能依靠</a:t>
            </a:r>
            <a:r>
              <a:rPr lang="zh-CN" altLang="zh-CN" sz="1600">
                <a:effectLst/>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残余能量</a:t>
            </a: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持续扩展，从而增大</a:t>
            </a:r>
            <a:r>
              <a:rPr lang="zh-CN" altLang="en-US" sz="1600">
                <a:effectLst/>
                <a:latin typeface="微软雅黑" panose="020B0503020204020204" pitchFamily="34" charset="-122"/>
                <a:ea typeface="微软雅黑" panose="020B0503020204020204" pitchFamily="34" charset="-122"/>
                <a:cs typeface="Times New Roman" panose="02020603050405020304" pitchFamily="18" charset="0"/>
              </a:rPr>
              <a:t>压裂改造效果</a:t>
            </a:r>
            <a:r>
              <a:rPr lang="zh-CN" altLang="en-US" sz="160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4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4" name="图片 23" descr="图形用户界面&#10;&#10;AI 生成的内容可能不正确。"/>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51206" y="2100498"/>
            <a:ext cx="7047422" cy="4677635"/>
          </a:xfrm>
          <a:prstGeom prst="rect">
            <a:avLst/>
          </a:prstGeom>
        </p:spPr>
      </p:pic>
      <p:grpSp>
        <p:nvGrpSpPr>
          <p:cNvPr id="45" name="组合 44"/>
          <p:cNvGrpSpPr/>
          <p:nvPr/>
        </p:nvGrpSpPr>
        <p:grpSpPr>
          <a:xfrm>
            <a:off x="6207760" y="2254323"/>
            <a:ext cx="4869411" cy="3030611"/>
            <a:chOff x="6207760" y="2254323"/>
            <a:chExt cx="4869411" cy="3030611"/>
          </a:xfrm>
        </p:grpSpPr>
        <p:sp>
          <p:nvSpPr>
            <p:cNvPr id="25" name="文本框 24"/>
            <p:cNvSpPr txBox="1"/>
            <p:nvPr/>
          </p:nvSpPr>
          <p:spPr>
            <a:xfrm>
              <a:off x="6283960" y="2292589"/>
              <a:ext cx="1254760" cy="487680"/>
            </a:xfrm>
            <a:prstGeom prst="rect">
              <a:avLst/>
            </a:prstGeom>
            <a:noFill/>
            <a:ln>
              <a:noFill/>
            </a:ln>
          </p:spPr>
          <p:txBody>
            <a:bodyPr wrap="square"/>
            <a:lstStyle/>
            <a:p>
              <a:pPr marL="0" indent="0">
                <a:lnSpc>
                  <a:spcPct val="150000"/>
                </a:lnSpc>
                <a:buClr>
                  <a:srgbClr val="FF0000"/>
                </a:buClr>
              </a:pPr>
              <a:r>
                <a:rPr lang="zh-CN" altLang="en-US">
                  <a:solidFill>
                    <a:srgbClr val="0000FF"/>
                  </a:solidFill>
                  <a:highlight>
                    <a:srgbClr val="FFFF00"/>
                  </a:highlight>
                  <a:latin typeface="Times New Roman" panose="02020603050405020304" pitchFamily="18" charset="0"/>
                  <a:ea typeface="方正大黑简体" panose="02000000000000000000" pitchFamily="65" charset="-122"/>
                  <a:cs typeface="Times New Roman" panose="02020603050405020304" pitchFamily="18" charset="0"/>
                </a:rPr>
                <a:t>紫色</a:t>
              </a:r>
              <a:endParaRPr lang="en-US" altLang="zh-CN" dirty="0">
                <a:solidFill>
                  <a:srgbClr val="0000FF"/>
                </a:solidFill>
                <a:highlight>
                  <a:srgbClr val="FFFF00"/>
                </a:highlight>
                <a:latin typeface="Times New Roman" panose="02020603050405020304" pitchFamily="18" charset="0"/>
                <a:ea typeface="方正大黑简体" panose="02000000000000000000" pitchFamily="65" charset="-122"/>
                <a:cs typeface="Times New Roman" panose="02020603050405020304" pitchFamily="18" charset="0"/>
              </a:endParaRPr>
            </a:p>
          </p:txBody>
        </p:sp>
        <p:sp>
          <p:nvSpPr>
            <p:cNvPr id="27" name="文本框 26"/>
            <p:cNvSpPr txBox="1"/>
            <p:nvPr/>
          </p:nvSpPr>
          <p:spPr>
            <a:xfrm>
              <a:off x="9453187" y="2254323"/>
              <a:ext cx="1468452" cy="487680"/>
            </a:xfrm>
            <a:prstGeom prst="rect">
              <a:avLst/>
            </a:prstGeom>
            <a:noFill/>
            <a:ln>
              <a:noFill/>
            </a:ln>
          </p:spPr>
          <p:txBody>
            <a:bodyPr wrap="square"/>
            <a:lstStyle/>
            <a:p>
              <a:pPr marL="0" indent="0">
                <a:lnSpc>
                  <a:spcPct val="150000"/>
                </a:lnSpc>
                <a:buClr>
                  <a:srgbClr val="FF0000"/>
                </a:buClr>
              </a:pPr>
              <a:r>
                <a:rPr lang="zh-CN" altLang="en-US">
                  <a:solidFill>
                    <a:srgbClr val="0000FF"/>
                  </a:solidFill>
                  <a:highlight>
                    <a:srgbClr val="FFFF00"/>
                  </a:highlight>
                  <a:latin typeface="Times New Roman" panose="02020603050405020304" pitchFamily="18" charset="0"/>
                  <a:ea typeface="方正大黑简体" panose="02000000000000000000" pitchFamily="65" charset="-122"/>
                  <a:cs typeface="Times New Roman" panose="02020603050405020304" pitchFamily="18" charset="0"/>
                </a:rPr>
                <a:t>蓝色、青色</a:t>
              </a:r>
              <a:endParaRPr lang="en-US" altLang="zh-CN" dirty="0">
                <a:solidFill>
                  <a:srgbClr val="0000FF"/>
                </a:solidFill>
                <a:highlight>
                  <a:srgbClr val="FFFF00"/>
                </a:highlight>
                <a:latin typeface="Times New Roman" panose="02020603050405020304" pitchFamily="18" charset="0"/>
                <a:ea typeface="方正大黑简体" panose="02000000000000000000" pitchFamily="65" charset="-122"/>
                <a:cs typeface="Times New Roman" panose="02020603050405020304" pitchFamily="18" charset="0"/>
              </a:endParaRPr>
            </a:p>
          </p:txBody>
        </p:sp>
        <p:sp>
          <p:nvSpPr>
            <p:cNvPr id="28" name="文本框 27"/>
            <p:cNvSpPr txBox="1"/>
            <p:nvPr/>
          </p:nvSpPr>
          <p:spPr>
            <a:xfrm>
              <a:off x="6207760" y="4578414"/>
              <a:ext cx="1254760" cy="487680"/>
            </a:xfrm>
            <a:prstGeom prst="rect">
              <a:avLst/>
            </a:prstGeom>
            <a:noFill/>
            <a:ln>
              <a:noFill/>
            </a:ln>
          </p:spPr>
          <p:txBody>
            <a:bodyPr wrap="square"/>
            <a:lstStyle/>
            <a:p>
              <a:pPr marL="0" indent="0">
                <a:lnSpc>
                  <a:spcPct val="150000"/>
                </a:lnSpc>
                <a:buClr>
                  <a:srgbClr val="FF0000"/>
                </a:buClr>
              </a:pPr>
              <a:r>
                <a:rPr lang="zh-CN" altLang="en-US">
                  <a:solidFill>
                    <a:srgbClr val="0000FF"/>
                  </a:solidFill>
                  <a:highlight>
                    <a:srgbClr val="FFFF00"/>
                  </a:highlight>
                  <a:latin typeface="Times New Roman" panose="02020603050405020304" pitchFamily="18" charset="0"/>
                  <a:ea typeface="方正大黑简体" panose="02000000000000000000" pitchFamily="65" charset="-122"/>
                  <a:cs typeface="Times New Roman" panose="02020603050405020304" pitchFamily="18" charset="0"/>
                </a:rPr>
                <a:t>绿色</a:t>
              </a:r>
              <a:endParaRPr lang="en-US" altLang="zh-CN" dirty="0">
                <a:solidFill>
                  <a:srgbClr val="0000FF"/>
                </a:solidFill>
                <a:highlight>
                  <a:srgbClr val="FFFF00"/>
                </a:highlight>
                <a:latin typeface="Times New Roman" panose="02020603050405020304" pitchFamily="18" charset="0"/>
                <a:ea typeface="方正大黑简体" panose="02000000000000000000" pitchFamily="65" charset="-122"/>
                <a:cs typeface="Times New Roman" panose="02020603050405020304" pitchFamily="18" charset="0"/>
              </a:endParaRPr>
            </a:p>
          </p:txBody>
        </p:sp>
        <p:sp>
          <p:nvSpPr>
            <p:cNvPr id="29" name="文本框 24"/>
            <p:cNvSpPr txBox="1"/>
            <p:nvPr/>
          </p:nvSpPr>
          <p:spPr>
            <a:xfrm>
              <a:off x="9822411" y="4598328"/>
              <a:ext cx="1254760" cy="487680"/>
            </a:xfrm>
            <a:prstGeom prst="rect">
              <a:avLst/>
            </a:prstGeom>
            <a:noFill/>
            <a:ln>
              <a:noFill/>
            </a:ln>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50000"/>
                </a:lnSpc>
                <a:buClr>
                  <a:srgbClr val="FF0000"/>
                </a:buClr>
              </a:pPr>
              <a:r>
                <a:rPr lang="zh-CN" altLang="en-US">
                  <a:solidFill>
                    <a:srgbClr val="0000FF"/>
                  </a:solidFill>
                  <a:highlight>
                    <a:srgbClr val="FFFF00"/>
                  </a:highlight>
                  <a:latin typeface="Times New Roman" panose="02020603050405020304" pitchFamily="18" charset="0"/>
                  <a:ea typeface="方正大黑简体" panose="02000000000000000000" pitchFamily="65" charset="-122"/>
                  <a:cs typeface="Times New Roman" panose="02020603050405020304" pitchFamily="18" charset="0"/>
                </a:rPr>
                <a:t>红色</a:t>
              </a:r>
              <a:endParaRPr lang="en-US" altLang="zh-CN" dirty="0">
                <a:solidFill>
                  <a:srgbClr val="0000FF"/>
                </a:solidFill>
                <a:highlight>
                  <a:srgbClr val="FFFF00"/>
                </a:highlight>
                <a:latin typeface="Times New Roman" panose="02020603050405020304" pitchFamily="18" charset="0"/>
                <a:ea typeface="方正大黑简体" panose="02000000000000000000" pitchFamily="65" charset="-122"/>
                <a:cs typeface="Times New Roman" panose="02020603050405020304" pitchFamily="18" charset="0"/>
              </a:endParaRPr>
            </a:p>
          </p:txBody>
        </p:sp>
        <p:cxnSp>
          <p:nvCxnSpPr>
            <p:cNvPr id="31" name="直接箭头连接符 30"/>
            <p:cNvCxnSpPr/>
            <p:nvPr/>
          </p:nvCxnSpPr>
          <p:spPr bwMode="auto">
            <a:xfrm>
              <a:off x="10153263" y="5030883"/>
              <a:ext cx="889758" cy="254051"/>
            </a:xfrm>
            <a:prstGeom prst="straightConnector1">
              <a:avLst/>
            </a:prstGeom>
            <a:solidFill>
              <a:schemeClr val="accent1"/>
            </a:solidFill>
            <a:ln w="15875" cap="flat" cmpd="sng" algn="ctr">
              <a:solidFill>
                <a:srgbClr val="FF000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2" name="直接箭头连接符 31"/>
            <p:cNvCxnSpPr/>
            <p:nvPr/>
          </p:nvCxnSpPr>
          <p:spPr bwMode="auto">
            <a:xfrm>
              <a:off x="6825969" y="4822254"/>
              <a:ext cx="712751" cy="220961"/>
            </a:xfrm>
            <a:prstGeom prst="straightConnector1">
              <a:avLst/>
            </a:prstGeom>
            <a:solidFill>
              <a:schemeClr val="accent1"/>
            </a:solidFill>
            <a:ln w="15875" cap="flat" cmpd="sng" algn="ctr">
              <a:solidFill>
                <a:srgbClr val="92D05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4" name="直接箭头连接符 33"/>
            <p:cNvCxnSpPr/>
            <p:nvPr/>
          </p:nvCxnSpPr>
          <p:spPr bwMode="auto">
            <a:xfrm>
              <a:off x="10676159" y="2453201"/>
              <a:ext cx="366862" cy="125210"/>
            </a:xfrm>
            <a:prstGeom prst="straightConnector1">
              <a:avLst/>
            </a:prstGeom>
            <a:solidFill>
              <a:schemeClr val="accent1"/>
            </a:solidFill>
            <a:ln w="15875" cap="flat" cmpd="sng" algn="ctr">
              <a:solidFill>
                <a:srgbClr val="0000FF"/>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6" name="直接箭头连接符 35"/>
            <p:cNvCxnSpPr/>
            <p:nvPr/>
          </p:nvCxnSpPr>
          <p:spPr bwMode="auto">
            <a:xfrm>
              <a:off x="10676159" y="2592069"/>
              <a:ext cx="401012" cy="225647"/>
            </a:xfrm>
            <a:prstGeom prst="straightConnector1">
              <a:avLst/>
            </a:prstGeom>
            <a:solidFill>
              <a:schemeClr val="accent1"/>
            </a:solidFill>
            <a:ln w="15875" cap="flat" cmpd="sng" algn="ctr">
              <a:solidFill>
                <a:srgbClr val="00FFC5"/>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43" name="直接箭头连接符 42"/>
            <p:cNvCxnSpPr/>
            <p:nvPr/>
          </p:nvCxnSpPr>
          <p:spPr bwMode="auto">
            <a:xfrm>
              <a:off x="6835140" y="2578411"/>
              <a:ext cx="681809" cy="201858"/>
            </a:xfrm>
            <a:prstGeom prst="straightConnector1">
              <a:avLst/>
            </a:prstGeom>
            <a:solidFill>
              <a:schemeClr val="accent1"/>
            </a:solidFill>
            <a:ln w="15875" cap="flat" cmpd="sng" algn="ctr">
              <a:solidFill>
                <a:srgbClr val="E357FD"/>
              </a:solidFill>
              <a:prstDash val="solid"/>
              <a:round/>
              <a:headEnd type="none" w="med" len="med"/>
              <a:tailEnd type="triangle"/>
            </a:ln>
            <a:effectLst>
              <a:outerShdw dist="17961" dir="2700000" algn="ctr" rotWithShape="0">
                <a:schemeClr val="tx1">
                  <a:gamma/>
                  <a:shade val="60000"/>
                  <a:invGamma/>
                  <a:alpha val="50000"/>
                </a:schemeClr>
              </a:outerShdw>
            </a:effectLst>
          </p:spPr>
        </p:cxnSp>
      </p:grpSp>
      <p:sp>
        <p:nvSpPr>
          <p:cNvPr id="47" name="文本框 46"/>
          <p:cNvSpPr txBox="1"/>
          <p:nvPr/>
        </p:nvSpPr>
        <p:spPr bwMode="auto">
          <a:xfrm>
            <a:off x="368864" y="3178074"/>
            <a:ext cx="4482341" cy="1077218"/>
          </a:xfrm>
          <a:prstGeom prst="rect">
            <a:avLst/>
          </a:prstGeom>
          <a:noFill/>
          <a:ln>
            <a:noFill/>
          </a:ln>
        </p:spPr>
        <p:txBody>
          <a:bodyPr wrap="square">
            <a:spAutoFit/>
          </a:bodyPr>
          <a:lstStyle/>
          <a:p>
            <a:pPr marL="285750" indent="-285750">
              <a:buFont typeface="Wingdings" panose="05000000000000000000" pitchFamily="2" charset="2"/>
              <a:buChar char="l"/>
            </a:pPr>
            <a:r>
              <a:rPr lang="en-US" altLang="zh-CN" sz="1600">
                <a:effectLst/>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图</a:t>
            </a:r>
            <a:r>
              <a:rPr lang="zh-CN" altLang="zh-CN" sz="1600" b="1">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停泵后</a:t>
            </a: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仍监测到</a:t>
            </a:r>
            <a:r>
              <a:rPr lang="zh-CN" altLang="zh-CN" sz="160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部分微地震响应事件</a:t>
            </a: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（红色球状），代表</a:t>
            </a:r>
            <a:r>
              <a:rPr lang="zh-CN" altLang="zh-CN" sz="160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微地震晚期事件</a:t>
            </a: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，由于该时间信号为非压裂产生，判断为</a:t>
            </a:r>
            <a:r>
              <a:rPr lang="zh-CN" altLang="zh-CN" sz="160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残余应力释放后天然裂缝被激活</a:t>
            </a: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所产生</a:t>
            </a:r>
            <a:r>
              <a:rPr lang="zh-CN" altLang="en-US" sz="160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a:latin typeface="微软雅黑" panose="020B0503020204020204" pitchFamily="34" charset="-122"/>
              <a:ea typeface="微软雅黑" panose="020B0503020204020204" pitchFamily="34" charset="-122"/>
            </a:endParaRPr>
          </a:p>
        </p:txBody>
      </p:sp>
      <p:sp>
        <p:nvSpPr>
          <p:cNvPr id="49" name="文本框 48"/>
          <p:cNvSpPr txBox="1"/>
          <p:nvPr/>
        </p:nvSpPr>
        <p:spPr bwMode="auto">
          <a:xfrm>
            <a:off x="170130" y="2327333"/>
            <a:ext cx="4681075" cy="787523"/>
          </a:xfrm>
          <a:prstGeom prst="rect">
            <a:avLst/>
          </a:prstGeom>
          <a:noFill/>
          <a:ln>
            <a:noFill/>
          </a:ln>
        </p:spPr>
        <p:txBody>
          <a:bodyPr wrap="square" rtlCol="0">
            <a:spAutoFit/>
          </a:bodyPr>
          <a:lstStyle/>
          <a:p>
            <a:pPr marL="0" indent="0">
              <a:lnSpc>
                <a:spcPct val="150000"/>
              </a:lnSpc>
              <a:buClr>
                <a:srgbClr val="FF0000"/>
              </a:buClr>
            </a:pP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1600">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600">
                <a:effectLst/>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四图分别代表压裂时间</a:t>
            </a:r>
            <a:r>
              <a:rPr lang="zh-CN" altLang="zh-CN" sz="160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最早到最晚</a:t>
            </a:r>
            <a:r>
              <a:rPr lang="zh-CN" altLang="zh-CN" sz="1600">
                <a:effectLst/>
                <a:latin typeface="微软雅黑" panose="020B0503020204020204" pitchFamily="34" charset="-122"/>
                <a:ea typeface="微软雅黑" panose="020B0503020204020204" pitchFamily="34" charset="-122"/>
                <a:cs typeface="Times New Roman" panose="02020603050405020304" pitchFamily="18" charset="0"/>
              </a:rPr>
              <a:t>，依次出现</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nvGrpSpPr>
          <p:cNvPr id="57" name="组合 56"/>
          <p:cNvGrpSpPr/>
          <p:nvPr/>
        </p:nvGrpSpPr>
        <p:grpSpPr>
          <a:xfrm>
            <a:off x="836542" y="2696665"/>
            <a:ext cx="4565843" cy="418191"/>
            <a:chOff x="1190270" y="2709316"/>
            <a:chExt cx="4565843" cy="418191"/>
          </a:xfrm>
        </p:grpSpPr>
        <p:sp>
          <p:nvSpPr>
            <p:cNvPr id="50" name="文本框 49"/>
            <p:cNvSpPr txBox="1"/>
            <p:nvPr/>
          </p:nvSpPr>
          <p:spPr bwMode="auto">
            <a:xfrm>
              <a:off x="1190270" y="2709316"/>
              <a:ext cx="4565843" cy="418191"/>
            </a:xfrm>
            <a:prstGeom prst="rect">
              <a:avLst/>
            </a:prstGeom>
            <a:noFill/>
            <a:ln>
              <a:noFill/>
            </a:ln>
          </p:spPr>
          <p:txBody>
            <a:bodyPr wrap="square" rtlCol="0">
              <a:spAutoFit/>
            </a:bodyPr>
            <a:lstStyle/>
            <a:p>
              <a:pPr marL="0" indent="0">
                <a:lnSpc>
                  <a:spcPct val="150000"/>
                </a:lnSpc>
                <a:buClr>
                  <a:srgbClr val="FF0000"/>
                </a:buClr>
              </a:pPr>
              <a:r>
                <a:rPr lang="zh-CN" altLang="en-US" sz="1600">
                  <a:latin typeface="微软雅黑" panose="020B0503020204020204" pitchFamily="34" charset="-122"/>
                  <a:ea typeface="微软雅黑" panose="020B0503020204020204" pitchFamily="34" charset="-122"/>
                </a:rPr>
                <a:t>紫色    蓝色    青色    绿色    红色微震事件。</a:t>
              </a:r>
              <a:endParaRPr lang="zh-CN" altLang="en-US" sz="1600" dirty="0">
                <a:latin typeface="微软雅黑" panose="020B0503020204020204" pitchFamily="34" charset="-122"/>
                <a:ea typeface="微软雅黑" panose="020B0503020204020204" pitchFamily="34" charset="-122"/>
              </a:endParaRPr>
            </a:p>
          </p:txBody>
        </p:sp>
        <p:sp>
          <p:nvSpPr>
            <p:cNvPr id="51" name="箭头: 右 50"/>
            <p:cNvSpPr/>
            <p:nvPr/>
          </p:nvSpPr>
          <p:spPr>
            <a:xfrm>
              <a:off x="1679266" y="2870456"/>
              <a:ext cx="228600" cy="176714"/>
            </a:xfrm>
            <a:prstGeom prst="rightArrow">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52" name="箭头: 右 51"/>
            <p:cNvSpPr/>
            <p:nvPr/>
          </p:nvSpPr>
          <p:spPr>
            <a:xfrm>
              <a:off x="2362319" y="2865852"/>
              <a:ext cx="228600" cy="176714"/>
            </a:xfrm>
            <a:prstGeom prst="rightArrow">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55" name="箭头: 右 54"/>
            <p:cNvSpPr/>
            <p:nvPr/>
          </p:nvSpPr>
          <p:spPr>
            <a:xfrm>
              <a:off x="2999589" y="2868980"/>
              <a:ext cx="228600" cy="176714"/>
            </a:xfrm>
            <a:prstGeom prst="rightArrow">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56" name="箭头: 右 55"/>
            <p:cNvSpPr/>
            <p:nvPr/>
          </p:nvSpPr>
          <p:spPr>
            <a:xfrm>
              <a:off x="3644542" y="2873966"/>
              <a:ext cx="228600" cy="176714"/>
            </a:xfrm>
            <a:prstGeom prst="rightArrow">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grpSp>
      <p:graphicFrame>
        <p:nvGraphicFramePr>
          <p:cNvPr id="59" name="表格 58"/>
          <p:cNvGraphicFramePr>
            <a:graphicFrameLocks noGrp="1"/>
          </p:cNvGraphicFramePr>
          <p:nvPr/>
        </p:nvGraphicFramePr>
        <p:xfrm>
          <a:off x="170130" y="4636602"/>
          <a:ext cx="4604876" cy="1760220"/>
        </p:xfrm>
        <a:graphic>
          <a:graphicData uri="http://schemas.openxmlformats.org/drawingml/2006/table">
            <a:tbl>
              <a:tblPr/>
              <a:tblGrid>
                <a:gridCol w="1170297"/>
                <a:gridCol w="1290243"/>
                <a:gridCol w="1074073"/>
                <a:gridCol w="1070263"/>
              </a:tblGrid>
              <a:tr h="698500">
                <a:tc>
                  <a:txBody>
                    <a:bodyPr/>
                    <a:lstStyle/>
                    <a:p>
                      <a:pPr algn="ctr" fontAlgn="ctr"/>
                      <a:r>
                        <a:rPr lang="zh-CN" alt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停泵压力</a:t>
                      </a:r>
                      <a:r>
                        <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MPa)</a:t>
                      </a:r>
                      <a:endPar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EUR</a:t>
                      </a:r>
                      <a:b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b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en-US" sz="1600" b="0" i="0" u="none" strike="noStrike"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8</a:t>
                      </a: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a:t>
                      </a:r>
                      <a:r>
                        <a:rPr lang="en-US" sz="1600" b="0" i="0" u="none" strike="noStrike"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SRV</a:t>
                      </a:r>
                      <a:b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b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en-US" sz="1600" b="0" i="0" u="none" strike="noStrike"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a:t>
                      </a:r>
                      <a:r>
                        <a:rPr lang="en-US" sz="1600" b="0" i="0" u="none" strike="noStrike" baseline="300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41300">
                <a:tc rowSpan="2">
                  <a:txBody>
                    <a:bodyPr/>
                    <a:lstStyle/>
                    <a:p>
                      <a:pPr algn="ctr" fontAlgn="ctr"/>
                      <a:r>
                        <a:rPr lang="zh-CN" altLang="en-US" sz="1600" b="1"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67.6</a:t>
                      </a:r>
                      <a:endParaRPr lang="en-US" altLang="zh-CN" sz="1600" b="1"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fontAlgn="ctr"/>
                      <a:r>
                        <a:rPr lang="zh-CN" alt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均值</a:t>
                      </a: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MEAN</a:t>
                      </a:r>
                      <a:endPar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fontAlgn="ctr"/>
                      <a:r>
                        <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0.96 </a:t>
                      </a:r>
                      <a:endPar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fontAlgn="ctr"/>
                      <a:r>
                        <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259.93 </a:t>
                      </a:r>
                      <a:endPar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noFill/>
                  </a:tcPr>
                </a:tc>
              </a:tr>
              <a:tr h="279400">
                <a:tc vMerge="1">
                  <a:tcPr/>
                </a:tc>
                <a:tc>
                  <a:txBody>
                    <a:bodyPr/>
                    <a:lstStyle/>
                    <a:p>
                      <a:pPr algn="ctr" fontAlgn="ctr"/>
                      <a:r>
                        <a:rPr lang="zh-CN" alt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最大值</a:t>
                      </a: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MAX</a:t>
                      </a:r>
                      <a:endPar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a:noFill/>
                    </a:lnT>
                    <a:lnB>
                      <a:noFill/>
                    </a:lnB>
                    <a:noFill/>
                  </a:tcPr>
                </a:tc>
                <a:tc>
                  <a:txBody>
                    <a:bodyPr/>
                    <a:lstStyle/>
                    <a:p>
                      <a:pPr algn="ctr" fontAlgn="ctr"/>
                      <a:r>
                        <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1.27 </a:t>
                      </a:r>
                      <a:endPar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a:noFill/>
                    </a:lnT>
                    <a:lnB>
                      <a:noFill/>
                    </a:lnB>
                    <a:noFill/>
                  </a:tcPr>
                </a:tc>
                <a:tc>
                  <a:txBody>
                    <a:bodyPr/>
                    <a:lstStyle/>
                    <a:p>
                      <a:pPr algn="ctr" fontAlgn="ctr"/>
                      <a:r>
                        <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422.80 </a:t>
                      </a:r>
                      <a:endPar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a:noFill/>
                    </a:lnT>
                    <a:lnB>
                      <a:noFill/>
                    </a:lnB>
                    <a:noFill/>
                  </a:tcPr>
                </a:tc>
              </a:tr>
              <a:tr h="279400">
                <a:tc rowSpan="2">
                  <a:txBody>
                    <a:bodyPr/>
                    <a:lstStyle/>
                    <a:p>
                      <a:pPr algn="ctr" fontAlgn="ctr"/>
                      <a:r>
                        <a:rPr lang="zh-CN" altLang="en-US" sz="1600" b="1"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67.6</a:t>
                      </a:r>
                      <a:endParaRPr lang="en-US" altLang="zh-CN" sz="1600" b="1"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zh-CN" alt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均值</a:t>
                      </a: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MEAN</a:t>
                      </a:r>
                      <a:endPar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a:noFill/>
                    </a:lnT>
                    <a:lnB>
                      <a:noFill/>
                    </a:lnB>
                    <a:noFill/>
                  </a:tcPr>
                </a:tc>
                <a:tc>
                  <a:txBody>
                    <a:bodyPr/>
                    <a:lstStyle/>
                    <a:p>
                      <a:pPr algn="ctr" fontAlgn="ctr"/>
                      <a:r>
                        <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1.29 </a:t>
                      </a:r>
                      <a:endPar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a:noFill/>
                    </a:lnT>
                    <a:lnB>
                      <a:noFill/>
                    </a:lnB>
                    <a:noFill/>
                  </a:tcPr>
                </a:tc>
                <a:tc>
                  <a:txBody>
                    <a:bodyPr/>
                    <a:lstStyle/>
                    <a:p>
                      <a:pPr algn="ctr" fontAlgn="ctr"/>
                      <a:r>
                        <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297.94 </a:t>
                      </a:r>
                      <a:endPar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a:noFill/>
                    </a:lnT>
                    <a:lnB>
                      <a:noFill/>
                    </a:lnB>
                    <a:noFill/>
                  </a:tcPr>
                </a:tc>
              </a:tr>
              <a:tr h="192405">
                <a:tc vMerge="1">
                  <a:tcPr/>
                </a:tc>
                <a:tc>
                  <a:txBody>
                    <a:bodyPr/>
                    <a:lstStyle/>
                    <a:p>
                      <a:pPr algn="ctr" fontAlgn="ctr"/>
                      <a:r>
                        <a:rPr lang="zh-CN" alt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最大值</a:t>
                      </a:r>
                      <a:r>
                        <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MAX</a:t>
                      </a:r>
                      <a:endParaRPr lang="en-US"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1.41</a:t>
                      </a:r>
                      <a:endPar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562.50 </a:t>
                      </a:r>
                      <a:endParaRPr lang="en-US" altLang="zh-CN" sz="1600" b="0" i="0" u="none" strike="noStrike">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noFill/>
                  </a:tcPr>
                </a:tc>
              </a:tr>
            </a:tbl>
          </a:graphicData>
        </a:graphic>
      </p:graphicFrame>
      <p:sp>
        <p:nvSpPr>
          <p:cNvPr id="60" name="文本框 59"/>
          <p:cNvSpPr txBox="1"/>
          <p:nvPr>
            <p:custDataLst>
              <p:tags r:id="rId2"/>
            </p:custDataLst>
          </p:nvPr>
        </p:nvSpPr>
        <p:spPr>
          <a:xfrm>
            <a:off x="7462520" y="6543773"/>
            <a:ext cx="3777615" cy="276999"/>
          </a:xfrm>
          <a:prstGeom prst="rect">
            <a:avLst/>
          </a:prstGeom>
          <a:noFill/>
        </p:spPr>
        <p:txBody>
          <a:bodyPr wrap="square" rtlCol="0">
            <a:spAutoFit/>
          </a:bodyPr>
          <a:lstStyle/>
          <a:p>
            <a:r>
              <a:rPr lang="zh-CN" altLang="en-US" sz="1200" b="1">
                <a:effectLst/>
                <a:latin typeface="Times New Roman" panose="02020603050405020304" pitchFamily="18" charset="0"/>
                <a:ea typeface="宋体" panose="02010600030101010101" pitchFamily="2" charset="-122"/>
                <a:cs typeface="Times New Roman" panose="02020603050405020304" pitchFamily="18" charset="0"/>
              </a:rPr>
              <a:t>泸</a:t>
            </a:r>
            <a:r>
              <a:rPr lang="en-US" altLang="zh-CN" sz="1200" b="1">
                <a:effectLst/>
                <a:latin typeface="Times New Roman" panose="02020603050405020304" pitchFamily="18" charset="0"/>
                <a:ea typeface="宋体" panose="02010600030101010101" pitchFamily="2" charset="-122"/>
                <a:cs typeface="Times New Roman" panose="02020603050405020304" pitchFamily="18" charset="0"/>
              </a:rPr>
              <a:t>203</a:t>
            </a:r>
            <a:r>
              <a:rPr lang="zh-CN" altLang="zh-CN" sz="1200" b="1">
                <a:effectLst/>
                <a:latin typeface="Times New Roman" panose="02020603050405020304" pitchFamily="18" charset="0"/>
                <a:ea typeface="宋体" panose="02010600030101010101" pitchFamily="2" charset="-122"/>
                <a:cs typeface="Times New Roman" panose="02020603050405020304" pitchFamily="18" charset="0"/>
              </a:rPr>
              <a:t>井区</a:t>
            </a:r>
            <a:r>
              <a:rPr lang="en-US" altLang="zh-CN" sz="1200" b="1">
                <a:effectLst/>
                <a:latin typeface="Times New Roman" panose="02020603050405020304" pitchFamily="18" charset="0"/>
                <a:ea typeface="宋体" panose="02010600030101010101" pitchFamily="2" charset="-122"/>
                <a:cs typeface="Times New Roman" panose="02020603050405020304" pitchFamily="18" charset="0"/>
              </a:rPr>
              <a:t>H10</a:t>
            </a:r>
            <a:r>
              <a:rPr lang="zh-CN" altLang="zh-CN" sz="1200" b="1">
                <a:effectLst/>
                <a:latin typeface="Times New Roman" panose="02020603050405020304" pitchFamily="18" charset="0"/>
                <a:ea typeface="宋体" panose="02010600030101010101" pitchFamily="2" charset="-122"/>
                <a:cs typeface="Times New Roman" panose="02020603050405020304" pitchFamily="18" charset="0"/>
              </a:rPr>
              <a:t>平台微地震监测图</a:t>
            </a:r>
            <a:endParaRPr lang="zh-CN" altLang="en-US" sz="1000" b="1">
              <a:latin typeface="Times New Roman" panose="02020603050405020304" pitchFamily="18" charset="0"/>
              <a:ea typeface="黑体" panose="02010609060101010101" charset="-122"/>
              <a:cs typeface="Times New Roman" panose="02020603050405020304" pitchFamily="18" charset="0"/>
            </a:endParaRPr>
          </a:p>
        </p:txBody>
      </p:sp>
      <p:sp>
        <p:nvSpPr>
          <p:cNvPr id="61" name="文本框 60"/>
          <p:cNvSpPr txBox="1"/>
          <p:nvPr>
            <p:custDataLst>
              <p:tags r:id="rId3"/>
            </p:custDataLst>
          </p:nvPr>
        </p:nvSpPr>
        <p:spPr>
          <a:xfrm>
            <a:off x="-9940" y="4359603"/>
            <a:ext cx="4965015" cy="276999"/>
          </a:xfrm>
          <a:prstGeom prst="rect">
            <a:avLst/>
          </a:prstGeom>
          <a:noFill/>
        </p:spPr>
        <p:txBody>
          <a:bodyPr wrap="square" rtlCol="0">
            <a:spAutoFit/>
          </a:bodyPr>
          <a:lstStyle/>
          <a:p>
            <a:r>
              <a:rPr lang="zh-CN" altLang="en-US" sz="1200" b="1">
                <a:effectLst/>
                <a:latin typeface="Times New Roman" panose="02020603050405020304" pitchFamily="18" charset="0"/>
                <a:ea typeface="宋体" panose="02010600030101010101" pitchFamily="2" charset="-122"/>
                <a:cs typeface="Times New Roman" panose="02020603050405020304" pitchFamily="18" charset="0"/>
              </a:rPr>
              <a:t>泸</a:t>
            </a:r>
            <a:r>
              <a:rPr lang="en-US" altLang="zh-CN" sz="1200" b="1">
                <a:effectLst/>
                <a:latin typeface="Times New Roman" panose="02020603050405020304" pitchFamily="18" charset="0"/>
                <a:ea typeface="宋体" panose="02010600030101010101" pitchFamily="2" charset="-122"/>
                <a:cs typeface="Times New Roman" panose="02020603050405020304" pitchFamily="18" charset="0"/>
              </a:rPr>
              <a:t>203</a:t>
            </a:r>
            <a:r>
              <a:rPr lang="zh-CN" altLang="en-US" sz="1200" b="1">
                <a:effectLst/>
                <a:latin typeface="Times New Roman" panose="02020603050405020304" pitchFamily="18" charset="0"/>
                <a:ea typeface="宋体" panose="02010600030101010101" pitchFamily="2" charset="-122"/>
                <a:cs typeface="Times New Roman" panose="02020603050405020304" pitchFamily="18" charset="0"/>
              </a:rPr>
              <a:t>、泸</a:t>
            </a:r>
            <a:r>
              <a:rPr lang="en-US" altLang="zh-CN" sz="1200" b="1">
                <a:effectLst/>
                <a:latin typeface="Times New Roman" panose="02020603050405020304" pitchFamily="18" charset="0"/>
                <a:ea typeface="宋体" panose="02010600030101010101" pitchFamily="2" charset="-122"/>
                <a:cs typeface="Times New Roman" panose="02020603050405020304" pitchFamily="18" charset="0"/>
              </a:rPr>
              <a:t>206</a:t>
            </a:r>
            <a:r>
              <a:rPr lang="zh-CN" altLang="en-US" sz="1200" b="1">
                <a:effectLst/>
                <a:latin typeface="Times New Roman" panose="02020603050405020304" pitchFamily="18" charset="0"/>
                <a:ea typeface="宋体" panose="02010600030101010101" pitchFamily="2" charset="-122"/>
                <a:cs typeface="Times New Roman" panose="02020603050405020304" pitchFamily="18" charset="0"/>
              </a:rPr>
              <a:t>、足</a:t>
            </a:r>
            <a:r>
              <a:rPr lang="en-US" altLang="zh-CN" sz="1200" b="1">
                <a:effectLst/>
                <a:latin typeface="Times New Roman" panose="02020603050405020304" pitchFamily="18" charset="0"/>
                <a:ea typeface="宋体" panose="02010600030101010101" pitchFamily="2" charset="-122"/>
                <a:cs typeface="Times New Roman" panose="02020603050405020304" pitchFamily="18" charset="0"/>
              </a:rPr>
              <a:t>201</a:t>
            </a:r>
            <a:r>
              <a:rPr lang="zh-CN" altLang="zh-CN" sz="1200" b="1">
                <a:effectLst/>
                <a:latin typeface="Times New Roman" panose="02020603050405020304" pitchFamily="18" charset="0"/>
                <a:ea typeface="宋体" panose="02010600030101010101" pitchFamily="2" charset="-122"/>
                <a:cs typeface="Times New Roman" panose="02020603050405020304" pitchFamily="18" charset="0"/>
              </a:rPr>
              <a:t>井区</a:t>
            </a:r>
            <a:r>
              <a:rPr lang="zh-CN" altLang="en-US" sz="1200" b="1">
                <a:effectLst/>
                <a:latin typeface="Times New Roman" panose="02020603050405020304" pitchFamily="18" charset="0"/>
                <a:ea typeface="宋体" panose="02010600030101010101" pitchFamily="2" charset="-122"/>
                <a:cs typeface="Times New Roman" panose="02020603050405020304" pitchFamily="18" charset="0"/>
              </a:rPr>
              <a:t>停泵压力分组与压裂效果</a:t>
            </a:r>
            <a:r>
              <a:rPr lang="en-US" altLang="zh-CN" sz="1200" b="1">
                <a:effectLst/>
                <a:latin typeface="Times New Roman" panose="02020603050405020304" pitchFamily="18" charset="0"/>
                <a:ea typeface="宋体" panose="02010600030101010101" pitchFamily="2" charset="-122"/>
                <a:cs typeface="Times New Roman" panose="02020603050405020304" pitchFamily="18" charset="0"/>
              </a:rPr>
              <a:t>EUR</a:t>
            </a:r>
            <a:r>
              <a:rPr lang="zh-CN" altLang="en-US" sz="1200" b="1">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a:effectLst/>
                <a:latin typeface="Times New Roman" panose="02020603050405020304" pitchFamily="18" charset="0"/>
                <a:ea typeface="宋体" panose="02010600030101010101" pitchFamily="2" charset="-122"/>
                <a:cs typeface="Times New Roman" panose="02020603050405020304" pitchFamily="18" charset="0"/>
              </a:rPr>
              <a:t>SRV</a:t>
            </a:r>
            <a:r>
              <a:rPr lang="zh-CN" altLang="en-US" sz="1200" b="1">
                <a:effectLst/>
                <a:latin typeface="Times New Roman" panose="02020603050405020304" pitchFamily="18" charset="0"/>
                <a:ea typeface="宋体" panose="02010600030101010101" pitchFamily="2" charset="-122"/>
                <a:cs typeface="Times New Roman" panose="02020603050405020304" pitchFamily="18" charset="0"/>
              </a:rPr>
              <a:t>关系表</a:t>
            </a:r>
            <a:endParaRPr lang="zh-CN" altLang="en-US" sz="1000" b="1">
              <a:latin typeface="Times New Roman" panose="02020603050405020304" pitchFamily="18" charset="0"/>
              <a:ea typeface="黑体" panose="02010609060101010101" charset="-122"/>
              <a:cs typeface="Times New Roman" panose="02020603050405020304" pitchFamily="18" charset="0"/>
            </a:endParaRPr>
          </a:p>
        </p:txBody>
      </p:sp>
      <p:sp>
        <p:nvSpPr>
          <p:cNvPr id="5"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9、</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SRV</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EUR</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工程主控因素分析</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停泵压力（正相关）</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93370" y="1301115"/>
            <a:ext cx="11571605" cy="588645"/>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altLang="en-US" sz="1600" i="0">
                <a:solidFill>
                  <a:srgbClr val="0F1115"/>
                </a:solidFill>
                <a:effectLst/>
                <a:latin typeface="微软雅黑" panose="020B0503020204020204" pitchFamily="34" charset="-122"/>
                <a:ea typeface="微软雅黑" panose="020B0503020204020204" pitchFamily="34" charset="-122"/>
              </a:rPr>
              <a:t>用液强度</a:t>
            </a:r>
            <a:r>
              <a:rPr lang="zh-CN" altLang="en-US" sz="1600" b="1" i="0">
                <a:solidFill>
                  <a:srgbClr val="0F1115"/>
                </a:solidFill>
                <a:effectLst/>
                <a:latin typeface="微软雅黑" panose="020B0503020204020204" pitchFamily="34" charset="-122"/>
                <a:ea typeface="微软雅黑" panose="020B0503020204020204" pitchFamily="34" charset="-122"/>
              </a:rPr>
              <a:t>：</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用液强度指</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单位长度液量</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，直接决定单位段长输入的能量。</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用液强度越高越有利于增加裂缝改造体积</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293370" y="1714500"/>
            <a:ext cx="11814810" cy="4915893"/>
          </a:xfrm>
          <a:prstGeom prst="rect">
            <a:avLst/>
          </a:prstGeom>
          <a:noFill/>
          <a:ln w="19050">
            <a:solidFill>
              <a:srgbClr val="002060"/>
            </a:solidFill>
            <a:prstDash val="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pic>
        <p:nvPicPr>
          <p:cNvPr id="6" name="图片 5" descr="图表, 散点图&#10;&#10;AI 生成的内容可能不正确。"/>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1475" y="1856207"/>
            <a:ext cx="5755536" cy="4236618"/>
          </a:xfrm>
          <a:prstGeom prst="rect">
            <a:avLst/>
          </a:prstGeom>
        </p:spPr>
      </p:pic>
      <p:sp>
        <p:nvSpPr>
          <p:cNvPr id="8" name="文本框 7"/>
          <p:cNvSpPr txBox="1"/>
          <p:nvPr>
            <p:custDataLst>
              <p:tags r:id="rId2"/>
            </p:custDataLst>
          </p:nvPr>
        </p:nvSpPr>
        <p:spPr>
          <a:xfrm>
            <a:off x="1675863" y="6158153"/>
            <a:ext cx="3777615" cy="276999"/>
          </a:xfrm>
          <a:prstGeom prst="rect">
            <a:avLst/>
          </a:prstGeom>
          <a:noFill/>
        </p:spPr>
        <p:txBody>
          <a:bodyPr wrap="square" rtlCol="0">
            <a:spAutoFit/>
          </a:bodyPr>
          <a:lstStyle/>
          <a:p>
            <a:r>
              <a:rPr lang="zh-CN" altLang="en-US" sz="1200" b="1">
                <a:latin typeface="Times New Roman" panose="02020603050405020304" pitchFamily="18" charset="0"/>
                <a:ea typeface="黑体" panose="02010609060101010101" charset="-122"/>
                <a:cs typeface="Times New Roman" panose="02020603050405020304" pitchFamily="18" charset="0"/>
              </a:rPr>
              <a:t>不同拟合方法下</a:t>
            </a:r>
            <a:r>
              <a:rPr lang="en-US" altLang="zh-CN" sz="1200" b="1">
                <a:latin typeface="Times New Roman" panose="02020603050405020304" pitchFamily="18" charset="0"/>
                <a:ea typeface="黑体" panose="02010609060101010101" charset="-122"/>
                <a:cs typeface="Times New Roman" panose="02020603050405020304" pitchFamily="18" charset="0"/>
              </a:rPr>
              <a:t>SRV</a:t>
            </a:r>
            <a:r>
              <a:rPr lang="zh-CN" altLang="en-US" sz="1200" b="1">
                <a:latin typeface="Times New Roman" panose="02020603050405020304" pitchFamily="18" charset="0"/>
                <a:ea typeface="黑体" panose="02010609060101010101" charset="-122"/>
                <a:cs typeface="Times New Roman" panose="02020603050405020304" pitchFamily="18" charset="0"/>
              </a:rPr>
              <a:t>与用液强度的关系曲线</a:t>
            </a:r>
            <a:endParaRPr lang="zh-CN" altLang="en-US" sz="1200" b="1">
              <a:latin typeface="Times New Roman" panose="02020603050405020304" pitchFamily="18" charset="0"/>
              <a:ea typeface="黑体" panose="02010609060101010101" charset="-122"/>
              <a:cs typeface="Times New Roman" panose="02020603050405020304" pitchFamily="18" charset="0"/>
            </a:endParaRPr>
          </a:p>
        </p:txBody>
      </p:sp>
      <p:sp>
        <p:nvSpPr>
          <p:cNvPr id="63" name="文本框 62"/>
          <p:cNvSpPr txBox="1"/>
          <p:nvPr/>
        </p:nvSpPr>
        <p:spPr bwMode="auto">
          <a:xfrm>
            <a:off x="6283960" y="4525833"/>
            <a:ext cx="5614670" cy="2062103"/>
          </a:xfrm>
          <a:prstGeom prst="rect">
            <a:avLst/>
          </a:prstGeom>
          <a:noFill/>
          <a:ln>
            <a:noFill/>
          </a:ln>
        </p:spPr>
        <p:txBody>
          <a:bodyPr wrap="square">
            <a:spAutoFit/>
          </a:bodyPr>
          <a:lstStyle/>
          <a:p>
            <a:pPr algn="l"/>
            <a:r>
              <a:rPr lang="zh-CN" altLang="en-US" sz="1600" i="0">
                <a:solidFill>
                  <a:srgbClr val="0F1115"/>
                </a:solidFill>
                <a:effectLst/>
                <a:latin typeface="微软雅黑" panose="020B0503020204020204" pitchFamily="34" charset="-122"/>
                <a:ea typeface="微软雅黑" panose="020B0503020204020204" pitchFamily="34" charset="-122"/>
              </a:rPr>
              <a:t>随着用液强度</a:t>
            </a:r>
            <a:r>
              <a:rPr lang="zh-CN" altLang="en-US" sz="1600" i="0">
                <a:solidFill>
                  <a:srgbClr val="0F1115"/>
                </a:solidFill>
                <a:effectLst/>
                <a:highlight>
                  <a:srgbClr val="FFFF00"/>
                </a:highlight>
                <a:latin typeface="微软雅黑" panose="020B0503020204020204" pitchFamily="34" charset="-122"/>
                <a:ea typeface="微软雅黑" panose="020B0503020204020204" pitchFamily="34" charset="-122"/>
              </a:rPr>
              <a:t>从低到高</a:t>
            </a:r>
            <a:r>
              <a:rPr lang="zh-CN" altLang="en-US" sz="1600" i="0">
                <a:solidFill>
                  <a:srgbClr val="0F1115"/>
                </a:solidFill>
                <a:effectLst/>
                <a:latin typeface="微软雅黑" panose="020B0503020204020204" pitchFamily="34" charset="-122"/>
                <a:ea typeface="微软雅黑" panose="020B0503020204020204" pitchFamily="34" charset="-122"/>
              </a:rPr>
              <a:t>，平均</a:t>
            </a:r>
            <a:r>
              <a:rPr lang="en-US" altLang="zh-CN" sz="1600" i="0">
                <a:solidFill>
                  <a:srgbClr val="0F1115"/>
                </a:solidFill>
                <a:effectLst/>
                <a:latin typeface="微软雅黑" panose="020B0503020204020204" pitchFamily="34" charset="-122"/>
                <a:ea typeface="微软雅黑" panose="020B0503020204020204" pitchFamily="34" charset="-122"/>
              </a:rPr>
              <a:t>EUR</a:t>
            </a:r>
            <a:r>
              <a:rPr lang="zh-CN" altLang="en-US" sz="1600" i="0">
                <a:solidFill>
                  <a:srgbClr val="0F1115"/>
                </a:solidFill>
                <a:effectLst/>
                <a:latin typeface="微软雅黑" panose="020B0503020204020204" pitchFamily="34" charset="-122"/>
                <a:ea typeface="微软雅黑" panose="020B0503020204020204" pitchFamily="34" charset="-122"/>
              </a:rPr>
              <a:t>从</a:t>
            </a:r>
            <a:r>
              <a:rPr lang="en-US" altLang="zh-CN" sz="1600" i="0">
                <a:solidFill>
                  <a:srgbClr val="0F1115"/>
                </a:solidFill>
                <a:effectLst/>
                <a:latin typeface="微软雅黑" panose="020B0503020204020204" pitchFamily="34" charset="-122"/>
                <a:ea typeface="微软雅黑" panose="020B0503020204020204" pitchFamily="34" charset="-122"/>
              </a:rPr>
              <a:t>0.801</a:t>
            </a:r>
            <a:r>
              <a:rPr lang="zh-CN" altLang="en-US" sz="1600" i="0">
                <a:solidFill>
                  <a:srgbClr val="0F1115"/>
                </a:solidFill>
                <a:effectLst/>
                <a:highlight>
                  <a:srgbClr val="FFFF00"/>
                </a:highlight>
                <a:latin typeface="微软雅黑" panose="020B0503020204020204" pitchFamily="34" charset="-122"/>
                <a:ea typeface="微软雅黑" panose="020B0503020204020204" pitchFamily="34" charset="-122"/>
              </a:rPr>
              <a:t>稳步增长</a:t>
            </a:r>
            <a:r>
              <a:rPr lang="zh-CN" altLang="en-US" sz="1600" i="0">
                <a:solidFill>
                  <a:srgbClr val="0F1115"/>
                </a:solidFill>
                <a:effectLst/>
                <a:latin typeface="微软雅黑" panose="020B0503020204020204" pitchFamily="34" charset="-122"/>
                <a:ea typeface="微软雅黑" panose="020B0503020204020204" pitchFamily="34" charset="-122"/>
              </a:rPr>
              <a:t>至</a:t>
            </a:r>
            <a:r>
              <a:rPr lang="en-US" altLang="zh-CN" sz="1600" i="0">
                <a:solidFill>
                  <a:srgbClr val="0F1115"/>
                </a:solidFill>
                <a:effectLst/>
                <a:latin typeface="微软雅黑" panose="020B0503020204020204" pitchFamily="34" charset="-122"/>
                <a:ea typeface="微软雅黑" panose="020B0503020204020204" pitchFamily="34" charset="-122"/>
              </a:rPr>
              <a:t>1.001</a:t>
            </a:r>
            <a:r>
              <a:rPr lang="zh-CN" altLang="en-US" sz="1600" i="0">
                <a:solidFill>
                  <a:srgbClr val="0F1115"/>
                </a:solidFill>
                <a:effectLst/>
                <a:latin typeface="微软雅黑" panose="020B0503020204020204" pitchFamily="34" charset="-122"/>
                <a:ea typeface="微软雅黑" panose="020B0503020204020204" pitchFamily="34" charset="-122"/>
              </a:rPr>
              <a:t>，增幅达</a:t>
            </a:r>
            <a:r>
              <a:rPr lang="en-US" altLang="zh-CN" sz="1600" i="0">
                <a:solidFill>
                  <a:srgbClr val="0F1115"/>
                </a:solidFill>
                <a:effectLst/>
                <a:latin typeface="微软雅黑" panose="020B0503020204020204" pitchFamily="34" charset="-122"/>
                <a:ea typeface="微软雅黑" panose="020B0503020204020204" pitchFamily="34" charset="-122"/>
              </a:rPr>
              <a:t>25%</a:t>
            </a:r>
            <a:r>
              <a:rPr lang="zh-CN" altLang="en-US" sz="1600">
                <a:solidFill>
                  <a:srgbClr val="0F1115"/>
                </a:solidFill>
                <a:latin typeface="微软雅黑" panose="020B0503020204020204" pitchFamily="34" charset="-122"/>
                <a:ea typeface="微软雅黑" panose="020B0503020204020204" pitchFamily="34" charset="-122"/>
              </a:rPr>
              <a:t>且</a:t>
            </a:r>
            <a:r>
              <a:rPr lang="zh-CN" altLang="en-US" sz="1600" i="0">
                <a:solidFill>
                  <a:srgbClr val="0F1115"/>
                </a:solidFill>
                <a:effectLst/>
                <a:highlight>
                  <a:srgbClr val="FFFF00"/>
                </a:highlight>
                <a:latin typeface="微软雅黑" panose="020B0503020204020204" pitchFamily="34" charset="-122"/>
                <a:ea typeface="微软雅黑" panose="020B0503020204020204" pitchFamily="34" charset="-122"/>
              </a:rPr>
              <a:t>数据稳定性提升</a:t>
            </a:r>
            <a:r>
              <a:rPr lang="zh-CN" altLang="en-US" sz="1600" i="0">
                <a:solidFill>
                  <a:srgbClr val="0F1115"/>
                </a:solidFill>
                <a:effectLst/>
                <a:latin typeface="微软雅黑" panose="020B0503020204020204" pitchFamily="34" charset="-122"/>
                <a:ea typeface="微软雅黑" panose="020B0503020204020204" pitchFamily="34" charset="-122"/>
              </a:rPr>
              <a:t>；这表明用液强度与</a:t>
            </a:r>
            <a:r>
              <a:rPr lang="en-US" altLang="zh-CN" sz="1600" i="0">
                <a:solidFill>
                  <a:srgbClr val="0F1115"/>
                </a:solidFill>
                <a:effectLst/>
                <a:latin typeface="微软雅黑" panose="020B0503020204020204" pitchFamily="34" charset="-122"/>
                <a:ea typeface="微软雅黑" panose="020B0503020204020204" pitchFamily="34" charset="-122"/>
              </a:rPr>
              <a:t>EUR</a:t>
            </a:r>
            <a:r>
              <a:rPr lang="zh-CN" altLang="en-US" sz="1600" i="0">
                <a:solidFill>
                  <a:srgbClr val="0F1115"/>
                </a:solidFill>
                <a:effectLst/>
                <a:latin typeface="微软雅黑" panose="020B0503020204020204" pitchFamily="34" charset="-122"/>
                <a:ea typeface="微软雅黑" panose="020B0503020204020204" pitchFamily="34" charset="-122"/>
              </a:rPr>
              <a:t>存在明确的</a:t>
            </a:r>
            <a:r>
              <a:rPr lang="zh-CN" altLang="en-US" sz="1600" b="1" i="0">
                <a:solidFill>
                  <a:srgbClr val="0F1115"/>
                </a:solidFill>
                <a:effectLst/>
                <a:latin typeface="微软雅黑" panose="020B0503020204020204" pitchFamily="34" charset="-122"/>
                <a:ea typeface="微软雅黑" panose="020B0503020204020204" pitchFamily="34" charset="-122"/>
              </a:rPr>
              <a:t>正相关性</a:t>
            </a:r>
            <a:r>
              <a:rPr lang="zh-CN" altLang="en-US" sz="1600">
                <a:solidFill>
                  <a:srgbClr val="0F1115"/>
                </a:solidFill>
                <a:latin typeface="微软雅黑" panose="020B0503020204020204" pitchFamily="34" charset="-122"/>
                <a:ea typeface="微软雅黑" panose="020B0503020204020204" pitchFamily="34" charset="-122"/>
              </a:rPr>
              <a:t>。</a:t>
            </a:r>
            <a:endParaRPr lang="en-US" altLang="zh-CN" sz="1600">
              <a:solidFill>
                <a:srgbClr val="0F1115"/>
              </a:solidFill>
              <a:latin typeface="微软雅黑" panose="020B0503020204020204" pitchFamily="34" charset="-122"/>
              <a:ea typeface="微软雅黑" panose="020B0503020204020204" pitchFamily="34" charset="-122"/>
            </a:endParaRPr>
          </a:p>
          <a:p>
            <a:pPr algn="l"/>
            <a:endParaRPr lang="en-US" altLang="zh-CN" sz="1600" i="0">
              <a:solidFill>
                <a:srgbClr val="0F1115"/>
              </a:solidFill>
              <a:effectLst/>
              <a:latin typeface="微软雅黑" panose="020B0503020204020204" pitchFamily="34" charset="-122"/>
              <a:ea typeface="微软雅黑" panose="020B0503020204020204" pitchFamily="34" charset="-122"/>
            </a:endParaRPr>
          </a:p>
          <a:p>
            <a:pPr algn="l"/>
            <a:r>
              <a:rPr lang="zh-CN" altLang="en-US" sz="1600" i="0">
                <a:solidFill>
                  <a:srgbClr val="0F1115"/>
                </a:solidFill>
                <a:effectLst/>
                <a:latin typeface="微软雅黑" panose="020B0503020204020204" pitchFamily="34" charset="-122"/>
                <a:ea typeface="微软雅黑" panose="020B0503020204020204" pitchFamily="34" charset="-122"/>
              </a:rPr>
              <a:t>在技术经济条件允许的范围内，</a:t>
            </a:r>
            <a:r>
              <a:rPr lang="zh-CN" altLang="en-US" sz="1600" b="1" i="0">
                <a:solidFill>
                  <a:srgbClr val="0F1115"/>
                </a:solidFill>
                <a:effectLst/>
                <a:latin typeface="微软雅黑" panose="020B0503020204020204" pitchFamily="34" charset="-122"/>
                <a:ea typeface="微软雅黑" panose="020B0503020204020204" pitchFamily="34" charset="-122"/>
              </a:rPr>
              <a:t>适当提高用液强度</a:t>
            </a:r>
            <a:r>
              <a:rPr lang="zh-CN" altLang="en-US" sz="1600" i="0">
                <a:solidFill>
                  <a:srgbClr val="0F1115"/>
                </a:solidFill>
                <a:effectLst/>
                <a:latin typeface="微软雅黑" panose="020B0503020204020204" pitchFamily="34" charset="-122"/>
                <a:ea typeface="微软雅黑" panose="020B0503020204020204" pitchFamily="34" charset="-122"/>
              </a:rPr>
              <a:t>是提升单井</a:t>
            </a:r>
            <a:r>
              <a:rPr lang="en-US" altLang="zh-CN" sz="1600" i="0">
                <a:solidFill>
                  <a:srgbClr val="0F1115"/>
                </a:solidFill>
                <a:effectLst/>
                <a:latin typeface="微软雅黑" panose="020B0503020204020204" pitchFamily="34" charset="-122"/>
                <a:ea typeface="微软雅黑" panose="020B0503020204020204" pitchFamily="34" charset="-122"/>
              </a:rPr>
              <a:t>SRV</a:t>
            </a:r>
            <a:r>
              <a:rPr lang="zh-CN" altLang="en-US" sz="1600" i="0">
                <a:solidFill>
                  <a:srgbClr val="0F1115"/>
                </a:solidFill>
                <a:effectLst/>
                <a:latin typeface="微软雅黑" panose="020B0503020204020204" pitchFamily="34" charset="-122"/>
                <a:ea typeface="微软雅黑" panose="020B0503020204020204" pitchFamily="34" charset="-122"/>
              </a:rPr>
              <a:t>、</a:t>
            </a:r>
            <a:r>
              <a:rPr lang="en-US" altLang="zh-CN" sz="1600" i="0">
                <a:solidFill>
                  <a:srgbClr val="0F1115"/>
                </a:solidFill>
                <a:effectLst/>
                <a:latin typeface="微软雅黑" panose="020B0503020204020204" pitchFamily="34" charset="-122"/>
                <a:ea typeface="微软雅黑" panose="020B0503020204020204" pitchFamily="34" charset="-122"/>
              </a:rPr>
              <a:t>EUR</a:t>
            </a:r>
            <a:r>
              <a:rPr lang="zh-CN" altLang="en-US" sz="1600" i="0">
                <a:solidFill>
                  <a:srgbClr val="0F1115"/>
                </a:solidFill>
                <a:effectLst/>
                <a:latin typeface="微软雅黑" panose="020B0503020204020204" pitchFamily="34" charset="-122"/>
                <a:ea typeface="微软雅黑" panose="020B0503020204020204" pitchFamily="34" charset="-122"/>
              </a:rPr>
              <a:t>的有效途径。</a:t>
            </a:r>
            <a:r>
              <a:rPr lang="zh-CN" altLang="en-US" sz="1600" i="0">
                <a:solidFill>
                  <a:srgbClr val="0F1115"/>
                </a:solidFill>
                <a:effectLst/>
                <a:highlight>
                  <a:srgbClr val="FFFF00"/>
                </a:highlight>
                <a:latin typeface="微软雅黑" panose="020B0503020204020204" pitchFamily="34" charset="-122"/>
                <a:ea typeface="微软雅黑" panose="020B0503020204020204" pitchFamily="34" charset="-122"/>
              </a:rPr>
              <a:t>高强度组</a:t>
            </a:r>
            <a:r>
              <a:rPr lang="zh-CN" altLang="en-US" sz="1600" i="0">
                <a:solidFill>
                  <a:srgbClr val="0F1115"/>
                </a:solidFill>
                <a:effectLst/>
                <a:latin typeface="微软雅黑" panose="020B0503020204020204" pitchFamily="34" charset="-122"/>
                <a:ea typeface="微软雅黑" panose="020B0503020204020204" pitchFamily="34" charset="-122"/>
              </a:rPr>
              <a:t>不仅获得了更高的平均产量，而且表现出</a:t>
            </a:r>
            <a:r>
              <a:rPr lang="zh-CN" altLang="en-US" sz="1600" i="0">
                <a:solidFill>
                  <a:srgbClr val="0F1115"/>
                </a:solidFill>
                <a:effectLst/>
                <a:highlight>
                  <a:srgbClr val="FFFF00"/>
                </a:highlight>
                <a:latin typeface="微软雅黑" panose="020B0503020204020204" pitchFamily="34" charset="-122"/>
                <a:ea typeface="微软雅黑" panose="020B0503020204020204" pitchFamily="34" charset="-122"/>
              </a:rPr>
              <a:t>更好的稳定性</a:t>
            </a:r>
            <a:r>
              <a:rPr lang="zh-CN" altLang="en-US" sz="1600" i="0">
                <a:solidFill>
                  <a:srgbClr val="0F1115"/>
                </a:solidFill>
                <a:effectLst/>
                <a:latin typeface="微软雅黑" panose="020B0503020204020204" pitchFamily="34" charset="-122"/>
                <a:ea typeface="微软雅黑" panose="020B0503020204020204" pitchFamily="34" charset="-122"/>
              </a:rPr>
              <a:t>，为优化压裂设计提供了明确方向。</a:t>
            </a:r>
            <a:endParaRPr lang="zh-CN" altLang="en-US" sz="1600" i="0">
              <a:solidFill>
                <a:srgbClr val="0F1115"/>
              </a:solidFill>
              <a:effectLst/>
              <a:latin typeface="微软雅黑" panose="020B0503020204020204" pitchFamily="34" charset="-122"/>
              <a:ea typeface="微软雅黑" panose="020B0503020204020204" pitchFamily="34" charset="-122"/>
            </a:endParaRPr>
          </a:p>
        </p:txBody>
      </p:sp>
      <p:graphicFrame>
        <p:nvGraphicFramePr>
          <p:cNvPr id="65" name="表格 64"/>
          <p:cNvGraphicFramePr>
            <a:graphicFrameLocks noGrp="1"/>
          </p:cNvGraphicFramePr>
          <p:nvPr/>
        </p:nvGraphicFramePr>
        <p:xfrm>
          <a:off x="6179024" y="2369293"/>
          <a:ext cx="5824541" cy="1720569"/>
        </p:xfrm>
        <a:graphic>
          <a:graphicData uri="http://schemas.openxmlformats.org/drawingml/2006/table">
            <a:tbl>
              <a:tblPr/>
              <a:tblGrid>
                <a:gridCol w="768927"/>
                <a:gridCol w="374073"/>
                <a:gridCol w="654627"/>
                <a:gridCol w="734933"/>
                <a:gridCol w="667840"/>
                <a:gridCol w="795263"/>
                <a:gridCol w="609626"/>
                <a:gridCol w="475865"/>
                <a:gridCol w="743387"/>
              </a:tblGrid>
              <a:tr h="495300">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用液强度分组</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样本数</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平均</a:t>
                      </a:r>
                      <a:r>
                        <a:rPr lang="en-US" sz="1600" b="0" i="0" u="none" strike="noStrike" baseline="0">
                          <a:solidFill>
                            <a:srgbClr val="0F1115"/>
                          </a:solidFill>
                          <a:effectLst/>
                          <a:latin typeface="Times New Roman" panose="02020603050405020304" pitchFamily="18" charset="0"/>
                          <a:ea typeface="微软雅黑" panose="020B0503020204020204" pitchFamily="34" charset="-122"/>
                        </a:rPr>
                        <a:t>EUR</a:t>
                      </a:r>
                      <a:endParaRPr 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标准差</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最小值</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25%</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50%</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75%</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最大值</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389255">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低强度</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36</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0.801</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0.284</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0.32</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0.77</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0.89</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1.04</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1.05</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r>
              <a:tr h="332509">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中强度</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35</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0.92</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0.133</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0.77</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0.77</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1.01</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1.04</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a:noFill/>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1.05</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a:noFill/>
                    </a:lnB>
                    <a:solidFill>
                      <a:srgbClr val="FFFFFF"/>
                    </a:solidFill>
                  </a:tcPr>
                </a:tc>
              </a:tr>
              <a:tr h="259653">
                <a:tc>
                  <a:txBody>
                    <a:bodyPr/>
                    <a:lstStyle/>
                    <a:p>
                      <a:pPr algn="ctr" fontAlgn="ctr"/>
                      <a:r>
                        <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rPr>
                        <a:t>高强度</a:t>
                      </a:r>
                      <a:endParaRPr lang="zh-CN" altLang="en-US"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35</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1.001</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0.086</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0.77</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1.01</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1.04</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1.05</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rPr>
                        <a:t>1.05</a:t>
                      </a:r>
                      <a:endParaRPr lang="en-US" altLang="zh-CN" sz="1600" b="0" i="0" u="none" strike="noStrike" baseline="0">
                        <a:solidFill>
                          <a:srgbClr val="0F1115"/>
                        </a:solidFill>
                        <a:effectLst/>
                        <a:latin typeface="Times New Roman" panose="02020603050405020304" pitchFamily="18" charset="0"/>
                        <a:ea typeface="微软雅黑" panose="020B0503020204020204" pitchFamily="34" charset="-122"/>
                      </a:endParaRP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r>
            </a:tbl>
          </a:graphicData>
        </a:graphic>
      </p:graphicFrame>
      <p:sp>
        <p:nvSpPr>
          <p:cNvPr id="66" name="文本框 65"/>
          <p:cNvSpPr txBox="1"/>
          <p:nvPr>
            <p:custDataLst>
              <p:tags r:id="rId3"/>
            </p:custDataLst>
          </p:nvPr>
        </p:nvSpPr>
        <p:spPr>
          <a:xfrm>
            <a:off x="8042910" y="2009096"/>
            <a:ext cx="3777615" cy="276999"/>
          </a:xfrm>
          <a:prstGeom prst="rect">
            <a:avLst/>
          </a:prstGeom>
          <a:noFill/>
        </p:spPr>
        <p:txBody>
          <a:bodyPr wrap="square" rtlCol="0">
            <a:spAutoFit/>
          </a:bodyPr>
          <a:lstStyle/>
          <a:p>
            <a:pPr algn="l"/>
            <a:r>
              <a:rPr lang="zh-CN" altLang="en-US" sz="1200" b="1">
                <a:solidFill>
                  <a:srgbClr val="0F1115"/>
                </a:solidFill>
                <a:effectLst/>
                <a:latin typeface="微软雅黑" panose="020B0503020204020204" pitchFamily="34" charset="-122"/>
                <a:ea typeface="微软雅黑" panose="020B0503020204020204" pitchFamily="34" charset="-122"/>
              </a:rPr>
              <a:t>用液强度分组与</a:t>
            </a:r>
            <a:r>
              <a:rPr lang="en-US" altLang="zh-CN" sz="1200" b="1">
                <a:solidFill>
                  <a:srgbClr val="0F1115"/>
                </a:solidFill>
                <a:effectLst/>
                <a:latin typeface="微软雅黑" panose="020B0503020204020204" pitchFamily="34" charset="-122"/>
                <a:ea typeface="微软雅黑" panose="020B0503020204020204" pitchFamily="34" charset="-122"/>
              </a:rPr>
              <a:t>EUR</a:t>
            </a:r>
            <a:r>
              <a:rPr lang="zh-CN" altLang="en-US" sz="1200" b="1">
                <a:solidFill>
                  <a:srgbClr val="0F1115"/>
                </a:solidFill>
                <a:effectLst/>
                <a:latin typeface="微软雅黑" panose="020B0503020204020204" pitchFamily="34" charset="-122"/>
                <a:ea typeface="微软雅黑" panose="020B0503020204020204" pitchFamily="34" charset="-122"/>
              </a:rPr>
              <a:t>统计表</a:t>
            </a:r>
            <a:endParaRPr lang="zh-CN" altLang="en-US" sz="1200" b="1">
              <a:solidFill>
                <a:srgbClr val="0F1115"/>
              </a:solidFill>
              <a:effectLst/>
              <a:latin typeface="微软雅黑" panose="020B0503020204020204" pitchFamily="34" charset="-122"/>
              <a:ea typeface="微软雅黑" panose="020B0503020204020204" pitchFamily="34" charset="-122"/>
            </a:endParaRPr>
          </a:p>
        </p:txBody>
      </p:sp>
      <p:sp>
        <p:nvSpPr>
          <p:cNvPr id="67" name="箭头: 下 66"/>
          <p:cNvSpPr/>
          <p:nvPr/>
        </p:nvSpPr>
        <p:spPr>
          <a:xfrm>
            <a:off x="8967355" y="4251233"/>
            <a:ext cx="374072" cy="334598"/>
          </a:xfrm>
          <a:prstGeom prst="downArrow">
            <a:avLst/>
          </a:prstGeom>
          <a:solidFill>
            <a:schemeClr val="tx2"/>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 name="箭头: 下 66"/>
          <p:cNvSpPr/>
          <p:nvPr/>
        </p:nvSpPr>
        <p:spPr>
          <a:xfrm>
            <a:off x="8967355" y="5140868"/>
            <a:ext cx="374072" cy="334598"/>
          </a:xfrm>
          <a:prstGeom prst="downArrow">
            <a:avLst/>
          </a:prstGeom>
          <a:solidFill>
            <a:schemeClr val="tx2"/>
          </a:solidFill>
        </p:spPr>
        <p:txBody>
          <a:bodyPr rot="0" spcFirstLastPara="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7"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 name="矩形 1"/>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10、</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SRV</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EUR</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工程主控因素分析</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用液强度（正相关）</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93370" y="1301115"/>
            <a:ext cx="11571605" cy="739775"/>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zh-CN" altLang="en-US" sz="1600" i="0">
                <a:solidFill>
                  <a:srgbClr val="0F1115"/>
                </a:solidFill>
                <a:effectLst/>
                <a:latin typeface="微软雅黑" panose="020B0503020204020204" pitchFamily="34" charset="-122"/>
                <a:ea typeface="微软雅黑" panose="020B0503020204020204" pitchFamily="34" charset="-122"/>
              </a:rPr>
              <a:t>小波分析体积评分：</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离散小波变换评分基于主裂缝快速扩展事件、缝网扩展事件、总裂缝扩展能量三个指标，综合加权得到改造效果量化评分，</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评分越高表示裂缝扩展规模越大，相应的改造体积越大</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91440" y="2118995"/>
            <a:ext cx="12016740" cy="4473575"/>
          </a:xfrm>
          <a:prstGeom prst="rect">
            <a:avLst/>
          </a:prstGeom>
          <a:noFill/>
          <a:ln w="19050">
            <a:solidFill>
              <a:srgbClr val="002060"/>
            </a:solidFill>
            <a:prstDash val="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8" name="文本框 7"/>
          <p:cNvSpPr txBox="1"/>
          <p:nvPr>
            <p:custDataLst>
              <p:tags r:id="rId1"/>
            </p:custDataLst>
          </p:nvPr>
        </p:nvSpPr>
        <p:spPr>
          <a:xfrm>
            <a:off x="2122268" y="6316903"/>
            <a:ext cx="3777615" cy="275590"/>
          </a:xfrm>
          <a:prstGeom prst="rect">
            <a:avLst/>
          </a:prstGeom>
          <a:noFill/>
        </p:spPr>
        <p:txBody>
          <a:bodyPr wrap="square" rtlCol="0">
            <a:spAutoFit/>
          </a:bodyPr>
          <a:lstStyle/>
          <a:p>
            <a:r>
              <a:rPr lang="zh-CN" altLang="en-US" sz="1200" b="1">
                <a:latin typeface="Times New Roman" panose="02020603050405020304" pitchFamily="18" charset="0"/>
                <a:ea typeface="黑体" panose="02010609060101010101" charset="-122"/>
                <a:cs typeface="Times New Roman" panose="02020603050405020304" pitchFamily="18" charset="0"/>
              </a:rPr>
              <a:t>不同拟合方法下</a:t>
            </a:r>
            <a:r>
              <a:rPr lang="en-US" altLang="zh-CN" sz="1200" b="1">
                <a:latin typeface="Times New Roman" panose="02020603050405020304" pitchFamily="18" charset="0"/>
                <a:ea typeface="黑体" panose="02010609060101010101" charset="-122"/>
                <a:cs typeface="Times New Roman" panose="02020603050405020304" pitchFamily="18" charset="0"/>
              </a:rPr>
              <a:t>SRV</a:t>
            </a:r>
            <a:r>
              <a:rPr lang="zh-CN" altLang="en-US" sz="1200" b="1">
                <a:latin typeface="Times New Roman" panose="02020603050405020304" pitchFamily="18" charset="0"/>
                <a:ea typeface="黑体" panose="02010609060101010101" charset="-122"/>
                <a:cs typeface="Times New Roman" panose="02020603050405020304" pitchFamily="18" charset="0"/>
              </a:rPr>
              <a:t>与小波体积</a:t>
            </a:r>
            <a:r>
              <a:rPr lang="zh-CN" altLang="en-US" sz="1200" b="1">
                <a:latin typeface="Times New Roman" panose="02020603050405020304" pitchFamily="18" charset="0"/>
                <a:ea typeface="黑体" panose="02010609060101010101" charset="-122"/>
                <a:cs typeface="Times New Roman" panose="02020603050405020304" pitchFamily="18" charset="0"/>
              </a:rPr>
              <a:t>评分的关系曲线</a:t>
            </a:r>
            <a:endParaRPr lang="zh-CN" altLang="en-US" sz="1200" b="1">
              <a:latin typeface="Times New Roman" panose="02020603050405020304" pitchFamily="18" charset="0"/>
              <a:ea typeface="黑体" panose="02010609060101010101" charset="-122"/>
              <a:cs typeface="Times New Roman" panose="02020603050405020304" pitchFamily="18" charset="0"/>
            </a:endParaRPr>
          </a:p>
        </p:txBody>
      </p:sp>
      <p:pic>
        <p:nvPicPr>
          <p:cNvPr id="4" name="图片 3" descr="小波分析与SRV线性图"/>
          <p:cNvPicPr>
            <a:picLocks noChangeAspect="1"/>
          </p:cNvPicPr>
          <p:nvPr/>
        </p:nvPicPr>
        <p:blipFill>
          <a:blip r:embed="rId2"/>
          <a:srcRect l="759"/>
          <a:stretch>
            <a:fillRect/>
          </a:stretch>
        </p:blipFill>
        <p:spPr>
          <a:xfrm>
            <a:off x="222250" y="2118995"/>
            <a:ext cx="6639560" cy="4197985"/>
          </a:xfrm>
          <a:prstGeom prst="rect">
            <a:avLst/>
          </a:prstGeom>
        </p:spPr>
      </p:pic>
      <p:sp>
        <p:nvSpPr>
          <p:cNvPr id="6"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004685" y="2197735"/>
            <a:ext cx="4935220" cy="3875405"/>
          </a:xfrm>
          <a:prstGeom prst="rect">
            <a:avLst/>
          </a:prstGeom>
          <a:noFill/>
          <a:ln>
            <a:noFill/>
          </a:ln>
        </p:spPr>
        <p:txBody>
          <a:bodyPr wrap="square"/>
          <a:p>
            <a:pPr marL="0" indent="457200">
              <a:lnSpc>
                <a:spcPct val="15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小波评分高意味着压裂过程中形成了更多的裂缝事件、释放了更大的破裂能量，对应着更大的改造体积和更复杂的缝网结构。数据统计显示，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小波评分</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≥82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分的井</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均值</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达</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1.11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亿方，</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较低分组</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&lt;78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分）</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提升</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；同时</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千米</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0.47</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提升</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0.58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，说明高评分井不仅总产量高，单位水平段的改造效率也更优。</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457200">
              <a:lnSpc>
                <a:spcPct val="150000"/>
              </a:lnSpc>
              <a:buClr>
                <a:srgbClr val="FF0000"/>
              </a:buClr>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457200">
              <a:lnSpc>
                <a:spcPct val="150000"/>
              </a:lnSpc>
              <a:buClr>
                <a:srgbClr val="FF0000"/>
              </a:buClr>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天然裂缝发育区</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，压裂可能沿弱面扩展，裂缝扩展事件和能量释放可能反而较少，此时低评分不一定代表改造效果差，如泸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井区</a:t>
            </a:r>
            <a:r>
              <a:rPr lang="zh-CN" altLang="en-US" sz="1600" dirty="0">
                <a:solidFill>
                  <a:srgbClr val="000000"/>
                </a:solidFill>
                <a:latin typeface="微软雅黑" panose="020B0503020204020204" pitchFamily="34" charset="-122"/>
                <a:ea typeface="微软雅黑" panose="020B0503020204020204" pitchFamily="34" charset="-122"/>
                <a:sym typeface="+mn-ea"/>
              </a:rPr>
              <a:t>H10平台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11、</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SRV</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EUR</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压裂效果主控因素分析</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小波分析体积评分（正相关）</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93370" y="1301115"/>
            <a:ext cx="11571605" cy="791845"/>
          </a:xfrm>
          <a:prstGeom prst="rect">
            <a:avLst/>
          </a:prstGeom>
          <a:noFill/>
          <a:ln>
            <a:noFill/>
          </a:ln>
        </p:spPr>
        <p:txBody>
          <a:bodyPr wrap="square"/>
          <a:lstStyle/>
          <a:p>
            <a:pPr marL="285750" indent="-285750">
              <a:lnSpc>
                <a:spcPct val="150000"/>
              </a:lnSpc>
              <a:buClr>
                <a:srgbClr val="FF0000"/>
              </a:buClr>
              <a:buFont typeface="Wingdings" panose="05000000000000000000" charset="0"/>
              <a:buChar char="l"/>
            </a:pPr>
            <a:r>
              <a:rPr lang="en-US" altLang="zh-CN" sz="1600" i="0">
                <a:solidFill>
                  <a:srgbClr val="0F1115"/>
                </a:solidFill>
                <a:effectLst/>
                <a:latin typeface="微软雅黑" panose="020B0503020204020204" pitchFamily="34" charset="-122"/>
                <a:ea typeface="微软雅黑" panose="020B0503020204020204" pitchFamily="34" charset="-122"/>
              </a:rPr>
              <a:t>G</a:t>
            </a:r>
            <a:r>
              <a:rPr lang="zh-CN" altLang="en-US" sz="1600" i="0">
                <a:solidFill>
                  <a:srgbClr val="0F1115"/>
                </a:solidFill>
                <a:effectLst/>
                <a:latin typeface="微软雅黑" panose="020B0503020204020204" pitchFamily="34" charset="-122"/>
                <a:ea typeface="微软雅黑" panose="020B0503020204020204" pitchFamily="34" charset="-122"/>
              </a:rPr>
              <a:t>函数反演改造体积：</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函数分析评分基于压裂停泵后的压力衰减曲线，综合滤失系数、反演体积、滤失类型三个参数，评价</a:t>
            </a:r>
            <a:r>
              <a:rPr lang="zh-CN" altLang="en-US" sz="1600" dirty="0">
                <a:solidFill>
                  <a:srgbClr val="0F1115"/>
                </a:solidFill>
                <a:latin typeface="微软雅黑" panose="020B0503020204020204" pitchFamily="34" charset="-122"/>
                <a:ea typeface="微软雅黑" panose="020B0503020204020204" pitchFamily="34" charset="-122"/>
                <a:sym typeface="+mn-ea"/>
              </a:rPr>
              <a:t>主裂缝扩展质量</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评分越高，说明改造效果越好</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91440" y="2114550"/>
            <a:ext cx="12016740" cy="4458970"/>
          </a:xfrm>
          <a:prstGeom prst="rect">
            <a:avLst/>
          </a:prstGeom>
          <a:noFill/>
          <a:ln w="19050">
            <a:solidFill>
              <a:srgbClr val="002060"/>
            </a:solidFill>
            <a:prstDash val="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8" name="文本框 7"/>
          <p:cNvSpPr txBox="1"/>
          <p:nvPr>
            <p:custDataLst>
              <p:tags r:id="rId1"/>
            </p:custDataLst>
          </p:nvPr>
        </p:nvSpPr>
        <p:spPr>
          <a:xfrm>
            <a:off x="2122268" y="6297853"/>
            <a:ext cx="3777615" cy="275590"/>
          </a:xfrm>
          <a:prstGeom prst="rect">
            <a:avLst/>
          </a:prstGeom>
          <a:noFill/>
        </p:spPr>
        <p:txBody>
          <a:bodyPr wrap="square" rtlCol="0">
            <a:spAutoFit/>
          </a:bodyPr>
          <a:lstStyle/>
          <a:p>
            <a:r>
              <a:rPr lang="zh-CN" altLang="en-US" sz="1200" b="1">
                <a:latin typeface="Times New Roman" panose="02020603050405020304" pitchFamily="18" charset="0"/>
                <a:ea typeface="黑体" panose="02010609060101010101" charset="-122"/>
                <a:cs typeface="Times New Roman" panose="02020603050405020304" pitchFamily="18" charset="0"/>
              </a:rPr>
              <a:t>不同拟合方法下</a:t>
            </a:r>
            <a:r>
              <a:rPr lang="en-US" altLang="zh-CN" sz="1200" b="1">
                <a:latin typeface="Times New Roman" panose="02020603050405020304" pitchFamily="18" charset="0"/>
                <a:ea typeface="黑体" panose="02010609060101010101" charset="-122"/>
                <a:cs typeface="Times New Roman" panose="02020603050405020304" pitchFamily="18" charset="0"/>
              </a:rPr>
              <a:t>SRV</a:t>
            </a:r>
            <a:r>
              <a:rPr lang="zh-CN" altLang="en-US" sz="1200" b="1">
                <a:latin typeface="Times New Roman" panose="02020603050405020304" pitchFamily="18" charset="0"/>
                <a:ea typeface="黑体" panose="02010609060101010101" charset="-122"/>
                <a:cs typeface="Times New Roman" panose="02020603050405020304" pitchFamily="18" charset="0"/>
              </a:rPr>
              <a:t>与</a:t>
            </a:r>
            <a:r>
              <a:rPr lang="en-US" altLang="zh-CN" sz="1200" b="1">
                <a:latin typeface="Times New Roman" panose="02020603050405020304" pitchFamily="18" charset="0"/>
                <a:ea typeface="黑体" panose="02010609060101010101" charset="-122"/>
                <a:cs typeface="Times New Roman" panose="02020603050405020304" pitchFamily="18" charset="0"/>
              </a:rPr>
              <a:t>G</a:t>
            </a:r>
            <a:r>
              <a:rPr lang="zh-CN" altLang="en-US" sz="1200" b="1">
                <a:latin typeface="Times New Roman" panose="02020603050405020304" pitchFamily="18" charset="0"/>
                <a:ea typeface="黑体" panose="02010609060101010101" charset="-122"/>
                <a:cs typeface="Times New Roman" panose="02020603050405020304" pitchFamily="18" charset="0"/>
              </a:rPr>
              <a:t>函数体积</a:t>
            </a:r>
            <a:r>
              <a:rPr lang="zh-CN" altLang="en-US" sz="1200" b="1">
                <a:latin typeface="Times New Roman" panose="02020603050405020304" pitchFamily="18" charset="0"/>
                <a:ea typeface="黑体" panose="02010609060101010101" charset="-122"/>
                <a:cs typeface="Times New Roman" panose="02020603050405020304" pitchFamily="18" charset="0"/>
              </a:rPr>
              <a:t>评分的关系曲线</a:t>
            </a:r>
            <a:endParaRPr lang="zh-CN" altLang="en-US" sz="1200" b="1">
              <a:latin typeface="Times New Roman" panose="02020603050405020304" pitchFamily="18" charset="0"/>
              <a:ea typeface="黑体" panose="02010609060101010101" charset="-122"/>
              <a:cs typeface="Times New Roman" panose="02020603050405020304" pitchFamily="18" charset="0"/>
            </a:endParaRPr>
          </a:p>
        </p:txBody>
      </p:sp>
      <p:sp>
        <p:nvSpPr>
          <p:cNvPr id="4"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004685" y="2199640"/>
            <a:ext cx="4935220" cy="3864610"/>
          </a:xfrm>
          <a:prstGeom prst="rect">
            <a:avLst/>
          </a:prstGeom>
          <a:noFill/>
          <a:ln>
            <a:noFill/>
          </a:ln>
        </p:spPr>
        <p:txBody>
          <a:bodyPr wrap="square"/>
          <a:p>
            <a:pPr marL="0" indent="457200">
              <a:lnSpc>
                <a:spcPct val="200000"/>
              </a:lnSpc>
              <a:buClr>
                <a:srgbClr val="FF0000"/>
              </a:buClr>
            </a:pPr>
            <a:r>
              <a:rPr lang="en-GB" altLang="zh-CN" sz="1600" dirty="0">
                <a:solidFill>
                  <a:srgbClr val="0F1115"/>
                </a:solidFill>
                <a:latin typeface="微软雅黑" panose="020B0503020204020204" pitchFamily="34" charset="-122"/>
                <a:ea typeface="微软雅黑" panose="020B0503020204020204" pitchFamily="34" charset="-122"/>
                <a:sym typeface="+mn-ea"/>
              </a:rPr>
              <a:t>G</a:t>
            </a:r>
            <a:r>
              <a:rPr lang="zh-CN" altLang="en-US" sz="1600" dirty="0">
                <a:solidFill>
                  <a:srgbClr val="0F1115"/>
                </a:solidFill>
                <a:latin typeface="微软雅黑" panose="020B0503020204020204" pitchFamily="34" charset="-122"/>
                <a:ea typeface="微软雅黑" panose="020B0503020204020204" pitchFamily="34" charset="-122"/>
                <a:sym typeface="+mn-ea"/>
              </a:rPr>
              <a:t>函数分析方法通过压降曲线特征识别裂缝闭合规律，评价主裂缝扩展质量。</a:t>
            </a:r>
            <a:r>
              <a:rPr lang="en-GB" altLang="zh-CN" sz="1600" dirty="0">
                <a:solidFill>
                  <a:srgbClr val="0F1115"/>
                </a:solidFill>
                <a:latin typeface="微软雅黑" panose="020B0503020204020204" pitchFamily="34" charset="-122"/>
                <a:ea typeface="微软雅黑" panose="020B0503020204020204" pitchFamily="34" charset="-122"/>
                <a:sym typeface="+mn-ea"/>
              </a:rPr>
              <a:t>G</a:t>
            </a:r>
            <a:r>
              <a:rPr lang="zh-CN" altLang="en-US" sz="1600" dirty="0">
                <a:solidFill>
                  <a:srgbClr val="0F1115"/>
                </a:solidFill>
                <a:latin typeface="微软雅黑" panose="020B0503020204020204" pitchFamily="34" charset="-122"/>
                <a:ea typeface="微软雅黑" panose="020B0503020204020204" pitchFamily="34" charset="-122"/>
                <a:sym typeface="+mn-ea"/>
              </a:rPr>
              <a:t>函数评分高反映主缝扩展质量好、施工效果优。</a:t>
            </a:r>
            <a:endParaRPr lang="en-US" altLang="zh-CN" sz="1600" dirty="0">
              <a:solidFill>
                <a:srgbClr val="0F1115"/>
              </a:solidFill>
              <a:latin typeface="微软雅黑" panose="020B0503020204020204" pitchFamily="34" charset="-122"/>
              <a:ea typeface="微软雅黑" panose="020B0503020204020204" pitchFamily="34" charset="-122"/>
            </a:endParaRPr>
          </a:p>
          <a:p>
            <a:pPr marL="0" indent="457200">
              <a:lnSpc>
                <a:spcPct val="200000"/>
              </a:lnSpc>
              <a:buClr>
                <a:srgbClr val="FF0000"/>
              </a:buClr>
            </a:pPr>
            <a:r>
              <a:rPr lang="zh-CN" altLang="en-US" sz="1600" dirty="0">
                <a:solidFill>
                  <a:srgbClr val="0F1115"/>
                </a:solidFill>
                <a:latin typeface="微软雅黑" panose="020B0503020204020204" pitchFamily="34" charset="-122"/>
                <a:ea typeface="微软雅黑" panose="020B0503020204020204" pitchFamily="34" charset="-122"/>
                <a:sym typeface="+mn-ea"/>
              </a:rPr>
              <a:t>数据统计显示，</a:t>
            </a:r>
            <a:r>
              <a:rPr lang="en-US" altLang="zh-CN" sz="1600" dirty="0">
                <a:solidFill>
                  <a:srgbClr val="FF0000"/>
                </a:solidFill>
                <a:latin typeface="微软雅黑" panose="020B0503020204020204" pitchFamily="34" charset="-122"/>
                <a:ea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sym typeface="+mn-ea"/>
              </a:rPr>
              <a:t>函数评分≥</a:t>
            </a:r>
            <a:r>
              <a:rPr lang="en-US" altLang="zh-CN" sz="1600" dirty="0">
                <a:solidFill>
                  <a:srgbClr val="FF0000"/>
                </a:solidFill>
                <a:latin typeface="微软雅黑" panose="020B0503020204020204" pitchFamily="34" charset="-122"/>
                <a:ea typeface="微软雅黑" panose="020B0503020204020204" pitchFamily="34" charset="-122"/>
                <a:sym typeface="+mn-ea"/>
              </a:rPr>
              <a:t>77.3</a:t>
            </a:r>
            <a:r>
              <a:rPr lang="zh-CN" altLang="en-US" sz="1600" dirty="0">
                <a:solidFill>
                  <a:srgbClr val="FF0000"/>
                </a:solidFill>
                <a:latin typeface="微软雅黑" panose="020B0503020204020204" pitchFamily="34" charset="-122"/>
                <a:ea typeface="微软雅黑" panose="020B0503020204020204" pitchFamily="34" charset="-122"/>
                <a:sym typeface="+mn-ea"/>
              </a:rPr>
              <a:t>分</a:t>
            </a:r>
            <a:r>
              <a:rPr lang="zh-CN" altLang="en-US" sz="1600" dirty="0">
                <a:solidFill>
                  <a:srgbClr val="0F1115"/>
                </a:solidFill>
                <a:latin typeface="微软雅黑" panose="020B0503020204020204" pitchFamily="34" charset="-122"/>
                <a:ea typeface="微软雅黑" panose="020B0503020204020204" pitchFamily="34" charset="-122"/>
                <a:sym typeface="+mn-ea"/>
              </a:rPr>
              <a:t>的</a:t>
            </a:r>
            <a:r>
              <a:rPr lang="en-GB" altLang="zh-CN" sz="1600" dirty="0">
                <a:solidFill>
                  <a:srgbClr val="FF0000"/>
                </a:solidFill>
                <a:latin typeface="微软雅黑" panose="020B0503020204020204" pitchFamily="34" charset="-122"/>
                <a:ea typeface="微软雅黑" panose="020B0503020204020204" pitchFamily="34" charset="-122"/>
                <a:sym typeface="+mn-ea"/>
              </a:rPr>
              <a:t>EUR</a:t>
            </a:r>
            <a:r>
              <a:rPr lang="zh-CN" altLang="en-US" sz="1600" dirty="0">
                <a:solidFill>
                  <a:srgbClr val="0F1115"/>
                </a:solidFill>
                <a:latin typeface="微软雅黑" panose="020B0503020204020204" pitchFamily="34" charset="-122"/>
                <a:ea typeface="微软雅黑" panose="020B0503020204020204" pitchFamily="34" charset="-122"/>
                <a:sym typeface="+mn-ea"/>
              </a:rPr>
              <a:t>均值达</a:t>
            </a:r>
            <a:r>
              <a:rPr lang="en-US" altLang="zh-CN" sz="1600" dirty="0">
                <a:solidFill>
                  <a:srgbClr val="0F1115"/>
                </a:solidFill>
                <a:latin typeface="微软雅黑" panose="020B0503020204020204" pitchFamily="34" charset="-122"/>
                <a:ea typeface="微软雅黑" panose="020B0503020204020204" pitchFamily="34" charset="-122"/>
                <a:sym typeface="+mn-ea"/>
              </a:rPr>
              <a:t>1.11</a:t>
            </a:r>
            <a:r>
              <a:rPr lang="zh-CN" altLang="en-US" sz="1600" dirty="0">
                <a:solidFill>
                  <a:srgbClr val="0F1115"/>
                </a:solidFill>
                <a:latin typeface="微软雅黑" panose="020B0503020204020204" pitchFamily="34" charset="-122"/>
                <a:ea typeface="微软雅黑" panose="020B0503020204020204" pitchFamily="34" charset="-122"/>
                <a:sym typeface="+mn-ea"/>
              </a:rPr>
              <a:t>亿方，</a:t>
            </a:r>
            <a:r>
              <a:rPr lang="zh-CN" altLang="en-US" sz="1600" dirty="0">
                <a:solidFill>
                  <a:srgbClr val="FF0000"/>
                </a:solidFill>
                <a:latin typeface="微软雅黑" panose="020B0503020204020204" pitchFamily="34" charset="-122"/>
                <a:ea typeface="微软雅黑" panose="020B0503020204020204" pitchFamily="34" charset="-122"/>
                <a:sym typeface="+mn-ea"/>
              </a:rPr>
              <a:t>较低分组</a:t>
            </a:r>
            <a:r>
              <a:rPr lang="en-US" altLang="zh-CN" sz="1600" dirty="0">
                <a:solidFill>
                  <a:srgbClr val="0F1115"/>
                </a:solidFill>
                <a:latin typeface="微软雅黑" panose="020B0503020204020204" pitchFamily="34" charset="-122"/>
                <a:ea typeface="微软雅黑" panose="020B0503020204020204" pitchFamily="34" charset="-122"/>
                <a:sym typeface="+mn-ea"/>
              </a:rPr>
              <a:t>(&lt;70.7</a:t>
            </a:r>
            <a:r>
              <a:rPr lang="zh-CN" altLang="en-US" sz="1600" dirty="0">
                <a:solidFill>
                  <a:srgbClr val="0F1115"/>
                </a:solidFill>
                <a:latin typeface="微软雅黑" panose="020B0503020204020204" pitchFamily="34" charset="-122"/>
                <a:ea typeface="微软雅黑" panose="020B0503020204020204" pitchFamily="34" charset="-122"/>
                <a:sym typeface="+mn-ea"/>
              </a:rPr>
              <a:t>分）</a:t>
            </a:r>
            <a:r>
              <a:rPr lang="zh-CN" altLang="en-US" sz="1600" dirty="0">
                <a:solidFill>
                  <a:srgbClr val="FF0000"/>
                </a:solidFill>
                <a:latin typeface="微软雅黑" panose="020B0503020204020204" pitchFamily="34" charset="-122"/>
                <a:ea typeface="微软雅黑" panose="020B0503020204020204" pitchFamily="34" charset="-122"/>
                <a:sym typeface="+mn-ea"/>
              </a:rPr>
              <a:t>提升</a:t>
            </a:r>
            <a:r>
              <a:rPr lang="en-US" altLang="zh-CN" sz="1600" dirty="0">
                <a:solidFill>
                  <a:srgbClr val="FF0000"/>
                </a:solidFill>
                <a:latin typeface="微软雅黑" panose="020B0503020204020204" pitchFamily="34" charset="-122"/>
                <a:ea typeface="微软雅黑" panose="020B0503020204020204" pitchFamily="34" charset="-122"/>
                <a:sym typeface="+mn-ea"/>
              </a:rPr>
              <a:t>30%</a:t>
            </a:r>
            <a:r>
              <a:rPr lang="zh-CN" altLang="en-US" sz="1600" dirty="0">
                <a:solidFill>
                  <a:srgbClr val="0F1115"/>
                </a:solidFill>
                <a:latin typeface="微软雅黑" panose="020B0503020204020204" pitchFamily="34" charset="-122"/>
                <a:ea typeface="微软雅黑" panose="020B0503020204020204" pitchFamily="34" charset="-122"/>
                <a:sym typeface="+mn-ea"/>
              </a:rPr>
              <a:t>；同时</a:t>
            </a:r>
            <a:r>
              <a:rPr lang="zh-CN" altLang="en-US" sz="1600" dirty="0">
                <a:solidFill>
                  <a:srgbClr val="FF0000"/>
                </a:solidFill>
                <a:latin typeface="微软雅黑" panose="020B0503020204020204" pitchFamily="34" charset="-122"/>
                <a:ea typeface="微软雅黑" panose="020B0503020204020204" pitchFamily="34" charset="-122"/>
                <a:sym typeface="+mn-ea"/>
              </a:rPr>
              <a:t>千米EUR</a:t>
            </a:r>
            <a:r>
              <a:rPr lang="zh-CN" altLang="en-US" sz="1600" dirty="0">
                <a:solidFill>
                  <a:srgbClr val="0F1115"/>
                </a:solidFill>
                <a:latin typeface="微软雅黑" panose="020B0503020204020204" pitchFamily="34" charset="-122"/>
                <a:ea typeface="微软雅黑" panose="020B0503020204020204" pitchFamily="34" charset="-122"/>
                <a:sym typeface="+mn-ea"/>
              </a:rPr>
              <a:t>从0.515</a:t>
            </a:r>
            <a:r>
              <a:rPr lang="zh-CN" altLang="en-US" sz="1600" dirty="0">
                <a:solidFill>
                  <a:srgbClr val="FF0000"/>
                </a:solidFill>
                <a:latin typeface="微软雅黑" panose="020B0503020204020204" pitchFamily="34" charset="-122"/>
                <a:ea typeface="微软雅黑" panose="020B0503020204020204" pitchFamily="34" charset="-122"/>
                <a:sym typeface="+mn-ea"/>
              </a:rPr>
              <a:t>提升</a:t>
            </a:r>
            <a:r>
              <a:rPr lang="zh-CN" altLang="en-US" sz="1600" dirty="0">
                <a:solidFill>
                  <a:srgbClr val="0F1115"/>
                </a:solidFill>
                <a:latin typeface="微软雅黑" panose="020B0503020204020204" pitchFamily="34" charset="-122"/>
                <a:ea typeface="微软雅黑" panose="020B0503020204020204" pitchFamily="34" charset="-122"/>
                <a:sym typeface="+mn-ea"/>
              </a:rPr>
              <a:t>至0.56，说明</a:t>
            </a:r>
            <a:r>
              <a:rPr lang="zh-CN" altLang="en-US" sz="1600" dirty="0">
                <a:solidFill>
                  <a:srgbClr val="0F1115"/>
                </a:solidFill>
                <a:latin typeface="微软雅黑" panose="020B0503020204020204" pitchFamily="34" charset="-122"/>
                <a:ea typeface="微软雅黑" panose="020B0503020204020204" pitchFamily="34" charset="-122"/>
              </a:rPr>
              <a:t>G函数高评分往</a:t>
            </a:r>
            <a:r>
              <a:rPr lang="zh-CN" altLang="en-US" sz="1600" dirty="0">
                <a:solidFill>
                  <a:srgbClr val="0F1115"/>
                </a:solidFill>
                <a:latin typeface="微软雅黑" panose="020B0503020204020204" pitchFamily="34" charset="-122"/>
                <a:ea typeface="微软雅黑" panose="020B0503020204020204" pitchFamily="34" charset="-122"/>
                <a:sym typeface="+mn-ea"/>
              </a:rPr>
              <a:t>往意味着总产量高以及单位水平段的改造效率更优</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12、</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SRV</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EUR</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压裂效果主控因素分析</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——G</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函数反演改造体积（正相关）</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10" name="图片 9" descr="图片1"/>
          <p:cNvPicPr>
            <a:picLocks noChangeAspect="1"/>
          </p:cNvPicPr>
          <p:nvPr/>
        </p:nvPicPr>
        <p:blipFill>
          <a:blip r:embed="rId2"/>
          <a:stretch>
            <a:fillRect/>
          </a:stretch>
        </p:blipFill>
        <p:spPr>
          <a:xfrm>
            <a:off x="216535" y="2220595"/>
            <a:ext cx="6590665" cy="4077335"/>
          </a:xfrm>
          <a:prstGeom prst="rect">
            <a:avLst/>
          </a:prstGeom>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
          <p:cNvSpPr txBox="1">
            <a:spLocks noChangeArrowheads="1"/>
          </p:cNvSpPr>
          <p:nvPr/>
        </p:nvSpPr>
        <p:spPr bwMode="auto">
          <a:xfrm>
            <a:off x="334962" y="134249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cs typeface="微软雅黑" panose="020B0503020204020204" pitchFamily="34" charset="-122"/>
                <a:sym typeface="+mn-ea"/>
              </a:rPr>
              <a:t>构建</a:t>
            </a:r>
            <a:r>
              <a:rPr lang="zh-CN" altLang="en-US" sz="1600" dirty="0">
                <a:solidFill>
                  <a:srgbClr val="FF0000"/>
                </a:solidFill>
                <a:cs typeface="微软雅黑" panose="020B0503020204020204" pitchFamily="34" charset="-122"/>
                <a:sym typeface="+mn-ea"/>
              </a:rPr>
              <a:t>杨氏模量、泊松比、最小水平主应力</a:t>
            </a:r>
            <a:r>
              <a:rPr lang="zh-CN" altLang="en-US" sz="1600" dirty="0">
                <a:cs typeface="微软雅黑" panose="020B0503020204020204" pitchFamily="34" charset="-122"/>
                <a:sym typeface="+mn-ea"/>
              </a:rPr>
              <a:t>等地质参数体系，全面反映地层力学特征</a:t>
            </a:r>
            <a:endParaRPr lang="en-US" altLang="zh-CN" sz="1600" dirty="0">
              <a:cs typeface="微软雅黑" panose="020B0503020204020204" pitchFamily="34" charset="-122"/>
              <a:sym typeface="+mn-ea"/>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cs typeface="微软雅黑" panose="020B0503020204020204" pitchFamily="34" charset="-122"/>
                <a:sym typeface="+mn-ea"/>
              </a:rPr>
              <a:t>汇集</a:t>
            </a:r>
            <a:r>
              <a:rPr lang="zh-CN" altLang="en-US" sz="1600" dirty="0">
                <a:solidFill>
                  <a:srgbClr val="FF0000"/>
                </a:solidFill>
                <a:cs typeface="微软雅黑" panose="020B0503020204020204" pitchFamily="34" charset="-122"/>
                <a:sym typeface="+mn-ea"/>
              </a:rPr>
              <a:t>泵注时间、停泵前注入液量、瞬时停泵压力</a:t>
            </a:r>
            <a:r>
              <a:rPr lang="zh-CN" altLang="en-US" sz="1600" dirty="0">
                <a:cs typeface="微软雅黑" panose="020B0503020204020204" pitchFamily="34" charset="-122"/>
                <a:sym typeface="+mn-ea"/>
              </a:rPr>
              <a:t>等工程参数，实现多源异构数据统一管理</a:t>
            </a:r>
            <a:endParaRPr lang="en-US" altLang="zh-CN" sz="1600" dirty="0">
              <a:cs typeface="微软雅黑" panose="020B0503020204020204" pitchFamily="34" charset="-122"/>
              <a:sym typeface="+mn-ea"/>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cs typeface="微软雅黑" panose="020B0503020204020204" pitchFamily="34" charset="-122"/>
                <a:sym typeface="+mn-ea"/>
              </a:rPr>
              <a:t>建成</a:t>
            </a:r>
            <a:r>
              <a:rPr lang="zh-CN" altLang="en-US" sz="1600" dirty="0">
                <a:solidFill>
                  <a:srgbClr val="FF0000"/>
                </a:solidFill>
                <a:cs typeface="微软雅黑" panose="020B0503020204020204" pitchFamily="34" charset="-122"/>
                <a:sym typeface="+mn-ea"/>
              </a:rPr>
              <a:t>地质</a:t>
            </a:r>
            <a:r>
              <a:rPr lang="en-US" altLang="zh-CN" sz="1600" dirty="0">
                <a:solidFill>
                  <a:srgbClr val="FF0000"/>
                </a:solidFill>
                <a:cs typeface="微软雅黑" panose="020B0503020204020204" pitchFamily="34" charset="-122"/>
                <a:sym typeface="+mn-ea"/>
              </a:rPr>
              <a:t>—</a:t>
            </a:r>
            <a:r>
              <a:rPr lang="zh-CN" altLang="en-US" sz="1600" dirty="0">
                <a:solidFill>
                  <a:srgbClr val="FF0000"/>
                </a:solidFill>
                <a:cs typeface="微软雅黑" panose="020B0503020204020204" pitchFamily="34" charset="-122"/>
                <a:sym typeface="+mn-ea"/>
              </a:rPr>
              <a:t>工程信息及曲线分析</a:t>
            </a:r>
            <a:r>
              <a:rPr lang="zh-CN" altLang="en-US" sz="1600" dirty="0">
                <a:solidFill>
                  <a:srgbClr val="FF0000"/>
                </a:solidFill>
                <a:cs typeface="微软雅黑" panose="020B0503020204020204" pitchFamily="34" charset="-122"/>
                <a:sym typeface="+mn-ea"/>
              </a:rPr>
              <a:t>结果一体化数据库</a:t>
            </a:r>
            <a:r>
              <a:rPr lang="zh-CN" altLang="en-US" sz="1600" dirty="0">
                <a:cs typeface="微软雅黑" panose="020B0503020204020204" pitchFamily="34" charset="-122"/>
                <a:sym typeface="+mn-ea"/>
              </a:rPr>
              <a:t>，为压裂改造效果综合评估提供丰富可靠的数据支撑</a:t>
            </a:r>
            <a:endParaRPr lang="zh-CN" altLang="en-US" sz="1600" dirty="0">
              <a:cs typeface="微软雅黑" panose="020B0503020204020204" pitchFamily="34" charset="-122"/>
              <a:sym typeface="+mn-ea"/>
            </a:endParaRPr>
          </a:p>
        </p:txBody>
      </p:sp>
      <p:sp>
        <p:nvSpPr>
          <p:cNvPr id="38" name="文本框 38"/>
          <p:cNvSpPr txBox="1"/>
          <p:nvPr/>
        </p:nvSpPr>
        <p:spPr>
          <a:xfrm>
            <a:off x="184785" y="6096000"/>
            <a:ext cx="570738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地质参数获取</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1" name="图片 20"/>
          <p:cNvPicPr>
            <a:picLocks noChangeAspect="1"/>
          </p:cNvPicPr>
          <p:nvPr/>
        </p:nvPicPr>
        <p:blipFill>
          <a:blip r:embed="rId1"/>
          <a:stretch>
            <a:fillRect/>
          </a:stretch>
        </p:blipFill>
        <p:spPr>
          <a:xfrm>
            <a:off x="184785" y="2540000"/>
            <a:ext cx="5708015" cy="3389630"/>
          </a:xfrm>
          <a:prstGeom prst="rect">
            <a:avLst/>
          </a:prstGeom>
        </p:spPr>
      </p:pic>
      <p:pic>
        <p:nvPicPr>
          <p:cNvPr id="22" name="图片 21"/>
          <p:cNvPicPr>
            <a:picLocks noChangeAspect="1"/>
          </p:cNvPicPr>
          <p:nvPr/>
        </p:nvPicPr>
        <p:blipFill>
          <a:blip r:embed="rId2"/>
          <a:stretch>
            <a:fillRect/>
          </a:stretch>
        </p:blipFill>
        <p:spPr>
          <a:xfrm>
            <a:off x="5994400" y="2564130"/>
            <a:ext cx="5971540" cy="3359785"/>
          </a:xfrm>
          <a:prstGeom prst="rect">
            <a:avLst/>
          </a:prstGeom>
        </p:spPr>
      </p:pic>
      <p:sp>
        <p:nvSpPr>
          <p:cNvPr id="23" name="文本框 38"/>
          <p:cNvSpPr txBox="1"/>
          <p:nvPr/>
        </p:nvSpPr>
        <p:spPr>
          <a:xfrm>
            <a:off x="6019165" y="6096000"/>
            <a:ext cx="594741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工程参数获取</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9" name="矩形 8"/>
          <p:cNvSpPr/>
          <p:nvPr/>
        </p:nvSpPr>
        <p:spPr>
          <a:xfrm>
            <a:off x="429895" y="811530"/>
            <a:ext cx="95878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a:ln>
                  <a:noFill/>
                </a:ln>
                <a:solidFill>
                  <a:prstClr val="black"/>
                </a:solidFill>
                <a:effectLst/>
                <a:uLnTx/>
                <a:uFillTx/>
                <a:latin typeface="微软雅黑" panose="020B0503020204020204" pitchFamily="34" charset="-122"/>
                <a:ea typeface="微软雅黑" panose="020B0503020204020204" pitchFamily="34" charset="-122"/>
                <a:sym typeface="+mn-ea"/>
              </a:rPr>
              <a:t>13、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构建多源异构大数据库，实现地质</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工程信息及曲线分析结果统一管理</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9921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、构建了小波与</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G</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函数改造体积评价二维图版，实现了压裂效果综合</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定量评估</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建立了</a:t>
            </a:r>
            <a:r>
              <a:rPr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双指标</a:t>
            </a:r>
            <a:r>
              <a:rPr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四象限</a:t>
            </a:r>
            <a:r>
              <a:rPr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定量评价图版体系，分布越靠近右上的井，改造效果</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越好</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小波分析刻画</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改造体积的微观发育过程</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函数表征</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改造体积的宏观尺度</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双指标融合可精准诊断改造效果</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高产井普遍具有更高的小波和</a:t>
            </a:r>
            <a:r>
              <a:rPr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函数评分</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中产井</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在改造中</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裂缝扩展活跃或形成了较大裂缝尺寸</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，低产井则表现均</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很差</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1" name="TextBox 23"/>
          <p:cNvSpPr>
            <a:spLocks noChangeArrowheads="1"/>
          </p:cNvSpPr>
          <p:nvPr>
            <p:custDataLst>
              <p:tags r:id="rId1"/>
            </p:custDataLst>
          </p:nvPr>
        </p:nvSpPr>
        <p:spPr bwMode="auto">
          <a:xfrm>
            <a:off x="135890" y="6076950"/>
            <a:ext cx="116852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小波分析与</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G</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函数分析二维图版</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pic>
        <p:nvPicPr>
          <p:cNvPr id="9" name="图片 8" descr="二维图版6"/>
          <p:cNvPicPr>
            <a:picLocks noChangeAspect="1"/>
          </p:cNvPicPr>
          <p:nvPr/>
        </p:nvPicPr>
        <p:blipFill>
          <a:blip r:embed="rId2"/>
          <a:stretch>
            <a:fillRect/>
          </a:stretch>
        </p:blipFill>
        <p:spPr>
          <a:xfrm>
            <a:off x="135255" y="2491105"/>
            <a:ext cx="7170420" cy="3585845"/>
          </a:xfrm>
          <a:prstGeom prst="rect">
            <a:avLst/>
          </a:prstGeom>
        </p:spPr>
      </p:pic>
      <p:cxnSp>
        <p:nvCxnSpPr>
          <p:cNvPr id="10" name="直接连接符 9"/>
          <p:cNvCxnSpPr/>
          <p:nvPr/>
        </p:nvCxnSpPr>
        <p:spPr>
          <a:xfrm>
            <a:off x="531495" y="4161790"/>
            <a:ext cx="6679565" cy="0"/>
          </a:xfrm>
          <a:prstGeom prst="line">
            <a:avLst/>
          </a:prstGeom>
          <a:ln>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3415665" y="2735580"/>
            <a:ext cx="0" cy="2964180"/>
          </a:xfrm>
          <a:prstGeom prst="line">
            <a:avLst/>
          </a:prstGeom>
          <a:ln>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7643495" y="3216910"/>
            <a:ext cx="4335780" cy="2555240"/>
          </a:xfrm>
          <a:prstGeom prst="rect">
            <a:avLst/>
          </a:prstGeom>
          <a:noFill/>
          <a:ln>
            <a:noFill/>
          </a:ln>
        </p:spPr>
        <p:txBody>
          <a:bodyPr wrap="square"/>
          <a:p>
            <a:pPr marL="0" indent="0">
              <a:lnSpc>
                <a:spcPct val="200000"/>
              </a:lnSpc>
              <a:buClr>
                <a:srgbClr val="FF0000"/>
              </a:buClr>
            </a:pPr>
            <a:r>
              <a:rPr lang="zh-CN" altLang="en-US" sz="1600" dirty="0">
                <a:solidFill>
                  <a:srgbClr val="FF0000"/>
                </a:solidFill>
                <a:latin typeface="微软雅黑" panose="020B0503020204020204" pitchFamily="34" charset="-122"/>
                <a:ea typeface="微软雅黑" panose="020B0503020204020204" pitchFamily="34" charset="-122"/>
              </a:rPr>
              <a:t>足</a:t>
            </a:r>
            <a:r>
              <a:rPr lang="en-US" altLang="zh-CN" sz="1600" dirty="0">
                <a:solidFill>
                  <a:srgbClr val="FF0000"/>
                </a:solidFill>
                <a:latin typeface="微软雅黑" panose="020B0503020204020204" pitchFamily="34" charset="-122"/>
                <a:ea typeface="微软雅黑" panose="020B0503020204020204" pitchFamily="34" charset="-122"/>
              </a:rPr>
              <a:t>201</a:t>
            </a:r>
            <a:r>
              <a:rPr lang="zh-CN" altLang="en-US" sz="1600" dirty="0">
                <a:solidFill>
                  <a:srgbClr val="FF0000"/>
                </a:solidFill>
                <a:latin typeface="微软雅黑" panose="020B0503020204020204" pitchFamily="34" charset="-122"/>
                <a:ea typeface="微软雅黑" panose="020B0503020204020204" pitchFamily="34" charset="-122"/>
              </a:rPr>
              <a:t>井区整体改造效果最好（</a:t>
            </a:r>
            <a:r>
              <a:rPr lang="en-US" altLang="zh-CN" sz="1600" dirty="0">
                <a:solidFill>
                  <a:srgbClr val="FF0000"/>
                </a:solidFill>
                <a:latin typeface="微软雅黑" panose="020B0503020204020204" pitchFamily="34" charset="-122"/>
                <a:ea typeface="微软雅黑" panose="020B0503020204020204" pitchFamily="34" charset="-122"/>
              </a:rPr>
              <a:t>EUR</a:t>
            </a:r>
            <a:r>
              <a:rPr lang="zh-CN" altLang="en-US" sz="1600" dirty="0">
                <a:solidFill>
                  <a:srgbClr val="FF0000"/>
                </a:solidFill>
                <a:latin typeface="微软雅黑" panose="020B0503020204020204" pitchFamily="34" charset="-122"/>
                <a:ea typeface="微软雅黑" panose="020B0503020204020204" pitchFamily="34" charset="-122"/>
              </a:rPr>
              <a:t>最高）</a:t>
            </a:r>
            <a:endParaRPr lang="zh-CN" altLang="en-US" sz="1600" dirty="0">
              <a:solidFill>
                <a:srgbClr val="FF0000"/>
              </a:solidFill>
              <a:latin typeface="微软雅黑" panose="020B0503020204020204" pitchFamily="34" charset="-122"/>
              <a:ea typeface="微软雅黑" panose="020B0503020204020204" pitchFamily="34" charset="-122"/>
            </a:endParaRPr>
          </a:p>
          <a:p>
            <a:pPr marL="0" indent="0">
              <a:lnSpc>
                <a:spcPct val="200000"/>
              </a:lnSpc>
              <a:buClr>
                <a:srgbClr val="FF0000"/>
              </a:buClr>
            </a:pPr>
            <a:r>
              <a:rPr lang="zh-CN" altLang="en-US" sz="1600" dirty="0">
                <a:solidFill>
                  <a:srgbClr val="0000FF"/>
                </a:solidFill>
                <a:latin typeface="微软雅黑" panose="020B0503020204020204" pitchFamily="34" charset="-122"/>
                <a:ea typeface="微软雅黑" panose="020B0503020204020204" pitchFamily="34" charset="-122"/>
              </a:rPr>
              <a:t>泸</a:t>
            </a:r>
            <a:r>
              <a:rPr lang="en-US" altLang="zh-CN" sz="1600" dirty="0">
                <a:solidFill>
                  <a:srgbClr val="0000FF"/>
                </a:solidFill>
                <a:latin typeface="微软雅黑" panose="020B0503020204020204" pitchFamily="34" charset="-122"/>
                <a:ea typeface="微软雅黑" panose="020B0503020204020204" pitchFamily="34" charset="-122"/>
              </a:rPr>
              <a:t>203</a:t>
            </a:r>
            <a:r>
              <a:rPr lang="zh-CN" altLang="en-US" sz="1600" dirty="0">
                <a:solidFill>
                  <a:srgbClr val="0000FF"/>
                </a:solidFill>
                <a:latin typeface="微软雅黑" panose="020B0503020204020204" pitchFamily="34" charset="-122"/>
                <a:ea typeface="微软雅黑" panose="020B0503020204020204" pitchFamily="34" charset="-122"/>
              </a:rPr>
              <a:t>井区整体改造效果最差（</a:t>
            </a:r>
            <a:r>
              <a:rPr lang="en-US" altLang="zh-CN" sz="1600" dirty="0">
                <a:solidFill>
                  <a:srgbClr val="0000FF"/>
                </a:solidFill>
                <a:latin typeface="微软雅黑" panose="020B0503020204020204" pitchFamily="34" charset="-122"/>
                <a:ea typeface="微软雅黑" panose="020B0503020204020204" pitchFamily="34" charset="-122"/>
              </a:rPr>
              <a:t>EUR</a:t>
            </a:r>
            <a:r>
              <a:rPr lang="zh-CN" altLang="en-US" sz="1600" dirty="0">
                <a:solidFill>
                  <a:srgbClr val="0000FF"/>
                </a:solidFill>
                <a:latin typeface="微软雅黑" panose="020B0503020204020204" pitchFamily="34" charset="-122"/>
                <a:ea typeface="微软雅黑" panose="020B0503020204020204" pitchFamily="34" charset="-122"/>
              </a:rPr>
              <a:t>最低）</a:t>
            </a:r>
            <a:endParaRPr lang="zh-CN" altLang="en-US" sz="1600" dirty="0">
              <a:solidFill>
                <a:srgbClr val="0000FF"/>
              </a:solidFill>
              <a:latin typeface="微软雅黑" panose="020B0503020204020204" pitchFamily="34" charset="-122"/>
              <a:ea typeface="微软雅黑" panose="020B0503020204020204" pitchFamily="34" charset="-122"/>
            </a:endParaRPr>
          </a:p>
          <a:p>
            <a:pPr marL="0" indent="0">
              <a:lnSpc>
                <a:spcPct val="200000"/>
              </a:lnSpc>
              <a:buClr>
                <a:srgbClr val="FF0000"/>
              </a:buClr>
            </a:pPr>
            <a:r>
              <a:rPr lang="zh-CN" altLang="en-US" sz="1600" dirty="0">
                <a:solidFill>
                  <a:srgbClr val="FFC000"/>
                </a:solidFill>
                <a:latin typeface="微软雅黑" panose="020B0503020204020204" pitchFamily="34" charset="-122"/>
                <a:ea typeface="微软雅黑" panose="020B0503020204020204" pitchFamily="34" charset="-122"/>
              </a:rPr>
              <a:t>泸</a:t>
            </a:r>
            <a:r>
              <a:rPr lang="en-US" altLang="zh-CN" sz="1600" dirty="0">
                <a:solidFill>
                  <a:srgbClr val="FFC000"/>
                </a:solidFill>
                <a:latin typeface="微软雅黑" panose="020B0503020204020204" pitchFamily="34" charset="-122"/>
                <a:ea typeface="微软雅黑" panose="020B0503020204020204" pitchFamily="34" charset="-122"/>
              </a:rPr>
              <a:t>206</a:t>
            </a:r>
            <a:r>
              <a:rPr lang="zh-CN" altLang="en-US" sz="1600" dirty="0">
                <a:solidFill>
                  <a:srgbClr val="FFC000"/>
                </a:solidFill>
                <a:latin typeface="微软雅黑" panose="020B0503020204020204" pitchFamily="34" charset="-122"/>
                <a:ea typeface="微软雅黑" panose="020B0503020204020204" pitchFamily="34" charset="-122"/>
              </a:rPr>
              <a:t>井区</a:t>
            </a:r>
            <a:r>
              <a:rPr lang="en-US" altLang="zh-CN" sz="1600" dirty="0">
                <a:solidFill>
                  <a:srgbClr val="FFC000"/>
                </a:solidFill>
                <a:latin typeface="微软雅黑" panose="020B0503020204020204" pitchFamily="34" charset="-122"/>
                <a:ea typeface="微软雅黑" panose="020B0503020204020204" pitchFamily="34" charset="-122"/>
              </a:rPr>
              <a:t>H7</a:t>
            </a:r>
            <a:r>
              <a:rPr lang="zh-CN" altLang="en-US" sz="1600" dirty="0">
                <a:solidFill>
                  <a:srgbClr val="FFC000"/>
                </a:solidFill>
                <a:latin typeface="微软雅黑" panose="020B0503020204020204" pitchFamily="34" charset="-122"/>
                <a:ea typeface="微软雅黑" panose="020B0503020204020204" pitchFamily="34" charset="-122"/>
              </a:rPr>
              <a:t>平台改造过程中裂缝扩展活跃（小波评分高），</a:t>
            </a:r>
            <a:r>
              <a:rPr lang="zh-CN" altLang="en-US" sz="1600" dirty="0">
                <a:solidFill>
                  <a:srgbClr val="7030A0"/>
                </a:solidFill>
                <a:latin typeface="微软雅黑" panose="020B0503020204020204" pitchFamily="34" charset="-122"/>
                <a:ea typeface="微软雅黑" panose="020B0503020204020204" pitchFamily="34" charset="-122"/>
              </a:rPr>
              <a:t>但改造后支撑体积较泸</a:t>
            </a:r>
            <a:r>
              <a:rPr lang="en-US" altLang="zh-CN" sz="1600" dirty="0">
                <a:solidFill>
                  <a:srgbClr val="7030A0"/>
                </a:solidFill>
                <a:latin typeface="微软雅黑" panose="020B0503020204020204" pitchFamily="34" charset="-122"/>
                <a:ea typeface="微软雅黑" panose="020B0503020204020204" pitchFamily="34" charset="-122"/>
              </a:rPr>
              <a:t>206</a:t>
            </a:r>
            <a:r>
              <a:rPr lang="zh-CN" altLang="en-US" sz="1600" dirty="0">
                <a:solidFill>
                  <a:srgbClr val="7030A0"/>
                </a:solidFill>
                <a:latin typeface="微软雅黑" panose="020B0503020204020204" pitchFamily="34" charset="-122"/>
                <a:ea typeface="微软雅黑" panose="020B0503020204020204" pitchFamily="34" charset="-122"/>
              </a:rPr>
              <a:t>井区</a:t>
            </a:r>
            <a:r>
              <a:rPr lang="en-US" altLang="zh-CN" sz="1600" dirty="0">
                <a:solidFill>
                  <a:srgbClr val="7030A0"/>
                </a:solidFill>
                <a:latin typeface="微软雅黑" panose="020B0503020204020204" pitchFamily="34" charset="-122"/>
                <a:ea typeface="微软雅黑" panose="020B0503020204020204" pitchFamily="34" charset="-122"/>
              </a:rPr>
              <a:t>H8</a:t>
            </a:r>
            <a:r>
              <a:rPr lang="zh-CN" altLang="en-US" sz="1600" dirty="0">
                <a:solidFill>
                  <a:srgbClr val="7030A0"/>
                </a:solidFill>
                <a:latin typeface="微软雅黑" panose="020B0503020204020204" pitchFamily="34" charset="-122"/>
                <a:ea typeface="微软雅黑" panose="020B0503020204020204" pitchFamily="34" charset="-122"/>
              </a:rPr>
              <a:t>平台（</a:t>
            </a:r>
            <a:r>
              <a:rPr lang="en-US" altLang="zh-CN" sz="1600" dirty="0">
                <a:solidFill>
                  <a:srgbClr val="7030A0"/>
                </a:solidFill>
                <a:latin typeface="微软雅黑" panose="020B0503020204020204" pitchFamily="34" charset="-122"/>
                <a:ea typeface="微软雅黑" panose="020B0503020204020204" pitchFamily="34" charset="-122"/>
              </a:rPr>
              <a:t>G</a:t>
            </a:r>
            <a:r>
              <a:rPr lang="zh-CN" altLang="en-US" sz="1600" dirty="0">
                <a:solidFill>
                  <a:srgbClr val="7030A0"/>
                </a:solidFill>
                <a:latin typeface="微软雅黑" panose="020B0503020204020204" pitchFamily="34" charset="-122"/>
                <a:ea typeface="微软雅黑" panose="020B0503020204020204" pitchFamily="34" charset="-122"/>
              </a:rPr>
              <a:t>函数评分高）略小</a:t>
            </a:r>
            <a:endParaRPr lang="zh-CN" altLang="en-US" sz="1600" dirty="0">
              <a:solidFill>
                <a:srgbClr val="7030A0"/>
              </a:solidFill>
              <a:latin typeface="微软雅黑" panose="020B0503020204020204" pitchFamily="34" charset="-122"/>
              <a:ea typeface="微软雅黑" panose="020B0503020204020204" pitchFamily="34" charset="-122"/>
            </a:endParaRPr>
          </a:p>
        </p:txBody>
      </p:sp>
      <p:sp>
        <p:nvSpPr>
          <p:cNvPr id="17" name="任意多边形 16"/>
          <p:cNvSpPr/>
          <p:nvPr/>
        </p:nvSpPr>
        <p:spPr>
          <a:xfrm>
            <a:off x="3453130" y="2770505"/>
            <a:ext cx="3433445" cy="1345565"/>
          </a:xfrm>
          <a:custGeom>
            <a:avLst/>
            <a:gdLst>
              <a:gd name="connisteX0" fmla="*/ 939284 w 3433405"/>
              <a:gd name="connsiteY0" fmla="*/ 38311 h 1345353"/>
              <a:gd name="connisteX1" fmla="*/ 873879 w 3433405"/>
              <a:gd name="connsiteY1" fmla="*/ 38311 h 1345353"/>
              <a:gd name="connisteX2" fmla="*/ 807839 w 3433405"/>
              <a:gd name="connsiteY2" fmla="*/ 66886 h 1345353"/>
              <a:gd name="connisteX3" fmla="*/ 732909 w 3433405"/>
              <a:gd name="connsiteY3" fmla="*/ 104351 h 1345353"/>
              <a:gd name="connisteX4" fmla="*/ 666869 w 3433405"/>
              <a:gd name="connsiteY4" fmla="*/ 141816 h 1345353"/>
              <a:gd name="connisteX5" fmla="*/ 591939 w 3433405"/>
              <a:gd name="connsiteY5" fmla="*/ 188806 h 1345353"/>
              <a:gd name="connisteX6" fmla="*/ 525899 w 3433405"/>
              <a:gd name="connsiteY6" fmla="*/ 254846 h 1345353"/>
              <a:gd name="connisteX7" fmla="*/ 470019 w 3433405"/>
              <a:gd name="connsiteY7" fmla="*/ 320251 h 1345353"/>
              <a:gd name="connisteX8" fmla="*/ 403979 w 3433405"/>
              <a:gd name="connsiteY8" fmla="*/ 376766 h 1345353"/>
              <a:gd name="connisteX9" fmla="*/ 366514 w 3433405"/>
              <a:gd name="connsiteY9" fmla="*/ 442806 h 1345353"/>
              <a:gd name="connisteX10" fmla="*/ 309999 w 3433405"/>
              <a:gd name="connsiteY10" fmla="*/ 508211 h 1345353"/>
              <a:gd name="connisteX11" fmla="*/ 263009 w 3433405"/>
              <a:gd name="connsiteY11" fmla="*/ 574251 h 1345353"/>
              <a:gd name="connisteX12" fmla="*/ 225544 w 3433405"/>
              <a:gd name="connsiteY12" fmla="*/ 639656 h 1345353"/>
              <a:gd name="connisteX13" fmla="*/ 178554 w 3433405"/>
              <a:gd name="connsiteY13" fmla="*/ 705696 h 1345353"/>
              <a:gd name="connisteX14" fmla="*/ 122039 w 3433405"/>
              <a:gd name="connsiteY14" fmla="*/ 771101 h 1345353"/>
              <a:gd name="connisteX15" fmla="*/ 75049 w 3433405"/>
              <a:gd name="connsiteY15" fmla="*/ 837141 h 1345353"/>
              <a:gd name="connisteX16" fmla="*/ 28059 w 3433405"/>
              <a:gd name="connsiteY16" fmla="*/ 902546 h 1345353"/>
              <a:gd name="connisteX17" fmla="*/ 9644 w 3433405"/>
              <a:gd name="connsiteY17" fmla="*/ 968586 h 1345353"/>
              <a:gd name="connisteX18" fmla="*/ 119 w 3433405"/>
              <a:gd name="connsiteY18" fmla="*/ 1034626 h 1345353"/>
              <a:gd name="connisteX19" fmla="*/ 9644 w 3433405"/>
              <a:gd name="connsiteY19" fmla="*/ 1100031 h 1345353"/>
              <a:gd name="connisteX20" fmla="*/ 56634 w 3433405"/>
              <a:gd name="connsiteY20" fmla="*/ 1166071 h 1345353"/>
              <a:gd name="connisteX21" fmla="*/ 122039 w 3433405"/>
              <a:gd name="connsiteY21" fmla="*/ 1194011 h 1345353"/>
              <a:gd name="connisteX22" fmla="*/ 188079 w 3433405"/>
              <a:gd name="connsiteY22" fmla="*/ 1221951 h 1345353"/>
              <a:gd name="connisteX23" fmla="*/ 263009 w 3433405"/>
              <a:gd name="connsiteY23" fmla="*/ 1241001 h 1345353"/>
              <a:gd name="connisteX24" fmla="*/ 329049 w 3433405"/>
              <a:gd name="connsiteY24" fmla="*/ 1250526 h 1345353"/>
              <a:gd name="connisteX25" fmla="*/ 394454 w 3433405"/>
              <a:gd name="connsiteY25" fmla="*/ 1260051 h 1345353"/>
              <a:gd name="connisteX26" fmla="*/ 460494 w 3433405"/>
              <a:gd name="connsiteY26" fmla="*/ 1268941 h 1345353"/>
              <a:gd name="connisteX27" fmla="*/ 535424 w 3433405"/>
              <a:gd name="connsiteY27" fmla="*/ 1268941 h 1345353"/>
              <a:gd name="connisteX28" fmla="*/ 601464 w 3433405"/>
              <a:gd name="connsiteY28" fmla="*/ 1278466 h 1345353"/>
              <a:gd name="connisteX29" fmla="*/ 676394 w 3433405"/>
              <a:gd name="connsiteY29" fmla="*/ 1278466 h 1345353"/>
              <a:gd name="connisteX30" fmla="*/ 742434 w 3433405"/>
              <a:gd name="connsiteY30" fmla="*/ 1278466 h 1345353"/>
              <a:gd name="connisteX31" fmla="*/ 807839 w 3433405"/>
              <a:gd name="connsiteY31" fmla="*/ 1278466 h 1345353"/>
              <a:gd name="connisteX32" fmla="*/ 873879 w 3433405"/>
              <a:gd name="connsiteY32" fmla="*/ 1287991 h 1345353"/>
              <a:gd name="connisteX33" fmla="*/ 939284 w 3433405"/>
              <a:gd name="connsiteY33" fmla="*/ 1297516 h 1345353"/>
              <a:gd name="connisteX34" fmla="*/ 1005324 w 3433405"/>
              <a:gd name="connsiteY34" fmla="*/ 1307041 h 1345353"/>
              <a:gd name="connisteX35" fmla="*/ 1071364 w 3433405"/>
              <a:gd name="connsiteY35" fmla="*/ 1307041 h 1345353"/>
              <a:gd name="connisteX36" fmla="*/ 1136769 w 3433405"/>
              <a:gd name="connsiteY36" fmla="*/ 1315931 h 1345353"/>
              <a:gd name="connisteX37" fmla="*/ 1202809 w 3433405"/>
              <a:gd name="connsiteY37" fmla="*/ 1325456 h 1345353"/>
              <a:gd name="connisteX38" fmla="*/ 1268214 w 3433405"/>
              <a:gd name="connsiteY38" fmla="*/ 1334981 h 1345353"/>
              <a:gd name="connisteX39" fmla="*/ 1334254 w 3433405"/>
              <a:gd name="connsiteY39" fmla="*/ 1334981 h 1345353"/>
              <a:gd name="connisteX40" fmla="*/ 1399659 w 3433405"/>
              <a:gd name="connsiteY40" fmla="*/ 1334981 h 1345353"/>
              <a:gd name="connisteX41" fmla="*/ 1475224 w 3433405"/>
              <a:gd name="connsiteY41" fmla="*/ 1344506 h 1345353"/>
              <a:gd name="connisteX42" fmla="*/ 1540629 w 3433405"/>
              <a:gd name="connsiteY42" fmla="*/ 1344506 h 1345353"/>
              <a:gd name="connisteX43" fmla="*/ 1606669 w 3433405"/>
              <a:gd name="connsiteY43" fmla="*/ 1344506 h 1345353"/>
              <a:gd name="connisteX44" fmla="*/ 1672074 w 3433405"/>
              <a:gd name="connsiteY44" fmla="*/ 1344506 h 1345353"/>
              <a:gd name="connisteX45" fmla="*/ 1747639 w 3433405"/>
              <a:gd name="connsiteY45" fmla="*/ 1344506 h 1345353"/>
              <a:gd name="connisteX46" fmla="*/ 1813044 w 3433405"/>
              <a:gd name="connsiteY46" fmla="*/ 1344506 h 1345353"/>
              <a:gd name="connisteX47" fmla="*/ 1879084 w 3433405"/>
              <a:gd name="connsiteY47" fmla="*/ 1334981 h 1345353"/>
              <a:gd name="connisteX48" fmla="*/ 1944489 w 3433405"/>
              <a:gd name="connsiteY48" fmla="*/ 1325456 h 1345353"/>
              <a:gd name="connisteX49" fmla="*/ 2010529 w 3433405"/>
              <a:gd name="connsiteY49" fmla="*/ 1315931 h 1345353"/>
              <a:gd name="connisteX50" fmla="*/ 2076569 w 3433405"/>
              <a:gd name="connsiteY50" fmla="*/ 1307041 h 1345353"/>
              <a:gd name="connisteX51" fmla="*/ 2141974 w 3433405"/>
              <a:gd name="connsiteY51" fmla="*/ 1297516 h 1345353"/>
              <a:gd name="connisteX52" fmla="*/ 2208014 w 3433405"/>
              <a:gd name="connsiteY52" fmla="*/ 1287991 h 1345353"/>
              <a:gd name="connisteX53" fmla="*/ 2273419 w 3433405"/>
              <a:gd name="connsiteY53" fmla="*/ 1268941 h 1345353"/>
              <a:gd name="connisteX54" fmla="*/ 2348984 w 3433405"/>
              <a:gd name="connsiteY54" fmla="*/ 1250526 h 1345353"/>
              <a:gd name="connisteX55" fmla="*/ 2414389 w 3433405"/>
              <a:gd name="connsiteY55" fmla="*/ 1231476 h 1345353"/>
              <a:gd name="connisteX56" fmla="*/ 2480429 w 3433405"/>
              <a:gd name="connsiteY56" fmla="*/ 1203536 h 1345353"/>
              <a:gd name="connisteX57" fmla="*/ 2545834 w 3433405"/>
              <a:gd name="connsiteY57" fmla="*/ 1174961 h 1345353"/>
              <a:gd name="connisteX58" fmla="*/ 2611874 w 3433405"/>
              <a:gd name="connsiteY58" fmla="*/ 1137496 h 1345353"/>
              <a:gd name="connisteX59" fmla="*/ 2677279 w 3433405"/>
              <a:gd name="connsiteY59" fmla="*/ 1090506 h 1345353"/>
              <a:gd name="connisteX60" fmla="*/ 2743319 w 3433405"/>
              <a:gd name="connsiteY60" fmla="*/ 1053041 h 1345353"/>
              <a:gd name="connisteX61" fmla="*/ 2809359 w 3433405"/>
              <a:gd name="connsiteY61" fmla="*/ 1015576 h 1345353"/>
              <a:gd name="connisteX62" fmla="*/ 2874764 w 3433405"/>
              <a:gd name="connsiteY62" fmla="*/ 968586 h 1345353"/>
              <a:gd name="connisteX63" fmla="*/ 2940804 w 3433405"/>
              <a:gd name="connsiteY63" fmla="*/ 931121 h 1345353"/>
              <a:gd name="connisteX64" fmla="*/ 3006209 w 3433405"/>
              <a:gd name="connsiteY64" fmla="*/ 893656 h 1345353"/>
              <a:gd name="connisteX65" fmla="*/ 3072249 w 3433405"/>
              <a:gd name="connsiteY65" fmla="*/ 865081 h 1345353"/>
              <a:gd name="connisteX66" fmla="*/ 3137654 w 3433405"/>
              <a:gd name="connsiteY66" fmla="*/ 846666 h 1345353"/>
              <a:gd name="connisteX67" fmla="*/ 3203694 w 3433405"/>
              <a:gd name="connsiteY67" fmla="*/ 837141 h 1345353"/>
              <a:gd name="connisteX68" fmla="*/ 3269099 w 3433405"/>
              <a:gd name="connsiteY68" fmla="*/ 837141 h 1345353"/>
              <a:gd name="connisteX69" fmla="*/ 3335139 w 3433405"/>
              <a:gd name="connsiteY69" fmla="*/ 837141 h 1345353"/>
              <a:gd name="connisteX70" fmla="*/ 3401179 w 3433405"/>
              <a:gd name="connsiteY70" fmla="*/ 827616 h 1345353"/>
              <a:gd name="connisteX71" fmla="*/ 3429119 w 3433405"/>
              <a:gd name="connsiteY71" fmla="*/ 762211 h 1345353"/>
              <a:gd name="connisteX72" fmla="*/ 3429119 w 3433405"/>
              <a:gd name="connsiteY72" fmla="*/ 696171 h 1345353"/>
              <a:gd name="connisteX73" fmla="*/ 3401179 w 3433405"/>
              <a:gd name="connsiteY73" fmla="*/ 630131 h 1345353"/>
              <a:gd name="connisteX74" fmla="*/ 3344664 w 3433405"/>
              <a:gd name="connsiteY74" fmla="*/ 564726 h 1345353"/>
              <a:gd name="connisteX75" fmla="*/ 3269099 w 3433405"/>
              <a:gd name="connsiteY75" fmla="*/ 517736 h 1345353"/>
              <a:gd name="connisteX76" fmla="*/ 3175754 w 3433405"/>
              <a:gd name="connsiteY76" fmla="*/ 470746 h 1345353"/>
              <a:gd name="connisteX77" fmla="*/ 3109714 w 3433405"/>
              <a:gd name="connsiteY77" fmla="*/ 442806 h 1345353"/>
              <a:gd name="connisteX78" fmla="*/ 3034784 w 3433405"/>
              <a:gd name="connsiteY78" fmla="*/ 414231 h 1345353"/>
              <a:gd name="connisteX79" fmla="*/ 2959219 w 3433405"/>
              <a:gd name="connsiteY79" fmla="*/ 386291 h 1345353"/>
              <a:gd name="connisteX80" fmla="*/ 2884289 w 3433405"/>
              <a:gd name="connsiteY80" fmla="*/ 348826 h 1345353"/>
              <a:gd name="connisteX81" fmla="*/ 2818249 w 3433405"/>
              <a:gd name="connsiteY81" fmla="*/ 329776 h 1345353"/>
              <a:gd name="connisteX82" fmla="*/ 2743319 w 3433405"/>
              <a:gd name="connsiteY82" fmla="*/ 301836 h 1345353"/>
              <a:gd name="connisteX83" fmla="*/ 2668389 w 3433405"/>
              <a:gd name="connsiteY83" fmla="*/ 282786 h 1345353"/>
              <a:gd name="connisteX84" fmla="*/ 2602349 w 3433405"/>
              <a:gd name="connsiteY84" fmla="*/ 254846 h 1345353"/>
              <a:gd name="connisteX85" fmla="*/ 2508369 w 3433405"/>
              <a:gd name="connsiteY85" fmla="*/ 226271 h 1345353"/>
              <a:gd name="connisteX86" fmla="*/ 2433439 w 3433405"/>
              <a:gd name="connsiteY86" fmla="*/ 198331 h 1345353"/>
              <a:gd name="connisteX87" fmla="*/ 2357874 w 3433405"/>
              <a:gd name="connsiteY87" fmla="*/ 179281 h 1345353"/>
              <a:gd name="connisteX88" fmla="*/ 2292469 w 3433405"/>
              <a:gd name="connsiteY88" fmla="*/ 160866 h 1345353"/>
              <a:gd name="connisteX89" fmla="*/ 2226429 w 3433405"/>
              <a:gd name="connsiteY89" fmla="*/ 122766 h 1345353"/>
              <a:gd name="connisteX90" fmla="*/ 2161024 w 3433405"/>
              <a:gd name="connsiteY90" fmla="*/ 104351 h 1345353"/>
              <a:gd name="connisteX91" fmla="*/ 2085459 w 3433405"/>
              <a:gd name="connsiteY91" fmla="*/ 76411 h 1345353"/>
              <a:gd name="connisteX92" fmla="*/ 2020054 w 3433405"/>
              <a:gd name="connsiteY92" fmla="*/ 57361 h 1345353"/>
              <a:gd name="connisteX93" fmla="*/ 1954014 w 3433405"/>
              <a:gd name="connsiteY93" fmla="*/ 38311 h 1345353"/>
              <a:gd name="connisteX94" fmla="*/ 1888609 w 3433405"/>
              <a:gd name="connsiteY94" fmla="*/ 29421 h 1345353"/>
              <a:gd name="connisteX95" fmla="*/ 1822569 w 3433405"/>
              <a:gd name="connsiteY95" fmla="*/ 29421 h 1345353"/>
              <a:gd name="connisteX96" fmla="*/ 1757164 w 3433405"/>
              <a:gd name="connsiteY96" fmla="*/ 29421 h 1345353"/>
              <a:gd name="connisteX97" fmla="*/ 1691124 w 3433405"/>
              <a:gd name="connsiteY97" fmla="*/ 29421 h 1345353"/>
              <a:gd name="connisteX98" fmla="*/ 1625084 w 3433405"/>
              <a:gd name="connsiteY98" fmla="*/ 29421 h 1345353"/>
              <a:gd name="connisteX99" fmla="*/ 1559679 w 3433405"/>
              <a:gd name="connsiteY99" fmla="*/ 29421 h 1345353"/>
              <a:gd name="connisteX100" fmla="*/ 1493639 w 3433405"/>
              <a:gd name="connsiteY100" fmla="*/ 29421 h 1345353"/>
              <a:gd name="connisteX101" fmla="*/ 1428234 w 3433405"/>
              <a:gd name="connsiteY101" fmla="*/ 29421 h 1345353"/>
              <a:gd name="connisteX102" fmla="*/ 1362194 w 3433405"/>
              <a:gd name="connsiteY102" fmla="*/ 19896 h 1345353"/>
              <a:gd name="connisteX103" fmla="*/ 1296789 w 3433405"/>
              <a:gd name="connsiteY103" fmla="*/ 10371 h 1345353"/>
              <a:gd name="connisteX104" fmla="*/ 1230749 w 3433405"/>
              <a:gd name="connsiteY104" fmla="*/ 846 h 1345353"/>
              <a:gd name="connisteX105" fmla="*/ 1165344 w 3433405"/>
              <a:gd name="connsiteY105" fmla="*/ 846 h 1345353"/>
              <a:gd name="connisteX106" fmla="*/ 1099304 w 3433405"/>
              <a:gd name="connsiteY106" fmla="*/ 846 h 1345353"/>
              <a:gd name="connisteX107" fmla="*/ 1033264 w 3433405"/>
              <a:gd name="connsiteY107" fmla="*/ 846 h 1345353"/>
              <a:gd name="connisteX108" fmla="*/ 967859 w 3433405"/>
              <a:gd name="connsiteY108" fmla="*/ 10371 h 1345353"/>
              <a:gd name="connisteX109" fmla="*/ 901819 w 3433405"/>
              <a:gd name="connsiteY109" fmla="*/ 29421 h 134535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Lst>
            <a:rect l="l" t="t" r="r" b="b"/>
            <a:pathLst>
              <a:path w="3433405" h="1345353">
                <a:moveTo>
                  <a:pt x="939284" y="38312"/>
                </a:moveTo>
                <a:cubicBezTo>
                  <a:pt x="927219" y="37677"/>
                  <a:pt x="899914" y="32597"/>
                  <a:pt x="873879" y="38312"/>
                </a:cubicBezTo>
                <a:cubicBezTo>
                  <a:pt x="847844" y="44027"/>
                  <a:pt x="835779" y="53552"/>
                  <a:pt x="807839" y="66887"/>
                </a:cubicBezTo>
                <a:cubicBezTo>
                  <a:pt x="779899" y="80222"/>
                  <a:pt x="760849" y="89112"/>
                  <a:pt x="732909" y="104352"/>
                </a:cubicBezTo>
                <a:cubicBezTo>
                  <a:pt x="704969" y="119592"/>
                  <a:pt x="694809" y="124672"/>
                  <a:pt x="666869" y="141817"/>
                </a:cubicBezTo>
                <a:cubicBezTo>
                  <a:pt x="638929" y="158962"/>
                  <a:pt x="619879" y="165947"/>
                  <a:pt x="591939" y="188807"/>
                </a:cubicBezTo>
                <a:cubicBezTo>
                  <a:pt x="563999" y="211667"/>
                  <a:pt x="550029" y="228812"/>
                  <a:pt x="525899" y="254847"/>
                </a:cubicBezTo>
                <a:cubicBezTo>
                  <a:pt x="501769" y="280882"/>
                  <a:pt x="494149" y="296122"/>
                  <a:pt x="470019" y="320252"/>
                </a:cubicBezTo>
                <a:cubicBezTo>
                  <a:pt x="445889" y="344382"/>
                  <a:pt x="424934" y="352002"/>
                  <a:pt x="403979" y="376767"/>
                </a:cubicBezTo>
                <a:cubicBezTo>
                  <a:pt x="383024" y="401532"/>
                  <a:pt x="385564" y="416772"/>
                  <a:pt x="366514" y="442807"/>
                </a:cubicBezTo>
                <a:cubicBezTo>
                  <a:pt x="347464" y="468842"/>
                  <a:pt x="330954" y="482177"/>
                  <a:pt x="309999" y="508212"/>
                </a:cubicBezTo>
                <a:cubicBezTo>
                  <a:pt x="289044" y="534247"/>
                  <a:pt x="280154" y="548217"/>
                  <a:pt x="263009" y="574252"/>
                </a:cubicBezTo>
                <a:cubicBezTo>
                  <a:pt x="245864" y="600287"/>
                  <a:pt x="242689" y="613622"/>
                  <a:pt x="225544" y="639657"/>
                </a:cubicBezTo>
                <a:cubicBezTo>
                  <a:pt x="208399" y="665692"/>
                  <a:pt x="199509" y="679662"/>
                  <a:pt x="178554" y="705697"/>
                </a:cubicBezTo>
                <a:cubicBezTo>
                  <a:pt x="157599" y="731732"/>
                  <a:pt x="142994" y="745067"/>
                  <a:pt x="122039" y="771102"/>
                </a:cubicBezTo>
                <a:cubicBezTo>
                  <a:pt x="101084" y="797137"/>
                  <a:pt x="94099" y="811107"/>
                  <a:pt x="75049" y="837142"/>
                </a:cubicBezTo>
                <a:cubicBezTo>
                  <a:pt x="55999" y="863177"/>
                  <a:pt x="41394" y="876512"/>
                  <a:pt x="28059" y="902547"/>
                </a:cubicBezTo>
                <a:cubicBezTo>
                  <a:pt x="14724" y="928582"/>
                  <a:pt x="15359" y="941917"/>
                  <a:pt x="9644" y="968587"/>
                </a:cubicBezTo>
                <a:cubicBezTo>
                  <a:pt x="3929" y="995257"/>
                  <a:pt x="119" y="1008592"/>
                  <a:pt x="119" y="1034627"/>
                </a:cubicBezTo>
                <a:cubicBezTo>
                  <a:pt x="119" y="1060662"/>
                  <a:pt x="-1786" y="1073997"/>
                  <a:pt x="9644" y="1100032"/>
                </a:cubicBezTo>
                <a:cubicBezTo>
                  <a:pt x="21074" y="1126067"/>
                  <a:pt x="34409" y="1147022"/>
                  <a:pt x="56634" y="1166072"/>
                </a:cubicBezTo>
                <a:cubicBezTo>
                  <a:pt x="78859" y="1185122"/>
                  <a:pt x="96004" y="1182582"/>
                  <a:pt x="122039" y="1194012"/>
                </a:cubicBezTo>
                <a:cubicBezTo>
                  <a:pt x="148074" y="1205442"/>
                  <a:pt x="160139" y="1212427"/>
                  <a:pt x="188079" y="1221952"/>
                </a:cubicBezTo>
                <a:cubicBezTo>
                  <a:pt x="216019" y="1231477"/>
                  <a:pt x="235069" y="1235287"/>
                  <a:pt x="263009" y="1241002"/>
                </a:cubicBezTo>
                <a:cubicBezTo>
                  <a:pt x="290949" y="1246717"/>
                  <a:pt x="303014" y="1246717"/>
                  <a:pt x="329049" y="1250527"/>
                </a:cubicBezTo>
                <a:cubicBezTo>
                  <a:pt x="355084" y="1254337"/>
                  <a:pt x="368419" y="1256242"/>
                  <a:pt x="394454" y="1260052"/>
                </a:cubicBezTo>
                <a:cubicBezTo>
                  <a:pt x="420489" y="1263862"/>
                  <a:pt x="432554" y="1267037"/>
                  <a:pt x="460494" y="1268942"/>
                </a:cubicBezTo>
                <a:cubicBezTo>
                  <a:pt x="488434" y="1270847"/>
                  <a:pt x="507484" y="1267037"/>
                  <a:pt x="535424" y="1268942"/>
                </a:cubicBezTo>
                <a:cubicBezTo>
                  <a:pt x="563364" y="1270847"/>
                  <a:pt x="573524" y="1276562"/>
                  <a:pt x="601464" y="1278467"/>
                </a:cubicBezTo>
                <a:cubicBezTo>
                  <a:pt x="629404" y="1280372"/>
                  <a:pt x="648454" y="1278467"/>
                  <a:pt x="676394" y="1278467"/>
                </a:cubicBezTo>
                <a:cubicBezTo>
                  <a:pt x="704334" y="1278467"/>
                  <a:pt x="716399" y="1278467"/>
                  <a:pt x="742434" y="1278467"/>
                </a:cubicBezTo>
                <a:cubicBezTo>
                  <a:pt x="768469" y="1278467"/>
                  <a:pt x="781804" y="1276562"/>
                  <a:pt x="807839" y="1278467"/>
                </a:cubicBezTo>
                <a:cubicBezTo>
                  <a:pt x="833874" y="1280372"/>
                  <a:pt x="847844" y="1284182"/>
                  <a:pt x="873879" y="1287992"/>
                </a:cubicBezTo>
                <a:cubicBezTo>
                  <a:pt x="899914" y="1291802"/>
                  <a:pt x="913249" y="1293707"/>
                  <a:pt x="939284" y="1297517"/>
                </a:cubicBezTo>
                <a:cubicBezTo>
                  <a:pt x="965319" y="1301327"/>
                  <a:pt x="978654" y="1305137"/>
                  <a:pt x="1005324" y="1307042"/>
                </a:cubicBezTo>
                <a:cubicBezTo>
                  <a:pt x="1031994" y="1308947"/>
                  <a:pt x="1045329" y="1305137"/>
                  <a:pt x="1071364" y="1307042"/>
                </a:cubicBezTo>
                <a:cubicBezTo>
                  <a:pt x="1097399" y="1308947"/>
                  <a:pt x="1110734" y="1312122"/>
                  <a:pt x="1136769" y="1315932"/>
                </a:cubicBezTo>
                <a:cubicBezTo>
                  <a:pt x="1162804" y="1319742"/>
                  <a:pt x="1176774" y="1321647"/>
                  <a:pt x="1202809" y="1325457"/>
                </a:cubicBezTo>
                <a:cubicBezTo>
                  <a:pt x="1228844" y="1329267"/>
                  <a:pt x="1242179" y="1333077"/>
                  <a:pt x="1268214" y="1334982"/>
                </a:cubicBezTo>
                <a:cubicBezTo>
                  <a:pt x="1294249" y="1336887"/>
                  <a:pt x="1308219" y="1334982"/>
                  <a:pt x="1334254" y="1334982"/>
                </a:cubicBezTo>
                <a:cubicBezTo>
                  <a:pt x="1360289" y="1334982"/>
                  <a:pt x="1371719" y="1333077"/>
                  <a:pt x="1399659" y="1334982"/>
                </a:cubicBezTo>
                <a:cubicBezTo>
                  <a:pt x="1427599" y="1336887"/>
                  <a:pt x="1447284" y="1342602"/>
                  <a:pt x="1475224" y="1344507"/>
                </a:cubicBezTo>
                <a:cubicBezTo>
                  <a:pt x="1503164" y="1346412"/>
                  <a:pt x="1514594" y="1344507"/>
                  <a:pt x="1540629" y="1344507"/>
                </a:cubicBezTo>
                <a:cubicBezTo>
                  <a:pt x="1566664" y="1344507"/>
                  <a:pt x="1580634" y="1344507"/>
                  <a:pt x="1606669" y="1344507"/>
                </a:cubicBezTo>
                <a:cubicBezTo>
                  <a:pt x="1632704" y="1344507"/>
                  <a:pt x="1644134" y="1344507"/>
                  <a:pt x="1672074" y="1344507"/>
                </a:cubicBezTo>
                <a:cubicBezTo>
                  <a:pt x="1700014" y="1344507"/>
                  <a:pt x="1719699" y="1344507"/>
                  <a:pt x="1747639" y="1344507"/>
                </a:cubicBezTo>
                <a:cubicBezTo>
                  <a:pt x="1775579" y="1344507"/>
                  <a:pt x="1787009" y="1346412"/>
                  <a:pt x="1813044" y="1344507"/>
                </a:cubicBezTo>
                <a:cubicBezTo>
                  <a:pt x="1839079" y="1342602"/>
                  <a:pt x="1853049" y="1338792"/>
                  <a:pt x="1879084" y="1334982"/>
                </a:cubicBezTo>
                <a:cubicBezTo>
                  <a:pt x="1905119" y="1331172"/>
                  <a:pt x="1918454" y="1329267"/>
                  <a:pt x="1944489" y="1325457"/>
                </a:cubicBezTo>
                <a:cubicBezTo>
                  <a:pt x="1970524" y="1321647"/>
                  <a:pt x="1983859" y="1319742"/>
                  <a:pt x="2010529" y="1315932"/>
                </a:cubicBezTo>
                <a:cubicBezTo>
                  <a:pt x="2037199" y="1312122"/>
                  <a:pt x="2050534" y="1310852"/>
                  <a:pt x="2076569" y="1307042"/>
                </a:cubicBezTo>
                <a:cubicBezTo>
                  <a:pt x="2102604" y="1303232"/>
                  <a:pt x="2115939" y="1301327"/>
                  <a:pt x="2141974" y="1297517"/>
                </a:cubicBezTo>
                <a:cubicBezTo>
                  <a:pt x="2168009" y="1293707"/>
                  <a:pt x="2181979" y="1293707"/>
                  <a:pt x="2208014" y="1287992"/>
                </a:cubicBezTo>
                <a:cubicBezTo>
                  <a:pt x="2234049" y="1282277"/>
                  <a:pt x="2245479" y="1276562"/>
                  <a:pt x="2273419" y="1268942"/>
                </a:cubicBezTo>
                <a:cubicBezTo>
                  <a:pt x="2301359" y="1261322"/>
                  <a:pt x="2321044" y="1258147"/>
                  <a:pt x="2348984" y="1250527"/>
                </a:cubicBezTo>
                <a:cubicBezTo>
                  <a:pt x="2376924" y="1242907"/>
                  <a:pt x="2388354" y="1241002"/>
                  <a:pt x="2414389" y="1231477"/>
                </a:cubicBezTo>
                <a:cubicBezTo>
                  <a:pt x="2440424" y="1221952"/>
                  <a:pt x="2454394" y="1214967"/>
                  <a:pt x="2480429" y="1203537"/>
                </a:cubicBezTo>
                <a:cubicBezTo>
                  <a:pt x="2506464" y="1192107"/>
                  <a:pt x="2519799" y="1188297"/>
                  <a:pt x="2545834" y="1174962"/>
                </a:cubicBezTo>
                <a:cubicBezTo>
                  <a:pt x="2571869" y="1161627"/>
                  <a:pt x="2585839" y="1154642"/>
                  <a:pt x="2611874" y="1137497"/>
                </a:cubicBezTo>
                <a:cubicBezTo>
                  <a:pt x="2637909" y="1120352"/>
                  <a:pt x="2651244" y="1107652"/>
                  <a:pt x="2677279" y="1090507"/>
                </a:cubicBezTo>
                <a:cubicBezTo>
                  <a:pt x="2703314" y="1073362"/>
                  <a:pt x="2716649" y="1068282"/>
                  <a:pt x="2743319" y="1053042"/>
                </a:cubicBezTo>
                <a:cubicBezTo>
                  <a:pt x="2769989" y="1037802"/>
                  <a:pt x="2783324" y="1032722"/>
                  <a:pt x="2809359" y="1015577"/>
                </a:cubicBezTo>
                <a:cubicBezTo>
                  <a:pt x="2835394" y="998432"/>
                  <a:pt x="2848729" y="985732"/>
                  <a:pt x="2874764" y="968587"/>
                </a:cubicBezTo>
                <a:cubicBezTo>
                  <a:pt x="2900799" y="951442"/>
                  <a:pt x="2914769" y="946362"/>
                  <a:pt x="2940804" y="931122"/>
                </a:cubicBezTo>
                <a:cubicBezTo>
                  <a:pt x="2966839" y="915882"/>
                  <a:pt x="2980174" y="906992"/>
                  <a:pt x="3006209" y="893657"/>
                </a:cubicBezTo>
                <a:cubicBezTo>
                  <a:pt x="3032244" y="880322"/>
                  <a:pt x="3046214" y="874607"/>
                  <a:pt x="3072249" y="865082"/>
                </a:cubicBezTo>
                <a:cubicBezTo>
                  <a:pt x="3098284" y="855557"/>
                  <a:pt x="3111619" y="852382"/>
                  <a:pt x="3137654" y="846667"/>
                </a:cubicBezTo>
                <a:cubicBezTo>
                  <a:pt x="3163689" y="840952"/>
                  <a:pt x="3177659" y="839047"/>
                  <a:pt x="3203694" y="837142"/>
                </a:cubicBezTo>
                <a:cubicBezTo>
                  <a:pt x="3229729" y="835237"/>
                  <a:pt x="3243064" y="837142"/>
                  <a:pt x="3269099" y="837142"/>
                </a:cubicBezTo>
                <a:cubicBezTo>
                  <a:pt x="3295134" y="837142"/>
                  <a:pt x="3308469" y="839047"/>
                  <a:pt x="3335139" y="837142"/>
                </a:cubicBezTo>
                <a:cubicBezTo>
                  <a:pt x="3361809" y="835237"/>
                  <a:pt x="3382129" y="842857"/>
                  <a:pt x="3401179" y="827617"/>
                </a:cubicBezTo>
                <a:cubicBezTo>
                  <a:pt x="3420229" y="812377"/>
                  <a:pt x="3423404" y="788247"/>
                  <a:pt x="3429119" y="762212"/>
                </a:cubicBezTo>
                <a:cubicBezTo>
                  <a:pt x="3434834" y="736177"/>
                  <a:pt x="3434834" y="722842"/>
                  <a:pt x="3429119" y="696172"/>
                </a:cubicBezTo>
                <a:cubicBezTo>
                  <a:pt x="3423404" y="669502"/>
                  <a:pt x="3418324" y="656167"/>
                  <a:pt x="3401179" y="630132"/>
                </a:cubicBezTo>
                <a:cubicBezTo>
                  <a:pt x="3384034" y="604097"/>
                  <a:pt x="3371334" y="586952"/>
                  <a:pt x="3344664" y="564727"/>
                </a:cubicBezTo>
                <a:cubicBezTo>
                  <a:pt x="3317994" y="542502"/>
                  <a:pt x="3302754" y="536787"/>
                  <a:pt x="3269099" y="517737"/>
                </a:cubicBezTo>
                <a:cubicBezTo>
                  <a:pt x="3235444" y="498687"/>
                  <a:pt x="3207504" y="485987"/>
                  <a:pt x="3175754" y="470747"/>
                </a:cubicBezTo>
                <a:cubicBezTo>
                  <a:pt x="3144004" y="455507"/>
                  <a:pt x="3137654" y="454237"/>
                  <a:pt x="3109714" y="442807"/>
                </a:cubicBezTo>
                <a:cubicBezTo>
                  <a:pt x="3081774" y="431377"/>
                  <a:pt x="3064629" y="425662"/>
                  <a:pt x="3034784" y="414232"/>
                </a:cubicBezTo>
                <a:cubicBezTo>
                  <a:pt x="3004939" y="402802"/>
                  <a:pt x="2989064" y="399627"/>
                  <a:pt x="2959219" y="386292"/>
                </a:cubicBezTo>
                <a:cubicBezTo>
                  <a:pt x="2929374" y="372957"/>
                  <a:pt x="2912229" y="360257"/>
                  <a:pt x="2884289" y="348827"/>
                </a:cubicBezTo>
                <a:cubicBezTo>
                  <a:pt x="2856349" y="337397"/>
                  <a:pt x="2846189" y="339302"/>
                  <a:pt x="2818249" y="329777"/>
                </a:cubicBezTo>
                <a:cubicBezTo>
                  <a:pt x="2790309" y="320252"/>
                  <a:pt x="2773164" y="311362"/>
                  <a:pt x="2743319" y="301837"/>
                </a:cubicBezTo>
                <a:cubicBezTo>
                  <a:pt x="2713474" y="292312"/>
                  <a:pt x="2696329" y="292312"/>
                  <a:pt x="2668389" y="282787"/>
                </a:cubicBezTo>
                <a:cubicBezTo>
                  <a:pt x="2640449" y="273262"/>
                  <a:pt x="2634099" y="266277"/>
                  <a:pt x="2602349" y="254847"/>
                </a:cubicBezTo>
                <a:cubicBezTo>
                  <a:pt x="2570599" y="243417"/>
                  <a:pt x="2542024" y="237702"/>
                  <a:pt x="2508369" y="226272"/>
                </a:cubicBezTo>
                <a:cubicBezTo>
                  <a:pt x="2474714" y="214842"/>
                  <a:pt x="2463284" y="207857"/>
                  <a:pt x="2433439" y="198332"/>
                </a:cubicBezTo>
                <a:cubicBezTo>
                  <a:pt x="2403594" y="188807"/>
                  <a:pt x="2385814" y="186902"/>
                  <a:pt x="2357874" y="179282"/>
                </a:cubicBezTo>
                <a:cubicBezTo>
                  <a:pt x="2329934" y="171662"/>
                  <a:pt x="2318504" y="172297"/>
                  <a:pt x="2292469" y="160867"/>
                </a:cubicBezTo>
                <a:cubicBezTo>
                  <a:pt x="2266434" y="149437"/>
                  <a:pt x="2252464" y="134197"/>
                  <a:pt x="2226429" y="122767"/>
                </a:cubicBezTo>
                <a:cubicBezTo>
                  <a:pt x="2200394" y="111337"/>
                  <a:pt x="2188964" y="113877"/>
                  <a:pt x="2161024" y="104352"/>
                </a:cubicBezTo>
                <a:cubicBezTo>
                  <a:pt x="2133084" y="94827"/>
                  <a:pt x="2113399" y="85937"/>
                  <a:pt x="2085459" y="76412"/>
                </a:cubicBezTo>
                <a:cubicBezTo>
                  <a:pt x="2057519" y="66887"/>
                  <a:pt x="2046089" y="64982"/>
                  <a:pt x="2020054" y="57362"/>
                </a:cubicBezTo>
                <a:cubicBezTo>
                  <a:pt x="1994019" y="49742"/>
                  <a:pt x="1980049" y="44027"/>
                  <a:pt x="1954014" y="38312"/>
                </a:cubicBezTo>
                <a:cubicBezTo>
                  <a:pt x="1927979" y="32597"/>
                  <a:pt x="1914644" y="31327"/>
                  <a:pt x="1888609" y="29422"/>
                </a:cubicBezTo>
                <a:cubicBezTo>
                  <a:pt x="1862574" y="27517"/>
                  <a:pt x="1848604" y="29422"/>
                  <a:pt x="1822569" y="29422"/>
                </a:cubicBezTo>
                <a:cubicBezTo>
                  <a:pt x="1796534" y="29422"/>
                  <a:pt x="1783199" y="29422"/>
                  <a:pt x="1757164" y="29422"/>
                </a:cubicBezTo>
                <a:cubicBezTo>
                  <a:pt x="1731129" y="29422"/>
                  <a:pt x="1717794" y="29422"/>
                  <a:pt x="1691124" y="29422"/>
                </a:cubicBezTo>
                <a:cubicBezTo>
                  <a:pt x="1664454" y="29422"/>
                  <a:pt x="1651119" y="29422"/>
                  <a:pt x="1625084" y="29422"/>
                </a:cubicBezTo>
                <a:cubicBezTo>
                  <a:pt x="1599049" y="29422"/>
                  <a:pt x="1585714" y="29422"/>
                  <a:pt x="1559679" y="29422"/>
                </a:cubicBezTo>
                <a:cubicBezTo>
                  <a:pt x="1533644" y="29422"/>
                  <a:pt x="1519674" y="29422"/>
                  <a:pt x="1493639" y="29422"/>
                </a:cubicBezTo>
                <a:cubicBezTo>
                  <a:pt x="1467604" y="29422"/>
                  <a:pt x="1454269" y="31327"/>
                  <a:pt x="1428234" y="29422"/>
                </a:cubicBezTo>
                <a:cubicBezTo>
                  <a:pt x="1402199" y="27517"/>
                  <a:pt x="1388229" y="23707"/>
                  <a:pt x="1362194" y="19897"/>
                </a:cubicBezTo>
                <a:cubicBezTo>
                  <a:pt x="1336159" y="16087"/>
                  <a:pt x="1322824" y="14182"/>
                  <a:pt x="1296789" y="10372"/>
                </a:cubicBezTo>
                <a:cubicBezTo>
                  <a:pt x="1270754" y="6562"/>
                  <a:pt x="1256784" y="2752"/>
                  <a:pt x="1230749" y="847"/>
                </a:cubicBezTo>
                <a:cubicBezTo>
                  <a:pt x="1204714" y="-1058"/>
                  <a:pt x="1191379" y="847"/>
                  <a:pt x="1165344" y="847"/>
                </a:cubicBezTo>
                <a:cubicBezTo>
                  <a:pt x="1139309" y="847"/>
                  <a:pt x="1125974" y="847"/>
                  <a:pt x="1099304" y="847"/>
                </a:cubicBezTo>
                <a:cubicBezTo>
                  <a:pt x="1072634" y="847"/>
                  <a:pt x="1059299" y="-1058"/>
                  <a:pt x="1033264" y="847"/>
                </a:cubicBezTo>
                <a:cubicBezTo>
                  <a:pt x="1007229" y="2752"/>
                  <a:pt x="993894" y="4657"/>
                  <a:pt x="967859" y="10372"/>
                </a:cubicBezTo>
                <a:cubicBezTo>
                  <a:pt x="941824" y="16087"/>
                  <a:pt x="913884" y="25612"/>
                  <a:pt x="901819" y="29422"/>
                </a:cubicBezTo>
              </a:path>
            </a:pathLst>
          </a:custGeom>
          <a:no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sp>
        <p:nvSpPr>
          <p:cNvPr id="18" name="任意多边形 17"/>
          <p:cNvSpPr/>
          <p:nvPr/>
        </p:nvSpPr>
        <p:spPr>
          <a:xfrm>
            <a:off x="3466465" y="2712085"/>
            <a:ext cx="3395980" cy="1413510"/>
          </a:xfrm>
          <a:custGeom>
            <a:avLst/>
            <a:gdLst>
              <a:gd name="connisteX0" fmla="*/ 1041820 w 3395789"/>
              <a:gd name="connsiteY0" fmla="*/ 16086 h 1413651"/>
              <a:gd name="connisteX1" fmla="*/ 975780 w 3395789"/>
              <a:gd name="connsiteY1" fmla="*/ 31326 h 1413651"/>
              <a:gd name="connisteX2" fmla="*/ 904660 w 3395789"/>
              <a:gd name="connsiteY2" fmla="*/ 66886 h 1413651"/>
              <a:gd name="connisteX3" fmla="*/ 838620 w 3395789"/>
              <a:gd name="connsiteY3" fmla="*/ 97366 h 1413651"/>
              <a:gd name="connisteX4" fmla="*/ 767500 w 3395789"/>
              <a:gd name="connsiteY4" fmla="*/ 138006 h 1413651"/>
              <a:gd name="connisteX5" fmla="*/ 701460 w 3395789"/>
              <a:gd name="connsiteY5" fmla="*/ 188806 h 1413651"/>
              <a:gd name="connisteX6" fmla="*/ 635420 w 3395789"/>
              <a:gd name="connsiteY6" fmla="*/ 234526 h 1413651"/>
              <a:gd name="connisteX7" fmla="*/ 569380 w 3395789"/>
              <a:gd name="connsiteY7" fmla="*/ 275166 h 1413651"/>
              <a:gd name="connisteX8" fmla="*/ 498260 w 3395789"/>
              <a:gd name="connsiteY8" fmla="*/ 315806 h 1413651"/>
              <a:gd name="connisteX9" fmla="*/ 432220 w 3395789"/>
              <a:gd name="connsiteY9" fmla="*/ 361526 h 1413651"/>
              <a:gd name="connisteX10" fmla="*/ 366180 w 3395789"/>
              <a:gd name="connsiteY10" fmla="*/ 407246 h 1413651"/>
              <a:gd name="connisteX11" fmla="*/ 300140 w 3395789"/>
              <a:gd name="connsiteY11" fmla="*/ 458046 h 1413651"/>
              <a:gd name="connisteX12" fmla="*/ 249340 w 3395789"/>
              <a:gd name="connsiteY12" fmla="*/ 524086 h 1413651"/>
              <a:gd name="connisteX13" fmla="*/ 193460 w 3395789"/>
              <a:gd name="connsiteY13" fmla="*/ 590126 h 1413651"/>
              <a:gd name="connisteX14" fmla="*/ 137580 w 3395789"/>
              <a:gd name="connsiteY14" fmla="*/ 661246 h 1413651"/>
              <a:gd name="connisteX15" fmla="*/ 91860 w 3395789"/>
              <a:gd name="connsiteY15" fmla="*/ 727286 h 1413651"/>
              <a:gd name="connisteX16" fmla="*/ 51220 w 3395789"/>
              <a:gd name="connsiteY16" fmla="*/ 798406 h 1413651"/>
              <a:gd name="connisteX17" fmla="*/ 25820 w 3395789"/>
              <a:gd name="connsiteY17" fmla="*/ 864446 h 1413651"/>
              <a:gd name="connisteX18" fmla="*/ 10580 w 3395789"/>
              <a:gd name="connsiteY18" fmla="*/ 930486 h 1413651"/>
              <a:gd name="connisteX19" fmla="*/ 5500 w 3395789"/>
              <a:gd name="connsiteY19" fmla="*/ 996526 h 1413651"/>
              <a:gd name="connisteX20" fmla="*/ 420 w 3395789"/>
              <a:gd name="connsiteY20" fmla="*/ 1062566 h 1413651"/>
              <a:gd name="connisteX21" fmla="*/ 15660 w 3395789"/>
              <a:gd name="connsiteY21" fmla="*/ 1128606 h 1413651"/>
              <a:gd name="connisteX22" fmla="*/ 71540 w 3395789"/>
              <a:gd name="connsiteY22" fmla="*/ 1194646 h 1413651"/>
              <a:gd name="connisteX23" fmla="*/ 142660 w 3395789"/>
              <a:gd name="connsiteY23" fmla="*/ 1235286 h 1413651"/>
              <a:gd name="connisteX24" fmla="*/ 208700 w 3395789"/>
              <a:gd name="connsiteY24" fmla="*/ 1260686 h 1413651"/>
              <a:gd name="connisteX25" fmla="*/ 279820 w 3395789"/>
              <a:gd name="connsiteY25" fmla="*/ 1275926 h 1413651"/>
              <a:gd name="connisteX26" fmla="*/ 345860 w 3395789"/>
              <a:gd name="connsiteY26" fmla="*/ 1291166 h 1413651"/>
              <a:gd name="connisteX27" fmla="*/ 411900 w 3395789"/>
              <a:gd name="connsiteY27" fmla="*/ 1306406 h 1413651"/>
              <a:gd name="connisteX28" fmla="*/ 483020 w 3395789"/>
              <a:gd name="connsiteY28" fmla="*/ 1316566 h 1413651"/>
              <a:gd name="connisteX29" fmla="*/ 554140 w 3395789"/>
              <a:gd name="connsiteY29" fmla="*/ 1331806 h 1413651"/>
              <a:gd name="connisteX30" fmla="*/ 625260 w 3395789"/>
              <a:gd name="connsiteY30" fmla="*/ 1336886 h 1413651"/>
              <a:gd name="connisteX31" fmla="*/ 691300 w 3395789"/>
              <a:gd name="connsiteY31" fmla="*/ 1347046 h 1413651"/>
              <a:gd name="connisteX32" fmla="*/ 757340 w 3395789"/>
              <a:gd name="connsiteY32" fmla="*/ 1352126 h 1413651"/>
              <a:gd name="connisteX33" fmla="*/ 823380 w 3395789"/>
              <a:gd name="connsiteY33" fmla="*/ 1362286 h 1413651"/>
              <a:gd name="connisteX34" fmla="*/ 889420 w 3395789"/>
              <a:gd name="connsiteY34" fmla="*/ 1367366 h 1413651"/>
              <a:gd name="connisteX35" fmla="*/ 960540 w 3395789"/>
              <a:gd name="connsiteY35" fmla="*/ 1377526 h 1413651"/>
              <a:gd name="connisteX36" fmla="*/ 1036740 w 3395789"/>
              <a:gd name="connsiteY36" fmla="*/ 1382606 h 1413651"/>
              <a:gd name="connisteX37" fmla="*/ 1102780 w 3395789"/>
              <a:gd name="connsiteY37" fmla="*/ 1392766 h 1413651"/>
              <a:gd name="connisteX38" fmla="*/ 1173900 w 3395789"/>
              <a:gd name="connsiteY38" fmla="*/ 1397846 h 1413651"/>
              <a:gd name="connisteX39" fmla="*/ 1250100 w 3395789"/>
              <a:gd name="connsiteY39" fmla="*/ 1397846 h 1413651"/>
              <a:gd name="connisteX40" fmla="*/ 1321220 w 3395789"/>
              <a:gd name="connsiteY40" fmla="*/ 1402926 h 1413651"/>
              <a:gd name="connisteX41" fmla="*/ 1392340 w 3395789"/>
              <a:gd name="connsiteY41" fmla="*/ 1402926 h 1413651"/>
              <a:gd name="connisteX42" fmla="*/ 1463460 w 3395789"/>
              <a:gd name="connsiteY42" fmla="*/ 1408006 h 1413651"/>
              <a:gd name="connisteX43" fmla="*/ 1534580 w 3395789"/>
              <a:gd name="connsiteY43" fmla="*/ 1413086 h 1413651"/>
              <a:gd name="connisteX44" fmla="*/ 1605700 w 3395789"/>
              <a:gd name="connsiteY44" fmla="*/ 1413086 h 1413651"/>
              <a:gd name="connisteX45" fmla="*/ 1676820 w 3395789"/>
              <a:gd name="connsiteY45" fmla="*/ 1413086 h 1413651"/>
              <a:gd name="connisteX46" fmla="*/ 1747940 w 3395789"/>
              <a:gd name="connsiteY46" fmla="*/ 1413086 h 1413651"/>
              <a:gd name="connisteX47" fmla="*/ 1813980 w 3395789"/>
              <a:gd name="connsiteY47" fmla="*/ 1413086 h 1413651"/>
              <a:gd name="connisteX48" fmla="*/ 1890180 w 3395789"/>
              <a:gd name="connsiteY48" fmla="*/ 1413086 h 1413651"/>
              <a:gd name="connisteX49" fmla="*/ 1966380 w 3395789"/>
              <a:gd name="connsiteY49" fmla="*/ 1413086 h 1413651"/>
              <a:gd name="connisteX50" fmla="*/ 2037500 w 3395789"/>
              <a:gd name="connsiteY50" fmla="*/ 1413086 h 1413651"/>
              <a:gd name="connisteX51" fmla="*/ 2103540 w 3395789"/>
              <a:gd name="connsiteY51" fmla="*/ 1408006 h 1413651"/>
              <a:gd name="connisteX52" fmla="*/ 2169580 w 3395789"/>
              <a:gd name="connsiteY52" fmla="*/ 1392766 h 1413651"/>
              <a:gd name="connisteX53" fmla="*/ 2235620 w 3395789"/>
              <a:gd name="connsiteY53" fmla="*/ 1367366 h 1413651"/>
              <a:gd name="connisteX54" fmla="*/ 2301660 w 3395789"/>
              <a:gd name="connsiteY54" fmla="*/ 1341966 h 1413651"/>
              <a:gd name="connisteX55" fmla="*/ 2367700 w 3395789"/>
              <a:gd name="connsiteY55" fmla="*/ 1311486 h 1413651"/>
              <a:gd name="connisteX56" fmla="*/ 2433740 w 3395789"/>
              <a:gd name="connsiteY56" fmla="*/ 1281006 h 1413651"/>
              <a:gd name="connisteX57" fmla="*/ 2499780 w 3395789"/>
              <a:gd name="connsiteY57" fmla="*/ 1220046 h 1413651"/>
              <a:gd name="connisteX58" fmla="*/ 2565820 w 3395789"/>
              <a:gd name="connsiteY58" fmla="*/ 1159086 h 1413651"/>
              <a:gd name="connisteX59" fmla="*/ 2631860 w 3395789"/>
              <a:gd name="connsiteY59" fmla="*/ 1118446 h 1413651"/>
              <a:gd name="connisteX60" fmla="*/ 2697900 w 3395789"/>
              <a:gd name="connsiteY60" fmla="*/ 1072726 h 1413651"/>
              <a:gd name="connisteX61" fmla="*/ 2763940 w 3395789"/>
              <a:gd name="connsiteY61" fmla="*/ 1037166 h 1413651"/>
              <a:gd name="connisteX62" fmla="*/ 2829980 w 3395789"/>
              <a:gd name="connsiteY62" fmla="*/ 1011766 h 1413651"/>
              <a:gd name="connisteX63" fmla="*/ 2896020 w 3395789"/>
              <a:gd name="connsiteY63" fmla="*/ 986366 h 1413651"/>
              <a:gd name="connisteX64" fmla="*/ 2962060 w 3395789"/>
              <a:gd name="connsiteY64" fmla="*/ 960966 h 1413651"/>
              <a:gd name="connisteX65" fmla="*/ 3028100 w 3395789"/>
              <a:gd name="connsiteY65" fmla="*/ 945726 h 1413651"/>
              <a:gd name="connisteX66" fmla="*/ 3094140 w 3395789"/>
              <a:gd name="connsiteY66" fmla="*/ 935566 h 1413651"/>
              <a:gd name="connisteX67" fmla="*/ 3160180 w 3395789"/>
              <a:gd name="connsiteY67" fmla="*/ 935566 h 1413651"/>
              <a:gd name="connisteX68" fmla="*/ 3226220 w 3395789"/>
              <a:gd name="connsiteY68" fmla="*/ 930486 h 1413651"/>
              <a:gd name="connisteX69" fmla="*/ 3292260 w 3395789"/>
              <a:gd name="connsiteY69" fmla="*/ 925406 h 1413651"/>
              <a:gd name="connisteX70" fmla="*/ 3358300 w 3395789"/>
              <a:gd name="connsiteY70" fmla="*/ 905086 h 1413651"/>
              <a:gd name="connisteX71" fmla="*/ 3388780 w 3395789"/>
              <a:gd name="connsiteY71" fmla="*/ 839046 h 1413651"/>
              <a:gd name="connisteX72" fmla="*/ 3393860 w 3395789"/>
              <a:gd name="connsiteY72" fmla="*/ 773006 h 1413651"/>
              <a:gd name="connisteX73" fmla="*/ 3368460 w 3395789"/>
              <a:gd name="connsiteY73" fmla="*/ 706966 h 1413651"/>
              <a:gd name="connisteX74" fmla="*/ 3327820 w 3395789"/>
              <a:gd name="connsiteY74" fmla="*/ 640926 h 1413651"/>
              <a:gd name="connisteX75" fmla="*/ 3261780 w 3395789"/>
              <a:gd name="connsiteY75" fmla="*/ 574886 h 1413651"/>
              <a:gd name="connisteX76" fmla="*/ 3195740 w 3395789"/>
              <a:gd name="connsiteY76" fmla="*/ 513926 h 1413651"/>
              <a:gd name="connisteX77" fmla="*/ 3129700 w 3395789"/>
              <a:gd name="connsiteY77" fmla="*/ 463126 h 1413651"/>
              <a:gd name="connisteX78" fmla="*/ 3063660 w 3395789"/>
              <a:gd name="connsiteY78" fmla="*/ 412326 h 1413651"/>
              <a:gd name="connisteX79" fmla="*/ 2992540 w 3395789"/>
              <a:gd name="connsiteY79" fmla="*/ 371686 h 1413651"/>
              <a:gd name="connisteX80" fmla="*/ 2926500 w 3395789"/>
              <a:gd name="connsiteY80" fmla="*/ 336126 h 1413651"/>
              <a:gd name="connisteX81" fmla="*/ 2860460 w 3395789"/>
              <a:gd name="connsiteY81" fmla="*/ 305646 h 1413651"/>
              <a:gd name="connisteX82" fmla="*/ 2784260 w 3395789"/>
              <a:gd name="connsiteY82" fmla="*/ 280246 h 1413651"/>
              <a:gd name="connisteX83" fmla="*/ 2708060 w 3395789"/>
              <a:gd name="connsiteY83" fmla="*/ 259926 h 1413651"/>
              <a:gd name="connisteX84" fmla="*/ 2636940 w 3395789"/>
              <a:gd name="connsiteY84" fmla="*/ 244686 h 1413651"/>
              <a:gd name="connisteX85" fmla="*/ 2565820 w 3395789"/>
              <a:gd name="connsiteY85" fmla="*/ 234526 h 1413651"/>
              <a:gd name="connisteX86" fmla="*/ 2499780 w 3395789"/>
              <a:gd name="connsiteY86" fmla="*/ 224366 h 1413651"/>
              <a:gd name="connisteX87" fmla="*/ 2433740 w 3395789"/>
              <a:gd name="connsiteY87" fmla="*/ 214206 h 1413651"/>
              <a:gd name="connisteX88" fmla="*/ 2367700 w 3395789"/>
              <a:gd name="connsiteY88" fmla="*/ 204046 h 1413651"/>
              <a:gd name="connisteX89" fmla="*/ 2301660 w 3395789"/>
              <a:gd name="connsiteY89" fmla="*/ 188806 h 1413651"/>
              <a:gd name="connisteX90" fmla="*/ 2235620 w 3395789"/>
              <a:gd name="connsiteY90" fmla="*/ 173566 h 1413651"/>
              <a:gd name="connisteX91" fmla="*/ 2169580 w 3395789"/>
              <a:gd name="connsiteY91" fmla="*/ 158326 h 1413651"/>
              <a:gd name="connisteX92" fmla="*/ 2103540 w 3395789"/>
              <a:gd name="connsiteY92" fmla="*/ 143086 h 1413651"/>
              <a:gd name="connisteX93" fmla="*/ 2037500 w 3395789"/>
              <a:gd name="connsiteY93" fmla="*/ 127846 h 1413651"/>
              <a:gd name="connisteX94" fmla="*/ 1971460 w 3395789"/>
              <a:gd name="connsiteY94" fmla="*/ 112606 h 1413651"/>
              <a:gd name="connisteX95" fmla="*/ 1905420 w 3395789"/>
              <a:gd name="connsiteY95" fmla="*/ 92286 h 1413651"/>
              <a:gd name="connisteX96" fmla="*/ 1839380 w 3395789"/>
              <a:gd name="connsiteY96" fmla="*/ 82126 h 1413651"/>
              <a:gd name="connisteX97" fmla="*/ 1773340 w 3395789"/>
              <a:gd name="connsiteY97" fmla="*/ 66886 h 1413651"/>
              <a:gd name="connisteX98" fmla="*/ 1707300 w 3395789"/>
              <a:gd name="connsiteY98" fmla="*/ 46566 h 1413651"/>
              <a:gd name="connisteX99" fmla="*/ 1641260 w 3395789"/>
              <a:gd name="connsiteY99" fmla="*/ 36406 h 1413651"/>
              <a:gd name="connisteX100" fmla="*/ 1575220 w 3395789"/>
              <a:gd name="connsiteY100" fmla="*/ 26246 h 1413651"/>
              <a:gd name="connisteX101" fmla="*/ 1509180 w 3395789"/>
              <a:gd name="connsiteY101" fmla="*/ 16086 h 1413651"/>
              <a:gd name="connisteX102" fmla="*/ 1443140 w 3395789"/>
              <a:gd name="connsiteY102" fmla="*/ 11006 h 1413651"/>
              <a:gd name="connisteX103" fmla="*/ 1377100 w 3395789"/>
              <a:gd name="connsiteY103" fmla="*/ 5926 h 1413651"/>
              <a:gd name="connisteX104" fmla="*/ 1311060 w 3395789"/>
              <a:gd name="connsiteY104" fmla="*/ 5926 h 1413651"/>
              <a:gd name="connisteX105" fmla="*/ 1245020 w 3395789"/>
              <a:gd name="connsiteY105" fmla="*/ 846 h 1413651"/>
              <a:gd name="connisteX106" fmla="*/ 1178980 w 3395789"/>
              <a:gd name="connsiteY106" fmla="*/ 846 h 1413651"/>
              <a:gd name="connisteX107" fmla="*/ 1112940 w 3395789"/>
              <a:gd name="connsiteY107" fmla="*/ 846 h 1413651"/>
              <a:gd name="connisteX108" fmla="*/ 1046900 w 3395789"/>
              <a:gd name="connsiteY108" fmla="*/ 11006 h 141365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Lst>
            <a:rect l="l" t="t" r="r" b="b"/>
            <a:pathLst>
              <a:path w="3395789" h="1413651">
                <a:moveTo>
                  <a:pt x="1041820" y="16087"/>
                </a:moveTo>
                <a:cubicBezTo>
                  <a:pt x="1029755" y="18627"/>
                  <a:pt x="1003085" y="21167"/>
                  <a:pt x="975780" y="31327"/>
                </a:cubicBezTo>
                <a:cubicBezTo>
                  <a:pt x="948475" y="41487"/>
                  <a:pt x="931965" y="53552"/>
                  <a:pt x="904660" y="66887"/>
                </a:cubicBezTo>
                <a:cubicBezTo>
                  <a:pt x="877355" y="80222"/>
                  <a:pt x="865925" y="83397"/>
                  <a:pt x="838620" y="97367"/>
                </a:cubicBezTo>
                <a:cubicBezTo>
                  <a:pt x="811315" y="111337"/>
                  <a:pt x="794805" y="119592"/>
                  <a:pt x="767500" y="138007"/>
                </a:cubicBezTo>
                <a:cubicBezTo>
                  <a:pt x="740195" y="156422"/>
                  <a:pt x="728130" y="169757"/>
                  <a:pt x="701460" y="188807"/>
                </a:cubicBezTo>
                <a:cubicBezTo>
                  <a:pt x="674790" y="207857"/>
                  <a:pt x="662090" y="217382"/>
                  <a:pt x="635420" y="234527"/>
                </a:cubicBezTo>
                <a:cubicBezTo>
                  <a:pt x="608750" y="251672"/>
                  <a:pt x="596685" y="258657"/>
                  <a:pt x="569380" y="275167"/>
                </a:cubicBezTo>
                <a:cubicBezTo>
                  <a:pt x="542075" y="291677"/>
                  <a:pt x="525565" y="298662"/>
                  <a:pt x="498260" y="315807"/>
                </a:cubicBezTo>
                <a:cubicBezTo>
                  <a:pt x="470955" y="332952"/>
                  <a:pt x="458890" y="343112"/>
                  <a:pt x="432220" y="361527"/>
                </a:cubicBezTo>
                <a:cubicBezTo>
                  <a:pt x="405550" y="379942"/>
                  <a:pt x="392850" y="388197"/>
                  <a:pt x="366180" y="407247"/>
                </a:cubicBezTo>
                <a:cubicBezTo>
                  <a:pt x="339510" y="426297"/>
                  <a:pt x="323635" y="434552"/>
                  <a:pt x="300140" y="458047"/>
                </a:cubicBezTo>
                <a:cubicBezTo>
                  <a:pt x="276645" y="481542"/>
                  <a:pt x="270930" y="497417"/>
                  <a:pt x="249340" y="524087"/>
                </a:cubicBezTo>
                <a:cubicBezTo>
                  <a:pt x="227750" y="550757"/>
                  <a:pt x="215685" y="562822"/>
                  <a:pt x="193460" y="590127"/>
                </a:cubicBezTo>
                <a:cubicBezTo>
                  <a:pt x="171235" y="617432"/>
                  <a:pt x="157900" y="633942"/>
                  <a:pt x="137580" y="661247"/>
                </a:cubicBezTo>
                <a:cubicBezTo>
                  <a:pt x="117260" y="688552"/>
                  <a:pt x="109005" y="699982"/>
                  <a:pt x="91860" y="727287"/>
                </a:cubicBezTo>
                <a:cubicBezTo>
                  <a:pt x="74715" y="754592"/>
                  <a:pt x="64555" y="771102"/>
                  <a:pt x="51220" y="798407"/>
                </a:cubicBezTo>
                <a:cubicBezTo>
                  <a:pt x="37885" y="825712"/>
                  <a:pt x="34075" y="837777"/>
                  <a:pt x="25820" y="864447"/>
                </a:cubicBezTo>
                <a:cubicBezTo>
                  <a:pt x="17565" y="891117"/>
                  <a:pt x="14390" y="903817"/>
                  <a:pt x="10580" y="930487"/>
                </a:cubicBezTo>
                <a:cubicBezTo>
                  <a:pt x="6770" y="957157"/>
                  <a:pt x="7405" y="969857"/>
                  <a:pt x="5500" y="996527"/>
                </a:cubicBezTo>
                <a:cubicBezTo>
                  <a:pt x="3595" y="1023197"/>
                  <a:pt x="-1485" y="1035897"/>
                  <a:pt x="420" y="1062567"/>
                </a:cubicBezTo>
                <a:cubicBezTo>
                  <a:pt x="2325" y="1089237"/>
                  <a:pt x="1690" y="1101937"/>
                  <a:pt x="15660" y="1128607"/>
                </a:cubicBezTo>
                <a:cubicBezTo>
                  <a:pt x="29630" y="1155277"/>
                  <a:pt x="46140" y="1173057"/>
                  <a:pt x="71540" y="1194647"/>
                </a:cubicBezTo>
                <a:cubicBezTo>
                  <a:pt x="96940" y="1216237"/>
                  <a:pt x="115355" y="1221952"/>
                  <a:pt x="142660" y="1235287"/>
                </a:cubicBezTo>
                <a:cubicBezTo>
                  <a:pt x="169965" y="1248622"/>
                  <a:pt x="181395" y="1252432"/>
                  <a:pt x="208700" y="1260687"/>
                </a:cubicBezTo>
                <a:cubicBezTo>
                  <a:pt x="236005" y="1268942"/>
                  <a:pt x="252515" y="1269577"/>
                  <a:pt x="279820" y="1275927"/>
                </a:cubicBezTo>
                <a:cubicBezTo>
                  <a:pt x="307125" y="1282277"/>
                  <a:pt x="319190" y="1284817"/>
                  <a:pt x="345860" y="1291167"/>
                </a:cubicBezTo>
                <a:cubicBezTo>
                  <a:pt x="372530" y="1297517"/>
                  <a:pt x="384595" y="1301327"/>
                  <a:pt x="411900" y="1306407"/>
                </a:cubicBezTo>
                <a:cubicBezTo>
                  <a:pt x="439205" y="1311487"/>
                  <a:pt x="454445" y="1311487"/>
                  <a:pt x="483020" y="1316567"/>
                </a:cubicBezTo>
                <a:cubicBezTo>
                  <a:pt x="511595" y="1321647"/>
                  <a:pt x="525565" y="1327997"/>
                  <a:pt x="554140" y="1331807"/>
                </a:cubicBezTo>
                <a:cubicBezTo>
                  <a:pt x="582715" y="1335617"/>
                  <a:pt x="597955" y="1333712"/>
                  <a:pt x="625260" y="1336887"/>
                </a:cubicBezTo>
                <a:cubicBezTo>
                  <a:pt x="652565" y="1340062"/>
                  <a:pt x="664630" y="1343872"/>
                  <a:pt x="691300" y="1347047"/>
                </a:cubicBezTo>
                <a:cubicBezTo>
                  <a:pt x="717970" y="1350222"/>
                  <a:pt x="730670" y="1348952"/>
                  <a:pt x="757340" y="1352127"/>
                </a:cubicBezTo>
                <a:cubicBezTo>
                  <a:pt x="784010" y="1355302"/>
                  <a:pt x="796710" y="1359112"/>
                  <a:pt x="823380" y="1362287"/>
                </a:cubicBezTo>
                <a:cubicBezTo>
                  <a:pt x="850050" y="1365462"/>
                  <a:pt x="862115" y="1364192"/>
                  <a:pt x="889420" y="1367367"/>
                </a:cubicBezTo>
                <a:cubicBezTo>
                  <a:pt x="916725" y="1370542"/>
                  <a:pt x="931330" y="1374352"/>
                  <a:pt x="960540" y="1377527"/>
                </a:cubicBezTo>
                <a:cubicBezTo>
                  <a:pt x="989750" y="1380702"/>
                  <a:pt x="1008165" y="1379432"/>
                  <a:pt x="1036740" y="1382607"/>
                </a:cubicBezTo>
                <a:cubicBezTo>
                  <a:pt x="1065315" y="1385782"/>
                  <a:pt x="1075475" y="1389592"/>
                  <a:pt x="1102780" y="1392767"/>
                </a:cubicBezTo>
                <a:cubicBezTo>
                  <a:pt x="1130085" y="1395942"/>
                  <a:pt x="1144690" y="1396577"/>
                  <a:pt x="1173900" y="1397847"/>
                </a:cubicBezTo>
                <a:cubicBezTo>
                  <a:pt x="1203110" y="1399117"/>
                  <a:pt x="1220890" y="1396577"/>
                  <a:pt x="1250100" y="1397847"/>
                </a:cubicBezTo>
                <a:cubicBezTo>
                  <a:pt x="1279310" y="1399117"/>
                  <a:pt x="1292645" y="1401657"/>
                  <a:pt x="1321220" y="1402927"/>
                </a:cubicBezTo>
                <a:cubicBezTo>
                  <a:pt x="1349795" y="1404197"/>
                  <a:pt x="1363765" y="1401657"/>
                  <a:pt x="1392340" y="1402927"/>
                </a:cubicBezTo>
                <a:cubicBezTo>
                  <a:pt x="1420915" y="1404197"/>
                  <a:pt x="1434885" y="1406102"/>
                  <a:pt x="1463460" y="1408007"/>
                </a:cubicBezTo>
                <a:cubicBezTo>
                  <a:pt x="1492035" y="1409912"/>
                  <a:pt x="1506005" y="1411817"/>
                  <a:pt x="1534580" y="1413087"/>
                </a:cubicBezTo>
                <a:cubicBezTo>
                  <a:pt x="1563155" y="1414357"/>
                  <a:pt x="1577125" y="1413087"/>
                  <a:pt x="1605700" y="1413087"/>
                </a:cubicBezTo>
                <a:cubicBezTo>
                  <a:pt x="1634275" y="1413087"/>
                  <a:pt x="1648245" y="1413087"/>
                  <a:pt x="1676820" y="1413087"/>
                </a:cubicBezTo>
                <a:cubicBezTo>
                  <a:pt x="1705395" y="1413087"/>
                  <a:pt x="1720635" y="1413087"/>
                  <a:pt x="1747940" y="1413087"/>
                </a:cubicBezTo>
                <a:cubicBezTo>
                  <a:pt x="1775245" y="1413087"/>
                  <a:pt x="1785405" y="1413087"/>
                  <a:pt x="1813980" y="1413087"/>
                </a:cubicBezTo>
                <a:cubicBezTo>
                  <a:pt x="1842555" y="1413087"/>
                  <a:pt x="1859700" y="1413087"/>
                  <a:pt x="1890180" y="1413087"/>
                </a:cubicBezTo>
                <a:cubicBezTo>
                  <a:pt x="1920660" y="1413087"/>
                  <a:pt x="1937170" y="1413087"/>
                  <a:pt x="1966380" y="1413087"/>
                </a:cubicBezTo>
                <a:cubicBezTo>
                  <a:pt x="1995590" y="1413087"/>
                  <a:pt x="2010195" y="1414357"/>
                  <a:pt x="2037500" y="1413087"/>
                </a:cubicBezTo>
                <a:cubicBezTo>
                  <a:pt x="2064805" y="1411817"/>
                  <a:pt x="2076870" y="1411817"/>
                  <a:pt x="2103540" y="1408007"/>
                </a:cubicBezTo>
                <a:cubicBezTo>
                  <a:pt x="2130210" y="1404197"/>
                  <a:pt x="2142910" y="1401022"/>
                  <a:pt x="2169580" y="1392767"/>
                </a:cubicBezTo>
                <a:cubicBezTo>
                  <a:pt x="2196250" y="1384512"/>
                  <a:pt x="2208950" y="1377527"/>
                  <a:pt x="2235620" y="1367367"/>
                </a:cubicBezTo>
                <a:cubicBezTo>
                  <a:pt x="2262290" y="1357207"/>
                  <a:pt x="2274990" y="1353397"/>
                  <a:pt x="2301660" y="1341967"/>
                </a:cubicBezTo>
                <a:cubicBezTo>
                  <a:pt x="2328330" y="1330537"/>
                  <a:pt x="2341030" y="1323552"/>
                  <a:pt x="2367700" y="1311487"/>
                </a:cubicBezTo>
                <a:cubicBezTo>
                  <a:pt x="2394370" y="1299422"/>
                  <a:pt x="2407070" y="1299422"/>
                  <a:pt x="2433740" y="1281007"/>
                </a:cubicBezTo>
                <a:cubicBezTo>
                  <a:pt x="2460410" y="1262592"/>
                  <a:pt x="2473110" y="1244177"/>
                  <a:pt x="2499780" y="1220047"/>
                </a:cubicBezTo>
                <a:cubicBezTo>
                  <a:pt x="2526450" y="1195917"/>
                  <a:pt x="2539150" y="1179407"/>
                  <a:pt x="2565820" y="1159087"/>
                </a:cubicBezTo>
                <a:cubicBezTo>
                  <a:pt x="2592490" y="1138767"/>
                  <a:pt x="2605190" y="1135592"/>
                  <a:pt x="2631860" y="1118447"/>
                </a:cubicBezTo>
                <a:cubicBezTo>
                  <a:pt x="2658530" y="1101302"/>
                  <a:pt x="2671230" y="1089237"/>
                  <a:pt x="2697900" y="1072727"/>
                </a:cubicBezTo>
                <a:cubicBezTo>
                  <a:pt x="2724570" y="1056217"/>
                  <a:pt x="2737270" y="1049232"/>
                  <a:pt x="2763940" y="1037167"/>
                </a:cubicBezTo>
                <a:cubicBezTo>
                  <a:pt x="2790610" y="1025102"/>
                  <a:pt x="2803310" y="1021927"/>
                  <a:pt x="2829980" y="1011767"/>
                </a:cubicBezTo>
                <a:cubicBezTo>
                  <a:pt x="2856650" y="1001607"/>
                  <a:pt x="2869350" y="996527"/>
                  <a:pt x="2896020" y="986367"/>
                </a:cubicBezTo>
                <a:cubicBezTo>
                  <a:pt x="2922690" y="976207"/>
                  <a:pt x="2935390" y="969222"/>
                  <a:pt x="2962060" y="960967"/>
                </a:cubicBezTo>
                <a:cubicBezTo>
                  <a:pt x="2988730" y="952712"/>
                  <a:pt x="3001430" y="950807"/>
                  <a:pt x="3028100" y="945727"/>
                </a:cubicBezTo>
                <a:cubicBezTo>
                  <a:pt x="3054770" y="940647"/>
                  <a:pt x="3067470" y="937472"/>
                  <a:pt x="3094140" y="935567"/>
                </a:cubicBezTo>
                <a:cubicBezTo>
                  <a:pt x="3120810" y="933662"/>
                  <a:pt x="3133510" y="936837"/>
                  <a:pt x="3160180" y="935567"/>
                </a:cubicBezTo>
                <a:cubicBezTo>
                  <a:pt x="3186850" y="934297"/>
                  <a:pt x="3199550" y="932392"/>
                  <a:pt x="3226220" y="930487"/>
                </a:cubicBezTo>
                <a:cubicBezTo>
                  <a:pt x="3252890" y="928582"/>
                  <a:pt x="3265590" y="930487"/>
                  <a:pt x="3292260" y="925407"/>
                </a:cubicBezTo>
                <a:cubicBezTo>
                  <a:pt x="3318930" y="920327"/>
                  <a:pt x="3339250" y="922232"/>
                  <a:pt x="3358300" y="905087"/>
                </a:cubicBezTo>
                <a:cubicBezTo>
                  <a:pt x="3377350" y="887942"/>
                  <a:pt x="3381795" y="865717"/>
                  <a:pt x="3388780" y="839047"/>
                </a:cubicBezTo>
                <a:cubicBezTo>
                  <a:pt x="3395765" y="812377"/>
                  <a:pt x="3397670" y="799677"/>
                  <a:pt x="3393860" y="773007"/>
                </a:cubicBezTo>
                <a:cubicBezTo>
                  <a:pt x="3390050" y="746337"/>
                  <a:pt x="3381795" y="733637"/>
                  <a:pt x="3368460" y="706967"/>
                </a:cubicBezTo>
                <a:cubicBezTo>
                  <a:pt x="3355125" y="680297"/>
                  <a:pt x="3349410" y="667597"/>
                  <a:pt x="3327820" y="640927"/>
                </a:cubicBezTo>
                <a:cubicBezTo>
                  <a:pt x="3306230" y="614257"/>
                  <a:pt x="3288450" y="600287"/>
                  <a:pt x="3261780" y="574887"/>
                </a:cubicBezTo>
                <a:cubicBezTo>
                  <a:pt x="3235110" y="549487"/>
                  <a:pt x="3222410" y="536152"/>
                  <a:pt x="3195740" y="513927"/>
                </a:cubicBezTo>
                <a:cubicBezTo>
                  <a:pt x="3169070" y="491702"/>
                  <a:pt x="3156370" y="483447"/>
                  <a:pt x="3129700" y="463127"/>
                </a:cubicBezTo>
                <a:cubicBezTo>
                  <a:pt x="3103030" y="442807"/>
                  <a:pt x="3090965" y="430742"/>
                  <a:pt x="3063660" y="412327"/>
                </a:cubicBezTo>
                <a:cubicBezTo>
                  <a:pt x="3036355" y="393912"/>
                  <a:pt x="3019845" y="386927"/>
                  <a:pt x="2992540" y="371687"/>
                </a:cubicBezTo>
                <a:cubicBezTo>
                  <a:pt x="2965235" y="356447"/>
                  <a:pt x="2953170" y="349462"/>
                  <a:pt x="2926500" y="336127"/>
                </a:cubicBezTo>
                <a:cubicBezTo>
                  <a:pt x="2899830" y="322792"/>
                  <a:pt x="2889035" y="317077"/>
                  <a:pt x="2860460" y="305647"/>
                </a:cubicBezTo>
                <a:cubicBezTo>
                  <a:pt x="2831885" y="294217"/>
                  <a:pt x="2814740" y="289137"/>
                  <a:pt x="2784260" y="280247"/>
                </a:cubicBezTo>
                <a:cubicBezTo>
                  <a:pt x="2753780" y="271357"/>
                  <a:pt x="2737270" y="266912"/>
                  <a:pt x="2708060" y="259927"/>
                </a:cubicBezTo>
                <a:cubicBezTo>
                  <a:pt x="2678850" y="252942"/>
                  <a:pt x="2665515" y="249767"/>
                  <a:pt x="2636940" y="244687"/>
                </a:cubicBezTo>
                <a:cubicBezTo>
                  <a:pt x="2608365" y="239607"/>
                  <a:pt x="2593125" y="238337"/>
                  <a:pt x="2565820" y="234527"/>
                </a:cubicBezTo>
                <a:cubicBezTo>
                  <a:pt x="2538515" y="230717"/>
                  <a:pt x="2526450" y="228177"/>
                  <a:pt x="2499780" y="224367"/>
                </a:cubicBezTo>
                <a:cubicBezTo>
                  <a:pt x="2473110" y="220557"/>
                  <a:pt x="2460410" y="218017"/>
                  <a:pt x="2433740" y="214207"/>
                </a:cubicBezTo>
                <a:cubicBezTo>
                  <a:pt x="2407070" y="210397"/>
                  <a:pt x="2394370" y="209127"/>
                  <a:pt x="2367700" y="204047"/>
                </a:cubicBezTo>
                <a:cubicBezTo>
                  <a:pt x="2341030" y="198967"/>
                  <a:pt x="2328330" y="195157"/>
                  <a:pt x="2301660" y="188807"/>
                </a:cubicBezTo>
                <a:cubicBezTo>
                  <a:pt x="2274990" y="182457"/>
                  <a:pt x="2262290" y="179917"/>
                  <a:pt x="2235620" y="173567"/>
                </a:cubicBezTo>
                <a:cubicBezTo>
                  <a:pt x="2208950" y="167217"/>
                  <a:pt x="2196250" y="164677"/>
                  <a:pt x="2169580" y="158327"/>
                </a:cubicBezTo>
                <a:cubicBezTo>
                  <a:pt x="2142910" y="151977"/>
                  <a:pt x="2130210" y="149437"/>
                  <a:pt x="2103540" y="143087"/>
                </a:cubicBezTo>
                <a:cubicBezTo>
                  <a:pt x="2076870" y="136737"/>
                  <a:pt x="2064170" y="134197"/>
                  <a:pt x="2037500" y="127847"/>
                </a:cubicBezTo>
                <a:cubicBezTo>
                  <a:pt x="2010830" y="121497"/>
                  <a:pt x="1998130" y="119592"/>
                  <a:pt x="1971460" y="112607"/>
                </a:cubicBezTo>
                <a:cubicBezTo>
                  <a:pt x="1944790" y="105622"/>
                  <a:pt x="1932090" y="98637"/>
                  <a:pt x="1905420" y="92287"/>
                </a:cubicBezTo>
                <a:cubicBezTo>
                  <a:pt x="1878750" y="85937"/>
                  <a:pt x="1866050" y="87207"/>
                  <a:pt x="1839380" y="82127"/>
                </a:cubicBezTo>
                <a:cubicBezTo>
                  <a:pt x="1812710" y="77047"/>
                  <a:pt x="1800010" y="73872"/>
                  <a:pt x="1773340" y="66887"/>
                </a:cubicBezTo>
                <a:cubicBezTo>
                  <a:pt x="1746670" y="59902"/>
                  <a:pt x="1733970" y="52917"/>
                  <a:pt x="1707300" y="46567"/>
                </a:cubicBezTo>
                <a:cubicBezTo>
                  <a:pt x="1680630" y="40217"/>
                  <a:pt x="1667930" y="40217"/>
                  <a:pt x="1641260" y="36407"/>
                </a:cubicBezTo>
                <a:cubicBezTo>
                  <a:pt x="1614590" y="32597"/>
                  <a:pt x="1601890" y="30057"/>
                  <a:pt x="1575220" y="26247"/>
                </a:cubicBezTo>
                <a:cubicBezTo>
                  <a:pt x="1548550" y="22437"/>
                  <a:pt x="1535850" y="19262"/>
                  <a:pt x="1509180" y="16087"/>
                </a:cubicBezTo>
                <a:cubicBezTo>
                  <a:pt x="1482510" y="12912"/>
                  <a:pt x="1469810" y="12912"/>
                  <a:pt x="1443140" y="11007"/>
                </a:cubicBezTo>
                <a:cubicBezTo>
                  <a:pt x="1416470" y="9102"/>
                  <a:pt x="1403770" y="7197"/>
                  <a:pt x="1377100" y="5927"/>
                </a:cubicBezTo>
                <a:cubicBezTo>
                  <a:pt x="1350430" y="4657"/>
                  <a:pt x="1337730" y="7197"/>
                  <a:pt x="1311060" y="5927"/>
                </a:cubicBezTo>
                <a:cubicBezTo>
                  <a:pt x="1284390" y="4657"/>
                  <a:pt x="1271690" y="2117"/>
                  <a:pt x="1245020" y="847"/>
                </a:cubicBezTo>
                <a:cubicBezTo>
                  <a:pt x="1218350" y="-423"/>
                  <a:pt x="1205650" y="847"/>
                  <a:pt x="1178980" y="847"/>
                </a:cubicBezTo>
                <a:cubicBezTo>
                  <a:pt x="1152310" y="847"/>
                  <a:pt x="1139610" y="-1058"/>
                  <a:pt x="1112940" y="847"/>
                </a:cubicBezTo>
                <a:cubicBezTo>
                  <a:pt x="1086270" y="2752"/>
                  <a:pt x="1058965" y="9102"/>
                  <a:pt x="1046900" y="11007"/>
                </a:cubicBezTo>
              </a:path>
            </a:pathLst>
          </a:custGeom>
          <a:solidFill>
            <a:srgbClr val="FF0000">
              <a:alpha val="50000"/>
            </a:srgbClr>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sp>
        <p:nvSpPr>
          <p:cNvPr id="20" name="任意多边形 19"/>
          <p:cNvSpPr/>
          <p:nvPr/>
        </p:nvSpPr>
        <p:spPr>
          <a:xfrm>
            <a:off x="643255" y="4443730"/>
            <a:ext cx="2397760" cy="1176655"/>
          </a:xfrm>
          <a:custGeom>
            <a:avLst/>
            <a:gdLst>
              <a:gd name="connisteX0" fmla="*/ 918648 w 2397493"/>
              <a:gd name="connsiteY0" fmla="*/ 9031 h 1176866"/>
              <a:gd name="connisteX1" fmla="*/ 850068 w 2397493"/>
              <a:gd name="connsiteY1" fmla="*/ 24271 h 1176866"/>
              <a:gd name="connisteX2" fmla="*/ 773868 w 2397493"/>
              <a:gd name="connsiteY2" fmla="*/ 62371 h 1176866"/>
              <a:gd name="connisteX3" fmla="*/ 705288 w 2397493"/>
              <a:gd name="connsiteY3" fmla="*/ 115711 h 1176866"/>
              <a:gd name="connisteX4" fmla="*/ 629088 w 2397493"/>
              <a:gd name="connsiteY4" fmla="*/ 161431 h 1176866"/>
              <a:gd name="connisteX5" fmla="*/ 560508 w 2397493"/>
              <a:gd name="connsiteY5" fmla="*/ 207151 h 1176866"/>
              <a:gd name="connisteX6" fmla="*/ 491928 w 2397493"/>
              <a:gd name="connsiteY6" fmla="*/ 260491 h 1176866"/>
              <a:gd name="connisteX7" fmla="*/ 423348 w 2397493"/>
              <a:gd name="connsiteY7" fmla="*/ 321451 h 1176866"/>
              <a:gd name="connisteX8" fmla="*/ 354768 w 2397493"/>
              <a:gd name="connsiteY8" fmla="*/ 367171 h 1176866"/>
              <a:gd name="connisteX9" fmla="*/ 286188 w 2397493"/>
              <a:gd name="connsiteY9" fmla="*/ 420511 h 1176866"/>
              <a:gd name="connisteX10" fmla="*/ 217608 w 2397493"/>
              <a:gd name="connsiteY10" fmla="*/ 489091 h 1176866"/>
              <a:gd name="connisteX11" fmla="*/ 156648 w 2397493"/>
              <a:gd name="connsiteY11" fmla="*/ 557671 h 1176866"/>
              <a:gd name="connisteX12" fmla="*/ 95688 w 2397493"/>
              <a:gd name="connsiteY12" fmla="*/ 626251 h 1176866"/>
              <a:gd name="connisteX13" fmla="*/ 57588 w 2397493"/>
              <a:gd name="connsiteY13" fmla="*/ 702451 h 1176866"/>
              <a:gd name="connisteX14" fmla="*/ 42348 w 2397493"/>
              <a:gd name="connsiteY14" fmla="*/ 771031 h 1176866"/>
              <a:gd name="connisteX15" fmla="*/ 19488 w 2397493"/>
              <a:gd name="connsiteY15" fmla="*/ 839611 h 1176866"/>
              <a:gd name="connisteX16" fmla="*/ 11868 w 2397493"/>
              <a:gd name="connsiteY16" fmla="*/ 908191 h 1176866"/>
              <a:gd name="connisteX17" fmla="*/ 4248 w 2397493"/>
              <a:gd name="connsiteY17" fmla="*/ 976771 h 1176866"/>
              <a:gd name="connisteX18" fmla="*/ 4248 w 2397493"/>
              <a:gd name="connsiteY18" fmla="*/ 1045351 h 1176866"/>
              <a:gd name="connisteX19" fmla="*/ 49968 w 2397493"/>
              <a:gd name="connsiteY19" fmla="*/ 1113931 h 1176866"/>
              <a:gd name="connisteX20" fmla="*/ 118548 w 2397493"/>
              <a:gd name="connsiteY20" fmla="*/ 1152031 h 1176866"/>
              <a:gd name="connisteX21" fmla="*/ 187128 w 2397493"/>
              <a:gd name="connsiteY21" fmla="*/ 1174891 h 1176866"/>
              <a:gd name="connisteX22" fmla="*/ 255708 w 2397493"/>
              <a:gd name="connsiteY22" fmla="*/ 1174891 h 1176866"/>
              <a:gd name="connisteX23" fmla="*/ 331908 w 2397493"/>
              <a:gd name="connsiteY23" fmla="*/ 1174891 h 1176866"/>
              <a:gd name="connisteX24" fmla="*/ 400488 w 2397493"/>
              <a:gd name="connsiteY24" fmla="*/ 1174891 h 1176866"/>
              <a:gd name="connisteX25" fmla="*/ 476688 w 2397493"/>
              <a:gd name="connsiteY25" fmla="*/ 1174891 h 1176866"/>
              <a:gd name="connisteX26" fmla="*/ 545268 w 2397493"/>
              <a:gd name="connsiteY26" fmla="*/ 1159651 h 1176866"/>
              <a:gd name="connisteX27" fmla="*/ 621468 w 2397493"/>
              <a:gd name="connsiteY27" fmla="*/ 1144411 h 1176866"/>
              <a:gd name="connisteX28" fmla="*/ 690048 w 2397493"/>
              <a:gd name="connsiteY28" fmla="*/ 1121551 h 1176866"/>
              <a:gd name="connisteX29" fmla="*/ 758628 w 2397493"/>
              <a:gd name="connsiteY29" fmla="*/ 1098691 h 1176866"/>
              <a:gd name="connisteX30" fmla="*/ 834828 w 2397493"/>
              <a:gd name="connsiteY30" fmla="*/ 1075831 h 1176866"/>
              <a:gd name="connisteX31" fmla="*/ 903408 w 2397493"/>
              <a:gd name="connsiteY31" fmla="*/ 1060591 h 1176866"/>
              <a:gd name="connisteX32" fmla="*/ 971988 w 2397493"/>
              <a:gd name="connsiteY32" fmla="*/ 1052971 h 1176866"/>
              <a:gd name="connisteX33" fmla="*/ 1040568 w 2397493"/>
              <a:gd name="connsiteY33" fmla="*/ 1045351 h 1176866"/>
              <a:gd name="connisteX34" fmla="*/ 1109148 w 2397493"/>
              <a:gd name="connsiteY34" fmla="*/ 1037731 h 1176866"/>
              <a:gd name="connisteX35" fmla="*/ 1177728 w 2397493"/>
              <a:gd name="connsiteY35" fmla="*/ 1030111 h 1176866"/>
              <a:gd name="connisteX36" fmla="*/ 1246308 w 2397493"/>
              <a:gd name="connsiteY36" fmla="*/ 1030111 h 1176866"/>
              <a:gd name="connisteX37" fmla="*/ 1314888 w 2397493"/>
              <a:gd name="connsiteY37" fmla="*/ 1030111 h 1176866"/>
              <a:gd name="connisteX38" fmla="*/ 1383468 w 2397493"/>
              <a:gd name="connsiteY38" fmla="*/ 1030111 h 1176866"/>
              <a:gd name="connisteX39" fmla="*/ 1452048 w 2397493"/>
              <a:gd name="connsiteY39" fmla="*/ 1030111 h 1176866"/>
              <a:gd name="connisteX40" fmla="*/ 1520628 w 2397493"/>
              <a:gd name="connsiteY40" fmla="*/ 1037731 h 1176866"/>
              <a:gd name="connisteX41" fmla="*/ 1589208 w 2397493"/>
              <a:gd name="connsiteY41" fmla="*/ 1052971 h 1176866"/>
              <a:gd name="connisteX42" fmla="*/ 1657788 w 2397493"/>
              <a:gd name="connsiteY42" fmla="*/ 1068211 h 1176866"/>
              <a:gd name="connisteX43" fmla="*/ 1726368 w 2397493"/>
              <a:gd name="connsiteY43" fmla="*/ 1083451 h 1176866"/>
              <a:gd name="connisteX44" fmla="*/ 1794948 w 2397493"/>
              <a:gd name="connsiteY44" fmla="*/ 1091071 h 1176866"/>
              <a:gd name="connisteX45" fmla="*/ 1863528 w 2397493"/>
              <a:gd name="connsiteY45" fmla="*/ 1106311 h 1176866"/>
              <a:gd name="connisteX46" fmla="*/ 1932108 w 2397493"/>
              <a:gd name="connsiteY46" fmla="*/ 1106311 h 1176866"/>
              <a:gd name="connisteX47" fmla="*/ 2000688 w 2397493"/>
              <a:gd name="connsiteY47" fmla="*/ 1106311 h 1176866"/>
              <a:gd name="connisteX48" fmla="*/ 2069268 w 2397493"/>
              <a:gd name="connsiteY48" fmla="*/ 1113931 h 1176866"/>
              <a:gd name="connisteX49" fmla="*/ 2137848 w 2397493"/>
              <a:gd name="connsiteY49" fmla="*/ 1113931 h 1176866"/>
              <a:gd name="connisteX50" fmla="*/ 2206428 w 2397493"/>
              <a:gd name="connsiteY50" fmla="*/ 1113931 h 1176866"/>
              <a:gd name="connisteX51" fmla="*/ 2275008 w 2397493"/>
              <a:gd name="connsiteY51" fmla="*/ 1091071 h 1176866"/>
              <a:gd name="connisteX52" fmla="*/ 2343588 w 2397493"/>
              <a:gd name="connsiteY52" fmla="*/ 1052971 h 1176866"/>
              <a:gd name="connisteX53" fmla="*/ 2366448 w 2397493"/>
              <a:gd name="connsiteY53" fmla="*/ 984391 h 1176866"/>
              <a:gd name="connisteX54" fmla="*/ 2381688 w 2397493"/>
              <a:gd name="connsiteY54" fmla="*/ 915811 h 1176866"/>
              <a:gd name="connisteX55" fmla="*/ 2389308 w 2397493"/>
              <a:gd name="connsiteY55" fmla="*/ 847231 h 1176866"/>
              <a:gd name="connisteX56" fmla="*/ 2396928 w 2397493"/>
              <a:gd name="connsiteY56" fmla="*/ 778651 h 1176866"/>
              <a:gd name="connisteX57" fmla="*/ 2396928 w 2397493"/>
              <a:gd name="connsiteY57" fmla="*/ 710071 h 1176866"/>
              <a:gd name="connisteX58" fmla="*/ 2396928 w 2397493"/>
              <a:gd name="connsiteY58" fmla="*/ 641491 h 1176866"/>
              <a:gd name="connisteX59" fmla="*/ 2389308 w 2397493"/>
              <a:gd name="connsiteY59" fmla="*/ 572911 h 1176866"/>
              <a:gd name="connisteX60" fmla="*/ 2374068 w 2397493"/>
              <a:gd name="connsiteY60" fmla="*/ 504331 h 1176866"/>
              <a:gd name="connisteX61" fmla="*/ 2351208 w 2397493"/>
              <a:gd name="connsiteY61" fmla="*/ 435751 h 1176866"/>
              <a:gd name="connisteX62" fmla="*/ 2328348 w 2397493"/>
              <a:gd name="connsiteY62" fmla="*/ 367171 h 1176866"/>
              <a:gd name="connisteX63" fmla="*/ 2275008 w 2397493"/>
              <a:gd name="connsiteY63" fmla="*/ 298591 h 1176866"/>
              <a:gd name="connisteX64" fmla="*/ 2206428 w 2397493"/>
              <a:gd name="connsiteY64" fmla="*/ 268111 h 1176866"/>
              <a:gd name="connisteX65" fmla="*/ 2137848 w 2397493"/>
              <a:gd name="connsiteY65" fmla="*/ 230011 h 1176866"/>
              <a:gd name="connisteX66" fmla="*/ 2069268 w 2397493"/>
              <a:gd name="connsiteY66" fmla="*/ 199531 h 1176866"/>
              <a:gd name="connisteX67" fmla="*/ 2000688 w 2397493"/>
              <a:gd name="connsiteY67" fmla="*/ 161431 h 1176866"/>
              <a:gd name="connisteX68" fmla="*/ 1932108 w 2397493"/>
              <a:gd name="connsiteY68" fmla="*/ 123331 h 1176866"/>
              <a:gd name="connisteX69" fmla="*/ 1863528 w 2397493"/>
              <a:gd name="connsiteY69" fmla="*/ 100471 h 1176866"/>
              <a:gd name="connisteX70" fmla="*/ 1794948 w 2397493"/>
              <a:gd name="connsiteY70" fmla="*/ 85231 h 1176866"/>
              <a:gd name="connisteX71" fmla="*/ 1726368 w 2397493"/>
              <a:gd name="connsiteY71" fmla="*/ 77611 h 1176866"/>
              <a:gd name="connisteX72" fmla="*/ 1650168 w 2397493"/>
              <a:gd name="connsiteY72" fmla="*/ 62371 h 1176866"/>
              <a:gd name="connisteX73" fmla="*/ 1581588 w 2397493"/>
              <a:gd name="connsiteY73" fmla="*/ 54751 h 1176866"/>
              <a:gd name="connisteX74" fmla="*/ 1513008 w 2397493"/>
              <a:gd name="connsiteY74" fmla="*/ 54751 h 1176866"/>
              <a:gd name="connisteX75" fmla="*/ 1444428 w 2397493"/>
              <a:gd name="connsiteY75" fmla="*/ 54751 h 1176866"/>
              <a:gd name="connisteX76" fmla="*/ 1375848 w 2397493"/>
              <a:gd name="connsiteY76" fmla="*/ 39511 h 1176866"/>
              <a:gd name="connisteX77" fmla="*/ 1307268 w 2397493"/>
              <a:gd name="connsiteY77" fmla="*/ 31891 h 1176866"/>
              <a:gd name="connisteX78" fmla="*/ 1238688 w 2397493"/>
              <a:gd name="connsiteY78" fmla="*/ 16651 h 1176866"/>
              <a:gd name="connisteX79" fmla="*/ 1170108 w 2397493"/>
              <a:gd name="connsiteY79" fmla="*/ 1411 h 1176866"/>
              <a:gd name="connisteX80" fmla="*/ 1101528 w 2397493"/>
              <a:gd name="connsiteY80" fmla="*/ 1411 h 1176866"/>
              <a:gd name="connisteX81" fmla="*/ 1032948 w 2397493"/>
              <a:gd name="connsiteY81" fmla="*/ 1411 h 1176866"/>
              <a:gd name="connisteX82" fmla="*/ 964368 w 2397493"/>
              <a:gd name="connsiteY82" fmla="*/ 1411 h 1176866"/>
              <a:gd name="connisteX83" fmla="*/ 918648 w 2397493"/>
              <a:gd name="connsiteY83" fmla="*/ 9031 h 117686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Lst>
            <a:rect l="l" t="t" r="r" b="b"/>
            <a:pathLst>
              <a:path w="2397493" h="1176867">
                <a:moveTo>
                  <a:pt x="918649" y="9031"/>
                </a:moveTo>
                <a:cubicBezTo>
                  <a:pt x="895789" y="13476"/>
                  <a:pt x="879279" y="13476"/>
                  <a:pt x="850069" y="24271"/>
                </a:cubicBezTo>
                <a:cubicBezTo>
                  <a:pt x="820859" y="35066"/>
                  <a:pt x="803079" y="43956"/>
                  <a:pt x="773869" y="62371"/>
                </a:cubicBezTo>
                <a:cubicBezTo>
                  <a:pt x="744659" y="80786"/>
                  <a:pt x="734499" y="96026"/>
                  <a:pt x="705289" y="115711"/>
                </a:cubicBezTo>
                <a:cubicBezTo>
                  <a:pt x="676079" y="135396"/>
                  <a:pt x="658299" y="143016"/>
                  <a:pt x="629089" y="161431"/>
                </a:cubicBezTo>
                <a:cubicBezTo>
                  <a:pt x="599879" y="179846"/>
                  <a:pt x="587814" y="187466"/>
                  <a:pt x="560509" y="207151"/>
                </a:cubicBezTo>
                <a:cubicBezTo>
                  <a:pt x="533204" y="226836"/>
                  <a:pt x="519234" y="237631"/>
                  <a:pt x="491929" y="260491"/>
                </a:cubicBezTo>
                <a:cubicBezTo>
                  <a:pt x="464624" y="283351"/>
                  <a:pt x="450654" y="299861"/>
                  <a:pt x="423349" y="321451"/>
                </a:cubicBezTo>
                <a:cubicBezTo>
                  <a:pt x="396044" y="343041"/>
                  <a:pt x="382074" y="347486"/>
                  <a:pt x="354769" y="367171"/>
                </a:cubicBezTo>
                <a:cubicBezTo>
                  <a:pt x="327464" y="386856"/>
                  <a:pt x="313494" y="396381"/>
                  <a:pt x="286189" y="420511"/>
                </a:cubicBezTo>
                <a:cubicBezTo>
                  <a:pt x="258884" y="444641"/>
                  <a:pt x="243644" y="461786"/>
                  <a:pt x="217609" y="489091"/>
                </a:cubicBezTo>
                <a:cubicBezTo>
                  <a:pt x="191574" y="516396"/>
                  <a:pt x="180779" y="530366"/>
                  <a:pt x="156649" y="557671"/>
                </a:cubicBezTo>
                <a:cubicBezTo>
                  <a:pt x="132519" y="584976"/>
                  <a:pt x="115374" y="597041"/>
                  <a:pt x="95689" y="626251"/>
                </a:cubicBezTo>
                <a:cubicBezTo>
                  <a:pt x="76004" y="655461"/>
                  <a:pt x="68384" y="673241"/>
                  <a:pt x="57589" y="702451"/>
                </a:cubicBezTo>
                <a:cubicBezTo>
                  <a:pt x="46794" y="731661"/>
                  <a:pt x="49969" y="743726"/>
                  <a:pt x="42349" y="771031"/>
                </a:cubicBezTo>
                <a:cubicBezTo>
                  <a:pt x="34729" y="798336"/>
                  <a:pt x="25839" y="812306"/>
                  <a:pt x="19489" y="839611"/>
                </a:cubicBezTo>
                <a:cubicBezTo>
                  <a:pt x="13139" y="866916"/>
                  <a:pt x="15044" y="880886"/>
                  <a:pt x="11869" y="908191"/>
                </a:cubicBezTo>
                <a:cubicBezTo>
                  <a:pt x="8694" y="935496"/>
                  <a:pt x="5519" y="949466"/>
                  <a:pt x="4249" y="976771"/>
                </a:cubicBezTo>
                <a:cubicBezTo>
                  <a:pt x="2979" y="1004076"/>
                  <a:pt x="-4641" y="1018046"/>
                  <a:pt x="4249" y="1045351"/>
                </a:cubicBezTo>
                <a:cubicBezTo>
                  <a:pt x="13139" y="1072656"/>
                  <a:pt x="27109" y="1092341"/>
                  <a:pt x="49969" y="1113931"/>
                </a:cubicBezTo>
                <a:cubicBezTo>
                  <a:pt x="72829" y="1135521"/>
                  <a:pt x="91244" y="1139966"/>
                  <a:pt x="118549" y="1152031"/>
                </a:cubicBezTo>
                <a:cubicBezTo>
                  <a:pt x="145854" y="1164096"/>
                  <a:pt x="159824" y="1170446"/>
                  <a:pt x="187129" y="1174891"/>
                </a:cubicBezTo>
                <a:cubicBezTo>
                  <a:pt x="214434" y="1179336"/>
                  <a:pt x="226499" y="1174891"/>
                  <a:pt x="255709" y="1174891"/>
                </a:cubicBezTo>
                <a:cubicBezTo>
                  <a:pt x="284919" y="1174891"/>
                  <a:pt x="302699" y="1174891"/>
                  <a:pt x="331909" y="1174891"/>
                </a:cubicBezTo>
                <a:cubicBezTo>
                  <a:pt x="361119" y="1174891"/>
                  <a:pt x="371279" y="1174891"/>
                  <a:pt x="400489" y="1174891"/>
                </a:cubicBezTo>
                <a:cubicBezTo>
                  <a:pt x="429699" y="1174891"/>
                  <a:pt x="447479" y="1178066"/>
                  <a:pt x="476689" y="1174891"/>
                </a:cubicBezTo>
                <a:cubicBezTo>
                  <a:pt x="505899" y="1171716"/>
                  <a:pt x="516059" y="1166001"/>
                  <a:pt x="545269" y="1159651"/>
                </a:cubicBezTo>
                <a:cubicBezTo>
                  <a:pt x="574479" y="1153301"/>
                  <a:pt x="592259" y="1152031"/>
                  <a:pt x="621469" y="1144411"/>
                </a:cubicBezTo>
                <a:cubicBezTo>
                  <a:pt x="650679" y="1136791"/>
                  <a:pt x="662744" y="1130441"/>
                  <a:pt x="690049" y="1121551"/>
                </a:cubicBezTo>
                <a:cubicBezTo>
                  <a:pt x="717354" y="1112661"/>
                  <a:pt x="729419" y="1107581"/>
                  <a:pt x="758629" y="1098691"/>
                </a:cubicBezTo>
                <a:cubicBezTo>
                  <a:pt x="787839" y="1089801"/>
                  <a:pt x="805619" y="1083451"/>
                  <a:pt x="834829" y="1075831"/>
                </a:cubicBezTo>
                <a:cubicBezTo>
                  <a:pt x="864039" y="1068211"/>
                  <a:pt x="876104" y="1065036"/>
                  <a:pt x="903409" y="1060591"/>
                </a:cubicBezTo>
                <a:cubicBezTo>
                  <a:pt x="930714" y="1056146"/>
                  <a:pt x="944684" y="1056146"/>
                  <a:pt x="971989" y="1052971"/>
                </a:cubicBezTo>
                <a:cubicBezTo>
                  <a:pt x="999294" y="1049796"/>
                  <a:pt x="1013264" y="1048526"/>
                  <a:pt x="1040569" y="1045351"/>
                </a:cubicBezTo>
                <a:cubicBezTo>
                  <a:pt x="1067874" y="1042176"/>
                  <a:pt x="1081844" y="1040906"/>
                  <a:pt x="1109149" y="1037731"/>
                </a:cubicBezTo>
                <a:cubicBezTo>
                  <a:pt x="1136454" y="1034556"/>
                  <a:pt x="1150424" y="1031381"/>
                  <a:pt x="1177729" y="1030111"/>
                </a:cubicBezTo>
                <a:cubicBezTo>
                  <a:pt x="1205034" y="1028841"/>
                  <a:pt x="1219004" y="1030111"/>
                  <a:pt x="1246309" y="1030111"/>
                </a:cubicBezTo>
                <a:cubicBezTo>
                  <a:pt x="1273614" y="1030111"/>
                  <a:pt x="1287584" y="1030111"/>
                  <a:pt x="1314889" y="1030111"/>
                </a:cubicBezTo>
                <a:cubicBezTo>
                  <a:pt x="1342194" y="1030111"/>
                  <a:pt x="1356164" y="1030111"/>
                  <a:pt x="1383469" y="1030111"/>
                </a:cubicBezTo>
                <a:cubicBezTo>
                  <a:pt x="1410774" y="1030111"/>
                  <a:pt x="1424744" y="1028841"/>
                  <a:pt x="1452049" y="1030111"/>
                </a:cubicBezTo>
                <a:cubicBezTo>
                  <a:pt x="1479354" y="1031381"/>
                  <a:pt x="1493324" y="1033286"/>
                  <a:pt x="1520629" y="1037731"/>
                </a:cubicBezTo>
                <a:cubicBezTo>
                  <a:pt x="1547934" y="1042176"/>
                  <a:pt x="1561904" y="1046621"/>
                  <a:pt x="1589209" y="1052971"/>
                </a:cubicBezTo>
                <a:cubicBezTo>
                  <a:pt x="1616514" y="1059321"/>
                  <a:pt x="1630484" y="1061861"/>
                  <a:pt x="1657789" y="1068211"/>
                </a:cubicBezTo>
                <a:cubicBezTo>
                  <a:pt x="1685094" y="1074561"/>
                  <a:pt x="1699064" y="1079006"/>
                  <a:pt x="1726369" y="1083451"/>
                </a:cubicBezTo>
                <a:cubicBezTo>
                  <a:pt x="1753674" y="1087896"/>
                  <a:pt x="1767644" y="1086626"/>
                  <a:pt x="1794949" y="1091071"/>
                </a:cubicBezTo>
                <a:cubicBezTo>
                  <a:pt x="1822254" y="1095516"/>
                  <a:pt x="1836224" y="1103136"/>
                  <a:pt x="1863529" y="1106311"/>
                </a:cubicBezTo>
                <a:cubicBezTo>
                  <a:pt x="1890834" y="1109486"/>
                  <a:pt x="1904804" y="1106311"/>
                  <a:pt x="1932109" y="1106311"/>
                </a:cubicBezTo>
                <a:cubicBezTo>
                  <a:pt x="1959414" y="1106311"/>
                  <a:pt x="1973384" y="1105041"/>
                  <a:pt x="2000689" y="1106311"/>
                </a:cubicBezTo>
                <a:cubicBezTo>
                  <a:pt x="2027994" y="1107581"/>
                  <a:pt x="2041964" y="1112661"/>
                  <a:pt x="2069269" y="1113931"/>
                </a:cubicBezTo>
                <a:cubicBezTo>
                  <a:pt x="2096574" y="1115201"/>
                  <a:pt x="2110544" y="1113931"/>
                  <a:pt x="2137849" y="1113931"/>
                </a:cubicBezTo>
                <a:cubicBezTo>
                  <a:pt x="2165154" y="1113931"/>
                  <a:pt x="2179124" y="1118376"/>
                  <a:pt x="2206429" y="1113931"/>
                </a:cubicBezTo>
                <a:cubicBezTo>
                  <a:pt x="2233734" y="1109486"/>
                  <a:pt x="2247704" y="1103136"/>
                  <a:pt x="2275009" y="1091071"/>
                </a:cubicBezTo>
                <a:cubicBezTo>
                  <a:pt x="2302314" y="1079006"/>
                  <a:pt x="2325174" y="1074561"/>
                  <a:pt x="2343589" y="1052971"/>
                </a:cubicBezTo>
                <a:cubicBezTo>
                  <a:pt x="2362004" y="1031381"/>
                  <a:pt x="2358829" y="1011696"/>
                  <a:pt x="2366449" y="984391"/>
                </a:cubicBezTo>
                <a:cubicBezTo>
                  <a:pt x="2374069" y="957086"/>
                  <a:pt x="2377244" y="943116"/>
                  <a:pt x="2381689" y="915811"/>
                </a:cubicBezTo>
                <a:cubicBezTo>
                  <a:pt x="2386134" y="888506"/>
                  <a:pt x="2386134" y="874536"/>
                  <a:pt x="2389309" y="847231"/>
                </a:cubicBezTo>
                <a:cubicBezTo>
                  <a:pt x="2392484" y="819926"/>
                  <a:pt x="2395659" y="805956"/>
                  <a:pt x="2396929" y="778651"/>
                </a:cubicBezTo>
                <a:cubicBezTo>
                  <a:pt x="2398199" y="751346"/>
                  <a:pt x="2396929" y="737376"/>
                  <a:pt x="2396929" y="710071"/>
                </a:cubicBezTo>
                <a:cubicBezTo>
                  <a:pt x="2396929" y="682766"/>
                  <a:pt x="2398199" y="668796"/>
                  <a:pt x="2396929" y="641491"/>
                </a:cubicBezTo>
                <a:cubicBezTo>
                  <a:pt x="2395659" y="614186"/>
                  <a:pt x="2393754" y="600216"/>
                  <a:pt x="2389309" y="572911"/>
                </a:cubicBezTo>
                <a:cubicBezTo>
                  <a:pt x="2384864" y="545606"/>
                  <a:pt x="2381689" y="531636"/>
                  <a:pt x="2374069" y="504331"/>
                </a:cubicBezTo>
                <a:cubicBezTo>
                  <a:pt x="2366449" y="477026"/>
                  <a:pt x="2360099" y="463056"/>
                  <a:pt x="2351209" y="435751"/>
                </a:cubicBezTo>
                <a:cubicBezTo>
                  <a:pt x="2342319" y="408446"/>
                  <a:pt x="2343589" y="394476"/>
                  <a:pt x="2328349" y="367171"/>
                </a:cubicBezTo>
                <a:cubicBezTo>
                  <a:pt x="2313109" y="339866"/>
                  <a:pt x="2299139" y="318276"/>
                  <a:pt x="2275009" y="298591"/>
                </a:cubicBezTo>
                <a:cubicBezTo>
                  <a:pt x="2250879" y="278906"/>
                  <a:pt x="2233734" y="282081"/>
                  <a:pt x="2206429" y="268111"/>
                </a:cubicBezTo>
                <a:cubicBezTo>
                  <a:pt x="2179124" y="254141"/>
                  <a:pt x="2165154" y="243981"/>
                  <a:pt x="2137849" y="230011"/>
                </a:cubicBezTo>
                <a:cubicBezTo>
                  <a:pt x="2110544" y="216041"/>
                  <a:pt x="2096574" y="213501"/>
                  <a:pt x="2069269" y="199531"/>
                </a:cubicBezTo>
                <a:cubicBezTo>
                  <a:pt x="2041964" y="185561"/>
                  <a:pt x="2027994" y="176671"/>
                  <a:pt x="2000689" y="161431"/>
                </a:cubicBezTo>
                <a:cubicBezTo>
                  <a:pt x="1973384" y="146191"/>
                  <a:pt x="1959414" y="135396"/>
                  <a:pt x="1932109" y="123331"/>
                </a:cubicBezTo>
                <a:cubicBezTo>
                  <a:pt x="1904804" y="111266"/>
                  <a:pt x="1890834" y="108091"/>
                  <a:pt x="1863529" y="100471"/>
                </a:cubicBezTo>
                <a:cubicBezTo>
                  <a:pt x="1836224" y="92851"/>
                  <a:pt x="1822254" y="89676"/>
                  <a:pt x="1794949" y="85231"/>
                </a:cubicBezTo>
                <a:cubicBezTo>
                  <a:pt x="1767644" y="80786"/>
                  <a:pt x="1755579" y="82056"/>
                  <a:pt x="1726369" y="77611"/>
                </a:cubicBezTo>
                <a:cubicBezTo>
                  <a:pt x="1697159" y="73166"/>
                  <a:pt x="1679379" y="66816"/>
                  <a:pt x="1650169" y="62371"/>
                </a:cubicBezTo>
                <a:cubicBezTo>
                  <a:pt x="1620959" y="57926"/>
                  <a:pt x="1608894" y="56021"/>
                  <a:pt x="1581589" y="54751"/>
                </a:cubicBezTo>
                <a:cubicBezTo>
                  <a:pt x="1554284" y="53481"/>
                  <a:pt x="1540314" y="54751"/>
                  <a:pt x="1513009" y="54751"/>
                </a:cubicBezTo>
                <a:cubicBezTo>
                  <a:pt x="1485704" y="54751"/>
                  <a:pt x="1471734" y="57926"/>
                  <a:pt x="1444429" y="54751"/>
                </a:cubicBezTo>
                <a:cubicBezTo>
                  <a:pt x="1417124" y="51576"/>
                  <a:pt x="1403154" y="43956"/>
                  <a:pt x="1375849" y="39511"/>
                </a:cubicBezTo>
                <a:cubicBezTo>
                  <a:pt x="1348544" y="35066"/>
                  <a:pt x="1334574" y="36336"/>
                  <a:pt x="1307269" y="31891"/>
                </a:cubicBezTo>
                <a:cubicBezTo>
                  <a:pt x="1279964" y="27446"/>
                  <a:pt x="1265994" y="23001"/>
                  <a:pt x="1238689" y="16651"/>
                </a:cubicBezTo>
                <a:cubicBezTo>
                  <a:pt x="1211384" y="10301"/>
                  <a:pt x="1197414" y="4586"/>
                  <a:pt x="1170109" y="1411"/>
                </a:cubicBezTo>
                <a:cubicBezTo>
                  <a:pt x="1142804" y="-1764"/>
                  <a:pt x="1128834" y="1411"/>
                  <a:pt x="1101529" y="1411"/>
                </a:cubicBezTo>
                <a:cubicBezTo>
                  <a:pt x="1074224" y="1411"/>
                  <a:pt x="1060254" y="1411"/>
                  <a:pt x="1032949" y="1411"/>
                </a:cubicBezTo>
                <a:cubicBezTo>
                  <a:pt x="1005644" y="1411"/>
                  <a:pt x="987229" y="141"/>
                  <a:pt x="964369" y="1411"/>
                </a:cubicBezTo>
                <a:cubicBezTo>
                  <a:pt x="941509" y="2681"/>
                  <a:pt x="941509" y="4586"/>
                  <a:pt x="918649" y="9031"/>
                </a:cubicBezTo>
                <a:close/>
              </a:path>
            </a:pathLst>
          </a:custGeom>
          <a:solidFill>
            <a:srgbClr val="0000FF">
              <a:alpha val="50000"/>
            </a:srgbClr>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sp>
        <p:nvSpPr>
          <p:cNvPr id="21" name="任意多边形 20"/>
          <p:cNvSpPr/>
          <p:nvPr/>
        </p:nvSpPr>
        <p:spPr>
          <a:xfrm>
            <a:off x="1948180" y="2835910"/>
            <a:ext cx="1680845" cy="584835"/>
          </a:xfrm>
          <a:custGeom>
            <a:avLst/>
            <a:gdLst>
              <a:gd name="connisteX0" fmla="*/ 480785 w 1680817"/>
              <a:gd name="connsiteY0" fmla="*/ 846 h 584835"/>
              <a:gd name="connisteX1" fmla="*/ 415380 w 1680817"/>
              <a:gd name="connsiteY1" fmla="*/ 19261 h 584835"/>
              <a:gd name="connisteX2" fmla="*/ 349340 w 1680817"/>
              <a:gd name="connsiteY2" fmla="*/ 47201 h 584835"/>
              <a:gd name="connisteX3" fmla="*/ 283935 w 1680817"/>
              <a:gd name="connsiteY3" fmla="*/ 75776 h 584835"/>
              <a:gd name="connisteX4" fmla="*/ 217895 w 1680817"/>
              <a:gd name="connsiteY4" fmla="*/ 122766 h 584835"/>
              <a:gd name="connisteX5" fmla="*/ 152490 w 1680817"/>
              <a:gd name="connsiteY5" fmla="*/ 179281 h 584835"/>
              <a:gd name="connisteX6" fmla="*/ 86450 w 1680817"/>
              <a:gd name="connsiteY6" fmla="*/ 226271 h 584835"/>
              <a:gd name="connisteX7" fmla="*/ 39460 w 1680817"/>
              <a:gd name="connsiteY7" fmla="*/ 291676 h 584835"/>
              <a:gd name="connisteX8" fmla="*/ 11520 w 1680817"/>
              <a:gd name="connsiteY8" fmla="*/ 357716 h 584835"/>
              <a:gd name="connisteX9" fmla="*/ 1995 w 1680817"/>
              <a:gd name="connsiteY9" fmla="*/ 423121 h 584835"/>
              <a:gd name="connisteX10" fmla="*/ 39460 w 1680817"/>
              <a:gd name="connsiteY10" fmla="*/ 489161 h 584835"/>
              <a:gd name="connisteX11" fmla="*/ 105500 w 1680817"/>
              <a:gd name="connsiteY11" fmla="*/ 517101 h 584835"/>
              <a:gd name="connisteX12" fmla="*/ 170905 w 1680817"/>
              <a:gd name="connsiteY12" fmla="*/ 526626 h 584835"/>
              <a:gd name="connisteX13" fmla="*/ 236945 w 1680817"/>
              <a:gd name="connsiteY13" fmla="*/ 536151 h 584835"/>
              <a:gd name="connisteX14" fmla="*/ 302350 w 1680817"/>
              <a:gd name="connsiteY14" fmla="*/ 536151 h 584835"/>
              <a:gd name="connisteX15" fmla="*/ 377915 w 1680817"/>
              <a:gd name="connsiteY15" fmla="*/ 545676 h 584835"/>
              <a:gd name="connisteX16" fmla="*/ 443320 w 1680817"/>
              <a:gd name="connsiteY16" fmla="*/ 554566 h 584835"/>
              <a:gd name="connisteX17" fmla="*/ 509360 w 1680817"/>
              <a:gd name="connsiteY17" fmla="*/ 564091 h 584835"/>
              <a:gd name="connisteX18" fmla="*/ 574765 w 1680817"/>
              <a:gd name="connsiteY18" fmla="*/ 564091 h 584835"/>
              <a:gd name="connisteX19" fmla="*/ 640805 w 1680817"/>
              <a:gd name="connsiteY19" fmla="*/ 583141 h 584835"/>
              <a:gd name="connisteX20" fmla="*/ 706210 w 1680817"/>
              <a:gd name="connsiteY20" fmla="*/ 583141 h 584835"/>
              <a:gd name="connisteX21" fmla="*/ 772250 w 1680817"/>
              <a:gd name="connsiteY21" fmla="*/ 583141 h 584835"/>
              <a:gd name="connisteX22" fmla="*/ 838290 w 1680817"/>
              <a:gd name="connsiteY22" fmla="*/ 583141 h 584835"/>
              <a:gd name="connisteX23" fmla="*/ 903695 w 1680817"/>
              <a:gd name="connsiteY23" fmla="*/ 583141 h 584835"/>
              <a:gd name="connisteX24" fmla="*/ 969735 w 1680817"/>
              <a:gd name="connsiteY24" fmla="*/ 583141 h 584835"/>
              <a:gd name="connisteX25" fmla="*/ 1035140 w 1680817"/>
              <a:gd name="connsiteY25" fmla="*/ 583141 h 584835"/>
              <a:gd name="connisteX26" fmla="*/ 1101180 w 1680817"/>
              <a:gd name="connsiteY26" fmla="*/ 583141 h 584835"/>
              <a:gd name="connisteX27" fmla="*/ 1176110 w 1680817"/>
              <a:gd name="connsiteY27" fmla="*/ 573616 h 584835"/>
              <a:gd name="connisteX28" fmla="*/ 1260565 w 1680817"/>
              <a:gd name="connsiteY28" fmla="*/ 564091 h 584835"/>
              <a:gd name="connisteX29" fmla="*/ 1336130 w 1680817"/>
              <a:gd name="connsiteY29" fmla="*/ 554566 h 584835"/>
              <a:gd name="connisteX30" fmla="*/ 1401535 w 1680817"/>
              <a:gd name="connsiteY30" fmla="*/ 545676 h 584835"/>
              <a:gd name="connisteX31" fmla="*/ 1467575 w 1680817"/>
              <a:gd name="connsiteY31" fmla="*/ 526626 h 584835"/>
              <a:gd name="connisteX32" fmla="*/ 1532980 w 1680817"/>
              <a:gd name="connsiteY32" fmla="*/ 498686 h 584835"/>
              <a:gd name="connisteX33" fmla="*/ 1599020 w 1680817"/>
              <a:gd name="connsiteY33" fmla="*/ 460586 h 584835"/>
              <a:gd name="connisteX34" fmla="*/ 1655535 w 1680817"/>
              <a:gd name="connsiteY34" fmla="*/ 395181 h 584835"/>
              <a:gd name="connisteX35" fmla="*/ 1673950 w 1680817"/>
              <a:gd name="connsiteY35" fmla="*/ 329141 h 584835"/>
              <a:gd name="connisteX36" fmla="*/ 1673950 w 1680817"/>
              <a:gd name="connsiteY36" fmla="*/ 263736 h 584835"/>
              <a:gd name="connisteX37" fmla="*/ 1608545 w 1680817"/>
              <a:gd name="connsiteY37" fmla="*/ 197696 h 584835"/>
              <a:gd name="connisteX38" fmla="*/ 1542505 w 1680817"/>
              <a:gd name="connsiteY38" fmla="*/ 179281 h 584835"/>
              <a:gd name="connisteX39" fmla="*/ 1477100 w 1680817"/>
              <a:gd name="connsiteY39" fmla="*/ 150706 h 584835"/>
              <a:gd name="connisteX40" fmla="*/ 1401535 w 1680817"/>
              <a:gd name="connsiteY40" fmla="*/ 132291 h 584835"/>
              <a:gd name="connisteX41" fmla="*/ 1336130 w 1680817"/>
              <a:gd name="connsiteY41" fmla="*/ 113241 h 584835"/>
              <a:gd name="connisteX42" fmla="*/ 1270090 w 1680817"/>
              <a:gd name="connsiteY42" fmla="*/ 94191 h 584835"/>
              <a:gd name="connisteX43" fmla="*/ 1204685 w 1680817"/>
              <a:gd name="connsiteY43" fmla="*/ 75776 h 584835"/>
              <a:gd name="connisteX44" fmla="*/ 1138645 w 1680817"/>
              <a:gd name="connsiteY44" fmla="*/ 47201 h 584835"/>
              <a:gd name="connisteX45" fmla="*/ 1072605 w 1680817"/>
              <a:gd name="connsiteY45" fmla="*/ 28786 h 584835"/>
              <a:gd name="connisteX46" fmla="*/ 1007200 w 1680817"/>
              <a:gd name="connsiteY46" fmla="*/ 19261 h 584835"/>
              <a:gd name="connisteX47" fmla="*/ 941160 w 1680817"/>
              <a:gd name="connsiteY47" fmla="*/ 9736 h 584835"/>
              <a:gd name="connisteX48" fmla="*/ 875755 w 1680817"/>
              <a:gd name="connsiteY48" fmla="*/ 846 h 584835"/>
              <a:gd name="connisteX49" fmla="*/ 800190 w 1680817"/>
              <a:gd name="connsiteY49" fmla="*/ 846 h 584835"/>
              <a:gd name="connisteX50" fmla="*/ 734785 w 1680817"/>
              <a:gd name="connsiteY50" fmla="*/ 846 h 584835"/>
              <a:gd name="connisteX51" fmla="*/ 668745 w 1680817"/>
              <a:gd name="connsiteY51" fmla="*/ 846 h 584835"/>
              <a:gd name="connisteX52" fmla="*/ 603340 w 1680817"/>
              <a:gd name="connsiteY52" fmla="*/ 846 h 584835"/>
              <a:gd name="connisteX53" fmla="*/ 537300 w 1680817"/>
              <a:gd name="connsiteY53" fmla="*/ 846 h 584835"/>
              <a:gd name="connisteX54" fmla="*/ 471895 w 1680817"/>
              <a:gd name="connsiteY54" fmla="*/ 846 h 58483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Lst>
            <a:rect l="l" t="t" r="r" b="b"/>
            <a:pathLst>
              <a:path w="1680818" h="584835">
                <a:moveTo>
                  <a:pt x="480785" y="847"/>
                </a:moveTo>
                <a:cubicBezTo>
                  <a:pt x="468720" y="4022"/>
                  <a:pt x="441415" y="9737"/>
                  <a:pt x="415380" y="19262"/>
                </a:cubicBezTo>
                <a:cubicBezTo>
                  <a:pt x="389345" y="28787"/>
                  <a:pt x="375375" y="35772"/>
                  <a:pt x="349340" y="47202"/>
                </a:cubicBezTo>
                <a:cubicBezTo>
                  <a:pt x="323305" y="58632"/>
                  <a:pt x="309970" y="60537"/>
                  <a:pt x="283935" y="75777"/>
                </a:cubicBezTo>
                <a:cubicBezTo>
                  <a:pt x="257900" y="91017"/>
                  <a:pt x="243930" y="101812"/>
                  <a:pt x="217895" y="122767"/>
                </a:cubicBezTo>
                <a:cubicBezTo>
                  <a:pt x="191860" y="143722"/>
                  <a:pt x="178525" y="158327"/>
                  <a:pt x="152490" y="179282"/>
                </a:cubicBezTo>
                <a:cubicBezTo>
                  <a:pt x="126455" y="200237"/>
                  <a:pt x="109310" y="204047"/>
                  <a:pt x="86450" y="226272"/>
                </a:cubicBezTo>
                <a:cubicBezTo>
                  <a:pt x="63590" y="248497"/>
                  <a:pt x="54700" y="265642"/>
                  <a:pt x="39460" y="291677"/>
                </a:cubicBezTo>
                <a:cubicBezTo>
                  <a:pt x="24220" y="317712"/>
                  <a:pt x="19140" y="331682"/>
                  <a:pt x="11520" y="357717"/>
                </a:cubicBezTo>
                <a:cubicBezTo>
                  <a:pt x="3900" y="383752"/>
                  <a:pt x="-3720" y="397087"/>
                  <a:pt x="1995" y="423122"/>
                </a:cubicBezTo>
                <a:cubicBezTo>
                  <a:pt x="7710" y="449157"/>
                  <a:pt x="18505" y="470112"/>
                  <a:pt x="39460" y="489162"/>
                </a:cubicBezTo>
                <a:cubicBezTo>
                  <a:pt x="60415" y="508212"/>
                  <a:pt x="79465" y="509482"/>
                  <a:pt x="105500" y="517102"/>
                </a:cubicBezTo>
                <a:cubicBezTo>
                  <a:pt x="131535" y="524722"/>
                  <a:pt x="144870" y="522817"/>
                  <a:pt x="170905" y="526627"/>
                </a:cubicBezTo>
                <a:cubicBezTo>
                  <a:pt x="196940" y="530437"/>
                  <a:pt x="210910" y="534247"/>
                  <a:pt x="236945" y="536152"/>
                </a:cubicBezTo>
                <a:cubicBezTo>
                  <a:pt x="262980" y="538057"/>
                  <a:pt x="274410" y="534247"/>
                  <a:pt x="302350" y="536152"/>
                </a:cubicBezTo>
                <a:cubicBezTo>
                  <a:pt x="330290" y="538057"/>
                  <a:pt x="349975" y="541867"/>
                  <a:pt x="377915" y="545677"/>
                </a:cubicBezTo>
                <a:cubicBezTo>
                  <a:pt x="405855" y="549487"/>
                  <a:pt x="417285" y="550757"/>
                  <a:pt x="443320" y="554567"/>
                </a:cubicBezTo>
                <a:cubicBezTo>
                  <a:pt x="469355" y="558377"/>
                  <a:pt x="483325" y="562187"/>
                  <a:pt x="509360" y="564092"/>
                </a:cubicBezTo>
                <a:cubicBezTo>
                  <a:pt x="535395" y="565997"/>
                  <a:pt x="548730" y="560282"/>
                  <a:pt x="574765" y="564092"/>
                </a:cubicBezTo>
                <a:cubicBezTo>
                  <a:pt x="600800" y="567902"/>
                  <a:pt x="614770" y="579332"/>
                  <a:pt x="640805" y="583142"/>
                </a:cubicBezTo>
                <a:cubicBezTo>
                  <a:pt x="666840" y="586952"/>
                  <a:pt x="680175" y="583142"/>
                  <a:pt x="706210" y="583142"/>
                </a:cubicBezTo>
                <a:cubicBezTo>
                  <a:pt x="732245" y="583142"/>
                  <a:pt x="745580" y="583142"/>
                  <a:pt x="772250" y="583142"/>
                </a:cubicBezTo>
                <a:cubicBezTo>
                  <a:pt x="798920" y="583142"/>
                  <a:pt x="812255" y="583142"/>
                  <a:pt x="838290" y="583142"/>
                </a:cubicBezTo>
                <a:cubicBezTo>
                  <a:pt x="864325" y="583142"/>
                  <a:pt x="877660" y="583142"/>
                  <a:pt x="903695" y="583142"/>
                </a:cubicBezTo>
                <a:cubicBezTo>
                  <a:pt x="929730" y="583142"/>
                  <a:pt x="943700" y="583142"/>
                  <a:pt x="969735" y="583142"/>
                </a:cubicBezTo>
                <a:cubicBezTo>
                  <a:pt x="995770" y="583142"/>
                  <a:pt x="1009105" y="583142"/>
                  <a:pt x="1035140" y="583142"/>
                </a:cubicBezTo>
                <a:cubicBezTo>
                  <a:pt x="1061175" y="583142"/>
                  <a:pt x="1073240" y="585047"/>
                  <a:pt x="1101180" y="583142"/>
                </a:cubicBezTo>
                <a:cubicBezTo>
                  <a:pt x="1129120" y="581237"/>
                  <a:pt x="1144360" y="577427"/>
                  <a:pt x="1176110" y="573617"/>
                </a:cubicBezTo>
                <a:cubicBezTo>
                  <a:pt x="1207860" y="569807"/>
                  <a:pt x="1228815" y="567902"/>
                  <a:pt x="1260565" y="564092"/>
                </a:cubicBezTo>
                <a:cubicBezTo>
                  <a:pt x="1292315" y="560282"/>
                  <a:pt x="1308190" y="558377"/>
                  <a:pt x="1336130" y="554567"/>
                </a:cubicBezTo>
                <a:cubicBezTo>
                  <a:pt x="1364070" y="550757"/>
                  <a:pt x="1375500" y="551392"/>
                  <a:pt x="1401535" y="545677"/>
                </a:cubicBezTo>
                <a:cubicBezTo>
                  <a:pt x="1427570" y="539962"/>
                  <a:pt x="1441540" y="536152"/>
                  <a:pt x="1467575" y="526627"/>
                </a:cubicBezTo>
                <a:cubicBezTo>
                  <a:pt x="1493610" y="517102"/>
                  <a:pt x="1506945" y="512022"/>
                  <a:pt x="1532980" y="498687"/>
                </a:cubicBezTo>
                <a:cubicBezTo>
                  <a:pt x="1559015" y="485352"/>
                  <a:pt x="1574255" y="481542"/>
                  <a:pt x="1599020" y="460587"/>
                </a:cubicBezTo>
                <a:cubicBezTo>
                  <a:pt x="1623785" y="439632"/>
                  <a:pt x="1640295" y="421217"/>
                  <a:pt x="1655535" y="395182"/>
                </a:cubicBezTo>
                <a:cubicBezTo>
                  <a:pt x="1670775" y="369147"/>
                  <a:pt x="1670140" y="355177"/>
                  <a:pt x="1673950" y="329142"/>
                </a:cubicBezTo>
                <a:cubicBezTo>
                  <a:pt x="1677760" y="303107"/>
                  <a:pt x="1687285" y="289772"/>
                  <a:pt x="1673950" y="263737"/>
                </a:cubicBezTo>
                <a:cubicBezTo>
                  <a:pt x="1660615" y="237702"/>
                  <a:pt x="1634580" y="214842"/>
                  <a:pt x="1608545" y="197697"/>
                </a:cubicBezTo>
                <a:cubicBezTo>
                  <a:pt x="1582510" y="180552"/>
                  <a:pt x="1568540" y="188807"/>
                  <a:pt x="1542505" y="179282"/>
                </a:cubicBezTo>
                <a:cubicBezTo>
                  <a:pt x="1516470" y="169757"/>
                  <a:pt x="1505040" y="160232"/>
                  <a:pt x="1477100" y="150707"/>
                </a:cubicBezTo>
                <a:cubicBezTo>
                  <a:pt x="1449160" y="141182"/>
                  <a:pt x="1429475" y="139912"/>
                  <a:pt x="1401535" y="132292"/>
                </a:cubicBezTo>
                <a:cubicBezTo>
                  <a:pt x="1373595" y="124672"/>
                  <a:pt x="1362165" y="120862"/>
                  <a:pt x="1336130" y="113242"/>
                </a:cubicBezTo>
                <a:cubicBezTo>
                  <a:pt x="1310095" y="105622"/>
                  <a:pt x="1296125" y="101812"/>
                  <a:pt x="1270090" y="94192"/>
                </a:cubicBezTo>
                <a:cubicBezTo>
                  <a:pt x="1244055" y="86572"/>
                  <a:pt x="1230720" y="85302"/>
                  <a:pt x="1204685" y="75777"/>
                </a:cubicBezTo>
                <a:cubicBezTo>
                  <a:pt x="1178650" y="66252"/>
                  <a:pt x="1165315" y="56727"/>
                  <a:pt x="1138645" y="47202"/>
                </a:cubicBezTo>
                <a:cubicBezTo>
                  <a:pt x="1111975" y="37677"/>
                  <a:pt x="1098640" y="34502"/>
                  <a:pt x="1072605" y="28787"/>
                </a:cubicBezTo>
                <a:cubicBezTo>
                  <a:pt x="1046570" y="23072"/>
                  <a:pt x="1033235" y="23072"/>
                  <a:pt x="1007200" y="19262"/>
                </a:cubicBezTo>
                <a:cubicBezTo>
                  <a:pt x="981165" y="15452"/>
                  <a:pt x="967195" y="13547"/>
                  <a:pt x="941160" y="9737"/>
                </a:cubicBezTo>
                <a:cubicBezTo>
                  <a:pt x="915125" y="5927"/>
                  <a:pt x="903695" y="2752"/>
                  <a:pt x="875755" y="847"/>
                </a:cubicBezTo>
                <a:cubicBezTo>
                  <a:pt x="847815" y="-1058"/>
                  <a:pt x="828130" y="847"/>
                  <a:pt x="800190" y="847"/>
                </a:cubicBezTo>
                <a:cubicBezTo>
                  <a:pt x="772250" y="847"/>
                  <a:pt x="760820" y="847"/>
                  <a:pt x="734785" y="847"/>
                </a:cubicBezTo>
                <a:cubicBezTo>
                  <a:pt x="708750" y="847"/>
                  <a:pt x="694780" y="847"/>
                  <a:pt x="668745" y="847"/>
                </a:cubicBezTo>
                <a:cubicBezTo>
                  <a:pt x="642710" y="847"/>
                  <a:pt x="629375" y="847"/>
                  <a:pt x="603340" y="847"/>
                </a:cubicBezTo>
                <a:cubicBezTo>
                  <a:pt x="577305" y="847"/>
                  <a:pt x="563335" y="847"/>
                  <a:pt x="537300" y="847"/>
                </a:cubicBezTo>
                <a:cubicBezTo>
                  <a:pt x="511265" y="847"/>
                  <a:pt x="483960" y="847"/>
                  <a:pt x="471895" y="847"/>
                </a:cubicBezTo>
              </a:path>
            </a:pathLst>
          </a:custGeom>
          <a:solidFill>
            <a:srgbClr val="FFC000">
              <a:alpha val="50000"/>
            </a:srgbClr>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sp>
        <p:nvSpPr>
          <p:cNvPr id="22" name="任意多边形 21"/>
          <p:cNvSpPr/>
          <p:nvPr/>
        </p:nvSpPr>
        <p:spPr>
          <a:xfrm>
            <a:off x="4786630" y="4178935"/>
            <a:ext cx="2145030" cy="509905"/>
          </a:xfrm>
          <a:custGeom>
            <a:avLst/>
            <a:gdLst>
              <a:gd name="connisteX0" fmla="*/ 357545 w 2145215"/>
              <a:gd name="connsiteY0" fmla="*/ 169756 h 509905"/>
              <a:gd name="connisteX1" fmla="*/ 291505 w 2145215"/>
              <a:gd name="connsiteY1" fmla="*/ 198331 h 509905"/>
              <a:gd name="connisteX2" fmla="*/ 226100 w 2145215"/>
              <a:gd name="connsiteY2" fmla="*/ 226271 h 509905"/>
              <a:gd name="connisteX3" fmla="*/ 160060 w 2145215"/>
              <a:gd name="connsiteY3" fmla="*/ 254846 h 509905"/>
              <a:gd name="connisteX4" fmla="*/ 94655 w 2145215"/>
              <a:gd name="connsiteY4" fmla="*/ 301836 h 509905"/>
              <a:gd name="connisteX5" fmla="*/ 28615 w 2145215"/>
              <a:gd name="connsiteY5" fmla="*/ 339301 h 509905"/>
              <a:gd name="connisteX6" fmla="*/ 675 w 2145215"/>
              <a:gd name="connsiteY6" fmla="*/ 404706 h 509905"/>
              <a:gd name="connisteX7" fmla="*/ 47665 w 2145215"/>
              <a:gd name="connsiteY7" fmla="*/ 470746 h 509905"/>
              <a:gd name="connisteX8" fmla="*/ 113070 w 2145215"/>
              <a:gd name="connsiteY8" fmla="*/ 489161 h 509905"/>
              <a:gd name="connisteX9" fmla="*/ 198160 w 2145215"/>
              <a:gd name="connsiteY9" fmla="*/ 508211 h 509905"/>
              <a:gd name="connisteX10" fmla="*/ 263565 w 2145215"/>
              <a:gd name="connsiteY10" fmla="*/ 508211 h 509905"/>
              <a:gd name="connisteX11" fmla="*/ 338495 w 2145215"/>
              <a:gd name="connsiteY11" fmla="*/ 508211 h 509905"/>
              <a:gd name="connisteX12" fmla="*/ 414060 w 2145215"/>
              <a:gd name="connsiteY12" fmla="*/ 508211 h 509905"/>
              <a:gd name="connisteX13" fmla="*/ 479465 w 2145215"/>
              <a:gd name="connsiteY13" fmla="*/ 508211 h 509905"/>
              <a:gd name="connisteX14" fmla="*/ 555030 w 2145215"/>
              <a:gd name="connsiteY14" fmla="*/ 498686 h 509905"/>
              <a:gd name="connisteX15" fmla="*/ 620435 w 2145215"/>
              <a:gd name="connsiteY15" fmla="*/ 489161 h 509905"/>
              <a:gd name="connisteX16" fmla="*/ 686475 w 2145215"/>
              <a:gd name="connsiteY16" fmla="*/ 480271 h 509905"/>
              <a:gd name="connisteX17" fmla="*/ 751880 w 2145215"/>
              <a:gd name="connsiteY17" fmla="*/ 461221 h 509905"/>
              <a:gd name="connisteX18" fmla="*/ 817920 w 2145215"/>
              <a:gd name="connsiteY18" fmla="*/ 461221 h 509905"/>
              <a:gd name="connisteX19" fmla="*/ 902375 w 2145215"/>
              <a:gd name="connsiteY19" fmla="*/ 442171 h 509905"/>
              <a:gd name="connisteX20" fmla="*/ 996355 w 2145215"/>
              <a:gd name="connsiteY20" fmla="*/ 433281 h 509905"/>
              <a:gd name="connisteX21" fmla="*/ 1062395 w 2145215"/>
              <a:gd name="connsiteY21" fmla="*/ 433281 h 509905"/>
              <a:gd name="connisteX22" fmla="*/ 1146850 w 2145215"/>
              <a:gd name="connsiteY22" fmla="*/ 423756 h 509905"/>
              <a:gd name="connisteX23" fmla="*/ 1212255 w 2145215"/>
              <a:gd name="connsiteY23" fmla="*/ 414231 h 509905"/>
              <a:gd name="connisteX24" fmla="*/ 1296710 w 2145215"/>
              <a:gd name="connsiteY24" fmla="*/ 404706 h 509905"/>
              <a:gd name="connisteX25" fmla="*/ 1372275 w 2145215"/>
              <a:gd name="connsiteY25" fmla="*/ 386291 h 509905"/>
              <a:gd name="connisteX26" fmla="*/ 1437680 w 2145215"/>
              <a:gd name="connsiteY26" fmla="*/ 376766 h 509905"/>
              <a:gd name="connisteX27" fmla="*/ 1503720 w 2145215"/>
              <a:gd name="connsiteY27" fmla="*/ 367241 h 509905"/>
              <a:gd name="connisteX28" fmla="*/ 1569760 w 2145215"/>
              <a:gd name="connsiteY28" fmla="*/ 348826 h 509905"/>
              <a:gd name="connisteX29" fmla="*/ 1644690 w 2145215"/>
              <a:gd name="connsiteY29" fmla="*/ 329776 h 509905"/>
              <a:gd name="connisteX30" fmla="*/ 1710095 w 2145215"/>
              <a:gd name="connsiteY30" fmla="*/ 320251 h 509905"/>
              <a:gd name="connisteX31" fmla="*/ 1785660 w 2145215"/>
              <a:gd name="connsiteY31" fmla="*/ 301836 h 509905"/>
              <a:gd name="connisteX32" fmla="*/ 1851065 w 2145215"/>
              <a:gd name="connsiteY32" fmla="*/ 292311 h 509905"/>
              <a:gd name="connisteX33" fmla="*/ 1917105 w 2145215"/>
              <a:gd name="connsiteY33" fmla="*/ 273261 h 509905"/>
              <a:gd name="connisteX34" fmla="*/ 1982510 w 2145215"/>
              <a:gd name="connsiteY34" fmla="*/ 254846 h 509905"/>
              <a:gd name="connisteX35" fmla="*/ 2048550 w 2145215"/>
              <a:gd name="connsiteY35" fmla="*/ 235796 h 509905"/>
              <a:gd name="connisteX36" fmla="*/ 2114590 w 2145215"/>
              <a:gd name="connsiteY36" fmla="*/ 207856 h 509905"/>
              <a:gd name="connisteX37" fmla="*/ 2142530 w 2145215"/>
              <a:gd name="connsiteY37" fmla="*/ 141816 h 509905"/>
              <a:gd name="connisteX38" fmla="*/ 2133005 w 2145215"/>
              <a:gd name="connsiteY38" fmla="*/ 75776 h 509905"/>
              <a:gd name="connisteX39" fmla="*/ 2067600 w 2145215"/>
              <a:gd name="connsiteY39" fmla="*/ 38311 h 509905"/>
              <a:gd name="connisteX40" fmla="*/ 2001560 w 2145215"/>
              <a:gd name="connsiteY40" fmla="*/ 19896 h 509905"/>
              <a:gd name="connisteX41" fmla="*/ 1935520 w 2145215"/>
              <a:gd name="connsiteY41" fmla="*/ 10371 h 509905"/>
              <a:gd name="connisteX42" fmla="*/ 1870115 w 2145215"/>
              <a:gd name="connsiteY42" fmla="*/ 846 h 509905"/>
              <a:gd name="connisteX43" fmla="*/ 1804075 w 2145215"/>
              <a:gd name="connsiteY43" fmla="*/ 846 h 509905"/>
              <a:gd name="connisteX44" fmla="*/ 1738670 w 2145215"/>
              <a:gd name="connsiteY44" fmla="*/ 846 h 509905"/>
              <a:gd name="connisteX45" fmla="*/ 1663105 w 2145215"/>
              <a:gd name="connsiteY45" fmla="*/ 846 h 509905"/>
              <a:gd name="connisteX46" fmla="*/ 1597700 w 2145215"/>
              <a:gd name="connsiteY46" fmla="*/ 846 h 509905"/>
              <a:gd name="connisteX47" fmla="*/ 1531660 w 2145215"/>
              <a:gd name="connsiteY47" fmla="*/ 10371 h 509905"/>
              <a:gd name="connisteX48" fmla="*/ 1456730 w 2145215"/>
              <a:gd name="connsiteY48" fmla="*/ 10371 h 509905"/>
              <a:gd name="connisteX49" fmla="*/ 1390690 w 2145215"/>
              <a:gd name="connsiteY49" fmla="*/ 19896 h 509905"/>
              <a:gd name="connisteX50" fmla="*/ 1325285 w 2145215"/>
              <a:gd name="connsiteY50" fmla="*/ 29421 h 509905"/>
              <a:gd name="connisteX51" fmla="*/ 1259245 w 2145215"/>
              <a:gd name="connsiteY51" fmla="*/ 29421 h 509905"/>
              <a:gd name="connisteX52" fmla="*/ 1193840 w 2145215"/>
              <a:gd name="connsiteY52" fmla="*/ 38311 h 509905"/>
              <a:gd name="connisteX53" fmla="*/ 1127800 w 2145215"/>
              <a:gd name="connsiteY53" fmla="*/ 57361 h 509905"/>
              <a:gd name="connisteX54" fmla="*/ 1062395 w 2145215"/>
              <a:gd name="connsiteY54" fmla="*/ 57361 h 509905"/>
              <a:gd name="connisteX55" fmla="*/ 986830 w 2145215"/>
              <a:gd name="connsiteY55" fmla="*/ 75776 h 509905"/>
              <a:gd name="connisteX56" fmla="*/ 911900 w 2145215"/>
              <a:gd name="connsiteY56" fmla="*/ 75776 h 509905"/>
              <a:gd name="connisteX57" fmla="*/ 836970 w 2145215"/>
              <a:gd name="connsiteY57" fmla="*/ 85301 h 509905"/>
              <a:gd name="connisteX58" fmla="*/ 770930 w 2145215"/>
              <a:gd name="connsiteY58" fmla="*/ 94826 h 509905"/>
              <a:gd name="connisteX59" fmla="*/ 704890 w 2145215"/>
              <a:gd name="connsiteY59" fmla="*/ 104351 h 509905"/>
              <a:gd name="connisteX60" fmla="*/ 639485 w 2145215"/>
              <a:gd name="connsiteY60" fmla="*/ 113876 h 509905"/>
              <a:gd name="connisteX61" fmla="*/ 573445 w 2145215"/>
              <a:gd name="connsiteY61" fmla="*/ 122766 h 509905"/>
              <a:gd name="connisteX62" fmla="*/ 508040 w 2145215"/>
              <a:gd name="connsiteY62" fmla="*/ 132291 h 509905"/>
              <a:gd name="connisteX63" fmla="*/ 442000 w 2145215"/>
              <a:gd name="connsiteY63" fmla="*/ 151341 h 509905"/>
              <a:gd name="connisteX64" fmla="*/ 376595 w 2145215"/>
              <a:gd name="connsiteY64" fmla="*/ 169756 h 509905"/>
              <a:gd name="connisteX65" fmla="*/ 310555 w 2145215"/>
              <a:gd name="connsiteY65" fmla="*/ 198331 h 50990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Lst>
            <a:rect l="l" t="t" r="r" b="b"/>
            <a:pathLst>
              <a:path w="2145215" h="509905">
                <a:moveTo>
                  <a:pt x="357546" y="169757"/>
                </a:moveTo>
                <a:cubicBezTo>
                  <a:pt x="345481" y="174837"/>
                  <a:pt x="317541" y="186902"/>
                  <a:pt x="291506" y="198332"/>
                </a:cubicBezTo>
                <a:cubicBezTo>
                  <a:pt x="265471" y="209762"/>
                  <a:pt x="252136" y="214842"/>
                  <a:pt x="226101" y="226272"/>
                </a:cubicBezTo>
                <a:cubicBezTo>
                  <a:pt x="200066" y="237702"/>
                  <a:pt x="186096" y="239607"/>
                  <a:pt x="160061" y="254847"/>
                </a:cubicBezTo>
                <a:cubicBezTo>
                  <a:pt x="134026" y="270087"/>
                  <a:pt x="120691" y="284692"/>
                  <a:pt x="94656" y="301837"/>
                </a:cubicBezTo>
                <a:cubicBezTo>
                  <a:pt x="68621" y="318982"/>
                  <a:pt x="47666" y="318982"/>
                  <a:pt x="28616" y="339302"/>
                </a:cubicBezTo>
                <a:cubicBezTo>
                  <a:pt x="9566" y="359622"/>
                  <a:pt x="-3134" y="378672"/>
                  <a:pt x="676" y="404707"/>
                </a:cubicBezTo>
                <a:cubicBezTo>
                  <a:pt x="4486" y="430742"/>
                  <a:pt x="25441" y="453602"/>
                  <a:pt x="47666" y="470747"/>
                </a:cubicBezTo>
                <a:cubicBezTo>
                  <a:pt x="69891" y="487892"/>
                  <a:pt x="83226" y="481542"/>
                  <a:pt x="113071" y="489162"/>
                </a:cubicBezTo>
                <a:cubicBezTo>
                  <a:pt x="142916" y="496782"/>
                  <a:pt x="168316" y="504402"/>
                  <a:pt x="198161" y="508212"/>
                </a:cubicBezTo>
                <a:cubicBezTo>
                  <a:pt x="228006" y="512022"/>
                  <a:pt x="235626" y="508212"/>
                  <a:pt x="263566" y="508212"/>
                </a:cubicBezTo>
                <a:cubicBezTo>
                  <a:pt x="291506" y="508212"/>
                  <a:pt x="308651" y="508212"/>
                  <a:pt x="338496" y="508212"/>
                </a:cubicBezTo>
                <a:cubicBezTo>
                  <a:pt x="368341" y="508212"/>
                  <a:pt x="386121" y="508212"/>
                  <a:pt x="414061" y="508212"/>
                </a:cubicBezTo>
                <a:cubicBezTo>
                  <a:pt x="442001" y="508212"/>
                  <a:pt x="451526" y="510117"/>
                  <a:pt x="479466" y="508212"/>
                </a:cubicBezTo>
                <a:cubicBezTo>
                  <a:pt x="507406" y="506307"/>
                  <a:pt x="527091" y="502497"/>
                  <a:pt x="555031" y="498687"/>
                </a:cubicBezTo>
                <a:cubicBezTo>
                  <a:pt x="582971" y="494877"/>
                  <a:pt x="594401" y="492972"/>
                  <a:pt x="620436" y="489162"/>
                </a:cubicBezTo>
                <a:cubicBezTo>
                  <a:pt x="646471" y="485352"/>
                  <a:pt x="660441" y="485987"/>
                  <a:pt x="686476" y="480272"/>
                </a:cubicBezTo>
                <a:cubicBezTo>
                  <a:pt x="712511" y="474557"/>
                  <a:pt x="725846" y="465032"/>
                  <a:pt x="751881" y="461222"/>
                </a:cubicBezTo>
                <a:cubicBezTo>
                  <a:pt x="777916" y="457412"/>
                  <a:pt x="788076" y="465032"/>
                  <a:pt x="817921" y="461222"/>
                </a:cubicBezTo>
                <a:cubicBezTo>
                  <a:pt x="847766" y="457412"/>
                  <a:pt x="866816" y="447887"/>
                  <a:pt x="902376" y="442172"/>
                </a:cubicBezTo>
                <a:cubicBezTo>
                  <a:pt x="937936" y="436457"/>
                  <a:pt x="964606" y="435187"/>
                  <a:pt x="996356" y="433282"/>
                </a:cubicBezTo>
                <a:cubicBezTo>
                  <a:pt x="1028106" y="431377"/>
                  <a:pt x="1032551" y="435187"/>
                  <a:pt x="1062396" y="433282"/>
                </a:cubicBezTo>
                <a:cubicBezTo>
                  <a:pt x="1092241" y="431377"/>
                  <a:pt x="1117006" y="427567"/>
                  <a:pt x="1146851" y="423757"/>
                </a:cubicBezTo>
                <a:cubicBezTo>
                  <a:pt x="1176696" y="419947"/>
                  <a:pt x="1182411" y="418042"/>
                  <a:pt x="1212256" y="414232"/>
                </a:cubicBezTo>
                <a:cubicBezTo>
                  <a:pt x="1242101" y="410422"/>
                  <a:pt x="1264961" y="410422"/>
                  <a:pt x="1296711" y="404707"/>
                </a:cubicBezTo>
                <a:cubicBezTo>
                  <a:pt x="1328461" y="398992"/>
                  <a:pt x="1344336" y="392007"/>
                  <a:pt x="1372276" y="386292"/>
                </a:cubicBezTo>
                <a:cubicBezTo>
                  <a:pt x="1400216" y="380577"/>
                  <a:pt x="1411646" y="380577"/>
                  <a:pt x="1437681" y="376767"/>
                </a:cubicBezTo>
                <a:cubicBezTo>
                  <a:pt x="1463716" y="372957"/>
                  <a:pt x="1477051" y="372957"/>
                  <a:pt x="1503721" y="367242"/>
                </a:cubicBezTo>
                <a:cubicBezTo>
                  <a:pt x="1530391" y="361527"/>
                  <a:pt x="1541821" y="356447"/>
                  <a:pt x="1569761" y="348827"/>
                </a:cubicBezTo>
                <a:cubicBezTo>
                  <a:pt x="1597701" y="341207"/>
                  <a:pt x="1616751" y="335492"/>
                  <a:pt x="1644691" y="329777"/>
                </a:cubicBezTo>
                <a:cubicBezTo>
                  <a:pt x="1672631" y="324062"/>
                  <a:pt x="1682156" y="325967"/>
                  <a:pt x="1710096" y="320252"/>
                </a:cubicBezTo>
                <a:cubicBezTo>
                  <a:pt x="1738036" y="314537"/>
                  <a:pt x="1757721" y="307552"/>
                  <a:pt x="1785661" y="301837"/>
                </a:cubicBezTo>
                <a:cubicBezTo>
                  <a:pt x="1813601" y="296122"/>
                  <a:pt x="1825031" y="298027"/>
                  <a:pt x="1851066" y="292312"/>
                </a:cubicBezTo>
                <a:cubicBezTo>
                  <a:pt x="1877101" y="286597"/>
                  <a:pt x="1891071" y="280882"/>
                  <a:pt x="1917106" y="273262"/>
                </a:cubicBezTo>
                <a:cubicBezTo>
                  <a:pt x="1943141" y="265642"/>
                  <a:pt x="1956476" y="262467"/>
                  <a:pt x="1982511" y="254847"/>
                </a:cubicBezTo>
                <a:cubicBezTo>
                  <a:pt x="2008546" y="247227"/>
                  <a:pt x="2021881" y="245322"/>
                  <a:pt x="2048551" y="235797"/>
                </a:cubicBezTo>
                <a:cubicBezTo>
                  <a:pt x="2075221" y="226272"/>
                  <a:pt x="2095541" y="226907"/>
                  <a:pt x="2114591" y="207857"/>
                </a:cubicBezTo>
                <a:cubicBezTo>
                  <a:pt x="2133641" y="188807"/>
                  <a:pt x="2138721" y="168487"/>
                  <a:pt x="2142531" y="141817"/>
                </a:cubicBezTo>
                <a:cubicBezTo>
                  <a:pt x="2146341" y="115147"/>
                  <a:pt x="2148246" y="96732"/>
                  <a:pt x="2133006" y="75777"/>
                </a:cubicBezTo>
                <a:cubicBezTo>
                  <a:pt x="2117766" y="54822"/>
                  <a:pt x="2093636" y="49742"/>
                  <a:pt x="2067601" y="38312"/>
                </a:cubicBezTo>
                <a:cubicBezTo>
                  <a:pt x="2041566" y="26882"/>
                  <a:pt x="2028231" y="25612"/>
                  <a:pt x="2001561" y="19897"/>
                </a:cubicBezTo>
                <a:cubicBezTo>
                  <a:pt x="1974891" y="14182"/>
                  <a:pt x="1961556" y="14182"/>
                  <a:pt x="1935521" y="10372"/>
                </a:cubicBezTo>
                <a:cubicBezTo>
                  <a:pt x="1909486" y="6562"/>
                  <a:pt x="1896151" y="2752"/>
                  <a:pt x="1870116" y="847"/>
                </a:cubicBezTo>
                <a:cubicBezTo>
                  <a:pt x="1844081" y="-1058"/>
                  <a:pt x="1830111" y="847"/>
                  <a:pt x="1804076" y="847"/>
                </a:cubicBezTo>
                <a:cubicBezTo>
                  <a:pt x="1778041" y="847"/>
                  <a:pt x="1766611" y="847"/>
                  <a:pt x="1738671" y="847"/>
                </a:cubicBezTo>
                <a:cubicBezTo>
                  <a:pt x="1710731" y="847"/>
                  <a:pt x="1691046" y="847"/>
                  <a:pt x="1663106" y="847"/>
                </a:cubicBezTo>
                <a:cubicBezTo>
                  <a:pt x="1635166" y="847"/>
                  <a:pt x="1623736" y="-1058"/>
                  <a:pt x="1597701" y="847"/>
                </a:cubicBezTo>
                <a:cubicBezTo>
                  <a:pt x="1571666" y="2752"/>
                  <a:pt x="1559601" y="8467"/>
                  <a:pt x="1531661" y="10372"/>
                </a:cubicBezTo>
                <a:cubicBezTo>
                  <a:pt x="1503721" y="12277"/>
                  <a:pt x="1484671" y="8467"/>
                  <a:pt x="1456731" y="10372"/>
                </a:cubicBezTo>
                <a:cubicBezTo>
                  <a:pt x="1428791" y="12277"/>
                  <a:pt x="1416726" y="16087"/>
                  <a:pt x="1390691" y="19897"/>
                </a:cubicBezTo>
                <a:cubicBezTo>
                  <a:pt x="1364656" y="23707"/>
                  <a:pt x="1351321" y="27517"/>
                  <a:pt x="1325286" y="29422"/>
                </a:cubicBezTo>
                <a:cubicBezTo>
                  <a:pt x="1299251" y="31327"/>
                  <a:pt x="1285281" y="27517"/>
                  <a:pt x="1259246" y="29422"/>
                </a:cubicBezTo>
                <a:cubicBezTo>
                  <a:pt x="1233211" y="31327"/>
                  <a:pt x="1219876" y="32597"/>
                  <a:pt x="1193841" y="38312"/>
                </a:cubicBezTo>
                <a:cubicBezTo>
                  <a:pt x="1167806" y="44027"/>
                  <a:pt x="1153836" y="53552"/>
                  <a:pt x="1127801" y="57362"/>
                </a:cubicBezTo>
                <a:cubicBezTo>
                  <a:pt x="1101766" y="61172"/>
                  <a:pt x="1090336" y="53552"/>
                  <a:pt x="1062396" y="57362"/>
                </a:cubicBezTo>
                <a:cubicBezTo>
                  <a:pt x="1034456" y="61172"/>
                  <a:pt x="1016676" y="71967"/>
                  <a:pt x="986831" y="75777"/>
                </a:cubicBezTo>
                <a:cubicBezTo>
                  <a:pt x="956986" y="79587"/>
                  <a:pt x="941746" y="73872"/>
                  <a:pt x="911901" y="75777"/>
                </a:cubicBezTo>
                <a:cubicBezTo>
                  <a:pt x="882056" y="77682"/>
                  <a:pt x="864911" y="81492"/>
                  <a:pt x="836971" y="85302"/>
                </a:cubicBezTo>
                <a:cubicBezTo>
                  <a:pt x="809031" y="89112"/>
                  <a:pt x="797601" y="91017"/>
                  <a:pt x="770931" y="94827"/>
                </a:cubicBezTo>
                <a:cubicBezTo>
                  <a:pt x="744261" y="98637"/>
                  <a:pt x="730926" y="100542"/>
                  <a:pt x="704891" y="104352"/>
                </a:cubicBezTo>
                <a:cubicBezTo>
                  <a:pt x="678856" y="108162"/>
                  <a:pt x="665521" y="110067"/>
                  <a:pt x="639486" y="113877"/>
                </a:cubicBezTo>
                <a:cubicBezTo>
                  <a:pt x="613451" y="117687"/>
                  <a:pt x="599481" y="118957"/>
                  <a:pt x="573446" y="122767"/>
                </a:cubicBezTo>
                <a:cubicBezTo>
                  <a:pt x="547411" y="126577"/>
                  <a:pt x="534076" y="126577"/>
                  <a:pt x="508041" y="132292"/>
                </a:cubicBezTo>
                <a:cubicBezTo>
                  <a:pt x="482006" y="138007"/>
                  <a:pt x="468036" y="143722"/>
                  <a:pt x="442001" y="151342"/>
                </a:cubicBezTo>
                <a:cubicBezTo>
                  <a:pt x="415966" y="158962"/>
                  <a:pt x="402631" y="160232"/>
                  <a:pt x="376596" y="169757"/>
                </a:cubicBezTo>
                <a:cubicBezTo>
                  <a:pt x="350561" y="179282"/>
                  <a:pt x="322621" y="193252"/>
                  <a:pt x="310556" y="198332"/>
                </a:cubicBezTo>
              </a:path>
            </a:pathLst>
          </a:custGeom>
          <a:solidFill>
            <a:srgbClr val="7030A0">
              <a:alpha val="50000"/>
            </a:srgbClr>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cxnSp>
        <p:nvCxnSpPr>
          <p:cNvPr id="23" name="直接箭头连接符 22"/>
          <p:cNvCxnSpPr>
            <a:stCxn id="18" idx="76"/>
          </p:cNvCxnSpPr>
          <p:nvPr/>
        </p:nvCxnSpPr>
        <p:spPr>
          <a:xfrm>
            <a:off x="6662420" y="3225800"/>
            <a:ext cx="980440" cy="334010"/>
          </a:xfrm>
          <a:prstGeom prst="straightConnector1">
            <a:avLst/>
          </a:prstGeom>
          <a:ln>
            <a:solidFill>
              <a:srgbClr val="FF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5" name="肘形连接符 24"/>
          <p:cNvCxnSpPr>
            <a:stCxn id="20" idx="56"/>
          </p:cNvCxnSpPr>
          <p:nvPr/>
        </p:nvCxnSpPr>
        <p:spPr>
          <a:xfrm flipV="1">
            <a:off x="3040380" y="4104640"/>
            <a:ext cx="4678045" cy="1117600"/>
          </a:xfrm>
          <a:prstGeom prst="bentConnector3">
            <a:avLst>
              <a:gd name="adj1" fmla="val 92181"/>
            </a:avLst>
          </a:prstGeom>
          <a:ln>
            <a:solidFill>
              <a:srgbClr val="FF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6" name="直接箭头连接符 25"/>
          <p:cNvCxnSpPr>
            <a:stCxn id="21" idx="28"/>
          </p:cNvCxnSpPr>
          <p:nvPr/>
        </p:nvCxnSpPr>
        <p:spPr>
          <a:xfrm>
            <a:off x="3208655" y="3399790"/>
            <a:ext cx="4547235" cy="1108710"/>
          </a:xfrm>
          <a:prstGeom prst="straightConnector1">
            <a:avLst/>
          </a:prstGeom>
          <a:ln>
            <a:solidFill>
              <a:srgbClr val="FF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7" name="直接箭头连接符 26"/>
          <p:cNvCxnSpPr>
            <a:stCxn id="22" idx="18"/>
          </p:cNvCxnSpPr>
          <p:nvPr/>
        </p:nvCxnSpPr>
        <p:spPr>
          <a:xfrm>
            <a:off x="5604510" y="4639945"/>
            <a:ext cx="2111375" cy="812800"/>
          </a:xfrm>
          <a:prstGeom prst="straightConnector1">
            <a:avLst/>
          </a:prstGeom>
          <a:ln>
            <a:solidFill>
              <a:srgbClr val="FF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71475" y="811530"/>
            <a:ext cx="11833225" cy="506730"/>
          </a:xfrm>
          <a:prstGeom prst="rect">
            <a:avLst/>
          </a:prstGeom>
          <a:noFill/>
          <a:ln>
            <a:noFill/>
          </a:ln>
        </p:spPr>
        <p:txBody>
          <a:bodyPr wrap="square">
            <a:spAutoFit/>
          </a:bodyPr>
          <a:lstStyle/>
          <a:p>
            <a:pPr marL="0" indent="0">
              <a:lnSpc>
                <a:spcPct val="150000"/>
              </a:lnSpc>
              <a:buClr>
                <a:srgbClr val="FF0000"/>
              </a:buClr>
            </a:pP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15</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、基于桌面端应用开发规范，明确可视化软件</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架构</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TextBox 2"/>
          <p:cNvSpPr txBox="1">
            <a:spLocks noChangeArrowheads="1"/>
          </p:cNvSpPr>
          <p:nvPr/>
        </p:nvSpPr>
        <p:spPr bwMode="auto">
          <a:xfrm>
            <a:off x="334962" y="134249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cs typeface="微软雅黑" panose="020B0503020204020204" pitchFamily="34" charset="-122"/>
                <a:sym typeface="+mn-ea"/>
              </a:rPr>
              <a:t>基于</a:t>
            </a:r>
            <a:r>
              <a:rPr lang="en-US" altLang="zh-CN" sz="1600" dirty="0">
                <a:solidFill>
                  <a:srgbClr val="FF0000"/>
                </a:solidFill>
                <a:cs typeface="微软雅黑" panose="020B0503020204020204" pitchFamily="34" charset="-122"/>
                <a:sym typeface="+mn-ea"/>
              </a:rPr>
              <a:t>PySide6</a:t>
            </a:r>
            <a:r>
              <a:rPr lang="zh-CN" altLang="en-US" sz="1600" dirty="0">
                <a:cs typeface="微软雅黑" panose="020B0503020204020204" pitchFamily="34" charset="-122"/>
                <a:sym typeface="+mn-ea"/>
              </a:rPr>
              <a:t>与</a:t>
            </a:r>
            <a:r>
              <a:rPr lang="en-US" altLang="zh-CN" sz="1600" dirty="0">
                <a:solidFill>
                  <a:srgbClr val="FF0000"/>
                </a:solidFill>
                <a:cs typeface="微软雅黑" panose="020B0503020204020204" pitchFamily="34" charset="-122"/>
                <a:sym typeface="+mn-ea"/>
              </a:rPr>
              <a:t>Qt Designer</a:t>
            </a:r>
            <a:r>
              <a:rPr lang="zh-CN" altLang="en-US" sz="1600" dirty="0">
                <a:cs typeface="微软雅黑" panose="020B0503020204020204" pitchFamily="34" charset="-122"/>
                <a:sym typeface="+mn-ea"/>
              </a:rPr>
              <a:t>打造可拖拽、实时响应的交互式分析与管理界面</a:t>
            </a:r>
            <a:endParaRPr lang="zh-CN" altLang="en-US" sz="1600" dirty="0">
              <a:cs typeface="微软雅黑" panose="020B0503020204020204" pitchFamily="34" charset="-122"/>
              <a:sym typeface="+mn-ea"/>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cs typeface="微软雅黑" panose="020B0503020204020204" pitchFamily="34" charset="-122"/>
                <a:sym typeface="+mn-ea"/>
              </a:rPr>
              <a:t>嵌入</a:t>
            </a:r>
            <a:r>
              <a:rPr lang="en-US" altLang="zh-CN" sz="1600" dirty="0">
                <a:solidFill>
                  <a:srgbClr val="FF0000"/>
                </a:solidFill>
                <a:cs typeface="微软雅黑" panose="020B0503020204020204" pitchFamily="34" charset="-122"/>
                <a:sym typeface="+mn-ea"/>
              </a:rPr>
              <a:t>SQLite</a:t>
            </a:r>
            <a:r>
              <a:rPr lang="zh-CN" altLang="en-US" sz="1600" dirty="0">
                <a:cs typeface="微软雅黑" panose="020B0503020204020204" pitchFamily="34" charset="-122"/>
                <a:sym typeface="+mn-ea"/>
              </a:rPr>
              <a:t>轻量级数据库，实现地质、工程、曲线分析与改造效果的联动分析</a:t>
            </a:r>
            <a:endParaRPr lang="zh-CN" altLang="en-US" sz="1600" dirty="0">
              <a:cs typeface="微软雅黑" panose="020B0503020204020204" pitchFamily="34" charset="-122"/>
              <a:sym typeface="+mn-ea"/>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cs typeface="微软雅黑" panose="020B0503020204020204" pitchFamily="34" charset="-122"/>
                <a:sym typeface="+mn-ea"/>
              </a:rPr>
              <a:t>实现压裂效果的</a:t>
            </a:r>
            <a:r>
              <a:rPr lang="zh-CN" altLang="en-US" sz="1600" dirty="0">
                <a:solidFill>
                  <a:srgbClr val="FF0000"/>
                </a:solidFill>
                <a:cs typeface="微软雅黑" panose="020B0503020204020204" pitchFamily="34" charset="-122"/>
                <a:sym typeface="+mn-ea"/>
              </a:rPr>
              <a:t>可视化</a:t>
            </a:r>
            <a:r>
              <a:rPr lang="zh-CN" altLang="en-US" sz="1600" dirty="0">
                <a:solidFill>
                  <a:srgbClr val="FF0000"/>
                </a:solidFill>
                <a:cs typeface="微软雅黑" panose="020B0503020204020204" pitchFamily="34" charset="-122"/>
                <a:sym typeface="+mn-ea"/>
              </a:rPr>
              <a:t>分析与自动化入库</a:t>
            </a:r>
            <a:r>
              <a:rPr lang="zh-CN" altLang="en-US" sz="1600" dirty="0">
                <a:cs typeface="微软雅黑" panose="020B0503020204020204" pitchFamily="34" charset="-122"/>
                <a:sym typeface="+mn-ea"/>
              </a:rPr>
              <a:t>，提高数据处理和分析效率</a:t>
            </a:r>
            <a:endParaRPr lang="zh-CN" altLang="en-US" sz="1600" dirty="0">
              <a:cs typeface="微软雅黑" panose="020B0503020204020204" pitchFamily="34" charset="-122"/>
              <a:sym typeface="+mn-ea"/>
            </a:endParaRPr>
          </a:p>
        </p:txBody>
      </p:sp>
      <p:pic>
        <p:nvPicPr>
          <p:cNvPr id="12" name="图片 11"/>
          <p:cNvPicPr/>
          <p:nvPr/>
        </p:nvPicPr>
        <p:blipFill>
          <a:blip r:embed="rId1"/>
          <a:srcRect l="8088" t="14567" r="15537" b="20117"/>
          <a:stretch>
            <a:fillRect/>
          </a:stretch>
        </p:blipFill>
        <p:spPr>
          <a:xfrm>
            <a:off x="429895" y="5403850"/>
            <a:ext cx="3549015" cy="1226820"/>
          </a:xfrm>
          <a:prstGeom prst="rect">
            <a:avLst/>
          </a:prstGeom>
        </p:spPr>
      </p:pic>
      <p:pic>
        <p:nvPicPr>
          <p:cNvPr id="18" name="图片 17"/>
          <p:cNvPicPr/>
          <p:nvPr/>
        </p:nvPicPr>
        <p:blipFill>
          <a:blip r:embed="rId2"/>
          <a:stretch>
            <a:fillRect/>
          </a:stretch>
        </p:blipFill>
        <p:spPr>
          <a:xfrm>
            <a:off x="429895" y="2564130"/>
            <a:ext cx="3519805" cy="1760220"/>
          </a:xfrm>
          <a:prstGeom prst="rect">
            <a:avLst/>
          </a:prstGeom>
        </p:spPr>
      </p:pic>
      <p:pic>
        <p:nvPicPr>
          <p:cNvPr id="2" name="图片 1"/>
          <p:cNvPicPr/>
          <p:nvPr/>
        </p:nvPicPr>
        <p:blipFill>
          <a:blip r:embed="rId3"/>
          <a:stretch>
            <a:fillRect/>
          </a:stretch>
        </p:blipFill>
        <p:spPr>
          <a:xfrm>
            <a:off x="4578350" y="4009390"/>
            <a:ext cx="2407285" cy="1628775"/>
          </a:xfrm>
          <a:prstGeom prst="rect">
            <a:avLst/>
          </a:prstGeom>
        </p:spPr>
      </p:pic>
      <p:cxnSp>
        <p:nvCxnSpPr>
          <p:cNvPr id="3" name="直接箭头连接符 2"/>
          <p:cNvCxnSpPr>
            <a:endCxn id="2" idx="1"/>
          </p:cNvCxnSpPr>
          <p:nvPr/>
        </p:nvCxnSpPr>
        <p:spPr>
          <a:xfrm flipV="1">
            <a:off x="3964940" y="4824095"/>
            <a:ext cx="613410" cy="661670"/>
          </a:xfrm>
          <a:prstGeom prst="straightConnector1">
            <a:avLst/>
          </a:prstGeom>
          <a:ln>
            <a:solidFill>
              <a:srgbClr val="FF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4" name="直接箭头连接符 3"/>
          <p:cNvCxnSpPr/>
          <p:nvPr/>
        </p:nvCxnSpPr>
        <p:spPr>
          <a:xfrm flipH="1">
            <a:off x="4066540" y="5252085"/>
            <a:ext cx="660400" cy="822960"/>
          </a:xfrm>
          <a:prstGeom prst="straightConnector1">
            <a:avLst/>
          </a:prstGeom>
          <a:ln>
            <a:solidFill>
              <a:srgbClr val="FF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flipH="1" flipV="1">
            <a:off x="3954780" y="3748405"/>
            <a:ext cx="883920" cy="741680"/>
          </a:xfrm>
          <a:prstGeom prst="straightConnector1">
            <a:avLst/>
          </a:prstGeom>
          <a:ln>
            <a:solidFill>
              <a:srgbClr val="FF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a:off x="3995420" y="3230245"/>
            <a:ext cx="1178560" cy="1046480"/>
          </a:xfrm>
          <a:prstGeom prst="straightConnector1">
            <a:avLst/>
          </a:prstGeom>
          <a:ln>
            <a:solidFill>
              <a:srgbClr val="FF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3169285" y="4279900"/>
            <a:ext cx="1409065" cy="337185"/>
          </a:xfrm>
          <a:prstGeom prst="rect">
            <a:avLst/>
          </a:prstGeom>
          <a:noFill/>
          <a:ln>
            <a:noFill/>
          </a:ln>
        </p:spPr>
        <p:txBody>
          <a:bodyPr wrap="square" anchor="t">
            <a:spAutoFit/>
          </a:bodyPr>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响应可视化</a:t>
            </a:r>
            <a:endPar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3" name="文本框 12"/>
          <p:cNvSpPr txBox="1"/>
          <p:nvPr/>
        </p:nvSpPr>
        <p:spPr>
          <a:xfrm>
            <a:off x="4509770" y="3307715"/>
            <a:ext cx="1115060" cy="337185"/>
          </a:xfrm>
          <a:prstGeom prst="rect">
            <a:avLst/>
          </a:prstGeom>
          <a:noFill/>
          <a:ln>
            <a:noFill/>
          </a:ln>
        </p:spPr>
        <p:txBody>
          <a:bodyPr wrap="square" anchor="t">
            <a:spAutoFit/>
          </a:bodyPr>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传递请求</a:t>
            </a:r>
            <a:endPar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4" name="文本框 13"/>
          <p:cNvSpPr txBox="1"/>
          <p:nvPr/>
        </p:nvSpPr>
        <p:spPr>
          <a:xfrm>
            <a:off x="3250565" y="4914900"/>
            <a:ext cx="1115060" cy="337185"/>
          </a:xfrm>
          <a:prstGeom prst="rect">
            <a:avLst/>
          </a:prstGeom>
          <a:noFill/>
          <a:ln>
            <a:noFill/>
          </a:ln>
        </p:spPr>
        <p:txBody>
          <a:bodyPr wrap="square" anchor="t">
            <a:spAutoFit/>
          </a:bodyPr>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数据读取</a:t>
            </a:r>
            <a:endPar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5" name="文本框 14"/>
          <p:cNvSpPr txBox="1"/>
          <p:nvPr/>
        </p:nvSpPr>
        <p:spPr>
          <a:xfrm>
            <a:off x="4365625" y="5634355"/>
            <a:ext cx="1115060" cy="337185"/>
          </a:xfrm>
          <a:prstGeom prst="rect">
            <a:avLst/>
          </a:prstGeom>
          <a:noFill/>
          <a:ln>
            <a:noFill/>
          </a:ln>
        </p:spPr>
        <p:txBody>
          <a:bodyPr wrap="square" anchor="t">
            <a:spAutoFit/>
          </a:bodyPr>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数据查询</a:t>
            </a:r>
            <a:endPar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cxnSp>
        <p:nvCxnSpPr>
          <p:cNvPr id="16" name="直接箭头连接符 15"/>
          <p:cNvCxnSpPr/>
          <p:nvPr/>
        </p:nvCxnSpPr>
        <p:spPr>
          <a:xfrm>
            <a:off x="1946910" y="4415155"/>
            <a:ext cx="0" cy="955040"/>
          </a:xfrm>
          <a:prstGeom prst="straightConnector1">
            <a:avLst/>
          </a:prstGeom>
          <a:ln>
            <a:solidFill>
              <a:srgbClr val="FF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nvCxnSpPr>
        <p:spPr>
          <a:xfrm flipH="1" flipV="1">
            <a:off x="2359660" y="4429125"/>
            <a:ext cx="10160" cy="894080"/>
          </a:xfrm>
          <a:prstGeom prst="straightConnector1">
            <a:avLst/>
          </a:prstGeom>
          <a:ln>
            <a:solidFill>
              <a:srgbClr val="FF0000"/>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1101725" y="4695190"/>
            <a:ext cx="845185" cy="337185"/>
          </a:xfrm>
          <a:prstGeom prst="rect">
            <a:avLst/>
          </a:prstGeom>
          <a:noFill/>
          <a:ln>
            <a:noFill/>
          </a:ln>
        </p:spPr>
        <p:txBody>
          <a:bodyPr wrap="square" anchor="t">
            <a:spAutoFit/>
          </a:bodyPr>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存储</a:t>
            </a:r>
            <a:endPar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0" name="文本框 19"/>
          <p:cNvSpPr txBox="1"/>
          <p:nvPr/>
        </p:nvSpPr>
        <p:spPr>
          <a:xfrm>
            <a:off x="2405380" y="4724400"/>
            <a:ext cx="763905" cy="337185"/>
          </a:xfrm>
          <a:prstGeom prst="rect">
            <a:avLst/>
          </a:prstGeom>
          <a:noFill/>
          <a:ln>
            <a:noFill/>
          </a:ln>
        </p:spPr>
        <p:txBody>
          <a:bodyPr wrap="square" anchor="t">
            <a:spAutoFit/>
          </a:bodyPr>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展示</a:t>
            </a:r>
            <a:endPar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3" name="文本框 38"/>
          <p:cNvSpPr txBox="1"/>
          <p:nvPr/>
        </p:nvSpPr>
        <p:spPr>
          <a:xfrm>
            <a:off x="6871335" y="6075680"/>
            <a:ext cx="4427220" cy="280670"/>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压裂效果可视化</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分析</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pic>
        <p:nvPicPr>
          <p:cNvPr id="24" name="图片 23"/>
          <p:cNvPicPr>
            <a:picLocks noChangeAspect="1"/>
          </p:cNvPicPr>
          <p:nvPr/>
        </p:nvPicPr>
        <p:blipFill>
          <a:blip r:embed="rId4"/>
          <a:stretch>
            <a:fillRect/>
          </a:stretch>
        </p:blipFill>
        <p:spPr>
          <a:xfrm>
            <a:off x="6871335" y="2519680"/>
            <a:ext cx="4427220" cy="3519170"/>
          </a:xfrm>
          <a:prstGeom prst="rect">
            <a:avLst/>
          </a:prstGeom>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71475" y="811530"/>
            <a:ext cx="11833225" cy="506730"/>
          </a:xfrm>
          <a:prstGeom prst="rect">
            <a:avLst/>
          </a:prstGeom>
          <a:noFill/>
          <a:ln>
            <a:noFill/>
          </a:ln>
        </p:spPr>
        <p:txBody>
          <a:bodyPr wrap="square">
            <a:spAutoFit/>
          </a:bodyPr>
          <a:lstStyle/>
          <a:p>
            <a:pPr marL="0" indent="0">
              <a:lnSpc>
                <a:spcPct val="150000"/>
              </a:lnSpc>
              <a:buClr>
                <a:srgbClr val="FF0000"/>
              </a:buClr>
            </a:pP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、搭建可视化操作界面，实现压裂改造效果分析与入库</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TextBox 2"/>
          <p:cNvSpPr txBox="1">
            <a:spLocks noChangeArrowheads="1"/>
          </p:cNvSpPr>
          <p:nvPr/>
        </p:nvSpPr>
        <p:spPr bwMode="auto">
          <a:xfrm>
            <a:off x="334962" y="134249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cs typeface="微软雅黑" panose="020B0503020204020204" pitchFamily="34" charset="-122"/>
                <a:sym typeface="+mn-ea"/>
              </a:rPr>
              <a:t>用户可以点击按钮</a:t>
            </a:r>
            <a:r>
              <a:rPr lang="en-US" altLang="zh-CN" sz="1600" dirty="0">
                <a:cs typeface="微软雅黑" panose="020B0503020204020204" pitchFamily="34" charset="-122"/>
                <a:sym typeface="+mn-ea"/>
              </a:rPr>
              <a:t>“</a:t>
            </a:r>
            <a:r>
              <a:rPr lang="zh-CN" altLang="en-US" sz="1600" dirty="0">
                <a:cs typeface="微软雅黑" panose="020B0503020204020204" pitchFamily="34" charset="-122"/>
                <a:sym typeface="+mn-ea"/>
              </a:rPr>
              <a:t>选择压裂施工数据</a:t>
            </a:r>
            <a:r>
              <a:rPr lang="en-US" altLang="zh-CN" sz="1600" dirty="0">
                <a:cs typeface="微软雅黑" panose="020B0503020204020204" pitchFamily="34" charset="-122"/>
                <a:sym typeface="+mn-ea"/>
              </a:rPr>
              <a:t>”</a:t>
            </a:r>
            <a:r>
              <a:rPr lang="zh-CN" altLang="en-US" sz="1600" dirty="0">
                <a:cs typeface="微软雅黑" panose="020B0503020204020204" pitchFamily="34" charset="-122"/>
                <a:sym typeface="+mn-ea"/>
              </a:rPr>
              <a:t>打开</a:t>
            </a:r>
            <a:r>
              <a:rPr lang="en-US" altLang="zh-CN" sz="1600" dirty="0">
                <a:cs typeface="微软雅黑" panose="020B0503020204020204" pitchFamily="34" charset="-122"/>
                <a:sym typeface="+mn-ea"/>
              </a:rPr>
              <a:t>Windows</a:t>
            </a:r>
            <a:r>
              <a:rPr lang="zh-CN" altLang="en-US" sz="1600" dirty="0">
                <a:cs typeface="微软雅黑" panose="020B0503020204020204" pitchFamily="34" charset="-122"/>
                <a:sym typeface="+mn-ea"/>
              </a:rPr>
              <a:t>资源管理器选择文件或在文件路径处输入数据</a:t>
            </a:r>
            <a:r>
              <a:rPr lang="zh-CN" altLang="en-US" sz="1600" dirty="0">
                <a:solidFill>
                  <a:srgbClr val="FF0000"/>
                </a:solidFill>
                <a:cs typeface="微软雅黑" panose="020B0503020204020204" pitchFamily="34" charset="-122"/>
                <a:sym typeface="+mn-ea"/>
              </a:rPr>
              <a:t>绝对路径</a:t>
            </a:r>
            <a:endParaRPr lang="zh-CN" altLang="en-US" sz="1600" dirty="0">
              <a:cs typeface="微软雅黑" panose="020B0503020204020204" pitchFamily="34" charset="-122"/>
              <a:sym typeface="+mn-ea"/>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cs typeface="微软雅黑" panose="020B0503020204020204" pitchFamily="34" charset="-122"/>
                <a:sym typeface="+mn-ea"/>
              </a:rPr>
              <a:t>文件路径正确加载后点击获取施工曲线按钮，若数据格式正确解析，则</a:t>
            </a:r>
            <a:r>
              <a:rPr lang="zh-CN" altLang="en-US" sz="1600" dirty="0">
                <a:solidFill>
                  <a:srgbClr val="FF0000"/>
                </a:solidFill>
                <a:cs typeface="微软雅黑" panose="020B0503020204020204" pitchFamily="34" charset="-122"/>
                <a:sym typeface="+mn-ea"/>
              </a:rPr>
              <a:t>显示施工曲线</a:t>
            </a:r>
            <a:endParaRPr lang="zh-CN" altLang="en-US" sz="1600" dirty="0">
              <a:cs typeface="微软雅黑" panose="020B0503020204020204" pitchFamily="34" charset="-122"/>
              <a:sym typeface="+mn-ea"/>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cs typeface="微软雅黑" panose="020B0503020204020204" pitchFamily="34" charset="-122"/>
                <a:sym typeface="+mn-ea"/>
              </a:rPr>
              <a:t>点击开始分析，自动加载</a:t>
            </a:r>
            <a:r>
              <a:rPr lang="zh-CN" altLang="en-US" sz="1600" dirty="0">
                <a:solidFill>
                  <a:srgbClr val="FF0000"/>
                </a:solidFill>
                <a:cs typeface="微软雅黑" panose="020B0503020204020204" pitchFamily="34" charset="-122"/>
                <a:sym typeface="+mn-ea"/>
              </a:rPr>
              <a:t>离散小波变换模型与</a:t>
            </a:r>
            <a:r>
              <a:rPr lang="en-US" altLang="zh-CN" sz="1600" dirty="0">
                <a:solidFill>
                  <a:srgbClr val="FF0000"/>
                </a:solidFill>
                <a:cs typeface="微软雅黑" panose="020B0503020204020204" pitchFamily="34" charset="-122"/>
                <a:sym typeface="+mn-ea"/>
              </a:rPr>
              <a:t>G</a:t>
            </a:r>
            <a:r>
              <a:rPr lang="zh-CN" altLang="en-US" sz="1600" dirty="0">
                <a:solidFill>
                  <a:srgbClr val="FF0000"/>
                </a:solidFill>
                <a:cs typeface="微软雅黑" panose="020B0503020204020204" pitchFamily="34" charset="-122"/>
                <a:sym typeface="+mn-ea"/>
              </a:rPr>
              <a:t>函数滤失类型分析模型</a:t>
            </a:r>
            <a:endParaRPr lang="zh-CN" altLang="en-US" sz="1600" dirty="0">
              <a:solidFill>
                <a:srgbClr val="FF0000"/>
              </a:solidFill>
              <a:cs typeface="微软雅黑" panose="020B0503020204020204" pitchFamily="34" charset="-122"/>
              <a:sym typeface="+mn-ea"/>
            </a:endParaRPr>
          </a:p>
        </p:txBody>
      </p:sp>
      <p:sp>
        <p:nvSpPr>
          <p:cNvPr id="5"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719455" y="2528570"/>
            <a:ext cx="4408170" cy="3504565"/>
          </a:xfrm>
          <a:prstGeom prst="rect">
            <a:avLst/>
          </a:prstGeom>
        </p:spPr>
      </p:pic>
      <p:pic>
        <p:nvPicPr>
          <p:cNvPr id="11" name="图片 10"/>
          <p:cNvPicPr>
            <a:picLocks noChangeAspect="1"/>
          </p:cNvPicPr>
          <p:nvPr/>
        </p:nvPicPr>
        <p:blipFill>
          <a:blip r:embed="rId2"/>
          <a:stretch>
            <a:fillRect/>
          </a:stretch>
        </p:blipFill>
        <p:spPr>
          <a:xfrm>
            <a:off x="6871335" y="2528570"/>
            <a:ext cx="4403090" cy="3500120"/>
          </a:xfrm>
          <a:prstGeom prst="rect">
            <a:avLst/>
          </a:prstGeom>
        </p:spPr>
      </p:pic>
      <p:sp>
        <p:nvSpPr>
          <p:cNvPr id="22" name="右箭头 21"/>
          <p:cNvSpPr/>
          <p:nvPr/>
        </p:nvSpPr>
        <p:spPr>
          <a:xfrm>
            <a:off x="5593080" y="3966845"/>
            <a:ext cx="812800" cy="480060"/>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sp>
        <p:nvSpPr>
          <p:cNvPr id="24" name="文本框 38"/>
          <p:cNvSpPr txBox="1"/>
          <p:nvPr/>
        </p:nvSpPr>
        <p:spPr>
          <a:xfrm>
            <a:off x="719455" y="6075680"/>
            <a:ext cx="4408170" cy="280670"/>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压裂效果评估软件</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首页</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文本框 38"/>
          <p:cNvSpPr txBox="1"/>
          <p:nvPr/>
        </p:nvSpPr>
        <p:spPr>
          <a:xfrm>
            <a:off x="6866255" y="6075680"/>
            <a:ext cx="4408170" cy="280670"/>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压裂效果评估软件首页运行</a:t>
            </a:r>
            <a:r>
              <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结果</a:t>
            </a:r>
            <a:endPar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71475" y="811530"/>
            <a:ext cx="11833225" cy="506730"/>
          </a:xfrm>
          <a:prstGeom prst="rect">
            <a:avLst/>
          </a:prstGeom>
          <a:noFill/>
          <a:ln>
            <a:noFill/>
          </a:ln>
        </p:spPr>
        <p:txBody>
          <a:bodyPr wrap="square">
            <a:spAutoFit/>
          </a:bodyPr>
          <a:lstStyle/>
          <a:p>
            <a:pPr marL="0" indent="0">
              <a:lnSpc>
                <a:spcPct val="150000"/>
              </a:lnSpc>
              <a:buClr>
                <a:srgbClr val="FF0000"/>
              </a:buClr>
            </a:pP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、搭建可视化操作界面，实现压裂改造效果分析与入库</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TextBox 2"/>
          <p:cNvSpPr txBox="1">
            <a:spLocks noChangeArrowheads="1"/>
          </p:cNvSpPr>
          <p:nvPr/>
        </p:nvSpPr>
        <p:spPr bwMode="auto">
          <a:xfrm>
            <a:off x="334962" y="134249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solidFill>
                  <a:schemeClr val="tx1"/>
                </a:solidFill>
                <a:cs typeface="微软雅黑" panose="020B0503020204020204" pitchFamily="34" charset="-122"/>
                <a:sym typeface="+mn-ea"/>
              </a:rPr>
              <a:t>左侧为小波分析</a:t>
            </a:r>
            <a:r>
              <a:rPr lang="zh-CN" altLang="en-US" sz="1600" dirty="0">
                <a:solidFill>
                  <a:schemeClr val="tx1"/>
                </a:solidFill>
                <a:cs typeface="微软雅黑" panose="020B0503020204020204" pitchFamily="34" charset="-122"/>
                <a:sym typeface="+mn-ea"/>
              </a:rPr>
              <a:t>模块，展示了</a:t>
            </a:r>
            <a:r>
              <a:rPr lang="zh-CN" altLang="en-US" sz="1600" dirty="0">
                <a:solidFill>
                  <a:srgbClr val="FF0000"/>
                </a:solidFill>
                <a:cs typeface="微软雅黑" panose="020B0503020204020204" pitchFamily="34" charset="-122"/>
                <a:sym typeface="+mn-ea"/>
              </a:rPr>
              <a:t>分析段数据标注</a:t>
            </a:r>
            <a:r>
              <a:rPr lang="zh-CN" altLang="en-US" sz="1600" dirty="0">
                <a:solidFill>
                  <a:schemeClr val="tx1"/>
                </a:solidFill>
                <a:cs typeface="微软雅黑" panose="020B0503020204020204" pitchFamily="34" charset="-122"/>
                <a:sym typeface="+mn-ea"/>
              </a:rPr>
              <a:t>，</a:t>
            </a:r>
            <a:r>
              <a:rPr lang="en-US" altLang="zh-CN" sz="1600" dirty="0">
                <a:solidFill>
                  <a:srgbClr val="FF0000"/>
                </a:solidFill>
                <a:cs typeface="微软雅黑" panose="020B0503020204020204" pitchFamily="34" charset="-122"/>
                <a:sym typeface="+mn-ea"/>
              </a:rPr>
              <a:t>1~10</a:t>
            </a:r>
            <a:r>
              <a:rPr lang="zh-CN" altLang="en-US" sz="1600" dirty="0">
                <a:solidFill>
                  <a:srgbClr val="FF0000"/>
                </a:solidFill>
                <a:cs typeface="微软雅黑" panose="020B0503020204020204" pitchFamily="34" charset="-122"/>
                <a:sym typeface="+mn-ea"/>
              </a:rPr>
              <a:t>级分解结果</a:t>
            </a:r>
            <a:r>
              <a:rPr lang="zh-CN" altLang="en-US" sz="1600" dirty="0">
                <a:solidFill>
                  <a:schemeClr val="tx1"/>
                </a:solidFill>
                <a:cs typeface="微软雅黑" panose="020B0503020204020204" pitchFamily="34" charset="-122"/>
                <a:sym typeface="+mn-ea"/>
              </a:rPr>
              <a:t>，</a:t>
            </a:r>
            <a:r>
              <a:rPr lang="zh-CN" altLang="en-US" sz="1600" dirty="0">
                <a:solidFill>
                  <a:srgbClr val="FF0000"/>
                </a:solidFill>
                <a:cs typeface="微软雅黑" panose="020B0503020204020204" pitchFamily="34" charset="-122"/>
                <a:sym typeface="+mn-ea"/>
              </a:rPr>
              <a:t>裂缝扩展事件识别结果，各指标统计与小波分析评分</a:t>
            </a:r>
            <a:endParaRPr lang="zh-CN" altLang="en-US" sz="1600" dirty="0">
              <a:solidFill>
                <a:schemeClr val="tx1"/>
              </a:solidFill>
              <a:cs typeface="微软雅黑" panose="020B0503020204020204" pitchFamily="34" charset="-122"/>
              <a:sym typeface="+mn-ea"/>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solidFill>
                  <a:schemeClr val="tx1"/>
                </a:solidFill>
                <a:cs typeface="微软雅黑" panose="020B0503020204020204" pitchFamily="34" charset="-122"/>
                <a:sym typeface="+mn-ea"/>
              </a:rPr>
              <a:t>右侧为</a:t>
            </a:r>
            <a:r>
              <a:rPr lang="en-US" altLang="zh-CN" sz="1600" dirty="0">
                <a:solidFill>
                  <a:schemeClr val="tx1"/>
                </a:solidFill>
                <a:cs typeface="微软雅黑" panose="020B0503020204020204" pitchFamily="34" charset="-122"/>
                <a:sym typeface="+mn-ea"/>
              </a:rPr>
              <a:t>G</a:t>
            </a:r>
            <a:r>
              <a:rPr lang="zh-CN" altLang="en-US" sz="1600" dirty="0">
                <a:solidFill>
                  <a:schemeClr val="tx1"/>
                </a:solidFill>
                <a:cs typeface="微软雅黑" panose="020B0503020204020204" pitchFamily="34" charset="-122"/>
                <a:sym typeface="+mn-ea"/>
              </a:rPr>
              <a:t>函数滤失类型分析结果，根据施工曲线计算绘制出</a:t>
            </a:r>
            <a:r>
              <a:rPr lang="en-US" altLang="zh-CN" sz="1600" dirty="0">
                <a:solidFill>
                  <a:srgbClr val="FF0000"/>
                </a:solidFill>
                <a:cs typeface="微软雅黑" panose="020B0503020204020204" pitchFamily="34" charset="-122"/>
                <a:sym typeface="+mn-ea"/>
              </a:rPr>
              <a:t>G</a:t>
            </a:r>
            <a:r>
              <a:rPr lang="zh-CN" altLang="en-US" sz="1600" dirty="0">
                <a:solidFill>
                  <a:srgbClr val="FF0000"/>
                </a:solidFill>
                <a:cs typeface="微软雅黑" panose="020B0503020204020204" pitchFamily="34" charset="-122"/>
                <a:sym typeface="+mn-ea"/>
              </a:rPr>
              <a:t>函数曲线</a:t>
            </a:r>
            <a:r>
              <a:rPr lang="zh-CN" altLang="en-US" sz="1600" dirty="0">
                <a:solidFill>
                  <a:schemeClr val="tx1"/>
                </a:solidFill>
                <a:cs typeface="微软雅黑" panose="020B0503020204020204" pitchFamily="34" charset="-122"/>
                <a:sym typeface="+mn-ea"/>
              </a:rPr>
              <a:t>，并识别</a:t>
            </a:r>
            <a:r>
              <a:rPr lang="zh-CN" altLang="en-US" sz="1600" dirty="0">
                <a:solidFill>
                  <a:srgbClr val="FF0000"/>
                </a:solidFill>
                <a:cs typeface="微软雅黑" panose="020B0503020204020204" pitchFamily="34" charset="-122"/>
                <a:sym typeface="+mn-ea"/>
              </a:rPr>
              <a:t>该井段的滤失类型</a:t>
            </a:r>
            <a:endParaRPr lang="zh-CN" altLang="en-US" sz="1600" dirty="0">
              <a:solidFill>
                <a:srgbClr val="FF0000"/>
              </a:solidFill>
              <a:cs typeface="微软雅黑" panose="020B0503020204020204" pitchFamily="34" charset="-122"/>
              <a:sym typeface="+mn-ea"/>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cs typeface="微软雅黑" panose="020B0503020204020204" pitchFamily="34" charset="-122"/>
                <a:sym typeface="+mn-ea"/>
              </a:rPr>
              <a:t>用户输入G函数反演计算必须的</a:t>
            </a:r>
            <a:r>
              <a:rPr lang="zh-CN" altLang="en-US" sz="1600" dirty="0">
                <a:solidFill>
                  <a:srgbClr val="FF0000"/>
                </a:solidFill>
                <a:cs typeface="微软雅黑" panose="020B0503020204020204" pitchFamily="34" charset="-122"/>
                <a:sym typeface="+mn-ea"/>
              </a:rPr>
              <a:t>12个参数</a:t>
            </a:r>
            <a:r>
              <a:rPr lang="zh-CN" altLang="en-US" sz="1600" dirty="0">
                <a:cs typeface="微软雅黑" panose="020B0503020204020204" pitchFamily="34" charset="-122"/>
                <a:sym typeface="+mn-ea"/>
              </a:rPr>
              <a:t>后，点击G函数评分计算按钮，若成功则得到</a:t>
            </a:r>
            <a:r>
              <a:rPr lang="zh-CN" altLang="en-US" sz="1600" dirty="0">
                <a:solidFill>
                  <a:srgbClr val="FF0000"/>
                </a:solidFill>
                <a:cs typeface="微软雅黑" panose="020B0503020204020204" pitchFamily="34" charset="-122"/>
                <a:sym typeface="+mn-ea"/>
              </a:rPr>
              <a:t>G函数评分与改造效果综合评分</a:t>
            </a:r>
            <a:endParaRPr lang="zh-CN" altLang="en-US" sz="1600" dirty="0">
              <a:solidFill>
                <a:srgbClr val="FF0000"/>
              </a:solidFill>
              <a:cs typeface="微软雅黑" panose="020B0503020204020204" pitchFamily="34" charset="-122"/>
              <a:sym typeface="+mn-ea"/>
            </a:endParaRPr>
          </a:p>
        </p:txBody>
      </p:sp>
      <p:sp>
        <p:nvSpPr>
          <p:cNvPr id="5"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2" name="右箭头 21"/>
          <p:cNvSpPr/>
          <p:nvPr/>
        </p:nvSpPr>
        <p:spPr>
          <a:xfrm>
            <a:off x="5593080" y="3966845"/>
            <a:ext cx="812800" cy="480060"/>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pic>
        <p:nvPicPr>
          <p:cNvPr id="2" name="图片 1"/>
          <p:cNvPicPr>
            <a:picLocks noChangeAspect="1"/>
          </p:cNvPicPr>
          <p:nvPr/>
        </p:nvPicPr>
        <p:blipFill>
          <a:blip r:embed="rId1"/>
          <a:stretch>
            <a:fillRect/>
          </a:stretch>
        </p:blipFill>
        <p:spPr>
          <a:xfrm>
            <a:off x="713105" y="2519680"/>
            <a:ext cx="4419600" cy="3513455"/>
          </a:xfrm>
          <a:prstGeom prst="rect">
            <a:avLst/>
          </a:prstGeom>
        </p:spPr>
      </p:pic>
      <p:pic>
        <p:nvPicPr>
          <p:cNvPr id="3" name="图片 2"/>
          <p:cNvPicPr>
            <a:picLocks noChangeAspect="1"/>
          </p:cNvPicPr>
          <p:nvPr/>
        </p:nvPicPr>
        <p:blipFill>
          <a:blip r:embed="rId2"/>
          <a:stretch>
            <a:fillRect/>
          </a:stretch>
        </p:blipFill>
        <p:spPr>
          <a:xfrm>
            <a:off x="6871335" y="2519680"/>
            <a:ext cx="4427220" cy="3519170"/>
          </a:xfrm>
          <a:prstGeom prst="rect">
            <a:avLst/>
          </a:prstGeom>
        </p:spPr>
      </p:pic>
      <p:sp>
        <p:nvSpPr>
          <p:cNvPr id="24" name="文本框 38"/>
          <p:cNvSpPr txBox="1"/>
          <p:nvPr/>
        </p:nvSpPr>
        <p:spPr>
          <a:xfrm>
            <a:off x="719455" y="6075680"/>
            <a:ext cx="4408170" cy="280670"/>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压裂效果评估软件分析</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界面</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8"/>
          <p:cNvSpPr txBox="1"/>
          <p:nvPr/>
        </p:nvSpPr>
        <p:spPr>
          <a:xfrm>
            <a:off x="6871335" y="6074410"/>
            <a:ext cx="4408170" cy="280670"/>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压裂效果评估软件分析界面运行</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结果</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71475" y="811530"/>
            <a:ext cx="11833225" cy="506730"/>
          </a:xfrm>
          <a:prstGeom prst="rect">
            <a:avLst/>
          </a:prstGeom>
          <a:noFill/>
          <a:ln>
            <a:noFill/>
          </a:ln>
        </p:spPr>
        <p:txBody>
          <a:bodyPr wrap="square">
            <a:spAutoFit/>
          </a:bodyPr>
          <a:lstStyle/>
          <a:p>
            <a:pPr marL="0" indent="0">
              <a:lnSpc>
                <a:spcPct val="150000"/>
              </a:lnSpc>
              <a:buClr>
                <a:srgbClr val="FF0000"/>
              </a:buClr>
            </a:pP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、搭建可视化操作界面，实现压裂改造效果分析与入库</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TextBox 2"/>
          <p:cNvSpPr txBox="1">
            <a:spLocks noChangeArrowheads="1"/>
          </p:cNvSpPr>
          <p:nvPr/>
        </p:nvSpPr>
        <p:spPr bwMode="auto">
          <a:xfrm>
            <a:off x="334962" y="134249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solidFill>
                  <a:schemeClr val="tx1"/>
                </a:solidFill>
                <a:cs typeface="微软雅黑" panose="020B0503020204020204" pitchFamily="34" charset="-122"/>
                <a:sym typeface="+mn-ea"/>
              </a:rPr>
              <a:t>用户在分析界面点击保存结果后，该井段的</a:t>
            </a:r>
            <a:r>
              <a:rPr lang="zh-CN" altLang="en-US" sz="1600" dirty="0">
                <a:solidFill>
                  <a:srgbClr val="FF0000"/>
                </a:solidFill>
                <a:cs typeface="微软雅黑" panose="020B0503020204020204" pitchFamily="34" charset="-122"/>
                <a:sym typeface="+mn-ea"/>
              </a:rPr>
              <a:t>地质参数、工程参数、曲线分析结果</a:t>
            </a:r>
            <a:r>
              <a:rPr lang="zh-CN" altLang="en-US" sz="1600" dirty="0">
                <a:solidFill>
                  <a:schemeClr val="tx1"/>
                </a:solidFill>
                <a:cs typeface="微软雅黑" panose="020B0503020204020204" pitchFamily="34" charset="-122"/>
                <a:sym typeface="+mn-ea"/>
              </a:rPr>
              <a:t>将一并存入大数据库</a:t>
            </a:r>
            <a:endParaRPr lang="zh-CN" altLang="en-US" sz="1600" dirty="0">
              <a:solidFill>
                <a:schemeClr val="tx1"/>
              </a:solidFill>
              <a:cs typeface="微软雅黑" panose="020B0503020204020204" pitchFamily="34" charset="-122"/>
              <a:sym typeface="+mn-ea"/>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solidFill>
                  <a:schemeClr val="tx1"/>
                </a:solidFill>
                <a:cs typeface="微软雅黑" panose="020B0503020204020204" pitchFamily="34" charset="-122"/>
                <a:sym typeface="+mn-ea"/>
              </a:rPr>
              <a:t>首页点击查看以往分析结果可进入数据库展示界面查看，用户可按照每一列进行</a:t>
            </a:r>
            <a:r>
              <a:rPr lang="zh-CN" altLang="en-US" sz="1600" dirty="0">
                <a:solidFill>
                  <a:srgbClr val="FF0000"/>
                </a:solidFill>
                <a:cs typeface="微软雅黑" panose="020B0503020204020204" pitchFamily="34" charset="-122"/>
                <a:sym typeface="+mn-ea"/>
              </a:rPr>
              <a:t>升降序排列</a:t>
            </a:r>
            <a:r>
              <a:rPr lang="zh-CN" altLang="en-US" sz="1600" dirty="0">
                <a:solidFill>
                  <a:schemeClr val="tx1"/>
                </a:solidFill>
                <a:cs typeface="微软雅黑" panose="020B0503020204020204" pitchFamily="34" charset="-122"/>
                <a:sym typeface="+mn-ea"/>
              </a:rPr>
              <a:t>，并可根据</a:t>
            </a:r>
            <a:r>
              <a:rPr lang="zh-CN" altLang="en-US" sz="1600" dirty="0">
                <a:solidFill>
                  <a:srgbClr val="FF0000"/>
                </a:solidFill>
                <a:cs typeface="微软雅黑" panose="020B0503020204020204" pitchFamily="34" charset="-122"/>
                <a:sym typeface="+mn-ea"/>
              </a:rPr>
              <a:t>井段名搜索</a:t>
            </a:r>
            <a:endParaRPr lang="zh-CN" altLang="en-US" sz="1600" dirty="0">
              <a:solidFill>
                <a:schemeClr val="tx1"/>
              </a:solidFill>
              <a:cs typeface="微软雅黑" panose="020B0503020204020204" pitchFamily="34" charset="-122"/>
              <a:sym typeface="+mn-ea"/>
            </a:endParaRPr>
          </a:p>
          <a:p>
            <a:pPr marL="342265" indent="-342265" algn="just" fontAlgn="base">
              <a:lnSpc>
                <a:spcPct val="150000"/>
              </a:lnSpc>
              <a:spcBef>
                <a:spcPts val="0"/>
              </a:spcBef>
              <a:spcAft>
                <a:spcPts val="0"/>
              </a:spcAft>
              <a:buSzTx/>
              <a:buFont typeface="Wingdings" panose="05000000000000000000" pitchFamily="2" charset="2"/>
              <a:buChar char="l"/>
              <a:defRPr/>
            </a:pPr>
            <a:r>
              <a:rPr lang="zh-CN" altLang="en-US" sz="1600" dirty="0">
                <a:solidFill>
                  <a:schemeClr val="tx1"/>
                </a:solidFill>
                <a:cs typeface="微软雅黑" panose="020B0503020204020204" pitchFamily="34" charset="-122"/>
                <a:sym typeface="+mn-ea"/>
              </a:rPr>
              <a:t>用户可以对数据库进行</a:t>
            </a:r>
            <a:r>
              <a:rPr lang="zh-CN" altLang="en-US" sz="1600" dirty="0">
                <a:solidFill>
                  <a:srgbClr val="FF0000"/>
                </a:solidFill>
                <a:cs typeface="微软雅黑" panose="020B0503020204020204" pitchFamily="34" charset="-122"/>
                <a:sym typeface="+mn-ea"/>
              </a:rPr>
              <a:t>删除操作</a:t>
            </a:r>
            <a:r>
              <a:rPr lang="zh-CN" altLang="en-US" sz="1600" dirty="0">
                <a:solidFill>
                  <a:schemeClr val="tx1"/>
                </a:solidFill>
                <a:cs typeface="微软雅黑" panose="020B0503020204020204" pitchFamily="34" charset="-122"/>
                <a:sym typeface="+mn-ea"/>
              </a:rPr>
              <a:t>，并能够快捷的将数据库查询数据</a:t>
            </a:r>
            <a:r>
              <a:rPr lang="zh-CN" altLang="en-US" sz="1600" dirty="0">
                <a:solidFill>
                  <a:srgbClr val="FF0000"/>
                </a:solidFill>
                <a:cs typeface="微软雅黑" panose="020B0503020204020204" pitchFamily="34" charset="-122"/>
                <a:sym typeface="+mn-ea"/>
              </a:rPr>
              <a:t>导出为</a:t>
            </a:r>
            <a:r>
              <a:rPr lang="en-US" altLang="zh-CN" sz="1600" dirty="0">
                <a:solidFill>
                  <a:srgbClr val="FF0000"/>
                </a:solidFill>
                <a:cs typeface="微软雅黑" panose="020B0503020204020204" pitchFamily="34" charset="-122"/>
                <a:sym typeface="+mn-ea"/>
              </a:rPr>
              <a:t>Excel</a:t>
            </a:r>
            <a:r>
              <a:rPr lang="zh-CN" altLang="en-US" sz="1600" dirty="0">
                <a:solidFill>
                  <a:srgbClr val="FF0000"/>
                </a:solidFill>
                <a:cs typeface="微软雅黑" panose="020B0503020204020204" pitchFamily="34" charset="-122"/>
                <a:sym typeface="+mn-ea"/>
              </a:rPr>
              <a:t>文件</a:t>
            </a:r>
            <a:r>
              <a:rPr lang="zh-CN" altLang="en-US" sz="1600" dirty="0">
                <a:solidFill>
                  <a:schemeClr val="tx1"/>
                </a:solidFill>
                <a:cs typeface="微软雅黑" panose="020B0503020204020204" pitchFamily="34" charset="-122"/>
                <a:sym typeface="+mn-ea"/>
              </a:rPr>
              <a:t>，方便后续</a:t>
            </a:r>
            <a:r>
              <a:rPr lang="zh-CN" altLang="en-US" sz="1600" dirty="0">
                <a:solidFill>
                  <a:schemeClr val="tx1"/>
                </a:solidFill>
                <a:cs typeface="微软雅黑" panose="020B0503020204020204" pitchFamily="34" charset="-122"/>
                <a:sym typeface="+mn-ea"/>
              </a:rPr>
              <a:t>处理</a:t>
            </a:r>
            <a:endParaRPr lang="zh-CN" altLang="en-US" sz="1600" dirty="0">
              <a:solidFill>
                <a:schemeClr val="tx1"/>
              </a:solidFill>
              <a:cs typeface="微软雅黑" panose="020B0503020204020204" pitchFamily="34" charset="-122"/>
              <a:sym typeface="+mn-ea"/>
            </a:endParaRPr>
          </a:p>
        </p:txBody>
      </p:sp>
      <p:sp>
        <p:nvSpPr>
          <p:cNvPr id="5"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sp>
        <p:nvSpPr>
          <p:cNvPr id="24" name="文本框 38"/>
          <p:cNvSpPr txBox="1"/>
          <p:nvPr/>
        </p:nvSpPr>
        <p:spPr>
          <a:xfrm>
            <a:off x="719455" y="6075680"/>
            <a:ext cx="4408170" cy="280670"/>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压裂效果评估软件数据库</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展示界面</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8"/>
          <p:cNvSpPr txBox="1"/>
          <p:nvPr/>
        </p:nvSpPr>
        <p:spPr>
          <a:xfrm>
            <a:off x="6871335" y="6074410"/>
            <a:ext cx="4408170" cy="280670"/>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压裂效果评估软件数据库展示界面运行</a:t>
            </a:r>
            <a:r>
              <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结果</a:t>
            </a:r>
            <a:endPar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7" name="图片 6"/>
          <p:cNvPicPr>
            <a:picLocks noChangeAspect="1"/>
          </p:cNvPicPr>
          <p:nvPr/>
        </p:nvPicPr>
        <p:blipFill>
          <a:blip r:embed="rId1"/>
          <a:stretch>
            <a:fillRect/>
          </a:stretch>
        </p:blipFill>
        <p:spPr>
          <a:xfrm>
            <a:off x="719455" y="2522855"/>
            <a:ext cx="4408805" cy="3504565"/>
          </a:xfrm>
          <a:prstGeom prst="rect">
            <a:avLst/>
          </a:prstGeom>
        </p:spPr>
      </p:pic>
      <p:sp>
        <p:nvSpPr>
          <p:cNvPr id="8" name="右箭头 7"/>
          <p:cNvSpPr/>
          <p:nvPr/>
        </p:nvSpPr>
        <p:spPr>
          <a:xfrm>
            <a:off x="5593080" y="3966845"/>
            <a:ext cx="812800" cy="480060"/>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p>
            <a:pPr algn="ctr">
              <a:lnSpc>
                <a:spcPct val="180000"/>
              </a:lnSpc>
              <a:spcBef>
                <a:spcPct val="20000"/>
              </a:spcBef>
              <a:buClr>
                <a:srgbClr val="FF0000"/>
              </a:buClr>
              <a:buSzPct val="100000"/>
            </a:pPr>
            <a:endParaRPr lang="zh-CN" altLang="en-US" dirty="0" smtClean="0">
              <a:solidFill>
                <a:schemeClr val="bg1"/>
              </a:solidFill>
              <a:latin typeface="Tahoma" panose="020B0604030504040204"/>
              <a:ea typeface="方正大黑简体" panose="02000000000000000000" pitchFamily="65" charset="-122"/>
            </a:endParaRPr>
          </a:p>
        </p:txBody>
      </p:sp>
      <p:pic>
        <p:nvPicPr>
          <p:cNvPr id="9" name="图片 8"/>
          <p:cNvPicPr>
            <a:picLocks noChangeAspect="1"/>
          </p:cNvPicPr>
          <p:nvPr/>
        </p:nvPicPr>
        <p:blipFill>
          <a:blip r:embed="rId2"/>
          <a:stretch>
            <a:fillRect/>
          </a:stretch>
        </p:blipFill>
        <p:spPr>
          <a:xfrm>
            <a:off x="6870700" y="2499360"/>
            <a:ext cx="4438650" cy="3528060"/>
          </a:xfrm>
          <a:prstGeom prst="rect">
            <a:avLst/>
          </a:prstGeom>
        </p:spPr>
      </p:pic>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71475" y="811530"/>
            <a:ext cx="11833225" cy="506730"/>
          </a:xfrm>
          <a:prstGeom prst="rect">
            <a:avLst/>
          </a:prstGeom>
          <a:noFill/>
          <a:ln>
            <a:noFill/>
          </a:ln>
        </p:spPr>
        <p:txBody>
          <a:bodyPr wrap="square">
            <a:spAutoFit/>
          </a:bodyPr>
          <a:lstStyle/>
          <a:p>
            <a:pPr marL="0" indent="0">
              <a:lnSpc>
                <a:spcPct val="150000"/>
              </a:lnSpc>
              <a:buClr>
                <a:srgbClr val="FF0000"/>
              </a:buClr>
            </a:pP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17</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软件实机演示</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视频</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Rectangle 11"/>
          <p:cNvSpPr>
            <a:spLocks noChangeArrowheads="1"/>
          </p:cNvSpPr>
          <p:nvPr/>
        </p:nvSpPr>
        <p:spPr bwMode="auto">
          <a:xfrm>
            <a:off x="376555" y="51435"/>
            <a:ext cx="11815445" cy="643890"/>
          </a:xfrm>
          <a:prstGeom prst="rect">
            <a:avLst/>
          </a:prstGeom>
        </p:spPr>
        <p:txBody>
          <a:bodyPr wrap="square" lIns="91424" tIns="45712" rIns="91424" bIns="45712" anchor="ctr">
            <a:spAutoFit/>
          </a:bodyPr>
          <a:lstStyle/>
          <a:p>
            <a:pPr lvl="0" algn="ctr">
              <a:lnSpc>
                <a:spcPct val="200000"/>
              </a:lnSpc>
              <a:defRPr/>
            </a:pPr>
            <a:r>
              <a:rPr lang="zh-CN" altLang="en-US" b="1" kern="0" dirty="0">
                <a:solidFill>
                  <a:srgbClr val="FF0000"/>
                </a:solidFill>
                <a:latin typeface="微软雅黑" panose="020B0503020204020204" pitchFamily="34" charset="-122"/>
                <a:ea typeface="微软雅黑" panose="020B0503020204020204" pitchFamily="34" charset="-122"/>
              </a:rPr>
              <a:t>成果三、构建了地质工程一体化多源异构大数据库，形成了压裂效果综合评估方法，开发了可视化操作界面</a:t>
            </a:r>
            <a:endParaRPr lang="zh-CN" altLang="en-US" b="1" kern="0" dirty="0">
              <a:solidFill>
                <a:srgbClr val="FF0000"/>
              </a:solidFill>
              <a:latin typeface="微软雅黑" panose="020B0503020204020204" pitchFamily="34" charset="-122"/>
              <a:ea typeface="微软雅黑" panose="020B0503020204020204" pitchFamily="34" charset="-122"/>
            </a:endParaRPr>
          </a:p>
        </p:txBody>
      </p:sp>
      <p:pic>
        <p:nvPicPr>
          <p:cNvPr id="3" name="20251124_134053">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2768600" y="1434465"/>
            <a:ext cx="6392545" cy="506666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9996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vol="0" mute="1">
                <p:cTn id="7" fill="remove" display="1">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一、项目概况</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二、完成的主要工作量</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三、取得的主要成果</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FF0000"/>
                </a:solidFill>
                <a:effectLst/>
                <a:uLnTx/>
                <a:uFillTx/>
                <a:latin typeface="方正大黑简体" panose="02000000000000000000" pitchFamily="65" charset="-122"/>
                <a:ea typeface="方正大黑简体" panose="02000000000000000000" pitchFamily="65" charset="-122"/>
                <a:cs typeface="+mn-cs"/>
              </a:rPr>
              <a:t>四、成果的应用及效果、效益</a:t>
            </a:r>
            <a:endParaRPr kumimoji="0" lang="zh-CN" altLang="en-US" sz="3200" b="0" i="0" u="none" strike="noStrike" kern="1200" cap="none" spc="0" normalizeH="0" baseline="0" noProof="0" dirty="0">
              <a:ln>
                <a:noFill/>
              </a:ln>
              <a:solidFill>
                <a:srgbClr val="FF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effectLst/>
                <a:uLnTx/>
                <a:uFillTx/>
                <a:latin typeface="方正大黑简体" panose="02000000000000000000" pitchFamily="65" charset="-122"/>
                <a:ea typeface="方正大黑简体" panose="02000000000000000000" pitchFamily="65" charset="-122"/>
                <a:cs typeface="+mn-cs"/>
              </a:rPr>
              <a:t>五、认识与结论</a:t>
            </a:r>
            <a:endParaRPr kumimoji="0" lang="zh-CN" altLang="en-US" sz="3200" b="0" i="0" u="none" strike="noStrike" kern="1200" cap="none" spc="0" normalizeH="0" baseline="0" noProof="0" dirty="0">
              <a:ln>
                <a:noFill/>
              </a:ln>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六、问题及建议</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七、项目的组织与HSE管理执行情况 </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953008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、成果应用及效果</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41275"/>
            <a:ext cx="11814810" cy="828675"/>
          </a:xfrm>
          <a:prstGeom prst="rect">
            <a:avLst/>
          </a:prstGeom>
        </p:spPr>
        <p:txBody>
          <a:bodyPr wrap="square" lIns="91424" tIns="45712" rIns="91424" bIns="45712" anchor="ctr">
            <a:spAutoFit/>
          </a:bodyPr>
          <a:lstStyle/>
          <a:p>
            <a:pPr lvl="0" algn="ctr">
              <a:lnSpc>
                <a:spcPct val="200000"/>
              </a:lnSpc>
              <a:defRPr/>
            </a:pPr>
            <a:r>
              <a:rPr lang="zh-CN" altLang="en-US" sz="2400"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成果的应用及效果</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井区整体改造效果处于中低水平，为三井区中</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压裂效果最薄弱</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区域</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函数均值</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68.53</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分、小波评分均值</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76.31</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两项指标均为三个井区最低</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均值</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0.77</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、千米</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均值</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0.49</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，同样处于三井区</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末位</a:t>
            </a:r>
            <a:endPar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1" name="TextBox 23"/>
          <p:cNvSpPr>
            <a:spLocks noChangeArrowheads="1"/>
          </p:cNvSpPr>
          <p:nvPr>
            <p:custDataLst>
              <p:tags r:id="rId1"/>
            </p:custDataLst>
          </p:nvPr>
        </p:nvSpPr>
        <p:spPr bwMode="auto">
          <a:xfrm>
            <a:off x="449580" y="6076950"/>
            <a:ext cx="112280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井区小波与</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G</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函数评分及</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EUR</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6"/>
          <p:cNvGraphicFramePr/>
          <p:nvPr>
            <p:custDataLst>
              <p:tags r:id="rId2"/>
            </p:custDataLst>
          </p:nvPr>
        </p:nvGraphicFramePr>
        <p:xfrm>
          <a:off x="375285" y="2593975"/>
          <a:ext cx="11303000" cy="3469640"/>
        </p:xfrm>
        <a:graphic>
          <a:graphicData uri="http://schemas.openxmlformats.org/drawingml/2006/table">
            <a:tbl>
              <a:tblPr/>
              <a:tblGrid>
                <a:gridCol w="2825750"/>
                <a:gridCol w="2825750"/>
                <a:gridCol w="2825750"/>
                <a:gridCol w="2825750"/>
              </a:tblGrid>
              <a:tr h="867410">
                <a:tc>
                  <a:txBody>
                    <a:bodyPr/>
                    <a:p>
                      <a:pPr algn="ctr" fontAlgn="ctr"/>
                      <a:r>
                        <a:rPr lang="zh-CN" altLang="en-US" sz="1200" b="1" i="0">
                          <a:solidFill>
                            <a:schemeClr val="bg1"/>
                          </a:solidFill>
                          <a:highlight>
                            <a:srgbClr val="000000">
                              <a:alpha val="0"/>
                            </a:srgbClr>
                          </a:highlight>
                          <a:latin typeface="微软雅黑" panose="020B0503020204020204" pitchFamily="34" charset="-122"/>
                          <a:ea typeface="微软雅黑" panose="020B0503020204020204" pitchFamily="34" charset="-122"/>
                        </a:rPr>
                        <a:t>平台</a:t>
                      </a:r>
                      <a:endParaRPr lang="zh-CN" altLang="en-US" sz="1200" b="1" i="0">
                        <a:solidFill>
                          <a:schemeClr val="bg1"/>
                        </a:solidFill>
                        <a:highlight>
                          <a:srgbClr val="000000">
                            <a:alpha val="0"/>
                          </a:srgbClr>
                        </a:highlight>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r>
                        <a:rPr lang="en-US" altLang="zh-CN" sz="1200" b="1" i="0">
                          <a:solidFill>
                            <a:schemeClr val="bg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1" i="0">
                          <a:solidFill>
                            <a:schemeClr val="bg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函数</a:t>
                      </a:r>
                      <a:r>
                        <a:rPr lang="zh-CN" altLang="en-US" sz="1200" b="1" i="0">
                          <a:solidFill>
                            <a:schemeClr val="bg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评分</a:t>
                      </a:r>
                      <a:endParaRPr lang="zh-CN" altLang="en-US" sz="1200" b="1" i="0">
                        <a:solidFill>
                          <a:schemeClr val="bg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r>
                        <a:rPr lang="zh-CN" altLang="en-US" sz="1200" b="1" i="0">
                          <a:solidFill>
                            <a:schemeClr val="bg1"/>
                          </a:solidFill>
                          <a:highlight>
                            <a:srgbClr val="000000">
                              <a:alpha val="0"/>
                            </a:srgbClr>
                          </a:highlight>
                          <a:latin typeface="微软雅黑" panose="020B0503020204020204" pitchFamily="34" charset="-122"/>
                          <a:ea typeface="微软雅黑" panose="020B0503020204020204" pitchFamily="34" charset="-122"/>
                        </a:rPr>
                        <a:t>小波评分</a:t>
                      </a:r>
                      <a:endParaRPr lang="zh-CN" altLang="en-US" sz="1200" b="1" i="0">
                        <a:solidFill>
                          <a:schemeClr val="bg1"/>
                        </a:solidFill>
                        <a:highlight>
                          <a:srgbClr val="000000">
                            <a:alpha val="0"/>
                          </a:srgbClr>
                        </a:highlight>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r>
                        <a:rPr lang="en-US" altLang="zh-CN" sz="1200" b="1" i="0">
                          <a:solidFill>
                            <a:schemeClr val="bg1"/>
                          </a:solidFill>
                          <a:highlight>
                            <a:srgbClr val="000000">
                              <a:alpha val="0"/>
                            </a:srgbClr>
                          </a:highlight>
                          <a:latin typeface="微软雅黑" panose="020B0503020204020204" pitchFamily="34" charset="-122"/>
                          <a:ea typeface="微软雅黑" panose="020B0503020204020204" pitchFamily="34" charset="-122"/>
                        </a:rPr>
                        <a:t>EUR</a:t>
                      </a:r>
                      <a:endParaRPr lang="en-US" altLang="zh-CN" sz="1200" b="1" i="0">
                        <a:solidFill>
                          <a:schemeClr val="bg1"/>
                        </a:solidFill>
                        <a:highlight>
                          <a:srgbClr val="000000">
                            <a:alpha val="0"/>
                          </a:srgbClr>
                        </a:highlight>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r>
              <a:tr h="867410">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H10</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69.38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76.42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0.695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r>
              <a:tr h="867410">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H123</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67.67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76.19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0.845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r>
              <a:tr h="867410">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井区均值</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68.53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76.31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0.77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r>
            </a:tbl>
          </a:graphicData>
        </a:graphic>
      </p:graphicFrame>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953008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、成果应用及效果</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206</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41275"/>
            <a:ext cx="11814810" cy="828675"/>
          </a:xfrm>
          <a:prstGeom prst="rect">
            <a:avLst/>
          </a:prstGeom>
        </p:spPr>
        <p:txBody>
          <a:bodyPr wrap="square" lIns="91424" tIns="45712" rIns="91424" bIns="45712" anchor="ctr">
            <a:spAutoFit/>
          </a:bodyPr>
          <a:lstStyle/>
          <a:p>
            <a:pPr lvl="0" algn="ctr">
              <a:lnSpc>
                <a:spcPct val="200000"/>
              </a:lnSpc>
              <a:defRPr/>
            </a:pPr>
            <a:r>
              <a:rPr lang="zh-CN" altLang="en-US" sz="2400"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成果的应用及效果</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206</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函数均值</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76.92</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分、小波评分均值</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82.12</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两项指标</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均为三个井区</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最高</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该井区集中了</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个平台中</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函数最高分和小波最高分，表明无论是</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主裂缝扩展质量还是缝网发育程度</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，该井区均</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处于领先</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井区内两个平台分别呈现</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函数评分突出与小波评分突出，说明</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主裂缝扩展质量与缝网复杂程度受不同因素控制</a:t>
            </a:r>
            <a:endPar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custDataLst>
              <p:tags r:id="rId1"/>
            </p:custDataLst>
          </p:nvPr>
        </p:nvGraphicFramePr>
        <p:xfrm>
          <a:off x="376555" y="2592070"/>
          <a:ext cx="11280140" cy="3484880"/>
        </p:xfrm>
        <a:graphic>
          <a:graphicData uri="http://schemas.openxmlformats.org/drawingml/2006/table">
            <a:tbl>
              <a:tblPr/>
              <a:tblGrid>
                <a:gridCol w="2820035"/>
                <a:gridCol w="2820035"/>
                <a:gridCol w="2820035"/>
                <a:gridCol w="2820035"/>
              </a:tblGrid>
              <a:tr h="871220">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平台</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函数</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评分</a:t>
                      </a:r>
                      <a:endPar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小波评分</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r>
                        <a:rPr lang="en-US" altLang="zh-CN" sz="1200" b="1" i="0">
                          <a:solidFill>
                            <a:schemeClr val="bg1"/>
                          </a:solidFill>
                          <a:latin typeface="微软雅黑" panose="020B0503020204020204" pitchFamily="34" charset="-122"/>
                          <a:ea typeface="微软雅黑" panose="020B0503020204020204" pitchFamily="34" charset="-122"/>
                        </a:rPr>
                        <a:t>EUR</a:t>
                      </a:r>
                      <a:endParaRPr lang="en-US" altLang="zh-CN"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r>
              <a:tr h="871220">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H7</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71.5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84.06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0.838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r>
              <a:tr h="871220">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H8</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82.33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80.17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1.093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r>
              <a:tr h="871220">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井区均值</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76.92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82.12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0.97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r>
            </a:tbl>
          </a:graphicData>
        </a:graphic>
      </p:graphicFrame>
      <p:sp>
        <p:nvSpPr>
          <p:cNvPr id="5" name="TextBox 23"/>
          <p:cNvSpPr>
            <a:spLocks noChangeArrowheads="1"/>
          </p:cNvSpPr>
          <p:nvPr>
            <p:custDataLst>
              <p:tags r:id="rId2"/>
            </p:custDataLst>
          </p:nvPr>
        </p:nvSpPr>
        <p:spPr bwMode="auto">
          <a:xfrm>
            <a:off x="449580" y="6076950"/>
            <a:ext cx="112280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206</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井区小波与</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G</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函数评分及</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EUR</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953008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、成果应用及效果</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足</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41275"/>
            <a:ext cx="11814810" cy="828675"/>
          </a:xfrm>
          <a:prstGeom prst="rect">
            <a:avLst/>
          </a:prstGeom>
        </p:spPr>
        <p:txBody>
          <a:bodyPr wrap="square" lIns="91424" tIns="45712" rIns="91424" bIns="45712" anchor="ctr">
            <a:spAutoFit/>
          </a:bodyPr>
          <a:lstStyle/>
          <a:p>
            <a:pPr lvl="0" algn="ctr">
              <a:lnSpc>
                <a:spcPct val="200000"/>
              </a:lnSpc>
              <a:defRPr/>
            </a:pPr>
            <a:r>
              <a:rPr lang="zh-CN" altLang="en-US" sz="2400" b="1"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成果的应用及效果</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足</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均值与</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千米</a:t>
            </a:r>
            <a:r>
              <a:rPr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均值均为三个井区</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最高</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，但</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函数评分均值与小波评分</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均值均低于泸</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206</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井区</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表明产量不仅取决于压裂改造效果，还受</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储层物性条件的重要影响</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，证实了</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该井区储层响应敏感度高</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井区内两个平台</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函数评分差异与小波评分差异为三个井区中平台间差异最小的，证实了足</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201</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地质条件均质性好</a:t>
            </a:r>
            <a:endPar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custDataLst>
              <p:tags r:id="rId1"/>
            </p:custDataLst>
          </p:nvPr>
        </p:nvGraphicFramePr>
        <p:xfrm>
          <a:off x="375920" y="2592070"/>
          <a:ext cx="11318240" cy="3484880"/>
        </p:xfrm>
        <a:graphic>
          <a:graphicData uri="http://schemas.openxmlformats.org/drawingml/2006/table">
            <a:tbl>
              <a:tblPr/>
              <a:tblGrid>
                <a:gridCol w="2829560"/>
                <a:gridCol w="2829560"/>
                <a:gridCol w="2829560"/>
                <a:gridCol w="2829560"/>
              </a:tblGrid>
              <a:tr h="871220">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平台</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函数</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评分</a:t>
                      </a:r>
                      <a:endPar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小波评分</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c>
                  <a:txBody>
                    <a:bodyPr/>
                    <a:p>
                      <a:pPr algn="ctr" fontAlgn="ctr"/>
                      <a:r>
                        <a:rPr lang="en-US" altLang="zh-CN" sz="1200" b="1" i="0">
                          <a:solidFill>
                            <a:schemeClr val="bg1"/>
                          </a:solidFill>
                          <a:latin typeface="微软雅黑" panose="020B0503020204020204" pitchFamily="34" charset="-122"/>
                          <a:ea typeface="微软雅黑" panose="020B0503020204020204" pitchFamily="34" charset="-122"/>
                        </a:rPr>
                        <a:t>EUR</a:t>
                      </a:r>
                      <a:endParaRPr lang="en-US" altLang="zh-CN"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C000"/>
                    </a:solidFill>
                  </a:tcPr>
                </a:tc>
              </a:tr>
              <a:tr h="871220">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H8</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76.78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81.2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1.303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r>
              <a:tr h="871220">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H21</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平台</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75.61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81.42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1.098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rgbClr val="FFFFFF"/>
                    </a:solidFill>
                  </a:tcPr>
                </a:tc>
              </a:tr>
              <a:tr h="871220">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井区均值</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76.2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81.31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a:solidFill>
                        <a:schemeClr val="tx1"/>
                      </a:solidFill>
                      <a:prstDash val="solid"/>
                    </a:lnB>
                    <a:solidFill>
                      <a:srgbClr val="FFFFFF"/>
                    </a:solidFill>
                  </a:tcPr>
                </a:tc>
              </a:tr>
            </a:tbl>
          </a:graphicData>
        </a:graphic>
      </p:graphicFrame>
      <p:sp>
        <p:nvSpPr>
          <p:cNvPr id="5" name="TextBox 23"/>
          <p:cNvSpPr>
            <a:spLocks noChangeArrowheads="1"/>
          </p:cNvSpPr>
          <p:nvPr>
            <p:custDataLst>
              <p:tags r:id="rId2"/>
            </p:custDataLst>
          </p:nvPr>
        </p:nvSpPr>
        <p:spPr bwMode="auto">
          <a:xfrm>
            <a:off x="449580" y="6076950"/>
            <a:ext cx="112280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足</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201</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井区小波与</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G</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函数评分及</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EUR</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一、项目概况</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二、完成的主要工作量</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effectLst/>
                <a:uLnTx/>
                <a:uFillTx/>
                <a:latin typeface="方正大黑简体" panose="02000000000000000000" pitchFamily="65" charset="-122"/>
                <a:ea typeface="方正大黑简体" panose="02000000000000000000" pitchFamily="65" charset="-122"/>
                <a:cs typeface="+mn-cs"/>
              </a:rPr>
              <a:t>三、取得的主要成果</a:t>
            </a:r>
            <a:endParaRPr kumimoji="0" lang="zh-CN" altLang="en-US" sz="3200" b="0" i="0" u="none" strike="noStrike" kern="1200" cap="none" spc="0" normalizeH="0" baseline="0" noProof="0" dirty="0">
              <a:ln>
                <a:noFill/>
              </a:ln>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四、成果的应用及效果、效益</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FF0000"/>
                </a:solidFill>
                <a:effectLst/>
                <a:uLnTx/>
                <a:uFillTx/>
                <a:latin typeface="方正大黑简体" panose="02000000000000000000" pitchFamily="65" charset="-122"/>
                <a:ea typeface="方正大黑简体" panose="02000000000000000000" pitchFamily="65" charset="-122"/>
                <a:cs typeface="+mn-cs"/>
              </a:rPr>
              <a:t>五、认识与结论</a:t>
            </a:r>
            <a:endParaRPr kumimoji="0" lang="zh-CN" altLang="en-US" sz="3200" b="0" i="0" u="none" strike="noStrike" kern="1200" cap="none" spc="0" normalizeH="0" baseline="0" noProof="0" dirty="0">
              <a:ln>
                <a:noFill/>
              </a:ln>
              <a:solidFill>
                <a:srgbClr val="FF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六、问题及建议</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七、项目的组织与HSE管理执行情况 </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9921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项目认识与</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结论</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41275"/>
            <a:ext cx="11814810"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认识与结论</a:t>
            </a:r>
            <a:endParaRPr lang="zh-CN" altLang="en-US" sz="24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341376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本项目建立了基于小波变换时频分析和</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函数压降分析的压裂效果综合评价方法体系。小波分析方法通过识别压裂过程中的主裂缝快速扩展事件与缝网扩展事件与裂缝扩展</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能量，量化评价储层改造体积；</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函数分析方法通过压降曲线特征识别裂缝闭合规律，评价主裂缝扩展质量。两种方法从不同维度刻画压裂效果，形成了互为补充、相互验证的评价模型框架</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项目累计分析了3个井区、6个平台、28口井、731段压裂施工数据，覆盖泸203、泸206、足201三个区块。通过大规模数据分析验证，小波评分范围66.59至88.81分，G函数评分范围66.19至84.18分，建立了评分与EUR的相关性认识：评分高于80分的平台EUR普遍超过1.0，评分低于75分的平台EUR多在0.8以下，为压裂效果快速评判提供了定量依据</a:t>
            </a:r>
            <a:endParaRPr lang="en-US" sz="1600" dirty="0"/>
          </a:p>
          <a:p>
            <a:pPr marL="342265" lvl="1" indent="-342900" algn="just" fontAlgn="auto">
              <a:lnSpc>
                <a:spcPct val="150000"/>
              </a:lnSpc>
              <a:buClr>
                <a:srgbClr val="FF0000"/>
              </a:buClr>
              <a:buFont typeface="Wingdings" panose="05000000000000000000" charset="0"/>
              <a:buChar char="l"/>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通过系统分析得出三点核心认识：</a:t>
            </a:r>
            <a:r>
              <a:rPr lang="zh-CN" alt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①</a:t>
            </a: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小波评分高反映缝网发育好、改造体积大，G函数评分高反映主缝扩展质量好、施工效果优；</a:t>
            </a:r>
            <a:r>
              <a:rPr lang="zh-CN" alt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②</a:t>
            </a: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两种评分与产能正相关，可作为压裂效果预测和优化的关键指标；</a:t>
            </a:r>
            <a:r>
              <a:rPr lang="zh-CN" alt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③</a:t>
            </a: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不同井区评分差异揭示了地质条件对压裂效果的控制作用，为分区优化压裂设计提供了依据。该方法体系已具备工程应用条件，可推广至更大范围应用</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一、项目概况</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二、完成的主要工作量</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三、取得的主要成果</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四、成果的应用及效果、效益</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effectLst/>
                <a:uLnTx/>
                <a:uFillTx/>
                <a:latin typeface="方正大黑简体" panose="02000000000000000000" pitchFamily="65" charset="-122"/>
                <a:ea typeface="方正大黑简体" panose="02000000000000000000" pitchFamily="65" charset="-122"/>
                <a:cs typeface="+mn-cs"/>
              </a:rPr>
              <a:t>五、认识与结论</a:t>
            </a:r>
            <a:endParaRPr kumimoji="0" lang="zh-CN" altLang="en-US" sz="3200" b="0" i="0" u="none" strike="noStrike" kern="1200" cap="none" spc="0" normalizeH="0" baseline="0" noProof="0" dirty="0">
              <a:ln>
                <a:noFill/>
              </a:ln>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FF0000"/>
                </a:solidFill>
                <a:effectLst/>
                <a:uLnTx/>
                <a:uFillTx/>
                <a:latin typeface="方正大黑简体" panose="02000000000000000000" pitchFamily="65" charset="-122"/>
                <a:ea typeface="方正大黑简体" panose="02000000000000000000" pitchFamily="65" charset="-122"/>
                <a:cs typeface="+mn-cs"/>
              </a:rPr>
              <a:t>六、问题及建议</a:t>
            </a:r>
            <a:endParaRPr kumimoji="0" lang="zh-CN" altLang="en-US" sz="3200" b="0" i="0" u="none" strike="noStrike" kern="1200" cap="none" spc="0" normalizeH="0" baseline="0" noProof="0" dirty="0">
              <a:ln>
                <a:noFill/>
              </a:ln>
              <a:solidFill>
                <a:srgbClr val="FF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七、项目的组织与HSE管理执行情况 </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问题及建议</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21" name="TextBox 2"/>
          <p:cNvSpPr txBox="1">
            <a:spLocks noChangeArrowheads="1"/>
          </p:cNvSpPr>
          <p:nvPr/>
        </p:nvSpPr>
        <p:spPr bwMode="auto">
          <a:xfrm>
            <a:off x="334645" y="910590"/>
            <a:ext cx="11485880" cy="107696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lnSpc>
                <a:spcPct val="150000"/>
              </a:lnSpc>
              <a:spcBef>
                <a:spcPts val="0"/>
              </a:spcBef>
              <a:spcAft>
                <a:spcPts val="0"/>
              </a:spcAft>
              <a:buFont typeface="Wingdings" panose="05000000000000000000" pitchFamily="2" charset="2"/>
              <a:buChar char="l"/>
              <a:defRPr/>
            </a:pPr>
            <a:r>
              <a:rPr lang="zh-CN" altLang="en-US" sz="1600" dirty="0">
                <a:cs typeface="微软雅黑" panose="020B0503020204020204" pitchFamily="34" charset="-122"/>
                <a:sym typeface="+mn-ea"/>
              </a:rPr>
              <a:t>无</a:t>
            </a:r>
            <a:endParaRPr lang="zh-CN" altLang="en-US" sz="1600" dirty="0">
              <a:cs typeface="微软雅黑" panose="020B0503020204020204" pitchFamily="34" charset="-122"/>
              <a:sym typeface="+mn-ea"/>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一、项目概况</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二、完成的主要工作量</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三、取得的主要成果</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四、成果的应用及效果、效益</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五、认识与结论</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rPr>
              <a:t>六、问题及建议</a:t>
            </a:r>
            <a:endParaRPr kumimoji="0" lang="zh-CN" altLang="en-US" sz="32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FF0000"/>
                </a:solidFill>
                <a:effectLst/>
                <a:uLnTx/>
                <a:uFillTx/>
                <a:latin typeface="方正大黑简体" panose="02000000000000000000" pitchFamily="65" charset="-122"/>
                <a:ea typeface="方正大黑简体" panose="02000000000000000000" pitchFamily="65" charset="-122"/>
                <a:cs typeface="+mn-cs"/>
              </a:rPr>
              <a:t>七、项目的组织与HSE管理执行情况 </a:t>
            </a:r>
            <a:endParaRPr kumimoji="0" lang="zh-CN" altLang="en-US" sz="3200" b="0" i="0" u="none" strike="noStrike" kern="1200" cap="none" spc="0" normalizeH="0" baseline="0" noProof="0" dirty="0">
              <a:ln>
                <a:noFill/>
              </a:ln>
              <a:solidFill>
                <a:srgbClr val="FF0000"/>
              </a:solidFill>
              <a:effectLst/>
              <a:uLnTx/>
              <a:uFillTx/>
              <a:latin typeface="方正大黑简体" panose="02000000000000000000" pitchFamily="65" charset="-122"/>
              <a:ea typeface="方正大黑简体" panose="02000000000000000000" pitchFamily="65" charset="-122"/>
              <a:cs typeface="+mn-cs"/>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27013" y="854069"/>
            <a:ext cx="10644187" cy="418191"/>
          </a:xfrm>
          <a:prstGeom prst="rect">
            <a:avLst/>
          </a:prstGeom>
          <a:noFill/>
        </p:spPr>
        <p:txBody>
          <a:bodyPr wrap="square">
            <a:spAutoFit/>
          </a:bodyPr>
          <a:lstStyle/>
          <a:p>
            <a:pPr marL="342900" indent="-342900">
              <a:lnSpc>
                <a:spcPct val="150000"/>
              </a:lnSpc>
              <a:buClr>
                <a:srgbClr val="FF0000"/>
              </a:buClr>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主要研究人员：周福建教授牵头组织，多位老师、博士深度参与</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6" name="表格 2"/>
          <p:cNvGraphicFramePr>
            <a:graphicFrameLocks noGrp="1"/>
          </p:cNvGraphicFramePr>
          <p:nvPr>
            <p:custDataLst>
              <p:tags r:id="rId1"/>
            </p:custDataLst>
          </p:nvPr>
        </p:nvGraphicFramePr>
        <p:xfrm>
          <a:off x="376555" y="1393825"/>
          <a:ext cx="11308080" cy="4686300"/>
        </p:xfrm>
        <a:graphic>
          <a:graphicData uri="http://schemas.openxmlformats.org/drawingml/2006/table">
            <a:tbl>
              <a:tblPr firstRow="1" bandRow="1">
                <a:tableStyleId>{5C22544A-7EE6-4342-B048-85BDC9FD1C3A}</a:tableStyleId>
              </a:tblPr>
              <a:tblGrid>
                <a:gridCol w="1310640"/>
                <a:gridCol w="1278890"/>
                <a:gridCol w="818515"/>
                <a:gridCol w="1245870"/>
                <a:gridCol w="1202055"/>
                <a:gridCol w="1216025"/>
                <a:gridCol w="2346325"/>
                <a:gridCol w="1889760"/>
              </a:tblGrid>
              <a:tr h="468630">
                <a:tc>
                  <a:txBody>
                    <a:bodyPr/>
                    <a:lstStyle/>
                    <a:p>
                      <a:pPr algn="ctr">
                        <a:spcAft>
                          <a:spcPts val="0"/>
                        </a:spcAft>
                      </a:pPr>
                      <a:r>
                        <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职务</a:t>
                      </a:r>
                      <a:endPar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sz="1200" b="1" kern="100" baseline="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姓 名</a:t>
                      </a:r>
                      <a:endParaRPr lang="zh-CN" sz="1200" b="1" kern="100" baseline="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性别</a:t>
                      </a:r>
                      <a:endPar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年龄</a:t>
                      </a:r>
                      <a:endPar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学历</a:t>
                      </a:r>
                      <a:endPar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职称</a:t>
                      </a:r>
                      <a:endPar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专业特长</a:t>
                      </a:r>
                      <a:endParaRPr lang="zh-CN"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altLang="en-US"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项目参与时间</a:t>
                      </a:r>
                      <a:endParaRPr lang="zh-CN" altLang="en-US" sz="1200" b="1" kern="100" baseline="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468630">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项目</a:t>
                      </a: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长</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周福建</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男</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58</a:t>
                      </a:r>
                      <a:endParaRPr 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博士</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微软雅黑" panose="020B0503020204020204" pitchFamily="34" charset="-122"/>
                        </a:rPr>
                        <a:t>教授</a:t>
                      </a:r>
                      <a:r>
                        <a:rPr lang="en-US" sz="1200" b="0" kern="100" baseline="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sz="1200" b="0" kern="100" baseline="0" dirty="0">
                          <a:effectLst/>
                          <a:latin typeface="微软雅黑" panose="020B0503020204020204" pitchFamily="34" charset="-122"/>
                          <a:ea typeface="微软雅黑" panose="020B0503020204020204" pitchFamily="34" charset="-122"/>
                          <a:cs typeface="微软雅黑" panose="020B0503020204020204" pitchFamily="34" charset="-122"/>
                        </a:rPr>
                        <a:t>博导</a:t>
                      </a:r>
                      <a:endParaRPr lang="zh-CN" sz="1200" b="0" kern="100" baseline="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储层保护改造</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2024.06-2025.12</a:t>
                      </a:r>
                      <a:endPar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8630">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副</a:t>
                      </a:r>
                      <a:r>
                        <a:rPr lang="zh-CN"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项目</a:t>
                      </a: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长</a:t>
                      </a:r>
                      <a:endParaRPr lang="zh-CN"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胡晓东</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男</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34</a:t>
                      </a:r>
                      <a:endPar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博士</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研究员</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微软雅黑" panose="020B0503020204020204" pitchFamily="34" charset="-122"/>
                        </a:rPr>
                        <a:t>压裂诊断</a:t>
                      </a:r>
                      <a:r>
                        <a:rPr lang="en-US" sz="1200" b="0" kern="100" baseline="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sz="1200" b="0" kern="100" baseline="0" dirty="0">
                          <a:effectLst/>
                          <a:latin typeface="微软雅黑" panose="020B0503020204020204" pitchFamily="34" charset="-122"/>
                          <a:ea typeface="微软雅黑" panose="020B0503020204020204" pitchFamily="34" charset="-122"/>
                          <a:cs typeface="微软雅黑" panose="020B0503020204020204" pitchFamily="34" charset="-122"/>
                        </a:rPr>
                        <a:t>储层改造</a:t>
                      </a:r>
                      <a:endParaRPr lang="zh-CN" sz="1200" b="0" kern="100" baseline="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2024.06-2025.12</a:t>
                      </a:r>
                      <a:endPar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8630">
                <a:tc rowSpan="7">
                  <a:txBody>
                    <a:bodyPr/>
                    <a:lstStyle/>
                    <a:p>
                      <a:pPr algn="ctr"/>
                      <a:r>
                        <a:rPr lang="zh-CN" altLang="en-US" sz="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主要研究人员</a:t>
                      </a:r>
                      <a:endParaRPr lang="zh-CN" altLang="en-US" sz="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董恩佳</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男</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200" b="0" kern="100" baseline="0" dirty="0">
                          <a:solidFill>
                            <a:schemeClr val="dk1"/>
                          </a:solidFill>
                          <a:effectLst/>
                          <a:latin typeface="微软雅黑" panose="020B0503020204020204" pitchFamily="34" charset="-122"/>
                          <a:ea typeface="微软雅黑" panose="020B0503020204020204" pitchFamily="34" charset="-122"/>
                          <a:cs typeface="Times New Roman" panose="02020603050405020304" pitchFamily="18" charset="0"/>
                        </a:rPr>
                        <a:t> 26</a:t>
                      </a:r>
                      <a:endParaRPr lang="en-US" altLang="en-US" sz="1200" b="0" kern="100" baseline="0" dirty="0">
                        <a:solidFill>
                          <a:schemeClr val="dk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博士</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学生</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储层改造</a:t>
                      </a:r>
                      <a:endParaRPr 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2024.06-2025.12</a:t>
                      </a:r>
                      <a:endPar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8630">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周乾龙</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男</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altLang="zh-CN" sz="1200" b="0" kern="100" baseline="0" dirty="0">
                          <a:solidFill>
                            <a:schemeClr val="dk1"/>
                          </a:solidFill>
                          <a:effectLst/>
                          <a:latin typeface="微软雅黑" panose="020B0503020204020204" pitchFamily="34" charset="-122"/>
                          <a:ea typeface="微软雅黑" panose="020B0503020204020204" pitchFamily="34" charset="-122"/>
                          <a:cs typeface="Times New Roman" panose="02020603050405020304" pitchFamily="18" charset="0"/>
                        </a:rPr>
                        <a:t> 25</a:t>
                      </a:r>
                      <a:endParaRPr lang="en-US" altLang="zh-CN" sz="1200" b="0" kern="100" baseline="0" dirty="0">
                        <a:solidFill>
                          <a:schemeClr val="dk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博士</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学生</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储层改造</a:t>
                      </a:r>
                      <a:endParaRPr lang="zh-CN"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2024.06-2025.12</a:t>
                      </a:r>
                      <a:endPar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863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闻吉鹏</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男</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altLang="zh-CN" sz="1200" b="0" kern="100" baseline="0" dirty="0">
                          <a:solidFill>
                            <a:schemeClr val="dk1"/>
                          </a:solidFill>
                          <a:effectLst/>
                          <a:latin typeface="微软雅黑" panose="020B0503020204020204" pitchFamily="34" charset="-122"/>
                          <a:ea typeface="微软雅黑" panose="020B0503020204020204" pitchFamily="34" charset="-122"/>
                          <a:cs typeface="Times New Roman" panose="02020603050405020304" pitchFamily="18" charset="0"/>
                        </a:rPr>
                        <a:t>24</a:t>
                      </a:r>
                      <a:endParaRPr lang="en-US" altLang="zh-CN" sz="1200" b="0" kern="100" baseline="0" dirty="0">
                        <a:solidFill>
                          <a:schemeClr val="dk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博士</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学生</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压裂诊断</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2024.06-2025.12</a:t>
                      </a:r>
                      <a:endPar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8630">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熊壮</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男</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24</a:t>
                      </a:r>
                      <a:endPar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硕士</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学生</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储层改造</a:t>
                      </a:r>
                      <a:endPar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2024.06-2025.12</a:t>
                      </a:r>
                      <a:endPar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8630">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赖文俊</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男</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23</a:t>
                      </a:r>
                      <a:endPar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硕士</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学生</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压裂诊断</a:t>
                      </a:r>
                      <a:endPar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2024.06-2025.12</a:t>
                      </a:r>
                      <a:endPar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8630">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邓宇通</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男</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23</a:t>
                      </a:r>
                      <a:endPar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硕士</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学生</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压裂诊断</a:t>
                      </a:r>
                      <a:endPar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2024.06-2025.12</a:t>
                      </a:r>
                      <a:endPar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8630">
                <a:tc vMerge="1">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张铭志</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男</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23</a:t>
                      </a:r>
                      <a:endParaRPr lang="en-US" altLang="zh-CN"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硕士</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rPr>
                        <a:t>学生</a:t>
                      </a:r>
                      <a:endParaRPr lang="zh-CN" altLang="en-US" sz="1200" b="0" kern="100" baseline="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压裂诊断</a:t>
                      </a:r>
                      <a:endPar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2024.06-2025.12</a:t>
                      </a:r>
                      <a:endPar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400" b="1" kern="0" dirty="0">
                <a:solidFill>
                  <a:srgbClr val="FF0000"/>
                </a:solidFill>
                <a:latin typeface="微软雅黑" panose="020B0503020204020204" pitchFamily="34" charset="-122"/>
                <a:ea typeface="微软雅黑" panose="020B0503020204020204" pitchFamily="34" charset="-122"/>
              </a:rPr>
              <a:t>、项目运行管理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stretch>
            <a:fillRect/>
          </a:stretch>
        </p:blipFill>
        <p:spPr>
          <a:xfrm>
            <a:off x="5554266" y="1576933"/>
            <a:ext cx="2111048" cy="2873828"/>
          </a:xfrm>
          <a:prstGeom prst="rect">
            <a:avLst/>
          </a:prstGeom>
        </p:spPr>
      </p:pic>
      <p:sp>
        <p:nvSpPr>
          <p:cNvPr id="25" name="文本框 24"/>
          <p:cNvSpPr txBox="1"/>
          <p:nvPr/>
        </p:nvSpPr>
        <p:spPr>
          <a:xfrm>
            <a:off x="227013" y="899811"/>
            <a:ext cx="11844337" cy="372025"/>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为保证项目推进，团队配合页岩气研究院组织多次项目阶段检查和对接，并按月提交月报，实时把控项目进度</a:t>
            </a:r>
            <a:endParaRPr lang="zh-CN" altLang="en-US"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247991" y="2179562"/>
            <a:ext cx="5144230" cy="3358547"/>
          </a:xfrm>
          <a:prstGeom prst="rect">
            <a:avLst/>
          </a:prstGeom>
        </p:spPr>
      </p:pic>
      <p:pic>
        <p:nvPicPr>
          <p:cNvPr id="6" name="图片 5"/>
          <p:cNvPicPr>
            <a:picLocks noChangeAspect="1"/>
          </p:cNvPicPr>
          <p:nvPr/>
        </p:nvPicPr>
        <p:blipFill>
          <a:blip r:embed="rId3"/>
          <a:stretch>
            <a:fillRect/>
          </a:stretch>
        </p:blipFill>
        <p:spPr>
          <a:xfrm>
            <a:off x="10043886" y="1605963"/>
            <a:ext cx="1843314" cy="2647531"/>
          </a:xfrm>
          <a:prstGeom prst="rect">
            <a:avLst/>
          </a:prstGeom>
        </p:spPr>
      </p:pic>
      <p:pic>
        <p:nvPicPr>
          <p:cNvPr id="8" name="图片 7"/>
          <p:cNvPicPr>
            <a:picLocks noChangeAspect="1"/>
          </p:cNvPicPr>
          <p:nvPr/>
        </p:nvPicPr>
        <p:blipFill>
          <a:blip r:embed="rId4"/>
          <a:stretch>
            <a:fillRect/>
          </a:stretch>
        </p:blipFill>
        <p:spPr>
          <a:xfrm>
            <a:off x="7826887" y="1605963"/>
            <a:ext cx="2014949" cy="2757714"/>
          </a:xfrm>
          <a:prstGeom prst="rect">
            <a:avLst/>
          </a:prstGeom>
        </p:spPr>
      </p:pic>
      <p:pic>
        <p:nvPicPr>
          <p:cNvPr id="4" name="图片 3"/>
          <p:cNvPicPr>
            <a:picLocks noChangeAspect="1"/>
          </p:cNvPicPr>
          <p:nvPr/>
        </p:nvPicPr>
        <p:blipFill>
          <a:blip r:embed="rId5"/>
          <a:stretch>
            <a:fillRect/>
          </a:stretch>
        </p:blipFill>
        <p:spPr>
          <a:xfrm>
            <a:off x="6523908" y="3203242"/>
            <a:ext cx="2084152" cy="2816422"/>
          </a:xfrm>
          <a:prstGeom prst="rect">
            <a:avLst/>
          </a:prstGeom>
        </p:spPr>
      </p:pic>
      <p:pic>
        <p:nvPicPr>
          <p:cNvPr id="15" name="图片 14"/>
          <p:cNvPicPr>
            <a:picLocks noChangeAspect="1"/>
          </p:cNvPicPr>
          <p:nvPr/>
        </p:nvPicPr>
        <p:blipFill>
          <a:blip r:embed="rId6"/>
          <a:stretch>
            <a:fillRect/>
          </a:stretch>
        </p:blipFill>
        <p:spPr>
          <a:xfrm>
            <a:off x="8766629" y="3022011"/>
            <a:ext cx="2193492" cy="2975966"/>
          </a:xfrm>
          <a:prstGeom prst="rect">
            <a:avLst/>
          </a:prstGeom>
        </p:spPr>
      </p:pic>
      <p:sp>
        <p:nvSpPr>
          <p:cNvPr id="10" name="TextBox 2"/>
          <p:cNvSpPr txBox="1"/>
          <p:nvPr/>
        </p:nvSpPr>
        <p:spPr>
          <a:xfrm>
            <a:off x="5554345" y="6075680"/>
            <a:ext cx="6332220" cy="275590"/>
          </a:xfrm>
          <a:prstGeom prst="rect">
            <a:avLst/>
          </a:prstGeom>
          <a:noFill/>
          <a:ln w="9525">
            <a:noFill/>
          </a:ln>
          <a:extLst>
            <a:ext uri="{909E8E84-426E-40DD-AFC4-6F175D3DCCD1}">
              <a14:hiddenFill xmlns:a14="http://schemas.microsoft.com/office/drawing/2010/main">
                <a:solidFill>
                  <a:srgbClr val="FFFF00"/>
                </a:solidFill>
              </a14:hiddenFill>
            </a:ext>
          </a:extLst>
        </p:spPr>
        <p:txBody>
          <a:bodyPr wrap="square">
            <a:spAutoFit/>
          </a:bodyPr>
          <a:lstStyle/>
          <a:p>
            <a:pPr algn="ctr">
              <a:spcBef>
                <a:spcPct val="50000"/>
              </a:spcBef>
              <a:buClr>
                <a:srgbClr val="FF0000"/>
              </a:buClr>
            </a:pPr>
            <a:r>
              <a:rPr lang="zh-CN" altLang="en-US" sz="1200" dirty="0">
                <a:solidFill>
                  <a:schemeClr val="tx1"/>
                </a:solidFill>
                <a:latin typeface="微软雅黑" panose="020B0503020204020204" pitchFamily="34" charset="-122"/>
                <a:ea typeface="微软雅黑" panose="020B0503020204020204" pitchFamily="34" charset="-122"/>
              </a:rPr>
              <a:t>定期月报</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4" name="TextBox 2"/>
          <p:cNvSpPr txBox="1"/>
          <p:nvPr/>
        </p:nvSpPr>
        <p:spPr>
          <a:xfrm>
            <a:off x="248285" y="6076950"/>
            <a:ext cx="5143500" cy="275590"/>
          </a:xfrm>
          <a:prstGeom prst="rect">
            <a:avLst/>
          </a:prstGeom>
          <a:noFill/>
          <a:ln w="9525">
            <a:noFill/>
          </a:ln>
          <a:extLst>
            <a:ext uri="{909E8E84-426E-40DD-AFC4-6F175D3DCCD1}">
              <a14:hiddenFill xmlns:a14="http://schemas.microsoft.com/office/drawing/2010/main">
                <a:solidFill>
                  <a:srgbClr val="FFFF00"/>
                </a:solidFill>
              </a14:hiddenFill>
            </a:ext>
          </a:extLst>
        </p:spPr>
        <p:txBody>
          <a:bodyPr wrap="square">
            <a:spAutoFit/>
          </a:bodyPr>
          <a:lstStyle/>
          <a:p>
            <a:pPr algn="ctr">
              <a:spcBef>
                <a:spcPct val="50000"/>
              </a:spcBef>
              <a:buClr>
                <a:srgbClr val="FF0000"/>
              </a:buClr>
            </a:pPr>
            <a:r>
              <a:rPr lang="zh-CN" altLang="en-US" sz="1200" dirty="0">
                <a:solidFill>
                  <a:schemeClr val="tx1"/>
                </a:solidFill>
                <a:latin typeface="微软雅黑" panose="020B0503020204020204" pitchFamily="34" charset="-122"/>
                <a:ea typeface="微软雅黑" panose="020B0503020204020204" pitchFamily="34" charset="-122"/>
              </a:rPr>
              <a:t>阶段汇报交流、中期答辩</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4"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400" b="1" kern="0" dirty="0">
                <a:solidFill>
                  <a:srgbClr val="FF0000"/>
                </a:solidFill>
                <a:latin typeface="微软雅黑" panose="020B0503020204020204" pitchFamily="34" charset="-122"/>
                <a:ea typeface="微软雅黑" panose="020B0503020204020204" pitchFamily="34" charset="-122"/>
              </a:rPr>
              <a:t>、项目运行管理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p:cNvSpPr txBox="1"/>
          <p:nvPr/>
        </p:nvSpPr>
        <p:spPr>
          <a:xfrm>
            <a:off x="227013" y="899811"/>
            <a:ext cx="11844337" cy="398780"/>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为保证项目推进，团队配合页岩气研究院派遣硕博士</a:t>
            </a:r>
            <a:r>
              <a:rPr lang="zh-CN" altLang="en-US" sz="1600" dirty="0">
                <a:solidFill>
                  <a:prstClr val="black"/>
                </a:solidFill>
                <a:latin typeface="微软雅黑" panose="020B0503020204020204" pitchFamily="34" charset="-122"/>
                <a:ea typeface="微软雅黑" panose="020B0503020204020204" pitchFamily="34" charset="-122"/>
                <a:sym typeface="+mn-ea"/>
              </a:rPr>
              <a:t>累计</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驻场办公100余人·天</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TextBox 2"/>
          <p:cNvSpPr txBox="1"/>
          <p:nvPr/>
        </p:nvSpPr>
        <p:spPr>
          <a:xfrm>
            <a:off x="380365" y="6076950"/>
            <a:ext cx="11380470" cy="275590"/>
          </a:xfrm>
          <a:prstGeom prst="rect">
            <a:avLst/>
          </a:prstGeom>
          <a:noFill/>
          <a:ln w="9525">
            <a:noFill/>
          </a:ln>
          <a:extLst>
            <a:ext uri="{909E8E84-426E-40DD-AFC4-6F175D3DCCD1}">
              <a14:hiddenFill xmlns:a14="http://schemas.microsoft.com/office/drawing/2010/main">
                <a:solidFill>
                  <a:srgbClr val="FFFF00"/>
                </a:solidFill>
              </a14:hiddenFill>
            </a:ext>
          </a:extLst>
        </p:spPr>
        <p:txBody>
          <a:bodyPr wrap="square">
            <a:spAutoFit/>
          </a:bodyPr>
          <a:lstStyle/>
          <a:p>
            <a:pPr algn="ctr">
              <a:spcBef>
                <a:spcPct val="50000"/>
              </a:spcBef>
              <a:buClr>
                <a:srgbClr val="FF0000"/>
              </a:buClr>
            </a:pPr>
            <a:r>
              <a:rPr lang="zh-CN" altLang="en-US" sz="1200" dirty="0">
                <a:solidFill>
                  <a:schemeClr val="tx1"/>
                </a:solidFill>
                <a:latin typeface="微软雅黑" panose="020B0503020204020204" pitchFamily="34" charset="-122"/>
                <a:ea typeface="微软雅黑" panose="020B0503020204020204" pitchFamily="34" charset="-122"/>
              </a:rPr>
              <a:t>项目共派遣硕博士累计驻院办公</a:t>
            </a:r>
            <a:r>
              <a:rPr lang="en-US" altLang="zh-CN" sz="1200" dirty="0">
                <a:solidFill>
                  <a:schemeClr val="tx1"/>
                </a:solidFill>
                <a:latin typeface="微软雅黑" panose="020B0503020204020204" pitchFamily="34" charset="-122"/>
                <a:ea typeface="微软雅黑" panose="020B0503020204020204" pitchFamily="34" charset="-122"/>
              </a:rPr>
              <a:t>100</a:t>
            </a: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余人·天</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4"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400" b="1" kern="0" dirty="0">
                <a:solidFill>
                  <a:srgbClr val="FF0000"/>
                </a:solidFill>
                <a:latin typeface="微软雅黑" panose="020B0503020204020204" pitchFamily="34" charset="-122"/>
                <a:ea typeface="微软雅黑" panose="020B0503020204020204" pitchFamily="34" charset="-122"/>
              </a:rPr>
              <a:t>、项目运行管理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pic>
        <p:nvPicPr>
          <p:cNvPr id="7" name="图片 6" descr="微信图片_20251124150147_367_114"/>
          <p:cNvPicPr>
            <a:picLocks noChangeAspect="1"/>
          </p:cNvPicPr>
          <p:nvPr/>
        </p:nvPicPr>
        <p:blipFill>
          <a:blip r:embed="rId1"/>
          <a:stretch>
            <a:fillRect/>
          </a:stretch>
        </p:blipFill>
        <p:spPr>
          <a:xfrm>
            <a:off x="1141730" y="2014220"/>
            <a:ext cx="4735830" cy="3552190"/>
          </a:xfrm>
          <a:prstGeom prst="rect">
            <a:avLst/>
          </a:prstGeom>
        </p:spPr>
      </p:pic>
      <p:pic>
        <p:nvPicPr>
          <p:cNvPr id="11" name="图片 10" descr="微信图片_20251124150149_369_114"/>
          <p:cNvPicPr>
            <a:picLocks noChangeAspect="1"/>
          </p:cNvPicPr>
          <p:nvPr/>
        </p:nvPicPr>
        <p:blipFill>
          <a:blip r:embed="rId2"/>
          <a:stretch>
            <a:fillRect/>
          </a:stretch>
        </p:blipFill>
        <p:spPr>
          <a:xfrm>
            <a:off x="6322060" y="2014220"/>
            <a:ext cx="4654550" cy="3552190"/>
          </a:xfrm>
          <a:prstGeom prst="rect">
            <a:avLst/>
          </a:prstGeom>
        </p:spPr>
      </p:pic>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r>
              <a:rPr lang="zh-CN" altLang="en-US" sz="2400" b="1" kern="0" dirty="0">
                <a:solidFill>
                  <a:srgbClr val="FF0000"/>
                </a:solidFill>
                <a:latin typeface="微软雅黑" panose="020B0503020204020204" pitchFamily="34" charset="-122"/>
                <a:ea typeface="微软雅黑" panose="020B0503020204020204" pitchFamily="34" charset="-122"/>
              </a:rPr>
              <a:t>、</a:t>
            </a:r>
            <a:r>
              <a:rPr lang="en-US" altLang="zh-CN" sz="2400" b="1" kern="0" dirty="0">
                <a:solidFill>
                  <a:srgbClr val="FF0000"/>
                </a:solidFill>
                <a:latin typeface="微软雅黑" panose="020B0503020204020204" pitchFamily="34" charset="-122"/>
                <a:ea typeface="微软雅黑" panose="020B0503020204020204" pitchFamily="34" charset="-122"/>
              </a:rPr>
              <a:t>HSE</a:t>
            </a:r>
            <a:r>
              <a:rPr lang="zh-CN" altLang="en-US" sz="2400" b="1" kern="0" dirty="0">
                <a:solidFill>
                  <a:srgbClr val="FF0000"/>
                </a:solidFill>
                <a:latin typeface="微软雅黑" panose="020B0503020204020204" pitchFamily="34" charset="-122"/>
                <a:ea typeface="微软雅黑" panose="020B0503020204020204" pitchFamily="34" charset="-122"/>
              </a:rPr>
              <a:t>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21" name="TextBox 2"/>
          <p:cNvSpPr txBox="1">
            <a:spLocks noChangeArrowheads="1"/>
          </p:cNvSpPr>
          <p:nvPr/>
        </p:nvSpPr>
        <p:spPr bwMode="auto">
          <a:xfrm>
            <a:off x="334645" y="910590"/>
            <a:ext cx="11485880" cy="355854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0" marR="0" lvl="0" indent="-358775"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Char char="l"/>
              <a:defRPr/>
            </a:pPr>
            <a:r>
              <a:rPr lang="en-US" altLang="zh-CN" sz="1600" kern="0" dirty="0">
                <a:solidFill>
                  <a:prstClr val="black"/>
                </a:solidFill>
                <a:sym typeface="+mn-ea"/>
              </a:rPr>
              <a:t>HSE</a:t>
            </a:r>
            <a:r>
              <a:rPr lang="zh-CN" altLang="en-US" sz="1600" kern="0" dirty="0">
                <a:solidFill>
                  <a:prstClr val="black"/>
                </a:solidFill>
                <a:sym typeface="+mn-ea"/>
              </a:rPr>
              <a:t>风险识别</a:t>
            </a:r>
            <a:endParaRPr lang="zh-CN" altLang="en-US" sz="1600" kern="0" dirty="0">
              <a:solidFill>
                <a:prstClr val="black"/>
              </a:solidFill>
              <a:sym typeface="+mn-ea"/>
            </a:endParaRPr>
          </a:p>
          <a:p>
            <a:pPr marL="0" marR="0" lvl="0" indent="457200"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None/>
              <a:defRPr/>
            </a:pPr>
            <a:r>
              <a:rPr lang="zh-CN" altLang="en-US" sz="1600" kern="0" dirty="0">
                <a:solidFill>
                  <a:prstClr val="black"/>
                </a:solidFill>
                <a:sym typeface="+mn-ea"/>
              </a:rPr>
              <a:t>项目涉及到室内加温实验，需对电子设备使用安全高度重视，保证室内电路安全，防止火灾，实验过程中可能出现高压管线泄漏、脱落，高温液体泄漏等安全隐患，提升涉及现场施工跟踪作业，施工过程可能出现停泵管线整改等安全隐患，编制了</a:t>
            </a:r>
            <a:r>
              <a:rPr lang="en-US" altLang="zh-CN" sz="1600" kern="0" dirty="0">
                <a:solidFill>
                  <a:prstClr val="black"/>
                </a:solidFill>
                <a:sym typeface="+mn-ea"/>
              </a:rPr>
              <a:t>HSE</a:t>
            </a:r>
            <a:r>
              <a:rPr lang="zh-CN" altLang="en-US" sz="1600" kern="0" dirty="0">
                <a:solidFill>
                  <a:prstClr val="black"/>
                </a:solidFill>
                <a:sym typeface="+mn-ea"/>
              </a:rPr>
              <a:t>管理预案，要求设备保养准备到位，责任落实到位</a:t>
            </a:r>
            <a:endParaRPr lang="zh-CN" altLang="en-US" sz="1600" kern="0" dirty="0">
              <a:solidFill>
                <a:prstClr val="black"/>
              </a:solidFill>
              <a:sym typeface="+mn-ea"/>
            </a:endParaRPr>
          </a:p>
          <a:p>
            <a:pPr marL="0" marR="0" lvl="0" indent="457200"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None/>
              <a:defRPr/>
            </a:pPr>
            <a:endParaRPr lang="zh-CN" altLang="en-US" sz="1600" kern="0" dirty="0">
              <a:solidFill>
                <a:prstClr val="black"/>
              </a:solidFill>
              <a:sym typeface="+mn-ea"/>
            </a:endParaRPr>
          </a:p>
          <a:p>
            <a:pPr marL="0" marR="0" lvl="0" indent="-358775"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Char char="l"/>
              <a:defRPr/>
            </a:pPr>
            <a:r>
              <a:rPr lang="zh-CN" altLang="en-US" sz="1600" kern="0" dirty="0">
                <a:solidFill>
                  <a:prstClr val="black"/>
                </a:solidFill>
                <a:sym typeface="+mn-ea"/>
              </a:rPr>
              <a:t>应对措施预案</a:t>
            </a:r>
            <a:endParaRPr kumimoji="1" lang="zh-CN" altLang="en-US" sz="1600" kern="0" dirty="0">
              <a:solidFill>
                <a:prstClr val="black"/>
              </a:solidFill>
              <a:latin typeface="微软雅黑" panose="020B0503020204020204" pitchFamily="34" charset="-122"/>
              <a:ea typeface="微软雅黑" panose="020B0503020204020204" pitchFamily="34" charset="-122"/>
            </a:endParaRPr>
          </a:p>
          <a:p>
            <a:pPr marL="0" marR="0" lvl="0" indent="457200"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None/>
              <a:defRPr/>
            </a:pPr>
            <a:r>
              <a:rPr lang="zh-CN" altLang="en-US" sz="1600" kern="0" dirty="0">
                <a:solidFill>
                  <a:prstClr val="black"/>
                </a:solidFill>
                <a:sym typeface="+mn-ea"/>
              </a:rPr>
              <a:t>项目应对措施预案涉及信息报告、现场作业应急处置程序、实验人员高温灼伤程序、人员触电应急处置程序、电器及其他火灾应急处置程序、碰伤</a:t>
            </a:r>
            <a:r>
              <a:rPr lang="en-US" altLang="zh-CN" sz="1600" kern="0" dirty="0">
                <a:solidFill>
                  <a:prstClr val="black"/>
                </a:solidFill>
                <a:sym typeface="+mn-ea"/>
              </a:rPr>
              <a:t>-</a:t>
            </a:r>
            <a:r>
              <a:rPr lang="zh-CN" altLang="en-US" sz="1600" kern="0" dirty="0">
                <a:solidFill>
                  <a:prstClr val="black"/>
                </a:solidFill>
                <a:sym typeface="+mn-ea"/>
              </a:rPr>
              <a:t>撞伤</a:t>
            </a:r>
            <a:r>
              <a:rPr lang="en-US" altLang="zh-CN" sz="1600" kern="0" dirty="0">
                <a:solidFill>
                  <a:prstClr val="black"/>
                </a:solidFill>
                <a:sym typeface="+mn-ea"/>
              </a:rPr>
              <a:t>-</a:t>
            </a:r>
            <a:r>
              <a:rPr lang="zh-CN" altLang="en-US" sz="1600" kern="0" dirty="0">
                <a:solidFill>
                  <a:prstClr val="black"/>
                </a:solidFill>
                <a:sym typeface="+mn-ea"/>
              </a:rPr>
              <a:t>砸伤</a:t>
            </a:r>
            <a:r>
              <a:rPr lang="en-US" altLang="zh-CN" sz="1600" kern="0" dirty="0">
                <a:solidFill>
                  <a:prstClr val="black"/>
                </a:solidFill>
                <a:sym typeface="+mn-ea"/>
              </a:rPr>
              <a:t>-</a:t>
            </a:r>
            <a:r>
              <a:rPr lang="zh-CN" altLang="en-US" sz="1600" kern="0" dirty="0">
                <a:solidFill>
                  <a:prstClr val="black"/>
                </a:solidFill>
                <a:sym typeface="+mn-ea"/>
              </a:rPr>
              <a:t>划伤</a:t>
            </a:r>
            <a:r>
              <a:rPr lang="en-US" altLang="zh-CN" sz="1600" kern="0" dirty="0">
                <a:solidFill>
                  <a:prstClr val="black"/>
                </a:solidFill>
                <a:sym typeface="+mn-ea"/>
              </a:rPr>
              <a:t>-</a:t>
            </a:r>
            <a:r>
              <a:rPr lang="zh-CN" altLang="en-US" sz="1600" kern="0" dirty="0">
                <a:solidFill>
                  <a:prstClr val="black"/>
                </a:solidFill>
                <a:sym typeface="+mn-ea"/>
              </a:rPr>
              <a:t>割伤</a:t>
            </a:r>
            <a:r>
              <a:rPr lang="en-US" altLang="zh-CN" sz="1600" kern="0" dirty="0">
                <a:solidFill>
                  <a:prstClr val="black"/>
                </a:solidFill>
                <a:sym typeface="+mn-ea"/>
              </a:rPr>
              <a:t>-</a:t>
            </a:r>
            <a:r>
              <a:rPr lang="zh-CN" altLang="en-US" sz="1600" kern="0" dirty="0">
                <a:solidFill>
                  <a:prstClr val="black"/>
                </a:solidFill>
                <a:sym typeface="+mn-ea"/>
              </a:rPr>
              <a:t>滑倒摔伤应急处置程序、上下班或出差途中发生交通事故应急处置程序和发生资料被盗或泄密事件应急处置程序等 </a:t>
            </a:r>
            <a:endParaRPr lang="zh-CN" altLang="en-US" sz="1600" dirty="0">
              <a:cs typeface="微软雅黑" panose="020B0503020204020204" pitchFamily="34" charset="-122"/>
              <a:sym typeface="+mn-ea"/>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27013" y="900954"/>
            <a:ext cx="12072937" cy="372025"/>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项目总经费</a:t>
            </a:r>
            <a:r>
              <a:rPr lang="en-US" altLang="zh-CN" sz="1600" dirty="0">
                <a:solidFill>
                  <a:prstClr val="black"/>
                </a:solidFill>
                <a:latin typeface="微软雅黑" panose="020B0503020204020204" pitchFamily="34" charset="-122"/>
                <a:ea typeface="微软雅黑" panose="020B0503020204020204" pitchFamily="34" charset="-122"/>
              </a:rPr>
              <a:t>71</a:t>
            </a:r>
            <a:r>
              <a:rPr lang="zh-CN" altLang="en-US" sz="1600" dirty="0">
                <a:solidFill>
                  <a:prstClr val="black"/>
                </a:solidFill>
                <a:latin typeface="微软雅黑" panose="020B0503020204020204" pitchFamily="34" charset="-122"/>
                <a:ea typeface="微软雅黑" panose="020B0503020204020204" pitchFamily="34" charset="-122"/>
              </a:rPr>
              <a:t>万元，经费使用严格按照预算和财务要求进行，未出现无预算、超预算等情况，执行情况较好</a:t>
            </a:r>
            <a:endParaRPr lang="en-US" altLang="zh-CN"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6" name="表格 3"/>
          <p:cNvGraphicFramePr>
            <a:graphicFrameLocks noGrp="1"/>
          </p:cNvGraphicFramePr>
          <p:nvPr>
            <p:custDataLst>
              <p:tags r:id="rId1"/>
            </p:custDataLst>
          </p:nvPr>
        </p:nvGraphicFramePr>
        <p:xfrm>
          <a:off x="376555" y="1441450"/>
          <a:ext cx="11279505" cy="4629785"/>
        </p:xfrm>
        <a:graphic>
          <a:graphicData uri="http://schemas.openxmlformats.org/drawingml/2006/table">
            <a:tbl>
              <a:tblPr/>
              <a:tblGrid>
                <a:gridCol w="3759835"/>
                <a:gridCol w="3759835"/>
                <a:gridCol w="3759835"/>
              </a:tblGrid>
              <a:tr h="436245">
                <a:tc gridSpan="2">
                  <a:txBody>
                    <a:bodyPr/>
                    <a:lstStyle/>
                    <a:p>
                      <a:pPr algn="ctr" fontAlgn="ct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编号与类型</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cPr marL="9525" marR="9525" marT="9525"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合计</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435610">
                <a:tc>
                  <a:txBody>
                    <a:bodyPr/>
                    <a:lstStyle/>
                    <a:p>
                      <a:pPr algn="ctr" fontAlgn="ct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编号</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名称</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536575">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设计制图费</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50.13</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7210">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图书资料费</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出版</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文献</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知识产权费</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2.2</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6575">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3</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办公费</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差旅费</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5.37</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7210">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4</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咨询评审费</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6575">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管理费</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9.23</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6575">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6</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税费</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2.07</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7210">
                <a:tc gridSpan="2">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合计（万元）</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525" marR="9525" marT="9525" marB="0" anchor="ctr">
                    <a:lnL w="6350" cap="flat" cmpd="sng" algn="ctr">
                      <a:solidFill>
                        <a:schemeClr val="tx1"/>
                      </a:solidFill>
                      <a:prstDash val="solid"/>
                      <a:round/>
                      <a:headEnd type="none" w="med" len="med"/>
                      <a:tailEnd type="none" w="med" len="med"/>
                    </a:lnL>
                    <a:lnR w="12700">
                      <a:solidFill>
                        <a:schemeClr val="tx1"/>
                      </a:solidFill>
                      <a:prstDash val="soli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71</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研究经费决算情况</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noChangeAspect="1"/>
          </p:cNvGrpSpPr>
          <p:nvPr/>
        </p:nvGrpSpPr>
        <p:grpSpPr>
          <a:xfrm>
            <a:off x="304540" y="1126192"/>
            <a:ext cx="11582920" cy="4423708"/>
            <a:chOff x="1487488" y="1786592"/>
            <a:chExt cx="9201151" cy="3514071"/>
          </a:xfrm>
        </p:grpSpPr>
        <p:sp>
          <p:nvSpPr>
            <p:cNvPr id="29" name="矩形 28"/>
            <p:cNvSpPr/>
            <p:nvPr/>
          </p:nvSpPr>
          <p:spPr>
            <a:xfrm>
              <a:off x="1524000" y="3284538"/>
              <a:ext cx="9144000" cy="1998662"/>
            </a:xfrm>
            <a:prstGeom prst="rect">
              <a:avLst/>
            </a:prstGeom>
            <a:gradFill flip="none" rotWithShape="1">
              <a:gsLst>
                <a:gs pos="0">
                  <a:srgbClr val="0070C0"/>
                </a:gs>
                <a:gs pos="100000">
                  <a:srgbClr val="002F8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charset="-122"/>
                <a:cs typeface="+mn-cs"/>
              </a:endParaRPr>
            </a:p>
          </p:txBody>
        </p:sp>
        <p:grpSp>
          <p:nvGrpSpPr>
            <p:cNvPr id="70659" name="组合 14"/>
            <p:cNvGrpSpPr/>
            <p:nvPr/>
          </p:nvGrpSpPr>
          <p:grpSpPr bwMode="auto">
            <a:xfrm>
              <a:off x="1487488" y="5256213"/>
              <a:ext cx="9201151" cy="44450"/>
              <a:chOff x="-36512" y="1081950"/>
              <a:chExt cx="9201237" cy="45719"/>
            </a:xfrm>
          </p:grpSpPr>
          <p:cxnSp>
            <p:nvCxnSpPr>
              <p:cNvPr id="33" name="直接连接符 32"/>
              <p:cNvCxnSpPr/>
              <p:nvPr/>
            </p:nvCxnSpPr>
            <p:spPr bwMode="auto">
              <a:xfrm>
                <a:off x="-36512" y="1124403"/>
                <a:ext cx="9180599" cy="0"/>
              </a:xfrm>
              <a:prstGeom prst="line">
                <a:avLst/>
              </a:prstGeom>
              <a:noFill/>
              <a:ln w="9525" cap="flat" cmpd="sng" algn="ctr">
                <a:solidFill>
                  <a:schemeClr val="bg1">
                    <a:lumMod val="50000"/>
                  </a:schemeClr>
                </a:solidFill>
                <a:prstDash val="solid"/>
                <a:miter lim="800000"/>
                <a:headEnd type="none" w="med" len="med"/>
                <a:tailEnd type="none" w="med" len="med"/>
              </a:ln>
              <a:effectLst/>
            </p:spPr>
          </p:cxnSp>
          <p:sp>
            <p:nvSpPr>
              <p:cNvPr id="34" name="矩形 33"/>
              <p:cNvSpPr/>
              <p:nvPr/>
            </p:nvSpPr>
            <p:spPr bwMode="auto">
              <a:xfrm>
                <a:off x="1" y="1081950"/>
                <a:ext cx="9164724" cy="45719"/>
              </a:xfrm>
              <a:prstGeom prst="rect">
                <a:avLst/>
              </a:prstGeom>
              <a:gradFill flip="none" rotWithShape="1">
                <a:gsLst>
                  <a:gs pos="0">
                    <a:schemeClr val="bg1">
                      <a:lumMod val="95000"/>
                    </a:schemeClr>
                  </a:gs>
                  <a:gs pos="55400">
                    <a:schemeClr val="bg1"/>
                  </a:gs>
                  <a:gs pos="100000">
                    <a:srgbClr val="FFFFCC">
                      <a:alpha val="0"/>
                    </a:srgbClr>
                  </a:gs>
                </a:gsLst>
                <a:lin ang="5400000" scaled="1"/>
                <a:tileRect/>
              </a:gradFill>
              <a:ln w="9525" cap="flat" cmpd="sng" algn="ctr">
                <a:noFill/>
                <a:prstDash val="solid"/>
                <a:round/>
                <a:headEnd type="none" w="med" len="med"/>
                <a:tailEnd type="none" w="med" len="med"/>
              </a:ln>
              <a:effectLst>
                <a:outerShdw blurRad="25400" dist="12700" dir="5400000" sx="101000" sy="101000" algn="t" rotWithShape="0">
                  <a:prstClr val="black">
                    <a:alpha val="40000"/>
                  </a:prstClr>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charset="-122"/>
                  <a:cs typeface="+mn-cs"/>
                </a:endParaRPr>
              </a:p>
            </p:txBody>
          </p:sp>
        </p:grpSp>
        <p:pic>
          <p:nvPicPr>
            <p:cNvPr id="22" name="Picture 2" descr="d:\My Documents\焦页12#平台.jpg"/>
            <p:cNvPicPr>
              <a:picLocks noChangeArrowheads="1"/>
            </p:cNvPicPr>
            <p:nvPr/>
          </p:nvPicPr>
          <p:blipFill>
            <a:blip r:embed="rId1" cstate="print"/>
            <a:srcRect t="6314" r="21319" b="8766"/>
            <a:stretch>
              <a:fillRect/>
            </a:stretch>
          </p:blipFill>
          <p:spPr bwMode="auto">
            <a:xfrm>
              <a:off x="6355370"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3" name="Picture 6" descr="D:\20150506总经办汇报材料\2014年美照\2014年美照\威201井.jpg"/>
            <p:cNvPicPr>
              <a:picLocks noChangeAspect="1" noChangeArrowheads="1"/>
            </p:cNvPicPr>
            <p:nvPr/>
          </p:nvPicPr>
          <p:blipFill>
            <a:blip r:embed="rId2" cstate="print"/>
            <a:srcRect/>
            <a:stretch>
              <a:fillRect/>
            </a:stretch>
          </p:blipFill>
          <p:spPr bwMode="auto">
            <a:xfrm>
              <a:off x="4828516" y="4166252"/>
              <a:ext cx="1008357"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4" name="Picture 2" descr="D:\20150506总经办汇报材料\2014年美照\2014年美照\40亿方净化厂一期投产.bmp"/>
            <p:cNvPicPr>
              <a:picLocks noChangeArrowheads="1"/>
            </p:cNvPicPr>
            <p:nvPr/>
          </p:nvPicPr>
          <p:blipFill>
            <a:blip r:embed="rId3" cstate="print"/>
            <a:srcRect/>
            <a:stretch>
              <a:fillRect/>
            </a:stretch>
          </p:blipFill>
          <p:spPr bwMode="auto">
            <a:xfrm>
              <a:off x="78818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5" name="Picture 3" descr="D:\20150506总经办汇报材料\2014年美照\2014年美照\2014.6.29 阿姆河项目B区处理厂全厂投运成功.bmp"/>
            <p:cNvPicPr>
              <a:picLocks noChangeArrowheads="1"/>
            </p:cNvPicPr>
            <p:nvPr/>
          </p:nvPicPr>
          <p:blipFill>
            <a:blip r:embed="rId4" cstate="print"/>
            <a:srcRect/>
            <a:stretch>
              <a:fillRect/>
            </a:stretch>
          </p:blipFill>
          <p:spPr bwMode="auto">
            <a:xfrm>
              <a:off x="1775519"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6" name="Picture 4" descr="D:\20150506总经办汇报材料\2014年美照\2014年美照\2014.6.30 中国石油阿姆河第二天然气处理厂成功投运.jpg"/>
            <p:cNvPicPr>
              <a:picLocks noChangeArrowheads="1"/>
            </p:cNvPicPr>
            <p:nvPr/>
          </p:nvPicPr>
          <p:blipFill>
            <a:blip r:embed="rId5" cstate="print"/>
            <a:srcRect/>
            <a:stretch>
              <a:fillRect/>
            </a:stretch>
          </p:blipFill>
          <p:spPr bwMode="auto">
            <a:xfrm>
              <a:off x="94083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 name="Picture 7" descr="E:\2.临时任务\2012年\规划处-中石油川渝石油石化规划\PPT\fuza.jpg"/>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02017"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0666" name="Freeform 1" descr="밝은 수평선"/>
            <p:cNvSpPr/>
            <p:nvPr/>
          </p:nvSpPr>
          <p:spPr bwMode="auto">
            <a:xfrm flipV="1">
              <a:off x="1497012" y="3068638"/>
              <a:ext cx="9170988" cy="715962"/>
            </a:xfrm>
            <a:custGeom>
              <a:avLst/>
              <a:gdLst>
                <a:gd name="T0" fmla="*/ 0 w 5778"/>
                <a:gd name="T1" fmla="*/ 2147483647 h 816"/>
                <a:gd name="T2" fmla="*/ 2147483647 w 5778"/>
                <a:gd name="T3" fmla="*/ 2147483647 h 816"/>
                <a:gd name="T4" fmla="*/ 2147483647 w 5778"/>
                <a:gd name="T5" fmla="*/ 2147483647 h 816"/>
                <a:gd name="T6" fmla="*/ 2147483647 w 5778"/>
                <a:gd name="T7" fmla="*/ 2147483647 h 816"/>
                <a:gd name="T8" fmla="*/ 2147483647 w 5778"/>
                <a:gd name="T9" fmla="*/ 2147483647 h 816"/>
                <a:gd name="T10" fmla="*/ 2147483647 w 5778"/>
                <a:gd name="T11" fmla="*/ 2147483647 h 816"/>
                <a:gd name="T12" fmla="*/ 2147483647 w 5778"/>
                <a:gd name="T13" fmla="*/ 0 h 816"/>
                <a:gd name="T14" fmla="*/ 2147483647 w 5778"/>
                <a:gd name="T15" fmla="*/ 0 h 816"/>
                <a:gd name="T16" fmla="*/ 0 w 5778"/>
                <a:gd name="T17" fmla="*/ 2147483647 h 8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8"/>
                <a:gd name="T28" fmla="*/ 0 h 816"/>
                <a:gd name="T29" fmla="*/ 5778 w 5778"/>
                <a:gd name="T30" fmla="*/ 816 h 8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8" h="816">
                  <a:moveTo>
                    <a:pt x="0" y="666"/>
                  </a:moveTo>
                  <a:lnTo>
                    <a:pt x="1632" y="666"/>
                  </a:lnTo>
                  <a:lnTo>
                    <a:pt x="1632" y="816"/>
                  </a:lnTo>
                  <a:lnTo>
                    <a:pt x="5202" y="816"/>
                  </a:lnTo>
                  <a:lnTo>
                    <a:pt x="5202" y="594"/>
                  </a:lnTo>
                  <a:lnTo>
                    <a:pt x="5778" y="594"/>
                  </a:lnTo>
                  <a:lnTo>
                    <a:pt x="5778" y="0"/>
                  </a:lnTo>
                  <a:lnTo>
                    <a:pt x="6" y="0"/>
                  </a:lnTo>
                  <a:lnTo>
                    <a:pt x="0" y="666"/>
                  </a:lnTo>
                  <a:close/>
                </a:path>
              </a:pathLst>
            </a:custGeom>
            <a:pattFill prst="ltHorz">
              <a:fgClr>
                <a:schemeClr val="tx1">
                  <a:alpha val="34901"/>
                </a:schemeClr>
              </a:fgClr>
              <a:bgClr>
                <a:schemeClr val="bg1">
                  <a:alpha val="34901"/>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方正楷体简体" pitchFamily="2" charset="-122"/>
                <a:ea typeface="宋体" panose="02010600030101010101" pitchFamily="2" charset="-122"/>
                <a:cs typeface="+mn-cs"/>
              </a:endParaRPr>
            </a:p>
          </p:txBody>
        </p:sp>
        <p:pic>
          <p:nvPicPr>
            <p:cNvPr id="31" name="Picture 17" descr="logo"/>
            <p:cNvPicPr>
              <a:picLocks noChangeAspect="1" noChangeArrowheads="1"/>
            </p:cNvPicPr>
            <p:nvPr/>
          </p:nvPicPr>
          <p:blipFill>
            <a:blip r:embed="rId7"/>
            <a:srcRect/>
            <a:stretch>
              <a:fillRect/>
            </a:stretch>
          </p:blipFill>
          <p:spPr bwMode="auto">
            <a:xfrm>
              <a:off x="3071814" y="2225676"/>
              <a:ext cx="1806575" cy="1058863"/>
            </a:xfrm>
            <a:prstGeom prst="rect">
              <a:avLst/>
            </a:prstGeom>
            <a:noFill/>
            <a:ln>
              <a:noFill/>
            </a:ln>
            <a:effectLst>
              <a:outerShdw blurRad="50800" dist="38100" dir="2700000" algn="tl" rotWithShape="0">
                <a:prstClr val="black">
                  <a:alpha val="40000"/>
                </a:prstClr>
              </a:outerShdw>
            </a:effectLst>
          </p:spPr>
        </p:pic>
        <p:pic>
          <p:nvPicPr>
            <p:cNvPr id="70668"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7064" y="1786592"/>
              <a:ext cx="4032250" cy="159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tags/tag1.xml><?xml version="1.0" encoding="utf-8"?>
<p:tagLst xmlns:p="http://schemas.openxmlformats.org/presentationml/2006/main">
  <p:tag name="TABLE_ENDDRAG_ORIGIN_RECT" val="894*344"/>
  <p:tag name="TABLE_ENDDRAG_RECT" val="35*166*894*344"/>
</p:tagLst>
</file>

<file path=ppt/tags/tag2.xml><?xml version="1.0" encoding="utf-8"?>
<p:tagLst xmlns:p="http://schemas.openxmlformats.org/presentationml/2006/main">
  <p:tag name="TABLE_ENDDRAG_ORIGIN_RECT" val="446*310"/>
  <p:tag name="TABLE_ENDDRAG_RECT" val="33*166*446*310"/>
</p:tagLst>
</file>

<file path=ppt/tags/tag3.xml><?xml version="1.0" encoding="utf-8"?>
<p:tagLst xmlns:p="http://schemas.openxmlformats.org/presentationml/2006/main">
  <p:tag name="TABLE_ENDDRAG_ORIGIN_RECT" val="446*310"/>
  <p:tag name="TABLE_ENDDRAG_RECT" val="484*166*446*310"/>
</p:tagLst>
</file>

<file path=ppt/tags/tag4.xml><?xml version="1.0" encoding="utf-8"?>
<p:tagLst xmlns:p="http://schemas.openxmlformats.org/presentationml/2006/main">
  <p:tag name="TABLE_ENDDRAG_ORIGIN_RECT" val="893*232"/>
  <p:tag name="TABLE_ENDDRAG_RECT" val="33*233*893*232"/>
</p:tagLst>
</file>

<file path=ppt/tags/tag5.xml><?xml version="1.0" encoding="utf-8"?>
<p:tagLst xmlns:p="http://schemas.openxmlformats.org/presentationml/2006/main">
  <p:tag name="TABLE_ENDDRAG_ORIGIN_RECT" val="496*277"/>
  <p:tag name="TABLE_ENDDRAG_RECT" val="29*201*496*277"/>
</p:tagLst>
</file>

<file path=ppt/tags/tag6.xml><?xml version="1.0" encoding="utf-8"?>
<p:tagLst xmlns:p="http://schemas.openxmlformats.org/presentationml/2006/main">
  <p:tag name="TABLE_ENDDRAG_ORIGIN_RECT" val="382*132"/>
  <p:tag name="TABLE_ENDDRAG_RECT" val="536*201*382*132"/>
</p:tagLst>
</file>

<file path=ppt/tags/tag7.xml><?xml version="1.0" encoding="utf-8"?>
<p:tagLst xmlns:p="http://schemas.openxmlformats.org/presentationml/2006/main">
  <p:tag name="TABLE_ENDDRAG_ORIGIN_RECT" val="383*99"/>
  <p:tag name="TABLE_ENDDRAG_RECT" val="536*371*383*99"/>
</p:tagLst>
</file>

<file path=ppt/tags/tag8.xml><?xml version="1.0" encoding="utf-8"?>
<p:tagLst xmlns:p="http://schemas.openxmlformats.org/presentationml/2006/main">
  <p:tag name="TABLE_ENDDRAG_ORIGIN_RECT" val="504*300"/>
  <p:tag name="TABLE_ENDDRAG_RECT" val="426*201*504*300"/>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TABLE_ENDDRAG_ORIGIN_RECT" val="885*275"/>
  <p:tag name="TABLE_ENDDRAG_RECT" val="30*203*885*275"/>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TABLE_ENDDRAG_ORIGIN_RECT" val="885*274"/>
  <p:tag name="TABLE_ENDDRAG_RECT" val="29*204*885*274"/>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TABLE_ENDDRAG_ORIGIN_RECT" val="884*275"/>
  <p:tag name="TABLE_ENDDRAG_RECT" val="30*202*884*275"/>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TABLE_ENDDRAG_ORIGIN_RECT" val="885*274"/>
  <p:tag name="TABLE_ENDDRAG_RECT" val="29*203*885*274"/>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TABLE_ENDDRAG_ORIGIN_RECT" val="885*274"/>
  <p:tag name="TABLE_ENDDRAG_RECT" val="30*204*885*274"/>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 name="KSO_WM_DIAGRAM_VIRTUALLY_FRAME" val="{&quot;height&quot;:274.3,&quot;left&quot;:453.6554081941661,&quot;top&quot;:240.55,&quot;width&quot;:156.50241195812458}"/>
</p:tagLst>
</file>

<file path=ppt/tags/tag80.xml><?xml version="1.0" encoding="utf-8"?>
<p:tagLst xmlns:p="http://schemas.openxmlformats.org/presentationml/2006/main">
  <p:tag name="KSO_WM_BEAUTIFY_FLAG" val=""/>
  <p:tag name="KSO_WM_DIAGRAM_VIRTUALLY_FRAME" val="{&quot;height&quot;:274.3,&quot;left&quot;:453.6554081941661,&quot;top&quot;:240.55,&quot;width&quot;:156.50241195812458}"/>
</p:tagLst>
</file>

<file path=ppt/tags/tag81.xml><?xml version="1.0" encoding="utf-8"?>
<p:tagLst xmlns:p="http://schemas.openxmlformats.org/presentationml/2006/main">
  <p:tag name="KSO_WM_BEAUTIFY_FLAG" val=""/>
  <p:tag name="KSO_WM_DIAGRAM_VIRTUALLY_FRAME" val="{&quot;height&quot;:274.3,&quot;left&quot;:453.6554081941661,&quot;top&quot;:240.55,&quot;width&quot;:156.50241195812458}"/>
</p:tagLst>
</file>

<file path=ppt/tags/tag82.xml><?xml version="1.0" encoding="utf-8"?>
<p:tagLst xmlns:p="http://schemas.openxmlformats.org/presentationml/2006/main">
  <p:tag name="KSO_WM_BEAUTIFY_FLAG" val=""/>
  <p:tag name="KSO_WM_DIAGRAM_VIRTUALLY_FRAME" val="{&quot;height&quot;:274.3,&quot;left&quot;:453.6554081941661,&quot;top&quot;:240.55,&quot;width&quot;:156.50241195812458}"/>
</p:tagLst>
</file>

<file path=ppt/tags/tag83.xml><?xml version="1.0" encoding="utf-8"?>
<p:tagLst xmlns:p="http://schemas.openxmlformats.org/presentationml/2006/main">
  <p:tag name="KSO_WM_BEAUTIFY_FLAG" val=""/>
  <p:tag name="KSO_WM_DIAGRAM_VIRTUALLY_FRAME" val="{&quot;height&quot;:274.3,&quot;left&quot;:453.6554081941661,&quot;top&quot;:240.55,&quot;width&quot;:156.50241195812458}"/>
</p:tagLst>
</file>

<file path=ppt/tags/tag84.xml><?xml version="1.0" encoding="utf-8"?>
<p:tagLst xmlns:p="http://schemas.openxmlformats.org/presentationml/2006/main">
  <p:tag name="KSO_WM_BEAUTIFY_FLAG" val=""/>
  <p:tag name="KSO_WM_DIAGRAM_VIRTUALLY_FRAME" val="{&quot;height&quot;:274.3,&quot;left&quot;:453.6554081941661,&quot;top&quot;:240.55,&quot;width&quot;:156.50241195812458}"/>
</p:tagLst>
</file>

<file path=ppt/tags/tag85.xml><?xml version="1.0" encoding="utf-8"?>
<p:tagLst xmlns:p="http://schemas.openxmlformats.org/presentationml/2006/main">
  <p:tag name="KSO_WM_BEAUTIFY_FLAG" val=""/>
  <p:tag name="KSO_WM_DIAGRAM_VIRTUALLY_FRAME" val="{&quot;height&quot;:274.3,&quot;left&quot;:453.6554081941661,&quot;top&quot;:240.55,&quot;width&quot;:156.50241195812458}"/>
</p:tagLst>
</file>

<file path=ppt/tags/tag86.xml><?xml version="1.0" encoding="utf-8"?>
<p:tagLst xmlns:p="http://schemas.openxmlformats.org/presentationml/2006/main">
  <p:tag name="KSO_WM_BEAUTIFY_FLAG" val=""/>
  <p:tag name="KSO_WM_DIAGRAM_VIRTUALLY_FRAME" val="{&quot;height&quot;:274.3,&quot;left&quot;:453.6554081941661,&quot;top&quot;:240.55,&quot;width&quot;:156.50241195812458}"/>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TABLE_ENDDRAG_ORIGIN_RECT" val="884*274"/>
  <p:tag name="TABLE_ENDDRAG_RECT" val="30*203*884*274"/>
</p:tagLst>
</file>

<file path=ppt/tags/tag89.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90.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91.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92.xml><?xml version="1.0" encoding="utf-8"?>
<p:tagLst xmlns:p="http://schemas.openxmlformats.org/presentationml/2006/main">
  <p:tag name="TABLE_ENDDRAG_ORIGIN_RECT" val="898*362"/>
  <p:tag name="TABLE_ENDDRAG_RECT" val="26*106*898*362"/>
</p:tagLst>
</file>

<file path=ppt/tags/tag93.xml><?xml version="1.0" encoding="utf-8"?>
<p:tagLst xmlns:p="http://schemas.openxmlformats.org/presentationml/2006/main">
  <p:tag name="KSO_WM_DIAGRAM_VIRTUALLY_FRAME" val="{&quot;height&quot;:280.57409448818896,&quot;left&quot;:-88.78110236220473,&quot;top&quot;:219.23598425196852,&quot;width&quot;:1041.3562992125985}"/>
</p:tagLst>
</file>

<file path=ppt/tags/tag94.xml><?xml version="1.0" encoding="utf-8"?>
<p:tagLst xmlns:p="http://schemas.openxmlformats.org/presentationml/2006/main">
  <p:tag name="KSO_WM_DIAGRAM_VIRTUALLY_FRAME" val="{&quot;height&quot;:280.57409448818896,&quot;left&quot;:-88.78110236220473,&quot;top&quot;:219.23598425196852,&quot;width&quot;:1041.3562992125985}"/>
</p:tagLst>
</file>

<file path=ppt/tags/tag95.xml><?xml version="1.0" encoding="utf-8"?>
<p:tagLst xmlns:p="http://schemas.openxmlformats.org/presentationml/2006/main">
  <p:tag name="KSO_WM_DIAGRAM_VIRTUALLY_FRAME" val="{&quot;height&quot;:280.57409448818896,&quot;left&quot;:-88.78110236220473,&quot;top&quot;:219.23598425196852,&quot;width&quot;:1041.3562992125985}"/>
</p:tagLst>
</file>

<file path=ppt/tags/tag96.xml><?xml version="1.0" encoding="utf-8"?>
<p:tagLst xmlns:p="http://schemas.openxmlformats.org/presentationml/2006/main">
  <p:tag name="KSO_WM_DIAGRAM_VIRTUALLY_FRAME" val="{&quot;height&quot;:280.57409448818896,&quot;left&quot;:-88.78110236220473,&quot;top&quot;:219.23598425196852,&quot;width&quot;:1041.3562992125985}"/>
</p:tagLst>
</file>

<file path=ppt/tags/tag97.xml><?xml version="1.0" encoding="utf-8"?>
<p:tagLst xmlns:p="http://schemas.openxmlformats.org/presentationml/2006/main">
  <p:tag name="KSO_WM_UNIT_TABLE_BEAUTIFY" val="smartTable{fb16fdf2-4df6-493c-8b12-ada92bf71135}"/>
  <p:tag name="TABLE_ENDDRAG_ORIGIN_RECT" val="872*403"/>
  <p:tag name="TABLE_ENDDRAG_RECT" val="29*110*872*403"/>
  <p:tag name="TABLE_RECT" val="57.825*164.409*844.35*300.8"/>
  <p:tag name="TABLE_EMPHASIZE_COLOR" val="6579300"/>
  <p:tag name="TABLE_ONEKEY_SKIN_IDX" val="0"/>
  <p:tag name="TABLE_SKINIDX" val="-1"/>
  <p:tag name="TABLE_COLORIDX" val="l"/>
</p:tagLst>
</file>

<file path=ppt/tags/tag98.xml><?xml version="1.0" encoding="utf-8"?>
<p:tagLst xmlns:p="http://schemas.openxmlformats.org/presentationml/2006/main">
  <p:tag name="KSO_WM_DIAGRAM_VIRTUALLY_FRAME" val="{&quot;height&quot;:277.1809448818898,&quot;left&quot;:44.4,&quot;top&quot;:221.6255118110236,&quot;width&quot;:864.455905511811}"/>
</p:tagLst>
</file>

<file path=ppt/tags/tag99.xml><?xml version="1.0" encoding="utf-8"?>
<p:tagLst xmlns:p="http://schemas.openxmlformats.org/presentationml/2006/main">
  <p:tag name="KSO_WM_DIAGRAM_VIRTUALLY_FRAME" val="{&quot;height&quot;:277.1809448818898,&quot;left&quot;:44.4,&quot;top&quot;:221.6255118110236,&quot;width&quot;:864.455905511811}"/>
</p:tagLst>
</file>

<file path=ppt/tags/tag100.xml><?xml version="1.0" encoding="utf-8"?>
<p:tagLst xmlns:p="http://schemas.openxmlformats.org/presentationml/2006/main">
  <p:tag name="KSO_WM_DIAGRAM_VIRTUALLY_FRAME" val="{&quot;height&quot;:277.1809448818898,&quot;left&quot;:44.4,&quot;top&quot;:221.6255118110236,&quot;width&quot;:864.455905511811}"/>
</p:tagLst>
</file>

<file path=ppt/tags/tag101.xml><?xml version="1.0" encoding="utf-8"?>
<p:tagLst xmlns:p="http://schemas.openxmlformats.org/presentationml/2006/main">
  <p:tag name="KSO_WM_DIAGRAM_VIRTUALLY_FRAME" val="{&quot;height&quot;:277.1809448818898,&quot;left&quot;:44.4,&quot;top&quot;:221.6255118110236,&quot;width&quot;:864.455905511811}"/>
</p:tagLst>
</file>

<file path=ppt/tags/tag102.xml><?xml version="1.0" encoding="utf-8"?>
<p:tagLst xmlns:p="http://schemas.openxmlformats.org/presentationml/2006/main">
  <p:tag name="KSO_WM_DIAGRAM_VIRTUALLY_FRAME" val="{&quot;height&quot;:277.1809448818898,&quot;left&quot;:44.4,&quot;top&quot;:221.6255118110236,&quot;width&quot;:864.455905511811}"/>
</p:tagLst>
</file>

<file path=ppt/tags/tag103.xml><?xml version="1.0" encoding="utf-8"?>
<p:tagLst xmlns:p="http://schemas.openxmlformats.org/presentationml/2006/main">
  <p:tag name="TABLE_ENDDRAG_ORIGIN_RECT" val="455*278"/>
  <p:tag name="TABLE_ENDDRAG_RECT" val="474*200*455*278"/>
</p:tagLst>
</file>

<file path=ppt/tags/tag104.xml><?xml version="1.0" encoding="utf-8"?>
<p:tagLst xmlns:p="http://schemas.openxmlformats.org/presentationml/2006/main">
  <p:tag name="TABLE_ENDDRAG_ORIGIN_RECT" val="922*273"/>
  <p:tag name="TABLE_ENDDRAG_RECT" val="8*429*922*273"/>
</p:tagLst>
</file>

<file path=ppt/tags/tag105.xml><?xml version="1.0" encoding="utf-8"?>
<p:tagLst xmlns:p="http://schemas.openxmlformats.org/presentationml/2006/main">
  <p:tag name="KSO_WM_DIAGRAM_VIRTUALLY_FRAME" val="{&quot;height&quot;:296.4,&quot;left&quot;:18,&quot;top&quot;:201.75,&quot;width&quot;:676.2}"/>
</p:tagLst>
</file>

<file path=ppt/tags/tag106.xml><?xml version="1.0" encoding="utf-8"?>
<p:tagLst xmlns:p="http://schemas.openxmlformats.org/presentationml/2006/main">
  <p:tag name="KSO_WM_DIAGRAM_VIRTUALLY_FRAME" val="{&quot;height&quot;:296.4,&quot;left&quot;:18,&quot;top&quot;:201.75,&quot;width&quot;:676.2}"/>
</p:tagLst>
</file>

<file path=ppt/tags/tag107.xml><?xml version="1.0" encoding="utf-8"?>
<p:tagLst xmlns:p="http://schemas.openxmlformats.org/presentationml/2006/main">
  <p:tag name="TABLE_ENDDRAG_ORIGIN_RECT" val="889*276"/>
  <p:tag name="TABLE_ENDDRAG_RECT" val="29*201*889*276"/>
</p:tagLst>
</file>

<file path=ppt/tags/tag108.xml><?xml version="1.0" encoding="utf-8"?>
<p:tagLst xmlns:p="http://schemas.openxmlformats.org/presentationml/2006/main">
  <p:tag name="KSO_WM_DIAGRAM_VIRTUALLY_FRAME" val="{&quot;height&quot;:296.4,&quot;left&quot;:18,&quot;top&quot;:201.75,&quot;width&quot;:676.2}"/>
</p:tagLst>
</file>

<file path=ppt/tags/tag109.xml><?xml version="1.0" encoding="utf-8"?>
<p:tagLst xmlns:p="http://schemas.openxmlformats.org/presentationml/2006/main">
  <p:tag name="KSO_WM_DIAGRAM_VIRTUALLY_FRAME" val="{&quot;height&quot;:296.4,&quot;left&quot;:18,&quot;top&quot;:201.75,&quot;width&quot;:676.2}"/>
</p:tagLst>
</file>

<file path=ppt/tags/tag110.xml><?xml version="1.0" encoding="utf-8"?>
<p:tagLst xmlns:p="http://schemas.openxmlformats.org/presentationml/2006/main">
  <p:tag name="TABLE_ENDDRAG_ORIGIN_RECT" val="889*275"/>
  <p:tag name="TABLE_ENDDRAG_RECT" val="29*201*889*275"/>
</p:tagLst>
</file>

<file path=ppt/tags/tag111.xml><?xml version="1.0" encoding="utf-8"?>
<p:tagLst xmlns:p="http://schemas.openxmlformats.org/presentationml/2006/main">
  <p:tag name="KSO_WM_DIAGRAM_VIRTUALLY_FRAME" val="{&quot;height&quot;:296.4,&quot;left&quot;:18,&quot;top&quot;:201.75,&quot;width&quot;:676.2}"/>
</p:tagLst>
</file>

<file path=ppt/tags/tag112.xml><?xml version="1.0" encoding="utf-8"?>
<p:tagLst xmlns:p="http://schemas.openxmlformats.org/presentationml/2006/main">
  <p:tag name="TABLE_ENDDRAG_ORIGIN_RECT" val="441*306"/>
  <p:tag name="TABLE_ENDDRAG_RECT" val="29*172*441*306"/>
</p:tagLst>
</file>

<file path=ppt/tags/tag113.xml><?xml version="1.0" encoding="utf-8"?>
<p:tagLst xmlns:p="http://schemas.openxmlformats.org/presentationml/2006/main">
  <p:tag name="KSO_WM_DIAGRAM_VIRTUALLY_FRAME" val="{&quot;height&quot;:296.4,&quot;left&quot;:18,&quot;top&quot;:201.75,&quot;width&quot;:676.2}"/>
</p:tagLst>
</file>

<file path=ppt/tags/tag114.xml><?xml version="1.0" encoding="utf-8"?>
<p:tagLst xmlns:p="http://schemas.openxmlformats.org/presentationml/2006/main">
  <p:tag name="TABLE_ENDDRAG_ORIGIN_RECT" val="440*301"/>
  <p:tag name="TABLE_ENDDRAG_RECT" val="29*176*440*301"/>
</p:tagLst>
</file>

<file path=ppt/tags/tag115.xml><?xml version="1.0" encoding="utf-8"?>
<p:tagLst xmlns:p="http://schemas.openxmlformats.org/presentationml/2006/main">
  <p:tag name="KSO_WM_DIAGRAM_VIRTUALLY_FRAME" val="{&quot;height&quot;:296.4,&quot;left&quot;:18,&quot;top&quot;:201.75,&quot;width&quot;:676.2}"/>
</p:tagLst>
</file>

<file path=ppt/tags/tag116.xml><?xml version="1.0" encoding="utf-8"?>
<p:tagLst xmlns:p="http://schemas.openxmlformats.org/presentationml/2006/main">
  <p:tag name="KSO_WM_DIAGRAM_VIRTUALLY_FRAME" val="{&quot;height&quot;:296.4,&quot;left&quot;:18,&quot;top&quot;:201.75,&quot;width&quot;:676.2}"/>
</p:tagLst>
</file>

<file path=ppt/tags/tag117.xml><?xml version="1.0" encoding="utf-8"?>
<p:tagLst xmlns:p="http://schemas.openxmlformats.org/presentationml/2006/main">
  <p:tag name="TABLE_ENDDRAG_ORIGIN_RECT" val="889*275"/>
  <p:tag name="TABLE_ENDDRAG_RECT" val="29*217*889*275"/>
</p:tagLst>
</file>

<file path=ppt/tags/tag118.xml><?xml version="1.0" encoding="utf-8"?>
<p:tagLst xmlns:p="http://schemas.openxmlformats.org/presentationml/2006/main">
  <p:tag name="KSO_WM_DIAGRAM_VIRTUALLY_FRAME" val="{&quot;height&quot;:296.4,&quot;left&quot;:18,&quot;top&quot;:201.75,&quot;width&quot;:676.2}"/>
</p:tagLst>
</file>

<file path=ppt/tags/tag119.xml><?xml version="1.0" encoding="utf-8"?>
<p:tagLst xmlns:p="http://schemas.openxmlformats.org/presentationml/2006/main">
  <p:tag name="KSO_WM_DIAGRAM_VIRTUALLY_FRAME" val="{&quot;height&quot;:296.4,&quot;left&quot;:18,&quot;top&quot;:201.75,&quot;width&quot;:676.2}"/>
</p:tagLst>
</file>

<file path=ppt/tags/tag120.xml><?xml version="1.0" encoding="utf-8"?>
<p:tagLst xmlns:p="http://schemas.openxmlformats.org/presentationml/2006/main">
  <p:tag name="TABLE_ENDDRAG_ORIGIN_RECT" val="886*275"/>
  <p:tag name="TABLE_ENDDRAG_RECT" val="29*202*886*275"/>
</p:tagLst>
</file>

<file path=ppt/tags/tag121.xml><?xml version="1.0" encoding="utf-8"?>
<p:tagLst xmlns:p="http://schemas.openxmlformats.org/presentationml/2006/main">
  <p:tag name="KSO_WM_DIAGRAM_VIRTUALLY_FRAME" val="{&quot;height&quot;:296.4,&quot;left&quot;:18,&quot;top&quot;:201.75,&quot;width&quot;:676.2}"/>
</p:tagLst>
</file>

<file path=ppt/tags/tag122.xml><?xml version="1.0" encoding="utf-8"?>
<p:tagLst xmlns:p="http://schemas.openxmlformats.org/presentationml/2006/main">
  <p:tag name="KSO_WM_DIAGRAM_VIRTUALLY_FRAME" val="{&quot;height&quot;:296.4,&quot;left&quot;:18,&quot;top&quot;:201.75,&quot;width&quot;:676.2}"/>
</p:tagLst>
</file>

<file path=ppt/tags/tag123.xml><?xml version="1.0" encoding="utf-8"?>
<p:tagLst xmlns:p="http://schemas.openxmlformats.org/presentationml/2006/main">
  <p:tag name="KSO_WM_DIAGRAM_VIRTUALLY_FRAME" val="{&quot;height&quot;:436.2542519685039,&quot;left&quot;:23.1,&quot;top&quot;:134.89574803149605,&quot;width&quot;:948.6}"/>
</p:tagLst>
</file>

<file path=ppt/tags/tag124.xml><?xml version="1.0" encoding="utf-8"?>
<p:tagLst xmlns:p="http://schemas.openxmlformats.org/presentationml/2006/main">
  <p:tag name="KSO_WM_DIAGRAM_VIRTUALLY_FRAME" val="{&quot;height&quot;:436.2542519685039,&quot;left&quot;:23.1,&quot;top&quot;:134.89574803149605,&quot;width&quot;:948.6}"/>
</p:tagLst>
</file>

<file path=ppt/tags/tag125.xml><?xml version="1.0" encoding="utf-8"?>
<p:tagLst xmlns:p="http://schemas.openxmlformats.org/presentationml/2006/main">
  <p:tag name="KSO_WM_DIAGRAM_VIRTUALLY_FRAME" val="{&quot;height&quot;:436.2542519685039,&quot;left&quot;:23.1,&quot;top&quot;:134.89574803149605,&quot;width&quot;:948.6}"/>
</p:tagLst>
</file>

<file path=ppt/tags/tag126.xml><?xml version="1.0" encoding="utf-8"?>
<p:tagLst xmlns:p="http://schemas.openxmlformats.org/presentationml/2006/main">
  <p:tag name="KSO_WM_DIAGRAM_VIRTUALLY_FRAME" val="{&quot;height&quot;:436.2542519685039,&quot;left&quot;:23.1,&quot;top&quot;:134.89574803149605,&quot;width&quot;:948.6}"/>
</p:tagLst>
</file>

<file path=ppt/tags/tag127.xml><?xml version="1.0" encoding="utf-8"?>
<p:tagLst xmlns:p="http://schemas.openxmlformats.org/presentationml/2006/main">
  <p:tag name="KSO_WM_DIAGRAM_VIRTUALLY_FRAME" val="{&quot;height&quot;:436.2542519685039,&quot;left&quot;:23.1,&quot;top&quot;:134.89574803149605,&quot;width&quot;:948.6}"/>
</p:tagLst>
</file>

<file path=ppt/tags/tag128.xml><?xml version="1.0" encoding="utf-8"?>
<p:tagLst xmlns:p="http://schemas.openxmlformats.org/presentationml/2006/main">
  <p:tag name="KSO_WM_DIAGRAM_VIRTUALLY_FRAME" val="{&quot;height&quot;:436.2542519685039,&quot;left&quot;:23.1,&quot;top&quot;:134.89574803149605,&quot;width&quot;:948.6}"/>
</p:tagLst>
</file>

<file path=ppt/tags/tag129.xml><?xml version="1.0" encoding="utf-8"?>
<p:tagLst xmlns:p="http://schemas.openxmlformats.org/presentationml/2006/main">
  <p:tag name="KSO_WM_DIAGRAM_VIRTUALLY_FRAME" val="{&quot;height&quot;:436.2542519685039,&quot;left&quot;:23.1,&quot;top&quot;:134.89574803149605,&quot;width&quot;:948.6}"/>
</p:tagLst>
</file>

<file path=ppt/tags/tag130.xml><?xml version="1.0" encoding="utf-8"?>
<p:tagLst xmlns:p="http://schemas.openxmlformats.org/presentationml/2006/main">
  <p:tag name="KSO_WM_DIAGRAM_VIRTUALLY_FRAME" val="{&quot;height&quot;:436.2542519685039,&quot;left&quot;:23.1,&quot;top&quot;:134.89574803149605,&quot;width&quot;:948.6}"/>
</p:tagLst>
</file>

<file path=ppt/tags/tag131.xml><?xml version="1.0" encoding="utf-8"?>
<p:tagLst xmlns:p="http://schemas.openxmlformats.org/presentationml/2006/main">
  <p:tag name="KSO_WM_DIAGRAM_VIRTUALLY_FRAME" val="{&quot;height&quot;:436.2542519685039,&quot;left&quot;:23.1,&quot;top&quot;:134.89574803149605,&quot;width&quot;:948.6}"/>
</p:tagLst>
</file>

<file path=ppt/tags/tag132.xml><?xml version="1.0" encoding="utf-8"?>
<p:tagLst xmlns:p="http://schemas.openxmlformats.org/presentationml/2006/main">
  <p:tag name="KSO_WM_DIAGRAM_VIRTUALLY_FRAME" val="{&quot;height&quot;:436.2542519685039,&quot;left&quot;:23.1,&quot;top&quot;:134.89574803149605,&quot;width&quot;:948.6}"/>
</p:tagLst>
</file>

<file path=ppt/tags/tag133.xml><?xml version="1.0" encoding="utf-8"?>
<p:tagLst xmlns:p="http://schemas.openxmlformats.org/presentationml/2006/main">
  <p:tag name="KSO_WM_DIAGRAM_VIRTUALLY_FRAME" val="{&quot;height&quot;:436.2542519685039,&quot;left&quot;:23.1,&quot;top&quot;:134.89574803149605,&quot;width&quot;:948.6}"/>
</p:tagLst>
</file>

<file path=ppt/tags/tag134.xml><?xml version="1.0" encoding="utf-8"?>
<p:tagLst xmlns:p="http://schemas.openxmlformats.org/presentationml/2006/main">
  <p:tag name="KSO_WM_DIAGRAM_VIRTUALLY_FRAME" val="{&quot;height&quot;:436.2542519685039,&quot;left&quot;:23.1,&quot;top&quot;:134.89574803149605,&quot;width&quot;:948.6}"/>
</p:tagLst>
</file>

<file path=ppt/tags/tag135.xml><?xml version="1.0" encoding="utf-8"?>
<p:tagLst xmlns:p="http://schemas.openxmlformats.org/presentationml/2006/main">
  <p:tag name="KSO_WM_DIAGRAM_VIRTUALLY_FRAME" val="{&quot;height&quot;:381.6345669291339,&quot;left&quot;:23.1,&quot;top&quot;:134.89574803149605,&quot;width&quot;:913.8}"/>
</p:tagLst>
</file>

<file path=ppt/tags/tag136.xml><?xml version="1.0" encoding="utf-8"?>
<p:tagLst xmlns:p="http://schemas.openxmlformats.org/presentationml/2006/main">
  <p:tag name="KSO_WM_DIAGRAM_VIRTUALLY_FRAME" val="{&quot;height&quot;:381.6345669291339,&quot;left&quot;:23.1,&quot;top&quot;:134.89574803149605,&quot;width&quot;:913.8}"/>
</p:tagLst>
</file>

<file path=ppt/tags/tag137.xml><?xml version="1.0" encoding="utf-8"?>
<p:tagLst xmlns:p="http://schemas.openxmlformats.org/presentationml/2006/main">
  <p:tag name="KSO_WM_DIAGRAM_VIRTUALLY_FRAME" val="{&quot;height&quot;:296.4,&quot;left&quot;:18,&quot;top&quot;:201.75,&quot;width&quot;:676.2}"/>
</p:tagLst>
</file>

<file path=ppt/tags/tag138.xml><?xml version="1.0" encoding="utf-8"?>
<p:tagLst xmlns:p="http://schemas.openxmlformats.org/presentationml/2006/main">
  <p:tag name="KSO_WM_DIAGRAM_VIRTUALLY_FRAME" val="{&quot;height&quot;:296.4,&quot;left&quot;:18,&quot;top&quot;:201.75,&quot;width&quot;:676.2}"/>
</p:tagLst>
</file>

<file path=ppt/tags/tag139.xml><?xml version="1.0" encoding="utf-8"?>
<p:tagLst xmlns:p="http://schemas.openxmlformats.org/presentationml/2006/main">
  <p:tag name="KSO_WM_DIAGRAM_VIRTUALLY_FRAME" val="{&quot;height&quot;:296.4,&quot;left&quot;:18,&quot;top&quot;:201.75,&quot;width&quot;:676.2}"/>
</p:tagLst>
</file>

<file path=ppt/tags/tag140.xml><?xml version="1.0" encoding="utf-8"?>
<p:tagLst xmlns:p="http://schemas.openxmlformats.org/presentationml/2006/main">
  <p:tag name="KSO_WM_DIAGRAM_VIRTUALLY_FRAME" val="{&quot;height&quot;:296.4,&quot;left&quot;:18,&quot;top&quot;:201.75,&quot;width&quot;:676.2}"/>
</p:tagLst>
</file>

<file path=ppt/tags/tag141.xml><?xml version="1.0" encoding="utf-8"?>
<p:tagLst xmlns:p="http://schemas.openxmlformats.org/presentationml/2006/main">
  <p:tag name="KSO_WM_DIAGRAM_VIRTUALLY_FRAME" val="{&quot;height&quot;:296.4,&quot;left&quot;:18,&quot;top&quot;:201.75,&quot;width&quot;:676.2}"/>
</p:tagLst>
</file>

<file path=ppt/tags/tag142.xml><?xml version="1.0" encoding="utf-8"?>
<p:tagLst xmlns:p="http://schemas.openxmlformats.org/presentationml/2006/main">
  <p:tag name="KSO_WM_DIAGRAM_VIRTUALLY_FRAME" val="{&quot;height&quot;:296.4,&quot;left&quot;:18,&quot;top&quot;:201.75,&quot;width&quot;:676.2}"/>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TABLE_ENDDRAG_ORIGIN_RECT" val="890*273"/>
  <p:tag name="TABLE_ENDDRAG_RECT" val="29*204*890*273"/>
</p:tagLst>
</file>

<file path=ppt/tags/tag146.xml><?xml version="1.0" encoding="utf-8"?>
<p:tagLst xmlns:p="http://schemas.openxmlformats.org/presentationml/2006/main">
  <p:tag name="TABLE_ENDDRAG_ORIGIN_RECT" val="888*274"/>
  <p:tag name="TABLE_ENDDRAG_RECT" val="29*204*888*274"/>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TABLE_ENDDRAG_ORIGIN_RECT" val="891*268"/>
  <p:tag name="TABLE_ENDDRAG_RECT" val="29*209*891*268"/>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TABLE_ENDDRAG_ORIGIN_RECT" val="890*368"/>
  <p:tag name="TABLE_ENDDRAG_RECT" val="29*110*890*368"/>
</p:tagLst>
</file>

<file path=ppt/tags/tag151.xml><?xml version="1.0" encoding="utf-8"?>
<p:tagLst xmlns:p="http://schemas.openxmlformats.org/presentationml/2006/main">
  <p:tag name="TABLE_ENDDRAG_ORIGIN_RECT" val="888*358"/>
  <p:tag name="TABLE_ENDDRAG_RECT" val="29*119*888*358"/>
</p:tagLst>
</file>

<file path=ppt/tags/tag152.xml><?xml version="1.0" encoding="utf-8"?>
<p:tagLst xmlns:p="http://schemas.openxmlformats.org/presentationml/2006/main">
  <p:tag name="RESOURCE_RECORD_KEY" val="{&quot;29&quot;:[50053052,50053044]}"/>
</p:tagLst>
</file>

<file path=ppt/theme/theme1.xml><?xml version="1.0" encoding="utf-8"?>
<a:theme xmlns:a="http://schemas.openxmlformats.org/drawingml/2006/main" name="6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2000000000000000000"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2000000000000000000" pitchFamily="65" charset="-122"/>
            <a:ea typeface="方正大黑简体" panose="02000000000000000000"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29314</Words>
  <Application>WPS 演示</Application>
  <PresentationFormat>宽屏</PresentationFormat>
  <Paragraphs>4578</Paragraphs>
  <Slides>94</Slides>
  <Notes>60</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6</vt:i4>
      </vt:variant>
      <vt:variant>
        <vt:lpstr>幻灯片标题</vt:lpstr>
      </vt:variant>
      <vt:variant>
        <vt:i4>94</vt:i4>
      </vt:variant>
    </vt:vector>
  </HeadingPairs>
  <TitlesOfParts>
    <vt:vector size="123" baseType="lpstr">
      <vt:lpstr>Arial</vt:lpstr>
      <vt:lpstr>宋体</vt:lpstr>
      <vt:lpstr>Wingdings</vt:lpstr>
      <vt:lpstr>Tahoma</vt:lpstr>
      <vt:lpstr>方正大黑简体</vt:lpstr>
      <vt:lpstr>黑体</vt:lpstr>
      <vt:lpstr>Arial</vt:lpstr>
      <vt:lpstr>Tahoma</vt:lpstr>
      <vt:lpstr>楷体</vt:lpstr>
      <vt:lpstr>微软雅黑</vt:lpstr>
      <vt:lpstr>Times New Roman</vt:lpstr>
      <vt:lpstr>方正粗宋简体</vt:lpstr>
      <vt:lpstr>Arial Unicode MS</vt:lpstr>
      <vt:lpstr>等线</vt:lpstr>
      <vt:lpstr>Wingdings</vt:lpstr>
      <vt:lpstr>楷体_GB2312</vt:lpstr>
      <vt:lpstr>Calibri</vt:lpstr>
      <vt:lpstr>微软雅黑</vt:lpstr>
      <vt:lpstr>方正楷体简体</vt:lpstr>
      <vt:lpstr>新宋体</vt:lpstr>
      <vt:lpstr>方正楷体简体</vt:lpstr>
      <vt:lpstr>楷体_GB2312</vt:lpstr>
      <vt:lpstr>6_Blends</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 浩勇</dc:creator>
  <cp:lastModifiedBy>Tan Wenlu</cp:lastModifiedBy>
  <cp:revision>3617</cp:revision>
  <dcterms:created xsi:type="dcterms:W3CDTF">2021-06-29T01:23:00Z</dcterms:created>
  <dcterms:modified xsi:type="dcterms:W3CDTF">2025-12-30T01:05:39Z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1417FBEC099442DABB9C26914E9A72FA_13</vt:lpwstr>
  </property>
</Properties>
</file>