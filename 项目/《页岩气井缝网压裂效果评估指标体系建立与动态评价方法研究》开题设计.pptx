
<file path=[Content_Types].xml><?xml version="1.0" encoding="utf-8"?>
<Types xmlns="http://schemas.openxmlformats.org/package/2006/content-types">
  <Default Extension="png" ContentType="image/png"/>
  <Default Extension="jpeg" ContentType="image/jpeg"/>
  <Default Extension="JPG" ContentType="image/.jp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4" r:id="rId3"/>
  </p:sldMasterIdLst>
  <p:notesMasterIdLst>
    <p:notesMasterId r:id="rId5"/>
  </p:notesMasterIdLst>
  <p:handoutMasterIdLst>
    <p:handoutMasterId r:id="rId50"/>
  </p:handoutMasterIdLst>
  <p:sldIdLst>
    <p:sldId id="7032" r:id="rId4"/>
    <p:sldId id="7033" r:id="rId6"/>
    <p:sldId id="7086" r:id="rId7"/>
    <p:sldId id="7087" r:id="rId8"/>
    <p:sldId id="7094" r:id="rId9"/>
    <p:sldId id="7096" r:id="rId10"/>
    <p:sldId id="7097" r:id="rId11"/>
    <p:sldId id="7098" r:id="rId12"/>
    <p:sldId id="7171" r:id="rId13"/>
    <p:sldId id="7172" r:id="rId14"/>
    <p:sldId id="7162" r:id="rId15"/>
    <p:sldId id="7174" r:id="rId16"/>
    <p:sldId id="7173" r:id="rId17"/>
    <p:sldId id="7175" r:id="rId18"/>
    <p:sldId id="7177" r:id="rId19"/>
    <p:sldId id="7164" r:id="rId20"/>
    <p:sldId id="7190" r:id="rId21"/>
    <p:sldId id="7165" r:id="rId22"/>
    <p:sldId id="7176" r:id="rId23"/>
    <p:sldId id="7192" r:id="rId24"/>
    <p:sldId id="7193" r:id="rId25"/>
    <p:sldId id="7194" r:id="rId26"/>
    <p:sldId id="7195" r:id="rId27"/>
    <p:sldId id="7196" r:id="rId28"/>
    <p:sldId id="7197" r:id="rId29"/>
    <p:sldId id="7191" r:id="rId30"/>
    <p:sldId id="7166" r:id="rId31"/>
    <p:sldId id="7167" r:id="rId32"/>
    <p:sldId id="7199" r:id="rId33"/>
    <p:sldId id="7168" r:id="rId34"/>
    <p:sldId id="7200" r:id="rId35"/>
    <p:sldId id="7169" r:id="rId36"/>
    <p:sldId id="7170" r:id="rId37"/>
    <p:sldId id="7070" r:id="rId38"/>
    <p:sldId id="7202" r:id="rId39"/>
    <p:sldId id="7203" r:id="rId40"/>
    <p:sldId id="7141" r:id="rId41"/>
    <p:sldId id="7201" r:id="rId42"/>
    <p:sldId id="7074" r:id="rId43"/>
    <p:sldId id="7076" r:id="rId44"/>
    <p:sldId id="7077" r:id="rId45"/>
    <p:sldId id="7078" r:id="rId46"/>
    <p:sldId id="7158" r:id="rId47"/>
    <p:sldId id="7084" r:id="rId48"/>
    <p:sldId id="7081" r:id="rId49"/>
  </p:sldIdLst>
  <p:sldSz cx="12192000" cy="6858000"/>
  <p:notesSz cx="6858000" cy="9144000"/>
  <p:custDataLst>
    <p:tags r:id="rId5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792" userDrawn="1">
          <p15:clr>
            <a:srgbClr val="A4A3A4"/>
          </p15:clr>
        </p15:guide>
        <p15:guide id="5" orient="horz" pos="3764" userDrawn="1">
          <p15:clr>
            <a:srgbClr val="A4A3A4"/>
          </p15:clr>
        </p15:guide>
        <p15:guide id="7" orient="horz" pos="496" userDrawn="1">
          <p15:clr>
            <a:srgbClr val="A4A3A4"/>
          </p15:clr>
        </p15:guide>
        <p15:guide id="9" pos="201" userDrawn="1">
          <p15:clr>
            <a:srgbClr val="A4A3A4"/>
          </p15:clr>
        </p15:guide>
        <p15:guide id="11" pos="747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白 亚超" initials="白"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00FF"/>
    <a:srgbClr val="F2F2F2"/>
    <a:srgbClr val="54CAF5"/>
    <a:srgbClr val="FFFF6B"/>
    <a:srgbClr val="FF00FF"/>
    <a:srgbClr val="000066"/>
    <a:srgbClr val="000099"/>
    <a:srgbClr val="0000CC"/>
    <a:srgbClr val="99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49057D6-A040-4FB9-BCD0-E30176C24EAC}" styleName="表样式 1 25">
    <a:wholeTbl>
      <a:tcTxStyle>
        <a:fontRef idx="none">
          <a:srgbClr val="000000"/>
        </a:fontRef>
      </a:tcTxStyle>
      <a:tcStyle>
        <a:tcBdr>
          <a:left>
            <a:ln w="9525" cmpd="sng">
              <a:solidFill>
                <a:srgbClr val="808080"/>
              </a:solidFill>
              <a:prstDash val="solid"/>
            </a:ln>
          </a:left>
          <a:right>
            <a:ln w="9525" cmpd="sng">
              <a:solidFill>
                <a:srgbClr val="808080"/>
              </a:solidFill>
              <a:prstDash val="solid"/>
            </a:ln>
          </a:right>
          <a:top>
            <a:ln w="9525" cmpd="sng">
              <a:solidFill>
                <a:srgbClr val="808080"/>
              </a:solidFill>
              <a:prstDash val="solid"/>
            </a:ln>
          </a:top>
          <a:bottom>
            <a:ln w="9525" cmpd="sng">
              <a:solidFill>
                <a:srgbClr val="808080"/>
              </a:solidFill>
              <a:prstDash val="solid"/>
            </a:ln>
          </a:bottom>
          <a:insideH>
            <a:ln w="9525" cmpd="sng">
              <a:solidFill>
                <a:srgbClr val="808080">
                  <a:lumMod val="40000"/>
                  <a:lumOff val="60000"/>
                </a:srgbClr>
              </a:solidFill>
              <a:prstDash val="solid"/>
            </a:ln>
          </a:insideH>
          <a:insideV>
            <a:ln w="9525" cmpd="sng">
              <a:solidFill>
                <a:srgbClr val="808080">
                  <a:lumMod val="40000"/>
                  <a:lumOff val="60000"/>
                </a:srgbClr>
              </a:solidFill>
              <a:prstDash val="solid"/>
            </a:ln>
          </a:insideV>
        </a:tcBdr>
        <a:fill>
          <a:solidFill>
            <a:srgbClr val="FFFFFF"/>
          </a:solidFill>
        </a:fill>
      </a:tcStyle>
    </a:wholeTbl>
    <a:band2H>
      <a:tcStyle>
        <a:tcBdr/>
        <a:fill>
          <a:solidFill>
            <a:srgbClr val="808080">
              <a:lumMod val="10000"/>
              <a:lumOff val="90000"/>
            </a:srgbClr>
          </a:solidFill>
        </a:fill>
      </a:tcStyle>
    </a:band2H>
    <a:band1V>
      <a:tcStyle>
        <a:tcBdr>
          <a:left>
            <a:ln w="9525" cmpd="sng">
              <a:solidFill>
                <a:srgbClr val="808080"/>
              </a:solidFill>
              <a:prstDash val="solid"/>
            </a:ln>
          </a:left>
          <a:right>
            <a:ln w="9525" cmpd="sng">
              <a:solidFill>
                <a:srgbClr val="808080"/>
              </a:solidFill>
              <a:prstDash val="solid"/>
            </a:ln>
          </a:right>
          <a:top>
            <a:ln w="9525" cmpd="sng">
              <a:solidFill>
                <a:srgbClr val="808080"/>
              </a:solidFill>
              <a:prstDash val="solid"/>
            </a:ln>
          </a:top>
          <a:bottom>
            <a:ln w="9525" cmpd="sng">
              <a:solidFill>
                <a:srgbClr val="808080"/>
              </a:solidFill>
              <a:prstDash val="solid"/>
            </a:ln>
          </a:bottom>
          <a:insideH>
            <a:ln w="9525" cmpd="sng">
              <a:solidFill>
                <a:srgbClr val="808080">
                  <a:lumMod val="40000"/>
                  <a:lumOff val="60000"/>
                </a:srgbClr>
              </a:solidFill>
              <a:prstDash val="solid"/>
            </a:ln>
          </a:insideH>
          <a:insideV>
            <a:ln w="9525" cmpd="sng">
              <a:solidFill>
                <a:srgbClr val="808080">
                  <a:lumMod val="40000"/>
                  <a:lumOff val="60000"/>
                </a:srgbClr>
              </a:solidFill>
              <a:prstDash val="solid"/>
            </a:ln>
          </a:insideV>
        </a:tcBdr>
        <a:fill>
          <a:solidFill>
            <a:srgbClr val="808080">
              <a:lumMod val="10000"/>
              <a:lumOff val="90000"/>
            </a:srgbClr>
          </a:solidFill>
        </a:fill>
      </a:tcStyle>
    </a:band1V>
    <a:band2V>
      <a:tcStyle>
        <a:tcBdr>
          <a:left>
            <a:ln w="9525" cmpd="sng">
              <a:solidFill>
                <a:srgbClr val="808080">
                  <a:lumMod val="40000"/>
                  <a:lumOff val="60000"/>
                </a:srgbClr>
              </a:solidFill>
              <a:prstDash val="solid"/>
            </a:ln>
          </a:left>
          <a:right>
            <a:ln w="9525" cmpd="sng">
              <a:solidFill>
                <a:srgbClr val="808080">
                  <a:lumMod val="40000"/>
                  <a:lumOff val="60000"/>
                </a:srgbClr>
              </a:solidFill>
              <a:prstDash val="solid"/>
            </a:ln>
          </a:right>
          <a:top>
            <a:ln w="9525" cmpd="sng">
              <a:solidFill>
                <a:srgbClr val="808080"/>
              </a:solidFill>
              <a:prstDash val="solid"/>
            </a:ln>
          </a:top>
          <a:bottom>
            <a:ln w="9525" cmpd="sng">
              <a:solidFill>
                <a:srgbClr val="808080"/>
              </a:solidFill>
              <a:prstDash val="solid"/>
            </a:ln>
          </a:bottom>
          <a:insideH>
            <a:ln w="9525" cmpd="sng">
              <a:solidFill>
                <a:srgbClr val="808080">
                  <a:lumMod val="40000"/>
                  <a:lumOff val="60000"/>
                </a:srgbClr>
              </a:solidFill>
              <a:prstDash val="solid"/>
            </a:ln>
          </a:insideH>
          <a:insideV>
            <a:ln>
              <a:noFill/>
            </a:ln>
          </a:insideV>
        </a:tcBdr>
      </a:tcStyle>
    </a:band2V>
    <a:lastCol>
      <a:tcTxStyle b="on">
        <a:fontRef idx="none">
          <a:srgbClr val="08090C"/>
        </a:fontRef>
      </a:tcTxStyle>
      <a:tcStyle>
        <a:tcBdr>
          <a:left>
            <a:ln w="9525" cmpd="sng">
              <a:solidFill>
                <a:srgbClr val="808080">
                  <a:lumMod val="40000"/>
                  <a:lumOff val="60000"/>
                </a:srgbClr>
              </a:solidFill>
              <a:prstDash val="solid"/>
            </a:ln>
          </a:left>
          <a:right>
            <a:ln w="9525" cmpd="sng">
              <a:solidFill>
                <a:srgbClr val="808080"/>
              </a:solidFill>
              <a:prstDash val="solid"/>
            </a:ln>
          </a:right>
          <a:top>
            <a:ln w="9525" cmpd="sng">
              <a:solidFill>
                <a:srgbClr val="808080"/>
              </a:solidFill>
              <a:prstDash val="solid"/>
            </a:ln>
          </a:top>
          <a:bottom>
            <a:ln w="9525" cmpd="sng">
              <a:solidFill>
                <a:srgbClr val="808080"/>
              </a:solidFill>
              <a:prstDash val="solid"/>
            </a:ln>
          </a:bottom>
          <a:insideH>
            <a:ln w="9525" cmpd="sng">
              <a:solidFill>
                <a:srgbClr val="808080">
                  <a:lumMod val="40000"/>
                  <a:lumOff val="60000"/>
                </a:srgbClr>
              </a:solidFill>
              <a:prstDash val="solid"/>
            </a:ln>
          </a:insideH>
          <a:insideV>
            <a:ln>
              <a:noFill/>
            </a:ln>
          </a:insideV>
        </a:tcBdr>
        <a:fill>
          <a:solidFill>
            <a:srgbClr val="808080">
              <a:lumMod val="20000"/>
              <a:lumOff val="80000"/>
            </a:srgbClr>
          </a:solidFill>
        </a:fill>
      </a:tcStyle>
    </a:lastCol>
    <a:firstCol>
      <a:tcTxStyle b="on">
        <a:fontRef idx="none">
          <a:srgbClr val="08090C"/>
        </a:fontRef>
      </a:tcTxStyle>
      <a:tcStyle>
        <a:tcBdr>
          <a:left>
            <a:ln w="9525" cmpd="sng">
              <a:solidFill>
                <a:srgbClr val="808080"/>
              </a:solidFill>
              <a:prstDash val="solid"/>
            </a:ln>
          </a:left>
          <a:right>
            <a:ln w="9525" cmpd="sng">
              <a:solidFill>
                <a:srgbClr val="808080">
                  <a:lumMod val="40000"/>
                  <a:lumOff val="60000"/>
                </a:srgbClr>
              </a:solidFill>
              <a:prstDash val="solid"/>
            </a:ln>
          </a:right>
          <a:top>
            <a:ln w="9525" cmpd="sng">
              <a:solidFill>
                <a:srgbClr val="808080"/>
              </a:solidFill>
              <a:prstDash val="solid"/>
            </a:ln>
          </a:top>
          <a:bottom>
            <a:ln w="9525" cmpd="sng">
              <a:solidFill>
                <a:srgbClr val="808080"/>
              </a:solidFill>
              <a:prstDash val="solid"/>
            </a:ln>
          </a:bottom>
          <a:insideH>
            <a:ln w="9525" cmpd="sng">
              <a:solidFill>
                <a:srgbClr val="808080">
                  <a:lumMod val="40000"/>
                  <a:lumOff val="60000"/>
                </a:srgbClr>
              </a:solidFill>
              <a:prstDash val="solid"/>
            </a:ln>
          </a:insideH>
          <a:insideV>
            <a:ln>
              <a:noFill/>
            </a:ln>
          </a:insideV>
        </a:tcBdr>
        <a:fill>
          <a:solidFill>
            <a:srgbClr val="808080">
              <a:lumMod val="20000"/>
              <a:lumOff val="80000"/>
            </a:srgbClr>
          </a:solidFill>
        </a:fill>
      </a:tcStyle>
    </a:firstCol>
    <a:lastRow>
      <a:tcTxStyle b="on">
        <a:fontRef idx="none">
          <a:srgbClr val="808080"/>
        </a:fontRef>
      </a:tcTxStyle>
      <a:tcStyle>
        <a:tcBdr>
          <a:left>
            <a:ln w="9525" cmpd="sng">
              <a:solidFill>
                <a:srgbClr val="808080"/>
              </a:solidFill>
              <a:prstDash val="solid"/>
            </a:ln>
          </a:left>
          <a:right>
            <a:ln w="9525" cmpd="sng">
              <a:solidFill>
                <a:srgbClr val="808080"/>
              </a:solidFill>
              <a:prstDash val="solid"/>
            </a:ln>
          </a:right>
          <a:top>
            <a:ln w="9525" cmpd="sng">
              <a:solidFill>
                <a:srgbClr val="808080"/>
              </a:solidFill>
              <a:prstDash val="solid"/>
            </a:ln>
          </a:top>
          <a:bottom>
            <a:ln w="9525" cmpd="sng">
              <a:solidFill>
                <a:srgbClr val="808080"/>
              </a:solidFill>
              <a:prstDash val="solid"/>
            </a:ln>
          </a:bottom>
          <a:insideH>
            <a:ln>
              <a:noFill/>
            </a:ln>
          </a:insideH>
          <a:insideV>
            <a:ln>
              <a:noFill/>
            </a:ln>
          </a:insideV>
        </a:tcBdr>
        <a:fill>
          <a:solidFill>
            <a:srgbClr val="FFFFFF"/>
          </a:solidFill>
        </a:fill>
      </a:tcStyle>
    </a:lastRow>
    <a:seCell>
      <a:tcStyle>
        <a:tcBdr>
          <a:left>
            <a:ln>
              <a:noFill/>
            </a:ln>
          </a:left>
          <a:right>
            <a:ln w="9525" cmpd="sng">
              <a:solidFill>
                <a:srgbClr val="808080"/>
              </a:solidFill>
              <a:prstDash val="solid"/>
            </a:ln>
          </a:right>
          <a:top>
            <a:ln w="9525" cmpd="sng">
              <a:solidFill>
                <a:srgbClr val="808080"/>
              </a:solidFill>
              <a:prstDash val="solid"/>
            </a:ln>
          </a:top>
          <a:bottom>
            <a:ln w="9525" cmpd="sng">
              <a:solidFill>
                <a:srgbClr val="808080"/>
              </a:solidFill>
              <a:prstDash val="solid"/>
            </a:ln>
          </a:bottom>
          <a:insideH>
            <a:ln>
              <a:noFill/>
            </a:ln>
          </a:insideH>
          <a:insideV>
            <a:ln>
              <a:noFill/>
            </a:ln>
          </a:insideV>
        </a:tcBdr>
        <a:fill>
          <a:solidFill>
            <a:srgbClr val="FFFFFF"/>
          </a:solidFill>
        </a:fill>
      </a:tcStyle>
    </a:seCell>
    <a:swCell>
      <a:tcTxStyle b="on">
        <a:fontRef idx="none">
          <a:srgbClr val="808080"/>
        </a:fontRef>
      </a:tcTxStyle>
      <a:tcStyle>
        <a:tcBdr>
          <a:left>
            <a:ln w="9525" cmpd="sng">
              <a:solidFill>
                <a:srgbClr val="808080"/>
              </a:solidFill>
              <a:prstDash val="solid"/>
            </a:ln>
          </a:left>
          <a:right>
            <a:ln>
              <a:noFill/>
            </a:ln>
          </a:right>
          <a:top>
            <a:ln w="9525" cmpd="sng">
              <a:solidFill>
                <a:srgbClr val="808080"/>
              </a:solidFill>
              <a:prstDash val="solid"/>
            </a:ln>
          </a:top>
          <a:bottom>
            <a:ln w="9525" cmpd="sng">
              <a:solidFill>
                <a:srgbClr val="808080"/>
              </a:solidFill>
              <a:prstDash val="solid"/>
            </a:ln>
          </a:bottom>
          <a:insideH>
            <a:ln>
              <a:noFill/>
            </a:ln>
          </a:insideH>
          <a:insideV>
            <a:ln>
              <a:noFill/>
            </a:ln>
          </a:insideV>
        </a:tcBdr>
        <a:fill>
          <a:solidFill>
            <a:srgbClr val="FFFFFF"/>
          </a:solidFill>
        </a:fill>
      </a:tcStyle>
    </a:swCell>
    <a:firstRow>
      <a:tcTxStyle b="on">
        <a:fontRef idx="none">
          <a:srgbClr val="FFFFFF"/>
        </a:fontRef>
      </a:tcTxStyle>
      <a:tcStyle>
        <a:tcBdr>
          <a:left>
            <a:ln w="9525" cmpd="sng">
              <a:solidFill>
                <a:srgbClr val="808080"/>
              </a:solidFill>
              <a:prstDash val="solid"/>
            </a:ln>
          </a:left>
          <a:right>
            <a:ln w="9525" cmpd="sng">
              <a:solidFill>
                <a:srgbClr val="808080"/>
              </a:solidFill>
              <a:prstDash val="solid"/>
            </a:ln>
          </a:right>
          <a:top>
            <a:ln w="9525" cmpd="sng">
              <a:solidFill>
                <a:srgbClr val="808080"/>
              </a:solidFill>
              <a:prstDash val="solid"/>
            </a:ln>
          </a:top>
          <a:bottom>
            <a:ln w="9525" cmpd="sng">
              <a:solidFill>
                <a:srgbClr val="808080"/>
              </a:solidFill>
              <a:prstDash val="solid"/>
            </a:ln>
          </a:bottom>
          <a:insideH>
            <a:ln>
              <a:noFill/>
            </a:ln>
          </a:insideH>
          <a:insideV>
            <a:ln w="9525" cmpd="sng">
              <a:solidFill>
                <a:srgbClr val="808080">
                  <a:lumMod val="40000"/>
                  <a:lumOff val="60000"/>
                </a:srgbClr>
              </a:solidFill>
              <a:prstDash val="solid"/>
            </a:ln>
          </a:insideV>
        </a:tcBdr>
        <a:fill>
          <a:solidFill>
            <a:srgbClr val="808080"/>
          </a:solidFill>
        </a:fill>
      </a:tcStyle>
    </a:firstRow>
  </a:tblStyle>
  <a:tblStyle styleId="{AAC775E2-5F54-40BE-A785-B45A39E3C1A7}" styleName="表样式 1 25">
    <a:wholeTbl>
      <a:tcTxStyle>
        <a:fontRef idx="none">
          <a:srgbClr val="000000"/>
        </a:fontRef>
      </a:tcTxStyle>
      <a:tcStyle>
        <a:tcBdr>
          <a:left>
            <a:ln w="9525" cmpd="sng">
              <a:solidFill>
                <a:srgbClr val="808080"/>
              </a:solidFill>
              <a:prstDash val="solid"/>
            </a:ln>
          </a:left>
          <a:right>
            <a:ln w="9525" cmpd="sng">
              <a:solidFill>
                <a:srgbClr val="808080"/>
              </a:solidFill>
              <a:prstDash val="solid"/>
            </a:ln>
          </a:right>
          <a:top>
            <a:ln w="9525" cmpd="sng">
              <a:solidFill>
                <a:srgbClr val="808080"/>
              </a:solidFill>
              <a:prstDash val="solid"/>
            </a:ln>
          </a:top>
          <a:bottom>
            <a:ln w="9525" cmpd="sng">
              <a:solidFill>
                <a:srgbClr val="808080"/>
              </a:solidFill>
              <a:prstDash val="solid"/>
            </a:ln>
          </a:bottom>
          <a:insideH>
            <a:ln w="9525" cmpd="sng">
              <a:solidFill>
                <a:srgbClr val="808080">
                  <a:lumMod val="40000"/>
                  <a:lumOff val="60000"/>
                </a:srgbClr>
              </a:solidFill>
              <a:prstDash val="solid"/>
            </a:ln>
          </a:insideH>
          <a:insideV>
            <a:ln w="9525" cmpd="sng">
              <a:solidFill>
                <a:srgbClr val="808080">
                  <a:lumMod val="40000"/>
                  <a:lumOff val="60000"/>
                </a:srgbClr>
              </a:solidFill>
              <a:prstDash val="solid"/>
            </a:ln>
          </a:insideV>
        </a:tcBdr>
        <a:fill>
          <a:solidFill>
            <a:srgbClr val="FFFFFF"/>
          </a:solidFill>
        </a:fill>
      </a:tcStyle>
    </a:wholeTbl>
    <a:band2H>
      <a:tcStyle>
        <a:tcBdr/>
        <a:fill>
          <a:solidFill>
            <a:srgbClr val="808080">
              <a:lumMod val="10000"/>
              <a:lumOff val="90000"/>
            </a:srgbClr>
          </a:solidFill>
        </a:fill>
      </a:tcStyle>
    </a:band2H>
    <a:band1V>
      <a:tcStyle>
        <a:tcBdr>
          <a:left>
            <a:ln w="9525" cmpd="sng">
              <a:solidFill>
                <a:srgbClr val="808080"/>
              </a:solidFill>
              <a:prstDash val="solid"/>
            </a:ln>
          </a:left>
          <a:right>
            <a:ln w="9525" cmpd="sng">
              <a:solidFill>
                <a:srgbClr val="808080"/>
              </a:solidFill>
              <a:prstDash val="solid"/>
            </a:ln>
          </a:right>
          <a:top>
            <a:ln w="9525" cmpd="sng">
              <a:solidFill>
                <a:srgbClr val="808080"/>
              </a:solidFill>
              <a:prstDash val="solid"/>
            </a:ln>
          </a:top>
          <a:bottom>
            <a:ln w="9525" cmpd="sng">
              <a:solidFill>
                <a:srgbClr val="808080"/>
              </a:solidFill>
              <a:prstDash val="solid"/>
            </a:ln>
          </a:bottom>
          <a:insideH>
            <a:ln w="9525" cmpd="sng">
              <a:solidFill>
                <a:srgbClr val="808080">
                  <a:lumMod val="40000"/>
                  <a:lumOff val="60000"/>
                </a:srgbClr>
              </a:solidFill>
              <a:prstDash val="solid"/>
            </a:ln>
          </a:insideH>
          <a:insideV>
            <a:ln w="9525" cmpd="sng">
              <a:solidFill>
                <a:srgbClr val="808080">
                  <a:lumMod val="40000"/>
                  <a:lumOff val="60000"/>
                </a:srgbClr>
              </a:solidFill>
              <a:prstDash val="solid"/>
            </a:ln>
          </a:insideV>
        </a:tcBdr>
        <a:fill>
          <a:solidFill>
            <a:srgbClr val="808080">
              <a:lumMod val="10000"/>
              <a:lumOff val="90000"/>
            </a:srgbClr>
          </a:solidFill>
        </a:fill>
      </a:tcStyle>
    </a:band1V>
    <a:band2V>
      <a:tcStyle>
        <a:tcBdr>
          <a:left>
            <a:ln w="9525" cmpd="sng">
              <a:solidFill>
                <a:srgbClr val="808080">
                  <a:lumMod val="40000"/>
                  <a:lumOff val="60000"/>
                </a:srgbClr>
              </a:solidFill>
              <a:prstDash val="solid"/>
            </a:ln>
          </a:left>
          <a:right>
            <a:ln w="9525" cmpd="sng">
              <a:solidFill>
                <a:srgbClr val="808080">
                  <a:lumMod val="40000"/>
                  <a:lumOff val="60000"/>
                </a:srgbClr>
              </a:solidFill>
              <a:prstDash val="solid"/>
            </a:ln>
          </a:right>
          <a:top>
            <a:ln w="9525" cmpd="sng">
              <a:solidFill>
                <a:srgbClr val="808080"/>
              </a:solidFill>
              <a:prstDash val="solid"/>
            </a:ln>
          </a:top>
          <a:bottom>
            <a:ln w="9525" cmpd="sng">
              <a:solidFill>
                <a:srgbClr val="808080"/>
              </a:solidFill>
              <a:prstDash val="solid"/>
            </a:ln>
          </a:bottom>
          <a:insideH>
            <a:ln w="9525" cmpd="sng">
              <a:solidFill>
                <a:srgbClr val="808080">
                  <a:lumMod val="40000"/>
                  <a:lumOff val="60000"/>
                </a:srgbClr>
              </a:solidFill>
              <a:prstDash val="solid"/>
            </a:ln>
          </a:insideH>
          <a:insideV>
            <a:ln>
              <a:noFill/>
            </a:ln>
          </a:insideV>
        </a:tcBdr>
      </a:tcStyle>
    </a:band2V>
    <a:lastCol>
      <a:tcTxStyle b="on">
        <a:fontRef idx="none">
          <a:srgbClr val="08090C"/>
        </a:fontRef>
      </a:tcTxStyle>
      <a:tcStyle>
        <a:tcBdr>
          <a:left>
            <a:ln w="9525" cmpd="sng">
              <a:solidFill>
                <a:srgbClr val="808080">
                  <a:lumMod val="40000"/>
                  <a:lumOff val="60000"/>
                </a:srgbClr>
              </a:solidFill>
              <a:prstDash val="solid"/>
            </a:ln>
          </a:left>
          <a:right>
            <a:ln w="9525" cmpd="sng">
              <a:solidFill>
                <a:srgbClr val="808080"/>
              </a:solidFill>
              <a:prstDash val="solid"/>
            </a:ln>
          </a:right>
          <a:top>
            <a:ln w="9525" cmpd="sng">
              <a:solidFill>
                <a:srgbClr val="808080"/>
              </a:solidFill>
              <a:prstDash val="solid"/>
            </a:ln>
          </a:top>
          <a:bottom>
            <a:ln w="9525" cmpd="sng">
              <a:solidFill>
                <a:srgbClr val="808080"/>
              </a:solidFill>
              <a:prstDash val="solid"/>
            </a:ln>
          </a:bottom>
          <a:insideH>
            <a:ln w="9525" cmpd="sng">
              <a:solidFill>
                <a:srgbClr val="808080">
                  <a:lumMod val="40000"/>
                  <a:lumOff val="60000"/>
                </a:srgbClr>
              </a:solidFill>
              <a:prstDash val="solid"/>
            </a:ln>
          </a:insideH>
          <a:insideV>
            <a:ln>
              <a:noFill/>
            </a:ln>
          </a:insideV>
        </a:tcBdr>
        <a:fill>
          <a:solidFill>
            <a:srgbClr val="808080">
              <a:lumMod val="20000"/>
              <a:lumOff val="80000"/>
            </a:srgbClr>
          </a:solidFill>
        </a:fill>
      </a:tcStyle>
    </a:lastCol>
    <a:firstCol>
      <a:tcTxStyle b="on">
        <a:fontRef idx="none">
          <a:srgbClr val="08090C"/>
        </a:fontRef>
      </a:tcTxStyle>
      <a:tcStyle>
        <a:tcBdr>
          <a:left>
            <a:ln w="9525" cmpd="sng">
              <a:solidFill>
                <a:srgbClr val="808080"/>
              </a:solidFill>
              <a:prstDash val="solid"/>
            </a:ln>
          </a:left>
          <a:right>
            <a:ln w="9525" cmpd="sng">
              <a:solidFill>
                <a:srgbClr val="808080">
                  <a:lumMod val="40000"/>
                  <a:lumOff val="60000"/>
                </a:srgbClr>
              </a:solidFill>
              <a:prstDash val="solid"/>
            </a:ln>
          </a:right>
          <a:top>
            <a:ln w="9525" cmpd="sng">
              <a:solidFill>
                <a:srgbClr val="808080"/>
              </a:solidFill>
              <a:prstDash val="solid"/>
            </a:ln>
          </a:top>
          <a:bottom>
            <a:ln w="9525" cmpd="sng">
              <a:solidFill>
                <a:srgbClr val="808080"/>
              </a:solidFill>
              <a:prstDash val="solid"/>
            </a:ln>
          </a:bottom>
          <a:insideH>
            <a:ln w="9525" cmpd="sng">
              <a:solidFill>
                <a:srgbClr val="808080">
                  <a:lumMod val="40000"/>
                  <a:lumOff val="60000"/>
                </a:srgbClr>
              </a:solidFill>
              <a:prstDash val="solid"/>
            </a:ln>
          </a:insideH>
          <a:insideV>
            <a:ln>
              <a:noFill/>
            </a:ln>
          </a:insideV>
        </a:tcBdr>
        <a:fill>
          <a:solidFill>
            <a:srgbClr val="808080">
              <a:lumMod val="20000"/>
              <a:lumOff val="80000"/>
            </a:srgbClr>
          </a:solidFill>
        </a:fill>
      </a:tcStyle>
    </a:firstCol>
    <a:lastRow>
      <a:tcTxStyle b="on">
        <a:fontRef idx="none">
          <a:srgbClr val="808080"/>
        </a:fontRef>
      </a:tcTxStyle>
      <a:tcStyle>
        <a:tcBdr>
          <a:left>
            <a:ln w="9525" cmpd="sng">
              <a:solidFill>
                <a:srgbClr val="808080"/>
              </a:solidFill>
              <a:prstDash val="solid"/>
            </a:ln>
          </a:left>
          <a:right>
            <a:ln w="9525" cmpd="sng">
              <a:solidFill>
                <a:srgbClr val="808080"/>
              </a:solidFill>
              <a:prstDash val="solid"/>
            </a:ln>
          </a:right>
          <a:top>
            <a:ln w="9525" cmpd="sng">
              <a:solidFill>
                <a:srgbClr val="808080"/>
              </a:solidFill>
              <a:prstDash val="solid"/>
            </a:ln>
          </a:top>
          <a:bottom>
            <a:ln w="9525" cmpd="sng">
              <a:solidFill>
                <a:srgbClr val="808080"/>
              </a:solidFill>
              <a:prstDash val="solid"/>
            </a:ln>
          </a:bottom>
          <a:insideH>
            <a:ln>
              <a:noFill/>
            </a:ln>
          </a:insideH>
          <a:insideV>
            <a:ln>
              <a:noFill/>
            </a:ln>
          </a:insideV>
        </a:tcBdr>
        <a:fill>
          <a:solidFill>
            <a:srgbClr val="FFFFFF"/>
          </a:solidFill>
        </a:fill>
      </a:tcStyle>
    </a:lastRow>
    <a:seCell>
      <a:tcStyle>
        <a:tcBdr>
          <a:left>
            <a:ln>
              <a:noFill/>
            </a:ln>
          </a:left>
          <a:right>
            <a:ln w="9525" cmpd="sng">
              <a:solidFill>
                <a:srgbClr val="808080"/>
              </a:solidFill>
              <a:prstDash val="solid"/>
            </a:ln>
          </a:right>
          <a:top>
            <a:ln w="9525" cmpd="sng">
              <a:solidFill>
                <a:srgbClr val="808080"/>
              </a:solidFill>
              <a:prstDash val="solid"/>
            </a:ln>
          </a:top>
          <a:bottom>
            <a:ln w="9525" cmpd="sng">
              <a:solidFill>
                <a:srgbClr val="808080"/>
              </a:solidFill>
              <a:prstDash val="solid"/>
            </a:ln>
          </a:bottom>
          <a:insideH>
            <a:ln>
              <a:noFill/>
            </a:ln>
          </a:insideH>
          <a:insideV>
            <a:ln>
              <a:noFill/>
            </a:ln>
          </a:insideV>
        </a:tcBdr>
        <a:fill>
          <a:solidFill>
            <a:srgbClr val="FFFFFF"/>
          </a:solidFill>
        </a:fill>
      </a:tcStyle>
    </a:seCell>
    <a:swCell>
      <a:tcTxStyle b="on">
        <a:fontRef idx="none">
          <a:srgbClr val="808080"/>
        </a:fontRef>
      </a:tcTxStyle>
      <a:tcStyle>
        <a:tcBdr>
          <a:left>
            <a:ln w="9525" cmpd="sng">
              <a:solidFill>
                <a:srgbClr val="808080"/>
              </a:solidFill>
              <a:prstDash val="solid"/>
            </a:ln>
          </a:left>
          <a:right>
            <a:ln>
              <a:noFill/>
            </a:ln>
          </a:right>
          <a:top>
            <a:ln w="9525" cmpd="sng">
              <a:solidFill>
                <a:srgbClr val="808080"/>
              </a:solidFill>
              <a:prstDash val="solid"/>
            </a:ln>
          </a:top>
          <a:bottom>
            <a:ln w="9525" cmpd="sng">
              <a:solidFill>
                <a:srgbClr val="808080"/>
              </a:solidFill>
              <a:prstDash val="solid"/>
            </a:ln>
          </a:bottom>
          <a:insideH>
            <a:ln>
              <a:noFill/>
            </a:ln>
          </a:insideH>
          <a:insideV>
            <a:ln>
              <a:noFill/>
            </a:ln>
          </a:insideV>
        </a:tcBdr>
        <a:fill>
          <a:solidFill>
            <a:srgbClr val="FFFFFF"/>
          </a:solidFill>
        </a:fill>
      </a:tcStyle>
    </a:swCell>
    <a:firstRow>
      <a:tcTxStyle b="on">
        <a:fontRef idx="none">
          <a:srgbClr val="FFFFFF"/>
        </a:fontRef>
      </a:tcTxStyle>
      <a:tcStyle>
        <a:tcBdr>
          <a:left>
            <a:ln w="9525" cmpd="sng">
              <a:solidFill>
                <a:srgbClr val="808080"/>
              </a:solidFill>
              <a:prstDash val="solid"/>
            </a:ln>
          </a:left>
          <a:right>
            <a:ln w="9525" cmpd="sng">
              <a:solidFill>
                <a:srgbClr val="808080"/>
              </a:solidFill>
              <a:prstDash val="solid"/>
            </a:ln>
          </a:right>
          <a:top>
            <a:ln w="9525" cmpd="sng">
              <a:solidFill>
                <a:srgbClr val="808080"/>
              </a:solidFill>
              <a:prstDash val="solid"/>
            </a:ln>
          </a:top>
          <a:bottom>
            <a:ln w="9525" cmpd="sng">
              <a:solidFill>
                <a:srgbClr val="808080"/>
              </a:solidFill>
              <a:prstDash val="solid"/>
            </a:ln>
          </a:bottom>
          <a:insideH>
            <a:ln>
              <a:noFill/>
            </a:ln>
          </a:insideH>
          <a:insideV>
            <a:ln w="9525" cmpd="sng">
              <a:solidFill>
                <a:srgbClr val="808080">
                  <a:lumMod val="40000"/>
                  <a:lumOff val="60000"/>
                </a:srgbClr>
              </a:solidFill>
              <a:prstDash val="solid"/>
            </a:ln>
          </a:insideV>
        </a:tcBdr>
        <a:fill>
          <a:solidFill>
            <a:srgbClr val="808080"/>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A434F62F-E7E8-48FB-A893-C6772005CB8F}" styleName="表样式 1 25">
    <a:wholeTbl>
      <a:tcTxStyle>
        <a:fontRef idx="none">
          <a:srgbClr val="000000"/>
        </a:fontRef>
      </a:tcTxStyle>
      <a:tcStyle>
        <a:tcBdr>
          <a:left>
            <a:ln w="9525" cmpd="sng">
              <a:solidFill>
                <a:srgbClr val="808080"/>
              </a:solidFill>
              <a:prstDash val="solid"/>
            </a:ln>
          </a:left>
          <a:right>
            <a:ln w="9525" cmpd="sng">
              <a:solidFill>
                <a:srgbClr val="808080"/>
              </a:solidFill>
              <a:prstDash val="solid"/>
            </a:ln>
          </a:right>
          <a:top>
            <a:ln w="9525" cmpd="sng">
              <a:solidFill>
                <a:srgbClr val="808080"/>
              </a:solidFill>
              <a:prstDash val="solid"/>
            </a:ln>
          </a:top>
          <a:bottom>
            <a:ln w="9525" cmpd="sng">
              <a:solidFill>
                <a:srgbClr val="808080"/>
              </a:solidFill>
              <a:prstDash val="solid"/>
            </a:ln>
          </a:bottom>
          <a:insideH>
            <a:ln w="9525" cmpd="sng">
              <a:solidFill>
                <a:srgbClr val="808080">
                  <a:lumMod val="40000"/>
                  <a:lumOff val="60000"/>
                </a:srgbClr>
              </a:solidFill>
              <a:prstDash val="solid"/>
            </a:ln>
          </a:insideH>
          <a:insideV>
            <a:ln w="9525" cmpd="sng">
              <a:solidFill>
                <a:srgbClr val="808080">
                  <a:lumMod val="40000"/>
                  <a:lumOff val="60000"/>
                </a:srgbClr>
              </a:solidFill>
              <a:prstDash val="solid"/>
            </a:ln>
          </a:insideV>
        </a:tcBdr>
        <a:fill>
          <a:solidFill>
            <a:srgbClr val="FFFFFF"/>
          </a:solidFill>
        </a:fill>
      </a:tcStyle>
    </a:wholeTbl>
    <a:band2H>
      <a:tcStyle>
        <a:tcBdr/>
        <a:fill>
          <a:solidFill>
            <a:srgbClr val="808080">
              <a:lumMod val="10000"/>
              <a:lumOff val="90000"/>
            </a:srgbClr>
          </a:solidFill>
        </a:fill>
      </a:tcStyle>
    </a:band2H>
    <a:band1V>
      <a:tcStyle>
        <a:tcBdr>
          <a:left>
            <a:ln w="9525" cmpd="sng">
              <a:solidFill>
                <a:srgbClr val="808080"/>
              </a:solidFill>
              <a:prstDash val="solid"/>
            </a:ln>
          </a:left>
          <a:right>
            <a:ln w="9525" cmpd="sng">
              <a:solidFill>
                <a:srgbClr val="808080"/>
              </a:solidFill>
              <a:prstDash val="solid"/>
            </a:ln>
          </a:right>
          <a:top>
            <a:ln w="9525" cmpd="sng">
              <a:solidFill>
                <a:srgbClr val="808080"/>
              </a:solidFill>
              <a:prstDash val="solid"/>
            </a:ln>
          </a:top>
          <a:bottom>
            <a:ln w="9525" cmpd="sng">
              <a:solidFill>
                <a:srgbClr val="808080"/>
              </a:solidFill>
              <a:prstDash val="solid"/>
            </a:ln>
          </a:bottom>
          <a:insideH>
            <a:ln w="9525" cmpd="sng">
              <a:solidFill>
                <a:srgbClr val="808080">
                  <a:lumMod val="40000"/>
                  <a:lumOff val="60000"/>
                </a:srgbClr>
              </a:solidFill>
              <a:prstDash val="solid"/>
            </a:ln>
          </a:insideH>
          <a:insideV>
            <a:ln w="9525" cmpd="sng">
              <a:solidFill>
                <a:srgbClr val="808080">
                  <a:lumMod val="40000"/>
                  <a:lumOff val="60000"/>
                </a:srgbClr>
              </a:solidFill>
              <a:prstDash val="solid"/>
            </a:ln>
          </a:insideV>
        </a:tcBdr>
        <a:fill>
          <a:solidFill>
            <a:srgbClr val="808080">
              <a:lumMod val="10000"/>
              <a:lumOff val="90000"/>
            </a:srgbClr>
          </a:solidFill>
        </a:fill>
      </a:tcStyle>
    </a:band1V>
    <a:band2V>
      <a:tcStyle>
        <a:tcBdr>
          <a:left>
            <a:ln w="9525" cmpd="sng">
              <a:solidFill>
                <a:srgbClr val="808080">
                  <a:lumMod val="40000"/>
                  <a:lumOff val="60000"/>
                </a:srgbClr>
              </a:solidFill>
              <a:prstDash val="solid"/>
            </a:ln>
          </a:left>
          <a:right>
            <a:ln w="9525" cmpd="sng">
              <a:solidFill>
                <a:srgbClr val="808080">
                  <a:lumMod val="40000"/>
                  <a:lumOff val="60000"/>
                </a:srgbClr>
              </a:solidFill>
              <a:prstDash val="solid"/>
            </a:ln>
          </a:right>
          <a:top>
            <a:ln w="9525" cmpd="sng">
              <a:solidFill>
                <a:srgbClr val="808080"/>
              </a:solidFill>
              <a:prstDash val="solid"/>
            </a:ln>
          </a:top>
          <a:bottom>
            <a:ln w="9525" cmpd="sng">
              <a:solidFill>
                <a:srgbClr val="808080"/>
              </a:solidFill>
              <a:prstDash val="solid"/>
            </a:ln>
          </a:bottom>
          <a:insideH>
            <a:ln w="9525" cmpd="sng">
              <a:solidFill>
                <a:srgbClr val="808080">
                  <a:lumMod val="40000"/>
                  <a:lumOff val="60000"/>
                </a:srgbClr>
              </a:solidFill>
              <a:prstDash val="solid"/>
            </a:ln>
          </a:insideH>
          <a:insideV>
            <a:ln>
              <a:noFill/>
            </a:ln>
          </a:insideV>
        </a:tcBdr>
      </a:tcStyle>
    </a:band2V>
    <a:lastCol>
      <a:tcTxStyle b="on">
        <a:fontRef idx="none">
          <a:srgbClr val="08090C"/>
        </a:fontRef>
      </a:tcTxStyle>
      <a:tcStyle>
        <a:tcBdr>
          <a:left>
            <a:ln w="9525" cmpd="sng">
              <a:solidFill>
                <a:srgbClr val="808080">
                  <a:lumMod val="40000"/>
                  <a:lumOff val="60000"/>
                </a:srgbClr>
              </a:solidFill>
              <a:prstDash val="solid"/>
            </a:ln>
          </a:left>
          <a:right>
            <a:ln w="9525" cmpd="sng">
              <a:solidFill>
                <a:srgbClr val="808080"/>
              </a:solidFill>
              <a:prstDash val="solid"/>
            </a:ln>
          </a:right>
          <a:top>
            <a:ln w="9525" cmpd="sng">
              <a:solidFill>
                <a:srgbClr val="808080"/>
              </a:solidFill>
              <a:prstDash val="solid"/>
            </a:ln>
          </a:top>
          <a:bottom>
            <a:ln w="9525" cmpd="sng">
              <a:solidFill>
                <a:srgbClr val="808080"/>
              </a:solidFill>
              <a:prstDash val="solid"/>
            </a:ln>
          </a:bottom>
          <a:insideH>
            <a:ln w="9525" cmpd="sng">
              <a:solidFill>
                <a:srgbClr val="808080">
                  <a:lumMod val="40000"/>
                  <a:lumOff val="60000"/>
                </a:srgbClr>
              </a:solidFill>
              <a:prstDash val="solid"/>
            </a:ln>
          </a:insideH>
          <a:insideV>
            <a:ln>
              <a:noFill/>
            </a:ln>
          </a:insideV>
        </a:tcBdr>
        <a:fill>
          <a:solidFill>
            <a:srgbClr val="808080">
              <a:lumMod val="20000"/>
              <a:lumOff val="80000"/>
            </a:srgbClr>
          </a:solidFill>
        </a:fill>
      </a:tcStyle>
    </a:lastCol>
    <a:firstCol>
      <a:tcTxStyle b="on">
        <a:fontRef idx="none">
          <a:srgbClr val="08090C"/>
        </a:fontRef>
      </a:tcTxStyle>
      <a:tcStyle>
        <a:tcBdr>
          <a:left>
            <a:ln w="9525" cmpd="sng">
              <a:solidFill>
                <a:srgbClr val="808080"/>
              </a:solidFill>
              <a:prstDash val="solid"/>
            </a:ln>
          </a:left>
          <a:right>
            <a:ln w="9525" cmpd="sng">
              <a:solidFill>
                <a:srgbClr val="808080">
                  <a:lumMod val="40000"/>
                  <a:lumOff val="60000"/>
                </a:srgbClr>
              </a:solidFill>
              <a:prstDash val="solid"/>
            </a:ln>
          </a:right>
          <a:top>
            <a:ln w="9525" cmpd="sng">
              <a:solidFill>
                <a:srgbClr val="808080"/>
              </a:solidFill>
              <a:prstDash val="solid"/>
            </a:ln>
          </a:top>
          <a:bottom>
            <a:ln w="9525" cmpd="sng">
              <a:solidFill>
                <a:srgbClr val="808080"/>
              </a:solidFill>
              <a:prstDash val="solid"/>
            </a:ln>
          </a:bottom>
          <a:insideH>
            <a:ln w="9525" cmpd="sng">
              <a:solidFill>
                <a:srgbClr val="808080">
                  <a:lumMod val="40000"/>
                  <a:lumOff val="60000"/>
                </a:srgbClr>
              </a:solidFill>
              <a:prstDash val="solid"/>
            </a:ln>
          </a:insideH>
          <a:insideV>
            <a:ln>
              <a:noFill/>
            </a:ln>
          </a:insideV>
        </a:tcBdr>
        <a:fill>
          <a:solidFill>
            <a:srgbClr val="808080">
              <a:lumMod val="20000"/>
              <a:lumOff val="80000"/>
            </a:srgbClr>
          </a:solidFill>
        </a:fill>
      </a:tcStyle>
    </a:firstCol>
    <a:lastRow>
      <a:tcTxStyle b="on">
        <a:fontRef idx="none">
          <a:srgbClr val="808080"/>
        </a:fontRef>
      </a:tcTxStyle>
      <a:tcStyle>
        <a:tcBdr>
          <a:left>
            <a:ln w="9525" cmpd="sng">
              <a:solidFill>
                <a:srgbClr val="808080"/>
              </a:solidFill>
              <a:prstDash val="solid"/>
            </a:ln>
          </a:left>
          <a:right>
            <a:ln w="9525" cmpd="sng">
              <a:solidFill>
                <a:srgbClr val="808080"/>
              </a:solidFill>
              <a:prstDash val="solid"/>
            </a:ln>
          </a:right>
          <a:top>
            <a:ln w="9525" cmpd="sng">
              <a:solidFill>
                <a:srgbClr val="808080"/>
              </a:solidFill>
              <a:prstDash val="solid"/>
            </a:ln>
          </a:top>
          <a:bottom>
            <a:ln w="9525" cmpd="sng">
              <a:solidFill>
                <a:srgbClr val="808080"/>
              </a:solidFill>
              <a:prstDash val="solid"/>
            </a:ln>
          </a:bottom>
          <a:insideH>
            <a:ln>
              <a:noFill/>
            </a:ln>
          </a:insideH>
          <a:insideV>
            <a:ln>
              <a:noFill/>
            </a:ln>
          </a:insideV>
        </a:tcBdr>
        <a:fill>
          <a:solidFill>
            <a:srgbClr val="FFFFFF"/>
          </a:solidFill>
        </a:fill>
      </a:tcStyle>
    </a:lastRow>
    <a:seCell>
      <a:tcStyle>
        <a:tcBdr>
          <a:left>
            <a:ln>
              <a:noFill/>
            </a:ln>
          </a:left>
          <a:right>
            <a:ln w="9525" cmpd="sng">
              <a:solidFill>
                <a:srgbClr val="808080"/>
              </a:solidFill>
              <a:prstDash val="solid"/>
            </a:ln>
          </a:right>
          <a:top>
            <a:ln w="9525" cmpd="sng">
              <a:solidFill>
                <a:srgbClr val="808080"/>
              </a:solidFill>
              <a:prstDash val="solid"/>
            </a:ln>
          </a:top>
          <a:bottom>
            <a:ln w="9525" cmpd="sng">
              <a:solidFill>
                <a:srgbClr val="808080"/>
              </a:solidFill>
              <a:prstDash val="solid"/>
            </a:ln>
          </a:bottom>
          <a:insideH>
            <a:ln>
              <a:noFill/>
            </a:ln>
          </a:insideH>
          <a:insideV>
            <a:ln>
              <a:noFill/>
            </a:ln>
          </a:insideV>
        </a:tcBdr>
        <a:fill>
          <a:solidFill>
            <a:srgbClr val="FFFFFF"/>
          </a:solidFill>
        </a:fill>
      </a:tcStyle>
    </a:seCell>
    <a:swCell>
      <a:tcTxStyle b="on">
        <a:fontRef idx="none">
          <a:srgbClr val="808080"/>
        </a:fontRef>
      </a:tcTxStyle>
      <a:tcStyle>
        <a:tcBdr>
          <a:left>
            <a:ln w="9525" cmpd="sng">
              <a:solidFill>
                <a:srgbClr val="808080"/>
              </a:solidFill>
              <a:prstDash val="solid"/>
            </a:ln>
          </a:left>
          <a:right>
            <a:ln>
              <a:noFill/>
            </a:ln>
          </a:right>
          <a:top>
            <a:ln w="9525" cmpd="sng">
              <a:solidFill>
                <a:srgbClr val="808080"/>
              </a:solidFill>
              <a:prstDash val="solid"/>
            </a:ln>
          </a:top>
          <a:bottom>
            <a:ln w="9525" cmpd="sng">
              <a:solidFill>
                <a:srgbClr val="808080"/>
              </a:solidFill>
              <a:prstDash val="solid"/>
            </a:ln>
          </a:bottom>
          <a:insideH>
            <a:ln>
              <a:noFill/>
            </a:ln>
          </a:insideH>
          <a:insideV>
            <a:ln>
              <a:noFill/>
            </a:ln>
          </a:insideV>
        </a:tcBdr>
        <a:fill>
          <a:solidFill>
            <a:srgbClr val="FFFFFF"/>
          </a:solidFill>
        </a:fill>
      </a:tcStyle>
    </a:swCell>
    <a:firstRow>
      <a:tcTxStyle b="on">
        <a:fontRef idx="none">
          <a:srgbClr val="FFFFFF"/>
        </a:fontRef>
      </a:tcTxStyle>
      <a:tcStyle>
        <a:tcBdr>
          <a:left>
            <a:ln w="9525" cmpd="sng">
              <a:solidFill>
                <a:srgbClr val="808080"/>
              </a:solidFill>
              <a:prstDash val="solid"/>
            </a:ln>
          </a:left>
          <a:right>
            <a:ln w="9525" cmpd="sng">
              <a:solidFill>
                <a:srgbClr val="808080"/>
              </a:solidFill>
              <a:prstDash val="solid"/>
            </a:ln>
          </a:right>
          <a:top>
            <a:ln w="9525" cmpd="sng">
              <a:solidFill>
                <a:srgbClr val="808080"/>
              </a:solidFill>
              <a:prstDash val="solid"/>
            </a:ln>
          </a:top>
          <a:bottom>
            <a:ln w="9525" cmpd="sng">
              <a:solidFill>
                <a:srgbClr val="808080"/>
              </a:solidFill>
              <a:prstDash val="solid"/>
            </a:ln>
          </a:bottom>
          <a:insideH>
            <a:ln>
              <a:noFill/>
            </a:ln>
          </a:insideH>
          <a:insideV>
            <a:ln w="9525" cmpd="sng">
              <a:solidFill>
                <a:srgbClr val="808080">
                  <a:lumMod val="40000"/>
                  <a:lumOff val="60000"/>
                </a:srgbClr>
              </a:solidFill>
              <a:prstDash val="solid"/>
            </a:ln>
          </a:insideV>
        </a:tcBdr>
        <a:fill>
          <a:solidFill>
            <a:srgbClr val="808080"/>
          </a:solidFill>
        </a:fill>
      </a:tcStyle>
    </a:firstRow>
  </a:tblStyle>
  <a:tblStyle styleId="{031D2BE9-C0E0-4F2B-897E-CFA28D9BCB1C}" styleName="表样式 1 25">
    <a:wholeTbl>
      <a:tcTxStyle>
        <a:fontRef idx="none">
          <a:srgbClr val="000000"/>
        </a:fontRef>
      </a:tcTxStyle>
      <a:tcStyle>
        <a:tcBdr>
          <a:left>
            <a:ln w="9525" cmpd="sng">
              <a:solidFill>
                <a:srgbClr val="333333"/>
              </a:solidFill>
              <a:prstDash val="solid"/>
            </a:ln>
          </a:left>
          <a:right>
            <a:ln w="9525" cmpd="sng">
              <a:solidFill>
                <a:srgbClr val="333333"/>
              </a:solidFill>
              <a:prstDash val="solid"/>
            </a:ln>
          </a:right>
          <a:top>
            <a:ln w="9525" cmpd="sng">
              <a:solidFill>
                <a:srgbClr val="333333"/>
              </a:solidFill>
              <a:prstDash val="solid"/>
            </a:ln>
          </a:top>
          <a:bottom>
            <a:ln w="9525" cmpd="sng">
              <a:solidFill>
                <a:srgbClr val="333333"/>
              </a:solidFill>
              <a:prstDash val="solid"/>
            </a:ln>
          </a:bottom>
          <a:insideH>
            <a:ln w="9525" cmpd="sng">
              <a:solidFill>
                <a:srgbClr val="333333">
                  <a:lumMod val="40000"/>
                  <a:lumOff val="60000"/>
                </a:srgbClr>
              </a:solidFill>
              <a:prstDash val="solid"/>
            </a:ln>
          </a:insideH>
          <a:insideV>
            <a:ln w="9525" cmpd="sng">
              <a:solidFill>
                <a:srgbClr val="333333">
                  <a:lumMod val="40000"/>
                  <a:lumOff val="60000"/>
                </a:srgbClr>
              </a:solidFill>
              <a:prstDash val="solid"/>
            </a:ln>
          </a:insideV>
        </a:tcBdr>
        <a:fill>
          <a:solidFill>
            <a:srgbClr val="FFFFFF"/>
          </a:solidFill>
        </a:fill>
      </a:tcStyle>
    </a:wholeTbl>
    <a:band2H>
      <a:tcStyle>
        <a:tcBdr/>
        <a:fill>
          <a:solidFill>
            <a:srgbClr val="333333">
              <a:lumMod val="10000"/>
              <a:lumOff val="90000"/>
            </a:srgbClr>
          </a:solidFill>
        </a:fill>
      </a:tcStyle>
    </a:band2H>
    <a:band1V>
      <a:tcStyle>
        <a:tcBdr>
          <a:left>
            <a:ln w="9525" cmpd="sng">
              <a:solidFill>
                <a:srgbClr val="333333"/>
              </a:solidFill>
              <a:prstDash val="solid"/>
            </a:ln>
          </a:left>
          <a:right>
            <a:ln w="9525" cmpd="sng">
              <a:solidFill>
                <a:srgbClr val="333333"/>
              </a:solidFill>
              <a:prstDash val="solid"/>
            </a:ln>
          </a:right>
          <a:top>
            <a:ln w="9525" cmpd="sng">
              <a:solidFill>
                <a:srgbClr val="333333"/>
              </a:solidFill>
              <a:prstDash val="solid"/>
            </a:ln>
          </a:top>
          <a:bottom>
            <a:ln w="9525" cmpd="sng">
              <a:solidFill>
                <a:srgbClr val="333333"/>
              </a:solidFill>
              <a:prstDash val="solid"/>
            </a:ln>
          </a:bottom>
          <a:insideH>
            <a:ln w="9525" cmpd="sng">
              <a:solidFill>
                <a:srgbClr val="333333">
                  <a:lumMod val="40000"/>
                  <a:lumOff val="60000"/>
                </a:srgbClr>
              </a:solidFill>
              <a:prstDash val="solid"/>
            </a:ln>
          </a:insideH>
          <a:insideV>
            <a:ln w="9525" cmpd="sng">
              <a:solidFill>
                <a:srgbClr val="333333">
                  <a:lumMod val="40000"/>
                  <a:lumOff val="60000"/>
                </a:srgbClr>
              </a:solidFill>
              <a:prstDash val="solid"/>
            </a:ln>
          </a:insideV>
        </a:tcBdr>
        <a:fill>
          <a:solidFill>
            <a:srgbClr val="333333">
              <a:lumMod val="10000"/>
              <a:lumOff val="90000"/>
            </a:srgbClr>
          </a:solidFill>
        </a:fill>
      </a:tcStyle>
    </a:band1V>
    <a:band2V>
      <a:tcStyle>
        <a:tcBdr>
          <a:left>
            <a:ln w="9525" cmpd="sng">
              <a:solidFill>
                <a:srgbClr val="333333">
                  <a:lumMod val="40000"/>
                  <a:lumOff val="60000"/>
                </a:srgbClr>
              </a:solidFill>
              <a:prstDash val="solid"/>
            </a:ln>
          </a:left>
          <a:right>
            <a:ln w="9525" cmpd="sng">
              <a:solidFill>
                <a:srgbClr val="333333">
                  <a:lumMod val="40000"/>
                  <a:lumOff val="60000"/>
                </a:srgbClr>
              </a:solidFill>
              <a:prstDash val="solid"/>
            </a:ln>
          </a:right>
          <a:top>
            <a:ln w="9525" cmpd="sng">
              <a:solidFill>
                <a:srgbClr val="333333"/>
              </a:solidFill>
              <a:prstDash val="solid"/>
            </a:ln>
          </a:top>
          <a:bottom>
            <a:ln w="9525" cmpd="sng">
              <a:solidFill>
                <a:srgbClr val="333333"/>
              </a:solidFill>
              <a:prstDash val="solid"/>
            </a:ln>
          </a:bottom>
          <a:insideH>
            <a:ln w="9525" cmpd="sng">
              <a:solidFill>
                <a:srgbClr val="333333">
                  <a:lumMod val="40000"/>
                  <a:lumOff val="60000"/>
                </a:srgbClr>
              </a:solidFill>
              <a:prstDash val="solid"/>
            </a:ln>
          </a:insideH>
          <a:insideV>
            <a:ln>
              <a:noFill/>
            </a:ln>
          </a:insideV>
        </a:tcBdr>
      </a:tcStyle>
    </a:band2V>
    <a:lastCol>
      <a:tcTxStyle b="on">
        <a:fontRef idx="none">
          <a:srgbClr val="08090C"/>
        </a:fontRef>
      </a:tcTxStyle>
      <a:tcStyle>
        <a:tcBdr>
          <a:left>
            <a:ln w="9525" cmpd="sng">
              <a:solidFill>
                <a:srgbClr val="333333">
                  <a:lumMod val="40000"/>
                  <a:lumOff val="60000"/>
                </a:srgbClr>
              </a:solidFill>
              <a:prstDash val="solid"/>
            </a:ln>
          </a:left>
          <a:right>
            <a:ln w="9525" cmpd="sng">
              <a:solidFill>
                <a:srgbClr val="333333"/>
              </a:solidFill>
              <a:prstDash val="solid"/>
            </a:ln>
          </a:right>
          <a:top>
            <a:ln w="9525" cmpd="sng">
              <a:solidFill>
                <a:srgbClr val="333333"/>
              </a:solidFill>
              <a:prstDash val="solid"/>
            </a:ln>
          </a:top>
          <a:bottom>
            <a:ln w="9525" cmpd="sng">
              <a:solidFill>
                <a:srgbClr val="333333"/>
              </a:solidFill>
              <a:prstDash val="solid"/>
            </a:ln>
          </a:bottom>
          <a:insideH>
            <a:ln w="9525" cmpd="sng">
              <a:solidFill>
                <a:srgbClr val="333333">
                  <a:lumMod val="40000"/>
                  <a:lumOff val="60000"/>
                </a:srgbClr>
              </a:solidFill>
              <a:prstDash val="solid"/>
            </a:ln>
          </a:insideH>
          <a:insideV>
            <a:ln>
              <a:noFill/>
            </a:ln>
          </a:insideV>
        </a:tcBdr>
        <a:fill>
          <a:solidFill>
            <a:srgbClr val="333333">
              <a:lumMod val="20000"/>
              <a:lumOff val="80000"/>
            </a:srgbClr>
          </a:solidFill>
        </a:fill>
      </a:tcStyle>
    </a:lastCol>
    <a:firstCol>
      <a:tcTxStyle b="on">
        <a:fontRef idx="none">
          <a:srgbClr val="08090C"/>
        </a:fontRef>
      </a:tcTxStyle>
      <a:tcStyle>
        <a:tcBdr>
          <a:left>
            <a:ln w="9525" cmpd="sng">
              <a:solidFill>
                <a:srgbClr val="333333"/>
              </a:solidFill>
              <a:prstDash val="solid"/>
            </a:ln>
          </a:left>
          <a:right>
            <a:ln w="9525" cmpd="sng">
              <a:solidFill>
                <a:srgbClr val="333333">
                  <a:lumMod val="40000"/>
                  <a:lumOff val="60000"/>
                </a:srgbClr>
              </a:solidFill>
              <a:prstDash val="solid"/>
            </a:ln>
          </a:right>
          <a:top>
            <a:ln w="9525" cmpd="sng">
              <a:solidFill>
                <a:srgbClr val="333333"/>
              </a:solidFill>
              <a:prstDash val="solid"/>
            </a:ln>
          </a:top>
          <a:bottom>
            <a:ln w="9525" cmpd="sng">
              <a:solidFill>
                <a:srgbClr val="333333"/>
              </a:solidFill>
              <a:prstDash val="solid"/>
            </a:ln>
          </a:bottom>
          <a:insideH>
            <a:ln w="9525" cmpd="sng">
              <a:solidFill>
                <a:srgbClr val="333333">
                  <a:lumMod val="40000"/>
                  <a:lumOff val="60000"/>
                </a:srgbClr>
              </a:solidFill>
              <a:prstDash val="solid"/>
            </a:ln>
          </a:insideH>
          <a:insideV>
            <a:ln>
              <a:noFill/>
            </a:ln>
          </a:insideV>
        </a:tcBdr>
        <a:fill>
          <a:solidFill>
            <a:srgbClr val="333333">
              <a:lumMod val="20000"/>
              <a:lumOff val="80000"/>
            </a:srgbClr>
          </a:solidFill>
        </a:fill>
      </a:tcStyle>
    </a:firstCol>
    <a:lastRow>
      <a:tcTxStyle b="on">
        <a:fontRef idx="none">
          <a:srgbClr val="333333"/>
        </a:fontRef>
      </a:tcTxStyle>
      <a:tcStyle>
        <a:tcBdr>
          <a:left>
            <a:ln w="9525" cmpd="sng">
              <a:solidFill>
                <a:srgbClr val="333333"/>
              </a:solidFill>
              <a:prstDash val="solid"/>
            </a:ln>
          </a:left>
          <a:right>
            <a:ln w="9525" cmpd="sng">
              <a:solidFill>
                <a:srgbClr val="333333"/>
              </a:solidFill>
              <a:prstDash val="solid"/>
            </a:ln>
          </a:right>
          <a:top>
            <a:ln w="9525" cmpd="sng">
              <a:solidFill>
                <a:srgbClr val="333333"/>
              </a:solidFill>
              <a:prstDash val="solid"/>
            </a:ln>
          </a:top>
          <a:bottom>
            <a:ln w="9525" cmpd="sng">
              <a:solidFill>
                <a:srgbClr val="333333"/>
              </a:solidFill>
              <a:prstDash val="solid"/>
            </a:ln>
          </a:bottom>
          <a:insideH>
            <a:ln>
              <a:noFill/>
            </a:ln>
          </a:insideH>
          <a:insideV>
            <a:ln>
              <a:noFill/>
            </a:ln>
          </a:insideV>
        </a:tcBdr>
        <a:fill>
          <a:solidFill>
            <a:srgbClr val="FFFFFF"/>
          </a:solidFill>
        </a:fill>
      </a:tcStyle>
    </a:lastRow>
    <a:seCell>
      <a:tcStyle>
        <a:tcBdr>
          <a:left>
            <a:ln>
              <a:noFill/>
            </a:ln>
          </a:left>
          <a:right>
            <a:ln w="9525" cmpd="sng">
              <a:solidFill>
                <a:srgbClr val="333333"/>
              </a:solidFill>
              <a:prstDash val="solid"/>
            </a:ln>
          </a:right>
          <a:top>
            <a:ln w="9525" cmpd="sng">
              <a:solidFill>
                <a:srgbClr val="333333"/>
              </a:solidFill>
              <a:prstDash val="solid"/>
            </a:ln>
          </a:top>
          <a:bottom>
            <a:ln w="9525" cmpd="sng">
              <a:solidFill>
                <a:srgbClr val="333333"/>
              </a:solidFill>
              <a:prstDash val="solid"/>
            </a:ln>
          </a:bottom>
          <a:insideH>
            <a:ln>
              <a:noFill/>
            </a:ln>
          </a:insideH>
          <a:insideV>
            <a:ln>
              <a:noFill/>
            </a:ln>
          </a:insideV>
        </a:tcBdr>
        <a:fill>
          <a:solidFill>
            <a:srgbClr val="FFFFFF"/>
          </a:solidFill>
        </a:fill>
      </a:tcStyle>
    </a:seCell>
    <a:swCell>
      <a:tcTxStyle b="on">
        <a:fontRef idx="none">
          <a:srgbClr val="333333"/>
        </a:fontRef>
      </a:tcTxStyle>
      <a:tcStyle>
        <a:tcBdr>
          <a:left>
            <a:ln w="9525" cmpd="sng">
              <a:solidFill>
                <a:srgbClr val="333333"/>
              </a:solidFill>
              <a:prstDash val="solid"/>
            </a:ln>
          </a:left>
          <a:right>
            <a:ln>
              <a:noFill/>
            </a:ln>
          </a:right>
          <a:top>
            <a:ln w="9525" cmpd="sng">
              <a:solidFill>
                <a:srgbClr val="333333"/>
              </a:solidFill>
              <a:prstDash val="solid"/>
            </a:ln>
          </a:top>
          <a:bottom>
            <a:ln w="9525" cmpd="sng">
              <a:solidFill>
                <a:srgbClr val="333333"/>
              </a:solidFill>
              <a:prstDash val="solid"/>
            </a:ln>
          </a:bottom>
          <a:insideH>
            <a:ln>
              <a:noFill/>
            </a:ln>
          </a:insideH>
          <a:insideV>
            <a:ln>
              <a:noFill/>
            </a:ln>
          </a:insideV>
        </a:tcBdr>
        <a:fill>
          <a:solidFill>
            <a:srgbClr val="FFFFFF"/>
          </a:solidFill>
        </a:fill>
      </a:tcStyle>
    </a:swCell>
    <a:firstRow>
      <a:tcTxStyle b="on">
        <a:fontRef idx="none">
          <a:srgbClr val="FFFFFF"/>
        </a:fontRef>
      </a:tcTxStyle>
      <a:tcStyle>
        <a:tcBdr>
          <a:left>
            <a:ln w="9525" cmpd="sng">
              <a:solidFill>
                <a:srgbClr val="333333"/>
              </a:solidFill>
              <a:prstDash val="solid"/>
            </a:ln>
          </a:left>
          <a:right>
            <a:ln w="9525" cmpd="sng">
              <a:solidFill>
                <a:srgbClr val="333333"/>
              </a:solidFill>
              <a:prstDash val="solid"/>
            </a:ln>
          </a:right>
          <a:top>
            <a:ln w="9525" cmpd="sng">
              <a:solidFill>
                <a:srgbClr val="333333"/>
              </a:solidFill>
              <a:prstDash val="solid"/>
            </a:ln>
          </a:top>
          <a:bottom>
            <a:ln w="9525" cmpd="sng">
              <a:solidFill>
                <a:srgbClr val="333333"/>
              </a:solidFill>
              <a:prstDash val="solid"/>
            </a:ln>
          </a:bottom>
          <a:insideH>
            <a:ln>
              <a:noFill/>
            </a:ln>
          </a:insideH>
          <a:insideV>
            <a:ln w="9525" cmpd="sng">
              <a:solidFill>
                <a:srgbClr val="333333">
                  <a:lumMod val="40000"/>
                  <a:lumOff val="60000"/>
                </a:srgbClr>
              </a:solidFill>
              <a:prstDash val="solid"/>
            </a:ln>
          </a:insideV>
        </a:tcBdr>
        <a:fill>
          <a:solidFill>
            <a:srgbClr val="33333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391" autoAdjust="0"/>
    <p:restoredTop sz="90369" autoAdjust="0"/>
  </p:normalViewPr>
  <p:slideViewPr>
    <p:cSldViewPr snapToGrid="0" showGuides="1">
      <p:cViewPr varScale="1">
        <p:scale>
          <a:sx n="101" d="100"/>
          <a:sy n="101" d="100"/>
        </p:scale>
        <p:origin x="1026" y="84"/>
      </p:cViewPr>
      <p:guideLst>
        <p:guide orient="horz" pos="792"/>
        <p:guide orient="horz" pos="3764"/>
        <p:guide orient="horz" pos="496"/>
        <p:guide pos="201"/>
        <p:guide pos="7478"/>
      </p:guideLst>
    </p:cSldViewPr>
  </p:slideViewPr>
  <p:notesTextViewPr>
    <p:cViewPr>
      <p:scale>
        <a:sx n="150" d="100"/>
        <a:sy n="150" d="100"/>
      </p:scale>
      <p:origin x="0" y="0"/>
    </p:cViewPr>
  </p:notesTextViewPr>
  <p:sorterViewPr>
    <p:cViewPr>
      <p:scale>
        <a:sx n="150" d="100"/>
        <a:sy n="150" d="100"/>
      </p:scale>
      <p:origin x="0" y="0"/>
    </p:cViewPr>
  </p:sorterViewPr>
  <p:notesViewPr>
    <p:cSldViewPr snapToGrid="0">
      <p:cViewPr varScale="1">
        <p:scale>
          <a:sx n="86" d="100"/>
          <a:sy n="86" d="100"/>
        </p:scale>
        <p:origin x="3864" y="72"/>
      </p:cViewPr>
      <p:guideLst/>
    </p:cSldViewPr>
  </p:notes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5" Type="http://schemas.openxmlformats.org/officeDocument/2006/relationships/tags" Target="tags/tag11.xml"/><Relationship Id="rId54" Type="http://schemas.openxmlformats.org/officeDocument/2006/relationships/commentAuthors" Target="commentAuthors.xml"/><Relationship Id="rId53" Type="http://schemas.openxmlformats.org/officeDocument/2006/relationships/tableStyles" Target="tableStyles.xml"/><Relationship Id="rId52" Type="http://schemas.openxmlformats.org/officeDocument/2006/relationships/viewProps" Target="viewProps.xml"/><Relationship Id="rId51" Type="http://schemas.openxmlformats.org/officeDocument/2006/relationships/presProps" Target="presProps.xml"/><Relationship Id="rId50" Type="http://schemas.openxmlformats.org/officeDocument/2006/relationships/handoutMaster" Target="handoutMasters/handoutMaster1.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3AD318E-B422-411C-B047-DCD95D3A32B7}"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F2D27F2-61DB-4CA3-9344-190B6BB4669D}" type="slidenum">
              <a:rPr lang="zh-CN" altLang="en-US" smtClean="0"/>
            </a:fld>
            <a:endParaRPr lang="zh-CN" altLang="en-US"/>
          </a:p>
        </p:txBody>
      </p:sp>
    </p:spTree>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FC9FFD-D8AA-488B-9BFA-098B695BC299}"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D00846-457A-42D0-BAE3-D1C1DA28179F}" type="slidenum">
              <a:rPr lang="zh-CN" altLang="en-US" smtClean="0"/>
            </a:fld>
            <a:endParaRPr lang="zh-CN" altLang="en-US"/>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D24F1EC-20B9-4ACE-BEBF-DBFEB11C13A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808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C411882-E5A8-4688-96CF-E31BAE27AF2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cxnSp>
        <p:nvCxnSpPr>
          <p:cNvPr id="2" name="直接连接符 1"/>
          <p:cNvCxnSpPr/>
          <p:nvPr userDrawn="1"/>
        </p:nvCxnSpPr>
        <p:spPr bwMode="auto">
          <a:xfrm>
            <a:off x="375072" y="1270536"/>
            <a:ext cx="11441856" cy="0"/>
          </a:xfrm>
          <a:prstGeom prst="line">
            <a:avLst/>
          </a:prstGeom>
          <a:ln>
            <a:solidFill>
              <a:schemeClr val="accent3">
                <a:lumMod val="75000"/>
              </a:schemeClr>
            </a:solidFill>
          </a:ln>
          <a:effectLst>
            <a:outerShdw blurRad="12700" dist="12700" dir="5400000" algn="t" rotWithShape="0">
              <a:schemeClr val="bg1">
                <a:lumMod val="85000"/>
              </a:scheme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空白">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内容页">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3B1E82A9-6DD8-4235-A121-77FAC3560523}"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3F500D6-CA77-4CC9-8011-02986DED2B40}"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cxnSp>
        <p:nvCxnSpPr>
          <p:cNvPr id="2" name="直接连接符 1"/>
          <p:cNvCxnSpPr/>
          <p:nvPr userDrawn="1"/>
        </p:nvCxnSpPr>
        <p:spPr bwMode="auto">
          <a:xfrm>
            <a:off x="375072" y="1270536"/>
            <a:ext cx="11441856" cy="0"/>
          </a:xfrm>
          <a:prstGeom prst="line">
            <a:avLst/>
          </a:prstGeom>
          <a:ln>
            <a:solidFill>
              <a:schemeClr val="accent3">
                <a:lumMod val="75000"/>
              </a:schemeClr>
            </a:solidFill>
          </a:ln>
          <a:effectLst>
            <a:outerShdw blurRad="12700" dist="12700" dir="5400000" algn="t" rotWithShape="0">
              <a:schemeClr val="bg1">
                <a:lumMod val="85000"/>
              </a:scheme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空白">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内容页">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3B1E82A9-6DD8-4235-A121-77FAC3560523}"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3F500D6-CA77-4CC9-8011-02986DED2B40}"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image" Target="../media/image1.png"/><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7" Type="http://schemas.openxmlformats.org/officeDocument/2006/relationships/image" Target="../media/image1.png"/><Relationship Id="rId6" Type="http://schemas.openxmlformats.org/officeDocument/2006/relationships/slideLayout" Target="../slideLayouts/slideLayout11.xml"/><Relationship Id="rId5" Type="http://schemas.openxmlformats.org/officeDocument/2006/relationships/slideLayout" Target="../slideLayouts/slideLayout10.xml"/><Relationship Id="rId4" Type="http://schemas.openxmlformats.org/officeDocument/2006/relationships/slideLayout" Target="../slideLayouts/slideLayout9.xml"/><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Line 2"/>
          <p:cNvSpPr>
            <a:spLocks noChangeShapeType="1"/>
          </p:cNvSpPr>
          <p:nvPr/>
        </p:nvSpPr>
        <p:spPr bwMode="auto">
          <a:xfrm>
            <a:off x="0" y="764704"/>
            <a:ext cx="12192000"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lIns="121869" tIns="60935" rIns="121869" bIns="60935"/>
          <a:lstStyle/>
          <a:p>
            <a:pPr marL="0" marR="0" lvl="0" indent="0" algn="l" defTabSz="1218565"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charset="-122"/>
              <a:cs typeface="+mn-cs"/>
            </a:endParaRPr>
          </a:p>
        </p:txBody>
      </p:sp>
      <p:pic>
        <p:nvPicPr>
          <p:cNvPr id="6" name="Picture 17" descr="logo"/>
          <p:cNvPicPr>
            <a:picLocks noChangeAspect="1" noChangeArrowheads="1"/>
          </p:cNvPicPr>
          <p:nvPr/>
        </p:nvPicPr>
        <p:blipFill>
          <a:blip r:embed="rId6" cstate="print">
            <a:extLst>
              <a:ext uri="{28A0092B-C50C-407E-A947-70E740481C1C}">
                <a14:useLocalDpi xmlns:a14="http://schemas.microsoft.com/office/drawing/2010/main" val="0"/>
              </a:ext>
            </a:extLst>
          </a:blip>
          <a:stretch>
            <a:fillRect/>
          </a:stretch>
        </p:blipFill>
        <p:spPr bwMode="auto">
          <a:xfrm>
            <a:off x="141629" y="106728"/>
            <a:ext cx="960108" cy="576377"/>
          </a:xfrm>
          <a:prstGeom prst="rect">
            <a:avLst/>
          </a:prstGeom>
          <a:noFill/>
          <a:ln>
            <a:noFill/>
          </a:ln>
          <a:effectLst>
            <a:outerShdw blurRad="50800" dist="38100" dir="2700000" algn="tl" rotWithShape="0">
              <a:prstClr val="black">
                <a:alpha val="40000"/>
              </a:prstClr>
            </a:outerShdw>
          </a:effectLst>
        </p:spPr>
      </p:pic>
      <p:sp>
        <p:nvSpPr>
          <p:cNvPr id="5" name="页脚占位符 14"/>
          <p:cNvSpPr txBox="1"/>
          <p:nvPr userDrawn="1"/>
        </p:nvSpPr>
        <p:spPr>
          <a:xfrm>
            <a:off x="0" y="6552723"/>
            <a:ext cx="12192000" cy="315912"/>
          </a:xfrm>
          <a:prstGeom prst="rect">
            <a:avLst/>
          </a:prstGeom>
        </p:spPr>
        <p:txBody>
          <a:bodyPr lIns="121860" tIns="60929" rIns="121860" bIns="60929"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1218565" rtl="0" eaLnBrk="1" fontAlgn="base" latinLnBrk="0" hangingPunct="1">
              <a:lnSpc>
                <a:spcPct val="100000"/>
              </a:lnSpc>
              <a:spcBef>
                <a:spcPct val="0"/>
              </a:spcBef>
              <a:spcAft>
                <a:spcPct val="0"/>
              </a:spcAft>
              <a:buClrTx/>
              <a:buSzTx/>
              <a:buFontTx/>
              <a:buNone/>
              <a:defRPr/>
            </a:pPr>
            <a:r>
              <a:rPr kumimoji="0" lang="zh-CN" altLang="en-US" sz="13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rPr>
              <a:t>第</a:t>
            </a:r>
            <a:fld id="{59289A8C-BE81-4798-AA0F-338892BB7184}" type="slidenum">
              <a:rPr kumimoji="1" lang="zh-CN" altLang="en-US" sz="1300" b="0" i="0" u="none" strike="noStrike" kern="1200" cap="none" spc="0" normalizeH="0" baseline="0" noProof="0" dirty="0" smtClean="0">
                <a:ln>
                  <a:noFill/>
                </a:ln>
                <a:solidFill>
                  <a:srgbClr val="898989"/>
                </a:solidFill>
                <a:effectLst/>
                <a:uLnTx/>
                <a:uFillTx/>
                <a:latin typeface="Arial" panose="020B0604020202020204"/>
                <a:ea typeface="黑体" panose="02010609060101010101" charset="-122"/>
                <a:cs typeface="+mn-cs"/>
              </a:rPr>
            </a:fld>
            <a:r>
              <a:rPr kumimoji="0" lang="zh-CN" altLang="en-US" sz="13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rPr>
              <a:t>页</a:t>
            </a:r>
            <a:r>
              <a:rPr kumimoji="0" lang="en-US" altLang="zh-CN" sz="13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rPr>
              <a:t>/</a:t>
            </a:r>
            <a:r>
              <a:rPr kumimoji="0" lang="zh-CN" altLang="en-US" sz="13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rPr>
              <a:t>共</a:t>
            </a:r>
            <a:r>
              <a:rPr kumimoji="0" lang="en-US" altLang="zh-CN" sz="13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rPr>
              <a:t>45</a:t>
            </a:r>
            <a:r>
              <a:rPr kumimoji="0" lang="zh-CN" altLang="en-US" sz="13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rPr>
              <a:t>页</a:t>
            </a:r>
            <a:endParaRPr kumimoji="0" lang="zh-CN" altLang="en-US" sz="13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ctr" rtl="0" eaLnBrk="0" fontAlgn="base" hangingPunct="0">
        <a:spcBef>
          <a:spcPct val="0"/>
        </a:spcBef>
        <a:spcAft>
          <a:spcPct val="0"/>
        </a:spcAft>
        <a:defRPr sz="4800" b="1">
          <a:solidFill>
            <a:schemeClr val="hlink"/>
          </a:solidFill>
          <a:latin typeface="+mj-lt"/>
          <a:ea typeface="+mj-ea"/>
          <a:cs typeface="+mj-cs"/>
        </a:defRPr>
      </a:lvl1pPr>
      <a:lvl2pPr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2pPr>
      <a:lvl3pPr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3pPr>
      <a:lvl4pPr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4pPr>
      <a:lvl5pPr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5pPr>
      <a:lvl6pPr marL="609600"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6pPr>
      <a:lvl7pPr marL="1218565"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7pPr>
      <a:lvl8pPr marL="1828165"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8pPr>
      <a:lvl9pPr marL="2437765"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9pPr>
    </p:titleStyle>
    <p:bodyStyle>
      <a:lvl1pPr marL="457200" indent="-457200" algn="l" rtl="0" eaLnBrk="0" fontAlgn="base" hangingPunct="0">
        <a:spcBef>
          <a:spcPct val="20000"/>
        </a:spcBef>
        <a:spcAft>
          <a:spcPct val="0"/>
        </a:spcAft>
        <a:buClr>
          <a:schemeClr val="folHlink"/>
        </a:buClr>
        <a:buSzPct val="60000"/>
        <a:buFont typeface="Wingdings" panose="05000000000000000000" pitchFamily="2" charset="2"/>
        <a:buChar char="n"/>
        <a:defRPr sz="4265" b="1">
          <a:solidFill>
            <a:srgbClr val="0000FF"/>
          </a:solidFill>
          <a:latin typeface="+mn-lt"/>
          <a:ea typeface="+mn-ea"/>
          <a:cs typeface="+mn-cs"/>
        </a:defRPr>
      </a:lvl1pPr>
      <a:lvl2pPr marL="989965" indent="-381000" algn="l" rtl="0" eaLnBrk="0" fontAlgn="base" hangingPunct="0">
        <a:spcBef>
          <a:spcPct val="20000"/>
        </a:spcBef>
        <a:spcAft>
          <a:spcPct val="0"/>
        </a:spcAft>
        <a:buClr>
          <a:schemeClr val="hlink"/>
        </a:buClr>
        <a:buSzPct val="55000"/>
        <a:buFont typeface="Wingdings" panose="05000000000000000000" pitchFamily="2" charset="2"/>
        <a:buChar char="n"/>
        <a:defRPr sz="3735" b="1">
          <a:solidFill>
            <a:schemeClr val="tx1"/>
          </a:solidFill>
          <a:latin typeface="+mn-lt"/>
          <a:ea typeface="+mn-ea"/>
        </a:defRPr>
      </a:lvl2pPr>
      <a:lvl3pPr marL="1523365" indent="-304800" algn="l" rtl="0" eaLnBrk="0" fontAlgn="base" hangingPunct="0">
        <a:spcBef>
          <a:spcPct val="20000"/>
        </a:spcBef>
        <a:spcAft>
          <a:spcPct val="0"/>
        </a:spcAft>
        <a:buClr>
          <a:schemeClr val="folHlink"/>
        </a:buClr>
        <a:buSzPct val="50000"/>
        <a:buFont typeface="Wingdings" panose="05000000000000000000" pitchFamily="2" charset="2"/>
        <a:buChar char="n"/>
        <a:defRPr sz="3200" b="1">
          <a:solidFill>
            <a:schemeClr val="tx1"/>
          </a:solidFill>
          <a:latin typeface="+mn-lt"/>
          <a:ea typeface="+mn-ea"/>
        </a:defRPr>
      </a:lvl3pPr>
      <a:lvl4pPr marL="2132965" indent="-304800" algn="l" rtl="0" eaLnBrk="0" fontAlgn="base" hangingPunct="0">
        <a:spcBef>
          <a:spcPct val="20000"/>
        </a:spcBef>
        <a:spcAft>
          <a:spcPct val="0"/>
        </a:spcAft>
        <a:buClr>
          <a:schemeClr val="accent2"/>
        </a:buClr>
        <a:buSzPct val="55000"/>
        <a:buFont typeface="Wingdings" panose="05000000000000000000" pitchFamily="2" charset="2"/>
        <a:buChar char="n"/>
        <a:defRPr sz="2665" b="1">
          <a:solidFill>
            <a:schemeClr val="tx1"/>
          </a:solidFill>
          <a:latin typeface="+mn-lt"/>
          <a:ea typeface="+mn-ea"/>
        </a:defRPr>
      </a:lvl4pPr>
      <a:lvl5pPr marL="2741295" indent="-304800" algn="l" rtl="0" eaLnBrk="0" fontAlgn="base" hangingPunct="0">
        <a:spcBef>
          <a:spcPct val="20000"/>
        </a:spcBef>
        <a:spcAft>
          <a:spcPct val="0"/>
        </a:spcAft>
        <a:buClr>
          <a:schemeClr val="accent1"/>
        </a:buClr>
        <a:buSzPct val="50000"/>
        <a:buFont typeface="Wingdings" panose="05000000000000000000" pitchFamily="2" charset="2"/>
        <a:buChar char="n"/>
        <a:defRPr sz="2665" b="1">
          <a:solidFill>
            <a:schemeClr val="tx1"/>
          </a:solidFill>
          <a:latin typeface="+mn-lt"/>
          <a:ea typeface="+mn-ea"/>
        </a:defRPr>
      </a:lvl5pPr>
      <a:lvl6pPr marL="3350895" indent="-304800" algn="l" rtl="0" eaLnBrk="0" fontAlgn="base" hangingPunct="0">
        <a:spcBef>
          <a:spcPct val="20000"/>
        </a:spcBef>
        <a:spcAft>
          <a:spcPct val="0"/>
        </a:spcAft>
        <a:buClr>
          <a:schemeClr val="accent1"/>
        </a:buClr>
        <a:buSzPct val="50000"/>
        <a:buFont typeface="Wingdings" panose="05000000000000000000" pitchFamily="2" charset="2"/>
        <a:buChar char="n"/>
        <a:defRPr sz="2665" b="1">
          <a:solidFill>
            <a:schemeClr val="tx1"/>
          </a:solidFill>
          <a:latin typeface="+mn-lt"/>
          <a:ea typeface="+mn-ea"/>
        </a:defRPr>
      </a:lvl6pPr>
      <a:lvl7pPr marL="3960495" indent="-304800" algn="l" rtl="0" eaLnBrk="0" fontAlgn="base" hangingPunct="0">
        <a:spcBef>
          <a:spcPct val="20000"/>
        </a:spcBef>
        <a:spcAft>
          <a:spcPct val="0"/>
        </a:spcAft>
        <a:buClr>
          <a:schemeClr val="accent1"/>
        </a:buClr>
        <a:buSzPct val="50000"/>
        <a:buFont typeface="Wingdings" panose="05000000000000000000" pitchFamily="2" charset="2"/>
        <a:buChar char="n"/>
        <a:defRPr sz="2665" b="1">
          <a:solidFill>
            <a:schemeClr val="tx1"/>
          </a:solidFill>
          <a:latin typeface="+mn-lt"/>
          <a:ea typeface="+mn-ea"/>
        </a:defRPr>
      </a:lvl7pPr>
      <a:lvl8pPr marL="4569460" indent="-304800" algn="l" rtl="0" eaLnBrk="0" fontAlgn="base" hangingPunct="0">
        <a:spcBef>
          <a:spcPct val="20000"/>
        </a:spcBef>
        <a:spcAft>
          <a:spcPct val="0"/>
        </a:spcAft>
        <a:buClr>
          <a:schemeClr val="accent1"/>
        </a:buClr>
        <a:buSzPct val="50000"/>
        <a:buFont typeface="Wingdings" panose="05000000000000000000" pitchFamily="2" charset="2"/>
        <a:buChar char="n"/>
        <a:defRPr sz="2665" b="1">
          <a:solidFill>
            <a:schemeClr val="tx1"/>
          </a:solidFill>
          <a:latin typeface="+mn-lt"/>
          <a:ea typeface="+mn-ea"/>
        </a:defRPr>
      </a:lvl8pPr>
      <a:lvl9pPr marL="5179060" indent="-304800" algn="l" rtl="0" eaLnBrk="0" fontAlgn="base" hangingPunct="0">
        <a:spcBef>
          <a:spcPct val="20000"/>
        </a:spcBef>
        <a:spcAft>
          <a:spcPct val="0"/>
        </a:spcAft>
        <a:buClr>
          <a:schemeClr val="accent1"/>
        </a:buClr>
        <a:buSzPct val="50000"/>
        <a:buFont typeface="Wingdings" panose="05000000000000000000" pitchFamily="2" charset="2"/>
        <a:buChar char="n"/>
        <a:defRPr sz="2665" b="1">
          <a:solidFill>
            <a:schemeClr val="tx1"/>
          </a:solidFill>
          <a:latin typeface="+mn-lt"/>
          <a:ea typeface="+mn-ea"/>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095" algn="l" defTabSz="1218565" rtl="0" eaLnBrk="1" latinLnBrk="0" hangingPunct="1">
        <a:defRPr sz="2400" kern="1200">
          <a:solidFill>
            <a:schemeClr val="tx1"/>
          </a:solidFill>
          <a:latin typeface="+mn-lt"/>
          <a:ea typeface="+mn-ea"/>
          <a:cs typeface="+mn-cs"/>
        </a:defRPr>
      </a:lvl6pPr>
      <a:lvl7pPr marL="3655695" algn="l" defTabSz="1218565" rtl="0" eaLnBrk="1" latinLnBrk="0" hangingPunct="1">
        <a:defRPr sz="2400" kern="1200">
          <a:solidFill>
            <a:schemeClr val="tx1"/>
          </a:solidFill>
          <a:latin typeface="+mn-lt"/>
          <a:ea typeface="+mn-ea"/>
          <a:cs typeface="+mn-cs"/>
        </a:defRPr>
      </a:lvl7pPr>
      <a:lvl8pPr marL="4265295" algn="l" defTabSz="1218565" rtl="0" eaLnBrk="1" latinLnBrk="0" hangingPunct="1">
        <a:defRPr sz="2400" kern="1200">
          <a:solidFill>
            <a:schemeClr val="tx1"/>
          </a:solidFill>
          <a:latin typeface="+mn-lt"/>
          <a:ea typeface="+mn-ea"/>
          <a:cs typeface="+mn-cs"/>
        </a:defRPr>
      </a:lvl8pPr>
      <a:lvl9pPr marL="4874260" algn="l" defTabSz="1218565"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Line 2"/>
          <p:cNvSpPr>
            <a:spLocks noChangeShapeType="1"/>
          </p:cNvSpPr>
          <p:nvPr/>
        </p:nvSpPr>
        <p:spPr bwMode="auto">
          <a:xfrm>
            <a:off x="0" y="764704"/>
            <a:ext cx="12192000"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lIns="121869" tIns="60935" rIns="121869" bIns="60935"/>
          <a:lstStyle/>
          <a:p>
            <a:pPr marL="0" marR="0" lvl="0" indent="0" algn="l" defTabSz="1218565"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charset="-122"/>
              <a:cs typeface="+mn-cs"/>
            </a:endParaRPr>
          </a:p>
        </p:txBody>
      </p:sp>
      <p:pic>
        <p:nvPicPr>
          <p:cNvPr id="6" name="Picture 17" descr="logo"/>
          <p:cNvPicPr>
            <a:picLocks noChangeAspect="1" noChangeArrowheads="1"/>
          </p:cNvPicPr>
          <p:nvPr/>
        </p:nvPicPr>
        <p:blipFill>
          <a:blip r:embed="rId7" cstate="print">
            <a:extLst>
              <a:ext uri="{28A0092B-C50C-407E-A947-70E740481C1C}">
                <a14:useLocalDpi xmlns:a14="http://schemas.microsoft.com/office/drawing/2010/main" val="0"/>
              </a:ext>
            </a:extLst>
          </a:blip>
          <a:stretch>
            <a:fillRect/>
          </a:stretch>
        </p:blipFill>
        <p:spPr bwMode="auto">
          <a:xfrm>
            <a:off x="141629" y="106728"/>
            <a:ext cx="960108" cy="576377"/>
          </a:xfrm>
          <a:prstGeom prst="rect">
            <a:avLst/>
          </a:prstGeom>
          <a:noFill/>
          <a:ln>
            <a:noFill/>
          </a:ln>
          <a:effectLst>
            <a:outerShdw blurRad="50800" dist="38100" dir="2700000" algn="tl" rotWithShape="0">
              <a:prstClr val="black">
                <a:alpha val="40000"/>
              </a:prstClr>
            </a:outerShdw>
          </a:effectLst>
        </p:spPr>
      </p:pic>
      <p:sp>
        <p:nvSpPr>
          <p:cNvPr id="5" name="页脚占位符 14"/>
          <p:cNvSpPr txBox="1"/>
          <p:nvPr userDrawn="1"/>
        </p:nvSpPr>
        <p:spPr>
          <a:xfrm>
            <a:off x="0" y="6552723"/>
            <a:ext cx="12192000" cy="315912"/>
          </a:xfrm>
          <a:prstGeom prst="rect">
            <a:avLst/>
          </a:prstGeom>
        </p:spPr>
        <p:txBody>
          <a:bodyPr lIns="121860" tIns="60929" rIns="121860" bIns="60929"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1218565" rtl="0" eaLnBrk="1" fontAlgn="base" latinLnBrk="0" hangingPunct="1">
              <a:lnSpc>
                <a:spcPct val="100000"/>
              </a:lnSpc>
              <a:spcBef>
                <a:spcPct val="0"/>
              </a:spcBef>
              <a:spcAft>
                <a:spcPct val="0"/>
              </a:spcAft>
              <a:buClrTx/>
              <a:buSzTx/>
              <a:buFontTx/>
              <a:buNone/>
              <a:defRPr/>
            </a:pPr>
            <a:r>
              <a:rPr kumimoji="0" lang="zh-CN" altLang="en-US" sz="13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rPr>
              <a:t>第</a:t>
            </a:r>
            <a:fld id="{59289A8C-BE81-4798-AA0F-338892BB7184}" type="slidenum">
              <a:rPr kumimoji="1" lang="zh-CN" altLang="en-US" sz="1300" b="0" i="0" u="none" strike="noStrike" kern="1200" cap="none" spc="0" normalizeH="0" baseline="0" noProof="0" dirty="0" smtClean="0">
                <a:ln>
                  <a:noFill/>
                </a:ln>
                <a:solidFill>
                  <a:srgbClr val="898989"/>
                </a:solidFill>
                <a:effectLst/>
                <a:uLnTx/>
                <a:uFillTx/>
                <a:latin typeface="Arial" panose="020B0604020202020204"/>
                <a:ea typeface="黑体" panose="02010609060101010101" charset="-122"/>
                <a:cs typeface="+mn-cs"/>
              </a:rPr>
            </a:fld>
            <a:r>
              <a:rPr kumimoji="0" lang="zh-CN" altLang="en-US" sz="13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rPr>
              <a:t>页</a:t>
            </a:r>
            <a:r>
              <a:rPr kumimoji="0" lang="en-US" altLang="zh-CN" sz="13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rPr>
              <a:t>/</a:t>
            </a:r>
            <a:r>
              <a:rPr kumimoji="0" lang="zh-CN" altLang="en-US" sz="13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rPr>
              <a:t>共</a:t>
            </a:r>
            <a:r>
              <a:rPr kumimoji="0" lang="en-US" altLang="zh-CN" sz="13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rPr>
              <a:t>45</a:t>
            </a:r>
            <a:r>
              <a:rPr kumimoji="0" lang="zh-CN" altLang="en-US" sz="13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rPr>
              <a:t>页</a:t>
            </a:r>
            <a:endParaRPr kumimoji="0" lang="zh-CN" altLang="en-US" sz="1300" b="0" i="0" u="none" strike="noStrike" kern="1200" cap="none" spc="0" normalizeH="0" baseline="0" noProof="0" dirty="0">
              <a:ln>
                <a:noFill/>
              </a:ln>
              <a:solidFill>
                <a:srgbClr val="898989"/>
              </a:solidFill>
              <a:effectLst/>
              <a:uLnTx/>
              <a:uFillTx/>
              <a:latin typeface="Arial" panose="020B0604020202020204"/>
              <a:ea typeface="黑体" panose="02010609060101010101" charset="-122"/>
              <a:cs typeface="+mn-cs"/>
            </a:endParaRPr>
          </a:p>
        </p:txBody>
      </p:sp>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Lst>
  <p:txStyles>
    <p:titleStyle>
      <a:lvl1pPr algn="ctr" rtl="0" eaLnBrk="0" fontAlgn="base" hangingPunct="0">
        <a:spcBef>
          <a:spcPct val="0"/>
        </a:spcBef>
        <a:spcAft>
          <a:spcPct val="0"/>
        </a:spcAft>
        <a:defRPr sz="4800" b="1">
          <a:solidFill>
            <a:schemeClr val="hlink"/>
          </a:solidFill>
          <a:latin typeface="+mj-lt"/>
          <a:ea typeface="+mj-ea"/>
          <a:cs typeface="+mj-cs"/>
        </a:defRPr>
      </a:lvl1pPr>
      <a:lvl2pPr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2pPr>
      <a:lvl3pPr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3pPr>
      <a:lvl4pPr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4pPr>
      <a:lvl5pPr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5pPr>
      <a:lvl6pPr marL="609600"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6pPr>
      <a:lvl7pPr marL="1218565"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7pPr>
      <a:lvl8pPr marL="1828165"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8pPr>
      <a:lvl9pPr marL="2437765"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9pPr>
    </p:titleStyle>
    <p:bodyStyle>
      <a:lvl1pPr marL="457200" indent="-457200" algn="l" rtl="0" eaLnBrk="0" fontAlgn="base" hangingPunct="0">
        <a:spcBef>
          <a:spcPct val="20000"/>
        </a:spcBef>
        <a:spcAft>
          <a:spcPct val="0"/>
        </a:spcAft>
        <a:buClr>
          <a:schemeClr val="folHlink"/>
        </a:buClr>
        <a:buSzPct val="60000"/>
        <a:buFont typeface="Wingdings" panose="05000000000000000000" pitchFamily="2" charset="2"/>
        <a:buChar char="n"/>
        <a:defRPr sz="4265" b="1">
          <a:solidFill>
            <a:srgbClr val="0000FF"/>
          </a:solidFill>
          <a:latin typeface="+mn-lt"/>
          <a:ea typeface="+mn-ea"/>
          <a:cs typeface="+mn-cs"/>
        </a:defRPr>
      </a:lvl1pPr>
      <a:lvl2pPr marL="989965" indent="-381000" algn="l" rtl="0" eaLnBrk="0" fontAlgn="base" hangingPunct="0">
        <a:spcBef>
          <a:spcPct val="20000"/>
        </a:spcBef>
        <a:spcAft>
          <a:spcPct val="0"/>
        </a:spcAft>
        <a:buClr>
          <a:schemeClr val="hlink"/>
        </a:buClr>
        <a:buSzPct val="55000"/>
        <a:buFont typeface="Wingdings" panose="05000000000000000000" pitchFamily="2" charset="2"/>
        <a:buChar char="n"/>
        <a:defRPr sz="3735" b="1">
          <a:solidFill>
            <a:schemeClr val="tx1"/>
          </a:solidFill>
          <a:latin typeface="+mn-lt"/>
          <a:ea typeface="+mn-ea"/>
        </a:defRPr>
      </a:lvl2pPr>
      <a:lvl3pPr marL="1523365" indent="-304800" algn="l" rtl="0" eaLnBrk="0" fontAlgn="base" hangingPunct="0">
        <a:spcBef>
          <a:spcPct val="20000"/>
        </a:spcBef>
        <a:spcAft>
          <a:spcPct val="0"/>
        </a:spcAft>
        <a:buClr>
          <a:schemeClr val="folHlink"/>
        </a:buClr>
        <a:buSzPct val="50000"/>
        <a:buFont typeface="Wingdings" panose="05000000000000000000" pitchFamily="2" charset="2"/>
        <a:buChar char="n"/>
        <a:defRPr sz="3200" b="1">
          <a:solidFill>
            <a:schemeClr val="tx1"/>
          </a:solidFill>
          <a:latin typeface="+mn-lt"/>
          <a:ea typeface="+mn-ea"/>
        </a:defRPr>
      </a:lvl3pPr>
      <a:lvl4pPr marL="2132965" indent="-304800" algn="l" rtl="0" eaLnBrk="0" fontAlgn="base" hangingPunct="0">
        <a:spcBef>
          <a:spcPct val="20000"/>
        </a:spcBef>
        <a:spcAft>
          <a:spcPct val="0"/>
        </a:spcAft>
        <a:buClr>
          <a:schemeClr val="accent2"/>
        </a:buClr>
        <a:buSzPct val="55000"/>
        <a:buFont typeface="Wingdings" panose="05000000000000000000" pitchFamily="2" charset="2"/>
        <a:buChar char="n"/>
        <a:defRPr sz="2665" b="1">
          <a:solidFill>
            <a:schemeClr val="tx1"/>
          </a:solidFill>
          <a:latin typeface="+mn-lt"/>
          <a:ea typeface="+mn-ea"/>
        </a:defRPr>
      </a:lvl4pPr>
      <a:lvl5pPr marL="2741295" indent="-304800" algn="l" rtl="0" eaLnBrk="0" fontAlgn="base" hangingPunct="0">
        <a:spcBef>
          <a:spcPct val="20000"/>
        </a:spcBef>
        <a:spcAft>
          <a:spcPct val="0"/>
        </a:spcAft>
        <a:buClr>
          <a:schemeClr val="accent1"/>
        </a:buClr>
        <a:buSzPct val="50000"/>
        <a:buFont typeface="Wingdings" panose="05000000000000000000" pitchFamily="2" charset="2"/>
        <a:buChar char="n"/>
        <a:defRPr sz="2665" b="1">
          <a:solidFill>
            <a:schemeClr val="tx1"/>
          </a:solidFill>
          <a:latin typeface="+mn-lt"/>
          <a:ea typeface="+mn-ea"/>
        </a:defRPr>
      </a:lvl5pPr>
      <a:lvl6pPr marL="3350895" indent="-304800" algn="l" rtl="0" eaLnBrk="0" fontAlgn="base" hangingPunct="0">
        <a:spcBef>
          <a:spcPct val="20000"/>
        </a:spcBef>
        <a:spcAft>
          <a:spcPct val="0"/>
        </a:spcAft>
        <a:buClr>
          <a:schemeClr val="accent1"/>
        </a:buClr>
        <a:buSzPct val="50000"/>
        <a:buFont typeface="Wingdings" panose="05000000000000000000" pitchFamily="2" charset="2"/>
        <a:buChar char="n"/>
        <a:defRPr sz="2665" b="1">
          <a:solidFill>
            <a:schemeClr val="tx1"/>
          </a:solidFill>
          <a:latin typeface="+mn-lt"/>
          <a:ea typeface="+mn-ea"/>
        </a:defRPr>
      </a:lvl6pPr>
      <a:lvl7pPr marL="3960495" indent="-304800" algn="l" rtl="0" eaLnBrk="0" fontAlgn="base" hangingPunct="0">
        <a:spcBef>
          <a:spcPct val="20000"/>
        </a:spcBef>
        <a:spcAft>
          <a:spcPct val="0"/>
        </a:spcAft>
        <a:buClr>
          <a:schemeClr val="accent1"/>
        </a:buClr>
        <a:buSzPct val="50000"/>
        <a:buFont typeface="Wingdings" panose="05000000000000000000" pitchFamily="2" charset="2"/>
        <a:buChar char="n"/>
        <a:defRPr sz="2665" b="1">
          <a:solidFill>
            <a:schemeClr val="tx1"/>
          </a:solidFill>
          <a:latin typeface="+mn-lt"/>
          <a:ea typeface="+mn-ea"/>
        </a:defRPr>
      </a:lvl7pPr>
      <a:lvl8pPr marL="4569460" indent="-304800" algn="l" rtl="0" eaLnBrk="0" fontAlgn="base" hangingPunct="0">
        <a:spcBef>
          <a:spcPct val="20000"/>
        </a:spcBef>
        <a:spcAft>
          <a:spcPct val="0"/>
        </a:spcAft>
        <a:buClr>
          <a:schemeClr val="accent1"/>
        </a:buClr>
        <a:buSzPct val="50000"/>
        <a:buFont typeface="Wingdings" panose="05000000000000000000" pitchFamily="2" charset="2"/>
        <a:buChar char="n"/>
        <a:defRPr sz="2665" b="1">
          <a:solidFill>
            <a:schemeClr val="tx1"/>
          </a:solidFill>
          <a:latin typeface="+mn-lt"/>
          <a:ea typeface="+mn-ea"/>
        </a:defRPr>
      </a:lvl8pPr>
      <a:lvl9pPr marL="5179060" indent="-304800" algn="l" rtl="0" eaLnBrk="0" fontAlgn="base" hangingPunct="0">
        <a:spcBef>
          <a:spcPct val="20000"/>
        </a:spcBef>
        <a:spcAft>
          <a:spcPct val="0"/>
        </a:spcAft>
        <a:buClr>
          <a:schemeClr val="accent1"/>
        </a:buClr>
        <a:buSzPct val="50000"/>
        <a:buFont typeface="Wingdings" panose="05000000000000000000" pitchFamily="2" charset="2"/>
        <a:buChar char="n"/>
        <a:defRPr sz="2665" b="1">
          <a:solidFill>
            <a:schemeClr val="tx1"/>
          </a:solidFill>
          <a:latin typeface="+mn-lt"/>
          <a:ea typeface="+mn-ea"/>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095" algn="l" defTabSz="1218565" rtl="0" eaLnBrk="1" latinLnBrk="0" hangingPunct="1">
        <a:defRPr sz="2400" kern="1200">
          <a:solidFill>
            <a:schemeClr val="tx1"/>
          </a:solidFill>
          <a:latin typeface="+mn-lt"/>
          <a:ea typeface="+mn-ea"/>
          <a:cs typeface="+mn-cs"/>
        </a:defRPr>
      </a:lvl6pPr>
      <a:lvl7pPr marL="3655695" algn="l" defTabSz="1218565" rtl="0" eaLnBrk="1" latinLnBrk="0" hangingPunct="1">
        <a:defRPr sz="2400" kern="1200">
          <a:solidFill>
            <a:schemeClr val="tx1"/>
          </a:solidFill>
          <a:latin typeface="+mn-lt"/>
          <a:ea typeface="+mn-ea"/>
          <a:cs typeface="+mn-cs"/>
        </a:defRPr>
      </a:lvl7pPr>
      <a:lvl8pPr marL="4265295" algn="l" defTabSz="1218565" rtl="0" eaLnBrk="1" latinLnBrk="0" hangingPunct="1">
        <a:defRPr sz="2400" kern="1200">
          <a:solidFill>
            <a:schemeClr val="tx1"/>
          </a:solidFill>
          <a:latin typeface="+mn-lt"/>
          <a:ea typeface="+mn-ea"/>
          <a:cs typeface="+mn-cs"/>
        </a:defRPr>
      </a:lvl8pPr>
      <a:lvl9pPr marL="4874260" algn="l" defTabSz="121856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6.xml"/><Relationship Id="rId2" Type="http://schemas.openxmlformats.org/officeDocument/2006/relationships/image" Target="../media/image4.pn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6.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9" Type="http://schemas.openxmlformats.org/officeDocument/2006/relationships/image" Target="../media/image16.png"/><Relationship Id="rId8" Type="http://schemas.openxmlformats.org/officeDocument/2006/relationships/image" Target="../media/image15.png"/><Relationship Id="rId7" Type="http://schemas.openxmlformats.org/officeDocument/2006/relationships/image" Target="../media/image14.png"/><Relationship Id="rId6" Type="http://schemas.openxmlformats.org/officeDocument/2006/relationships/image" Target="../media/image13.jpeg"/><Relationship Id="rId5" Type="http://schemas.openxmlformats.org/officeDocument/2006/relationships/image" Target="../media/image12.png"/><Relationship Id="rId4" Type="http://schemas.openxmlformats.org/officeDocument/2006/relationships/image" Target="../media/image11.jpeg"/><Relationship Id="rId3" Type="http://schemas.openxmlformats.org/officeDocument/2006/relationships/image" Target="../media/image10.png"/><Relationship Id="rId2" Type="http://schemas.openxmlformats.org/officeDocument/2006/relationships/image" Target="../media/image9.png"/><Relationship Id="rId12" Type="http://schemas.openxmlformats.org/officeDocument/2006/relationships/notesSlide" Target="../notesSlides/notesSlide5.xml"/><Relationship Id="rId11" Type="http://schemas.openxmlformats.org/officeDocument/2006/relationships/slideLayout" Target="../slideLayouts/slideLayout6.xml"/><Relationship Id="rId10" Type="http://schemas.openxmlformats.org/officeDocument/2006/relationships/image" Target="../media/image17.png"/><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6.xml"/><Relationship Id="rId1" Type="http://schemas.openxmlformats.org/officeDocument/2006/relationships/tags" Target="../tags/tag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xml"/><Relationship Id="rId2" Type="http://schemas.openxmlformats.org/officeDocument/2006/relationships/image" Target="../media/image19.png"/><Relationship Id="rId1"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xml"/><Relationship Id="rId2" Type="http://schemas.openxmlformats.org/officeDocument/2006/relationships/image" Target="../media/image21.png"/><Relationship Id="rId1" Type="http://schemas.openxmlformats.org/officeDocument/2006/relationships/image" Target="../media/image20.png"/></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1.xml"/><Relationship Id="rId3" Type="http://schemas.openxmlformats.org/officeDocument/2006/relationships/tags" Target="../tags/tag3.xml"/><Relationship Id="rId2" Type="http://schemas.openxmlformats.org/officeDocument/2006/relationships/image" Target="../media/image23.png"/><Relationship Id="rId1" Type="http://schemas.openxmlformats.org/officeDocument/2006/relationships/image" Target="../media/image22.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20.xml.rels><?xml version="1.0" encoding="UTF-8" standalone="yes"?>
<Relationships xmlns="http://schemas.openxmlformats.org/package/2006/relationships"><Relationship Id="rId8" Type="http://schemas.openxmlformats.org/officeDocument/2006/relationships/notesSlide" Target="../notesSlides/notesSlide17.xml"/><Relationship Id="rId7"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4.png"/></Relationships>
</file>

<file path=ppt/slides/_rels/slide21.xml.rels><?xml version="1.0" encoding="UTF-8" standalone="yes"?>
<Relationships xmlns="http://schemas.openxmlformats.org/package/2006/relationships"><Relationship Id="rId7" Type="http://schemas.openxmlformats.org/officeDocument/2006/relationships/notesSlide" Target="../notesSlides/notesSlide18.xml"/><Relationship Id="rId6"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33.png"/><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image" Target="../media/image30.png"/></Relationships>
</file>

<file path=ppt/slides/_rels/slide22.xml.rels><?xml version="1.0" encoding="UTF-8" standalone="yes"?>
<Relationships xmlns="http://schemas.openxmlformats.org/package/2006/relationships"><Relationship Id="rId7" Type="http://schemas.openxmlformats.org/officeDocument/2006/relationships/notesSlide" Target="../notesSlides/notesSlide19.xml"/><Relationship Id="rId6" Type="http://schemas.openxmlformats.org/officeDocument/2006/relationships/slideLayout" Target="../slideLayouts/slideLayout1.xml"/><Relationship Id="rId5" Type="http://schemas.openxmlformats.org/officeDocument/2006/relationships/tags" Target="../tags/tag5.xml"/><Relationship Id="rId4" Type="http://schemas.openxmlformats.org/officeDocument/2006/relationships/image" Target="../media/image38.png"/><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image" Target="../media/image35.png"/></Relationships>
</file>

<file path=ppt/slides/_rels/slide23.xml.rels><?xml version="1.0" encoding="UTF-8" standalone="yes"?>
<Relationships xmlns="http://schemas.openxmlformats.org/package/2006/relationships"><Relationship Id="rId6" Type="http://schemas.openxmlformats.org/officeDocument/2006/relationships/notesSlide" Target="../notesSlides/notesSlide20.xml"/><Relationship Id="rId5" Type="http://schemas.openxmlformats.org/officeDocument/2006/relationships/slideLayout" Target="../slideLayouts/slideLayout1.xml"/><Relationship Id="rId4" Type="http://schemas.openxmlformats.org/officeDocument/2006/relationships/image" Target="../media/image42.png"/><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image" Target="../media/image39.pn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1.xml"/><Relationship Id="rId2" Type="http://schemas.openxmlformats.org/officeDocument/2006/relationships/image" Target="../media/image44.jpeg"/><Relationship Id="rId1" Type="http://schemas.openxmlformats.org/officeDocument/2006/relationships/image" Target="../media/image43.png"/></Relationships>
</file>

<file path=ppt/slides/_rels/slide25.xml.rels><?xml version="1.0" encoding="UTF-8" standalone="yes"?>
<Relationships xmlns="http://schemas.openxmlformats.org/package/2006/relationships"><Relationship Id="rId9" Type="http://schemas.openxmlformats.org/officeDocument/2006/relationships/notesSlide" Target="../notesSlides/notesSlide22.xml"/><Relationship Id="rId8" Type="http://schemas.openxmlformats.org/officeDocument/2006/relationships/slideLayout" Target="../slideLayouts/slideLayout1.xml"/><Relationship Id="rId7" Type="http://schemas.openxmlformats.org/officeDocument/2006/relationships/image" Target="../media/image51.emf"/><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image" Target="../media/image45.png"/></Relationships>
</file>

<file path=ppt/slides/_rels/slide26.xml.rels><?xml version="1.0" encoding="UTF-8" standalone="yes"?>
<Relationships xmlns="http://schemas.openxmlformats.org/package/2006/relationships"><Relationship Id="rId6" Type="http://schemas.openxmlformats.org/officeDocument/2006/relationships/notesSlide" Target="../notesSlides/notesSlide23.xml"/><Relationship Id="rId5" Type="http://schemas.openxmlformats.org/officeDocument/2006/relationships/slideLayout" Target="../slideLayouts/slideLayout1.xml"/><Relationship Id="rId4" Type="http://schemas.openxmlformats.org/officeDocument/2006/relationships/tags" Target="../tags/tag6.xml"/><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image" Target="../media/image52.png"/></Relationships>
</file>

<file path=ppt/slides/_rels/slide27.xml.rels><?xml version="1.0" encoding="UTF-8" standalone="yes"?>
<Relationships xmlns="http://schemas.openxmlformats.org/package/2006/relationships"><Relationship Id="rId5" Type="http://schemas.openxmlformats.org/officeDocument/2006/relationships/notesSlide" Target="../notesSlides/notesSlide24.xml"/><Relationship Id="rId4" Type="http://schemas.openxmlformats.org/officeDocument/2006/relationships/slideLayout" Target="../slideLayouts/slideLayout1.xml"/><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image" Target="../media/image55.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7" Type="http://schemas.openxmlformats.org/officeDocument/2006/relationships/notesSlide" Target="../notesSlides/notesSlide26.xml"/><Relationship Id="rId6"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54.png"/><Relationship Id="rId3" Type="http://schemas.openxmlformats.org/officeDocument/2006/relationships/image" Target="../media/image53.png"/><Relationship Id="rId2" Type="http://schemas.openxmlformats.org/officeDocument/2006/relationships/image" Target="../media/image58.png"/><Relationship Id="rId1" Type="http://schemas.openxmlformats.org/officeDocument/2006/relationships/image" Target="../media/image52.png"/></Relationships>
</file>

<file path=ppt/slides/_rels/slide30.xml.rels><?xml version="1.0" encoding="UTF-8" standalone="yes"?>
<Relationships xmlns="http://schemas.openxmlformats.org/package/2006/relationships"><Relationship Id="rId8" Type="http://schemas.openxmlformats.org/officeDocument/2006/relationships/notesSlide" Target="../notesSlides/notesSlide27.xml"/><Relationship Id="rId7" Type="http://schemas.openxmlformats.org/officeDocument/2006/relationships/slideLayout" Target="../slideLayouts/slideLayout1.xml"/><Relationship Id="rId6" Type="http://schemas.openxmlformats.org/officeDocument/2006/relationships/image" Target="../media/image62.jpeg"/><Relationship Id="rId5" Type="http://schemas.openxmlformats.org/officeDocument/2006/relationships/image" Target="../media/image61.png"/><Relationship Id="rId4" Type="http://schemas.openxmlformats.org/officeDocument/2006/relationships/image" Target="../media/image19.png"/><Relationship Id="rId3" Type="http://schemas.openxmlformats.org/officeDocument/2006/relationships/tags" Target="../tags/tag7.xml"/><Relationship Id="rId2" Type="http://schemas.openxmlformats.org/officeDocument/2006/relationships/image" Target="../media/image60.png"/><Relationship Id="rId1" Type="http://schemas.openxmlformats.org/officeDocument/2006/relationships/image" Target="../media/image59.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xml"/><Relationship Id="rId1" Type="http://schemas.openxmlformats.org/officeDocument/2006/relationships/image" Target="../media/image63.png"/></Relationships>
</file>

<file path=ppt/slides/_rels/slide33.xml.rels><?xml version="1.0" encoding="UTF-8" standalone="yes"?>
<Relationships xmlns="http://schemas.openxmlformats.org/package/2006/relationships"><Relationship Id="rId7" Type="http://schemas.openxmlformats.org/officeDocument/2006/relationships/notesSlide" Target="../notesSlides/notesSlide30.xml"/><Relationship Id="rId6" Type="http://schemas.openxmlformats.org/officeDocument/2006/relationships/slideLayout" Target="../slideLayouts/slideLayout1.xml"/><Relationship Id="rId5" Type="http://schemas.openxmlformats.org/officeDocument/2006/relationships/image" Target="../media/image68.png"/><Relationship Id="rId4" Type="http://schemas.openxmlformats.org/officeDocument/2006/relationships/image" Target="../media/image67.png"/><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image" Target="../media/image6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9.xml"/></Relationships>
</file>

<file path=ppt/slides/_rels/slide41.xml.rels><?xml version="1.0" encoding="UTF-8" standalone="yes"?>
<Relationships xmlns="http://schemas.openxmlformats.org/package/2006/relationships"><Relationship Id="rId8" Type="http://schemas.openxmlformats.org/officeDocument/2006/relationships/slideLayout" Target="../slideLayouts/slideLayout6.xml"/><Relationship Id="rId7" Type="http://schemas.openxmlformats.org/officeDocument/2006/relationships/image" Target="../media/image75.png"/><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72.png"/><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image" Target="../media/image69.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76.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9" Type="http://schemas.openxmlformats.org/officeDocument/2006/relationships/slideLayout" Target="../slideLayouts/slideLayout10.xml"/><Relationship Id="rId8" Type="http://schemas.openxmlformats.org/officeDocument/2006/relationships/image" Target="../media/image84.png"/><Relationship Id="rId7" Type="http://schemas.openxmlformats.org/officeDocument/2006/relationships/image" Target="../media/image83.png"/><Relationship Id="rId6" Type="http://schemas.openxmlformats.org/officeDocument/2006/relationships/image" Target="../media/image82.jpeg"/><Relationship Id="rId5" Type="http://schemas.openxmlformats.org/officeDocument/2006/relationships/image" Target="../media/image81.jpeg"/><Relationship Id="rId4" Type="http://schemas.openxmlformats.org/officeDocument/2006/relationships/image" Target="../media/image80.png"/><Relationship Id="rId3" Type="http://schemas.openxmlformats.org/officeDocument/2006/relationships/image" Target="../media/image79.png"/><Relationship Id="rId2" Type="http://schemas.openxmlformats.org/officeDocument/2006/relationships/image" Target="../media/image78.jpeg"/><Relationship Id="rId10" Type="http://schemas.openxmlformats.org/officeDocument/2006/relationships/notesSlide" Target="../notesSlides/notesSlide32.xml"/><Relationship Id="rId1" Type="http://schemas.openxmlformats.org/officeDocument/2006/relationships/image" Target="../media/image7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1828692"/>
            <a:ext cx="12192001" cy="4536262"/>
            <a:chOff x="-1524000" y="1812364"/>
            <a:chExt cx="12192001" cy="4536262"/>
          </a:xfrm>
        </p:grpSpPr>
        <p:sp>
          <p:nvSpPr>
            <p:cNvPr id="6" name="Text Box 2"/>
            <p:cNvSpPr txBox="1">
              <a:spLocks noChangeArrowheads="1"/>
            </p:cNvSpPr>
            <p:nvPr/>
          </p:nvSpPr>
          <p:spPr bwMode="auto">
            <a:xfrm>
              <a:off x="-1524000" y="1812364"/>
              <a:ext cx="12192000" cy="23069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pPr>
              <a:r>
                <a:rPr lang="en-US" altLang="zh-CN" sz="3600" b="1" dirty="0">
                  <a:solidFill>
                    <a:srgbClr val="FF0000"/>
                  </a:solidFill>
                  <a:latin typeface="方正大黑简体" panose="03000509000000000000" pitchFamily="65" charset="-122"/>
                  <a:ea typeface="方正大黑简体" panose="03000509000000000000" pitchFamily="65" charset="-122"/>
                </a:rPr>
                <a:t>《</a:t>
              </a:r>
              <a:r>
                <a:rPr lang="zh-CN" altLang="en-US" sz="3600" b="1" dirty="0">
                  <a:solidFill>
                    <a:srgbClr val="FF0000"/>
                  </a:solidFill>
                  <a:latin typeface="方正大黑简体" panose="03000509000000000000" pitchFamily="65" charset="-122"/>
                  <a:ea typeface="方正大黑简体" panose="03000509000000000000" pitchFamily="65" charset="-122"/>
                  <a:sym typeface="+mn-ea"/>
                </a:rPr>
                <a:t>页岩气井缝网压裂效果评估指标体系建立与</a:t>
              </a:r>
              <a:endParaRPr lang="zh-CN" altLang="en-US" sz="3600" b="1" dirty="0">
                <a:solidFill>
                  <a:srgbClr val="FF0000"/>
                </a:solidFill>
                <a:latin typeface="方正大黑简体" panose="03000509000000000000" pitchFamily="65" charset="-122"/>
                <a:ea typeface="方正大黑简体" panose="03000509000000000000" pitchFamily="65" charset="-122"/>
              </a:endParaRPr>
            </a:p>
            <a:p>
              <a:pPr algn="ctr" fontAlgn="base">
                <a:spcBef>
                  <a:spcPct val="50000"/>
                </a:spcBef>
                <a:spcAft>
                  <a:spcPct val="0"/>
                </a:spcAft>
              </a:pPr>
              <a:r>
                <a:rPr lang="zh-CN" altLang="en-US" sz="3600" b="1" dirty="0">
                  <a:solidFill>
                    <a:srgbClr val="FF0000"/>
                  </a:solidFill>
                  <a:latin typeface="方正大黑简体" panose="03000509000000000000" pitchFamily="65" charset="-122"/>
                  <a:ea typeface="方正大黑简体" panose="03000509000000000000" pitchFamily="65" charset="-122"/>
                  <a:sym typeface="+mn-ea"/>
                </a:rPr>
                <a:t>动态评价方法研究</a:t>
              </a:r>
              <a:r>
                <a:rPr lang="en-US" altLang="zh-CN" sz="3600" b="1" dirty="0">
                  <a:solidFill>
                    <a:srgbClr val="FF0000"/>
                  </a:solidFill>
                  <a:latin typeface="方正大黑简体" panose="03000509000000000000" pitchFamily="65" charset="-122"/>
                  <a:ea typeface="方正大黑简体" panose="03000509000000000000" pitchFamily="65" charset="-122"/>
                </a:rPr>
                <a:t>》</a:t>
              </a:r>
              <a:endParaRPr lang="en-US" altLang="zh-CN" sz="3600" b="1" dirty="0">
                <a:solidFill>
                  <a:srgbClr val="FF0000"/>
                </a:solidFill>
                <a:latin typeface="方正大黑简体" panose="03000509000000000000" pitchFamily="65" charset="-122"/>
                <a:ea typeface="方正大黑简体" panose="03000509000000000000" pitchFamily="65" charset="-122"/>
              </a:endParaRPr>
            </a:p>
            <a:p>
              <a:pPr algn="ctr" eaLnBrk="1" hangingPunct="1">
                <a:spcBef>
                  <a:spcPct val="50000"/>
                </a:spcBef>
              </a:pPr>
              <a:r>
                <a:rPr lang="zh-CN" altLang="en-US" sz="3600" b="1" dirty="0">
                  <a:solidFill>
                    <a:srgbClr val="FF0000"/>
                  </a:solidFill>
                  <a:latin typeface="方正大黑简体" panose="03000509000000000000" pitchFamily="65" charset="-122"/>
                  <a:ea typeface="方正大黑简体" panose="03000509000000000000" pitchFamily="65" charset="-122"/>
                  <a:sym typeface="+mn-ea"/>
                </a:rPr>
                <a:t>开题设计</a:t>
              </a:r>
              <a:endParaRPr lang="zh-CN" altLang="en-US" sz="3600" b="1" dirty="0">
                <a:solidFill>
                  <a:srgbClr val="FF0000"/>
                </a:solidFill>
                <a:latin typeface="方正大黑简体" panose="03000509000000000000" pitchFamily="65" charset="-122"/>
                <a:ea typeface="方正大黑简体" panose="03000509000000000000" pitchFamily="65" charset="-122"/>
              </a:endParaRPr>
            </a:p>
          </p:txBody>
        </p:sp>
        <p:sp>
          <p:nvSpPr>
            <p:cNvPr id="10" name="Text Box 4"/>
            <p:cNvSpPr txBox="1">
              <a:spLocks noChangeArrowheads="1"/>
            </p:cNvSpPr>
            <p:nvPr/>
          </p:nvSpPr>
          <p:spPr bwMode="auto">
            <a:xfrm>
              <a:off x="-1523999" y="5565036"/>
              <a:ext cx="12192000" cy="7835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b="1" dirty="0">
                  <a:solidFill>
                    <a:srgbClr val="000000"/>
                  </a:solidFill>
                  <a:latin typeface="楷体" panose="02010609060101010101" pitchFamily="49" charset="-122"/>
                  <a:ea typeface="楷体" panose="02010609060101010101" pitchFamily="49" charset="-122"/>
                </a:rPr>
                <a:t>承担单位：中国石油大学（北京）</a:t>
              </a:r>
              <a:endParaRPr lang="en-US" altLang="zh-CN" b="1" dirty="0">
                <a:solidFill>
                  <a:srgbClr val="000000"/>
                </a:solidFill>
                <a:latin typeface="楷体" panose="02010609060101010101" pitchFamily="49" charset="-122"/>
                <a:ea typeface="楷体" panose="02010609060101010101" pitchFamily="49" charset="-122"/>
              </a:endParaRPr>
            </a:p>
            <a:p>
              <a:pPr algn="ctr" eaLnBrk="1" hangingPunct="1">
                <a:spcBef>
                  <a:spcPct val="50000"/>
                </a:spcBef>
              </a:pPr>
              <a:r>
                <a:rPr lang="en-US" altLang="zh-CN" b="1" dirty="0">
                  <a:solidFill>
                    <a:srgbClr val="000000"/>
                  </a:solidFill>
                  <a:latin typeface="楷体" panose="02010609060101010101" pitchFamily="49" charset="-122"/>
                  <a:ea typeface="楷体" panose="02010609060101010101" pitchFamily="49" charset="-122"/>
                </a:rPr>
                <a:t>2025</a:t>
              </a:r>
              <a:r>
                <a:rPr lang="zh-CN" altLang="en-US" b="1" dirty="0">
                  <a:solidFill>
                    <a:srgbClr val="000000"/>
                  </a:solidFill>
                  <a:latin typeface="楷体" panose="02010609060101010101" pitchFamily="49" charset="-122"/>
                  <a:ea typeface="楷体" panose="02010609060101010101" pitchFamily="49" charset="-122"/>
                </a:rPr>
                <a:t>年</a:t>
              </a:r>
              <a:r>
                <a:rPr lang="en-US" altLang="zh-CN" b="1" dirty="0">
                  <a:solidFill>
                    <a:srgbClr val="000000"/>
                  </a:solidFill>
                  <a:latin typeface="楷体" panose="02010609060101010101" pitchFamily="49" charset="-122"/>
                  <a:ea typeface="楷体" panose="02010609060101010101" pitchFamily="49" charset="-122"/>
                </a:rPr>
                <a:t>7</a:t>
              </a:r>
              <a:r>
                <a:rPr lang="zh-CN" altLang="en-US" b="1" dirty="0">
                  <a:solidFill>
                    <a:srgbClr val="000000"/>
                  </a:solidFill>
                  <a:latin typeface="楷体" panose="02010609060101010101" pitchFamily="49" charset="-122"/>
                  <a:ea typeface="楷体" panose="02010609060101010101" pitchFamily="49" charset="-122"/>
                </a:rPr>
                <a:t>月</a:t>
              </a:r>
              <a:r>
                <a:rPr lang="en-US" altLang="zh-CN" b="1" dirty="0">
                  <a:solidFill>
                    <a:srgbClr val="000000"/>
                  </a:solidFill>
                  <a:latin typeface="楷体" panose="02010609060101010101" pitchFamily="49" charset="-122"/>
                  <a:ea typeface="楷体" panose="02010609060101010101" pitchFamily="49" charset="-122"/>
                </a:rPr>
                <a:t>25</a:t>
              </a:r>
              <a:r>
                <a:rPr lang="zh-CN" altLang="en-US" b="1" dirty="0">
                  <a:solidFill>
                    <a:srgbClr val="000000"/>
                  </a:solidFill>
                  <a:latin typeface="楷体" panose="02010609060101010101" pitchFamily="49" charset="-122"/>
                  <a:ea typeface="楷体" panose="02010609060101010101" pitchFamily="49" charset="-122"/>
                </a:rPr>
                <a:t>日</a:t>
              </a:r>
              <a:endParaRPr lang="zh-CN" altLang="en-US" b="1" dirty="0">
                <a:solidFill>
                  <a:srgbClr val="000000"/>
                </a:solidFill>
                <a:latin typeface="楷体" panose="02010609060101010101" pitchFamily="49" charset="-122"/>
                <a:ea typeface="楷体" panose="02010609060101010101" pitchFamily="49" charset="-122"/>
              </a:endParaRPr>
            </a:p>
          </p:txBody>
        </p:sp>
        <p:sp>
          <p:nvSpPr>
            <p:cNvPr id="11" name="矩形 3"/>
            <p:cNvSpPr>
              <a:spLocks noChangeArrowheads="1"/>
            </p:cNvSpPr>
            <p:nvPr/>
          </p:nvSpPr>
          <p:spPr bwMode="auto">
            <a:xfrm>
              <a:off x="-1524000" y="4278251"/>
              <a:ext cx="12192000" cy="1014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400" b="1" dirty="0">
                  <a:solidFill>
                    <a:srgbClr val="000000"/>
                  </a:solidFill>
                  <a:latin typeface="方正大黑简体" panose="03000509000000000000" pitchFamily="65" charset="-122"/>
                  <a:ea typeface="方正大黑简体" panose="03000509000000000000" pitchFamily="65" charset="-122"/>
                </a:rPr>
                <a:t>项目经理：胡晓东</a:t>
              </a:r>
              <a:endParaRPr lang="en-US" altLang="zh-CN" sz="2400" b="1" dirty="0">
                <a:solidFill>
                  <a:srgbClr val="000000"/>
                </a:solidFill>
                <a:latin typeface="方正大黑简体" panose="03000509000000000000" pitchFamily="65" charset="-122"/>
                <a:ea typeface="方正大黑简体" panose="03000509000000000000" pitchFamily="65" charset="-122"/>
              </a:endParaRPr>
            </a:p>
            <a:p>
              <a:pPr algn="ctr" eaLnBrk="1" hangingPunct="1">
                <a:spcBef>
                  <a:spcPct val="50000"/>
                </a:spcBef>
              </a:pPr>
              <a:r>
                <a:rPr lang="zh-CN" altLang="en-US" sz="2400" b="1" dirty="0">
                  <a:solidFill>
                    <a:srgbClr val="000000"/>
                  </a:solidFill>
                  <a:latin typeface="方正大黑简体" panose="03000509000000000000" pitchFamily="65" charset="-122"/>
                  <a:ea typeface="方正大黑简体" panose="03000509000000000000" pitchFamily="65" charset="-122"/>
                </a:rPr>
                <a:t>汇 报 人：胡晓东</a:t>
              </a:r>
              <a:endParaRPr lang="en-US" altLang="zh-CN" sz="2400" b="1" dirty="0">
                <a:solidFill>
                  <a:srgbClr val="000000"/>
                </a:solidFill>
                <a:latin typeface="方正大黑简体" panose="03000509000000000000" pitchFamily="65" charset="-122"/>
                <a:ea typeface="方正大黑简体" panose="03000509000000000000" pitchFamily="65" charset="-122"/>
              </a:endParaRPr>
            </a:p>
          </p:txBody>
        </p:sp>
      </p:gr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6"/>
          <p:cNvSpPr txBox="1">
            <a:spLocks noChangeArrowheads="1"/>
          </p:cNvSpPr>
          <p:nvPr/>
        </p:nvSpPr>
        <p:spPr bwMode="auto">
          <a:xfrm>
            <a:off x="355600" y="1350645"/>
            <a:ext cx="11531600" cy="4608195"/>
          </a:xfrm>
          <a:prstGeom prst="rect">
            <a:avLst/>
          </a:prstGeom>
          <a:noFill/>
          <a:ln>
            <a:noFill/>
          </a:ln>
          <a:effectLst>
            <a:prstShdw prst="shdw17" dist="17961" dir="13500000">
              <a:srgbClr val="708688"/>
            </a:prstShdw>
          </a:effectLst>
        </p:spPr>
        <p:txBody>
          <a:bodyPr wrap="square" tIns="190800" bIns="190800" anchor="ctr" anchorCtr="1">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lnSpc>
                <a:spcPct val="150000"/>
              </a:lnSpc>
              <a:spcBef>
                <a:spcPct val="0"/>
              </a:spcBef>
              <a:spcAft>
                <a:spcPct val="0"/>
              </a:spcAft>
              <a:buClr>
                <a:srgbClr val="FF0000"/>
              </a:buClr>
            </a:pPr>
            <a:r>
              <a:rPr lang="zh-CN" altLang="en-US" sz="3200" dirty="0">
                <a:solidFill>
                  <a:srgbClr val="FF0000"/>
                </a:solidFill>
                <a:latin typeface="方正大黑简体" panose="03000509000000000000" pitchFamily="65" charset="-122"/>
                <a:ea typeface="方正大黑简体" panose="03000509000000000000" pitchFamily="65" charset="-122"/>
                <a:sym typeface="+mn-ea"/>
              </a:rPr>
              <a:t>一、项目概要</a:t>
            </a:r>
            <a:endParaRPr lang="zh-CN" altLang="en-US" sz="3200" dirty="0">
              <a:solidFill>
                <a:srgbClr val="FF0000"/>
              </a:solidFill>
              <a:latin typeface="方正大黑简体" panose="03000509000000000000" pitchFamily="65" charset="-122"/>
              <a:ea typeface="方正大黑简体" panose="03000509000000000000"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3000509000000000000" pitchFamily="65" charset="-122"/>
                <a:ea typeface="方正大黑简体" panose="03000509000000000000" pitchFamily="65" charset="-122"/>
                <a:sym typeface="+mn-ea"/>
              </a:rPr>
              <a:t>二、立项的必要性</a:t>
            </a:r>
            <a:endParaRPr lang="zh-CN" altLang="en-US" sz="3200" dirty="0">
              <a:solidFill>
                <a:srgbClr val="000000"/>
              </a:solidFill>
              <a:latin typeface="方正大黑简体" panose="03000509000000000000" pitchFamily="65" charset="-122"/>
              <a:ea typeface="方正大黑简体" panose="03000509000000000000"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3000509000000000000" pitchFamily="65" charset="-122"/>
                <a:ea typeface="方正大黑简体" panose="03000509000000000000" pitchFamily="65" charset="-122"/>
                <a:sym typeface="+mn-ea"/>
              </a:rPr>
              <a:t>三、主要研究内容与目标</a:t>
            </a:r>
            <a:endParaRPr lang="zh-CN" altLang="en-US" sz="3200" dirty="0">
              <a:solidFill>
                <a:srgbClr val="000000"/>
              </a:solidFill>
              <a:latin typeface="方正大黑简体" panose="03000509000000000000" pitchFamily="65" charset="-122"/>
              <a:ea typeface="方正大黑简体" panose="03000509000000000000"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3000509000000000000" pitchFamily="65" charset="-122"/>
                <a:ea typeface="方正大黑简体" panose="03000509000000000000" pitchFamily="65" charset="-122"/>
                <a:sym typeface="+mn-ea"/>
              </a:rPr>
              <a:t>四、主要技术经济考核指标</a:t>
            </a:r>
            <a:endParaRPr lang="zh-CN" altLang="en-US" sz="3200" dirty="0">
              <a:solidFill>
                <a:srgbClr val="000000"/>
              </a:solidFill>
              <a:latin typeface="方正大黑简体" panose="03000509000000000000" pitchFamily="65" charset="-122"/>
              <a:ea typeface="方正大黑简体" panose="03000509000000000000"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3000509000000000000" pitchFamily="65" charset="-122"/>
                <a:ea typeface="方正大黑简体" panose="03000509000000000000" pitchFamily="65" charset="-122"/>
                <a:sym typeface="+mn-ea"/>
              </a:rPr>
              <a:t>五、项目研究技术路线</a:t>
            </a:r>
            <a:endParaRPr lang="zh-CN" altLang="en-US" sz="3200" dirty="0">
              <a:solidFill>
                <a:srgbClr val="000000"/>
              </a:solidFill>
              <a:latin typeface="方正大黑简体" panose="03000509000000000000" pitchFamily="65" charset="-122"/>
              <a:ea typeface="方正大黑简体" panose="03000509000000000000"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3000509000000000000" pitchFamily="65" charset="-122"/>
                <a:ea typeface="方正大黑简体" panose="03000509000000000000" pitchFamily="65" charset="-122"/>
                <a:sym typeface="+mn-ea"/>
              </a:rPr>
              <a:t>六、项目组织</a:t>
            </a:r>
            <a:endParaRPr lang="zh-CN" altLang="en-US" sz="3200" dirty="0">
              <a:solidFill>
                <a:srgbClr val="000000"/>
              </a:solidFill>
              <a:latin typeface="方正大黑简体" panose="03000509000000000000" pitchFamily="65" charset="-122"/>
              <a:ea typeface="方正大黑简体" panose="03000509000000000000" pitchFamily="65" charset="-122"/>
            </a:endParaRPr>
          </a:p>
        </p:txBody>
      </p:sp>
      <p:sp>
        <p:nvSpPr>
          <p:cNvPr id="3" name="Rectangle 11"/>
          <p:cNvSpPr>
            <a:spLocks noChangeArrowheads="1"/>
          </p:cNvSpPr>
          <p:nvPr/>
        </p:nvSpPr>
        <p:spPr bwMode="auto">
          <a:xfrm>
            <a:off x="0" y="-226426"/>
            <a:ext cx="12191999" cy="928636"/>
          </a:xfrm>
          <a:prstGeom prst="rect">
            <a:avLst/>
          </a:prstGeom>
        </p:spPr>
        <p:txBody>
          <a:bodyPr wrap="square" lIns="91424" tIns="45712" rIns="91424" bIns="45712" anchor="ctr">
            <a:spAutoFit/>
          </a:bodyPr>
          <a:lstStyle/>
          <a:p>
            <a:pPr lvl="0" algn="ctr">
              <a:lnSpc>
                <a:spcPct val="200000"/>
              </a:lnSpc>
              <a:defRPr/>
            </a:pPr>
            <a:r>
              <a:rPr lang="zh-CN" altLang="en-US" sz="3200" b="1" kern="0" dirty="0">
                <a:solidFill>
                  <a:srgbClr val="FF0000"/>
                </a:solidFill>
                <a:latin typeface="微软雅黑" panose="020B0503020204020204" pitchFamily="34" charset="-122"/>
                <a:ea typeface="微软雅黑" panose="020B0503020204020204" pitchFamily="34" charset="-122"/>
              </a:rPr>
              <a:t>目   录</a:t>
            </a:r>
            <a:endParaRPr kumimoji="0" lang="zh-CN" altLang="en-US" sz="32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1"/>
          <p:cNvSpPr>
            <a:spLocks noChangeArrowheads="1"/>
          </p:cNvSpPr>
          <p:nvPr/>
        </p:nvSpPr>
        <p:spPr bwMode="auto">
          <a:xfrm>
            <a:off x="1" y="-41146"/>
            <a:ext cx="12191999" cy="828675"/>
          </a:xfrm>
          <a:prstGeom prst="rect">
            <a:avLst/>
          </a:prstGeom>
        </p:spPr>
        <p:txBody>
          <a:bodyPr wrap="square" lIns="91424" tIns="45712" rIns="91424" bIns="45712" anchor="ctr">
            <a:spAutoFit/>
          </a:bodyPr>
          <a:lstStyle/>
          <a:p>
            <a:pPr lvl="0" algn="ctr">
              <a:lnSpc>
                <a:spcPct val="200000"/>
              </a:lnSpc>
              <a:defRPr/>
            </a:pPr>
            <a:r>
              <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一、项目概要</a:t>
            </a:r>
            <a:endParaRPr kumimoji="0" lang="zh-CN" altLang="en-US" sz="2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
        <p:nvSpPr>
          <p:cNvPr id="8" name="文本框 7"/>
          <p:cNvSpPr txBox="1"/>
          <p:nvPr/>
        </p:nvSpPr>
        <p:spPr>
          <a:xfrm>
            <a:off x="334963" y="915408"/>
            <a:ext cx="11641883" cy="1568450"/>
          </a:xfrm>
          <a:prstGeom prst="rect">
            <a:avLst/>
          </a:prstGeom>
          <a:noFill/>
        </p:spPr>
        <p:txBody>
          <a:bodyPr wrap="square">
            <a:spAutoFit/>
          </a:bodyPr>
          <a:lstStyle/>
          <a:p>
            <a:pPr marL="342265" indent="-342900">
              <a:lnSpc>
                <a:spcPct val="150000"/>
              </a:lnSpc>
              <a:buClr>
                <a:srgbClr val="FF0000"/>
              </a:buClr>
              <a:buFont typeface="Wingdings" panose="05000000000000000000" pitchFamily="2" charset="2"/>
              <a:buChar char="l"/>
            </a:pPr>
            <a:r>
              <a:rPr lang="zh-CN" altLang="en-US" sz="1600" dirty="0">
                <a:solidFill>
                  <a:prstClr val="black"/>
                </a:solidFill>
                <a:latin typeface="微软雅黑" panose="020B0503020204020204" pitchFamily="34" charset="-122"/>
                <a:ea typeface="微软雅黑" panose="020B0503020204020204" pitchFamily="34" charset="-122"/>
              </a:rPr>
              <a:t>项目来源：本项目来源于院级科研项目《页岩气井缝网压裂效果评估指标体系建立与动态评价方法研究》，由西南油气田分公司页岩气研究院委托中国石油大学（北京）承担，研究时间</a:t>
            </a:r>
            <a:r>
              <a:rPr lang="en-US" altLang="zh-CN" sz="1600" dirty="0">
                <a:solidFill>
                  <a:prstClr val="black"/>
                </a:solidFill>
                <a:latin typeface="微软雅黑" panose="020B0503020204020204" pitchFamily="34" charset="-122"/>
                <a:ea typeface="微软雅黑" panose="020B0503020204020204" pitchFamily="34" charset="-122"/>
              </a:rPr>
              <a:t> 2025</a:t>
            </a:r>
            <a:r>
              <a:rPr lang="zh-CN" altLang="en-US" sz="1600" dirty="0">
                <a:solidFill>
                  <a:prstClr val="black"/>
                </a:solidFill>
                <a:latin typeface="微软雅黑" panose="020B0503020204020204" pitchFamily="34" charset="-122"/>
                <a:ea typeface="微软雅黑" panose="020B0503020204020204" pitchFamily="34" charset="-122"/>
              </a:rPr>
              <a:t>年</a:t>
            </a:r>
            <a:r>
              <a:rPr lang="en-US" altLang="zh-CN" sz="1600" dirty="0">
                <a:solidFill>
                  <a:prstClr val="black"/>
                </a:solidFill>
                <a:latin typeface="微软雅黑" panose="020B0503020204020204" pitchFamily="34" charset="-122"/>
                <a:ea typeface="微软雅黑" panose="020B0503020204020204" pitchFamily="34" charset="-122"/>
              </a:rPr>
              <a:t>3</a:t>
            </a:r>
            <a:r>
              <a:rPr lang="zh-CN" altLang="en-US" sz="1600" dirty="0">
                <a:solidFill>
                  <a:prstClr val="black"/>
                </a:solidFill>
                <a:latin typeface="微软雅黑" panose="020B0503020204020204" pitchFamily="34" charset="-122"/>
                <a:ea typeface="微软雅黑" panose="020B0503020204020204" pitchFamily="34" charset="-122"/>
              </a:rPr>
              <a:t>月</a:t>
            </a:r>
            <a:r>
              <a:rPr lang="en-US" altLang="zh-CN" sz="1600" dirty="0">
                <a:solidFill>
                  <a:prstClr val="black"/>
                </a:solidFill>
                <a:latin typeface="微软雅黑" panose="020B0503020204020204" pitchFamily="34" charset="-122"/>
                <a:ea typeface="微软雅黑" panose="020B0503020204020204" pitchFamily="34" charset="-122"/>
              </a:rPr>
              <a:t>~ 2025</a:t>
            </a:r>
            <a:r>
              <a:rPr lang="zh-CN" altLang="en-US" sz="1600" dirty="0">
                <a:solidFill>
                  <a:prstClr val="black"/>
                </a:solidFill>
                <a:latin typeface="微软雅黑" panose="020B0503020204020204" pitchFamily="34" charset="-122"/>
                <a:ea typeface="微软雅黑" panose="020B0503020204020204" pitchFamily="34" charset="-122"/>
              </a:rPr>
              <a:t>年</a:t>
            </a:r>
            <a:r>
              <a:rPr lang="en-US" altLang="zh-CN" sz="1600" dirty="0">
                <a:solidFill>
                  <a:prstClr val="black"/>
                </a:solidFill>
                <a:latin typeface="微软雅黑" panose="020B0503020204020204" pitchFamily="34" charset="-122"/>
                <a:ea typeface="微软雅黑" panose="020B0503020204020204" pitchFamily="34" charset="-122"/>
              </a:rPr>
              <a:t>12</a:t>
            </a:r>
            <a:r>
              <a:rPr lang="zh-CN" altLang="en-US" sz="1600" dirty="0">
                <a:solidFill>
                  <a:prstClr val="black"/>
                </a:solidFill>
                <a:latin typeface="微软雅黑" panose="020B0503020204020204" pitchFamily="34" charset="-122"/>
                <a:ea typeface="微软雅黑" panose="020B0503020204020204" pitchFamily="34" charset="-122"/>
              </a:rPr>
              <a:t>月。</a:t>
            </a:r>
            <a:endParaRPr lang="zh-CN" altLang="en-US" sz="1600" dirty="0">
              <a:solidFill>
                <a:prstClr val="black"/>
              </a:solidFill>
              <a:latin typeface="微软雅黑" panose="020B0503020204020204" pitchFamily="34" charset="-122"/>
              <a:ea typeface="微软雅黑" panose="020B0503020204020204" pitchFamily="34" charset="-122"/>
            </a:endParaRPr>
          </a:p>
          <a:p>
            <a:pPr marL="342265" indent="-342900">
              <a:lnSpc>
                <a:spcPct val="150000"/>
              </a:lnSpc>
              <a:buClr>
                <a:srgbClr val="FF0000"/>
              </a:buClr>
              <a:buFont typeface="Wingdings" panose="05000000000000000000" pitchFamily="2" charset="2"/>
              <a:buChar char="l"/>
            </a:pPr>
            <a:r>
              <a:rPr lang="zh-CN" altLang="en-US" sz="1600" dirty="0">
                <a:solidFill>
                  <a:prstClr val="black"/>
                </a:solidFill>
                <a:latin typeface="微软雅黑" panose="020B0503020204020204" pitchFamily="34" charset="-122"/>
                <a:ea typeface="微软雅黑" panose="020B0503020204020204" pitchFamily="34" charset="-122"/>
              </a:rPr>
              <a:t>涉及学科：石油与天然气工程</a:t>
            </a:r>
            <a:endParaRPr lang="zh-CN" altLang="en-US" sz="1600" dirty="0">
              <a:solidFill>
                <a:prstClr val="black"/>
              </a:solidFill>
              <a:latin typeface="微软雅黑" panose="020B0503020204020204" pitchFamily="34" charset="-122"/>
              <a:ea typeface="微软雅黑" panose="020B0503020204020204" pitchFamily="34" charset="-122"/>
            </a:endParaRPr>
          </a:p>
          <a:p>
            <a:pPr marL="342265" indent="-342900">
              <a:lnSpc>
                <a:spcPct val="150000"/>
              </a:lnSpc>
              <a:buClr>
                <a:srgbClr val="FF0000"/>
              </a:buClr>
              <a:buFont typeface="Wingdings" panose="05000000000000000000" pitchFamily="2" charset="2"/>
              <a:buChar char="l"/>
            </a:pPr>
            <a:r>
              <a:rPr lang="zh-CN" altLang="en-US" sz="1600" dirty="0">
                <a:solidFill>
                  <a:prstClr val="black"/>
                </a:solidFill>
                <a:latin typeface="微软雅黑" panose="020B0503020204020204" pitchFamily="34" charset="-122"/>
                <a:ea typeface="微软雅黑" panose="020B0503020204020204" pitchFamily="34" charset="-122"/>
              </a:rPr>
              <a:t>研究工区范围：川南区块页岩</a:t>
            </a:r>
            <a:endParaRPr lang="zh-CN" altLang="en-US" sz="1600" dirty="0">
              <a:solidFill>
                <a:prstClr val="black"/>
              </a:solidFill>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1"/>
          <a:stretch>
            <a:fillRect/>
          </a:stretch>
        </p:blipFill>
        <p:spPr>
          <a:xfrm>
            <a:off x="3582670" y="2315210"/>
            <a:ext cx="4662805" cy="3634105"/>
          </a:xfrm>
          <a:prstGeom prst="rect">
            <a:avLst/>
          </a:prstGeom>
        </p:spPr>
      </p:pic>
      <p:sp>
        <p:nvSpPr>
          <p:cNvPr id="4" name="文本框 3"/>
          <p:cNvSpPr txBox="1"/>
          <p:nvPr/>
        </p:nvSpPr>
        <p:spPr bwMode="auto">
          <a:xfrm>
            <a:off x="6126794" y="3307921"/>
            <a:ext cx="1005403" cy="418191"/>
          </a:xfrm>
          <a:prstGeom prst="rect">
            <a:avLst/>
          </a:prstGeom>
          <a:noFill/>
          <a:ln>
            <a:noFill/>
          </a:ln>
        </p:spPr>
        <p:txBody>
          <a:bodyPr wrap="none" rtlCol="0">
            <a:spAutoFit/>
          </a:bodyPr>
          <a:lstStyle/>
          <a:p>
            <a:pPr marL="0" indent="0">
              <a:lnSpc>
                <a:spcPct val="150000"/>
              </a:lnSpc>
              <a:buClr>
                <a:srgbClr val="FF0000"/>
              </a:buClr>
            </a:pPr>
            <a:r>
              <a:rPr lang="zh-CN" altLang="en-US" sz="1600" dirty="0">
                <a:latin typeface="微软雅黑" panose="020B0503020204020204" pitchFamily="34" charset="-122"/>
                <a:ea typeface="微软雅黑" panose="020B0503020204020204" pitchFamily="34" charset="-122"/>
              </a:rPr>
              <a:t>研究工区</a:t>
            </a:r>
            <a:endParaRPr lang="zh-CN" altLang="en-US" sz="1600" dirty="0">
              <a:latin typeface="微软雅黑" panose="020B0503020204020204" pitchFamily="34" charset="-122"/>
              <a:ea typeface="微软雅黑" panose="020B0503020204020204" pitchFamily="34" charset="-122"/>
            </a:endParaRPr>
          </a:p>
        </p:txBody>
      </p:sp>
      <p:cxnSp>
        <p:nvCxnSpPr>
          <p:cNvPr id="5" name="直接箭头连接符 4"/>
          <p:cNvCxnSpPr/>
          <p:nvPr/>
        </p:nvCxnSpPr>
        <p:spPr bwMode="auto">
          <a:xfrm flipH="1">
            <a:off x="5973335" y="3633424"/>
            <a:ext cx="234739" cy="288337"/>
          </a:xfrm>
          <a:prstGeom prst="straightConnector1">
            <a:avLst/>
          </a:prstGeom>
          <a:solidFill>
            <a:schemeClr val="accent1"/>
          </a:solidFill>
          <a:ln w="9525" cap="flat" cmpd="sng" algn="ctr">
            <a:solidFill>
              <a:schemeClr val="tx1"/>
            </a:solidFill>
            <a:prstDash val="solid"/>
            <a:round/>
            <a:headEnd type="none" w="med" len="med"/>
            <a:tailEnd type="triangle"/>
          </a:ln>
          <a:effectLst>
            <a:outerShdw dist="17961" dir="2700000" algn="ctr" rotWithShape="0">
              <a:schemeClr val="tx1">
                <a:gamma/>
                <a:shade val="60000"/>
                <a:invGamma/>
                <a:alpha val="50000"/>
              </a:schemeClr>
            </a:outerShdw>
          </a:effectLst>
        </p:spPr>
      </p:cxnSp>
      <p:sp>
        <p:nvSpPr>
          <p:cNvPr id="7" name="矩形 22"/>
          <p:cNvSpPr>
            <a:spLocks noChangeArrowheads="1"/>
          </p:cNvSpPr>
          <p:nvPr/>
        </p:nvSpPr>
        <p:spPr bwMode="auto">
          <a:xfrm>
            <a:off x="3582670" y="5959475"/>
            <a:ext cx="4662170"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川南区块构造位置图</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1"/>
          <p:cNvSpPr>
            <a:spLocks noChangeArrowheads="1"/>
          </p:cNvSpPr>
          <p:nvPr/>
        </p:nvSpPr>
        <p:spPr bwMode="auto">
          <a:xfrm>
            <a:off x="0" y="-226426"/>
            <a:ext cx="12191999" cy="928636"/>
          </a:xfrm>
          <a:prstGeom prst="rect">
            <a:avLst/>
          </a:prstGeom>
        </p:spPr>
        <p:txBody>
          <a:bodyPr wrap="square" lIns="91424" tIns="45712" rIns="91424" bIns="45712" anchor="ctr">
            <a:spAutoFit/>
          </a:bodyPr>
          <a:lstStyle/>
          <a:p>
            <a:pPr lvl="0" algn="ctr">
              <a:lnSpc>
                <a:spcPct val="200000"/>
              </a:lnSpc>
              <a:defRPr/>
            </a:pPr>
            <a:r>
              <a:rPr lang="zh-CN" altLang="en-US" sz="3200" b="1" kern="0" dirty="0">
                <a:solidFill>
                  <a:srgbClr val="FF0000"/>
                </a:solidFill>
                <a:latin typeface="微软雅黑" panose="020B0503020204020204" pitchFamily="34" charset="-122"/>
                <a:ea typeface="微软雅黑" panose="020B0503020204020204" pitchFamily="34" charset="-122"/>
              </a:rPr>
              <a:t>目   录</a:t>
            </a:r>
            <a:endParaRPr kumimoji="0" lang="zh-CN" altLang="en-US" sz="32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
        <p:nvSpPr>
          <p:cNvPr id="4" name="Text Box 6"/>
          <p:cNvSpPr txBox="1">
            <a:spLocks noChangeArrowheads="1"/>
          </p:cNvSpPr>
          <p:nvPr/>
        </p:nvSpPr>
        <p:spPr bwMode="auto">
          <a:xfrm>
            <a:off x="355600" y="1350645"/>
            <a:ext cx="11531600" cy="4608195"/>
          </a:xfrm>
          <a:prstGeom prst="rect">
            <a:avLst/>
          </a:prstGeom>
          <a:noFill/>
          <a:ln>
            <a:noFill/>
          </a:ln>
          <a:effectLst>
            <a:prstShdw prst="shdw17" dist="17961" dir="13500000">
              <a:srgbClr val="708688"/>
            </a:prstShdw>
          </a:effectLst>
        </p:spPr>
        <p:txBody>
          <a:bodyPr wrap="square" tIns="190800" bIns="190800" anchor="ctr" anchorCtr="1">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lnSpc>
                <a:spcPct val="150000"/>
              </a:lnSpc>
              <a:spcBef>
                <a:spcPct val="0"/>
              </a:spcBef>
              <a:spcAft>
                <a:spcPct val="0"/>
              </a:spcAft>
              <a:buClr>
                <a:srgbClr val="FF0000"/>
              </a:buClr>
            </a:pPr>
            <a:r>
              <a:rPr lang="zh-CN" altLang="en-US" sz="3200" dirty="0">
                <a:solidFill>
                  <a:srgbClr val="000000"/>
                </a:solidFill>
                <a:latin typeface="方正大黑简体" panose="03000509000000000000" pitchFamily="65" charset="-122"/>
                <a:ea typeface="方正大黑简体" panose="03000509000000000000" pitchFamily="65" charset="-122"/>
                <a:sym typeface="+mn-ea"/>
              </a:rPr>
              <a:t>一、项目概要</a:t>
            </a:r>
            <a:endParaRPr lang="zh-CN" altLang="en-US" sz="3200" dirty="0">
              <a:solidFill>
                <a:srgbClr val="000000"/>
              </a:solidFill>
              <a:latin typeface="方正大黑简体" panose="03000509000000000000" pitchFamily="65" charset="-122"/>
              <a:ea typeface="方正大黑简体" panose="03000509000000000000" pitchFamily="65" charset="-122"/>
            </a:endParaRPr>
          </a:p>
          <a:p>
            <a:pPr fontAlgn="base">
              <a:lnSpc>
                <a:spcPct val="150000"/>
              </a:lnSpc>
              <a:spcBef>
                <a:spcPct val="0"/>
              </a:spcBef>
              <a:spcAft>
                <a:spcPct val="0"/>
              </a:spcAft>
              <a:buClr>
                <a:srgbClr val="FF0000"/>
              </a:buClr>
            </a:pPr>
            <a:r>
              <a:rPr lang="zh-CN" altLang="en-US" sz="3200" dirty="0">
                <a:solidFill>
                  <a:srgbClr val="FF0000"/>
                </a:solidFill>
                <a:latin typeface="方正大黑简体" panose="03000509000000000000" pitchFamily="65" charset="-122"/>
                <a:ea typeface="方正大黑简体" panose="03000509000000000000" pitchFamily="65" charset="-122"/>
                <a:sym typeface="+mn-ea"/>
              </a:rPr>
              <a:t>二、立项的必要性</a:t>
            </a:r>
            <a:endParaRPr lang="zh-CN" altLang="en-US" sz="3200" dirty="0">
              <a:solidFill>
                <a:srgbClr val="000000"/>
              </a:solidFill>
              <a:latin typeface="方正大黑简体" panose="03000509000000000000" pitchFamily="65" charset="-122"/>
              <a:ea typeface="方正大黑简体" panose="03000509000000000000"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3000509000000000000" pitchFamily="65" charset="-122"/>
                <a:ea typeface="方正大黑简体" panose="03000509000000000000" pitchFamily="65" charset="-122"/>
                <a:sym typeface="+mn-ea"/>
              </a:rPr>
              <a:t>三、主要研究内容与目标</a:t>
            </a:r>
            <a:endParaRPr lang="zh-CN" altLang="en-US" sz="3200" dirty="0">
              <a:solidFill>
                <a:srgbClr val="000000"/>
              </a:solidFill>
              <a:latin typeface="方正大黑简体" panose="03000509000000000000" pitchFamily="65" charset="-122"/>
              <a:ea typeface="方正大黑简体" panose="03000509000000000000"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3000509000000000000" pitchFamily="65" charset="-122"/>
                <a:ea typeface="方正大黑简体" panose="03000509000000000000" pitchFamily="65" charset="-122"/>
                <a:sym typeface="+mn-ea"/>
              </a:rPr>
              <a:t>四、主要技术经济考核指标</a:t>
            </a:r>
            <a:endParaRPr lang="zh-CN" altLang="en-US" sz="3200" dirty="0">
              <a:solidFill>
                <a:srgbClr val="000000"/>
              </a:solidFill>
              <a:latin typeface="方正大黑简体" panose="03000509000000000000" pitchFamily="65" charset="-122"/>
              <a:ea typeface="方正大黑简体" panose="03000509000000000000"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3000509000000000000" pitchFamily="65" charset="-122"/>
                <a:ea typeface="方正大黑简体" panose="03000509000000000000" pitchFamily="65" charset="-122"/>
                <a:sym typeface="+mn-ea"/>
              </a:rPr>
              <a:t>五、项目研究技术路线</a:t>
            </a:r>
            <a:endParaRPr lang="zh-CN" altLang="en-US" sz="3200" dirty="0">
              <a:solidFill>
                <a:srgbClr val="000000"/>
              </a:solidFill>
              <a:latin typeface="方正大黑简体" panose="03000509000000000000" pitchFamily="65" charset="-122"/>
              <a:ea typeface="方正大黑简体" panose="03000509000000000000"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3000509000000000000" pitchFamily="65" charset="-122"/>
                <a:ea typeface="方正大黑简体" panose="03000509000000000000" pitchFamily="65" charset="-122"/>
                <a:sym typeface="+mn-ea"/>
              </a:rPr>
              <a:t>六、项目组织</a:t>
            </a:r>
            <a:endParaRPr lang="zh-CN" altLang="en-US" sz="3200" dirty="0">
              <a:solidFill>
                <a:srgbClr val="000000"/>
              </a:solidFill>
              <a:latin typeface="方正大黑简体" panose="03000509000000000000" pitchFamily="65" charset="-122"/>
              <a:ea typeface="方正大黑简体" panose="03000509000000000000" pitchFamily="65" charset="-122"/>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1</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、我国页岩油气资源丰富，水力压裂技术是实现非常规油气增产改造的重要手段</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30" name="Rectangle 11"/>
          <p:cNvSpPr>
            <a:spLocks noChangeArrowheads="1"/>
          </p:cNvSpPr>
          <p:nvPr/>
        </p:nvSpPr>
        <p:spPr bwMode="auto">
          <a:xfrm>
            <a:off x="0" y="-41275"/>
            <a:ext cx="1219263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rPr>
              <a:t>（一）生产需求</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4329" y="1319605"/>
            <a:ext cx="11485562" cy="1568450"/>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我国页岩油气资源</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分布广阔、储量丰富</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，具备实现</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中国非常规油气革命</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的资源基础，是我国未来油气增储上产的重要战略接替资源</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四川盆地页岩气富集高产</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，储层地质构造复杂，非均质强，</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天然裂缝发育</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，容易形成复杂缝网，</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水力压裂技术是实现非常规油气增产改造的重要手段</a:t>
            </a:r>
            <a:endPar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54"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26269" y="2861963"/>
            <a:ext cx="5412868" cy="3108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 name="文本框 6"/>
          <p:cNvSpPr txBox="1"/>
          <p:nvPr/>
        </p:nvSpPr>
        <p:spPr>
          <a:xfrm>
            <a:off x="325755" y="5949315"/>
            <a:ext cx="5413375" cy="275590"/>
          </a:xfrm>
          <a:prstGeom prst="rect">
            <a:avLst/>
          </a:prstGeom>
          <a:solidFill>
            <a:schemeClr val="bg1"/>
          </a:solid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
                <a:srgbClr val="FF0000"/>
              </a:buClr>
              <a:buSzPct val="60000"/>
              <a:buFontTx/>
              <a:buNone/>
              <a:defRPr/>
            </a:pPr>
            <a:r>
              <a:rPr lang="zh-CN" altLang="en-US" sz="1200" dirty="0">
                <a:solidFill>
                  <a:srgbClr val="000000"/>
                </a:solidFill>
                <a:latin typeface="微软雅黑" panose="020B0503020204020204" pitchFamily="34" charset="-122"/>
                <a:ea typeface="微软雅黑" panose="020B0503020204020204" pitchFamily="34" charset="-122"/>
              </a:rPr>
              <a:t>中国页岩油气资源分布</a:t>
            </a:r>
            <a:r>
              <a:rPr kumimoji="0" lang="zh-CN" altLang="en-US" sz="12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图</a:t>
            </a:r>
            <a:endParaRPr kumimoji="0" lang="zh-CN" altLang="en-US" sz="12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1" name="文本框 6"/>
          <p:cNvSpPr txBox="1"/>
          <p:nvPr/>
        </p:nvSpPr>
        <p:spPr>
          <a:xfrm>
            <a:off x="6600190" y="5945505"/>
            <a:ext cx="5114290" cy="275590"/>
          </a:xfrm>
          <a:prstGeom prst="rect">
            <a:avLst/>
          </a:prstGeom>
          <a:solidFill>
            <a:schemeClr val="bg1"/>
          </a:solid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
                <a:srgbClr val="FF0000"/>
              </a:buClr>
              <a:buSzPct val="60000"/>
              <a:buFontTx/>
              <a:buNone/>
              <a:defRPr/>
            </a:pPr>
            <a:r>
              <a:rPr kumimoji="0" lang="zh-CN" altLang="en-US" sz="12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川南泸州区块天然裂缝分布</a:t>
            </a:r>
            <a:endParaRPr kumimoji="0" lang="zh-CN" altLang="en-US" sz="12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pic>
        <p:nvPicPr>
          <p:cNvPr id="12" name="图片 11"/>
          <p:cNvPicPr>
            <a:picLocks noChangeAspect="1"/>
          </p:cNvPicPr>
          <p:nvPr/>
        </p:nvPicPr>
        <p:blipFill>
          <a:blip r:embed="rId2"/>
          <a:stretch>
            <a:fillRect/>
          </a:stretch>
        </p:blipFill>
        <p:spPr>
          <a:xfrm>
            <a:off x="6600055" y="2862206"/>
            <a:ext cx="5113537" cy="3083502"/>
          </a:xfrm>
          <a:prstGeom prst="rect">
            <a:avLst/>
          </a:prstGeom>
        </p:spPr>
      </p:pic>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2</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、综合评估压裂效果并提出实时优化调控方案，是水力压裂和现场生产的重大需求</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30" name="Rectangle 11"/>
          <p:cNvSpPr>
            <a:spLocks noChangeArrowheads="1"/>
          </p:cNvSpPr>
          <p:nvPr/>
        </p:nvSpPr>
        <p:spPr bwMode="auto">
          <a:xfrm>
            <a:off x="0" y="-41275"/>
            <a:ext cx="1219263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rPr>
              <a:t>（一）生产需求</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4329" y="1319605"/>
            <a:ext cx="11485562" cy="1938020"/>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由于非常规储层地层应力状态复杂多变、岩石力学性质各向异性和非均质性强、天然裂缝发育状况不明确、人工裂缝之间存在严重相互干扰，传统的水力压裂机理模型与预测方法不适用于非常规储层，如何</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提高水力压裂效果评价的准确性</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成为解决非常规资源开发瓶颈问题的关键。</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压裂监测与诊断</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是评估压裂改造和优化压裂设计的重要方法，对现场处理指导具有重要意义，综合评估压裂效果并提出实时优化调控方案，是水力压裂和现场生产的</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重大需求</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14" name="组合 13"/>
          <p:cNvGrpSpPr/>
          <p:nvPr/>
        </p:nvGrpSpPr>
        <p:grpSpPr>
          <a:xfrm>
            <a:off x="836295" y="3291205"/>
            <a:ext cx="5220970" cy="2545715"/>
            <a:chOff x="388938" y="3573463"/>
            <a:chExt cx="4154487" cy="2879725"/>
          </a:xfrm>
        </p:grpSpPr>
        <p:grpSp>
          <p:nvGrpSpPr>
            <p:cNvPr id="15" name="组合 20"/>
            <p:cNvGrpSpPr/>
            <p:nvPr/>
          </p:nvGrpSpPr>
          <p:grpSpPr bwMode="auto">
            <a:xfrm>
              <a:off x="388938" y="3716338"/>
              <a:ext cx="3694112" cy="2736850"/>
              <a:chOff x="5231419" y="3750906"/>
              <a:chExt cx="3431998" cy="2191607"/>
            </a:xfrm>
          </p:grpSpPr>
          <p:pic>
            <p:nvPicPr>
              <p:cNvPr id="17" name="Picture 12"/>
              <p:cNvPicPr>
                <a:picLocks noChangeAspect="1" noChangeArrowheads="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rcRect l="9953" r="24719"/>
              <a:stretch>
                <a:fillRect/>
              </a:stretch>
            </p:blipFill>
            <p:spPr bwMode="auto">
              <a:xfrm>
                <a:off x="5231419" y="3750906"/>
                <a:ext cx="3431998" cy="2191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8" name="直接箭头连接符 17"/>
              <p:cNvCxnSpPr/>
              <p:nvPr/>
            </p:nvCxnSpPr>
            <p:spPr>
              <a:xfrm flipV="1">
                <a:off x="6782971" y="4470424"/>
                <a:ext cx="327419" cy="330521"/>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pic>
          <p:nvPicPr>
            <p:cNvPr id="16"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1413" y="3573463"/>
              <a:ext cx="2132012" cy="141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7" name="矩形 22"/>
          <p:cNvSpPr>
            <a:spLocks noChangeArrowheads="1"/>
          </p:cNvSpPr>
          <p:nvPr/>
        </p:nvSpPr>
        <p:spPr bwMode="auto">
          <a:xfrm>
            <a:off x="7352030" y="5949315"/>
            <a:ext cx="3694430"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latin typeface="微软雅黑" panose="020B0503020204020204" pitchFamily="34" charset="-122"/>
                <a:ea typeface="微软雅黑" panose="020B0503020204020204" pitchFamily="34" charset="-122"/>
              </a:rPr>
              <a:t>多裂缝尺寸诊断</a:t>
            </a:r>
            <a:endParaRPr lang="zh-CN" altLang="en-US" sz="1200" dirty="0">
              <a:latin typeface="微软雅黑" panose="020B0503020204020204" pitchFamily="34" charset="-122"/>
              <a:ea typeface="微软雅黑" panose="020B0503020204020204" pitchFamily="34" charset="-122"/>
            </a:endParaRPr>
          </a:p>
        </p:txBody>
      </p:sp>
      <p:sp>
        <p:nvSpPr>
          <p:cNvPr id="2" name="矩形 22"/>
          <p:cNvSpPr>
            <a:spLocks noChangeArrowheads="1"/>
          </p:cNvSpPr>
          <p:nvPr/>
        </p:nvSpPr>
        <p:spPr bwMode="auto">
          <a:xfrm>
            <a:off x="836930" y="5947410"/>
            <a:ext cx="5220970"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latin typeface="微软雅黑" panose="020B0503020204020204" pitchFamily="34" charset="-122"/>
                <a:ea typeface="微软雅黑" panose="020B0503020204020204" pitchFamily="34" charset="-122"/>
              </a:rPr>
              <a:t>多级多簇停泵压力监测</a:t>
            </a:r>
            <a:endParaRPr lang="zh-CN" altLang="en-US" sz="1200" dirty="0">
              <a:latin typeface="微软雅黑" panose="020B0503020204020204" pitchFamily="34" charset="-122"/>
              <a:ea typeface="微软雅黑" panose="020B0503020204020204" pitchFamily="34" charset="-122"/>
            </a:endParaRPr>
          </a:p>
        </p:txBody>
      </p:sp>
      <p:pic>
        <p:nvPicPr>
          <p:cNvPr id="19" name="图片 18"/>
          <p:cNvPicPr>
            <a:picLocks noChangeAspect="1"/>
          </p:cNvPicPr>
          <p:nvPr/>
        </p:nvPicPr>
        <p:blipFill>
          <a:blip r:embed="rId3"/>
          <a:stretch>
            <a:fillRect/>
          </a:stretch>
        </p:blipFill>
        <p:spPr>
          <a:xfrm>
            <a:off x="7352030" y="3257550"/>
            <a:ext cx="3693795" cy="2691765"/>
          </a:xfrm>
          <a:prstGeom prst="rect">
            <a:avLst/>
          </a:prstGeom>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895" y="811530"/>
            <a:ext cx="11390630"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1</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、水力压裂诊断评估与监测是国际学术研究的热点和难点问题，急需理论和技术方法创新</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30" name="Rectangle 11"/>
          <p:cNvSpPr>
            <a:spLocks noChangeArrowheads="1"/>
          </p:cNvSpPr>
          <p:nvPr/>
        </p:nvSpPr>
        <p:spPr bwMode="auto">
          <a:xfrm>
            <a:off x="0" y="-41275"/>
            <a:ext cx="1219263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rPr>
              <a:t>（二）国内外技术现状</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4329" y="1319605"/>
            <a:ext cx="11485562" cy="1938020"/>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通过调研与压裂诊断评估研究相关的</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理论研究</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和</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工程实践</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文献100篇，其中国外40篇、国内60篇。 发现国内外学者近年来压裂诊断监测方面的研究大多仅限于理论研究，</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研究难度大，进展缓慢</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，鉴于其广阔的应用前景，成为当前研究的热点。</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国内文献：石油勘探与开发、石油学报、天然气工业、石油科学通报、岩石力学与工程学报等60篇。</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国外文献：SPE 、SEG、 Geoenergy Science and Engineering、Journal of Hydrology、International Journal of Rock Mechanics and Mining Sciences等40篇。</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9" name="组合 42"/>
          <p:cNvGrpSpPr/>
          <p:nvPr/>
        </p:nvGrpSpPr>
        <p:grpSpPr bwMode="auto">
          <a:xfrm>
            <a:off x="333847" y="3676969"/>
            <a:ext cx="1980000" cy="2469489"/>
            <a:chOff x="609600" y="2286000"/>
            <a:chExt cx="1601788" cy="2068285"/>
          </a:xfrm>
        </p:grpSpPr>
        <p:pic>
          <p:nvPicPr>
            <p:cNvPr id="10"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09600" y="2286000"/>
              <a:ext cx="1600200" cy="206828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3"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286000"/>
              <a:ext cx="687388" cy="40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3" name="组合 55"/>
          <p:cNvGrpSpPr/>
          <p:nvPr/>
        </p:nvGrpSpPr>
        <p:grpSpPr bwMode="auto">
          <a:xfrm>
            <a:off x="2494187" y="3676968"/>
            <a:ext cx="1979930" cy="2469489"/>
            <a:chOff x="5257799" y="2286000"/>
            <a:chExt cx="1447800" cy="2057400"/>
          </a:xfrm>
        </p:grpSpPr>
        <p:pic>
          <p:nvPicPr>
            <p:cNvPr id="14" name="图片 51"/>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57799" y="2286000"/>
              <a:ext cx="1447800" cy="2057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15" name="图片 4"/>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248398" y="2286000"/>
              <a:ext cx="430521" cy="617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7" name="组合 61"/>
          <p:cNvGrpSpPr/>
          <p:nvPr/>
        </p:nvGrpSpPr>
        <p:grpSpPr bwMode="auto">
          <a:xfrm>
            <a:off x="4654457" y="3677602"/>
            <a:ext cx="1979930" cy="2469489"/>
            <a:chOff x="8686800" y="3352800"/>
            <a:chExt cx="2140834" cy="2910945"/>
          </a:xfrm>
        </p:grpSpPr>
        <p:pic>
          <p:nvPicPr>
            <p:cNvPr id="18" name="图片 59"/>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686800" y="3352800"/>
              <a:ext cx="2140834" cy="291094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19" name="图片 60"/>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215966" y="3352800"/>
              <a:ext cx="584997"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5" name="组合 4"/>
          <p:cNvGrpSpPr/>
          <p:nvPr/>
        </p:nvGrpSpPr>
        <p:grpSpPr>
          <a:xfrm>
            <a:off x="6814727" y="3369945"/>
            <a:ext cx="2701290" cy="2959100"/>
            <a:chOff x="10800" y="5187"/>
            <a:chExt cx="4254" cy="4660"/>
          </a:xfrm>
        </p:grpSpPr>
        <p:pic>
          <p:nvPicPr>
            <p:cNvPr id="20" name="图片 19"/>
            <p:cNvPicPr/>
            <p:nvPr/>
          </p:nvPicPr>
          <p:blipFill>
            <a:blip r:embed="rId7"/>
            <a:stretch>
              <a:fillRect/>
            </a:stretch>
          </p:blipFill>
          <p:spPr>
            <a:xfrm>
              <a:off x="10802" y="7579"/>
              <a:ext cx="4252" cy="2268"/>
            </a:xfrm>
            <a:prstGeom prst="rect">
              <a:avLst/>
            </a:prstGeom>
            <a:ln>
              <a:solidFill>
                <a:schemeClr val="tx1"/>
              </a:solidFill>
            </a:ln>
          </p:spPr>
        </p:pic>
        <p:pic>
          <p:nvPicPr>
            <p:cNvPr id="4" name="图片 3"/>
            <p:cNvPicPr/>
            <p:nvPr/>
          </p:nvPicPr>
          <p:blipFill>
            <a:blip r:embed="rId8"/>
            <a:stretch>
              <a:fillRect/>
            </a:stretch>
          </p:blipFill>
          <p:spPr>
            <a:xfrm>
              <a:off x="10800" y="5187"/>
              <a:ext cx="4252" cy="2268"/>
            </a:xfrm>
            <a:prstGeom prst="rect">
              <a:avLst/>
            </a:prstGeom>
            <a:ln>
              <a:solidFill>
                <a:schemeClr val="tx1"/>
              </a:solidFill>
            </a:ln>
          </p:spPr>
        </p:pic>
      </p:grpSp>
      <p:grpSp>
        <p:nvGrpSpPr>
          <p:cNvPr id="6" name="组合 5"/>
          <p:cNvGrpSpPr/>
          <p:nvPr/>
        </p:nvGrpSpPr>
        <p:grpSpPr>
          <a:xfrm>
            <a:off x="9696357" y="3369945"/>
            <a:ext cx="2160270" cy="2959100"/>
            <a:chOff x="15175" y="5187"/>
            <a:chExt cx="3402" cy="4660"/>
          </a:xfrm>
        </p:grpSpPr>
        <p:pic>
          <p:nvPicPr>
            <p:cNvPr id="2" name="图片 1"/>
            <p:cNvPicPr/>
            <p:nvPr/>
          </p:nvPicPr>
          <p:blipFill>
            <a:blip r:embed="rId9"/>
            <a:stretch>
              <a:fillRect/>
            </a:stretch>
          </p:blipFill>
          <p:spPr>
            <a:xfrm>
              <a:off x="15175" y="5187"/>
              <a:ext cx="3402" cy="2268"/>
            </a:xfrm>
            <a:prstGeom prst="rect">
              <a:avLst/>
            </a:prstGeom>
            <a:ln>
              <a:solidFill>
                <a:schemeClr val="tx1"/>
              </a:solidFill>
            </a:ln>
          </p:spPr>
        </p:pic>
        <p:pic>
          <p:nvPicPr>
            <p:cNvPr id="21" name="图片 20"/>
            <p:cNvPicPr/>
            <p:nvPr/>
          </p:nvPicPr>
          <p:blipFill>
            <a:blip r:embed="rId10"/>
            <a:stretch>
              <a:fillRect/>
            </a:stretch>
          </p:blipFill>
          <p:spPr>
            <a:xfrm>
              <a:off x="15175" y="7579"/>
              <a:ext cx="3402" cy="2268"/>
            </a:xfrm>
            <a:prstGeom prst="rect">
              <a:avLst/>
            </a:prstGeom>
            <a:ln>
              <a:solidFill>
                <a:schemeClr val="tx1"/>
              </a:solidFill>
            </a:ln>
          </p:spPr>
        </p:pic>
      </p:gr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29601" y="811428"/>
            <a:ext cx="9200174" cy="506730"/>
          </a:xfrm>
          <a:prstGeom prst="rect">
            <a:avLst/>
          </a:prstGeom>
          <a:noFill/>
          <a:ln>
            <a:noFill/>
          </a:ln>
        </p:spPr>
        <p:txBody>
          <a:bodyPr wrap="square">
            <a:spAutoFit/>
          </a:bodyPr>
          <a:lstStyle/>
          <a:p>
            <a:pPr marL="802005" marR="0" lvl="0" indent="-802005" algn="l" defTabSz="914400" rtl="0" eaLnBrk="1" fontAlgn="auto" latinLnBrk="0" hangingPunct="1">
              <a:lnSpc>
                <a:spcPct val="150000"/>
              </a:lnSpc>
              <a:spcBef>
                <a:spcPts val="0"/>
              </a:spcBef>
              <a:spcAft>
                <a:spcPts val="0"/>
              </a:spcAft>
              <a:buClr>
                <a:srgbClr val="FF0000"/>
              </a:buClr>
              <a:buSzTx/>
              <a:buFontTx/>
              <a:buNone/>
              <a:defRPr/>
            </a:pP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2</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、国内对于压裂诊断侧重于理论研究，研究成果定性多、定量少，成果落地应用难度大</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30" name="Rectangle 11"/>
          <p:cNvSpPr>
            <a:spLocks noChangeArrowheads="1"/>
          </p:cNvSpPr>
          <p:nvPr/>
        </p:nvSpPr>
        <p:spPr bwMode="auto">
          <a:xfrm>
            <a:off x="0" y="-41275"/>
            <a:ext cx="1219263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rPr>
              <a:t>（二）国内外技术现状</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4329" y="1319605"/>
            <a:ext cx="11485562" cy="2306955"/>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目前应用于水力压裂诊断监测的主要技术包括压裂过程的压力曲线分析等</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间接诊断方法</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，示踪剂、测斜仪、井下成像等</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近井直接诊断方法</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，井下微地震等</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远井直接诊断方法</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三大类型，</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受制于成本影响，应用难度较大</a:t>
            </a:r>
            <a:endPar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矿场监测对数据处理速度、分析精度及工艺成本有着多重要求；</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微地震，管外光纤监测和广域电磁法可实现压裂人工裂缝实时监测，但成本较高且施工应用复杂；</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示踪剂和井下鹰眼需要在压裂施工完成后，通过反排或下入设备评价压裂效果，不具备实时性；</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井筒听诊器可实现压裂人工裂缝实时监测，但只能确定压裂后进液裂缝位置，无法评价人工裂缝规模。</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7" name="Table 6"/>
          <p:cNvGraphicFramePr>
            <a:graphicFrameLocks noGrp="1"/>
          </p:cNvGraphicFramePr>
          <p:nvPr>
            <p:custDataLst>
              <p:tags r:id="rId1"/>
            </p:custDataLst>
          </p:nvPr>
        </p:nvGraphicFramePr>
        <p:xfrm>
          <a:off x="304801" y="3626560"/>
          <a:ext cx="11619231" cy="2356797"/>
        </p:xfrm>
        <a:graphic>
          <a:graphicData uri="http://schemas.openxmlformats.org/drawingml/2006/table">
            <a:tbl>
              <a:tblPr firstRow="1" bandRow="1">
                <a:tableStyleId>{5C22544A-7EE6-4342-B048-85BDC9FD1C3A}</a:tableStyleId>
              </a:tblPr>
              <a:tblGrid>
                <a:gridCol w="1009649"/>
                <a:gridCol w="1815494"/>
                <a:gridCol w="2127856"/>
                <a:gridCol w="1699242"/>
                <a:gridCol w="1895349"/>
                <a:gridCol w="1782318"/>
                <a:gridCol w="1289323"/>
              </a:tblGrid>
              <a:tr h="330972">
                <a:tc>
                  <a:txBody>
                    <a:bodyPr/>
                    <a:lstStyle/>
                    <a:p>
                      <a:pPr algn="ctr"/>
                      <a:endParaRPr lang="en-US" sz="1200" dirty="0">
                        <a:solidFill>
                          <a:sysClr val="windowText" lastClr="000000"/>
                        </a:solidFill>
                        <a:latin typeface="微软雅黑" panose="020B0503020204020204" pitchFamily="34" charset="-122"/>
                        <a:ea typeface="微软雅黑" panose="020B0503020204020204" pitchFamily="34" charset="-122"/>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a:r>
                        <a:rPr lang="zh-CN" altLang="en-US" sz="1200" b="1" dirty="0">
                          <a:solidFill>
                            <a:schemeClr val="bg1"/>
                          </a:solidFill>
                          <a:latin typeface="微软雅黑" panose="020B0503020204020204" pitchFamily="34" charset="-122"/>
                          <a:ea typeface="微软雅黑" panose="020B0503020204020204" pitchFamily="34" charset="-122"/>
                        </a:rPr>
                        <a:t>微地震监测</a:t>
                      </a:r>
                      <a:endParaRPr lang="zh-CN" altLang="en-US" sz="1200" b="1" dirty="0">
                        <a:solidFill>
                          <a:schemeClr val="bg1"/>
                        </a:solidFill>
                        <a:latin typeface="微软雅黑" panose="020B0503020204020204" pitchFamily="34" charset="-122"/>
                        <a:ea typeface="微软雅黑" panose="020B0503020204020204" pitchFamily="34" charset="-122"/>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a:r>
                        <a:rPr lang="zh-CN" altLang="en-US" sz="1200" b="1" dirty="0">
                          <a:solidFill>
                            <a:schemeClr val="bg1"/>
                          </a:solidFill>
                          <a:latin typeface="微软雅黑" panose="020B0503020204020204" pitchFamily="34" charset="-122"/>
                          <a:ea typeface="微软雅黑" panose="020B0503020204020204" pitchFamily="34" charset="-122"/>
                        </a:rPr>
                        <a:t>管外光纤监测</a:t>
                      </a:r>
                      <a:endParaRPr lang="zh-CN" altLang="en-US" sz="1200" b="1" dirty="0">
                        <a:solidFill>
                          <a:schemeClr val="bg1"/>
                        </a:solidFill>
                        <a:latin typeface="微软雅黑" panose="020B0503020204020204" pitchFamily="34" charset="-122"/>
                        <a:ea typeface="微软雅黑" panose="020B0503020204020204" pitchFamily="34" charset="-122"/>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a:r>
                        <a:rPr lang="zh-CN" altLang="en-US" sz="1200" b="1" dirty="0">
                          <a:solidFill>
                            <a:schemeClr val="bg1"/>
                          </a:solidFill>
                          <a:latin typeface="微软雅黑" panose="020B0503020204020204" pitchFamily="34" charset="-122"/>
                          <a:ea typeface="微软雅黑" panose="020B0503020204020204" pitchFamily="34" charset="-122"/>
                        </a:rPr>
                        <a:t>广域电磁法</a:t>
                      </a:r>
                      <a:endParaRPr lang="zh-CN" altLang="en-US" sz="1200" b="1" dirty="0">
                        <a:solidFill>
                          <a:schemeClr val="bg1"/>
                        </a:solidFill>
                        <a:latin typeface="微软雅黑" panose="020B0503020204020204" pitchFamily="34" charset="-122"/>
                        <a:ea typeface="微软雅黑" panose="020B0503020204020204" pitchFamily="34" charset="-122"/>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a:r>
                        <a:rPr lang="zh-CN" altLang="en-US" sz="1200" b="1" dirty="0">
                          <a:solidFill>
                            <a:schemeClr val="bg1"/>
                          </a:solidFill>
                          <a:latin typeface="微软雅黑" panose="020B0503020204020204" pitchFamily="34" charset="-122"/>
                          <a:ea typeface="微软雅黑" panose="020B0503020204020204" pitchFamily="34" charset="-122"/>
                        </a:rPr>
                        <a:t>井筒听诊器</a:t>
                      </a:r>
                      <a:endParaRPr lang="zh-CN" altLang="en-US" sz="1200" b="1" dirty="0">
                        <a:solidFill>
                          <a:schemeClr val="bg1"/>
                        </a:solidFill>
                        <a:latin typeface="微软雅黑" panose="020B0503020204020204" pitchFamily="34" charset="-122"/>
                        <a:ea typeface="微软雅黑" panose="020B0503020204020204" pitchFamily="34" charset="-122"/>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a:r>
                        <a:rPr lang="zh-CN" altLang="en-US" sz="1200" b="1" dirty="0">
                          <a:solidFill>
                            <a:schemeClr val="bg1"/>
                          </a:solidFill>
                          <a:latin typeface="微软雅黑" panose="020B0503020204020204" pitchFamily="34" charset="-122"/>
                          <a:ea typeface="微软雅黑" panose="020B0503020204020204" pitchFamily="34" charset="-122"/>
                        </a:rPr>
                        <a:t>示踪剂</a:t>
                      </a:r>
                      <a:endParaRPr lang="zh-CN" altLang="en-US" sz="1200" b="1" dirty="0">
                        <a:solidFill>
                          <a:schemeClr val="bg1"/>
                        </a:solidFill>
                        <a:latin typeface="微软雅黑" panose="020B0503020204020204" pitchFamily="34" charset="-122"/>
                        <a:ea typeface="微软雅黑" panose="020B0503020204020204" pitchFamily="34" charset="-122"/>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a:r>
                        <a:rPr lang="zh-CN" altLang="en-US" sz="1200" b="1" dirty="0">
                          <a:solidFill>
                            <a:schemeClr val="bg1"/>
                          </a:solidFill>
                          <a:latin typeface="微软雅黑" panose="020B0503020204020204" pitchFamily="34" charset="-122"/>
                          <a:ea typeface="微软雅黑" panose="020B0503020204020204" pitchFamily="34" charset="-122"/>
                        </a:rPr>
                        <a:t>井下鹰眼</a:t>
                      </a:r>
                      <a:endParaRPr lang="zh-CN" altLang="en-US" sz="1200" b="1" dirty="0">
                        <a:solidFill>
                          <a:schemeClr val="bg1"/>
                        </a:solidFill>
                        <a:latin typeface="微软雅黑" panose="020B0503020204020204" pitchFamily="34" charset="-122"/>
                        <a:ea typeface="微软雅黑" panose="020B0503020204020204" pitchFamily="34" charset="-122"/>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r>
              <a:tr h="784018">
                <a:tc>
                  <a:txBody>
                    <a:bodyPr/>
                    <a:lstStyle/>
                    <a:p>
                      <a:pPr algn="ctr"/>
                      <a:r>
                        <a:rPr lang="zh-CN" altLang="en-US" sz="1200" b="1" dirty="0">
                          <a:solidFill>
                            <a:schemeClr val="bg1"/>
                          </a:solidFill>
                          <a:latin typeface="微软雅黑" panose="020B0503020204020204" pitchFamily="34" charset="-122"/>
                          <a:ea typeface="微软雅黑" panose="020B0503020204020204" pitchFamily="34" charset="-122"/>
                        </a:rPr>
                        <a:t>采集指标</a:t>
                      </a:r>
                      <a:endParaRPr lang="zh-CN" altLang="en-US" sz="1200" b="1" dirty="0">
                        <a:solidFill>
                          <a:schemeClr val="bg1"/>
                        </a:solidFill>
                        <a:latin typeface="微软雅黑" panose="020B0503020204020204" pitchFamily="34" charset="-122"/>
                        <a:ea typeface="微软雅黑" panose="020B0503020204020204" pitchFamily="34" charset="-122"/>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a:r>
                        <a:rPr lang="zh-CN" altLang="en-US" sz="1200" b="0" dirty="0">
                          <a:latin typeface="微软雅黑" panose="020B0503020204020204" pitchFamily="34" charset="-122"/>
                          <a:ea typeface="微软雅黑" panose="020B0503020204020204" pitchFamily="34" charset="-122"/>
                          <a:cs typeface="Times New Roman Regular" panose="02020603050405020304" charset="0"/>
                        </a:rPr>
                        <a:t>地震检波设备采集，随着压裂过程实时采集显示，</a:t>
                      </a:r>
                      <a:r>
                        <a:rPr lang="zh-CN" altLang="en-US" sz="1200" dirty="0">
                          <a:latin typeface="微软雅黑" panose="020B0503020204020204" pitchFamily="34" charset="-122"/>
                          <a:ea typeface="微软雅黑" panose="020B0503020204020204" pitchFamily="34" charset="-122"/>
                          <a:sym typeface="+mn-ea"/>
                        </a:rPr>
                        <a:t>需要专业复杂的设备处理</a:t>
                      </a:r>
                      <a:endParaRPr lang="zh-CN" altLang="en-US" sz="1200" dirty="0">
                        <a:latin typeface="微软雅黑" panose="020B0503020204020204" pitchFamily="34" charset="-122"/>
                        <a:ea typeface="微软雅黑" panose="020B0503020204020204" pitchFamily="34" charset="-122"/>
                        <a:sym typeface="+mn-ea"/>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b="0" dirty="0">
                          <a:latin typeface="微软雅黑" panose="020B0503020204020204" pitchFamily="34" charset="-122"/>
                          <a:ea typeface="微软雅黑" panose="020B0503020204020204" pitchFamily="34" charset="-122"/>
                        </a:rPr>
                        <a:t>压裂全过程实时采集全频带的</a:t>
                      </a:r>
                      <a:r>
                        <a:rPr lang="en-US" altLang="zh-CN" sz="1200" b="0" dirty="0">
                          <a:latin typeface="微软雅黑" panose="020B0503020204020204" pitchFamily="34" charset="-122"/>
                          <a:ea typeface="微软雅黑" panose="020B0503020204020204" pitchFamily="34" charset="-122"/>
                        </a:rPr>
                        <a:t>DAS</a:t>
                      </a:r>
                      <a:r>
                        <a:rPr lang="zh-CN" altLang="en-US" sz="1200" b="0" dirty="0">
                          <a:latin typeface="微软雅黑" panose="020B0503020204020204" pitchFamily="34" charset="-122"/>
                          <a:ea typeface="微软雅黑" panose="020B0503020204020204" pitchFamily="34" charset="-122"/>
                        </a:rPr>
                        <a:t>数据，数据量大，需要专业复杂的解调设备及算法处理</a:t>
                      </a:r>
                      <a:endParaRPr lang="zh-CN" altLang="en-US" sz="1200" b="0" dirty="0">
                        <a:latin typeface="微软雅黑" panose="020B0503020204020204" pitchFamily="34" charset="-122"/>
                        <a:ea typeface="微软雅黑" panose="020B0503020204020204" pitchFamily="34" charset="-122"/>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b="0" dirty="0">
                          <a:latin typeface="微软雅黑" panose="020B0503020204020204" pitchFamily="34" charset="-122"/>
                          <a:ea typeface="微软雅黑" panose="020B0503020204020204" pitchFamily="34" charset="-122"/>
                          <a:cs typeface="Times New Roman Regular" panose="02020603050405020304" charset="0"/>
                        </a:rPr>
                        <a:t>在井中发射，地面接收电磁信号，在地表部署电位测量接收实时测量电信号分布</a:t>
                      </a:r>
                      <a:endParaRPr lang="zh-CN" altLang="en-US" sz="1200" b="0" dirty="0">
                        <a:latin typeface="微软雅黑" panose="020B0503020204020204" pitchFamily="34" charset="-122"/>
                        <a:ea typeface="微软雅黑" panose="020B0503020204020204" pitchFamily="34" charset="-122"/>
                        <a:cs typeface="Times New Roman Regular" panose="02020603050405020304" charset="0"/>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b="0" dirty="0">
                          <a:latin typeface="微软雅黑" panose="020B0503020204020204" pitchFamily="34" charset="-122"/>
                          <a:ea typeface="微软雅黑" panose="020B0503020204020204" pitchFamily="34" charset="-122"/>
                        </a:rPr>
                        <a:t>高频（</a:t>
                      </a:r>
                      <a:r>
                        <a:rPr lang="en-US" altLang="zh-CN" sz="1200" b="0" dirty="0">
                          <a:latin typeface="微软雅黑" panose="020B0503020204020204" pitchFamily="34" charset="-122"/>
                          <a:ea typeface="微软雅黑" panose="020B0503020204020204" pitchFamily="34" charset="-122"/>
                        </a:rPr>
                        <a:t>&gt; 200 Hz</a:t>
                      </a:r>
                      <a:r>
                        <a:rPr lang="zh-CN" altLang="en-US" sz="1200" b="0" dirty="0">
                          <a:latin typeface="微软雅黑" panose="020B0503020204020204" pitchFamily="34" charset="-122"/>
                          <a:ea typeface="微软雅黑" panose="020B0503020204020204" pitchFamily="34" charset="-122"/>
                        </a:rPr>
                        <a:t>）压力传感器及配套采样设备采集，仅采集停泵时的水锤压力波信号</a:t>
                      </a:r>
                      <a:endParaRPr lang="zh-CN" altLang="en-US" sz="1200" b="0" dirty="0">
                        <a:latin typeface="微软雅黑" panose="020B0503020204020204" pitchFamily="34" charset="-122"/>
                        <a:ea typeface="微软雅黑" panose="020B0503020204020204" pitchFamily="34" charset="-122"/>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b="0" dirty="0">
                          <a:latin typeface="微软雅黑" panose="020B0503020204020204" pitchFamily="34" charset="-122"/>
                          <a:ea typeface="微软雅黑" panose="020B0503020204020204" pitchFamily="34" charset="-122"/>
                        </a:rPr>
                        <a:t>压裂施工完成后</a:t>
                      </a:r>
                      <a:r>
                        <a:rPr lang="zh-CN" altLang="en-US" sz="1200" dirty="0">
                          <a:latin typeface="微软雅黑" panose="020B0503020204020204" pitchFamily="34" charset="-122"/>
                          <a:ea typeface="微软雅黑" panose="020B0503020204020204" pitchFamily="34" charset="-122"/>
                          <a:sym typeface="+mn-ea"/>
                        </a:rPr>
                        <a:t>统计</a:t>
                      </a:r>
                      <a:r>
                        <a:rPr lang="zh-CN" altLang="en-US" sz="1200" b="0" dirty="0">
                          <a:latin typeface="微软雅黑" panose="020B0503020204020204" pitchFamily="34" charset="-122"/>
                          <a:ea typeface="微软雅黑" panose="020B0503020204020204" pitchFamily="34" charset="-122"/>
                        </a:rPr>
                        <a:t>返排液数据</a:t>
                      </a:r>
                      <a:endParaRPr lang="zh-CN" altLang="en-US" sz="1200" b="0" dirty="0">
                        <a:latin typeface="微软雅黑" panose="020B0503020204020204" pitchFamily="34" charset="-122"/>
                        <a:ea typeface="微软雅黑" panose="020B0503020204020204" pitchFamily="34" charset="-122"/>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dirty="0">
                          <a:latin typeface="微软雅黑" panose="020B0503020204020204" pitchFamily="34" charset="-122"/>
                          <a:ea typeface="微软雅黑" panose="020B0503020204020204" pitchFamily="34" charset="-122"/>
                          <a:sym typeface="+mn-ea"/>
                        </a:rPr>
                        <a:t>压裂施工完成后下入</a:t>
                      </a:r>
                      <a:r>
                        <a:rPr lang="zh-CN" altLang="en-US" sz="1200" b="0" dirty="0">
                          <a:latin typeface="微软雅黑" panose="020B0503020204020204" pitchFamily="34" charset="-122"/>
                          <a:ea typeface="微软雅黑" panose="020B0503020204020204" pitchFamily="34" charset="-122"/>
                        </a:rPr>
                        <a:t>井下高清影像设备</a:t>
                      </a:r>
                      <a:endParaRPr lang="zh-CN" altLang="en-US" sz="1200" b="0" dirty="0">
                        <a:latin typeface="微软雅黑" panose="020B0503020204020204" pitchFamily="34" charset="-122"/>
                        <a:ea typeface="微软雅黑" panose="020B0503020204020204" pitchFamily="34" charset="-122"/>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784018">
                <a:tc>
                  <a:txBody>
                    <a:bodyPr/>
                    <a:lstStyle/>
                    <a:p>
                      <a:pPr algn="ctr"/>
                      <a:r>
                        <a:rPr lang="zh-CN" altLang="en-US" sz="1200" b="1" dirty="0">
                          <a:solidFill>
                            <a:schemeClr val="bg1"/>
                          </a:solidFill>
                          <a:latin typeface="微软雅黑" panose="020B0503020204020204" pitchFamily="34" charset="-122"/>
                          <a:ea typeface="微软雅黑" panose="020B0503020204020204" pitchFamily="34" charset="-122"/>
                        </a:rPr>
                        <a:t>技术应用</a:t>
                      </a:r>
                      <a:endParaRPr lang="zh-CN" altLang="en-US" sz="1200" b="1" dirty="0">
                        <a:solidFill>
                          <a:schemeClr val="bg1"/>
                        </a:solidFill>
                        <a:latin typeface="微软雅黑" panose="020B0503020204020204" pitchFamily="34" charset="-122"/>
                        <a:ea typeface="微软雅黑" panose="020B0503020204020204" pitchFamily="34" charset="-122"/>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a:r>
                        <a:rPr lang="zh-CN" altLang="en-US" sz="1200" b="0" dirty="0">
                          <a:latin typeface="微软雅黑" panose="020B0503020204020204" pitchFamily="34" charset="-122"/>
                          <a:ea typeface="微软雅黑" panose="020B0503020204020204" pitchFamily="34" charset="-122"/>
                          <a:cs typeface="Times New Roman Regular" panose="02020603050405020304" charset="0"/>
                        </a:rPr>
                        <a:t>裂缝形态、复杂程度以及有效压裂体积，</a:t>
                      </a:r>
                      <a:r>
                        <a:rPr lang="zh-CN" altLang="en-US" sz="1200" dirty="0">
                          <a:latin typeface="微软雅黑" panose="020B0503020204020204" pitchFamily="34" charset="-122"/>
                          <a:ea typeface="微软雅黑" panose="020B0503020204020204" pitchFamily="34" charset="-122"/>
                          <a:cs typeface="Times New Roman Regular" panose="02020603050405020304" charset="0"/>
                          <a:sym typeface="+mn-ea"/>
                        </a:rPr>
                        <a:t>辅助实时决策压裂工艺参数调整</a:t>
                      </a:r>
                      <a:endParaRPr lang="zh-CN" altLang="en-US" sz="1200" b="0" dirty="0">
                        <a:latin typeface="微软雅黑" panose="020B0503020204020204" pitchFamily="34" charset="-122"/>
                        <a:ea typeface="微软雅黑" panose="020B0503020204020204" pitchFamily="34" charset="-122"/>
                        <a:cs typeface="Times New Roman Regular" panose="02020603050405020304" charset="0"/>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b="0" dirty="0">
                          <a:latin typeface="微软雅黑" panose="020B0503020204020204" pitchFamily="34" charset="-122"/>
                          <a:ea typeface="微软雅黑" panose="020B0503020204020204" pitchFamily="34" charset="-122"/>
                          <a:cs typeface="Times New Roman Regular" panose="02020603050405020304" charset="0"/>
                        </a:rPr>
                        <a:t>井下进液点位置，射孔簇进液</a:t>
                      </a:r>
                      <a:r>
                        <a:rPr lang="en-US" altLang="zh-CN" sz="1200" b="0" dirty="0">
                          <a:latin typeface="微软雅黑" panose="020B0503020204020204" pitchFamily="34" charset="-122"/>
                          <a:ea typeface="微软雅黑" panose="020B0503020204020204" pitchFamily="34" charset="-122"/>
                          <a:cs typeface="Times New Roman Regular" panose="02020603050405020304" charset="0"/>
                        </a:rPr>
                        <a:t>/</a:t>
                      </a:r>
                      <a:r>
                        <a:rPr lang="zh-CN" altLang="en-US" sz="1200" b="0" dirty="0">
                          <a:latin typeface="微软雅黑" panose="020B0503020204020204" pitchFamily="34" charset="-122"/>
                          <a:ea typeface="微软雅黑" panose="020B0503020204020204" pitchFamily="34" charset="-122"/>
                          <a:cs typeface="Times New Roman Regular" panose="02020603050405020304" charset="0"/>
                        </a:rPr>
                        <a:t>砂量，进液均匀程度，</a:t>
                      </a:r>
                      <a:r>
                        <a:rPr lang="zh-CN" altLang="en-US" sz="1200" dirty="0">
                          <a:latin typeface="微软雅黑" panose="020B0503020204020204" pitchFamily="34" charset="-122"/>
                          <a:ea typeface="微软雅黑" panose="020B0503020204020204" pitchFamily="34" charset="-122"/>
                          <a:cs typeface="Times New Roman Regular" panose="02020603050405020304" charset="0"/>
                          <a:sym typeface="+mn-ea"/>
                        </a:rPr>
                        <a:t>辅助实时决策压裂工艺参数调整</a:t>
                      </a:r>
                      <a:endParaRPr lang="zh-CN" altLang="en-US" sz="1200" b="0" dirty="0">
                        <a:latin typeface="微软雅黑" panose="020B0503020204020204" pitchFamily="34" charset="-122"/>
                        <a:ea typeface="微软雅黑" panose="020B0503020204020204" pitchFamily="34" charset="-122"/>
                        <a:cs typeface="Times New Roman Regular" panose="02020603050405020304" charset="0"/>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0" dirty="0">
                          <a:latin typeface="微软雅黑" panose="020B0503020204020204" pitchFamily="34" charset="-122"/>
                          <a:ea typeface="微软雅黑" panose="020B0503020204020204" pitchFamily="34" charset="-122"/>
                          <a:cs typeface="Times New Roman Regular" panose="02020603050405020304" charset="0"/>
                        </a:rPr>
                        <a:t>监控压裂效果</a:t>
                      </a:r>
                      <a:r>
                        <a:rPr lang="zh-CN" altLang="en-US" sz="1200" b="0" dirty="0">
                          <a:latin typeface="微软雅黑" panose="020B0503020204020204" pitchFamily="34" charset="-122"/>
                          <a:ea typeface="微软雅黑" panose="020B0503020204020204" pitchFamily="34" charset="-122"/>
                          <a:cs typeface="Times New Roman Regular" panose="02020603050405020304" charset="0"/>
                        </a:rPr>
                        <a:t>，</a:t>
                      </a:r>
                      <a:r>
                        <a:rPr lang="en-US" sz="1200" b="0" dirty="0">
                          <a:latin typeface="微软雅黑" panose="020B0503020204020204" pitchFamily="34" charset="-122"/>
                          <a:ea typeface="微软雅黑" panose="020B0503020204020204" pitchFamily="34" charset="-122"/>
                          <a:cs typeface="Times New Roman Regular" panose="02020603050405020304" charset="0"/>
                        </a:rPr>
                        <a:t>了解裂缝形态</a:t>
                      </a:r>
                      <a:r>
                        <a:rPr lang="zh-CN" altLang="en-US" sz="1200" b="0" dirty="0">
                          <a:latin typeface="微软雅黑" panose="020B0503020204020204" pitchFamily="34" charset="-122"/>
                          <a:ea typeface="微软雅黑" panose="020B0503020204020204" pitchFamily="34" charset="-122"/>
                          <a:cs typeface="Times New Roman Regular" panose="02020603050405020304" charset="0"/>
                        </a:rPr>
                        <a:t>，</a:t>
                      </a:r>
                      <a:r>
                        <a:rPr lang="zh-CN" altLang="en-US" sz="1200" dirty="0">
                          <a:latin typeface="微软雅黑" panose="020B0503020204020204" pitchFamily="34" charset="-122"/>
                          <a:ea typeface="微软雅黑" panose="020B0503020204020204" pitchFamily="34" charset="-122"/>
                          <a:cs typeface="Times New Roman Regular" panose="02020603050405020304" charset="0"/>
                          <a:sym typeface="+mn-ea"/>
                        </a:rPr>
                        <a:t>辅助实时决策压裂工艺参数调整</a:t>
                      </a:r>
                      <a:endParaRPr lang="zh-CN" altLang="en-US" sz="1200" b="0" dirty="0">
                        <a:latin typeface="微软雅黑" panose="020B0503020204020204" pitchFamily="34" charset="-122"/>
                        <a:ea typeface="微软雅黑" panose="020B0503020204020204" pitchFamily="34" charset="-122"/>
                        <a:cs typeface="Times New Roman Regular" panose="02020603050405020304" charset="0"/>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b="0" dirty="0">
                          <a:latin typeface="微软雅黑" panose="020B0503020204020204" pitchFamily="34" charset="-122"/>
                          <a:ea typeface="微软雅黑" panose="020B0503020204020204" pitchFamily="34" charset="-122"/>
                          <a:cs typeface="Times New Roman Regular" panose="02020603050405020304" charset="0"/>
                        </a:rPr>
                        <a:t>井下进液位置，暂堵转向效果，桥塞坐封情况，辅助实时决策压裂工艺参数调整</a:t>
                      </a:r>
                      <a:endParaRPr lang="zh-CN" altLang="en-US" sz="1200" b="0" dirty="0">
                        <a:latin typeface="微软雅黑" panose="020B0503020204020204" pitchFamily="34" charset="-122"/>
                        <a:ea typeface="微软雅黑" panose="020B0503020204020204" pitchFamily="34" charset="-122"/>
                        <a:cs typeface="Times New Roman Regular" panose="02020603050405020304" charset="0"/>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b="0" dirty="0">
                          <a:latin typeface="微软雅黑" panose="020B0503020204020204" pitchFamily="34" charset="-122"/>
                          <a:ea typeface="微软雅黑" panose="020B0503020204020204" pitchFamily="34" charset="-122"/>
                          <a:cs typeface="Times New Roman Regular" panose="02020603050405020304" charset="0"/>
                        </a:rPr>
                        <a:t>各压裂段</a:t>
                      </a:r>
                      <a:r>
                        <a:rPr lang="en-US" altLang="zh-CN" sz="1200" b="0" dirty="0">
                          <a:latin typeface="微软雅黑" panose="020B0503020204020204" pitchFamily="34" charset="-122"/>
                          <a:ea typeface="微软雅黑" panose="020B0503020204020204" pitchFamily="34" charset="-122"/>
                          <a:cs typeface="Times New Roman Regular" panose="02020603050405020304" charset="0"/>
                        </a:rPr>
                        <a:t>/</a:t>
                      </a:r>
                      <a:r>
                        <a:rPr lang="zh-CN" altLang="en-US" sz="1200" b="0" dirty="0">
                          <a:latin typeface="微软雅黑" panose="020B0503020204020204" pitchFamily="34" charset="-122"/>
                          <a:ea typeface="微软雅黑" panose="020B0503020204020204" pitchFamily="34" charset="-122"/>
                          <a:cs typeface="Times New Roman Regular" panose="02020603050405020304" charset="0"/>
                        </a:rPr>
                        <a:t>射孔簇的产出贡献</a:t>
                      </a:r>
                      <a:endParaRPr lang="zh-CN" altLang="en-US" sz="1200" b="0" dirty="0">
                        <a:latin typeface="微软雅黑" panose="020B0503020204020204" pitchFamily="34" charset="-122"/>
                        <a:ea typeface="微软雅黑" panose="020B0503020204020204" pitchFamily="34" charset="-122"/>
                        <a:cs typeface="Times New Roman Regular" panose="02020603050405020304" charset="0"/>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b="0" dirty="0">
                          <a:latin typeface="微软雅黑" panose="020B0503020204020204" pitchFamily="34" charset="-122"/>
                          <a:ea typeface="微软雅黑" panose="020B0503020204020204" pitchFamily="34" charset="-122"/>
                          <a:cs typeface="Times New Roman Regular" panose="02020603050405020304" charset="0"/>
                        </a:rPr>
                        <a:t>炮眼冲蚀情况</a:t>
                      </a:r>
                      <a:endParaRPr lang="zh-CN" altLang="en-US" sz="1200" b="0" dirty="0">
                        <a:latin typeface="微软雅黑" panose="020B0503020204020204" pitchFamily="34" charset="-122"/>
                        <a:ea typeface="微软雅黑" panose="020B0503020204020204" pitchFamily="34" charset="-122"/>
                        <a:cs typeface="Times New Roman Regular" panose="02020603050405020304" charset="0"/>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25613">
                <a:tc>
                  <a:txBody>
                    <a:bodyPr/>
                    <a:lstStyle/>
                    <a:p>
                      <a:pPr algn="ctr"/>
                      <a:r>
                        <a:rPr lang="zh-CN" altLang="en-US" sz="1200" b="1" dirty="0">
                          <a:solidFill>
                            <a:schemeClr val="bg1"/>
                          </a:solidFill>
                          <a:latin typeface="微软雅黑" panose="020B0503020204020204" pitchFamily="34" charset="-122"/>
                          <a:ea typeface="微软雅黑" panose="020B0503020204020204" pitchFamily="34" charset="-122"/>
                        </a:rPr>
                        <a:t>成本</a:t>
                      </a:r>
                      <a:r>
                        <a:rPr lang="en-US" altLang="zh-CN" sz="1200" b="1" dirty="0">
                          <a:solidFill>
                            <a:schemeClr val="bg1"/>
                          </a:solidFill>
                          <a:latin typeface="微软雅黑" panose="020B0503020204020204" pitchFamily="34" charset="-122"/>
                          <a:ea typeface="微软雅黑" panose="020B0503020204020204" pitchFamily="34" charset="-122"/>
                        </a:rPr>
                        <a:t>/</a:t>
                      </a:r>
                      <a:r>
                        <a:rPr lang="zh-CN" altLang="en-US" sz="1200" b="1" dirty="0">
                          <a:solidFill>
                            <a:schemeClr val="bg1"/>
                          </a:solidFill>
                          <a:latin typeface="微软雅黑" panose="020B0503020204020204" pitchFamily="34" charset="-122"/>
                          <a:ea typeface="微软雅黑" panose="020B0503020204020204" pitchFamily="34" charset="-122"/>
                        </a:rPr>
                        <a:t>实时性</a:t>
                      </a:r>
                      <a:endParaRPr lang="zh-CN" altLang="en-US" sz="1200" b="1" dirty="0">
                        <a:solidFill>
                          <a:schemeClr val="bg1"/>
                        </a:solidFill>
                        <a:latin typeface="微软雅黑" panose="020B0503020204020204" pitchFamily="34" charset="-122"/>
                        <a:ea typeface="微软雅黑" panose="020B0503020204020204" pitchFamily="34" charset="-122"/>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a:r>
                        <a:rPr lang="zh-CN" altLang="en-US" sz="1200" b="1" dirty="0">
                          <a:solidFill>
                            <a:srgbClr val="0000FF"/>
                          </a:solidFill>
                          <a:latin typeface="微软雅黑" panose="020B0503020204020204" pitchFamily="34" charset="-122"/>
                          <a:ea typeface="微软雅黑" panose="020B0503020204020204" pitchFamily="34" charset="-122"/>
                        </a:rPr>
                        <a:t>高</a:t>
                      </a:r>
                      <a:r>
                        <a:rPr lang="en-US" altLang="zh-CN" sz="1200" b="1" dirty="0">
                          <a:solidFill>
                            <a:srgbClr val="0000FF"/>
                          </a:solidFill>
                          <a:latin typeface="微软雅黑" panose="020B0503020204020204" pitchFamily="34" charset="-122"/>
                          <a:ea typeface="微软雅黑" panose="020B0503020204020204" pitchFamily="34" charset="-122"/>
                        </a:rPr>
                        <a:t>/</a:t>
                      </a:r>
                      <a:r>
                        <a:rPr lang="zh-CN" altLang="en-US" sz="1200" b="1" dirty="0">
                          <a:solidFill>
                            <a:srgbClr val="0000FF"/>
                          </a:solidFill>
                          <a:latin typeface="微软雅黑" panose="020B0503020204020204" pitchFamily="34" charset="-122"/>
                          <a:ea typeface="微软雅黑" panose="020B0503020204020204" pitchFamily="34" charset="-122"/>
                        </a:rPr>
                        <a:t>实时</a:t>
                      </a:r>
                      <a:endParaRPr lang="zh-CN" altLang="en-US" sz="1200" b="1" dirty="0">
                        <a:solidFill>
                          <a:srgbClr val="0000FF"/>
                        </a:solidFill>
                        <a:latin typeface="微软雅黑" panose="020B0503020204020204" pitchFamily="34" charset="-122"/>
                        <a:ea typeface="微软雅黑" panose="020B0503020204020204" pitchFamily="34" charset="-122"/>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zh-CN" altLang="en-US" sz="1200" b="1" kern="1200" dirty="0">
                          <a:solidFill>
                            <a:srgbClr val="0000FF"/>
                          </a:solidFill>
                          <a:latin typeface="微软雅黑" panose="020B0503020204020204" pitchFamily="34" charset="-122"/>
                          <a:ea typeface="微软雅黑" panose="020B0503020204020204" pitchFamily="34" charset="-122"/>
                          <a:cs typeface="+mn-cs"/>
                        </a:rPr>
                        <a:t>高</a:t>
                      </a:r>
                      <a:r>
                        <a:rPr lang="en-US" altLang="zh-CN" sz="1200" b="1" kern="1200" dirty="0">
                          <a:solidFill>
                            <a:srgbClr val="0000FF"/>
                          </a:solidFill>
                          <a:latin typeface="微软雅黑" panose="020B0503020204020204" pitchFamily="34" charset="-122"/>
                          <a:ea typeface="微软雅黑" panose="020B0503020204020204" pitchFamily="34" charset="-122"/>
                          <a:cs typeface="+mn-cs"/>
                        </a:rPr>
                        <a:t>/</a:t>
                      </a:r>
                      <a:r>
                        <a:rPr lang="zh-CN" altLang="en-US" sz="1200" b="1" kern="1200" dirty="0">
                          <a:solidFill>
                            <a:srgbClr val="0000FF"/>
                          </a:solidFill>
                          <a:latin typeface="微软雅黑" panose="020B0503020204020204" pitchFamily="34" charset="-122"/>
                          <a:ea typeface="微软雅黑" panose="020B0503020204020204" pitchFamily="34" charset="-122"/>
                          <a:cs typeface="+mn-cs"/>
                        </a:rPr>
                        <a:t>实时</a:t>
                      </a:r>
                      <a:endParaRPr lang="zh-CN" altLang="en-US" sz="1200" b="1" kern="1200" dirty="0">
                        <a:solidFill>
                          <a:srgbClr val="0000FF"/>
                        </a:solidFill>
                        <a:latin typeface="微软雅黑" panose="020B0503020204020204" pitchFamily="34" charset="-122"/>
                        <a:ea typeface="微软雅黑" panose="020B0503020204020204" pitchFamily="34" charset="-122"/>
                        <a:cs typeface="+mn-cs"/>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zh-CN" altLang="en-US" sz="1200" b="1" kern="1200" dirty="0">
                          <a:solidFill>
                            <a:srgbClr val="0000FF"/>
                          </a:solidFill>
                          <a:latin typeface="微软雅黑" panose="020B0503020204020204" pitchFamily="34" charset="-122"/>
                          <a:ea typeface="微软雅黑" panose="020B0503020204020204" pitchFamily="34" charset="-122"/>
                          <a:cs typeface="+mn-cs"/>
                        </a:rPr>
                        <a:t>中等</a:t>
                      </a:r>
                      <a:r>
                        <a:rPr lang="en-US" altLang="zh-CN" sz="1200" b="1" kern="1200" dirty="0">
                          <a:solidFill>
                            <a:srgbClr val="0000FF"/>
                          </a:solidFill>
                          <a:latin typeface="微软雅黑" panose="020B0503020204020204" pitchFamily="34" charset="-122"/>
                          <a:ea typeface="微软雅黑" panose="020B0503020204020204" pitchFamily="34" charset="-122"/>
                          <a:cs typeface="+mn-cs"/>
                        </a:rPr>
                        <a:t>/</a:t>
                      </a:r>
                      <a:r>
                        <a:rPr lang="zh-CN" altLang="en-US" sz="1200" b="1" kern="1200" dirty="0">
                          <a:solidFill>
                            <a:srgbClr val="0000FF"/>
                          </a:solidFill>
                          <a:latin typeface="微软雅黑" panose="020B0503020204020204" pitchFamily="34" charset="-122"/>
                          <a:ea typeface="微软雅黑" panose="020B0503020204020204" pitchFamily="34" charset="-122"/>
                          <a:cs typeface="+mn-cs"/>
                        </a:rPr>
                        <a:t>实时</a:t>
                      </a:r>
                      <a:endParaRPr lang="zh-CN" altLang="en-US" sz="1200" b="1" kern="1200" dirty="0">
                        <a:solidFill>
                          <a:srgbClr val="0000FF"/>
                        </a:solidFill>
                        <a:latin typeface="微软雅黑" panose="020B0503020204020204" pitchFamily="34" charset="-122"/>
                        <a:ea typeface="微软雅黑" panose="020B0503020204020204" pitchFamily="34" charset="-122"/>
                        <a:cs typeface="+mn-cs"/>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zh-CN" altLang="en-US" sz="1200" b="1" kern="1200" dirty="0">
                          <a:solidFill>
                            <a:srgbClr val="0000FF"/>
                          </a:solidFill>
                          <a:latin typeface="微软雅黑" panose="020B0503020204020204" pitchFamily="34" charset="-122"/>
                          <a:ea typeface="微软雅黑" panose="020B0503020204020204" pitchFamily="34" charset="-122"/>
                          <a:cs typeface="+mn-cs"/>
                        </a:rPr>
                        <a:t>低</a:t>
                      </a:r>
                      <a:r>
                        <a:rPr lang="en-US" altLang="zh-CN" sz="1200" b="1" kern="1200" dirty="0">
                          <a:solidFill>
                            <a:srgbClr val="0000FF"/>
                          </a:solidFill>
                          <a:latin typeface="微软雅黑" panose="020B0503020204020204" pitchFamily="34" charset="-122"/>
                          <a:ea typeface="微软雅黑" panose="020B0503020204020204" pitchFamily="34" charset="-122"/>
                          <a:cs typeface="+mn-cs"/>
                        </a:rPr>
                        <a:t>/</a:t>
                      </a:r>
                      <a:r>
                        <a:rPr lang="zh-CN" altLang="en-US" sz="1200" b="1" kern="1200" dirty="0">
                          <a:solidFill>
                            <a:srgbClr val="0000FF"/>
                          </a:solidFill>
                          <a:latin typeface="微软雅黑" panose="020B0503020204020204" pitchFamily="34" charset="-122"/>
                          <a:ea typeface="微软雅黑" panose="020B0503020204020204" pitchFamily="34" charset="-122"/>
                          <a:cs typeface="+mn-cs"/>
                        </a:rPr>
                        <a:t>实时</a:t>
                      </a:r>
                      <a:endParaRPr lang="zh-CN" altLang="en-US" sz="1200" b="1" kern="1200" dirty="0">
                        <a:solidFill>
                          <a:srgbClr val="0000FF"/>
                        </a:solidFill>
                        <a:latin typeface="微软雅黑" panose="020B0503020204020204" pitchFamily="34" charset="-122"/>
                        <a:ea typeface="微软雅黑" panose="020B0503020204020204" pitchFamily="34" charset="-122"/>
                        <a:cs typeface="+mn-cs"/>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zh-CN" altLang="en-US" sz="1200" b="1" kern="1200" dirty="0">
                          <a:solidFill>
                            <a:srgbClr val="0000FF"/>
                          </a:solidFill>
                          <a:latin typeface="微软雅黑" panose="020B0503020204020204" pitchFamily="34" charset="-122"/>
                          <a:ea typeface="微软雅黑" panose="020B0503020204020204" pitchFamily="34" charset="-122"/>
                          <a:cs typeface="+mn-cs"/>
                        </a:rPr>
                        <a:t>高</a:t>
                      </a:r>
                      <a:r>
                        <a:rPr lang="en-US" altLang="zh-CN" sz="1200" b="1" kern="1200" dirty="0">
                          <a:solidFill>
                            <a:srgbClr val="0000FF"/>
                          </a:solidFill>
                          <a:latin typeface="微软雅黑" panose="020B0503020204020204" pitchFamily="34" charset="-122"/>
                          <a:ea typeface="微软雅黑" panose="020B0503020204020204" pitchFamily="34" charset="-122"/>
                          <a:cs typeface="+mn-cs"/>
                        </a:rPr>
                        <a:t>/</a:t>
                      </a:r>
                      <a:r>
                        <a:rPr lang="zh-CN" altLang="en-US" sz="1200" b="1" kern="1200" dirty="0">
                          <a:solidFill>
                            <a:srgbClr val="0000FF"/>
                          </a:solidFill>
                          <a:latin typeface="微软雅黑" panose="020B0503020204020204" pitchFamily="34" charset="-122"/>
                          <a:ea typeface="微软雅黑" panose="020B0503020204020204" pitchFamily="34" charset="-122"/>
                          <a:cs typeface="+mn-cs"/>
                        </a:rPr>
                        <a:t>压后评估</a:t>
                      </a:r>
                      <a:endParaRPr lang="zh-CN" altLang="en-US" sz="1200" b="1" kern="1200" dirty="0">
                        <a:solidFill>
                          <a:srgbClr val="0000FF"/>
                        </a:solidFill>
                        <a:latin typeface="微软雅黑" panose="020B0503020204020204" pitchFamily="34" charset="-122"/>
                        <a:ea typeface="微软雅黑" panose="020B0503020204020204" pitchFamily="34" charset="-122"/>
                        <a:cs typeface="+mn-cs"/>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zh-CN" altLang="en-US" sz="1200" b="1" kern="1200" dirty="0">
                          <a:solidFill>
                            <a:srgbClr val="0000FF"/>
                          </a:solidFill>
                          <a:latin typeface="微软雅黑" panose="020B0503020204020204" pitchFamily="34" charset="-122"/>
                          <a:ea typeface="微软雅黑" panose="020B0503020204020204" pitchFamily="34" charset="-122"/>
                          <a:cs typeface="+mn-cs"/>
                        </a:rPr>
                        <a:t>高</a:t>
                      </a:r>
                      <a:r>
                        <a:rPr lang="en-US" altLang="zh-CN" sz="1200" b="1" kern="1200" dirty="0">
                          <a:solidFill>
                            <a:srgbClr val="0000FF"/>
                          </a:solidFill>
                          <a:latin typeface="微软雅黑" panose="020B0503020204020204" pitchFamily="34" charset="-122"/>
                          <a:ea typeface="微软雅黑" panose="020B0503020204020204" pitchFamily="34" charset="-122"/>
                          <a:cs typeface="+mn-cs"/>
                        </a:rPr>
                        <a:t>/</a:t>
                      </a:r>
                      <a:r>
                        <a:rPr lang="zh-CN" altLang="en-US" sz="1200" b="1" kern="1200" dirty="0">
                          <a:solidFill>
                            <a:srgbClr val="0000FF"/>
                          </a:solidFill>
                          <a:latin typeface="微软雅黑" panose="020B0503020204020204" pitchFamily="34" charset="-122"/>
                          <a:ea typeface="微软雅黑" panose="020B0503020204020204" pitchFamily="34" charset="-122"/>
                          <a:cs typeface="+mn-cs"/>
                        </a:rPr>
                        <a:t>压后评估</a:t>
                      </a:r>
                      <a:endParaRPr lang="zh-CN" altLang="en-US" sz="1200" b="1" kern="1200" dirty="0">
                        <a:solidFill>
                          <a:srgbClr val="0000FF"/>
                        </a:solidFill>
                        <a:latin typeface="微软雅黑" panose="020B0503020204020204" pitchFamily="34" charset="-122"/>
                        <a:ea typeface="微软雅黑" panose="020B0503020204020204" pitchFamily="34" charset="-122"/>
                        <a:cs typeface="+mn-cs"/>
                      </a:endParaRPr>
                    </a:p>
                  </a:txBody>
                  <a:tcPr marL="68584" marR="68584" marT="34293" marB="3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1"/>
          <p:cNvSpPr>
            <a:spLocks noChangeArrowheads="1"/>
          </p:cNvSpPr>
          <p:nvPr/>
        </p:nvSpPr>
        <p:spPr bwMode="auto">
          <a:xfrm>
            <a:off x="0" y="-226426"/>
            <a:ext cx="12191999" cy="928636"/>
          </a:xfrm>
          <a:prstGeom prst="rect">
            <a:avLst/>
          </a:prstGeom>
        </p:spPr>
        <p:txBody>
          <a:bodyPr wrap="square" lIns="91424" tIns="45712" rIns="91424" bIns="45712" anchor="ctr">
            <a:spAutoFit/>
          </a:bodyPr>
          <a:lstStyle/>
          <a:p>
            <a:pPr lvl="0" algn="ctr">
              <a:lnSpc>
                <a:spcPct val="200000"/>
              </a:lnSpc>
              <a:defRPr/>
            </a:pPr>
            <a:r>
              <a:rPr lang="zh-CN" altLang="en-US" sz="3200" b="1" kern="0" dirty="0">
                <a:solidFill>
                  <a:srgbClr val="FF0000"/>
                </a:solidFill>
                <a:latin typeface="微软雅黑" panose="020B0503020204020204" pitchFamily="34" charset="-122"/>
                <a:ea typeface="微软雅黑" panose="020B0503020204020204" pitchFamily="34" charset="-122"/>
              </a:rPr>
              <a:t>目   录</a:t>
            </a:r>
            <a:endParaRPr kumimoji="0" lang="zh-CN" altLang="en-US" sz="32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
        <p:nvSpPr>
          <p:cNvPr id="4" name="Text Box 6"/>
          <p:cNvSpPr txBox="1">
            <a:spLocks noChangeArrowheads="1"/>
          </p:cNvSpPr>
          <p:nvPr/>
        </p:nvSpPr>
        <p:spPr bwMode="auto">
          <a:xfrm>
            <a:off x="355600" y="1350645"/>
            <a:ext cx="11531600" cy="4608195"/>
          </a:xfrm>
          <a:prstGeom prst="rect">
            <a:avLst/>
          </a:prstGeom>
          <a:noFill/>
          <a:ln>
            <a:noFill/>
          </a:ln>
          <a:effectLst>
            <a:prstShdw prst="shdw17" dist="17961" dir="13500000">
              <a:srgbClr val="708688"/>
            </a:prstShdw>
          </a:effectLst>
        </p:spPr>
        <p:txBody>
          <a:bodyPr wrap="square" tIns="190800" bIns="190800" anchor="ctr" anchorCtr="1">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lnSpc>
                <a:spcPct val="150000"/>
              </a:lnSpc>
              <a:spcBef>
                <a:spcPct val="0"/>
              </a:spcBef>
              <a:spcAft>
                <a:spcPct val="0"/>
              </a:spcAft>
              <a:buClr>
                <a:srgbClr val="FF0000"/>
              </a:buClr>
            </a:pPr>
            <a:r>
              <a:rPr lang="zh-CN" altLang="en-US" sz="3200" dirty="0">
                <a:solidFill>
                  <a:srgbClr val="000000"/>
                </a:solidFill>
                <a:latin typeface="方正大黑简体" panose="03000509000000000000" pitchFamily="65" charset="-122"/>
                <a:ea typeface="方正大黑简体" panose="03000509000000000000" pitchFamily="65" charset="-122"/>
                <a:sym typeface="+mn-ea"/>
              </a:rPr>
              <a:t>一、项目概要</a:t>
            </a:r>
            <a:endParaRPr lang="zh-CN" altLang="en-US" sz="3200" dirty="0">
              <a:solidFill>
                <a:srgbClr val="000000"/>
              </a:solidFill>
              <a:latin typeface="方正大黑简体" panose="03000509000000000000" pitchFamily="65" charset="-122"/>
              <a:ea typeface="方正大黑简体" panose="03000509000000000000"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3000509000000000000" pitchFamily="65" charset="-122"/>
                <a:ea typeface="方正大黑简体" panose="03000509000000000000" pitchFamily="65" charset="-122"/>
                <a:sym typeface="+mn-ea"/>
              </a:rPr>
              <a:t>二、立项的必要性</a:t>
            </a:r>
            <a:endParaRPr lang="zh-CN" altLang="en-US" sz="3200" dirty="0">
              <a:solidFill>
                <a:srgbClr val="000000"/>
              </a:solidFill>
              <a:latin typeface="方正大黑简体" panose="03000509000000000000" pitchFamily="65" charset="-122"/>
              <a:ea typeface="方正大黑简体" panose="03000509000000000000" pitchFamily="65" charset="-122"/>
            </a:endParaRPr>
          </a:p>
          <a:p>
            <a:pPr fontAlgn="base">
              <a:lnSpc>
                <a:spcPct val="150000"/>
              </a:lnSpc>
              <a:spcBef>
                <a:spcPct val="0"/>
              </a:spcBef>
              <a:spcAft>
                <a:spcPct val="0"/>
              </a:spcAft>
              <a:buClr>
                <a:srgbClr val="FF0000"/>
              </a:buClr>
            </a:pPr>
            <a:r>
              <a:rPr lang="zh-CN" altLang="en-US" sz="3200" dirty="0">
                <a:solidFill>
                  <a:srgbClr val="FF0000"/>
                </a:solidFill>
                <a:latin typeface="方正大黑简体" panose="03000509000000000000" pitchFamily="65" charset="-122"/>
                <a:ea typeface="方正大黑简体" panose="03000509000000000000" pitchFamily="65" charset="-122"/>
                <a:sym typeface="+mn-ea"/>
              </a:rPr>
              <a:t>三、主要研究内容与目标</a:t>
            </a:r>
            <a:endParaRPr lang="zh-CN" altLang="en-US" sz="3200" dirty="0">
              <a:solidFill>
                <a:srgbClr val="FF0000"/>
              </a:solidFill>
              <a:latin typeface="方正大黑简体" panose="03000509000000000000" pitchFamily="65" charset="-122"/>
              <a:ea typeface="方正大黑简体" panose="03000509000000000000"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3000509000000000000" pitchFamily="65" charset="-122"/>
                <a:ea typeface="方正大黑简体" panose="03000509000000000000" pitchFamily="65" charset="-122"/>
                <a:sym typeface="+mn-ea"/>
              </a:rPr>
              <a:t>四、主要技术经济考核指标</a:t>
            </a:r>
            <a:endParaRPr lang="zh-CN" altLang="en-US" sz="3200" dirty="0">
              <a:solidFill>
                <a:srgbClr val="000000"/>
              </a:solidFill>
              <a:latin typeface="方正大黑简体" panose="03000509000000000000" pitchFamily="65" charset="-122"/>
              <a:ea typeface="方正大黑简体" panose="03000509000000000000"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3000509000000000000" pitchFamily="65" charset="-122"/>
                <a:ea typeface="方正大黑简体" panose="03000509000000000000" pitchFamily="65" charset="-122"/>
                <a:sym typeface="+mn-ea"/>
              </a:rPr>
              <a:t>五、项目研究技术路线</a:t>
            </a:r>
            <a:endParaRPr lang="zh-CN" altLang="en-US" sz="3200" dirty="0">
              <a:solidFill>
                <a:srgbClr val="000000"/>
              </a:solidFill>
              <a:latin typeface="方正大黑简体" panose="03000509000000000000" pitchFamily="65" charset="-122"/>
              <a:ea typeface="方正大黑简体" panose="03000509000000000000"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3000509000000000000" pitchFamily="65" charset="-122"/>
                <a:ea typeface="方正大黑简体" panose="03000509000000000000" pitchFamily="65" charset="-122"/>
                <a:sym typeface="+mn-ea"/>
              </a:rPr>
              <a:t>六、项目组织</a:t>
            </a:r>
            <a:endParaRPr lang="zh-CN" altLang="en-US" sz="3200" dirty="0">
              <a:solidFill>
                <a:srgbClr val="000000"/>
              </a:solidFill>
              <a:latin typeface="方正大黑简体" panose="03000509000000000000" pitchFamily="65" charset="-122"/>
              <a:ea typeface="方正大黑简体" panose="03000509000000000000" pitchFamily="65" charset="-122"/>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1"/>
          <p:cNvSpPr>
            <a:spLocks noChangeArrowheads="1"/>
          </p:cNvSpPr>
          <p:nvPr/>
        </p:nvSpPr>
        <p:spPr bwMode="auto">
          <a:xfrm>
            <a:off x="1" y="-41146"/>
            <a:ext cx="12191999"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rPr>
              <a:t>（一）</a:t>
            </a:r>
            <a:r>
              <a:rPr lang="zh-CN" altLang="en-US" sz="2400" b="1" kern="0" dirty="0">
                <a:solidFill>
                  <a:srgbClr val="FF0000"/>
                </a:solidFill>
                <a:latin typeface="微软雅黑" panose="020B0503020204020204" pitchFamily="34" charset="-122"/>
                <a:ea typeface="微软雅黑" panose="020B0503020204020204" pitchFamily="34" charset="-122"/>
                <a:sym typeface="+mn-ea"/>
              </a:rPr>
              <a:t>研究目标</a:t>
            </a:r>
            <a:endParaRPr lang="zh-CN" altLang="en-US" sz="24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335280" y="1350645"/>
            <a:ext cx="11486515" cy="4613275"/>
          </a:xfrm>
          <a:prstGeom prst="rect">
            <a:avLst/>
          </a:prstGeom>
          <a:noFill/>
        </p:spPr>
        <p:txBody>
          <a:bodyPr wrap="square">
            <a:noAutofit/>
          </a:bodyPr>
          <a:lstStyle/>
          <a:p>
            <a:pPr lvl="0" indent="457200">
              <a:lnSpc>
                <a:spcPct val="200000"/>
              </a:lnSpc>
              <a:spcBef>
                <a:spcPct val="0"/>
              </a:spcBef>
              <a:buClr>
                <a:srgbClr val="FF0000"/>
              </a:buClr>
              <a:buNone/>
            </a:pPr>
            <a:r>
              <a:rPr lang="zh-CN" altLang="en-US" sz="2400" spc="300" dirty="0">
                <a:solidFill>
                  <a:srgbClr val="2F2725"/>
                </a:solidFill>
                <a:latin typeface="微软雅黑" panose="020B0503020204020204" pitchFamily="34" charset="-122"/>
                <a:ea typeface="微软雅黑" panose="020B0503020204020204" pitchFamily="34" charset="-122"/>
                <a:sym typeface="+mn-ea"/>
              </a:rPr>
              <a:t>针对川南地区页岩气井压裂现场施工资料开展诊断评估研究，明确影响水力压裂改造效果的地质、工程参数，并结合压裂曲线分析方法，建立压裂效果评估指标，揭示与压裂改造效果的关联特征，</a:t>
            </a:r>
            <a:r>
              <a:rPr lang="zh-CN" altLang="en-US" sz="2400" spc="300" dirty="0">
                <a:solidFill>
                  <a:srgbClr val="FF0000"/>
                </a:solidFill>
                <a:latin typeface="微软雅黑" panose="020B0503020204020204" pitchFamily="34" charset="-122"/>
                <a:ea typeface="微软雅黑" panose="020B0503020204020204" pitchFamily="34" charset="-122"/>
                <a:sym typeface="+mn-ea"/>
              </a:rPr>
              <a:t>形成一套</a:t>
            </a:r>
            <a:r>
              <a:rPr lang="zh-CN" altLang="en-US"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压裂效果综合评估指标体系及方法</a:t>
            </a:r>
            <a:r>
              <a:rPr lang="zh-CN" altLang="en-US" sz="2400" spc="300" dirty="0">
                <a:solidFill>
                  <a:srgbClr val="2F2725"/>
                </a:solidFill>
                <a:latin typeface="微软雅黑" panose="020B0503020204020204" pitchFamily="34" charset="-122"/>
                <a:ea typeface="微软雅黑" panose="020B0503020204020204" pitchFamily="34" charset="-122"/>
                <a:sym typeface="+mn-ea"/>
              </a:rPr>
              <a:t>，</a:t>
            </a:r>
            <a:r>
              <a:rPr lang="zh-CN" altLang="en-US" sz="2400" spc="300" dirty="0">
                <a:solidFill>
                  <a:srgbClr val="2F2725"/>
                </a:solidFill>
                <a:latin typeface="微软雅黑" panose="020B0503020204020204" pitchFamily="34" charset="-122"/>
                <a:ea typeface="微软雅黑" panose="020B0503020204020204" pitchFamily="34" charset="-122"/>
              </a:rPr>
              <a:t>为压裂施工的优化调整提供精准依据，提高压裂改造的成功率与效率，推动从</a:t>
            </a:r>
            <a:r>
              <a:rPr lang="en-US" altLang="zh-CN" sz="2400" spc="300" dirty="0">
                <a:solidFill>
                  <a:srgbClr val="2F2725"/>
                </a:solidFill>
                <a:latin typeface="微软雅黑" panose="020B0503020204020204" pitchFamily="34" charset="-122"/>
                <a:ea typeface="微软雅黑" panose="020B0503020204020204" pitchFamily="34" charset="-122"/>
              </a:rPr>
              <a:t>“</a:t>
            </a:r>
            <a:r>
              <a:rPr lang="zh-CN" altLang="en-US" sz="2400" spc="300" dirty="0">
                <a:solidFill>
                  <a:srgbClr val="2F2725"/>
                </a:solidFill>
                <a:latin typeface="微软雅黑" panose="020B0503020204020204" pitchFamily="34" charset="-122"/>
                <a:ea typeface="微软雅黑" panose="020B0503020204020204" pitchFamily="34" charset="-122"/>
              </a:rPr>
              <a:t>经验压裂”向“科学压裂”转变。</a:t>
            </a:r>
            <a:endParaRPr lang="zh-CN" altLang="en-US" sz="2400" spc="300" dirty="0">
              <a:solidFill>
                <a:srgbClr val="2F2725"/>
              </a:solidFill>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1"/>
          <p:cNvSpPr>
            <a:spLocks noChangeArrowheads="1"/>
          </p:cNvSpPr>
          <p:nvPr/>
        </p:nvSpPr>
        <p:spPr bwMode="auto">
          <a:xfrm>
            <a:off x="1" y="-41146"/>
            <a:ext cx="12191999"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rPr>
              <a:t>（二）主要研究内容</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34963" y="915408"/>
            <a:ext cx="11641883" cy="1198880"/>
          </a:xfrm>
          <a:prstGeom prst="rect">
            <a:avLst/>
          </a:prstGeom>
          <a:noFill/>
        </p:spPr>
        <p:txBody>
          <a:bodyPr wrap="square">
            <a:spAutoFit/>
          </a:bodyPr>
          <a:lstStyle/>
          <a:p>
            <a:pPr marL="342265" indent="-342900">
              <a:lnSpc>
                <a:spcPct val="150000"/>
              </a:lnSpc>
              <a:buClr>
                <a:srgbClr val="FF0000"/>
              </a:buClr>
              <a:buFont typeface="Wingdings" panose="05000000000000000000" pitchFamily="2" charset="2"/>
              <a:buChar char="l"/>
            </a:pPr>
            <a:r>
              <a:rPr lang="zh-CN" altLang="en-US" sz="1600" dirty="0">
                <a:solidFill>
                  <a:prstClr val="black"/>
                </a:solidFill>
                <a:latin typeface="微软雅黑" panose="020B0503020204020204" pitchFamily="34" charset="-122"/>
                <a:ea typeface="微软雅黑" panose="020B0503020204020204" pitchFamily="34" charset="-122"/>
              </a:rPr>
              <a:t>针对川南地区页岩气高效开发面临的压裂评估诊断技术难点，设置</a:t>
            </a:r>
            <a:r>
              <a:rPr lang="en-US" altLang="zh-CN" sz="1600" dirty="0">
                <a:solidFill>
                  <a:srgbClr val="FF0000"/>
                </a:solidFill>
                <a:latin typeface="微软雅黑" panose="020B0503020204020204" pitchFamily="34" charset="-122"/>
                <a:ea typeface="微软雅黑" panose="020B0503020204020204" pitchFamily="34" charset="-122"/>
              </a:rPr>
              <a:t>4</a:t>
            </a:r>
            <a:r>
              <a:rPr lang="zh-CN" altLang="en-US" sz="1600" dirty="0">
                <a:solidFill>
                  <a:prstClr val="black"/>
                </a:solidFill>
                <a:latin typeface="微软雅黑" panose="020B0503020204020204" pitchFamily="34" charset="-122"/>
                <a:ea typeface="微软雅黑" panose="020B0503020204020204" pitchFamily="34" charset="-122"/>
              </a:rPr>
              <a:t>个研究内容，开展</a:t>
            </a:r>
            <a:r>
              <a:rPr lang="zh-CN" altLang="en-US" sz="1600" dirty="0">
                <a:solidFill>
                  <a:srgbClr val="FF0000"/>
                </a:solidFill>
                <a:latin typeface="微软雅黑" panose="020B0503020204020204" pitchFamily="34" charset="-122"/>
                <a:ea typeface="微软雅黑" panose="020B0503020204020204" pitchFamily="34" charset="-122"/>
              </a:rPr>
              <a:t>页岩气井压后效果特征对比及主控因素分析、页岩气井压裂效果量化评价指标筛选与权重分析、页岩气井压裂效果动态评估模型建立与验证、压裂效果动态评估模型应用及优化</a:t>
            </a:r>
            <a:r>
              <a:rPr lang="zh-CN" altLang="en-US" sz="1600" dirty="0">
                <a:solidFill>
                  <a:prstClr val="black"/>
                </a:solidFill>
                <a:latin typeface="微软雅黑" panose="020B0503020204020204" pitchFamily="34" charset="-122"/>
                <a:ea typeface="微软雅黑" panose="020B0503020204020204" pitchFamily="34" charset="-122"/>
              </a:rPr>
              <a:t>研究：</a:t>
            </a:r>
            <a:endParaRPr lang="zh-CN" altLang="en-US" sz="1600" dirty="0">
              <a:solidFill>
                <a:prstClr val="black"/>
              </a:solidFill>
              <a:latin typeface="微软雅黑" panose="020B0503020204020204" pitchFamily="34" charset="-122"/>
              <a:ea typeface="微软雅黑" panose="020B0503020204020204" pitchFamily="34" charset="-122"/>
            </a:endParaRPr>
          </a:p>
        </p:txBody>
      </p:sp>
      <p:sp>
        <p:nvSpPr>
          <p:cNvPr id="1048649" name="TextBox 7"/>
          <p:cNvSpPr txBox="1"/>
          <p:nvPr/>
        </p:nvSpPr>
        <p:spPr bwMode="auto">
          <a:xfrm>
            <a:off x="2495550" y="2146935"/>
            <a:ext cx="8161020" cy="4044315"/>
          </a:xfrm>
          <a:prstGeom prst="rect">
            <a:avLst/>
          </a:prstGeom>
          <a:noFill/>
          <a:ln>
            <a:noFill/>
          </a:ln>
        </p:spPr>
        <p:txBody>
          <a:bodyPr wrap="square">
            <a:no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a:lnSpc>
                <a:spcPct val="100000"/>
              </a:lnSpc>
              <a:spcBef>
                <a:spcPts val="600"/>
              </a:spcBef>
            </a:pPr>
            <a:r>
              <a:rPr lang="zh-CN" altLang="en-US" kern="0" dirty="0">
                <a:solidFill>
                  <a:schemeClr val="tx1"/>
                </a:solidFill>
                <a:latin typeface="微软雅黑" panose="020B0503020204020204" pitchFamily="34" charset="-122"/>
                <a:ea typeface="微软雅黑" panose="020B0503020204020204" pitchFamily="34" charset="-122"/>
              </a:rPr>
              <a:t>研究内容一：页岩气井压后效果特征对比及主控因素分析</a:t>
            </a:r>
            <a:r>
              <a:rPr lang="en-US" altLang="zh-CN" kern="0" dirty="0">
                <a:solidFill>
                  <a:schemeClr val="tx1"/>
                </a:solidFill>
                <a:latin typeface="微软雅黑" panose="020B0503020204020204" pitchFamily="34" charset="-122"/>
                <a:ea typeface="微软雅黑" panose="020B0503020204020204" pitchFamily="34" charset="-122"/>
              </a:rPr>
              <a:t> </a:t>
            </a:r>
            <a:endParaRPr lang="en-US" altLang="zh-CN" kern="0" dirty="0">
              <a:solidFill>
                <a:schemeClr val="tx1"/>
              </a:solidFill>
              <a:latin typeface="微软雅黑" panose="020B0503020204020204" pitchFamily="34" charset="-122"/>
              <a:ea typeface="微软雅黑" panose="020B0503020204020204" pitchFamily="34" charset="-122"/>
            </a:endParaRPr>
          </a:p>
          <a:p>
            <a:pPr indent="0">
              <a:lnSpc>
                <a:spcPct val="100000"/>
              </a:lnSpc>
              <a:spcBef>
                <a:spcPts val="600"/>
              </a:spcBef>
            </a:pPr>
            <a:r>
              <a:rPr lang="zh-CN" altLang="en-US" sz="1600" kern="0" dirty="0">
                <a:solidFill>
                  <a:schemeClr val="tx1"/>
                </a:solidFill>
                <a:latin typeface="微软雅黑" panose="020B0503020204020204" pitchFamily="34" charset="-122"/>
                <a:ea typeface="微软雅黑" panose="020B0503020204020204" pitchFamily="34" charset="-122"/>
              </a:rPr>
              <a:t>（</a:t>
            </a:r>
            <a:r>
              <a:rPr lang="en-US" altLang="zh-CN" sz="1600" kern="0" dirty="0">
                <a:solidFill>
                  <a:schemeClr val="tx1"/>
                </a:solidFill>
                <a:latin typeface="微软雅黑" panose="020B0503020204020204" pitchFamily="34" charset="-122"/>
                <a:ea typeface="微软雅黑" panose="020B0503020204020204" pitchFamily="34" charset="-122"/>
              </a:rPr>
              <a:t>1</a:t>
            </a:r>
            <a:r>
              <a:rPr lang="zh-CN" altLang="en-US" sz="1600" kern="0" dirty="0">
                <a:solidFill>
                  <a:schemeClr val="tx1"/>
                </a:solidFill>
                <a:latin typeface="微软雅黑" panose="020B0503020204020204" pitchFamily="34" charset="-122"/>
                <a:ea typeface="微软雅黑" panose="020B0503020204020204" pitchFamily="34" charset="-122"/>
              </a:rPr>
              <a:t>）已压页岩气井数据收集与清洗</a:t>
            </a:r>
            <a:endParaRPr lang="zh-CN" altLang="en-US" sz="1600" kern="0" dirty="0">
              <a:solidFill>
                <a:schemeClr val="tx1"/>
              </a:solidFill>
              <a:latin typeface="微软雅黑" panose="020B0503020204020204" pitchFamily="34" charset="-122"/>
              <a:ea typeface="微软雅黑" panose="020B0503020204020204" pitchFamily="34" charset="-122"/>
            </a:endParaRPr>
          </a:p>
          <a:p>
            <a:pPr indent="0">
              <a:lnSpc>
                <a:spcPct val="100000"/>
              </a:lnSpc>
              <a:spcBef>
                <a:spcPts val="600"/>
              </a:spcBef>
            </a:pPr>
            <a:r>
              <a:rPr lang="zh-CN" altLang="en-US" sz="1600" kern="0" dirty="0">
                <a:solidFill>
                  <a:schemeClr val="tx1"/>
                </a:solidFill>
                <a:latin typeface="微软雅黑" panose="020B0503020204020204" pitchFamily="34" charset="-122"/>
                <a:ea typeface="微软雅黑" panose="020B0503020204020204" pitchFamily="34" charset="-122"/>
              </a:rPr>
              <a:t>（</a:t>
            </a:r>
            <a:r>
              <a:rPr lang="en-US" altLang="zh-CN" sz="1600" kern="0" dirty="0">
                <a:solidFill>
                  <a:schemeClr val="tx1"/>
                </a:solidFill>
                <a:latin typeface="微软雅黑" panose="020B0503020204020204" pitchFamily="34" charset="-122"/>
                <a:ea typeface="微软雅黑" panose="020B0503020204020204" pitchFamily="34" charset="-122"/>
              </a:rPr>
              <a:t>2</a:t>
            </a:r>
            <a:r>
              <a:rPr lang="zh-CN" altLang="en-US" sz="1600" kern="0" dirty="0">
                <a:solidFill>
                  <a:schemeClr val="tx1"/>
                </a:solidFill>
                <a:latin typeface="微软雅黑" panose="020B0503020204020204" pitchFamily="34" charset="-122"/>
                <a:ea typeface="微软雅黑" panose="020B0503020204020204" pitchFamily="34" charset="-122"/>
              </a:rPr>
              <a:t>）基于灰色关联分析的压后效果主控因素识别</a:t>
            </a:r>
            <a:endParaRPr lang="zh-CN" altLang="en-US" sz="1600" kern="0" dirty="0">
              <a:solidFill>
                <a:schemeClr val="tx1"/>
              </a:solidFill>
              <a:latin typeface="微软雅黑" panose="020B0503020204020204" pitchFamily="34" charset="-122"/>
              <a:ea typeface="微软雅黑" panose="020B0503020204020204" pitchFamily="34" charset="-122"/>
            </a:endParaRPr>
          </a:p>
          <a:p>
            <a:pPr>
              <a:lnSpc>
                <a:spcPct val="100000"/>
              </a:lnSpc>
              <a:spcBef>
                <a:spcPts val="600"/>
              </a:spcBef>
            </a:pPr>
            <a:r>
              <a:rPr lang="zh-CN" altLang="en-US" kern="0" dirty="0">
                <a:solidFill>
                  <a:schemeClr val="tx1"/>
                </a:solidFill>
                <a:latin typeface="微软雅黑" panose="020B0503020204020204" pitchFamily="34" charset="-122"/>
                <a:ea typeface="微软雅黑" panose="020B0503020204020204" pitchFamily="34" charset="-122"/>
              </a:rPr>
              <a:t>研究内容二：页岩气井压裂效果量化评价指标筛选与权重分析</a:t>
            </a:r>
            <a:endParaRPr lang="zh-CN" altLang="en-US" kern="0" dirty="0">
              <a:solidFill>
                <a:schemeClr val="tx1"/>
              </a:solidFill>
              <a:latin typeface="微软雅黑" panose="020B0503020204020204" pitchFamily="34" charset="-122"/>
              <a:ea typeface="微软雅黑" panose="020B0503020204020204" pitchFamily="34" charset="-122"/>
            </a:endParaRPr>
          </a:p>
          <a:p>
            <a:pPr indent="0">
              <a:lnSpc>
                <a:spcPct val="100000"/>
              </a:lnSpc>
              <a:spcBef>
                <a:spcPts val="600"/>
              </a:spcBef>
            </a:pPr>
            <a:r>
              <a:rPr lang="zh-CN" altLang="en-US" sz="1600" kern="0" dirty="0">
                <a:solidFill>
                  <a:schemeClr val="tx1"/>
                </a:solidFill>
                <a:latin typeface="微软雅黑" panose="020B0503020204020204" pitchFamily="34" charset="-122"/>
                <a:ea typeface="微软雅黑" panose="020B0503020204020204" pitchFamily="34" charset="-122"/>
              </a:rPr>
              <a:t>（</a:t>
            </a:r>
            <a:r>
              <a:rPr lang="en-US" altLang="zh-CN" sz="1600" kern="0" dirty="0">
                <a:solidFill>
                  <a:schemeClr val="tx1"/>
                </a:solidFill>
                <a:latin typeface="微软雅黑" panose="020B0503020204020204" pitchFamily="34" charset="-122"/>
                <a:ea typeface="微软雅黑" panose="020B0503020204020204" pitchFamily="34" charset="-122"/>
              </a:rPr>
              <a:t>1</a:t>
            </a:r>
            <a:r>
              <a:rPr lang="zh-CN" altLang="en-US" sz="1600" kern="0" dirty="0">
                <a:solidFill>
                  <a:schemeClr val="tx1"/>
                </a:solidFill>
                <a:latin typeface="微软雅黑" panose="020B0503020204020204" pitchFamily="34" charset="-122"/>
                <a:ea typeface="微软雅黑" panose="020B0503020204020204" pitchFamily="34" charset="-122"/>
              </a:rPr>
              <a:t>）</a:t>
            </a:r>
            <a:r>
              <a:rPr lang="zh-CN" altLang="en-US" sz="1600" kern="0" dirty="0">
                <a:latin typeface="微软雅黑" panose="020B0503020204020204" pitchFamily="34" charset="-122"/>
                <a:ea typeface="微软雅黑" panose="020B0503020204020204" pitchFamily="34" charset="-122"/>
                <a:sym typeface="+mn-ea"/>
              </a:rPr>
              <a:t>基于小波变换、</a:t>
            </a:r>
            <a:r>
              <a:rPr lang="en-US" altLang="zh-CN" sz="1600" kern="0" dirty="0">
                <a:latin typeface="微软雅黑" panose="020B0503020204020204" pitchFamily="34" charset="-122"/>
                <a:ea typeface="微软雅黑" panose="020B0503020204020204" pitchFamily="34" charset="-122"/>
                <a:sym typeface="+mn-ea"/>
              </a:rPr>
              <a:t>G</a:t>
            </a:r>
            <a:r>
              <a:rPr lang="zh-CN" altLang="en-US" sz="1600" kern="0" dirty="0">
                <a:latin typeface="微软雅黑" panose="020B0503020204020204" pitchFamily="34" charset="-122"/>
                <a:ea typeface="微软雅黑" panose="020B0503020204020204" pitchFamily="34" charset="-122"/>
                <a:sym typeface="+mn-ea"/>
              </a:rPr>
              <a:t>函数分析等技术的曲线特征挖掘</a:t>
            </a:r>
            <a:endParaRPr lang="zh-CN" altLang="en-US" sz="1600" kern="0" dirty="0">
              <a:solidFill>
                <a:schemeClr val="tx1"/>
              </a:solidFill>
              <a:latin typeface="微软雅黑" panose="020B0503020204020204" pitchFamily="34" charset="-122"/>
              <a:ea typeface="微软雅黑" panose="020B0503020204020204" pitchFamily="34" charset="-122"/>
            </a:endParaRPr>
          </a:p>
          <a:p>
            <a:pPr indent="0">
              <a:lnSpc>
                <a:spcPct val="100000"/>
              </a:lnSpc>
              <a:spcBef>
                <a:spcPts val="600"/>
              </a:spcBef>
            </a:pPr>
            <a:r>
              <a:rPr lang="zh-CN" altLang="en-US" sz="1600" kern="0" dirty="0">
                <a:solidFill>
                  <a:schemeClr val="tx1"/>
                </a:solidFill>
                <a:latin typeface="微软雅黑" panose="020B0503020204020204" pitchFamily="34" charset="-122"/>
                <a:ea typeface="微软雅黑" panose="020B0503020204020204" pitchFamily="34" charset="-122"/>
              </a:rPr>
              <a:t>（</a:t>
            </a:r>
            <a:r>
              <a:rPr lang="en-US" altLang="zh-CN" sz="1600" kern="0" dirty="0">
                <a:solidFill>
                  <a:schemeClr val="tx1"/>
                </a:solidFill>
                <a:latin typeface="微软雅黑" panose="020B0503020204020204" pitchFamily="34" charset="-122"/>
                <a:ea typeface="微软雅黑" panose="020B0503020204020204" pitchFamily="34" charset="-122"/>
              </a:rPr>
              <a:t>2</a:t>
            </a:r>
            <a:r>
              <a:rPr lang="zh-CN" altLang="en-US" sz="1600" kern="0" dirty="0">
                <a:solidFill>
                  <a:schemeClr val="tx1"/>
                </a:solidFill>
                <a:latin typeface="微软雅黑" panose="020B0503020204020204" pitchFamily="34" charset="-122"/>
                <a:ea typeface="微软雅黑" panose="020B0503020204020204" pitchFamily="34" charset="-122"/>
              </a:rPr>
              <a:t>）</a:t>
            </a:r>
            <a:r>
              <a:rPr lang="zh-CN" altLang="en-US" sz="1600" kern="0" dirty="0">
                <a:latin typeface="微软雅黑" panose="020B0503020204020204" pitchFamily="34" charset="-122"/>
                <a:ea typeface="微软雅黑" panose="020B0503020204020204" pitchFamily="34" charset="-122"/>
                <a:sym typeface="+mn-ea"/>
              </a:rPr>
              <a:t>基于熵权法的评价指标权重确定</a:t>
            </a:r>
            <a:endParaRPr lang="zh-CN" altLang="en-US" sz="1600" kern="0" dirty="0">
              <a:solidFill>
                <a:schemeClr val="tx1"/>
              </a:solidFill>
              <a:latin typeface="微软雅黑" panose="020B0503020204020204" pitchFamily="34" charset="-122"/>
              <a:ea typeface="微软雅黑" panose="020B0503020204020204" pitchFamily="34" charset="-122"/>
            </a:endParaRPr>
          </a:p>
          <a:p>
            <a:pPr>
              <a:lnSpc>
                <a:spcPct val="100000"/>
              </a:lnSpc>
              <a:spcBef>
                <a:spcPts val="600"/>
              </a:spcBef>
            </a:pPr>
            <a:r>
              <a:rPr lang="zh-CN" altLang="en-US" kern="0" dirty="0">
                <a:solidFill>
                  <a:schemeClr val="tx1"/>
                </a:solidFill>
                <a:latin typeface="微软雅黑" panose="020B0503020204020204" pitchFamily="34" charset="-122"/>
                <a:ea typeface="微软雅黑" panose="020B0503020204020204" pitchFamily="34" charset="-122"/>
              </a:rPr>
              <a:t>研究内容三：</a:t>
            </a:r>
            <a:r>
              <a:rPr lang="zh-CN" altLang="en-US" sz="1800" kern="0" dirty="0">
                <a:solidFill>
                  <a:schemeClr val="tx1"/>
                </a:solidFill>
                <a:latin typeface="微软雅黑" panose="020B0503020204020204" pitchFamily="34" charset="-122"/>
                <a:ea typeface="微软雅黑" panose="020B0503020204020204" pitchFamily="34" charset="-122"/>
              </a:rPr>
              <a:t>页岩气井压裂效果动态评估模型建立与验证</a:t>
            </a:r>
            <a:endParaRPr lang="zh-CN" altLang="en-US" sz="1800" kern="0" dirty="0">
              <a:solidFill>
                <a:schemeClr val="tx1"/>
              </a:solidFill>
              <a:latin typeface="微软雅黑" panose="020B0503020204020204" pitchFamily="34" charset="-122"/>
              <a:ea typeface="微软雅黑" panose="020B0503020204020204" pitchFamily="34" charset="-122"/>
            </a:endParaRPr>
          </a:p>
          <a:p>
            <a:pPr indent="0">
              <a:lnSpc>
                <a:spcPct val="100000"/>
              </a:lnSpc>
              <a:spcBef>
                <a:spcPts val="600"/>
              </a:spcBef>
            </a:pPr>
            <a:r>
              <a:rPr lang="zh-CN" altLang="en-US" sz="1600" kern="0" dirty="0">
                <a:solidFill>
                  <a:schemeClr val="tx1"/>
                </a:solidFill>
                <a:latin typeface="微软雅黑" panose="020B0503020204020204" pitchFamily="34" charset="-122"/>
                <a:ea typeface="微软雅黑" panose="020B0503020204020204" pitchFamily="34" charset="-122"/>
              </a:rPr>
              <a:t>（</a:t>
            </a:r>
            <a:r>
              <a:rPr lang="en-US" altLang="zh-CN" sz="1600" kern="0" dirty="0">
                <a:solidFill>
                  <a:schemeClr val="tx1"/>
                </a:solidFill>
                <a:latin typeface="微软雅黑" panose="020B0503020204020204" pitchFamily="34" charset="-122"/>
                <a:ea typeface="微软雅黑" panose="020B0503020204020204" pitchFamily="34" charset="-122"/>
              </a:rPr>
              <a:t>1</a:t>
            </a:r>
            <a:r>
              <a:rPr lang="zh-CN" altLang="en-US" sz="1600" kern="0" dirty="0">
                <a:solidFill>
                  <a:schemeClr val="tx1"/>
                </a:solidFill>
                <a:latin typeface="微软雅黑" panose="020B0503020204020204" pitchFamily="34" charset="-122"/>
                <a:ea typeface="微软雅黑" panose="020B0503020204020204" pitchFamily="34" charset="-122"/>
              </a:rPr>
              <a:t>）建立压前可压性评价与压后效果评价的数据融合框架</a:t>
            </a:r>
            <a:endParaRPr lang="zh-CN" altLang="en-US" sz="1600" kern="0" dirty="0">
              <a:solidFill>
                <a:schemeClr val="tx1"/>
              </a:solidFill>
              <a:latin typeface="微软雅黑" panose="020B0503020204020204" pitchFamily="34" charset="-122"/>
              <a:ea typeface="微软雅黑" panose="020B0503020204020204" pitchFamily="34" charset="-122"/>
            </a:endParaRPr>
          </a:p>
          <a:p>
            <a:pPr indent="0">
              <a:lnSpc>
                <a:spcPct val="100000"/>
              </a:lnSpc>
              <a:spcBef>
                <a:spcPts val="600"/>
              </a:spcBef>
            </a:pPr>
            <a:r>
              <a:rPr lang="zh-CN" altLang="en-US" sz="1600" kern="0" dirty="0">
                <a:solidFill>
                  <a:schemeClr val="tx1"/>
                </a:solidFill>
                <a:latin typeface="微软雅黑" panose="020B0503020204020204" pitchFamily="34" charset="-122"/>
                <a:ea typeface="微软雅黑" panose="020B0503020204020204" pitchFamily="34" charset="-122"/>
              </a:rPr>
              <a:t>（</a:t>
            </a:r>
            <a:r>
              <a:rPr lang="en-US" altLang="zh-CN" sz="1600" kern="0" dirty="0">
                <a:solidFill>
                  <a:schemeClr val="tx1"/>
                </a:solidFill>
                <a:latin typeface="微软雅黑" panose="020B0503020204020204" pitchFamily="34" charset="-122"/>
                <a:ea typeface="微软雅黑" panose="020B0503020204020204" pitchFamily="34" charset="-122"/>
              </a:rPr>
              <a:t>2</a:t>
            </a:r>
            <a:r>
              <a:rPr lang="zh-CN" altLang="en-US" sz="1600" kern="0" dirty="0">
                <a:solidFill>
                  <a:schemeClr val="tx1"/>
                </a:solidFill>
                <a:latin typeface="微软雅黑" panose="020B0503020204020204" pitchFamily="34" charset="-122"/>
                <a:ea typeface="微软雅黑" panose="020B0503020204020204" pitchFamily="34" charset="-122"/>
              </a:rPr>
              <a:t>）建立压前</a:t>
            </a:r>
            <a:r>
              <a:rPr lang="en-US" altLang="zh-CN" sz="1600" kern="0" dirty="0">
                <a:solidFill>
                  <a:schemeClr val="tx1"/>
                </a:solidFill>
                <a:latin typeface="微软雅黑" panose="020B0503020204020204" pitchFamily="34" charset="-122"/>
                <a:ea typeface="微软雅黑" panose="020B0503020204020204" pitchFamily="34" charset="-122"/>
              </a:rPr>
              <a:t>-</a:t>
            </a:r>
            <a:r>
              <a:rPr lang="zh-CN" altLang="en-US" sz="1600" kern="0" dirty="0">
                <a:solidFill>
                  <a:schemeClr val="tx1"/>
                </a:solidFill>
                <a:latin typeface="微软雅黑" panose="020B0503020204020204" pitchFamily="34" charset="-122"/>
                <a:ea typeface="微软雅黑" panose="020B0503020204020204" pitchFamily="34" charset="-122"/>
              </a:rPr>
              <a:t>压后一体化压裂效果动态评估模型</a:t>
            </a:r>
            <a:endParaRPr lang="zh-CN" altLang="en-US" sz="1600" kern="0" dirty="0">
              <a:solidFill>
                <a:schemeClr val="tx1"/>
              </a:solidFill>
              <a:latin typeface="微软雅黑" panose="020B0503020204020204" pitchFamily="34" charset="-122"/>
              <a:ea typeface="微软雅黑" panose="020B0503020204020204" pitchFamily="34" charset="-122"/>
            </a:endParaRPr>
          </a:p>
          <a:p>
            <a:pPr>
              <a:lnSpc>
                <a:spcPct val="100000"/>
              </a:lnSpc>
              <a:spcBef>
                <a:spcPts val="600"/>
              </a:spcBef>
            </a:pPr>
            <a:r>
              <a:rPr lang="zh-CN" altLang="en-US" kern="0" dirty="0">
                <a:solidFill>
                  <a:schemeClr val="tx1"/>
                </a:solidFill>
                <a:latin typeface="微软雅黑" panose="020B0503020204020204" pitchFamily="34" charset="-122"/>
                <a:ea typeface="微软雅黑" panose="020B0503020204020204" pitchFamily="34" charset="-122"/>
              </a:rPr>
              <a:t>研究内容四：</a:t>
            </a:r>
            <a:r>
              <a:rPr lang="zh-CN" altLang="en-US" sz="1800" kern="0" dirty="0">
                <a:solidFill>
                  <a:schemeClr val="tx1"/>
                </a:solidFill>
                <a:latin typeface="微软雅黑" panose="020B0503020204020204" pitchFamily="34" charset="-122"/>
                <a:ea typeface="微软雅黑" panose="020B0503020204020204" pitchFamily="34" charset="-122"/>
              </a:rPr>
              <a:t>压裂效果动态评估模型应用及优化</a:t>
            </a:r>
            <a:endParaRPr lang="zh-CN" altLang="en-US" sz="1800" kern="0" dirty="0">
              <a:solidFill>
                <a:schemeClr val="tx1"/>
              </a:solidFill>
              <a:latin typeface="微软雅黑" panose="020B0503020204020204" pitchFamily="34" charset="-122"/>
              <a:ea typeface="微软雅黑" panose="020B0503020204020204" pitchFamily="34" charset="-122"/>
            </a:endParaRPr>
          </a:p>
          <a:p>
            <a:pPr indent="0">
              <a:lnSpc>
                <a:spcPct val="100000"/>
              </a:lnSpc>
              <a:spcBef>
                <a:spcPts val="600"/>
              </a:spcBef>
            </a:pPr>
            <a:r>
              <a:rPr lang="zh-CN" altLang="en-US" sz="1600" kern="0" dirty="0">
                <a:solidFill>
                  <a:schemeClr val="tx1"/>
                </a:solidFill>
                <a:latin typeface="微软雅黑" panose="020B0503020204020204" pitchFamily="34" charset="-122"/>
                <a:ea typeface="微软雅黑" panose="020B0503020204020204" pitchFamily="34" charset="-122"/>
              </a:rPr>
              <a:t>（</a:t>
            </a:r>
            <a:r>
              <a:rPr lang="en-US" altLang="zh-CN" sz="1600" kern="0" dirty="0">
                <a:solidFill>
                  <a:schemeClr val="tx1"/>
                </a:solidFill>
                <a:latin typeface="微软雅黑" panose="020B0503020204020204" pitchFamily="34" charset="-122"/>
                <a:ea typeface="微软雅黑" panose="020B0503020204020204" pitchFamily="34" charset="-122"/>
              </a:rPr>
              <a:t>1</a:t>
            </a:r>
            <a:r>
              <a:rPr lang="zh-CN" altLang="en-US" sz="1600" kern="0" dirty="0">
                <a:solidFill>
                  <a:schemeClr val="tx1"/>
                </a:solidFill>
                <a:latin typeface="微软雅黑" panose="020B0503020204020204" pitchFamily="34" charset="-122"/>
                <a:ea typeface="微软雅黑" panose="020B0503020204020204" pitchFamily="34" charset="-122"/>
              </a:rPr>
              <a:t>）井况分类与模型参数适应性调整</a:t>
            </a:r>
            <a:endParaRPr lang="zh-CN" altLang="en-US" sz="1600" kern="0" dirty="0">
              <a:solidFill>
                <a:schemeClr val="tx1"/>
              </a:solidFill>
              <a:latin typeface="微软雅黑" panose="020B0503020204020204" pitchFamily="34" charset="-122"/>
              <a:ea typeface="微软雅黑" panose="020B0503020204020204" pitchFamily="34" charset="-122"/>
            </a:endParaRPr>
          </a:p>
          <a:p>
            <a:pPr indent="0">
              <a:lnSpc>
                <a:spcPct val="100000"/>
              </a:lnSpc>
              <a:spcBef>
                <a:spcPts val="600"/>
              </a:spcBef>
            </a:pPr>
            <a:r>
              <a:rPr lang="zh-CN" altLang="en-US" sz="1600" kern="0" dirty="0">
                <a:solidFill>
                  <a:schemeClr val="tx1"/>
                </a:solidFill>
                <a:latin typeface="微软雅黑" panose="020B0503020204020204" pitchFamily="34" charset="-122"/>
                <a:ea typeface="微软雅黑" panose="020B0503020204020204" pitchFamily="34" charset="-122"/>
              </a:rPr>
              <a:t>（</a:t>
            </a:r>
            <a:r>
              <a:rPr lang="en-US" altLang="zh-CN" sz="1600" kern="0" dirty="0">
                <a:solidFill>
                  <a:schemeClr val="tx1"/>
                </a:solidFill>
                <a:latin typeface="微软雅黑" panose="020B0503020204020204" pitchFamily="34" charset="-122"/>
                <a:ea typeface="微软雅黑" panose="020B0503020204020204" pitchFamily="34" charset="-122"/>
              </a:rPr>
              <a:t>2</a:t>
            </a:r>
            <a:r>
              <a:rPr lang="zh-CN" altLang="en-US" sz="1600" kern="0" dirty="0">
                <a:solidFill>
                  <a:schemeClr val="tx1"/>
                </a:solidFill>
                <a:latin typeface="微软雅黑" panose="020B0503020204020204" pitchFamily="34" charset="-122"/>
                <a:ea typeface="微软雅黑" panose="020B0503020204020204" pitchFamily="34" charset="-122"/>
              </a:rPr>
              <a:t>）现场应用实测与迭代完善</a:t>
            </a:r>
            <a:endParaRPr lang="zh-CN" altLang="en-US" sz="1600" kern="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1"/>
          <p:cNvSpPr>
            <a:spLocks noChangeArrowheads="1"/>
          </p:cNvSpPr>
          <p:nvPr/>
        </p:nvSpPr>
        <p:spPr bwMode="auto">
          <a:xfrm>
            <a:off x="1" y="-41146"/>
            <a:ext cx="12191999"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rPr>
              <a:t>（二）主要研究内容</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2" name="圆角矩形 1"/>
          <p:cNvSpPr/>
          <p:nvPr/>
        </p:nvSpPr>
        <p:spPr>
          <a:xfrm>
            <a:off x="126365" y="1852930"/>
            <a:ext cx="2114550" cy="1036320"/>
          </a:xfrm>
          <a:prstGeom prst="roundRect">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b="1" dirty="0">
                <a:solidFill>
                  <a:schemeClr val="bg1"/>
                </a:solidFill>
                <a:latin typeface="微软雅黑" panose="020B0503020204020204" pitchFamily="34" charset="-122"/>
                <a:ea typeface="微软雅黑" panose="020B0503020204020204" pitchFamily="34" charset="-122"/>
              </a:rPr>
              <a:t>压前可压性评价</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5" name="圆角矩形 4"/>
          <p:cNvSpPr/>
          <p:nvPr/>
        </p:nvSpPr>
        <p:spPr>
          <a:xfrm>
            <a:off x="3371215" y="1852930"/>
            <a:ext cx="2114550" cy="1036320"/>
          </a:xfrm>
          <a:prstGeom prst="roundRect">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b="1" dirty="0">
                <a:solidFill>
                  <a:schemeClr val="bg1"/>
                </a:solidFill>
                <a:latin typeface="微软雅黑" panose="020B0503020204020204" pitchFamily="34" charset="-122"/>
                <a:ea typeface="微软雅黑" panose="020B0503020204020204" pitchFamily="34" charset="-122"/>
              </a:rPr>
              <a:t>压后压裂曲线分析</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7" name="圆角矩形 6"/>
          <p:cNvSpPr/>
          <p:nvPr/>
        </p:nvSpPr>
        <p:spPr>
          <a:xfrm>
            <a:off x="6616065" y="1852930"/>
            <a:ext cx="2114550" cy="1036320"/>
          </a:xfrm>
          <a:prstGeom prst="roundRect">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b="1" dirty="0">
                <a:solidFill>
                  <a:schemeClr val="bg1"/>
                </a:solidFill>
                <a:latin typeface="微软雅黑" panose="020B0503020204020204" pitchFamily="34" charset="-122"/>
                <a:ea typeface="微软雅黑" panose="020B0503020204020204" pitchFamily="34" charset="-122"/>
              </a:rPr>
              <a:t>压后综合评估</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9" name="圆角矩形 8"/>
          <p:cNvSpPr/>
          <p:nvPr/>
        </p:nvSpPr>
        <p:spPr>
          <a:xfrm>
            <a:off x="9860915" y="1848485"/>
            <a:ext cx="2114550" cy="1036320"/>
          </a:xfrm>
          <a:prstGeom prst="roundRect">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b="1" dirty="0">
                <a:solidFill>
                  <a:schemeClr val="bg1"/>
                </a:solidFill>
                <a:latin typeface="微软雅黑" panose="020B0503020204020204" pitchFamily="34" charset="-122"/>
                <a:ea typeface="微软雅黑" panose="020B0503020204020204" pitchFamily="34" charset="-122"/>
              </a:rPr>
              <a:t>模型迭代优化</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10" name="矩形 9"/>
          <p:cNvSpPr/>
          <p:nvPr/>
        </p:nvSpPr>
        <p:spPr>
          <a:xfrm>
            <a:off x="59055" y="3429000"/>
            <a:ext cx="1124585" cy="648000"/>
          </a:xfrm>
          <a:prstGeom prst="rect">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b="1" dirty="0">
                <a:solidFill>
                  <a:schemeClr val="bg1"/>
                </a:solidFill>
                <a:latin typeface="微软雅黑" panose="020B0503020204020204" pitchFamily="34" charset="-122"/>
                <a:ea typeface="微软雅黑" panose="020B0503020204020204" pitchFamily="34" charset="-122"/>
              </a:rPr>
              <a:t>地质参数</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12" name="矩形 11"/>
          <p:cNvSpPr/>
          <p:nvPr/>
        </p:nvSpPr>
        <p:spPr>
          <a:xfrm>
            <a:off x="1278890" y="3429000"/>
            <a:ext cx="1124585" cy="648000"/>
          </a:xfrm>
          <a:prstGeom prst="rect">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b="1" dirty="0">
                <a:solidFill>
                  <a:schemeClr val="bg1"/>
                </a:solidFill>
                <a:latin typeface="微软雅黑" panose="020B0503020204020204" pitchFamily="34" charset="-122"/>
                <a:ea typeface="微软雅黑" panose="020B0503020204020204" pitchFamily="34" charset="-122"/>
              </a:rPr>
              <a:t>工程参数</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13" name="矩形 12"/>
          <p:cNvSpPr/>
          <p:nvPr/>
        </p:nvSpPr>
        <p:spPr>
          <a:xfrm>
            <a:off x="59055" y="4593255"/>
            <a:ext cx="1124585" cy="647700"/>
          </a:xfrm>
          <a:prstGeom prst="rect">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b="1" dirty="0">
                <a:solidFill>
                  <a:schemeClr val="bg1"/>
                </a:solidFill>
                <a:latin typeface="微软雅黑" panose="020B0503020204020204" pitchFamily="34" charset="-122"/>
                <a:ea typeface="微软雅黑" panose="020B0503020204020204" pitchFamily="34" charset="-122"/>
              </a:rPr>
              <a:t>地质设计</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14" name="矩形 13"/>
          <p:cNvSpPr/>
          <p:nvPr/>
        </p:nvSpPr>
        <p:spPr>
          <a:xfrm>
            <a:off x="1278890" y="4595795"/>
            <a:ext cx="1124585" cy="647700"/>
          </a:xfrm>
          <a:prstGeom prst="rect">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b="1" dirty="0">
                <a:solidFill>
                  <a:schemeClr val="bg1"/>
                </a:solidFill>
                <a:latin typeface="微软雅黑" panose="020B0503020204020204" pitchFamily="34" charset="-122"/>
                <a:ea typeface="微软雅黑" panose="020B0503020204020204" pitchFamily="34" charset="-122"/>
              </a:rPr>
              <a:t>压裂设计</a:t>
            </a:r>
            <a:endParaRPr lang="zh-CN" altLang="en-US" b="1" dirty="0">
              <a:solidFill>
                <a:schemeClr val="bg1"/>
              </a:solidFill>
              <a:latin typeface="微软雅黑" panose="020B0503020204020204" pitchFamily="34" charset="-122"/>
              <a:ea typeface="微软雅黑" panose="020B0503020204020204" pitchFamily="34" charset="-122"/>
            </a:endParaRPr>
          </a:p>
        </p:txBody>
      </p:sp>
      <p:cxnSp>
        <p:nvCxnSpPr>
          <p:cNvPr id="15" name="直接箭头连接符 14"/>
          <p:cNvCxnSpPr>
            <a:stCxn id="2" idx="2"/>
            <a:endCxn id="10" idx="0"/>
          </p:cNvCxnSpPr>
          <p:nvPr/>
        </p:nvCxnSpPr>
        <p:spPr>
          <a:xfrm flipH="1">
            <a:off x="621665" y="2889250"/>
            <a:ext cx="561975" cy="539750"/>
          </a:xfrm>
          <a:prstGeom prst="straightConnector1">
            <a:avLst/>
          </a:prstGeom>
          <a:ln w="31750" cap="rnd">
            <a:solidFill>
              <a:srgbClr val="C00000"/>
            </a:solidFill>
            <a:round/>
            <a:headEnd type="none" w="med" len="med"/>
            <a:tailEnd type="arrow" w="med" len="med"/>
          </a:ln>
        </p:spPr>
        <p:style>
          <a:lnRef idx="0">
            <a:srgbClr val="FFFFFF"/>
          </a:lnRef>
          <a:fillRef idx="0">
            <a:srgbClr val="FFFFFF"/>
          </a:fillRef>
          <a:effectRef idx="0">
            <a:srgbClr val="FFFFFF"/>
          </a:effectRef>
          <a:fontRef idx="minor">
            <a:schemeClr val="tx1"/>
          </a:fontRef>
        </p:style>
      </p:cxnSp>
      <p:cxnSp>
        <p:nvCxnSpPr>
          <p:cNvPr id="16" name="直接箭头连接符 15"/>
          <p:cNvCxnSpPr>
            <a:endCxn id="12" idx="0"/>
          </p:cNvCxnSpPr>
          <p:nvPr/>
        </p:nvCxnSpPr>
        <p:spPr>
          <a:xfrm>
            <a:off x="1233170" y="2866390"/>
            <a:ext cx="608330" cy="562610"/>
          </a:xfrm>
          <a:prstGeom prst="straightConnector1">
            <a:avLst/>
          </a:prstGeom>
          <a:ln w="31750" cap="rnd">
            <a:solidFill>
              <a:srgbClr val="C00000"/>
            </a:solidFill>
            <a:round/>
            <a:headEnd type="none" w="med" len="med"/>
            <a:tailEnd type="arrow" w="med" len="med"/>
          </a:ln>
        </p:spPr>
        <p:style>
          <a:lnRef idx="0">
            <a:srgbClr val="FFFFFF"/>
          </a:lnRef>
          <a:fillRef idx="0">
            <a:srgbClr val="FFFFFF"/>
          </a:fillRef>
          <a:effectRef idx="0">
            <a:srgbClr val="FFFFFF"/>
          </a:effectRef>
          <a:fontRef idx="minor">
            <a:schemeClr val="tx1"/>
          </a:fontRef>
        </p:style>
      </p:cxnSp>
      <p:cxnSp>
        <p:nvCxnSpPr>
          <p:cNvPr id="17" name="直接箭头连接符 16"/>
          <p:cNvCxnSpPr>
            <a:stCxn id="10" idx="2"/>
            <a:endCxn id="13" idx="0"/>
          </p:cNvCxnSpPr>
          <p:nvPr/>
        </p:nvCxnSpPr>
        <p:spPr>
          <a:xfrm>
            <a:off x="621665" y="4076700"/>
            <a:ext cx="0" cy="516255"/>
          </a:xfrm>
          <a:prstGeom prst="straightConnector1">
            <a:avLst/>
          </a:prstGeom>
          <a:ln w="31750" cap="rnd">
            <a:solidFill>
              <a:srgbClr val="C00000"/>
            </a:solidFill>
            <a:round/>
            <a:headEnd type="none" w="med" len="med"/>
            <a:tailEnd type="arrow" w="med" len="med"/>
          </a:ln>
        </p:spPr>
        <p:style>
          <a:lnRef idx="0">
            <a:srgbClr val="FFFFFF"/>
          </a:lnRef>
          <a:fillRef idx="0">
            <a:srgbClr val="FFFFFF"/>
          </a:fillRef>
          <a:effectRef idx="0">
            <a:srgbClr val="FFFFFF"/>
          </a:effectRef>
          <a:fontRef idx="minor">
            <a:schemeClr val="tx1"/>
          </a:fontRef>
        </p:style>
      </p:cxnSp>
      <p:cxnSp>
        <p:nvCxnSpPr>
          <p:cNvPr id="18" name="直接箭头连接符 17"/>
          <p:cNvCxnSpPr>
            <a:stCxn id="12" idx="2"/>
            <a:endCxn id="14" idx="0"/>
          </p:cNvCxnSpPr>
          <p:nvPr/>
        </p:nvCxnSpPr>
        <p:spPr>
          <a:xfrm>
            <a:off x="1841500" y="4076700"/>
            <a:ext cx="0" cy="518795"/>
          </a:xfrm>
          <a:prstGeom prst="straightConnector1">
            <a:avLst/>
          </a:prstGeom>
          <a:ln w="31750" cap="rnd">
            <a:solidFill>
              <a:srgbClr val="C00000"/>
            </a:solidFill>
            <a:round/>
            <a:headEnd type="none" w="med" len="med"/>
            <a:tailEnd type="arrow" w="med" len="med"/>
          </a:ln>
        </p:spPr>
        <p:style>
          <a:lnRef idx="0">
            <a:srgbClr val="FFFFFF"/>
          </a:lnRef>
          <a:fillRef idx="0">
            <a:srgbClr val="FFFFFF"/>
          </a:fillRef>
          <a:effectRef idx="0">
            <a:srgbClr val="FFFFFF"/>
          </a:effectRef>
          <a:fontRef idx="minor">
            <a:schemeClr val="tx1"/>
          </a:fontRef>
        </p:style>
      </p:cxnSp>
      <p:sp>
        <p:nvSpPr>
          <p:cNvPr id="19" name="文本框 18"/>
          <p:cNvSpPr txBox="1"/>
          <p:nvPr/>
        </p:nvSpPr>
        <p:spPr>
          <a:xfrm>
            <a:off x="222250" y="2906395"/>
            <a:ext cx="626745" cy="347345"/>
          </a:xfrm>
          <a:prstGeom prst="rect">
            <a:avLst/>
          </a:prstGeom>
          <a:noFill/>
          <a:ln>
            <a:noFill/>
          </a:ln>
        </p:spPr>
        <p:txBody>
          <a:bodyPr wrap="square"/>
          <a:lstStyle/>
          <a:p>
            <a:pPr marL="0" indent="0">
              <a:lnSpc>
                <a:spcPct val="100000"/>
              </a:lnSpc>
              <a:buClr>
                <a:srgbClr val="FF0000"/>
              </a:buClr>
            </a:pPr>
            <a:r>
              <a:rPr lang="zh-CN" altLang="en-US" sz="1600" b="1" dirty="0">
                <a:solidFill>
                  <a:srgbClr val="C00000"/>
                </a:solidFill>
                <a:latin typeface="微软雅黑" panose="020B0503020204020204" pitchFamily="34" charset="-122"/>
                <a:ea typeface="微软雅黑" panose="020B0503020204020204" pitchFamily="34" charset="-122"/>
              </a:rPr>
              <a:t>依据</a:t>
            </a:r>
            <a:endParaRPr lang="zh-CN" altLang="en-US" sz="1600" b="1" dirty="0">
              <a:solidFill>
                <a:srgbClr val="C00000"/>
              </a:solidFill>
              <a:latin typeface="微软雅黑" panose="020B0503020204020204" pitchFamily="34" charset="-122"/>
              <a:ea typeface="微软雅黑" panose="020B0503020204020204" pitchFamily="34" charset="-122"/>
            </a:endParaRPr>
          </a:p>
        </p:txBody>
      </p:sp>
      <p:sp>
        <p:nvSpPr>
          <p:cNvPr id="20" name="文本框 19"/>
          <p:cNvSpPr txBox="1"/>
          <p:nvPr/>
        </p:nvSpPr>
        <p:spPr>
          <a:xfrm>
            <a:off x="-5080" y="4125595"/>
            <a:ext cx="626745" cy="347345"/>
          </a:xfrm>
          <a:prstGeom prst="rect">
            <a:avLst/>
          </a:prstGeom>
          <a:noFill/>
          <a:ln>
            <a:noFill/>
          </a:ln>
        </p:spPr>
        <p:txBody>
          <a:bodyPr wrap="square"/>
          <a:lstStyle/>
          <a:p>
            <a:pPr marL="0" indent="0">
              <a:lnSpc>
                <a:spcPct val="100000"/>
              </a:lnSpc>
              <a:buClr>
                <a:srgbClr val="FF0000"/>
              </a:buClr>
            </a:pPr>
            <a:r>
              <a:rPr lang="zh-CN" altLang="en-US" sz="1600" b="1" dirty="0">
                <a:solidFill>
                  <a:srgbClr val="C00000"/>
                </a:solidFill>
                <a:latin typeface="微软雅黑" panose="020B0503020204020204" pitchFamily="34" charset="-122"/>
                <a:ea typeface="微软雅黑" panose="020B0503020204020204" pitchFamily="34" charset="-122"/>
              </a:rPr>
              <a:t>评价</a:t>
            </a:r>
            <a:endParaRPr lang="zh-CN" altLang="en-US" sz="1600" b="1" dirty="0">
              <a:solidFill>
                <a:srgbClr val="C00000"/>
              </a:solidFill>
              <a:latin typeface="微软雅黑" panose="020B0503020204020204" pitchFamily="34" charset="-122"/>
              <a:ea typeface="微软雅黑" panose="020B0503020204020204" pitchFamily="34" charset="-122"/>
            </a:endParaRPr>
          </a:p>
        </p:txBody>
      </p:sp>
      <p:sp>
        <p:nvSpPr>
          <p:cNvPr id="21" name="右箭头 20"/>
          <p:cNvSpPr/>
          <p:nvPr/>
        </p:nvSpPr>
        <p:spPr>
          <a:xfrm>
            <a:off x="2378075" y="2183130"/>
            <a:ext cx="855980" cy="398145"/>
          </a:xfrm>
          <a:prstGeom prst="rightArrow">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3000509000000000000" pitchFamily="65" charset="-122"/>
            </a:endParaRPr>
          </a:p>
        </p:txBody>
      </p:sp>
      <p:sp>
        <p:nvSpPr>
          <p:cNvPr id="22" name="右箭头 21"/>
          <p:cNvSpPr/>
          <p:nvPr/>
        </p:nvSpPr>
        <p:spPr>
          <a:xfrm>
            <a:off x="5622925" y="2183130"/>
            <a:ext cx="855980" cy="398145"/>
          </a:xfrm>
          <a:prstGeom prst="rightArrow">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3000509000000000000" pitchFamily="65" charset="-122"/>
            </a:endParaRPr>
          </a:p>
        </p:txBody>
      </p:sp>
      <p:sp>
        <p:nvSpPr>
          <p:cNvPr id="23" name="右箭头 22"/>
          <p:cNvSpPr/>
          <p:nvPr/>
        </p:nvSpPr>
        <p:spPr>
          <a:xfrm>
            <a:off x="8867775" y="2183130"/>
            <a:ext cx="855980" cy="398145"/>
          </a:xfrm>
          <a:prstGeom prst="rightArrow">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3000509000000000000" pitchFamily="65" charset="-122"/>
            </a:endParaRPr>
          </a:p>
        </p:txBody>
      </p:sp>
      <p:sp>
        <p:nvSpPr>
          <p:cNvPr id="24" name="矩形 23"/>
          <p:cNvSpPr/>
          <p:nvPr/>
        </p:nvSpPr>
        <p:spPr>
          <a:xfrm>
            <a:off x="3253740" y="4598335"/>
            <a:ext cx="1124585" cy="647700"/>
          </a:xfrm>
          <a:prstGeom prst="rect">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b="1" dirty="0">
                <a:solidFill>
                  <a:schemeClr val="bg1"/>
                </a:solidFill>
                <a:latin typeface="微软雅黑" panose="020B0503020204020204" pitchFamily="34" charset="-122"/>
                <a:ea typeface="微软雅黑" panose="020B0503020204020204" pitchFamily="34" charset="-122"/>
              </a:rPr>
              <a:t>曲线波动</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26" name="矩形 25"/>
          <p:cNvSpPr/>
          <p:nvPr/>
        </p:nvSpPr>
        <p:spPr>
          <a:xfrm>
            <a:off x="4505325" y="4590415"/>
            <a:ext cx="1124585" cy="648000"/>
          </a:xfrm>
          <a:prstGeom prst="rect">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b="1" dirty="0">
                <a:solidFill>
                  <a:schemeClr val="bg1"/>
                </a:solidFill>
                <a:latin typeface="微软雅黑" panose="020B0503020204020204" pitchFamily="34" charset="-122"/>
                <a:ea typeface="微软雅黑" panose="020B0503020204020204" pitchFamily="34" charset="-122"/>
              </a:rPr>
              <a:t>压降曲线</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27" name="矩形 26"/>
          <p:cNvSpPr/>
          <p:nvPr/>
        </p:nvSpPr>
        <p:spPr>
          <a:xfrm>
            <a:off x="3253740" y="3429000"/>
            <a:ext cx="1124585" cy="648000"/>
          </a:xfrm>
          <a:prstGeom prst="rect">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b="1" dirty="0">
                <a:solidFill>
                  <a:schemeClr val="bg1"/>
                </a:solidFill>
                <a:latin typeface="微软雅黑" panose="020B0503020204020204" pitchFamily="34" charset="-122"/>
                <a:ea typeface="微软雅黑" panose="020B0503020204020204" pitchFamily="34" charset="-122"/>
              </a:rPr>
              <a:t>小波变换</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28" name="矩形 27"/>
          <p:cNvSpPr/>
          <p:nvPr/>
        </p:nvSpPr>
        <p:spPr>
          <a:xfrm>
            <a:off x="4505325" y="3429000"/>
            <a:ext cx="1124585" cy="648000"/>
          </a:xfrm>
          <a:prstGeom prst="rect">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en-US" altLang="zh-CN" b="1" dirty="0">
                <a:solidFill>
                  <a:schemeClr val="bg1"/>
                </a:solidFill>
                <a:latin typeface="微软雅黑" panose="020B0503020204020204" pitchFamily="34" charset="-122"/>
                <a:ea typeface="微软雅黑" panose="020B0503020204020204" pitchFamily="34" charset="-122"/>
              </a:rPr>
              <a:t>G</a:t>
            </a:r>
            <a:r>
              <a:rPr lang="zh-CN" altLang="en-US" b="1" dirty="0">
                <a:solidFill>
                  <a:schemeClr val="bg1"/>
                </a:solidFill>
                <a:latin typeface="微软雅黑" panose="020B0503020204020204" pitchFamily="34" charset="-122"/>
                <a:ea typeface="微软雅黑" panose="020B0503020204020204" pitchFamily="34" charset="-122"/>
              </a:rPr>
              <a:t>函数</a:t>
            </a:r>
            <a:endParaRPr lang="zh-CN" altLang="en-US" b="1" dirty="0">
              <a:solidFill>
                <a:schemeClr val="bg1"/>
              </a:solidFill>
              <a:latin typeface="微软雅黑" panose="020B0503020204020204" pitchFamily="34" charset="-122"/>
              <a:ea typeface="微软雅黑" panose="020B0503020204020204" pitchFamily="34" charset="-122"/>
            </a:endParaRPr>
          </a:p>
        </p:txBody>
      </p:sp>
      <p:cxnSp>
        <p:nvCxnSpPr>
          <p:cNvPr id="29" name="直接箭头连接符 28"/>
          <p:cNvCxnSpPr>
            <a:stCxn id="5" idx="2"/>
            <a:endCxn id="27" idx="0"/>
          </p:cNvCxnSpPr>
          <p:nvPr/>
        </p:nvCxnSpPr>
        <p:spPr>
          <a:xfrm flipH="1">
            <a:off x="3816350" y="2889250"/>
            <a:ext cx="612140" cy="539750"/>
          </a:xfrm>
          <a:prstGeom prst="straightConnector1">
            <a:avLst/>
          </a:prstGeom>
          <a:ln w="31750" cap="rnd">
            <a:solidFill>
              <a:srgbClr val="C00000"/>
            </a:solidFill>
            <a:round/>
            <a:headEnd type="none" w="med" len="med"/>
            <a:tailEnd type="arrow" w="med" len="med"/>
          </a:ln>
        </p:spPr>
        <p:style>
          <a:lnRef idx="0">
            <a:srgbClr val="FFFFFF"/>
          </a:lnRef>
          <a:fillRef idx="0">
            <a:srgbClr val="FFFFFF"/>
          </a:fillRef>
          <a:effectRef idx="0">
            <a:srgbClr val="FFFFFF"/>
          </a:effectRef>
          <a:fontRef idx="minor">
            <a:schemeClr val="tx1"/>
          </a:fontRef>
        </p:style>
      </p:cxnSp>
      <p:cxnSp>
        <p:nvCxnSpPr>
          <p:cNvPr id="30" name="直接箭头连接符 29"/>
          <p:cNvCxnSpPr>
            <a:endCxn id="28" idx="0"/>
          </p:cNvCxnSpPr>
          <p:nvPr/>
        </p:nvCxnSpPr>
        <p:spPr>
          <a:xfrm>
            <a:off x="4470400" y="2896235"/>
            <a:ext cx="597535" cy="532765"/>
          </a:xfrm>
          <a:prstGeom prst="straightConnector1">
            <a:avLst/>
          </a:prstGeom>
          <a:ln w="31750" cap="rnd">
            <a:solidFill>
              <a:srgbClr val="C00000"/>
            </a:solidFill>
            <a:round/>
            <a:headEnd type="none" w="med" len="med"/>
            <a:tailEnd type="arrow" w="med" len="med"/>
          </a:ln>
        </p:spPr>
        <p:style>
          <a:lnRef idx="0">
            <a:srgbClr val="FFFFFF"/>
          </a:lnRef>
          <a:fillRef idx="0">
            <a:srgbClr val="FFFFFF"/>
          </a:fillRef>
          <a:effectRef idx="0">
            <a:srgbClr val="FFFFFF"/>
          </a:effectRef>
          <a:fontRef idx="minor">
            <a:schemeClr val="tx1"/>
          </a:fontRef>
        </p:style>
      </p:cxnSp>
      <p:sp>
        <p:nvSpPr>
          <p:cNvPr id="31" name="文本框 30"/>
          <p:cNvSpPr txBox="1"/>
          <p:nvPr/>
        </p:nvSpPr>
        <p:spPr>
          <a:xfrm>
            <a:off x="3361690" y="2906395"/>
            <a:ext cx="626745" cy="347345"/>
          </a:xfrm>
          <a:prstGeom prst="rect">
            <a:avLst/>
          </a:prstGeom>
          <a:noFill/>
          <a:ln>
            <a:noFill/>
          </a:ln>
        </p:spPr>
        <p:txBody>
          <a:bodyPr wrap="square"/>
          <a:lstStyle/>
          <a:p>
            <a:pPr marL="0" indent="0">
              <a:lnSpc>
                <a:spcPct val="100000"/>
              </a:lnSpc>
              <a:buClr>
                <a:srgbClr val="FF0000"/>
              </a:buClr>
            </a:pPr>
            <a:r>
              <a:rPr lang="zh-CN" altLang="en-US" sz="1600" b="1" dirty="0">
                <a:solidFill>
                  <a:srgbClr val="C00000"/>
                </a:solidFill>
                <a:latin typeface="微软雅黑" panose="020B0503020204020204" pitchFamily="34" charset="-122"/>
                <a:ea typeface="微软雅黑" panose="020B0503020204020204" pitchFamily="34" charset="-122"/>
              </a:rPr>
              <a:t>依据</a:t>
            </a:r>
            <a:endParaRPr lang="zh-CN" altLang="en-US" sz="1600" b="1" dirty="0">
              <a:solidFill>
                <a:srgbClr val="C00000"/>
              </a:solidFill>
              <a:latin typeface="微软雅黑" panose="020B0503020204020204" pitchFamily="34" charset="-122"/>
              <a:ea typeface="微软雅黑" panose="020B0503020204020204" pitchFamily="34" charset="-122"/>
            </a:endParaRPr>
          </a:p>
        </p:txBody>
      </p:sp>
      <p:cxnSp>
        <p:nvCxnSpPr>
          <p:cNvPr id="32" name="直接箭头连接符 31"/>
          <p:cNvCxnSpPr>
            <a:stCxn id="27" idx="2"/>
            <a:endCxn id="24" idx="0"/>
          </p:cNvCxnSpPr>
          <p:nvPr/>
        </p:nvCxnSpPr>
        <p:spPr>
          <a:xfrm>
            <a:off x="3816350" y="4076700"/>
            <a:ext cx="0" cy="521335"/>
          </a:xfrm>
          <a:prstGeom prst="straightConnector1">
            <a:avLst/>
          </a:prstGeom>
          <a:ln w="31750" cap="rnd">
            <a:solidFill>
              <a:srgbClr val="C00000"/>
            </a:solidFill>
            <a:round/>
            <a:headEnd type="none" w="med" len="med"/>
            <a:tailEnd type="arrow" w="med" len="med"/>
          </a:ln>
        </p:spPr>
        <p:style>
          <a:lnRef idx="0">
            <a:srgbClr val="FFFFFF"/>
          </a:lnRef>
          <a:fillRef idx="0">
            <a:srgbClr val="FFFFFF"/>
          </a:fillRef>
          <a:effectRef idx="0">
            <a:srgbClr val="FFFFFF"/>
          </a:effectRef>
          <a:fontRef idx="minor">
            <a:schemeClr val="tx1"/>
          </a:fontRef>
        </p:style>
      </p:cxnSp>
      <p:cxnSp>
        <p:nvCxnSpPr>
          <p:cNvPr id="33" name="直接箭头连接符 32"/>
          <p:cNvCxnSpPr>
            <a:stCxn id="28" idx="2"/>
            <a:endCxn id="26" idx="0"/>
          </p:cNvCxnSpPr>
          <p:nvPr/>
        </p:nvCxnSpPr>
        <p:spPr>
          <a:xfrm>
            <a:off x="5067935" y="4076700"/>
            <a:ext cx="0" cy="513715"/>
          </a:xfrm>
          <a:prstGeom prst="straightConnector1">
            <a:avLst/>
          </a:prstGeom>
          <a:ln w="31750" cap="rnd">
            <a:solidFill>
              <a:srgbClr val="C00000"/>
            </a:solidFill>
            <a:round/>
            <a:headEnd type="none" w="med" len="med"/>
            <a:tailEnd type="arrow" w="med" len="med"/>
          </a:ln>
        </p:spPr>
        <p:style>
          <a:lnRef idx="0">
            <a:srgbClr val="FFFFFF"/>
          </a:lnRef>
          <a:fillRef idx="0">
            <a:srgbClr val="FFFFFF"/>
          </a:fillRef>
          <a:effectRef idx="0">
            <a:srgbClr val="FFFFFF"/>
          </a:effectRef>
          <a:fontRef idx="minor">
            <a:schemeClr val="tx1"/>
          </a:fontRef>
        </p:style>
      </p:cxnSp>
      <p:sp>
        <p:nvSpPr>
          <p:cNvPr id="34" name="文本框 33"/>
          <p:cNvSpPr txBox="1"/>
          <p:nvPr/>
        </p:nvSpPr>
        <p:spPr>
          <a:xfrm>
            <a:off x="3130550" y="4178300"/>
            <a:ext cx="626745" cy="347345"/>
          </a:xfrm>
          <a:prstGeom prst="rect">
            <a:avLst/>
          </a:prstGeom>
          <a:noFill/>
          <a:ln>
            <a:noFill/>
          </a:ln>
        </p:spPr>
        <p:txBody>
          <a:bodyPr wrap="square"/>
          <a:lstStyle/>
          <a:p>
            <a:pPr marL="0" indent="0">
              <a:lnSpc>
                <a:spcPct val="100000"/>
              </a:lnSpc>
              <a:buClr>
                <a:srgbClr val="FF0000"/>
              </a:buClr>
            </a:pPr>
            <a:r>
              <a:rPr lang="zh-CN" altLang="en-US" sz="1600" b="1" dirty="0">
                <a:solidFill>
                  <a:srgbClr val="C00000"/>
                </a:solidFill>
                <a:latin typeface="微软雅黑" panose="020B0503020204020204" pitchFamily="34" charset="-122"/>
                <a:ea typeface="微软雅黑" panose="020B0503020204020204" pitchFamily="34" charset="-122"/>
              </a:rPr>
              <a:t>分析</a:t>
            </a:r>
            <a:endParaRPr lang="zh-CN" altLang="en-US" sz="1600" b="1" dirty="0">
              <a:solidFill>
                <a:srgbClr val="C00000"/>
              </a:solidFill>
              <a:latin typeface="微软雅黑" panose="020B0503020204020204" pitchFamily="34" charset="-122"/>
              <a:ea typeface="微软雅黑" panose="020B0503020204020204" pitchFamily="34" charset="-122"/>
            </a:endParaRPr>
          </a:p>
        </p:txBody>
      </p:sp>
      <p:sp>
        <p:nvSpPr>
          <p:cNvPr id="35" name="矩形 34"/>
          <p:cNvSpPr/>
          <p:nvPr/>
        </p:nvSpPr>
        <p:spPr>
          <a:xfrm>
            <a:off x="3257550" y="5749925"/>
            <a:ext cx="1124585" cy="648000"/>
          </a:xfrm>
          <a:prstGeom prst="rect">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b="1" dirty="0">
                <a:solidFill>
                  <a:schemeClr val="bg1"/>
                </a:solidFill>
                <a:latin typeface="微软雅黑" panose="020B0503020204020204" pitchFamily="34" charset="-122"/>
                <a:ea typeface="微软雅黑" panose="020B0503020204020204" pitchFamily="34" charset="-122"/>
              </a:rPr>
              <a:t>改造体积</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36" name="矩形 35"/>
          <p:cNvSpPr/>
          <p:nvPr/>
        </p:nvSpPr>
        <p:spPr>
          <a:xfrm>
            <a:off x="4505325" y="5750860"/>
            <a:ext cx="1124585" cy="647700"/>
          </a:xfrm>
          <a:prstGeom prst="rect">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b="1" dirty="0">
                <a:solidFill>
                  <a:schemeClr val="bg1"/>
                </a:solidFill>
                <a:latin typeface="微软雅黑" panose="020B0503020204020204" pitchFamily="34" charset="-122"/>
                <a:ea typeface="微软雅黑" panose="020B0503020204020204" pitchFamily="34" charset="-122"/>
              </a:rPr>
              <a:t>裂缝尺寸</a:t>
            </a:r>
            <a:endParaRPr lang="zh-CN" altLang="en-US" b="1" dirty="0">
              <a:solidFill>
                <a:schemeClr val="bg1"/>
              </a:solidFill>
              <a:latin typeface="微软雅黑" panose="020B0503020204020204" pitchFamily="34" charset="-122"/>
              <a:ea typeface="微软雅黑" panose="020B0503020204020204" pitchFamily="34" charset="-122"/>
            </a:endParaRPr>
          </a:p>
        </p:txBody>
      </p:sp>
      <p:cxnSp>
        <p:nvCxnSpPr>
          <p:cNvPr id="37" name="直接箭头连接符 36"/>
          <p:cNvCxnSpPr>
            <a:stCxn id="24" idx="2"/>
            <a:endCxn id="35" idx="0"/>
          </p:cNvCxnSpPr>
          <p:nvPr/>
        </p:nvCxnSpPr>
        <p:spPr>
          <a:xfrm>
            <a:off x="3816350" y="5245735"/>
            <a:ext cx="3810" cy="504190"/>
          </a:xfrm>
          <a:prstGeom prst="straightConnector1">
            <a:avLst/>
          </a:prstGeom>
          <a:ln w="31750" cap="rnd">
            <a:solidFill>
              <a:srgbClr val="C00000"/>
            </a:solidFill>
            <a:round/>
            <a:headEnd type="none" w="med" len="med"/>
            <a:tailEnd type="arrow" w="med" len="med"/>
          </a:ln>
        </p:spPr>
        <p:style>
          <a:lnRef idx="0">
            <a:srgbClr val="FFFFFF"/>
          </a:lnRef>
          <a:fillRef idx="0">
            <a:srgbClr val="FFFFFF"/>
          </a:fillRef>
          <a:effectRef idx="0">
            <a:srgbClr val="FFFFFF"/>
          </a:effectRef>
          <a:fontRef idx="minor">
            <a:schemeClr val="tx1"/>
          </a:fontRef>
        </p:style>
      </p:cxnSp>
      <p:cxnSp>
        <p:nvCxnSpPr>
          <p:cNvPr id="38" name="直接箭头连接符 37"/>
          <p:cNvCxnSpPr>
            <a:stCxn id="26" idx="2"/>
            <a:endCxn id="36" idx="0"/>
          </p:cNvCxnSpPr>
          <p:nvPr/>
        </p:nvCxnSpPr>
        <p:spPr>
          <a:xfrm>
            <a:off x="5067935" y="5238115"/>
            <a:ext cx="0" cy="512445"/>
          </a:xfrm>
          <a:prstGeom prst="straightConnector1">
            <a:avLst/>
          </a:prstGeom>
          <a:ln w="31750" cap="rnd">
            <a:solidFill>
              <a:srgbClr val="C00000"/>
            </a:solidFill>
            <a:round/>
            <a:headEnd type="none" w="med" len="med"/>
            <a:tailEnd type="arrow" w="med" len="med"/>
          </a:ln>
        </p:spPr>
        <p:style>
          <a:lnRef idx="0">
            <a:srgbClr val="FFFFFF"/>
          </a:lnRef>
          <a:fillRef idx="0">
            <a:srgbClr val="FFFFFF"/>
          </a:fillRef>
          <a:effectRef idx="0">
            <a:srgbClr val="FFFFFF"/>
          </a:effectRef>
          <a:fontRef idx="minor">
            <a:schemeClr val="tx1"/>
          </a:fontRef>
        </p:style>
      </p:cxnSp>
      <p:sp>
        <p:nvSpPr>
          <p:cNvPr id="39" name="文本框 38"/>
          <p:cNvSpPr txBox="1"/>
          <p:nvPr/>
        </p:nvSpPr>
        <p:spPr>
          <a:xfrm>
            <a:off x="3130550" y="5343525"/>
            <a:ext cx="626745" cy="347345"/>
          </a:xfrm>
          <a:prstGeom prst="rect">
            <a:avLst/>
          </a:prstGeom>
          <a:noFill/>
          <a:ln>
            <a:noFill/>
          </a:ln>
        </p:spPr>
        <p:txBody>
          <a:bodyPr wrap="square"/>
          <a:lstStyle/>
          <a:p>
            <a:pPr marL="0" indent="0">
              <a:lnSpc>
                <a:spcPct val="100000"/>
              </a:lnSpc>
              <a:buClr>
                <a:srgbClr val="FF0000"/>
              </a:buClr>
            </a:pPr>
            <a:r>
              <a:rPr lang="zh-CN" altLang="en-US" sz="1600" b="1" dirty="0">
                <a:solidFill>
                  <a:srgbClr val="C00000"/>
                </a:solidFill>
                <a:latin typeface="微软雅黑" panose="020B0503020204020204" pitchFamily="34" charset="-122"/>
                <a:ea typeface="微软雅黑" panose="020B0503020204020204" pitchFamily="34" charset="-122"/>
              </a:rPr>
              <a:t>评价</a:t>
            </a:r>
            <a:endParaRPr lang="zh-CN" altLang="en-US" sz="1600" b="1" dirty="0">
              <a:solidFill>
                <a:srgbClr val="C00000"/>
              </a:solidFill>
              <a:latin typeface="微软雅黑" panose="020B0503020204020204" pitchFamily="34" charset="-122"/>
              <a:ea typeface="微软雅黑" panose="020B0503020204020204" pitchFamily="34" charset="-122"/>
            </a:endParaRPr>
          </a:p>
        </p:txBody>
      </p:sp>
      <p:sp>
        <p:nvSpPr>
          <p:cNvPr id="40" name="文本框 39"/>
          <p:cNvSpPr txBox="1"/>
          <p:nvPr/>
        </p:nvSpPr>
        <p:spPr>
          <a:xfrm>
            <a:off x="5166995" y="5337175"/>
            <a:ext cx="626745" cy="347345"/>
          </a:xfrm>
          <a:prstGeom prst="rect">
            <a:avLst/>
          </a:prstGeom>
          <a:noFill/>
          <a:ln>
            <a:noFill/>
          </a:ln>
        </p:spPr>
        <p:txBody>
          <a:bodyPr wrap="square"/>
          <a:lstStyle/>
          <a:p>
            <a:pPr marL="0" indent="0">
              <a:lnSpc>
                <a:spcPct val="100000"/>
              </a:lnSpc>
              <a:buClr>
                <a:srgbClr val="FF0000"/>
              </a:buClr>
            </a:pPr>
            <a:r>
              <a:rPr lang="zh-CN" altLang="en-US" sz="1600" b="1" dirty="0">
                <a:solidFill>
                  <a:srgbClr val="C00000"/>
                </a:solidFill>
                <a:latin typeface="微软雅黑" panose="020B0503020204020204" pitchFamily="34" charset="-122"/>
                <a:ea typeface="微软雅黑" panose="020B0503020204020204" pitchFamily="34" charset="-122"/>
              </a:rPr>
              <a:t>计算</a:t>
            </a:r>
            <a:endParaRPr lang="zh-CN" altLang="en-US" sz="1600" b="1" dirty="0">
              <a:solidFill>
                <a:srgbClr val="C00000"/>
              </a:solidFill>
              <a:latin typeface="微软雅黑" panose="020B0503020204020204" pitchFamily="34" charset="-122"/>
              <a:ea typeface="微软雅黑" panose="020B0503020204020204" pitchFamily="34" charset="-122"/>
            </a:endParaRPr>
          </a:p>
        </p:txBody>
      </p:sp>
      <p:sp>
        <p:nvSpPr>
          <p:cNvPr id="47" name="矩形 46"/>
          <p:cNvSpPr/>
          <p:nvPr/>
        </p:nvSpPr>
        <p:spPr>
          <a:xfrm>
            <a:off x="6572885" y="3429000"/>
            <a:ext cx="1124585" cy="648000"/>
          </a:xfrm>
          <a:prstGeom prst="rect">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b="1" dirty="0">
                <a:solidFill>
                  <a:schemeClr val="bg1"/>
                </a:solidFill>
                <a:latin typeface="微软雅黑" panose="020B0503020204020204" pitchFamily="34" charset="-122"/>
                <a:ea typeface="微软雅黑" panose="020B0503020204020204" pitchFamily="34" charset="-122"/>
              </a:rPr>
              <a:t>相关性</a:t>
            </a:r>
            <a:endParaRPr lang="zh-CN" altLang="en-US" b="1" dirty="0">
              <a:solidFill>
                <a:schemeClr val="bg1"/>
              </a:solidFill>
              <a:latin typeface="微软雅黑" panose="020B0503020204020204" pitchFamily="34" charset="-122"/>
              <a:ea typeface="微软雅黑" panose="020B0503020204020204" pitchFamily="34" charset="-122"/>
            </a:endParaRPr>
          </a:p>
          <a:p>
            <a:pPr algn="ctr">
              <a:lnSpc>
                <a:spcPct val="100000"/>
              </a:lnSpc>
              <a:spcBef>
                <a:spcPct val="20000"/>
              </a:spcBef>
              <a:buClr>
                <a:srgbClr val="FF0000"/>
              </a:buClr>
              <a:buSzPct val="100000"/>
            </a:pPr>
            <a:r>
              <a:rPr lang="zh-CN" altLang="en-US" b="1" dirty="0">
                <a:solidFill>
                  <a:schemeClr val="bg1"/>
                </a:solidFill>
                <a:latin typeface="微软雅黑" panose="020B0503020204020204" pitchFamily="34" charset="-122"/>
                <a:ea typeface="微软雅黑" panose="020B0503020204020204" pitchFamily="34" charset="-122"/>
              </a:rPr>
              <a:t>分析</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48" name="矩形 47"/>
          <p:cNvSpPr/>
          <p:nvPr/>
        </p:nvSpPr>
        <p:spPr>
          <a:xfrm>
            <a:off x="7824470" y="3429000"/>
            <a:ext cx="1124585" cy="648000"/>
          </a:xfrm>
          <a:prstGeom prst="rect">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b="1" dirty="0">
                <a:solidFill>
                  <a:schemeClr val="bg1"/>
                </a:solidFill>
                <a:latin typeface="微软雅黑" panose="020B0503020204020204" pitchFamily="34" charset="-122"/>
                <a:ea typeface="微软雅黑" panose="020B0503020204020204" pitchFamily="34" charset="-122"/>
              </a:rPr>
              <a:t>熵权法</a:t>
            </a:r>
            <a:endParaRPr lang="zh-CN" altLang="en-US" b="1" dirty="0">
              <a:solidFill>
                <a:schemeClr val="bg1"/>
              </a:solidFill>
              <a:latin typeface="微软雅黑" panose="020B0503020204020204" pitchFamily="34" charset="-122"/>
              <a:ea typeface="微软雅黑" panose="020B0503020204020204" pitchFamily="34" charset="-122"/>
            </a:endParaRPr>
          </a:p>
        </p:txBody>
      </p:sp>
      <p:cxnSp>
        <p:nvCxnSpPr>
          <p:cNvPr id="49" name="直接箭头连接符 48"/>
          <p:cNvCxnSpPr>
            <a:stCxn id="7" idx="2"/>
            <a:endCxn id="47" idx="0"/>
          </p:cNvCxnSpPr>
          <p:nvPr/>
        </p:nvCxnSpPr>
        <p:spPr>
          <a:xfrm flipH="1">
            <a:off x="7135495" y="2889250"/>
            <a:ext cx="537845" cy="539750"/>
          </a:xfrm>
          <a:prstGeom prst="straightConnector1">
            <a:avLst/>
          </a:prstGeom>
          <a:ln w="31750" cap="rnd">
            <a:solidFill>
              <a:srgbClr val="C00000"/>
            </a:solidFill>
            <a:round/>
            <a:headEnd type="none" w="med" len="med"/>
            <a:tailEnd type="arrow" w="med" len="med"/>
          </a:ln>
        </p:spPr>
        <p:style>
          <a:lnRef idx="0">
            <a:srgbClr val="FFFFFF"/>
          </a:lnRef>
          <a:fillRef idx="0">
            <a:srgbClr val="FFFFFF"/>
          </a:fillRef>
          <a:effectRef idx="0">
            <a:srgbClr val="FFFFFF"/>
          </a:effectRef>
          <a:fontRef idx="minor">
            <a:schemeClr val="tx1"/>
          </a:fontRef>
        </p:style>
      </p:cxnSp>
      <p:cxnSp>
        <p:nvCxnSpPr>
          <p:cNvPr id="50" name="直接箭头连接符 49"/>
          <p:cNvCxnSpPr>
            <a:endCxn id="48" idx="0"/>
          </p:cNvCxnSpPr>
          <p:nvPr/>
        </p:nvCxnSpPr>
        <p:spPr>
          <a:xfrm>
            <a:off x="7774940" y="2884805"/>
            <a:ext cx="612140" cy="544195"/>
          </a:xfrm>
          <a:prstGeom prst="straightConnector1">
            <a:avLst/>
          </a:prstGeom>
          <a:ln w="31750" cap="rnd">
            <a:solidFill>
              <a:srgbClr val="C00000"/>
            </a:solidFill>
            <a:round/>
            <a:headEnd type="none" w="med" len="med"/>
            <a:tailEnd type="arrow" w="med" len="med"/>
          </a:ln>
        </p:spPr>
        <p:style>
          <a:lnRef idx="0">
            <a:srgbClr val="FFFFFF"/>
          </a:lnRef>
          <a:fillRef idx="0">
            <a:srgbClr val="FFFFFF"/>
          </a:fillRef>
          <a:effectRef idx="0">
            <a:srgbClr val="FFFFFF"/>
          </a:effectRef>
          <a:fontRef idx="minor">
            <a:schemeClr val="tx1"/>
          </a:fontRef>
        </p:style>
      </p:cxnSp>
      <p:sp>
        <p:nvSpPr>
          <p:cNvPr id="51" name="文本框 50"/>
          <p:cNvSpPr txBox="1"/>
          <p:nvPr/>
        </p:nvSpPr>
        <p:spPr>
          <a:xfrm>
            <a:off x="6680835" y="2906395"/>
            <a:ext cx="626745" cy="347345"/>
          </a:xfrm>
          <a:prstGeom prst="rect">
            <a:avLst/>
          </a:prstGeom>
          <a:noFill/>
          <a:ln>
            <a:noFill/>
          </a:ln>
        </p:spPr>
        <p:txBody>
          <a:bodyPr wrap="square"/>
          <a:lstStyle/>
          <a:p>
            <a:pPr marL="0" indent="0">
              <a:lnSpc>
                <a:spcPct val="100000"/>
              </a:lnSpc>
              <a:buClr>
                <a:srgbClr val="FF0000"/>
              </a:buClr>
            </a:pPr>
            <a:r>
              <a:rPr lang="zh-CN" altLang="en-US" sz="1600" b="1" dirty="0">
                <a:solidFill>
                  <a:srgbClr val="C00000"/>
                </a:solidFill>
                <a:latin typeface="微软雅黑" panose="020B0503020204020204" pitchFamily="34" charset="-122"/>
                <a:ea typeface="微软雅黑" panose="020B0503020204020204" pitchFamily="34" charset="-122"/>
              </a:rPr>
              <a:t>依据</a:t>
            </a:r>
            <a:endParaRPr lang="zh-CN" altLang="en-US" sz="1600" b="1" dirty="0">
              <a:solidFill>
                <a:srgbClr val="C00000"/>
              </a:solidFill>
              <a:latin typeface="微软雅黑" panose="020B0503020204020204" pitchFamily="34" charset="-122"/>
              <a:ea typeface="微软雅黑" panose="020B0503020204020204" pitchFamily="34" charset="-122"/>
            </a:endParaRPr>
          </a:p>
        </p:txBody>
      </p:sp>
      <p:sp>
        <p:nvSpPr>
          <p:cNvPr id="52" name="矩形 51"/>
          <p:cNvSpPr/>
          <p:nvPr/>
        </p:nvSpPr>
        <p:spPr>
          <a:xfrm>
            <a:off x="6572885" y="4600575"/>
            <a:ext cx="1124585" cy="637540"/>
          </a:xfrm>
          <a:prstGeom prst="rect">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b="1" dirty="0">
                <a:solidFill>
                  <a:schemeClr val="bg1"/>
                </a:solidFill>
                <a:latin typeface="微软雅黑" panose="020B0503020204020204" pitchFamily="34" charset="-122"/>
                <a:ea typeface="微软雅黑" panose="020B0503020204020204" pitchFamily="34" charset="-122"/>
              </a:rPr>
              <a:t>指标筛选</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53" name="矩形 52"/>
          <p:cNvSpPr/>
          <p:nvPr/>
        </p:nvSpPr>
        <p:spPr>
          <a:xfrm>
            <a:off x="7824470" y="4603415"/>
            <a:ext cx="1124585" cy="647700"/>
          </a:xfrm>
          <a:prstGeom prst="rect">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b="1" dirty="0">
                <a:solidFill>
                  <a:schemeClr val="bg1"/>
                </a:solidFill>
                <a:latin typeface="微软雅黑" panose="020B0503020204020204" pitchFamily="34" charset="-122"/>
                <a:ea typeface="微软雅黑" panose="020B0503020204020204" pitchFamily="34" charset="-122"/>
              </a:rPr>
              <a:t>权重确定</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54" name="文本框 53"/>
          <p:cNvSpPr txBox="1"/>
          <p:nvPr/>
        </p:nvSpPr>
        <p:spPr>
          <a:xfrm>
            <a:off x="6445885" y="4197350"/>
            <a:ext cx="626745" cy="347345"/>
          </a:xfrm>
          <a:prstGeom prst="rect">
            <a:avLst/>
          </a:prstGeom>
          <a:noFill/>
          <a:ln>
            <a:noFill/>
          </a:ln>
        </p:spPr>
        <p:txBody>
          <a:bodyPr wrap="square"/>
          <a:lstStyle/>
          <a:p>
            <a:pPr marL="0" indent="0">
              <a:lnSpc>
                <a:spcPct val="100000"/>
              </a:lnSpc>
              <a:buClr>
                <a:srgbClr val="FF0000"/>
              </a:buClr>
            </a:pPr>
            <a:r>
              <a:rPr lang="zh-CN" altLang="en-US" sz="1600" b="1" dirty="0">
                <a:solidFill>
                  <a:srgbClr val="C00000"/>
                </a:solidFill>
                <a:latin typeface="微软雅黑" panose="020B0503020204020204" pitchFamily="34" charset="-122"/>
                <a:ea typeface="微软雅黑" panose="020B0503020204020204" pitchFamily="34" charset="-122"/>
              </a:rPr>
              <a:t>推理</a:t>
            </a:r>
            <a:endParaRPr lang="zh-CN" altLang="en-US" sz="1600" b="1" dirty="0">
              <a:solidFill>
                <a:srgbClr val="C00000"/>
              </a:solidFill>
              <a:latin typeface="微软雅黑" panose="020B0503020204020204" pitchFamily="34" charset="-122"/>
              <a:ea typeface="微软雅黑" panose="020B0503020204020204" pitchFamily="34" charset="-122"/>
            </a:endParaRPr>
          </a:p>
        </p:txBody>
      </p:sp>
      <p:sp>
        <p:nvSpPr>
          <p:cNvPr id="55" name="文本框 54"/>
          <p:cNvSpPr txBox="1"/>
          <p:nvPr/>
        </p:nvSpPr>
        <p:spPr>
          <a:xfrm>
            <a:off x="8482330" y="4191000"/>
            <a:ext cx="626745" cy="347345"/>
          </a:xfrm>
          <a:prstGeom prst="rect">
            <a:avLst/>
          </a:prstGeom>
          <a:noFill/>
          <a:ln>
            <a:noFill/>
          </a:ln>
        </p:spPr>
        <p:txBody>
          <a:bodyPr wrap="square"/>
          <a:lstStyle/>
          <a:p>
            <a:pPr marL="0" indent="0">
              <a:lnSpc>
                <a:spcPct val="100000"/>
              </a:lnSpc>
              <a:buClr>
                <a:srgbClr val="FF0000"/>
              </a:buClr>
            </a:pPr>
            <a:r>
              <a:rPr lang="zh-CN" altLang="en-US" sz="1600" b="1" dirty="0">
                <a:solidFill>
                  <a:srgbClr val="C00000"/>
                </a:solidFill>
                <a:latin typeface="微软雅黑" panose="020B0503020204020204" pitchFamily="34" charset="-122"/>
                <a:ea typeface="微软雅黑" panose="020B0503020204020204" pitchFamily="34" charset="-122"/>
              </a:rPr>
              <a:t>计算</a:t>
            </a:r>
            <a:endParaRPr lang="zh-CN" altLang="en-US" sz="1600" b="1" dirty="0">
              <a:solidFill>
                <a:srgbClr val="C00000"/>
              </a:solidFill>
              <a:latin typeface="微软雅黑" panose="020B0503020204020204" pitchFamily="34" charset="-122"/>
              <a:ea typeface="微软雅黑" panose="020B0503020204020204" pitchFamily="34" charset="-122"/>
            </a:endParaRPr>
          </a:p>
        </p:txBody>
      </p:sp>
      <p:cxnSp>
        <p:nvCxnSpPr>
          <p:cNvPr id="56" name="直接箭头连接符 55"/>
          <p:cNvCxnSpPr>
            <a:stCxn id="47" idx="2"/>
            <a:endCxn id="52" idx="0"/>
          </p:cNvCxnSpPr>
          <p:nvPr/>
        </p:nvCxnSpPr>
        <p:spPr>
          <a:xfrm>
            <a:off x="7135495" y="4076700"/>
            <a:ext cx="0" cy="523875"/>
          </a:xfrm>
          <a:prstGeom prst="straightConnector1">
            <a:avLst/>
          </a:prstGeom>
          <a:ln w="31750" cap="rnd">
            <a:solidFill>
              <a:srgbClr val="C00000"/>
            </a:solidFill>
            <a:round/>
            <a:headEnd type="none" w="med" len="med"/>
            <a:tailEnd type="arrow" w="med" len="med"/>
          </a:ln>
        </p:spPr>
        <p:style>
          <a:lnRef idx="0">
            <a:srgbClr val="FFFFFF"/>
          </a:lnRef>
          <a:fillRef idx="0">
            <a:srgbClr val="FFFFFF"/>
          </a:fillRef>
          <a:effectRef idx="0">
            <a:srgbClr val="FFFFFF"/>
          </a:effectRef>
          <a:fontRef idx="minor">
            <a:schemeClr val="tx1"/>
          </a:fontRef>
        </p:style>
      </p:cxnSp>
      <p:cxnSp>
        <p:nvCxnSpPr>
          <p:cNvPr id="57" name="直接箭头连接符 56"/>
          <p:cNvCxnSpPr>
            <a:stCxn id="48" idx="2"/>
            <a:endCxn id="53" idx="0"/>
          </p:cNvCxnSpPr>
          <p:nvPr/>
        </p:nvCxnSpPr>
        <p:spPr>
          <a:xfrm>
            <a:off x="8387080" y="4076700"/>
            <a:ext cx="0" cy="526415"/>
          </a:xfrm>
          <a:prstGeom prst="straightConnector1">
            <a:avLst/>
          </a:prstGeom>
          <a:ln w="31750" cap="rnd">
            <a:solidFill>
              <a:srgbClr val="C00000"/>
            </a:solidFill>
            <a:round/>
            <a:headEnd type="none" w="med" len="med"/>
            <a:tailEnd type="arrow" w="med" len="med"/>
          </a:ln>
        </p:spPr>
        <p:style>
          <a:lnRef idx="0">
            <a:srgbClr val="FFFFFF"/>
          </a:lnRef>
          <a:fillRef idx="0">
            <a:srgbClr val="FFFFFF"/>
          </a:fillRef>
          <a:effectRef idx="0">
            <a:srgbClr val="FFFFFF"/>
          </a:effectRef>
          <a:fontRef idx="minor">
            <a:schemeClr val="tx1"/>
          </a:fontRef>
        </p:style>
      </p:cxnSp>
      <p:sp>
        <p:nvSpPr>
          <p:cNvPr id="59" name="矩形 58"/>
          <p:cNvSpPr/>
          <p:nvPr/>
        </p:nvSpPr>
        <p:spPr>
          <a:xfrm>
            <a:off x="9723755" y="3429000"/>
            <a:ext cx="1124585" cy="648000"/>
          </a:xfrm>
          <a:prstGeom prst="rect">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b="1" dirty="0">
                <a:solidFill>
                  <a:schemeClr val="bg1"/>
                </a:solidFill>
                <a:latin typeface="微软雅黑" panose="020B0503020204020204" pitchFamily="34" charset="-122"/>
                <a:ea typeface="微软雅黑" panose="020B0503020204020204" pitchFamily="34" charset="-122"/>
              </a:rPr>
              <a:t>历史数据</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60" name="矩形 59"/>
          <p:cNvSpPr/>
          <p:nvPr/>
        </p:nvSpPr>
        <p:spPr>
          <a:xfrm>
            <a:off x="10975340" y="3429000"/>
            <a:ext cx="1124585" cy="648000"/>
          </a:xfrm>
          <a:prstGeom prst="rect">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b="1" dirty="0">
                <a:solidFill>
                  <a:schemeClr val="bg1"/>
                </a:solidFill>
                <a:latin typeface="微软雅黑" panose="020B0503020204020204" pitchFamily="34" charset="-122"/>
                <a:ea typeface="微软雅黑" panose="020B0503020204020204" pitchFamily="34" charset="-122"/>
              </a:rPr>
              <a:t>现场跟进</a:t>
            </a:r>
            <a:endParaRPr lang="zh-CN" altLang="en-US" b="1" dirty="0">
              <a:solidFill>
                <a:schemeClr val="bg1"/>
              </a:solidFill>
              <a:latin typeface="微软雅黑" panose="020B0503020204020204" pitchFamily="34" charset="-122"/>
              <a:ea typeface="微软雅黑" panose="020B0503020204020204" pitchFamily="34" charset="-122"/>
            </a:endParaRPr>
          </a:p>
        </p:txBody>
      </p:sp>
      <p:cxnSp>
        <p:nvCxnSpPr>
          <p:cNvPr id="61" name="直接箭头连接符 60"/>
          <p:cNvCxnSpPr>
            <a:endCxn id="59" idx="0"/>
          </p:cNvCxnSpPr>
          <p:nvPr/>
        </p:nvCxnSpPr>
        <p:spPr>
          <a:xfrm flipH="1">
            <a:off x="10286365" y="2889250"/>
            <a:ext cx="616585" cy="539750"/>
          </a:xfrm>
          <a:prstGeom prst="straightConnector1">
            <a:avLst/>
          </a:prstGeom>
          <a:ln w="31750" cap="rnd">
            <a:solidFill>
              <a:srgbClr val="C00000"/>
            </a:solidFill>
            <a:round/>
            <a:headEnd type="none" w="med" len="med"/>
            <a:tailEnd type="arrow" w="med" len="med"/>
          </a:ln>
        </p:spPr>
        <p:style>
          <a:lnRef idx="0">
            <a:srgbClr val="FFFFFF"/>
          </a:lnRef>
          <a:fillRef idx="0">
            <a:srgbClr val="FFFFFF"/>
          </a:fillRef>
          <a:effectRef idx="0">
            <a:srgbClr val="FFFFFF"/>
          </a:effectRef>
          <a:fontRef idx="minor">
            <a:schemeClr val="tx1"/>
          </a:fontRef>
        </p:style>
      </p:cxnSp>
      <p:cxnSp>
        <p:nvCxnSpPr>
          <p:cNvPr id="62" name="直接箭头连接符 61"/>
          <p:cNvCxnSpPr>
            <a:endCxn id="60" idx="0"/>
          </p:cNvCxnSpPr>
          <p:nvPr/>
        </p:nvCxnSpPr>
        <p:spPr>
          <a:xfrm>
            <a:off x="10925810" y="2884805"/>
            <a:ext cx="612140" cy="544195"/>
          </a:xfrm>
          <a:prstGeom prst="straightConnector1">
            <a:avLst/>
          </a:prstGeom>
          <a:ln w="31750" cap="rnd">
            <a:solidFill>
              <a:srgbClr val="C00000"/>
            </a:solidFill>
            <a:round/>
            <a:headEnd type="none" w="med" len="med"/>
            <a:tailEnd type="arrow" w="med" len="med"/>
          </a:ln>
        </p:spPr>
        <p:style>
          <a:lnRef idx="0">
            <a:srgbClr val="FFFFFF"/>
          </a:lnRef>
          <a:fillRef idx="0">
            <a:srgbClr val="FFFFFF"/>
          </a:fillRef>
          <a:effectRef idx="0">
            <a:srgbClr val="FFFFFF"/>
          </a:effectRef>
          <a:fontRef idx="minor">
            <a:schemeClr val="tx1"/>
          </a:fontRef>
        </p:style>
      </p:cxnSp>
      <p:sp>
        <p:nvSpPr>
          <p:cNvPr id="63" name="文本框 62"/>
          <p:cNvSpPr txBox="1"/>
          <p:nvPr/>
        </p:nvSpPr>
        <p:spPr>
          <a:xfrm>
            <a:off x="9859010" y="2906395"/>
            <a:ext cx="626745" cy="347345"/>
          </a:xfrm>
          <a:prstGeom prst="rect">
            <a:avLst/>
          </a:prstGeom>
          <a:noFill/>
          <a:ln>
            <a:noFill/>
          </a:ln>
        </p:spPr>
        <p:txBody>
          <a:bodyPr wrap="square"/>
          <a:lstStyle/>
          <a:p>
            <a:pPr marL="0" indent="0">
              <a:lnSpc>
                <a:spcPct val="100000"/>
              </a:lnSpc>
              <a:buClr>
                <a:srgbClr val="FF0000"/>
              </a:buClr>
            </a:pPr>
            <a:r>
              <a:rPr lang="zh-CN" altLang="en-US" sz="1600" b="1" dirty="0">
                <a:solidFill>
                  <a:srgbClr val="C00000"/>
                </a:solidFill>
                <a:latin typeface="微软雅黑" panose="020B0503020204020204" pitchFamily="34" charset="-122"/>
                <a:ea typeface="微软雅黑" panose="020B0503020204020204" pitchFamily="34" charset="-122"/>
              </a:rPr>
              <a:t>依据</a:t>
            </a:r>
            <a:endParaRPr lang="zh-CN" altLang="en-US" sz="1600" b="1" dirty="0">
              <a:solidFill>
                <a:srgbClr val="C00000"/>
              </a:solidFill>
              <a:latin typeface="微软雅黑" panose="020B0503020204020204" pitchFamily="34" charset="-122"/>
              <a:ea typeface="微软雅黑" panose="020B0503020204020204" pitchFamily="34" charset="-122"/>
            </a:endParaRPr>
          </a:p>
        </p:txBody>
      </p:sp>
      <p:sp>
        <p:nvSpPr>
          <p:cNvPr id="64" name="矩形 63"/>
          <p:cNvSpPr/>
          <p:nvPr/>
        </p:nvSpPr>
        <p:spPr>
          <a:xfrm>
            <a:off x="9723755" y="4605955"/>
            <a:ext cx="1124585" cy="647700"/>
          </a:xfrm>
          <a:prstGeom prst="rect">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b="1" dirty="0">
                <a:solidFill>
                  <a:schemeClr val="bg1"/>
                </a:solidFill>
                <a:latin typeface="微软雅黑" panose="020B0503020204020204" pitchFamily="34" charset="-122"/>
                <a:ea typeface="微软雅黑" panose="020B0503020204020204" pitchFamily="34" charset="-122"/>
              </a:rPr>
              <a:t>指标权重</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65" name="矩形 64"/>
          <p:cNvSpPr/>
          <p:nvPr/>
        </p:nvSpPr>
        <p:spPr>
          <a:xfrm>
            <a:off x="10975340" y="4608495"/>
            <a:ext cx="1124585" cy="647700"/>
          </a:xfrm>
          <a:prstGeom prst="rect">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b="1" dirty="0">
                <a:solidFill>
                  <a:schemeClr val="bg1"/>
                </a:solidFill>
                <a:latin typeface="微软雅黑" panose="020B0503020204020204" pitchFamily="34" charset="-122"/>
                <a:ea typeface="微软雅黑" panose="020B0503020204020204" pitchFamily="34" charset="-122"/>
              </a:rPr>
              <a:t>评估标准</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66" name="文本框 65"/>
          <p:cNvSpPr txBox="1"/>
          <p:nvPr/>
        </p:nvSpPr>
        <p:spPr>
          <a:xfrm>
            <a:off x="9596755" y="4197350"/>
            <a:ext cx="626745" cy="347345"/>
          </a:xfrm>
          <a:prstGeom prst="rect">
            <a:avLst/>
          </a:prstGeom>
          <a:noFill/>
          <a:ln>
            <a:noFill/>
          </a:ln>
        </p:spPr>
        <p:txBody>
          <a:bodyPr wrap="square"/>
          <a:lstStyle/>
          <a:p>
            <a:pPr marL="0" indent="0">
              <a:lnSpc>
                <a:spcPct val="100000"/>
              </a:lnSpc>
              <a:buClr>
                <a:srgbClr val="FF0000"/>
              </a:buClr>
            </a:pPr>
            <a:r>
              <a:rPr lang="zh-CN" altLang="en-US" sz="1600" b="1" dirty="0">
                <a:solidFill>
                  <a:srgbClr val="C00000"/>
                </a:solidFill>
                <a:latin typeface="微软雅黑" panose="020B0503020204020204" pitchFamily="34" charset="-122"/>
                <a:ea typeface="微软雅黑" panose="020B0503020204020204" pitchFamily="34" charset="-122"/>
              </a:rPr>
              <a:t>调整</a:t>
            </a:r>
            <a:endParaRPr lang="zh-CN" altLang="en-US" sz="1600" b="1" dirty="0">
              <a:solidFill>
                <a:srgbClr val="C00000"/>
              </a:solidFill>
              <a:latin typeface="微软雅黑" panose="020B0503020204020204" pitchFamily="34" charset="-122"/>
              <a:ea typeface="微软雅黑" panose="020B0503020204020204" pitchFamily="34" charset="-122"/>
            </a:endParaRPr>
          </a:p>
        </p:txBody>
      </p:sp>
      <p:sp>
        <p:nvSpPr>
          <p:cNvPr id="67" name="文本框 66"/>
          <p:cNvSpPr txBox="1"/>
          <p:nvPr/>
        </p:nvSpPr>
        <p:spPr>
          <a:xfrm>
            <a:off x="11633200" y="4191000"/>
            <a:ext cx="626745" cy="347345"/>
          </a:xfrm>
          <a:prstGeom prst="rect">
            <a:avLst/>
          </a:prstGeom>
          <a:noFill/>
          <a:ln>
            <a:noFill/>
          </a:ln>
        </p:spPr>
        <p:txBody>
          <a:bodyPr wrap="square"/>
          <a:lstStyle/>
          <a:p>
            <a:pPr marL="0" indent="0">
              <a:lnSpc>
                <a:spcPct val="100000"/>
              </a:lnSpc>
              <a:buClr>
                <a:srgbClr val="FF0000"/>
              </a:buClr>
            </a:pPr>
            <a:r>
              <a:rPr lang="zh-CN" altLang="en-US" sz="1600" b="1" dirty="0">
                <a:solidFill>
                  <a:srgbClr val="C00000"/>
                </a:solidFill>
                <a:latin typeface="微软雅黑" panose="020B0503020204020204" pitchFamily="34" charset="-122"/>
                <a:ea typeface="微软雅黑" panose="020B0503020204020204" pitchFamily="34" charset="-122"/>
              </a:rPr>
              <a:t>更新</a:t>
            </a:r>
            <a:endParaRPr lang="zh-CN" altLang="en-US" sz="1600" b="1" dirty="0">
              <a:solidFill>
                <a:srgbClr val="C00000"/>
              </a:solidFill>
              <a:latin typeface="微软雅黑" panose="020B0503020204020204" pitchFamily="34" charset="-122"/>
              <a:ea typeface="微软雅黑" panose="020B0503020204020204" pitchFamily="34" charset="-122"/>
            </a:endParaRPr>
          </a:p>
        </p:txBody>
      </p:sp>
      <p:cxnSp>
        <p:nvCxnSpPr>
          <p:cNvPr id="68" name="直接箭头连接符 67"/>
          <p:cNvCxnSpPr>
            <a:endCxn id="64" idx="0"/>
          </p:cNvCxnSpPr>
          <p:nvPr/>
        </p:nvCxnSpPr>
        <p:spPr>
          <a:xfrm>
            <a:off x="10286365" y="4078605"/>
            <a:ext cx="0" cy="527050"/>
          </a:xfrm>
          <a:prstGeom prst="straightConnector1">
            <a:avLst/>
          </a:prstGeom>
          <a:ln w="31750" cap="rnd">
            <a:solidFill>
              <a:srgbClr val="C00000"/>
            </a:solidFill>
            <a:round/>
            <a:headEnd type="none" w="med" len="med"/>
            <a:tailEnd type="arrow" w="med" len="med"/>
          </a:ln>
        </p:spPr>
        <p:style>
          <a:lnRef idx="0">
            <a:srgbClr val="FFFFFF"/>
          </a:lnRef>
          <a:fillRef idx="0">
            <a:srgbClr val="FFFFFF"/>
          </a:fillRef>
          <a:effectRef idx="0">
            <a:srgbClr val="FFFFFF"/>
          </a:effectRef>
          <a:fontRef idx="minor">
            <a:schemeClr val="tx1"/>
          </a:fontRef>
        </p:style>
      </p:cxnSp>
      <p:cxnSp>
        <p:nvCxnSpPr>
          <p:cNvPr id="69" name="直接箭头连接符 68"/>
          <p:cNvCxnSpPr>
            <a:endCxn id="65" idx="0"/>
          </p:cNvCxnSpPr>
          <p:nvPr/>
        </p:nvCxnSpPr>
        <p:spPr>
          <a:xfrm>
            <a:off x="11537950" y="4081145"/>
            <a:ext cx="0" cy="527050"/>
          </a:xfrm>
          <a:prstGeom prst="straightConnector1">
            <a:avLst/>
          </a:prstGeom>
          <a:ln w="31750" cap="rnd">
            <a:solidFill>
              <a:srgbClr val="C00000"/>
            </a:solidFill>
            <a:round/>
            <a:headEnd type="none" w="med" len="med"/>
            <a:tailEnd type="arrow" w="med" len="med"/>
          </a:ln>
        </p:spPr>
        <p:style>
          <a:lnRef idx="0">
            <a:srgbClr val="FFFFFF"/>
          </a:lnRef>
          <a:fillRef idx="0">
            <a:srgbClr val="FFFFFF"/>
          </a:fillRef>
          <a:effectRef idx="0">
            <a:srgbClr val="FFFFFF"/>
          </a:effectRef>
          <a:fontRef idx="minor">
            <a:schemeClr val="tx1"/>
          </a:fontRef>
        </p:style>
      </p:cxnSp>
      <p:sp>
        <p:nvSpPr>
          <p:cNvPr id="71" name="圆角右箭头 70"/>
          <p:cNvSpPr/>
          <p:nvPr/>
        </p:nvSpPr>
        <p:spPr>
          <a:xfrm flipH="1">
            <a:off x="126365" y="1268730"/>
            <a:ext cx="10948035" cy="579755"/>
          </a:xfrm>
          <a:prstGeom prst="bentArrow">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tx1"/>
              </a:solidFill>
              <a:latin typeface="Tahoma" panose="020B0604030504040204"/>
              <a:ea typeface="方正大黑简体" panose="03000509000000000000" pitchFamily="65" charset="-122"/>
            </a:endParaRPr>
          </a:p>
        </p:txBody>
      </p:sp>
      <p:sp>
        <p:nvSpPr>
          <p:cNvPr id="72" name="下箭头 71"/>
          <p:cNvSpPr/>
          <p:nvPr/>
        </p:nvSpPr>
        <p:spPr>
          <a:xfrm>
            <a:off x="7541260" y="1477645"/>
            <a:ext cx="233680" cy="406400"/>
          </a:xfrm>
          <a:prstGeom prst="downArrow">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3000509000000000000" pitchFamily="65" charset="-122"/>
            </a:endParaRPr>
          </a:p>
        </p:txBody>
      </p:sp>
      <p:sp>
        <p:nvSpPr>
          <p:cNvPr id="73" name="下箭头 72"/>
          <p:cNvSpPr/>
          <p:nvPr/>
        </p:nvSpPr>
        <p:spPr>
          <a:xfrm>
            <a:off x="4337685" y="1477645"/>
            <a:ext cx="233680" cy="406400"/>
          </a:xfrm>
          <a:prstGeom prst="downArrow">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3000509000000000000" pitchFamily="65" charset="-122"/>
            </a:endParaRPr>
          </a:p>
        </p:txBody>
      </p:sp>
      <p:sp>
        <p:nvSpPr>
          <p:cNvPr id="74" name="下箭头 73"/>
          <p:cNvSpPr/>
          <p:nvPr/>
        </p:nvSpPr>
        <p:spPr>
          <a:xfrm>
            <a:off x="1045210" y="1477645"/>
            <a:ext cx="233680" cy="406400"/>
          </a:xfrm>
          <a:prstGeom prst="downArrow">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3000509000000000000" pitchFamily="65" charset="-122"/>
            </a:endParaRPr>
          </a:p>
        </p:txBody>
      </p:sp>
      <p:sp>
        <p:nvSpPr>
          <p:cNvPr id="75" name="文本框 74"/>
          <p:cNvSpPr txBox="1"/>
          <p:nvPr/>
        </p:nvSpPr>
        <p:spPr>
          <a:xfrm>
            <a:off x="5454650" y="972185"/>
            <a:ext cx="1226185" cy="347345"/>
          </a:xfrm>
          <a:prstGeom prst="rect">
            <a:avLst/>
          </a:prstGeom>
          <a:noFill/>
          <a:ln>
            <a:noFill/>
          </a:ln>
        </p:spPr>
        <p:txBody>
          <a:bodyPr wrap="square"/>
          <a:lstStyle/>
          <a:p>
            <a:pPr marL="0" indent="0">
              <a:lnSpc>
                <a:spcPct val="100000"/>
              </a:lnSpc>
              <a:buClr>
                <a:srgbClr val="FF0000"/>
              </a:buClr>
            </a:pPr>
            <a:r>
              <a:rPr lang="zh-CN" altLang="en-US" sz="1600" b="1" dirty="0">
                <a:solidFill>
                  <a:srgbClr val="C00000"/>
                </a:solidFill>
                <a:latin typeface="微软雅黑" panose="020B0503020204020204" pitchFamily="34" charset="-122"/>
                <a:ea typeface="微软雅黑" panose="020B0503020204020204" pitchFamily="34" charset="-122"/>
              </a:rPr>
              <a:t>调整与更新</a:t>
            </a:r>
            <a:endParaRPr lang="zh-CN" altLang="en-US" sz="1600" b="1" dirty="0">
              <a:solidFill>
                <a:srgbClr val="C00000"/>
              </a:solidFill>
              <a:latin typeface="微软雅黑" panose="020B0503020204020204" pitchFamily="34" charset="-122"/>
              <a:ea typeface="微软雅黑" panose="020B0503020204020204" pitchFamily="34" charset="-122"/>
            </a:endParaRPr>
          </a:p>
        </p:txBody>
      </p:sp>
      <p:sp>
        <p:nvSpPr>
          <p:cNvPr id="76" name="矩形 75"/>
          <p:cNvSpPr/>
          <p:nvPr/>
        </p:nvSpPr>
        <p:spPr>
          <a:xfrm>
            <a:off x="6572885" y="5760720"/>
            <a:ext cx="2376805" cy="637540"/>
          </a:xfrm>
          <a:prstGeom prst="rect">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b="1" dirty="0">
                <a:solidFill>
                  <a:schemeClr val="bg1"/>
                </a:solidFill>
                <a:latin typeface="微软雅黑" panose="020B0503020204020204" pitchFamily="34" charset="-122"/>
                <a:ea typeface="微软雅黑" panose="020B0503020204020204" pitchFamily="34" charset="-122"/>
              </a:rPr>
              <a:t>压裂效果综合评估指标体系及方法</a:t>
            </a:r>
            <a:endParaRPr lang="zh-CN" altLang="en-US" b="1" dirty="0">
              <a:solidFill>
                <a:schemeClr val="bg1"/>
              </a:solidFill>
              <a:latin typeface="微软雅黑" panose="020B0503020204020204" pitchFamily="34" charset="-122"/>
              <a:ea typeface="微软雅黑" panose="020B0503020204020204" pitchFamily="34" charset="-122"/>
            </a:endParaRPr>
          </a:p>
        </p:txBody>
      </p:sp>
      <p:cxnSp>
        <p:nvCxnSpPr>
          <p:cNvPr id="77" name="直接箭头连接符 76"/>
          <p:cNvCxnSpPr>
            <a:stCxn id="52" idx="2"/>
            <a:endCxn id="76" idx="0"/>
          </p:cNvCxnSpPr>
          <p:nvPr/>
        </p:nvCxnSpPr>
        <p:spPr>
          <a:xfrm>
            <a:off x="7135495" y="5238115"/>
            <a:ext cx="626110" cy="522605"/>
          </a:xfrm>
          <a:prstGeom prst="straightConnector1">
            <a:avLst/>
          </a:prstGeom>
          <a:ln w="31750" cap="rnd">
            <a:solidFill>
              <a:srgbClr val="C00000"/>
            </a:solidFill>
            <a:round/>
            <a:headEnd type="none" w="med" len="med"/>
            <a:tailEnd type="arrow" w="med" len="med"/>
          </a:ln>
        </p:spPr>
        <p:style>
          <a:lnRef idx="0">
            <a:srgbClr val="FFFFFF"/>
          </a:lnRef>
          <a:fillRef idx="0">
            <a:srgbClr val="FFFFFF"/>
          </a:fillRef>
          <a:effectRef idx="0">
            <a:srgbClr val="FFFFFF"/>
          </a:effectRef>
          <a:fontRef idx="minor">
            <a:schemeClr val="tx1"/>
          </a:fontRef>
        </p:style>
      </p:cxnSp>
      <p:cxnSp>
        <p:nvCxnSpPr>
          <p:cNvPr id="79" name="直接箭头连接符 78"/>
          <p:cNvCxnSpPr>
            <a:stCxn id="53" idx="2"/>
          </p:cNvCxnSpPr>
          <p:nvPr/>
        </p:nvCxnSpPr>
        <p:spPr>
          <a:xfrm flipH="1">
            <a:off x="7770495" y="5250815"/>
            <a:ext cx="616585" cy="504190"/>
          </a:xfrm>
          <a:prstGeom prst="straightConnector1">
            <a:avLst/>
          </a:prstGeom>
          <a:ln w="31750" cap="rnd">
            <a:solidFill>
              <a:srgbClr val="C00000"/>
            </a:solidFill>
            <a:round/>
            <a:headEnd type="none" w="med" len="med"/>
            <a:tailEnd type="arrow" w="med" len="med"/>
          </a:ln>
        </p:spPr>
        <p:style>
          <a:lnRef idx="0">
            <a:srgbClr val="FFFFFF"/>
          </a:lnRef>
          <a:fillRef idx="0">
            <a:srgbClr val="FFFFFF"/>
          </a:fillRef>
          <a:effectRef idx="0">
            <a:srgbClr val="FFFFFF"/>
          </a:effectRef>
          <a:fontRef idx="minor">
            <a:schemeClr val="tx1"/>
          </a:fontRef>
        </p:style>
      </p:cxnSp>
      <p:sp>
        <p:nvSpPr>
          <p:cNvPr id="80" name="文本框 79"/>
          <p:cNvSpPr txBox="1"/>
          <p:nvPr/>
        </p:nvSpPr>
        <p:spPr>
          <a:xfrm>
            <a:off x="6508750" y="5343525"/>
            <a:ext cx="626745" cy="347345"/>
          </a:xfrm>
          <a:prstGeom prst="rect">
            <a:avLst/>
          </a:prstGeom>
          <a:noFill/>
          <a:ln>
            <a:noFill/>
          </a:ln>
        </p:spPr>
        <p:txBody>
          <a:bodyPr wrap="square"/>
          <a:lstStyle/>
          <a:p>
            <a:pPr marL="0" indent="0">
              <a:lnSpc>
                <a:spcPct val="100000"/>
              </a:lnSpc>
              <a:buClr>
                <a:srgbClr val="FF0000"/>
              </a:buClr>
            </a:pPr>
            <a:r>
              <a:rPr lang="zh-CN" altLang="en-US" sz="1600" b="1" dirty="0">
                <a:solidFill>
                  <a:srgbClr val="C00000"/>
                </a:solidFill>
                <a:latin typeface="微软雅黑" panose="020B0503020204020204" pitchFamily="34" charset="-122"/>
                <a:ea typeface="微软雅黑" panose="020B0503020204020204" pitchFamily="34" charset="-122"/>
              </a:rPr>
              <a:t>建立</a:t>
            </a:r>
            <a:endParaRPr lang="zh-CN" altLang="en-US" sz="1600" b="1"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7"/>
          <p:cNvSpPr txBox="1"/>
          <p:nvPr/>
        </p:nvSpPr>
        <p:spPr bwMode="auto">
          <a:xfrm>
            <a:off x="320061" y="888766"/>
            <a:ext cx="11551878" cy="368300"/>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、页岩气井压后效果特征对比及主控因素分析</a:t>
            </a:r>
            <a:endParaRPr lang="zh-CN" altLang="en-US" dirty="0">
              <a:latin typeface="微软雅黑" panose="020B0503020204020204" pitchFamily="34" charset="-122"/>
              <a:ea typeface="微软雅黑" panose="020B0503020204020204" pitchFamily="34" charset="-122"/>
            </a:endParaRPr>
          </a:p>
        </p:txBody>
      </p:sp>
      <p:sp>
        <p:nvSpPr>
          <p:cNvPr id="37" name="Rectangle 11"/>
          <p:cNvSpPr>
            <a:spLocks noChangeArrowheads="1"/>
          </p:cNvSpPr>
          <p:nvPr/>
        </p:nvSpPr>
        <p:spPr bwMode="auto">
          <a:xfrm>
            <a:off x="8890" y="-41275"/>
            <a:ext cx="1218120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（二）主要研究内容</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334329" y="1319605"/>
            <a:ext cx="11485562" cy="4154170"/>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难点分析：</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适应于川南页岩气的可压性评价方法尚不明确</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、川南页岩气储层非均质性强，地质参数变化大</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、缺乏考虑地质、工程等多参数耦合效应的可压性评价方法</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研究思路：</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en-US" altLang="zh-CN" sz="1600" kern="0" dirty="0">
                <a:latin typeface="微软雅黑" panose="020B0503020204020204" pitchFamily="34" charset="-122"/>
                <a:ea typeface="微软雅黑" panose="020B0503020204020204" pitchFamily="34" charset="-122"/>
                <a:sym typeface="+mn-ea"/>
              </a:rPr>
              <a:t>1</a:t>
            </a:r>
            <a:r>
              <a:rPr lang="zh-CN" altLang="en-US" sz="1600" kern="0" dirty="0">
                <a:latin typeface="微软雅黑" panose="020B0503020204020204" pitchFamily="34" charset="-122"/>
                <a:ea typeface="微软雅黑" panose="020B0503020204020204" pitchFamily="34" charset="-122"/>
                <a:sym typeface="+mn-ea"/>
              </a:rPr>
              <a:t>、已压页岩气井数据收集与整理</a:t>
            </a:r>
            <a:endParaRPr lang="zh-CN" altLang="en-US" sz="1600" kern="0" dirty="0">
              <a:latin typeface="微软雅黑" panose="020B0503020204020204" pitchFamily="34" charset="-122"/>
              <a:ea typeface="微软雅黑" panose="020B0503020204020204" pitchFamily="34" charset="-122"/>
            </a:endParaRPr>
          </a:p>
          <a:p>
            <a:pPr marL="342265" indent="-342900" algn="just">
              <a:lnSpc>
                <a:spcPct val="150000"/>
              </a:lnSpc>
              <a:buClr>
                <a:srgbClr val="FF0000"/>
              </a:buClr>
              <a:buFont typeface="Wingdings" panose="05000000000000000000" pitchFamily="2" charset="2"/>
              <a:buChar char="l"/>
            </a:pPr>
            <a:r>
              <a:rPr lang="en-US" altLang="zh-CN" sz="1600" kern="0" dirty="0">
                <a:latin typeface="微软雅黑" panose="020B0503020204020204" pitchFamily="34" charset="-122"/>
                <a:ea typeface="微软雅黑" panose="020B0503020204020204" pitchFamily="34" charset="-122"/>
                <a:sym typeface="+mn-ea"/>
              </a:rPr>
              <a:t>2</a:t>
            </a:r>
            <a:r>
              <a:rPr lang="zh-CN" altLang="en-US" sz="1600" kern="0" dirty="0">
                <a:latin typeface="微软雅黑" panose="020B0503020204020204" pitchFamily="34" charset="-122"/>
                <a:ea typeface="微软雅黑" panose="020B0503020204020204" pitchFamily="34" charset="-122"/>
                <a:sym typeface="+mn-ea"/>
              </a:rPr>
              <a:t>、基于灰色关联分析的压后效果主控因素识别</a:t>
            </a:r>
            <a:endParaRPr lang="zh-CN" altLang="en-US" sz="1600" kern="0" dirty="0">
              <a:latin typeface="微软雅黑" panose="020B0503020204020204" pitchFamily="34" charset="-122"/>
              <a:ea typeface="微软雅黑" panose="020B0503020204020204" pitchFamily="34" charset="-122"/>
              <a:sym typeface="+mn-ea"/>
            </a:endParaRPr>
          </a:p>
          <a:p>
            <a:pPr marL="342265" indent="-342900" algn="just">
              <a:lnSpc>
                <a:spcPct val="150000"/>
              </a:lnSpc>
              <a:buClr>
                <a:srgbClr val="FF0000"/>
              </a:buClr>
              <a:buFont typeface="Wingdings" panose="05000000000000000000" pitchFamily="2" charset="2"/>
              <a:buChar char="l"/>
            </a:pP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预期效果：</a:t>
            </a:r>
            <a:endPar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、明确</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川南页岩气</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改造效果的主控地质、工程因素</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、形成</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川南页岩气</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可压性评价方法</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7"/>
          <p:cNvSpPr txBox="1"/>
          <p:nvPr/>
        </p:nvSpPr>
        <p:spPr bwMode="auto">
          <a:xfrm>
            <a:off x="320061" y="888766"/>
            <a:ext cx="11551878" cy="368300"/>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、页岩气井压后效果特征对比及主控因素分析</a:t>
            </a:r>
            <a:endParaRPr lang="zh-CN" altLang="en-US" dirty="0">
              <a:latin typeface="微软雅黑" panose="020B0503020204020204" pitchFamily="34" charset="-122"/>
              <a:ea typeface="微软雅黑" panose="020B0503020204020204" pitchFamily="34" charset="-122"/>
            </a:endParaRPr>
          </a:p>
        </p:txBody>
      </p:sp>
      <p:sp>
        <p:nvSpPr>
          <p:cNvPr id="37" name="Rectangle 11"/>
          <p:cNvSpPr>
            <a:spLocks noChangeArrowheads="1"/>
          </p:cNvSpPr>
          <p:nvPr/>
        </p:nvSpPr>
        <p:spPr bwMode="auto">
          <a:xfrm>
            <a:off x="8890" y="-41275"/>
            <a:ext cx="1218120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（二）主要研究内容</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334329" y="1319605"/>
            <a:ext cx="11485562" cy="829945"/>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b="1" kern="0" dirty="0">
                <a:latin typeface="微软雅黑" panose="020B0503020204020204" pitchFamily="34" charset="-122"/>
                <a:ea typeface="微软雅黑" panose="020B0503020204020204" pitchFamily="34" charset="-122"/>
                <a:sym typeface="+mn-ea"/>
              </a:rPr>
              <a:t>已压页岩气井数据收集与清洗</a:t>
            </a: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收集川南典型页岩气井</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地质参数、工程参数</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、压裂施工数据、改造效果评价数据，建立数据清洗与预处理流程，剔除异常值和缺失数据等。</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4" name="图片 3"/>
          <p:cNvPicPr/>
          <p:nvPr/>
        </p:nvPicPr>
        <p:blipFill>
          <a:blip r:embed="rId1"/>
          <a:srcRect l="31784" t="5963" r="14868" b="4926"/>
          <a:stretch>
            <a:fillRect/>
          </a:stretch>
        </p:blipFill>
        <p:spPr>
          <a:xfrm>
            <a:off x="1153795" y="2211705"/>
            <a:ext cx="3773805" cy="3780155"/>
          </a:xfrm>
          <a:prstGeom prst="rect">
            <a:avLst/>
          </a:prstGeom>
        </p:spPr>
      </p:pic>
      <p:sp>
        <p:nvSpPr>
          <p:cNvPr id="13" name="矩形 22"/>
          <p:cNvSpPr>
            <a:spLocks noChangeArrowheads="1"/>
          </p:cNvSpPr>
          <p:nvPr/>
        </p:nvSpPr>
        <p:spPr bwMode="auto">
          <a:xfrm>
            <a:off x="361315" y="6041390"/>
            <a:ext cx="417766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latin typeface="微软雅黑" panose="020B0503020204020204" pitchFamily="34" charset="-122"/>
                <a:ea typeface="微软雅黑" panose="020B0503020204020204" pitchFamily="34" charset="-122"/>
              </a:rPr>
              <a:t>数据清洗与预处理</a:t>
            </a:r>
            <a:endParaRPr lang="zh-CN" altLang="en-US" sz="1200" dirty="0">
              <a:latin typeface="微软雅黑" panose="020B0503020204020204" pitchFamily="34" charset="-122"/>
              <a:ea typeface="微软雅黑" panose="020B0503020204020204" pitchFamily="34" charset="-122"/>
            </a:endParaRPr>
          </a:p>
        </p:txBody>
      </p:sp>
      <p:pic>
        <p:nvPicPr>
          <p:cNvPr id="7" name="图片 6"/>
          <p:cNvPicPr>
            <a:picLocks noChangeAspect="1"/>
          </p:cNvPicPr>
          <p:nvPr/>
        </p:nvPicPr>
        <p:blipFill>
          <a:blip r:embed="rId2"/>
          <a:stretch>
            <a:fillRect/>
          </a:stretch>
        </p:blipFill>
        <p:spPr>
          <a:xfrm>
            <a:off x="5618480" y="2105660"/>
            <a:ext cx="5955030" cy="3886200"/>
          </a:xfrm>
          <a:prstGeom prst="rect">
            <a:avLst/>
          </a:prstGeom>
        </p:spPr>
      </p:pic>
      <p:sp>
        <p:nvSpPr>
          <p:cNvPr id="8" name="矩形 22"/>
          <p:cNvSpPr>
            <a:spLocks noChangeArrowheads="1"/>
          </p:cNvSpPr>
          <p:nvPr/>
        </p:nvSpPr>
        <p:spPr bwMode="auto">
          <a:xfrm>
            <a:off x="5618480" y="6041390"/>
            <a:ext cx="595439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latin typeface="微软雅黑" panose="020B0503020204020204" pitchFamily="34" charset="-122"/>
                <a:ea typeface="微软雅黑" panose="020B0503020204020204" pitchFamily="34" charset="-122"/>
              </a:rPr>
              <a:t>典型</a:t>
            </a:r>
            <a:r>
              <a:rPr lang="zh-CN" altLang="en-US" sz="12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页岩气</a:t>
            </a:r>
            <a:r>
              <a:rPr lang="zh-CN" altLang="en-US" sz="1200" dirty="0">
                <a:latin typeface="微软雅黑" panose="020B0503020204020204" pitchFamily="34" charset="-122"/>
                <a:ea typeface="微软雅黑" panose="020B0503020204020204" pitchFamily="34" charset="-122"/>
              </a:rPr>
              <a:t>井地质、工程参数</a:t>
            </a:r>
            <a:endParaRPr lang="zh-CN" altLang="en-US" sz="1200" dirty="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7"/>
          <p:cNvSpPr txBox="1"/>
          <p:nvPr/>
        </p:nvSpPr>
        <p:spPr bwMode="auto">
          <a:xfrm>
            <a:off x="320061" y="888766"/>
            <a:ext cx="11551878" cy="368300"/>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、页岩气井压后效果特征对比及主控因素分析</a:t>
            </a:r>
            <a:endParaRPr lang="zh-CN" altLang="en-US" dirty="0">
              <a:latin typeface="微软雅黑" panose="020B0503020204020204" pitchFamily="34" charset="-122"/>
              <a:ea typeface="微软雅黑" panose="020B0503020204020204" pitchFamily="34" charset="-122"/>
            </a:endParaRPr>
          </a:p>
        </p:txBody>
      </p:sp>
      <p:sp>
        <p:nvSpPr>
          <p:cNvPr id="37" name="Rectangle 11"/>
          <p:cNvSpPr>
            <a:spLocks noChangeArrowheads="1"/>
          </p:cNvSpPr>
          <p:nvPr/>
        </p:nvSpPr>
        <p:spPr bwMode="auto">
          <a:xfrm>
            <a:off x="8890" y="-41275"/>
            <a:ext cx="1218120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（二）主要研究内容</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334329" y="1319605"/>
            <a:ext cx="11485562" cy="829945"/>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）基于灰色关联分析的压后效果主控因素识别：</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当前针对压裂效果评价的研究，大多仅聚焦于地质参数或工程参数的</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单一方面</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，而未能充分整合地质与工程参数的</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协同作用</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14" name="表格 13"/>
          <p:cNvGraphicFramePr>
            <a:graphicFrameLocks noGrp="1"/>
          </p:cNvGraphicFramePr>
          <p:nvPr>
            <p:custDataLst>
              <p:tags r:id="rId1"/>
            </p:custDataLst>
          </p:nvPr>
        </p:nvGraphicFramePr>
        <p:xfrm>
          <a:off x="334645" y="2154555"/>
          <a:ext cx="11483340" cy="3895090"/>
        </p:xfrm>
        <a:graphic>
          <a:graphicData uri="http://schemas.openxmlformats.org/drawingml/2006/table">
            <a:tbl>
              <a:tblPr firstRow="1">
                <a:tableStyleId>{949057D6-A040-4FB9-BCD0-E30176C24EAC}</a:tableStyleId>
              </a:tblPr>
              <a:tblGrid>
                <a:gridCol w="4973320"/>
                <a:gridCol w="6510020"/>
              </a:tblGrid>
              <a:tr h="465455">
                <a:tc>
                  <a:txBody>
                    <a:bodyPr/>
                    <a:lstStyle/>
                    <a:p>
                      <a:pPr marL="0" algn="ctr" fontAlgn="ctr">
                        <a:lnSpc>
                          <a:spcPct val="100000"/>
                        </a:lnSpc>
                        <a:buNone/>
                      </a:pPr>
                      <a:r>
                        <a:rPr lang="zh-CN" altLang="en-US" sz="1400" u="none" strike="noStrike" dirty="0">
                          <a:solidFill>
                            <a:schemeClr val="bg1"/>
                          </a:solidFill>
                          <a:effectLst/>
                          <a:latin typeface="微软雅黑" panose="020B0503020204020204" pitchFamily="34" charset="-122"/>
                          <a:ea typeface="微软雅黑" panose="020B0503020204020204" pitchFamily="34" charset="-122"/>
                        </a:rPr>
                        <a:t>相关论文</a:t>
                      </a:r>
                      <a:endParaRPr lang="zh-CN" altLang="en-US" sz="1400" u="none" strike="noStrike" dirty="0">
                        <a:solidFill>
                          <a:schemeClr val="bg1"/>
                        </a:solidFill>
                        <a:effectLst/>
                        <a:latin typeface="微软雅黑" panose="020B0503020204020204" pitchFamily="34" charset="-122"/>
                        <a:ea typeface="微软雅黑" panose="020B0503020204020204"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marL="0" algn="ctr" fontAlgn="ctr">
                        <a:lnSpc>
                          <a:spcPct val="100000"/>
                        </a:lnSpc>
                        <a:buNone/>
                      </a:pPr>
                      <a:r>
                        <a:rPr lang="zh-CN" altLang="en-US" sz="1400" u="none" strike="noStrike" dirty="0">
                          <a:solidFill>
                            <a:schemeClr val="bg1"/>
                          </a:solidFill>
                          <a:effectLst/>
                          <a:latin typeface="微软雅黑" panose="020B0503020204020204" pitchFamily="34" charset="-122"/>
                          <a:ea typeface="微软雅黑" panose="020B0503020204020204" pitchFamily="34" charset="-122"/>
                        </a:rPr>
                        <a:t>研究参数及与改造效果相关性</a:t>
                      </a:r>
                      <a:endParaRPr lang="zh-CN" altLang="en-US" sz="1400" u="none" strike="noStrike" dirty="0">
                        <a:solidFill>
                          <a:schemeClr val="bg1"/>
                        </a:solidFill>
                        <a:effectLst/>
                        <a:latin typeface="微软雅黑" panose="020B0503020204020204" pitchFamily="34" charset="-122"/>
                        <a:ea typeface="微软雅黑" panose="020B0503020204020204"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r>
              <a:tr h="732790">
                <a:tc>
                  <a:txBody>
                    <a:bodyPr/>
                    <a:lstStyle/>
                    <a:p>
                      <a:pPr marL="0" algn="ctr" fontAlgn="ctr">
                        <a:lnSpc>
                          <a:spcPct val="100000"/>
                        </a:lnSpc>
                      </a:pPr>
                      <a:r>
                        <a:rPr lang="zh-CN" altLang="en-US" sz="1400" u="none" strike="noStrike" dirty="0">
                          <a:latin typeface="微软雅黑" panose="020B0503020204020204" pitchFamily="34" charset="-122"/>
                          <a:ea typeface="微软雅黑" panose="020B0503020204020204" pitchFamily="34" charset="-122"/>
                        </a:rPr>
                        <a:t>延长东部浅层水平井压裂效果敏感因素分析</a:t>
                      </a:r>
                      <a:endParaRPr lang="zh-CN" altLang="en-US" sz="1400" u="none" strike="noStrike" dirty="0">
                        <a:latin typeface="微软雅黑" panose="020B0503020204020204" pitchFamily="34" charset="-122"/>
                        <a:ea typeface="微软雅黑" panose="020B0503020204020204"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fontAlgn="ctr">
                        <a:lnSpc>
                          <a:spcPct val="100000"/>
                        </a:lnSpc>
                        <a:buNone/>
                      </a:pPr>
                      <a:r>
                        <a:rPr lang="zh-CN" altLang="en-US" sz="1400" u="none" strike="noStrike" dirty="0">
                          <a:latin typeface="微软雅黑" panose="020B0503020204020204" pitchFamily="34" charset="-122"/>
                          <a:ea typeface="微软雅黑" panose="020B0503020204020204" pitchFamily="34" charset="-122"/>
                        </a:rPr>
                        <a:t>入地总液量</a:t>
                      </a:r>
                      <a:r>
                        <a:rPr lang="en-US" altLang="zh-CN" sz="1400" dirty="0">
                          <a:latin typeface="微软雅黑" panose="020B0503020204020204" pitchFamily="34" charset="-122"/>
                          <a:ea typeface="微软雅黑" panose="020B0503020204020204" pitchFamily="34" charset="-122"/>
                          <a:sym typeface="+mn-ea"/>
                        </a:rPr>
                        <a:t>↑</a:t>
                      </a:r>
                      <a:r>
                        <a:rPr lang="zh-CN" altLang="en-US" sz="1400" u="none" strike="noStrike" dirty="0">
                          <a:latin typeface="微软雅黑" panose="020B0503020204020204" pitchFamily="34" charset="-122"/>
                          <a:ea typeface="微软雅黑" panose="020B0503020204020204" pitchFamily="34" charset="-122"/>
                        </a:rPr>
                        <a:t>、施工加砂量</a:t>
                      </a:r>
                      <a:r>
                        <a:rPr lang="en-US" altLang="zh-CN" sz="1400" dirty="0">
                          <a:latin typeface="微软雅黑" panose="020B0503020204020204" pitchFamily="34" charset="-122"/>
                          <a:ea typeface="微软雅黑" panose="020B0503020204020204" pitchFamily="34" charset="-122"/>
                          <a:sym typeface="+mn-ea"/>
                        </a:rPr>
                        <a:t>↑</a:t>
                      </a:r>
                      <a:r>
                        <a:rPr lang="zh-CN" altLang="en-US" sz="1400" u="none" strike="noStrike" dirty="0">
                          <a:latin typeface="微软雅黑" panose="020B0503020204020204" pitchFamily="34" charset="-122"/>
                          <a:ea typeface="微软雅黑" panose="020B0503020204020204" pitchFamily="34" charset="-122"/>
                        </a:rPr>
                        <a:t>、施工排量</a:t>
                      </a:r>
                      <a:r>
                        <a:rPr lang="en-US" altLang="zh-CN" sz="1400" dirty="0">
                          <a:latin typeface="微软雅黑" panose="020B0503020204020204" pitchFamily="34" charset="-122"/>
                          <a:ea typeface="微软雅黑" panose="020B0503020204020204" pitchFamily="34" charset="-122"/>
                          <a:sym typeface="+mn-ea"/>
                        </a:rPr>
                        <a:t>↑</a:t>
                      </a:r>
                      <a:r>
                        <a:rPr lang="zh-CN" altLang="en-US" sz="1400" u="none" strike="noStrike" dirty="0">
                          <a:latin typeface="微软雅黑" panose="020B0503020204020204" pitchFamily="34" charset="-122"/>
                          <a:ea typeface="微软雅黑" panose="020B0503020204020204" pitchFamily="34" charset="-122"/>
                        </a:rPr>
                        <a:t>、压裂射孔簇数</a:t>
                      </a:r>
                      <a:r>
                        <a:rPr lang="en-US" altLang="zh-CN" sz="1400" dirty="0">
                          <a:latin typeface="微软雅黑" panose="020B0503020204020204" pitchFamily="34" charset="-122"/>
                          <a:ea typeface="微软雅黑" panose="020B0503020204020204" pitchFamily="34" charset="-122"/>
                          <a:sym typeface="+mn-ea"/>
                        </a:rPr>
                        <a:t>↑</a:t>
                      </a:r>
                      <a:endParaRPr lang="en-US" altLang="zh-CN" sz="1400" u="none" strike="noStrike" dirty="0">
                        <a:latin typeface="微软雅黑" panose="020B0503020204020204" pitchFamily="34" charset="-122"/>
                        <a:ea typeface="微软雅黑" panose="020B0503020204020204" pitchFamily="34" charset="-122"/>
                        <a:sym typeface="+mn-ea"/>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64185">
                <a:tc>
                  <a:txBody>
                    <a:bodyPr/>
                    <a:lstStyle/>
                    <a:p>
                      <a:pPr marL="0" algn="ctr" fontAlgn="ctr">
                        <a:lnSpc>
                          <a:spcPct val="100000"/>
                        </a:lnSpc>
                      </a:pPr>
                      <a:r>
                        <a:rPr lang="zh-CN" altLang="en-US" sz="1400" dirty="0">
                          <a:latin typeface="微软雅黑" panose="020B0503020204020204" pitchFamily="34" charset="-122"/>
                          <a:ea typeface="微软雅黑" panose="020B0503020204020204" pitchFamily="34" charset="-122"/>
                        </a:rPr>
                        <a:t>低渗透油藏直井体积压裂改造效果评价方法</a:t>
                      </a:r>
                      <a:endParaRPr lang="zh-CN" altLang="en-US" sz="1400" u="none" strike="noStrike" dirty="0">
                        <a:latin typeface="微软雅黑" panose="020B0503020204020204" pitchFamily="34" charset="-122"/>
                        <a:ea typeface="微软雅黑" panose="020B0503020204020204"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fontAlgn="ctr">
                        <a:lnSpc>
                          <a:spcPct val="100000"/>
                        </a:lnSpc>
                        <a:buNone/>
                      </a:pPr>
                      <a:r>
                        <a:rPr lang="zh-CN" altLang="en-US" sz="1400" dirty="0">
                          <a:latin typeface="微软雅黑" panose="020B0503020204020204" pitchFamily="34" charset="-122"/>
                          <a:ea typeface="微软雅黑" panose="020B0503020204020204" pitchFamily="34" charset="-122"/>
                        </a:rPr>
                        <a:t>核心区域渗透率</a:t>
                      </a:r>
                      <a:r>
                        <a:rPr lang="en-US" altLang="zh-CN" sz="1400" dirty="0">
                          <a:latin typeface="微软雅黑" panose="020B0503020204020204" pitchFamily="34" charset="-122"/>
                          <a:ea typeface="微软雅黑" panose="020B0503020204020204" pitchFamily="34" charset="-122"/>
                          <a:sym typeface="+mn-ea"/>
                        </a:rPr>
                        <a:t>↑</a:t>
                      </a:r>
                      <a:r>
                        <a:rPr lang="zh-CN" altLang="en-US" sz="1400" dirty="0">
                          <a:latin typeface="微软雅黑" panose="020B0503020204020204" pitchFamily="34" charset="-122"/>
                          <a:ea typeface="微软雅黑" panose="020B0503020204020204" pitchFamily="34" charset="-122"/>
                        </a:rPr>
                        <a:t>、改造面积</a:t>
                      </a:r>
                      <a:r>
                        <a:rPr lang="en-US" altLang="zh-CN" sz="1400" dirty="0">
                          <a:latin typeface="微软雅黑" panose="020B0503020204020204" pitchFamily="34" charset="-122"/>
                          <a:ea typeface="微软雅黑" panose="020B0503020204020204" pitchFamily="34" charset="-122"/>
                          <a:sym typeface="+mn-ea"/>
                        </a:rPr>
                        <a:t>↑</a:t>
                      </a:r>
                      <a:r>
                        <a:rPr lang="zh-CN" altLang="en-US" sz="1400" dirty="0">
                          <a:latin typeface="微软雅黑" panose="020B0503020204020204" pitchFamily="34" charset="-122"/>
                          <a:ea typeface="微软雅黑" panose="020B0503020204020204" pitchFamily="34" charset="-122"/>
                        </a:rPr>
                        <a:t>、导流能力</a:t>
                      </a:r>
                      <a:r>
                        <a:rPr lang="en-US" altLang="zh-CN" sz="1400" dirty="0">
                          <a:latin typeface="微软雅黑" panose="020B0503020204020204" pitchFamily="34" charset="-122"/>
                          <a:ea typeface="微软雅黑" panose="020B0503020204020204" pitchFamily="34" charset="-122"/>
                          <a:sym typeface="+mn-ea"/>
                        </a:rPr>
                        <a:t>↑</a:t>
                      </a:r>
                      <a:endParaRPr lang="en-US" altLang="zh-CN" sz="1400" dirty="0">
                        <a:latin typeface="微软雅黑" panose="020B0503020204020204" pitchFamily="34" charset="-122"/>
                        <a:ea typeface="微软雅黑" panose="020B0503020204020204" pitchFamily="34" charset="-122"/>
                        <a:sym typeface="+mn-ea"/>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36905">
                <a:tc>
                  <a:txBody>
                    <a:bodyPr/>
                    <a:lstStyle/>
                    <a:p>
                      <a:pPr marL="0" algn="ctr" fontAlgn="ctr">
                        <a:lnSpc>
                          <a:spcPct val="100000"/>
                        </a:lnSpc>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致密砂岩储层压裂效果地质—工程影响因素评价</a:t>
                      </a:r>
                      <a:endParaRPr lang="zh-CN" altLang="en-US" sz="1400" u="none" strike="noStrike" dirty="0">
                        <a:latin typeface="微软雅黑" panose="020B0503020204020204" pitchFamily="34" charset="-122"/>
                        <a:ea typeface="微软雅黑" panose="020B0503020204020204" pitchFamily="34" charset="-122"/>
                        <a:cs typeface="微软雅黑" panose="020B0503020204020204"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fontAlgn="ctr">
                        <a:lnSpc>
                          <a:spcPct val="100000"/>
                        </a:lnSpc>
                        <a:buNone/>
                      </a:pPr>
                      <a:r>
                        <a:rPr lang="zh-CN" altLang="en-US" sz="1400" dirty="0">
                          <a:latin typeface="微软雅黑" panose="020B0503020204020204" pitchFamily="34" charset="-122"/>
                          <a:ea typeface="微软雅黑" panose="020B0503020204020204" pitchFamily="34" charset="-122"/>
                        </a:rPr>
                        <a:t>脆性指数</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、最小水平主应力</a:t>
                      </a:r>
                      <a:r>
                        <a:rPr lang="en-US" altLang="zh-CN" sz="1400" dirty="0">
                          <a:latin typeface="微软雅黑" panose="020B0503020204020204" pitchFamily="34" charset="-122"/>
                          <a:ea typeface="微软雅黑" panose="020B0503020204020204" pitchFamily="34" charset="-122"/>
                          <a:sym typeface="+mn-ea"/>
                        </a:rPr>
                        <a:t>↓</a:t>
                      </a:r>
                      <a:r>
                        <a:rPr lang="zh-CN" altLang="en-US" sz="1400" dirty="0">
                          <a:latin typeface="微软雅黑" panose="020B0503020204020204" pitchFamily="34" charset="-122"/>
                          <a:ea typeface="微软雅黑" panose="020B0503020204020204" pitchFamily="34" charset="-122"/>
                        </a:rPr>
                        <a:t>、水平两向应力差</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a:t>
                      </a:r>
                      <a:endParaRPr lang="zh-CN" altLang="en-US" sz="1400" dirty="0">
                        <a:latin typeface="微软雅黑" panose="020B0503020204020204" pitchFamily="34" charset="-122"/>
                        <a:ea typeface="微软雅黑" panose="020B0503020204020204" pitchFamily="34" charset="-122"/>
                      </a:endParaRPr>
                    </a:p>
                    <a:p>
                      <a:pPr marL="0" algn="ctr" fontAlgn="ctr">
                        <a:lnSpc>
                          <a:spcPct val="100000"/>
                        </a:lnSpc>
                        <a:buNone/>
                      </a:pPr>
                      <a:r>
                        <a:rPr lang="zh-CN" altLang="en-US" sz="1400" dirty="0">
                          <a:latin typeface="微软雅黑" panose="020B0503020204020204" pitchFamily="34" charset="-122"/>
                          <a:ea typeface="微软雅黑" panose="020B0503020204020204" pitchFamily="34" charset="-122"/>
                        </a:rPr>
                        <a:t>用液强度</a:t>
                      </a:r>
                      <a:r>
                        <a:rPr lang="en-US" altLang="zh-CN" sz="1400" dirty="0">
                          <a:latin typeface="微软雅黑" panose="020B0503020204020204" pitchFamily="34" charset="-122"/>
                          <a:ea typeface="微软雅黑" panose="020B0503020204020204" pitchFamily="34" charset="-122"/>
                          <a:sym typeface="+mn-ea"/>
                        </a:rPr>
                        <a:t>↑</a:t>
                      </a:r>
                      <a:r>
                        <a:rPr lang="zh-CN" altLang="en-US" sz="1400" dirty="0">
                          <a:latin typeface="微软雅黑" panose="020B0503020204020204" pitchFamily="34" charset="-122"/>
                          <a:ea typeface="微软雅黑" panose="020B0503020204020204" pitchFamily="34" charset="-122"/>
                        </a:rPr>
                        <a:t>、加砂强度</a:t>
                      </a:r>
                      <a:r>
                        <a:rPr lang="en-US" altLang="zh-CN" sz="1400" dirty="0">
                          <a:latin typeface="微软雅黑" panose="020B0503020204020204" pitchFamily="34" charset="-122"/>
                          <a:ea typeface="微软雅黑" panose="020B0503020204020204" pitchFamily="34" charset="-122"/>
                          <a:sym typeface="+mn-ea"/>
                        </a:rPr>
                        <a:t>↑</a:t>
                      </a:r>
                      <a:r>
                        <a:rPr lang="zh-CN" altLang="en-US" sz="1400" dirty="0">
                          <a:latin typeface="微软雅黑" panose="020B0503020204020204" pitchFamily="34" charset="-122"/>
                          <a:ea typeface="微软雅黑" panose="020B0503020204020204" pitchFamily="34" charset="-122"/>
                        </a:rPr>
                        <a:t>、水平段与最大水平主应力方向夹角</a:t>
                      </a:r>
                      <a:r>
                        <a:rPr lang="en-US" altLang="zh-CN" sz="1400" dirty="0">
                          <a:latin typeface="微软雅黑" panose="020B0503020204020204" pitchFamily="34" charset="-122"/>
                          <a:ea typeface="微软雅黑" panose="020B0503020204020204" pitchFamily="34" charset="-122"/>
                          <a:sym typeface="+mn-ea"/>
                        </a:rPr>
                        <a:t>↑</a:t>
                      </a:r>
                      <a:r>
                        <a:rPr lang="zh-CN" altLang="en-US" sz="1400" dirty="0">
                          <a:latin typeface="微软雅黑" panose="020B0503020204020204" pitchFamily="34" charset="-122"/>
                          <a:ea typeface="微软雅黑" panose="020B0503020204020204" pitchFamily="34" charset="-122"/>
                        </a:rPr>
                        <a:t>、簇间距（先</a:t>
                      </a:r>
                      <a:r>
                        <a:rPr lang="en-US" altLang="zh-CN" sz="1400" dirty="0">
                          <a:latin typeface="微软雅黑" panose="020B0503020204020204" pitchFamily="34" charset="-122"/>
                          <a:ea typeface="微软雅黑" panose="020B0503020204020204" pitchFamily="34" charset="-122"/>
                          <a:sym typeface="+mn-ea"/>
                        </a:rPr>
                        <a:t>↑</a:t>
                      </a:r>
                      <a:r>
                        <a:rPr lang="zh-CN" altLang="en-US" sz="1400" dirty="0">
                          <a:latin typeface="微软雅黑" panose="020B0503020204020204" pitchFamily="34" charset="-122"/>
                          <a:ea typeface="微软雅黑" panose="020B0503020204020204" pitchFamily="34" charset="-122"/>
                          <a:sym typeface="+mn-ea"/>
                        </a:rPr>
                        <a:t>后</a:t>
                      </a:r>
                      <a:r>
                        <a:rPr lang="en-US" altLang="zh-CN" sz="1400" dirty="0">
                          <a:latin typeface="微软雅黑" panose="020B0503020204020204" pitchFamily="34" charset="-122"/>
                          <a:ea typeface="微软雅黑" panose="020B0503020204020204" pitchFamily="34" charset="-122"/>
                          <a:sym typeface="+mn-ea"/>
                        </a:rPr>
                        <a:t>↓</a:t>
                      </a:r>
                      <a:r>
                        <a:rPr lang="zh-CN" altLang="en-US" sz="1400" dirty="0">
                          <a:latin typeface="微软雅黑" panose="020B0503020204020204" pitchFamily="34" charset="-122"/>
                          <a:ea typeface="微软雅黑" panose="020B0503020204020204" pitchFamily="34" charset="-122"/>
                          <a:sym typeface="+mn-ea"/>
                        </a:rPr>
                        <a:t>）</a:t>
                      </a:r>
                      <a:endParaRPr lang="zh-CN" altLang="en-US" sz="1400" dirty="0">
                        <a:latin typeface="微软雅黑" panose="020B0503020204020204" pitchFamily="34" charset="-122"/>
                        <a:ea typeface="微软雅黑" panose="020B0503020204020204" pitchFamily="34" charset="-122"/>
                        <a:sym typeface="+mn-ea"/>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36905">
                <a:tc>
                  <a:txBody>
                    <a:bodyPr/>
                    <a:lstStyle/>
                    <a:p>
                      <a:pPr marL="0" algn="ctr" fontAlgn="ctr">
                        <a:lnSpc>
                          <a:spcPct val="100000"/>
                        </a:lnSpc>
                      </a:pPr>
                      <a:r>
                        <a:rPr lang="zh-CN" altLang="en-US" sz="1400" u="none" strike="noStrike" dirty="0">
                          <a:latin typeface="微软雅黑" panose="020B0503020204020204" pitchFamily="34" charset="-122"/>
                          <a:ea typeface="微软雅黑" panose="020B0503020204020204" pitchFamily="34" charset="-122"/>
                        </a:rPr>
                        <a:t>非常规油气支撑剂粒度粒形对其破碎率及裂缝导流能力的影响</a:t>
                      </a:r>
                      <a:endParaRPr lang="zh-CN" altLang="en-US" sz="1400" u="none" strike="noStrike" dirty="0">
                        <a:latin typeface="微软雅黑" panose="020B0503020204020204" pitchFamily="34" charset="-122"/>
                        <a:ea typeface="微软雅黑" panose="020B0503020204020204"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fontAlgn="ctr">
                        <a:lnSpc>
                          <a:spcPct val="100000"/>
                        </a:lnSpc>
                        <a:buNone/>
                      </a:pPr>
                      <a:r>
                        <a:rPr lang="zh-CN" altLang="en-US" sz="1400" u="none" strike="noStrike" dirty="0">
                          <a:latin typeface="微软雅黑" panose="020B0503020204020204" pitchFamily="34" charset="-122"/>
                          <a:ea typeface="微软雅黑" panose="020B0503020204020204" pitchFamily="34" charset="-122"/>
                        </a:rPr>
                        <a:t>粒形（圆球度</a:t>
                      </a:r>
                      <a:r>
                        <a:rPr lang="en-US" altLang="zh-CN" sz="1400" u="none" strike="noStrike" dirty="0">
                          <a:latin typeface="微软雅黑" panose="020B0503020204020204" pitchFamily="34" charset="-122"/>
                          <a:ea typeface="微软雅黑" panose="020B0503020204020204" pitchFamily="34" charset="-122"/>
                        </a:rPr>
                        <a:t>↑</a:t>
                      </a:r>
                      <a:r>
                        <a:rPr lang="zh-CN" altLang="en-US" sz="1400" u="none" strike="noStrike" dirty="0">
                          <a:latin typeface="微软雅黑" panose="020B0503020204020204" pitchFamily="34" charset="-122"/>
                          <a:ea typeface="微软雅黑" panose="020B0503020204020204" pitchFamily="34" charset="-122"/>
                        </a:rPr>
                        <a:t>）、粒度（集中</a:t>
                      </a:r>
                      <a:r>
                        <a:rPr lang="en-US" altLang="zh-CN" sz="1400" u="none" strike="noStrike" dirty="0">
                          <a:latin typeface="微软雅黑" panose="020B0503020204020204" pitchFamily="34" charset="-122"/>
                          <a:ea typeface="微软雅黑" panose="020B0503020204020204" pitchFamily="34" charset="-122"/>
                        </a:rPr>
                        <a:t>↑</a:t>
                      </a:r>
                      <a:r>
                        <a:rPr lang="zh-CN" altLang="en-US" sz="1400" u="none" strike="noStrike" dirty="0">
                          <a:latin typeface="微软雅黑" panose="020B0503020204020204" pitchFamily="34" charset="-122"/>
                          <a:ea typeface="微软雅黑" panose="020B0503020204020204" pitchFamily="34" charset="-122"/>
                        </a:rPr>
                        <a:t>）、压裂液体系（滑溜水</a:t>
                      </a:r>
                      <a:r>
                        <a:rPr lang="en-US" altLang="zh-CN" sz="1400" u="none" strike="noStrike" dirty="0">
                          <a:latin typeface="微软雅黑" panose="020B0503020204020204" pitchFamily="34" charset="-122"/>
                          <a:ea typeface="微软雅黑" panose="020B0503020204020204" pitchFamily="34" charset="-122"/>
                        </a:rPr>
                        <a:t>↑</a:t>
                      </a:r>
                      <a:r>
                        <a:rPr lang="zh-CN" altLang="en-US" sz="1400" u="none" strike="noStrike" dirty="0">
                          <a:latin typeface="微软雅黑" panose="020B0503020204020204" pitchFamily="34" charset="-122"/>
                          <a:ea typeface="微软雅黑" panose="020B0503020204020204" pitchFamily="34" charset="-122"/>
                        </a:rPr>
                        <a:t>）、</a:t>
                      </a:r>
                      <a:endParaRPr lang="zh-CN" altLang="en-US" sz="1400" u="none" strike="noStrike" dirty="0">
                        <a:latin typeface="微软雅黑" panose="020B0503020204020204" pitchFamily="34" charset="-122"/>
                        <a:ea typeface="微软雅黑" panose="020B0503020204020204" pitchFamily="34" charset="-122"/>
                      </a:endParaRPr>
                    </a:p>
                    <a:p>
                      <a:pPr marL="0" algn="ctr" fontAlgn="ctr">
                        <a:lnSpc>
                          <a:spcPct val="100000"/>
                        </a:lnSpc>
                        <a:buNone/>
                      </a:pPr>
                      <a:r>
                        <a:rPr lang="zh-CN" altLang="en-US" sz="1400" u="none" strike="noStrike" dirty="0">
                          <a:latin typeface="微软雅黑" panose="020B0503020204020204" pitchFamily="34" charset="-122"/>
                          <a:ea typeface="微软雅黑" panose="020B0503020204020204" pitchFamily="34" charset="-122"/>
                        </a:rPr>
                        <a:t>铺砂浓度</a:t>
                      </a:r>
                      <a:r>
                        <a:rPr lang="en-US" altLang="zh-CN" sz="1400" u="none" strike="noStrike" dirty="0">
                          <a:latin typeface="微软雅黑" panose="020B0503020204020204" pitchFamily="34" charset="-122"/>
                          <a:ea typeface="微软雅黑" panose="020B0503020204020204" pitchFamily="34" charset="-122"/>
                        </a:rPr>
                        <a:t>↑</a:t>
                      </a:r>
                      <a:r>
                        <a:rPr lang="zh-CN" altLang="en-US" sz="1400" u="none" strike="noStrike" dirty="0">
                          <a:latin typeface="微软雅黑" panose="020B0503020204020204" pitchFamily="34" charset="-122"/>
                          <a:ea typeface="微软雅黑" panose="020B0503020204020204" pitchFamily="34" charset="-122"/>
                        </a:rPr>
                        <a:t>、支撑剂类型（陶粒</a:t>
                      </a:r>
                      <a:r>
                        <a:rPr lang="en-US" altLang="zh-CN" sz="1400" u="none" strike="noStrike" dirty="0">
                          <a:latin typeface="微软雅黑" panose="020B0503020204020204" pitchFamily="34" charset="-122"/>
                          <a:ea typeface="微软雅黑" panose="020B0503020204020204" pitchFamily="34" charset="-122"/>
                        </a:rPr>
                        <a:t>↑</a:t>
                      </a:r>
                      <a:r>
                        <a:rPr lang="zh-CN" altLang="en-US" sz="1400" u="none" strike="noStrike" dirty="0">
                          <a:latin typeface="微软雅黑" panose="020B0503020204020204" pitchFamily="34" charset="-122"/>
                          <a:ea typeface="微软雅黑" panose="020B0503020204020204" pitchFamily="34" charset="-122"/>
                        </a:rPr>
                        <a:t>）</a:t>
                      </a:r>
                      <a:endParaRPr lang="zh-CN" altLang="en-US" sz="1400" u="none" strike="noStrike" dirty="0">
                        <a:latin typeface="微软雅黑" panose="020B0503020204020204" pitchFamily="34" charset="-122"/>
                        <a:ea typeface="微软雅黑" panose="020B0503020204020204"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93395">
                <a:tc>
                  <a:txBody>
                    <a:bodyPr/>
                    <a:lstStyle/>
                    <a:p>
                      <a:pPr marL="0" algn="ctr" fontAlgn="ctr">
                        <a:lnSpc>
                          <a:spcPct val="100000"/>
                        </a:lnSpc>
                      </a:pPr>
                      <a:r>
                        <a:rPr lang="zh-CN" altLang="en-US" sz="1400" u="none" strike="noStrike" dirty="0">
                          <a:latin typeface="微软雅黑" panose="020B0503020204020204" pitchFamily="34" charset="-122"/>
                          <a:ea typeface="微软雅黑" panose="020B0503020204020204" pitchFamily="34" charset="-122"/>
                        </a:rPr>
                        <a:t>川南深层页岩气藏压裂裂缝导流能力影响因素分析</a:t>
                      </a:r>
                      <a:endParaRPr lang="zh-CN" altLang="en-US" sz="1400" u="none" strike="noStrike" dirty="0">
                        <a:latin typeface="微软雅黑" panose="020B0503020204020204" pitchFamily="34" charset="-122"/>
                        <a:ea typeface="微软雅黑" panose="020B0503020204020204"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fontAlgn="ctr">
                        <a:lnSpc>
                          <a:spcPct val="100000"/>
                        </a:lnSpc>
                        <a:buNone/>
                      </a:pPr>
                      <a:r>
                        <a:rPr lang="zh-CN" altLang="en-US" sz="1400" u="none" strike="noStrike" dirty="0">
                          <a:latin typeface="微软雅黑" panose="020B0503020204020204" pitchFamily="34" charset="-122"/>
                          <a:ea typeface="微软雅黑" panose="020B0503020204020204" pitchFamily="34" charset="-122"/>
                        </a:rPr>
                        <a:t>闭合压力</a:t>
                      </a:r>
                      <a:r>
                        <a:rPr lang="en-US" altLang="zh-CN" sz="1400" u="none" strike="noStrike" dirty="0">
                          <a:latin typeface="微软雅黑" panose="020B0503020204020204" pitchFamily="34" charset="-122"/>
                          <a:ea typeface="微软雅黑" panose="020B0503020204020204" pitchFamily="34" charset="-122"/>
                        </a:rPr>
                        <a:t>↓</a:t>
                      </a:r>
                      <a:r>
                        <a:rPr lang="zh-CN" altLang="en-US" sz="1400" u="none" strike="noStrike" dirty="0">
                          <a:latin typeface="微软雅黑" panose="020B0503020204020204" pitchFamily="34" charset="-122"/>
                          <a:ea typeface="微软雅黑" panose="020B0503020204020204" pitchFamily="34" charset="-122"/>
                        </a:rPr>
                        <a:t>、温度</a:t>
                      </a:r>
                      <a:r>
                        <a:rPr lang="en-US" altLang="zh-CN" sz="1400" dirty="0">
                          <a:latin typeface="微软雅黑" panose="020B0503020204020204" pitchFamily="34" charset="-122"/>
                          <a:ea typeface="微软雅黑" panose="020B0503020204020204" pitchFamily="34" charset="-122"/>
                          <a:sym typeface="+mn-ea"/>
                        </a:rPr>
                        <a:t>↓</a:t>
                      </a:r>
                      <a:r>
                        <a:rPr lang="zh-CN" altLang="en-US" sz="1400" u="none" strike="noStrike" dirty="0">
                          <a:latin typeface="微软雅黑" panose="020B0503020204020204" pitchFamily="34" charset="-122"/>
                          <a:ea typeface="微软雅黑" panose="020B0503020204020204" pitchFamily="34" charset="-122"/>
                        </a:rPr>
                        <a:t>、支撑剂类型</a:t>
                      </a:r>
                      <a:r>
                        <a:rPr lang="zh-CN" altLang="en-US" sz="1400" dirty="0">
                          <a:latin typeface="微软雅黑" panose="020B0503020204020204" pitchFamily="34" charset="-122"/>
                          <a:ea typeface="微软雅黑" panose="020B0503020204020204" pitchFamily="34" charset="-122"/>
                          <a:sym typeface="+mn-ea"/>
                        </a:rPr>
                        <a:t>（陶粒</a:t>
                      </a:r>
                      <a:r>
                        <a:rPr lang="en-US" altLang="zh-CN" sz="1400" dirty="0">
                          <a:latin typeface="微软雅黑" panose="020B0503020204020204" pitchFamily="34" charset="-122"/>
                          <a:ea typeface="微软雅黑" panose="020B0503020204020204" pitchFamily="34" charset="-122"/>
                          <a:sym typeface="+mn-ea"/>
                        </a:rPr>
                        <a:t>↑</a:t>
                      </a:r>
                      <a:r>
                        <a:rPr lang="zh-CN" altLang="en-US" sz="1400" dirty="0">
                          <a:latin typeface="微软雅黑" panose="020B0503020204020204" pitchFamily="34" charset="-122"/>
                          <a:ea typeface="微软雅黑" panose="020B0503020204020204" pitchFamily="34" charset="-122"/>
                          <a:sym typeface="+mn-ea"/>
                        </a:rPr>
                        <a:t>）</a:t>
                      </a:r>
                      <a:r>
                        <a:rPr lang="zh-CN" altLang="en-US" sz="1400" u="none" strike="noStrike" dirty="0">
                          <a:latin typeface="微软雅黑" panose="020B0503020204020204" pitchFamily="34" charset="-122"/>
                          <a:ea typeface="微软雅黑" panose="020B0503020204020204" pitchFamily="34" charset="-122"/>
                        </a:rPr>
                        <a:t>、铺置方式（分段</a:t>
                      </a:r>
                      <a:r>
                        <a:rPr lang="en-US" altLang="zh-CN" sz="1400" u="none" strike="noStrike" dirty="0">
                          <a:latin typeface="微软雅黑" panose="020B0503020204020204" pitchFamily="34" charset="-122"/>
                          <a:ea typeface="微软雅黑" panose="020B0503020204020204" pitchFamily="34" charset="-122"/>
                        </a:rPr>
                        <a:t>↑</a:t>
                      </a:r>
                      <a:r>
                        <a:rPr lang="zh-CN" altLang="en-US" sz="1400" u="none" strike="noStrike" dirty="0">
                          <a:latin typeface="微软雅黑" panose="020B0503020204020204" pitchFamily="34" charset="-122"/>
                          <a:ea typeface="微软雅黑" panose="020B0503020204020204" pitchFamily="34" charset="-122"/>
                        </a:rPr>
                        <a:t>）、自支撑裂缝</a:t>
                      </a:r>
                      <a:r>
                        <a:rPr lang="en-US" altLang="zh-CN" sz="1400" u="none" strike="noStrike" dirty="0">
                          <a:latin typeface="微软雅黑" panose="020B0503020204020204" pitchFamily="34" charset="-122"/>
                          <a:ea typeface="微软雅黑" panose="020B0503020204020204" pitchFamily="34" charset="-122"/>
                        </a:rPr>
                        <a:t>↓</a:t>
                      </a:r>
                      <a:endParaRPr lang="en-US" altLang="zh-CN" sz="1400" u="none" strike="noStrike" dirty="0">
                        <a:latin typeface="微软雅黑" panose="020B0503020204020204" pitchFamily="34" charset="-122"/>
                        <a:ea typeface="微软雅黑" panose="020B0503020204020204"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65455">
                <a:tc>
                  <a:txBody>
                    <a:bodyPr/>
                    <a:lstStyle/>
                    <a:p>
                      <a:pPr marL="0" algn="ctr" fontAlgn="ctr">
                        <a:lnSpc>
                          <a:spcPct val="100000"/>
                        </a:lnSpc>
                        <a:buNone/>
                      </a:pPr>
                      <a:r>
                        <a:rPr lang="zh-CN" altLang="en-US" sz="1400" u="none" strike="noStrike" dirty="0">
                          <a:latin typeface="微软雅黑" panose="020B0503020204020204" pitchFamily="34" charset="-122"/>
                          <a:ea typeface="微软雅黑" panose="020B0503020204020204" pitchFamily="34" charset="-122"/>
                        </a:rPr>
                        <a:t>煤层顶板水力裂缝尺寸主控因素研究</a:t>
                      </a:r>
                      <a:endParaRPr lang="zh-CN" altLang="en-US" sz="1400" u="none" strike="noStrike" dirty="0">
                        <a:latin typeface="微软雅黑" panose="020B0503020204020204" pitchFamily="34" charset="-122"/>
                        <a:ea typeface="微软雅黑" panose="020B0503020204020204"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fontAlgn="ctr">
                        <a:lnSpc>
                          <a:spcPct val="100000"/>
                        </a:lnSpc>
                        <a:buNone/>
                      </a:pPr>
                      <a:r>
                        <a:rPr lang="zh-CN" altLang="en-US" sz="1400" u="none" strike="noStrike" dirty="0">
                          <a:latin typeface="微软雅黑" panose="020B0503020204020204" pitchFamily="34" charset="-122"/>
                          <a:ea typeface="微软雅黑" panose="020B0503020204020204" pitchFamily="34" charset="-122"/>
                        </a:rPr>
                        <a:t>压裂液性质（高粘度</a:t>
                      </a:r>
                      <a:r>
                        <a:rPr lang="en-US" altLang="zh-CN" sz="1400" u="none" strike="noStrike" dirty="0">
                          <a:latin typeface="微软雅黑" panose="020B0503020204020204" pitchFamily="34" charset="-122"/>
                          <a:ea typeface="微软雅黑" panose="020B0503020204020204" pitchFamily="34" charset="-122"/>
                        </a:rPr>
                        <a:t>↑</a:t>
                      </a:r>
                      <a:r>
                        <a:rPr lang="zh-CN" altLang="en-US" sz="1400" u="none" strike="noStrike" dirty="0">
                          <a:latin typeface="微软雅黑" panose="020B0503020204020204" pitchFamily="34" charset="-122"/>
                          <a:ea typeface="微软雅黑" panose="020B0503020204020204" pitchFamily="34" charset="-122"/>
                        </a:rPr>
                        <a:t>）、泵注排量</a:t>
                      </a:r>
                      <a:r>
                        <a:rPr lang="en-US" altLang="zh-CN" sz="1400" dirty="0">
                          <a:latin typeface="微软雅黑" panose="020B0503020204020204" pitchFamily="34" charset="-122"/>
                          <a:ea typeface="微软雅黑" panose="020B0503020204020204" pitchFamily="34" charset="-122"/>
                          <a:sym typeface="+mn-ea"/>
                        </a:rPr>
                        <a:t>↑</a:t>
                      </a:r>
                      <a:r>
                        <a:rPr lang="zh-CN" altLang="en-US" sz="1400" u="none" strike="noStrike" dirty="0">
                          <a:latin typeface="微软雅黑" panose="020B0503020204020204" pitchFamily="34" charset="-122"/>
                          <a:ea typeface="微软雅黑" panose="020B0503020204020204" pitchFamily="34" charset="-122"/>
                        </a:rPr>
                        <a:t>、压裂液用量</a:t>
                      </a:r>
                      <a:r>
                        <a:rPr lang="en-US" altLang="zh-CN" sz="1400" dirty="0">
                          <a:latin typeface="微软雅黑" panose="020B0503020204020204" pitchFamily="34" charset="-122"/>
                          <a:ea typeface="微软雅黑" panose="020B0503020204020204" pitchFamily="34" charset="-122"/>
                          <a:sym typeface="+mn-ea"/>
                        </a:rPr>
                        <a:t>↑</a:t>
                      </a:r>
                      <a:r>
                        <a:rPr lang="zh-CN" altLang="en-US" sz="1400" u="none" strike="noStrike" dirty="0">
                          <a:latin typeface="微软雅黑" panose="020B0503020204020204" pitchFamily="34" charset="-122"/>
                          <a:ea typeface="微软雅黑" panose="020B0503020204020204" pitchFamily="34" charset="-122"/>
                        </a:rPr>
                        <a:t>、弹性模量</a:t>
                      </a:r>
                      <a:r>
                        <a:rPr lang="en-US" altLang="zh-CN" sz="1400" dirty="0">
                          <a:latin typeface="微软雅黑" panose="020B0503020204020204" pitchFamily="34" charset="-122"/>
                          <a:ea typeface="微软雅黑" panose="020B0503020204020204" pitchFamily="34" charset="-122"/>
                          <a:sym typeface="+mn-ea"/>
                        </a:rPr>
                        <a:t>↓</a:t>
                      </a:r>
                      <a:endParaRPr lang="en-US" altLang="zh-CN" sz="1400" u="none" strike="noStrike" dirty="0">
                        <a:latin typeface="微软雅黑" panose="020B0503020204020204" pitchFamily="34" charset="-122"/>
                        <a:ea typeface="微软雅黑" panose="020B0503020204020204" pitchFamily="34" charset="-122"/>
                        <a:sym typeface="+mn-ea"/>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7"/>
          <p:cNvSpPr txBox="1"/>
          <p:nvPr/>
        </p:nvSpPr>
        <p:spPr bwMode="auto">
          <a:xfrm>
            <a:off x="320061" y="888766"/>
            <a:ext cx="11551878" cy="368300"/>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、页岩气井压后效果特征对比及主控因素分析</a:t>
            </a:r>
            <a:endParaRPr lang="zh-CN" altLang="en-US" dirty="0">
              <a:latin typeface="微软雅黑" panose="020B0503020204020204" pitchFamily="34" charset="-122"/>
              <a:ea typeface="微软雅黑" panose="020B0503020204020204" pitchFamily="34" charset="-122"/>
            </a:endParaRPr>
          </a:p>
        </p:txBody>
      </p:sp>
      <p:sp>
        <p:nvSpPr>
          <p:cNvPr id="37" name="Rectangle 11"/>
          <p:cNvSpPr>
            <a:spLocks noChangeArrowheads="1"/>
          </p:cNvSpPr>
          <p:nvPr/>
        </p:nvSpPr>
        <p:spPr bwMode="auto">
          <a:xfrm>
            <a:off x="8890" y="-41275"/>
            <a:ext cx="1218120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（二）主要研究内容</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334329" y="1319605"/>
            <a:ext cx="11485562" cy="829945"/>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）基于灰色关联分析的压后效果主控因素识别：</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灰色关联分析</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能够避免仅关注单一方面的局限性，以压裂改造效果作为参考序列，将各地质参数、工程参数作为比较序列，识别出</a:t>
            </a:r>
            <a:r>
              <a:rPr lang="en-US" altLang="zh-CN"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6-10</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个</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对压裂改造效果影响最显著的</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主控因素</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 name="圆角矩形 7"/>
          <p:cNvSpPr/>
          <p:nvPr/>
        </p:nvSpPr>
        <p:spPr>
          <a:xfrm>
            <a:off x="97790" y="4062095"/>
            <a:ext cx="1440000" cy="648000"/>
          </a:xfrm>
          <a:prstGeom prst="roundRect">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b="1" dirty="0">
                <a:solidFill>
                  <a:schemeClr val="bg1"/>
                </a:solidFill>
                <a:latin typeface="微软雅黑" panose="020B0503020204020204" pitchFamily="34" charset="-122"/>
                <a:ea typeface="微软雅黑" panose="020B0503020204020204" pitchFamily="34" charset="-122"/>
              </a:rPr>
              <a:t>地质参数</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11" name="圆角矩形 10"/>
          <p:cNvSpPr/>
          <p:nvPr/>
        </p:nvSpPr>
        <p:spPr>
          <a:xfrm>
            <a:off x="3641725" y="4081145"/>
            <a:ext cx="1440000" cy="648000"/>
          </a:xfrm>
          <a:prstGeom prst="roundRect">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b="1" dirty="0">
                <a:solidFill>
                  <a:schemeClr val="bg1"/>
                </a:solidFill>
                <a:latin typeface="微软雅黑" panose="020B0503020204020204" pitchFamily="34" charset="-122"/>
                <a:ea typeface="微软雅黑" panose="020B0503020204020204" pitchFamily="34" charset="-122"/>
              </a:rPr>
              <a:t>工程参数</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12" name="矩形 11"/>
          <p:cNvSpPr/>
          <p:nvPr/>
        </p:nvSpPr>
        <p:spPr>
          <a:xfrm>
            <a:off x="1887855" y="3974765"/>
            <a:ext cx="1584000" cy="647700"/>
          </a:xfrm>
          <a:prstGeom prst="rect">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b="1" dirty="0">
                <a:solidFill>
                  <a:schemeClr val="bg1"/>
                </a:solidFill>
                <a:latin typeface="微软雅黑" panose="020B0503020204020204" pitchFamily="34" charset="-122"/>
                <a:ea typeface="微软雅黑" panose="020B0503020204020204" pitchFamily="34" charset="-122"/>
              </a:rPr>
              <a:t>脆性指数</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15" name="矩形 14"/>
          <p:cNvSpPr/>
          <p:nvPr/>
        </p:nvSpPr>
        <p:spPr>
          <a:xfrm>
            <a:off x="1887855" y="4866305"/>
            <a:ext cx="1584000" cy="647700"/>
          </a:xfrm>
          <a:prstGeom prst="rect">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b="1" dirty="0">
                <a:solidFill>
                  <a:schemeClr val="bg1"/>
                </a:solidFill>
                <a:latin typeface="微软雅黑" panose="020B0503020204020204" pitchFamily="34" charset="-122"/>
                <a:ea typeface="微软雅黑" panose="020B0503020204020204" pitchFamily="34" charset="-122"/>
              </a:rPr>
              <a:t>断裂韧性</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16" name="矩形 15"/>
          <p:cNvSpPr/>
          <p:nvPr/>
        </p:nvSpPr>
        <p:spPr>
          <a:xfrm>
            <a:off x="1887855" y="2191385"/>
            <a:ext cx="1584000" cy="648000"/>
          </a:xfrm>
          <a:prstGeom prst="rect">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b="1" dirty="0">
                <a:solidFill>
                  <a:schemeClr val="bg1"/>
                </a:solidFill>
                <a:latin typeface="微软雅黑" panose="020B0503020204020204" pitchFamily="34" charset="-122"/>
                <a:ea typeface="微软雅黑" panose="020B0503020204020204" pitchFamily="34" charset="-122"/>
              </a:rPr>
              <a:t>弹性模量</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21" name="矩形 20"/>
          <p:cNvSpPr/>
          <p:nvPr/>
        </p:nvSpPr>
        <p:spPr>
          <a:xfrm>
            <a:off x="1887855" y="3083225"/>
            <a:ext cx="1584000" cy="647700"/>
          </a:xfrm>
          <a:prstGeom prst="rect">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b="1" dirty="0">
                <a:solidFill>
                  <a:schemeClr val="bg1"/>
                </a:solidFill>
                <a:latin typeface="微软雅黑" panose="020B0503020204020204" pitchFamily="34" charset="-122"/>
                <a:ea typeface="微软雅黑" panose="020B0503020204020204" pitchFamily="34" charset="-122"/>
              </a:rPr>
              <a:t>地层应力差</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25" name="矩形 24"/>
          <p:cNvSpPr/>
          <p:nvPr/>
        </p:nvSpPr>
        <p:spPr>
          <a:xfrm>
            <a:off x="1887855" y="5757845"/>
            <a:ext cx="1584000" cy="647700"/>
          </a:xfrm>
          <a:prstGeom prst="rect">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b="1" dirty="0">
                <a:solidFill>
                  <a:schemeClr val="bg1"/>
                </a:solidFill>
                <a:latin typeface="微软雅黑" panose="020B0503020204020204" pitchFamily="34" charset="-122"/>
                <a:ea typeface="微软雅黑" panose="020B0503020204020204" pitchFamily="34" charset="-122"/>
              </a:rPr>
              <a:t>天然裂缝分布</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32" name="矩形 31"/>
          <p:cNvSpPr/>
          <p:nvPr/>
        </p:nvSpPr>
        <p:spPr>
          <a:xfrm>
            <a:off x="5391150" y="3993815"/>
            <a:ext cx="1584000" cy="647700"/>
          </a:xfrm>
          <a:prstGeom prst="rect">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b="1" dirty="0">
                <a:solidFill>
                  <a:schemeClr val="bg1"/>
                </a:solidFill>
                <a:latin typeface="微软雅黑" panose="020B0503020204020204" pitchFamily="34" charset="-122"/>
                <a:ea typeface="微软雅黑" panose="020B0503020204020204" pitchFamily="34" charset="-122"/>
              </a:rPr>
              <a:t>簇间距</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33" name="矩形 32"/>
          <p:cNvSpPr/>
          <p:nvPr/>
        </p:nvSpPr>
        <p:spPr>
          <a:xfrm>
            <a:off x="5391150" y="4875830"/>
            <a:ext cx="1584000" cy="647700"/>
          </a:xfrm>
          <a:prstGeom prst="rect">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b="1" dirty="0">
                <a:solidFill>
                  <a:schemeClr val="bg1"/>
                </a:solidFill>
                <a:latin typeface="微软雅黑" panose="020B0503020204020204" pitchFamily="34" charset="-122"/>
                <a:ea typeface="微软雅黑" panose="020B0503020204020204" pitchFamily="34" charset="-122"/>
              </a:rPr>
              <a:t>压裂液体系</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34" name="矩形 33"/>
          <p:cNvSpPr/>
          <p:nvPr/>
        </p:nvSpPr>
        <p:spPr>
          <a:xfrm>
            <a:off x="5391150" y="2229485"/>
            <a:ext cx="1584000" cy="648000"/>
          </a:xfrm>
          <a:prstGeom prst="rect">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b="1" dirty="0">
                <a:solidFill>
                  <a:schemeClr val="bg1"/>
                </a:solidFill>
                <a:latin typeface="微软雅黑" panose="020B0503020204020204" pitchFamily="34" charset="-122"/>
                <a:ea typeface="微软雅黑" panose="020B0503020204020204" pitchFamily="34" charset="-122"/>
              </a:rPr>
              <a:t>用液强度</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35" name="矩形 34"/>
          <p:cNvSpPr/>
          <p:nvPr/>
        </p:nvSpPr>
        <p:spPr>
          <a:xfrm>
            <a:off x="5391150" y="3111800"/>
            <a:ext cx="1584000" cy="647700"/>
          </a:xfrm>
          <a:prstGeom prst="rect">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b="1" dirty="0">
                <a:solidFill>
                  <a:schemeClr val="bg1"/>
                </a:solidFill>
                <a:latin typeface="微软雅黑" panose="020B0503020204020204" pitchFamily="34" charset="-122"/>
                <a:ea typeface="微软雅黑" panose="020B0503020204020204" pitchFamily="34" charset="-122"/>
              </a:rPr>
              <a:t>加砂强度</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36" name="矩形 35"/>
          <p:cNvSpPr/>
          <p:nvPr/>
        </p:nvSpPr>
        <p:spPr>
          <a:xfrm>
            <a:off x="5391150" y="5757845"/>
            <a:ext cx="1584000" cy="647700"/>
          </a:xfrm>
          <a:prstGeom prst="rect">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b="1" dirty="0">
                <a:solidFill>
                  <a:schemeClr val="bg1"/>
                </a:solidFill>
                <a:latin typeface="微软雅黑" panose="020B0503020204020204" pitchFamily="34" charset="-122"/>
                <a:ea typeface="微软雅黑" panose="020B0503020204020204" pitchFamily="34" charset="-122"/>
              </a:rPr>
              <a:t>支撑剂类型</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40" name="左大括号 39"/>
          <p:cNvSpPr/>
          <p:nvPr/>
        </p:nvSpPr>
        <p:spPr>
          <a:xfrm>
            <a:off x="5031105" y="2559685"/>
            <a:ext cx="360045" cy="3644265"/>
          </a:xfrm>
          <a:prstGeom prst="leftBrace">
            <a:avLst/>
          </a:prstGeom>
          <a:ln w="31750" cap="rnd">
            <a:solidFill>
              <a:srgbClr val="C00000"/>
            </a:solidFill>
            <a:round/>
            <a:headEnd type="none" w="med" len="med"/>
            <a:tailEnd type="none" w="med" len="med"/>
          </a:ln>
        </p:spPr>
        <p:style>
          <a:lnRef idx="0">
            <a:srgbClr val="FFFFFF"/>
          </a:lnRef>
          <a:fillRef idx="0">
            <a:srgbClr val="FFFFFF"/>
          </a:fillRef>
          <a:effectRef idx="0">
            <a:srgbClr val="FFFFFF"/>
          </a:effectRef>
          <a:fontRef idx="minor">
            <a:schemeClr val="tx1"/>
          </a:fontRef>
        </p:style>
        <p:txBody>
          <a:bodyPr vert="horz" wrap="squar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zh-CN" sz="1800" b="0" i="0" u="none" strike="noStrike" cap="none" normalizeH="0" baseline="0">
              <a:ln>
                <a:noFill/>
              </a:ln>
              <a:solidFill>
                <a:schemeClr val="tx1"/>
              </a:solidFill>
              <a:effectLst/>
              <a:latin typeface="Arial" panose="020B0604020202020204" pitchFamily="34" charset="0"/>
              <a:ea typeface="黑体" panose="02010609060101010101" charset="-122"/>
            </a:endParaRPr>
          </a:p>
        </p:txBody>
      </p:sp>
      <p:pic>
        <p:nvPicPr>
          <p:cNvPr id="41" name="图片 40"/>
          <p:cNvPicPr>
            <a:picLocks noChangeAspect="1"/>
          </p:cNvPicPr>
          <p:nvPr/>
        </p:nvPicPr>
        <p:blipFill>
          <a:blip r:embed="rId1"/>
          <a:stretch>
            <a:fillRect/>
          </a:stretch>
        </p:blipFill>
        <p:spPr>
          <a:xfrm>
            <a:off x="7185660" y="2498725"/>
            <a:ext cx="4460240" cy="2654300"/>
          </a:xfrm>
          <a:prstGeom prst="rect">
            <a:avLst/>
          </a:prstGeom>
          <a:ln>
            <a:noFill/>
          </a:ln>
        </p:spPr>
      </p:pic>
      <p:pic>
        <p:nvPicPr>
          <p:cNvPr id="42" name="图片 41"/>
          <p:cNvPicPr>
            <a:picLocks noChangeAspect="1"/>
          </p:cNvPicPr>
          <p:nvPr/>
        </p:nvPicPr>
        <p:blipFill>
          <a:blip r:embed="rId2"/>
          <a:stretch>
            <a:fillRect/>
          </a:stretch>
        </p:blipFill>
        <p:spPr>
          <a:xfrm>
            <a:off x="7186295" y="5290820"/>
            <a:ext cx="4458335" cy="674370"/>
          </a:xfrm>
          <a:prstGeom prst="rect">
            <a:avLst/>
          </a:prstGeom>
          <a:ln>
            <a:noFill/>
          </a:ln>
        </p:spPr>
      </p:pic>
      <p:sp>
        <p:nvSpPr>
          <p:cNvPr id="43" name="矩形 22"/>
          <p:cNvSpPr>
            <a:spLocks noChangeArrowheads="1"/>
          </p:cNvSpPr>
          <p:nvPr/>
        </p:nvSpPr>
        <p:spPr bwMode="auto">
          <a:xfrm>
            <a:off x="7185660" y="6041390"/>
            <a:ext cx="445960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latin typeface="微软雅黑" panose="020B0503020204020204" pitchFamily="34" charset="-122"/>
                <a:ea typeface="微软雅黑" panose="020B0503020204020204" pitchFamily="34" charset="-122"/>
              </a:rPr>
              <a:t>主控因素分析方法</a:t>
            </a:r>
            <a:endParaRPr lang="zh-CN" altLang="en-US" sz="1200" dirty="0">
              <a:latin typeface="微软雅黑" panose="020B0503020204020204" pitchFamily="34" charset="-122"/>
              <a:ea typeface="微软雅黑" panose="020B0503020204020204" pitchFamily="34" charset="-122"/>
            </a:endParaRPr>
          </a:p>
        </p:txBody>
      </p:sp>
      <p:sp>
        <p:nvSpPr>
          <p:cNvPr id="44" name="左大括号 43"/>
          <p:cNvSpPr/>
          <p:nvPr/>
        </p:nvSpPr>
        <p:spPr>
          <a:xfrm>
            <a:off x="1527810" y="2559685"/>
            <a:ext cx="360045" cy="3644265"/>
          </a:xfrm>
          <a:prstGeom prst="leftBrace">
            <a:avLst/>
          </a:prstGeom>
          <a:ln w="31750" cap="rnd">
            <a:solidFill>
              <a:srgbClr val="C00000"/>
            </a:solidFill>
            <a:round/>
            <a:headEnd type="none" w="med" len="med"/>
            <a:tailEnd type="none" w="med" len="med"/>
          </a:ln>
        </p:spPr>
        <p:style>
          <a:lnRef idx="0">
            <a:srgbClr val="FFFFFF"/>
          </a:lnRef>
          <a:fillRef idx="0">
            <a:srgbClr val="FFFFFF"/>
          </a:fillRef>
          <a:effectRef idx="0">
            <a:srgbClr val="FFFFFF"/>
          </a:effectRef>
          <a:fontRef idx="minor">
            <a:schemeClr val="tx1"/>
          </a:fontRef>
        </p:style>
        <p:txBody>
          <a:bodyPr vert="horz" wrap="squar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zh-CN" sz="1800" b="0" i="0" u="none" strike="noStrike" cap="none" normalizeH="0" baseline="0">
              <a:ln>
                <a:noFill/>
              </a:ln>
              <a:solidFill>
                <a:schemeClr val="tx1"/>
              </a:solidFill>
              <a:effectLst/>
              <a:latin typeface="Arial" panose="020B0604020202020204" pitchFamily="34" charset="0"/>
              <a:ea typeface="黑体" panose="02010609060101010101" charset="-122"/>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7"/>
          <p:cNvSpPr txBox="1"/>
          <p:nvPr/>
        </p:nvSpPr>
        <p:spPr bwMode="auto">
          <a:xfrm>
            <a:off x="320061" y="888766"/>
            <a:ext cx="11551878" cy="368300"/>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、页岩气井压后效果特征对比及主控因素分析</a:t>
            </a:r>
            <a:endParaRPr lang="zh-CN" altLang="en-US" dirty="0">
              <a:latin typeface="微软雅黑" panose="020B0503020204020204" pitchFamily="34" charset="-122"/>
              <a:ea typeface="微软雅黑" panose="020B0503020204020204" pitchFamily="34" charset="-122"/>
            </a:endParaRPr>
          </a:p>
        </p:txBody>
      </p:sp>
      <p:sp>
        <p:nvSpPr>
          <p:cNvPr id="37" name="Rectangle 11"/>
          <p:cNvSpPr>
            <a:spLocks noChangeArrowheads="1"/>
          </p:cNvSpPr>
          <p:nvPr/>
        </p:nvSpPr>
        <p:spPr bwMode="auto">
          <a:xfrm>
            <a:off x="8890" y="-41275"/>
            <a:ext cx="1218120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（二）主要研究内容</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334329" y="1319605"/>
            <a:ext cx="11485562" cy="829945"/>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）基于灰色关联分析的压后效果主控因素识别：</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基于灰色关联分析筛选出的主控因素，运用</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熵权法</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建立客观、科学的指标权重体系，确保各参数权重分布合理，</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形成川南页岩气</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可压性评价方法</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4" name="图片 3"/>
          <p:cNvPicPr>
            <a:picLocks noChangeAspect="1"/>
          </p:cNvPicPr>
          <p:nvPr/>
        </p:nvPicPr>
        <p:blipFill>
          <a:blip r:embed="rId1"/>
          <a:stretch>
            <a:fillRect/>
          </a:stretch>
        </p:blipFill>
        <p:spPr>
          <a:xfrm>
            <a:off x="895350" y="3959225"/>
            <a:ext cx="5344160" cy="2024380"/>
          </a:xfrm>
          <a:prstGeom prst="rect">
            <a:avLst/>
          </a:prstGeom>
        </p:spPr>
      </p:pic>
      <p:pic>
        <p:nvPicPr>
          <p:cNvPr id="18" name="图片 17"/>
          <p:cNvPicPr/>
          <p:nvPr/>
        </p:nvPicPr>
        <p:blipFill>
          <a:blip r:embed="rId2"/>
          <a:stretch>
            <a:fillRect/>
          </a:stretch>
        </p:blipFill>
        <p:spPr>
          <a:xfrm>
            <a:off x="881380" y="2167255"/>
            <a:ext cx="5358130" cy="1791970"/>
          </a:xfrm>
          <a:prstGeom prst="rect">
            <a:avLst/>
          </a:prstGeom>
        </p:spPr>
      </p:pic>
      <p:graphicFrame>
        <p:nvGraphicFramePr>
          <p:cNvPr id="2" name="表格 1"/>
          <p:cNvGraphicFramePr/>
          <p:nvPr>
            <p:custDataLst>
              <p:tags r:id="rId3"/>
            </p:custDataLst>
          </p:nvPr>
        </p:nvGraphicFramePr>
        <p:xfrm>
          <a:off x="6620510" y="2211705"/>
          <a:ext cx="5182235" cy="3820160"/>
        </p:xfrm>
        <a:graphic>
          <a:graphicData uri="http://schemas.openxmlformats.org/drawingml/2006/table">
            <a:tbl>
              <a:tblPr firstRow="1">
                <a:tableStyleId>{AAC775E2-5F54-40BE-A785-B45A39E3C1A7}</a:tableStyleId>
              </a:tblPr>
              <a:tblGrid>
                <a:gridCol w="920115"/>
                <a:gridCol w="798195"/>
                <a:gridCol w="748030"/>
                <a:gridCol w="2715895"/>
              </a:tblGrid>
              <a:tr h="698500">
                <a:tc>
                  <a:txBody>
                    <a:bodyPr/>
                    <a:lstStyle/>
                    <a:p>
                      <a:pPr algn="ctr">
                        <a:buNone/>
                      </a:pPr>
                      <a:r>
                        <a:rPr lang="zh-CN" altLang="en-US" sz="1200" dirty="0">
                          <a:solidFill>
                            <a:schemeClr val="bg1"/>
                          </a:solidFill>
                          <a:latin typeface="微软雅黑" panose="020B0503020204020204" pitchFamily="34" charset="-122"/>
                          <a:ea typeface="微软雅黑" panose="020B0503020204020204" pitchFamily="34" charset="-122"/>
                        </a:rPr>
                        <a:t>参数类别</a:t>
                      </a:r>
                      <a:endParaRPr lang="zh-CN" altLang="en-US" sz="1200" dirty="0">
                        <a:solidFill>
                          <a:schemeClr val="bg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marL="0" indent="0" algn="ctr" fontAlgn="base">
                        <a:lnSpc>
                          <a:spcPts val="1320"/>
                        </a:lnSpc>
                        <a:spcBef>
                          <a:spcPct val="0"/>
                        </a:spcBef>
                        <a:spcAft>
                          <a:spcPct val="0"/>
                        </a:spcAft>
                      </a:pPr>
                      <a:r>
                        <a:rPr lang="zh-CN" altLang="en-US" sz="1200" dirty="0">
                          <a:solidFill>
                            <a:schemeClr val="bg1"/>
                          </a:solidFill>
                          <a:latin typeface="微软雅黑" panose="020B0503020204020204" pitchFamily="34" charset="-122"/>
                          <a:ea typeface="微软雅黑" panose="020B0503020204020204" pitchFamily="34" charset="-122"/>
                        </a:rPr>
                        <a:t>参数名称</a:t>
                      </a:r>
                      <a:endParaRPr lang="zh-CN" altLang="en-US" sz="1200" dirty="0">
                        <a:solidFill>
                          <a:schemeClr val="bg1"/>
                        </a:solidFill>
                        <a:latin typeface="微软雅黑" panose="020B0503020204020204" pitchFamily="34" charset="-122"/>
                        <a:ea typeface="微软雅黑" panose="020B0503020204020204" pitchFamily="34" charset="-122"/>
                      </a:endParaRPr>
                    </a:p>
                  </a:txBody>
                  <a:tcPr marL="91757" marR="91757" marT="61277" marB="612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marL="0" indent="0" algn="ctr" fontAlgn="base">
                        <a:lnSpc>
                          <a:spcPts val="1320"/>
                        </a:lnSpc>
                        <a:spcBef>
                          <a:spcPct val="0"/>
                        </a:spcBef>
                        <a:spcAft>
                          <a:spcPct val="0"/>
                        </a:spcAft>
                      </a:pPr>
                      <a:r>
                        <a:rPr lang="zh-CN" altLang="en-US" sz="1200" dirty="0">
                          <a:solidFill>
                            <a:schemeClr val="bg1"/>
                          </a:solidFill>
                          <a:latin typeface="微软雅黑" panose="020B0503020204020204" pitchFamily="34" charset="-122"/>
                          <a:ea typeface="微软雅黑" panose="020B0503020204020204" pitchFamily="34" charset="-122"/>
                        </a:rPr>
                        <a:t>权重</a:t>
                      </a:r>
                      <a:endParaRPr lang="zh-CN" altLang="en-US" sz="1200" dirty="0">
                        <a:solidFill>
                          <a:schemeClr val="bg1"/>
                        </a:solidFill>
                        <a:latin typeface="微软雅黑" panose="020B0503020204020204" pitchFamily="34" charset="-122"/>
                        <a:ea typeface="微软雅黑" panose="020B0503020204020204" pitchFamily="34" charset="-122"/>
                      </a:endParaRPr>
                    </a:p>
                  </a:txBody>
                  <a:tcPr marL="91757" marR="91757" marT="61277" marB="612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marL="0" indent="0" algn="ctr" fontAlgn="base">
                        <a:lnSpc>
                          <a:spcPts val="1320"/>
                        </a:lnSpc>
                        <a:spcBef>
                          <a:spcPct val="0"/>
                        </a:spcBef>
                        <a:spcAft>
                          <a:spcPct val="0"/>
                        </a:spcAft>
                      </a:pPr>
                      <a:r>
                        <a:rPr lang="zh-CN" altLang="en-US" sz="1200" dirty="0">
                          <a:solidFill>
                            <a:schemeClr val="bg1"/>
                          </a:solidFill>
                          <a:latin typeface="微软雅黑" panose="020B0503020204020204" pitchFamily="34" charset="-122"/>
                          <a:ea typeface="微软雅黑" panose="020B0503020204020204" pitchFamily="34" charset="-122"/>
                        </a:rPr>
                        <a:t>说明</a:t>
                      </a:r>
                      <a:endParaRPr lang="zh-CN" altLang="en-US" sz="1200" dirty="0">
                        <a:solidFill>
                          <a:schemeClr val="bg1"/>
                        </a:solidFill>
                        <a:latin typeface="微软雅黑" panose="020B0503020204020204" pitchFamily="34" charset="-122"/>
                        <a:ea typeface="微软雅黑" panose="020B0503020204020204" pitchFamily="34" charset="-122"/>
                      </a:endParaRPr>
                    </a:p>
                  </a:txBody>
                  <a:tcPr marL="91757" marR="91757" marT="61277" marB="612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r>
              <a:tr h="722630">
                <a:tc rowSpan="2">
                  <a:txBody>
                    <a:bodyPr/>
                    <a:lstStyle/>
                    <a:p>
                      <a:pPr algn="ctr">
                        <a:buNone/>
                      </a:pPr>
                      <a:r>
                        <a:rPr lang="zh-CN" altLang="en-US" sz="1200" dirty="0">
                          <a:latin typeface="微软雅黑" panose="020B0503020204020204" pitchFamily="34" charset="-122"/>
                          <a:ea typeface="微软雅黑" panose="020B0503020204020204" pitchFamily="34" charset="-122"/>
                        </a:rPr>
                        <a:t>地质参数</a:t>
                      </a:r>
                      <a:endParaRPr lang="zh-CN" altLang="en-US" sz="12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fontAlgn="base">
                        <a:lnSpc>
                          <a:spcPts val="1320"/>
                        </a:lnSpc>
                        <a:spcBef>
                          <a:spcPct val="0"/>
                        </a:spcBef>
                        <a:spcAft>
                          <a:spcPct val="0"/>
                        </a:spcAft>
                      </a:pPr>
                      <a:r>
                        <a:rPr lang="en-US" altLang="zh-CN" sz="1200" dirty="0">
                          <a:latin typeface="微软雅黑" panose="020B0503020204020204" pitchFamily="34" charset="-122"/>
                          <a:ea typeface="微软雅黑" panose="020B0503020204020204" pitchFamily="34" charset="-122"/>
                        </a:rPr>
                        <a:t>TOC</a:t>
                      </a:r>
                      <a:endParaRPr lang="en-US" altLang="zh-CN" sz="1200" dirty="0">
                        <a:latin typeface="微软雅黑" panose="020B0503020204020204" pitchFamily="34" charset="-122"/>
                        <a:ea typeface="微软雅黑" panose="020B0503020204020204" pitchFamily="34" charset="-122"/>
                      </a:endParaRPr>
                    </a:p>
                  </a:txBody>
                  <a:tcPr marL="91757" marR="91757" marT="61277" marB="612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fontAlgn="base">
                        <a:lnSpc>
                          <a:spcPts val="1320"/>
                        </a:lnSpc>
                        <a:spcBef>
                          <a:spcPct val="0"/>
                        </a:spcBef>
                        <a:spcAft>
                          <a:spcPct val="0"/>
                        </a:spcAft>
                      </a:pPr>
                      <a:r>
                        <a:rPr lang="en-US" altLang="zh-CN" sz="1200" dirty="0">
                          <a:latin typeface="微软雅黑" panose="020B0503020204020204" pitchFamily="34" charset="-122"/>
                          <a:ea typeface="微软雅黑" panose="020B0503020204020204" pitchFamily="34" charset="-122"/>
                        </a:rPr>
                        <a:t>0.18</a:t>
                      </a:r>
                      <a:endParaRPr lang="en-US" altLang="zh-CN" sz="1200" dirty="0">
                        <a:latin typeface="微软雅黑" panose="020B0503020204020204" pitchFamily="34" charset="-122"/>
                        <a:ea typeface="微软雅黑" panose="020B0503020204020204" pitchFamily="34" charset="-122"/>
                      </a:endParaRPr>
                    </a:p>
                  </a:txBody>
                  <a:tcPr marL="91757" marR="91757" marT="61277" marB="612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fontAlgn="base">
                        <a:lnSpc>
                          <a:spcPts val="1320"/>
                        </a:lnSpc>
                        <a:spcBef>
                          <a:spcPct val="0"/>
                        </a:spcBef>
                        <a:spcAft>
                          <a:spcPct val="0"/>
                        </a:spcAft>
                      </a:pPr>
                      <a:r>
                        <a:rPr lang="zh-CN" altLang="en-US" sz="1200">
                          <a:latin typeface="微软雅黑" panose="020B0503020204020204" pitchFamily="34" charset="-122"/>
                          <a:ea typeface="微软雅黑" panose="020B0503020204020204" pitchFamily="34" charset="-122"/>
                        </a:rPr>
                        <a:t>有机质含量，直接影响页岩气的生成量和吸附量，是关键地质因素之一。</a:t>
                      </a:r>
                      <a:endParaRPr lang="zh-CN" altLang="en-US" sz="1200">
                        <a:latin typeface="微软雅黑" panose="020B0503020204020204" pitchFamily="34" charset="-122"/>
                        <a:ea typeface="微软雅黑" panose="020B0503020204020204" pitchFamily="34" charset="-122"/>
                      </a:endParaRPr>
                    </a:p>
                  </a:txBody>
                  <a:tcPr marL="91757" marR="91757" marT="61277" marB="612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955040">
                <a:tc vMerge="1">
                  <a:tcPr/>
                </a:tc>
                <a:tc>
                  <a:txBody>
                    <a:bodyPr/>
                    <a:lstStyle/>
                    <a:p>
                      <a:pPr marL="0" indent="0" algn="ctr" fontAlgn="base">
                        <a:lnSpc>
                          <a:spcPts val="1320"/>
                        </a:lnSpc>
                        <a:spcBef>
                          <a:spcPct val="0"/>
                        </a:spcBef>
                        <a:spcAft>
                          <a:spcPct val="0"/>
                        </a:spcAft>
                      </a:pPr>
                      <a:r>
                        <a:rPr lang="zh-CN" altLang="en-US" sz="1200">
                          <a:latin typeface="微软雅黑" panose="020B0503020204020204" pitchFamily="34" charset="-122"/>
                          <a:ea typeface="微软雅黑" panose="020B0503020204020204" pitchFamily="34" charset="-122"/>
                        </a:rPr>
                        <a:t>脆性指数</a:t>
                      </a:r>
                      <a:endParaRPr lang="zh-CN" altLang="en-US" sz="1200">
                        <a:latin typeface="微软雅黑" panose="020B0503020204020204" pitchFamily="34" charset="-122"/>
                        <a:ea typeface="微软雅黑" panose="020B0503020204020204" pitchFamily="34" charset="-122"/>
                      </a:endParaRPr>
                    </a:p>
                  </a:txBody>
                  <a:tcPr marL="91757" marR="91757" marT="61277" marB="612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fontAlgn="base">
                        <a:lnSpc>
                          <a:spcPts val="1320"/>
                        </a:lnSpc>
                        <a:spcBef>
                          <a:spcPct val="0"/>
                        </a:spcBef>
                        <a:spcAft>
                          <a:spcPct val="0"/>
                        </a:spcAft>
                      </a:pPr>
                      <a:r>
                        <a:rPr lang="en-US" altLang="zh-CN" sz="1200" dirty="0">
                          <a:latin typeface="微软雅黑" panose="020B0503020204020204" pitchFamily="34" charset="-122"/>
                          <a:ea typeface="微软雅黑" panose="020B0503020204020204" pitchFamily="34" charset="-122"/>
                        </a:rPr>
                        <a:t>0.32</a:t>
                      </a:r>
                      <a:endParaRPr lang="en-US" altLang="zh-CN" sz="1200" dirty="0">
                        <a:latin typeface="微软雅黑" panose="020B0503020204020204" pitchFamily="34" charset="-122"/>
                        <a:ea typeface="微软雅黑" panose="020B0503020204020204" pitchFamily="34" charset="-122"/>
                      </a:endParaRPr>
                    </a:p>
                  </a:txBody>
                  <a:tcPr marL="91757" marR="91757" marT="61277" marB="612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fontAlgn="base">
                        <a:lnSpc>
                          <a:spcPts val="1320"/>
                        </a:lnSpc>
                        <a:spcBef>
                          <a:spcPct val="0"/>
                        </a:spcBef>
                        <a:spcAft>
                          <a:spcPct val="0"/>
                        </a:spcAft>
                      </a:pPr>
                      <a:r>
                        <a:rPr lang="zh-CN" altLang="en-US" sz="1200" dirty="0">
                          <a:latin typeface="微软雅黑" panose="020B0503020204020204" pitchFamily="34" charset="-122"/>
                          <a:ea typeface="微软雅黑" panose="020B0503020204020204" pitchFamily="34" charset="-122"/>
                        </a:rPr>
                        <a:t>反映岩石的易压裂性，高脆性指数有利于形成复杂裂缝网络，提高气体导流能力。</a:t>
                      </a:r>
                      <a:endParaRPr lang="zh-CN" altLang="en-US" sz="1200" dirty="0">
                        <a:latin typeface="微软雅黑" panose="020B0503020204020204" pitchFamily="34" charset="-122"/>
                        <a:ea typeface="微软雅黑" panose="020B0503020204020204" pitchFamily="34" charset="-122"/>
                      </a:endParaRPr>
                    </a:p>
                  </a:txBody>
                  <a:tcPr marL="91757" marR="91757" marT="61277" marB="612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721995">
                <a:tc rowSpan="2">
                  <a:txBody>
                    <a:bodyPr/>
                    <a:lstStyle/>
                    <a:p>
                      <a:pPr algn="ctr">
                        <a:buNone/>
                      </a:pPr>
                      <a:r>
                        <a:rPr lang="zh-CN" altLang="en-US" sz="1200">
                          <a:latin typeface="微软雅黑" panose="020B0503020204020204" pitchFamily="34" charset="-122"/>
                          <a:ea typeface="微软雅黑" panose="020B0503020204020204" pitchFamily="34" charset="-122"/>
                        </a:rPr>
                        <a:t>工程参数</a:t>
                      </a:r>
                      <a:endParaRPr lang="zh-CN" altLang="en-US" sz="120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fontAlgn="base">
                        <a:lnSpc>
                          <a:spcPts val="1320"/>
                        </a:lnSpc>
                        <a:spcBef>
                          <a:spcPct val="0"/>
                        </a:spcBef>
                        <a:spcAft>
                          <a:spcPct val="0"/>
                        </a:spcAft>
                      </a:pPr>
                      <a:r>
                        <a:rPr lang="zh-CN" altLang="en-US" sz="1200">
                          <a:latin typeface="微软雅黑" panose="020B0503020204020204" pitchFamily="34" charset="-122"/>
                          <a:ea typeface="微软雅黑" panose="020B0503020204020204" pitchFamily="34" charset="-122"/>
                        </a:rPr>
                        <a:t>压裂液量</a:t>
                      </a:r>
                      <a:endParaRPr lang="zh-CN" altLang="en-US" sz="1200">
                        <a:latin typeface="微软雅黑" panose="020B0503020204020204" pitchFamily="34" charset="-122"/>
                        <a:ea typeface="微软雅黑" panose="020B0503020204020204" pitchFamily="34" charset="-122"/>
                      </a:endParaRPr>
                    </a:p>
                  </a:txBody>
                  <a:tcPr marL="91757" marR="91757" marT="61277" marB="612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fontAlgn="base">
                        <a:lnSpc>
                          <a:spcPts val="1320"/>
                        </a:lnSpc>
                        <a:spcBef>
                          <a:spcPct val="0"/>
                        </a:spcBef>
                        <a:spcAft>
                          <a:spcPct val="0"/>
                        </a:spcAft>
                      </a:pPr>
                      <a:r>
                        <a:rPr lang="en-US" altLang="zh-CN" sz="1200">
                          <a:latin typeface="微软雅黑" panose="020B0503020204020204" pitchFamily="34" charset="-122"/>
                          <a:ea typeface="微软雅黑" panose="020B0503020204020204" pitchFamily="34" charset="-122"/>
                        </a:rPr>
                        <a:t>0.40</a:t>
                      </a:r>
                      <a:endParaRPr lang="en-US" altLang="zh-CN" sz="1200">
                        <a:latin typeface="微软雅黑" panose="020B0503020204020204" pitchFamily="34" charset="-122"/>
                        <a:ea typeface="微软雅黑" panose="020B0503020204020204" pitchFamily="34" charset="-122"/>
                      </a:endParaRPr>
                    </a:p>
                  </a:txBody>
                  <a:tcPr marL="91757" marR="91757" marT="61277" marB="612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fontAlgn="base">
                        <a:lnSpc>
                          <a:spcPts val="1320"/>
                        </a:lnSpc>
                        <a:spcBef>
                          <a:spcPct val="0"/>
                        </a:spcBef>
                        <a:spcAft>
                          <a:spcPct val="0"/>
                        </a:spcAft>
                      </a:pPr>
                      <a:r>
                        <a:rPr lang="zh-CN" altLang="en-US" sz="1200" dirty="0">
                          <a:latin typeface="微软雅黑" panose="020B0503020204020204" pitchFamily="34" charset="-122"/>
                          <a:ea typeface="微软雅黑" panose="020B0503020204020204" pitchFamily="34" charset="-122"/>
                        </a:rPr>
                        <a:t>压裂液量直接影响裂缝的规模和导流能力，是工程参数中的关键因素。</a:t>
                      </a:r>
                      <a:endParaRPr lang="zh-CN" altLang="en-US" sz="1200" dirty="0">
                        <a:latin typeface="微软雅黑" panose="020B0503020204020204" pitchFamily="34" charset="-122"/>
                        <a:ea typeface="微软雅黑" panose="020B0503020204020204" pitchFamily="34" charset="-122"/>
                      </a:endParaRPr>
                    </a:p>
                  </a:txBody>
                  <a:tcPr marL="91757" marR="91757" marT="61277" marB="612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721995">
                <a:tc vMerge="1">
                  <a:tcPr/>
                </a:tc>
                <a:tc>
                  <a:txBody>
                    <a:bodyPr/>
                    <a:lstStyle/>
                    <a:p>
                      <a:pPr marL="0" indent="0" algn="ctr" fontAlgn="base">
                        <a:lnSpc>
                          <a:spcPts val="1320"/>
                        </a:lnSpc>
                        <a:spcBef>
                          <a:spcPct val="0"/>
                        </a:spcBef>
                        <a:spcAft>
                          <a:spcPct val="0"/>
                        </a:spcAft>
                      </a:pPr>
                      <a:r>
                        <a:rPr lang="zh-CN" altLang="en-US" sz="1200">
                          <a:latin typeface="微软雅黑" panose="020B0503020204020204" pitchFamily="34" charset="-122"/>
                          <a:ea typeface="微软雅黑" panose="020B0503020204020204" pitchFamily="34" charset="-122"/>
                        </a:rPr>
                        <a:t>簇数</a:t>
                      </a:r>
                      <a:endParaRPr lang="zh-CN" altLang="en-US" sz="1200">
                        <a:latin typeface="微软雅黑" panose="020B0503020204020204" pitchFamily="34" charset="-122"/>
                        <a:ea typeface="微软雅黑" panose="020B0503020204020204" pitchFamily="34" charset="-122"/>
                      </a:endParaRPr>
                    </a:p>
                  </a:txBody>
                  <a:tcPr marL="91757" marR="91757" marT="61277" marB="612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fontAlgn="base">
                        <a:lnSpc>
                          <a:spcPts val="1320"/>
                        </a:lnSpc>
                        <a:spcBef>
                          <a:spcPct val="0"/>
                        </a:spcBef>
                        <a:spcAft>
                          <a:spcPct val="0"/>
                        </a:spcAft>
                      </a:pPr>
                      <a:r>
                        <a:rPr lang="en-US" altLang="zh-CN" sz="1200">
                          <a:latin typeface="微软雅黑" panose="020B0503020204020204" pitchFamily="34" charset="-122"/>
                          <a:ea typeface="微软雅黑" panose="020B0503020204020204" pitchFamily="34" charset="-122"/>
                        </a:rPr>
                        <a:t>0.10</a:t>
                      </a:r>
                      <a:endParaRPr lang="en-US" altLang="zh-CN" sz="1200">
                        <a:latin typeface="微软雅黑" panose="020B0503020204020204" pitchFamily="34" charset="-122"/>
                        <a:ea typeface="微软雅黑" panose="020B0503020204020204" pitchFamily="34" charset="-122"/>
                      </a:endParaRPr>
                    </a:p>
                  </a:txBody>
                  <a:tcPr marL="91757" marR="91757" marT="61277" marB="612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fontAlgn="base">
                        <a:lnSpc>
                          <a:spcPts val="1320"/>
                        </a:lnSpc>
                        <a:spcBef>
                          <a:spcPct val="0"/>
                        </a:spcBef>
                        <a:spcAft>
                          <a:spcPct val="0"/>
                        </a:spcAft>
                      </a:pPr>
                      <a:r>
                        <a:rPr lang="zh-CN" altLang="en-US" sz="1200" dirty="0">
                          <a:latin typeface="微软雅黑" panose="020B0503020204020204" pitchFamily="34" charset="-122"/>
                          <a:ea typeface="微软雅黑" panose="020B0503020204020204" pitchFamily="34" charset="-122"/>
                        </a:rPr>
                        <a:t>簇数影响裂缝网络的复杂性，对提高产量有一定贡献，但权重相对较低。</a:t>
                      </a:r>
                      <a:endParaRPr lang="zh-CN" altLang="en-US" sz="1200" dirty="0">
                        <a:latin typeface="微软雅黑" panose="020B0503020204020204" pitchFamily="34" charset="-122"/>
                        <a:ea typeface="微软雅黑" panose="020B0503020204020204" pitchFamily="34" charset="-122"/>
                      </a:endParaRPr>
                    </a:p>
                  </a:txBody>
                  <a:tcPr marL="91757" marR="91757" marT="61277" marB="612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6" name="矩形 22"/>
          <p:cNvSpPr>
            <a:spLocks noChangeArrowheads="1"/>
          </p:cNvSpPr>
          <p:nvPr/>
        </p:nvSpPr>
        <p:spPr bwMode="auto">
          <a:xfrm>
            <a:off x="6620510" y="6041390"/>
            <a:ext cx="520001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latin typeface="微软雅黑" panose="020B0503020204020204" pitchFamily="34" charset="-122"/>
                <a:ea typeface="微软雅黑" panose="020B0503020204020204" pitchFamily="34" charset="-122"/>
              </a:rPr>
              <a:t>可压性评价参数权重</a:t>
            </a:r>
            <a:endParaRPr lang="zh-CN" altLang="en-US" sz="1200" dirty="0">
              <a:latin typeface="微软雅黑" panose="020B0503020204020204" pitchFamily="34" charset="-122"/>
              <a:ea typeface="微软雅黑" panose="020B0503020204020204" pitchFamily="34" charset="-122"/>
            </a:endParaRPr>
          </a:p>
        </p:txBody>
      </p:sp>
      <p:sp>
        <p:nvSpPr>
          <p:cNvPr id="7" name="矩形 22"/>
          <p:cNvSpPr>
            <a:spLocks noChangeArrowheads="1"/>
          </p:cNvSpPr>
          <p:nvPr/>
        </p:nvSpPr>
        <p:spPr bwMode="auto">
          <a:xfrm>
            <a:off x="895985" y="6036310"/>
            <a:ext cx="5199380"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latin typeface="微软雅黑" panose="020B0503020204020204" pitchFamily="34" charset="-122"/>
                <a:ea typeface="微软雅黑" panose="020B0503020204020204" pitchFamily="34" charset="-122"/>
              </a:rPr>
              <a:t>熵权法分析流程</a:t>
            </a:r>
            <a:endParaRPr lang="zh-CN" altLang="en-US" sz="1200" dirty="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7"/>
          <p:cNvSpPr txBox="1"/>
          <p:nvPr/>
        </p:nvSpPr>
        <p:spPr bwMode="auto">
          <a:xfrm>
            <a:off x="320061" y="888766"/>
            <a:ext cx="11551878" cy="368300"/>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、页岩气井压裂效果量化评价指标筛选与权重分析</a:t>
            </a:r>
            <a:endParaRPr lang="zh-CN" altLang="en-US" dirty="0">
              <a:latin typeface="微软雅黑" panose="020B0503020204020204" pitchFamily="34" charset="-122"/>
              <a:ea typeface="微软雅黑" panose="020B0503020204020204" pitchFamily="34" charset="-122"/>
            </a:endParaRPr>
          </a:p>
        </p:txBody>
      </p:sp>
      <p:sp>
        <p:nvSpPr>
          <p:cNvPr id="37" name="Rectangle 11"/>
          <p:cNvSpPr>
            <a:spLocks noChangeArrowheads="1"/>
          </p:cNvSpPr>
          <p:nvPr/>
        </p:nvSpPr>
        <p:spPr bwMode="auto">
          <a:xfrm>
            <a:off x="8890" y="-41275"/>
            <a:ext cx="1218120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（二）主要研究内容</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334329" y="1319605"/>
            <a:ext cx="11485562" cy="4154170"/>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难点分析：</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高成本监测技术难以大规模应用，广泛适用川南页岩气的压后效果评价方法亟需建立</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、微地震、光纤等监测技术成本较高，现场难以大规模推广</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、压裂施工曲线数据获取成本几乎为零，但缺乏系统的分析解释方法</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研究思路：</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en-US" altLang="zh-CN" sz="1600" kern="0" dirty="0">
                <a:latin typeface="微软雅黑" panose="020B0503020204020204" pitchFamily="34" charset="-122"/>
                <a:ea typeface="微软雅黑" panose="020B0503020204020204" pitchFamily="34" charset="-122"/>
                <a:sym typeface="+mn-ea"/>
              </a:rPr>
              <a:t>1</a:t>
            </a:r>
            <a:r>
              <a:rPr lang="zh-CN" altLang="en-US" sz="1600" kern="0" dirty="0">
                <a:latin typeface="微软雅黑" panose="020B0503020204020204" pitchFamily="34" charset="-122"/>
                <a:ea typeface="微软雅黑" panose="020B0503020204020204" pitchFamily="34" charset="-122"/>
                <a:sym typeface="+mn-ea"/>
              </a:rPr>
              <a:t>、</a:t>
            </a:r>
            <a:r>
              <a:rPr lang="zh-CN" altLang="en-US" sz="1600" kern="0" dirty="0">
                <a:latin typeface="微软雅黑" panose="020B0503020204020204" pitchFamily="34" charset="-122"/>
                <a:ea typeface="微软雅黑" panose="020B0503020204020204" pitchFamily="34" charset="-122"/>
              </a:rPr>
              <a:t>基于小波变换、</a:t>
            </a:r>
            <a:r>
              <a:rPr lang="en-US" altLang="zh-CN" sz="1600" kern="0" dirty="0">
                <a:latin typeface="微软雅黑" panose="020B0503020204020204" pitchFamily="34" charset="-122"/>
                <a:ea typeface="微软雅黑" panose="020B0503020204020204" pitchFamily="34" charset="-122"/>
              </a:rPr>
              <a:t>G</a:t>
            </a:r>
            <a:r>
              <a:rPr lang="zh-CN" altLang="en-US" sz="1600" kern="0" dirty="0">
                <a:latin typeface="微软雅黑" panose="020B0503020204020204" pitchFamily="34" charset="-122"/>
                <a:ea typeface="微软雅黑" panose="020B0503020204020204" pitchFamily="34" charset="-122"/>
              </a:rPr>
              <a:t>函数分析等技术的曲线特征挖掘</a:t>
            </a:r>
            <a:endParaRPr lang="zh-CN" altLang="en-US" sz="1600" kern="0" dirty="0">
              <a:latin typeface="微软雅黑" panose="020B0503020204020204" pitchFamily="34" charset="-122"/>
              <a:ea typeface="微软雅黑" panose="020B0503020204020204" pitchFamily="34" charset="-122"/>
            </a:endParaRPr>
          </a:p>
          <a:p>
            <a:pPr marL="342265" indent="-342900" algn="just">
              <a:lnSpc>
                <a:spcPct val="150000"/>
              </a:lnSpc>
              <a:buClr>
                <a:srgbClr val="FF0000"/>
              </a:buClr>
              <a:buFont typeface="Wingdings" panose="05000000000000000000" pitchFamily="2" charset="2"/>
              <a:buChar char="l"/>
            </a:pPr>
            <a:r>
              <a:rPr lang="en-US" altLang="zh-CN" sz="1600" kern="0" dirty="0">
                <a:latin typeface="微软雅黑" panose="020B0503020204020204" pitchFamily="34" charset="-122"/>
                <a:ea typeface="微软雅黑" panose="020B0503020204020204" pitchFamily="34" charset="-122"/>
                <a:sym typeface="+mn-ea"/>
              </a:rPr>
              <a:t>2</a:t>
            </a:r>
            <a:r>
              <a:rPr lang="zh-CN" altLang="en-US" sz="1600" kern="0" dirty="0">
                <a:latin typeface="微软雅黑" panose="020B0503020204020204" pitchFamily="34" charset="-122"/>
                <a:ea typeface="微软雅黑" panose="020B0503020204020204" pitchFamily="34" charset="-122"/>
                <a:sym typeface="+mn-ea"/>
              </a:rPr>
              <a:t>、基于熵权法的评价指标权重确定</a:t>
            </a:r>
            <a:endParaRPr lang="zh-CN" altLang="en-US" sz="1600" kern="0" dirty="0">
              <a:latin typeface="微软雅黑" panose="020B0503020204020204" pitchFamily="34" charset="-122"/>
              <a:ea typeface="微软雅黑" panose="020B0503020204020204" pitchFamily="34" charset="-122"/>
              <a:sym typeface="+mn-ea"/>
            </a:endParaRPr>
          </a:p>
          <a:p>
            <a:pPr marL="342265" indent="-342900" algn="just">
              <a:lnSpc>
                <a:spcPct val="150000"/>
              </a:lnSpc>
              <a:buClr>
                <a:srgbClr val="FF0000"/>
              </a:buClr>
              <a:buFont typeface="Wingdings" panose="05000000000000000000" pitchFamily="2" charset="2"/>
              <a:buChar char="l"/>
            </a:pP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预期效果：</a:t>
            </a:r>
            <a:endPar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1</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、建立成本不到传统监测</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1/10</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的压后效果评价方法</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a:p>
            <a:pPr marL="342265" indent="-342900" algn="just">
              <a:lnSpc>
                <a:spcPct val="150000"/>
              </a:lnSpc>
              <a:buClr>
                <a:srgbClr val="FF0000"/>
              </a:buClr>
              <a:buFont typeface="Wingdings" panose="05000000000000000000" pitchFamily="2" charset="2"/>
              <a:buChar char="l"/>
            </a:pP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2</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实现近</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100%</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压裂井改造效果的多尺度评价</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7"/>
          <p:cNvSpPr txBox="1"/>
          <p:nvPr/>
        </p:nvSpPr>
        <p:spPr bwMode="auto">
          <a:xfrm>
            <a:off x="320061" y="888766"/>
            <a:ext cx="11551878" cy="368300"/>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、页岩气井压裂效果量化评价指标筛选与权重分析</a:t>
            </a:r>
            <a:endParaRPr lang="zh-CN" altLang="en-US" dirty="0">
              <a:latin typeface="微软雅黑" panose="020B0503020204020204" pitchFamily="34" charset="-122"/>
              <a:ea typeface="微软雅黑" panose="020B0503020204020204" pitchFamily="34" charset="-122"/>
            </a:endParaRPr>
          </a:p>
        </p:txBody>
      </p:sp>
      <p:sp>
        <p:nvSpPr>
          <p:cNvPr id="37" name="Rectangle 11"/>
          <p:cNvSpPr>
            <a:spLocks noChangeArrowheads="1"/>
          </p:cNvSpPr>
          <p:nvPr/>
        </p:nvSpPr>
        <p:spPr bwMode="auto">
          <a:xfrm>
            <a:off x="8890" y="-41275"/>
            <a:ext cx="1218120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（二）主要研究内容</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334329" y="1319605"/>
            <a:ext cx="11485562" cy="829945"/>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b="1" kern="0" dirty="0">
                <a:latin typeface="微软雅黑" panose="020B0503020204020204" pitchFamily="34" charset="-122"/>
                <a:ea typeface="微软雅黑" panose="020B0503020204020204" pitchFamily="34" charset="-122"/>
                <a:sym typeface="+mn-ea"/>
              </a:rPr>
              <a:t>基于小波变换、G函数分析等技术的曲线特征挖掘</a:t>
            </a: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当前以微地震、光纤等技术为主要监测手段的压后效果评价方法，</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成本较高</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且</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评价尺度</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难以兼顾。</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18" name="表格 17"/>
          <p:cNvGraphicFramePr>
            <a:graphicFrameLocks noGrp="1"/>
          </p:cNvGraphicFramePr>
          <p:nvPr>
            <p:custDataLst>
              <p:tags r:id="rId1"/>
            </p:custDataLst>
          </p:nvPr>
        </p:nvGraphicFramePr>
        <p:xfrm>
          <a:off x="334645" y="2154555"/>
          <a:ext cx="11471910" cy="3864610"/>
        </p:xfrm>
        <a:graphic>
          <a:graphicData uri="http://schemas.openxmlformats.org/drawingml/2006/table">
            <a:tbl>
              <a:tblPr bandRow="1">
                <a:tableStyleId>{21E4AEA4-8DFA-4A89-87EB-49C32662AFE0}</a:tableStyleId>
              </a:tblPr>
              <a:tblGrid>
                <a:gridCol w="1372235"/>
                <a:gridCol w="2023110"/>
                <a:gridCol w="793750"/>
                <a:gridCol w="2789555"/>
                <a:gridCol w="2781300"/>
                <a:gridCol w="1711960"/>
              </a:tblGrid>
              <a:tr h="339090">
                <a:tc>
                  <a:txBody>
                    <a:bodyPr/>
                    <a:lstStyle/>
                    <a:p>
                      <a:pPr algn="ctr"/>
                      <a:r>
                        <a:rPr lang="zh-CN" altLang="en-US" sz="1200" b="1" i="0" dirty="0">
                          <a:solidFill>
                            <a:schemeClr val="bg1"/>
                          </a:solidFill>
                          <a:latin typeface="微软雅黑" panose="020B0503020204020204" pitchFamily="34" charset="-122"/>
                          <a:ea typeface="微软雅黑" panose="020B0503020204020204" pitchFamily="34" charset="-122"/>
                        </a:rPr>
                        <a:t>技术名称</a:t>
                      </a:r>
                      <a:endParaRPr lang="zh-CN" altLang="en-US" sz="1200" b="1" i="0" dirty="0">
                        <a:solidFill>
                          <a:schemeClr val="bg1"/>
                        </a:solidFill>
                        <a:latin typeface="微软雅黑" panose="020B0503020204020204" pitchFamily="34" charset="-122"/>
                        <a:ea typeface="微软雅黑" panose="020B0503020204020204" pitchFamily="34" charset="-122"/>
                      </a:endParaRPr>
                    </a:p>
                  </a:txBody>
                  <a:tcPr marL="0" marR="76517" marT="76517" marB="765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zh-CN" altLang="en-US" sz="1200" b="1" i="0" dirty="0">
                          <a:solidFill>
                            <a:schemeClr val="bg1"/>
                          </a:solidFill>
                          <a:latin typeface="微软雅黑" panose="020B0503020204020204" pitchFamily="34" charset="-122"/>
                          <a:ea typeface="微软雅黑" panose="020B0503020204020204" pitchFamily="34" charset="-122"/>
                        </a:rPr>
                        <a:t>核心诊断目标</a:t>
                      </a:r>
                      <a:endParaRPr lang="zh-CN" altLang="en-US" sz="1200" b="1" i="0" dirty="0">
                        <a:solidFill>
                          <a:schemeClr val="bg1"/>
                        </a:solidFill>
                        <a:latin typeface="微软雅黑" panose="020B0503020204020204" pitchFamily="34" charset="-122"/>
                        <a:ea typeface="微软雅黑" panose="020B0503020204020204" pitchFamily="34" charset="-122"/>
                      </a:endParaRPr>
                    </a:p>
                  </a:txBody>
                  <a:tcPr marL="76517" marR="76517" marT="76517" marB="765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zh-CN" altLang="en-US" sz="1200" b="1" i="0" dirty="0">
                          <a:solidFill>
                            <a:schemeClr val="bg1"/>
                          </a:solidFill>
                          <a:latin typeface="微软雅黑" panose="020B0503020204020204" pitchFamily="34" charset="-122"/>
                          <a:ea typeface="微软雅黑" panose="020B0503020204020204" pitchFamily="34" charset="-122"/>
                        </a:rPr>
                        <a:t>成熟度</a:t>
                      </a:r>
                      <a:endParaRPr lang="zh-CN" altLang="en-US" sz="1200" b="1" i="0" dirty="0">
                        <a:solidFill>
                          <a:schemeClr val="bg1"/>
                        </a:solidFill>
                        <a:latin typeface="微软雅黑" panose="020B0503020204020204" pitchFamily="34" charset="-122"/>
                        <a:ea typeface="微软雅黑" panose="020B0503020204020204" pitchFamily="34" charset="-122"/>
                      </a:endParaRPr>
                    </a:p>
                  </a:txBody>
                  <a:tcPr marL="76517" marR="76517" marT="76517" marB="765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zh-CN" altLang="en-US" sz="1200" b="1" i="0" dirty="0">
                          <a:solidFill>
                            <a:schemeClr val="bg1"/>
                          </a:solidFill>
                          <a:latin typeface="微软雅黑" panose="020B0503020204020204" pitchFamily="34" charset="-122"/>
                          <a:ea typeface="微软雅黑" panose="020B0503020204020204" pitchFamily="34" charset="-122"/>
                        </a:rPr>
                        <a:t>精度可靠性</a:t>
                      </a:r>
                      <a:endParaRPr lang="zh-CN" altLang="en-US" sz="1200" b="1" i="0" dirty="0">
                        <a:solidFill>
                          <a:schemeClr val="bg1"/>
                        </a:solidFill>
                        <a:latin typeface="微软雅黑" panose="020B0503020204020204" pitchFamily="34" charset="-122"/>
                        <a:ea typeface="微软雅黑" panose="020B0503020204020204" pitchFamily="34" charset="-122"/>
                      </a:endParaRPr>
                    </a:p>
                  </a:txBody>
                  <a:tcPr marL="76517" marR="76517" marT="76517" marB="765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zh-CN" altLang="en-US" sz="1200" b="1" i="0" dirty="0">
                          <a:solidFill>
                            <a:schemeClr val="bg1"/>
                          </a:solidFill>
                          <a:latin typeface="微软雅黑" panose="020B0503020204020204" pitchFamily="34" charset="-122"/>
                          <a:ea typeface="微软雅黑" panose="020B0503020204020204" pitchFamily="34" charset="-122"/>
                        </a:rPr>
                        <a:t>典型误差来源</a:t>
                      </a:r>
                      <a:endParaRPr lang="zh-CN" altLang="en-US" sz="1200" b="1" i="0" dirty="0">
                        <a:solidFill>
                          <a:schemeClr val="bg1"/>
                        </a:solidFill>
                        <a:latin typeface="微软雅黑" panose="020B0503020204020204" pitchFamily="34" charset="-122"/>
                        <a:ea typeface="微软雅黑" panose="020B0503020204020204" pitchFamily="34" charset="-122"/>
                      </a:endParaRPr>
                    </a:p>
                  </a:txBody>
                  <a:tcPr marL="76517" marR="76517" marT="76517" marB="765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zh-CN" altLang="en-US" sz="1200" b="1" i="0" dirty="0">
                          <a:solidFill>
                            <a:schemeClr val="bg1"/>
                          </a:solidFill>
                          <a:latin typeface="微软雅黑" panose="020B0503020204020204" pitchFamily="34" charset="-122"/>
                          <a:ea typeface="微软雅黑" panose="020B0503020204020204" pitchFamily="34" charset="-122"/>
                        </a:rPr>
                        <a:t>适用场景</a:t>
                      </a:r>
                      <a:endParaRPr lang="zh-CN" altLang="en-US" sz="1200" b="1" i="0" dirty="0">
                        <a:solidFill>
                          <a:schemeClr val="bg1"/>
                        </a:solidFill>
                        <a:latin typeface="微软雅黑" panose="020B0503020204020204" pitchFamily="34" charset="-122"/>
                        <a:ea typeface="微软雅黑" panose="020B0503020204020204" pitchFamily="34" charset="-122"/>
                      </a:endParaRPr>
                    </a:p>
                  </a:txBody>
                  <a:tcPr marL="76517" marR="76517" marT="76517" marB="765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r h="670560">
                <a:tc>
                  <a:txBody>
                    <a:bodyPr/>
                    <a:lstStyle/>
                    <a:p>
                      <a:pPr algn="ctr"/>
                      <a:r>
                        <a:rPr lang="zh-CN" altLang="en-US" sz="1200" b="1" i="0" dirty="0">
                          <a:solidFill>
                            <a:schemeClr val="bg1"/>
                          </a:solidFill>
                          <a:latin typeface="微软雅黑" panose="020B0503020204020204" pitchFamily="34" charset="-122"/>
                          <a:ea typeface="微软雅黑" panose="020B0503020204020204" pitchFamily="34" charset="-122"/>
                        </a:rPr>
                        <a:t>微地震监测</a:t>
                      </a:r>
                      <a:endParaRPr lang="zh-CN" altLang="en-US" sz="1200" b="1" i="0" dirty="0">
                        <a:solidFill>
                          <a:schemeClr val="bg1"/>
                        </a:solidFill>
                        <a:latin typeface="微软雅黑" panose="020B0503020204020204" pitchFamily="34" charset="-122"/>
                        <a:ea typeface="微软雅黑" panose="020B0503020204020204" pitchFamily="34" charset="-122"/>
                      </a:endParaRPr>
                    </a:p>
                  </a:txBody>
                  <a:tcPr marL="0" marR="76517" marT="76517" marB="765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zh-CN" altLang="en-US" sz="1200" b="0" i="0" dirty="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裂缝方位</a:t>
                      </a:r>
                      <a:r>
                        <a:rPr lang="en-US" altLang="zh-CN" sz="1200" b="0" i="0" dirty="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b="0" i="0" dirty="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高度、</a:t>
                      </a:r>
                      <a:r>
                        <a:rPr lang="en-US" altLang="zh-CN" sz="1200" b="0" i="0" dirty="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SRV</a:t>
                      </a:r>
                      <a:r>
                        <a:rPr lang="zh-CN" altLang="en-US" sz="1200" b="0" i="0" dirty="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范围</a:t>
                      </a:r>
                      <a:endParaRPr lang="zh-CN" altLang="en-US" sz="1200" b="0" i="0" dirty="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6517" marR="76517" marT="76517" marB="765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200" b="0" i="0">
                          <a:solidFill>
                            <a:srgbClr val="404040"/>
                          </a:solidFill>
                          <a:latin typeface="微软雅黑" panose="020B0503020204020204" pitchFamily="34" charset="-122"/>
                          <a:ea typeface="微软雅黑" panose="020B0503020204020204" pitchFamily="34" charset="-122"/>
                        </a:rPr>
                        <a:t>★★★★★</a:t>
                      </a:r>
                      <a:endParaRPr lang="en-US" altLang="zh-CN" sz="1200" b="0" i="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裂缝方位角误差</a:t>
                      </a:r>
                      <a:r>
                        <a:rPr lang="en-US" altLang="zh-CN"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±10°</a:t>
                      </a: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，高度误差</a:t>
                      </a:r>
                      <a:r>
                        <a:rPr lang="en-US" altLang="zh-CN"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±20%</a:t>
                      </a: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SRV</a:t>
                      </a: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计算误差</a:t>
                      </a:r>
                      <a:r>
                        <a:rPr lang="en-US" altLang="zh-CN"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±15%</a:t>
                      </a: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（受速度模型影响）</a:t>
                      </a:r>
                      <a:endPar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6517" marR="76517" marT="76517" marB="765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b="0" i="0">
                          <a:solidFill>
                            <a:srgbClr val="404040"/>
                          </a:solidFill>
                          <a:latin typeface="微软雅黑" panose="020B0503020204020204" pitchFamily="34" charset="-122"/>
                          <a:ea typeface="微软雅黑" panose="020B0503020204020204" pitchFamily="34" charset="-122"/>
                        </a:rPr>
                        <a:t>传感器布设偏移、各向异性</a:t>
                      </a:r>
                      <a:endParaRPr lang="zh-CN" altLang="en-US" sz="1200" b="0" i="0">
                        <a:solidFill>
                          <a:srgbClr val="404040"/>
                        </a:solidFill>
                        <a:latin typeface="微软雅黑" panose="020B0503020204020204" pitchFamily="34" charset="-122"/>
                        <a:ea typeface="微软雅黑" panose="020B0503020204020204" pitchFamily="34" charset="-122"/>
                      </a:endParaRPr>
                    </a:p>
                    <a:p>
                      <a:pPr algn="ctr"/>
                      <a:r>
                        <a:rPr lang="zh-CN" altLang="en-US" sz="1200" b="0" i="0">
                          <a:solidFill>
                            <a:srgbClr val="404040"/>
                          </a:solidFill>
                          <a:latin typeface="微软雅黑" panose="020B0503020204020204" pitchFamily="34" charset="-122"/>
                          <a:ea typeface="微软雅黑" panose="020B0503020204020204" pitchFamily="34" charset="-122"/>
                        </a:rPr>
                        <a:t>速度建模误差</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页岩</a:t>
                      </a:r>
                      <a:r>
                        <a:rPr lang="en-US" altLang="zh-CN"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致密储层，井深</a:t>
                      </a:r>
                      <a:r>
                        <a:rPr lang="en-US" altLang="zh-CN"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&lt;4500m</a:t>
                      </a:r>
                      <a:endParaRPr lang="en-US" altLang="zh-CN"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6517" marR="76517" marT="76517" marB="765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668655">
                <a:tc>
                  <a:txBody>
                    <a:bodyPr/>
                    <a:lstStyle/>
                    <a:p>
                      <a:pPr algn="ctr"/>
                      <a:r>
                        <a:rPr lang="zh-CN" altLang="en-US" sz="1200" b="1" i="0" dirty="0">
                          <a:solidFill>
                            <a:schemeClr val="bg1"/>
                          </a:solidFill>
                          <a:latin typeface="微软雅黑" panose="020B0503020204020204" pitchFamily="34" charset="-122"/>
                          <a:ea typeface="微软雅黑" panose="020B0503020204020204" pitchFamily="34" charset="-122"/>
                        </a:rPr>
                        <a:t>分布式光纤传感</a:t>
                      </a:r>
                      <a:endParaRPr lang="zh-CN" altLang="en-US" sz="1200" b="1" i="0" dirty="0">
                        <a:solidFill>
                          <a:schemeClr val="bg1"/>
                        </a:solidFill>
                        <a:latin typeface="微软雅黑" panose="020B0503020204020204" pitchFamily="34" charset="-122"/>
                        <a:ea typeface="微软雅黑" panose="020B0503020204020204" pitchFamily="34" charset="-122"/>
                      </a:endParaRPr>
                    </a:p>
                  </a:txBody>
                  <a:tcPr marL="0" marR="76517" marT="76517" marB="765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zh-CN" altLang="en-US" sz="1200" b="0" i="0" dirty="0">
                          <a:solidFill>
                            <a:srgbClr val="404040"/>
                          </a:solidFill>
                          <a:latin typeface="微软雅黑" panose="020B0503020204020204" pitchFamily="34" charset="-122"/>
                          <a:ea typeface="微软雅黑" panose="020B0503020204020204" pitchFamily="34" charset="-122"/>
                        </a:rPr>
                        <a:t>簇效率、裂缝起始点、</a:t>
                      </a:r>
                      <a:endParaRPr lang="zh-CN" altLang="en-US" sz="1200" b="0" i="0" dirty="0">
                        <a:solidFill>
                          <a:srgbClr val="404040"/>
                        </a:solidFill>
                        <a:latin typeface="微软雅黑" panose="020B0503020204020204" pitchFamily="34" charset="-122"/>
                        <a:ea typeface="微软雅黑" panose="020B0503020204020204" pitchFamily="34" charset="-122"/>
                      </a:endParaRPr>
                    </a:p>
                    <a:p>
                      <a:pPr algn="ctr"/>
                      <a:r>
                        <a:rPr lang="zh-CN" altLang="en-US" sz="1200" b="0" i="0" dirty="0">
                          <a:solidFill>
                            <a:srgbClr val="404040"/>
                          </a:solidFill>
                          <a:latin typeface="微软雅黑" panose="020B0503020204020204" pitchFamily="34" charset="-122"/>
                          <a:ea typeface="微软雅黑" panose="020B0503020204020204" pitchFamily="34" charset="-122"/>
                        </a:rPr>
                        <a:t>扩展均匀性</a:t>
                      </a:r>
                      <a:endParaRPr lang="zh-CN" altLang="en-US" sz="1200" b="0" i="0" dirty="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200" b="0" i="0" dirty="0">
                          <a:solidFill>
                            <a:srgbClr val="404040"/>
                          </a:solidFill>
                          <a:latin typeface="微软雅黑" panose="020B0503020204020204" pitchFamily="34" charset="-122"/>
                          <a:ea typeface="微软雅黑" panose="020B0503020204020204" pitchFamily="34" charset="-122"/>
                        </a:rPr>
                        <a:t>★★★</a:t>
                      </a:r>
                      <a:r>
                        <a:rPr lang="zh-CN" altLang="en-US" sz="1200" b="0" i="0" dirty="0">
                          <a:solidFill>
                            <a:srgbClr val="404040"/>
                          </a:solidFill>
                          <a:latin typeface="微软雅黑" panose="020B0503020204020204" pitchFamily="34" charset="-122"/>
                          <a:ea typeface="微软雅黑" panose="020B0503020204020204" pitchFamily="34" charset="-122"/>
                        </a:rPr>
                        <a:t>☆☆</a:t>
                      </a:r>
                      <a:endParaRPr lang="zh-CN" altLang="en-US" sz="1200" b="0" i="0" dirty="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b="0" i="0" dirty="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温度分辨率</a:t>
                      </a:r>
                      <a:r>
                        <a:rPr lang="en-US" altLang="zh-CN" sz="1200" b="0" i="0" dirty="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±0.1℃</a:t>
                      </a:r>
                      <a:r>
                        <a:rPr lang="zh-CN" altLang="en-US" sz="1200" b="0" i="0" dirty="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200" b="0" i="0" dirty="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DTS</a:t>
                      </a:r>
                      <a:r>
                        <a:rPr lang="zh-CN" altLang="en-US" sz="1200" b="0" i="0" dirty="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），应变分辨率</a:t>
                      </a:r>
                      <a:r>
                        <a:rPr lang="en-US" altLang="zh-CN" sz="1200" b="0" i="0" dirty="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±5με</a:t>
                      </a:r>
                      <a:r>
                        <a:rPr lang="zh-CN" altLang="en-US" sz="1200" b="0" i="0" dirty="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200" b="0" i="0" dirty="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DAS</a:t>
                      </a:r>
                      <a:r>
                        <a:rPr lang="zh-CN" altLang="en-US" sz="1200" b="0" i="0" dirty="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）；裂缝定位误差</a:t>
                      </a:r>
                      <a:r>
                        <a:rPr lang="en-US" altLang="zh-CN" sz="1200" b="0" i="0" dirty="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±3m</a:t>
                      </a:r>
                      <a:endParaRPr lang="en-US" altLang="zh-CN" sz="1200" b="0" i="0" dirty="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6517" marR="76517" marT="76517" marB="765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b="0" i="0">
                          <a:solidFill>
                            <a:srgbClr val="404040"/>
                          </a:solidFill>
                          <a:latin typeface="微软雅黑" panose="020B0503020204020204" pitchFamily="34" charset="-122"/>
                          <a:ea typeface="微软雅黑" panose="020B0503020204020204" pitchFamily="34" charset="-122"/>
                        </a:rPr>
                        <a:t>井筒完整性差时信号衰减，套管影响</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b="0" i="0" dirty="0">
                          <a:solidFill>
                            <a:srgbClr val="404040"/>
                          </a:solidFill>
                          <a:latin typeface="微软雅黑" panose="020B0503020204020204" pitchFamily="34" charset="-122"/>
                          <a:ea typeface="微软雅黑" panose="020B0503020204020204" pitchFamily="34" charset="-122"/>
                        </a:rPr>
                        <a:t>水平井多段压裂</a:t>
                      </a:r>
                      <a:endParaRPr lang="zh-CN" altLang="en-US" sz="1200" b="0" i="0" dirty="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546735">
                <a:tc>
                  <a:txBody>
                    <a:bodyPr/>
                    <a:lstStyle/>
                    <a:p>
                      <a:pPr algn="ctr"/>
                      <a:r>
                        <a:rPr lang="zh-CN" altLang="en-US" sz="1200" b="1" i="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化学</a:t>
                      </a:r>
                      <a:r>
                        <a:rPr lang="en-US" altLang="zh-CN" sz="1200" b="1" i="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b="1" i="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放射性示踪剂</a:t>
                      </a:r>
                      <a:endParaRPr lang="zh-CN" altLang="en-US" sz="1200" b="1" i="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0" marR="76517" marT="76517" marB="765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zh-CN" altLang="en-US" sz="1200" b="0" i="0" dirty="0">
                          <a:solidFill>
                            <a:srgbClr val="404040"/>
                          </a:solidFill>
                          <a:latin typeface="微软雅黑" panose="020B0503020204020204" pitchFamily="34" charset="-122"/>
                          <a:ea typeface="微软雅黑" panose="020B0503020204020204" pitchFamily="34" charset="-122"/>
                        </a:rPr>
                        <a:t>簇间进液比例、支撑剂分布</a:t>
                      </a:r>
                      <a:endParaRPr lang="zh-CN" altLang="en-US" sz="1200" b="0" i="0" dirty="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200" b="0" i="0">
                          <a:solidFill>
                            <a:srgbClr val="404040"/>
                          </a:solidFill>
                          <a:latin typeface="微软雅黑" panose="020B0503020204020204" pitchFamily="34" charset="-122"/>
                          <a:ea typeface="微软雅黑" panose="020B0503020204020204" pitchFamily="34" charset="-122"/>
                        </a:rPr>
                        <a:t>★★★</a:t>
                      </a:r>
                      <a:r>
                        <a:rPr lang="zh-CN" altLang="en-US" sz="1200" b="0" i="0">
                          <a:solidFill>
                            <a:srgbClr val="404040"/>
                          </a:solidFill>
                          <a:latin typeface="微软雅黑" panose="020B0503020204020204" pitchFamily="34" charset="-122"/>
                          <a:ea typeface="微软雅黑" panose="020B0503020204020204" pitchFamily="34" charset="-122"/>
                        </a:rPr>
                        <a:t>☆☆</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b="0" i="0" dirty="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进液比例定量误差</a:t>
                      </a:r>
                      <a:r>
                        <a:rPr lang="en-US" altLang="zh-CN" sz="1200" b="0" i="0" dirty="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±35%</a:t>
                      </a:r>
                      <a:r>
                        <a:rPr lang="zh-CN" altLang="en-US" sz="1200" b="0" i="0" dirty="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（吸附效应干扰）；支撑剂运移距离误差</a:t>
                      </a:r>
                      <a:r>
                        <a:rPr lang="en-US" altLang="zh-CN" sz="1200" b="0" i="0" dirty="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±25%</a:t>
                      </a:r>
                      <a:endParaRPr lang="en-US" altLang="zh-CN" sz="1200" b="0" i="0" dirty="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6517" marR="76517" marT="76517" marB="765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b="0" i="0">
                          <a:solidFill>
                            <a:srgbClr val="404040"/>
                          </a:solidFill>
                          <a:latin typeface="微软雅黑" panose="020B0503020204020204" pitchFamily="34" charset="-122"/>
                          <a:ea typeface="微软雅黑" panose="020B0503020204020204" pitchFamily="34" charset="-122"/>
                        </a:rPr>
                        <a:t>地层吸附、返排率低导致数据失真</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b="0" i="0">
                          <a:solidFill>
                            <a:srgbClr val="404040"/>
                          </a:solidFill>
                          <a:latin typeface="微软雅黑" panose="020B0503020204020204" pitchFamily="34" charset="-122"/>
                          <a:ea typeface="微软雅黑" panose="020B0503020204020204" pitchFamily="34" charset="-122"/>
                        </a:rPr>
                        <a:t>低吸附性储层</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546735">
                <a:tc>
                  <a:txBody>
                    <a:bodyPr/>
                    <a:lstStyle/>
                    <a:p>
                      <a:pPr algn="ctr"/>
                      <a:r>
                        <a:rPr lang="zh-CN" altLang="en-US" sz="1200" b="1" i="0" dirty="0">
                          <a:solidFill>
                            <a:schemeClr val="bg1"/>
                          </a:solidFill>
                          <a:latin typeface="微软雅黑" panose="020B0503020204020204" pitchFamily="34" charset="-122"/>
                          <a:ea typeface="微软雅黑" panose="020B0503020204020204" pitchFamily="34" charset="-122"/>
                        </a:rPr>
                        <a:t>停泵压降分析</a:t>
                      </a:r>
                      <a:endParaRPr lang="zh-CN" altLang="en-US" sz="1200" b="1" i="0" dirty="0">
                        <a:solidFill>
                          <a:schemeClr val="bg1"/>
                        </a:solidFill>
                        <a:latin typeface="微软雅黑" panose="020B0503020204020204" pitchFamily="34" charset="-122"/>
                        <a:ea typeface="微软雅黑" panose="020B0503020204020204" pitchFamily="34" charset="-122"/>
                      </a:endParaRPr>
                    </a:p>
                  </a:txBody>
                  <a:tcPr marL="0" marR="76517" marT="76517" marB="765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zh-CN" altLang="en-US" sz="1200" b="0" i="0">
                          <a:solidFill>
                            <a:srgbClr val="404040"/>
                          </a:solidFill>
                          <a:latin typeface="微软雅黑" panose="020B0503020204020204" pitchFamily="34" charset="-122"/>
                          <a:ea typeface="微软雅黑" panose="020B0503020204020204" pitchFamily="34" charset="-122"/>
                        </a:rPr>
                        <a:t>近井裂缝入口位置、</a:t>
                      </a:r>
                      <a:endParaRPr lang="zh-CN" altLang="en-US" sz="1200" b="0" i="0">
                        <a:solidFill>
                          <a:srgbClr val="404040"/>
                        </a:solidFill>
                        <a:latin typeface="微软雅黑" panose="020B0503020204020204" pitchFamily="34" charset="-122"/>
                        <a:ea typeface="微软雅黑" panose="020B0503020204020204" pitchFamily="34" charset="-122"/>
                      </a:endParaRPr>
                    </a:p>
                    <a:p>
                      <a:pPr algn="ctr"/>
                      <a:r>
                        <a:rPr lang="zh-CN" altLang="en-US" sz="1200" b="0" i="0">
                          <a:solidFill>
                            <a:srgbClr val="404040"/>
                          </a:solidFill>
                          <a:latin typeface="微软雅黑" panose="020B0503020204020204" pitchFamily="34" charset="-122"/>
                          <a:ea typeface="微软雅黑" panose="020B0503020204020204" pitchFamily="34" charset="-122"/>
                        </a:rPr>
                        <a:t>缝洞沟通诊断</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200" b="0" i="0">
                          <a:solidFill>
                            <a:srgbClr val="404040"/>
                          </a:solidFill>
                          <a:latin typeface="微软雅黑" panose="020B0503020204020204" pitchFamily="34" charset="-122"/>
                          <a:ea typeface="微软雅黑" panose="020B0503020204020204" pitchFamily="34" charset="-122"/>
                        </a:rPr>
                        <a:t>★★★★</a:t>
                      </a:r>
                      <a:r>
                        <a:rPr lang="zh-CN" altLang="en-US" sz="1200" b="0" i="0">
                          <a:solidFill>
                            <a:srgbClr val="404040"/>
                          </a:solidFill>
                          <a:latin typeface="微软雅黑" panose="020B0503020204020204" pitchFamily="34" charset="-122"/>
                          <a:ea typeface="微软雅黑" panose="020B0503020204020204" pitchFamily="34" charset="-122"/>
                        </a:rPr>
                        <a:t>☆</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进液点定位精度</a:t>
                      </a:r>
                      <a:r>
                        <a:rPr lang="en-US" altLang="zh-CN"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±30m</a:t>
                      </a: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；缝洞沟通识别准确率</a:t>
                      </a:r>
                      <a:r>
                        <a:rPr lang="en-US" altLang="zh-CN"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&gt;80%</a:t>
                      </a: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（需高采样率压力计）</a:t>
                      </a:r>
                      <a:endPar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6517" marR="76517" marT="76517" marB="765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b="0" i="0" dirty="0">
                          <a:solidFill>
                            <a:srgbClr val="404040"/>
                          </a:solidFill>
                          <a:latin typeface="微软雅黑" panose="020B0503020204020204" pitchFamily="34" charset="-122"/>
                          <a:ea typeface="微软雅黑" panose="020B0503020204020204" pitchFamily="34" charset="-122"/>
                        </a:rPr>
                        <a:t>低渗透储层压降缓慢，数据解读多解性</a:t>
                      </a:r>
                      <a:endParaRPr lang="zh-CN" altLang="en-US" sz="1200" b="0" i="0" dirty="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b="0" i="0">
                          <a:solidFill>
                            <a:srgbClr val="404040"/>
                          </a:solidFill>
                          <a:latin typeface="微软雅黑" panose="020B0503020204020204" pitchFamily="34" charset="-122"/>
                          <a:ea typeface="微软雅黑" panose="020B0503020204020204" pitchFamily="34" charset="-122"/>
                        </a:rPr>
                        <a:t>碳酸盐岩缝洞型储层</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546100">
                <a:tc>
                  <a:txBody>
                    <a:bodyPr/>
                    <a:lstStyle/>
                    <a:p>
                      <a:pPr algn="ctr"/>
                      <a:r>
                        <a:rPr lang="zh-CN" altLang="en-US" sz="1200" b="1" i="0" dirty="0">
                          <a:solidFill>
                            <a:schemeClr val="bg1"/>
                          </a:solidFill>
                          <a:latin typeface="微软雅黑" panose="020B0503020204020204" pitchFamily="34" charset="-122"/>
                          <a:ea typeface="微软雅黑" panose="020B0503020204020204" pitchFamily="34" charset="-122"/>
                        </a:rPr>
                        <a:t>电磁监测</a:t>
                      </a:r>
                      <a:endParaRPr lang="zh-CN" altLang="en-US" sz="1200" b="1" i="0" dirty="0">
                        <a:solidFill>
                          <a:schemeClr val="bg1"/>
                        </a:solidFill>
                        <a:latin typeface="微软雅黑" panose="020B0503020204020204" pitchFamily="34" charset="-122"/>
                        <a:ea typeface="微软雅黑" panose="020B0503020204020204" pitchFamily="34" charset="-122"/>
                      </a:endParaRPr>
                    </a:p>
                  </a:txBody>
                  <a:tcPr marL="0" marR="76517" marT="76517" marB="765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zh-CN" altLang="en-US" sz="1200" b="0" i="0">
                          <a:solidFill>
                            <a:srgbClr val="404040"/>
                          </a:solidFill>
                          <a:latin typeface="微软雅黑" panose="020B0503020204020204" pitchFamily="34" charset="-122"/>
                          <a:ea typeface="微软雅黑" panose="020B0503020204020204" pitchFamily="34" charset="-122"/>
                        </a:rPr>
                        <a:t>裂缝长度、不对称扩展</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200" b="0" i="0">
                          <a:solidFill>
                            <a:srgbClr val="404040"/>
                          </a:solidFill>
                          <a:latin typeface="微软雅黑" panose="020B0503020204020204" pitchFamily="34" charset="-122"/>
                          <a:ea typeface="微软雅黑" panose="020B0503020204020204" pitchFamily="34" charset="-122"/>
                        </a:rPr>
                        <a:t>★★</a:t>
                      </a:r>
                      <a:r>
                        <a:rPr lang="zh-CN" altLang="en-US" sz="1200" b="0" i="0">
                          <a:solidFill>
                            <a:srgbClr val="404040"/>
                          </a:solidFill>
                          <a:latin typeface="微软雅黑" panose="020B0503020204020204" pitchFamily="34" charset="-122"/>
                          <a:ea typeface="微软雅黑" panose="020B0503020204020204" pitchFamily="34" charset="-122"/>
                        </a:rPr>
                        <a:t>☆☆☆</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裂缝长度误差</a:t>
                      </a:r>
                      <a:r>
                        <a:rPr lang="en-US" altLang="zh-CN"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±10%</a:t>
                      </a: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（理想条件），实际现场</a:t>
                      </a:r>
                      <a:r>
                        <a:rPr lang="en-US" altLang="zh-CN"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±25%</a:t>
                      </a: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；成本为微地震</a:t>
                      </a:r>
                      <a:r>
                        <a:rPr lang="en-US" altLang="zh-CN"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倍</a:t>
                      </a:r>
                      <a:endPar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6517" marR="76517" marT="76517" marB="765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b="0" i="0" dirty="0">
                          <a:solidFill>
                            <a:srgbClr val="404040"/>
                          </a:solidFill>
                          <a:latin typeface="微软雅黑" panose="020B0503020204020204" pitchFamily="34" charset="-122"/>
                          <a:ea typeface="微软雅黑" panose="020B0503020204020204" pitchFamily="34" charset="-122"/>
                        </a:rPr>
                        <a:t>地层电性非均质性强时反演困难</a:t>
                      </a:r>
                      <a:endParaRPr lang="zh-CN" altLang="en-US" sz="1200" b="0" i="0" dirty="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浅层</a:t>
                      </a:r>
                      <a:r>
                        <a:rPr lang="en-US" altLang="zh-CN"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(&lt;2500m)</a:t>
                      </a: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试验井</a:t>
                      </a:r>
                      <a:endPar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6517" marR="76517" marT="76517" marB="765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546735">
                <a:tc>
                  <a:txBody>
                    <a:bodyPr/>
                    <a:lstStyle/>
                    <a:p>
                      <a:pPr algn="ctr"/>
                      <a:r>
                        <a:rPr lang="zh-CN" altLang="en-US" sz="1200" b="1" i="0" dirty="0">
                          <a:solidFill>
                            <a:schemeClr val="bg1"/>
                          </a:solidFill>
                          <a:latin typeface="微软雅黑" panose="020B0503020204020204" pitchFamily="34" charset="-122"/>
                          <a:ea typeface="微软雅黑" panose="020B0503020204020204" pitchFamily="34" charset="-122"/>
                        </a:rPr>
                        <a:t>压裂反演模拟</a:t>
                      </a:r>
                      <a:endParaRPr lang="zh-CN" altLang="en-US" sz="1200" b="1" i="0" dirty="0">
                        <a:solidFill>
                          <a:schemeClr val="bg1"/>
                        </a:solidFill>
                        <a:latin typeface="微软雅黑" panose="020B0503020204020204" pitchFamily="34" charset="-122"/>
                        <a:ea typeface="微软雅黑" panose="020B0503020204020204" pitchFamily="34" charset="-122"/>
                      </a:endParaRPr>
                    </a:p>
                  </a:txBody>
                  <a:tcPr marL="0" marR="76517" marT="76517" marB="765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zh-CN" altLang="en-US" sz="1200" b="0" i="0">
                          <a:solidFill>
                            <a:srgbClr val="404040"/>
                          </a:solidFill>
                          <a:latin typeface="微软雅黑" panose="020B0503020204020204" pitchFamily="34" charset="-122"/>
                          <a:ea typeface="微软雅黑" panose="020B0503020204020204" pitchFamily="34" charset="-122"/>
                        </a:rPr>
                        <a:t>等效缝长、导流能力分布</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200" b="0" i="0">
                          <a:solidFill>
                            <a:srgbClr val="404040"/>
                          </a:solidFill>
                          <a:latin typeface="微软雅黑" panose="020B0503020204020204" pitchFamily="34" charset="-122"/>
                          <a:ea typeface="微软雅黑" panose="020B0503020204020204" pitchFamily="34" charset="-122"/>
                        </a:rPr>
                        <a:t>★★★</a:t>
                      </a:r>
                      <a:r>
                        <a:rPr lang="zh-CN" altLang="en-US" sz="1200" b="0" i="0">
                          <a:solidFill>
                            <a:srgbClr val="404040"/>
                          </a:solidFill>
                          <a:latin typeface="微软雅黑" panose="020B0503020204020204" pitchFamily="34" charset="-122"/>
                          <a:ea typeface="微软雅黑" panose="020B0503020204020204" pitchFamily="34" charset="-122"/>
                        </a:rPr>
                        <a:t>☆☆</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历史匹配误差</a:t>
                      </a:r>
                      <a:r>
                        <a:rPr lang="en-US" altLang="zh-CN"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&gt;30%</a:t>
                      </a: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；导流能力预测误差</a:t>
                      </a:r>
                      <a:r>
                        <a:rPr lang="en-US" altLang="zh-CN"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±40%</a:t>
                      </a:r>
                      <a:r>
                        <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（高度依赖地质模型）</a:t>
                      </a:r>
                      <a:endParaRPr lang="zh-CN" altLang="en-US" sz="1200" b="0" i="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6517" marR="76517" marT="76517" marB="765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b="0" i="0">
                          <a:solidFill>
                            <a:srgbClr val="404040"/>
                          </a:solidFill>
                          <a:latin typeface="微软雅黑" panose="020B0503020204020204" pitchFamily="34" charset="-122"/>
                          <a:ea typeface="微软雅黑" panose="020B0503020204020204" pitchFamily="34" charset="-122"/>
                        </a:rPr>
                        <a:t>模型简化忽略复杂裂缝相互作用</a:t>
                      </a:r>
                      <a:endParaRPr lang="zh-CN" altLang="en-US" sz="1200" b="0" i="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b="0" i="0" dirty="0">
                          <a:solidFill>
                            <a:srgbClr val="404040"/>
                          </a:solidFill>
                          <a:latin typeface="微软雅黑" panose="020B0503020204020204" pitchFamily="34" charset="-122"/>
                          <a:ea typeface="微软雅黑" panose="020B0503020204020204" pitchFamily="34" charset="-122"/>
                        </a:rPr>
                        <a:t>地质条件清晰区块</a:t>
                      </a:r>
                      <a:endParaRPr lang="zh-CN" altLang="en-US" sz="1200" b="0" i="0" dirty="0">
                        <a:solidFill>
                          <a:srgbClr val="404040"/>
                        </a:solidFill>
                        <a:latin typeface="微软雅黑" panose="020B0503020204020204" pitchFamily="34" charset="-122"/>
                        <a:ea typeface="微软雅黑" panose="020B0503020204020204" pitchFamily="34" charset="-122"/>
                      </a:endParaRPr>
                    </a:p>
                  </a:txBody>
                  <a:tcPr marL="76517" marR="76517" marT="76517" marB="765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
        <p:nvSpPr>
          <p:cNvPr id="19" name="矩形 22"/>
          <p:cNvSpPr>
            <a:spLocks noChangeArrowheads="1"/>
          </p:cNvSpPr>
          <p:nvPr/>
        </p:nvSpPr>
        <p:spPr bwMode="auto">
          <a:xfrm>
            <a:off x="334645" y="6040120"/>
            <a:ext cx="11430000"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latin typeface="微软雅黑" panose="020B0503020204020204" pitchFamily="34" charset="-122"/>
                <a:ea typeface="微软雅黑" panose="020B0503020204020204" pitchFamily="34" charset="-122"/>
              </a:rPr>
              <a:t>常用监测评价方法统计分析</a:t>
            </a:r>
            <a:endParaRPr lang="zh-CN" altLang="en-US" sz="1200" dirty="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7"/>
          <p:cNvSpPr txBox="1"/>
          <p:nvPr/>
        </p:nvSpPr>
        <p:spPr bwMode="auto">
          <a:xfrm>
            <a:off x="320061" y="888766"/>
            <a:ext cx="11551878" cy="368300"/>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、页岩气井压裂效果量化评价指标筛选与权重分析</a:t>
            </a:r>
            <a:endParaRPr lang="zh-CN" altLang="en-US" dirty="0">
              <a:latin typeface="微软雅黑" panose="020B0503020204020204" pitchFamily="34" charset="-122"/>
              <a:ea typeface="微软雅黑" panose="020B0503020204020204" pitchFamily="34" charset="-122"/>
            </a:endParaRPr>
          </a:p>
        </p:txBody>
      </p:sp>
      <p:sp>
        <p:nvSpPr>
          <p:cNvPr id="37" name="Rectangle 11"/>
          <p:cNvSpPr>
            <a:spLocks noChangeArrowheads="1"/>
          </p:cNvSpPr>
          <p:nvPr/>
        </p:nvSpPr>
        <p:spPr bwMode="auto">
          <a:xfrm>
            <a:off x="8890" y="-41275"/>
            <a:ext cx="1218120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（二）主要研究内容</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334329" y="1319605"/>
            <a:ext cx="11485562" cy="829945"/>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b="1" dirty="0">
                <a:solidFill>
                  <a:prstClr val="black"/>
                </a:solidFill>
                <a:latin typeface="微软雅黑" panose="020B0503020204020204" pitchFamily="34" charset="-122"/>
                <a:ea typeface="微软雅黑" panose="020B0503020204020204" pitchFamily="34" charset="-122"/>
              </a:rPr>
              <a:t>①</a:t>
            </a:r>
            <a:r>
              <a:rPr lang="zh-CN" altLang="en-US" sz="1600" b="1" dirty="0">
                <a:solidFill>
                  <a:prstClr val="black"/>
                </a:solidFill>
                <a:latin typeface="微软雅黑" panose="020B0503020204020204" pitchFamily="34" charset="-122"/>
                <a:ea typeface="微软雅黑" panose="020B0503020204020204" pitchFamily="34" charset="-122"/>
                <a:sym typeface="+mn-ea"/>
              </a:rPr>
              <a:t>分布式光纤压裂监测技术：</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利用相干瑞利散射光的相位幅值大小来提供声音或振动事件强度信息，或</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利用相位差计算应变</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。目前邻井</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DAS</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远场应变监测主要应用于</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反演计算水力裂缝几何参数</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 </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压窜邻井评价</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和</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多簇裂缝扩展均匀性评价</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等方面。</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2" name="图片 1"/>
          <p:cNvPicPr>
            <a:picLocks noChangeAspect="1"/>
          </p:cNvPicPr>
          <p:nvPr/>
        </p:nvPicPr>
        <p:blipFill>
          <a:blip r:embed="rId1"/>
          <a:stretch>
            <a:fillRect/>
          </a:stretch>
        </p:blipFill>
        <p:spPr>
          <a:xfrm>
            <a:off x="433705" y="2322830"/>
            <a:ext cx="4371975" cy="3626485"/>
          </a:xfrm>
          <a:prstGeom prst="rect">
            <a:avLst/>
          </a:prstGeom>
        </p:spPr>
      </p:pic>
      <p:sp>
        <p:nvSpPr>
          <p:cNvPr id="28" name="矩形 22"/>
          <p:cNvSpPr>
            <a:spLocks noChangeArrowheads="1"/>
          </p:cNvSpPr>
          <p:nvPr/>
        </p:nvSpPr>
        <p:spPr bwMode="auto">
          <a:xfrm>
            <a:off x="433705" y="6040120"/>
            <a:ext cx="4373880"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利用相干瑞利散射光的相位幅值计算应变</a:t>
            </a:r>
            <a:endParaRPr lang="zh-CN" altLang="en-US" sz="1200" dirty="0">
              <a:solidFill>
                <a:srgbClr val="000000"/>
              </a:solidFill>
              <a:latin typeface="微软雅黑" panose="020B0503020204020204" pitchFamily="34" charset="-122"/>
              <a:ea typeface="微软雅黑" panose="020B0503020204020204" pitchFamily="34" charset="-122"/>
            </a:endParaRPr>
          </a:p>
        </p:txBody>
      </p:sp>
      <p:pic>
        <p:nvPicPr>
          <p:cNvPr id="12" name="图片 11"/>
          <p:cNvPicPr>
            <a:picLocks noChangeAspect="1"/>
          </p:cNvPicPr>
          <p:nvPr/>
        </p:nvPicPr>
        <p:blipFill>
          <a:blip r:embed="rId2"/>
          <a:stretch>
            <a:fillRect/>
          </a:stretch>
        </p:blipFill>
        <p:spPr>
          <a:xfrm>
            <a:off x="5073015" y="2211705"/>
            <a:ext cx="3240000" cy="1695349"/>
          </a:xfrm>
          <a:prstGeom prst="rect">
            <a:avLst/>
          </a:prstGeom>
        </p:spPr>
      </p:pic>
      <p:pic>
        <p:nvPicPr>
          <p:cNvPr id="13" name="图片 12"/>
          <p:cNvPicPr>
            <a:picLocks noChangeAspect="1"/>
          </p:cNvPicPr>
          <p:nvPr/>
        </p:nvPicPr>
        <p:blipFill>
          <a:blip r:embed="rId3"/>
          <a:stretch>
            <a:fillRect/>
          </a:stretch>
        </p:blipFill>
        <p:spPr>
          <a:xfrm>
            <a:off x="5073650" y="5679440"/>
            <a:ext cx="3240000" cy="305353"/>
          </a:xfrm>
          <a:prstGeom prst="rect">
            <a:avLst/>
          </a:prstGeom>
        </p:spPr>
      </p:pic>
      <p:pic>
        <p:nvPicPr>
          <p:cNvPr id="14" name="图片 13"/>
          <p:cNvPicPr>
            <a:picLocks noChangeAspect="1"/>
          </p:cNvPicPr>
          <p:nvPr/>
        </p:nvPicPr>
        <p:blipFill>
          <a:blip r:embed="rId4"/>
          <a:stretch>
            <a:fillRect/>
          </a:stretch>
        </p:blipFill>
        <p:spPr>
          <a:xfrm>
            <a:off x="5073650" y="3928745"/>
            <a:ext cx="3240000" cy="1729077"/>
          </a:xfrm>
          <a:prstGeom prst="rect">
            <a:avLst/>
          </a:prstGeom>
        </p:spPr>
      </p:pic>
      <p:pic>
        <p:nvPicPr>
          <p:cNvPr id="15" name="图片 1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580120" y="2211705"/>
            <a:ext cx="3239770" cy="1729740"/>
          </a:xfrm>
          <a:prstGeom prst="rect">
            <a:avLst/>
          </a:prstGeom>
        </p:spPr>
      </p:pic>
      <p:pic>
        <p:nvPicPr>
          <p:cNvPr id="16" name="图片 1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580120" y="3980180"/>
            <a:ext cx="3240000" cy="1922384"/>
          </a:xfrm>
          <a:prstGeom prst="rect">
            <a:avLst/>
          </a:prstGeom>
        </p:spPr>
      </p:pic>
      <p:sp>
        <p:nvSpPr>
          <p:cNvPr id="17" name="矩形 22"/>
          <p:cNvSpPr>
            <a:spLocks noChangeArrowheads="1"/>
          </p:cNvSpPr>
          <p:nvPr/>
        </p:nvSpPr>
        <p:spPr bwMode="auto">
          <a:xfrm>
            <a:off x="5073650" y="6036945"/>
            <a:ext cx="3239770"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水平邻井低频</a:t>
            </a:r>
            <a:r>
              <a:rPr lang="en-US" altLang="zh-CN" sz="1200" dirty="0">
                <a:solidFill>
                  <a:srgbClr val="000000"/>
                </a:solidFill>
                <a:latin typeface="微软雅黑" panose="020B0503020204020204" pitchFamily="34" charset="-122"/>
                <a:ea typeface="微软雅黑" panose="020B0503020204020204" pitchFamily="34" charset="-122"/>
              </a:rPr>
              <a:t>DAS</a:t>
            </a:r>
            <a:r>
              <a:rPr lang="zh-CN" altLang="en-US" sz="1200" dirty="0">
                <a:solidFill>
                  <a:srgbClr val="000000"/>
                </a:solidFill>
                <a:latin typeface="微软雅黑" panose="020B0503020204020204" pitchFamily="34" charset="-122"/>
                <a:ea typeface="微软雅黑" panose="020B0503020204020204" pitchFamily="34" charset="-122"/>
              </a:rPr>
              <a:t>应变监测解释模型</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
        <p:nvSpPr>
          <p:cNvPr id="20" name="矩形 22"/>
          <p:cNvSpPr>
            <a:spLocks noChangeArrowheads="1"/>
          </p:cNvSpPr>
          <p:nvPr/>
        </p:nvSpPr>
        <p:spPr bwMode="auto">
          <a:xfrm>
            <a:off x="8579485" y="6040120"/>
            <a:ext cx="3239770"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垂直邻井低频</a:t>
            </a:r>
            <a:r>
              <a:rPr lang="en-US" altLang="zh-CN" sz="1200" dirty="0">
                <a:solidFill>
                  <a:srgbClr val="000000"/>
                </a:solidFill>
                <a:latin typeface="微软雅黑" panose="020B0503020204020204" pitchFamily="34" charset="-122"/>
                <a:ea typeface="微软雅黑" panose="020B0503020204020204" pitchFamily="34" charset="-122"/>
              </a:rPr>
              <a:t>DAS</a:t>
            </a:r>
            <a:r>
              <a:rPr lang="zh-CN" altLang="en-US" sz="1200" dirty="0">
                <a:solidFill>
                  <a:srgbClr val="000000"/>
                </a:solidFill>
                <a:latin typeface="微软雅黑" panose="020B0503020204020204" pitchFamily="34" charset="-122"/>
                <a:ea typeface="微软雅黑" panose="020B0503020204020204" pitchFamily="34" charset="-122"/>
              </a:rPr>
              <a:t>应变监测解释模型</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7"/>
          <p:cNvSpPr txBox="1"/>
          <p:nvPr/>
        </p:nvSpPr>
        <p:spPr bwMode="auto">
          <a:xfrm>
            <a:off x="320061" y="888766"/>
            <a:ext cx="11551878" cy="368300"/>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、页岩气井压裂效果量化评价指标筛选与权重分析</a:t>
            </a:r>
            <a:endParaRPr lang="zh-CN" altLang="en-US" dirty="0">
              <a:latin typeface="微软雅黑" panose="020B0503020204020204" pitchFamily="34" charset="-122"/>
              <a:ea typeface="微软雅黑" panose="020B0503020204020204" pitchFamily="34" charset="-122"/>
            </a:endParaRPr>
          </a:p>
        </p:txBody>
      </p:sp>
      <p:sp>
        <p:nvSpPr>
          <p:cNvPr id="37" name="Rectangle 11"/>
          <p:cNvSpPr>
            <a:spLocks noChangeArrowheads="1"/>
          </p:cNvSpPr>
          <p:nvPr/>
        </p:nvSpPr>
        <p:spPr bwMode="auto">
          <a:xfrm>
            <a:off x="8890" y="-41275"/>
            <a:ext cx="1218120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（二）主要研究内容</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334329" y="1319605"/>
            <a:ext cx="11485562" cy="829945"/>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b="1" dirty="0">
                <a:solidFill>
                  <a:prstClr val="black"/>
                </a:solidFill>
                <a:latin typeface="微软雅黑" panose="020B0503020204020204" pitchFamily="34" charset="-122"/>
                <a:ea typeface="微软雅黑" panose="020B0503020204020204" pitchFamily="34" charset="-122"/>
                <a:sym typeface="+mn-ea"/>
              </a:rPr>
              <a:t>②高分辨率井下电视压裂监测技术：</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井下电视测井技术最早出现于</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20</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世纪</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50</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年代，其发展主要经历了</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模拟井下电视、鹰眼井下电视和可视化测井装备</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3</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个阶段。高分辨率井下电视压裂监测技术利用其获取的井下视频可直观高效地</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对井况作出判断</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4" name="图片 3"/>
          <p:cNvPicPr>
            <a:picLocks noChangeAspect="1"/>
          </p:cNvPicPr>
          <p:nvPr/>
        </p:nvPicPr>
        <p:blipFill>
          <a:blip r:embed="rId1"/>
          <a:stretch>
            <a:fillRect/>
          </a:stretch>
        </p:blipFill>
        <p:spPr>
          <a:xfrm>
            <a:off x="334645" y="2364105"/>
            <a:ext cx="3371215" cy="1630045"/>
          </a:xfrm>
          <a:prstGeom prst="rect">
            <a:avLst/>
          </a:prstGeom>
        </p:spPr>
      </p:pic>
      <p:pic>
        <p:nvPicPr>
          <p:cNvPr id="6" name="图片 5"/>
          <p:cNvPicPr>
            <a:picLocks noChangeAspect="1"/>
          </p:cNvPicPr>
          <p:nvPr/>
        </p:nvPicPr>
        <p:blipFill>
          <a:blip r:embed="rId2"/>
          <a:srcRect t="12995" b="17935"/>
          <a:stretch>
            <a:fillRect/>
          </a:stretch>
        </p:blipFill>
        <p:spPr>
          <a:xfrm>
            <a:off x="334645" y="4086225"/>
            <a:ext cx="3372485" cy="1740535"/>
          </a:xfrm>
          <a:prstGeom prst="rect">
            <a:avLst/>
          </a:prstGeom>
        </p:spPr>
      </p:pic>
      <p:sp>
        <p:nvSpPr>
          <p:cNvPr id="26" name="矩形 22"/>
          <p:cNvSpPr>
            <a:spLocks noChangeArrowheads="1"/>
          </p:cNvSpPr>
          <p:nvPr/>
        </p:nvSpPr>
        <p:spPr bwMode="auto">
          <a:xfrm>
            <a:off x="334645" y="6035675"/>
            <a:ext cx="3371850"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sz="1200" dirty="0">
                <a:solidFill>
                  <a:srgbClr val="000000"/>
                </a:solidFill>
                <a:latin typeface="微软雅黑" panose="020B0503020204020204" pitchFamily="34" charset="-122"/>
                <a:ea typeface="微软雅黑" panose="020B0503020204020204" pitchFamily="34" charset="-122"/>
              </a:rPr>
              <a:t>井下电视</a:t>
            </a:r>
            <a:r>
              <a:rPr lang="zh-CN" altLang="en-US" sz="1200" dirty="0">
                <a:solidFill>
                  <a:srgbClr val="000000"/>
                </a:solidFill>
                <a:latin typeface="微软雅黑" panose="020B0503020204020204" pitchFamily="34" charset="-122"/>
                <a:ea typeface="微软雅黑" panose="020B0503020204020204" pitchFamily="34" charset="-122"/>
              </a:rPr>
              <a:t>视频传感器</a:t>
            </a:r>
            <a:endParaRPr lang="zh-CN" altLang="en-US" sz="1200" dirty="0">
              <a:solidFill>
                <a:srgbClr val="000000"/>
              </a:solidFill>
              <a:latin typeface="微软雅黑" panose="020B0503020204020204" pitchFamily="34" charset="-122"/>
              <a:ea typeface="微软雅黑" panose="020B0503020204020204" pitchFamily="34" charset="-122"/>
            </a:endParaRPr>
          </a:p>
        </p:txBody>
      </p:sp>
      <p:pic>
        <p:nvPicPr>
          <p:cNvPr id="7" name="图片 6"/>
          <p:cNvPicPr>
            <a:picLocks noChangeAspect="1"/>
          </p:cNvPicPr>
          <p:nvPr/>
        </p:nvPicPr>
        <p:blipFill>
          <a:blip r:embed="rId3"/>
          <a:stretch>
            <a:fillRect/>
          </a:stretch>
        </p:blipFill>
        <p:spPr>
          <a:xfrm>
            <a:off x="7762240" y="2303145"/>
            <a:ext cx="4057650" cy="2289175"/>
          </a:xfrm>
          <a:prstGeom prst="rect">
            <a:avLst/>
          </a:prstGeom>
        </p:spPr>
      </p:pic>
      <p:sp>
        <p:nvSpPr>
          <p:cNvPr id="8" name="矩形 22"/>
          <p:cNvSpPr>
            <a:spLocks noChangeArrowheads="1"/>
          </p:cNvSpPr>
          <p:nvPr/>
        </p:nvSpPr>
        <p:spPr bwMode="auto">
          <a:xfrm>
            <a:off x="7762875" y="6035675"/>
            <a:ext cx="402272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井下电视技术现场实况</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
        <p:nvSpPr>
          <p:cNvPr id="21" name="矩形 22"/>
          <p:cNvSpPr>
            <a:spLocks noChangeArrowheads="1"/>
          </p:cNvSpPr>
          <p:nvPr/>
        </p:nvSpPr>
        <p:spPr bwMode="auto">
          <a:xfrm>
            <a:off x="3905885" y="6035675"/>
            <a:ext cx="374967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井下电视结构示意图</a:t>
            </a:r>
            <a:endParaRPr lang="zh-CN" altLang="en-US" sz="1200" dirty="0">
              <a:solidFill>
                <a:srgbClr val="000000"/>
              </a:solidFill>
              <a:latin typeface="微软雅黑" panose="020B0503020204020204" pitchFamily="34" charset="-122"/>
              <a:ea typeface="微软雅黑" panose="020B0503020204020204" pitchFamily="34" charset="-122"/>
            </a:endParaRPr>
          </a:p>
        </p:txBody>
      </p:sp>
      <p:pic>
        <p:nvPicPr>
          <p:cNvPr id="25" name="图片 24"/>
          <p:cNvPicPr>
            <a:picLocks noChangeAspect="1"/>
          </p:cNvPicPr>
          <p:nvPr/>
        </p:nvPicPr>
        <p:blipFill>
          <a:blip r:embed="rId4"/>
          <a:stretch>
            <a:fillRect/>
          </a:stretch>
        </p:blipFill>
        <p:spPr>
          <a:xfrm>
            <a:off x="3773805" y="2681605"/>
            <a:ext cx="3981450" cy="2965450"/>
          </a:xfrm>
          <a:prstGeom prst="rect">
            <a:avLst/>
          </a:prstGeom>
        </p:spPr>
      </p:pic>
      <p:pic>
        <p:nvPicPr>
          <p:cNvPr id="9" name="图片 8"/>
          <p:cNvPicPr>
            <a:picLocks noChangeAspect="1"/>
          </p:cNvPicPr>
          <p:nvPr/>
        </p:nvPicPr>
        <p:blipFill>
          <a:blip r:embed="rId5"/>
          <a:stretch>
            <a:fillRect/>
          </a:stretch>
        </p:blipFill>
        <p:spPr>
          <a:xfrm>
            <a:off x="7795260" y="4592320"/>
            <a:ext cx="3974465" cy="1272540"/>
          </a:xfrm>
          <a:prstGeom prst="rect">
            <a:avLst/>
          </a:prstGeom>
        </p:spPr>
      </p:pic>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7"/>
          <p:cNvSpPr txBox="1"/>
          <p:nvPr/>
        </p:nvSpPr>
        <p:spPr bwMode="auto">
          <a:xfrm>
            <a:off x="320061" y="888766"/>
            <a:ext cx="11551878" cy="368300"/>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、页岩气井压裂效果量化评价指标筛选与权重分析</a:t>
            </a:r>
            <a:endParaRPr lang="zh-CN" altLang="en-US" dirty="0">
              <a:latin typeface="微软雅黑" panose="020B0503020204020204" pitchFamily="34" charset="-122"/>
              <a:ea typeface="微软雅黑" panose="020B0503020204020204" pitchFamily="34" charset="-122"/>
            </a:endParaRPr>
          </a:p>
        </p:txBody>
      </p:sp>
      <p:sp>
        <p:nvSpPr>
          <p:cNvPr id="37" name="Rectangle 11"/>
          <p:cNvSpPr>
            <a:spLocks noChangeArrowheads="1"/>
          </p:cNvSpPr>
          <p:nvPr/>
        </p:nvSpPr>
        <p:spPr bwMode="auto">
          <a:xfrm>
            <a:off x="8890" y="-41275"/>
            <a:ext cx="1218120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（二）主要研究内容</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334329" y="1319605"/>
            <a:ext cx="11485562" cy="829945"/>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b="1" dirty="0">
                <a:solidFill>
                  <a:prstClr val="black"/>
                </a:solidFill>
                <a:latin typeface="微软雅黑" panose="020B0503020204020204" pitchFamily="34" charset="-122"/>
                <a:ea typeface="微软雅黑" panose="020B0503020204020204" pitchFamily="34" charset="-122"/>
                <a:sym typeface="+mn-ea"/>
              </a:rPr>
              <a:t>③可控源电磁压裂监测技术：</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利用不接地回线向地下发送一次脉冲磁场，在一次场间歇期间利用同一回线或另一回线来</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接收感应二次磁场</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。可通过监测压裂液动态波及范围，</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实时判断裂缝延伸情况</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，实现裂缝延伸实时控制。</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2" name="图片 1"/>
          <p:cNvPicPr>
            <a:picLocks noChangeAspect="1"/>
          </p:cNvPicPr>
          <p:nvPr/>
        </p:nvPicPr>
        <p:blipFill>
          <a:blip r:embed="rId1"/>
          <a:stretch>
            <a:fillRect/>
          </a:stretch>
        </p:blipFill>
        <p:spPr>
          <a:xfrm>
            <a:off x="425450" y="2967990"/>
            <a:ext cx="3136265" cy="2063115"/>
          </a:xfrm>
          <a:prstGeom prst="rect">
            <a:avLst/>
          </a:prstGeom>
        </p:spPr>
      </p:pic>
      <p:sp>
        <p:nvSpPr>
          <p:cNvPr id="10" name="矩形 22"/>
          <p:cNvSpPr>
            <a:spLocks noChangeArrowheads="1"/>
          </p:cNvSpPr>
          <p:nvPr/>
        </p:nvSpPr>
        <p:spPr bwMode="auto">
          <a:xfrm>
            <a:off x="426085" y="6035675"/>
            <a:ext cx="6357620"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可控源电磁压裂监测技术原理示意</a:t>
            </a:r>
            <a:endParaRPr lang="zh-CN" altLang="en-US" sz="1200" dirty="0">
              <a:solidFill>
                <a:srgbClr val="000000"/>
              </a:solidFill>
              <a:latin typeface="微软雅黑" panose="020B0503020204020204" pitchFamily="34" charset="-122"/>
              <a:ea typeface="微软雅黑" panose="020B0503020204020204" pitchFamily="34" charset="-122"/>
            </a:endParaRPr>
          </a:p>
        </p:txBody>
      </p:sp>
      <p:pic>
        <p:nvPicPr>
          <p:cNvPr id="11" name="图片 10"/>
          <p:cNvPicPr>
            <a:picLocks noChangeAspect="1"/>
          </p:cNvPicPr>
          <p:nvPr/>
        </p:nvPicPr>
        <p:blipFill>
          <a:blip r:embed="rId2"/>
          <a:stretch>
            <a:fillRect/>
          </a:stretch>
        </p:blipFill>
        <p:spPr>
          <a:xfrm>
            <a:off x="3502025" y="2384425"/>
            <a:ext cx="3557905" cy="3502660"/>
          </a:xfrm>
          <a:prstGeom prst="rect">
            <a:avLst/>
          </a:prstGeom>
        </p:spPr>
      </p:pic>
      <p:sp>
        <p:nvSpPr>
          <p:cNvPr id="12" name="矩形 22"/>
          <p:cNvSpPr>
            <a:spLocks noChangeArrowheads="1"/>
          </p:cNvSpPr>
          <p:nvPr/>
        </p:nvSpPr>
        <p:spPr bwMode="auto">
          <a:xfrm>
            <a:off x="7119620" y="6035675"/>
            <a:ext cx="465137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sym typeface="+mn-ea"/>
              </a:rPr>
              <a:t>宁209H5-2井第5段各簇孔波及长度</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
        <p:nvSpPr>
          <p:cNvPr id="13" name="文本框 12"/>
          <p:cNvSpPr txBox="1"/>
          <p:nvPr/>
        </p:nvSpPr>
        <p:spPr>
          <a:xfrm>
            <a:off x="7119620" y="3957320"/>
            <a:ext cx="2259965" cy="392430"/>
          </a:xfrm>
          <a:prstGeom prst="rect">
            <a:avLst/>
          </a:prstGeom>
          <a:noFill/>
        </p:spPr>
        <p:txBody>
          <a:bodyPr wrap="square" rtlCol="0">
            <a:noAutofit/>
          </a:bodyPr>
          <a:lstStyle/>
          <a:p>
            <a:pPr algn="ctr"/>
            <a:r>
              <a:rPr lang="zh-CN" altLang="en-US" sz="1200" dirty="0">
                <a:solidFill>
                  <a:srgbClr val="000000"/>
                </a:solidFill>
                <a:latin typeface="微软雅黑" panose="020B0503020204020204" pitchFamily="34" charset="-122"/>
                <a:ea typeface="微软雅黑" panose="020B0503020204020204" pitchFamily="34" charset="-122"/>
                <a:sym typeface="+mn-ea"/>
              </a:rPr>
              <a:t>宁209H5-2井</a:t>
            </a:r>
            <a:r>
              <a:rPr lang="zh-CN" altLang="en-US" sz="1200" dirty="0">
                <a:solidFill>
                  <a:srgbClr val="000000"/>
                </a:solidFill>
                <a:latin typeface="微软雅黑" panose="020B0503020204020204" pitchFamily="34" charset="-122"/>
                <a:ea typeface="微软雅黑" panose="020B0503020204020204" pitchFamily="34" charset="-122"/>
              </a:rPr>
              <a:t>第5段压裂电磁监测波及范围图</a:t>
            </a:r>
            <a:endParaRPr lang="zh-CN" altLang="en-US" sz="1200" dirty="0">
              <a:solidFill>
                <a:srgbClr val="000000"/>
              </a:solidFill>
              <a:latin typeface="微软雅黑" panose="020B0503020204020204" pitchFamily="34" charset="-122"/>
              <a:ea typeface="微软雅黑" panose="020B0503020204020204" pitchFamily="34" charset="-122"/>
            </a:endParaRPr>
          </a:p>
        </p:txBody>
      </p:sp>
      <p:pic>
        <p:nvPicPr>
          <p:cNvPr id="32" name="图片 31" descr="图片1"/>
          <p:cNvPicPr>
            <a:picLocks noChangeAspect="1"/>
          </p:cNvPicPr>
          <p:nvPr/>
        </p:nvPicPr>
        <p:blipFill>
          <a:blip r:embed="rId3"/>
          <a:stretch>
            <a:fillRect/>
          </a:stretch>
        </p:blipFill>
        <p:spPr>
          <a:xfrm>
            <a:off x="7119620" y="2235835"/>
            <a:ext cx="2259965" cy="1734185"/>
          </a:xfrm>
          <a:prstGeom prst="rect">
            <a:avLst/>
          </a:prstGeom>
        </p:spPr>
      </p:pic>
      <p:sp>
        <p:nvSpPr>
          <p:cNvPr id="34" name="文本框 33"/>
          <p:cNvSpPr txBox="1"/>
          <p:nvPr/>
        </p:nvSpPr>
        <p:spPr>
          <a:xfrm>
            <a:off x="9439275" y="3989705"/>
            <a:ext cx="2364740" cy="460375"/>
          </a:xfrm>
          <a:prstGeom prst="rect">
            <a:avLst/>
          </a:prstGeom>
          <a:noFill/>
        </p:spPr>
        <p:txBody>
          <a:bodyPr wrap="square" rtlCol="0">
            <a:spAutoFit/>
          </a:bodyPr>
          <a:lstStyle/>
          <a:p>
            <a:pPr algn="ctr"/>
            <a:r>
              <a:rPr lang="zh-CN" altLang="en-US" sz="1200" dirty="0">
                <a:solidFill>
                  <a:srgbClr val="000000"/>
                </a:solidFill>
                <a:latin typeface="微软雅黑" panose="020B0503020204020204" pitchFamily="34" charset="-122"/>
                <a:ea typeface="微软雅黑" panose="020B0503020204020204" pitchFamily="34" charset="-122"/>
                <a:sym typeface="+mn-ea"/>
              </a:rPr>
              <a:t>宁209H5-2井第5段</a:t>
            </a:r>
            <a:r>
              <a:rPr lang="zh-CN" altLang="en-US" sz="1200" dirty="0">
                <a:solidFill>
                  <a:srgbClr val="000000"/>
                </a:solidFill>
                <a:latin typeface="微软雅黑" panose="020B0503020204020204" pitchFamily="34" charset="-122"/>
                <a:ea typeface="微软雅黑" panose="020B0503020204020204" pitchFamily="34" charset="-122"/>
              </a:rPr>
              <a:t>压裂电磁监测波及动态图</a:t>
            </a:r>
            <a:endParaRPr lang="zh-CN" altLang="en-US" sz="1200" dirty="0">
              <a:solidFill>
                <a:srgbClr val="000000"/>
              </a:solidFill>
              <a:latin typeface="微软雅黑" panose="020B0503020204020204" pitchFamily="34" charset="-122"/>
              <a:ea typeface="微软雅黑" panose="020B0503020204020204" pitchFamily="34" charset="-122"/>
            </a:endParaRPr>
          </a:p>
        </p:txBody>
      </p:sp>
      <p:pic>
        <p:nvPicPr>
          <p:cNvPr id="35" name="图片 34" descr="图片2"/>
          <p:cNvPicPr>
            <a:picLocks noChangeAspect="1"/>
          </p:cNvPicPr>
          <p:nvPr/>
        </p:nvPicPr>
        <p:blipFill>
          <a:blip r:embed="rId4"/>
          <a:stretch>
            <a:fillRect/>
          </a:stretch>
        </p:blipFill>
        <p:spPr>
          <a:xfrm>
            <a:off x="9439275" y="2233295"/>
            <a:ext cx="2364740" cy="1738630"/>
          </a:xfrm>
          <a:prstGeom prst="rect">
            <a:avLst/>
          </a:prstGeom>
        </p:spPr>
      </p:pic>
      <p:graphicFrame>
        <p:nvGraphicFramePr>
          <p:cNvPr id="36" name="表格 35"/>
          <p:cNvGraphicFramePr>
            <a:graphicFrameLocks noGrp="1"/>
          </p:cNvGraphicFramePr>
          <p:nvPr>
            <p:custDataLst>
              <p:tags r:id="rId5"/>
            </p:custDataLst>
          </p:nvPr>
        </p:nvGraphicFramePr>
        <p:xfrm>
          <a:off x="7119620" y="4413885"/>
          <a:ext cx="4686300" cy="1591310"/>
        </p:xfrm>
        <a:graphic>
          <a:graphicData uri="http://schemas.openxmlformats.org/drawingml/2006/table">
            <a:tbl>
              <a:tblPr/>
              <a:tblGrid>
                <a:gridCol w="781050"/>
                <a:gridCol w="781050"/>
                <a:gridCol w="781050"/>
                <a:gridCol w="781050"/>
                <a:gridCol w="781050"/>
                <a:gridCol w="781050"/>
              </a:tblGrid>
              <a:tr h="192405">
                <a:tc gridSpan="6">
                  <a:txBody>
                    <a:bodyPr/>
                    <a:lstStyle/>
                    <a:p>
                      <a:pPr algn="ctr" rtl="0" fontAlgn="ctr"/>
                      <a:r>
                        <a:rPr lang="zh-CN" altLang="en-US" sz="1200" b="1" i="0" u="none" strike="noStrike" dirty="0">
                          <a:solidFill>
                            <a:schemeClr val="bg1"/>
                          </a:solidFill>
                          <a:effectLst/>
                          <a:latin typeface="微软雅黑" panose="020B0503020204020204" pitchFamily="34" charset="-122"/>
                          <a:ea typeface="微软雅黑" panose="020B0503020204020204" pitchFamily="34" charset="-122"/>
                        </a:rPr>
                        <a:t>各簇孔波及长度</a:t>
                      </a:r>
                      <a:endParaRPr lang="en-US" sz="1200" b="1" i="0" u="none" strike="noStrike" dirty="0">
                        <a:solidFill>
                          <a:schemeClr val="bg1"/>
                        </a:solidFill>
                        <a:effectLst/>
                        <a:latin typeface="微软雅黑" panose="020B0503020204020204" pitchFamily="34" charset="-122"/>
                        <a:ea typeface="微软雅黑" panose="020B0503020204020204"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hMerge="1">
                  <a:tcPr/>
                </a:tc>
                <a:tc hMerge="1">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cPr marL="9525" marR="9525" marT="9525" marB="0" anchor="ctr">
                    <a:lnL w="317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cPr marL="9525" marR="9525" marT="9525" marB="0" anchor="ctr">
                    <a:lnL w="317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cPr marL="9525" marR="9525" marT="9525" marB="0" anchor="ctr">
                    <a:lnL w="317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192405">
                <a:tc>
                  <a:txBody>
                    <a:bodyPr/>
                    <a:lstStyle/>
                    <a:p>
                      <a:pPr marL="0" algn="ctr" defTabSz="914400" rtl="0" eaLnBrk="1" fontAlgn="ctr" latinLnBrk="0" hangingPunct="1"/>
                      <a:r>
                        <a:rPr lang="zh-CN" altLang="en-US" sz="1200" b="1" i="0" u="none" strike="noStrike" kern="1200" dirty="0">
                          <a:solidFill>
                            <a:schemeClr val="bg1"/>
                          </a:solidFill>
                          <a:effectLst/>
                          <a:latin typeface="微软雅黑" panose="020B0503020204020204" pitchFamily="34" charset="-122"/>
                          <a:ea typeface="微软雅黑" panose="020B0503020204020204" pitchFamily="34" charset="-122"/>
                          <a:cs typeface="+mn-cs"/>
                        </a:rPr>
                        <a:t>簇孔号</a:t>
                      </a:r>
                      <a:endParaRPr lang="zh-CN" altLang="en-US" sz="1200" b="1" i="0" u="none" strike="noStrike" kern="1200" dirty="0">
                        <a:solidFill>
                          <a:schemeClr val="bg1"/>
                        </a:solidFill>
                        <a:effectLst/>
                        <a:latin typeface="微软雅黑" panose="020B0503020204020204" pitchFamily="34" charset="-122"/>
                        <a:ea typeface="微软雅黑" panose="020B0503020204020204" pitchFamily="34" charset="-122"/>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marL="0" algn="ctr" defTabSz="914400" rtl="0" eaLnBrk="1" fontAlgn="ctr" latinLnBrk="0" hangingPunct="1"/>
                      <a:r>
                        <a:rPr lang="zh-CN" altLang="en-US" sz="1200" b="1" i="0" u="none" strike="noStrike" kern="1200" dirty="0">
                          <a:solidFill>
                            <a:schemeClr val="bg1"/>
                          </a:solidFill>
                          <a:effectLst/>
                          <a:latin typeface="微软雅黑" panose="020B0503020204020204" pitchFamily="34" charset="-122"/>
                          <a:ea typeface="微软雅黑" panose="020B0503020204020204" pitchFamily="34" charset="-122"/>
                          <a:cs typeface="+mn-cs"/>
                        </a:rPr>
                        <a:t>西侧</a:t>
                      </a:r>
                      <a:endParaRPr lang="zh-CN" altLang="en-US" sz="1200" b="1" i="0" u="none" strike="noStrike" kern="1200" dirty="0">
                        <a:solidFill>
                          <a:schemeClr val="bg1"/>
                        </a:solidFill>
                        <a:effectLst/>
                        <a:latin typeface="微软雅黑" panose="020B0503020204020204" pitchFamily="34" charset="-122"/>
                        <a:ea typeface="微软雅黑" panose="020B0503020204020204" pitchFamily="34" charset="-122"/>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marL="0" algn="ctr" defTabSz="914400" rtl="0" eaLnBrk="1" fontAlgn="ctr" latinLnBrk="0" hangingPunct="1"/>
                      <a:r>
                        <a:rPr lang="zh-CN" altLang="en-US" sz="1200" b="1" i="0" u="none" strike="noStrike" kern="1200" dirty="0">
                          <a:solidFill>
                            <a:schemeClr val="bg1"/>
                          </a:solidFill>
                          <a:effectLst/>
                          <a:latin typeface="微软雅黑" panose="020B0503020204020204" pitchFamily="34" charset="-122"/>
                          <a:ea typeface="微软雅黑" panose="020B0503020204020204" pitchFamily="34" charset="-122"/>
                          <a:cs typeface="+mn-cs"/>
                        </a:rPr>
                        <a:t>东侧</a:t>
                      </a:r>
                      <a:endParaRPr lang="zh-CN" altLang="en-US" sz="1200" b="1" i="0" u="none" strike="noStrike" kern="1200" dirty="0">
                        <a:solidFill>
                          <a:schemeClr val="bg1"/>
                        </a:solidFill>
                        <a:effectLst/>
                        <a:latin typeface="微软雅黑" panose="020B0503020204020204" pitchFamily="34" charset="-122"/>
                        <a:ea typeface="微软雅黑" panose="020B0503020204020204" pitchFamily="34" charset="-122"/>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marL="0" algn="ctr" defTabSz="914400" rtl="0" eaLnBrk="1" fontAlgn="ctr" latinLnBrk="0" hangingPunct="1"/>
                      <a:r>
                        <a:rPr lang="zh-CN" altLang="en-US" sz="1200" b="1" i="0" u="none" strike="noStrike" kern="1200" dirty="0">
                          <a:solidFill>
                            <a:schemeClr val="bg1"/>
                          </a:solidFill>
                          <a:effectLst/>
                          <a:latin typeface="微软雅黑" panose="020B0503020204020204" pitchFamily="34" charset="-122"/>
                          <a:ea typeface="微软雅黑" panose="020B0503020204020204" pitchFamily="34" charset="-122"/>
                          <a:cs typeface="+mn-cs"/>
                        </a:rPr>
                        <a:t>簇孔号</a:t>
                      </a:r>
                      <a:endParaRPr lang="zh-CN" altLang="en-US" sz="1200" b="1" i="0" u="none" strike="noStrike" kern="1200" dirty="0">
                        <a:solidFill>
                          <a:schemeClr val="bg1"/>
                        </a:solidFill>
                        <a:effectLst/>
                        <a:latin typeface="微软雅黑" panose="020B0503020204020204" pitchFamily="34" charset="-122"/>
                        <a:ea typeface="微软雅黑" panose="020B0503020204020204" pitchFamily="34" charset="-122"/>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marL="0" algn="ctr" defTabSz="914400" rtl="0" eaLnBrk="1" fontAlgn="ctr" latinLnBrk="0" hangingPunct="1"/>
                      <a:r>
                        <a:rPr lang="zh-CN" altLang="en-US" sz="1200" b="1" i="0" u="none" strike="noStrike" kern="1200" dirty="0">
                          <a:solidFill>
                            <a:schemeClr val="bg1"/>
                          </a:solidFill>
                          <a:effectLst/>
                          <a:latin typeface="微软雅黑" panose="020B0503020204020204" pitchFamily="34" charset="-122"/>
                          <a:ea typeface="微软雅黑" panose="020B0503020204020204" pitchFamily="34" charset="-122"/>
                          <a:cs typeface="+mn-cs"/>
                        </a:rPr>
                        <a:t>西侧</a:t>
                      </a:r>
                      <a:endParaRPr lang="zh-CN" altLang="en-US" sz="1200" b="1" i="0" u="none" strike="noStrike" kern="1200" dirty="0">
                        <a:solidFill>
                          <a:schemeClr val="bg1"/>
                        </a:solidFill>
                        <a:effectLst/>
                        <a:latin typeface="微软雅黑" panose="020B0503020204020204" pitchFamily="34" charset="-122"/>
                        <a:ea typeface="微软雅黑" panose="020B0503020204020204" pitchFamily="34" charset="-122"/>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marL="0" algn="ctr" defTabSz="914400" rtl="0" eaLnBrk="1" fontAlgn="ctr" latinLnBrk="0" hangingPunct="1"/>
                      <a:r>
                        <a:rPr lang="zh-CN" altLang="en-US" sz="1200" b="1" i="0" u="none" strike="noStrike" kern="1200" dirty="0">
                          <a:solidFill>
                            <a:schemeClr val="bg1"/>
                          </a:solidFill>
                          <a:effectLst/>
                          <a:latin typeface="微软雅黑" panose="020B0503020204020204" pitchFamily="34" charset="-122"/>
                          <a:ea typeface="微软雅黑" panose="020B0503020204020204" pitchFamily="34" charset="-122"/>
                          <a:cs typeface="+mn-cs"/>
                        </a:rPr>
                        <a:t>东侧</a:t>
                      </a:r>
                      <a:endParaRPr lang="zh-CN" altLang="en-US" sz="1200" b="1" i="0" u="none" strike="noStrike" kern="1200" dirty="0">
                        <a:solidFill>
                          <a:schemeClr val="bg1"/>
                        </a:solidFill>
                        <a:effectLst/>
                        <a:latin typeface="微软雅黑" panose="020B0503020204020204" pitchFamily="34" charset="-122"/>
                        <a:ea typeface="微软雅黑" panose="020B0503020204020204" pitchFamily="34" charset="-122"/>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r h="241300">
                <a:tc>
                  <a:txBody>
                    <a:bodyPr/>
                    <a:lstStyle/>
                    <a:p>
                      <a:pPr marL="0" algn="ctr" defTabSz="914400" rtl="0" eaLnBrk="1" fontAlgn="ctr" latinLnBrk="0" hangingPunct="1"/>
                      <a:r>
                        <a:rPr lang="en-US" altLang="zh-CN" sz="1200" b="1" i="0" u="none" strike="noStrike" kern="1200" dirty="0">
                          <a:solidFill>
                            <a:schemeClr val="bg1"/>
                          </a:solidFill>
                          <a:effectLst/>
                          <a:latin typeface="微软雅黑" panose="020B0503020204020204" pitchFamily="34" charset="-122"/>
                          <a:ea typeface="微软雅黑" panose="020B0503020204020204" pitchFamily="34" charset="-122"/>
                          <a:cs typeface="+mn-cs"/>
                        </a:rPr>
                        <a:t>1</a:t>
                      </a:r>
                      <a:endParaRPr lang="en-US" altLang="zh-CN" sz="1200" b="1" i="0" u="none" strike="noStrike" kern="1200" dirty="0">
                        <a:solidFill>
                          <a:schemeClr val="bg1"/>
                        </a:solidFill>
                        <a:effectLst/>
                        <a:latin typeface="微软雅黑" panose="020B0503020204020204" pitchFamily="34" charset="-122"/>
                        <a:ea typeface="微软雅黑" panose="020B0503020204020204" pitchFamily="34" charset="-122"/>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indent="0" algn="ctr">
                        <a:buNone/>
                      </a:pPr>
                      <a:r>
                        <a:rPr lang="en-US" sz="1000" b="0" dirty="0">
                          <a:solidFill>
                            <a:srgbClr val="000000"/>
                          </a:solidFill>
                          <a:latin typeface="Arial" panose="020B0604020202020204" pitchFamily="34" charset="0"/>
                        </a:rPr>
                        <a:t>66 </a:t>
                      </a:r>
                      <a:endParaRPr lang="en-US" altLang="en-US" sz="1000" b="0" dirty="0">
                        <a:solidFill>
                          <a:srgbClr val="000000"/>
                        </a:solidFill>
                        <a:latin typeface="Arial" panose="020B0604020202020204" pitchFamily="34" charset="0"/>
                      </a:endParaRPr>
                    </a:p>
                  </a:txBody>
                  <a:tcPr marL="12700" marR="12700" marT="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buNone/>
                      </a:pPr>
                      <a:r>
                        <a:rPr lang="en-US" sz="1000" b="0" dirty="0">
                          <a:solidFill>
                            <a:srgbClr val="000000"/>
                          </a:solidFill>
                          <a:latin typeface="Arial" panose="020B0604020202020204" pitchFamily="34" charset="0"/>
                        </a:rPr>
                        <a:t>79 </a:t>
                      </a:r>
                      <a:endParaRPr lang="en-US" altLang="en-US" sz="1000" b="0" dirty="0">
                        <a:solidFill>
                          <a:srgbClr val="000000"/>
                        </a:solidFill>
                        <a:latin typeface="Arial" panose="020B0604020202020204" pitchFamily="34" charset="0"/>
                      </a:endParaRPr>
                    </a:p>
                  </a:txBody>
                  <a:tcPr marL="12700" marR="12700" marT="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buNone/>
                      </a:pPr>
                      <a:r>
                        <a:rPr lang="en-US" altLang="en-US" sz="1200" b="1" dirty="0">
                          <a:solidFill>
                            <a:schemeClr val="bg1"/>
                          </a:solidFill>
                          <a:latin typeface="微软雅黑" panose="020B0503020204020204" pitchFamily="34" charset="-122"/>
                          <a:ea typeface="微软雅黑" panose="020B0503020204020204" pitchFamily="34" charset="-122"/>
                        </a:rPr>
                        <a:t>6</a:t>
                      </a:r>
                      <a:endParaRPr lang="en-US" altLang="en-US" sz="1200" b="1" dirty="0">
                        <a:solidFill>
                          <a:schemeClr val="bg1"/>
                        </a:solidFill>
                        <a:latin typeface="微软雅黑" panose="020B0503020204020204" pitchFamily="34" charset="-122"/>
                        <a:ea typeface="微软雅黑" panose="020B0503020204020204" pitchFamily="34" charset="-122"/>
                      </a:endParaRPr>
                    </a:p>
                  </a:txBody>
                  <a:tcPr marL="12700" marR="12700" marT="1270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indent="0" algn="ctr">
                        <a:buNone/>
                      </a:pPr>
                      <a:r>
                        <a:rPr lang="en-US" sz="1000" b="0">
                          <a:solidFill>
                            <a:srgbClr val="000000"/>
                          </a:solidFill>
                          <a:latin typeface="Arial" panose="020B0604020202020204" pitchFamily="34" charset="0"/>
                        </a:rPr>
                        <a:t>113 </a:t>
                      </a:r>
                      <a:endParaRPr lang="en-US" altLang="en-US" sz="1000" b="0">
                        <a:solidFill>
                          <a:srgbClr val="000000"/>
                        </a:solidFill>
                        <a:latin typeface="Arial" panose="020B0604020202020204" pitchFamily="34" charset="0"/>
                      </a:endParaRPr>
                    </a:p>
                  </a:txBody>
                  <a:tcPr marL="12700" marR="12700" marT="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buNone/>
                      </a:pPr>
                      <a:r>
                        <a:rPr lang="en-US" sz="1000" b="0">
                          <a:solidFill>
                            <a:srgbClr val="000000"/>
                          </a:solidFill>
                          <a:latin typeface="Arial" panose="020B0604020202020204" pitchFamily="34" charset="0"/>
                        </a:rPr>
                        <a:t>133 </a:t>
                      </a:r>
                      <a:endParaRPr lang="en-US" altLang="en-US" sz="1000" b="0">
                        <a:solidFill>
                          <a:srgbClr val="000000"/>
                        </a:solidFill>
                        <a:latin typeface="Arial" panose="020B0604020202020204" pitchFamily="34" charset="0"/>
                      </a:endParaRPr>
                    </a:p>
                  </a:txBody>
                  <a:tcPr marL="12700" marR="12700" marT="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41300">
                <a:tc>
                  <a:txBody>
                    <a:bodyPr/>
                    <a:lstStyle/>
                    <a:p>
                      <a:pPr marL="0" algn="ctr" defTabSz="914400" rtl="0" eaLnBrk="1" fontAlgn="ctr" latinLnBrk="0" hangingPunct="1"/>
                      <a:r>
                        <a:rPr lang="en-US" altLang="zh-CN" sz="1200" b="1" i="0" u="none" strike="noStrike" kern="1200" dirty="0">
                          <a:solidFill>
                            <a:schemeClr val="bg1"/>
                          </a:solidFill>
                          <a:effectLst/>
                          <a:latin typeface="微软雅黑" panose="020B0503020204020204" pitchFamily="34" charset="-122"/>
                          <a:ea typeface="微软雅黑" panose="020B0503020204020204" pitchFamily="34" charset="-122"/>
                          <a:cs typeface="+mn-cs"/>
                        </a:rPr>
                        <a:t>2</a:t>
                      </a:r>
                      <a:endParaRPr lang="en-US" altLang="zh-CN" sz="1200" b="1" i="0" u="none" strike="noStrike" kern="1200" dirty="0">
                        <a:solidFill>
                          <a:schemeClr val="bg1"/>
                        </a:solidFill>
                        <a:effectLst/>
                        <a:latin typeface="微软雅黑" panose="020B0503020204020204" pitchFamily="34" charset="-122"/>
                        <a:ea typeface="微软雅黑" panose="020B0503020204020204" pitchFamily="34" charset="-122"/>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indent="0" algn="ctr">
                        <a:buNone/>
                      </a:pPr>
                      <a:r>
                        <a:rPr lang="en-US" sz="1000" b="0">
                          <a:solidFill>
                            <a:srgbClr val="000000"/>
                          </a:solidFill>
                          <a:latin typeface="Arial" panose="020B0604020202020204" pitchFamily="34" charset="0"/>
                        </a:rPr>
                        <a:t>91 </a:t>
                      </a:r>
                      <a:endParaRPr lang="en-US" altLang="en-US" sz="1000" b="0">
                        <a:solidFill>
                          <a:srgbClr val="000000"/>
                        </a:solidFill>
                        <a:latin typeface="Arial" panose="020B0604020202020204" pitchFamily="34" charset="0"/>
                      </a:endParaRPr>
                    </a:p>
                  </a:txBody>
                  <a:tcPr marL="12700" marR="12700" marT="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buNone/>
                      </a:pPr>
                      <a:r>
                        <a:rPr lang="en-US" sz="1000" b="0">
                          <a:solidFill>
                            <a:srgbClr val="000000"/>
                          </a:solidFill>
                          <a:latin typeface="Arial" panose="020B0604020202020204" pitchFamily="34" charset="0"/>
                        </a:rPr>
                        <a:t>108 </a:t>
                      </a:r>
                      <a:endParaRPr lang="en-US" altLang="en-US" sz="1000" b="0">
                        <a:solidFill>
                          <a:srgbClr val="000000"/>
                        </a:solidFill>
                        <a:latin typeface="Arial" panose="020B0604020202020204" pitchFamily="34" charset="0"/>
                      </a:endParaRPr>
                    </a:p>
                  </a:txBody>
                  <a:tcPr marL="12700" marR="12700" marT="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buNone/>
                      </a:pPr>
                      <a:r>
                        <a:rPr lang="en-US" altLang="en-US" sz="1200" b="1" dirty="0">
                          <a:solidFill>
                            <a:schemeClr val="bg1"/>
                          </a:solidFill>
                          <a:latin typeface="微软雅黑" panose="020B0503020204020204" pitchFamily="34" charset="-122"/>
                          <a:ea typeface="微软雅黑" panose="020B0503020204020204" pitchFamily="34" charset="-122"/>
                        </a:rPr>
                        <a:t>7</a:t>
                      </a:r>
                      <a:endParaRPr lang="en-US" altLang="en-US" sz="1200" b="1" dirty="0">
                        <a:solidFill>
                          <a:schemeClr val="bg1"/>
                        </a:solidFill>
                        <a:latin typeface="微软雅黑" panose="020B0503020204020204" pitchFamily="34" charset="-122"/>
                        <a:ea typeface="微软雅黑" panose="020B0503020204020204" pitchFamily="34" charset="-122"/>
                      </a:endParaRPr>
                    </a:p>
                  </a:txBody>
                  <a:tcPr marL="12700" marR="12700" marT="1270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indent="0" algn="ctr">
                        <a:buNone/>
                      </a:pPr>
                      <a:r>
                        <a:rPr lang="en-US" sz="1000" b="0">
                          <a:solidFill>
                            <a:srgbClr val="000000"/>
                          </a:solidFill>
                          <a:latin typeface="Arial" panose="020B0604020202020204" pitchFamily="34" charset="0"/>
                        </a:rPr>
                        <a:t>88 </a:t>
                      </a:r>
                      <a:endParaRPr lang="en-US" altLang="en-US" sz="1000" b="0">
                        <a:solidFill>
                          <a:srgbClr val="000000"/>
                        </a:solidFill>
                        <a:latin typeface="Arial" panose="020B0604020202020204" pitchFamily="34" charset="0"/>
                      </a:endParaRPr>
                    </a:p>
                  </a:txBody>
                  <a:tcPr marL="12700" marR="12700" marT="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buNone/>
                      </a:pPr>
                      <a:r>
                        <a:rPr lang="en-US" sz="1000" b="0">
                          <a:solidFill>
                            <a:srgbClr val="000000"/>
                          </a:solidFill>
                          <a:latin typeface="Arial" panose="020B0604020202020204" pitchFamily="34" charset="0"/>
                        </a:rPr>
                        <a:t>115 </a:t>
                      </a:r>
                      <a:endParaRPr lang="en-US" altLang="en-US" sz="1000" b="0">
                        <a:solidFill>
                          <a:srgbClr val="000000"/>
                        </a:solidFill>
                        <a:latin typeface="Arial" panose="020B0604020202020204" pitchFamily="34" charset="0"/>
                      </a:endParaRPr>
                    </a:p>
                  </a:txBody>
                  <a:tcPr marL="12700" marR="12700" marT="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41300">
                <a:tc>
                  <a:txBody>
                    <a:bodyPr/>
                    <a:lstStyle/>
                    <a:p>
                      <a:pPr marL="0" algn="ctr" defTabSz="914400" rtl="0" eaLnBrk="1" fontAlgn="ctr" latinLnBrk="0" hangingPunct="1"/>
                      <a:r>
                        <a:rPr lang="en-US" altLang="zh-CN" sz="1200" b="1" i="0" u="none" strike="noStrike" kern="1200" dirty="0">
                          <a:solidFill>
                            <a:schemeClr val="bg1"/>
                          </a:solidFill>
                          <a:effectLst/>
                          <a:latin typeface="微软雅黑" panose="020B0503020204020204" pitchFamily="34" charset="-122"/>
                          <a:ea typeface="微软雅黑" panose="020B0503020204020204" pitchFamily="34" charset="-122"/>
                          <a:cs typeface="+mn-cs"/>
                        </a:rPr>
                        <a:t>3</a:t>
                      </a:r>
                      <a:endParaRPr lang="en-US" altLang="zh-CN" sz="1200" b="1" i="0" u="none" strike="noStrike" kern="1200" dirty="0">
                        <a:solidFill>
                          <a:schemeClr val="bg1"/>
                        </a:solidFill>
                        <a:effectLst/>
                        <a:latin typeface="微软雅黑" panose="020B0503020204020204" pitchFamily="34" charset="-122"/>
                        <a:ea typeface="微软雅黑" panose="020B0503020204020204" pitchFamily="34" charset="-122"/>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indent="0" algn="ctr">
                        <a:buNone/>
                      </a:pPr>
                      <a:r>
                        <a:rPr lang="en-US" sz="1000" b="0">
                          <a:solidFill>
                            <a:srgbClr val="000000"/>
                          </a:solidFill>
                          <a:latin typeface="Arial" panose="020B0604020202020204" pitchFamily="34" charset="0"/>
                        </a:rPr>
                        <a:t>80 </a:t>
                      </a:r>
                      <a:endParaRPr lang="en-US" altLang="en-US" sz="1000" b="0">
                        <a:solidFill>
                          <a:srgbClr val="000000"/>
                        </a:solidFill>
                        <a:latin typeface="Arial" panose="020B0604020202020204" pitchFamily="34" charset="0"/>
                      </a:endParaRPr>
                    </a:p>
                  </a:txBody>
                  <a:tcPr marL="12700" marR="12700" marT="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buNone/>
                      </a:pPr>
                      <a:r>
                        <a:rPr lang="en-US" sz="1000" b="0">
                          <a:solidFill>
                            <a:srgbClr val="000000"/>
                          </a:solidFill>
                          <a:latin typeface="Arial" panose="020B0604020202020204" pitchFamily="34" charset="0"/>
                        </a:rPr>
                        <a:t>122 </a:t>
                      </a:r>
                      <a:endParaRPr lang="en-US" altLang="en-US" sz="1000" b="0">
                        <a:solidFill>
                          <a:srgbClr val="000000"/>
                        </a:solidFill>
                        <a:latin typeface="Arial" panose="020B0604020202020204" pitchFamily="34" charset="0"/>
                      </a:endParaRPr>
                    </a:p>
                  </a:txBody>
                  <a:tcPr marL="12700" marR="12700" marT="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buNone/>
                      </a:pPr>
                      <a:r>
                        <a:rPr lang="en-US" altLang="en-US" sz="1200" b="1" dirty="0">
                          <a:solidFill>
                            <a:schemeClr val="bg1"/>
                          </a:solidFill>
                          <a:latin typeface="微软雅黑" panose="020B0503020204020204" pitchFamily="34" charset="-122"/>
                          <a:ea typeface="微软雅黑" panose="020B0503020204020204" pitchFamily="34" charset="-122"/>
                        </a:rPr>
                        <a:t>8</a:t>
                      </a:r>
                      <a:endParaRPr lang="en-US" altLang="en-US" sz="1200" b="1" dirty="0">
                        <a:solidFill>
                          <a:schemeClr val="bg1"/>
                        </a:solidFill>
                        <a:latin typeface="微软雅黑" panose="020B0503020204020204" pitchFamily="34" charset="-122"/>
                        <a:ea typeface="微软雅黑" panose="020B0503020204020204" pitchFamily="34" charset="-122"/>
                      </a:endParaRPr>
                    </a:p>
                  </a:txBody>
                  <a:tcPr marL="12700" marR="12700" marT="1270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indent="0" algn="ctr">
                        <a:buNone/>
                      </a:pPr>
                      <a:r>
                        <a:rPr lang="en-US" sz="1000" b="0" dirty="0">
                          <a:solidFill>
                            <a:srgbClr val="000000"/>
                          </a:solidFill>
                          <a:latin typeface="Arial" panose="020B0604020202020204" pitchFamily="34" charset="0"/>
                        </a:rPr>
                        <a:t>98 </a:t>
                      </a:r>
                      <a:endParaRPr lang="en-US" altLang="en-US" sz="1000" b="0" dirty="0">
                        <a:solidFill>
                          <a:srgbClr val="000000"/>
                        </a:solidFill>
                        <a:latin typeface="Arial" panose="020B0604020202020204" pitchFamily="34" charset="0"/>
                      </a:endParaRPr>
                    </a:p>
                  </a:txBody>
                  <a:tcPr marL="12700" marR="12700" marT="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buNone/>
                      </a:pPr>
                      <a:r>
                        <a:rPr lang="en-US" sz="1000" b="0">
                          <a:solidFill>
                            <a:srgbClr val="000000"/>
                          </a:solidFill>
                          <a:latin typeface="Arial" panose="020B0604020202020204" pitchFamily="34" charset="0"/>
                        </a:rPr>
                        <a:t>116 </a:t>
                      </a:r>
                      <a:endParaRPr lang="en-US" altLang="en-US" sz="1000" b="0">
                        <a:solidFill>
                          <a:srgbClr val="000000"/>
                        </a:solidFill>
                        <a:latin typeface="Arial" panose="020B0604020202020204" pitchFamily="34" charset="0"/>
                      </a:endParaRPr>
                    </a:p>
                  </a:txBody>
                  <a:tcPr marL="12700" marR="12700" marT="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41300">
                <a:tc>
                  <a:txBody>
                    <a:bodyPr/>
                    <a:lstStyle/>
                    <a:p>
                      <a:pPr marL="0" algn="ctr" defTabSz="914400" rtl="0" eaLnBrk="1" fontAlgn="ctr" latinLnBrk="0" hangingPunct="1"/>
                      <a:r>
                        <a:rPr lang="en-US" altLang="zh-CN" sz="1200" b="1" i="0" u="none" strike="noStrike" kern="1200" dirty="0">
                          <a:solidFill>
                            <a:schemeClr val="bg1"/>
                          </a:solidFill>
                          <a:effectLst/>
                          <a:latin typeface="微软雅黑" panose="020B0503020204020204" pitchFamily="34" charset="-122"/>
                          <a:ea typeface="微软雅黑" panose="020B0503020204020204" pitchFamily="34" charset="-122"/>
                          <a:cs typeface="+mn-cs"/>
                        </a:rPr>
                        <a:t>4</a:t>
                      </a:r>
                      <a:endParaRPr lang="en-US" altLang="zh-CN" sz="1200" b="1" i="0" u="none" strike="noStrike" kern="1200" dirty="0">
                        <a:solidFill>
                          <a:schemeClr val="bg1"/>
                        </a:solidFill>
                        <a:effectLst/>
                        <a:latin typeface="微软雅黑" panose="020B0503020204020204" pitchFamily="34" charset="-122"/>
                        <a:ea typeface="微软雅黑" panose="020B0503020204020204" pitchFamily="34" charset="-122"/>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indent="0" algn="ctr">
                        <a:buNone/>
                      </a:pPr>
                      <a:r>
                        <a:rPr lang="en-US" sz="1000" b="0">
                          <a:solidFill>
                            <a:srgbClr val="000000"/>
                          </a:solidFill>
                          <a:latin typeface="Arial" panose="020B0604020202020204" pitchFamily="34" charset="0"/>
                        </a:rPr>
                        <a:t>74 </a:t>
                      </a:r>
                      <a:endParaRPr lang="en-US" altLang="en-US" sz="1000" b="0">
                        <a:solidFill>
                          <a:srgbClr val="000000"/>
                        </a:solidFill>
                        <a:latin typeface="Arial" panose="020B0604020202020204" pitchFamily="34" charset="0"/>
                      </a:endParaRPr>
                    </a:p>
                  </a:txBody>
                  <a:tcPr marL="12700" marR="12700" marT="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buNone/>
                      </a:pPr>
                      <a:r>
                        <a:rPr lang="en-US" sz="1000" b="0">
                          <a:solidFill>
                            <a:srgbClr val="000000"/>
                          </a:solidFill>
                          <a:latin typeface="Arial" panose="020B0604020202020204" pitchFamily="34" charset="0"/>
                        </a:rPr>
                        <a:t>73 </a:t>
                      </a:r>
                      <a:endParaRPr lang="en-US" altLang="en-US" sz="1000" b="0">
                        <a:solidFill>
                          <a:srgbClr val="000000"/>
                        </a:solidFill>
                        <a:latin typeface="Arial" panose="020B0604020202020204" pitchFamily="34" charset="0"/>
                      </a:endParaRPr>
                    </a:p>
                  </a:txBody>
                  <a:tcPr marL="12700" marR="12700" marT="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buNone/>
                      </a:pPr>
                      <a:r>
                        <a:rPr lang="en-US" altLang="en-US" sz="1200" b="1" dirty="0">
                          <a:solidFill>
                            <a:schemeClr val="bg1"/>
                          </a:solidFill>
                          <a:latin typeface="微软雅黑" panose="020B0503020204020204" pitchFamily="34" charset="-122"/>
                          <a:ea typeface="微软雅黑" panose="020B0503020204020204" pitchFamily="34" charset="-122"/>
                        </a:rPr>
                        <a:t>9</a:t>
                      </a:r>
                      <a:endParaRPr lang="en-US" altLang="en-US" sz="1200" b="1" dirty="0">
                        <a:solidFill>
                          <a:schemeClr val="bg1"/>
                        </a:solidFill>
                        <a:latin typeface="微软雅黑" panose="020B0503020204020204" pitchFamily="34" charset="-122"/>
                        <a:ea typeface="微软雅黑" panose="020B0503020204020204" pitchFamily="34" charset="-122"/>
                      </a:endParaRPr>
                    </a:p>
                  </a:txBody>
                  <a:tcPr marL="12700" marR="12700" marT="1270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indent="0" algn="ctr">
                        <a:buNone/>
                      </a:pPr>
                      <a:r>
                        <a:rPr lang="en-US" sz="1000" b="0" dirty="0">
                          <a:solidFill>
                            <a:srgbClr val="000000"/>
                          </a:solidFill>
                          <a:latin typeface="Arial" panose="020B0604020202020204" pitchFamily="34" charset="0"/>
                        </a:rPr>
                        <a:t>114 </a:t>
                      </a:r>
                      <a:endParaRPr lang="en-US" altLang="en-US" sz="1000" b="0" dirty="0">
                        <a:solidFill>
                          <a:srgbClr val="000000"/>
                        </a:solidFill>
                        <a:latin typeface="Arial" panose="020B0604020202020204" pitchFamily="34" charset="0"/>
                      </a:endParaRPr>
                    </a:p>
                  </a:txBody>
                  <a:tcPr marL="12700" marR="12700" marT="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buNone/>
                      </a:pPr>
                      <a:r>
                        <a:rPr lang="en-US" sz="1000" b="0" dirty="0">
                          <a:solidFill>
                            <a:srgbClr val="000000"/>
                          </a:solidFill>
                          <a:latin typeface="Arial" panose="020B0604020202020204" pitchFamily="34" charset="0"/>
                        </a:rPr>
                        <a:t>100 </a:t>
                      </a:r>
                      <a:endParaRPr lang="en-US" altLang="en-US" sz="1000" b="0" dirty="0">
                        <a:solidFill>
                          <a:srgbClr val="000000"/>
                        </a:solidFill>
                        <a:latin typeface="Arial" panose="020B0604020202020204" pitchFamily="34" charset="0"/>
                      </a:endParaRPr>
                    </a:p>
                  </a:txBody>
                  <a:tcPr marL="12700" marR="12700" marT="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41300">
                <a:tc>
                  <a:txBody>
                    <a:bodyPr/>
                    <a:lstStyle/>
                    <a:p>
                      <a:pPr marL="0" algn="ctr" defTabSz="914400" rtl="0" eaLnBrk="1" fontAlgn="ctr" latinLnBrk="0" hangingPunct="1"/>
                      <a:r>
                        <a:rPr lang="en-US" altLang="zh-CN" sz="1200" b="1" i="0" u="none" strike="noStrike" kern="1200" dirty="0">
                          <a:solidFill>
                            <a:schemeClr val="bg1"/>
                          </a:solidFill>
                          <a:effectLst/>
                          <a:latin typeface="微软雅黑" panose="020B0503020204020204" pitchFamily="34" charset="-122"/>
                          <a:ea typeface="微软雅黑" panose="020B0503020204020204" pitchFamily="34" charset="-122"/>
                          <a:cs typeface="+mn-cs"/>
                        </a:rPr>
                        <a:t>5</a:t>
                      </a:r>
                      <a:endParaRPr lang="en-US" altLang="zh-CN" sz="1200" b="1" i="0" u="none" strike="noStrike" kern="1200" dirty="0">
                        <a:solidFill>
                          <a:schemeClr val="bg1"/>
                        </a:solidFill>
                        <a:effectLst/>
                        <a:latin typeface="微软雅黑" panose="020B0503020204020204" pitchFamily="34" charset="-122"/>
                        <a:ea typeface="微软雅黑" panose="020B0503020204020204" pitchFamily="34" charset="-122"/>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indent="0" algn="ctr">
                        <a:buNone/>
                      </a:pPr>
                      <a:r>
                        <a:rPr lang="en-US" sz="1000" b="0">
                          <a:solidFill>
                            <a:srgbClr val="000000"/>
                          </a:solidFill>
                          <a:latin typeface="Arial" panose="020B0604020202020204" pitchFamily="34" charset="0"/>
                        </a:rPr>
                        <a:t>130 </a:t>
                      </a:r>
                      <a:endParaRPr lang="en-US" altLang="en-US" sz="1000" b="0">
                        <a:solidFill>
                          <a:srgbClr val="000000"/>
                        </a:solidFill>
                        <a:latin typeface="Arial" panose="020B0604020202020204" pitchFamily="34" charset="0"/>
                      </a:endParaRPr>
                    </a:p>
                  </a:txBody>
                  <a:tcPr marL="12700" marR="12700" marT="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buNone/>
                      </a:pPr>
                      <a:r>
                        <a:rPr lang="en-US" sz="1000" b="0">
                          <a:solidFill>
                            <a:srgbClr val="000000"/>
                          </a:solidFill>
                          <a:latin typeface="Arial" panose="020B0604020202020204" pitchFamily="34" charset="0"/>
                        </a:rPr>
                        <a:t>99 </a:t>
                      </a:r>
                      <a:endParaRPr lang="en-US" altLang="en-US" sz="1000" b="0">
                        <a:solidFill>
                          <a:srgbClr val="000000"/>
                        </a:solidFill>
                        <a:latin typeface="Arial" panose="020B0604020202020204" pitchFamily="34" charset="0"/>
                      </a:endParaRPr>
                    </a:p>
                  </a:txBody>
                  <a:tcPr marL="12700" marR="12700" marT="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buNone/>
                      </a:pPr>
                      <a:r>
                        <a:rPr lang="en-US" altLang="en-US" sz="1200" b="1" dirty="0">
                          <a:solidFill>
                            <a:schemeClr val="bg1"/>
                          </a:solidFill>
                          <a:latin typeface="微软雅黑" panose="020B0503020204020204" pitchFamily="34" charset="-122"/>
                          <a:ea typeface="微软雅黑" panose="020B0503020204020204" pitchFamily="34" charset="-122"/>
                        </a:rPr>
                        <a:t>10</a:t>
                      </a:r>
                      <a:endParaRPr lang="en-US" altLang="en-US" sz="1200" b="1" dirty="0">
                        <a:solidFill>
                          <a:schemeClr val="bg1"/>
                        </a:solidFill>
                        <a:latin typeface="微软雅黑" panose="020B0503020204020204" pitchFamily="34" charset="-122"/>
                        <a:ea typeface="微软雅黑" panose="020B0503020204020204" pitchFamily="34" charset="-122"/>
                      </a:endParaRPr>
                    </a:p>
                  </a:txBody>
                  <a:tcPr marL="12700" marR="12700" marT="1270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indent="0" algn="ctr">
                        <a:buNone/>
                      </a:pPr>
                      <a:r>
                        <a:rPr lang="en-US" sz="1000" b="0">
                          <a:solidFill>
                            <a:srgbClr val="000000"/>
                          </a:solidFill>
                          <a:latin typeface="Arial" panose="020B0604020202020204" pitchFamily="34" charset="0"/>
                        </a:rPr>
                        <a:t>96 </a:t>
                      </a:r>
                      <a:endParaRPr lang="en-US" altLang="en-US" sz="1000" b="0">
                        <a:solidFill>
                          <a:srgbClr val="000000"/>
                        </a:solidFill>
                        <a:latin typeface="Arial" panose="020B0604020202020204" pitchFamily="34" charset="0"/>
                      </a:endParaRPr>
                    </a:p>
                  </a:txBody>
                  <a:tcPr marL="12700" marR="12700" marT="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buNone/>
                      </a:pPr>
                      <a:r>
                        <a:rPr lang="en-US" sz="1000" b="0" dirty="0">
                          <a:solidFill>
                            <a:srgbClr val="000000"/>
                          </a:solidFill>
                          <a:latin typeface="Arial" panose="020B0604020202020204" pitchFamily="34" charset="0"/>
                        </a:rPr>
                        <a:t>97 </a:t>
                      </a:r>
                      <a:endParaRPr lang="en-US" altLang="en-US" sz="1000" b="0" dirty="0">
                        <a:solidFill>
                          <a:srgbClr val="000000"/>
                        </a:solidFill>
                        <a:latin typeface="Arial" panose="020B0604020202020204" pitchFamily="34" charset="0"/>
                      </a:endParaRPr>
                    </a:p>
                  </a:txBody>
                  <a:tcPr marL="12700" marR="12700" marT="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bl>
          </a:graphicData>
        </a:graphic>
      </p:graphicFrame>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7"/>
          <p:cNvSpPr txBox="1"/>
          <p:nvPr/>
        </p:nvSpPr>
        <p:spPr bwMode="auto">
          <a:xfrm>
            <a:off x="320061" y="888766"/>
            <a:ext cx="11551878" cy="368300"/>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、页岩气井压裂效果量化评价指标筛选与权重分析</a:t>
            </a:r>
            <a:endParaRPr lang="zh-CN" altLang="en-US" dirty="0">
              <a:latin typeface="微软雅黑" panose="020B0503020204020204" pitchFamily="34" charset="-122"/>
              <a:ea typeface="微软雅黑" panose="020B0503020204020204" pitchFamily="34" charset="-122"/>
            </a:endParaRPr>
          </a:p>
        </p:txBody>
      </p:sp>
      <p:sp>
        <p:nvSpPr>
          <p:cNvPr id="37" name="Rectangle 11"/>
          <p:cNvSpPr>
            <a:spLocks noChangeArrowheads="1"/>
          </p:cNvSpPr>
          <p:nvPr/>
        </p:nvSpPr>
        <p:spPr bwMode="auto">
          <a:xfrm>
            <a:off x="8890" y="-41275"/>
            <a:ext cx="1218120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（二）主要研究内容</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334329" y="1319605"/>
            <a:ext cx="11485562" cy="1198880"/>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b="1" dirty="0">
                <a:solidFill>
                  <a:prstClr val="black"/>
                </a:solidFill>
                <a:latin typeface="微软雅黑" panose="020B0503020204020204" pitchFamily="34" charset="-122"/>
                <a:ea typeface="微软雅黑" panose="020B0503020204020204" pitchFamily="34" charset="-122"/>
                <a:sym typeface="+mn-ea"/>
              </a:rPr>
              <a:t>④井中微地震监测技术：</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微地震监测技术通过布置在地面或井下的地震传感器阵列，记录水力压裂过程中产生的</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微小地震波形</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。微地震技术已广泛应用于</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裂缝网络的实时监测与动态评估</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压裂效果的定量评估</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天然裂缝的识别与分析</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井间距与压窜风险分析</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等方面。</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5" name="图片 14" descr="图片4"/>
          <p:cNvPicPr>
            <a:picLocks noChangeAspect="1"/>
          </p:cNvPicPr>
          <p:nvPr/>
        </p:nvPicPr>
        <p:blipFill>
          <a:blip r:embed="rId1"/>
          <a:stretch>
            <a:fillRect/>
          </a:stretch>
        </p:blipFill>
        <p:spPr>
          <a:xfrm>
            <a:off x="7941945" y="2505710"/>
            <a:ext cx="3766185" cy="1612265"/>
          </a:xfrm>
          <a:prstGeom prst="rect">
            <a:avLst/>
          </a:prstGeom>
        </p:spPr>
      </p:pic>
      <p:pic>
        <p:nvPicPr>
          <p:cNvPr id="20" name="图片 19" descr="图片5"/>
          <p:cNvPicPr>
            <a:picLocks noChangeAspect="1"/>
          </p:cNvPicPr>
          <p:nvPr/>
        </p:nvPicPr>
        <p:blipFill>
          <a:blip r:embed="rId2"/>
          <a:stretch>
            <a:fillRect/>
          </a:stretch>
        </p:blipFill>
        <p:spPr>
          <a:xfrm>
            <a:off x="7941945" y="4215765"/>
            <a:ext cx="3722370" cy="1823720"/>
          </a:xfrm>
          <a:prstGeom prst="rect">
            <a:avLst/>
          </a:prstGeom>
        </p:spPr>
      </p:pic>
      <p:pic>
        <p:nvPicPr>
          <p:cNvPr id="21" name="图片 20" descr="图片6"/>
          <p:cNvPicPr>
            <a:picLocks noChangeAspect="1"/>
          </p:cNvPicPr>
          <p:nvPr/>
        </p:nvPicPr>
        <p:blipFill>
          <a:blip r:embed="rId3"/>
          <a:stretch>
            <a:fillRect/>
          </a:stretch>
        </p:blipFill>
        <p:spPr>
          <a:xfrm>
            <a:off x="5340350" y="2505075"/>
            <a:ext cx="2494915" cy="3534410"/>
          </a:xfrm>
          <a:prstGeom prst="rect">
            <a:avLst/>
          </a:prstGeom>
        </p:spPr>
      </p:pic>
      <p:sp>
        <p:nvSpPr>
          <p:cNvPr id="22" name="矩形 22"/>
          <p:cNvSpPr>
            <a:spLocks noChangeArrowheads="1"/>
          </p:cNvSpPr>
          <p:nvPr/>
        </p:nvSpPr>
        <p:spPr bwMode="auto">
          <a:xfrm>
            <a:off x="5361305" y="6040120"/>
            <a:ext cx="645858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微地震解释缝网长宽高、波及体走向、井筒夹角、天然裂缝响应</a:t>
            </a:r>
            <a:endParaRPr lang="zh-CN" altLang="en-US" sz="1200" dirty="0">
              <a:solidFill>
                <a:srgbClr val="000000"/>
              </a:solidFill>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4"/>
          <a:stretch>
            <a:fillRect/>
          </a:stretch>
        </p:blipFill>
        <p:spPr>
          <a:xfrm>
            <a:off x="619125" y="2505075"/>
            <a:ext cx="4092575" cy="3495675"/>
          </a:xfrm>
          <a:prstGeom prst="rect">
            <a:avLst/>
          </a:prstGeom>
          <a:ln>
            <a:solidFill>
              <a:schemeClr val="tx1"/>
            </a:solidFill>
          </a:ln>
        </p:spPr>
      </p:pic>
      <p:sp>
        <p:nvSpPr>
          <p:cNvPr id="6" name="矩形 22"/>
          <p:cNvSpPr>
            <a:spLocks noChangeArrowheads="1"/>
          </p:cNvSpPr>
          <p:nvPr/>
        </p:nvSpPr>
        <p:spPr bwMode="auto">
          <a:xfrm>
            <a:off x="618490" y="6039485"/>
            <a:ext cx="4093210"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井中微地震监测技术示意图</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7"/>
          <p:cNvSpPr txBox="1"/>
          <p:nvPr/>
        </p:nvSpPr>
        <p:spPr bwMode="auto">
          <a:xfrm>
            <a:off x="320061" y="888766"/>
            <a:ext cx="11551878" cy="368300"/>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、页岩气井压裂效果量化评价指标筛选与权重分析</a:t>
            </a:r>
            <a:endParaRPr lang="zh-CN" altLang="en-US" dirty="0">
              <a:latin typeface="微软雅黑" panose="020B0503020204020204" pitchFamily="34" charset="-122"/>
              <a:ea typeface="微软雅黑" panose="020B0503020204020204" pitchFamily="34" charset="-122"/>
            </a:endParaRPr>
          </a:p>
        </p:txBody>
      </p:sp>
      <p:sp>
        <p:nvSpPr>
          <p:cNvPr id="37" name="Rectangle 11"/>
          <p:cNvSpPr>
            <a:spLocks noChangeArrowheads="1"/>
          </p:cNvSpPr>
          <p:nvPr/>
        </p:nvSpPr>
        <p:spPr bwMode="auto">
          <a:xfrm>
            <a:off x="8890" y="-41275"/>
            <a:ext cx="1218120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（二）主要研究内容</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334329" y="1319605"/>
            <a:ext cx="11485562" cy="1198880"/>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b="1" dirty="0">
                <a:solidFill>
                  <a:prstClr val="black"/>
                </a:solidFill>
                <a:latin typeface="微软雅黑" panose="020B0503020204020204" pitchFamily="34" charset="-122"/>
                <a:ea typeface="微软雅黑" panose="020B0503020204020204" pitchFamily="34" charset="-122"/>
                <a:sym typeface="+mn-ea"/>
              </a:rPr>
              <a:t>⑤井口高频压力压裂监测技术：</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通过地面泵车组引起快速流量变化</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激发</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压力波，压力波沿井筒套管向井下</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传播</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，当压力波到达裂缝处时发生交互并向井口</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反射</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，通过井口高频压力计采集数据并诊断分析压裂效果。可以确定</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裂缝进液位置与暂堵效果</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；判断</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暂堵作业是否有效并实时优化</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；确定</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裂缝改造体积</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；判断</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桥塞坐封效果</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；确定</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裂缝复杂程度</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27" name="图片 126" descr="图片4"/>
          <p:cNvPicPr>
            <a:picLocks noChangeAspect="1"/>
          </p:cNvPicPr>
          <p:nvPr/>
        </p:nvPicPr>
        <p:blipFill>
          <a:blip r:embed="rId1"/>
          <a:stretch>
            <a:fillRect/>
          </a:stretch>
        </p:blipFill>
        <p:spPr>
          <a:xfrm>
            <a:off x="335280" y="2667635"/>
            <a:ext cx="5448300" cy="3277235"/>
          </a:xfrm>
          <a:prstGeom prst="rect">
            <a:avLst/>
          </a:prstGeom>
        </p:spPr>
      </p:pic>
      <p:sp>
        <p:nvSpPr>
          <p:cNvPr id="130" name="矩形 22"/>
          <p:cNvSpPr>
            <a:spLocks noChangeArrowheads="1"/>
          </p:cNvSpPr>
          <p:nvPr/>
        </p:nvSpPr>
        <p:spPr bwMode="auto">
          <a:xfrm>
            <a:off x="335280" y="6035675"/>
            <a:ext cx="544766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信号处理频谱模型</a:t>
            </a:r>
            <a:endParaRPr lang="zh-CN" altLang="en-US" sz="1200" dirty="0">
              <a:solidFill>
                <a:srgbClr val="000000"/>
              </a:solidFill>
              <a:latin typeface="微软雅黑" panose="020B0503020204020204" pitchFamily="34" charset="-122"/>
              <a:ea typeface="微软雅黑" panose="020B0503020204020204" pitchFamily="34" charset="-122"/>
            </a:endParaRPr>
          </a:p>
        </p:txBody>
      </p:sp>
      <p:pic>
        <p:nvPicPr>
          <p:cNvPr id="7" name="图片 1"/>
          <p:cNvPicPr>
            <a:picLocks noChangeAspect="1"/>
          </p:cNvPicPr>
          <p:nvPr/>
        </p:nvPicPr>
        <p:blipFill>
          <a:blip r:embed="rId2">
            <a:extLst>
              <a:ext uri="{28A0092B-C50C-407E-A947-70E740481C1C}">
                <a14:useLocalDpi xmlns:a14="http://schemas.microsoft.com/office/drawing/2010/main" val="0"/>
              </a:ext>
            </a:extLst>
          </a:blip>
          <a:srcRect l="2411" r="3688"/>
          <a:stretch>
            <a:fillRect/>
          </a:stretch>
        </p:blipFill>
        <p:spPr bwMode="auto">
          <a:xfrm>
            <a:off x="5784215" y="2668270"/>
            <a:ext cx="6019800"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9" name="矩形 22"/>
          <p:cNvSpPr>
            <a:spLocks noChangeArrowheads="1"/>
          </p:cNvSpPr>
          <p:nvPr/>
        </p:nvSpPr>
        <p:spPr bwMode="auto">
          <a:xfrm>
            <a:off x="5784215" y="6035675"/>
            <a:ext cx="601916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长宁某井暂堵转向效果评价</a:t>
            </a:r>
            <a:endParaRPr lang="en-US" altLang="zh-CN" sz="1200" dirty="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7"/>
          <p:cNvSpPr txBox="1"/>
          <p:nvPr/>
        </p:nvSpPr>
        <p:spPr bwMode="auto">
          <a:xfrm>
            <a:off x="320061" y="888766"/>
            <a:ext cx="11551878" cy="368300"/>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、页岩气井压裂效果量化评价指标筛选与权重分析</a:t>
            </a:r>
            <a:endParaRPr lang="zh-CN" altLang="en-US" dirty="0">
              <a:latin typeface="微软雅黑" panose="020B0503020204020204" pitchFamily="34" charset="-122"/>
              <a:ea typeface="微软雅黑" panose="020B0503020204020204" pitchFamily="34" charset="-122"/>
            </a:endParaRPr>
          </a:p>
        </p:txBody>
      </p:sp>
      <p:sp>
        <p:nvSpPr>
          <p:cNvPr id="37" name="Rectangle 11"/>
          <p:cNvSpPr>
            <a:spLocks noChangeArrowheads="1"/>
          </p:cNvSpPr>
          <p:nvPr/>
        </p:nvSpPr>
        <p:spPr bwMode="auto">
          <a:xfrm>
            <a:off x="8890" y="-41275"/>
            <a:ext cx="1218120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（二）主要研究内容</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334329" y="1319605"/>
            <a:ext cx="11485562" cy="1198880"/>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b="1" dirty="0">
                <a:solidFill>
                  <a:prstClr val="black"/>
                </a:solidFill>
                <a:latin typeface="微软雅黑" panose="020B0503020204020204" pitchFamily="34" charset="-122"/>
                <a:ea typeface="微软雅黑" panose="020B0503020204020204" pitchFamily="34" charset="-122"/>
                <a:sym typeface="+mn-ea"/>
              </a:rPr>
              <a:t>⑥声呐远探裂缝监测技术：</a:t>
            </a:r>
            <a:r>
              <a:rPr lang="zh-CN" altLang="en-US" sz="160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通过</a:t>
            </a:r>
            <a:r>
              <a:rPr lang="zh-CN" altLang="en-US"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mn-ea"/>
              </a:rPr>
              <a:t>地面发射</a:t>
            </a:r>
            <a:r>
              <a:rPr lang="zh-CN" altLang="en-US" sz="160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可控（频率、波形、振幅、脉冲时间）的</a:t>
            </a:r>
            <a:r>
              <a:rPr lang="zh-CN" altLang="en-US"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mn-ea"/>
              </a:rPr>
              <a:t>声波脉冲</a:t>
            </a:r>
            <a:r>
              <a:rPr lang="zh-CN" altLang="en-US" sz="160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，声波通过井筒流体</a:t>
            </a:r>
            <a:r>
              <a:rPr lang="zh-CN" altLang="en-US"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mn-ea"/>
              </a:rPr>
              <a:t>传播</a:t>
            </a:r>
            <a:r>
              <a:rPr lang="zh-CN" altLang="en-US" sz="160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，检测压裂液波及到的所有裂缝，然后进行</a:t>
            </a:r>
            <a:r>
              <a:rPr lang="zh-CN" altLang="en-US"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mn-ea"/>
              </a:rPr>
              <a:t>反射</a:t>
            </a:r>
            <a:r>
              <a:rPr lang="zh-CN" altLang="en-US" sz="160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（反射波特性会受到与井筒交互的压裂裂缝系统影响）。</a:t>
            </a:r>
            <a:r>
              <a:rPr lang="zh-CN" altLang="en-US" sz="16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sym typeface="+mn-ea"/>
              </a:rPr>
              <a:t>声呐方法可以快速完成测量，包括裂缝尺寸、近井裂缝复杂连通指数</a:t>
            </a:r>
            <a:r>
              <a:rPr lang="en-US" altLang="zh-CN" sz="16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sym typeface="+mn-ea"/>
              </a:rPr>
              <a:t>NFCI</a:t>
            </a:r>
            <a:r>
              <a:rPr lang="zh-CN" altLang="en-US" sz="16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sym typeface="+mn-ea"/>
              </a:rPr>
              <a:t>、远井裂缝导流能力指数</a:t>
            </a:r>
            <a:r>
              <a:rPr lang="en-US" altLang="zh-CN" sz="16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sym typeface="+mn-ea"/>
              </a:rPr>
              <a:t>FFCI</a:t>
            </a:r>
            <a:r>
              <a:rPr lang="zh-CN" altLang="en-US" sz="16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sym typeface="+mn-ea"/>
              </a:rPr>
              <a:t>等，以</a:t>
            </a:r>
            <a:r>
              <a:rPr lang="zh-CN" altLang="en-US"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mn-ea"/>
              </a:rPr>
              <a:t>指导现场压裂评估和实时调整</a:t>
            </a:r>
            <a:r>
              <a:rPr lang="zh-CN" altLang="en-US" sz="16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endParaRPr lang="en-US" altLang="zh-CN" sz="160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pic>
        <p:nvPicPr>
          <p:cNvPr id="2" name="图片 1" descr="图片11"/>
          <p:cNvPicPr>
            <a:picLocks noChangeAspect="1"/>
          </p:cNvPicPr>
          <p:nvPr/>
        </p:nvPicPr>
        <p:blipFill>
          <a:blip r:embed="rId1"/>
          <a:srcRect l="6611" t="7995" r="7314" b="8470"/>
          <a:stretch>
            <a:fillRect/>
          </a:stretch>
        </p:blipFill>
        <p:spPr>
          <a:xfrm>
            <a:off x="6988810" y="2506345"/>
            <a:ext cx="4899660" cy="1987550"/>
          </a:xfrm>
          <a:prstGeom prst="rect">
            <a:avLst/>
          </a:prstGeom>
        </p:spPr>
      </p:pic>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21495" y="4493260"/>
            <a:ext cx="2465705" cy="1548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88175" y="4493895"/>
            <a:ext cx="2433320" cy="15468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1" name="矩形 22"/>
          <p:cNvSpPr>
            <a:spLocks noChangeArrowheads="1"/>
          </p:cNvSpPr>
          <p:nvPr/>
        </p:nvSpPr>
        <p:spPr bwMode="auto">
          <a:xfrm>
            <a:off x="6988175" y="6037580"/>
            <a:ext cx="489902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solidFill>
                  <a:srgbClr val="000000"/>
                </a:solidFill>
                <a:latin typeface="微软雅黑" panose="020B0503020204020204" pitchFamily="34" charset="-122"/>
                <a:ea typeface="微软雅黑" panose="020B0503020204020204" pitchFamily="34" charset="-122"/>
              </a:rPr>
              <a:t>声呐监测裂缝</a:t>
            </a:r>
            <a:r>
              <a:rPr lang="en-US" altLang="zh-CN" sz="1200" dirty="0">
                <a:solidFill>
                  <a:srgbClr val="000000"/>
                </a:solidFill>
                <a:latin typeface="微软雅黑" panose="020B0503020204020204" pitchFamily="34" charset="-122"/>
                <a:ea typeface="微软雅黑" panose="020B0503020204020204" pitchFamily="34" charset="-122"/>
              </a:rPr>
              <a:t>3D-plot</a:t>
            </a:r>
            <a:r>
              <a:rPr lang="zh-CN" altLang="en-US" sz="1200" dirty="0">
                <a:solidFill>
                  <a:srgbClr val="000000"/>
                </a:solidFill>
                <a:latin typeface="微软雅黑" panose="020B0503020204020204" pitchFamily="34" charset="-122"/>
                <a:ea typeface="微软雅黑" panose="020B0503020204020204" pitchFamily="34" charset="-122"/>
              </a:rPr>
              <a:t>投影图</a:t>
            </a:r>
            <a:endParaRPr lang="zh-CN" altLang="en-US" sz="1200" dirty="0">
              <a:solidFill>
                <a:srgbClr val="000000"/>
              </a:solidFill>
              <a:latin typeface="微软雅黑" panose="020B0503020204020204" pitchFamily="34" charset="-122"/>
              <a:ea typeface="微软雅黑" panose="020B0503020204020204" pitchFamily="34" charset="-122"/>
            </a:endParaRPr>
          </a:p>
        </p:txBody>
      </p:sp>
      <p:sp>
        <p:nvSpPr>
          <p:cNvPr id="129" name="矩形 22"/>
          <p:cNvSpPr>
            <a:spLocks noChangeArrowheads="1"/>
          </p:cNvSpPr>
          <p:nvPr/>
        </p:nvSpPr>
        <p:spPr bwMode="auto">
          <a:xfrm>
            <a:off x="526415" y="6040755"/>
            <a:ext cx="5731510"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sz="1200" dirty="0">
                <a:solidFill>
                  <a:srgbClr val="000000"/>
                </a:solidFill>
                <a:latin typeface="微软雅黑" panose="020B0503020204020204" pitchFamily="34" charset="-122"/>
                <a:ea typeface="微软雅黑" panose="020B0503020204020204" pitchFamily="34" charset="-122"/>
              </a:rPr>
              <a:t>声纳远探裂缝监测技术示意图</a:t>
            </a:r>
            <a:endParaRPr lang="zh-CN" sz="1200" dirty="0">
              <a:solidFill>
                <a:srgbClr val="000000"/>
              </a:solidFill>
              <a:latin typeface="微软雅黑" panose="020B0503020204020204" pitchFamily="34" charset="-122"/>
              <a:ea typeface="微软雅黑" panose="020B0503020204020204" pitchFamily="34" charset="-122"/>
            </a:endParaRPr>
          </a:p>
        </p:txBody>
      </p:sp>
      <p:pic>
        <p:nvPicPr>
          <p:cNvPr id="11" name="图片 10" descr="图片9"/>
          <p:cNvPicPr>
            <a:picLocks noChangeAspect="1"/>
          </p:cNvPicPr>
          <p:nvPr/>
        </p:nvPicPr>
        <p:blipFill>
          <a:blip r:embed="rId4"/>
          <a:stretch>
            <a:fillRect/>
          </a:stretch>
        </p:blipFill>
        <p:spPr>
          <a:xfrm>
            <a:off x="525780" y="2511425"/>
            <a:ext cx="3286760" cy="1851660"/>
          </a:xfrm>
          <a:prstGeom prst="rect">
            <a:avLst/>
          </a:prstGeom>
        </p:spPr>
      </p:pic>
      <p:pic>
        <p:nvPicPr>
          <p:cNvPr id="12" name="图片 11" descr="图片10"/>
          <p:cNvPicPr>
            <a:picLocks noChangeAspect="1"/>
          </p:cNvPicPr>
          <p:nvPr/>
        </p:nvPicPr>
        <p:blipFill>
          <a:blip r:embed="rId5"/>
          <a:stretch>
            <a:fillRect/>
          </a:stretch>
        </p:blipFill>
        <p:spPr>
          <a:xfrm>
            <a:off x="3812540" y="2519045"/>
            <a:ext cx="2965450" cy="1817370"/>
          </a:xfrm>
          <a:prstGeom prst="rect">
            <a:avLst/>
          </a:prstGeom>
        </p:spPr>
      </p:pic>
      <p:pic>
        <p:nvPicPr>
          <p:cNvPr id="7" name="图片 6"/>
          <p:cNvPicPr>
            <a:picLocks noChangeAspect="1"/>
          </p:cNvPicPr>
          <p:nvPr/>
        </p:nvPicPr>
        <p:blipFill>
          <a:blip r:embed="rId6"/>
          <a:stretch>
            <a:fillRect/>
          </a:stretch>
        </p:blipFill>
        <p:spPr>
          <a:xfrm>
            <a:off x="525780" y="4363085"/>
            <a:ext cx="3287395" cy="1677670"/>
          </a:xfrm>
          <a:prstGeom prst="rect">
            <a:avLst/>
          </a:prstGeom>
        </p:spPr>
      </p:pic>
      <p:pic>
        <p:nvPicPr>
          <p:cNvPr id="8" name="图片 7"/>
          <p:cNvPicPr>
            <a:picLocks noChangeAspect="1"/>
          </p:cNvPicPr>
          <p:nvPr/>
        </p:nvPicPr>
        <p:blipFill>
          <a:blip r:embed="rId7"/>
          <a:stretch>
            <a:fillRect/>
          </a:stretch>
        </p:blipFill>
        <p:spPr>
          <a:xfrm>
            <a:off x="3813810" y="4352925"/>
            <a:ext cx="2964180" cy="1675130"/>
          </a:xfrm>
          <a:prstGeom prst="rect">
            <a:avLst/>
          </a:prstGeom>
        </p:spPr>
      </p:pic>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7"/>
          <p:cNvSpPr txBox="1"/>
          <p:nvPr/>
        </p:nvSpPr>
        <p:spPr bwMode="auto">
          <a:xfrm>
            <a:off x="320061" y="888766"/>
            <a:ext cx="11551878" cy="368300"/>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、页岩气井压裂效果量化评价指标筛选与权重分析</a:t>
            </a:r>
            <a:endParaRPr lang="zh-CN" altLang="en-US" dirty="0">
              <a:latin typeface="微软雅黑" panose="020B0503020204020204" pitchFamily="34" charset="-122"/>
              <a:ea typeface="微软雅黑" panose="020B0503020204020204" pitchFamily="34" charset="-122"/>
            </a:endParaRPr>
          </a:p>
        </p:txBody>
      </p:sp>
      <p:sp>
        <p:nvSpPr>
          <p:cNvPr id="37" name="Rectangle 11"/>
          <p:cNvSpPr>
            <a:spLocks noChangeArrowheads="1"/>
          </p:cNvSpPr>
          <p:nvPr/>
        </p:nvSpPr>
        <p:spPr bwMode="auto">
          <a:xfrm>
            <a:off x="8890" y="-41275"/>
            <a:ext cx="1218120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（二）主要研究内容</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334329" y="1319605"/>
            <a:ext cx="11485562" cy="829945"/>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b="1" kern="0" dirty="0">
                <a:latin typeface="微软雅黑" panose="020B0503020204020204" pitchFamily="34" charset="-122"/>
                <a:ea typeface="微软雅黑" panose="020B0503020204020204" pitchFamily="34" charset="-122"/>
                <a:sym typeface="+mn-ea"/>
              </a:rPr>
              <a:t>基于小波变换、G函数分析等技术的曲线特征挖掘</a:t>
            </a: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形成以</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小波变换、</a:t>
            </a:r>
            <a:r>
              <a:rPr lang="en-US" altLang="zh-CN"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G</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函数分析</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为核心的压裂曲线分析方法，建立</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改造体积、裂缝几何参数</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等量化评价指标，</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能够大幅度减少压后效果评估成本</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2" name="图片 1"/>
          <p:cNvPicPr>
            <a:picLocks noChangeAspect="1"/>
          </p:cNvPicPr>
          <p:nvPr/>
        </p:nvPicPr>
        <p:blipFill>
          <a:blip r:embed="rId1"/>
          <a:stretch>
            <a:fillRect/>
          </a:stretch>
        </p:blipFill>
        <p:spPr>
          <a:xfrm>
            <a:off x="482600" y="4081145"/>
            <a:ext cx="5641340" cy="2249805"/>
          </a:xfrm>
          <a:prstGeom prst="rect">
            <a:avLst/>
          </a:prstGeom>
        </p:spPr>
      </p:pic>
      <p:pic>
        <p:nvPicPr>
          <p:cNvPr id="8" name="图片 7" descr="图片6"/>
          <p:cNvPicPr>
            <a:picLocks noChangeAspect="1"/>
          </p:cNvPicPr>
          <p:nvPr/>
        </p:nvPicPr>
        <p:blipFill>
          <a:blip r:embed="rId2"/>
          <a:stretch>
            <a:fillRect/>
          </a:stretch>
        </p:blipFill>
        <p:spPr>
          <a:xfrm>
            <a:off x="482600" y="2251710"/>
            <a:ext cx="5640705" cy="1906905"/>
          </a:xfrm>
          <a:prstGeom prst="rect">
            <a:avLst/>
          </a:prstGeom>
        </p:spPr>
      </p:pic>
      <p:pic>
        <p:nvPicPr>
          <p:cNvPr id="11" name="图片 10" descr="图片7"/>
          <p:cNvPicPr>
            <a:picLocks noChangeAspect="1"/>
          </p:cNvPicPr>
          <p:nvPr/>
        </p:nvPicPr>
        <p:blipFill>
          <a:blip r:embed="rId3"/>
          <a:stretch>
            <a:fillRect/>
          </a:stretch>
        </p:blipFill>
        <p:spPr>
          <a:xfrm>
            <a:off x="6491605" y="2144395"/>
            <a:ext cx="5084445" cy="1936750"/>
          </a:xfrm>
          <a:prstGeom prst="rect">
            <a:avLst/>
          </a:prstGeom>
        </p:spPr>
      </p:pic>
      <p:sp>
        <p:nvSpPr>
          <p:cNvPr id="14" name="文本框 13"/>
          <p:cNvSpPr txBox="1"/>
          <p:nvPr/>
        </p:nvSpPr>
        <p:spPr>
          <a:xfrm>
            <a:off x="4263390" y="2922270"/>
            <a:ext cx="1574800" cy="386080"/>
          </a:xfrm>
          <a:prstGeom prst="rect">
            <a:avLst/>
          </a:prstGeom>
          <a:noFill/>
          <a:ln>
            <a:noFill/>
          </a:ln>
        </p:spPr>
        <p:txBody>
          <a:bodyPr wrap="square"/>
          <a:lstStyle/>
          <a:p>
            <a:pPr marL="0" indent="0" algn="ctr">
              <a:lnSpc>
                <a:spcPct val="100000"/>
              </a:lnSpc>
              <a:buClr>
                <a:srgbClr val="FF0000"/>
              </a:buClr>
            </a:pPr>
            <a:r>
              <a:rPr lang="zh-CN" altLang="en-US" sz="1600" b="1" dirty="0">
                <a:solidFill>
                  <a:srgbClr val="FF0000"/>
                </a:solidFill>
                <a:latin typeface="微软雅黑" panose="020B0503020204020204" pitchFamily="34" charset="-122"/>
                <a:ea typeface="微软雅黑" panose="020B0503020204020204" pitchFamily="34" charset="-122"/>
              </a:rPr>
              <a:t>离散小波变换</a:t>
            </a:r>
            <a:endParaRPr lang="zh-CN" altLang="en-US" sz="1600" b="1" dirty="0">
              <a:solidFill>
                <a:srgbClr val="FF0000"/>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4263390" y="5622925"/>
            <a:ext cx="1574800" cy="386080"/>
          </a:xfrm>
          <a:prstGeom prst="rect">
            <a:avLst/>
          </a:prstGeom>
          <a:noFill/>
          <a:ln>
            <a:noFill/>
          </a:ln>
        </p:spPr>
        <p:txBody>
          <a:bodyPr wrap="square"/>
          <a:lstStyle/>
          <a:p>
            <a:pPr marL="0" indent="0" algn="ctr">
              <a:lnSpc>
                <a:spcPct val="100000"/>
              </a:lnSpc>
              <a:buClr>
                <a:srgbClr val="FF0000"/>
              </a:buClr>
            </a:pPr>
            <a:r>
              <a:rPr lang="zh-CN" altLang="en-US" sz="1600" b="1" dirty="0">
                <a:solidFill>
                  <a:srgbClr val="FF0000"/>
                </a:solidFill>
                <a:latin typeface="微软雅黑" panose="020B0503020204020204" pitchFamily="34" charset="-122"/>
                <a:ea typeface="微软雅黑" panose="020B0503020204020204" pitchFamily="34" charset="-122"/>
              </a:rPr>
              <a:t>连续小波变换</a:t>
            </a:r>
            <a:endParaRPr lang="zh-CN" altLang="en-US" sz="1600" b="1" dirty="0">
              <a:solidFill>
                <a:srgbClr val="FF0000"/>
              </a:solidFill>
              <a:latin typeface="微软雅黑" panose="020B0503020204020204" pitchFamily="34" charset="-122"/>
              <a:ea typeface="微软雅黑" panose="020B0503020204020204" pitchFamily="34" charset="-122"/>
            </a:endParaRPr>
          </a:p>
        </p:txBody>
      </p:sp>
      <p:sp>
        <p:nvSpPr>
          <p:cNvPr id="16" name="文本框 15"/>
          <p:cNvSpPr txBox="1"/>
          <p:nvPr/>
        </p:nvSpPr>
        <p:spPr>
          <a:xfrm>
            <a:off x="9348470" y="2536190"/>
            <a:ext cx="1574800" cy="386080"/>
          </a:xfrm>
          <a:prstGeom prst="rect">
            <a:avLst/>
          </a:prstGeom>
          <a:noFill/>
          <a:ln>
            <a:noFill/>
          </a:ln>
        </p:spPr>
        <p:txBody>
          <a:bodyPr wrap="square"/>
          <a:lstStyle/>
          <a:p>
            <a:pPr marL="0" indent="0" algn="ctr">
              <a:lnSpc>
                <a:spcPct val="100000"/>
              </a:lnSpc>
              <a:buClr>
                <a:srgbClr val="FF0000"/>
              </a:buClr>
            </a:pPr>
            <a:r>
              <a:rPr lang="en-US" altLang="zh-CN" sz="1600" b="1" dirty="0">
                <a:solidFill>
                  <a:srgbClr val="FF0000"/>
                </a:solidFill>
                <a:latin typeface="微软雅黑" panose="020B0503020204020204" pitchFamily="34" charset="-122"/>
                <a:ea typeface="微软雅黑" panose="020B0503020204020204" pitchFamily="34" charset="-122"/>
              </a:rPr>
              <a:t>G</a:t>
            </a:r>
            <a:r>
              <a:rPr lang="zh-CN" altLang="en-US" sz="1600" b="1" dirty="0">
                <a:solidFill>
                  <a:srgbClr val="FF0000"/>
                </a:solidFill>
                <a:latin typeface="微软雅黑" panose="020B0503020204020204" pitchFamily="34" charset="-122"/>
                <a:ea typeface="微软雅黑" panose="020B0503020204020204" pitchFamily="34" charset="-122"/>
              </a:rPr>
              <a:t>函数分析</a:t>
            </a:r>
            <a:endParaRPr lang="zh-CN" altLang="en-US" sz="1600" b="1" dirty="0">
              <a:solidFill>
                <a:srgbClr val="FF0000"/>
              </a:solidFill>
              <a:latin typeface="微软雅黑" panose="020B0503020204020204" pitchFamily="34" charset="-122"/>
              <a:ea typeface="微软雅黑" panose="020B0503020204020204" pitchFamily="34" charset="-122"/>
            </a:endParaRPr>
          </a:p>
        </p:txBody>
      </p:sp>
      <p:graphicFrame>
        <p:nvGraphicFramePr>
          <p:cNvPr id="4" name="表格 3"/>
          <p:cNvGraphicFramePr/>
          <p:nvPr>
            <p:custDataLst>
              <p:tags r:id="rId4"/>
            </p:custDataLst>
          </p:nvPr>
        </p:nvGraphicFramePr>
        <p:xfrm>
          <a:off x="6276975" y="4201795"/>
          <a:ext cx="5543550" cy="2128520"/>
        </p:xfrm>
        <a:graphic>
          <a:graphicData uri="http://schemas.openxmlformats.org/drawingml/2006/table">
            <a:tbl>
              <a:tblPr firstRow="1">
                <a:tableStyleId>{A434F62F-E7E8-48FB-A893-C6772005CB8F}</a:tableStyleId>
              </a:tblPr>
              <a:tblGrid>
                <a:gridCol w="1847850"/>
                <a:gridCol w="1847850"/>
                <a:gridCol w="1847850"/>
              </a:tblGrid>
              <a:tr h="532130">
                <a:tc>
                  <a:txBody>
                    <a:bodyPr/>
                    <a:lstStyle/>
                    <a:p>
                      <a:pPr algn="ctr">
                        <a:buNone/>
                      </a:pPr>
                      <a:r>
                        <a:rPr lang="zh-CN" altLang="en-US" sz="1600" dirty="0">
                          <a:solidFill>
                            <a:schemeClr val="bg1"/>
                          </a:solidFill>
                          <a:latin typeface="微软雅黑" panose="020B0503020204020204" pitchFamily="34" charset="-122"/>
                          <a:ea typeface="微软雅黑" panose="020B0503020204020204" pitchFamily="34" charset="-122"/>
                        </a:rPr>
                        <a:t>方法</a:t>
                      </a:r>
                      <a:endParaRPr lang="zh-CN" altLang="en-US" sz="1600" dirty="0">
                        <a:solidFill>
                          <a:schemeClr val="bg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a:buNone/>
                      </a:pPr>
                      <a:r>
                        <a:rPr lang="zh-CN" altLang="en-US" sz="1600" dirty="0">
                          <a:solidFill>
                            <a:schemeClr val="bg1"/>
                          </a:solidFill>
                          <a:latin typeface="微软雅黑" panose="020B0503020204020204" pitchFamily="34" charset="-122"/>
                          <a:ea typeface="微软雅黑" panose="020B0503020204020204" pitchFamily="34" charset="-122"/>
                        </a:rPr>
                        <a:t>评价指标</a:t>
                      </a:r>
                      <a:endParaRPr lang="zh-CN" altLang="en-US" sz="1600" dirty="0">
                        <a:solidFill>
                          <a:schemeClr val="bg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a:buNone/>
                      </a:pPr>
                      <a:r>
                        <a:rPr lang="zh-CN" altLang="en-US" sz="1600" dirty="0">
                          <a:solidFill>
                            <a:schemeClr val="bg1"/>
                          </a:solidFill>
                          <a:latin typeface="微软雅黑" panose="020B0503020204020204" pitchFamily="34" charset="-122"/>
                          <a:ea typeface="微软雅黑" panose="020B0503020204020204" pitchFamily="34" charset="-122"/>
                        </a:rPr>
                        <a:t>说明</a:t>
                      </a:r>
                      <a:endParaRPr lang="zh-CN" altLang="en-US" sz="1600" dirty="0">
                        <a:solidFill>
                          <a:schemeClr val="bg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r>
              <a:tr h="532130">
                <a:tc>
                  <a:txBody>
                    <a:bodyPr/>
                    <a:lstStyle/>
                    <a:p>
                      <a:pPr algn="ctr">
                        <a:buNone/>
                      </a:pPr>
                      <a:r>
                        <a:rPr lang="zh-CN" altLang="en-US" sz="1600" dirty="0">
                          <a:latin typeface="微软雅黑" panose="020B0503020204020204" pitchFamily="34" charset="-122"/>
                          <a:ea typeface="微软雅黑" panose="020B0503020204020204" pitchFamily="34" charset="-122"/>
                        </a:rPr>
                        <a:t>离散小波变换</a:t>
                      </a:r>
                      <a:endParaRPr lang="zh-CN" altLang="en-US" sz="16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zh-CN" altLang="en-US" sz="1600" dirty="0">
                          <a:latin typeface="微软雅黑" panose="020B0503020204020204" pitchFamily="34" charset="-122"/>
                          <a:ea typeface="微软雅黑" panose="020B0503020204020204" pitchFamily="34" charset="-122"/>
                        </a:rPr>
                        <a:t>改造体积</a:t>
                      </a:r>
                      <a:endParaRPr lang="zh-CN" altLang="en-US" sz="16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zh-CN" altLang="en-US" sz="1600">
                          <a:latin typeface="微软雅黑" panose="020B0503020204020204" pitchFamily="34" charset="-122"/>
                          <a:ea typeface="微软雅黑" panose="020B0503020204020204" pitchFamily="34" charset="-122"/>
                        </a:rPr>
                        <a:t>曲线波动分析</a:t>
                      </a:r>
                      <a:endParaRPr lang="zh-CN" altLang="en-US" sz="160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32130">
                <a:tc>
                  <a:txBody>
                    <a:bodyPr/>
                    <a:lstStyle/>
                    <a:p>
                      <a:pPr algn="ctr">
                        <a:buNone/>
                      </a:pPr>
                      <a:r>
                        <a:rPr lang="zh-CN" altLang="en-US" sz="1600">
                          <a:latin typeface="微软雅黑" panose="020B0503020204020204" pitchFamily="34" charset="-122"/>
                          <a:ea typeface="微软雅黑" panose="020B0503020204020204" pitchFamily="34" charset="-122"/>
                        </a:rPr>
                        <a:t>连续小波变换</a:t>
                      </a:r>
                      <a:endParaRPr lang="zh-CN" altLang="en-US" sz="160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zh-CN" altLang="en-US" sz="1600" dirty="0">
                          <a:latin typeface="微软雅黑" panose="020B0503020204020204" pitchFamily="34" charset="-122"/>
                          <a:ea typeface="微软雅黑" panose="020B0503020204020204" pitchFamily="34" charset="-122"/>
                        </a:rPr>
                        <a:t>裂缝扩展类型</a:t>
                      </a:r>
                      <a:endParaRPr lang="zh-CN" altLang="en-US" sz="16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zh-CN" altLang="en-US" sz="1600">
                          <a:latin typeface="微软雅黑" panose="020B0503020204020204" pitchFamily="34" charset="-122"/>
                          <a:ea typeface="微软雅黑" panose="020B0503020204020204" pitchFamily="34" charset="-122"/>
                        </a:rPr>
                        <a:t>曲线能量分析</a:t>
                      </a:r>
                      <a:endParaRPr lang="zh-CN" altLang="en-US" sz="160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32130">
                <a:tc>
                  <a:txBody>
                    <a:bodyPr/>
                    <a:lstStyle/>
                    <a:p>
                      <a:pPr algn="ctr">
                        <a:buNone/>
                      </a:pPr>
                      <a:r>
                        <a:rPr lang="en-US" altLang="zh-CN" sz="1600">
                          <a:latin typeface="微软雅黑" panose="020B0503020204020204" pitchFamily="34" charset="-122"/>
                          <a:ea typeface="微软雅黑" panose="020B0503020204020204" pitchFamily="34" charset="-122"/>
                          <a:cs typeface="微软雅黑" panose="020B0503020204020204" pitchFamily="34" charset="-122"/>
                        </a:rPr>
                        <a:t>G</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函数分析</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zh-CN" altLang="en-US" sz="1600">
                          <a:latin typeface="微软雅黑" panose="020B0503020204020204" pitchFamily="34" charset="-122"/>
                          <a:ea typeface="微软雅黑" panose="020B0503020204020204" pitchFamily="34" charset="-122"/>
                        </a:rPr>
                        <a:t>裂缝尺寸</a:t>
                      </a:r>
                      <a:endParaRPr lang="zh-CN" altLang="en-US" sz="160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zh-CN" altLang="en-US" sz="1600" dirty="0">
                          <a:latin typeface="微软雅黑" panose="020B0503020204020204" pitchFamily="34" charset="-122"/>
                          <a:ea typeface="微软雅黑" panose="020B0503020204020204" pitchFamily="34" charset="-122"/>
                        </a:rPr>
                        <a:t>压降曲线分析</a:t>
                      </a:r>
                      <a:endParaRPr lang="zh-CN" altLang="en-US" sz="16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7"/>
          <p:cNvSpPr txBox="1"/>
          <p:nvPr/>
        </p:nvSpPr>
        <p:spPr bwMode="auto">
          <a:xfrm>
            <a:off x="320061" y="888766"/>
            <a:ext cx="11551878" cy="368300"/>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、页岩气井压裂效果量化评价指标筛选与权重分析</a:t>
            </a:r>
            <a:endParaRPr lang="zh-CN" altLang="en-US" dirty="0">
              <a:latin typeface="微软雅黑" panose="020B0503020204020204" pitchFamily="34" charset="-122"/>
              <a:ea typeface="微软雅黑" panose="020B0503020204020204" pitchFamily="34" charset="-122"/>
            </a:endParaRPr>
          </a:p>
        </p:txBody>
      </p:sp>
      <p:sp>
        <p:nvSpPr>
          <p:cNvPr id="37" name="Rectangle 11"/>
          <p:cNvSpPr>
            <a:spLocks noChangeArrowheads="1"/>
          </p:cNvSpPr>
          <p:nvPr/>
        </p:nvSpPr>
        <p:spPr bwMode="auto">
          <a:xfrm>
            <a:off x="8890" y="-41275"/>
            <a:ext cx="1218120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（二）主要研究内容</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334329" y="1319605"/>
            <a:ext cx="11485562" cy="829945"/>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）基于熵权法的评价指标权重确定：</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综合</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考虑</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高频、低频</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下的裂缝扩展，缝网形成事件，以及裂缝扩展事件的</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强度</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，压降曲线的</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G</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函数形态</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等因素，基于熵权法，确定评价指标权重。</a:t>
            </a: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2" name="图片 1"/>
          <p:cNvPicPr>
            <a:picLocks noChangeAspect="1"/>
          </p:cNvPicPr>
          <p:nvPr/>
        </p:nvPicPr>
        <p:blipFill>
          <a:blip r:embed="rId1"/>
          <a:stretch>
            <a:fillRect/>
          </a:stretch>
        </p:blipFill>
        <p:spPr>
          <a:xfrm>
            <a:off x="735965" y="2160905"/>
            <a:ext cx="4286250" cy="3856990"/>
          </a:xfrm>
          <a:prstGeom prst="rect">
            <a:avLst/>
          </a:prstGeom>
        </p:spPr>
      </p:pic>
      <p:sp>
        <p:nvSpPr>
          <p:cNvPr id="13" name="矩形 22"/>
          <p:cNvSpPr>
            <a:spLocks noChangeArrowheads="1"/>
          </p:cNvSpPr>
          <p:nvPr/>
        </p:nvSpPr>
        <p:spPr bwMode="auto">
          <a:xfrm>
            <a:off x="735965" y="6040120"/>
            <a:ext cx="4286250"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latin typeface="微软雅黑" panose="020B0503020204020204" pitchFamily="34" charset="-122"/>
                <a:ea typeface="微软雅黑" panose="020B0503020204020204" pitchFamily="34" charset="-122"/>
              </a:rPr>
              <a:t>基于熵权法的小波分析改造体积计算权重确定</a:t>
            </a:r>
            <a:endParaRPr lang="zh-CN" altLang="en-US" sz="1200" dirty="0">
              <a:latin typeface="微软雅黑" panose="020B0503020204020204" pitchFamily="34" charset="-122"/>
              <a:ea typeface="微软雅黑" panose="020B0503020204020204" pitchFamily="34" charset="-122"/>
            </a:endParaRPr>
          </a:p>
        </p:txBody>
      </p:sp>
      <p:pic>
        <p:nvPicPr>
          <p:cNvPr id="7" name="图片 6"/>
          <p:cNvPicPr>
            <a:picLocks noChangeAspect="1"/>
          </p:cNvPicPr>
          <p:nvPr/>
        </p:nvPicPr>
        <p:blipFill>
          <a:blip r:embed="rId2"/>
          <a:stretch>
            <a:fillRect/>
          </a:stretch>
        </p:blipFill>
        <p:spPr>
          <a:xfrm>
            <a:off x="5647055" y="2251075"/>
            <a:ext cx="6026785" cy="1760855"/>
          </a:xfrm>
          <a:prstGeom prst="rect">
            <a:avLst/>
          </a:prstGeom>
        </p:spPr>
      </p:pic>
      <p:pic>
        <p:nvPicPr>
          <p:cNvPr id="8" name="图片 7"/>
          <p:cNvPicPr>
            <a:picLocks noChangeAspect="1"/>
          </p:cNvPicPr>
          <p:nvPr/>
        </p:nvPicPr>
        <p:blipFill>
          <a:blip r:embed="rId3"/>
          <a:stretch>
            <a:fillRect/>
          </a:stretch>
        </p:blipFill>
        <p:spPr>
          <a:xfrm>
            <a:off x="5647055" y="4101465"/>
            <a:ext cx="6027420" cy="1762760"/>
          </a:xfrm>
          <a:prstGeom prst="rect">
            <a:avLst/>
          </a:prstGeom>
        </p:spPr>
      </p:pic>
      <p:sp>
        <p:nvSpPr>
          <p:cNvPr id="9" name="矩形 22"/>
          <p:cNvSpPr>
            <a:spLocks noChangeArrowheads="1"/>
          </p:cNvSpPr>
          <p:nvPr/>
        </p:nvSpPr>
        <p:spPr bwMode="auto">
          <a:xfrm>
            <a:off x="5647055" y="6040120"/>
            <a:ext cx="602805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latin typeface="微软雅黑" panose="020B0503020204020204" pitchFamily="34" charset="-122"/>
                <a:ea typeface="微软雅黑" panose="020B0503020204020204" pitchFamily="34" charset="-122"/>
              </a:rPr>
              <a:t>基于熵权法的</a:t>
            </a:r>
            <a:r>
              <a:rPr lang="en-US" altLang="zh-CN" sz="1200" dirty="0">
                <a:latin typeface="微软雅黑" panose="020B0503020204020204" pitchFamily="34" charset="-122"/>
                <a:ea typeface="微软雅黑" panose="020B0503020204020204" pitchFamily="34" charset="-122"/>
              </a:rPr>
              <a:t>G</a:t>
            </a:r>
            <a:r>
              <a:rPr lang="zh-CN" altLang="en-US" sz="1200" dirty="0">
                <a:latin typeface="微软雅黑" panose="020B0503020204020204" pitchFamily="34" charset="-122"/>
                <a:ea typeface="微软雅黑" panose="020B0503020204020204" pitchFamily="34" charset="-122"/>
              </a:rPr>
              <a:t>函数提取水锤截止特征权重确定</a:t>
            </a:r>
            <a:endParaRPr lang="zh-CN" altLang="en-US" sz="1200" dirty="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7"/>
          <p:cNvSpPr txBox="1"/>
          <p:nvPr/>
        </p:nvSpPr>
        <p:spPr bwMode="auto">
          <a:xfrm>
            <a:off x="320061" y="888766"/>
            <a:ext cx="11551878" cy="368300"/>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、页岩气井压裂效果动态评估模型建立与验证</a:t>
            </a:r>
            <a:endParaRPr lang="zh-CN" altLang="en-US" dirty="0">
              <a:latin typeface="微软雅黑" panose="020B0503020204020204" pitchFamily="34" charset="-122"/>
              <a:ea typeface="微软雅黑" panose="020B0503020204020204" pitchFamily="34" charset="-122"/>
            </a:endParaRPr>
          </a:p>
        </p:txBody>
      </p:sp>
      <p:sp>
        <p:nvSpPr>
          <p:cNvPr id="37" name="Rectangle 11"/>
          <p:cNvSpPr>
            <a:spLocks noChangeArrowheads="1"/>
          </p:cNvSpPr>
          <p:nvPr/>
        </p:nvSpPr>
        <p:spPr bwMode="auto">
          <a:xfrm>
            <a:off x="8890" y="-41275"/>
            <a:ext cx="1218120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（二）主要研究内容</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334329" y="1319605"/>
            <a:ext cx="11485562" cy="4154170"/>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难点分析：</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压前可压性评价与压后效果评价相互独立，缺乏整井压裂效果的综合评估模型</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a:p>
            <a:pPr marL="342265" indent="-342900" algn="just">
              <a:lnSpc>
                <a:spcPct val="150000"/>
              </a:lnSpc>
              <a:buClr>
                <a:srgbClr val="FF0000"/>
              </a:buClr>
              <a:buFont typeface="Wingdings" panose="05000000000000000000" pitchFamily="2" charset="2"/>
              <a:buChar char="l"/>
            </a:pP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、压前可压性指标与压后效果指标量纲不同，</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权重分配缺乏理论依据</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、无法准确评判</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压前条件差但施工效果好</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或</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压前条件好但施工效果差</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等复合情况下的整井压裂成败</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endPar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a:p>
            <a:pPr marL="342265" indent="-342900" algn="just">
              <a:lnSpc>
                <a:spcPct val="150000"/>
              </a:lnSpc>
              <a:buClr>
                <a:srgbClr val="FF0000"/>
              </a:buClr>
              <a:buFont typeface="Wingdings" panose="05000000000000000000" pitchFamily="2" charset="2"/>
              <a:buChar char="l"/>
            </a:pP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研究思路：</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en-US" altLang="zh-CN" sz="1600" kern="0" dirty="0">
                <a:latin typeface="微软雅黑" panose="020B0503020204020204" pitchFamily="34" charset="-122"/>
                <a:ea typeface="微软雅黑" panose="020B0503020204020204" pitchFamily="34" charset="-122"/>
                <a:sym typeface="+mn-ea"/>
              </a:rPr>
              <a:t>1</a:t>
            </a:r>
            <a:r>
              <a:rPr lang="zh-CN" altLang="en-US" sz="1600" kern="0" dirty="0">
                <a:latin typeface="微软雅黑" panose="020B0503020204020204" pitchFamily="34" charset="-122"/>
                <a:ea typeface="微软雅黑" panose="020B0503020204020204" pitchFamily="34" charset="-122"/>
                <a:sym typeface="+mn-ea"/>
              </a:rPr>
              <a:t>、建立压前可压性评价与压后效果评价的数据融合框架</a:t>
            </a:r>
            <a:endParaRPr lang="zh-CN" altLang="en-US" sz="1600" kern="0" dirty="0">
              <a:latin typeface="微软雅黑" panose="020B0503020204020204" pitchFamily="34" charset="-122"/>
              <a:ea typeface="微软雅黑" panose="020B0503020204020204" pitchFamily="34" charset="-122"/>
              <a:sym typeface="+mn-ea"/>
            </a:endParaRPr>
          </a:p>
          <a:p>
            <a:pPr marL="342265" indent="-342900" algn="just">
              <a:lnSpc>
                <a:spcPct val="150000"/>
              </a:lnSpc>
              <a:buClr>
                <a:srgbClr val="FF0000"/>
              </a:buClr>
              <a:buFont typeface="Wingdings" panose="05000000000000000000" pitchFamily="2" charset="2"/>
              <a:buChar char="l"/>
            </a:pPr>
            <a:r>
              <a:rPr lang="en-US" altLang="zh-CN" sz="1600" kern="0" dirty="0">
                <a:latin typeface="微软雅黑" panose="020B0503020204020204" pitchFamily="34" charset="-122"/>
                <a:ea typeface="微软雅黑" panose="020B0503020204020204" pitchFamily="34" charset="-122"/>
                <a:sym typeface="+mn-ea"/>
              </a:rPr>
              <a:t>2</a:t>
            </a:r>
            <a:r>
              <a:rPr lang="zh-CN" altLang="en-US" sz="1600" kern="0" dirty="0">
                <a:latin typeface="微软雅黑" panose="020B0503020204020204" pitchFamily="34" charset="-122"/>
                <a:ea typeface="微软雅黑" panose="020B0503020204020204" pitchFamily="34" charset="-122"/>
                <a:sym typeface="+mn-ea"/>
              </a:rPr>
              <a:t>、建立压前</a:t>
            </a:r>
            <a:r>
              <a:rPr lang="en-US" altLang="zh-CN" sz="1600" kern="0" dirty="0">
                <a:latin typeface="微软雅黑" panose="020B0503020204020204" pitchFamily="34" charset="-122"/>
                <a:ea typeface="微软雅黑" panose="020B0503020204020204" pitchFamily="34" charset="-122"/>
                <a:sym typeface="+mn-ea"/>
              </a:rPr>
              <a:t>-</a:t>
            </a:r>
            <a:r>
              <a:rPr lang="zh-CN" altLang="en-US" sz="1600" kern="0" dirty="0">
                <a:latin typeface="微软雅黑" panose="020B0503020204020204" pitchFamily="34" charset="-122"/>
                <a:ea typeface="微软雅黑" panose="020B0503020204020204" pitchFamily="34" charset="-122"/>
                <a:sym typeface="+mn-ea"/>
              </a:rPr>
              <a:t>压后一体化压裂效果动态评估模型</a:t>
            </a:r>
            <a:endParaRPr lang="zh-CN" altLang="en-US" sz="1600" kern="0" dirty="0">
              <a:latin typeface="微软雅黑" panose="020B0503020204020204" pitchFamily="34" charset="-122"/>
              <a:ea typeface="微软雅黑" panose="020B0503020204020204" pitchFamily="34" charset="-122"/>
              <a:sym typeface="+mn-ea"/>
            </a:endParaRPr>
          </a:p>
          <a:p>
            <a:pPr marL="342265" indent="-342900" algn="just">
              <a:lnSpc>
                <a:spcPct val="150000"/>
              </a:lnSpc>
              <a:buClr>
                <a:srgbClr val="FF0000"/>
              </a:buClr>
              <a:buFont typeface="Wingdings" panose="05000000000000000000" pitchFamily="2" charset="2"/>
              <a:buChar char="l"/>
            </a:pP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预期效果：</a:t>
            </a:r>
            <a:endPar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1</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、形成压前</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压后一体化综合评估体系</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a:p>
            <a:pPr marL="342265" indent="-342900" algn="just">
              <a:lnSpc>
                <a:spcPct val="150000"/>
              </a:lnSpc>
              <a:buClr>
                <a:srgbClr val="FF0000"/>
              </a:buClr>
              <a:buFont typeface="Wingdings" panose="05000000000000000000" pitchFamily="2" charset="2"/>
              <a:buChar char="l"/>
            </a:pP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2</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、建立</a:t>
            </a:r>
            <a:r>
              <a:rPr lang="zh-CN" altLang="en-US" sz="1600" dirty="0">
                <a:latin typeface="微软雅黑" panose="020B0503020204020204" pitchFamily="34" charset="-122"/>
                <a:ea typeface="微软雅黑" panose="020B0503020204020204" pitchFamily="34" charset="-122"/>
                <a:sym typeface="+mn-ea"/>
              </a:rPr>
              <a:t>压裂效果动态评估模型</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7"/>
          <p:cNvSpPr txBox="1"/>
          <p:nvPr/>
        </p:nvSpPr>
        <p:spPr bwMode="auto">
          <a:xfrm>
            <a:off x="320061" y="888766"/>
            <a:ext cx="11551878" cy="368300"/>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、页岩气井压裂效果动态评估模型建立与验证</a:t>
            </a:r>
            <a:endParaRPr lang="zh-CN" altLang="en-US" dirty="0">
              <a:latin typeface="微软雅黑" panose="020B0503020204020204" pitchFamily="34" charset="-122"/>
              <a:ea typeface="微软雅黑" panose="020B0503020204020204" pitchFamily="34" charset="-122"/>
            </a:endParaRPr>
          </a:p>
        </p:txBody>
      </p:sp>
      <p:sp>
        <p:nvSpPr>
          <p:cNvPr id="37" name="Rectangle 11"/>
          <p:cNvSpPr>
            <a:spLocks noChangeArrowheads="1"/>
          </p:cNvSpPr>
          <p:nvPr/>
        </p:nvSpPr>
        <p:spPr bwMode="auto">
          <a:xfrm>
            <a:off x="8890" y="-41275"/>
            <a:ext cx="1218120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（二）主要研究内容</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334329" y="1319605"/>
            <a:ext cx="11485562" cy="829945"/>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）建立压前可压性评价与压后效果评价的数据融合框架：</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将压前地质工程参数和压后曲线分析指标</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统一量纲</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，建立</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0-100</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分的标准化评分体系。基于历史数据建立</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权重优化算法</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，根据不同条件动态调整各类参数与指标权重。</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4" name="图片 3"/>
          <p:cNvPicPr>
            <a:picLocks noChangeAspect="1"/>
          </p:cNvPicPr>
          <p:nvPr/>
        </p:nvPicPr>
        <p:blipFill>
          <a:blip r:embed="rId1"/>
          <a:stretch>
            <a:fillRect/>
          </a:stretch>
        </p:blipFill>
        <p:spPr>
          <a:xfrm>
            <a:off x="3896995" y="2199005"/>
            <a:ext cx="4060190" cy="1864995"/>
          </a:xfrm>
          <a:prstGeom prst="rect">
            <a:avLst/>
          </a:prstGeom>
        </p:spPr>
      </p:pic>
      <p:pic>
        <p:nvPicPr>
          <p:cNvPr id="6" name="图片 5"/>
          <p:cNvPicPr>
            <a:picLocks noChangeAspect="1"/>
          </p:cNvPicPr>
          <p:nvPr/>
        </p:nvPicPr>
        <p:blipFill>
          <a:blip r:embed="rId2"/>
          <a:stretch>
            <a:fillRect/>
          </a:stretch>
        </p:blipFill>
        <p:spPr>
          <a:xfrm>
            <a:off x="3896995" y="4112260"/>
            <a:ext cx="4058285" cy="1889125"/>
          </a:xfrm>
          <a:prstGeom prst="rect">
            <a:avLst/>
          </a:prstGeom>
        </p:spPr>
      </p:pic>
      <p:pic>
        <p:nvPicPr>
          <p:cNvPr id="9" name="图片 8" descr="图片6"/>
          <p:cNvPicPr>
            <a:picLocks noChangeAspect="1"/>
          </p:cNvPicPr>
          <p:nvPr/>
        </p:nvPicPr>
        <p:blipFill>
          <a:blip r:embed="rId3"/>
          <a:srcRect b="1252"/>
          <a:stretch>
            <a:fillRect/>
          </a:stretch>
        </p:blipFill>
        <p:spPr>
          <a:xfrm>
            <a:off x="8049895" y="4094480"/>
            <a:ext cx="3754120" cy="1906905"/>
          </a:xfrm>
          <a:prstGeom prst="rect">
            <a:avLst/>
          </a:prstGeom>
        </p:spPr>
      </p:pic>
      <p:pic>
        <p:nvPicPr>
          <p:cNvPr id="12" name="图片 11" descr="图片7"/>
          <p:cNvPicPr>
            <a:picLocks noChangeAspect="1"/>
          </p:cNvPicPr>
          <p:nvPr/>
        </p:nvPicPr>
        <p:blipFill>
          <a:blip r:embed="rId4"/>
          <a:stretch>
            <a:fillRect/>
          </a:stretch>
        </p:blipFill>
        <p:spPr>
          <a:xfrm>
            <a:off x="7955280" y="2199640"/>
            <a:ext cx="3848735" cy="1864360"/>
          </a:xfrm>
          <a:prstGeom prst="rect">
            <a:avLst/>
          </a:prstGeom>
        </p:spPr>
      </p:pic>
      <p:sp>
        <p:nvSpPr>
          <p:cNvPr id="13" name="矩形 22"/>
          <p:cNvSpPr>
            <a:spLocks noChangeArrowheads="1"/>
          </p:cNvSpPr>
          <p:nvPr/>
        </p:nvSpPr>
        <p:spPr bwMode="auto">
          <a:xfrm>
            <a:off x="145415" y="6041390"/>
            <a:ext cx="11658600"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latin typeface="微软雅黑" panose="020B0503020204020204" pitchFamily="34" charset="-122"/>
                <a:ea typeface="微软雅黑" panose="020B0503020204020204" pitchFamily="34" charset="-122"/>
                <a:sym typeface="+mn-ea"/>
              </a:rPr>
              <a:t>压前可压性评价与压后效果评价的数据融合框架</a:t>
            </a:r>
            <a:endParaRPr lang="zh-CN" altLang="en-US" sz="1200" dirty="0">
              <a:latin typeface="微软雅黑" panose="020B0503020204020204" pitchFamily="34" charset="-122"/>
              <a:ea typeface="微软雅黑" panose="020B0503020204020204" pitchFamily="34" charset="-122"/>
            </a:endParaRPr>
          </a:p>
        </p:txBody>
      </p:sp>
      <p:pic>
        <p:nvPicPr>
          <p:cNvPr id="7" name="图片 6"/>
          <p:cNvPicPr>
            <a:picLocks noChangeAspect="1"/>
          </p:cNvPicPr>
          <p:nvPr/>
        </p:nvPicPr>
        <p:blipFill>
          <a:blip r:embed="rId5"/>
          <a:srcRect r="37181"/>
          <a:stretch>
            <a:fillRect/>
          </a:stretch>
        </p:blipFill>
        <p:spPr>
          <a:xfrm>
            <a:off x="145415" y="2175510"/>
            <a:ext cx="3675380" cy="3834765"/>
          </a:xfrm>
          <a:prstGeom prst="rect">
            <a:avLst/>
          </a:prstGeom>
        </p:spPr>
      </p:pic>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22"/>
          <p:cNvSpPr>
            <a:spLocks noChangeArrowheads="1"/>
          </p:cNvSpPr>
          <p:nvPr/>
        </p:nvSpPr>
        <p:spPr bwMode="auto">
          <a:xfrm>
            <a:off x="5164455" y="4170680"/>
            <a:ext cx="1059815" cy="30670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400" b="1" dirty="0">
                <a:solidFill>
                  <a:srgbClr val="FF0000"/>
                </a:solidFill>
                <a:latin typeface="微软雅黑" panose="020B0503020204020204" pitchFamily="34" charset="-122"/>
                <a:ea typeface="微软雅黑" panose="020B0503020204020204" pitchFamily="34" charset="-122"/>
              </a:rPr>
              <a:t>数据导入</a:t>
            </a:r>
            <a:endParaRPr lang="zh-CN" altLang="en-US" sz="1400" b="1" dirty="0">
              <a:solidFill>
                <a:srgbClr val="FF0000"/>
              </a:solidFill>
              <a:latin typeface="微软雅黑" panose="020B0503020204020204" pitchFamily="34" charset="-122"/>
              <a:ea typeface="微软雅黑" panose="020B0503020204020204" pitchFamily="34" charset="-122"/>
            </a:endParaRPr>
          </a:p>
        </p:txBody>
      </p:sp>
      <p:sp>
        <p:nvSpPr>
          <p:cNvPr id="9" name="矩形 22"/>
          <p:cNvSpPr>
            <a:spLocks noChangeArrowheads="1"/>
          </p:cNvSpPr>
          <p:nvPr/>
        </p:nvSpPr>
        <p:spPr bwMode="auto">
          <a:xfrm>
            <a:off x="9371965" y="4170680"/>
            <a:ext cx="1137920" cy="30670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400" b="1" dirty="0">
                <a:solidFill>
                  <a:srgbClr val="FF0000"/>
                </a:solidFill>
                <a:latin typeface="微软雅黑" panose="020B0503020204020204" pitchFamily="34" charset="-122"/>
                <a:ea typeface="微软雅黑" panose="020B0503020204020204" pitchFamily="34" charset="-122"/>
              </a:rPr>
              <a:t>实时评价</a:t>
            </a:r>
            <a:endParaRPr lang="zh-CN" altLang="en-US" sz="1400" b="1" dirty="0">
              <a:solidFill>
                <a:srgbClr val="FF0000"/>
              </a:solidFill>
              <a:latin typeface="微软雅黑" panose="020B0503020204020204" pitchFamily="34" charset="-122"/>
              <a:ea typeface="微软雅黑" panose="020B0503020204020204" pitchFamily="34" charset="-122"/>
            </a:endParaRPr>
          </a:p>
        </p:txBody>
      </p:sp>
      <p:sp>
        <p:nvSpPr>
          <p:cNvPr id="5" name="TextBox 7"/>
          <p:cNvSpPr txBox="1"/>
          <p:nvPr/>
        </p:nvSpPr>
        <p:spPr bwMode="auto">
          <a:xfrm>
            <a:off x="320061" y="888766"/>
            <a:ext cx="11551878" cy="368300"/>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、页岩气井压裂效果动态评估模型建立与验证</a:t>
            </a:r>
            <a:endParaRPr lang="zh-CN" altLang="en-US" dirty="0">
              <a:latin typeface="微软雅黑" panose="020B0503020204020204" pitchFamily="34" charset="-122"/>
              <a:ea typeface="微软雅黑" panose="020B0503020204020204" pitchFamily="34" charset="-122"/>
            </a:endParaRPr>
          </a:p>
        </p:txBody>
      </p:sp>
      <p:sp>
        <p:nvSpPr>
          <p:cNvPr id="37" name="Rectangle 11"/>
          <p:cNvSpPr>
            <a:spLocks noChangeArrowheads="1"/>
          </p:cNvSpPr>
          <p:nvPr/>
        </p:nvSpPr>
        <p:spPr bwMode="auto">
          <a:xfrm>
            <a:off x="8890" y="-41275"/>
            <a:ext cx="1218120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（二）主要研究内容</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334329" y="1319605"/>
            <a:ext cx="11485562" cy="460375"/>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）建立压前</a:t>
            </a:r>
            <a:r>
              <a:rPr lang="en-US" altLang="zh-CN" sz="1600"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压后一体化压裂效果动态评估模型：</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在</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压前与压后评价方法中引入</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时间维度</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，实现施工过程中的</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实时评估</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0" name="图片 9"/>
          <p:cNvPicPr>
            <a:picLocks noChangeAspect="1"/>
          </p:cNvPicPr>
          <p:nvPr/>
        </p:nvPicPr>
        <p:blipFill>
          <a:blip r:embed="rId1"/>
          <a:stretch>
            <a:fillRect/>
          </a:stretch>
        </p:blipFill>
        <p:spPr>
          <a:xfrm>
            <a:off x="584200" y="3853815"/>
            <a:ext cx="3506470" cy="2078990"/>
          </a:xfrm>
          <a:prstGeom prst="rect">
            <a:avLst/>
          </a:prstGeom>
        </p:spPr>
      </p:pic>
      <p:sp>
        <p:nvSpPr>
          <p:cNvPr id="14" name="矩形 22"/>
          <p:cNvSpPr>
            <a:spLocks noChangeArrowheads="1"/>
          </p:cNvSpPr>
          <p:nvPr/>
        </p:nvSpPr>
        <p:spPr bwMode="auto">
          <a:xfrm>
            <a:off x="584200" y="6042025"/>
            <a:ext cx="3506470"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latin typeface="微软雅黑" panose="020B0503020204020204" pitchFamily="34" charset="-122"/>
                <a:ea typeface="微软雅黑" panose="020B0503020204020204" pitchFamily="34" charset="-122"/>
              </a:rPr>
              <a:t>数据库规范化存储</a:t>
            </a:r>
            <a:endParaRPr lang="zh-CN" altLang="en-US" sz="1200" dirty="0">
              <a:latin typeface="微软雅黑" panose="020B0503020204020204" pitchFamily="34" charset="-122"/>
              <a:ea typeface="微软雅黑" panose="020B0503020204020204" pitchFamily="34" charset="-122"/>
            </a:endParaRPr>
          </a:p>
        </p:txBody>
      </p:sp>
      <p:pic>
        <p:nvPicPr>
          <p:cNvPr id="31" name="图片 30"/>
          <p:cNvPicPr>
            <a:picLocks noChangeAspect="1"/>
          </p:cNvPicPr>
          <p:nvPr/>
        </p:nvPicPr>
        <p:blipFill>
          <a:blip r:embed="rId2"/>
          <a:stretch>
            <a:fillRect/>
          </a:stretch>
        </p:blipFill>
        <p:spPr>
          <a:xfrm>
            <a:off x="584200" y="1842135"/>
            <a:ext cx="3506470" cy="1944370"/>
          </a:xfrm>
          <a:prstGeom prst="rect">
            <a:avLst/>
          </a:prstGeom>
          <a:ln>
            <a:solidFill>
              <a:schemeClr val="tx1"/>
            </a:solidFill>
          </a:ln>
        </p:spPr>
      </p:pic>
      <p:graphicFrame>
        <p:nvGraphicFramePr>
          <p:cNvPr id="16" name="表格 15"/>
          <p:cNvGraphicFramePr/>
          <p:nvPr>
            <p:custDataLst>
              <p:tags r:id="rId3"/>
            </p:custDataLst>
          </p:nvPr>
        </p:nvGraphicFramePr>
        <p:xfrm>
          <a:off x="7748270" y="1842135"/>
          <a:ext cx="3958590" cy="2171065"/>
        </p:xfrm>
        <a:graphic>
          <a:graphicData uri="http://schemas.openxmlformats.org/drawingml/2006/table">
            <a:tbl>
              <a:tblPr firstRow="1">
                <a:tableStyleId>{031D2BE9-C0E0-4F2B-897E-CFA28D9BCB1C}</a:tableStyleId>
              </a:tblPr>
              <a:tblGrid>
                <a:gridCol w="1979295"/>
                <a:gridCol w="1979295"/>
              </a:tblGrid>
              <a:tr h="274320">
                <a:tc>
                  <a:txBody>
                    <a:bodyPr/>
                    <a:lstStyle/>
                    <a:p>
                      <a:pPr algn="ctr">
                        <a:buNone/>
                      </a:pPr>
                      <a:r>
                        <a:rPr lang="zh-CN" altLang="en-US" sz="12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井段名</a:t>
                      </a:r>
                      <a:endParaRPr lang="zh-CN" altLang="en-US" sz="12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a:buNone/>
                      </a:pPr>
                      <a:r>
                        <a:rPr lang="zh-CN" altLang="en-US" sz="12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改造效果评价</a:t>
                      </a:r>
                      <a:endParaRPr lang="zh-CN" altLang="en-US" sz="12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r>
              <a:tr h="210820">
                <a:tc>
                  <a:txBody>
                    <a:bodyPr/>
                    <a:lstStyle/>
                    <a:p>
                      <a:pPr algn="ctr" fontAlgn="ct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泸</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203</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井区</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H8</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平台</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井</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19</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段</a:t>
                      </a:r>
                      <a:endParaRPr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a:txBody>
                  <a:tcPr marL="7937" marR="7937" marT="793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200">
                          <a:latin typeface="Times New Roman" panose="02020603050405020304" pitchFamily="18" charset="0"/>
                          <a:ea typeface="微软雅黑" panose="020B0503020204020204" pitchFamily="34" charset="-122"/>
                          <a:cs typeface="Times New Roman" panose="02020603050405020304" pitchFamily="18" charset="0"/>
                        </a:rPr>
                        <a:t>98.37084978</a:t>
                      </a:r>
                      <a:endParaRPr lang="en-US" altLang="zh-CN" sz="1200">
                        <a:latin typeface="Times New Roman" panose="02020603050405020304" pitchFamily="18" charset="0"/>
                        <a:ea typeface="微软雅黑" panose="020B0503020204020204" pitchFamily="34" charset="-122"/>
                        <a:cs typeface="Times New Roman" panose="02020603050405020304" pitchFamily="18" charset="0"/>
                      </a:endParaRPr>
                    </a:p>
                  </a:txBody>
                  <a:tcPr marL="7937" marR="7937" marT="793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10185">
                <a:tc>
                  <a:txBody>
                    <a:bodyPr/>
                    <a:lstStyle/>
                    <a:p>
                      <a:pPr algn="ctr" fontAlgn="ct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黄</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202</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井区</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H7</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平台</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9</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井</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14</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段</a:t>
                      </a:r>
                      <a:endParaRPr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a:txBody>
                  <a:tcPr marL="7937" marR="7937" marT="793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200">
                          <a:latin typeface="Times New Roman" panose="02020603050405020304" pitchFamily="18" charset="0"/>
                          <a:ea typeface="微软雅黑" panose="020B0503020204020204" pitchFamily="34" charset="-122"/>
                          <a:cs typeface="Times New Roman" panose="02020603050405020304" pitchFamily="18" charset="0"/>
                        </a:rPr>
                        <a:t>98.17766702</a:t>
                      </a:r>
                      <a:endParaRPr lang="en-US" altLang="zh-CN" sz="1200">
                        <a:latin typeface="Times New Roman" panose="02020603050405020304" pitchFamily="18" charset="0"/>
                        <a:ea typeface="微软雅黑" panose="020B0503020204020204" pitchFamily="34" charset="-122"/>
                        <a:cs typeface="Times New Roman" panose="02020603050405020304" pitchFamily="18" charset="0"/>
                      </a:endParaRPr>
                    </a:p>
                  </a:txBody>
                  <a:tcPr marL="7937" marR="7937" marT="793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11455">
                <a:tc>
                  <a:txBody>
                    <a:bodyPr/>
                    <a:lstStyle/>
                    <a:p>
                      <a:pPr algn="ctr" fontAlgn="ctr"/>
                      <a:r>
                        <a:rPr lang="zh-CN" altLang="en-US" sz="1200">
                          <a:latin typeface="Times New Roman" panose="02020603050405020304" pitchFamily="18" charset="0"/>
                          <a:ea typeface="微软雅黑" panose="020B0503020204020204" pitchFamily="34" charset="-122"/>
                          <a:cs typeface="Times New Roman" panose="02020603050405020304" pitchFamily="18" charset="0"/>
                        </a:rPr>
                        <a:t>足</a:t>
                      </a:r>
                      <a:r>
                        <a:rPr lang="en-US" altLang="zh-CN" sz="1200">
                          <a:latin typeface="Times New Roman" panose="02020603050405020304" pitchFamily="18" charset="0"/>
                          <a:ea typeface="微软雅黑" panose="020B0503020204020204" pitchFamily="34" charset="-122"/>
                          <a:cs typeface="Times New Roman" panose="02020603050405020304" pitchFamily="18" charset="0"/>
                        </a:rPr>
                        <a:t>201</a:t>
                      </a:r>
                      <a:r>
                        <a:rPr lang="zh-CN" altLang="en-US" sz="1200">
                          <a:latin typeface="Times New Roman" panose="02020603050405020304" pitchFamily="18" charset="0"/>
                          <a:ea typeface="微软雅黑" panose="020B0503020204020204" pitchFamily="34" charset="-122"/>
                          <a:cs typeface="Times New Roman" panose="02020603050405020304" pitchFamily="18" charset="0"/>
                        </a:rPr>
                        <a:t>井区</a:t>
                      </a:r>
                      <a:r>
                        <a:rPr lang="en-US" altLang="zh-CN" sz="1200">
                          <a:latin typeface="Times New Roman" panose="02020603050405020304" pitchFamily="18" charset="0"/>
                          <a:ea typeface="微软雅黑" panose="020B0503020204020204" pitchFamily="34" charset="-122"/>
                          <a:cs typeface="Times New Roman" panose="02020603050405020304" pitchFamily="18" charset="0"/>
                        </a:rPr>
                        <a:t>H8</a:t>
                      </a:r>
                      <a:r>
                        <a:rPr lang="zh-CN" altLang="en-US" sz="1200">
                          <a:latin typeface="Times New Roman" panose="02020603050405020304" pitchFamily="18" charset="0"/>
                          <a:ea typeface="微软雅黑" panose="020B0503020204020204" pitchFamily="34" charset="-122"/>
                          <a:cs typeface="Times New Roman" panose="02020603050405020304" pitchFamily="18" charset="0"/>
                        </a:rPr>
                        <a:t>平台</a:t>
                      </a:r>
                      <a:r>
                        <a:rPr lang="en-US" altLang="zh-CN" sz="1200">
                          <a:latin typeface="Times New Roman" panose="02020603050405020304" pitchFamily="18" charset="0"/>
                          <a:ea typeface="微软雅黑" panose="020B0503020204020204" pitchFamily="34" charset="-122"/>
                          <a:cs typeface="Times New Roman" panose="02020603050405020304" pitchFamily="18" charset="0"/>
                        </a:rPr>
                        <a:t>7</a:t>
                      </a:r>
                      <a:r>
                        <a:rPr lang="zh-CN" altLang="en-US" sz="1200">
                          <a:latin typeface="Times New Roman" panose="02020603050405020304" pitchFamily="18" charset="0"/>
                          <a:ea typeface="微软雅黑" panose="020B0503020204020204" pitchFamily="34" charset="-122"/>
                          <a:cs typeface="Times New Roman" panose="02020603050405020304" pitchFamily="18" charset="0"/>
                        </a:rPr>
                        <a:t>井</a:t>
                      </a:r>
                      <a:r>
                        <a:rPr lang="en-US" altLang="zh-CN" sz="1200">
                          <a:latin typeface="Times New Roman" panose="02020603050405020304" pitchFamily="18" charset="0"/>
                          <a:ea typeface="微软雅黑" panose="020B0503020204020204" pitchFamily="34" charset="-122"/>
                          <a:cs typeface="Times New Roman" panose="02020603050405020304" pitchFamily="18" charset="0"/>
                        </a:rPr>
                        <a:t>30</a:t>
                      </a:r>
                      <a:r>
                        <a:rPr lang="zh-CN" altLang="en-US" sz="1200">
                          <a:latin typeface="Times New Roman" panose="02020603050405020304" pitchFamily="18" charset="0"/>
                          <a:ea typeface="微软雅黑" panose="020B0503020204020204" pitchFamily="34" charset="-122"/>
                          <a:cs typeface="Times New Roman" panose="02020603050405020304" pitchFamily="18" charset="0"/>
                        </a:rPr>
                        <a:t>段</a:t>
                      </a:r>
                      <a:endParaRPr lang="zh-CN" altLang="en-US" sz="1200">
                        <a:latin typeface="Times New Roman" panose="02020603050405020304" pitchFamily="18" charset="0"/>
                        <a:ea typeface="微软雅黑" panose="020B0503020204020204" pitchFamily="34" charset="-122"/>
                        <a:cs typeface="Times New Roman" panose="02020603050405020304" pitchFamily="18" charset="0"/>
                      </a:endParaRPr>
                    </a:p>
                  </a:txBody>
                  <a:tcPr marL="7937" marR="7937" marT="793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97.23565829</a:t>
                      </a:r>
                      <a:endParaRPr lang="en-US" altLang="zh-CN" sz="1200" dirty="0">
                        <a:latin typeface="Times New Roman" panose="02020603050405020304" pitchFamily="18" charset="0"/>
                        <a:ea typeface="微软雅黑" panose="020B0503020204020204" pitchFamily="34" charset="-122"/>
                        <a:cs typeface="Times New Roman" panose="02020603050405020304" pitchFamily="18" charset="0"/>
                      </a:endParaRPr>
                    </a:p>
                  </a:txBody>
                  <a:tcPr marL="7937" marR="7937" marT="793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10820">
                <a:tc>
                  <a:txBody>
                    <a:bodyPr/>
                    <a:lstStyle/>
                    <a:p>
                      <a:pPr algn="ctr" fontAlgn="ct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泸</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203</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井区</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H10</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平台</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井</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9</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段</a:t>
                      </a:r>
                      <a:endParaRPr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a:txBody>
                  <a:tcPr marL="7937" marR="7937" marT="793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96.72418201</a:t>
                      </a:r>
                      <a:endParaRPr lang="en-US" altLang="zh-CN" sz="1200" dirty="0">
                        <a:latin typeface="Times New Roman" panose="02020603050405020304" pitchFamily="18" charset="0"/>
                        <a:ea typeface="微软雅黑" panose="020B0503020204020204" pitchFamily="34" charset="-122"/>
                        <a:cs typeface="Times New Roman" panose="02020603050405020304" pitchFamily="18" charset="0"/>
                      </a:endParaRPr>
                    </a:p>
                  </a:txBody>
                  <a:tcPr marL="7937" marR="7937" marT="793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10185">
                <a:tc>
                  <a:txBody>
                    <a:bodyPr/>
                    <a:lstStyle/>
                    <a:p>
                      <a:pPr algn="ctr" fontAlgn="ctr"/>
                      <a:r>
                        <a:rPr lang="zh-CN" altLang="en-US" sz="1200">
                          <a:latin typeface="Times New Roman" panose="02020603050405020304" pitchFamily="18" charset="0"/>
                          <a:ea typeface="微软雅黑" panose="020B0503020204020204" pitchFamily="34" charset="-122"/>
                          <a:cs typeface="Times New Roman" panose="02020603050405020304" pitchFamily="18" charset="0"/>
                        </a:rPr>
                        <a:t>足</a:t>
                      </a:r>
                      <a:r>
                        <a:rPr lang="en-US" altLang="zh-CN" sz="1200">
                          <a:latin typeface="Times New Roman" panose="02020603050405020304" pitchFamily="18" charset="0"/>
                          <a:ea typeface="微软雅黑" panose="020B0503020204020204" pitchFamily="34" charset="-122"/>
                          <a:cs typeface="Times New Roman" panose="02020603050405020304" pitchFamily="18" charset="0"/>
                        </a:rPr>
                        <a:t>201</a:t>
                      </a:r>
                      <a:r>
                        <a:rPr lang="zh-CN" altLang="en-US" sz="1200">
                          <a:latin typeface="Times New Roman" panose="02020603050405020304" pitchFamily="18" charset="0"/>
                          <a:ea typeface="微软雅黑" panose="020B0503020204020204" pitchFamily="34" charset="-122"/>
                          <a:cs typeface="Times New Roman" panose="02020603050405020304" pitchFamily="18" charset="0"/>
                        </a:rPr>
                        <a:t>井区</a:t>
                      </a:r>
                      <a:r>
                        <a:rPr lang="en-US" altLang="zh-CN" sz="1200">
                          <a:latin typeface="Times New Roman" panose="02020603050405020304" pitchFamily="18" charset="0"/>
                          <a:ea typeface="微软雅黑" panose="020B0503020204020204" pitchFamily="34" charset="-122"/>
                          <a:cs typeface="Times New Roman" panose="02020603050405020304" pitchFamily="18" charset="0"/>
                        </a:rPr>
                        <a:t>H8</a:t>
                      </a:r>
                      <a:r>
                        <a:rPr lang="zh-CN" altLang="en-US" sz="1200">
                          <a:latin typeface="Times New Roman" panose="02020603050405020304" pitchFamily="18" charset="0"/>
                          <a:ea typeface="微软雅黑" panose="020B0503020204020204" pitchFamily="34" charset="-122"/>
                          <a:cs typeface="Times New Roman" panose="02020603050405020304" pitchFamily="18" charset="0"/>
                        </a:rPr>
                        <a:t>平台</a:t>
                      </a:r>
                      <a:r>
                        <a:rPr lang="en-US" altLang="zh-CN" sz="1200">
                          <a:latin typeface="Times New Roman" panose="02020603050405020304" pitchFamily="18" charset="0"/>
                          <a:ea typeface="微软雅黑" panose="020B0503020204020204" pitchFamily="34" charset="-122"/>
                          <a:cs typeface="Times New Roman" panose="02020603050405020304" pitchFamily="18" charset="0"/>
                        </a:rPr>
                        <a:t>6</a:t>
                      </a:r>
                      <a:r>
                        <a:rPr lang="zh-CN" altLang="en-US" sz="1200">
                          <a:latin typeface="Times New Roman" panose="02020603050405020304" pitchFamily="18" charset="0"/>
                          <a:ea typeface="微软雅黑" panose="020B0503020204020204" pitchFamily="34" charset="-122"/>
                          <a:cs typeface="Times New Roman" panose="02020603050405020304" pitchFamily="18" charset="0"/>
                        </a:rPr>
                        <a:t>井</a:t>
                      </a:r>
                      <a:r>
                        <a:rPr lang="en-US" altLang="zh-CN" sz="120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1200">
                          <a:latin typeface="Times New Roman" panose="02020603050405020304" pitchFamily="18" charset="0"/>
                          <a:ea typeface="微软雅黑" panose="020B0503020204020204" pitchFamily="34" charset="-122"/>
                          <a:cs typeface="Times New Roman" panose="02020603050405020304" pitchFamily="18" charset="0"/>
                        </a:rPr>
                        <a:t>段</a:t>
                      </a:r>
                      <a:endParaRPr lang="zh-CN" altLang="en-US" sz="1200">
                        <a:latin typeface="Times New Roman" panose="02020603050405020304" pitchFamily="18" charset="0"/>
                        <a:ea typeface="微软雅黑" panose="020B0503020204020204" pitchFamily="34" charset="-122"/>
                        <a:cs typeface="Times New Roman" panose="02020603050405020304" pitchFamily="18" charset="0"/>
                      </a:endParaRPr>
                    </a:p>
                  </a:txBody>
                  <a:tcPr marL="7937" marR="7937" marT="793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94.9559843</a:t>
                      </a:r>
                      <a:endParaRPr lang="en-US" altLang="zh-CN" sz="1200" dirty="0">
                        <a:latin typeface="Times New Roman" panose="02020603050405020304" pitchFamily="18" charset="0"/>
                        <a:ea typeface="微软雅黑" panose="020B0503020204020204" pitchFamily="34" charset="-122"/>
                        <a:cs typeface="Times New Roman" panose="02020603050405020304" pitchFamily="18" charset="0"/>
                      </a:endParaRPr>
                    </a:p>
                  </a:txBody>
                  <a:tcPr marL="7937" marR="7937" marT="793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10820">
                <a:tc>
                  <a:txBody>
                    <a:bodyPr/>
                    <a:lstStyle/>
                    <a:p>
                      <a:pPr algn="ctr" fontAlgn="ctr"/>
                      <a:r>
                        <a:rPr lang="zh-CN" altLang="en-US" sz="1200">
                          <a:latin typeface="Times New Roman" panose="02020603050405020304" pitchFamily="18" charset="0"/>
                          <a:ea typeface="微软雅黑" panose="020B0503020204020204" pitchFamily="34" charset="-122"/>
                          <a:cs typeface="Times New Roman" panose="02020603050405020304" pitchFamily="18" charset="0"/>
                        </a:rPr>
                        <a:t>泸</a:t>
                      </a:r>
                      <a:r>
                        <a:rPr lang="en-US" altLang="zh-CN" sz="1200">
                          <a:latin typeface="Times New Roman" panose="02020603050405020304" pitchFamily="18" charset="0"/>
                          <a:ea typeface="微软雅黑" panose="020B0503020204020204" pitchFamily="34" charset="-122"/>
                          <a:cs typeface="Times New Roman" panose="02020603050405020304" pitchFamily="18" charset="0"/>
                        </a:rPr>
                        <a:t>203</a:t>
                      </a:r>
                      <a:r>
                        <a:rPr lang="zh-CN" altLang="en-US" sz="1200">
                          <a:latin typeface="Times New Roman" panose="02020603050405020304" pitchFamily="18" charset="0"/>
                          <a:ea typeface="微软雅黑" panose="020B0503020204020204" pitchFamily="34" charset="-122"/>
                          <a:cs typeface="Times New Roman" panose="02020603050405020304" pitchFamily="18" charset="0"/>
                        </a:rPr>
                        <a:t>井区</a:t>
                      </a:r>
                      <a:r>
                        <a:rPr lang="en-US" altLang="zh-CN" sz="1200">
                          <a:latin typeface="Times New Roman" panose="02020603050405020304" pitchFamily="18" charset="0"/>
                          <a:ea typeface="微软雅黑" panose="020B0503020204020204" pitchFamily="34" charset="-122"/>
                          <a:cs typeface="Times New Roman" panose="02020603050405020304" pitchFamily="18" charset="0"/>
                        </a:rPr>
                        <a:t>H10</a:t>
                      </a:r>
                      <a:r>
                        <a:rPr lang="zh-CN" altLang="en-US" sz="1200">
                          <a:latin typeface="Times New Roman" panose="02020603050405020304" pitchFamily="18" charset="0"/>
                          <a:ea typeface="微软雅黑" panose="020B0503020204020204" pitchFamily="34" charset="-122"/>
                          <a:cs typeface="Times New Roman" panose="02020603050405020304" pitchFamily="18" charset="0"/>
                        </a:rPr>
                        <a:t>平台</a:t>
                      </a:r>
                      <a:r>
                        <a:rPr lang="en-US" altLang="zh-CN" sz="1200">
                          <a:latin typeface="Times New Roman" panose="02020603050405020304" pitchFamily="18" charset="0"/>
                          <a:ea typeface="微软雅黑" panose="020B0503020204020204" pitchFamily="34" charset="-122"/>
                          <a:cs typeface="Times New Roman" panose="02020603050405020304" pitchFamily="18" charset="0"/>
                        </a:rPr>
                        <a:t>4</a:t>
                      </a:r>
                      <a:r>
                        <a:rPr lang="zh-CN" altLang="en-US" sz="1200">
                          <a:latin typeface="Times New Roman" panose="02020603050405020304" pitchFamily="18" charset="0"/>
                          <a:ea typeface="微软雅黑" panose="020B0503020204020204" pitchFamily="34" charset="-122"/>
                          <a:cs typeface="Times New Roman" panose="02020603050405020304" pitchFamily="18" charset="0"/>
                        </a:rPr>
                        <a:t>井</a:t>
                      </a:r>
                      <a:r>
                        <a:rPr lang="en-US" altLang="zh-CN" sz="1200">
                          <a:latin typeface="Times New Roman" panose="02020603050405020304" pitchFamily="18" charset="0"/>
                          <a:ea typeface="微软雅黑" panose="020B0503020204020204" pitchFamily="34" charset="-122"/>
                          <a:cs typeface="Times New Roman" panose="02020603050405020304" pitchFamily="18" charset="0"/>
                        </a:rPr>
                        <a:t>10</a:t>
                      </a:r>
                      <a:r>
                        <a:rPr lang="zh-CN" altLang="en-US" sz="1200">
                          <a:latin typeface="Times New Roman" panose="02020603050405020304" pitchFamily="18" charset="0"/>
                          <a:ea typeface="微软雅黑" panose="020B0503020204020204" pitchFamily="34" charset="-122"/>
                          <a:cs typeface="Times New Roman" panose="02020603050405020304" pitchFamily="18" charset="0"/>
                        </a:rPr>
                        <a:t>段</a:t>
                      </a:r>
                      <a:endParaRPr lang="zh-CN" altLang="en-US" sz="1200">
                        <a:latin typeface="Times New Roman" panose="02020603050405020304" pitchFamily="18" charset="0"/>
                        <a:ea typeface="微软雅黑" panose="020B0503020204020204" pitchFamily="34" charset="-122"/>
                        <a:cs typeface="Times New Roman" panose="02020603050405020304" pitchFamily="18" charset="0"/>
                      </a:endParaRPr>
                    </a:p>
                  </a:txBody>
                  <a:tcPr marL="7937" marR="7937" marT="793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93.15138038</a:t>
                      </a:r>
                      <a:endParaRPr lang="en-US" altLang="zh-CN" sz="1200" dirty="0">
                        <a:latin typeface="Times New Roman" panose="02020603050405020304" pitchFamily="18" charset="0"/>
                        <a:ea typeface="微软雅黑" panose="020B0503020204020204" pitchFamily="34" charset="-122"/>
                        <a:cs typeface="Times New Roman" panose="02020603050405020304" pitchFamily="18" charset="0"/>
                      </a:endParaRPr>
                    </a:p>
                  </a:txBody>
                  <a:tcPr marL="7937" marR="7937" marT="793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11455">
                <a:tc>
                  <a:txBody>
                    <a:bodyPr/>
                    <a:lstStyle/>
                    <a:p>
                      <a:pPr algn="ctr" fontAlgn="ctr"/>
                      <a:r>
                        <a:rPr lang="zh-CN" altLang="en-US" sz="1200">
                          <a:latin typeface="Times New Roman" panose="02020603050405020304" pitchFamily="18" charset="0"/>
                          <a:ea typeface="微软雅黑" panose="020B0503020204020204" pitchFamily="34" charset="-122"/>
                          <a:cs typeface="Times New Roman" panose="02020603050405020304" pitchFamily="18" charset="0"/>
                        </a:rPr>
                        <a:t>自</a:t>
                      </a:r>
                      <a:r>
                        <a:rPr lang="en-US" altLang="zh-CN" sz="1200">
                          <a:latin typeface="Times New Roman" panose="02020603050405020304" pitchFamily="18" charset="0"/>
                          <a:ea typeface="微软雅黑" panose="020B0503020204020204" pitchFamily="34" charset="-122"/>
                          <a:cs typeface="Times New Roman" panose="02020603050405020304" pitchFamily="18" charset="0"/>
                        </a:rPr>
                        <a:t>201</a:t>
                      </a:r>
                      <a:r>
                        <a:rPr lang="zh-CN" altLang="en-US" sz="1200">
                          <a:latin typeface="Times New Roman" panose="02020603050405020304" pitchFamily="18" charset="0"/>
                          <a:ea typeface="微软雅黑" panose="020B0503020204020204" pitchFamily="34" charset="-122"/>
                          <a:cs typeface="Times New Roman" panose="02020603050405020304" pitchFamily="18" charset="0"/>
                        </a:rPr>
                        <a:t>井区</a:t>
                      </a:r>
                      <a:r>
                        <a:rPr lang="en-US" altLang="zh-CN" sz="1200">
                          <a:latin typeface="Times New Roman" panose="02020603050405020304" pitchFamily="18" charset="0"/>
                          <a:ea typeface="微软雅黑" panose="020B0503020204020204" pitchFamily="34" charset="-122"/>
                          <a:cs typeface="Times New Roman" panose="02020603050405020304" pitchFamily="18" charset="0"/>
                        </a:rPr>
                        <a:t>H62</a:t>
                      </a:r>
                      <a:r>
                        <a:rPr lang="zh-CN" altLang="en-US" sz="1200">
                          <a:latin typeface="Times New Roman" panose="02020603050405020304" pitchFamily="18" charset="0"/>
                          <a:ea typeface="微软雅黑" panose="020B0503020204020204" pitchFamily="34" charset="-122"/>
                          <a:cs typeface="Times New Roman" panose="02020603050405020304" pitchFamily="18" charset="0"/>
                        </a:rPr>
                        <a:t>平台</a:t>
                      </a:r>
                      <a:r>
                        <a:rPr lang="en-US" altLang="zh-CN" sz="1200">
                          <a:latin typeface="Times New Roman" panose="02020603050405020304" pitchFamily="18" charset="0"/>
                          <a:ea typeface="微软雅黑" panose="020B0503020204020204" pitchFamily="34" charset="-122"/>
                          <a:cs typeface="Times New Roman" panose="02020603050405020304" pitchFamily="18" charset="0"/>
                        </a:rPr>
                        <a:t>7</a:t>
                      </a:r>
                      <a:r>
                        <a:rPr lang="zh-CN" altLang="en-US" sz="1200">
                          <a:latin typeface="Times New Roman" panose="02020603050405020304" pitchFamily="18" charset="0"/>
                          <a:ea typeface="微软雅黑" panose="020B0503020204020204" pitchFamily="34" charset="-122"/>
                          <a:cs typeface="Times New Roman" panose="02020603050405020304" pitchFamily="18" charset="0"/>
                        </a:rPr>
                        <a:t>井</a:t>
                      </a:r>
                      <a:r>
                        <a:rPr lang="en-US" altLang="zh-CN" sz="1200">
                          <a:latin typeface="Times New Roman" panose="02020603050405020304" pitchFamily="18" charset="0"/>
                          <a:ea typeface="微软雅黑" panose="020B0503020204020204" pitchFamily="34" charset="-122"/>
                          <a:cs typeface="Times New Roman" panose="02020603050405020304" pitchFamily="18" charset="0"/>
                        </a:rPr>
                        <a:t>4</a:t>
                      </a:r>
                      <a:r>
                        <a:rPr lang="zh-CN" altLang="en-US" sz="1200">
                          <a:latin typeface="Times New Roman" panose="02020603050405020304" pitchFamily="18" charset="0"/>
                          <a:ea typeface="微软雅黑" panose="020B0503020204020204" pitchFamily="34" charset="-122"/>
                          <a:cs typeface="Times New Roman" panose="02020603050405020304" pitchFamily="18" charset="0"/>
                        </a:rPr>
                        <a:t>段</a:t>
                      </a:r>
                      <a:endParaRPr lang="zh-CN" altLang="en-US" sz="1200">
                        <a:latin typeface="Times New Roman" panose="02020603050405020304" pitchFamily="18" charset="0"/>
                        <a:ea typeface="微软雅黑" panose="020B0503020204020204" pitchFamily="34" charset="-122"/>
                        <a:cs typeface="Times New Roman" panose="02020603050405020304" pitchFamily="18" charset="0"/>
                      </a:endParaRPr>
                    </a:p>
                  </a:txBody>
                  <a:tcPr marL="7937" marR="7937" marT="793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93.07883788</a:t>
                      </a:r>
                      <a:endParaRPr lang="en-US" altLang="zh-CN" sz="1200" dirty="0">
                        <a:latin typeface="Times New Roman" panose="02020603050405020304" pitchFamily="18" charset="0"/>
                        <a:ea typeface="微软雅黑" panose="020B0503020204020204" pitchFamily="34" charset="-122"/>
                        <a:cs typeface="Times New Roman" panose="02020603050405020304" pitchFamily="18" charset="0"/>
                      </a:endParaRPr>
                    </a:p>
                  </a:txBody>
                  <a:tcPr marL="7937" marR="7937" marT="793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10185">
                <a:tc>
                  <a:txBody>
                    <a:bodyPr/>
                    <a:lstStyle/>
                    <a:p>
                      <a:pPr algn="ctr" fontAlgn="ctr"/>
                      <a:r>
                        <a:rPr lang="zh-CN" altLang="en-US" sz="1200">
                          <a:latin typeface="Times New Roman" panose="02020603050405020304" pitchFamily="18" charset="0"/>
                          <a:ea typeface="微软雅黑" panose="020B0503020204020204" pitchFamily="34" charset="-122"/>
                          <a:cs typeface="Times New Roman" panose="02020603050405020304" pitchFamily="18" charset="0"/>
                        </a:rPr>
                        <a:t>黄</a:t>
                      </a:r>
                      <a:r>
                        <a:rPr lang="en-US" altLang="zh-CN" sz="1200">
                          <a:latin typeface="Times New Roman" panose="02020603050405020304" pitchFamily="18" charset="0"/>
                          <a:ea typeface="微软雅黑" panose="020B0503020204020204" pitchFamily="34" charset="-122"/>
                          <a:cs typeface="Times New Roman" panose="02020603050405020304" pitchFamily="18" charset="0"/>
                        </a:rPr>
                        <a:t>202</a:t>
                      </a:r>
                      <a:r>
                        <a:rPr lang="zh-CN" altLang="en-US" sz="1200">
                          <a:latin typeface="Times New Roman" panose="02020603050405020304" pitchFamily="18" charset="0"/>
                          <a:ea typeface="微软雅黑" panose="020B0503020204020204" pitchFamily="34" charset="-122"/>
                          <a:cs typeface="Times New Roman" panose="02020603050405020304" pitchFamily="18" charset="0"/>
                        </a:rPr>
                        <a:t>井区</a:t>
                      </a:r>
                      <a:r>
                        <a:rPr lang="en-US" altLang="zh-CN" sz="1200">
                          <a:latin typeface="Times New Roman" panose="02020603050405020304" pitchFamily="18" charset="0"/>
                          <a:ea typeface="微软雅黑" panose="020B0503020204020204" pitchFamily="34" charset="-122"/>
                          <a:cs typeface="Times New Roman" panose="02020603050405020304" pitchFamily="18" charset="0"/>
                        </a:rPr>
                        <a:t>H7</a:t>
                      </a:r>
                      <a:r>
                        <a:rPr lang="zh-CN" altLang="en-US" sz="1200">
                          <a:latin typeface="Times New Roman" panose="02020603050405020304" pitchFamily="18" charset="0"/>
                          <a:ea typeface="微软雅黑" panose="020B0503020204020204" pitchFamily="34" charset="-122"/>
                          <a:cs typeface="Times New Roman" panose="02020603050405020304" pitchFamily="18" charset="0"/>
                        </a:rPr>
                        <a:t>平台</a:t>
                      </a:r>
                      <a:r>
                        <a:rPr lang="en-US" altLang="zh-CN" sz="120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1200">
                          <a:latin typeface="Times New Roman" panose="02020603050405020304" pitchFamily="18" charset="0"/>
                          <a:ea typeface="微软雅黑" panose="020B0503020204020204" pitchFamily="34" charset="-122"/>
                          <a:cs typeface="Times New Roman" panose="02020603050405020304" pitchFamily="18" charset="0"/>
                        </a:rPr>
                        <a:t>井</a:t>
                      </a:r>
                      <a:r>
                        <a:rPr lang="en-US" altLang="zh-CN" sz="1200">
                          <a:latin typeface="Times New Roman" panose="02020603050405020304" pitchFamily="18" charset="0"/>
                          <a:ea typeface="微软雅黑" panose="020B0503020204020204" pitchFamily="34" charset="-122"/>
                          <a:cs typeface="Times New Roman" panose="02020603050405020304" pitchFamily="18" charset="0"/>
                        </a:rPr>
                        <a:t>11</a:t>
                      </a:r>
                      <a:r>
                        <a:rPr lang="zh-CN" altLang="en-US" sz="1200">
                          <a:latin typeface="Times New Roman" panose="02020603050405020304" pitchFamily="18" charset="0"/>
                          <a:ea typeface="微软雅黑" panose="020B0503020204020204" pitchFamily="34" charset="-122"/>
                          <a:cs typeface="Times New Roman" panose="02020603050405020304" pitchFamily="18" charset="0"/>
                        </a:rPr>
                        <a:t>段</a:t>
                      </a:r>
                      <a:endParaRPr lang="zh-CN" altLang="en-US" sz="1200">
                        <a:latin typeface="Times New Roman" panose="02020603050405020304" pitchFamily="18" charset="0"/>
                        <a:ea typeface="微软雅黑" panose="020B0503020204020204" pitchFamily="34" charset="-122"/>
                        <a:cs typeface="Times New Roman" panose="02020603050405020304" pitchFamily="18" charset="0"/>
                      </a:endParaRPr>
                    </a:p>
                  </a:txBody>
                  <a:tcPr marL="7937" marR="7937" marT="793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92.86946337</a:t>
                      </a:r>
                      <a:endParaRPr lang="en-US" altLang="zh-CN" sz="1200" dirty="0">
                        <a:latin typeface="Times New Roman" panose="02020603050405020304" pitchFamily="18" charset="0"/>
                        <a:ea typeface="微软雅黑" panose="020B0503020204020204" pitchFamily="34" charset="-122"/>
                        <a:cs typeface="Times New Roman" panose="02020603050405020304" pitchFamily="18" charset="0"/>
                      </a:endParaRPr>
                    </a:p>
                  </a:txBody>
                  <a:tcPr marL="7937" marR="7937" marT="793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10820">
                <a:tc>
                  <a:txBody>
                    <a:bodyPr/>
                    <a:lstStyle/>
                    <a:p>
                      <a:pPr algn="ctr" fontAlgn="ctr"/>
                      <a:r>
                        <a:rPr lang="zh-CN" altLang="en-US" sz="1200">
                          <a:latin typeface="Times New Roman" panose="02020603050405020304" pitchFamily="18" charset="0"/>
                          <a:ea typeface="微软雅黑" panose="020B0503020204020204" pitchFamily="34" charset="-122"/>
                          <a:cs typeface="Times New Roman" panose="02020603050405020304" pitchFamily="18" charset="0"/>
                        </a:rPr>
                        <a:t>泸</a:t>
                      </a:r>
                      <a:r>
                        <a:rPr lang="en-US" altLang="zh-CN" sz="1200">
                          <a:latin typeface="Times New Roman" panose="02020603050405020304" pitchFamily="18" charset="0"/>
                          <a:ea typeface="微软雅黑" panose="020B0503020204020204" pitchFamily="34" charset="-122"/>
                          <a:cs typeface="Times New Roman" panose="02020603050405020304" pitchFamily="18" charset="0"/>
                        </a:rPr>
                        <a:t>203</a:t>
                      </a:r>
                      <a:r>
                        <a:rPr lang="zh-CN" altLang="en-US" sz="1200">
                          <a:latin typeface="Times New Roman" panose="02020603050405020304" pitchFamily="18" charset="0"/>
                          <a:ea typeface="微软雅黑" panose="020B0503020204020204" pitchFamily="34" charset="-122"/>
                          <a:cs typeface="Times New Roman" panose="02020603050405020304" pitchFamily="18" charset="0"/>
                        </a:rPr>
                        <a:t>井区</a:t>
                      </a:r>
                      <a:r>
                        <a:rPr lang="en-US" altLang="zh-CN" sz="1200">
                          <a:latin typeface="Times New Roman" panose="02020603050405020304" pitchFamily="18" charset="0"/>
                          <a:ea typeface="微软雅黑" panose="020B0503020204020204" pitchFamily="34" charset="-122"/>
                          <a:cs typeface="Times New Roman" panose="02020603050405020304" pitchFamily="18" charset="0"/>
                        </a:rPr>
                        <a:t>H8</a:t>
                      </a:r>
                      <a:r>
                        <a:rPr lang="zh-CN" altLang="en-US" sz="1200">
                          <a:latin typeface="Times New Roman" panose="02020603050405020304" pitchFamily="18" charset="0"/>
                          <a:ea typeface="微软雅黑" panose="020B0503020204020204" pitchFamily="34" charset="-122"/>
                          <a:cs typeface="Times New Roman" panose="02020603050405020304" pitchFamily="18" charset="0"/>
                        </a:rPr>
                        <a:t>平台</a:t>
                      </a:r>
                      <a:r>
                        <a:rPr lang="en-US" altLang="zh-CN" sz="120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1200">
                          <a:latin typeface="Times New Roman" panose="02020603050405020304" pitchFamily="18" charset="0"/>
                          <a:ea typeface="微软雅黑" panose="020B0503020204020204" pitchFamily="34" charset="-122"/>
                          <a:cs typeface="Times New Roman" panose="02020603050405020304" pitchFamily="18" charset="0"/>
                        </a:rPr>
                        <a:t>井</a:t>
                      </a:r>
                      <a:r>
                        <a:rPr lang="en-US" altLang="zh-CN" sz="1200">
                          <a:latin typeface="Times New Roman" panose="02020603050405020304" pitchFamily="18" charset="0"/>
                          <a:ea typeface="微软雅黑" panose="020B0503020204020204" pitchFamily="34" charset="-122"/>
                          <a:cs typeface="Times New Roman" panose="02020603050405020304" pitchFamily="18" charset="0"/>
                        </a:rPr>
                        <a:t>10</a:t>
                      </a:r>
                      <a:r>
                        <a:rPr lang="zh-CN" altLang="en-US" sz="1200">
                          <a:latin typeface="Times New Roman" panose="02020603050405020304" pitchFamily="18" charset="0"/>
                          <a:ea typeface="微软雅黑" panose="020B0503020204020204" pitchFamily="34" charset="-122"/>
                          <a:cs typeface="Times New Roman" panose="02020603050405020304" pitchFamily="18" charset="0"/>
                        </a:rPr>
                        <a:t>段</a:t>
                      </a:r>
                      <a:endParaRPr lang="zh-CN" altLang="en-US" sz="1200">
                        <a:latin typeface="Times New Roman" panose="02020603050405020304" pitchFamily="18" charset="0"/>
                        <a:ea typeface="微软雅黑" panose="020B0503020204020204" pitchFamily="34" charset="-122"/>
                        <a:cs typeface="Times New Roman" panose="02020603050405020304" pitchFamily="18" charset="0"/>
                      </a:endParaRPr>
                    </a:p>
                  </a:txBody>
                  <a:tcPr marL="7937" marR="7937" marT="793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91.62093615</a:t>
                      </a:r>
                      <a:endParaRPr lang="en-US" altLang="zh-CN" sz="1200" dirty="0">
                        <a:latin typeface="Times New Roman" panose="02020603050405020304" pitchFamily="18" charset="0"/>
                        <a:ea typeface="微软雅黑" panose="020B0503020204020204" pitchFamily="34" charset="-122"/>
                        <a:cs typeface="Times New Roman" panose="02020603050405020304" pitchFamily="18" charset="0"/>
                      </a:endParaRPr>
                    </a:p>
                  </a:txBody>
                  <a:tcPr marL="7937" marR="7937" marT="793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pic>
        <p:nvPicPr>
          <p:cNvPr id="6" name="图片 5"/>
          <p:cNvPicPr>
            <a:picLocks noChangeAspect="1"/>
          </p:cNvPicPr>
          <p:nvPr/>
        </p:nvPicPr>
        <p:blipFill>
          <a:blip r:embed="rId4"/>
          <a:stretch>
            <a:fillRect/>
          </a:stretch>
        </p:blipFill>
        <p:spPr>
          <a:xfrm>
            <a:off x="4324985" y="1842135"/>
            <a:ext cx="3310255" cy="2160905"/>
          </a:xfrm>
          <a:prstGeom prst="rect">
            <a:avLst/>
          </a:prstGeom>
        </p:spPr>
      </p:pic>
      <p:pic>
        <p:nvPicPr>
          <p:cNvPr id="4" name="图片 3" descr="b9XvPYR63m"/>
          <p:cNvPicPr>
            <a:picLocks noChangeAspect="1"/>
          </p:cNvPicPr>
          <p:nvPr/>
        </p:nvPicPr>
        <p:blipFill>
          <a:blip r:embed="rId5"/>
          <a:srcRect b="36711"/>
          <a:stretch>
            <a:fillRect/>
          </a:stretch>
        </p:blipFill>
        <p:spPr>
          <a:xfrm>
            <a:off x="5547360" y="4638675"/>
            <a:ext cx="1990725" cy="1334770"/>
          </a:xfrm>
          <a:prstGeom prst="rect">
            <a:avLst/>
          </a:prstGeom>
          <a:ln>
            <a:solidFill>
              <a:schemeClr val="tx1"/>
            </a:solidFill>
          </a:ln>
        </p:spPr>
      </p:pic>
      <p:cxnSp>
        <p:nvCxnSpPr>
          <p:cNvPr id="7" name="直接箭头连接符 6"/>
          <p:cNvCxnSpPr>
            <a:stCxn id="6" idx="2"/>
            <a:endCxn id="4" idx="0"/>
          </p:cNvCxnSpPr>
          <p:nvPr/>
        </p:nvCxnSpPr>
        <p:spPr>
          <a:xfrm>
            <a:off x="5980430" y="4003040"/>
            <a:ext cx="562610" cy="635635"/>
          </a:xfrm>
          <a:prstGeom prst="straightConnector1">
            <a:avLst/>
          </a:prstGeom>
          <a:ln w="31750" cap="rnd">
            <a:solidFill>
              <a:srgbClr val="FF0000"/>
            </a:solidFill>
            <a:round/>
            <a:headEnd type="none" w="med" len="med"/>
            <a:tailEnd type="arrow" w="med" len="med"/>
          </a:ln>
        </p:spPr>
        <p:style>
          <a:lnRef idx="0">
            <a:srgbClr val="FFFFFF"/>
          </a:lnRef>
          <a:fillRef idx="0">
            <a:srgbClr val="FFFFFF"/>
          </a:fillRef>
          <a:effectRef idx="0">
            <a:srgbClr val="FFFFFF"/>
          </a:effectRef>
          <a:fontRef idx="minor">
            <a:schemeClr val="tx1"/>
          </a:fontRef>
        </p:style>
      </p:cxnSp>
      <p:cxnSp>
        <p:nvCxnSpPr>
          <p:cNvPr id="8" name="直接箭头连接符 7"/>
          <p:cNvCxnSpPr>
            <a:stCxn id="11" idx="0"/>
            <a:endCxn id="16" idx="2"/>
          </p:cNvCxnSpPr>
          <p:nvPr/>
        </p:nvCxnSpPr>
        <p:spPr>
          <a:xfrm flipV="1">
            <a:off x="8857615" y="4013200"/>
            <a:ext cx="869950" cy="621030"/>
          </a:xfrm>
          <a:prstGeom prst="straightConnector1">
            <a:avLst/>
          </a:prstGeom>
          <a:ln w="31750" cap="rnd">
            <a:solidFill>
              <a:srgbClr val="FF0000"/>
            </a:solidFill>
            <a:round/>
            <a:headEnd type="none" w="med" len="med"/>
            <a:tailEnd type="arrow" w="med" len="med"/>
          </a:ln>
        </p:spPr>
        <p:style>
          <a:lnRef idx="0">
            <a:srgbClr val="FFFFFF"/>
          </a:lnRef>
          <a:fillRef idx="0">
            <a:srgbClr val="FFFFFF"/>
          </a:fillRef>
          <a:effectRef idx="0">
            <a:srgbClr val="FFFFFF"/>
          </a:effectRef>
          <a:fontRef idx="minor">
            <a:schemeClr val="tx1"/>
          </a:fontRef>
        </p:style>
      </p:cxnSp>
      <p:pic>
        <p:nvPicPr>
          <p:cNvPr id="11" name="图片 10"/>
          <p:cNvPicPr/>
          <p:nvPr/>
        </p:nvPicPr>
        <p:blipFill>
          <a:blip r:embed="rId6"/>
          <a:stretch>
            <a:fillRect/>
          </a:stretch>
        </p:blipFill>
        <p:spPr>
          <a:xfrm>
            <a:off x="7846695" y="4634230"/>
            <a:ext cx="2021205" cy="1346835"/>
          </a:xfrm>
          <a:prstGeom prst="rect">
            <a:avLst/>
          </a:prstGeom>
          <a:ln>
            <a:solidFill>
              <a:schemeClr val="tx1"/>
            </a:solidFill>
          </a:ln>
        </p:spPr>
      </p:pic>
      <p:sp>
        <p:nvSpPr>
          <p:cNvPr id="12" name="加号 11"/>
          <p:cNvSpPr/>
          <p:nvPr/>
        </p:nvSpPr>
        <p:spPr>
          <a:xfrm>
            <a:off x="7538085" y="5148580"/>
            <a:ext cx="314960" cy="314960"/>
          </a:xfrm>
          <a:prstGeom prst="mathPlus">
            <a:avLst/>
          </a:prstGeom>
          <a:solidFill>
            <a:srgbClr val="FF0000"/>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3000509000000000000" pitchFamily="65" charset="-122"/>
            </a:endParaRPr>
          </a:p>
        </p:txBody>
      </p:sp>
      <p:sp>
        <p:nvSpPr>
          <p:cNvPr id="13" name="矩形 22"/>
          <p:cNvSpPr>
            <a:spLocks noChangeArrowheads="1"/>
          </p:cNvSpPr>
          <p:nvPr/>
        </p:nvSpPr>
        <p:spPr bwMode="auto">
          <a:xfrm>
            <a:off x="4324985" y="6042025"/>
            <a:ext cx="738187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latin typeface="微软雅黑" panose="020B0503020204020204" pitchFamily="34" charset="-122"/>
                <a:ea typeface="微软雅黑" panose="020B0503020204020204" pitchFamily="34" charset="-122"/>
              </a:rPr>
              <a:t>压前数据导入与施工现场实时分析</a:t>
            </a:r>
            <a:endParaRPr lang="zh-CN" altLang="en-US" sz="1200" dirty="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7"/>
          <p:cNvSpPr txBox="1"/>
          <p:nvPr/>
        </p:nvSpPr>
        <p:spPr bwMode="auto">
          <a:xfrm>
            <a:off x="320061" y="888766"/>
            <a:ext cx="11551878" cy="368300"/>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、压裂效果动态评估模型应用及优化</a:t>
            </a:r>
            <a:endParaRPr lang="zh-CN" altLang="en-US" dirty="0">
              <a:latin typeface="微软雅黑" panose="020B0503020204020204" pitchFamily="34" charset="-122"/>
              <a:ea typeface="微软雅黑" panose="020B0503020204020204" pitchFamily="34" charset="-122"/>
            </a:endParaRPr>
          </a:p>
        </p:txBody>
      </p:sp>
      <p:sp>
        <p:nvSpPr>
          <p:cNvPr id="37" name="Rectangle 11"/>
          <p:cNvSpPr>
            <a:spLocks noChangeArrowheads="1"/>
          </p:cNvSpPr>
          <p:nvPr/>
        </p:nvSpPr>
        <p:spPr bwMode="auto">
          <a:xfrm>
            <a:off x="8890" y="-41275"/>
            <a:ext cx="1218120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（二）主要研究内容</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334329" y="1319605"/>
            <a:ext cx="11485562" cy="4154170"/>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难点分析：</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川南页岩气不同井间地质、施工参数差异大，统一评估模型适用性差</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a:p>
            <a:pPr marL="342265" indent="-342900" algn="just">
              <a:lnSpc>
                <a:spcPct val="150000"/>
              </a:lnSpc>
              <a:buClr>
                <a:srgbClr val="FF0000"/>
              </a:buClr>
              <a:buFont typeface="Wingdings" panose="05000000000000000000" pitchFamily="2" charset="2"/>
              <a:buChar char="l"/>
            </a:pP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1</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不同井埋深、天然裂缝发育程度等地质条件差异显著，统一模型参数难以适应各井特点</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2</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各井压裂工艺、施工排量等工程参数变化大，统一模型参数无法准确反映各井的压裂响应规律</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endPar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a:p>
            <a:pPr marL="342265" indent="-342900" algn="just">
              <a:lnSpc>
                <a:spcPct val="150000"/>
              </a:lnSpc>
              <a:buClr>
                <a:srgbClr val="FF0000"/>
              </a:buClr>
              <a:buFont typeface="Wingdings" panose="05000000000000000000" pitchFamily="2" charset="2"/>
              <a:buChar char="l"/>
            </a:pP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研究思路：</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en-US" altLang="zh-CN" sz="1600" kern="0" dirty="0">
                <a:latin typeface="微软雅黑" panose="020B0503020204020204" pitchFamily="34" charset="-122"/>
                <a:ea typeface="微软雅黑" panose="020B0503020204020204" pitchFamily="34" charset="-122"/>
                <a:sym typeface="+mn-ea"/>
              </a:rPr>
              <a:t>1</a:t>
            </a:r>
            <a:r>
              <a:rPr lang="zh-CN" altLang="en-US" sz="1600" kern="0" dirty="0">
                <a:latin typeface="微软雅黑" panose="020B0503020204020204" pitchFamily="34" charset="-122"/>
                <a:ea typeface="微软雅黑" panose="020B0503020204020204" pitchFamily="34" charset="-122"/>
                <a:sym typeface="+mn-ea"/>
              </a:rPr>
              <a:t>、井况分类与模型参数适应性调整</a:t>
            </a:r>
            <a:endParaRPr lang="zh-CN" altLang="en-US" sz="1600" kern="0" dirty="0">
              <a:latin typeface="微软雅黑" panose="020B0503020204020204" pitchFamily="34" charset="-122"/>
              <a:ea typeface="微软雅黑" panose="020B0503020204020204" pitchFamily="34" charset="-122"/>
              <a:sym typeface="+mn-ea"/>
            </a:endParaRPr>
          </a:p>
          <a:p>
            <a:pPr marL="342265" indent="-342900" algn="just">
              <a:lnSpc>
                <a:spcPct val="150000"/>
              </a:lnSpc>
              <a:buClr>
                <a:srgbClr val="FF0000"/>
              </a:buClr>
              <a:buFont typeface="Wingdings" panose="05000000000000000000" pitchFamily="2" charset="2"/>
              <a:buChar char="l"/>
            </a:pPr>
            <a:r>
              <a:rPr lang="en-US" altLang="zh-CN" sz="1600" kern="0" dirty="0">
                <a:latin typeface="微软雅黑" panose="020B0503020204020204" pitchFamily="34" charset="-122"/>
                <a:ea typeface="微软雅黑" panose="020B0503020204020204" pitchFamily="34" charset="-122"/>
                <a:sym typeface="+mn-ea"/>
              </a:rPr>
              <a:t>2</a:t>
            </a:r>
            <a:r>
              <a:rPr lang="zh-CN" altLang="en-US" sz="1600" kern="0" dirty="0">
                <a:latin typeface="微软雅黑" panose="020B0503020204020204" pitchFamily="34" charset="-122"/>
                <a:ea typeface="微软雅黑" panose="020B0503020204020204" pitchFamily="34" charset="-122"/>
                <a:sym typeface="+mn-ea"/>
              </a:rPr>
              <a:t>、现场应用实测与系统迭代完善</a:t>
            </a:r>
            <a:endParaRPr lang="zh-CN" altLang="en-US" sz="1600" kern="0" dirty="0">
              <a:latin typeface="微软雅黑" panose="020B0503020204020204" pitchFamily="34" charset="-122"/>
              <a:ea typeface="微软雅黑" panose="020B0503020204020204" pitchFamily="34" charset="-122"/>
              <a:sym typeface="+mn-ea"/>
            </a:endParaRPr>
          </a:p>
          <a:p>
            <a:pPr marL="342265" indent="-342900" algn="just">
              <a:lnSpc>
                <a:spcPct val="150000"/>
              </a:lnSpc>
              <a:buClr>
                <a:srgbClr val="FF0000"/>
              </a:buClr>
              <a:buFont typeface="Wingdings" panose="05000000000000000000" pitchFamily="2" charset="2"/>
              <a:buChar char="l"/>
            </a:pP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预期效果：</a:t>
            </a:r>
            <a:endPar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1</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、建立适应川南页岩气不同井况的评估模型</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a:p>
            <a:pPr marL="342265" indent="-342900" algn="just">
              <a:lnSpc>
                <a:spcPct val="150000"/>
              </a:lnSpc>
              <a:buClr>
                <a:srgbClr val="FF0000"/>
              </a:buClr>
              <a:buFont typeface="Wingdings" panose="05000000000000000000" pitchFamily="2" charset="2"/>
              <a:buChar char="l"/>
            </a:pP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2</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实现基于井区数据的模型参数自动优化调整</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7"/>
          <p:cNvSpPr txBox="1"/>
          <p:nvPr/>
        </p:nvSpPr>
        <p:spPr bwMode="auto">
          <a:xfrm>
            <a:off x="320061" y="888766"/>
            <a:ext cx="11551878" cy="368300"/>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、压裂效果动态评估模型应用及优化</a:t>
            </a:r>
            <a:endParaRPr lang="zh-CN" altLang="en-US" dirty="0">
              <a:latin typeface="微软雅黑" panose="020B0503020204020204" pitchFamily="34" charset="-122"/>
              <a:ea typeface="微软雅黑" panose="020B0503020204020204" pitchFamily="34" charset="-122"/>
            </a:endParaRPr>
          </a:p>
        </p:txBody>
      </p:sp>
      <p:sp>
        <p:nvSpPr>
          <p:cNvPr id="37" name="Rectangle 11"/>
          <p:cNvSpPr>
            <a:spLocks noChangeArrowheads="1"/>
          </p:cNvSpPr>
          <p:nvPr/>
        </p:nvSpPr>
        <p:spPr bwMode="auto">
          <a:xfrm>
            <a:off x="8890" y="-41275"/>
            <a:ext cx="1218120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（二）主要研究内容</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334329" y="1319605"/>
            <a:ext cx="11485562" cy="829945"/>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）井况分类与模型参数适应性调整：</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川南页岩气不同井间的</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地质条件</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（如储层物性、构造特征、流体性质等）和</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施工特征</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（如压裂工艺、注采方式等）存在显著差异，分类后能够更加精确的</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调整模型参数</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38" name="图片 37" descr="图片1"/>
          <p:cNvPicPr>
            <a:picLocks noChangeAspect="1"/>
          </p:cNvPicPr>
          <p:nvPr/>
        </p:nvPicPr>
        <p:blipFill>
          <a:blip r:embed="rId1"/>
          <a:stretch>
            <a:fillRect/>
          </a:stretch>
        </p:blipFill>
        <p:spPr>
          <a:xfrm>
            <a:off x="5977255" y="2681605"/>
            <a:ext cx="5622290" cy="3248660"/>
          </a:xfrm>
          <a:prstGeom prst="rect">
            <a:avLst/>
          </a:prstGeom>
        </p:spPr>
      </p:pic>
      <p:sp>
        <p:nvSpPr>
          <p:cNvPr id="40" name="矩形 39"/>
          <p:cNvSpPr/>
          <p:nvPr/>
        </p:nvSpPr>
        <p:spPr>
          <a:xfrm>
            <a:off x="1549400" y="2577465"/>
            <a:ext cx="1440000" cy="540000"/>
          </a:xfrm>
          <a:prstGeom prst="rect">
            <a:avLst/>
          </a:prstGeom>
          <a:solidFill>
            <a:srgbClr val="C00000"/>
          </a:solidFill>
          <a:ln>
            <a:solidFill>
              <a:srgbClr val="C00000"/>
            </a:solidFill>
          </a:ln>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高渗透率区</a:t>
            </a:r>
            <a:endPar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1" name="矩形 40"/>
          <p:cNvSpPr/>
          <p:nvPr/>
        </p:nvSpPr>
        <p:spPr>
          <a:xfrm>
            <a:off x="1549400" y="5298440"/>
            <a:ext cx="1440000" cy="538480"/>
          </a:xfrm>
          <a:prstGeom prst="rect">
            <a:avLst/>
          </a:prstGeom>
          <a:solidFill>
            <a:srgbClr val="C00000"/>
          </a:solidFill>
          <a:ln>
            <a:solidFill>
              <a:srgbClr val="C00000"/>
            </a:solidFill>
          </a:ln>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高含油区</a:t>
            </a:r>
            <a:endPar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2" name="矩形 41"/>
          <p:cNvSpPr/>
          <p:nvPr/>
        </p:nvSpPr>
        <p:spPr>
          <a:xfrm>
            <a:off x="3213100" y="5298440"/>
            <a:ext cx="1440000" cy="540000"/>
          </a:xfrm>
          <a:prstGeom prst="rect">
            <a:avLst/>
          </a:prstGeom>
          <a:solidFill>
            <a:srgbClr val="C00000"/>
          </a:solidFill>
          <a:ln>
            <a:solidFill>
              <a:srgbClr val="C00000"/>
            </a:solidFill>
          </a:ln>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低地应力区</a:t>
            </a:r>
            <a:endPar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3" name="矩形 42"/>
          <p:cNvSpPr/>
          <p:nvPr/>
        </p:nvSpPr>
        <p:spPr>
          <a:xfrm>
            <a:off x="3213100" y="2576830"/>
            <a:ext cx="1440000" cy="540000"/>
          </a:xfrm>
          <a:prstGeom prst="rect">
            <a:avLst/>
          </a:prstGeom>
          <a:solidFill>
            <a:srgbClr val="C00000"/>
          </a:solidFill>
          <a:ln>
            <a:solidFill>
              <a:srgbClr val="C00000"/>
            </a:solidFill>
          </a:ln>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构造稳定区</a:t>
            </a:r>
            <a:endPar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8" name="矩形 22"/>
          <p:cNvSpPr>
            <a:spLocks noChangeArrowheads="1"/>
          </p:cNvSpPr>
          <p:nvPr/>
        </p:nvSpPr>
        <p:spPr bwMode="auto">
          <a:xfrm>
            <a:off x="366395" y="6040755"/>
            <a:ext cx="527494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latin typeface="微软雅黑" panose="020B0503020204020204" pitchFamily="34" charset="-122"/>
                <a:ea typeface="微软雅黑" panose="020B0503020204020204" pitchFamily="34" charset="-122"/>
              </a:rPr>
              <a:t>根据地质特征分类</a:t>
            </a:r>
            <a:endParaRPr lang="zh-CN" altLang="en-US" sz="1200" dirty="0">
              <a:latin typeface="微软雅黑" panose="020B0503020204020204" pitchFamily="34" charset="-122"/>
              <a:ea typeface="微软雅黑" panose="020B0503020204020204" pitchFamily="34" charset="-122"/>
            </a:endParaRPr>
          </a:p>
        </p:txBody>
      </p:sp>
      <p:sp>
        <p:nvSpPr>
          <p:cNvPr id="49" name="矩形 22"/>
          <p:cNvSpPr>
            <a:spLocks noChangeArrowheads="1"/>
          </p:cNvSpPr>
          <p:nvPr/>
        </p:nvSpPr>
        <p:spPr bwMode="auto">
          <a:xfrm>
            <a:off x="5977255" y="6035675"/>
            <a:ext cx="5622290"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latin typeface="微软雅黑" panose="020B0503020204020204" pitchFamily="34" charset="-122"/>
                <a:ea typeface="微软雅黑" panose="020B0503020204020204" pitchFamily="34" charset="-122"/>
              </a:rPr>
              <a:t>根据施工特征分类</a:t>
            </a:r>
            <a:endParaRPr lang="zh-CN" altLang="en-US" sz="1200" dirty="0">
              <a:latin typeface="微软雅黑" panose="020B0503020204020204" pitchFamily="34" charset="-122"/>
              <a:ea typeface="微软雅黑" panose="020B0503020204020204" pitchFamily="34" charset="-122"/>
            </a:endParaRPr>
          </a:p>
        </p:txBody>
      </p:sp>
      <p:sp>
        <p:nvSpPr>
          <p:cNvPr id="50" name="矩形 49"/>
          <p:cNvSpPr/>
          <p:nvPr/>
        </p:nvSpPr>
        <p:spPr>
          <a:xfrm>
            <a:off x="365760" y="3454400"/>
            <a:ext cx="1440000" cy="540000"/>
          </a:xfrm>
          <a:prstGeom prst="rect">
            <a:avLst/>
          </a:prstGeom>
          <a:solidFill>
            <a:srgbClr val="C00000"/>
          </a:solidFill>
          <a:ln>
            <a:solidFill>
              <a:srgbClr val="C00000"/>
            </a:solidFill>
          </a:ln>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低渗透率区</a:t>
            </a:r>
            <a:endPar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1" name="矩形 50"/>
          <p:cNvSpPr/>
          <p:nvPr/>
        </p:nvSpPr>
        <p:spPr>
          <a:xfrm>
            <a:off x="4201160" y="3454400"/>
            <a:ext cx="1440000" cy="540000"/>
          </a:xfrm>
          <a:prstGeom prst="rect">
            <a:avLst/>
          </a:prstGeom>
          <a:solidFill>
            <a:srgbClr val="C00000"/>
          </a:solidFill>
          <a:ln>
            <a:solidFill>
              <a:srgbClr val="C00000"/>
            </a:solidFill>
          </a:ln>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构造复杂区</a:t>
            </a:r>
            <a:endPar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2" name="矩形 51"/>
          <p:cNvSpPr/>
          <p:nvPr/>
        </p:nvSpPr>
        <p:spPr>
          <a:xfrm>
            <a:off x="365760" y="4435475"/>
            <a:ext cx="1440000" cy="540000"/>
          </a:xfrm>
          <a:prstGeom prst="rect">
            <a:avLst/>
          </a:prstGeom>
          <a:solidFill>
            <a:srgbClr val="C00000"/>
          </a:solidFill>
          <a:ln>
            <a:solidFill>
              <a:srgbClr val="C00000"/>
            </a:solidFill>
          </a:ln>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低含油区</a:t>
            </a:r>
            <a:endPar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3" name="矩形 52"/>
          <p:cNvSpPr/>
          <p:nvPr/>
        </p:nvSpPr>
        <p:spPr>
          <a:xfrm>
            <a:off x="4201160" y="4435475"/>
            <a:ext cx="1440000" cy="540000"/>
          </a:xfrm>
          <a:prstGeom prst="rect">
            <a:avLst/>
          </a:prstGeom>
          <a:solidFill>
            <a:srgbClr val="C00000"/>
          </a:solidFill>
          <a:ln>
            <a:solidFill>
              <a:srgbClr val="C00000"/>
            </a:solidFill>
          </a:ln>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高地应力区</a:t>
            </a:r>
            <a:endParaRPr lang="zh-CN" altLang="en-US"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6" name="椭圆 55"/>
          <p:cNvSpPr/>
          <p:nvPr/>
        </p:nvSpPr>
        <p:spPr>
          <a:xfrm>
            <a:off x="2491105" y="3543935"/>
            <a:ext cx="1168400" cy="1168400"/>
          </a:xfrm>
          <a:prstGeom prst="ellipse">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00000"/>
              </a:lnSpc>
              <a:spcBef>
                <a:spcPct val="20000"/>
              </a:spcBef>
              <a:buClr>
                <a:srgbClr val="FF0000"/>
              </a:buClr>
              <a:buSzPct val="100000"/>
            </a:pPr>
            <a:r>
              <a:rPr lang="en-US" altLang="zh-CN" sz="1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x</a:t>
            </a:r>
            <a:r>
              <a:rPr lang="zh-CN" altLang="en-US" sz="1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平台</a:t>
            </a:r>
            <a:endParaRPr lang="zh-CN" altLang="en-US" sz="1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9" name="上箭头 58"/>
          <p:cNvSpPr/>
          <p:nvPr/>
        </p:nvSpPr>
        <p:spPr>
          <a:xfrm rot="18540000">
            <a:off x="2089788" y="3121685"/>
            <a:ext cx="360000" cy="720000"/>
          </a:xfrm>
          <a:prstGeom prst="upArrow">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3000509000000000000" pitchFamily="65" charset="-122"/>
            </a:endParaRPr>
          </a:p>
        </p:txBody>
      </p:sp>
      <p:sp>
        <p:nvSpPr>
          <p:cNvPr id="60" name="上箭头 59"/>
          <p:cNvSpPr/>
          <p:nvPr/>
        </p:nvSpPr>
        <p:spPr>
          <a:xfrm rot="7740000">
            <a:off x="3614547" y="4505287"/>
            <a:ext cx="360000" cy="720000"/>
          </a:xfrm>
          <a:prstGeom prst="upArrow">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3000509000000000000" pitchFamily="65" charset="-122"/>
            </a:endParaRPr>
          </a:p>
        </p:txBody>
      </p:sp>
      <p:sp>
        <p:nvSpPr>
          <p:cNvPr id="61" name="上箭头 60"/>
          <p:cNvSpPr/>
          <p:nvPr/>
        </p:nvSpPr>
        <p:spPr>
          <a:xfrm rot="3240000">
            <a:off x="3701597" y="3122461"/>
            <a:ext cx="360000" cy="720000"/>
          </a:xfrm>
          <a:prstGeom prst="upArrow">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3000509000000000000" pitchFamily="65" charset="-122"/>
            </a:endParaRPr>
          </a:p>
        </p:txBody>
      </p:sp>
      <p:sp>
        <p:nvSpPr>
          <p:cNvPr id="62" name="上箭头 61"/>
          <p:cNvSpPr/>
          <p:nvPr/>
        </p:nvSpPr>
        <p:spPr>
          <a:xfrm rot="13620000">
            <a:off x="2163685" y="4508473"/>
            <a:ext cx="360000" cy="720000"/>
          </a:xfrm>
          <a:prstGeom prst="upArrow">
            <a:avLst/>
          </a:prstGeom>
          <a:solidFill>
            <a:srgbClr val="C00000"/>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3000509000000000000" pitchFamily="65" charset="-122"/>
            </a:endParaRP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7"/>
          <p:cNvSpPr txBox="1"/>
          <p:nvPr/>
        </p:nvSpPr>
        <p:spPr bwMode="auto">
          <a:xfrm>
            <a:off x="320061" y="888766"/>
            <a:ext cx="11551878" cy="368300"/>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、压裂效果动态评估模型应用及优化</a:t>
            </a:r>
            <a:endParaRPr lang="zh-CN" altLang="en-US" dirty="0">
              <a:latin typeface="微软雅黑" panose="020B0503020204020204" pitchFamily="34" charset="-122"/>
              <a:ea typeface="微软雅黑" panose="020B0503020204020204" pitchFamily="34" charset="-122"/>
            </a:endParaRPr>
          </a:p>
        </p:txBody>
      </p:sp>
      <p:sp>
        <p:nvSpPr>
          <p:cNvPr id="37" name="Rectangle 11"/>
          <p:cNvSpPr>
            <a:spLocks noChangeArrowheads="1"/>
          </p:cNvSpPr>
          <p:nvPr/>
        </p:nvSpPr>
        <p:spPr bwMode="auto">
          <a:xfrm>
            <a:off x="8890" y="-41275"/>
            <a:ext cx="1218120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（二）主要研究内容</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334329" y="1319605"/>
            <a:ext cx="11485562" cy="829945"/>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）现场应用实测与系统迭代完善：</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选取具有代表性的已压裂页岩气井或区块作为试点，针对应用中发现的问题，</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持续提升</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评估模型的</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可靠性和适用性</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，并持续</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现场跟进</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优化模型。</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20" name="图片 19"/>
          <p:cNvPicPr>
            <a:picLocks noChangeAspect="1"/>
          </p:cNvPicPr>
          <p:nvPr/>
        </p:nvPicPr>
        <p:blipFill>
          <a:blip r:embed="rId1"/>
          <a:stretch>
            <a:fillRect/>
          </a:stretch>
        </p:blipFill>
        <p:spPr>
          <a:xfrm>
            <a:off x="4270375" y="2287270"/>
            <a:ext cx="4358640" cy="1663700"/>
          </a:xfrm>
          <a:prstGeom prst="rect">
            <a:avLst/>
          </a:prstGeom>
        </p:spPr>
      </p:pic>
      <p:sp>
        <p:nvSpPr>
          <p:cNvPr id="22" name="矩形 22"/>
          <p:cNvSpPr>
            <a:spLocks noChangeArrowheads="1"/>
          </p:cNvSpPr>
          <p:nvPr/>
        </p:nvSpPr>
        <p:spPr bwMode="auto">
          <a:xfrm>
            <a:off x="452755" y="6040755"/>
            <a:ext cx="371030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latin typeface="微软雅黑" panose="020B0503020204020204" pitchFamily="34" charset="-122"/>
                <a:ea typeface="微软雅黑" panose="020B0503020204020204" pitchFamily="34" charset="-122"/>
              </a:rPr>
              <a:t>典型区块试点</a:t>
            </a:r>
            <a:endParaRPr lang="zh-CN" altLang="en-US" sz="1200" dirty="0">
              <a:latin typeface="微软雅黑" panose="020B0503020204020204" pitchFamily="34" charset="-122"/>
              <a:ea typeface="微软雅黑" panose="020B0503020204020204" pitchFamily="34" charset="-122"/>
            </a:endParaRPr>
          </a:p>
        </p:txBody>
      </p:sp>
      <p:pic>
        <p:nvPicPr>
          <p:cNvPr id="2" name="图片 30"/>
          <p:cNvPicPr>
            <a:picLocks noChangeAspect="1"/>
          </p:cNvPicPr>
          <p:nvPr/>
        </p:nvPicPr>
        <p:blipFill>
          <a:blip r:embed="rId2"/>
          <a:stretch>
            <a:fillRect/>
          </a:stretch>
        </p:blipFill>
        <p:spPr>
          <a:xfrm>
            <a:off x="452755" y="2342515"/>
            <a:ext cx="3710305" cy="3532505"/>
          </a:xfrm>
          <a:prstGeom prst="rect">
            <a:avLst/>
          </a:prstGeom>
        </p:spPr>
      </p:pic>
      <p:pic>
        <p:nvPicPr>
          <p:cNvPr id="6" name="图片 5"/>
          <p:cNvPicPr/>
          <p:nvPr/>
        </p:nvPicPr>
        <p:blipFill>
          <a:blip r:embed="rId3"/>
          <a:stretch>
            <a:fillRect/>
          </a:stretch>
        </p:blipFill>
        <p:spPr>
          <a:xfrm>
            <a:off x="8736965" y="3134995"/>
            <a:ext cx="3171190" cy="2087245"/>
          </a:xfrm>
          <a:prstGeom prst="rect">
            <a:avLst/>
          </a:prstGeom>
        </p:spPr>
      </p:pic>
      <p:pic>
        <p:nvPicPr>
          <p:cNvPr id="7" name="图片 6" descr="泸203H10-1井加砂压裂第1段曲线"/>
          <p:cNvPicPr>
            <a:picLocks noChangeAspect="1"/>
          </p:cNvPicPr>
          <p:nvPr/>
        </p:nvPicPr>
        <p:blipFill>
          <a:blip r:embed="rId4"/>
          <a:stretch>
            <a:fillRect/>
          </a:stretch>
        </p:blipFill>
        <p:spPr>
          <a:xfrm>
            <a:off x="4270375" y="4033520"/>
            <a:ext cx="4359275" cy="1931670"/>
          </a:xfrm>
          <a:prstGeom prst="rect">
            <a:avLst/>
          </a:prstGeom>
        </p:spPr>
      </p:pic>
      <p:pic>
        <p:nvPicPr>
          <p:cNvPr id="8" name="图片 7"/>
          <p:cNvPicPr>
            <a:picLocks noChangeAspect="1"/>
          </p:cNvPicPr>
          <p:nvPr/>
        </p:nvPicPr>
        <p:blipFill>
          <a:blip r:embed="rId5"/>
          <a:stretch>
            <a:fillRect/>
          </a:stretch>
        </p:blipFill>
        <p:spPr>
          <a:xfrm>
            <a:off x="5540375" y="4732655"/>
            <a:ext cx="309880" cy="285750"/>
          </a:xfrm>
          <a:prstGeom prst="rect">
            <a:avLst/>
          </a:prstGeom>
        </p:spPr>
      </p:pic>
      <p:sp>
        <p:nvSpPr>
          <p:cNvPr id="9" name="矩形 22"/>
          <p:cNvSpPr>
            <a:spLocks noChangeArrowheads="1"/>
          </p:cNvSpPr>
          <p:nvPr/>
        </p:nvSpPr>
        <p:spPr bwMode="auto">
          <a:xfrm>
            <a:off x="4271010" y="6038215"/>
            <a:ext cx="4358640"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latin typeface="微软雅黑" panose="020B0503020204020204" pitchFamily="34" charset="-122"/>
                <a:ea typeface="微软雅黑" panose="020B0503020204020204" pitchFamily="34" charset="-122"/>
              </a:rPr>
              <a:t>模型应用</a:t>
            </a:r>
            <a:endParaRPr lang="zh-CN" altLang="en-US" sz="1200" dirty="0">
              <a:latin typeface="微软雅黑" panose="020B0503020204020204" pitchFamily="34" charset="-122"/>
              <a:ea typeface="微软雅黑" panose="020B0503020204020204" pitchFamily="34" charset="-122"/>
            </a:endParaRPr>
          </a:p>
        </p:txBody>
      </p:sp>
      <p:sp>
        <p:nvSpPr>
          <p:cNvPr id="10" name="矩形 22"/>
          <p:cNvSpPr>
            <a:spLocks noChangeArrowheads="1"/>
          </p:cNvSpPr>
          <p:nvPr/>
        </p:nvSpPr>
        <p:spPr bwMode="auto">
          <a:xfrm>
            <a:off x="8736965" y="6035675"/>
            <a:ext cx="3082925" cy="275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dirty="0">
                <a:latin typeface="微软雅黑" panose="020B0503020204020204" pitchFamily="34" charset="-122"/>
                <a:ea typeface="微软雅黑" panose="020B0503020204020204" pitchFamily="34" charset="-122"/>
              </a:rPr>
              <a:t>模型迭代优化</a:t>
            </a:r>
            <a:endParaRPr lang="zh-CN" altLang="en-US" sz="1200" dirty="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repeatCount="indefinite" fill="hold" nodeType="afterEffect">
                                  <p:stCondLst>
                                    <p:cond delay="0"/>
                                  </p:stCondLst>
                                  <p:endCondLst>
                                    <p:cond evt="onNext" delay="0">
                                      <p:tgtEl>
                                        <p:sldTgt/>
                                      </p:tgtEl>
                                    </p:cond>
                                  </p:endCondLst>
                                  <p:childTnLst>
                                    <p:animMotion origin="layout" path="M -0.0138542 0 L 0.16724 0 " pathEditMode="relative" rAng="0" ptsTypes="">
                                      <p:cBhvr>
                                        <p:cTn id="6" dur="2000" fill="hold"/>
                                        <p:tgtEl>
                                          <p:spTgt spid="8"/>
                                        </p:tgtEl>
                                        <p:attrNameLst>
                                          <p:attrName>ppt_x</p:attrName>
                                          <p:attrName>ppt_y</p:attrName>
                                        </p:attrNameLst>
                                      </p:cBhvr>
                                      <p:rCtr x="121"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1"/>
          <p:cNvSpPr>
            <a:spLocks noChangeArrowheads="1"/>
          </p:cNvSpPr>
          <p:nvPr/>
        </p:nvSpPr>
        <p:spPr bwMode="auto">
          <a:xfrm>
            <a:off x="0" y="-226426"/>
            <a:ext cx="12191999" cy="928636"/>
          </a:xfrm>
          <a:prstGeom prst="rect">
            <a:avLst/>
          </a:prstGeom>
        </p:spPr>
        <p:txBody>
          <a:bodyPr wrap="square" lIns="91424" tIns="45712" rIns="91424" bIns="45712" anchor="ctr">
            <a:spAutoFit/>
          </a:bodyPr>
          <a:lstStyle/>
          <a:p>
            <a:pPr lvl="0" algn="ctr">
              <a:lnSpc>
                <a:spcPct val="200000"/>
              </a:lnSpc>
              <a:defRPr/>
            </a:pPr>
            <a:r>
              <a:rPr lang="zh-CN" altLang="en-US" sz="3200" b="1" kern="0" dirty="0">
                <a:solidFill>
                  <a:srgbClr val="FF0000"/>
                </a:solidFill>
                <a:latin typeface="微软雅黑" panose="020B0503020204020204" pitchFamily="34" charset="-122"/>
                <a:ea typeface="微软雅黑" panose="020B0503020204020204" pitchFamily="34" charset="-122"/>
              </a:rPr>
              <a:t>目   录</a:t>
            </a:r>
            <a:endParaRPr kumimoji="0" lang="zh-CN" altLang="en-US" sz="32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
        <p:nvSpPr>
          <p:cNvPr id="4" name="Text Box 6"/>
          <p:cNvSpPr txBox="1">
            <a:spLocks noChangeArrowheads="1"/>
          </p:cNvSpPr>
          <p:nvPr/>
        </p:nvSpPr>
        <p:spPr bwMode="auto">
          <a:xfrm>
            <a:off x="355600" y="1350645"/>
            <a:ext cx="11531600" cy="4608195"/>
          </a:xfrm>
          <a:prstGeom prst="rect">
            <a:avLst/>
          </a:prstGeom>
          <a:noFill/>
          <a:ln>
            <a:noFill/>
          </a:ln>
          <a:effectLst>
            <a:prstShdw prst="shdw17" dist="17961" dir="13500000">
              <a:srgbClr val="708688"/>
            </a:prstShdw>
          </a:effectLst>
        </p:spPr>
        <p:txBody>
          <a:bodyPr wrap="square" tIns="190800" bIns="190800" anchor="ctr" anchorCtr="1">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lnSpc>
                <a:spcPct val="150000"/>
              </a:lnSpc>
              <a:spcBef>
                <a:spcPct val="0"/>
              </a:spcBef>
              <a:spcAft>
                <a:spcPct val="0"/>
              </a:spcAft>
              <a:buClr>
                <a:srgbClr val="FF0000"/>
              </a:buClr>
            </a:pPr>
            <a:r>
              <a:rPr lang="zh-CN" altLang="en-US" sz="3200" dirty="0">
                <a:solidFill>
                  <a:srgbClr val="000000"/>
                </a:solidFill>
                <a:latin typeface="方正大黑简体" panose="03000509000000000000" pitchFamily="65" charset="-122"/>
                <a:ea typeface="方正大黑简体" panose="03000509000000000000" pitchFamily="65" charset="-122"/>
                <a:sym typeface="+mn-ea"/>
              </a:rPr>
              <a:t>一、项目概要</a:t>
            </a:r>
            <a:endParaRPr lang="zh-CN" altLang="en-US" sz="3200" dirty="0">
              <a:solidFill>
                <a:srgbClr val="000000"/>
              </a:solidFill>
              <a:latin typeface="方正大黑简体" panose="03000509000000000000" pitchFamily="65" charset="-122"/>
              <a:ea typeface="方正大黑简体" panose="03000509000000000000"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3000509000000000000" pitchFamily="65" charset="-122"/>
                <a:ea typeface="方正大黑简体" panose="03000509000000000000" pitchFamily="65" charset="-122"/>
                <a:sym typeface="+mn-ea"/>
              </a:rPr>
              <a:t>二、立项的必要性</a:t>
            </a:r>
            <a:endParaRPr lang="zh-CN" altLang="en-US" sz="3200" dirty="0">
              <a:solidFill>
                <a:srgbClr val="000000"/>
              </a:solidFill>
              <a:latin typeface="方正大黑简体" panose="03000509000000000000" pitchFamily="65" charset="-122"/>
              <a:ea typeface="方正大黑简体" panose="03000509000000000000"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3000509000000000000" pitchFamily="65" charset="-122"/>
                <a:ea typeface="方正大黑简体" panose="03000509000000000000" pitchFamily="65" charset="-122"/>
                <a:sym typeface="+mn-ea"/>
              </a:rPr>
              <a:t>三、主要研究内容与目标</a:t>
            </a:r>
            <a:endParaRPr lang="zh-CN" altLang="en-US" sz="3200" dirty="0">
              <a:solidFill>
                <a:srgbClr val="000000"/>
              </a:solidFill>
              <a:latin typeface="方正大黑简体" panose="03000509000000000000" pitchFamily="65" charset="-122"/>
              <a:ea typeface="方正大黑简体" panose="03000509000000000000" pitchFamily="65" charset="-122"/>
            </a:endParaRPr>
          </a:p>
          <a:p>
            <a:pPr fontAlgn="base">
              <a:lnSpc>
                <a:spcPct val="150000"/>
              </a:lnSpc>
              <a:spcBef>
                <a:spcPct val="0"/>
              </a:spcBef>
              <a:spcAft>
                <a:spcPct val="0"/>
              </a:spcAft>
              <a:buClr>
                <a:srgbClr val="FF0000"/>
              </a:buClr>
            </a:pPr>
            <a:r>
              <a:rPr lang="zh-CN" altLang="en-US" sz="3200" dirty="0">
                <a:solidFill>
                  <a:srgbClr val="FF0000"/>
                </a:solidFill>
                <a:latin typeface="方正大黑简体" panose="03000509000000000000" pitchFamily="65" charset="-122"/>
                <a:ea typeface="方正大黑简体" panose="03000509000000000000" pitchFamily="65" charset="-122"/>
                <a:sym typeface="+mn-ea"/>
              </a:rPr>
              <a:t>四、主要技术经济考核指标</a:t>
            </a:r>
            <a:endParaRPr lang="zh-CN" altLang="en-US" sz="3200" dirty="0">
              <a:solidFill>
                <a:srgbClr val="000000"/>
              </a:solidFill>
              <a:latin typeface="方正大黑简体" panose="03000509000000000000" pitchFamily="65" charset="-122"/>
              <a:ea typeface="方正大黑简体" panose="03000509000000000000"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3000509000000000000" pitchFamily="65" charset="-122"/>
                <a:ea typeface="方正大黑简体" panose="03000509000000000000" pitchFamily="65" charset="-122"/>
                <a:sym typeface="+mn-ea"/>
              </a:rPr>
              <a:t>五、项目研究技术路线</a:t>
            </a:r>
            <a:endParaRPr lang="zh-CN" altLang="en-US" sz="3200" dirty="0">
              <a:solidFill>
                <a:srgbClr val="000000"/>
              </a:solidFill>
              <a:latin typeface="方正大黑简体" panose="03000509000000000000" pitchFamily="65" charset="-122"/>
              <a:ea typeface="方正大黑简体" panose="03000509000000000000"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3000509000000000000" pitchFamily="65" charset="-122"/>
                <a:ea typeface="方正大黑简体" panose="03000509000000000000" pitchFamily="65" charset="-122"/>
                <a:sym typeface="+mn-ea"/>
              </a:rPr>
              <a:t>六、项目组织</a:t>
            </a:r>
            <a:endParaRPr lang="zh-CN" altLang="en-US" sz="3200" dirty="0">
              <a:solidFill>
                <a:srgbClr val="000000"/>
              </a:solidFill>
              <a:latin typeface="方正大黑简体" panose="03000509000000000000" pitchFamily="65" charset="-122"/>
              <a:ea typeface="方正大黑简体" panose="03000509000000000000" pitchFamily="65" charset="-122"/>
            </a:endParaRP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7"/>
          <p:cNvSpPr txBox="1"/>
          <p:nvPr/>
        </p:nvSpPr>
        <p:spPr bwMode="auto">
          <a:xfrm>
            <a:off x="320061" y="888766"/>
            <a:ext cx="11551878" cy="368300"/>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zh-CN" dirty="0">
                <a:latin typeface="微软雅黑" panose="020B0503020204020204" pitchFamily="34" charset="-122"/>
                <a:ea typeface="微软雅黑" panose="020B0503020204020204" pitchFamily="34" charset="-122"/>
              </a:rPr>
              <a:t>技术考核指标与知识产权考核指标</a:t>
            </a:r>
            <a:endParaRPr lang="zh-CN" dirty="0">
              <a:latin typeface="微软雅黑" panose="020B0503020204020204" pitchFamily="34" charset="-122"/>
              <a:ea typeface="微软雅黑" panose="020B0503020204020204" pitchFamily="34" charset="-122"/>
            </a:endParaRPr>
          </a:p>
        </p:txBody>
      </p:sp>
      <p:sp>
        <p:nvSpPr>
          <p:cNvPr id="37" name="Rectangle 11"/>
          <p:cNvSpPr>
            <a:spLocks noChangeArrowheads="1"/>
          </p:cNvSpPr>
          <p:nvPr/>
        </p:nvSpPr>
        <p:spPr bwMode="auto">
          <a:xfrm>
            <a:off x="8890" y="-41275"/>
            <a:ext cx="1218120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rPr>
              <a:t>主要技术经济考核指标</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334329" y="1319605"/>
            <a:ext cx="11485562" cy="2676525"/>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一、技术考核指标：</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799465" lvl="1" indent="-342900" algn="just">
              <a:lnSpc>
                <a:spcPct val="150000"/>
              </a:lnSpc>
              <a:buClr>
                <a:srgbClr val="FF0000"/>
              </a:buClr>
              <a:buFont typeface="Wingdings" panose="05000000000000000000" pitchFamily="2" charset="2"/>
              <a:buChar char="l"/>
            </a:pP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、建立</a:t>
            </a:r>
            <a:r>
              <a:rPr lang="en-US" altLang="zh-CN"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套压裂效果综合评估指标体系及方法</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799465" lvl="1" indent="-342900" algn="just">
              <a:lnSpc>
                <a:spcPct val="150000"/>
              </a:lnSpc>
              <a:buClr>
                <a:srgbClr val="FF0000"/>
              </a:buClr>
              <a:buFont typeface="Wingdings" panose="05000000000000000000" pitchFamily="2" charset="2"/>
              <a:buChar char="l"/>
            </a:pP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、压裂效果综合评估方法现场应用不少于</a:t>
            </a:r>
            <a:r>
              <a:rPr lang="en-US" altLang="zh-CN"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20</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井次</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799465" lvl="1" indent="-342900" algn="just">
              <a:lnSpc>
                <a:spcPct val="150000"/>
              </a:lnSpc>
              <a:buClr>
                <a:srgbClr val="FF0000"/>
              </a:buClr>
              <a:buFont typeface="Wingdings" panose="05000000000000000000" pitchFamily="2" charset="2"/>
              <a:buChar char="l"/>
            </a:pP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二、知识产权考核指标：</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799465" lvl="1" indent="-342900" algn="just">
              <a:lnSpc>
                <a:spcPct val="150000"/>
              </a:lnSpc>
              <a:buClr>
                <a:srgbClr val="FF0000"/>
              </a:buClr>
              <a:buFont typeface="Wingdings" panose="05000000000000000000" pitchFamily="2" charset="2"/>
              <a:buChar char="l"/>
            </a:pP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、提交发明专利文本</a:t>
            </a:r>
            <a:r>
              <a:rPr lang="en-US" altLang="zh-CN"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件</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799465" lvl="1" indent="-342900" algn="just">
              <a:lnSpc>
                <a:spcPct val="150000"/>
              </a:lnSpc>
              <a:buClr>
                <a:srgbClr val="FF0000"/>
              </a:buClr>
              <a:buFont typeface="Wingdings" panose="05000000000000000000" pitchFamily="2" charset="2"/>
              <a:buChar char="l"/>
            </a:pP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、提交论文</a:t>
            </a:r>
            <a:r>
              <a:rPr lang="en-US" altLang="zh-CN"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篇</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1"/>
          <p:cNvSpPr>
            <a:spLocks noChangeArrowheads="1"/>
          </p:cNvSpPr>
          <p:nvPr/>
        </p:nvSpPr>
        <p:spPr bwMode="auto">
          <a:xfrm>
            <a:off x="0" y="-226426"/>
            <a:ext cx="12191999" cy="928636"/>
          </a:xfrm>
          <a:prstGeom prst="rect">
            <a:avLst/>
          </a:prstGeom>
        </p:spPr>
        <p:txBody>
          <a:bodyPr wrap="square" lIns="91424" tIns="45712" rIns="91424" bIns="45712" anchor="ctr">
            <a:spAutoFit/>
          </a:bodyPr>
          <a:lstStyle/>
          <a:p>
            <a:pPr lvl="0" algn="ctr">
              <a:lnSpc>
                <a:spcPct val="200000"/>
              </a:lnSpc>
              <a:defRPr/>
            </a:pPr>
            <a:r>
              <a:rPr lang="zh-CN" altLang="en-US" sz="3200" b="1" kern="0" dirty="0">
                <a:solidFill>
                  <a:srgbClr val="FF0000"/>
                </a:solidFill>
                <a:latin typeface="微软雅黑" panose="020B0503020204020204" pitchFamily="34" charset="-122"/>
                <a:ea typeface="微软雅黑" panose="020B0503020204020204" pitchFamily="34" charset="-122"/>
              </a:rPr>
              <a:t>目   录</a:t>
            </a:r>
            <a:endParaRPr kumimoji="0" lang="zh-CN" altLang="en-US" sz="32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
        <p:nvSpPr>
          <p:cNvPr id="4" name="Text Box 6"/>
          <p:cNvSpPr txBox="1">
            <a:spLocks noChangeArrowheads="1"/>
          </p:cNvSpPr>
          <p:nvPr/>
        </p:nvSpPr>
        <p:spPr bwMode="auto">
          <a:xfrm>
            <a:off x="355600" y="1350645"/>
            <a:ext cx="11531600" cy="4608195"/>
          </a:xfrm>
          <a:prstGeom prst="rect">
            <a:avLst/>
          </a:prstGeom>
          <a:noFill/>
          <a:ln>
            <a:noFill/>
          </a:ln>
          <a:effectLst>
            <a:prstShdw prst="shdw17" dist="17961" dir="13500000">
              <a:srgbClr val="708688"/>
            </a:prstShdw>
          </a:effectLst>
        </p:spPr>
        <p:txBody>
          <a:bodyPr wrap="square" tIns="190800" bIns="190800" anchor="ctr" anchorCtr="1">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lnSpc>
                <a:spcPct val="150000"/>
              </a:lnSpc>
              <a:spcBef>
                <a:spcPct val="0"/>
              </a:spcBef>
              <a:spcAft>
                <a:spcPct val="0"/>
              </a:spcAft>
              <a:buClr>
                <a:srgbClr val="FF0000"/>
              </a:buClr>
            </a:pPr>
            <a:r>
              <a:rPr lang="zh-CN" altLang="en-US" sz="3200" dirty="0">
                <a:solidFill>
                  <a:srgbClr val="000000"/>
                </a:solidFill>
                <a:latin typeface="方正大黑简体" panose="03000509000000000000" pitchFamily="65" charset="-122"/>
                <a:ea typeface="方正大黑简体" panose="03000509000000000000" pitchFamily="65" charset="-122"/>
                <a:sym typeface="+mn-ea"/>
              </a:rPr>
              <a:t>一、项目概要</a:t>
            </a:r>
            <a:endParaRPr lang="zh-CN" altLang="en-US" sz="3200" dirty="0">
              <a:solidFill>
                <a:srgbClr val="000000"/>
              </a:solidFill>
              <a:latin typeface="方正大黑简体" panose="03000509000000000000" pitchFamily="65" charset="-122"/>
              <a:ea typeface="方正大黑简体" panose="03000509000000000000"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3000509000000000000" pitchFamily="65" charset="-122"/>
                <a:ea typeface="方正大黑简体" panose="03000509000000000000" pitchFamily="65" charset="-122"/>
                <a:sym typeface="+mn-ea"/>
              </a:rPr>
              <a:t>二、立项的必要性</a:t>
            </a:r>
            <a:endParaRPr lang="zh-CN" altLang="en-US" sz="3200" dirty="0">
              <a:solidFill>
                <a:srgbClr val="000000"/>
              </a:solidFill>
              <a:latin typeface="方正大黑简体" panose="03000509000000000000" pitchFamily="65" charset="-122"/>
              <a:ea typeface="方正大黑简体" panose="03000509000000000000"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3000509000000000000" pitchFamily="65" charset="-122"/>
                <a:ea typeface="方正大黑简体" panose="03000509000000000000" pitchFamily="65" charset="-122"/>
                <a:sym typeface="+mn-ea"/>
              </a:rPr>
              <a:t>三、主要研究内容与目标</a:t>
            </a:r>
            <a:endParaRPr lang="zh-CN" altLang="en-US" sz="3200" dirty="0">
              <a:solidFill>
                <a:srgbClr val="000000"/>
              </a:solidFill>
              <a:latin typeface="方正大黑简体" panose="03000509000000000000" pitchFamily="65" charset="-122"/>
              <a:ea typeface="方正大黑简体" panose="03000509000000000000"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3000509000000000000" pitchFamily="65" charset="-122"/>
                <a:ea typeface="方正大黑简体" panose="03000509000000000000" pitchFamily="65" charset="-122"/>
                <a:sym typeface="+mn-ea"/>
              </a:rPr>
              <a:t>四、主要技术经济考核指标</a:t>
            </a:r>
            <a:endParaRPr lang="zh-CN" altLang="en-US" sz="3200" dirty="0">
              <a:solidFill>
                <a:srgbClr val="000000"/>
              </a:solidFill>
              <a:latin typeface="方正大黑简体" panose="03000509000000000000" pitchFamily="65" charset="-122"/>
              <a:ea typeface="方正大黑简体" panose="03000509000000000000" pitchFamily="65" charset="-122"/>
            </a:endParaRPr>
          </a:p>
          <a:p>
            <a:pPr fontAlgn="base">
              <a:lnSpc>
                <a:spcPct val="150000"/>
              </a:lnSpc>
              <a:spcBef>
                <a:spcPct val="0"/>
              </a:spcBef>
              <a:spcAft>
                <a:spcPct val="0"/>
              </a:spcAft>
              <a:buClr>
                <a:srgbClr val="FF0000"/>
              </a:buClr>
            </a:pPr>
            <a:r>
              <a:rPr lang="zh-CN" altLang="en-US" sz="3200" dirty="0">
                <a:solidFill>
                  <a:srgbClr val="FF0000"/>
                </a:solidFill>
                <a:latin typeface="方正大黑简体" panose="03000509000000000000" pitchFamily="65" charset="-122"/>
                <a:ea typeface="方正大黑简体" panose="03000509000000000000" pitchFamily="65" charset="-122"/>
                <a:sym typeface="+mn-ea"/>
              </a:rPr>
              <a:t>五、项目研究技术路线</a:t>
            </a:r>
            <a:endParaRPr lang="zh-CN" altLang="en-US" sz="3200" dirty="0">
              <a:solidFill>
                <a:srgbClr val="FF0000"/>
              </a:solidFill>
              <a:latin typeface="方正大黑简体" panose="03000509000000000000" pitchFamily="65" charset="-122"/>
              <a:ea typeface="方正大黑简体" panose="03000509000000000000"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3000509000000000000" pitchFamily="65" charset="-122"/>
                <a:ea typeface="方正大黑简体" panose="03000509000000000000" pitchFamily="65" charset="-122"/>
                <a:sym typeface="+mn-ea"/>
              </a:rPr>
              <a:t>六、项目组织</a:t>
            </a:r>
            <a:endParaRPr lang="zh-CN" altLang="en-US" sz="3200" dirty="0">
              <a:solidFill>
                <a:srgbClr val="000000"/>
              </a:solidFill>
              <a:latin typeface="方正大黑简体" panose="03000509000000000000" pitchFamily="65" charset="-122"/>
              <a:ea typeface="方正大黑简体" panose="03000509000000000000" pitchFamily="65" charset="-122"/>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7"/>
          <p:cNvSpPr txBox="1"/>
          <p:nvPr/>
        </p:nvSpPr>
        <p:spPr bwMode="auto">
          <a:xfrm>
            <a:off x="320061" y="888766"/>
            <a:ext cx="11551878" cy="368300"/>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、项目研究技术路线</a:t>
            </a:r>
            <a:endParaRPr lang="zh-CN" altLang="en-US" dirty="0">
              <a:latin typeface="微软雅黑" panose="020B0503020204020204" pitchFamily="34" charset="-122"/>
              <a:ea typeface="微软雅黑" panose="020B0503020204020204" pitchFamily="34" charset="-122"/>
            </a:endParaRPr>
          </a:p>
        </p:txBody>
      </p:sp>
      <p:sp>
        <p:nvSpPr>
          <p:cNvPr id="37" name="Rectangle 11"/>
          <p:cNvSpPr>
            <a:spLocks noChangeArrowheads="1"/>
          </p:cNvSpPr>
          <p:nvPr/>
        </p:nvSpPr>
        <p:spPr bwMode="auto">
          <a:xfrm>
            <a:off x="8890" y="-41275"/>
            <a:ext cx="1218120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rPr>
              <a:t>（一）项目研究技术路线</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334329" y="1319605"/>
            <a:ext cx="11485562" cy="829945"/>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分为</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页岩气井压后效果特征对比及主控因素分析、页岩气井压裂效果量化评价指标筛选与权重分析、页岩气井压裂效果动态评估模型建立与验证、压裂效果动态评估模型应用及优化</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四方面进行</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8" name="组合 7"/>
          <p:cNvGrpSpPr/>
          <p:nvPr/>
        </p:nvGrpSpPr>
        <p:grpSpPr>
          <a:xfrm>
            <a:off x="767408" y="2059072"/>
            <a:ext cx="10494645" cy="4535548"/>
            <a:chOff x="926620" y="2252717"/>
            <a:chExt cx="10494645" cy="4535548"/>
          </a:xfrm>
        </p:grpSpPr>
        <p:sp>
          <p:nvSpPr>
            <p:cNvPr id="16" name="文本框 1"/>
            <p:cNvSpPr txBox="1">
              <a:spLocks noChangeArrowheads="1"/>
            </p:cNvSpPr>
            <p:nvPr/>
          </p:nvSpPr>
          <p:spPr bwMode="auto">
            <a:xfrm>
              <a:off x="926620" y="2252717"/>
              <a:ext cx="253428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000" b="1" dirty="0">
                  <a:solidFill>
                    <a:srgbClr val="0000FF"/>
                  </a:solidFill>
                  <a:latin typeface="Times New Roman" panose="02020603050405020304" pitchFamily="18" charset="0"/>
                  <a:ea typeface="黑体" panose="02010609060101010101" charset="-122"/>
                  <a:cs typeface="Times New Roman" panose="02020603050405020304" pitchFamily="18" charset="0"/>
                </a:rPr>
                <a:t>数据收集与清洗</a:t>
              </a:r>
              <a:endParaRPr lang="zh-CN" altLang="en-US" sz="2000" b="1" dirty="0">
                <a:solidFill>
                  <a:srgbClr val="0000FF"/>
                </a:solidFill>
                <a:latin typeface="Times New Roman" panose="02020603050405020304" pitchFamily="18" charset="0"/>
                <a:ea typeface="黑体" panose="02010609060101010101" charset="-122"/>
                <a:cs typeface="Times New Roman" panose="02020603050405020304" pitchFamily="18" charset="0"/>
              </a:endParaRPr>
            </a:p>
          </p:txBody>
        </p:sp>
        <p:sp>
          <p:nvSpPr>
            <p:cNvPr id="19" name="文本框 1"/>
            <p:cNvSpPr txBox="1">
              <a:spLocks noChangeArrowheads="1"/>
            </p:cNvSpPr>
            <p:nvPr/>
          </p:nvSpPr>
          <p:spPr bwMode="auto">
            <a:xfrm>
              <a:off x="3460905" y="2252717"/>
              <a:ext cx="260477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000" b="1" dirty="0">
                  <a:solidFill>
                    <a:srgbClr val="0000FF"/>
                  </a:solidFill>
                  <a:latin typeface="Times New Roman" panose="02020603050405020304" pitchFamily="18" charset="0"/>
                  <a:ea typeface="黑体" panose="02010609060101010101" charset="-122"/>
                  <a:cs typeface="Times New Roman" panose="02020603050405020304" pitchFamily="18" charset="0"/>
                </a:rPr>
                <a:t>主控因素识别</a:t>
              </a:r>
              <a:endParaRPr lang="zh-CN" altLang="en-US" sz="2000" b="1" dirty="0">
                <a:solidFill>
                  <a:srgbClr val="0000FF"/>
                </a:solidFill>
                <a:latin typeface="Times New Roman" panose="02020603050405020304" pitchFamily="18" charset="0"/>
                <a:ea typeface="黑体" panose="02010609060101010101" charset="-122"/>
                <a:cs typeface="Times New Roman" panose="02020603050405020304" pitchFamily="18" charset="0"/>
              </a:endParaRPr>
            </a:p>
          </p:txBody>
        </p:sp>
        <p:sp>
          <p:nvSpPr>
            <p:cNvPr id="21" name="文本框 1"/>
            <p:cNvSpPr txBox="1">
              <a:spLocks noChangeArrowheads="1"/>
            </p:cNvSpPr>
            <p:nvPr/>
          </p:nvSpPr>
          <p:spPr bwMode="auto">
            <a:xfrm>
              <a:off x="6192040" y="2252717"/>
              <a:ext cx="251841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000" b="1" dirty="0">
                  <a:solidFill>
                    <a:srgbClr val="0000FF"/>
                  </a:solidFill>
                  <a:latin typeface="Times New Roman" panose="02020603050405020304" pitchFamily="18" charset="0"/>
                  <a:ea typeface="黑体" panose="02010609060101010101" charset="-122"/>
                  <a:cs typeface="Times New Roman" panose="02020603050405020304" pitchFamily="18" charset="0"/>
                </a:rPr>
                <a:t>指标筛选与权重分析</a:t>
              </a:r>
              <a:endParaRPr lang="zh-CN" altLang="en-US" sz="2000" b="1" dirty="0">
                <a:solidFill>
                  <a:srgbClr val="0000FF"/>
                </a:solidFill>
                <a:latin typeface="Times New Roman" panose="02020603050405020304" pitchFamily="18" charset="0"/>
                <a:ea typeface="黑体" panose="02010609060101010101" charset="-122"/>
                <a:cs typeface="Times New Roman" panose="02020603050405020304" pitchFamily="18" charset="0"/>
              </a:endParaRPr>
            </a:p>
          </p:txBody>
        </p:sp>
        <p:sp>
          <p:nvSpPr>
            <p:cNvPr id="25" name="文本框 1"/>
            <p:cNvSpPr txBox="1">
              <a:spLocks noChangeArrowheads="1"/>
            </p:cNvSpPr>
            <p:nvPr/>
          </p:nvSpPr>
          <p:spPr bwMode="auto">
            <a:xfrm>
              <a:off x="8832370" y="2259702"/>
              <a:ext cx="258889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000" b="1" dirty="0">
                  <a:solidFill>
                    <a:srgbClr val="0000FF"/>
                  </a:solidFill>
                  <a:latin typeface="Times New Roman" panose="02020603050405020304" pitchFamily="18" charset="0"/>
                  <a:ea typeface="黑体" panose="02010609060101010101" charset="-122"/>
                  <a:cs typeface="Times New Roman" panose="02020603050405020304" pitchFamily="18" charset="0"/>
                </a:rPr>
                <a:t>模型构建与应用</a:t>
              </a:r>
              <a:endParaRPr lang="zh-CN" altLang="en-US" sz="2000" b="1" dirty="0">
                <a:solidFill>
                  <a:srgbClr val="0000FF"/>
                </a:solidFill>
                <a:latin typeface="Times New Roman" panose="02020603050405020304" pitchFamily="18" charset="0"/>
                <a:ea typeface="黑体" panose="02010609060101010101" charset="-122"/>
                <a:cs typeface="Times New Roman" panose="02020603050405020304" pitchFamily="18" charset="0"/>
              </a:endParaRPr>
            </a:p>
          </p:txBody>
        </p:sp>
        <p:grpSp>
          <p:nvGrpSpPr>
            <p:cNvPr id="36" name="组合 35"/>
            <p:cNvGrpSpPr/>
            <p:nvPr/>
          </p:nvGrpSpPr>
          <p:grpSpPr>
            <a:xfrm>
              <a:off x="1199456" y="2663261"/>
              <a:ext cx="9793087" cy="4125004"/>
              <a:chOff x="1536700" y="2782020"/>
              <a:chExt cx="9111312" cy="4254455"/>
            </a:xfrm>
          </p:grpSpPr>
          <p:sp>
            <p:nvSpPr>
              <p:cNvPr id="38" name="矩形 37"/>
              <p:cNvSpPr/>
              <p:nvPr/>
            </p:nvSpPr>
            <p:spPr>
              <a:xfrm>
                <a:off x="1543988" y="2782020"/>
                <a:ext cx="1728192" cy="900000"/>
              </a:xfrm>
              <a:prstGeom prst="rect">
                <a:avLst/>
              </a:prstGeom>
              <a:solidFill>
                <a:srgbClr val="F4B183"/>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20000"/>
                  </a:spcBef>
                  <a:buClr>
                    <a:srgbClr val="FF0000"/>
                  </a:buClr>
                  <a:buSzPct val="100000"/>
                </a:pPr>
                <a:r>
                  <a:rPr lang="zh-CN" altLang="en-US" b="1" dirty="0">
                    <a:latin typeface="Times New Roman" panose="02020603050405020304" pitchFamily="18" charset="0"/>
                    <a:ea typeface="黑体" panose="02010609060101010101" charset="-122"/>
                    <a:cs typeface="Times New Roman" panose="02020603050405020304" pitchFamily="18" charset="0"/>
                  </a:rPr>
                  <a:t>收集页岩气井地质工程及压裂施工数据</a:t>
                </a:r>
                <a:endParaRPr lang="zh-CN" altLang="en-US" b="1" dirty="0">
                  <a:latin typeface="Times New Roman" panose="02020603050405020304" pitchFamily="18" charset="0"/>
                  <a:ea typeface="黑体" panose="02010609060101010101" charset="-122"/>
                  <a:cs typeface="Times New Roman" panose="02020603050405020304" pitchFamily="18" charset="0"/>
                </a:endParaRPr>
              </a:p>
            </p:txBody>
          </p:sp>
          <p:sp>
            <p:nvSpPr>
              <p:cNvPr id="39" name="矩形 38"/>
              <p:cNvSpPr/>
              <p:nvPr/>
            </p:nvSpPr>
            <p:spPr>
              <a:xfrm>
                <a:off x="1536700" y="3955577"/>
                <a:ext cx="1728192" cy="900000"/>
              </a:xfrm>
              <a:prstGeom prst="rect">
                <a:avLst/>
              </a:prstGeom>
              <a:solidFill>
                <a:srgbClr val="A8D08D"/>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20000"/>
                  </a:spcBef>
                  <a:buClr>
                    <a:srgbClr val="FF0000"/>
                  </a:buClr>
                  <a:buSzPct val="100000"/>
                </a:pPr>
                <a:r>
                  <a:rPr lang="zh-CN" altLang="en-US" b="1" dirty="0">
                    <a:latin typeface="Times New Roman" panose="02020603050405020304" pitchFamily="18" charset="0"/>
                    <a:ea typeface="黑体" panose="02010609060101010101" charset="-122"/>
                    <a:cs typeface="Times New Roman" panose="02020603050405020304" pitchFamily="18" charset="0"/>
                  </a:rPr>
                  <a:t>建立数据清洗与预处理流程</a:t>
                </a:r>
                <a:endParaRPr lang="zh-CN" altLang="en-US" b="1" dirty="0">
                  <a:latin typeface="Times New Roman" panose="02020603050405020304" pitchFamily="18" charset="0"/>
                  <a:ea typeface="黑体" panose="02010609060101010101" charset="-122"/>
                  <a:cs typeface="Times New Roman" panose="02020603050405020304" pitchFamily="18" charset="0"/>
                </a:endParaRPr>
              </a:p>
            </p:txBody>
          </p:sp>
          <p:sp>
            <p:nvSpPr>
              <p:cNvPr id="40" name="矩形 39"/>
              <p:cNvSpPr/>
              <p:nvPr/>
            </p:nvSpPr>
            <p:spPr>
              <a:xfrm>
                <a:off x="1536700" y="5114487"/>
                <a:ext cx="1728192" cy="900000"/>
              </a:xfrm>
              <a:prstGeom prst="rect">
                <a:avLst/>
              </a:prstGeom>
              <a:solidFill>
                <a:srgbClr val="FFD965"/>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20000"/>
                  </a:spcBef>
                  <a:buClr>
                    <a:srgbClr val="FF0000"/>
                  </a:buClr>
                  <a:buSzPct val="100000"/>
                </a:pPr>
                <a:r>
                  <a:rPr lang="zh-CN" altLang="en-US" b="1" dirty="0">
                    <a:latin typeface="Times New Roman" panose="02020603050405020304" pitchFamily="18" charset="0"/>
                    <a:ea typeface="黑体" panose="02010609060101010101" charset="-122"/>
                    <a:cs typeface="Times New Roman" panose="02020603050405020304" pitchFamily="18" charset="0"/>
                  </a:rPr>
                  <a:t>形成高质量压裂效果评估数据库</a:t>
                </a:r>
                <a:endParaRPr lang="zh-CN" altLang="en-US" b="1" dirty="0">
                  <a:latin typeface="Times New Roman" panose="02020603050405020304" pitchFamily="18" charset="0"/>
                  <a:ea typeface="黑体" panose="02010609060101010101" charset="-122"/>
                  <a:cs typeface="Times New Roman" panose="02020603050405020304" pitchFamily="18" charset="0"/>
                </a:endParaRPr>
              </a:p>
            </p:txBody>
          </p:sp>
          <p:sp>
            <p:nvSpPr>
              <p:cNvPr id="41" name="矩形 40"/>
              <p:cNvSpPr/>
              <p:nvPr/>
            </p:nvSpPr>
            <p:spPr>
              <a:xfrm>
                <a:off x="3054100" y="6604475"/>
                <a:ext cx="6083800" cy="432000"/>
              </a:xfrm>
              <a:prstGeom prst="rect">
                <a:avLst/>
              </a:prstGeom>
              <a:solidFill>
                <a:srgbClr val="7EFFFF"/>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20000"/>
                  </a:spcBef>
                  <a:buClr>
                    <a:srgbClr val="FF0000"/>
                  </a:buClr>
                  <a:buSzPct val="100000"/>
                </a:pPr>
                <a:r>
                  <a:rPr lang="zh-CN" altLang="en-US" b="1" dirty="0">
                    <a:latin typeface="Times New Roman" panose="02020603050405020304" pitchFamily="18" charset="0"/>
                    <a:ea typeface="黑体" panose="02010609060101010101" charset="-122"/>
                    <a:cs typeface="Times New Roman" panose="02020603050405020304" pitchFamily="18" charset="0"/>
                  </a:rPr>
                  <a:t>建立一套压裂效果综合评估指标体系及方法</a:t>
                </a:r>
                <a:endParaRPr lang="zh-CN" altLang="en-US" b="1" dirty="0">
                  <a:latin typeface="Times New Roman" panose="02020603050405020304" pitchFamily="18" charset="0"/>
                  <a:ea typeface="黑体" panose="02010609060101010101" charset="-122"/>
                  <a:cs typeface="Times New Roman" panose="02020603050405020304" pitchFamily="18" charset="0"/>
                </a:endParaRPr>
              </a:p>
            </p:txBody>
          </p:sp>
          <p:sp>
            <p:nvSpPr>
              <p:cNvPr id="42" name="矩形 41"/>
              <p:cNvSpPr/>
              <p:nvPr/>
            </p:nvSpPr>
            <p:spPr>
              <a:xfrm>
                <a:off x="3968046" y="2813056"/>
                <a:ext cx="1728192" cy="900000"/>
              </a:xfrm>
              <a:prstGeom prst="rect">
                <a:avLst/>
              </a:prstGeom>
              <a:solidFill>
                <a:srgbClr val="F4B183"/>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20000"/>
                  </a:spcBef>
                  <a:buClr>
                    <a:srgbClr val="FF0000"/>
                  </a:buClr>
                  <a:buSzPct val="100000"/>
                </a:pPr>
                <a:r>
                  <a:rPr lang="zh-CN" altLang="en-US" b="1" dirty="0">
                    <a:latin typeface="Times New Roman" panose="02020603050405020304" pitchFamily="18" charset="0"/>
                    <a:ea typeface="黑体" panose="02010609060101010101" charset="-122"/>
                    <a:cs typeface="Times New Roman" panose="02020603050405020304" pitchFamily="18" charset="0"/>
                  </a:rPr>
                  <a:t>建立灰色关联分析模型</a:t>
                </a:r>
                <a:endParaRPr lang="zh-CN" altLang="en-US" b="1" dirty="0">
                  <a:latin typeface="Times New Roman" panose="02020603050405020304" pitchFamily="18" charset="0"/>
                  <a:ea typeface="黑体" panose="02010609060101010101" charset="-122"/>
                  <a:cs typeface="Times New Roman" panose="02020603050405020304" pitchFamily="18" charset="0"/>
                </a:endParaRPr>
              </a:p>
            </p:txBody>
          </p:sp>
          <p:sp>
            <p:nvSpPr>
              <p:cNvPr id="43" name="矩形 42"/>
              <p:cNvSpPr/>
              <p:nvPr/>
            </p:nvSpPr>
            <p:spPr>
              <a:xfrm>
                <a:off x="6482548" y="2799130"/>
                <a:ext cx="1728192" cy="900000"/>
              </a:xfrm>
              <a:prstGeom prst="rect">
                <a:avLst/>
              </a:prstGeom>
              <a:solidFill>
                <a:srgbClr val="F4B183"/>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20000"/>
                  </a:spcBef>
                  <a:buClr>
                    <a:srgbClr val="FF0000"/>
                  </a:buClr>
                  <a:buSzPct val="100000"/>
                </a:pPr>
                <a:r>
                  <a:rPr lang="zh-CN" altLang="en-US" b="1" dirty="0">
                    <a:latin typeface="Times New Roman" panose="02020603050405020304" pitchFamily="18" charset="0"/>
                    <a:ea typeface="黑体" panose="02010609060101010101" charset="-122"/>
                    <a:cs typeface="Times New Roman" panose="02020603050405020304" pitchFamily="18" charset="0"/>
                  </a:rPr>
                  <a:t>建立压前可压性评估模型</a:t>
                </a:r>
                <a:endParaRPr lang="zh-CN" altLang="en-US" b="1" dirty="0">
                  <a:latin typeface="Times New Roman" panose="02020603050405020304" pitchFamily="18" charset="0"/>
                  <a:ea typeface="黑体" panose="02010609060101010101" charset="-122"/>
                  <a:cs typeface="Times New Roman" panose="02020603050405020304" pitchFamily="18" charset="0"/>
                </a:endParaRPr>
              </a:p>
            </p:txBody>
          </p:sp>
          <p:sp>
            <p:nvSpPr>
              <p:cNvPr id="44" name="矩形 43"/>
              <p:cNvSpPr/>
              <p:nvPr/>
            </p:nvSpPr>
            <p:spPr>
              <a:xfrm>
                <a:off x="8919820" y="2801206"/>
                <a:ext cx="1728192" cy="900000"/>
              </a:xfrm>
              <a:prstGeom prst="rect">
                <a:avLst/>
              </a:prstGeom>
              <a:solidFill>
                <a:srgbClr val="F4B183"/>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20000"/>
                  </a:spcBef>
                  <a:buClr>
                    <a:srgbClr val="FF0000"/>
                  </a:buClr>
                  <a:buSzPct val="100000"/>
                </a:pPr>
                <a:r>
                  <a:rPr lang="zh-CN" altLang="en-US" b="1" dirty="0">
                    <a:latin typeface="Times New Roman" panose="02020603050405020304" pitchFamily="18" charset="0"/>
                    <a:ea typeface="黑体" panose="02010609060101010101" charset="-122"/>
                    <a:cs typeface="Times New Roman" panose="02020603050405020304" pitchFamily="18" charset="0"/>
                  </a:rPr>
                  <a:t>构建压裂效果动态评估模型</a:t>
                </a:r>
                <a:endParaRPr lang="zh-CN" altLang="en-US" b="1" dirty="0">
                  <a:latin typeface="Times New Roman" panose="02020603050405020304" pitchFamily="18" charset="0"/>
                  <a:ea typeface="黑体" panose="02010609060101010101" charset="-122"/>
                  <a:cs typeface="Times New Roman" panose="02020603050405020304" pitchFamily="18" charset="0"/>
                </a:endParaRPr>
              </a:p>
            </p:txBody>
          </p:sp>
          <p:sp>
            <p:nvSpPr>
              <p:cNvPr id="45" name="矩形 44"/>
              <p:cNvSpPr/>
              <p:nvPr/>
            </p:nvSpPr>
            <p:spPr>
              <a:xfrm>
                <a:off x="3968046" y="3955577"/>
                <a:ext cx="1728192" cy="900000"/>
              </a:xfrm>
              <a:prstGeom prst="rect">
                <a:avLst/>
              </a:prstGeom>
              <a:solidFill>
                <a:srgbClr val="A8D08D"/>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20000"/>
                  </a:spcBef>
                  <a:buClr>
                    <a:srgbClr val="FF0000"/>
                  </a:buClr>
                  <a:buSzPct val="100000"/>
                </a:pPr>
                <a:r>
                  <a:rPr lang="zh-CN" altLang="en-US" b="1" dirty="0">
                    <a:latin typeface="Times New Roman" panose="02020603050405020304" pitchFamily="18" charset="0"/>
                    <a:ea typeface="黑体" panose="02010609060101010101" charset="-122"/>
                    <a:cs typeface="Times New Roman" panose="02020603050405020304" pitchFamily="18" charset="0"/>
                  </a:rPr>
                  <a:t>计算各因素与压裂效果的关联度</a:t>
                </a:r>
                <a:endParaRPr lang="zh-CN" altLang="en-US" b="1" dirty="0">
                  <a:latin typeface="Times New Roman" panose="02020603050405020304" pitchFamily="18" charset="0"/>
                  <a:ea typeface="黑体" panose="02010609060101010101" charset="-122"/>
                  <a:cs typeface="Times New Roman" panose="02020603050405020304" pitchFamily="18" charset="0"/>
                </a:endParaRPr>
              </a:p>
            </p:txBody>
          </p:sp>
          <p:sp>
            <p:nvSpPr>
              <p:cNvPr id="46" name="矩形 45"/>
              <p:cNvSpPr/>
              <p:nvPr/>
            </p:nvSpPr>
            <p:spPr>
              <a:xfrm>
                <a:off x="6482548" y="3923992"/>
                <a:ext cx="1728192" cy="900000"/>
              </a:xfrm>
              <a:prstGeom prst="rect">
                <a:avLst/>
              </a:prstGeom>
              <a:solidFill>
                <a:srgbClr val="A8D08D"/>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20000"/>
                  </a:spcBef>
                  <a:buClr>
                    <a:srgbClr val="FF0000"/>
                  </a:buClr>
                  <a:buSzPct val="100000"/>
                </a:pPr>
                <a:r>
                  <a:rPr lang="zh-CN" altLang="en-US" b="1" dirty="0">
                    <a:latin typeface="Times New Roman" panose="02020603050405020304" pitchFamily="18" charset="0"/>
                    <a:ea typeface="黑体" panose="02010609060101010101" charset="-122"/>
                    <a:cs typeface="Times New Roman" panose="02020603050405020304" pitchFamily="18" charset="0"/>
                  </a:rPr>
                  <a:t>建立压后压裂曲线分析模型</a:t>
                </a:r>
                <a:endParaRPr lang="zh-CN" altLang="en-US" b="1" dirty="0">
                  <a:latin typeface="Times New Roman" panose="02020603050405020304" pitchFamily="18" charset="0"/>
                  <a:ea typeface="黑体" panose="02010609060101010101" charset="-122"/>
                  <a:cs typeface="Times New Roman" panose="02020603050405020304" pitchFamily="18" charset="0"/>
                </a:endParaRPr>
              </a:p>
            </p:txBody>
          </p:sp>
          <p:sp>
            <p:nvSpPr>
              <p:cNvPr id="47" name="矩形 46"/>
              <p:cNvSpPr/>
              <p:nvPr/>
            </p:nvSpPr>
            <p:spPr>
              <a:xfrm>
                <a:off x="8909138" y="3973158"/>
                <a:ext cx="1728192" cy="900000"/>
              </a:xfrm>
              <a:prstGeom prst="rect">
                <a:avLst/>
              </a:prstGeom>
              <a:solidFill>
                <a:srgbClr val="A8D08D"/>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20000"/>
                  </a:spcBef>
                  <a:buClr>
                    <a:srgbClr val="FF0000"/>
                  </a:buClr>
                  <a:buSzPct val="100000"/>
                </a:pPr>
                <a:r>
                  <a:rPr lang="zh-CN" altLang="en-US" b="1" dirty="0">
                    <a:latin typeface="Times New Roman" panose="02020603050405020304" pitchFamily="18" charset="0"/>
                    <a:ea typeface="黑体" panose="02010609060101010101" charset="-122"/>
                    <a:cs typeface="Times New Roman" panose="02020603050405020304" pitchFamily="18" charset="0"/>
                  </a:rPr>
                  <a:t>开展模型验证与评价</a:t>
                </a:r>
                <a:endParaRPr lang="zh-CN" altLang="en-US" b="1" dirty="0">
                  <a:latin typeface="Times New Roman" panose="02020603050405020304" pitchFamily="18" charset="0"/>
                  <a:ea typeface="黑体" panose="02010609060101010101" charset="-122"/>
                  <a:cs typeface="Times New Roman" panose="02020603050405020304" pitchFamily="18" charset="0"/>
                </a:endParaRPr>
              </a:p>
            </p:txBody>
          </p:sp>
          <p:sp>
            <p:nvSpPr>
              <p:cNvPr id="48" name="矩形 47"/>
              <p:cNvSpPr/>
              <p:nvPr/>
            </p:nvSpPr>
            <p:spPr>
              <a:xfrm>
                <a:off x="3968046" y="5138408"/>
                <a:ext cx="1728192" cy="900000"/>
              </a:xfrm>
              <a:prstGeom prst="rect">
                <a:avLst/>
              </a:prstGeom>
              <a:solidFill>
                <a:srgbClr val="FFD965"/>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20000"/>
                  </a:spcBef>
                  <a:buClr>
                    <a:srgbClr val="FF0000"/>
                  </a:buClr>
                  <a:buSzPct val="100000"/>
                </a:pPr>
                <a:r>
                  <a:rPr lang="zh-CN" altLang="en-US" b="1" dirty="0">
                    <a:latin typeface="Times New Roman" panose="02020603050405020304" pitchFamily="18" charset="0"/>
                    <a:ea typeface="黑体" panose="02010609060101010101" charset="-122"/>
                    <a:cs typeface="Times New Roman" panose="02020603050405020304" pitchFamily="18" charset="0"/>
                  </a:rPr>
                  <a:t>识别</a:t>
                </a:r>
                <a:r>
                  <a:rPr lang="en-US" altLang="zh-CN" b="1" dirty="0">
                    <a:latin typeface="Times New Roman" panose="02020603050405020304" pitchFamily="18" charset="0"/>
                    <a:ea typeface="黑体" panose="02010609060101010101" charset="-122"/>
                    <a:cs typeface="Times New Roman" panose="02020603050405020304" pitchFamily="18" charset="0"/>
                  </a:rPr>
                  <a:t>6-10</a:t>
                </a:r>
                <a:r>
                  <a:rPr lang="zh-CN" altLang="en-US" b="1" dirty="0">
                    <a:latin typeface="Times New Roman" panose="02020603050405020304" pitchFamily="18" charset="0"/>
                    <a:ea typeface="黑体" panose="02010609060101010101" charset="-122"/>
                    <a:cs typeface="Times New Roman" panose="02020603050405020304" pitchFamily="18" charset="0"/>
                  </a:rPr>
                  <a:t>个主控因素</a:t>
                </a:r>
                <a:endParaRPr lang="zh-CN" altLang="en-US" b="1" dirty="0">
                  <a:latin typeface="Times New Roman" panose="02020603050405020304" pitchFamily="18" charset="0"/>
                  <a:ea typeface="黑体" panose="02010609060101010101" charset="-122"/>
                  <a:cs typeface="Times New Roman" panose="02020603050405020304" pitchFamily="18" charset="0"/>
                </a:endParaRPr>
              </a:p>
            </p:txBody>
          </p:sp>
          <p:sp>
            <p:nvSpPr>
              <p:cNvPr id="49" name="矩形 48"/>
              <p:cNvSpPr/>
              <p:nvPr/>
            </p:nvSpPr>
            <p:spPr>
              <a:xfrm>
                <a:off x="8897542" y="5106499"/>
                <a:ext cx="1728192" cy="900000"/>
              </a:xfrm>
              <a:prstGeom prst="rect">
                <a:avLst/>
              </a:prstGeom>
              <a:solidFill>
                <a:srgbClr val="FFD965"/>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20000"/>
                  </a:spcBef>
                  <a:buClr>
                    <a:srgbClr val="FF0000"/>
                  </a:buClr>
                  <a:buSzPct val="100000"/>
                </a:pPr>
                <a:r>
                  <a:rPr lang="zh-CN" altLang="en-US" b="1" dirty="0">
                    <a:latin typeface="Times New Roman" panose="02020603050405020304" pitchFamily="18" charset="0"/>
                    <a:ea typeface="黑体" panose="02010609060101010101" charset="-122"/>
                    <a:cs typeface="Times New Roman" panose="02020603050405020304" pitchFamily="18" charset="0"/>
                  </a:rPr>
                  <a:t>现场应用与迭代完善</a:t>
                </a:r>
                <a:endParaRPr lang="zh-CN" altLang="en-US" b="1" dirty="0">
                  <a:latin typeface="Times New Roman" panose="02020603050405020304" pitchFamily="18" charset="0"/>
                  <a:ea typeface="黑体" panose="02010609060101010101" charset="-122"/>
                  <a:cs typeface="Times New Roman" panose="02020603050405020304" pitchFamily="18" charset="0"/>
                </a:endParaRPr>
              </a:p>
            </p:txBody>
          </p:sp>
          <p:sp>
            <p:nvSpPr>
              <p:cNvPr id="50" name="矩形 49"/>
              <p:cNvSpPr/>
              <p:nvPr/>
            </p:nvSpPr>
            <p:spPr>
              <a:xfrm>
                <a:off x="6495764" y="5114487"/>
                <a:ext cx="1728192" cy="900000"/>
              </a:xfrm>
              <a:prstGeom prst="rect">
                <a:avLst/>
              </a:prstGeom>
              <a:solidFill>
                <a:srgbClr val="FFD965"/>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20000"/>
                  </a:spcBef>
                  <a:buClr>
                    <a:srgbClr val="FF0000"/>
                  </a:buClr>
                  <a:buSzPct val="100000"/>
                </a:pPr>
                <a:r>
                  <a:rPr lang="zh-CN" altLang="en-US" b="1" dirty="0">
                    <a:latin typeface="Times New Roman" panose="02020603050405020304" pitchFamily="18" charset="0"/>
                    <a:ea typeface="黑体" panose="02010609060101010101" charset="-122"/>
                    <a:cs typeface="Times New Roman" panose="02020603050405020304" pitchFamily="18" charset="0"/>
                  </a:rPr>
                  <a:t>形成数据融合评价框架</a:t>
                </a:r>
                <a:endParaRPr lang="zh-CN" altLang="en-US" b="1" dirty="0">
                  <a:latin typeface="Times New Roman" panose="02020603050405020304" pitchFamily="18" charset="0"/>
                  <a:ea typeface="黑体" panose="02010609060101010101" charset="-122"/>
                  <a:cs typeface="Times New Roman" panose="02020603050405020304" pitchFamily="18" charset="0"/>
                </a:endParaRPr>
              </a:p>
            </p:txBody>
          </p:sp>
          <p:sp>
            <p:nvSpPr>
              <p:cNvPr id="51" name="箭头: V 形 20"/>
              <p:cNvSpPr/>
              <p:nvPr/>
            </p:nvSpPr>
            <p:spPr>
              <a:xfrm>
                <a:off x="3331031" y="5328056"/>
                <a:ext cx="577879" cy="585160"/>
              </a:xfrm>
              <a:prstGeom prst="chevron">
                <a:avLst/>
              </a:prstGeom>
              <a:solidFill>
                <a:srgbClr val="C00000"/>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b="1" dirty="0">
                  <a:solidFill>
                    <a:schemeClr val="bg1"/>
                  </a:solidFill>
                  <a:latin typeface="Times New Roman" panose="02020603050405020304" pitchFamily="18" charset="0"/>
                  <a:ea typeface="黑体" panose="02010609060101010101" charset="-122"/>
                  <a:cs typeface="Times New Roman" panose="02020603050405020304" pitchFamily="18" charset="0"/>
                </a:endParaRPr>
              </a:p>
            </p:txBody>
          </p:sp>
          <p:sp>
            <p:nvSpPr>
              <p:cNvPr id="52" name="箭头: V 形 21"/>
              <p:cNvSpPr/>
              <p:nvPr/>
            </p:nvSpPr>
            <p:spPr>
              <a:xfrm>
                <a:off x="5841110" y="5263919"/>
                <a:ext cx="577879" cy="585160"/>
              </a:xfrm>
              <a:prstGeom prst="chevron">
                <a:avLst/>
              </a:prstGeom>
              <a:solidFill>
                <a:srgbClr val="C00000"/>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b="1" dirty="0">
                  <a:solidFill>
                    <a:schemeClr val="bg1"/>
                  </a:solidFill>
                  <a:latin typeface="Times New Roman" panose="02020603050405020304" pitchFamily="18" charset="0"/>
                  <a:ea typeface="黑体" panose="02010609060101010101" charset="-122"/>
                  <a:cs typeface="Times New Roman" panose="02020603050405020304" pitchFamily="18" charset="0"/>
                </a:endParaRPr>
              </a:p>
            </p:txBody>
          </p:sp>
          <p:sp>
            <p:nvSpPr>
              <p:cNvPr id="53" name="箭头: V 形 22"/>
              <p:cNvSpPr/>
              <p:nvPr/>
            </p:nvSpPr>
            <p:spPr>
              <a:xfrm>
                <a:off x="8305914" y="5293956"/>
                <a:ext cx="577879" cy="585160"/>
              </a:xfrm>
              <a:prstGeom prst="chevron">
                <a:avLst/>
              </a:prstGeom>
              <a:solidFill>
                <a:srgbClr val="C00000"/>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b="1" dirty="0">
                  <a:solidFill>
                    <a:schemeClr val="bg1"/>
                  </a:solidFill>
                  <a:latin typeface="Times New Roman" panose="02020603050405020304" pitchFamily="18" charset="0"/>
                  <a:ea typeface="黑体" panose="02010609060101010101" charset="-122"/>
                  <a:cs typeface="Times New Roman" panose="02020603050405020304" pitchFamily="18" charset="0"/>
                </a:endParaRPr>
              </a:p>
            </p:txBody>
          </p:sp>
          <p:cxnSp>
            <p:nvCxnSpPr>
              <p:cNvPr id="54" name="直接连接符 53"/>
              <p:cNvCxnSpPr>
                <a:stCxn id="40" idx="2"/>
              </p:cNvCxnSpPr>
              <p:nvPr/>
            </p:nvCxnSpPr>
            <p:spPr bwMode="auto">
              <a:xfrm>
                <a:off x="2400796" y="6014487"/>
                <a:ext cx="0" cy="290496"/>
              </a:xfrm>
              <a:prstGeom prst="line">
                <a:avLst/>
              </a:prstGeom>
              <a:solidFill>
                <a:schemeClr val="accent1"/>
              </a:solidFill>
              <a:ln w="12700" cap="flat" cmpd="sng" algn="ctr">
                <a:solidFill>
                  <a:srgbClr val="0070C0"/>
                </a:solidFill>
                <a:prstDash val="solid"/>
                <a:round/>
                <a:headEnd type="none" w="med" len="med"/>
                <a:tailEnd type="none" w="med" len="med"/>
              </a:ln>
              <a:effectLst>
                <a:outerShdw dist="17961" dir="2700000" algn="ctr" rotWithShape="0">
                  <a:schemeClr val="tx1">
                    <a:gamma/>
                    <a:shade val="60000"/>
                    <a:invGamma/>
                    <a:alpha val="50000"/>
                  </a:schemeClr>
                </a:outerShdw>
              </a:effectLst>
            </p:spPr>
          </p:cxnSp>
          <p:cxnSp>
            <p:nvCxnSpPr>
              <p:cNvPr id="55" name="直接连接符 54"/>
              <p:cNvCxnSpPr/>
              <p:nvPr/>
            </p:nvCxnSpPr>
            <p:spPr bwMode="auto">
              <a:xfrm>
                <a:off x="2408084" y="6304983"/>
                <a:ext cx="7375832" cy="0"/>
              </a:xfrm>
              <a:prstGeom prst="line">
                <a:avLst/>
              </a:prstGeom>
              <a:solidFill>
                <a:schemeClr val="accent1"/>
              </a:solidFill>
              <a:ln w="12700" cap="flat" cmpd="sng" algn="ctr">
                <a:solidFill>
                  <a:srgbClr val="0070C0"/>
                </a:solidFill>
                <a:prstDash val="solid"/>
                <a:round/>
                <a:headEnd type="none" w="med" len="med"/>
                <a:tailEnd type="none" w="med" len="med"/>
              </a:ln>
              <a:effectLst>
                <a:outerShdw dist="17961" dir="2700000" algn="ctr" rotWithShape="0">
                  <a:schemeClr val="tx1">
                    <a:gamma/>
                    <a:shade val="60000"/>
                    <a:invGamma/>
                    <a:alpha val="50000"/>
                  </a:schemeClr>
                </a:outerShdw>
              </a:effectLst>
            </p:spPr>
          </p:cxnSp>
          <p:cxnSp>
            <p:nvCxnSpPr>
              <p:cNvPr id="56" name="直接连接符 55"/>
              <p:cNvCxnSpPr>
                <a:stCxn id="49" idx="2"/>
              </p:cNvCxnSpPr>
              <p:nvPr/>
            </p:nvCxnSpPr>
            <p:spPr bwMode="auto">
              <a:xfrm>
                <a:off x="9761638" y="6006499"/>
                <a:ext cx="9064" cy="298484"/>
              </a:xfrm>
              <a:prstGeom prst="line">
                <a:avLst/>
              </a:prstGeom>
              <a:solidFill>
                <a:schemeClr val="accent1"/>
              </a:solidFill>
              <a:ln w="12700" cap="flat" cmpd="sng" algn="ctr">
                <a:solidFill>
                  <a:srgbClr val="0070C0"/>
                </a:solidFill>
                <a:prstDash val="solid"/>
                <a:round/>
                <a:headEnd type="none" w="med" len="med"/>
                <a:tailEnd type="none" w="med" len="med"/>
              </a:ln>
              <a:effectLst>
                <a:outerShdw dist="17961" dir="2700000" algn="ctr" rotWithShape="0">
                  <a:schemeClr val="tx1">
                    <a:gamma/>
                    <a:shade val="60000"/>
                    <a:invGamma/>
                    <a:alpha val="50000"/>
                  </a:schemeClr>
                </a:outerShdw>
              </a:effectLst>
            </p:spPr>
          </p:cxnSp>
          <p:cxnSp>
            <p:nvCxnSpPr>
              <p:cNvPr id="57" name="直接箭头连接符 56"/>
              <p:cNvCxnSpPr/>
              <p:nvPr/>
            </p:nvCxnSpPr>
            <p:spPr bwMode="auto">
              <a:xfrm>
                <a:off x="6145469" y="6304983"/>
                <a:ext cx="0" cy="288032"/>
              </a:xfrm>
              <a:prstGeom prst="straightConnector1">
                <a:avLst/>
              </a:prstGeom>
              <a:solidFill>
                <a:schemeClr val="accent1"/>
              </a:solidFill>
              <a:ln w="9525" cap="flat" cmpd="sng" algn="ctr">
                <a:solidFill>
                  <a:srgbClr val="0070C0"/>
                </a:solidFill>
                <a:prstDash val="solid"/>
                <a:round/>
                <a:headEnd type="none" w="med" len="med"/>
                <a:tailEnd type="triangle"/>
              </a:ln>
              <a:effectLst>
                <a:outerShdw dist="17961" dir="2700000" algn="ctr" rotWithShape="0">
                  <a:schemeClr val="tx1">
                    <a:gamma/>
                    <a:shade val="60000"/>
                    <a:invGamma/>
                    <a:alpha val="50000"/>
                  </a:schemeClr>
                </a:outerShdw>
              </a:effectLst>
            </p:spPr>
          </p:cxnSp>
          <p:cxnSp>
            <p:nvCxnSpPr>
              <p:cNvPr id="58" name="直接箭头连接符 57"/>
              <p:cNvCxnSpPr/>
              <p:nvPr/>
            </p:nvCxnSpPr>
            <p:spPr bwMode="auto">
              <a:xfrm>
                <a:off x="2390734" y="3667545"/>
                <a:ext cx="0" cy="288032"/>
              </a:xfrm>
              <a:prstGeom prst="straightConnector1">
                <a:avLst/>
              </a:prstGeom>
              <a:solidFill>
                <a:schemeClr val="accent1"/>
              </a:solidFill>
              <a:ln w="9525" cap="flat" cmpd="sng" algn="ctr">
                <a:solidFill>
                  <a:srgbClr val="0070C0"/>
                </a:solidFill>
                <a:prstDash val="solid"/>
                <a:round/>
                <a:headEnd type="none" w="med" len="med"/>
                <a:tailEnd type="triangle"/>
              </a:ln>
              <a:effectLst>
                <a:outerShdw dist="17961" dir="2700000" algn="ctr" rotWithShape="0">
                  <a:schemeClr val="tx1">
                    <a:gamma/>
                    <a:shade val="60000"/>
                    <a:invGamma/>
                    <a:alpha val="50000"/>
                  </a:schemeClr>
                </a:outerShdw>
              </a:effectLst>
            </p:spPr>
          </p:cxnSp>
          <p:cxnSp>
            <p:nvCxnSpPr>
              <p:cNvPr id="59" name="直接箭头连接符 58"/>
              <p:cNvCxnSpPr/>
              <p:nvPr/>
            </p:nvCxnSpPr>
            <p:spPr bwMode="auto">
              <a:xfrm>
                <a:off x="2400796" y="4818467"/>
                <a:ext cx="0" cy="288032"/>
              </a:xfrm>
              <a:prstGeom prst="straightConnector1">
                <a:avLst/>
              </a:prstGeom>
              <a:solidFill>
                <a:schemeClr val="accent1"/>
              </a:solidFill>
              <a:ln w="9525" cap="flat" cmpd="sng" algn="ctr">
                <a:solidFill>
                  <a:srgbClr val="0070C0"/>
                </a:solidFill>
                <a:prstDash val="solid"/>
                <a:round/>
                <a:headEnd type="none" w="med" len="med"/>
                <a:tailEnd type="triangle"/>
              </a:ln>
              <a:effectLst>
                <a:outerShdw dist="17961" dir="2700000" algn="ctr" rotWithShape="0">
                  <a:schemeClr val="tx1">
                    <a:gamma/>
                    <a:shade val="60000"/>
                    <a:invGamma/>
                    <a:alpha val="50000"/>
                  </a:schemeClr>
                </a:outerShdw>
              </a:effectLst>
            </p:spPr>
          </p:cxnSp>
          <p:cxnSp>
            <p:nvCxnSpPr>
              <p:cNvPr id="60" name="直接箭头连接符 59"/>
              <p:cNvCxnSpPr/>
              <p:nvPr/>
            </p:nvCxnSpPr>
            <p:spPr bwMode="auto">
              <a:xfrm>
                <a:off x="4815342" y="3713056"/>
                <a:ext cx="0" cy="288032"/>
              </a:xfrm>
              <a:prstGeom prst="straightConnector1">
                <a:avLst/>
              </a:prstGeom>
              <a:solidFill>
                <a:schemeClr val="accent1"/>
              </a:solidFill>
              <a:ln w="9525" cap="flat" cmpd="sng" algn="ctr">
                <a:solidFill>
                  <a:srgbClr val="0070C0"/>
                </a:solidFill>
                <a:prstDash val="solid"/>
                <a:round/>
                <a:headEnd type="none" w="med" len="med"/>
                <a:tailEnd type="triangle"/>
              </a:ln>
              <a:effectLst>
                <a:outerShdw dist="17961" dir="2700000" algn="ctr" rotWithShape="0">
                  <a:schemeClr val="tx1">
                    <a:gamma/>
                    <a:shade val="60000"/>
                    <a:invGamma/>
                    <a:alpha val="50000"/>
                  </a:schemeClr>
                </a:outerShdw>
              </a:effectLst>
            </p:spPr>
          </p:cxnSp>
          <p:cxnSp>
            <p:nvCxnSpPr>
              <p:cNvPr id="61" name="直接箭头连接符 60"/>
              <p:cNvCxnSpPr/>
              <p:nvPr/>
            </p:nvCxnSpPr>
            <p:spPr bwMode="auto">
              <a:xfrm>
                <a:off x="4843990" y="4873158"/>
                <a:ext cx="0" cy="288032"/>
              </a:xfrm>
              <a:prstGeom prst="straightConnector1">
                <a:avLst/>
              </a:prstGeom>
              <a:solidFill>
                <a:schemeClr val="accent1"/>
              </a:solidFill>
              <a:ln w="9525" cap="flat" cmpd="sng" algn="ctr">
                <a:solidFill>
                  <a:srgbClr val="0070C0"/>
                </a:solidFill>
                <a:prstDash val="solid"/>
                <a:round/>
                <a:headEnd type="none" w="med" len="med"/>
                <a:tailEnd type="triangle"/>
              </a:ln>
              <a:effectLst>
                <a:outerShdw dist="17961" dir="2700000" algn="ctr" rotWithShape="0">
                  <a:schemeClr val="tx1">
                    <a:gamma/>
                    <a:shade val="60000"/>
                    <a:invGamma/>
                    <a:alpha val="50000"/>
                  </a:schemeClr>
                </a:outerShdw>
              </a:effectLst>
            </p:spPr>
          </p:cxnSp>
          <p:cxnSp>
            <p:nvCxnSpPr>
              <p:cNvPr id="62" name="直接箭头连接符 61"/>
              <p:cNvCxnSpPr/>
              <p:nvPr/>
            </p:nvCxnSpPr>
            <p:spPr bwMode="auto">
              <a:xfrm>
                <a:off x="7359860" y="3667545"/>
                <a:ext cx="0" cy="288032"/>
              </a:xfrm>
              <a:prstGeom prst="straightConnector1">
                <a:avLst/>
              </a:prstGeom>
              <a:solidFill>
                <a:schemeClr val="accent1"/>
              </a:solidFill>
              <a:ln w="9525" cap="flat" cmpd="sng" algn="ctr">
                <a:solidFill>
                  <a:srgbClr val="0070C0"/>
                </a:solidFill>
                <a:prstDash val="solid"/>
                <a:round/>
                <a:headEnd type="none" w="med" len="med"/>
                <a:tailEnd type="triangle"/>
              </a:ln>
              <a:effectLst>
                <a:outerShdw dist="17961" dir="2700000" algn="ctr" rotWithShape="0">
                  <a:schemeClr val="tx1">
                    <a:gamma/>
                    <a:shade val="60000"/>
                    <a:invGamma/>
                    <a:alpha val="50000"/>
                  </a:schemeClr>
                </a:outerShdw>
              </a:effectLst>
            </p:spPr>
          </p:cxnSp>
          <p:cxnSp>
            <p:nvCxnSpPr>
              <p:cNvPr id="63" name="直接箭头连接符 62"/>
              <p:cNvCxnSpPr/>
              <p:nvPr/>
            </p:nvCxnSpPr>
            <p:spPr bwMode="auto">
              <a:xfrm>
                <a:off x="7346644" y="4818467"/>
                <a:ext cx="0" cy="288032"/>
              </a:xfrm>
              <a:prstGeom prst="straightConnector1">
                <a:avLst/>
              </a:prstGeom>
              <a:solidFill>
                <a:schemeClr val="accent1"/>
              </a:solidFill>
              <a:ln w="9525" cap="flat" cmpd="sng" algn="ctr">
                <a:solidFill>
                  <a:srgbClr val="0070C0"/>
                </a:solidFill>
                <a:prstDash val="solid"/>
                <a:round/>
                <a:headEnd type="none" w="med" len="med"/>
                <a:tailEnd type="triangle"/>
              </a:ln>
              <a:effectLst>
                <a:outerShdw dist="17961" dir="2700000" algn="ctr" rotWithShape="0">
                  <a:schemeClr val="tx1">
                    <a:gamma/>
                    <a:shade val="60000"/>
                    <a:invGamma/>
                    <a:alpha val="50000"/>
                  </a:schemeClr>
                </a:outerShdw>
              </a:effectLst>
            </p:spPr>
          </p:cxnSp>
          <p:cxnSp>
            <p:nvCxnSpPr>
              <p:cNvPr id="64" name="直接箭头连接符 63"/>
              <p:cNvCxnSpPr/>
              <p:nvPr/>
            </p:nvCxnSpPr>
            <p:spPr bwMode="auto">
              <a:xfrm>
                <a:off x="9769063" y="4873158"/>
                <a:ext cx="0" cy="288032"/>
              </a:xfrm>
              <a:prstGeom prst="straightConnector1">
                <a:avLst/>
              </a:prstGeom>
              <a:solidFill>
                <a:schemeClr val="accent1"/>
              </a:solidFill>
              <a:ln w="9525" cap="flat" cmpd="sng" algn="ctr">
                <a:solidFill>
                  <a:srgbClr val="0070C0"/>
                </a:solidFill>
                <a:prstDash val="solid"/>
                <a:round/>
                <a:headEnd type="none" w="med" len="med"/>
                <a:tailEnd type="triangle"/>
              </a:ln>
              <a:effectLst>
                <a:outerShdw dist="17961" dir="2700000" algn="ctr" rotWithShape="0">
                  <a:schemeClr val="tx1">
                    <a:gamma/>
                    <a:shade val="60000"/>
                    <a:invGamma/>
                    <a:alpha val="50000"/>
                  </a:schemeClr>
                </a:outerShdw>
              </a:effectLst>
            </p:spPr>
          </p:cxnSp>
          <p:cxnSp>
            <p:nvCxnSpPr>
              <p:cNvPr id="65" name="直接箭头连接符 64"/>
              <p:cNvCxnSpPr/>
              <p:nvPr/>
            </p:nvCxnSpPr>
            <p:spPr bwMode="auto">
              <a:xfrm>
                <a:off x="9750093" y="3667545"/>
                <a:ext cx="0" cy="288032"/>
              </a:xfrm>
              <a:prstGeom prst="straightConnector1">
                <a:avLst/>
              </a:prstGeom>
              <a:solidFill>
                <a:schemeClr val="accent1"/>
              </a:solidFill>
              <a:ln w="9525" cap="flat" cmpd="sng" algn="ctr">
                <a:solidFill>
                  <a:srgbClr val="0070C0"/>
                </a:solidFill>
                <a:prstDash val="solid"/>
                <a:round/>
                <a:headEnd type="none" w="med" len="med"/>
                <a:tailEnd type="triangle"/>
              </a:ln>
              <a:effectLst>
                <a:outerShdw dist="17961" dir="2700000" algn="ctr" rotWithShape="0">
                  <a:schemeClr val="tx1">
                    <a:gamma/>
                    <a:shade val="60000"/>
                    <a:invGamma/>
                    <a:alpha val="50000"/>
                  </a:schemeClr>
                </a:outerShdw>
              </a:effectLst>
            </p:spPr>
          </p:cxnSp>
        </p:grpSp>
      </p:gr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7"/>
          <p:cNvSpPr txBox="1"/>
          <p:nvPr/>
        </p:nvSpPr>
        <p:spPr bwMode="auto">
          <a:xfrm>
            <a:off x="320061" y="888766"/>
            <a:ext cx="11551878" cy="368300"/>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、项目研究进度计划安排</a:t>
            </a:r>
            <a:endParaRPr lang="zh-CN" altLang="en-US" dirty="0">
              <a:latin typeface="微软雅黑" panose="020B0503020204020204" pitchFamily="34" charset="-122"/>
              <a:ea typeface="微软雅黑" panose="020B0503020204020204" pitchFamily="34" charset="-122"/>
            </a:endParaRPr>
          </a:p>
        </p:txBody>
      </p:sp>
      <p:sp>
        <p:nvSpPr>
          <p:cNvPr id="37" name="Rectangle 11"/>
          <p:cNvSpPr>
            <a:spLocks noChangeArrowheads="1"/>
          </p:cNvSpPr>
          <p:nvPr/>
        </p:nvSpPr>
        <p:spPr bwMode="auto">
          <a:xfrm>
            <a:off x="8890" y="-41275"/>
            <a:ext cx="1218120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rPr>
              <a:t>（二）项目研究进度计划安排</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graphicFrame>
        <p:nvGraphicFramePr>
          <p:cNvPr id="2" name="表格 1"/>
          <p:cNvGraphicFramePr>
            <a:graphicFrameLocks noGrp="1"/>
          </p:cNvGraphicFramePr>
          <p:nvPr>
            <p:custDataLst>
              <p:tags r:id="rId1"/>
            </p:custDataLst>
          </p:nvPr>
        </p:nvGraphicFramePr>
        <p:xfrm>
          <a:off x="407670" y="1418590"/>
          <a:ext cx="11282845" cy="5034280"/>
        </p:xfrm>
        <a:graphic>
          <a:graphicData uri="http://schemas.openxmlformats.org/drawingml/2006/table">
            <a:tbl>
              <a:tblPr/>
              <a:tblGrid>
                <a:gridCol w="521335"/>
                <a:gridCol w="2502535"/>
                <a:gridCol w="935990"/>
                <a:gridCol w="1022985"/>
                <a:gridCol w="630000"/>
                <a:gridCol w="630000"/>
                <a:gridCol w="630000"/>
                <a:gridCol w="630000"/>
                <a:gridCol w="630000"/>
                <a:gridCol w="630000"/>
                <a:gridCol w="630000"/>
                <a:gridCol w="630000"/>
                <a:gridCol w="630000"/>
                <a:gridCol w="630000"/>
              </a:tblGrid>
              <a:tr h="350520">
                <a:tc rowSpan="2">
                  <a:txBody>
                    <a:bodyPr/>
                    <a:lstStyle/>
                    <a:p>
                      <a:pPr algn="ctr" fontAlgn="ctr"/>
                      <a:r>
                        <a:rPr lang="zh-CN" altLang="en-US" sz="1600" b="1" i="0" u="none" strike="noStrike"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序号</a:t>
                      </a:r>
                      <a:endParaRPr lang="zh-CN" altLang="en-US" sz="1600" b="1" i="0" u="none" strike="noStrike"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rowSpan="2">
                  <a:txBody>
                    <a:bodyPr/>
                    <a:lstStyle/>
                    <a:p>
                      <a:pPr algn="ctr" fontAlgn="ctr"/>
                      <a:r>
                        <a:rPr lang="zh-CN" altLang="en-US" sz="1600" b="1" i="0" u="none" strike="noStrike"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阶段名称</a:t>
                      </a:r>
                      <a:endParaRPr lang="zh-CN" altLang="en-US" sz="1600" b="1" i="0" u="none" strike="noStrike"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rowSpan="2">
                  <a:txBody>
                    <a:bodyPr/>
                    <a:lstStyle/>
                    <a:p>
                      <a:pPr algn="ctr" fontAlgn="ctr"/>
                      <a:r>
                        <a:rPr lang="zh-CN" altLang="en-US" sz="1600" b="1" i="0" u="none" strike="noStrike"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开始日期</a:t>
                      </a:r>
                      <a:endParaRPr lang="zh-CN" altLang="en-US" sz="1600" b="1" i="0" u="none" strike="noStrike"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rowSpan="2">
                  <a:txBody>
                    <a:bodyPr/>
                    <a:lstStyle/>
                    <a:p>
                      <a:pPr algn="ctr" fontAlgn="ctr"/>
                      <a:r>
                        <a:rPr lang="zh-CN" altLang="en-US" sz="1600" b="1" i="0" u="none" strike="noStrike"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结束日期</a:t>
                      </a:r>
                      <a:endParaRPr lang="zh-CN" altLang="en-US" sz="1600" b="1" i="0" u="none" strike="noStrike"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gridSpan="10">
                  <a:txBody>
                    <a:bodyPr/>
                    <a:lstStyle/>
                    <a:p>
                      <a:pPr algn="ctr" fontAlgn="ctr"/>
                      <a:r>
                        <a:rPr lang="en-US" altLang="zh-CN" sz="1600" b="1" i="0" u="none" strike="noStrike"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2025</a:t>
                      </a:r>
                      <a:endParaRPr lang="en-US" altLang="zh-CN" sz="1600" b="1" i="0" u="none" strike="noStrike"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hMerge="1">
                  <a:tcPr marL="5492" marR="5492" marT="549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6E6"/>
                    </a:solidFill>
                  </a:tcPr>
                </a:tc>
                <a:tc hMerge="1">
                  <a:tcPr marL="5492" marR="5492" marT="549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6E6"/>
                    </a:solidFill>
                  </a:tcPr>
                </a:tc>
                <a:tc hMerge="1">
                  <a:tcPr marL="5492" marR="5492" marT="549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6E6"/>
                    </a:solidFill>
                  </a:tcPr>
                </a:tc>
                <a:tc hMerge="1">
                  <a:tcPr marL="5492" marR="5492" marT="549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6E6"/>
                    </a:solidFill>
                  </a:tcPr>
                </a:tc>
                <a:tc hMerge="1">
                  <a:tcPr marL="5492" marR="5492" marT="549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6E6"/>
                    </a:solidFill>
                  </a:tcPr>
                </a:tc>
                <a:tc hMerge="1">
                  <a:tcPr marL="5492" marR="5492" marT="549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6E6"/>
                    </a:solidFill>
                  </a:tcPr>
                </a:tc>
                <a:tc hMerge="1">
                  <a:tcPr marL="5492" marR="5492" marT="5492"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6E6"/>
                    </a:solidFill>
                  </a:tcPr>
                </a:tc>
                <a:tc hMerge="1">
                  <a:tcPr marL="5492" marR="5492" marT="5492" marB="0" anchor="ctr">
                    <a:lnT w="12700" cap="flat" cmpd="sng" algn="ctr">
                      <a:solidFill>
                        <a:schemeClr val="tx1"/>
                      </a:solidFill>
                      <a:prstDash val="solid"/>
                      <a:round/>
                      <a:headEnd type="none" w="med" len="med"/>
                      <a:tailEnd type="none" w="med" len="med"/>
                    </a:lnT>
                    <a:solidFill>
                      <a:srgbClr val="E7E6E6"/>
                    </a:solidFill>
                  </a:tcPr>
                </a:tc>
                <a:tc hMerge="1">
                  <a:tcPr marL="5492" marR="5492" marT="5492" marB="0" anchor="ctr">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6E6"/>
                    </a:solidFill>
                  </a:tcPr>
                </a:tc>
              </a:tr>
              <a:tr h="350520">
                <a:tc vMerge="1">
                  <a:tcPr/>
                </a:tc>
                <a:tc vMerge="1">
                  <a:tcPr/>
                </a:tc>
                <a:tc vMerge="1">
                  <a:tcPr/>
                </a:tc>
                <a:tc vMerge="1">
                  <a:tcPr/>
                </a:tc>
                <a:tc>
                  <a:txBody>
                    <a:bodyPr/>
                    <a:lstStyle/>
                    <a:p>
                      <a:pPr algn="ctr" fontAlgn="ctr"/>
                      <a:r>
                        <a:rPr lang="en-US" altLang="zh-CN" sz="1600" b="1" i="0" u="none" strike="noStrike" kern="120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3</a:t>
                      </a:r>
                      <a:endParaRPr lang="en-US" altLang="zh-CN" sz="1600" b="1" i="0" u="none" strike="noStrike" kern="120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altLang="zh-CN" sz="1600" b="1" i="0" u="none" strike="noStrike" kern="120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4</a:t>
                      </a:r>
                      <a:endParaRPr lang="en-US" altLang="zh-CN" sz="1600" b="1" i="0" u="none" strike="noStrike" kern="120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altLang="zh-CN" sz="1600" b="1" i="0" u="none" strike="noStrike" kern="120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5</a:t>
                      </a:r>
                      <a:endParaRPr lang="en-US" altLang="zh-CN" sz="1600" b="1" i="0" u="none" strike="noStrike" kern="120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altLang="zh-CN" sz="1600" b="1" i="0" u="none" strike="noStrike" kern="120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6</a:t>
                      </a:r>
                      <a:endParaRPr lang="en-US" altLang="zh-CN" sz="1600" b="1" i="0" u="none" strike="noStrike" kern="120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altLang="zh-CN" sz="1600" b="1" i="0" u="none" strike="noStrike" kern="120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7</a:t>
                      </a:r>
                      <a:endParaRPr lang="en-US" altLang="zh-CN" sz="1600" b="1" i="0" u="none" strike="noStrike" kern="120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altLang="zh-CN" sz="1600" b="1" i="0" u="none" strike="noStrike" kern="120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8</a:t>
                      </a:r>
                      <a:endParaRPr lang="en-US" altLang="zh-CN" sz="1600" b="1" i="0" u="none" strike="noStrike" kern="120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altLang="zh-CN" sz="1600" b="1" i="0" u="none" strike="noStrike" kern="120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9</a:t>
                      </a:r>
                      <a:endParaRPr lang="en-US" altLang="zh-CN" sz="1600" b="1" i="0" u="none" strike="noStrike" kern="120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altLang="zh-CN" sz="1600" b="1" i="0" u="none" strike="noStrike" kern="120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10</a:t>
                      </a:r>
                      <a:endParaRPr lang="en-US" altLang="zh-CN" sz="1600" b="1" i="0" u="none" strike="noStrike" kern="120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altLang="zh-CN" sz="1600" b="1" i="0" u="none" strike="noStrike" kern="120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11</a:t>
                      </a:r>
                      <a:endParaRPr lang="en-US" altLang="zh-CN" sz="1600" b="1" i="0" u="none" strike="noStrike" kern="120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altLang="zh-CN" sz="1600" b="1" i="0" u="none" strike="noStrike" kern="120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12</a:t>
                      </a:r>
                      <a:endParaRPr lang="en-US" altLang="zh-CN" sz="1600" b="1" i="0" u="none" strike="noStrike" kern="120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r>
              <a:tr h="701040">
                <a:tc>
                  <a:txBody>
                    <a:bodyPr/>
                    <a:lstStyle/>
                    <a:p>
                      <a:pPr algn="ctr" fontAlgn="ctr"/>
                      <a:r>
                        <a:rPr lang="zh-CN" altLang="en-US" sz="16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6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6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进行项目前期调研、开题立项论证</a:t>
                      </a:r>
                      <a:endParaRPr lang="zh-CN" altLang="en-US" sz="16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6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2025.03</a:t>
                      </a:r>
                      <a:endParaRPr lang="zh-CN" altLang="en-US" sz="16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6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2025.05</a:t>
                      </a:r>
                      <a:endParaRPr lang="zh-CN" altLang="en-US" sz="16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6" gridSpan="10">
                  <a:txBody>
                    <a:bodyPr/>
                    <a:lstStyle/>
                    <a:p>
                      <a:pPr algn="ctr" fontAlgn="ctr"/>
                      <a:endParaRPr lang="zh-CN" altLang="en-US" sz="16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6" hMerge="1">
                  <a:tcPr/>
                </a:tc>
                <a:tc rowSpan="6" hMerge="1">
                  <a:tcPr/>
                </a:tc>
                <a:tc rowSpan="6" hMerge="1">
                  <a:tcPr/>
                </a:tc>
                <a:tc rowSpan="6" hMerge="1">
                  <a:tcPr/>
                </a:tc>
                <a:tc rowSpan="6" hMerge="1">
                  <a:tcPr/>
                </a:tc>
                <a:tc rowSpan="6" hMerge="1">
                  <a:tcPr/>
                </a:tc>
                <a:tc rowSpan="6" hMerge="1">
                  <a:tcPr>
                    <a:lnL w="12700" cmpd="sng">
                      <a:noFill/>
                      <a:prstDash val="solid"/>
                    </a:lnL>
                    <a:lnT w="12700" cap="flat" cmpd="sng" algn="ctr">
                      <a:solidFill>
                        <a:schemeClr val="tx1"/>
                      </a:solidFill>
                      <a:prstDash val="solid"/>
                      <a:round/>
                      <a:headEnd type="none" w="med" len="med"/>
                      <a:tailEnd type="none" w="med" len="med"/>
                    </a:lnT>
                  </a:tcPr>
                </a:tc>
                <a:tc rowSpan="6" hMerge="1">
                  <a:tcPr>
                    <a:lnL w="12700" cmpd="sng">
                      <a:noFill/>
                      <a:prstDash val="solid"/>
                    </a:lnL>
                    <a:lnT w="12700" cap="flat" cmpd="sng" algn="ctr">
                      <a:solidFill>
                        <a:schemeClr val="tx1"/>
                      </a:solidFill>
                      <a:prstDash val="solid"/>
                      <a:round/>
                      <a:headEnd type="none" w="med" len="med"/>
                      <a:tailEnd type="none" w="med" len="med"/>
                    </a:lnT>
                  </a:tcPr>
                </a:tc>
                <a:tc rowSpan="6" hMerge="1">
                  <a:tcPr/>
                </a:tc>
              </a:tr>
              <a:tr h="700405">
                <a:tc>
                  <a:txBody>
                    <a:bodyPr/>
                    <a:lstStyle/>
                    <a:p>
                      <a:pPr algn="ctr" fontAlgn="ctr"/>
                      <a:r>
                        <a:rPr lang="zh-CN" altLang="en-US" sz="16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2</a:t>
                      </a:r>
                      <a:endParaRPr lang="zh-CN" altLang="en-US" sz="16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6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页岩气井压后效果特征对比及主控因素分析</a:t>
                      </a:r>
                      <a:endParaRPr lang="zh-CN" altLang="en-US" sz="16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6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2025.05</a:t>
                      </a:r>
                      <a:endParaRPr lang="zh-CN" altLang="en-US" sz="16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6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2025.07</a:t>
                      </a:r>
                      <a:endParaRPr lang="zh-CN" altLang="en-US" sz="16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gridSpan="10">
                  <a:tcPr marL="5492" marR="5492" marT="5492" marB="0" anchor="ctr">
                    <a:lnL w="6350" cap="flat" cmpd="sng" algn="ctr">
                      <a:solidFill>
                        <a:srgbClr val="000000"/>
                      </a:solidFill>
                      <a:prstDash val="solid"/>
                      <a:round/>
                      <a:headEnd type="none" w="med" len="med"/>
                      <a:tailEnd type="none" w="med" len="med"/>
                    </a:lnL>
                    <a:lnR>
                      <a:noFill/>
                    </a:lnR>
                    <a:lnT>
                      <a:noFill/>
                    </a:lnT>
                    <a:lnB>
                      <a:noFill/>
                    </a:lnB>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r>
              <a:tr h="699770">
                <a:tc>
                  <a:txBody>
                    <a:bodyPr/>
                    <a:lstStyle/>
                    <a:p>
                      <a:pPr algn="ctr" fontAlgn="ctr"/>
                      <a:r>
                        <a:rPr lang="zh-CN" altLang="en-US" sz="16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3</a:t>
                      </a:r>
                      <a:endParaRPr lang="zh-CN" altLang="en-US" sz="16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6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页岩气井压裂效果量化评价指标筛选与权重分析</a:t>
                      </a:r>
                      <a:endParaRPr lang="zh-CN" altLang="en-US" sz="16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zh-CN" altLang="en-US" sz="16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2025.07</a:t>
                      </a:r>
                      <a:endParaRPr lang="zh-CN" altLang="en-US" sz="16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zh-CN" altLang="en-US" sz="16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2025.09</a:t>
                      </a:r>
                      <a:endParaRPr lang="zh-CN" altLang="en-US" sz="16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gridSpan="10">
                  <a:tcPr marL="5492" marR="5492" marT="5492" marB="0" anchor="ctr">
                    <a:lnL w="6350" cap="flat" cmpd="sng" algn="ctr">
                      <a:solidFill>
                        <a:srgbClr val="000000"/>
                      </a:solidFill>
                      <a:prstDash val="solid"/>
                      <a:round/>
                      <a:headEnd type="none" w="med" len="med"/>
                      <a:tailEnd type="none" w="med" len="med"/>
                    </a:lnL>
                    <a:lnR>
                      <a:noFill/>
                    </a:lnR>
                    <a:lnT>
                      <a:noFill/>
                    </a:lnT>
                    <a:lnB>
                      <a:noFill/>
                    </a:lnB>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r>
              <a:tr h="806450">
                <a:tc>
                  <a:txBody>
                    <a:bodyPr/>
                    <a:lstStyle/>
                    <a:p>
                      <a:pPr algn="ctr" fontAlgn="ctr"/>
                      <a:r>
                        <a:rPr lang="zh-CN" altLang="en-US" sz="16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4</a:t>
                      </a:r>
                      <a:endParaRPr lang="zh-CN" altLang="en-US" sz="16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zh-CN" altLang="en-US" sz="16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页岩气井压裂效果动态评估模型建立与验证</a:t>
                      </a:r>
                      <a:endParaRPr lang="zh-CN" altLang="en-US" sz="16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6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2025.09</a:t>
                      </a:r>
                      <a:endParaRPr lang="zh-CN" altLang="en-US" sz="16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6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2025.11</a:t>
                      </a:r>
                      <a:endParaRPr lang="zh-CN" altLang="en-US" sz="16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gridSpan="10">
                  <a:tcPr marL="5492" marR="5492" marT="5492" marB="0" anchor="ctr">
                    <a:lnL w="6350" cap="flat" cmpd="sng" algn="ctr">
                      <a:solidFill>
                        <a:srgbClr val="000000"/>
                      </a:solidFill>
                      <a:prstDash val="solid"/>
                      <a:round/>
                      <a:headEnd type="none" w="med" len="med"/>
                      <a:tailEnd type="none" w="med" len="med"/>
                    </a:lnL>
                    <a:lnR>
                      <a:noFill/>
                    </a:lnR>
                    <a:lnT>
                      <a:noFill/>
                    </a:lnT>
                    <a:lnB>
                      <a:noFill/>
                    </a:lnB>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r>
              <a:tr h="724535">
                <a:tc>
                  <a:txBody>
                    <a:bodyPr/>
                    <a:lstStyle/>
                    <a:p>
                      <a:pPr algn="ctr" fontAlgn="ctr"/>
                      <a:r>
                        <a:rPr lang="zh-CN" altLang="en-US" sz="16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5</a:t>
                      </a:r>
                      <a:endParaRPr lang="zh-CN" altLang="en-US" sz="16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zh-CN" altLang="en-US" sz="16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压裂效果动态评估模型应用及优化</a:t>
                      </a:r>
                      <a:endParaRPr lang="zh-CN" altLang="en-US" sz="16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6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2025.07</a:t>
                      </a:r>
                      <a:endParaRPr lang="zh-CN" altLang="en-US" sz="16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6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2025.12</a:t>
                      </a:r>
                      <a:endParaRPr lang="zh-CN" altLang="en-US" sz="16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gridSpan="10">
                  <a:tcPr marL="5492" marR="5492" marT="5492" marB="0" anchor="ctr">
                    <a:lnL w="6350" cap="flat" cmpd="sng" algn="ctr">
                      <a:solidFill>
                        <a:srgbClr val="000000"/>
                      </a:solidFill>
                      <a:prstDash val="solid"/>
                      <a:round/>
                      <a:headEnd type="none" w="med" len="med"/>
                      <a:tailEnd type="none" w="med" len="med"/>
                    </a:lnL>
                    <a:lnR>
                      <a:noFill/>
                    </a:lnR>
                    <a:lnT>
                      <a:noFill/>
                    </a:lnT>
                    <a:lnB>
                      <a:noFill/>
                    </a:lnB>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r>
              <a:tr h="701040">
                <a:tc>
                  <a:txBody>
                    <a:bodyPr/>
                    <a:lstStyle/>
                    <a:p>
                      <a:pPr algn="ctr" fontAlgn="ctr"/>
                      <a:r>
                        <a:rPr lang="zh-CN" altLang="en-US" sz="16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6</a:t>
                      </a:r>
                      <a:endParaRPr lang="zh-CN" altLang="en-US" sz="16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zh-CN" altLang="en-US" sz="16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rPr>
                        <a:t>分析和总结，完成结题工作</a:t>
                      </a:r>
                      <a:endParaRPr lang="zh-CN" altLang="en-US" sz="16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6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2025.11</a:t>
                      </a:r>
                      <a:endParaRPr lang="zh-CN" altLang="en-US" sz="16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6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2025.12</a:t>
                      </a:r>
                      <a:endParaRPr lang="zh-CN" altLang="en-US" sz="16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2" marR="5492" marT="549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gridSpan="10">
                  <a:tcPr marL="5492" marR="5492" marT="5492" marB="0" anchor="ctr">
                    <a:lnL w="6350" cap="flat" cmpd="sng" algn="ctr">
                      <a:solidFill>
                        <a:srgbClr val="000000"/>
                      </a:solidFill>
                      <a:prstDash val="solid"/>
                      <a:round/>
                      <a:headEnd type="none" w="med" len="med"/>
                      <a:tailEnd type="none" w="med" len="med"/>
                    </a:lnL>
                    <a:lnR>
                      <a:noFill/>
                    </a:lnR>
                    <a:lnT>
                      <a:noFill/>
                    </a:lnT>
                    <a:lnB>
                      <a:noFill/>
                    </a:lnB>
                  </a:tcPr>
                </a:tc>
                <a:tc vMerge="1" hMerge="1">
                  <a:tcPr/>
                </a:tc>
                <a:tc vMerge="1" hMerge="1">
                  <a:tcPr/>
                </a:tc>
                <a:tc vMerge="1" hMerge="1">
                  <a:tcPr/>
                </a:tc>
                <a:tc vMerge="1" hMerge="1">
                  <a:tcPr/>
                </a:tc>
                <a:tc vMerge="1" hMerge="1">
                  <a:tcPr/>
                </a:tc>
                <a:tc vMerge="1" hMerge="1">
                  <a:tcPr/>
                </a:tc>
                <a:tc vMerge="1" hMerge="1">
                  <a:tcPr/>
                </a:tc>
                <a:tc vMerge="1" hMerge="1">
                  <a:tcPr/>
                </a:tc>
                <a:tc vMerge="1" hMerge="1">
                  <a:tcPr/>
                </a:tc>
              </a:tr>
            </a:tbl>
          </a:graphicData>
        </a:graphic>
      </p:graphicFrame>
      <p:sp>
        <p:nvSpPr>
          <p:cNvPr id="3" name="矩形 2"/>
          <p:cNvSpPr/>
          <p:nvPr/>
        </p:nvSpPr>
        <p:spPr>
          <a:xfrm>
            <a:off x="5395595" y="2277110"/>
            <a:ext cx="1269365" cy="476885"/>
          </a:xfrm>
          <a:prstGeom prst="rect">
            <a:avLst/>
          </a:prstGeom>
          <a:solidFill>
            <a:srgbClr val="99CCFF"/>
          </a:solidFill>
          <a:ln w="19050">
            <a:noFill/>
            <a:prstDash val="dash"/>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黑体" panose="02010609060101010101" charset="-122"/>
            </a:endParaRPr>
          </a:p>
        </p:txBody>
      </p:sp>
      <p:sp>
        <p:nvSpPr>
          <p:cNvPr id="4" name="矩形 3"/>
          <p:cNvSpPr/>
          <p:nvPr/>
        </p:nvSpPr>
        <p:spPr>
          <a:xfrm>
            <a:off x="6666230" y="2949575"/>
            <a:ext cx="1245870" cy="476885"/>
          </a:xfrm>
          <a:prstGeom prst="rect">
            <a:avLst/>
          </a:prstGeom>
          <a:solidFill>
            <a:srgbClr val="99CCFF"/>
          </a:solidFill>
          <a:ln w="19050">
            <a:noFill/>
            <a:prstDash val="dash"/>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黑体" panose="02010609060101010101" charset="-122"/>
            </a:endParaRPr>
          </a:p>
        </p:txBody>
      </p:sp>
      <p:sp>
        <p:nvSpPr>
          <p:cNvPr id="6" name="矩形 5"/>
          <p:cNvSpPr/>
          <p:nvPr/>
        </p:nvSpPr>
        <p:spPr>
          <a:xfrm>
            <a:off x="7933055" y="3622675"/>
            <a:ext cx="1245870" cy="476885"/>
          </a:xfrm>
          <a:prstGeom prst="rect">
            <a:avLst/>
          </a:prstGeom>
          <a:solidFill>
            <a:srgbClr val="99CCFF"/>
          </a:solidFill>
          <a:ln w="19050">
            <a:noFill/>
            <a:prstDash val="dash"/>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黑体" panose="02010609060101010101" charset="-122"/>
            </a:endParaRPr>
          </a:p>
        </p:txBody>
      </p:sp>
      <p:sp>
        <p:nvSpPr>
          <p:cNvPr id="7" name="矩形 6"/>
          <p:cNvSpPr/>
          <p:nvPr/>
        </p:nvSpPr>
        <p:spPr>
          <a:xfrm>
            <a:off x="9200515" y="4334510"/>
            <a:ext cx="1245235" cy="476885"/>
          </a:xfrm>
          <a:prstGeom prst="rect">
            <a:avLst/>
          </a:prstGeom>
          <a:solidFill>
            <a:srgbClr val="99CCFF"/>
          </a:solidFill>
          <a:ln w="19050">
            <a:noFill/>
            <a:prstDash val="dash"/>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黑体" panose="02010609060101010101" charset="-122"/>
            </a:endParaRPr>
          </a:p>
        </p:txBody>
      </p:sp>
      <p:sp>
        <p:nvSpPr>
          <p:cNvPr id="45" name="矩形 44"/>
          <p:cNvSpPr/>
          <p:nvPr/>
        </p:nvSpPr>
        <p:spPr>
          <a:xfrm>
            <a:off x="7924800" y="5184140"/>
            <a:ext cx="3124200" cy="476885"/>
          </a:xfrm>
          <a:prstGeom prst="rect">
            <a:avLst/>
          </a:prstGeom>
          <a:solidFill>
            <a:srgbClr val="99CCFF"/>
          </a:solidFill>
          <a:ln w="19050">
            <a:noFill/>
            <a:prstDash val="dash"/>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黑体" panose="02010609060101010101" charset="-122"/>
            </a:endParaRPr>
          </a:p>
        </p:txBody>
      </p:sp>
      <p:sp>
        <p:nvSpPr>
          <p:cNvPr id="8" name="矩形 7"/>
          <p:cNvSpPr/>
          <p:nvPr/>
        </p:nvSpPr>
        <p:spPr>
          <a:xfrm>
            <a:off x="11055350" y="5975985"/>
            <a:ext cx="641985" cy="476885"/>
          </a:xfrm>
          <a:prstGeom prst="rect">
            <a:avLst/>
          </a:prstGeom>
          <a:solidFill>
            <a:srgbClr val="99CCFF"/>
          </a:solidFill>
          <a:ln w="19050">
            <a:noFill/>
            <a:prstDash val="dash"/>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黑体" panose="02010609060101010101" charset="-122"/>
            </a:endParaRP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1"/>
          <p:cNvSpPr>
            <a:spLocks noChangeArrowheads="1"/>
          </p:cNvSpPr>
          <p:nvPr/>
        </p:nvSpPr>
        <p:spPr bwMode="auto">
          <a:xfrm>
            <a:off x="0" y="-226426"/>
            <a:ext cx="12191999" cy="928636"/>
          </a:xfrm>
          <a:prstGeom prst="rect">
            <a:avLst/>
          </a:prstGeom>
        </p:spPr>
        <p:txBody>
          <a:bodyPr wrap="square" lIns="91424" tIns="45712" rIns="91424" bIns="45712" anchor="ctr">
            <a:spAutoFit/>
          </a:bodyPr>
          <a:lstStyle/>
          <a:p>
            <a:pPr lvl="0" algn="ctr">
              <a:lnSpc>
                <a:spcPct val="200000"/>
              </a:lnSpc>
              <a:defRPr/>
            </a:pPr>
            <a:r>
              <a:rPr lang="zh-CN" altLang="en-US" sz="3200" b="1" kern="0" dirty="0">
                <a:solidFill>
                  <a:srgbClr val="FF0000"/>
                </a:solidFill>
                <a:latin typeface="微软雅黑" panose="020B0503020204020204" pitchFamily="34" charset="-122"/>
                <a:ea typeface="微软雅黑" panose="020B0503020204020204" pitchFamily="34" charset="-122"/>
              </a:rPr>
              <a:t>目   录</a:t>
            </a:r>
            <a:endParaRPr kumimoji="0" lang="zh-CN" altLang="en-US" sz="32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
        <p:nvSpPr>
          <p:cNvPr id="4" name="Text Box 6"/>
          <p:cNvSpPr txBox="1">
            <a:spLocks noChangeArrowheads="1"/>
          </p:cNvSpPr>
          <p:nvPr/>
        </p:nvSpPr>
        <p:spPr bwMode="auto">
          <a:xfrm>
            <a:off x="355600" y="1350645"/>
            <a:ext cx="11531600" cy="4608195"/>
          </a:xfrm>
          <a:prstGeom prst="rect">
            <a:avLst/>
          </a:prstGeom>
          <a:noFill/>
          <a:ln>
            <a:noFill/>
          </a:ln>
          <a:effectLst>
            <a:prstShdw prst="shdw17" dist="17961" dir="13500000">
              <a:srgbClr val="708688"/>
            </a:prstShdw>
          </a:effectLst>
        </p:spPr>
        <p:txBody>
          <a:bodyPr wrap="square" tIns="190800" bIns="190800" anchor="ctr" anchorCtr="1">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lnSpc>
                <a:spcPct val="150000"/>
              </a:lnSpc>
              <a:spcBef>
                <a:spcPct val="0"/>
              </a:spcBef>
              <a:spcAft>
                <a:spcPct val="0"/>
              </a:spcAft>
              <a:buClr>
                <a:srgbClr val="FF0000"/>
              </a:buClr>
            </a:pPr>
            <a:r>
              <a:rPr lang="zh-CN" altLang="en-US" sz="3200" dirty="0">
                <a:solidFill>
                  <a:srgbClr val="000000"/>
                </a:solidFill>
                <a:latin typeface="方正大黑简体" panose="03000509000000000000" pitchFamily="65" charset="-122"/>
                <a:ea typeface="方正大黑简体" panose="03000509000000000000" pitchFamily="65" charset="-122"/>
                <a:sym typeface="+mn-ea"/>
              </a:rPr>
              <a:t>一、项目概要</a:t>
            </a:r>
            <a:endParaRPr lang="zh-CN" altLang="en-US" sz="3200" dirty="0">
              <a:solidFill>
                <a:srgbClr val="000000"/>
              </a:solidFill>
              <a:latin typeface="方正大黑简体" panose="03000509000000000000" pitchFamily="65" charset="-122"/>
              <a:ea typeface="方正大黑简体" panose="03000509000000000000"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3000509000000000000" pitchFamily="65" charset="-122"/>
                <a:ea typeface="方正大黑简体" panose="03000509000000000000" pitchFamily="65" charset="-122"/>
                <a:sym typeface="+mn-ea"/>
              </a:rPr>
              <a:t>二、立项的必要性</a:t>
            </a:r>
            <a:endParaRPr lang="zh-CN" altLang="en-US" sz="3200" dirty="0">
              <a:solidFill>
                <a:srgbClr val="000000"/>
              </a:solidFill>
              <a:latin typeface="方正大黑简体" panose="03000509000000000000" pitchFamily="65" charset="-122"/>
              <a:ea typeface="方正大黑简体" panose="03000509000000000000"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3000509000000000000" pitchFamily="65" charset="-122"/>
                <a:ea typeface="方正大黑简体" panose="03000509000000000000" pitchFamily="65" charset="-122"/>
                <a:sym typeface="+mn-ea"/>
              </a:rPr>
              <a:t>三、主要研究内容与目标</a:t>
            </a:r>
            <a:endParaRPr lang="zh-CN" altLang="en-US" sz="3200" dirty="0">
              <a:solidFill>
                <a:srgbClr val="000000"/>
              </a:solidFill>
              <a:latin typeface="方正大黑简体" panose="03000509000000000000" pitchFamily="65" charset="-122"/>
              <a:ea typeface="方正大黑简体" panose="03000509000000000000"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3000509000000000000" pitchFamily="65" charset="-122"/>
                <a:ea typeface="方正大黑简体" panose="03000509000000000000" pitchFamily="65" charset="-122"/>
                <a:sym typeface="+mn-ea"/>
              </a:rPr>
              <a:t>四、主要技术经济考核指标</a:t>
            </a:r>
            <a:endParaRPr lang="zh-CN" altLang="en-US" sz="3200" dirty="0">
              <a:solidFill>
                <a:srgbClr val="000000"/>
              </a:solidFill>
              <a:latin typeface="方正大黑简体" panose="03000509000000000000" pitchFamily="65" charset="-122"/>
              <a:ea typeface="方正大黑简体" panose="03000509000000000000" pitchFamily="65" charset="-122"/>
            </a:endParaRPr>
          </a:p>
          <a:p>
            <a:pPr fontAlgn="base">
              <a:lnSpc>
                <a:spcPct val="150000"/>
              </a:lnSpc>
              <a:spcBef>
                <a:spcPct val="0"/>
              </a:spcBef>
              <a:spcAft>
                <a:spcPct val="0"/>
              </a:spcAft>
              <a:buClr>
                <a:srgbClr val="FF0000"/>
              </a:buClr>
            </a:pPr>
            <a:r>
              <a:rPr lang="zh-CN" altLang="en-US" sz="3200" dirty="0">
                <a:solidFill>
                  <a:srgbClr val="000000"/>
                </a:solidFill>
                <a:latin typeface="方正大黑简体" panose="03000509000000000000" pitchFamily="65" charset="-122"/>
                <a:ea typeface="方正大黑简体" panose="03000509000000000000" pitchFamily="65" charset="-122"/>
                <a:sym typeface="+mn-ea"/>
              </a:rPr>
              <a:t>五、项目研究技术路线</a:t>
            </a:r>
            <a:endParaRPr lang="zh-CN" altLang="en-US" sz="3200" dirty="0">
              <a:solidFill>
                <a:srgbClr val="000000"/>
              </a:solidFill>
              <a:latin typeface="方正大黑简体" panose="03000509000000000000" pitchFamily="65" charset="-122"/>
              <a:ea typeface="方正大黑简体" panose="03000509000000000000" pitchFamily="65" charset="-122"/>
            </a:endParaRPr>
          </a:p>
          <a:p>
            <a:pPr fontAlgn="base">
              <a:lnSpc>
                <a:spcPct val="150000"/>
              </a:lnSpc>
              <a:spcBef>
                <a:spcPct val="0"/>
              </a:spcBef>
              <a:spcAft>
                <a:spcPct val="0"/>
              </a:spcAft>
              <a:buClr>
                <a:srgbClr val="FF0000"/>
              </a:buClr>
            </a:pPr>
            <a:r>
              <a:rPr lang="zh-CN" altLang="en-US" sz="3200" dirty="0">
                <a:solidFill>
                  <a:srgbClr val="FF0000"/>
                </a:solidFill>
                <a:latin typeface="方正大黑简体" panose="03000509000000000000" pitchFamily="65" charset="-122"/>
                <a:ea typeface="方正大黑简体" panose="03000509000000000000" pitchFamily="65" charset="-122"/>
                <a:sym typeface="+mn-ea"/>
              </a:rPr>
              <a:t>六、项目组织</a:t>
            </a:r>
            <a:endParaRPr lang="zh-CN" altLang="en-US" sz="3200" dirty="0">
              <a:solidFill>
                <a:srgbClr val="FF0000"/>
              </a:solidFill>
              <a:latin typeface="方正大黑简体" panose="03000509000000000000" pitchFamily="65" charset="-122"/>
              <a:ea typeface="方正大黑简体" panose="03000509000000000000" pitchFamily="65" charset="-122"/>
              <a:sym typeface="+mn-ea"/>
            </a:endParaRP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7"/>
          <p:cNvSpPr txBox="1"/>
          <p:nvPr/>
        </p:nvSpPr>
        <p:spPr bwMode="auto">
          <a:xfrm>
            <a:off x="320061" y="888766"/>
            <a:ext cx="11551878" cy="368300"/>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、主要研究人员</a:t>
            </a:r>
            <a:endParaRPr lang="zh-CN" altLang="en-US" dirty="0">
              <a:latin typeface="微软雅黑" panose="020B0503020204020204" pitchFamily="34" charset="-122"/>
              <a:ea typeface="微软雅黑" panose="020B0503020204020204" pitchFamily="34" charset="-122"/>
            </a:endParaRPr>
          </a:p>
        </p:txBody>
      </p:sp>
      <p:sp>
        <p:nvSpPr>
          <p:cNvPr id="37" name="Rectangle 11"/>
          <p:cNvSpPr>
            <a:spLocks noChangeArrowheads="1"/>
          </p:cNvSpPr>
          <p:nvPr/>
        </p:nvSpPr>
        <p:spPr bwMode="auto">
          <a:xfrm>
            <a:off x="8890" y="-41275"/>
            <a:ext cx="1218120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rPr>
              <a:t>（一）项目组织</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334329" y="1319605"/>
            <a:ext cx="11485562" cy="460375"/>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胡晓东研究员牵头组织，多位硕士、博士深度参与</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4" name="表格 2"/>
          <p:cNvGraphicFramePr>
            <a:graphicFrameLocks noGrp="1"/>
          </p:cNvGraphicFramePr>
          <p:nvPr>
            <p:custDataLst>
              <p:tags r:id="rId1"/>
            </p:custDataLst>
          </p:nvPr>
        </p:nvGraphicFramePr>
        <p:xfrm>
          <a:off x="319405" y="1802130"/>
          <a:ext cx="11500485" cy="4160520"/>
        </p:xfrm>
        <a:graphic>
          <a:graphicData uri="http://schemas.openxmlformats.org/drawingml/2006/table">
            <a:tbl>
              <a:tblPr firstRow="1" bandRow="1">
                <a:tableStyleId>{5C22544A-7EE6-4342-B048-85BDC9FD1C3A}</a:tableStyleId>
              </a:tblPr>
              <a:tblGrid>
                <a:gridCol w="1332865"/>
                <a:gridCol w="1301115"/>
                <a:gridCol w="832485"/>
                <a:gridCol w="1267460"/>
                <a:gridCol w="1221740"/>
                <a:gridCol w="1237615"/>
                <a:gridCol w="2384425"/>
                <a:gridCol w="1922780"/>
              </a:tblGrid>
              <a:tr h="462280">
                <a:tc>
                  <a:txBody>
                    <a:bodyPr/>
                    <a:lstStyle/>
                    <a:p>
                      <a:pPr algn="ctr">
                        <a:spcAft>
                          <a:spcPts val="0"/>
                        </a:spcAft>
                      </a:pPr>
                      <a:r>
                        <a:rPr lang="zh-CN" sz="1600" b="1" kern="100" baseline="0" dirty="0">
                          <a:solidFill>
                            <a:schemeClr val="bg1"/>
                          </a:solidFill>
                          <a:effectLst/>
                          <a:latin typeface="微软雅黑" panose="020B0503020204020204" pitchFamily="34" charset="-122"/>
                          <a:ea typeface="微软雅黑" panose="020B0503020204020204" pitchFamily="34" charset="-122"/>
                        </a:rPr>
                        <a:t>职务</a:t>
                      </a:r>
                      <a:endParaRPr lang="zh-CN" sz="1600" b="1" kern="100" baseline="0" dirty="0">
                        <a:solidFill>
                          <a:schemeClr val="bg1"/>
                        </a:solidFill>
                        <a:effectLst/>
                        <a:latin typeface="微软雅黑" panose="020B0503020204020204" pitchFamily="34" charset="-122"/>
                        <a:ea typeface="微软雅黑" panose="020B0503020204020204" pitchFamily="34" charset="-122"/>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a:spcAft>
                          <a:spcPts val="0"/>
                        </a:spcAft>
                      </a:pPr>
                      <a:r>
                        <a:rPr lang="zh-CN" sz="1600" b="1" kern="100" baseline="0" dirty="0">
                          <a:solidFill>
                            <a:schemeClr val="bg1"/>
                          </a:solidFill>
                          <a:effectLst/>
                          <a:latin typeface="微软雅黑" panose="020B0503020204020204" pitchFamily="34" charset="-122"/>
                          <a:ea typeface="微软雅黑" panose="020B0503020204020204" pitchFamily="34" charset="-122"/>
                        </a:rPr>
                        <a:t>姓 名</a:t>
                      </a:r>
                      <a:endParaRPr lang="zh-CN" sz="1600" b="1" kern="100" baseline="0" dirty="0">
                        <a:solidFill>
                          <a:schemeClr val="bg1"/>
                        </a:solidFill>
                        <a:effectLst/>
                        <a:latin typeface="微软雅黑" panose="020B0503020204020204" pitchFamily="34" charset="-122"/>
                        <a:ea typeface="微软雅黑" panose="020B0503020204020204" pitchFamily="34" charset="-122"/>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a:spcAft>
                          <a:spcPts val="0"/>
                        </a:spcAft>
                      </a:pPr>
                      <a:r>
                        <a:rPr lang="zh-CN" sz="1600" b="1" kern="100" baseline="0" dirty="0">
                          <a:solidFill>
                            <a:schemeClr val="bg1"/>
                          </a:solidFill>
                          <a:effectLst/>
                          <a:latin typeface="微软雅黑" panose="020B0503020204020204" pitchFamily="34" charset="-122"/>
                          <a:ea typeface="微软雅黑" panose="020B0503020204020204" pitchFamily="34" charset="-122"/>
                        </a:rPr>
                        <a:t>性别</a:t>
                      </a:r>
                      <a:endParaRPr lang="zh-CN" sz="1600" b="1" kern="100" baseline="0" dirty="0">
                        <a:solidFill>
                          <a:schemeClr val="bg1"/>
                        </a:solidFill>
                        <a:effectLst/>
                        <a:latin typeface="微软雅黑" panose="020B0503020204020204" pitchFamily="34" charset="-122"/>
                        <a:ea typeface="微软雅黑" panose="020B0503020204020204" pitchFamily="34" charset="-122"/>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a:spcAft>
                          <a:spcPts val="0"/>
                        </a:spcAft>
                      </a:pPr>
                      <a:r>
                        <a:rPr lang="zh-CN" sz="1600" b="1" kern="100" baseline="0" dirty="0">
                          <a:solidFill>
                            <a:schemeClr val="bg1"/>
                          </a:solidFill>
                          <a:effectLst/>
                          <a:latin typeface="微软雅黑" panose="020B0503020204020204" pitchFamily="34" charset="-122"/>
                          <a:ea typeface="微软雅黑" panose="020B0503020204020204" pitchFamily="34" charset="-122"/>
                        </a:rPr>
                        <a:t>年龄</a:t>
                      </a:r>
                      <a:endParaRPr lang="zh-CN" sz="1600" b="1" kern="100" baseline="0" dirty="0">
                        <a:solidFill>
                          <a:schemeClr val="bg1"/>
                        </a:solidFill>
                        <a:effectLst/>
                        <a:latin typeface="微软雅黑" panose="020B0503020204020204" pitchFamily="34" charset="-122"/>
                        <a:ea typeface="微软雅黑" panose="020B0503020204020204" pitchFamily="34" charset="-122"/>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a:spcAft>
                          <a:spcPts val="0"/>
                        </a:spcAft>
                      </a:pPr>
                      <a:r>
                        <a:rPr lang="zh-CN" sz="1600" b="1" kern="100" baseline="0" dirty="0">
                          <a:solidFill>
                            <a:schemeClr val="bg1"/>
                          </a:solidFill>
                          <a:effectLst/>
                          <a:latin typeface="微软雅黑" panose="020B0503020204020204" pitchFamily="34" charset="-122"/>
                          <a:ea typeface="微软雅黑" panose="020B0503020204020204" pitchFamily="34" charset="-122"/>
                        </a:rPr>
                        <a:t>学历</a:t>
                      </a:r>
                      <a:endParaRPr lang="zh-CN" sz="1600" b="1" kern="100" baseline="0" dirty="0">
                        <a:solidFill>
                          <a:schemeClr val="bg1"/>
                        </a:solidFill>
                        <a:effectLst/>
                        <a:latin typeface="微软雅黑" panose="020B0503020204020204" pitchFamily="34" charset="-122"/>
                        <a:ea typeface="微软雅黑" panose="020B0503020204020204" pitchFamily="34" charset="-122"/>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a:spcAft>
                          <a:spcPts val="0"/>
                        </a:spcAft>
                      </a:pPr>
                      <a:r>
                        <a:rPr lang="zh-CN" sz="1600" b="1" kern="100" baseline="0" dirty="0">
                          <a:solidFill>
                            <a:schemeClr val="bg1"/>
                          </a:solidFill>
                          <a:effectLst/>
                          <a:latin typeface="微软雅黑" panose="020B0503020204020204" pitchFamily="34" charset="-122"/>
                          <a:ea typeface="微软雅黑" panose="020B0503020204020204" pitchFamily="34" charset="-122"/>
                        </a:rPr>
                        <a:t>职称</a:t>
                      </a:r>
                      <a:endParaRPr lang="zh-CN" sz="1600" b="1" kern="100" baseline="0" dirty="0">
                        <a:solidFill>
                          <a:schemeClr val="bg1"/>
                        </a:solidFill>
                        <a:effectLst/>
                        <a:latin typeface="微软雅黑" panose="020B0503020204020204" pitchFamily="34" charset="-122"/>
                        <a:ea typeface="微软雅黑" panose="020B0503020204020204" pitchFamily="34" charset="-122"/>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a:spcAft>
                          <a:spcPts val="0"/>
                        </a:spcAft>
                      </a:pPr>
                      <a:r>
                        <a:rPr lang="zh-CN" sz="1600" b="1" kern="100" baseline="0" dirty="0">
                          <a:solidFill>
                            <a:schemeClr val="bg1"/>
                          </a:solidFill>
                          <a:effectLst/>
                          <a:latin typeface="微软雅黑" panose="020B0503020204020204" pitchFamily="34" charset="-122"/>
                          <a:ea typeface="微软雅黑" panose="020B0503020204020204" pitchFamily="34" charset="-122"/>
                        </a:rPr>
                        <a:t>专业特长</a:t>
                      </a:r>
                      <a:endParaRPr lang="zh-CN" sz="1600" b="1" kern="100" baseline="0" dirty="0">
                        <a:solidFill>
                          <a:schemeClr val="bg1"/>
                        </a:solidFill>
                        <a:effectLst/>
                        <a:latin typeface="微软雅黑" panose="020B0503020204020204" pitchFamily="34" charset="-122"/>
                        <a:ea typeface="微软雅黑" panose="020B0503020204020204" pitchFamily="34" charset="-122"/>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a:spcAft>
                          <a:spcPts val="0"/>
                        </a:spcAft>
                      </a:pPr>
                      <a:r>
                        <a:rPr lang="zh-CN" altLang="en-US" sz="1600" b="1" kern="100" baseline="0" dirty="0">
                          <a:solidFill>
                            <a:schemeClr val="bg1"/>
                          </a:solidFill>
                          <a:effectLst/>
                          <a:latin typeface="微软雅黑" panose="020B0503020204020204" pitchFamily="34" charset="-122"/>
                          <a:ea typeface="微软雅黑" panose="020B0503020204020204" pitchFamily="34" charset="-122"/>
                        </a:rPr>
                        <a:t>项目参与时间</a:t>
                      </a:r>
                      <a:endParaRPr lang="zh-CN" sz="1600" b="1" kern="100" baseline="0" dirty="0">
                        <a:solidFill>
                          <a:schemeClr val="bg1"/>
                        </a:solidFill>
                        <a:effectLst/>
                        <a:latin typeface="微软雅黑" panose="020B0503020204020204" pitchFamily="34" charset="-122"/>
                        <a:ea typeface="微软雅黑" panose="020B0503020204020204" pitchFamily="34" charset="-122"/>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r>
              <a:tr h="462280">
                <a:tc>
                  <a:txBody>
                    <a:bodyPr/>
                    <a:lstStyle/>
                    <a:p>
                      <a:pPr algn="ctr">
                        <a:spcAft>
                          <a:spcPts val="0"/>
                        </a:spcAft>
                      </a:pPr>
                      <a:r>
                        <a:rPr lang="zh-CN" altLang="zh-CN" sz="1600" b="0" kern="100" baseline="0" dirty="0">
                          <a:effectLst/>
                          <a:latin typeface="微软雅黑" panose="020B0503020204020204" pitchFamily="34" charset="-122"/>
                          <a:ea typeface="微软雅黑" panose="020B0503020204020204" pitchFamily="34" charset="-122"/>
                        </a:rPr>
                        <a:t>项目</a:t>
                      </a:r>
                      <a:r>
                        <a:rPr lang="zh-CN" altLang="en-US" sz="1600" b="0" kern="100" baseline="0" dirty="0">
                          <a:effectLst/>
                          <a:latin typeface="微软雅黑" panose="020B0503020204020204" pitchFamily="34" charset="-122"/>
                          <a:ea typeface="微软雅黑" panose="020B0503020204020204" pitchFamily="34" charset="-122"/>
                        </a:rPr>
                        <a:t>长</a:t>
                      </a:r>
                      <a:endParaRPr lang="zh-CN" altLang="zh-CN" sz="1600" b="0" kern="100" baseline="0" dirty="0">
                        <a:effectLst/>
                        <a:latin typeface="微软雅黑" panose="020B0503020204020204" pitchFamily="34" charset="-122"/>
                        <a:ea typeface="微软雅黑" panose="020B0503020204020204" pitchFamily="34" charset="-122"/>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胡晓东</a:t>
                      </a:r>
                      <a:endParaRPr lang="zh-CN"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男</a:t>
                      </a:r>
                      <a:endParaRPr lang="zh-CN"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altLang="zh-CN"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35</a:t>
                      </a:r>
                      <a:endParaRPr lang="en-US" altLang="zh-CN"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博士</a:t>
                      </a:r>
                      <a:endParaRPr lang="zh-CN"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副</a:t>
                      </a:r>
                      <a:r>
                        <a:rPr lang="zh-CN"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研究员</a:t>
                      </a:r>
                      <a:endParaRPr lang="zh-CN"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压裂诊断</a:t>
                      </a:r>
                      <a:r>
                        <a:rPr lang="en-US"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zh-CN"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储层改造</a:t>
                      </a:r>
                      <a:endParaRPr lang="zh-CN"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2025.03-2025.12</a:t>
                      </a:r>
                      <a:endParaRPr kumimoji="0" lang="zh-CN" altLang="zh-CN" sz="16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62280">
                <a:tc rowSpan="7">
                  <a:txBody>
                    <a:bodyPr/>
                    <a:lstStyle/>
                    <a:p>
                      <a:pPr algn="ctr"/>
                      <a:r>
                        <a:rPr lang="zh-CN" altLang="en-US" sz="1400" dirty="0">
                          <a:solidFill>
                            <a:schemeClr val="tx1"/>
                          </a:solidFill>
                          <a:latin typeface="微软雅黑" panose="020B0503020204020204" pitchFamily="34" charset="-122"/>
                          <a:ea typeface="微软雅黑" panose="020B0503020204020204" pitchFamily="34" charset="-122"/>
                        </a:rPr>
                        <a:t>主要研究人员</a:t>
                      </a:r>
                      <a:endParaRPr lang="zh-CN" altLang="en-US" sz="1400" dirty="0">
                        <a:solidFill>
                          <a:schemeClr val="tx1"/>
                        </a:solidFill>
                        <a:latin typeface="微软雅黑" panose="020B0503020204020204" pitchFamily="34" charset="-122"/>
                        <a:ea typeface="微软雅黑" panose="020B0503020204020204" pitchFamily="34" charset="-122"/>
                      </a:endParaRPr>
                    </a:p>
                  </a:txBody>
                  <a:tcPr vert="eaVert"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董恩佳</a:t>
                      </a:r>
                      <a:endParaRPr lang="zh-CN" altLang="en-US"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男</a:t>
                      </a:r>
                      <a:endParaRPr lang="zh-CN"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spcAft>
                          <a:spcPts val="0"/>
                        </a:spcAft>
                      </a:pPr>
                      <a:r>
                        <a:rPr lang="en-US" sz="1600" b="0" kern="100" baseline="0" dirty="0">
                          <a:solidFill>
                            <a:schemeClr val="dk1"/>
                          </a:solidFill>
                          <a:effectLst/>
                          <a:latin typeface="Times New Roman" panose="02020603050405020304" pitchFamily="18" charset="0"/>
                          <a:ea typeface="微软雅黑" panose="020B0503020204020204" pitchFamily="34" charset="-122"/>
                          <a:cs typeface="Times New Roman" panose="02020603050405020304" pitchFamily="18" charset="0"/>
                        </a:rPr>
                        <a:t>27</a:t>
                      </a:r>
                      <a:endParaRPr lang="en-US" altLang="en-US" sz="1600" b="0" kern="100" baseline="0" dirty="0">
                        <a:solidFill>
                          <a:schemeClr val="dk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博士</a:t>
                      </a:r>
                      <a:endParaRPr lang="zh-CN" altLang="en-US"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学生</a:t>
                      </a:r>
                      <a:endParaRPr lang="zh-CN"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储层改造</a:t>
                      </a:r>
                      <a:endParaRPr lang="zh-CN"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2025.03-2025.12</a:t>
                      </a:r>
                      <a:endParaRPr kumimoji="0" lang="zh-CN" altLang="zh-CN" sz="16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62280">
                <a:tc vMerge="1">
                  <a:tcPr/>
                </a:tc>
                <a:tc>
                  <a:txBody>
                    <a:bodyPr/>
                    <a:lstStyle/>
                    <a:p>
                      <a:pPr algn="ctr">
                        <a:spcAft>
                          <a:spcPts val="0"/>
                        </a:spcAft>
                      </a:pPr>
                      <a:r>
                        <a:rPr lang="zh-CN" altLang="en-US"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周乾龙</a:t>
                      </a:r>
                      <a:endParaRPr lang="zh-CN" altLang="en-US"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男</a:t>
                      </a:r>
                      <a:endParaRPr lang="zh-CN" altLang="en-US"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spcAft>
                          <a:spcPts val="0"/>
                        </a:spcAft>
                      </a:pPr>
                      <a:r>
                        <a:rPr lang="en-US" altLang="zh-CN" sz="1600" b="0" kern="100" baseline="0" dirty="0">
                          <a:solidFill>
                            <a:schemeClr val="dk1"/>
                          </a:solidFill>
                          <a:effectLst/>
                          <a:latin typeface="Times New Roman" panose="02020603050405020304" pitchFamily="18" charset="0"/>
                          <a:ea typeface="微软雅黑" panose="020B0503020204020204" pitchFamily="34" charset="-122"/>
                          <a:cs typeface="Times New Roman" panose="02020603050405020304" pitchFamily="18" charset="0"/>
                        </a:rPr>
                        <a:t>26</a:t>
                      </a:r>
                      <a:endParaRPr lang="en-US" altLang="zh-CN" sz="1600" b="0" kern="100" baseline="0" dirty="0">
                        <a:solidFill>
                          <a:schemeClr val="dk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博士</a:t>
                      </a:r>
                      <a:endParaRPr lang="zh-CN" altLang="en-US"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学生</a:t>
                      </a:r>
                      <a:endParaRPr lang="zh-CN" altLang="en-US"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储层改造</a:t>
                      </a:r>
                      <a:endParaRPr lang="zh-CN" altLang="zh-CN"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2025.03-2025.12</a:t>
                      </a:r>
                      <a:endParaRPr kumimoji="0" lang="zh-CN" altLang="zh-CN" sz="16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62280">
                <a:tc vMerge="1">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闻吉鹏</a:t>
                      </a:r>
                      <a:endParaRPr lang="zh-CN" altLang="en-US"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男</a:t>
                      </a:r>
                      <a:endParaRPr lang="zh-CN" altLang="en-US"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spcAft>
                          <a:spcPts val="0"/>
                        </a:spcAft>
                      </a:pPr>
                      <a:r>
                        <a:rPr lang="en-US" altLang="zh-CN" sz="1600" b="0" kern="100" baseline="0" dirty="0">
                          <a:solidFill>
                            <a:schemeClr val="dk1"/>
                          </a:solidFill>
                          <a:effectLst/>
                          <a:latin typeface="Times New Roman" panose="02020603050405020304" pitchFamily="18" charset="0"/>
                          <a:ea typeface="微软雅黑" panose="020B0503020204020204" pitchFamily="34" charset="-122"/>
                          <a:cs typeface="Times New Roman" panose="02020603050405020304" pitchFamily="18" charset="0"/>
                        </a:rPr>
                        <a:t>25</a:t>
                      </a:r>
                      <a:endParaRPr lang="en-US" altLang="zh-CN" sz="1600" b="0" kern="100" baseline="0" dirty="0">
                        <a:solidFill>
                          <a:schemeClr val="dk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博士</a:t>
                      </a:r>
                      <a:endParaRPr lang="zh-CN" altLang="en-US"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学生</a:t>
                      </a:r>
                      <a:endParaRPr lang="zh-CN" altLang="en-US"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压裂诊断</a:t>
                      </a:r>
                      <a:endParaRPr lang="zh-CN" altLang="en-US"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2025.03-2025.12</a:t>
                      </a:r>
                      <a:endParaRPr kumimoji="0" lang="zh-CN" altLang="zh-CN" sz="16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62280">
                <a:tc vMerge="1">
                  <a:tcPr/>
                </a:tc>
                <a:tc>
                  <a:txBody>
                    <a:bodyPr/>
                    <a:lstStyle/>
                    <a:p>
                      <a:pPr algn="ctr">
                        <a:spcAft>
                          <a:spcPts val="0"/>
                        </a:spcAft>
                      </a:pPr>
                      <a:r>
                        <a:rPr lang="zh-CN" altLang="en-US"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赖文俊</a:t>
                      </a:r>
                      <a:endParaRPr lang="zh-CN" altLang="en-US"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男</a:t>
                      </a:r>
                      <a:endParaRPr lang="zh-CN" altLang="en-US"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altLang="zh-CN"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24</a:t>
                      </a:r>
                      <a:endParaRPr lang="en-US" altLang="zh-CN"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硕士</a:t>
                      </a:r>
                      <a:endParaRPr lang="zh-CN" altLang="en-US"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学生</a:t>
                      </a:r>
                      <a:endParaRPr lang="zh-CN" altLang="en-US"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kumimoji="0" lang="zh-CN" altLang="en-US" sz="1600" b="0" i="0" u="none" strike="noStrike" kern="1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压裂诊断</a:t>
                      </a:r>
                      <a:endParaRPr kumimoji="0" lang="zh-CN" altLang="en-US" sz="1600" b="0" i="0" u="none" strike="noStrike" kern="1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2025.03-2025.12</a:t>
                      </a:r>
                      <a:endParaRPr kumimoji="0" lang="zh-CN" altLang="zh-CN" sz="16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62280">
                <a:tc vMerge="1">
                  <a:tcPr/>
                </a:tc>
                <a:tc>
                  <a:txBody>
                    <a:bodyPr/>
                    <a:lstStyle/>
                    <a:p>
                      <a:pPr algn="ctr">
                        <a:spcAft>
                          <a:spcPts val="0"/>
                        </a:spcAft>
                      </a:pPr>
                      <a:r>
                        <a:rPr lang="zh-CN" altLang="en-US"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邓宇通</a:t>
                      </a:r>
                      <a:endParaRPr lang="zh-CN" altLang="en-US"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男</a:t>
                      </a:r>
                      <a:endParaRPr lang="zh-CN" altLang="en-US"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altLang="zh-CN"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24</a:t>
                      </a:r>
                      <a:endParaRPr lang="en-US" altLang="zh-CN"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硕士</a:t>
                      </a:r>
                      <a:endParaRPr lang="zh-CN" altLang="en-US"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学生</a:t>
                      </a:r>
                      <a:endParaRPr lang="zh-CN" altLang="en-US"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kumimoji="0" lang="zh-CN" altLang="en-US" sz="1600" b="0" i="0" u="none" strike="noStrike" kern="1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压裂诊断</a:t>
                      </a:r>
                      <a:endParaRPr kumimoji="0" lang="zh-CN" altLang="en-US" sz="1600" b="0" i="0" u="none" strike="noStrike" kern="1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2025.03-2025.12</a:t>
                      </a:r>
                      <a:endParaRPr kumimoji="0" lang="zh-CN" altLang="zh-CN" sz="16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62280">
                <a:tc vMerge="1">
                  <a:tcPr/>
                </a:tc>
                <a:tc>
                  <a:txBody>
                    <a:bodyPr/>
                    <a:lstStyle/>
                    <a:p>
                      <a:pPr algn="ctr">
                        <a:spcAft>
                          <a:spcPts val="0"/>
                        </a:spcAft>
                      </a:pPr>
                      <a:r>
                        <a:rPr lang="zh-CN" altLang="en-US"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张铭志</a:t>
                      </a:r>
                      <a:endParaRPr lang="zh-CN" altLang="en-US"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男</a:t>
                      </a:r>
                      <a:endParaRPr lang="zh-CN" altLang="en-US"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altLang="zh-CN"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24</a:t>
                      </a:r>
                      <a:endParaRPr lang="en-US" altLang="zh-CN"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硕士</a:t>
                      </a:r>
                      <a:endParaRPr lang="zh-CN" altLang="en-US"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学生</a:t>
                      </a:r>
                      <a:endParaRPr lang="zh-CN" altLang="en-US"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kumimoji="0" lang="zh-CN" altLang="en-US" sz="1600" b="0" i="0" u="none" strike="noStrike" kern="1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压裂诊断</a:t>
                      </a:r>
                      <a:endParaRPr kumimoji="0" lang="zh-CN" altLang="en-US" sz="1600" b="0" i="0" u="none" strike="noStrike" kern="1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2025.03-2025.12</a:t>
                      </a:r>
                      <a:endParaRPr kumimoji="0" lang="zh-CN" altLang="zh-CN" sz="16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62280">
                <a:tc vMerge="1">
                  <a:tcPr vert="eaVert"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杨鑫婕</a:t>
                      </a:r>
                      <a:endParaRPr lang="zh-CN" altLang="en-US"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女</a:t>
                      </a:r>
                      <a:endParaRPr lang="en-US" altLang="zh-CN"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altLang="zh-CN"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22</a:t>
                      </a:r>
                      <a:endParaRPr lang="en-US" altLang="zh-CN"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硕士</a:t>
                      </a:r>
                      <a:endParaRPr lang="zh-CN" altLang="en-US"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学生</a:t>
                      </a:r>
                      <a:endParaRPr lang="zh-CN" altLang="en-US" sz="1600" b="0" kern="100" baseline="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altLang="en-US" sz="1600" kern="10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压裂诊断</a:t>
                      </a:r>
                      <a:endParaRPr kumimoji="0" lang="zh-CN" altLang="en-US" sz="1600" b="0" i="0" u="none" strike="noStrike" kern="1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2025.03-2025.12</a:t>
                      </a:r>
                      <a:endParaRPr kumimoji="0" lang="zh-CN" altLang="zh-CN" sz="16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marL="65345" marR="653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7"/>
          <p:cNvSpPr txBox="1"/>
          <p:nvPr/>
        </p:nvSpPr>
        <p:spPr bwMode="auto">
          <a:xfrm>
            <a:off x="320061" y="888766"/>
            <a:ext cx="11551878" cy="368300"/>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、前期研究基础</a:t>
            </a:r>
            <a:endParaRPr lang="zh-CN" altLang="en-US" dirty="0">
              <a:latin typeface="微软雅黑" panose="020B0503020204020204" pitchFamily="34" charset="-122"/>
              <a:ea typeface="微软雅黑" panose="020B0503020204020204" pitchFamily="34" charset="-122"/>
            </a:endParaRPr>
          </a:p>
        </p:txBody>
      </p:sp>
      <p:sp>
        <p:nvSpPr>
          <p:cNvPr id="37" name="Rectangle 11"/>
          <p:cNvSpPr>
            <a:spLocks noChangeArrowheads="1"/>
          </p:cNvSpPr>
          <p:nvPr/>
        </p:nvSpPr>
        <p:spPr bwMode="auto">
          <a:xfrm>
            <a:off x="8890" y="-41275"/>
            <a:ext cx="1218120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rPr>
              <a:t>（二）团队研究基础</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334329" y="1319605"/>
            <a:ext cx="11485562" cy="829945"/>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项目组在压裂诊断领域开展了大量研究工作，基于模型计算及现场应用研究成果，发表高水平</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SCI</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论文</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篇，国际会议</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篇，获取专利授权</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项、软件著作权</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项，在</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小波分析、</a:t>
            </a:r>
            <a:r>
              <a:rPr lang="en-US" altLang="zh-CN"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G</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函数反演及压降曲线分析方向</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拥有雄厚的研究基础和丰富的成果积累。</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4" name="表格 3"/>
          <p:cNvGraphicFramePr>
            <a:graphicFrameLocks noGrp="1"/>
          </p:cNvGraphicFramePr>
          <p:nvPr/>
        </p:nvGraphicFramePr>
        <p:xfrm>
          <a:off x="407368" y="2165623"/>
          <a:ext cx="11449671" cy="1874159"/>
        </p:xfrm>
        <a:graphic>
          <a:graphicData uri="http://schemas.openxmlformats.org/drawingml/2006/table">
            <a:tbl>
              <a:tblPr/>
              <a:tblGrid>
                <a:gridCol w="1603418"/>
                <a:gridCol w="1013544"/>
                <a:gridCol w="1085940"/>
                <a:gridCol w="7746769"/>
              </a:tblGrid>
              <a:tr h="267737">
                <a:tc>
                  <a:txBody>
                    <a:bodyPr/>
                    <a:lstStyle/>
                    <a:p>
                      <a:pPr algn="ctr" fontAlgn="ctr"/>
                      <a:r>
                        <a:rPr lang="zh-CN" altLang="en-US" sz="1100" b="1" i="0" u="none" strike="noStrike"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类型</a:t>
                      </a:r>
                      <a:endParaRPr lang="zh-CN" altLang="en-US" sz="1100" b="1" i="0" u="none" strike="noStrike"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5172" marR="5172" marT="517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fontAlgn="ctr"/>
                      <a:r>
                        <a:rPr lang="zh-CN" altLang="en-US" sz="1100" b="1" i="0" u="none" strike="noStrike"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时间</a:t>
                      </a:r>
                      <a:endParaRPr lang="zh-CN" altLang="en-US" sz="1100" b="1" i="0" u="none" strike="noStrike"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5172" marR="5172" marT="517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fontAlgn="ctr"/>
                      <a:r>
                        <a:rPr lang="zh-CN" altLang="en-US" sz="1100" b="1" i="0" u="none" strike="noStrike"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等级</a:t>
                      </a:r>
                      <a:endParaRPr lang="zh-CN" altLang="en-US" sz="1100" b="1" i="0" u="none" strike="noStrike"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5172" marR="5172" marT="517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fontAlgn="ctr"/>
                      <a:r>
                        <a:rPr lang="zh-CN" altLang="en-US" sz="1100" b="1" i="0" u="none" strike="noStrike"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名称</a:t>
                      </a:r>
                      <a:endParaRPr lang="zh-CN" altLang="en-US" sz="1100" b="1" i="0" u="none" strike="noStrike"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5172" marR="5172" marT="517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r h="267737">
                <a:tc>
                  <a:txBody>
                    <a:bodyPr/>
                    <a:lstStyle/>
                    <a:p>
                      <a:pPr algn="ctr" fontAlgn="ctr"/>
                      <a:r>
                        <a:rPr lang="zh-CN" altLang="en-US" sz="1000" b="0" i="0" u="none" strike="noStrike"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论文</a:t>
                      </a:r>
                      <a:endParaRPr lang="zh-CN" altLang="en-US" sz="1000" b="0" i="0" u="none" strike="noStrike"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5172" marR="5172" marT="517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000" b="0" i="0" u="none" strike="noStrike"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2022</a:t>
                      </a:r>
                      <a:endParaRPr lang="en-US" altLang="zh-CN" sz="1000" b="0" i="0" u="none" strike="noStrike"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5172" marR="5172" marT="517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000" b="0" i="0" u="none" strike="noStrike"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SCI </a:t>
                      </a:r>
                      <a:endParaRPr lang="en-US" sz="1000" b="0" i="0" u="none" strike="noStrike"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5172" marR="5172" marT="517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000" b="0" i="0" u="none" strike="noStrike"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 new multi-fracture geometry inversion model based on hydraulic-fracture treatment pressure falloff data</a:t>
                      </a:r>
                      <a:endParaRPr lang="en-US" sz="1000" b="0" i="0" u="none" strike="noStrike"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5172" marR="5172" marT="517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267737">
                <a:tc>
                  <a:txBody>
                    <a:bodyPr/>
                    <a:lstStyle/>
                    <a:p>
                      <a:pPr algn="ctr" fontAlgn="ctr"/>
                      <a:r>
                        <a:rPr lang="zh-CN" altLang="en-US" sz="1000" b="0" i="0" u="none" strike="noStrike"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论文</a:t>
                      </a:r>
                      <a:endParaRPr lang="zh-CN" altLang="en-US" sz="1000" b="0" i="0" u="none" strike="noStrike"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5172" marR="5172" marT="517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000" b="0" i="0" u="none" strike="noStrike"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2022</a:t>
                      </a:r>
                      <a:endParaRPr lang="en-US" altLang="zh-CN" sz="1000" b="0" i="0" u="none" strike="noStrike"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5172" marR="5172" marT="517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000" b="0" i="0" u="none" strike="noStrike"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SCI</a:t>
                      </a:r>
                      <a:endParaRPr lang="en-US" sz="1000" b="0" i="0" u="none" strike="noStrike"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5172" marR="5172" marT="517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000" b="0" i="0" u="none" strike="noStrike"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Pressure response using wavelet analysis in the process of hydraulic fracturing: Numerical simulation and field case</a:t>
                      </a:r>
                      <a:endParaRPr lang="en-US" sz="1000" b="0" i="0" u="none" strike="noStrike"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5172" marR="5172" marT="517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267737">
                <a:tc>
                  <a:txBody>
                    <a:bodyPr/>
                    <a:lstStyle/>
                    <a:p>
                      <a:pPr algn="ctr" fontAlgn="ctr"/>
                      <a:r>
                        <a:rPr lang="zh-CN" altLang="en-US" sz="1000" b="0" i="0" u="none" strike="noStrike"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论文</a:t>
                      </a:r>
                      <a:endParaRPr lang="zh-CN" altLang="en-US" sz="1000" b="0" i="0" u="none" strike="noStrike"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5172" marR="5172" marT="517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000" b="0" i="0" u="none" strike="noStrike"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2022</a:t>
                      </a:r>
                      <a:endParaRPr lang="en-US" altLang="zh-CN" sz="1000" b="0" i="0" u="none" strike="noStrike"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5172" marR="5172" marT="517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000" b="0" i="0" u="none" strike="noStrike"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EI</a:t>
                      </a:r>
                      <a:r>
                        <a:rPr lang="zh-CN" altLang="en-US" sz="1000" b="0" i="0" u="none" strike="noStrike"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会议</a:t>
                      </a:r>
                      <a:endParaRPr lang="en-US" sz="1000" b="0" i="0" u="none" strike="noStrike"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5172" marR="5172" marT="517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000" b="0" i="0" u="none" strike="noStrike"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 New Fracture Parameters Inversion Model Based on the Pressure of Shut-in Under Pressure-dependent Leak-off Conditions</a:t>
                      </a:r>
                      <a:endParaRPr lang="en-US" sz="1000" b="0" i="0" u="none" strike="noStrike"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5172" marR="5172" marT="517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267737">
                <a:tc>
                  <a:txBody>
                    <a:bodyPr/>
                    <a:lstStyle/>
                    <a:p>
                      <a:pPr marL="0" algn="ctr" defTabSz="914400" rtl="0" eaLnBrk="1" fontAlgn="ctr" latinLnBrk="0" hangingPunct="1"/>
                      <a:r>
                        <a:rPr lang="zh-CN" altLang="en-US" sz="1000" b="0" i="0" u="none" strike="noStrike" kern="1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发明专利</a:t>
                      </a:r>
                      <a:endParaRPr lang="zh-CN" altLang="en-US" sz="1000" b="0" i="0" u="none" strike="noStrike" kern="1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US" altLang="zh-CN" sz="1000" b="0" i="0" u="none" strike="noStrike" kern="1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2021</a:t>
                      </a:r>
                      <a:endParaRPr lang="en-US" altLang="zh-CN" sz="1000" b="0" i="0" u="none" strike="noStrike" kern="1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zh-CN" altLang="en-US" sz="1000" b="0" i="0" u="none" strike="noStrike" kern="1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授权</a:t>
                      </a:r>
                      <a:endParaRPr lang="zh-CN" altLang="en-US" sz="1000" b="0" i="0" u="none" strike="noStrike" kern="1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zh-CN" altLang="en-US" sz="1000" b="0" i="0" u="none" strike="noStrike" kern="1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一种基于压降曲线分析的裂缝参数反演及评价方法</a:t>
                      </a:r>
                      <a:endParaRPr lang="zh-CN" altLang="en-US" sz="1000" b="0" i="0" u="none" strike="noStrike" kern="1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267737">
                <a:tc>
                  <a:txBody>
                    <a:bodyPr/>
                    <a:lstStyle/>
                    <a:p>
                      <a:pPr marL="0" algn="ctr" defTabSz="914400" rtl="0" eaLnBrk="1" fontAlgn="ctr" latinLnBrk="0" hangingPunct="1"/>
                      <a:r>
                        <a:rPr lang="zh-CN" altLang="en-US" sz="1000" b="0" i="0" u="none" strike="noStrike" kern="1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发明专利</a:t>
                      </a:r>
                      <a:endParaRPr lang="zh-CN" altLang="en-US" sz="1000" b="0" i="0" u="none" strike="noStrike" kern="1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US" altLang="zh-CN" sz="1000" b="0" i="0" u="none" strike="noStrike" kern="1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2022</a:t>
                      </a:r>
                      <a:endParaRPr lang="en-US" altLang="zh-CN" sz="1000" b="0" i="0" u="none" strike="noStrike" kern="1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zh-CN" altLang="en-US" sz="1000" b="0" i="0" u="none" strike="noStrike" kern="1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授权</a:t>
                      </a:r>
                      <a:endParaRPr lang="zh-CN" altLang="en-US" sz="1000" b="0" i="0" u="none" strike="noStrike" kern="1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zh-CN" altLang="en-US" sz="1000" b="0" i="0" u="none" strike="noStrike" kern="1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一种基于</a:t>
                      </a:r>
                      <a:r>
                        <a:rPr lang="en-US" altLang="zh-CN" sz="1000" b="0" i="0" u="none" strike="noStrike" kern="1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G</a:t>
                      </a:r>
                      <a:r>
                        <a:rPr lang="zh-CN" altLang="en-US" sz="1000" b="0" i="0" u="none" strike="noStrike" kern="1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函数曲线分析的多裂缝参数反演方法和装置</a:t>
                      </a:r>
                      <a:endParaRPr lang="zh-CN" altLang="en-US" sz="1000" b="0" i="0" u="none" strike="noStrike" kern="1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267737">
                <a:tc>
                  <a:txBody>
                    <a:bodyPr/>
                    <a:lstStyle/>
                    <a:p>
                      <a:pPr marL="0" algn="ctr" defTabSz="914400" rtl="0" eaLnBrk="1" fontAlgn="ctr" latinLnBrk="0" hangingPunct="1"/>
                      <a:r>
                        <a:rPr lang="zh-CN" altLang="en-US" sz="1000" b="0" i="0" u="none" strike="noStrike" kern="1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发明专利</a:t>
                      </a:r>
                      <a:endParaRPr lang="zh-CN" altLang="en-US" sz="1000" b="0" i="0" u="none" strike="noStrike" kern="1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US" altLang="zh-CN" sz="1000" b="0" i="0" u="none" strike="noStrike" kern="1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2020</a:t>
                      </a:r>
                      <a:endParaRPr lang="en-US" altLang="zh-CN" sz="1000" b="0" i="0" u="none" strike="noStrike" kern="1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zh-CN" altLang="en-US" sz="1000" b="0" i="0" u="none" strike="noStrike" kern="1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授权</a:t>
                      </a:r>
                      <a:endParaRPr lang="zh-CN" altLang="en-US" sz="1000" b="0" i="0" u="none" strike="noStrike" kern="1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zh-CN" altLang="en-US" sz="1000" b="0" i="0" u="none" strike="noStrike" kern="1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小型压裂测试压降曲线分析软件</a:t>
                      </a:r>
                      <a:endParaRPr lang="zh-CN" altLang="en-US" sz="1000" b="0" i="0" u="none" strike="noStrike" kern="1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2" name="矩形: 圆角 4"/>
          <p:cNvSpPr/>
          <p:nvPr/>
        </p:nvSpPr>
        <p:spPr>
          <a:xfrm>
            <a:off x="326390" y="4137025"/>
            <a:ext cx="11408410" cy="2175510"/>
          </a:xfrm>
          <a:prstGeom prst="round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p:cNvGrpSpPr/>
          <p:nvPr/>
        </p:nvGrpSpPr>
        <p:grpSpPr>
          <a:xfrm>
            <a:off x="551180" y="4198620"/>
            <a:ext cx="11061065" cy="2113280"/>
            <a:chOff x="551385" y="4217958"/>
            <a:chExt cx="11061126" cy="2459021"/>
          </a:xfrm>
        </p:grpSpPr>
        <p:pic>
          <p:nvPicPr>
            <p:cNvPr id="7" name="图片 6"/>
            <p:cNvPicPr>
              <a:picLocks noChangeAspect="1"/>
            </p:cNvPicPr>
            <p:nvPr/>
          </p:nvPicPr>
          <p:blipFill>
            <a:blip r:embed="rId1"/>
            <a:stretch>
              <a:fillRect/>
            </a:stretch>
          </p:blipFill>
          <p:spPr>
            <a:xfrm>
              <a:off x="9960867" y="4345496"/>
              <a:ext cx="1651644" cy="2288898"/>
            </a:xfrm>
            <a:prstGeom prst="rect">
              <a:avLst/>
            </a:prstGeom>
          </p:spPr>
        </p:pic>
        <p:pic>
          <p:nvPicPr>
            <p:cNvPr id="8" name="图片 7"/>
            <p:cNvPicPr>
              <a:picLocks noChangeAspect="1"/>
            </p:cNvPicPr>
            <p:nvPr/>
          </p:nvPicPr>
          <p:blipFill>
            <a:blip r:embed="rId2"/>
            <a:stretch>
              <a:fillRect/>
            </a:stretch>
          </p:blipFill>
          <p:spPr>
            <a:xfrm>
              <a:off x="8077308" y="4217958"/>
              <a:ext cx="1907124" cy="2459021"/>
            </a:xfrm>
            <a:prstGeom prst="rect">
              <a:avLst/>
            </a:prstGeom>
          </p:spPr>
        </p:pic>
        <p:pic>
          <p:nvPicPr>
            <p:cNvPr id="9" name="图片 8"/>
            <p:cNvPicPr>
              <a:picLocks noChangeAspect="1"/>
            </p:cNvPicPr>
            <p:nvPr/>
          </p:nvPicPr>
          <p:blipFill rotWithShape="1">
            <a:blip r:embed="rId3"/>
            <a:srcRect l="1857" t="1454" r="1552"/>
            <a:stretch>
              <a:fillRect/>
            </a:stretch>
          </p:blipFill>
          <p:spPr bwMode="auto">
            <a:xfrm>
              <a:off x="6277107" y="4217958"/>
              <a:ext cx="1907125" cy="2459021"/>
            </a:xfrm>
            <a:prstGeom prst="rect">
              <a:avLst/>
            </a:prstGeom>
            <a:ln>
              <a:noFill/>
            </a:ln>
          </p:spPr>
        </p:pic>
        <p:pic>
          <p:nvPicPr>
            <p:cNvPr id="10" name="图片 9"/>
            <p:cNvPicPr>
              <a:picLocks noChangeAspect="1"/>
            </p:cNvPicPr>
            <p:nvPr/>
          </p:nvPicPr>
          <p:blipFill rotWithShape="1">
            <a:blip r:embed="rId4"/>
            <a:srcRect t="1" b="18397"/>
            <a:stretch>
              <a:fillRect/>
            </a:stretch>
          </p:blipFill>
          <p:spPr bwMode="auto">
            <a:xfrm>
              <a:off x="4323547" y="4224063"/>
              <a:ext cx="1898800" cy="2385610"/>
            </a:xfrm>
            <a:prstGeom prst="rect">
              <a:avLst/>
            </a:prstGeom>
            <a:ln>
              <a:solidFill>
                <a:schemeClr val="tx1"/>
              </a:solidFill>
            </a:ln>
          </p:spPr>
        </p:pic>
        <p:grpSp>
          <p:nvGrpSpPr>
            <p:cNvPr id="11" name="组合 10"/>
            <p:cNvGrpSpPr/>
            <p:nvPr/>
          </p:nvGrpSpPr>
          <p:grpSpPr>
            <a:xfrm>
              <a:off x="551385" y="4217958"/>
              <a:ext cx="1666467" cy="2416436"/>
              <a:chOff x="183520" y="4224063"/>
              <a:chExt cx="1592262" cy="2057400"/>
            </a:xfrm>
          </p:grpSpPr>
          <p:grpSp>
            <p:nvGrpSpPr>
              <p:cNvPr id="16" name="组合 7189"/>
              <p:cNvGrpSpPr/>
              <p:nvPr/>
            </p:nvGrpSpPr>
            <p:grpSpPr bwMode="auto">
              <a:xfrm>
                <a:off x="183520" y="4224063"/>
                <a:ext cx="1592262" cy="2057400"/>
                <a:chOff x="3657600" y="4572000"/>
                <a:chExt cx="1592230" cy="2113867"/>
              </a:xfrm>
            </p:grpSpPr>
            <p:pic>
              <p:nvPicPr>
                <p:cNvPr id="18" name="图片 7187"/>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657600" y="4572000"/>
                  <a:ext cx="1592230" cy="211386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19" name="图片 68"/>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724400" y="4572000"/>
                  <a:ext cx="501650" cy="62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7" name="TextBox 44042"/>
              <p:cNvSpPr txBox="1">
                <a:spLocks noChangeArrowheads="1"/>
              </p:cNvSpPr>
              <p:nvPr/>
            </p:nvSpPr>
            <p:spPr bwMode="auto">
              <a:xfrm>
                <a:off x="412120" y="5671863"/>
                <a:ext cx="1143000" cy="51712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400" b="1">
                    <a:solidFill>
                      <a:srgbClr val="C00000"/>
                    </a:solidFill>
                    <a:latin typeface="Times New Roman" panose="02020603050405020304" pitchFamily="18" charset="0"/>
                    <a:ea typeface="黑体" panose="02010609060101010101" charset="-122"/>
                    <a:cs typeface="Times New Roman" panose="02020603050405020304" pitchFamily="18" charset="0"/>
                  </a:rPr>
                  <a:t>小类</a:t>
                </a:r>
                <a:r>
                  <a:rPr lang="en-US" altLang="zh-CN" sz="1400" b="1">
                    <a:solidFill>
                      <a:srgbClr val="C00000"/>
                    </a:solidFill>
                    <a:latin typeface="Times New Roman" panose="02020603050405020304" pitchFamily="18" charset="0"/>
                    <a:ea typeface="黑体" panose="02010609060101010101" charset="-122"/>
                    <a:cs typeface="Times New Roman" panose="02020603050405020304" pitchFamily="18" charset="0"/>
                  </a:rPr>
                  <a:t>1</a:t>
                </a:r>
                <a:r>
                  <a:rPr lang="zh-CN" altLang="en-US" sz="1400" b="1">
                    <a:solidFill>
                      <a:srgbClr val="C00000"/>
                    </a:solidFill>
                    <a:latin typeface="Times New Roman" panose="02020603050405020304" pitchFamily="18" charset="0"/>
                    <a:ea typeface="黑体" panose="02010609060101010101" charset="-122"/>
                    <a:cs typeface="Times New Roman" panose="02020603050405020304" pitchFamily="18" charset="0"/>
                  </a:rPr>
                  <a:t>区</a:t>
                </a:r>
                <a:endParaRPr lang="en-US" altLang="zh-CN" sz="1400" b="1">
                  <a:solidFill>
                    <a:srgbClr val="C00000"/>
                  </a:solidFill>
                  <a:latin typeface="Times New Roman" panose="02020603050405020304" pitchFamily="18" charset="0"/>
                  <a:ea typeface="黑体" panose="02010609060101010101" charset="-122"/>
                  <a:cs typeface="Times New Roman" panose="02020603050405020304" pitchFamily="18" charset="0"/>
                </a:endParaRPr>
              </a:p>
              <a:p>
                <a:pPr algn="ctr">
                  <a:spcBef>
                    <a:spcPct val="0"/>
                  </a:spcBef>
                  <a:buFontTx/>
                  <a:buNone/>
                </a:pPr>
                <a:r>
                  <a:rPr lang="en-US" altLang="zh-CN" sz="1400" b="1">
                    <a:solidFill>
                      <a:srgbClr val="C00000"/>
                    </a:solidFill>
                    <a:latin typeface="Times New Roman" panose="02020603050405020304" pitchFamily="18" charset="0"/>
                    <a:ea typeface="黑体" panose="02010609060101010101" charset="-122"/>
                    <a:cs typeface="Times New Roman" panose="02020603050405020304" pitchFamily="18" charset="0"/>
                  </a:rPr>
                  <a:t>TOP</a:t>
                </a:r>
                <a:r>
                  <a:rPr lang="zh-CN" altLang="en-US" sz="1400" b="1">
                    <a:solidFill>
                      <a:srgbClr val="C00000"/>
                    </a:solidFill>
                    <a:latin typeface="Times New Roman" panose="02020603050405020304" pitchFamily="18" charset="0"/>
                    <a:ea typeface="黑体" panose="02010609060101010101" charset="-122"/>
                    <a:cs typeface="Times New Roman" panose="02020603050405020304" pitchFamily="18" charset="0"/>
                  </a:rPr>
                  <a:t>期刊</a:t>
                </a:r>
                <a:endParaRPr lang="en-US" altLang="zh-CN" sz="1400" b="1">
                  <a:solidFill>
                    <a:srgbClr val="C00000"/>
                  </a:solidFill>
                  <a:latin typeface="Times New Roman" panose="02020603050405020304" pitchFamily="18" charset="0"/>
                  <a:ea typeface="黑体" panose="02010609060101010101" charset="-122"/>
                  <a:cs typeface="Times New Roman" panose="02020603050405020304" pitchFamily="18" charset="0"/>
                </a:endParaRPr>
              </a:p>
            </p:txBody>
          </p:sp>
        </p:grpSp>
        <p:grpSp>
          <p:nvGrpSpPr>
            <p:cNvPr id="12" name="组合 11"/>
            <p:cNvGrpSpPr/>
            <p:nvPr/>
          </p:nvGrpSpPr>
          <p:grpSpPr>
            <a:xfrm>
              <a:off x="2397473" y="4217958"/>
              <a:ext cx="1797081" cy="2385610"/>
              <a:chOff x="5334000" y="4572000"/>
              <a:chExt cx="1600200" cy="2057400"/>
            </a:xfrm>
          </p:grpSpPr>
          <p:pic>
            <p:nvPicPr>
              <p:cNvPr id="13" name="图片 7190"/>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334000" y="4572000"/>
                <a:ext cx="1600200" cy="2057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14" name="图片 68"/>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6432550" y="4572000"/>
                <a:ext cx="5016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Box 44042"/>
              <p:cNvSpPr txBox="1">
                <a:spLocks noChangeArrowheads="1"/>
              </p:cNvSpPr>
              <p:nvPr/>
            </p:nvSpPr>
            <p:spPr bwMode="auto">
              <a:xfrm>
                <a:off x="5562600" y="5943600"/>
                <a:ext cx="1143000" cy="52380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400" b="1">
                    <a:solidFill>
                      <a:srgbClr val="C00000"/>
                    </a:solidFill>
                    <a:latin typeface="Times New Roman" panose="02020603050405020304" pitchFamily="18" charset="0"/>
                    <a:ea typeface="黑体" panose="02010609060101010101" charset="-122"/>
                    <a:cs typeface="Times New Roman" panose="02020603050405020304" pitchFamily="18" charset="0"/>
                  </a:rPr>
                  <a:t>小类</a:t>
                </a:r>
                <a:r>
                  <a:rPr lang="en-US" altLang="zh-CN" sz="1400" b="1">
                    <a:solidFill>
                      <a:srgbClr val="C00000"/>
                    </a:solidFill>
                    <a:latin typeface="Times New Roman" panose="02020603050405020304" pitchFamily="18" charset="0"/>
                    <a:ea typeface="黑体" panose="02010609060101010101" charset="-122"/>
                    <a:cs typeface="Times New Roman" panose="02020603050405020304" pitchFamily="18" charset="0"/>
                  </a:rPr>
                  <a:t>1</a:t>
                </a:r>
                <a:r>
                  <a:rPr lang="zh-CN" altLang="en-US" sz="1400" b="1">
                    <a:solidFill>
                      <a:srgbClr val="C00000"/>
                    </a:solidFill>
                    <a:latin typeface="Times New Roman" panose="02020603050405020304" pitchFamily="18" charset="0"/>
                    <a:ea typeface="黑体" panose="02010609060101010101" charset="-122"/>
                    <a:cs typeface="Times New Roman" panose="02020603050405020304" pitchFamily="18" charset="0"/>
                  </a:rPr>
                  <a:t>区</a:t>
                </a:r>
                <a:endParaRPr lang="en-US" altLang="zh-CN" sz="1400" b="1">
                  <a:solidFill>
                    <a:srgbClr val="C00000"/>
                  </a:solidFill>
                  <a:latin typeface="Times New Roman" panose="02020603050405020304" pitchFamily="18" charset="0"/>
                  <a:ea typeface="黑体" panose="02010609060101010101" charset="-122"/>
                  <a:cs typeface="Times New Roman" panose="02020603050405020304" pitchFamily="18" charset="0"/>
                </a:endParaRPr>
              </a:p>
              <a:p>
                <a:pPr algn="ctr">
                  <a:spcBef>
                    <a:spcPct val="0"/>
                  </a:spcBef>
                  <a:buFontTx/>
                  <a:buNone/>
                </a:pPr>
                <a:r>
                  <a:rPr lang="en-US" altLang="zh-CN" sz="1400" b="1">
                    <a:solidFill>
                      <a:srgbClr val="C00000"/>
                    </a:solidFill>
                    <a:latin typeface="Times New Roman" panose="02020603050405020304" pitchFamily="18" charset="0"/>
                    <a:ea typeface="黑体" panose="02010609060101010101" charset="-122"/>
                    <a:cs typeface="Times New Roman" panose="02020603050405020304" pitchFamily="18" charset="0"/>
                  </a:rPr>
                  <a:t>TOP</a:t>
                </a:r>
                <a:r>
                  <a:rPr lang="zh-CN" altLang="en-US" sz="1400" b="1">
                    <a:solidFill>
                      <a:srgbClr val="C00000"/>
                    </a:solidFill>
                    <a:latin typeface="Times New Roman" panose="02020603050405020304" pitchFamily="18" charset="0"/>
                    <a:ea typeface="黑体" panose="02010609060101010101" charset="-122"/>
                    <a:cs typeface="Times New Roman" panose="02020603050405020304" pitchFamily="18" charset="0"/>
                  </a:rPr>
                  <a:t>期刊</a:t>
                </a:r>
                <a:endParaRPr lang="en-US" altLang="zh-CN" sz="1400" b="1">
                  <a:solidFill>
                    <a:srgbClr val="C00000"/>
                  </a:solidFill>
                  <a:latin typeface="Times New Roman" panose="02020603050405020304" pitchFamily="18" charset="0"/>
                  <a:ea typeface="黑体" panose="02010609060101010101" charset="-122"/>
                  <a:cs typeface="Times New Roman" panose="02020603050405020304" pitchFamily="18" charset="0"/>
                </a:endParaRPr>
              </a:p>
            </p:txBody>
          </p:sp>
        </p:grpSp>
      </p:gr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7"/>
          <p:cNvSpPr txBox="1"/>
          <p:nvPr/>
        </p:nvSpPr>
        <p:spPr bwMode="auto">
          <a:xfrm>
            <a:off x="320061" y="888766"/>
            <a:ext cx="11551878" cy="368300"/>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、现场应用案例</a:t>
            </a:r>
            <a:endParaRPr lang="zh-CN" altLang="en-US" dirty="0">
              <a:latin typeface="微软雅黑" panose="020B0503020204020204" pitchFamily="34" charset="-122"/>
              <a:ea typeface="微软雅黑" panose="020B0503020204020204" pitchFamily="34" charset="-122"/>
            </a:endParaRPr>
          </a:p>
        </p:txBody>
      </p:sp>
      <p:sp>
        <p:nvSpPr>
          <p:cNvPr id="37" name="Rectangle 11"/>
          <p:cNvSpPr>
            <a:spLocks noChangeArrowheads="1"/>
          </p:cNvSpPr>
          <p:nvPr/>
        </p:nvSpPr>
        <p:spPr bwMode="auto">
          <a:xfrm>
            <a:off x="8890" y="-41275"/>
            <a:ext cx="1218120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（二）团队研究基础</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334329" y="1319605"/>
            <a:ext cx="11485562" cy="1568450"/>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本团队提出的新一代压降曲线分析技术和</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G</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函数反演裂缝尺寸计算模型先后应用于</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塔里木油田</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某压裂井、</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新疆石西</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161H</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压裂井、</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海能发</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海上</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4</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口压裂井和</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西南油气田</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宁</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209H5</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平台某压裂井，结果表明计算结果均与现场微震解释结果和广域电磁裂缝波及长宽解释结果相符，具有良好的反演效果。运用本模型能够解释压后裂缝形态及规模</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从而为后续现场优化压裂施工参数、改进压裂施工方案、合理部署开发提供技术指导。</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33" name="图片 32" descr="图片3"/>
          <p:cNvPicPr>
            <a:picLocks noChangeAspect="1"/>
          </p:cNvPicPr>
          <p:nvPr/>
        </p:nvPicPr>
        <p:blipFill>
          <a:blip r:embed="rId1"/>
          <a:stretch>
            <a:fillRect/>
          </a:stretch>
        </p:blipFill>
        <p:spPr>
          <a:xfrm>
            <a:off x="320040" y="2950210"/>
            <a:ext cx="11543030" cy="3469005"/>
          </a:xfrm>
          <a:prstGeom prst="rect">
            <a:avLst/>
          </a:prstGeom>
        </p:spPr>
      </p:pic>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7"/>
          <p:cNvSpPr txBox="1"/>
          <p:nvPr/>
        </p:nvSpPr>
        <p:spPr bwMode="auto">
          <a:xfrm>
            <a:off x="268647" y="866244"/>
            <a:ext cx="11551878" cy="368300"/>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、经费预算</a:t>
            </a:r>
            <a:endParaRPr lang="zh-CN" altLang="en-US" dirty="0">
              <a:latin typeface="微软雅黑" panose="020B0503020204020204" pitchFamily="34" charset="-122"/>
              <a:ea typeface="微软雅黑" panose="020B0503020204020204" pitchFamily="34" charset="-122"/>
            </a:endParaRPr>
          </a:p>
        </p:txBody>
      </p:sp>
      <p:sp>
        <p:nvSpPr>
          <p:cNvPr id="37" name="Rectangle 11"/>
          <p:cNvSpPr>
            <a:spLocks noChangeArrowheads="1"/>
          </p:cNvSpPr>
          <p:nvPr/>
        </p:nvSpPr>
        <p:spPr bwMode="auto">
          <a:xfrm>
            <a:off x="8890" y="-41275"/>
            <a:ext cx="1218120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rPr>
              <a:t>（三）经费安排</a:t>
            </a:r>
            <a:endParaRPr lang="zh-CN" altLang="en-US" sz="2400" b="1" kern="0" dirty="0">
              <a:solidFill>
                <a:srgbClr val="FF000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334329" y="1319605"/>
            <a:ext cx="11485562" cy="460375"/>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项目总预算共计</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62.2</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万。</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2" name="表格 3"/>
          <p:cNvGraphicFramePr>
            <a:graphicFrameLocks noGrp="1"/>
          </p:cNvGraphicFramePr>
          <p:nvPr>
            <p:custDataLst>
              <p:tags r:id="rId1"/>
            </p:custDataLst>
          </p:nvPr>
        </p:nvGraphicFramePr>
        <p:xfrm>
          <a:off x="407670" y="1779905"/>
          <a:ext cx="11377295" cy="4197985"/>
        </p:xfrm>
        <a:graphic>
          <a:graphicData uri="http://schemas.openxmlformats.org/drawingml/2006/table">
            <a:tbl>
              <a:tblPr/>
              <a:tblGrid>
                <a:gridCol w="3792220"/>
                <a:gridCol w="3792855"/>
                <a:gridCol w="3792220"/>
              </a:tblGrid>
              <a:tr h="395605">
                <a:tc gridSpan="2">
                  <a:txBody>
                    <a:bodyPr/>
                    <a:lstStyle/>
                    <a:p>
                      <a:pPr algn="ctr" fontAlgn="ctr"/>
                      <a:r>
                        <a:rPr lang="zh-CN" altLang="en-US" sz="1400" b="1" i="0" u="none" strike="noStrike"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编号与类型</a:t>
                      </a:r>
                      <a:endParaRPr lang="zh-CN" altLang="en-US" sz="1400" b="1" i="0" u="none" strike="noStrike"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hMerge="1">
                  <a:tcPr marL="9525" marR="9525" marT="9525" marB="0" anchor="ct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rowSpan="2">
                  <a:txBody>
                    <a:bodyPr/>
                    <a:lstStyle/>
                    <a:p>
                      <a:pPr algn="ctr" fontAlgn="ctr"/>
                      <a:r>
                        <a:rPr lang="zh-CN" altLang="en-US" sz="1400" b="1" i="0" u="none" strike="noStrike"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合计</a:t>
                      </a:r>
                      <a:endParaRPr lang="zh-CN" altLang="en-US" sz="1400" b="1" i="0" u="none" strike="noStrike"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r>
              <a:tr h="394335">
                <a:tc>
                  <a:txBody>
                    <a:bodyPr/>
                    <a:lstStyle/>
                    <a:p>
                      <a:pPr algn="ctr" fontAlgn="ctr"/>
                      <a:r>
                        <a:rPr lang="zh-CN" altLang="en-US" sz="1400" b="1" i="0" u="none" strike="noStrike"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编号</a:t>
                      </a:r>
                      <a:endParaRPr lang="zh-CN" altLang="en-US" sz="1400" b="1" i="0" u="none" strike="noStrike"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zh-CN" altLang="en-US" sz="1400" b="1" i="0" u="none" strike="noStrike"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名称</a:t>
                      </a:r>
                      <a:endParaRPr lang="zh-CN" altLang="en-US" sz="1400" b="1" i="0" u="none" strike="noStrike"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vMerge="1">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85000"/>
                      </a:schemeClr>
                    </a:solidFill>
                  </a:tcPr>
                </a:tc>
              </a:tr>
              <a:tr h="488315">
                <a:tc>
                  <a:txBody>
                    <a:bodyPr/>
                    <a:lstStyle/>
                    <a:p>
                      <a:pPr algn="ctr" fontAlgn="ctr"/>
                      <a:r>
                        <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设计制图费</a:t>
                      </a:r>
                      <a:endPar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0" i="0" dirty="0">
                          <a:solidFill>
                            <a:srgbClr val="000000"/>
                          </a:solidFill>
                          <a:latin typeface="Times New Roman" panose="02020603050405020304"/>
                          <a:ea typeface="Times New Roman" panose="02020603050405020304"/>
                        </a:rPr>
                        <a:t>40</a:t>
                      </a:r>
                      <a:endParaRPr lang="en-US" altLang="zh-CN" sz="1400" b="0" i="0" dirty="0">
                        <a:solidFill>
                          <a:srgbClr val="000000"/>
                        </a:solidFill>
                        <a:latin typeface="Times New Roman" panose="02020603050405020304"/>
                        <a:ea typeface="Times New Roman" panose="02020603050405020304"/>
                      </a:endParaRPr>
                    </a:p>
                  </a:txBody>
                  <a:tcPr marL="7937" marR="7937" marT="793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85775">
                <a:tc>
                  <a:txBody>
                    <a:bodyPr/>
                    <a:lstStyle/>
                    <a:p>
                      <a:pPr algn="ctr" fontAlgn="ctr"/>
                      <a:r>
                        <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2</a:t>
                      </a:r>
                      <a:endPar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图书资料费</a:t>
                      </a:r>
                      <a:r>
                        <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出版</a:t>
                      </a:r>
                      <a:r>
                        <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文献</a:t>
                      </a:r>
                      <a:r>
                        <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知识产权费</a:t>
                      </a:r>
                      <a:endPar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0" i="0">
                          <a:solidFill>
                            <a:srgbClr val="000000"/>
                          </a:solidFill>
                          <a:latin typeface="Times New Roman" panose="02020603050405020304"/>
                          <a:ea typeface="Times New Roman" panose="02020603050405020304"/>
                        </a:rPr>
                        <a:t>2.4</a:t>
                      </a:r>
                      <a:endParaRPr lang="en-US" altLang="zh-CN" sz="1400" b="0" i="0">
                        <a:solidFill>
                          <a:srgbClr val="000000"/>
                        </a:solidFill>
                        <a:latin typeface="Times New Roman" panose="02020603050405020304"/>
                        <a:ea typeface="Times New Roman" panose="02020603050405020304"/>
                      </a:endParaRPr>
                    </a:p>
                  </a:txBody>
                  <a:tcPr marL="7937" marR="7937" marT="793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86410">
                <a:tc>
                  <a:txBody>
                    <a:bodyPr/>
                    <a:lstStyle/>
                    <a:p>
                      <a:pPr algn="ctr" fontAlgn="ctr"/>
                      <a:r>
                        <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3</a:t>
                      </a:r>
                      <a:endPar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办公费</a:t>
                      </a:r>
                      <a:r>
                        <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差旅费</a:t>
                      </a:r>
                      <a:endPar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0" i="0">
                          <a:solidFill>
                            <a:srgbClr val="000000"/>
                          </a:solidFill>
                          <a:latin typeface="Times New Roman" panose="02020603050405020304"/>
                          <a:ea typeface="Times New Roman" panose="02020603050405020304"/>
                        </a:rPr>
                        <a:t>4.50235</a:t>
                      </a:r>
                      <a:endParaRPr lang="en-US" altLang="zh-CN" sz="1400" b="0" i="0">
                        <a:solidFill>
                          <a:srgbClr val="000000"/>
                        </a:solidFill>
                        <a:latin typeface="Times New Roman" panose="02020603050405020304"/>
                        <a:ea typeface="Times New Roman" panose="02020603050405020304"/>
                      </a:endParaRPr>
                    </a:p>
                  </a:txBody>
                  <a:tcPr marL="7937" marR="7937" marT="793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86410">
                <a:tc>
                  <a:txBody>
                    <a:bodyPr/>
                    <a:lstStyle/>
                    <a:p>
                      <a:pPr algn="ctr" fontAlgn="ctr"/>
                      <a:r>
                        <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4</a:t>
                      </a:r>
                      <a:endPar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测试计算分析费</a:t>
                      </a:r>
                      <a:endPar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0" i="0">
                          <a:solidFill>
                            <a:srgbClr val="000000"/>
                          </a:solidFill>
                          <a:latin typeface="Times New Roman" panose="02020603050405020304"/>
                          <a:ea typeface="Times New Roman" panose="02020603050405020304"/>
                        </a:rPr>
                        <a:t>5.4</a:t>
                      </a:r>
                      <a:endParaRPr lang="en-US" altLang="zh-CN" sz="1400" b="0" i="0">
                        <a:solidFill>
                          <a:srgbClr val="000000"/>
                        </a:solidFill>
                        <a:latin typeface="Times New Roman" panose="02020603050405020304"/>
                        <a:ea typeface="Times New Roman" panose="02020603050405020304"/>
                      </a:endParaRPr>
                    </a:p>
                  </a:txBody>
                  <a:tcPr marL="7937" marR="7937" marT="793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87680">
                <a:tc>
                  <a:txBody>
                    <a:bodyPr/>
                    <a:lstStyle/>
                    <a:p>
                      <a:pPr algn="ctr" fontAlgn="ctr"/>
                      <a:r>
                        <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5</a:t>
                      </a:r>
                      <a:endPar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管理费</a:t>
                      </a:r>
                      <a:endPar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0" i="0" dirty="0">
                          <a:solidFill>
                            <a:srgbClr val="000000"/>
                          </a:solidFill>
                          <a:latin typeface="Times New Roman" panose="02020603050405020304"/>
                          <a:ea typeface="Times New Roman" panose="02020603050405020304"/>
                        </a:rPr>
                        <a:t>8.086</a:t>
                      </a:r>
                      <a:endParaRPr lang="en-US" altLang="zh-CN" sz="1400" b="0" i="0" dirty="0">
                        <a:solidFill>
                          <a:srgbClr val="000000"/>
                        </a:solidFill>
                        <a:latin typeface="Times New Roman" panose="02020603050405020304"/>
                        <a:ea typeface="Times New Roman" panose="02020603050405020304"/>
                      </a:endParaRPr>
                    </a:p>
                  </a:txBody>
                  <a:tcPr marL="7937" marR="7937" marT="793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87045">
                <a:tc>
                  <a:txBody>
                    <a:bodyPr/>
                    <a:lstStyle/>
                    <a:p>
                      <a:pPr algn="ctr" fontAlgn="ctr"/>
                      <a:r>
                        <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6</a:t>
                      </a:r>
                      <a:endParaRPr lang="en-US" altLang="zh-CN"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税费</a:t>
                      </a:r>
                      <a:endPar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0" i="0" dirty="0">
                          <a:solidFill>
                            <a:srgbClr val="000000"/>
                          </a:solidFill>
                          <a:latin typeface="Times New Roman" panose="02020603050405020304"/>
                          <a:ea typeface="Times New Roman" panose="02020603050405020304"/>
                        </a:rPr>
                        <a:t>1.811650</a:t>
                      </a:r>
                      <a:endParaRPr lang="en-US" altLang="zh-CN" sz="1400" b="0" i="0" dirty="0">
                        <a:solidFill>
                          <a:srgbClr val="000000"/>
                        </a:solidFill>
                        <a:latin typeface="Times New Roman" panose="02020603050405020304"/>
                        <a:ea typeface="Times New Roman" panose="02020603050405020304"/>
                      </a:endParaRPr>
                    </a:p>
                  </a:txBody>
                  <a:tcPr marL="7937" marR="7937" marT="793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86410">
                <a:tc gridSpan="2">
                  <a:txBody>
                    <a:bodyPr/>
                    <a:lstStyle/>
                    <a:p>
                      <a:pPr algn="ctr" fontAlgn="ctr"/>
                      <a:r>
                        <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合计（万元）</a:t>
                      </a:r>
                      <a:endParaRPr lang="zh-CN" altLang="en-US" sz="14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9525" marR="9525" marT="9525" marB="0" anchor="ctr">
                    <a:lnL w="6350" cap="flat" cmpd="sng" algn="ctr">
                      <a:solidFill>
                        <a:schemeClr val="tx1"/>
                      </a:solidFill>
                      <a:prstDash val="solid"/>
                      <a:round/>
                      <a:headEnd type="none" w="med" len="med"/>
                      <a:tailEnd type="none" w="med" len="med"/>
                    </a:lnL>
                    <a:lnR>
                      <a:noFill/>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0" i="0" dirty="0">
                          <a:solidFill>
                            <a:srgbClr val="000000"/>
                          </a:solidFill>
                          <a:latin typeface="Times New Roman" panose="02020603050405020304"/>
                          <a:ea typeface="Times New Roman" panose="02020603050405020304"/>
                        </a:rPr>
                        <a:t>62.2</a:t>
                      </a:r>
                      <a:endParaRPr lang="en-US" altLang="zh-CN" sz="1400" b="0" i="0" dirty="0">
                        <a:solidFill>
                          <a:srgbClr val="000000"/>
                        </a:solidFill>
                        <a:latin typeface="Times New Roman" panose="02020603050405020304"/>
                        <a:ea typeface="Times New Roman" panose="02020603050405020304"/>
                      </a:endParaRPr>
                    </a:p>
                  </a:txBody>
                  <a:tcPr marL="7937" marR="7937" marT="793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7"/>
          <p:cNvSpPr txBox="1"/>
          <p:nvPr/>
        </p:nvSpPr>
        <p:spPr bwMode="auto">
          <a:xfrm>
            <a:off x="320061" y="888766"/>
            <a:ext cx="11551878" cy="368300"/>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dirty="0">
                <a:latin typeface="微软雅黑" panose="020B0503020204020204" pitchFamily="34" charset="-122"/>
                <a:ea typeface="微软雅黑" panose="020B0503020204020204" pitchFamily="34" charset="-122"/>
              </a:rPr>
              <a:t>5</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HSE</a:t>
            </a:r>
            <a:r>
              <a:rPr lang="zh-CN" altLang="en-US" dirty="0">
                <a:latin typeface="微软雅黑" panose="020B0503020204020204" pitchFamily="34" charset="-122"/>
                <a:ea typeface="微软雅黑" panose="020B0503020204020204" pitchFamily="34" charset="-122"/>
              </a:rPr>
              <a:t>管理</a:t>
            </a:r>
            <a:endParaRPr lang="zh-CN" altLang="en-US" dirty="0">
              <a:latin typeface="微软雅黑" panose="020B0503020204020204" pitchFamily="34" charset="-122"/>
              <a:ea typeface="微软雅黑" panose="020B0503020204020204" pitchFamily="34" charset="-122"/>
            </a:endParaRPr>
          </a:p>
        </p:txBody>
      </p:sp>
      <p:sp>
        <p:nvSpPr>
          <p:cNvPr id="37" name="Rectangle 11"/>
          <p:cNvSpPr>
            <a:spLocks noChangeArrowheads="1"/>
          </p:cNvSpPr>
          <p:nvPr/>
        </p:nvSpPr>
        <p:spPr bwMode="auto">
          <a:xfrm>
            <a:off x="8890" y="-41275"/>
            <a:ext cx="12181205" cy="828675"/>
          </a:xfrm>
          <a:prstGeom prst="rect">
            <a:avLst/>
          </a:prstGeom>
        </p:spPr>
        <p:txBody>
          <a:bodyPr wrap="square" lIns="91424" tIns="45712" rIns="91424" bIns="45712" anchor="ctr">
            <a:spAutoFit/>
          </a:bodyPr>
          <a:lstStyle/>
          <a:p>
            <a:pPr lvl="0" algn="ctr">
              <a:lnSpc>
                <a:spcPct val="200000"/>
              </a:lnSpc>
              <a:defRPr/>
            </a:pPr>
            <a:r>
              <a:rPr lang="zh-CN" altLang="en-US" sz="2400" b="1" kern="0" dirty="0">
                <a:solidFill>
                  <a:srgbClr val="FF0000"/>
                </a:solidFill>
                <a:latin typeface="微软雅黑" panose="020B0503020204020204" pitchFamily="34" charset="-122"/>
                <a:ea typeface="微软雅黑" panose="020B0503020204020204" pitchFamily="34" charset="-122"/>
                <a:sym typeface="+mn-ea"/>
              </a:rPr>
              <a:t>（四）</a:t>
            </a:r>
            <a:r>
              <a:rPr lang="en-US" altLang="zh-CN" sz="2400" b="1" kern="0" dirty="0">
                <a:solidFill>
                  <a:srgbClr val="FF0000"/>
                </a:solidFill>
                <a:latin typeface="微软雅黑" panose="020B0503020204020204" pitchFamily="34" charset="-122"/>
                <a:ea typeface="微软雅黑" panose="020B0503020204020204" pitchFamily="34" charset="-122"/>
                <a:sym typeface="+mn-ea"/>
              </a:rPr>
              <a:t>HSE</a:t>
            </a:r>
            <a:r>
              <a:rPr lang="zh-CN" altLang="en-US" sz="2400" b="1" kern="0" dirty="0">
                <a:solidFill>
                  <a:srgbClr val="FF0000"/>
                </a:solidFill>
                <a:latin typeface="微软雅黑" panose="020B0503020204020204" pitchFamily="34" charset="-122"/>
                <a:ea typeface="微软雅黑" panose="020B0503020204020204" pitchFamily="34" charset="-122"/>
                <a:sym typeface="+mn-ea"/>
              </a:rPr>
              <a:t>管理</a:t>
            </a:r>
            <a:endParaRPr lang="zh-CN" altLang="en-US" sz="24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334963" y="1257066"/>
            <a:ext cx="11485562" cy="2676525"/>
          </a:xfrm>
          <a:prstGeom prst="rect">
            <a:avLst/>
          </a:prstGeom>
          <a:noFill/>
        </p:spPr>
        <p:txBody>
          <a:bodyPr wrap="square">
            <a:spAutoFit/>
          </a:bodyPr>
          <a:lstStyle/>
          <a:p>
            <a:pPr marL="342265" indent="-342900" algn="just">
              <a:lnSpc>
                <a:spcPct val="150000"/>
              </a:lnSpc>
              <a:buClr>
                <a:srgbClr val="FF0000"/>
              </a:buClr>
              <a:buFont typeface="Wingdings" panose="05000000000000000000" pitchFamily="2" charset="2"/>
              <a:buChar char="l"/>
            </a:pP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HSE</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风险识别</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799465" lvl="1"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项目涉及到室内实验，需对实验设备使用安全高度重视，保证室内电路安全，防止火灾，提升涉及现场施工跟踪作业，施工过程可能出现停泵管线整改等安全隐患，编制了</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HSE</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管理预案，要求设备保养准备到位，责任落实到位</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342265"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应对措施预案</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799465" lvl="1" indent="-342900" algn="just">
              <a:lnSpc>
                <a:spcPct val="150000"/>
              </a:lnSpc>
              <a:buClr>
                <a:srgbClr val="FF0000"/>
              </a:buClr>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项目应对措施预案涉及信息报告、现场作业应急处置程序、实验人员高温灼伤与中毒应急处理程序、人员触电应急处置程序、电器及其他火灾应急处置程序、碰伤</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撞伤</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砸伤</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划伤</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割伤</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滑倒摔伤应急处置程序、上下班或出差途中发生交通事故应急处置程序和发生资料被盗或泄密事件应急处置程序等</a:t>
            </a:r>
            <a:endPar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a:grpSpLocks noChangeAspect="1"/>
          </p:cNvGrpSpPr>
          <p:nvPr/>
        </p:nvGrpSpPr>
        <p:grpSpPr>
          <a:xfrm>
            <a:off x="304540" y="1126192"/>
            <a:ext cx="11582920" cy="4423708"/>
            <a:chOff x="1487488" y="1786592"/>
            <a:chExt cx="9201151" cy="3514071"/>
          </a:xfrm>
        </p:grpSpPr>
        <p:sp>
          <p:nvSpPr>
            <p:cNvPr id="29" name="矩形 28"/>
            <p:cNvSpPr/>
            <p:nvPr/>
          </p:nvSpPr>
          <p:spPr>
            <a:xfrm>
              <a:off x="1524000" y="3284538"/>
              <a:ext cx="9144000" cy="1998662"/>
            </a:xfrm>
            <a:prstGeom prst="rect">
              <a:avLst/>
            </a:prstGeom>
            <a:gradFill flip="none" rotWithShape="1">
              <a:gsLst>
                <a:gs pos="0">
                  <a:srgbClr val="0070C0"/>
                </a:gs>
                <a:gs pos="100000">
                  <a:srgbClr val="002F8E"/>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charset="-122"/>
                <a:cs typeface="+mn-cs"/>
              </a:endParaRPr>
            </a:p>
          </p:txBody>
        </p:sp>
        <p:grpSp>
          <p:nvGrpSpPr>
            <p:cNvPr id="70659" name="组合 14"/>
            <p:cNvGrpSpPr/>
            <p:nvPr/>
          </p:nvGrpSpPr>
          <p:grpSpPr bwMode="auto">
            <a:xfrm>
              <a:off x="1487488" y="5256213"/>
              <a:ext cx="9201151" cy="44450"/>
              <a:chOff x="-36512" y="1081950"/>
              <a:chExt cx="9201237" cy="45719"/>
            </a:xfrm>
          </p:grpSpPr>
          <p:cxnSp>
            <p:nvCxnSpPr>
              <p:cNvPr id="33" name="直接连接符 32"/>
              <p:cNvCxnSpPr/>
              <p:nvPr/>
            </p:nvCxnSpPr>
            <p:spPr bwMode="auto">
              <a:xfrm>
                <a:off x="-36512" y="1124403"/>
                <a:ext cx="9180599" cy="0"/>
              </a:xfrm>
              <a:prstGeom prst="line">
                <a:avLst/>
              </a:prstGeom>
              <a:noFill/>
              <a:ln w="9525" cap="flat" cmpd="sng" algn="ctr">
                <a:solidFill>
                  <a:schemeClr val="bg1">
                    <a:lumMod val="50000"/>
                  </a:schemeClr>
                </a:solidFill>
                <a:prstDash val="solid"/>
                <a:miter lim="800000"/>
                <a:headEnd type="none" w="med" len="med"/>
                <a:tailEnd type="none" w="med" len="med"/>
              </a:ln>
              <a:effectLst/>
            </p:spPr>
          </p:cxnSp>
          <p:sp>
            <p:nvSpPr>
              <p:cNvPr id="34" name="矩形 33"/>
              <p:cNvSpPr/>
              <p:nvPr/>
            </p:nvSpPr>
            <p:spPr bwMode="auto">
              <a:xfrm>
                <a:off x="1" y="1081950"/>
                <a:ext cx="9164724" cy="45719"/>
              </a:xfrm>
              <a:prstGeom prst="rect">
                <a:avLst/>
              </a:prstGeom>
              <a:gradFill flip="none" rotWithShape="1">
                <a:gsLst>
                  <a:gs pos="0">
                    <a:schemeClr val="bg1">
                      <a:lumMod val="95000"/>
                    </a:schemeClr>
                  </a:gs>
                  <a:gs pos="55400">
                    <a:schemeClr val="bg1"/>
                  </a:gs>
                  <a:gs pos="100000">
                    <a:srgbClr val="FFFFCC">
                      <a:alpha val="0"/>
                    </a:srgbClr>
                  </a:gs>
                </a:gsLst>
                <a:lin ang="5400000" scaled="1"/>
                <a:tileRect/>
              </a:gradFill>
              <a:ln w="9525" cap="flat" cmpd="sng" algn="ctr">
                <a:noFill/>
                <a:prstDash val="solid"/>
                <a:round/>
                <a:headEnd type="none" w="med" len="med"/>
                <a:tailEnd type="none" w="med" len="med"/>
              </a:ln>
              <a:effectLst>
                <a:outerShdw blurRad="25400" dist="12700" dir="5400000" sx="101000" sy="101000" algn="t" rotWithShape="0">
                  <a:prstClr val="black">
                    <a:alpha val="40000"/>
                  </a:prstClr>
                </a:outerShdw>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rgbClr val="000000"/>
                  </a:solidFill>
                  <a:effectLst/>
                  <a:uLnTx/>
                  <a:uFillTx/>
                  <a:latin typeface="Arial" panose="020B0604020202020204"/>
                  <a:ea typeface="黑体" panose="02010609060101010101" charset="-122"/>
                  <a:cs typeface="+mn-cs"/>
                </a:endParaRPr>
              </a:p>
            </p:txBody>
          </p:sp>
        </p:grpSp>
        <p:pic>
          <p:nvPicPr>
            <p:cNvPr id="22" name="Picture 2" descr="d:\My Documents\焦页12#平台.jpg"/>
            <p:cNvPicPr>
              <a:picLocks noChangeArrowheads="1"/>
            </p:cNvPicPr>
            <p:nvPr/>
          </p:nvPicPr>
          <p:blipFill>
            <a:blip r:embed="rId1" cstate="print"/>
            <a:srcRect t="6314" r="21319" b="8766"/>
            <a:stretch>
              <a:fillRect/>
            </a:stretch>
          </p:blipFill>
          <p:spPr bwMode="auto">
            <a:xfrm>
              <a:off x="6355370" y="4166252"/>
              <a:ext cx="1008000" cy="72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23" name="Picture 6" descr="D:\20150506总经办汇报材料\2014年美照\2014年美照\威201井.jpg"/>
            <p:cNvPicPr>
              <a:picLocks noChangeAspect="1" noChangeArrowheads="1"/>
            </p:cNvPicPr>
            <p:nvPr/>
          </p:nvPicPr>
          <p:blipFill>
            <a:blip r:embed="rId2" cstate="print"/>
            <a:srcRect/>
            <a:stretch>
              <a:fillRect/>
            </a:stretch>
          </p:blipFill>
          <p:spPr bwMode="auto">
            <a:xfrm>
              <a:off x="4828516" y="4166252"/>
              <a:ext cx="1008357" cy="72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24" name="Picture 2" descr="D:\20150506总经办汇报材料\2014年美照\2014年美照\40亿方净化厂一期投产.bmp"/>
            <p:cNvPicPr>
              <a:picLocks noChangeArrowheads="1"/>
            </p:cNvPicPr>
            <p:nvPr/>
          </p:nvPicPr>
          <p:blipFill>
            <a:blip r:embed="rId3" cstate="print"/>
            <a:srcRect/>
            <a:stretch>
              <a:fillRect/>
            </a:stretch>
          </p:blipFill>
          <p:spPr bwMode="auto">
            <a:xfrm>
              <a:off x="7881868" y="4166252"/>
              <a:ext cx="1008000" cy="72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25" name="Picture 3" descr="D:\20150506总经办汇报材料\2014年美照\2014年美照\2014.6.29 阿姆河项目B区处理厂全厂投运成功.bmp"/>
            <p:cNvPicPr>
              <a:picLocks noChangeArrowheads="1"/>
            </p:cNvPicPr>
            <p:nvPr/>
          </p:nvPicPr>
          <p:blipFill>
            <a:blip r:embed="rId4" cstate="print"/>
            <a:srcRect/>
            <a:stretch>
              <a:fillRect/>
            </a:stretch>
          </p:blipFill>
          <p:spPr bwMode="auto">
            <a:xfrm>
              <a:off x="1775519" y="4166252"/>
              <a:ext cx="1008000" cy="72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26" name="Picture 4" descr="D:\20150506总经办汇报材料\2014年美照\2014年美照\2014.6.30 中国石油阿姆河第二天然气处理厂成功投运.jpg"/>
            <p:cNvPicPr>
              <a:picLocks noChangeArrowheads="1"/>
            </p:cNvPicPr>
            <p:nvPr/>
          </p:nvPicPr>
          <p:blipFill>
            <a:blip r:embed="rId5" cstate="print"/>
            <a:srcRect/>
            <a:stretch>
              <a:fillRect/>
            </a:stretch>
          </p:blipFill>
          <p:spPr bwMode="auto">
            <a:xfrm>
              <a:off x="9408368" y="4166252"/>
              <a:ext cx="1008000" cy="72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35" name="Picture 7" descr="E:\2.临时任务\2012年\规划处-中石油川渝石油石化规划\PPT\fuza.jpg"/>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302017" y="4166252"/>
              <a:ext cx="1008000" cy="72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70666" name="Freeform 1" descr="밝은 수평선"/>
            <p:cNvSpPr/>
            <p:nvPr/>
          </p:nvSpPr>
          <p:spPr bwMode="auto">
            <a:xfrm flipV="1">
              <a:off x="1497012" y="3068638"/>
              <a:ext cx="9170988" cy="715962"/>
            </a:xfrm>
            <a:custGeom>
              <a:avLst/>
              <a:gdLst>
                <a:gd name="T0" fmla="*/ 0 w 5778"/>
                <a:gd name="T1" fmla="*/ 2147483647 h 816"/>
                <a:gd name="T2" fmla="*/ 2147483647 w 5778"/>
                <a:gd name="T3" fmla="*/ 2147483647 h 816"/>
                <a:gd name="T4" fmla="*/ 2147483647 w 5778"/>
                <a:gd name="T5" fmla="*/ 2147483647 h 816"/>
                <a:gd name="T6" fmla="*/ 2147483647 w 5778"/>
                <a:gd name="T7" fmla="*/ 2147483647 h 816"/>
                <a:gd name="T8" fmla="*/ 2147483647 w 5778"/>
                <a:gd name="T9" fmla="*/ 2147483647 h 816"/>
                <a:gd name="T10" fmla="*/ 2147483647 w 5778"/>
                <a:gd name="T11" fmla="*/ 2147483647 h 816"/>
                <a:gd name="T12" fmla="*/ 2147483647 w 5778"/>
                <a:gd name="T13" fmla="*/ 0 h 816"/>
                <a:gd name="T14" fmla="*/ 2147483647 w 5778"/>
                <a:gd name="T15" fmla="*/ 0 h 816"/>
                <a:gd name="T16" fmla="*/ 0 w 5778"/>
                <a:gd name="T17" fmla="*/ 2147483647 h 8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778"/>
                <a:gd name="T28" fmla="*/ 0 h 816"/>
                <a:gd name="T29" fmla="*/ 5778 w 5778"/>
                <a:gd name="T30" fmla="*/ 816 h 8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778" h="816">
                  <a:moveTo>
                    <a:pt x="0" y="666"/>
                  </a:moveTo>
                  <a:lnTo>
                    <a:pt x="1632" y="666"/>
                  </a:lnTo>
                  <a:lnTo>
                    <a:pt x="1632" y="816"/>
                  </a:lnTo>
                  <a:lnTo>
                    <a:pt x="5202" y="816"/>
                  </a:lnTo>
                  <a:lnTo>
                    <a:pt x="5202" y="594"/>
                  </a:lnTo>
                  <a:lnTo>
                    <a:pt x="5778" y="594"/>
                  </a:lnTo>
                  <a:lnTo>
                    <a:pt x="5778" y="0"/>
                  </a:lnTo>
                  <a:lnTo>
                    <a:pt x="6" y="0"/>
                  </a:lnTo>
                  <a:lnTo>
                    <a:pt x="0" y="666"/>
                  </a:lnTo>
                  <a:close/>
                </a:path>
              </a:pathLst>
            </a:custGeom>
            <a:pattFill prst="ltHorz">
              <a:fgClr>
                <a:schemeClr val="tx1">
                  <a:alpha val="34901"/>
                </a:schemeClr>
              </a:fgClr>
              <a:bgClr>
                <a:schemeClr val="bg1">
                  <a:alpha val="34901"/>
                </a:schemeClr>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方正楷体简体" pitchFamily="2" charset="-122"/>
                <a:ea typeface="宋体" panose="02010600030101010101" pitchFamily="2" charset="-122"/>
                <a:cs typeface="+mn-cs"/>
              </a:endParaRPr>
            </a:p>
          </p:txBody>
        </p:sp>
        <p:pic>
          <p:nvPicPr>
            <p:cNvPr id="31" name="Picture 17" descr="logo"/>
            <p:cNvPicPr>
              <a:picLocks noChangeAspect="1" noChangeArrowheads="1"/>
            </p:cNvPicPr>
            <p:nvPr/>
          </p:nvPicPr>
          <p:blipFill>
            <a:blip r:embed="rId7"/>
            <a:srcRect/>
            <a:stretch>
              <a:fillRect/>
            </a:stretch>
          </p:blipFill>
          <p:spPr bwMode="auto">
            <a:xfrm>
              <a:off x="3071814" y="2225676"/>
              <a:ext cx="1806575" cy="1058863"/>
            </a:xfrm>
            <a:prstGeom prst="rect">
              <a:avLst/>
            </a:prstGeom>
            <a:noFill/>
            <a:ln>
              <a:noFill/>
            </a:ln>
            <a:effectLst>
              <a:outerShdw blurRad="50800" dist="38100" dir="2700000" algn="tl" rotWithShape="0">
                <a:prstClr val="black">
                  <a:alpha val="40000"/>
                </a:prstClr>
              </a:outerShdw>
            </a:effectLst>
          </p:spPr>
        </p:pic>
        <p:pic>
          <p:nvPicPr>
            <p:cNvPr id="70668" name="Picture 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37064" y="1786592"/>
              <a:ext cx="4032250" cy="159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sld>
</file>

<file path=ppt/tags/tag1.xml><?xml version="1.0" encoding="utf-8"?>
<p:tagLst xmlns:p="http://schemas.openxmlformats.org/presentationml/2006/main">
  <p:tag name="KSO_WM_UNIT_TABLE_BEAUTIFY" val="smartTable{35fafcb1-6273-4b32-a84b-8352c20ffe4f}"/>
  <p:tag name="TABLE_ENDDRAG_ORIGIN_RECT" val="909*186"/>
  <p:tag name="TABLE_ENDDRAG_RECT" val="25*281*909*186"/>
</p:tagLst>
</file>

<file path=ppt/tags/tag2.xml><?xml version="1.0" encoding="utf-8"?>
<p:tagLst xmlns:p="http://schemas.openxmlformats.org/presentationml/2006/main">
  <p:tag name="TABLE_ENDDRAG_ORIGIN_RECT" val="904*306"/>
  <p:tag name="TABLE_ENDDRAG_RECT" val="26*169*904*306"/>
</p:tagLst>
</file>

<file path=ppt/tags/tag3.xml><?xml version="1.0" encoding="utf-8"?>
<p:tagLst xmlns:p="http://schemas.openxmlformats.org/presentationml/2006/main">
  <p:tag name="TABLE_ENDDRAG_ORIGIN_RECT" val="408*300"/>
  <p:tag name="TABLE_ENDDRAG_RECT" val="521*174*408*300"/>
</p:tagLst>
</file>

<file path=ppt/tags/tag4.xml><?xml version="1.0" encoding="utf-8"?>
<p:tagLst xmlns:p="http://schemas.openxmlformats.org/presentationml/2006/main">
  <p:tag name="TABLE_ENDDRAG_ORIGIN_RECT" val="903*304"/>
  <p:tag name="TABLE_ENDDRAG_RECT" val="26*169*903*304"/>
</p:tagLst>
</file>

<file path=ppt/tags/tag5.xml><?xml version="1.0" encoding="utf-8"?>
<p:tagLst xmlns:p="http://schemas.openxmlformats.org/presentationml/2006/main">
  <p:tag name="KSO_WM_UNIT_TABLE_BEAUTIFY" val="smartTable{914dcc54-d74a-45f5-9baa-8b5fc4bc0a9a}"/>
  <p:tag name="KSO_WM_BEAUTIFY_FLAG" val=""/>
  <p:tag name="TABLE_ENDDRAG_ORIGIN_RECT" val="369*106"/>
  <p:tag name="TABLE_ENDDRAG_RECT" val="551*337*369*106"/>
</p:tagLst>
</file>

<file path=ppt/tags/tag6.xml><?xml version="1.0" encoding="utf-8"?>
<p:tagLst xmlns:p="http://schemas.openxmlformats.org/presentationml/2006/main">
  <p:tag name="TABLE_ENDDRAG_ORIGIN_RECT" val="436*167"/>
  <p:tag name="TABLE_ENDDRAG_RECT" val="494*330*436*167"/>
</p:tagLst>
</file>

<file path=ppt/tags/tag7.xml><?xml version="1.0" encoding="utf-8"?>
<p:tagLst xmlns:p="http://schemas.openxmlformats.org/presentationml/2006/main">
  <p:tag name="TABLE_ENDDRAG_ORIGIN_RECT" val="311*170"/>
  <p:tag name="TABLE_ENDDRAG_RECT" val="610*145*311*170"/>
</p:tagLst>
</file>

<file path=ppt/tags/tag8.xml><?xml version="1.0" encoding="utf-8"?>
<p:tagLst xmlns:p="http://schemas.openxmlformats.org/presentationml/2006/main">
  <p:tag name="TABLE_ENDDRAG_ORIGIN_RECT" val="912*396"/>
  <p:tag name="TABLE_ENDDRAG_RECT" val="32*111*912*396"/>
</p:tagLst>
</file>

<file path=ppt/tags/tag9.xml><?xml version="1.0" encoding="utf-8"?>
<p:tagLst xmlns:p="http://schemas.openxmlformats.org/presentationml/2006/main">
  <p:tag name="TABLE_ENDDRAG_ORIGIN_RECT" val="905*327"/>
  <p:tag name="TABLE_ENDDRAG_RECT" val="25*141*905*327"/>
</p:tagLst>
</file>

<file path=ppt/tags/tag10.xml><?xml version="1.0" encoding="utf-8"?>
<p:tagLst xmlns:p="http://schemas.openxmlformats.org/presentationml/2006/main">
  <p:tag name="TABLE_ENDDRAG_ORIGIN_RECT" val="895*331"/>
  <p:tag name="TABLE_ENDDRAG_RECT" val="32*140*895*331"/>
</p:tagLst>
</file>

<file path=ppt/tags/tag11.xml><?xml version="1.0" encoding="utf-8"?>
<p:tagLst xmlns:p="http://schemas.openxmlformats.org/presentationml/2006/main">
  <p:tag name="RESOURCE_RECORD_KEY" val="{&quot;29&quot;:[50053052,50000076]}"/>
</p:tagLst>
</file>

<file path=ppt/theme/theme1.xml><?xml version="1.0" encoding="utf-8"?>
<a:theme xmlns:a="http://schemas.openxmlformats.org/drawingml/2006/main" name="7_Blends">
  <a:themeElements>
    <a:clrScheme name="5_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5_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C00000"/>
        </a:solidFill>
      </a:spPr>
      <a:bodyPr rot="0" spcFirstLastPara="0" vertOverflow="overflow" horzOverflow="overflow" vert="horz" wrap="square" lIns="91440" tIns="45720" rIns="91440" bIns="45720" numCol="1" spcCol="0" rtlCol="0" fromWordArt="0" anchor="ctr" anchorCtr="0" forceAA="0" compatLnSpc="1">
        <a:noAutofit/>
      </a:bodyPr>
      <a:lstStyle>
        <a:defPPr algn="ctr">
          <a:lnSpc>
            <a:spcPct val="180000"/>
          </a:lnSpc>
          <a:spcBef>
            <a:spcPct val="20000"/>
          </a:spcBef>
          <a:buClr>
            <a:srgbClr val="FF0000"/>
          </a:buClr>
          <a:buSzPct val="100000"/>
          <a:defRPr dirty="0" smtClean="0">
            <a:solidFill>
              <a:schemeClr val="bg1"/>
            </a:solidFill>
            <a:latin typeface="Tahoma" panose="020B0604030504040204"/>
            <a:ea typeface="方正大黑简体" panose="03000509000000000000" pitchFamily="65"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黑体" panose="02010609060101010101" charset="-122"/>
          </a:defRPr>
        </a:defPPr>
      </a:lstStyle>
    </a:lnDef>
    <a:txDef>
      <a:spPr bwMode="auto">
        <a:noFill/>
        <a:ln>
          <a:noFill/>
        </a:ln>
      </a:spPr>
      <a:bodyPr/>
      <a:lstStyle>
        <a:defPPr marL="0" indent="0">
          <a:lnSpc>
            <a:spcPct val="150000"/>
          </a:lnSpc>
          <a:buClr>
            <a:srgbClr val="FF0000"/>
          </a:buClr>
          <a:defRPr sz="3200" dirty="0">
            <a:solidFill>
              <a:srgbClr val="0000FF"/>
            </a:solidFill>
            <a:latin typeface="方正大黑简体" panose="03000509000000000000" pitchFamily="65" charset="-122"/>
            <a:ea typeface="方正大黑简体" panose="03000509000000000000" pitchFamily="65" charset="-122"/>
          </a:defRPr>
        </a:defPPr>
      </a:lstStyle>
    </a:txDef>
  </a:objectDefaults>
  <a:extraClrSchemeLst>
    <a:extraClrScheme>
      <a:clrScheme name="5_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5_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5_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5_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5_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5_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Blends">
  <a:themeElements>
    <a:clrScheme name="5_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5_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C00000"/>
        </a:solidFill>
      </a:spPr>
      <a:bodyPr rot="0" spcFirstLastPara="0" vertOverflow="overflow" horzOverflow="overflow" vert="horz" wrap="square" lIns="91440" tIns="45720" rIns="91440" bIns="45720" numCol="1" spcCol="0" rtlCol="0" fromWordArt="0" anchor="ctr" anchorCtr="0" forceAA="0" compatLnSpc="1">
        <a:noAutofit/>
      </a:bodyPr>
      <a:lstStyle>
        <a:defPPr algn="ctr">
          <a:lnSpc>
            <a:spcPct val="180000"/>
          </a:lnSpc>
          <a:spcBef>
            <a:spcPct val="20000"/>
          </a:spcBef>
          <a:buClr>
            <a:srgbClr val="FF0000"/>
          </a:buClr>
          <a:buSzPct val="100000"/>
          <a:defRPr dirty="0" smtClean="0">
            <a:solidFill>
              <a:schemeClr val="bg1"/>
            </a:solidFill>
            <a:latin typeface="Tahoma" panose="020B0604030504040204"/>
            <a:ea typeface="方正大黑简体" panose="03000509000000000000" pitchFamily="65"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黑体" panose="02010609060101010101" charset="-122"/>
          </a:defRPr>
        </a:defPPr>
      </a:lstStyle>
    </a:lnDef>
    <a:txDef>
      <a:spPr bwMode="auto">
        <a:noFill/>
        <a:ln>
          <a:noFill/>
        </a:ln>
      </a:spPr>
      <a:bodyPr/>
      <a:lstStyle>
        <a:defPPr marL="0" indent="0">
          <a:lnSpc>
            <a:spcPct val="150000"/>
          </a:lnSpc>
          <a:buClr>
            <a:srgbClr val="FF0000"/>
          </a:buClr>
          <a:defRPr sz="3200" dirty="0">
            <a:solidFill>
              <a:srgbClr val="0000FF"/>
            </a:solidFill>
            <a:latin typeface="方正大黑简体" panose="03000509000000000000" pitchFamily="65" charset="-122"/>
            <a:ea typeface="方正大黑简体" panose="03000509000000000000" pitchFamily="65" charset="-122"/>
          </a:defRPr>
        </a:defPPr>
      </a:lstStyle>
    </a:txDef>
  </a:objectDefaults>
  <a:extraClrSchemeLst>
    <a:extraClrScheme>
      <a:clrScheme name="5_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5_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5_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5_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5_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5_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10157</Words>
  <Application>WPS 演示</Application>
  <PresentationFormat>宽屏</PresentationFormat>
  <Paragraphs>1306</Paragraphs>
  <Slides>45</Slides>
  <Notes>32</Notes>
  <HiddenSlides>0</HiddenSlides>
  <MMClips>0</MMClips>
  <ScaleCrop>false</ScaleCrop>
  <HeadingPairs>
    <vt:vector size="6" baseType="variant">
      <vt:variant>
        <vt:lpstr>已用的字体</vt:lpstr>
      </vt:variant>
      <vt:variant>
        <vt:i4>18</vt:i4>
      </vt:variant>
      <vt:variant>
        <vt:lpstr>主题</vt:lpstr>
      </vt:variant>
      <vt:variant>
        <vt:i4>2</vt:i4>
      </vt:variant>
      <vt:variant>
        <vt:lpstr>幻灯片标题</vt:lpstr>
      </vt:variant>
      <vt:variant>
        <vt:i4>45</vt:i4>
      </vt:variant>
    </vt:vector>
  </HeadingPairs>
  <TitlesOfParts>
    <vt:vector size="65" baseType="lpstr">
      <vt:lpstr>Arial</vt:lpstr>
      <vt:lpstr>宋体</vt:lpstr>
      <vt:lpstr>Wingdings</vt:lpstr>
      <vt:lpstr>Tahoma</vt:lpstr>
      <vt:lpstr>方正大黑简体</vt:lpstr>
      <vt:lpstr>黑体</vt:lpstr>
      <vt:lpstr>Arial</vt:lpstr>
      <vt:lpstr>Tahoma</vt:lpstr>
      <vt:lpstr>等线</vt:lpstr>
      <vt:lpstr>楷体</vt:lpstr>
      <vt:lpstr>微软雅黑</vt:lpstr>
      <vt:lpstr>Times New Roman</vt:lpstr>
      <vt:lpstr>Times New Roman Regular</vt:lpstr>
      <vt:lpstr>Arial Unicode MS</vt:lpstr>
      <vt:lpstr>方正粗宋简体</vt:lpstr>
      <vt:lpstr>Times New Roman</vt:lpstr>
      <vt:lpstr>方正楷体简体</vt:lpstr>
      <vt:lpstr>Calibri</vt:lpstr>
      <vt:lpstr>7_Blends</vt:lpstr>
      <vt:lpstr>1_Blends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黄 浩勇</dc:creator>
  <cp:lastModifiedBy>Tan Wenlu</cp:lastModifiedBy>
  <cp:revision>3508</cp:revision>
  <dcterms:created xsi:type="dcterms:W3CDTF">2021-06-29T01:23:00Z</dcterms:created>
  <dcterms:modified xsi:type="dcterms:W3CDTF">2025-12-11T11:12:37Z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AF0D7FAA346948989AA9CA4CC8DD54F7_13</vt:lpwstr>
  </property>
</Properties>
</file>