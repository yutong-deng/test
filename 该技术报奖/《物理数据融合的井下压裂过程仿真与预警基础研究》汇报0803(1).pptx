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wmf" ContentType="image/x-wmf"/>
  <Default Extension="rels" ContentType="application/vnd.openxmlformats-package.relationships+xml"/>
  <Default Extension="xml" ContentType="application/xml"/>
  <Default Extension="vml" ContentType="application/vnd.openxmlformats-officedocument.vmlDrawing"/>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3.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4.xml" ContentType="application/vnd.openxmlformats-officedocument.theme+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 id="2147483652" r:id="rId4"/>
    <p:sldMasterId id="2147483699" r:id="rId5"/>
  </p:sldMasterIdLst>
  <p:notesMasterIdLst>
    <p:notesMasterId r:id="rId64"/>
  </p:notesMasterIdLst>
  <p:handoutMasterIdLst>
    <p:handoutMasterId r:id="rId65"/>
  </p:handoutMasterIdLst>
  <p:sldIdLst>
    <p:sldId id="2124" r:id="rId6"/>
    <p:sldId id="258" r:id="rId7"/>
    <p:sldId id="2125" r:id="rId8"/>
    <p:sldId id="2126" r:id="rId9"/>
    <p:sldId id="2127" r:id="rId10"/>
    <p:sldId id="2018" r:id="rId11"/>
    <p:sldId id="2020" r:id="rId12"/>
    <p:sldId id="2063" r:id="rId13"/>
    <p:sldId id="2041" r:id="rId14"/>
    <p:sldId id="2121" r:id="rId15"/>
    <p:sldId id="2151" r:id="rId16"/>
    <p:sldId id="2086" r:id="rId17"/>
    <p:sldId id="2087" r:id="rId18"/>
    <p:sldId id="2130" r:id="rId19"/>
    <p:sldId id="2103" r:id="rId20"/>
    <p:sldId id="2099" r:id="rId21"/>
    <p:sldId id="2135" r:id="rId22"/>
    <p:sldId id="2109" r:id="rId23"/>
    <p:sldId id="2116" r:id="rId24"/>
    <p:sldId id="2090" r:id="rId25"/>
    <p:sldId id="2131" r:id="rId26"/>
    <p:sldId id="2132" r:id="rId27"/>
    <p:sldId id="2164" r:id="rId28"/>
    <p:sldId id="2165" r:id="rId29"/>
    <p:sldId id="2102" r:id="rId30"/>
    <p:sldId id="2101" r:id="rId31"/>
    <p:sldId id="2091" r:id="rId32"/>
    <p:sldId id="2145" r:id="rId33"/>
    <p:sldId id="2146" r:id="rId34"/>
    <p:sldId id="2147" r:id="rId35"/>
    <p:sldId id="2148" r:id="rId36"/>
    <p:sldId id="2149" r:id="rId37"/>
    <p:sldId id="2150" r:id="rId38"/>
    <p:sldId id="2044" r:id="rId39"/>
    <p:sldId id="2161" r:id="rId40"/>
    <p:sldId id="2114" r:id="rId41"/>
    <p:sldId id="2162" r:id="rId42"/>
    <p:sldId id="2167" r:id="rId43"/>
    <p:sldId id="2166" r:id="rId44"/>
    <p:sldId id="2160" r:id="rId45"/>
    <p:sldId id="2045" r:id="rId46"/>
    <p:sldId id="2088" r:id="rId47"/>
    <p:sldId id="2100" r:id="rId48"/>
    <p:sldId id="2046" r:id="rId49"/>
    <p:sldId id="2113" r:id="rId50"/>
    <p:sldId id="2168" r:id="rId51"/>
    <p:sldId id="2143" r:id="rId52"/>
    <p:sldId id="2050" r:id="rId53"/>
    <p:sldId id="2153" r:id="rId54"/>
    <p:sldId id="2154" r:id="rId55"/>
    <p:sldId id="2155" r:id="rId56"/>
    <p:sldId id="2156" r:id="rId57"/>
    <p:sldId id="2157" r:id="rId58"/>
    <p:sldId id="2158" r:id="rId59"/>
    <p:sldId id="2052" r:id="rId60"/>
    <p:sldId id="2054" r:id="rId61"/>
    <p:sldId id="2169" r:id="rId62"/>
    <p:sldId id="2105" r:id="rId6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pos="3840" userDrawn="1">
          <p15:clr>
            <a:srgbClr val="A4A3A4"/>
          </p15:clr>
        </p15:guide>
        <p15:guide id="2" pos="166" userDrawn="1">
          <p15:clr>
            <a:srgbClr val="A4A3A4"/>
          </p15:clr>
        </p15:guide>
        <p15:guide id="3" pos="7559" userDrawn="1">
          <p15:clr>
            <a:srgbClr val="A4A3A4"/>
          </p15:clr>
        </p15:guide>
        <p15:guide id="5" pos="5473" userDrawn="1">
          <p15:clr>
            <a:srgbClr val="A4A3A4"/>
          </p15:clr>
        </p15:guide>
        <p15:guide id="6" pos="7242" userDrawn="1">
          <p15:clr>
            <a:srgbClr val="A4A3A4"/>
          </p15:clr>
        </p15:guide>
        <p15:guide id="8" orient="horz" pos="3838" userDrawn="1">
          <p15:clr>
            <a:srgbClr val="A4A3A4"/>
          </p15:clr>
        </p15:guide>
        <p15:guide id="9" orient="horz" pos="890" userDrawn="1">
          <p15:clr>
            <a:srgbClr val="A4A3A4"/>
          </p15:clr>
        </p15:guide>
        <p15:guide id="10" orient="horz" pos="4110" userDrawn="1">
          <p15:clr>
            <a:srgbClr val="A4A3A4"/>
          </p15:clr>
        </p15:guide>
        <p15:guide id="11" orient="horz" pos="754" userDrawn="1">
          <p15:clr>
            <a:srgbClr val="A4A3A4"/>
          </p15:clr>
        </p15:guide>
        <p15:guide id="14" orient="horz" pos="1661" userDrawn="1">
          <p15:clr>
            <a:srgbClr val="A4A3A4"/>
          </p15:clr>
        </p15:guide>
        <p15:guide id="15" pos="6108" userDrawn="1">
          <p15:clr>
            <a:srgbClr val="A4A3A4"/>
          </p15:clr>
        </p15:guide>
        <p15:guide id="16" pos="6834"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B3BFF"/>
    <a:srgbClr val="F0F0F0"/>
    <a:srgbClr val="E60704"/>
    <a:srgbClr val="070482"/>
    <a:srgbClr val="585AB5"/>
    <a:srgbClr val="3634A1"/>
    <a:srgbClr val="017F7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C2FFA5D-87B4-456A-9821-1D502468CF0F}" styleName="主题样式 1 - 强调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5BE263C-DBD7-4A20-BB59-AAB30ACAA65A}" styleName="Medium Style 3 - Accent 2">
    <a:wholeTbl>
      <a:tcTxStyle>
        <a:fontRef idx="minor">
          <a:srgbClr val="00000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rgbClr val="000000"/>
        </a:fontRef>
        <a:schemeClr val="lt1"/>
      </a:tcTxStyle>
      <a:tcStyle>
        <a:tcBdr/>
        <a:fill>
          <a:solidFill>
            <a:schemeClr val="accent2"/>
          </a:solidFill>
        </a:fill>
      </a:tcStyle>
    </a:lastCol>
    <a:firstCol>
      <a:tcTxStyle b="on">
        <a:fontRef idx="minor">
          <a:srgbClr val="00000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rgbClr val="000000"/>
        </a:fontRef>
        <a:schemeClr val="dk1"/>
      </a:tcTxStyle>
      <a:tcStyle>
        <a:tcBdr/>
      </a:tcStyle>
    </a:seCell>
    <a:swCell>
      <a:tcTxStyle b="on">
        <a:fontRef idx="minor">
          <a:srgbClr val="000000"/>
        </a:fontRef>
        <a:schemeClr val="dk1"/>
      </a:tcTxStyle>
      <a:tcStyle>
        <a:tcBdr/>
      </a:tcStyle>
    </a:swCell>
    <a:firstRow>
      <a:tcTxStyle b="on">
        <a:fontRef idx="minor">
          <a:srgbClr val="00000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rgbClr val="00000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rgbClr val="000000"/>
        </a:fontRef>
        <a:schemeClr val="lt1"/>
      </a:tcTxStyle>
      <a:tcStyle>
        <a:tcBdr/>
        <a:fill>
          <a:solidFill>
            <a:schemeClr val="accent1"/>
          </a:solidFill>
        </a:fill>
      </a:tcStyle>
    </a:lastCol>
    <a:firstCol>
      <a:tcTxStyle b="on">
        <a:fontRef idx="minor">
          <a:srgbClr val="00000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rgbClr val="000000"/>
        </a:fontRef>
        <a:schemeClr val="dk1"/>
      </a:tcTxStyle>
      <a:tcStyle>
        <a:tcBdr/>
      </a:tcStyle>
    </a:seCell>
    <a:swCell>
      <a:tcTxStyle b="on">
        <a:fontRef idx="minor">
          <a:srgbClr val="000000"/>
        </a:fontRef>
        <a:schemeClr val="dk1"/>
      </a:tcTxStyle>
      <a:tcStyle>
        <a:tcBdr/>
      </a:tcStyle>
    </a:swCell>
    <a:firstRow>
      <a:tcTxStyle b="on">
        <a:fontRef idx="minor">
          <a:srgbClr val="000000"/>
        </a:fontRef>
        <a:schemeClr val="lt1"/>
      </a:tcTxStyle>
      <a:tcStyle>
        <a:tcBdr>
          <a:bottom>
            <a:ln w="25400" cmpd="sng">
              <a:solidFill>
                <a:schemeClr val="dk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2DE63D5-997A-4646-A377-4702673A728D}" styleName="浅色样式 2 - 强调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1FECB4D8-DB02-4DC6-A0A2-4F2EBAE1DC90}" styleName="中度样式 1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554" autoAdjust="0"/>
    <p:restoredTop sz="94704"/>
  </p:normalViewPr>
  <p:slideViewPr>
    <p:cSldViewPr>
      <p:cViewPr varScale="1">
        <p:scale>
          <a:sx n="111" d="100"/>
          <a:sy n="111" d="100"/>
        </p:scale>
        <p:origin x="834" y="60"/>
      </p:cViewPr>
      <p:guideLst>
        <p:guide pos="3840"/>
        <p:guide pos="166"/>
        <p:guide pos="7559"/>
        <p:guide pos="5473"/>
        <p:guide pos="7242"/>
        <p:guide orient="horz" pos="3838"/>
        <p:guide orient="horz" pos="890"/>
        <p:guide orient="horz" pos="4110"/>
        <p:guide orient="horz" pos="754"/>
        <p:guide orient="horz" pos="1661"/>
        <p:guide pos="6108"/>
        <p:guide pos="6834"/>
      </p:guideLst>
    </p:cSldViewPr>
  </p:slideViewPr>
  <p:notesTextViewPr>
    <p:cViewPr>
      <p:scale>
        <a:sx n="1" d="1"/>
        <a:sy n="1" d="1"/>
      </p:scale>
      <p:origin x="0" y="0"/>
    </p:cViewPr>
  </p:notesTextViewPr>
  <p:notesViewPr>
    <p:cSldViewPr showGuides="1">
      <p:cViewPr varScale="1">
        <p:scale>
          <a:sx n="63" d="100"/>
          <a:sy n="63" d="100"/>
        </p:scale>
        <p:origin x="3206" y="7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theme" Target="theme/theme1.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3" Type="http://schemas.openxmlformats.org/officeDocument/2006/relationships/slide" Target="slides/slide48.xml"/><Relationship Id="rId58" Type="http://schemas.openxmlformats.org/officeDocument/2006/relationships/slide" Target="slides/slide53.xml"/><Relationship Id="rId66" Type="http://schemas.openxmlformats.org/officeDocument/2006/relationships/presProps" Target="presProps.xml"/><Relationship Id="rId5" Type="http://schemas.openxmlformats.org/officeDocument/2006/relationships/slideMaster" Target="slideMasters/slideMaster5.xml"/><Relationship Id="rId61" Type="http://schemas.openxmlformats.org/officeDocument/2006/relationships/slide" Target="slides/slide56.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notesMaster" Target="notesMasters/notesMaster1.xml"/><Relationship Id="rId69" Type="http://schemas.openxmlformats.org/officeDocument/2006/relationships/tableStyles" Target="tableStyles.xml"/><Relationship Id="rId8" Type="http://schemas.openxmlformats.org/officeDocument/2006/relationships/slide" Target="slides/slide3.xml"/><Relationship Id="rId51" Type="http://schemas.openxmlformats.org/officeDocument/2006/relationships/slide" Target="slides/slide46.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viewProps" Target="viewProps.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1" Type="http://schemas.openxmlformats.org/officeDocument/2006/relationships/slideMaster" Target="slideMasters/slideMaster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handoutMaster" Target="handoutMasters/handoutMaster1.xml"/><Relationship Id="rId4" Type="http://schemas.openxmlformats.org/officeDocument/2006/relationships/slideMaster" Target="slideMasters/slideMaster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79.wmf"/><Relationship Id="rId2" Type="http://schemas.openxmlformats.org/officeDocument/2006/relationships/image" Target="../media/image78.wmf"/><Relationship Id="rId1" Type="http://schemas.openxmlformats.org/officeDocument/2006/relationships/image" Target="../media/image77.wmf"/><Relationship Id="rId6" Type="http://schemas.openxmlformats.org/officeDocument/2006/relationships/image" Target="../media/image82.wmf"/><Relationship Id="rId5" Type="http://schemas.openxmlformats.org/officeDocument/2006/relationships/image" Target="../media/image81.wmf"/><Relationship Id="rId4" Type="http://schemas.openxmlformats.org/officeDocument/2006/relationships/image" Target="../media/image80.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7.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2EF99FF8-7261-F447-0F22-5FE4B78CEF4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a:extLst>
              <a:ext uri="{FF2B5EF4-FFF2-40B4-BE49-F238E27FC236}">
                <a16:creationId xmlns:a16="http://schemas.microsoft.com/office/drawing/2014/main" id="{63598018-0E19-1C5E-2BAA-80B3500EDB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0DF3D6E-3D2A-43D9-A636-40B612917398}" type="datetimeFigureOut">
              <a:rPr lang="zh-CN" altLang="en-US" smtClean="0"/>
              <a:t>2024/8/3</a:t>
            </a:fld>
            <a:endParaRPr lang="zh-CN" altLang="en-US"/>
          </a:p>
        </p:txBody>
      </p:sp>
      <p:sp>
        <p:nvSpPr>
          <p:cNvPr id="4" name="页脚占位符 3">
            <a:extLst>
              <a:ext uri="{FF2B5EF4-FFF2-40B4-BE49-F238E27FC236}">
                <a16:creationId xmlns:a16="http://schemas.microsoft.com/office/drawing/2014/main" id="{FB479B51-B102-2848-02C1-A92166F73D7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a:extLst>
              <a:ext uri="{FF2B5EF4-FFF2-40B4-BE49-F238E27FC236}">
                <a16:creationId xmlns:a16="http://schemas.microsoft.com/office/drawing/2014/main" id="{E37E3562-3958-CA6F-7419-DCA8522F153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5D332E4-F2FB-4B33-B40C-08B637B3CA03}" type="slidenum">
              <a:rPr lang="zh-CN" altLang="en-US" smtClean="0"/>
              <a:t>‹#›</a:t>
            </a:fld>
            <a:endParaRPr lang="zh-CN" altLang="en-US"/>
          </a:p>
        </p:txBody>
      </p:sp>
    </p:spTree>
    <p:extLst>
      <p:ext uri="{BB962C8B-B14F-4D97-AF65-F5344CB8AC3E}">
        <p14:creationId xmlns:p14="http://schemas.microsoft.com/office/powerpoint/2010/main" val="253716725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970"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971"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2F6546-1188-450A-BE6C-8A899FA597C9}" type="datetimeFigureOut">
              <a:rPr lang="zh-CN" altLang="en-US" smtClean="0"/>
              <a:t>2024/8/3</a:t>
            </a:fld>
            <a:endParaRPr lang="zh-CN" altLang="en-US"/>
          </a:p>
        </p:txBody>
      </p:sp>
      <p:sp>
        <p:nvSpPr>
          <p:cNvPr id="1048972"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973"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1048974"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975"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862BE39-F644-4EC3-A511-DD414CEA4E44}" type="slidenum">
              <a:rPr lang="zh-CN" altLang="en-US" smtClean="0"/>
              <a:t>‹#›</a:t>
            </a:fld>
            <a:endParaRPr lang="zh-CN" altLang="en-US"/>
          </a:p>
        </p:txBody>
      </p:sp>
    </p:spTree>
    <p:extLst>
      <p:ext uri="{BB962C8B-B14F-4D97-AF65-F5344CB8AC3E}">
        <p14:creationId xmlns:p14="http://schemas.microsoft.com/office/powerpoint/2010/main" val="7283479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E237F5D-A7ED-42E1-B86D-61E93A006526}" type="slidenum">
              <a:rPr lang="zh-CN" altLang="en-US" smtClean="0"/>
              <a:t>16</a:t>
            </a:fld>
            <a:endParaRPr lang="zh-CN" altLang="en-US"/>
          </a:p>
        </p:txBody>
      </p:sp>
    </p:spTree>
    <p:extLst>
      <p:ext uri="{BB962C8B-B14F-4D97-AF65-F5344CB8AC3E}">
        <p14:creationId xmlns:p14="http://schemas.microsoft.com/office/powerpoint/2010/main" val="3458271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62BE39-F644-4EC3-A511-DD414CEA4E44}" type="slidenum">
              <a:rPr lang="zh-CN" altLang="en-US" smtClean="0"/>
              <a:t>18</a:t>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62BE39-F644-4EC3-A511-DD414CEA4E44}" type="slidenum">
              <a:rPr lang="zh-CN" altLang="en-US" smtClean="0"/>
              <a:t>23</a:t>
            </a:fld>
            <a:endParaRPr lang="zh-CN" altLang="en-US"/>
          </a:p>
        </p:txBody>
      </p:sp>
    </p:spTree>
    <p:extLst>
      <p:ext uri="{BB962C8B-B14F-4D97-AF65-F5344CB8AC3E}">
        <p14:creationId xmlns:p14="http://schemas.microsoft.com/office/powerpoint/2010/main" val="32037366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62BE39-F644-4EC3-A511-DD414CEA4E44}" type="slidenum">
              <a:rPr lang="zh-CN" altLang="en-US" smtClean="0"/>
              <a:t>24</a:t>
            </a:fld>
            <a:endParaRPr lang="zh-CN" altLang="en-US"/>
          </a:p>
        </p:txBody>
      </p:sp>
    </p:spTree>
    <p:extLst>
      <p:ext uri="{BB962C8B-B14F-4D97-AF65-F5344CB8AC3E}">
        <p14:creationId xmlns:p14="http://schemas.microsoft.com/office/powerpoint/2010/main" val="26753551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5862BE39-F644-4EC3-A511-DD414CEA4E44}" type="slidenum">
              <a:rPr lang="zh-CN" altLang="en-US" smtClean="0"/>
              <a:t>25</a:t>
            </a:fld>
            <a:endParaRPr lang="zh-CN" altLang="en-US"/>
          </a:p>
        </p:txBody>
      </p:sp>
    </p:spTree>
    <p:extLst>
      <p:ext uri="{BB962C8B-B14F-4D97-AF65-F5344CB8AC3E}">
        <p14:creationId xmlns:p14="http://schemas.microsoft.com/office/powerpoint/2010/main" val="40699409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p:cNvSpPr>
            <a:spLocks noGrp="1" noRot="1" noChangeAspect="1" noChangeArrowheads="1" noTextEdit="1"/>
          </p:cNvSpPr>
          <p:nvPr>
            <p:ph type="sldImg"/>
          </p:nvPr>
        </p:nvSpPr>
        <p:spPr/>
      </p:sp>
      <p:sp>
        <p:nvSpPr>
          <p:cNvPr id="49155" name="备注占位符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90204" pitchFamily="34" charset="0"/>
            </a:endParaRPr>
          </a:p>
        </p:txBody>
      </p:sp>
      <p:sp>
        <p:nvSpPr>
          <p:cNvPr id="49156" name="灯片编号占位符 3"/>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405">
              <a:defRPr>
                <a:solidFill>
                  <a:schemeClr val="tx1"/>
                </a:solidFill>
                <a:latin typeface="Arial" panose="020B0604020202090204" pitchFamily="34" charset="0"/>
                <a:ea typeface="宋体" pitchFamily="2" charset="-122"/>
              </a:defRPr>
            </a:lvl1pPr>
            <a:lvl2pPr marL="742950" indent="-285750" defTabSz="954405">
              <a:defRPr>
                <a:solidFill>
                  <a:schemeClr val="tx1"/>
                </a:solidFill>
                <a:latin typeface="Arial" panose="020B0604020202090204" pitchFamily="34" charset="0"/>
                <a:ea typeface="宋体" pitchFamily="2" charset="-122"/>
              </a:defRPr>
            </a:lvl2pPr>
            <a:lvl3pPr marL="1143000" indent="-228600" defTabSz="954405">
              <a:defRPr>
                <a:solidFill>
                  <a:schemeClr val="tx1"/>
                </a:solidFill>
                <a:latin typeface="Arial" panose="020B0604020202090204" pitchFamily="34" charset="0"/>
                <a:ea typeface="宋体" pitchFamily="2" charset="-122"/>
              </a:defRPr>
            </a:lvl3pPr>
            <a:lvl4pPr marL="1600200" indent="-228600" defTabSz="954405">
              <a:defRPr>
                <a:solidFill>
                  <a:schemeClr val="tx1"/>
                </a:solidFill>
                <a:latin typeface="Arial" panose="020B0604020202090204" pitchFamily="34" charset="0"/>
                <a:ea typeface="宋体" pitchFamily="2" charset="-122"/>
              </a:defRPr>
            </a:lvl4pPr>
            <a:lvl5pPr marL="2057400" indent="-228600" defTabSz="954405">
              <a:defRPr>
                <a:solidFill>
                  <a:schemeClr val="tx1"/>
                </a:solidFill>
                <a:latin typeface="Arial" panose="020B0604020202090204" pitchFamily="34" charset="0"/>
                <a:ea typeface="宋体" pitchFamily="2" charset="-122"/>
              </a:defRPr>
            </a:lvl5pPr>
            <a:lvl6pPr marL="2514600" indent="-228600" defTabSz="954405"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defTabSz="954405"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defTabSz="954405"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defTabSz="954405"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0" algn="r" defTabSz="954405" rtl="0" eaLnBrk="1" fontAlgn="auto" latinLnBrk="0" hangingPunct="1">
              <a:lnSpc>
                <a:spcPct val="100000"/>
              </a:lnSpc>
              <a:spcBef>
                <a:spcPts val="0"/>
              </a:spcBef>
              <a:spcAft>
                <a:spcPts val="0"/>
              </a:spcAft>
              <a:buClrTx/>
              <a:buSzTx/>
              <a:buFontTx/>
              <a:buNone/>
              <a:defRPr/>
            </a:pPr>
            <a:fld id="{2E39875D-42DC-4260-B947-5120B9311AFD}" type="slidenum">
              <a:rPr kumimoji="0" lang="en-US" altLang="zh-CN" sz="1200" b="0" i="0" u="none" strike="noStrike" kern="1200" cap="none" spc="0" normalizeH="0" baseline="0" noProof="0" smtClean="0">
                <a:ln>
                  <a:noFill/>
                </a:ln>
                <a:solidFill>
                  <a:prstClr val="black"/>
                </a:solidFill>
                <a:effectLst/>
                <a:uLnTx/>
                <a:uFillTx/>
                <a:latin typeface="Arial" panose="020B0604020202090204" pitchFamily="34" charset="0"/>
                <a:ea typeface="宋体" pitchFamily="2" charset="-122"/>
                <a:cs typeface="+mn-cs"/>
              </a:rPr>
              <a:t>38</a:t>
            </a:fld>
            <a:endParaRPr kumimoji="0" lang="en-US" altLang="zh-CN" sz="1200" b="0" i="0" u="none" strike="noStrike" kern="1200" cap="none" spc="0" normalizeH="0" baseline="0" noProof="0">
              <a:ln>
                <a:noFill/>
              </a:ln>
              <a:solidFill>
                <a:prstClr val="black"/>
              </a:solidFill>
              <a:effectLst/>
              <a:uLnTx/>
              <a:uFillTx/>
              <a:latin typeface="Arial" panose="020B0604020202090204" pitchFamily="34" charset="0"/>
              <a:ea typeface="宋体" pitchFamily="2" charset="-122"/>
              <a:cs typeface="+mn-c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0C491DAD-BCD1-2439-048C-17274AB1CF1C}"/>
              </a:ext>
            </a:extLst>
          </p:cNvPr>
          <p:cNvSpPr>
            <a:spLocks noGrp="1" noRot="1" noChangeAspect="1" noChangeArrowheads="1" noTextEdit="1"/>
          </p:cNvSpPr>
          <p:nvPr>
            <p:ph type="sldImg"/>
          </p:nvPr>
        </p:nvSpPr>
        <p:spPr>
          <a:ln/>
        </p:spPr>
      </p:sp>
      <p:sp>
        <p:nvSpPr>
          <p:cNvPr id="49155" name="备注占位符 2">
            <a:extLst>
              <a:ext uri="{FF2B5EF4-FFF2-40B4-BE49-F238E27FC236}">
                <a16:creationId xmlns:a16="http://schemas.microsoft.com/office/drawing/2014/main" id="{80A803CC-4712-5493-29C5-ED1737A68D2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49156" name="灯片编号占位符 3">
            <a:extLst>
              <a:ext uri="{FF2B5EF4-FFF2-40B4-BE49-F238E27FC236}">
                <a16:creationId xmlns:a16="http://schemas.microsoft.com/office/drawing/2014/main" id="{0D5C43D6-5BAF-8113-167E-31812B86AC7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ea typeface="宋体" panose="02010600030101010101" pitchFamily="2" charset="-122"/>
              </a:defRPr>
            </a:lvl1pPr>
            <a:lvl2pPr marL="742950" indent="-285750" defTabSz="954088">
              <a:defRPr>
                <a:solidFill>
                  <a:schemeClr val="tx1"/>
                </a:solidFill>
                <a:latin typeface="Arial" panose="020B0604020202020204" pitchFamily="34" charset="0"/>
                <a:ea typeface="宋体" panose="02010600030101010101" pitchFamily="2" charset="-122"/>
              </a:defRPr>
            </a:lvl2pPr>
            <a:lvl3pPr marL="1143000" indent="-228600" defTabSz="954088">
              <a:defRPr>
                <a:solidFill>
                  <a:schemeClr val="tx1"/>
                </a:solidFill>
                <a:latin typeface="Arial" panose="020B0604020202020204" pitchFamily="34" charset="0"/>
                <a:ea typeface="宋体" panose="02010600030101010101" pitchFamily="2" charset="-122"/>
              </a:defRPr>
            </a:lvl3pPr>
            <a:lvl4pPr marL="1600200" indent="-228600" defTabSz="954088">
              <a:defRPr>
                <a:solidFill>
                  <a:schemeClr val="tx1"/>
                </a:solidFill>
                <a:latin typeface="Arial" panose="020B0604020202020204" pitchFamily="34" charset="0"/>
                <a:ea typeface="宋体" panose="02010600030101010101" pitchFamily="2" charset="-122"/>
              </a:defRPr>
            </a:lvl4pPr>
            <a:lvl5pPr marL="2057400" indent="-228600" defTabSz="954088">
              <a:defRPr>
                <a:solidFill>
                  <a:schemeClr val="tx1"/>
                </a:solidFill>
                <a:latin typeface="Arial" panose="020B060402020202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E39875D-42DC-4260-B947-5120B9311AFD}" type="slidenum">
              <a:rPr lang="en-US" altLang="zh-CN" smtClean="0"/>
              <a:pPr/>
              <a:t>39</a:t>
            </a:fld>
            <a:endParaRPr lang="en-US" altLang="zh-CN"/>
          </a:p>
        </p:txBody>
      </p:sp>
    </p:spTree>
    <p:extLst>
      <p:ext uri="{BB962C8B-B14F-4D97-AF65-F5344CB8AC3E}">
        <p14:creationId xmlns:p14="http://schemas.microsoft.com/office/powerpoint/2010/main" val="31773256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幻灯片图像占位符 1">
            <a:extLst>
              <a:ext uri="{FF2B5EF4-FFF2-40B4-BE49-F238E27FC236}">
                <a16:creationId xmlns:a16="http://schemas.microsoft.com/office/drawing/2014/main" id="{0C491DAD-BCD1-2439-048C-17274AB1CF1C}"/>
              </a:ext>
            </a:extLst>
          </p:cNvPr>
          <p:cNvSpPr>
            <a:spLocks noGrp="1" noRot="1" noChangeAspect="1" noChangeArrowheads="1" noTextEdit="1"/>
          </p:cNvSpPr>
          <p:nvPr>
            <p:ph type="sldImg"/>
          </p:nvPr>
        </p:nvSpPr>
        <p:spPr>
          <a:ln/>
        </p:spPr>
      </p:sp>
      <p:sp>
        <p:nvSpPr>
          <p:cNvPr id="49155" name="备注占位符 2">
            <a:extLst>
              <a:ext uri="{FF2B5EF4-FFF2-40B4-BE49-F238E27FC236}">
                <a16:creationId xmlns:a16="http://schemas.microsoft.com/office/drawing/2014/main" id="{80A803CC-4712-5493-29C5-ED1737A68D28}"/>
              </a:ext>
            </a:extLst>
          </p:cNvPr>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49156" name="灯片编号占位符 3">
            <a:extLst>
              <a:ext uri="{FF2B5EF4-FFF2-40B4-BE49-F238E27FC236}">
                <a16:creationId xmlns:a16="http://schemas.microsoft.com/office/drawing/2014/main" id="{0D5C43D6-5BAF-8113-167E-31812B86AC72}"/>
              </a:ext>
            </a:extLst>
          </p:cNvPr>
          <p:cNvSpPr>
            <a:spLocks noGrp="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54088">
              <a:defRPr>
                <a:solidFill>
                  <a:schemeClr val="tx1"/>
                </a:solidFill>
                <a:latin typeface="Arial" panose="020B0604020202020204" pitchFamily="34" charset="0"/>
                <a:ea typeface="宋体" panose="02010600030101010101" pitchFamily="2" charset="-122"/>
              </a:defRPr>
            </a:lvl1pPr>
            <a:lvl2pPr marL="742950" indent="-285750" defTabSz="954088">
              <a:defRPr>
                <a:solidFill>
                  <a:schemeClr val="tx1"/>
                </a:solidFill>
                <a:latin typeface="Arial" panose="020B0604020202020204" pitchFamily="34" charset="0"/>
                <a:ea typeface="宋体" panose="02010600030101010101" pitchFamily="2" charset="-122"/>
              </a:defRPr>
            </a:lvl2pPr>
            <a:lvl3pPr marL="1143000" indent="-228600" defTabSz="954088">
              <a:defRPr>
                <a:solidFill>
                  <a:schemeClr val="tx1"/>
                </a:solidFill>
                <a:latin typeface="Arial" panose="020B0604020202020204" pitchFamily="34" charset="0"/>
                <a:ea typeface="宋体" panose="02010600030101010101" pitchFamily="2" charset="-122"/>
              </a:defRPr>
            </a:lvl3pPr>
            <a:lvl4pPr marL="1600200" indent="-228600" defTabSz="954088">
              <a:defRPr>
                <a:solidFill>
                  <a:schemeClr val="tx1"/>
                </a:solidFill>
                <a:latin typeface="Arial" panose="020B0604020202020204" pitchFamily="34" charset="0"/>
                <a:ea typeface="宋体" panose="02010600030101010101" pitchFamily="2" charset="-122"/>
              </a:defRPr>
            </a:lvl4pPr>
            <a:lvl5pPr marL="2057400" indent="-228600" defTabSz="954088">
              <a:defRPr>
                <a:solidFill>
                  <a:schemeClr val="tx1"/>
                </a:solidFill>
                <a:latin typeface="Arial" panose="020B0604020202020204" pitchFamily="34" charset="0"/>
                <a:ea typeface="宋体" panose="02010600030101010101" pitchFamily="2" charset="-122"/>
              </a:defRPr>
            </a:lvl5pPr>
            <a:lvl6pPr marL="25146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954088"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fld id="{2E39875D-42DC-4260-B947-5120B9311AFD}" type="slidenum">
              <a:rPr lang="en-US" altLang="zh-CN" smtClean="0"/>
              <a:pPr/>
              <a:t>40</a:t>
            </a:fld>
            <a:endParaRPr lang="en-US" altLang="zh-CN"/>
          </a:p>
        </p:txBody>
      </p:sp>
    </p:spTree>
    <p:extLst>
      <p:ext uri="{BB962C8B-B14F-4D97-AF65-F5344CB8AC3E}">
        <p14:creationId xmlns:p14="http://schemas.microsoft.com/office/powerpoint/2010/main" val="3185120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950" name="Title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en-US" dirty="0"/>
          </a:p>
        </p:txBody>
      </p:sp>
      <p:sp>
        <p:nvSpPr>
          <p:cNvPr id="1048951" name="Subtitle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en-US" dirty="0"/>
          </a:p>
        </p:txBody>
      </p:sp>
      <p:sp>
        <p:nvSpPr>
          <p:cNvPr id="1048952"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3"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4"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945"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1048946" name="Content Placeholder 2"/>
          <p:cNvSpPr>
            <a:spLocks noGrp="1"/>
          </p:cNvSpPr>
          <p:nvPr>
            <p:ph idx="1" hasCustomPrompt="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47"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048948"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dirty="0">
              <a:ln>
                <a:noFill/>
              </a:ln>
              <a:solidFill>
                <a:srgbClr val="000000"/>
              </a:solidFill>
              <a:effectLst/>
              <a:uLnTx/>
              <a:uFillTx/>
              <a:latin typeface="Calibri" panose="020F0502020204030204"/>
              <a:ea typeface="等线" panose="02010600030101010101" pitchFamily="2" charset="-122"/>
              <a:cs typeface="+mn-cs"/>
            </a:endParaRPr>
          </a:p>
        </p:txBody>
      </p:sp>
      <p:sp>
        <p:nvSpPr>
          <p:cNvPr id="1048949"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2FB9F411-98CD-4304-BE1C-796F40900D20}" type="slidenum">
              <a:rPr kumimoji="0" lang="zh-CN" altLang="en-US" sz="1400" b="0" i="0" u="none" strike="noStrike" kern="1200" cap="none" spc="0" normalizeH="0" baseline="0" noProof="0" smtClean="0">
                <a:ln>
                  <a:noFill/>
                </a:ln>
                <a:solidFill>
                  <a:srgbClr val="000000"/>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965" name="Title 1"/>
          <p:cNvSpPr>
            <a:spLocks noGrp="1"/>
          </p:cNvSpPr>
          <p:nvPr>
            <p:ph type="title"/>
          </p:nvPr>
        </p:nvSpPr>
        <p:spPr>
          <a:xfrm>
            <a:off x="831850" y="1709738"/>
            <a:ext cx="10515600" cy="2852737"/>
          </a:xfrm>
          <a:prstGeom prst="rect">
            <a:avLst/>
          </a:prstGeom>
        </p:spPr>
        <p:txBody>
          <a:bodyPr anchor="b"/>
          <a:lstStyle>
            <a:lvl1pPr>
              <a:defRPr sz="6000"/>
            </a:lvl1pPr>
          </a:lstStyle>
          <a:p>
            <a:r>
              <a:rPr lang="zh-CN" altLang="en-US"/>
              <a:t>单击此处编辑母版标题样式</a:t>
            </a:r>
            <a:endParaRPr lang="en-US" dirty="0"/>
          </a:p>
        </p:txBody>
      </p:sp>
      <p:sp>
        <p:nvSpPr>
          <p:cNvPr id="1048966" name="Text Placeholder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1048967"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8"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9"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959"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1048960" name="Content Placeholder 2"/>
          <p:cNvSpPr>
            <a:spLocks noGrp="1"/>
          </p:cNvSpPr>
          <p:nvPr>
            <p:ph sz="half" idx="1" hasCustomPrompt="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61" name="Content Placeholder 3"/>
          <p:cNvSpPr>
            <a:spLocks noGrp="1"/>
          </p:cNvSpPr>
          <p:nvPr>
            <p:ph sz="half" idx="2" hasCustomPrompt="1"/>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62"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3"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64"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915" name="Title 1"/>
          <p:cNvSpPr>
            <a:spLocks noGrp="1"/>
          </p:cNvSpPr>
          <p:nvPr>
            <p:ph type="title"/>
          </p:nvPr>
        </p:nvSpPr>
        <p:spPr>
          <a:xfrm>
            <a:off x="839788" y="365125"/>
            <a:ext cx="10515600" cy="1325563"/>
          </a:xfrm>
          <a:prstGeom prst="rect">
            <a:avLst/>
          </a:prstGeom>
        </p:spPr>
        <p:txBody>
          <a:bodyPr/>
          <a:lstStyle/>
          <a:p>
            <a:r>
              <a:rPr lang="zh-CN" altLang="en-US"/>
              <a:t>单击此处编辑母版标题样式</a:t>
            </a:r>
            <a:endParaRPr lang="en-US" dirty="0"/>
          </a:p>
        </p:txBody>
      </p:sp>
      <p:sp>
        <p:nvSpPr>
          <p:cNvPr id="1048916" name="Text Placeholder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7" name="Content Placeholder 3"/>
          <p:cNvSpPr>
            <a:spLocks noGrp="1"/>
          </p:cNvSpPr>
          <p:nvPr>
            <p:ph sz="half" idx="2" hasCustomPrompt="1"/>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18" name="Text Placeholder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1048919" name="Content Placeholder 5"/>
          <p:cNvSpPr>
            <a:spLocks noGrp="1"/>
          </p:cNvSpPr>
          <p:nvPr>
            <p:ph sz="quarter" idx="4" hasCustomPrompt="1"/>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20" name="Date Placeholder 6"/>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1" name="Footer Placeholder 7"/>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2"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955"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1048956" name="Date Placeholder 2"/>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7" name="Footer Placeholder 3"/>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58" name="Slide Number Placeholder 4"/>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597" name="Date Placeholder 1"/>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sp>
        <p:nvSpPr>
          <p:cNvPr id="1048598" name="Footer Placeholder 2"/>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altLang="zh-CN" sz="1400" b="0" i="0" u="none" strike="noStrike" kern="1200" cap="none" spc="0" normalizeH="0" baseline="0" noProof="0" dirty="0">
              <a:ln>
                <a:noFill/>
              </a:ln>
              <a:solidFill>
                <a:srgbClr val="000000"/>
              </a:solidFill>
              <a:effectLst/>
              <a:uLnTx/>
              <a:uFillTx/>
              <a:latin typeface="Calibri" panose="020F0502020204030204"/>
              <a:ea typeface="等线" panose="02010600030101010101" pitchFamily="2" charset="-122"/>
              <a:cs typeface="+mn-cs"/>
            </a:endParaRPr>
          </a:p>
        </p:txBody>
      </p:sp>
      <p:sp>
        <p:nvSpPr>
          <p:cNvPr id="1048599" name="Slide Number Placeholder 3"/>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96AAB70-B388-4A8C-B2BD-B856CE0FB7BD}" type="slidenum">
              <a:rPr kumimoji="0" lang="zh-CN" altLang="en-US" sz="1400" b="0" i="0" u="none" strike="noStrike" kern="1200" cap="none" spc="0" normalizeH="0" baseline="0" noProof="0" smtClean="0">
                <a:ln>
                  <a:noFill/>
                </a:ln>
                <a:solidFill>
                  <a:srgbClr val="000000"/>
                </a:solidFill>
                <a:effectLst/>
                <a:uLnTx/>
                <a:uFillTx/>
                <a:latin typeface="Calibri"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altLang="zh-CN" sz="1400" b="0" i="0" u="none" strike="noStrike" kern="1200" cap="none" spc="0" normalizeH="0" baseline="0" noProof="0">
              <a:ln>
                <a:noFill/>
              </a:ln>
              <a:solidFill>
                <a:srgbClr val="000000"/>
              </a:solidFill>
              <a:effectLst/>
              <a:uLnTx/>
              <a:uFillTx/>
              <a:latin typeface="Calibri" panose="020F0502020204030204"/>
              <a:ea typeface="等线" panose="02010600030101010101" pitchFamily="2" charset="-122"/>
              <a:cs typeface="+mn-cs"/>
            </a:endParaRPr>
          </a:p>
        </p:txBody>
      </p:sp>
      <p:cxnSp>
        <p:nvCxnSpPr>
          <p:cNvPr id="3145729" name="直接连接符 4"/>
          <p:cNvCxnSpPr>
            <a:cxnSpLocks/>
          </p:cNvCxnSpPr>
          <p:nvPr userDrawn="1"/>
        </p:nvCxnSpPr>
        <p:spPr bwMode="auto">
          <a:xfrm>
            <a:off x="257175" y="1201271"/>
            <a:ext cx="11700000"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933"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1048934" name="Content Placeholder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35"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936"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7"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8"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939" name="Title 1"/>
          <p:cNvSpPr>
            <a:spLocks noGrp="1"/>
          </p:cNvSpPr>
          <p:nvPr>
            <p:ph type="title"/>
          </p:nvPr>
        </p:nvSpPr>
        <p:spPr>
          <a:xfrm>
            <a:off x="839788" y="457200"/>
            <a:ext cx="3932237" cy="1600200"/>
          </a:xfrm>
          <a:prstGeom prst="rect">
            <a:avLst/>
          </a:prstGeom>
        </p:spPr>
        <p:txBody>
          <a:bodyPr anchor="b"/>
          <a:lstStyle>
            <a:lvl1pPr>
              <a:defRPr sz="3200"/>
            </a:lvl1pPr>
          </a:lstStyle>
          <a:p>
            <a:r>
              <a:rPr lang="zh-CN" altLang="en-US"/>
              <a:t>单击此处编辑母版标题样式</a:t>
            </a:r>
            <a:endParaRPr lang="en-US" dirty="0"/>
          </a:p>
        </p:txBody>
      </p:sp>
      <p:sp>
        <p:nvSpPr>
          <p:cNvPr id="1048940"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1048941" name="Text Placeholder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1048942" name="Date Placeholder 4"/>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43" name="Footer Placeholder 5"/>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44" name="Slide Number Placeholder 6"/>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928" name="Title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en-US" dirty="0"/>
          </a:p>
        </p:txBody>
      </p:sp>
      <p:sp>
        <p:nvSpPr>
          <p:cNvPr id="1048929" name="Vertical Text Placeholder 2"/>
          <p:cNvSpPr>
            <a:spLocks noGrp="1"/>
          </p:cNvSpPr>
          <p:nvPr>
            <p:ph type="body" orient="vert" idx="1" hasCustomPrompt="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30"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1" name="Footer Placeholder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32"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1048923" name="Vertical Title 1"/>
          <p:cNvSpPr>
            <a:spLocks noGrp="1"/>
          </p:cNvSpPr>
          <p:nvPr>
            <p:ph type="title" orient="vert"/>
          </p:nvPr>
        </p:nvSpPr>
        <p:spPr>
          <a:xfrm>
            <a:off x="8724900" y="365125"/>
            <a:ext cx="2628900" cy="5811838"/>
          </a:xfrm>
          <a:prstGeom prst="rect">
            <a:avLst/>
          </a:prstGeom>
        </p:spPr>
        <p:txBody>
          <a:bodyPr vert="eaVert"/>
          <a:lstStyle/>
          <a:p>
            <a:r>
              <a:rPr lang="zh-CN" altLang="en-US"/>
              <a:t>单击此处编辑母版标题样式</a:t>
            </a:r>
            <a:endParaRPr lang="en-US" dirty="0"/>
          </a:p>
        </p:txBody>
      </p:sp>
      <p:sp>
        <p:nvSpPr>
          <p:cNvPr id="1048924" name="Vertical Text Placeholder 2"/>
          <p:cNvSpPr>
            <a:spLocks noGrp="1"/>
          </p:cNvSpPr>
          <p:nvPr>
            <p:ph type="body" orient="vert" idx="1" hasCustomPrompt="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1048925" name="Date Placeholder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6" name="Footer Placeholder 4"/>
          <p:cNvSpPr>
            <a:spLocks noGrp="1"/>
          </p:cNvSpPr>
          <p:nvPr>
            <p:ph type="ftr" sz="quarter" idx="11"/>
          </p:nvPr>
        </p:nvSpPr>
        <p:spPr>
          <a:xfrm>
            <a:off x="4038600" y="6349298"/>
            <a:ext cx="4114800" cy="365125"/>
          </a:xfrm>
        </p:spPr>
        <p:txBody>
          <a:body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927" name="Slide Number Placeholder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847" name="标题 1"/>
          <p:cNvSpPr>
            <a:spLocks noGrp="1"/>
          </p:cNvSpPr>
          <p:nvPr>
            <p:ph type="ctrTitle"/>
          </p:nvPr>
        </p:nvSpPr>
        <p:spPr>
          <a:xfrm>
            <a:off x="1524000" y="1121833"/>
            <a:ext cx="9144000" cy="2387600"/>
          </a:xfrm>
        </p:spPr>
        <p:txBody>
          <a:bodyPr anchor="b"/>
          <a:lstStyle>
            <a:lvl1pPr algn="ctr">
              <a:defRPr sz="8000"/>
            </a:lvl1pPr>
          </a:lstStyle>
          <a:p>
            <a:r>
              <a:rPr lang="zh-CN" altLang="en-US"/>
              <a:t>单击此处编辑母版标题样式</a:t>
            </a:r>
          </a:p>
        </p:txBody>
      </p:sp>
      <p:sp>
        <p:nvSpPr>
          <p:cNvPr id="1048848" name="副标题 2"/>
          <p:cNvSpPr>
            <a:spLocks noGrp="1"/>
          </p:cNvSpPr>
          <p:nvPr>
            <p:ph type="subTitle" idx="1"/>
          </p:nvPr>
        </p:nvSpPr>
        <p:spPr>
          <a:xfrm>
            <a:off x="1524000" y="3602568"/>
            <a:ext cx="9144000" cy="1655233"/>
          </a:xfrm>
        </p:spPr>
        <p:txBody>
          <a:bodyPr/>
          <a:lstStyle>
            <a:lvl1pPr marL="0" indent="0" algn="ctr">
              <a:buNone/>
              <a:defRPr sz="3200"/>
            </a:lvl1pPr>
            <a:lvl2pPr marL="609585" indent="0" algn="ctr">
              <a:buNone/>
              <a:defRPr sz="2667"/>
            </a:lvl2pPr>
            <a:lvl3pPr marL="1219170" indent="0" algn="ctr">
              <a:buNone/>
              <a:defRPr sz="2400"/>
            </a:lvl3pPr>
            <a:lvl4pPr marL="1828754" indent="0" algn="ctr">
              <a:buNone/>
              <a:defRPr sz="2133"/>
            </a:lvl4pPr>
            <a:lvl5pPr marL="2438339" indent="0" algn="ctr">
              <a:buNone/>
              <a:defRPr sz="2133"/>
            </a:lvl5pPr>
            <a:lvl6pPr marL="3047924" indent="0" algn="ctr">
              <a:buNone/>
              <a:defRPr sz="2133"/>
            </a:lvl6pPr>
            <a:lvl7pPr marL="3657509" indent="0" algn="ctr">
              <a:buNone/>
              <a:defRPr sz="2133"/>
            </a:lvl7pPr>
            <a:lvl8pPr marL="4267093" indent="0" algn="ctr">
              <a:buNone/>
              <a:defRPr sz="2133"/>
            </a:lvl8pPr>
            <a:lvl9pPr marL="4876678" indent="0" algn="ctr">
              <a:buNone/>
              <a:defRPr sz="2133"/>
            </a:lvl9pPr>
          </a:lstStyle>
          <a:p>
            <a:r>
              <a:rPr lang="zh-CN" altLang="en-US"/>
              <a:t>单击以编辑母版副标题样式</a:t>
            </a:r>
          </a:p>
        </p:txBody>
      </p:sp>
      <p:sp>
        <p:nvSpPr>
          <p:cNvPr id="1048849" name="日期占位符 3"/>
          <p:cNvSpPr>
            <a:spLocks noGrp="1"/>
          </p:cNvSpPr>
          <p:nvPr>
            <p:ph type="dt" sz="half" idx="10"/>
          </p:nvPr>
        </p:nvSpPr>
        <p:spPr/>
        <p:txBody>
          <a:bodyPr/>
          <a:lstStyle/>
          <a:p>
            <a:pPr defTabSz="1218323"/>
            <a:fld id="{414BD70E-04FC-4142-B43E-89D11E84CD4D}" type="datetimeFigureOut">
              <a:rPr lang="zh-CN" altLang="en-US" smtClean="0">
                <a:solidFill>
                  <a:prstClr val="black">
                    <a:tint val="75000"/>
                  </a:prstClr>
                </a:solidFill>
              </a:rPr>
              <a:pPr defTabSz="1218323"/>
              <a:t>2024/8/3</a:t>
            </a:fld>
            <a:endParaRPr lang="zh-CN" altLang="en-US">
              <a:solidFill>
                <a:prstClr val="black">
                  <a:tint val="75000"/>
                </a:prstClr>
              </a:solidFill>
            </a:endParaRPr>
          </a:p>
        </p:txBody>
      </p:sp>
      <p:sp>
        <p:nvSpPr>
          <p:cNvPr id="1048850" name="灯片编号占位符 5"/>
          <p:cNvSpPr>
            <a:spLocks noGrp="1"/>
          </p:cNvSpPr>
          <p:nvPr>
            <p:ph type="sldNum" sz="quarter" idx="12"/>
          </p:nvPr>
        </p:nvSpPr>
        <p:spPr/>
        <p:txBody>
          <a:bodyPr/>
          <a:lstStyle/>
          <a:p>
            <a:pPr defTabSz="1218323"/>
            <a:fld id="{7C74B832-F533-45B7-ADEE-76B7D10184A6}" type="slidenum">
              <a:rPr lang="zh-CN" altLang="en-US" smtClean="0">
                <a:solidFill>
                  <a:prstClr val="black">
                    <a:tint val="75000"/>
                  </a:prstClr>
                </a:solidFill>
              </a:rPr>
              <a:pPr defTabSz="1218323"/>
              <a:t>‹#›</a:t>
            </a:fld>
            <a:endParaRPr lang="zh-CN" altLang="en-US">
              <a:solidFill>
                <a:prstClr val="black">
                  <a:tint val="75000"/>
                </a:prstClr>
              </a:solidFil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843" name="标题 1"/>
          <p:cNvSpPr>
            <a:spLocks noGrp="1"/>
          </p:cNvSpPr>
          <p:nvPr>
            <p:ph type="title"/>
          </p:nvPr>
        </p:nvSpPr>
        <p:spPr/>
        <p:txBody>
          <a:bodyPr/>
          <a:lstStyle/>
          <a:p>
            <a:r>
              <a:rPr lang="zh-CN" altLang="en-US"/>
              <a:t>单击此处编辑母版标题样式</a:t>
            </a:r>
          </a:p>
        </p:txBody>
      </p:sp>
      <p:sp>
        <p:nvSpPr>
          <p:cNvPr id="1048844" name="日期占位符 2"/>
          <p:cNvSpPr>
            <a:spLocks noGrp="1"/>
          </p:cNvSpPr>
          <p:nvPr>
            <p:ph type="dt" sz="half" idx="10"/>
          </p:nvPr>
        </p:nvSpPr>
        <p:spPr/>
        <p:txBody>
          <a:bodyPr/>
          <a:lstStyle/>
          <a:p>
            <a:pPr defTabSz="1218323"/>
            <a:fld id="{414BD70E-04FC-4142-B43E-89D11E84CD4D}" type="datetimeFigureOut">
              <a:rPr lang="zh-CN" altLang="en-US" smtClean="0">
                <a:solidFill>
                  <a:prstClr val="black">
                    <a:tint val="75000"/>
                  </a:prstClr>
                </a:solidFill>
              </a:rPr>
              <a:pPr defTabSz="1218323"/>
              <a:t>2024/8/3</a:t>
            </a:fld>
            <a:endParaRPr lang="zh-CN" altLang="en-US">
              <a:solidFill>
                <a:prstClr val="black">
                  <a:tint val="75000"/>
                </a:prstClr>
              </a:solidFill>
            </a:endParaRPr>
          </a:p>
        </p:txBody>
      </p:sp>
      <p:sp>
        <p:nvSpPr>
          <p:cNvPr id="1048845" name="页脚占位符 3"/>
          <p:cNvSpPr>
            <a:spLocks noGrp="1"/>
          </p:cNvSpPr>
          <p:nvPr>
            <p:ph type="ftr" sz="quarter" idx="11"/>
          </p:nvPr>
        </p:nvSpPr>
        <p:spPr>
          <a:xfrm>
            <a:off x="4038600" y="6356351"/>
            <a:ext cx="4114800" cy="366183"/>
          </a:xfrm>
          <a:prstGeom prst="rect">
            <a:avLst/>
          </a:prstGeom>
        </p:spPr>
        <p:txBody>
          <a:bodyPr/>
          <a:lstStyle/>
          <a:p>
            <a:pPr defTabSz="1218323"/>
            <a:endParaRPr lang="zh-CN" altLang="en-US">
              <a:solidFill>
                <a:prstClr val="black">
                  <a:tint val="75000"/>
                </a:prstClr>
              </a:solidFill>
            </a:endParaRPr>
          </a:p>
        </p:txBody>
      </p:sp>
      <p:sp>
        <p:nvSpPr>
          <p:cNvPr id="1048846" name="灯片编号占位符 4"/>
          <p:cNvSpPr>
            <a:spLocks noGrp="1"/>
          </p:cNvSpPr>
          <p:nvPr>
            <p:ph type="sldNum" sz="quarter" idx="12"/>
          </p:nvPr>
        </p:nvSpPr>
        <p:spPr/>
        <p:txBody>
          <a:bodyPr/>
          <a:lstStyle/>
          <a:p>
            <a:pPr defTabSz="1218323"/>
            <a:fld id="{7C74B832-F533-45B7-ADEE-76B7D10184A6}" type="slidenum">
              <a:rPr lang="zh-CN" altLang="en-US" smtClean="0">
                <a:solidFill>
                  <a:prstClr val="black">
                    <a:tint val="75000"/>
                  </a:prstClr>
                </a:solidFill>
              </a:rPr>
              <a:pPr defTabSz="1218323"/>
              <a:t>‹#›</a:t>
            </a:fld>
            <a:endParaRPr lang="zh-CN" altLang="en-US">
              <a:solidFill>
                <a:prstClr val="black">
                  <a:tint val="75000"/>
                </a:prstClr>
              </a:solidFil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836" name="日期占位符 1"/>
          <p:cNvSpPr>
            <a:spLocks noGrp="1"/>
          </p:cNvSpPr>
          <p:nvPr>
            <p:ph type="dt" sz="half" idx="10"/>
          </p:nvPr>
        </p:nvSpPr>
        <p:spPr/>
        <p:txBody>
          <a:bodyPr/>
          <a:lstStyle/>
          <a:p>
            <a:pPr defTabSz="1218323"/>
            <a:fld id="{414BD70E-04FC-4142-B43E-89D11E84CD4D}" type="datetimeFigureOut">
              <a:rPr lang="zh-CN" altLang="en-US" smtClean="0">
                <a:solidFill>
                  <a:prstClr val="black">
                    <a:tint val="75000"/>
                  </a:prstClr>
                </a:solidFill>
              </a:rPr>
              <a:pPr defTabSz="1218323"/>
              <a:t>2024/8/3</a:t>
            </a:fld>
            <a:endParaRPr lang="zh-CN" altLang="en-US">
              <a:solidFill>
                <a:prstClr val="black">
                  <a:tint val="75000"/>
                </a:prstClr>
              </a:solidFill>
            </a:endParaRPr>
          </a:p>
        </p:txBody>
      </p:sp>
      <p:sp>
        <p:nvSpPr>
          <p:cNvPr id="1048837" name="灯片编号占位符 3"/>
          <p:cNvSpPr>
            <a:spLocks noGrp="1"/>
          </p:cNvSpPr>
          <p:nvPr>
            <p:ph type="sldNum" sz="quarter" idx="12"/>
          </p:nvPr>
        </p:nvSpPr>
        <p:spPr/>
        <p:txBody>
          <a:bodyPr/>
          <a:lstStyle/>
          <a:p>
            <a:pPr defTabSz="1218323"/>
            <a:fld id="{7C74B832-F533-45B7-ADEE-76B7D10184A6}" type="slidenum">
              <a:rPr lang="zh-CN" altLang="en-US" smtClean="0">
                <a:solidFill>
                  <a:prstClr val="black">
                    <a:tint val="75000"/>
                  </a:prstClr>
                </a:solidFill>
              </a:rPr>
              <a:pPr defTabSz="1218323"/>
              <a:t>‹#›</a:t>
            </a:fld>
            <a:endParaRPr lang="zh-CN" altLang="en-US">
              <a:solidFill>
                <a:prstClr val="black">
                  <a:tint val="75000"/>
                </a:prstClr>
              </a:solidFil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1_标题幻灯片">
    <p:spTree>
      <p:nvGrpSpPr>
        <p:cNvPr id="1" name=""/>
        <p:cNvGrpSpPr/>
        <p:nvPr/>
      </p:nvGrpSpPr>
      <p:grpSpPr>
        <a:xfrm>
          <a:off x="0" y="0"/>
          <a:ext cx="0" cy="0"/>
          <a:chOff x="0" y="0"/>
          <a:chExt cx="0" cy="0"/>
        </a:xfrm>
      </p:grpSpPr>
      <p:cxnSp>
        <p:nvCxnSpPr>
          <p:cNvPr id="3145903" name="直接连接符 1"/>
          <p:cNvCxnSpPr>
            <a:cxnSpLocks/>
          </p:cNvCxnSpPr>
          <p:nvPr userDrawn="1"/>
        </p:nvCxnSpPr>
        <p:spPr bwMode="auto">
          <a:xfrm>
            <a:off x="335360" y="1340768"/>
            <a:ext cx="11521280"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cxnSp>
        <p:nvCxnSpPr>
          <p:cNvPr id="3" name="直接连接符 2">
            <a:extLst>
              <a:ext uri="{FF2B5EF4-FFF2-40B4-BE49-F238E27FC236}">
                <a16:creationId xmlns:a16="http://schemas.microsoft.com/office/drawing/2014/main" id="{66371EFD-7183-9832-9355-3D5738D9F748}"/>
              </a:ext>
            </a:extLst>
          </p:cNvPr>
          <p:cNvCxnSpPr/>
          <p:nvPr userDrawn="1"/>
        </p:nvCxnSpPr>
        <p:spPr bwMode="auto">
          <a:xfrm>
            <a:off x="375072" y="1412776"/>
            <a:ext cx="11441856" cy="0"/>
          </a:xfrm>
          <a:prstGeom prst="line">
            <a:avLst/>
          </a:prstGeom>
          <a:ln>
            <a:solidFill>
              <a:schemeClr val="accent3">
                <a:lumMod val="75000"/>
              </a:schemeClr>
            </a:solidFill>
          </a:ln>
          <a:effectLst>
            <a:outerShdw blurRad="12700" dist="12700" dir="5400000" algn="t" rotWithShape="0">
              <a:schemeClr val="bg1">
                <a:lumMod val="85000"/>
              </a:scheme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1324259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40609044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574639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3974554"/>
      </p:ext>
    </p:extLst>
  </p:cSld>
  <p:clrMapOvr>
    <a:masterClrMapping/>
  </p:clrMapOvr>
  <p:transition spd="slow"/>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5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629857847"/>
      </p:ext>
    </p:extLst>
  </p:cSld>
  <p:clrMapOvr>
    <a:masterClrMapping/>
  </p:clrMapOvr>
  <p:transition spd="slow"/>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cSld name="1_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6185"/>
            <a:ext cx="10515600" cy="1325033"/>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2375370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669E6BF6-6991-41AC-8374-67C869D4CFAB}" type="datetimeFigureOut">
              <a:rPr kumimoji="0" lang="zh-CN" altLang="en-US" sz="1200" b="0" i="0" u="none" strike="noStrike" kern="1200" cap="none" spc="0" normalizeH="0" baseline="0" noProof="0" smtClean="0">
                <a:ln>
                  <a:noFill/>
                </a:ln>
                <a:solidFill>
                  <a:prstClr val="black">
                    <a:tint val="75000"/>
                  </a:prstClr>
                </a:solidFill>
                <a:effectLst/>
                <a:uLnTx/>
                <a:uFillTx/>
                <a:latin typeface="等线"/>
                <a:ea typeface="等线" panose="02010600030101010101" pitchFamily="2"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2024/8/3</a:t>
            </a:fld>
            <a:endParaRPr kumimoji="0" lang="zh-CN" altLang="en-US" sz="1200" b="0" i="0" u="none" strike="noStrike" kern="1200" cap="none" spc="0" normalizeH="0" baseline="0" noProof="0">
              <a:ln>
                <a:noFill/>
              </a:ln>
              <a:solidFill>
                <a:prstClr val="black">
                  <a:tint val="75000"/>
                </a:prstClr>
              </a:solidFill>
              <a:effectLst/>
              <a:uLnTx/>
              <a:uFillTx/>
              <a:latin typeface="等线"/>
              <a:ea typeface="等线"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200" b="0" i="0" u="none" strike="noStrike" kern="1200" cap="none" spc="0" normalizeH="0" baseline="0" noProof="0">
              <a:ln>
                <a:noFill/>
              </a:ln>
              <a:solidFill>
                <a:prstClr val="black">
                  <a:tint val="75000"/>
                </a:prstClr>
              </a:solidFill>
              <a:effectLst/>
              <a:uLnTx/>
              <a:uFillTx/>
              <a:latin typeface="等线"/>
              <a:ea typeface="等线" panose="02010600030101010101" pitchFamily="2" charset="-122"/>
              <a:cs typeface="+mn-cs"/>
            </a:endParaRPr>
          </a:p>
        </p:txBody>
      </p:sp>
      <p:sp>
        <p:nvSpPr>
          <p:cNvPr id="6" name="灯片编号占位符 5"/>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56FADD-98E7-48DD-9EE9-092D2F6AD194}" type="slidenum">
              <a:rPr kumimoji="0" lang="zh-CN" altLang="en-US" sz="1200" b="0" i="0" u="none" strike="noStrike" kern="1200" cap="none" spc="0" normalizeH="0" baseline="0" noProof="0" smtClean="0">
                <a:ln>
                  <a:noFill/>
                </a:ln>
                <a:solidFill>
                  <a:prstClr val="black">
                    <a:tint val="75000"/>
                  </a:prstClr>
                </a:solidFill>
                <a:effectLst/>
                <a:uLnTx/>
                <a:uFillTx/>
                <a:latin typeface="等线"/>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zh-CN" altLang="en-US" sz="1200" b="0" i="0" u="none" strike="noStrike" kern="1200" cap="none" spc="0" normalizeH="0" baseline="0" noProof="0">
              <a:ln>
                <a:noFill/>
              </a:ln>
              <a:solidFill>
                <a:prstClr val="black">
                  <a:tint val="75000"/>
                </a:prstClr>
              </a:solidFill>
              <a:effectLst/>
              <a:uLnTx/>
              <a:uFillTx/>
              <a:latin typeface="等线"/>
              <a:ea typeface="等线" panose="02010600030101010101" pitchFamily="2" charset="-122"/>
              <a:cs typeface="+mn-cs"/>
            </a:endParaRPr>
          </a:p>
        </p:txBody>
      </p:sp>
    </p:spTree>
    <p:extLst>
      <p:ext uri="{BB962C8B-B14F-4D97-AF65-F5344CB8AC3E}">
        <p14:creationId xmlns:p14="http://schemas.microsoft.com/office/powerpoint/2010/main" val="2351338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3.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5" Type="http://schemas.openxmlformats.org/officeDocument/2006/relationships/theme" Target="../theme/theme4.xml"/><Relationship Id="rId4" Type="http://schemas.openxmlformats.org/officeDocument/2006/relationships/slideLayout" Target="../slideLayouts/slideLayout17.xml"/></Relationships>
</file>

<file path=ppt/slideMasters/_rels/slideMaster5.xml.rels><?xml version="1.0" encoding="UTF-8" standalone="yes"?>
<Relationships xmlns="http://schemas.openxmlformats.org/package/2006/relationships"><Relationship Id="rId8" Type="http://schemas.openxmlformats.org/officeDocument/2006/relationships/theme" Target="../theme/theme5.xml"/><Relationship Id="rId3" Type="http://schemas.openxmlformats.org/officeDocument/2006/relationships/slideLayout" Target="../slideLayouts/slideLayout20.xml"/><Relationship Id="rId7" Type="http://schemas.openxmlformats.org/officeDocument/2006/relationships/slideLayout" Target="../slideLayouts/slideLayout24.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5" Type="http://schemas.openxmlformats.org/officeDocument/2006/relationships/slideLayout" Target="../slideLayouts/slideLayout22.xml"/><Relationship Id="rId4" Type="http://schemas.openxmlformats.org/officeDocument/2006/relationships/slideLayout" Target="../slideLayouts/slideLayout21.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48576" name="页脚占位符 14"/>
          <p:cNvSpPr txBox="1"/>
          <p:nvPr userDrawn="1"/>
        </p:nvSpPr>
        <p:spPr>
          <a:xfrm>
            <a:off x="0" y="6516688"/>
            <a:ext cx="12192000" cy="315912"/>
          </a:xfrm>
          <a:prstGeom prst="rect">
            <a:avLst/>
          </a:prstGeom>
        </p:spPr>
        <p:txBody>
          <a:bodyPr lIns="68575" tIns="34287" rIns="68575" bIns="34287" anchor="ctr"/>
          <a:lstStyle>
            <a:lvl1pPr defTabSz="685800">
              <a:defRPr>
                <a:solidFill>
                  <a:schemeClr val="tx1"/>
                </a:solidFill>
                <a:latin typeface="Arial" panose="020B0604020202020204" pitchFamily="34" charset="0"/>
                <a:ea typeface="宋体" panose="02010600030101010101" pitchFamily="2" charset="-122"/>
              </a:defRPr>
            </a:lvl1pPr>
            <a:lvl2pPr marL="742950" indent="-285750" defTabSz="685800">
              <a:defRPr>
                <a:solidFill>
                  <a:schemeClr val="tx1"/>
                </a:solidFill>
                <a:latin typeface="Arial" panose="020B0604020202020204" pitchFamily="34" charset="0"/>
                <a:ea typeface="宋体" panose="02010600030101010101" pitchFamily="2" charset="-122"/>
              </a:defRPr>
            </a:lvl2pPr>
            <a:lvl3pPr marL="1143000" indent="-228600" defTabSz="685800">
              <a:defRPr>
                <a:solidFill>
                  <a:schemeClr val="tx1"/>
                </a:solidFill>
                <a:latin typeface="Arial" panose="020B0604020202020204" pitchFamily="34" charset="0"/>
                <a:ea typeface="宋体" panose="02010600030101010101" pitchFamily="2" charset="-122"/>
              </a:defRPr>
            </a:lvl3pPr>
            <a:lvl4pPr marL="1600200" indent="-228600" defTabSz="685800">
              <a:defRPr>
                <a:solidFill>
                  <a:schemeClr val="tx1"/>
                </a:solidFill>
                <a:latin typeface="Arial" panose="020B0604020202020204" pitchFamily="34" charset="0"/>
                <a:ea typeface="宋体" panose="02010600030101010101" pitchFamily="2" charset="-122"/>
              </a:defRPr>
            </a:lvl4pPr>
            <a:lvl5pPr marL="2057400" indent="-228600" defTabSz="685800">
              <a:defRPr>
                <a:solidFill>
                  <a:schemeClr val="tx1"/>
                </a:solidFill>
                <a:latin typeface="Arial" panose="020B0604020202020204" pitchFamily="34" charset="0"/>
                <a:ea typeface="宋体" panose="02010600030101010101" pitchFamily="2" charset="-122"/>
              </a:defRPr>
            </a:lvl5pPr>
            <a:lvl6pPr marL="25146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defTabSz="685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900" dirty="0">
                <a:solidFill>
                  <a:srgbClr val="898989"/>
                </a:solidFill>
                <a:ea typeface="黑体" panose="02010609060101010101" pitchFamily="49" charset="-122"/>
              </a:rPr>
              <a:t>第</a:t>
            </a:r>
            <a:fld id="{1FF30E35-D5E3-4C7A-A4FF-2B307167AC01}" type="slidenum">
              <a:rPr kumimoji="1" lang="zh-CN" altLang="en-US" sz="900">
                <a:solidFill>
                  <a:srgbClr val="898989"/>
                </a:solidFill>
                <a:ea typeface="黑体" panose="02010609060101010101" pitchFamily="49" charset="-122"/>
              </a:rPr>
              <a:pPr algn="ctr" eaLnBrk="1" hangingPunct="1"/>
              <a:t>‹#›</a:t>
            </a:fld>
            <a:r>
              <a:rPr lang="zh-CN" altLang="en-US" sz="900" dirty="0">
                <a:solidFill>
                  <a:srgbClr val="898989"/>
                </a:solidFill>
                <a:ea typeface="黑体" panose="02010609060101010101" pitchFamily="49" charset="-122"/>
              </a:rPr>
              <a:t>页</a:t>
            </a:r>
            <a:r>
              <a:rPr lang="en-US" altLang="zh-CN" sz="900" dirty="0">
                <a:solidFill>
                  <a:srgbClr val="898989"/>
                </a:solidFill>
                <a:ea typeface="黑体" panose="02010609060101010101" pitchFamily="49" charset="-122"/>
              </a:rPr>
              <a:t>/</a:t>
            </a:r>
            <a:r>
              <a:rPr lang="zh-CN" altLang="en-US" sz="900" dirty="0">
                <a:solidFill>
                  <a:srgbClr val="898989"/>
                </a:solidFill>
                <a:ea typeface="黑体" panose="02010609060101010101" pitchFamily="49" charset="-122"/>
              </a:rPr>
              <a:t>共</a:t>
            </a:r>
            <a:r>
              <a:rPr lang="en-US" altLang="zh-CN" sz="900" dirty="0">
                <a:solidFill>
                  <a:srgbClr val="898989"/>
                </a:solidFill>
                <a:ea typeface="黑体" panose="02010609060101010101" pitchFamily="49" charset="-122"/>
              </a:rPr>
              <a:t>58</a:t>
            </a:r>
            <a:r>
              <a:rPr lang="zh-CN" altLang="en-US" sz="900" dirty="0">
                <a:solidFill>
                  <a:srgbClr val="898989"/>
                </a:solidFill>
                <a:ea typeface="黑体" panose="02010609060101010101" pitchFamily="49" charset="-122"/>
              </a:rPr>
              <a:t>页</a:t>
            </a: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ctr" rtl="0" eaLnBrk="0" fontAlgn="base" hangingPunct="0">
        <a:spcBef>
          <a:spcPct val="0"/>
        </a:spcBef>
        <a:spcAft>
          <a:spcPct val="0"/>
        </a:spcAft>
        <a:defRPr sz="2700" b="1">
          <a:solidFill>
            <a:schemeClr val="hlink"/>
          </a:solidFill>
          <a:latin typeface="+mj-lt"/>
          <a:ea typeface="+mj-ea"/>
          <a:cs typeface="+mj-cs"/>
        </a:defRPr>
      </a:lvl1pPr>
      <a:lvl2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5pPr>
      <a:lvl6pPr marL="3429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6pPr>
      <a:lvl7pPr marL="6858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7pPr>
      <a:lvl8pPr marL="10287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8pPr>
      <a:lvl9pPr marL="1371600" algn="ctr" rtl="0" eaLnBrk="0" fontAlgn="base" hangingPunct="0">
        <a:spcBef>
          <a:spcPct val="0"/>
        </a:spcBef>
        <a:spcAft>
          <a:spcPct val="0"/>
        </a:spcAft>
        <a:defRPr sz="2700" b="1">
          <a:solidFill>
            <a:schemeClr val="hlink"/>
          </a:solidFill>
          <a:latin typeface="Tahoma" panose="020B060403050404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Clr>
          <a:schemeClr val="folHlink"/>
        </a:buClr>
        <a:buSzPct val="60000"/>
        <a:buFont typeface="Wingdings" panose="05000000000000000000" pitchFamily="2" charset="2"/>
        <a:buChar char="n"/>
        <a:defRPr sz="2400" b="1">
          <a:solidFill>
            <a:srgbClr val="0000FF"/>
          </a:solidFill>
          <a:latin typeface="+mn-lt"/>
          <a:ea typeface="+mn-ea"/>
          <a:cs typeface="+mn-cs"/>
        </a:defRPr>
      </a:lvl1pPr>
      <a:lvl2pPr marL="557213" indent="-214313" algn="l" rtl="0" eaLnBrk="0" fontAlgn="base" hangingPunct="0">
        <a:spcBef>
          <a:spcPct val="20000"/>
        </a:spcBef>
        <a:spcAft>
          <a:spcPct val="0"/>
        </a:spcAft>
        <a:buClr>
          <a:schemeClr val="hlink"/>
        </a:buClr>
        <a:buSzPct val="55000"/>
        <a:buFont typeface="Wingdings" panose="05000000000000000000" pitchFamily="2" charset="2"/>
        <a:buChar char="n"/>
        <a:defRPr sz="2100" b="1">
          <a:solidFill>
            <a:schemeClr val="tx1"/>
          </a:solidFill>
          <a:latin typeface="+mn-lt"/>
          <a:ea typeface="+mn-ea"/>
        </a:defRPr>
      </a:lvl2pPr>
      <a:lvl3pPr marL="857250" indent="-171450" algn="l" rtl="0" eaLnBrk="0" fontAlgn="base" hangingPunct="0">
        <a:spcBef>
          <a:spcPct val="20000"/>
        </a:spcBef>
        <a:spcAft>
          <a:spcPct val="0"/>
        </a:spcAft>
        <a:buClr>
          <a:schemeClr val="folHlink"/>
        </a:buClr>
        <a:buSzPct val="50000"/>
        <a:buFont typeface="Wingdings" panose="05000000000000000000" pitchFamily="2" charset="2"/>
        <a:buChar char="n"/>
        <a:defRPr b="1">
          <a:solidFill>
            <a:schemeClr val="tx1"/>
          </a:solidFill>
          <a:latin typeface="+mn-lt"/>
          <a:ea typeface="+mn-ea"/>
        </a:defRPr>
      </a:lvl3pPr>
      <a:lvl4pPr marL="1200150" indent="-171450" algn="l" rtl="0" eaLnBrk="0" fontAlgn="base" hangingPunct="0">
        <a:spcBef>
          <a:spcPct val="20000"/>
        </a:spcBef>
        <a:spcAft>
          <a:spcPct val="0"/>
        </a:spcAft>
        <a:buClr>
          <a:schemeClr val="accent2"/>
        </a:buClr>
        <a:buSzPct val="55000"/>
        <a:buFont typeface="Wingdings" panose="05000000000000000000" pitchFamily="2" charset="2"/>
        <a:buChar char="n"/>
        <a:defRPr sz="1500" b="1">
          <a:solidFill>
            <a:schemeClr val="tx1"/>
          </a:solidFill>
          <a:latin typeface="+mn-lt"/>
          <a:ea typeface="+mn-ea"/>
        </a:defRPr>
      </a:lvl4pPr>
      <a:lvl5pPr marL="15430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5pPr>
      <a:lvl6pPr marL="18859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6pPr>
      <a:lvl7pPr marL="22288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7pPr>
      <a:lvl8pPr marL="25717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8pPr>
      <a:lvl9pPr marL="2914650" indent="-171450" algn="l" rtl="0" eaLnBrk="0" fontAlgn="base" hangingPunct="0">
        <a:spcBef>
          <a:spcPct val="20000"/>
        </a:spcBef>
        <a:spcAft>
          <a:spcPct val="0"/>
        </a:spcAft>
        <a:buClr>
          <a:schemeClr val="accent1"/>
        </a:buClr>
        <a:buSzPct val="50000"/>
        <a:buFont typeface="Wingdings" panose="05000000000000000000" pitchFamily="2" charset="2"/>
        <a:buChar char="n"/>
        <a:defRPr sz="1500" b="1">
          <a:solidFill>
            <a:schemeClr val="tx1"/>
          </a:solidFill>
          <a:latin typeface="+mn-lt"/>
          <a:ea typeface="+mn-ea"/>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48580" name="Line 4"/>
          <p:cNvSpPr>
            <a:spLocks noChangeShapeType="1"/>
          </p:cNvSpPr>
          <p:nvPr/>
        </p:nvSpPr>
        <p:spPr bwMode="auto">
          <a:xfrm>
            <a:off x="0" y="908050"/>
            <a:ext cx="12192000" cy="0"/>
          </a:xfrm>
          <a:prstGeom prst="line">
            <a:avLst/>
          </a:prstGeom>
          <a:noFill/>
          <a:ln w="9525">
            <a:solidFill>
              <a:srgbClr val="FF0000"/>
            </a:solidFill>
            <a:round/>
            <a:headEnd/>
            <a:tailEnd/>
          </a:ln>
        </p:spPr>
        <p:txBody>
          <a:bodyPr/>
          <a:lstStyle/>
          <a:p>
            <a:endParaRPr lang="zh-CN" altLang="en-US" sz="1800"/>
          </a:p>
        </p:txBody>
      </p:sp>
      <p:sp>
        <p:nvSpPr>
          <p:cNvPr id="1048581" name="Line 5"/>
          <p:cNvSpPr>
            <a:spLocks noChangeShapeType="1"/>
          </p:cNvSpPr>
          <p:nvPr/>
        </p:nvSpPr>
        <p:spPr bwMode="auto">
          <a:xfrm>
            <a:off x="0" y="981075"/>
            <a:ext cx="12192000" cy="0"/>
          </a:xfrm>
          <a:prstGeom prst="line">
            <a:avLst/>
          </a:prstGeom>
          <a:noFill/>
          <a:ln w="41275">
            <a:solidFill>
              <a:srgbClr val="FF0000"/>
            </a:solidFill>
            <a:round/>
            <a:headEnd/>
            <a:tailEnd/>
          </a:ln>
        </p:spPr>
        <p:txBody>
          <a:bodyPr/>
          <a:lstStyle/>
          <a:p>
            <a:endParaRPr lang="zh-CN" altLang="en-US" sz="1800"/>
          </a:p>
        </p:txBody>
      </p:sp>
    </p:spTree>
  </p:cSld>
  <p:clrMap bg1="lt1" tx1="dk1" bg2="lt2" tx2="dk2" accent1="accent1" accent2="accent2" accent3="accent3" accent4="accent4" accent5="accent5" accent6="accent6" hlink="hlink" folHlink="folHlink"/>
  <p:sldLayoutIdLst>
    <p:sldLayoutId id="2147483654" r:id="rId1"/>
  </p:sldLayoutIdLst>
  <p:hf hdr="0" ftr="0" dt="0"/>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585"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1048586"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pPr>
            <a:fld id="{C764DE79-268F-4C1A-8933-263129D2AF90}" type="datetimeFigureOut">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pPr>
              <a:t>8/3/2024</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587"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pPr>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588"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pPr>
            <a:fld id="{48F63A3B-78C7-47BE-AE5E-E10140E04643}" type="slidenum">
              <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pPr>
              <a:t>‹#›</a:t>
            </a:fld>
            <a:endParaRPr kumimoji="0" lang="en-US"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048589" name="Line 2"/>
          <p:cNvSpPr/>
          <p:nvPr userDrawn="1"/>
        </p:nvSpPr>
        <p:spPr>
          <a:xfrm>
            <a:off x="0" y="682058"/>
            <a:ext cx="12192000" cy="0"/>
          </a:xfrm>
          <a:prstGeom prst="line">
            <a:avLst/>
          </a:prstGeom>
          <a:ln w="38100" cap="flat" cmpd="sng">
            <a:solidFill>
              <a:srgbClr val="FF0000"/>
            </a:solidFill>
            <a:prstDash val="solid"/>
            <a:headEnd type="none" w="med" len="med"/>
            <a:tailEnd type="none" w="med" len="med"/>
          </a:ln>
        </p:spPr>
      </p:sp>
      <p:sp>
        <p:nvSpPr>
          <p:cNvPr id="1048590" name="页脚占位符 14"/>
          <p:cNvSpPr txBox="1"/>
          <p:nvPr userDrawn="1"/>
        </p:nvSpPr>
        <p:spPr>
          <a:xfrm>
            <a:off x="46567" y="6542089"/>
            <a:ext cx="12192000" cy="315913"/>
          </a:xfrm>
          <a:prstGeom prst="rect">
            <a:avLst/>
          </a:prstGeom>
        </p:spPr>
        <p:txBody>
          <a:bodyPr lIns="91433" tIns="45716" rIns="91433" bIns="45716"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pPr>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第</a:t>
            </a:r>
            <a:fld id="{AF8A501D-A900-4B5F-8F27-315AD44BFE2E}" type="slidenum">
              <a:rPr kumimoji="1" lang="zh-CN" altLang="en-US" sz="1000" b="0" i="0" u="none" strike="noStrike" kern="1200" cap="none" spc="0" normalizeH="0" baseline="0" noProof="0" dirty="0" smtClean="0">
                <a:ln>
                  <a:noFill/>
                </a:ln>
                <a:solidFill>
                  <a:srgbClr val="898989"/>
                </a:solidFill>
                <a:effectLst/>
                <a:uLnTx/>
                <a:uFillTx/>
                <a:latin typeface="Arial" panose="020B0604020202020204"/>
                <a:ea typeface="黑体" panose="02010609060101010101" pitchFamily="49" charset="-122"/>
                <a:cs typeface="+mn-cs"/>
              </a:rPr>
              <a:pPr marL="0" marR="0" lvl="0" indent="0" algn="ctr" defTabSz="914400" rtl="0" eaLnBrk="0" fontAlgn="base" latinLnBrk="0" hangingPunct="0">
                <a:lnSpc>
                  <a:spcPct val="100000"/>
                </a:lnSpc>
                <a:spcBef>
                  <a:spcPct val="0"/>
                </a:spcBef>
                <a:spcAft>
                  <a:spcPct val="0"/>
                </a:spcAft>
                <a:buClrTx/>
                <a:buSzTx/>
                <a:buFontTx/>
                <a:buNone/>
              </a:pPr>
              <a:t>‹#›</a:t>
            </a:fld>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页</a:t>
            </a:r>
            <a:r>
              <a:rPr kumimoji="0" lang="en-US" altLang="zh-CN" sz="1000"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a:t>
            </a:r>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共</a:t>
            </a:r>
            <a:r>
              <a:rPr kumimoji="0" lang="en-US" altLang="zh-CN" sz="1000"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58</a:t>
            </a:r>
            <a:r>
              <a:rPr kumimoji="0" lang="zh-CN" altLang="en-US" sz="1000"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页</a:t>
            </a:r>
          </a:p>
        </p:txBody>
      </p:sp>
    </p:spTree>
  </p:cSld>
  <p:clrMap bg1="lt1" tx1="dk1" bg2="lt2" tx2="dk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 id="2147483660" r:id="rId6"/>
    <p:sldLayoutId id="2147483661" r:id="rId7"/>
    <p:sldLayoutId id="2147483662" r:id="rId8"/>
    <p:sldLayoutId id="2147483663" r:id="rId9"/>
    <p:sldLayoutId id="2147483664" r:id="rId10"/>
    <p:sldLayoutId id="2147483665" r:id="rId11"/>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48832" name="标题占位符 1"/>
          <p:cNvSpPr>
            <a:spLocks noGrp="1"/>
          </p:cNvSpPr>
          <p:nvPr>
            <p:ph type="title"/>
          </p:nvPr>
        </p:nvSpPr>
        <p:spPr>
          <a:xfrm>
            <a:off x="838200" y="366186"/>
            <a:ext cx="10515600" cy="662549"/>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1048833" name="文本占位符 2"/>
          <p:cNvSpPr>
            <a:spLocks noGrp="1"/>
          </p:cNvSpPr>
          <p:nvPr>
            <p:ph type="body" idx="1"/>
          </p:nvPr>
        </p:nvSpPr>
        <p:spPr>
          <a:xfrm>
            <a:off x="838200" y="1826684"/>
            <a:ext cx="10515600" cy="4349749"/>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048834" name="日期占位符 3"/>
          <p:cNvSpPr>
            <a:spLocks noGrp="1"/>
          </p:cNvSpPr>
          <p:nvPr>
            <p:ph type="dt" sz="half" idx="2"/>
          </p:nvPr>
        </p:nvSpPr>
        <p:spPr>
          <a:xfrm>
            <a:off x="838200" y="6356351"/>
            <a:ext cx="2743200" cy="366183"/>
          </a:xfrm>
          <a:prstGeom prst="rect">
            <a:avLst/>
          </a:prstGeom>
        </p:spPr>
        <p:txBody>
          <a:bodyPr vert="horz" lIns="91440" tIns="45720" rIns="91440" bIns="45720" rtlCol="0" anchor="ctr"/>
          <a:lstStyle>
            <a:lvl1pPr algn="l">
              <a:defRPr sz="1600">
                <a:solidFill>
                  <a:schemeClr val="tx1">
                    <a:tint val="75000"/>
                  </a:schemeClr>
                </a:solidFill>
                <a:latin typeface="微软雅黑" panose="020B0503020204020204" pitchFamily="34" charset="-122"/>
                <a:ea typeface="微软雅黑" panose="020B0503020204020204" pitchFamily="34" charset="-122"/>
              </a:defRPr>
            </a:lvl1pPr>
          </a:lstStyle>
          <a:p>
            <a:pPr defTabSz="1218323"/>
            <a:fld id="{414BD70E-04FC-4142-B43E-89D11E84CD4D}" type="datetimeFigureOut">
              <a:rPr lang="zh-CN" altLang="en-US" smtClean="0">
                <a:solidFill>
                  <a:prstClr val="black">
                    <a:tint val="75000"/>
                  </a:prstClr>
                </a:solidFill>
              </a:rPr>
              <a:pPr defTabSz="1218323"/>
              <a:t>2024/8/3</a:t>
            </a:fld>
            <a:endParaRPr lang="zh-CN" altLang="en-US" dirty="0">
              <a:solidFill>
                <a:prstClr val="black">
                  <a:tint val="75000"/>
                </a:prstClr>
              </a:solidFill>
            </a:endParaRPr>
          </a:p>
        </p:txBody>
      </p:sp>
      <p:sp>
        <p:nvSpPr>
          <p:cNvPr id="1048835" name="灯片编号占位符 5"/>
          <p:cNvSpPr>
            <a:spLocks noGrp="1"/>
          </p:cNvSpPr>
          <p:nvPr>
            <p:ph type="sldNum" sz="quarter" idx="4"/>
          </p:nvPr>
        </p:nvSpPr>
        <p:spPr>
          <a:xfrm>
            <a:off x="8610600" y="6356351"/>
            <a:ext cx="2743200" cy="366183"/>
          </a:xfrm>
          <a:prstGeom prst="rect">
            <a:avLst/>
          </a:prstGeom>
        </p:spPr>
        <p:txBody>
          <a:bodyPr vert="horz" lIns="91440" tIns="45720" rIns="91440" bIns="45720" rtlCol="0" anchor="ctr"/>
          <a:lstStyle>
            <a:lvl1pPr algn="r">
              <a:defRPr sz="1600">
                <a:solidFill>
                  <a:schemeClr val="tx1">
                    <a:tint val="75000"/>
                  </a:schemeClr>
                </a:solidFill>
                <a:latin typeface="微软雅黑" panose="020B0503020204020204" pitchFamily="34" charset="-122"/>
                <a:ea typeface="微软雅黑" panose="020B0503020204020204" pitchFamily="34" charset="-122"/>
              </a:defRPr>
            </a:lvl1pPr>
          </a:lstStyle>
          <a:p>
            <a:pPr defTabSz="1218323"/>
            <a:fld id="{7C74B832-F533-45B7-ADEE-76B7D10184A6}" type="slidenum">
              <a:rPr lang="zh-CN" altLang="en-US" smtClean="0">
                <a:solidFill>
                  <a:prstClr val="black">
                    <a:tint val="75000"/>
                  </a:prstClr>
                </a:solidFill>
              </a:rPr>
              <a:pPr defTabSz="1218323"/>
              <a:t>‹#›</a:t>
            </a:fld>
            <a:endParaRPr lang="zh-CN" altLang="en-US" dirty="0">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Lst>
  <p:txStyles>
    <p:titleStyle>
      <a:lvl1pPr algn="l" defTabSz="1219170" rtl="0" eaLnBrk="1" latinLnBrk="0" hangingPunct="1">
        <a:lnSpc>
          <a:spcPct val="90000"/>
        </a:lnSpc>
        <a:spcBef>
          <a:spcPct val="0"/>
        </a:spcBef>
        <a:buNone/>
        <a:defRPr sz="5867" kern="1200">
          <a:solidFill>
            <a:schemeClr val="tx1"/>
          </a:solidFill>
          <a:latin typeface="+mj-lt"/>
          <a:ea typeface="+mj-ea"/>
          <a:cs typeface="+mj-cs"/>
        </a:defRPr>
      </a:lvl1pPr>
    </p:titleStyle>
    <p:bodyStyle>
      <a:lvl1pPr marL="304792" indent="-304792" algn="l" defTabSz="1219170" rtl="0" eaLnBrk="1" latinLnBrk="0" hangingPunct="1">
        <a:lnSpc>
          <a:spcPct val="90000"/>
        </a:lnSpc>
        <a:spcBef>
          <a:spcPts val="1333"/>
        </a:spcBef>
        <a:buFont typeface="Arial" panose="020B0604020202020204" pitchFamily="34" charset="0"/>
        <a:buChar char="•"/>
        <a:defRPr sz="3733" kern="1200">
          <a:solidFill>
            <a:schemeClr val="tx1"/>
          </a:solidFill>
          <a:latin typeface="微软雅黑" panose="020B0503020204020204" pitchFamily="34" charset="-122"/>
          <a:ea typeface="微软雅黑" panose="020B0503020204020204" pitchFamily="34" charset="-122"/>
          <a:cs typeface="+mn-cs"/>
        </a:defRPr>
      </a:lvl1pPr>
      <a:lvl2pPr marL="914377" indent="-304792" algn="l" defTabSz="1219170" rtl="0" eaLnBrk="1" latinLnBrk="0" hangingPunct="1">
        <a:lnSpc>
          <a:spcPct val="90000"/>
        </a:lnSpc>
        <a:spcBef>
          <a:spcPts val="667"/>
        </a:spcBef>
        <a:buFont typeface="Arial" panose="020B0604020202020204" pitchFamily="34" charset="0"/>
        <a:buChar char="•"/>
        <a:defRPr sz="3200" kern="1200">
          <a:solidFill>
            <a:schemeClr val="tx1"/>
          </a:solidFill>
          <a:latin typeface="微软雅黑" panose="020B0503020204020204" pitchFamily="34" charset="-122"/>
          <a:ea typeface="微软雅黑" panose="020B0503020204020204" pitchFamily="34" charset="-122"/>
          <a:cs typeface="+mn-cs"/>
        </a:defRPr>
      </a:lvl2pPr>
      <a:lvl3pPr marL="1523962" indent="-304792" algn="l" defTabSz="1219170" rtl="0" eaLnBrk="1" latinLnBrk="0" hangingPunct="1">
        <a:lnSpc>
          <a:spcPct val="90000"/>
        </a:lnSpc>
        <a:spcBef>
          <a:spcPts val="667"/>
        </a:spcBef>
        <a:buFont typeface="Arial" panose="020B0604020202020204" pitchFamily="34" charset="0"/>
        <a:buChar char="•"/>
        <a:defRPr sz="2667" kern="1200">
          <a:solidFill>
            <a:schemeClr val="tx1"/>
          </a:solidFill>
          <a:latin typeface="微软雅黑" panose="020B0503020204020204" pitchFamily="34" charset="-122"/>
          <a:ea typeface="微软雅黑" panose="020B0503020204020204" pitchFamily="34" charset="-122"/>
          <a:cs typeface="+mn-cs"/>
        </a:defRPr>
      </a:lvl3pPr>
      <a:lvl4pPr marL="2133547"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4pPr>
      <a:lvl5pPr marL="274313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微软雅黑" panose="020B0503020204020204" pitchFamily="34" charset="-122"/>
          <a:ea typeface="微软雅黑" panose="020B0503020204020204" pitchFamily="34" charset="-122"/>
          <a:cs typeface="+mn-cs"/>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zh-CN"/>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Line 2"/>
          <p:cNvSpPr>
            <a:spLocks noChangeShapeType="1"/>
          </p:cNvSpPr>
          <p:nvPr userDrawn="1"/>
        </p:nvSpPr>
        <p:spPr bwMode="auto">
          <a:xfrm>
            <a:off x="0" y="764704"/>
            <a:ext cx="12208933" cy="0"/>
          </a:xfrm>
          <a:prstGeom prst="line">
            <a:avLst/>
          </a:prstGeom>
          <a:noFill/>
          <a:ln w="38100">
            <a:solidFill>
              <a:srgbClr val="FF0000"/>
            </a:solidFill>
            <a:round/>
          </a:ln>
          <a:extLst>
            <a:ext uri="{909E8E84-426E-40DD-AFC4-6F175D3DCCD1}">
              <a14:hiddenFill xmlns:a14="http://schemas.microsoft.com/office/drawing/2010/main">
                <a:noFill/>
              </a14:hiddenFill>
            </a:ext>
          </a:extLst>
        </p:spPr>
        <p:txBody>
          <a:bodyPr/>
          <a:lstStyle/>
          <a:p>
            <a:pPr marL="0" marR="0" lvl="0" indent="0" algn="l" defTabSz="1219200" rtl="0" eaLnBrk="0" fontAlgn="base" latinLnBrk="0" hangingPunct="0">
              <a:lnSpc>
                <a:spcPct val="100000"/>
              </a:lnSpc>
              <a:spcBef>
                <a:spcPct val="0"/>
              </a:spcBef>
              <a:spcAft>
                <a:spcPct val="0"/>
              </a:spcAft>
              <a:buClrTx/>
              <a:buSzTx/>
              <a:buFontTx/>
              <a:buNone/>
              <a:tabLst/>
              <a:defRPr/>
            </a:pPr>
            <a:endParaRPr kumimoji="0" lang="zh-CN" altLang="en-US" sz="2400" b="0" i="0" u="none" strike="noStrike" kern="1200" cap="none" spc="0" normalizeH="0" baseline="0" noProof="0">
              <a:ln>
                <a:noFill/>
              </a:ln>
              <a:solidFill>
                <a:srgbClr val="000000"/>
              </a:solidFill>
              <a:effectLst/>
              <a:uLnTx/>
              <a:uFillTx/>
              <a:latin typeface="Arial" panose="020B0604020202020204" pitchFamily="34" charset="0"/>
              <a:ea typeface="黑体" panose="02010609060101010101" pitchFamily="49" charset="-122"/>
              <a:cs typeface="+mn-cs"/>
            </a:endParaRPr>
          </a:p>
        </p:txBody>
      </p:sp>
      <p:sp>
        <p:nvSpPr>
          <p:cNvPr id="3" name="页脚占位符 14"/>
          <p:cNvSpPr txBox="1"/>
          <p:nvPr userDrawn="1"/>
        </p:nvSpPr>
        <p:spPr>
          <a:xfrm>
            <a:off x="0" y="6552723"/>
            <a:ext cx="12192000" cy="315912"/>
          </a:xfrm>
          <a:prstGeom prst="rect">
            <a:avLst/>
          </a:prstGeom>
        </p:spPr>
        <p:txBody>
          <a:bodyPr lIns="121911" tIns="60955" rIns="121911" bIns="60955"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1219200" rtl="0" eaLnBrk="1" fontAlgn="base" latinLnBrk="0" hangingPunct="1">
              <a:lnSpc>
                <a:spcPct val="100000"/>
              </a:lnSpc>
              <a:spcBef>
                <a:spcPct val="0"/>
              </a:spcBef>
              <a:spcAft>
                <a:spcPct val="0"/>
              </a:spcAft>
              <a:buClrTx/>
              <a:buSzTx/>
              <a:buFontTx/>
              <a:buNone/>
              <a:tabLst/>
              <a:defRPr/>
            </a:pPr>
            <a:r>
              <a:rPr kumimoji="0" lang="zh-CN" altLang="en-US" sz="1335"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第</a:t>
            </a:r>
            <a:fld id="{59289A8C-BE81-4798-AA0F-338892BB7184}" type="slidenum">
              <a:rPr kumimoji="1" lang="zh-CN" altLang="en-US" sz="1335" b="0" i="0" u="none" strike="noStrike" kern="1200" cap="none" spc="0" normalizeH="0" baseline="0" noProof="0" dirty="0" smtClean="0">
                <a:ln>
                  <a:noFill/>
                </a:ln>
                <a:solidFill>
                  <a:srgbClr val="898989"/>
                </a:solidFill>
                <a:effectLst/>
                <a:uLnTx/>
                <a:uFillTx/>
                <a:latin typeface="Arial" panose="020B0604020202020204"/>
                <a:ea typeface="黑体" panose="02010609060101010101" pitchFamily="49" charset="-122"/>
                <a:cs typeface="+mn-cs"/>
              </a:rPr>
              <a:pPr marL="0" marR="0" lvl="0" indent="0" algn="ctr" defTabSz="1219200" rtl="0" eaLnBrk="1" fontAlgn="base" latinLnBrk="0" hangingPunct="1">
                <a:lnSpc>
                  <a:spcPct val="100000"/>
                </a:lnSpc>
                <a:spcBef>
                  <a:spcPct val="0"/>
                </a:spcBef>
                <a:spcAft>
                  <a:spcPct val="0"/>
                </a:spcAft>
                <a:buClrTx/>
                <a:buSzTx/>
                <a:buFontTx/>
                <a:buNone/>
                <a:tabLst/>
                <a:defRPr/>
              </a:pPr>
              <a:t>‹#›</a:t>
            </a:fld>
            <a:r>
              <a:rPr kumimoji="0" lang="zh-CN" altLang="en-US" sz="1335"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页</a:t>
            </a:r>
            <a:r>
              <a:rPr kumimoji="0" lang="en-US" altLang="zh-CN" sz="1335"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a:t>
            </a:r>
            <a:r>
              <a:rPr kumimoji="0" lang="zh-CN" altLang="en-US" sz="1335"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共</a:t>
            </a:r>
            <a:r>
              <a:rPr kumimoji="0" lang="en-US" altLang="zh-CN" sz="1335"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65</a:t>
            </a:r>
            <a:r>
              <a:rPr kumimoji="0" lang="zh-CN" altLang="en-US" sz="1335" b="0" i="0" u="none" strike="noStrike" kern="1200" cap="none" spc="0" normalizeH="0" baseline="0" noProof="0" dirty="0">
                <a:ln>
                  <a:noFill/>
                </a:ln>
                <a:solidFill>
                  <a:srgbClr val="898989"/>
                </a:solidFill>
                <a:effectLst/>
                <a:uLnTx/>
                <a:uFillTx/>
                <a:latin typeface="Arial" panose="020B0604020202020204"/>
                <a:ea typeface="黑体" panose="02010609060101010101" pitchFamily="49" charset="-122"/>
                <a:cs typeface="+mn-cs"/>
              </a:rPr>
              <a:t>页</a:t>
            </a:r>
          </a:p>
        </p:txBody>
      </p:sp>
      <p:pic>
        <p:nvPicPr>
          <p:cNvPr id="5" name="Picture 17" descr="logo"/>
          <p:cNvPicPr>
            <a:picLocks noChangeAspect="1" noChangeArrowheads="1"/>
          </p:cNvPicPr>
          <p:nvPr userDrawn="1"/>
        </p:nvPicPr>
        <p:blipFill>
          <a:blip r:embed="rId9" cstate="print">
            <a:extLst>
              <a:ext uri="{28A0092B-C50C-407E-A947-70E740481C1C}">
                <a14:useLocalDpi xmlns:a14="http://schemas.microsoft.com/office/drawing/2010/main" val="0"/>
              </a:ext>
            </a:extLst>
          </a:blip>
          <a:stretch>
            <a:fillRect/>
          </a:stretch>
        </p:blipFill>
        <p:spPr bwMode="auto">
          <a:xfrm>
            <a:off x="141629" y="106728"/>
            <a:ext cx="960108" cy="576377"/>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602305651"/>
      </p:ext>
    </p:extLst>
  </p:cSld>
  <p:clrMap bg1="lt1" tx1="dk1" bg2="lt2" tx2="dk2" accent1="accent1" accent2="accent2" accent3="accent3" accent4="accent4" accent5="accent5" accent6="accent6" hlink="hlink" folHlink="folHlink"/>
  <p:sldLayoutIdLst>
    <p:sldLayoutId id="2147483700" r:id="rId1"/>
    <p:sldLayoutId id="2147483701" r:id="rId2"/>
    <p:sldLayoutId id="2147483702" r:id="rId3"/>
    <p:sldLayoutId id="2147483703" r:id="rId4"/>
    <p:sldLayoutId id="2147483704" r:id="rId5"/>
    <p:sldLayoutId id="2147483705" r:id="rId6"/>
    <p:sldLayoutId id="2147483706" r:id="rId7"/>
  </p:sldLayoutIdLst>
  <p:txStyles>
    <p:titleStyle>
      <a:lvl1pPr algn="ctr" rtl="0" eaLnBrk="0" fontAlgn="base" hangingPunct="0">
        <a:spcBef>
          <a:spcPct val="0"/>
        </a:spcBef>
        <a:spcAft>
          <a:spcPct val="0"/>
        </a:spcAft>
        <a:defRPr sz="4800" b="1">
          <a:solidFill>
            <a:schemeClr val="hlink"/>
          </a:solidFill>
          <a:latin typeface="+mj-lt"/>
          <a:ea typeface="+mj-ea"/>
          <a:cs typeface="+mj-cs"/>
        </a:defRPr>
      </a:lvl1pPr>
      <a:lvl2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2pPr>
      <a:lvl3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3pPr>
      <a:lvl4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4pPr>
      <a:lvl5pPr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5pPr>
      <a:lvl6pPr marL="6096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6pPr>
      <a:lvl7pPr marL="12192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7pPr>
      <a:lvl8pPr marL="18288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8pPr>
      <a:lvl9pPr marL="2438400" algn="ctr" rtl="0" eaLnBrk="0" fontAlgn="base" hangingPunct="0">
        <a:spcBef>
          <a:spcPct val="0"/>
        </a:spcBef>
        <a:spcAft>
          <a:spcPct val="0"/>
        </a:spcAft>
        <a:defRPr sz="4800" b="1">
          <a:solidFill>
            <a:schemeClr val="hlink"/>
          </a:solidFill>
          <a:latin typeface="Tahoma" panose="020B0604030504040204" pitchFamily="34" charset="0"/>
          <a:ea typeface="宋体" panose="02010600030101010101" pitchFamily="2" charset="-122"/>
        </a:defRPr>
      </a:lvl9pPr>
    </p:titleStyle>
    <p:bodyStyle>
      <a:lvl1pPr marL="457200" indent="-457200" algn="l" rtl="0" eaLnBrk="0" fontAlgn="base" hangingPunct="0">
        <a:spcBef>
          <a:spcPct val="20000"/>
        </a:spcBef>
        <a:spcAft>
          <a:spcPct val="0"/>
        </a:spcAft>
        <a:buClr>
          <a:schemeClr val="folHlink"/>
        </a:buClr>
        <a:buSzPct val="60000"/>
        <a:buFont typeface="Wingdings" panose="05000000000000000000" pitchFamily="2" charset="2"/>
        <a:buChar char="n"/>
        <a:defRPr sz="4265" b="1">
          <a:solidFill>
            <a:srgbClr val="0000FF"/>
          </a:solidFill>
          <a:latin typeface="+mn-lt"/>
          <a:ea typeface="+mn-ea"/>
          <a:cs typeface="+mn-cs"/>
        </a:defRPr>
      </a:lvl1pPr>
      <a:lvl2pPr marL="990600" indent="-381000" algn="l" rtl="0" eaLnBrk="0" fontAlgn="base" hangingPunct="0">
        <a:spcBef>
          <a:spcPct val="20000"/>
        </a:spcBef>
        <a:spcAft>
          <a:spcPct val="0"/>
        </a:spcAft>
        <a:buClr>
          <a:schemeClr val="hlink"/>
        </a:buClr>
        <a:buSzPct val="55000"/>
        <a:buFont typeface="Wingdings" panose="05000000000000000000" pitchFamily="2" charset="2"/>
        <a:buChar char="n"/>
        <a:defRPr sz="3735" b="1">
          <a:solidFill>
            <a:schemeClr val="tx1"/>
          </a:solidFill>
          <a:latin typeface="+mn-lt"/>
          <a:ea typeface="+mn-ea"/>
        </a:defRPr>
      </a:lvl2pPr>
      <a:lvl3pPr marL="1524000" indent="-304800" algn="l" rtl="0" eaLnBrk="0" fontAlgn="base" hangingPunct="0">
        <a:spcBef>
          <a:spcPct val="20000"/>
        </a:spcBef>
        <a:spcAft>
          <a:spcPct val="0"/>
        </a:spcAft>
        <a:buClr>
          <a:schemeClr val="folHlink"/>
        </a:buClr>
        <a:buSzPct val="50000"/>
        <a:buFont typeface="Wingdings" panose="05000000000000000000" pitchFamily="2" charset="2"/>
        <a:buChar char="n"/>
        <a:defRPr sz="3200" b="1">
          <a:solidFill>
            <a:schemeClr val="tx1"/>
          </a:solidFill>
          <a:latin typeface="+mn-lt"/>
          <a:ea typeface="+mn-ea"/>
        </a:defRPr>
      </a:lvl3pPr>
      <a:lvl4pPr marL="2133600" indent="-304800" algn="l" rtl="0" eaLnBrk="0" fontAlgn="base" hangingPunct="0">
        <a:spcBef>
          <a:spcPct val="20000"/>
        </a:spcBef>
        <a:spcAft>
          <a:spcPct val="0"/>
        </a:spcAft>
        <a:buClr>
          <a:schemeClr val="accent2"/>
        </a:buClr>
        <a:buSzPct val="55000"/>
        <a:buFont typeface="Wingdings" panose="05000000000000000000" pitchFamily="2" charset="2"/>
        <a:buChar char="n"/>
        <a:defRPr sz="2665" b="1">
          <a:solidFill>
            <a:schemeClr val="tx1"/>
          </a:solidFill>
          <a:latin typeface="+mn-lt"/>
          <a:ea typeface="+mn-ea"/>
        </a:defRPr>
      </a:lvl4pPr>
      <a:lvl5pPr marL="274320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5pPr>
      <a:lvl6pPr marL="335280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6pPr>
      <a:lvl7pPr marL="396240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7pPr>
      <a:lvl8pPr marL="457200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8pPr>
      <a:lvl9pPr marL="5181600" indent="-304800" algn="l" rtl="0" eaLnBrk="0" fontAlgn="base" hangingPunct="0">
        <a:spcBef>
          <a:spcPct val="20000"/>
        </a:spcBef>
        <a:spcAft>
          <a:spcPct val="0"/>
        </a:spcAft>
        <a:buClr>
          <a:schemeClr val="accent1"/>
        </a:buClr>
        <a:buSzPct val="50000"/>
        <a:buFont typeface="Wingdings" panose="05000000000000000000" pitchFamily="2" charset="2"/>
        <a:buChar char="n"/>
        <a:defRPr sz="2665" b="1">
          <a:solidFill>
            <a:schemeClr val="tx1"/>
          </a:solidFill>
          <a:latin typeface="+mn-lt"/>
          <a:ea typeface="+mn-ea"/>
        </a:defRPr>
      </a:lvl9pPr>
    </p:bodyStyle>
    <p:otherStyle>
      <a:defPPr>
        <a:defRPr lang="zh-CN"/>
      </a:defPPr>
      <a:lvl1pPr marL="0" algn="l" defTabSz="1219200" rtl="0" eaLnBrk="1" latinLnBrk="0" hangingPunct="1">
        <a:defRPr sz="2400" kern="1200">
          <a:solidFill>
            <a:schemeClr val="tx1"/>
          </a:solidFill>
          <a:latin typeface="+mn-lt"/>
          <a:ea typeface="+mn-ea"/>
          <a:cs typeface="+mn-cs"/>
        </a:defRPr>
      </a:lvl1pPr>
      <a:lvl2pPr marL="609600" algn="l" defTabSz="1219200" rtl="0" eaLnBrk="1" latinLnBrk="0" hangingPunct="1">
        <a:defRPr sz="2400" kern="1200">
          <a:solidFill>
            <a:schemeClr val="tx1"/>
          </a:solidFill>
          <a:latin typeface="+mn-lt"/>
          <a:ea typeface="+mn-ea"/>
          <a:cs typeface="+mn-cs"/>
        </a:defRPr>
      </a:lvl2pPr>
      <a:lvl3pPr marL="1219200" algn="l" defTabSz="1219200" rtl="0" eaLnBrk="1" latinLnBrk="0" hangingPunct="1">
        <a:defRPr sz="2400" kern="1200">
          <a:solidFill>
            <a:schemeClr val="tx1"/>
          </a:solidFill>
          <a:latin typeface="+mn-lt"/>
          <a:ea typeface="+mn-ea"/>
          <a:cs typeface="+mn-cs"/>
        </a:defRPr>
      </a:lvl3pPr>
      <a:lvl4pPr marL="1828800" algn="l" defTabSz="1219200" rtl="0" eaLnBrk="1" latinLnBrk="0" hangingPunct="1">
        <a:defRPr sz="2400" kern="1200">
          <a:solidFill>
            <a:schemeClr val="tx1"/>
          </a:solidFill>
          <a:latin typeface="+mn-lt"/>
          <a:ea typeface="+mn-ea"/>
          <a:cs typeface="+mn-cs"/>
        </a:defRPr>
      </a:lvl4pPr>
      <a:lvl5pPr marL="2438400" algn="l" defTabSz="1219200" rtl="0" eaLnBrk="1" latinLnBrk="0" hangingPunct="1">
        <a:defRPr sz="2400" kern="1200">
          <a:solidFill>
            <a:schemeClr val="tx1"/>
          </a:solidFill>
          <a:latin typeface="+mn-lt"/>
          <a:ea typeface="+mn-ea"/>
          <a:cs typeface="+mn-cs"/>
        </a:defRPr>
      </a:lvl5pPr>
      <a:lvl6pPr marL="3048000" algn="l" defTabSz="1219200" rtl="0" eaLnBrk="1" latinLnBrk="0" hangingPunct="1">
        <a:defRPr sz="2400" kern="1200">
          <a:solidFill>
            <a:schemeClr val="tx1"/>
          </a:solidFill>
          <a:latin typeface="+mn-lt"/>
          <a:ea typeface="+mn-ea"/>
          <a:cs typeface="+mn-cs"/>
        </a:defRPr>
      </a:lvl6pPr>
      <a:lvl7pPr marL="3657600" algn="l" defTabSz="1219200" rtl="0" eaLnBrk="1" latinLnBrk="0" hangingPunct="1">
        <a:defRPr sz="2400" kern="1200">
          <a:solidFill>
            <a:schemeClr val="tx1"/>
          </a:solidFill>
          <a:latin typeface="+mn-lt"/>
          <a:ea typeface="+mn-ea"/>
          <a:cs typeface="+mn-cs"/>
        </a:defRPr>
      </a:lvl7pPr>
      <a:lvl8pPr marL="4267200" algn="l" defTabSz="1219200" rtl="0" eaLnBrk="1" latinLnBrk="0" hangingPunct="1">
        <a:defRPr sz="2400" kern="1200">
          <a:solidFill>
            <a:schemeClr val="tx1"/>
          </a:solidFill>
          <a:latin typeface="+mn-lt"/>
          <a:ea typeface="+mn-ea"/>
          <a:cs typeface="+mn-cs"/>
        </a:defRPr>
      </a:lvl8pPr>
      <a:lvl9pPr marL="4876800" algn="l" defTabSz="1219200"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19.pn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9.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1.pn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png"/></Relationships>
</file>

<file path=ppt/slides/_rels/slide15.xml.rels><?xml version="1.0" encoding="UTF-8" standalone="yes"?>
<Relationships xmlns="http://schemas.openxmlformats.org/package/2006/relationships"><Relationship Id="rId13" Type="http://schemas.openxmlformats.org/officeDocument/2006/relationships/image" Target="../media/image37.png"/><Relationship Id="rId18" Type="http://schemas.openxmlformats.org/officeDocument/2006/relationships/image" Target="../media/image42.png"/><Relationship Id="rId3" Type="http://schemas.openxmlformats.org/officeDocument/2006/relationships/image" Target="../media/image31.png"/><Relationship Id="rId7" Type="http://schemas.openxmlformats.org/officeDocument/2006/relationships/image" Target="../media/image35.png"/><Relationship Id="rId12" Type="http://schemas.openxmlformats.org/officeDocument/2006/relationships/image" Target="../media/image36.png"/><Relationship Id="rId17" Type="http://schemas.openxmlformats.org/officeDocument/2006/relationships/image" Target="../media/image41.png"/><Relationship Id="rId2" Type="http://schemas.openxmlformats.org/officeDocument/2006/relationships/image" Target="../media/image30.png"/><Relationship Id="rId16" Type="http://schemas.openxmlformats.org/officeDocument/2006/relationships/image" Target="../media/image40.png"/><Relationship Id="rId1" Type="http://schemas.openxmlformats.org/officeDocument/2006/relationships/slideLayout" Target="../slideLayouts/slideLayout9.xml"/><Relationship Id="rId6" Type="http://schemas.openxmlformats.org/officeDocument/2006/relationships/image" Target="../media/image34.png"/><Relationship Id="rId11" Type="http://schemas.openxmlformats.org/officeDocument/2006/relationships/image" Target="../media/image270.png"/><Relationship Id="rId5" Type="http://schemas.openxmlformats.org/officeDocument/2006/relationships/image" Target="../media/image33.png"/><Relationship Id="rId15" Type="http://schemas.openxmlformats.org/officeDocument/2006/relationships/image" Target="../media/image39.png"/><Relationship Id="rId4" Type="http://schemas.openxmlformats.org/officeDocument/2006/relationships/image" Target="../media/image32.png"/><Relationship Id="rId14" Type="http://schemas.openxmlformats.org/officeDocument/2006/relationships/image" Target="../media/image38.png"/></Relationships>
</file>

<file path=ppt/slides/_rels/slide16.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3.png"/><Relationship Id="rId7" Type="http://schemas.openxmlformats.org/officeDocument/2006/relationships/image" Target="../media/image47.png"/><Relationship Id="rId2" Type="http://schemas.openxmlformats.org/officeDocument/2006/relationships/notesSlide" Target="../notesSlides/notesSlide2.xml"/><Relationship Id="rId1" Type="http://schemas.openxmlformats.org/officeDocument/2006/relationships/slideLayout" Target="../slideLayouts/slideLayout9.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slideLayout" Target="../slideLayouts/slideLayout9.xml"/><Relationship Id="rId18" Type="http://schemas.openxmlformats.org/officeDocument/2006/relationships/image" Target="../media/image53.png"/><Relationship Id="rId3" Type="http://schemas.openxmlformats.org/officeDocument/2006/relationships/tags" Target="../tags/tag3.xml"/><Relationship Id="rId21" Type="http://schemas.openxmlformats.org/officeDocument/2006/relationships/image" Target="../media/image56.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image" Target="../media/image52.png"/><Relationship Id="rId2" Type="http://schemas.openxmlformats.org/officeDocument/2006/relationships/tags" Target="../tags/tag2.xml"/><Relationship Id="rId16" Type="http://schemas.openxmlformats.org/officeDocument/2006/relationships/image" Target="../media/image51.png"/><Relationship Id="rId20" Type="http://schemas.openxmlformats.org/officeDocument/2006/relationships/image" Target="../media/image55.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image" Target="../media/image50.png"/><Relationship Id="rId10" Type="http://schemas.openxmlformats.org/officeDocument/2006/relationships/tags" Target="../tags/tag10.xml"/><Relationship Id="rId19" Type="http://schemas.openxmlformats.org/officeDocument/2006/relationships/image" Target="../media/image54.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notesSlide" Target="../notesSlides/notesSlide3.xml"/><Relationship Id="rId22" Type="http://schemas.openxmlformats.org/officeDocument/2006/relationships/image" Target="../media/image57.png"/></Relationships>
</file>

<file path=ppt/slides/_rels/slide1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9.xml"/><Relationship Id="rId5" Type="http://schemas.openxmlformats.org/officeDocument/2006/relationships/image" Target="../media/image61.png"/><Relationship Id="rId4" Type="http://schemas.openxmlformats.org/officeDocument/2006/relationships/image" Target="../media/image6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9.xml"/><Relationship Id="rId5" Type="http://schemas.openxmlformats.org/officeDocument/2006/relationships/image" Target="../media/image65.jpeg"/><Relationship Id="rId4" Type="http://schemas.openxmlformats.org/officeDocument/2006/relationships/image" Target="../media/image64.jpeg"/></Relationships>
</file>

<file path=ppt/slides/_rels/slide22.xml.rels><?xml version="1.0" encoding="UTF-8" standalone="yes"?>
<Relationships xmlns="http://schemas.openxmlformats.org/package/2006/relationships"><Relationship Id="rId2" Type="http://schemas.openxmlformats.org/officeDocument/2006/relationships/image" Target="../media/image66.jpg"/><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7.png"/><Relationship Id="rId7" Type="http://schemas.openxmlformats.org/officeDocument/2006/relationships/image" Target="../media/image71.png"/><Relationship Id="rId12" Type="http://schemas.openxmlformats.org/officeDocument/2006/relationships/image" Target="../media/image76.png"/><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70.png"/><Relationship Id="rId11" Type="http://schemas.openxmlformats.org/officeDocument/2006/relationships/image" Target="../media/image75.png"/><Relationship Id="rId5" Type="http://schemas.openxmlformats.org/officeDocument/2006/relationships/image" Target="../media/image69.png"/><Relationship Id="rId10" Type="http://schemas.openxmlformats.org/officeDocument/2006/relationships/image" Target="../media/image74.png"/><Relationship Id="rId4" Type="http://schemas.openxmlformats.org/officeDocument/2006/relationships/image" Target="../media/image68.png"/><Relationship Id="rId9" Type="http://schemas.openxmlformats.org/officeDocument/2006/relationships/image" Target="../media/image73.png"/></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2.bin"/><Relationship Id="rId13" Type="http://schemas.openxmlformats.org/officeDocument/2006/relationships/image" Target="../media/image80.wmf"/><Relationship Id="rId18" Type="http://schemas.openxmlformats.org/officeDocument/2006/relationships/image" Target="../media/image85.png"/><Relationship Id="rId3" Type="http://schemas.openxmlformats.org/officeDocument/2006/relationships/notesSlide" Target="../notesSlides/notesSlide5.xml"/><Relationship Id="rId7" Type="http://schemas.openxmlformats.org/officeDocument/2006/relationships/image" Target="../media/image77.wmf"/><Relationship Id="rId12" Type="http://schemas.openxmlformats.org/officeDocument/2006/relationships/oleObject" Target="../embeddings/oleObject4.bin"/><Relationship Id="rId17" Type="http://schemas.openxmlformats.org/officeDocument/2006/relationships/image" Target="../media/image82.wmf"/><Relationship Id="rId2" Type="http://schemas.openxmlformats.org/officeDocument/2006/relationships/slideLayout" Target="../slideLayouts/slideLayout9.xml"/><Relationship Id="rId16" Type="http://schemas.openxmlformats.org/officeDocument/2006/relationships/oleObject" Target="../embeddings/oleObject6.bin"/><Relationship Id="rId1" Type="http://schemas.openxmlformats.org/officeDocument/2006/relationships/vmlDrawing" Target="../drawings/vmlDrawing1.vml"/><Relationship Id="rId6" Type="http://schemas.openxmlformats.org/officeDocument/2006/relationships/oleObject" Target="../embeddings/oleObject1.bin"/><Relationship Id="rId11" Type="http://schemas.openxmlformats.org/officeDocument/2006/relationships/image" Target="../media/image79.wmf"/><Relationship Id="rId5" Type="http://schemas.openxmlformats.org/officeDocument/2006/relationships/image" Target="../media/image84.png"/><Relationship Id="rId15" Type="http://schemas.openxmlformats.org/officeDocument/2006/relationships/image" Target="../media/image81.wmf"/><Relationship Id="rId10" Type="http://schemas.openxmlformats.org/officeDocument/2006/relationships/oleObject" Target="../embeddings/oleObject3.bin"/><Relationship Id="rId19" Type="http://schemas.openxmlformats.org/officeDocument/2006/relationships/image" Target="../media/image86.png"/><Relationship Id="rId4" Type="http://schemas.openxmlformats.org/officeDocument/2006/relationships/image" Target="../media/image83.png"/><Relationship Id="rId9" Type="http://schemas.openxmlformats.org/officeDocument/2006/relationships/image" Target="../media/image78.wmf"/><Relationship Id="rId14" Type="http://schemas.openxmlformats.org/officeDocument/2006/relationships/oleObject" Target="../embeddings/oleObject5.bin"/></Relationships>
</file>

<file path=ppt/slides/_rels/slide25.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7.png"/><Relationship Id="rId7" Type="http://schemas.openxmlformats.org/officeDocument/2006/relationships/image" Target="../media/image91.png"/><Relationship Id="rId2" Type="http://schemas.openxmlformats.org/officeDocument/2006/relationships/notesSlide" Target="../notesSlides/notesSlide6.xml"/><Relationship Id="rId1" Type="http://schemas.openxmlformats.org/officeDocument/2006/relationships/slideLayout" Target="../slideLayouts/slideLayout9.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9" Type="http://schemas.openxmlformats.org/officeDocument/2006/relationships/image" Target="../media/image93.png"/></Relationships>
</file>

<file path=ppt/slides/_rels/slide26.xml.rels><?xml version="1.0" encoding="UTF-8" standalone="yes"?>
<Relationships xmlns="http://schemas.openxmlformats.org/package/2006/relationships"><Relationship Id="rId3" Type="http://schemas.openxmlformats.org/officeDocument/2006/relationships/image" Target="../media/image95.gif"/><Relationship Id="rId2" Type="http://schemas.openxmlformats.org/officeDocument/2006/relationships/image" Target="../media/image94.gif"/><Relationship Id="rId1" Type="http://schemas.openxmlformats.org/officeDocument/2006/relationships/slideLayout" Target="../slideLayouts/slideLayout9.xml"/><Relationship Id="rId4" Type="http://schemas.openxmlformats.org/officeDocument/2006/relationships/image" Target="../media/image9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9.xml"/><Relationship Id="rId5" Type="http://schemas.openxmlformats.org/officeDocument/2006/relationships/image" Target="../media/image101.png"/><Relationship Id="rId4" Type="http://schemas.openxmlformats.org/officeDocument/2006/relationships/image" Target="../media/image100.png"/></Relationships>
</file>

<file path=ppt/slides/_rels/slide30.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9.xml"/></Relationships>
</file>

<file path=ppt/slides/_rels/slide3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14.xml"/><Relationship Id="rId1" Type="http://schemas.openxmlformats.org/officeDocument/2006/relationships/tags" Target="../tags/tag13.xml"/><Relationship Id="rId4" Type="http://schemas.openxmlformats.org/officeDocument/2006/relationships/image" Target="../media/image104.png"/></Relationships>
</file>

<file path=ppt/slides/_rels/slide3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image" Target="../media/image107.GIF"/><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8" Type="http://schemas.openxmlformats.org/officeDocument/2006/relationships/tags" Target="../tags/tag22.xml"/><Relationship Id="rId13" Type="http://schemas.openxmlformats.org/officeDocument/2006/relationships/image" Target="../media/image110.png"/><Relationship Id="rId3" Type="http://schemas.openxmlformats.org/officeDocument/2006/relationships/tags" Target="../tags/tag17.xml"/><Relationship Id="rId7" Type="http://schemas.openxmlformats.org/officeDocument/2006/relationships/tags" Target="../tags/tag21.xml"/><Relationship Id="rId12" Type="http://schemas.openxmlformats.org/officeDocument/2006/relationships/image" Target="../media/image109.png"/><Relationship Id="rId2" Type="http://schemas.openxmlformats.org/officeDocument/2006/relationships/tags" Target="../tags/tag16.xml"/><Relationship Id="rId1" Type="http://schemas.openxmlformats.org/officeDocument/2006/relationships/tags" Target="../tags/tag15.xml"/><Relationship Id="rId6" Type="http://schemas.openxmlformats.org/officeDocument/2006/relationships/tags" Target="../tags/tag20.xml"/><Relationship Id="rId11" Type="http://schemas.openxmlformats.org/officeDocument/2006/relationships/image" Target="../media/image108.png"/><Relationship Id="rId5" Type="http://schemas.openxmlformats.org/officeDocument/2006/relationships/tags" Target="../tags/tag19.xml"/><Relationship Id="rId10" Type="http://schemas.openxmlformats.org/officeDocument/2006/relationships/notesSlide" Target="../notesSlides/notesSlide7.xml"/><Relationship Id="rId4" Type="http://schemas.openxmlformats.org/officeDocument/2006/relationships/tags" Target="../tags/tag18.xml"/><Relationship Id="rId9" Type="http://schemas.openxmlformats.org/officeDocument/2006/relationships/slideLayout" Target="../slideLayouts/slideLayout9.xml"/><Relationship Id="rId14" Type="http://schemas.openxmlformats.org/officeDocument/2006/relationships/image" Target="../media/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117.jpeg"/><Relationship Id="rId3" Type="http://schemas.openxmlformats.org/officeDocument/2006/relationships/image" Target="../media/image112.jpeg"/><Relationship Id="rId7" Type="http://schemas.openxmlformats.org/officeDocument/2006/relationships/image" Target="../media/image116.jpeg"/><Relationship Id="rId12" Type="http://schemas.openxmlformats.org/officeDocument/2006/relationships/image" Target="../media/image121.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115.jpeg"/><Relationship Id="rId11" Type="http://schemas.openxmlformats.org/officeDocument/2006/relationships/image" Target="../media/image120.png"/><Relationship Id="rId5" Type="http://schemas.openxmlformats.org/officeDocument/2006/relationships/image" Target="../media/image114.jpeg"/><Relationship Id="rId10" Type="http://schemas.openxmlformats.org/officeDocument/2006/relationships/image" Target="../media/image119.jpeg"/><Relationship Id="rId4" Type="http://schemas.openxmlformats.org/officeDocument/2006/relationships/image" Target="../media/image113.jpeg"/><Relationship Id="rId9" Type="http://schemas.openxmlformats.org/officeDocument/2006/relationships/image" Target="../media/image118.jpeg"/></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8" Type="http://schemas.openxmlformats.org/officeDocument/2006/relationships/image" Target="../media/image128.jpeg"/><Relationship Id="rId3" Type="http://schemas.openxmlformats.org/officeDocument/2006/relationships/image" Target="../media/image123.jpeg"/><Relationship Id="rId7" Type="http://schemas.openxmlformats.org/officeDocument/2006/relationships/image" Target="../media/image127.jpeg"/><Relationship Id="rId2" Type="http://schemas.openxmlformats.org/officeDocument/2006/relationships/image" Target="../media/image122.jpeg"/><Relationship Id="rId1" Type="http://schemas.openxmlformats.org/officeDocument/2006/relationships/slideLayout" Target="../slideLayouts/slideLayout4.xml"/><Relationship Id="rId6" Type="http://schemas.openxmlformats.org/officeDocument/2006/relationships/image" Target="../media/image126.jpeg"/><Relationship Id="rId5" Type="http://schemas.openxmlformats.org/officeDocument/2006/relationships/image" Target="../media/image125.jpeg"/><Relationship Id="rId4" Type="http://schemas.openxmlformats.org/officeDocument/2006/relationships/image" Target="../media/image124.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30.jpeg"/><Relationship Id="rId7" Type="http://schemas.openxmlformats.org/officeDocument/2006/relationships/image" Target="../media/image134.jpeg"/><Relationship Id="rId2" Type="http://schemas.openxmlformats.org/officeDocument/2006/relationships/image" Target="../media/image129.jpeg"/><Relationship Id="rId1" Type="http://schemas.openxmlformats.org/officeDocument/2006/relationships/slideLayout" Target="../slideLayouts/slideLayout4.xml"/><Relationship Id="rId6" Type="http://schemas.openxmlformats.org/officeDocument/2006/relationships/image" Target="../media/image133.jpeg"/><Relationship Id="rId5" Type="http://schemas.openxmlformats.org/officeDocument/2006/relationships/image" Target="../media/image132.jpeg"/><Relationship Id="rId4" Type="http://schemas.openxmlformats.org/officeDocument/2006/relationships/image" Target="../media/image131.jpe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image" Target="../media/image6.png"/><Relationship Id="rId2" Type="http://schemas.openxmlformats.org/officeDocument/2006/relationships/image" Target="../media/image135.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E59D947-DD61-EA2E-6E54-86CB250F5779}"/>
              </a:ext>
            </a:extLst>
          </p:cNvPr>
          <p:cNvSpPr/>
          <p:nvPr/>
        </p:nvSpPr>
        <p:spPr>
          <a:xfrm flipH="1">
            <a:off x="-1" y="4652964"/>
            <a:ext cx="12191997" cy="2205036"/>
          </a:xfrm>
          <a:prstGeom prst="rect">
            <a:avLst/>
          </a:prstGeom>
          <a:solidFill>
            <a:srgbClr val="017F7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标题 1">
            <a:extLst>
              <a:ext uri="{FF2B5EF4-FFF2-40B4-BE49-F238E27FC236}">
                <a16:creationId xmlns:a16="http://schemas.microsoft.com/office/drawing/2014/main" id="{6D542E77-BABB-32C5-AD04-E53F94C9E8C1}"/>
              </a:ext>
            </a:extLst>
          </p:cNvPr>
          <p:cNvSpPr txBox="1">
            <a:spLocks/>
          </p:cNvSpPr>
          <p:nvPr/>
        </p:nvSpPr>
        <p:spPr>
          <a:xfrm>
            <a:off x="-1141692" y="2254263"/>
            <a:ext cx="14475384" cy="725433"/>
          </a:xfrm>
        </p:spPr>
        <p:txBody>
          <a:bodyPr rtlCol="0">
            <a:noAutofit/>
          </a:bodyPr>
          <a:lst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ea typeface="宋体" pitchFamily="2" charset="-122"/>
              </a:defRPr>
            </a:lvl2pPr>
            <a:lvl3pPr algn="ctr" rtl="0" eaLnBrk="0" fontAlgn="base" hangingPunct="0">
              <a:spcBef>
                <a:spcPct val="0"/>
              </a:spcBef>
              <a:spcAft>
                <a:spcPct val="0"/>
              </a:spcAft>
              <a:defRPr sz="4400">
                <a:solidFill>
                  <a:schemeClr val="tx2"/>
                </a:solidFill>
                <a:latin typeface="Arial" pitchFamily="34" charset="0"/>
                <a:ea typeface="宋体" pitchFamily="2" charset="-122"/>
              </a:defRPr>
            </a:lvl3pPr>
            <a:lvl4pPr algn="ctr" rtl="0" eaLnBrk="0" fontAlgn="base" hangingPunct="0">
              <a:spcBef>
                <a:spcPct val="0"/>
              </a:spcBef>
              <a:spcAft>
                <a:spcPct val="0"/>
              </a:spcAft>
              <a:defRPr sz="4400">
                <a:solidFill>
                  <a:schemeClr val="tx2"/>
                </a:solidFill>
                <a:latin typeface="Arial" pitchFamily="34" charset="0"/>
                <a:ea typeface="宋体" pitchFamily="2" charset="-122"/>
              </a:defRPr>
            </a:lvl4pPr>
            <a:lvl5pPr algn="ctr" rtl="0" eaLnBrk="0" fontAlgn="base" hangingPunct="0">
              <a:spcBef>
                <a:spcPct val="0"/>
              </a:spcBef>
              <a:spcAft>
                <a:spcPct val="0"/>
              </a:spcAft>
              <a:defRPr sz="4400">
                <a:solidFill>
                  <a:schemeClr val="tx2"/>
                </a:solidFill>
                <a:latin typeface="Arial" pitchFamily="34" charset="0"/>
                <a:ea typeface="宋体" pitchFamily="2" charset="-122"/>
              </a:defRPr>
            </a:lvl5pPr>
            <a:lvl6pPr marL="457200" algn="ctr" rtl="0" fontAlgn="base">
              <a:spcBef>
                <a:spcPct val="0"/>
              </a:spcBef>
              <a:spcAft>
                <a:spcPct val="0"/>
              </a:spcAft>
              <a:defRPr sz="4400">
                <a:solidFill>
                  <a:schemeClr val="tx2"/>
                </a:solidFill>
                <a:latin typeface="Arial" pitchFamily="34" charset="0"/>
                <a:ea typeface="宋体" pitchFamily="2" charset="-122"/>
              </a:defRPr>
            </a:lvl6pPr>
            <a:lvl7pPr marL="914400" algn="ctr" rtl="0" fontAlgn="base">
              <a:spcBef>
                <a:spcPct val="0"/>
              </a:spcBef>
              <a:spcAft>
                <a:spcPct val="0"/>
              </a:spcAft>
              <a:defRPr sz="4400">
                <a:solidFill>
                  <a:schemeClr val="tx2"/>
                </a:solidFill>
                <a:latin typeface="Arial" pitchFamily="34" charset="0"/>
                <a:ea typeface="宋体" pitchFamily="2" charset="-122"/>
              </a:defRPr>
            </a:lvl7pPr>
            <a:lvl8pPr marL="1371600" algn="ctr" rtl="0" fontAlgn="base">
              <a:spcBef>
                <a:spcPct val="0"/>
              </a:spcBef>
              <a:spcAft>
                <a:spcPct val="0"/>
              </a:spcAft>
              <a:defRPr sz="4400">
                <a:solidFill>
                  <a:schemeClr val="tx2"/>
                </a:solidFill>
                <a:latin typeface="Arial" pitchFamily="34" charset="0"/>
                <a:ea typeface="宋体" pitchFamily="2" charset="-122"/>
              </a:defRPr>
            </a:lvl8pPr>
            <a:lvl9pPr marL="1828800" algn="ctr" rtl="0" fontAlgn="base">
              <a:spcBef>
                <a:spcPct val="0"/>
              </a:spcBef>
              <a:spcAft>
                <a:spcPct val="0"/>
              </a:spcAft>
              <a:defRPr sz="4400">
                <a:solidFill>
                  <a:schemeClr val="tx2"/>
                </a:solidFill>
                <a:latin typeface="Arial" pitchFamily="34" charset="0"/>
                <a:ea typeface="宋体" pitchFamily="2" charset="-122"/>
              </a:defRPr>
            </a:lvl9pPr>
          </a:lstStyle>
          <a:p>
            <a:pPr>
              <a:defRPr/>
            </a:pPr>
            <a:r>
              <a:rPr lang="zh-CN" altLang="en-US" sz="4200" kern="0" dirty="0">
                <a:solidFill>
                  <a:srgbClr val="FF0000"/>
                </a:solidFill>
                <a:latin typeface="方正大黑简体" panose="03000509000000000000" pitchFamily="65" charset="-122"/>
                <a:ea typeface="方正大黑简体" panose="03000509000000000000" pitchFamily="65" charset="-122"/>
              </a:rPr>
              <a:t>物理数据融合的井下压裂过程仿真与预警基础研究</a:t>
            </a:r>
          </a:p>
        </p:txBody>
      </p:sp>
      <p:sp>
        <p:nvSpPr>
          <p:cNvPr id="5" name="副标题 2">
            <a:extLst>
              <a:ext uri="{FF2B5EF4-FFF2-40B4-BE49-F238E27FC236}">
                <a16:creationId xmlns:a16="http://schemas.microsoft.com/office/drawing/2014/main" id="{64FCE06B-46E1-0EA4-24AF-53382EB74FF9}"/>
              </a:ext>
            </a:extLst>
          </p:cNvPr>
          <p:cNvSpPr txBox="1">
            <a:spLocks/>
          </p:cNvSpPr>
          <p:nvPr/>
        </p:nvSpPr>
        <p:spPr>
          <a:xfrm>
            <a:off x="4655840" y="3789040"/>
            <a:ext cx="7750175" cy="1377752"/>
          </a:xfrm>
        </p:spPr>
        <p:txBody>
          <a:bodyPr rtlCol="0">
            <a:norm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zh-CN" altLang="en-US" kern="0" dirty="0">
                <a:solidFill>
                  <a:srgbClr val="3634A1"/>
                </a:solidFill>
                <a:latin typeface="方正大黑简体" panose="03000509000000000000" pitchFamily="65" charset="-122"/>
                <a:ea typeface="方正大黑简体" panose="03000509000000000000" pitchFamily="65" charset="-122"/>
              </a:rPr>
              <a:t>汇报人：胡晓东</a:t>
            </a:r>
          </a:p>
        </p:txBody>
      </p:sp>
      <p:sp>
        <p:nvSpPr>
          <p:cNvPr id="7" name="副标题 2">
            <a:extLst>
              <a:ext uri="{FF2B5EF4-FFF2-40B4-BE49-F238E27FC236}">
                <a16:creationId xmlns:a16="http://schemas.microsoft.com/office/drawing/2014/main" id="{AFB620B5-099C-53CF-8DE6-232C9E8C4621}"/>
              </a:ext>
            </a:extLst>
          </p:cNvPr>
          <p:cNvSpPr txBox="1">
            <a:spLocks/>
          </p:cNvSpPr>
          <p:nvPr/>
        </p:nvSpPr>
        <p:spPr>
          <a:xfrm>
            <a:off x="4682529" y="4665372"/>
            <a:ext cx="7750175" cy="1377752"/>
          </a:xfrm>
        </p:spPr>
        <p:txBody>
          <a:bodyPr rtlCol="0">
            <a:norm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zh-CN" altLang="en-US" sz="2400" kern="0" dirty="0">
                <a:solidFill>
                  <a:schemeClr val="bg1"/>
                </a:solidFill>
                <a:latin typeface="黑体" panose="02010609060101010101" pitchFamily="49" charset="-122"/>
                <a:ea typeface="黑体" panose="02010609060101010101" pitchFamily="49" charset="-122"/>
              </a:rPr>
              <a:t>中国石油大学（北京）</a:t>
            </a:r>
          </a:p>
        </p:txBody>
      </p:sp>
      <p:sp>
        <p:nvSpPr>
          <p:cNvPr id="8" name="副标题 2">
            <a:extLst>
              <a:ext uri="{FF2B5EF4-FFF2-40B4-BE49-F238E27FC236}">
                <a16:creationId xmlns:a16="http://schemas.microsoft.com/office/drawing/2014/main" id="{DE8E22C0-CFEC-D017-C2F3-2C92A03DED89}"/>
              </a:ext>
            </a:extLst>
          </p:cNvPr>
          <p:cNvSpPr txBox="1">
            <a:spLocks/>
          </p:cNvSpPr>
          <p:nvPr/>
        </p:nvSpPr>
        <p:spPr>
          <a:xfrm>
            <a:off x="756015" y="5363616"/>
            <a:ext cx="12180745" cy="1377752"/>
          </a:xfrm>
        </p:spPr>
        <p:txBody>
          <a:bodyPr rtlCol="0">
            <a:norm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zh-CN" altLang="en-US" sz="1800" kern="0" dirty="0">
                <a:solidFill>
                  <a:schemeClr val="bg1"/>
                </a:solidFill>
                <a:latin typeface="黑体" panose="02010609060101010101" pitchFamily="49" charset="-122"/>
                <a:ea typeface="黑体" panose="02010609060101010101" pitchFamily="49" charset="-122"/>
              </a:rPr>
              <a:t>宁波东方理工大学（暂名）、华美孚泰油气增产技术服务有限责任公司、中国地质大学（北京）、同济大学</a:t>
            </a:r>
          </a:p>
        </p:txBody>
      </p:sp>
      <p:sp>
        <p:nvSpPr>
          <p:cNvPr id="9" name="副标题 2">
            <a:extLst>
              <a:ext uri="{FF2B5EF4-FFF2-40B4-BE49-F238E27FC236}">
                <a16:creationId xmlns:a16="http://schemas.microsoft.com/office/drawing/2014/main" id="{0B239F97-186D-1DEC-932D-FD1CBAEB61E7}"/>
              </a:ext>
            </a:extLst>
          </p:cNvPr>
          <p:cNvSpPr txBox="1">
            <a:spLocks/>
          </p:cNvSpPr>
          <p:nvPr/>
        </p:nvSpPr>
        <p:spPr>
          <a:xfrm>
            <a:off x="5375920" y="6021288"/>
            <a:ext cx="1728192" cy="482220"/>
          </a:xfrm>
        </p:spPr>
        <p:txBody>
          <a:bodyPr rtlCol="0">
            <a:norm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en-US" altLang="zh-CN" sz="2000" kern="0" dirty="0">
                <a:solidFill>
                  <a:schemeClr val="bg1"/>
                </a:solidFill>
                <a:latin typeface="黑体" panose="02010609060101010101" pitchFamily="49" charset="-122"/>
                <a:ea typeface="黑体" panose="02010609060101010101" pitchFamily="49" charset="-122"/>
              </a:rPr>
              <a:t>2024</a:t>
            </a:r>
            <a:r>
              <a:rPr lang="zh-CN" altLang="en-US" sz="2000" kern="0" dirty="0">
                <a:solidFill>
                  <a:schemeClr val="bg1"/>
                </a:solidFill>
                <a:latin typeface="黑体" panose="02010609060101010101" pitchFamily="49" charset="-122"/>
                <a:ea typeface="黑体" panose="02010609060101010101" pitchFamily="49" charset="-122"/>
              </a:rPr>
              <a:t>年</a:t>
            </a:r>
            <a:r>
              <a:rPr lang="en-US" altLang="zh-CN" sz="2000" kern="0" dirty="0">
                <a:solidFill>
                  <a:schemeClr val="bg1"/>
                </a:solidFill>
                <a:latin typeface="黑体" panose="02010609060101010101" pitchFamily="49" charset="-122"/>
                <a:ea typeface="黑体" panose="02010609060101010101" pitchFamily="49" charset="-122"/>
              </a:rPr>
              <a:t>8</a:t>
            </a:r>
            <a:r>
              <a:rPr lang="zh-CN" altLang="en-US" sz="2000" kern="0" dirty="0">
                <a:solidFill>
                  <a:schemeClr val="bg1"/>
                </a:solidFill>
                <a:latin typeface="黑体" panose="02010609060101010101" pitchFamily="49" charset="-122"/>
                <a:ea typeface="黑体" panose="02010609060101010101" pitchFamily="49" charset="-122"/>
              </a:rPr>
              <a:t>月</a:t>
            </a:r>
          </a:p>
        </p:txBody>
      </p:sp>
      <p:sp>
        <p:nvSpPr>
          <p:cNvPr id="10" name="副标题 2">
            <a:extLst>
              <a:ext uri="{FF2B5EF4-FFF2-40B4-BE49-F238E27FC236}">
                <a16:creationId xmlns:a16="http://schemas.microsoft.com/office/drawing/2014/main" id="{0DC14EC6-96E6-1C5A-91A2-C52D60DABE43}"/>
              </a:ext>
            </a:extLst>
          </p:cNvPr>
          <p:cNvSpPr txBox="1">
            <a:spLocks/>
          </p:cNvSpPr>
          <p:nvPr/>
        </p:nvSpPr>
        <p:spPr>
          <a:xfrm>
            <a:off x="73344" y="195316"/>
            <a:ext cx="13249891" cy="814876"/>
          </a:xfrm>
        </p:spPr>
        <p:txBody>
          <a:bodyPr rtlCol="0">
            <a:norm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en-US" altLang="zh-CN" b="1" kern="0" dirty="0">
                <a:solidFill>
                  <a:srgbClr val="070482"/>
                </a:solidFill>
                <a:latin typeface="方正大黑简体" panose="03000509000000000000" pitchFamily="65" charset="-122"/>
                <a:ea typeface="方正大黑简体" panose="03000509000000000000" pitchFamily="65" charset="-122"/>
              </a:rPr>
              <a:t>2024</a:t>
            </a:r>
            <a:r>
              <a:rPr lang="zh-CN" altLang="en-US" b="1" kern="0" dirty="0">
                <a:solidFill>
                  <a:srgbClr val="070482"/>
                </a:solidFill>
                <a:latin typeface="方正大黑简体" panose="03000509000000000000" pitchFamily="65" charset="-122"/>
                <a:ea typeface="方正大黑简体" panose="03000509000000000000" pitchFamily="65" charset="-122"/>
              </a:rPr>
              <a:t>年度绿色矿山科学技术奖成果鉴定会</a:t>
            </a:r>
          </a:p>
          <a:p>
            <a:pPr marL="0" indent="0">
              <a:buNone/>
              <a:defRPr/>
            </a:pPr>
            <a:endParaRPr lang="zh-CN" altLang="en-US" sz="3600" b="1" kern="0" dirty="0">
              <a:solidFill>
                <a:srgbClr val="3634A1"/>
              </a:solidFill>
              <a:latin typeface="方正大黑简体" panose="03000509000000000000" pitchFamily="65" charset="-122"/>
              <a:ea typeface="方正大黑简体" panose="03000509000000000000" pitchFamily="65" charset="-122"/>
            </a:endParaRPr>
          </a:p>
        </p:txBody>
      </p:sp>
      <p:pic>
        <p:nvPicPr>
          <p:cNvPr id="15" name="图片 14">
            <a:extLst>
              <a:ext uri="{FF2B5EF4-FFF2-40B4-BE49-F238E27FC236}">
                <a16:creationId xmlns:a16="http://schemas.microsoft.com/office/drawing/2014/main" id="{287A138F-9D03-16A0-A508-13226326B04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019981" y="44624"/>
            <a:ext cx="740315" cy="740315"/>
          </a:xfrm>
          <a:prstGeom prst="rect">
            <a:avLst/>
          </a:prstGeom>
        </p:spPr>
      </p:pic>
      <p:sp>
        <p:nvSpPr>
          <p:cNvPr id="20" name="Line 2">
            <a:extLst>
              <a:ext uri="{FF2B5EF4-FFF2-40B4-BE49-F238E27FC236}">
                <a16:creationId xmlns:a16="http://schemas.microsoft.com/office/drawing/2014/main" id="{055A51AE-0881-DB38-FD06-B518BE0AC40C}"/>
              </a:ext>
            </a:extLst>
          </p:cNvPr>
          <p:cNvSpPr/>
          <p:nvPr/>
        </p:nvSpPr>
        <p:spPr>
          <a:xfrm>
            <a:off x="0" y="836712"/>
            <a:ext cx="12192000" cy="0"/>
          </a:xfrm>
          <a:prstGeom prst="line">
            <a:avLst/>
          </a:prstGeom>
          <a:ln w="38100" cap="flat" cmpd="sng">
            <a:solidFill>
              <a:srgbClr val="FF0000"/>
            </a:solidFill>
            <a:prstDash val="solid"/>
            <a:headEnd type="none" w="med" len="med"/>
            <a:tailEnd type="none" w="med" len="med"/>
          </a:ln>
        </p:spPr>
      </p:sp>
      <p:pic>
        <p:nvPicPr>
          <p:cNvPr id="22" name="图片 21">
            <a:extLst>
              <a:ext uri="{FF2B5EF4-FFF2-40B4-BE49-F238E27FC236}">
                <a16:creationId xmlns:a16="http://schemas.microsoft.com/office/drawing/2014/main" id="{D50F7894-C1B9-8B83-5200-F9EEEAB13DA7}"/>
              </a:ext>
            </a:extLst>
          </p:cNvPr>
          <p:cNvPicPr>
            <a:picLocks noChangeAspect="1"/>
          </p:cNvPicPr>
          <p:nvPr/>
        </p:nvPicPr>
        <p:blipFill>
          <a:blip r:embed="rId3"/>
          <a:stretch>
            <a:fillRect/>
          </a:stretch>
        </p:blipFill>
        <p:spPr>
          <a:xfrm>
            <a:off x="10538924" y="26904"/>
            <a:ext cx="766072" cy="768429"/>
          </a:xfrm>
          <a:prstGeom prst="rect">
            <a:avLst/>
          </a:prstGeom>
        </p:spPr>
      </p:pic>
      <p:pic>
        <p:nvPicPr>
          <p:cNvPr id="23" name="图片 22">
            <a:extLst>
              <a:ext uri="{FF2B5EF4-FFF2-40B4-BE49-F238E27FC236}">
                <a16:creationId xmlns:a16="http://schemas.microsoft.com/office/drawing/2014/main" id="{608A968A-9302-2CE9-9AD4-D96A590E72C0}"/>
              </a:ext>
            </a:extLst>
          </p:cNvPr>
          <p:cNvPicPr>
            <a:picLocks noChangeAspect="1"/>
          </p:cNvPicPr>
          <p:nvPr/>
        </p:nvPicPr>
        <p:blipFill rotWithShape="1">
          <a:blip r:embed="rId4"/>
          <a:srcRect l="3391" t="2468" b="1"/>
          <a:stretch/>
        </p:blipFill>
        <p:spPr>
          <a:xfrm>
            <a:off x="11352584" y="26904"/>
            <a:ext cx="766072" cy="754446"/>
          </a:xfrm>
          <a:prstGeom prst="rect">
            <a:avLst/>
          </a:prstGeom>
        </p:spPr>
      </p:pic>
      <p:pic>
        <p:nvPicPr>
          <p:cNvPr id="24" name="图片 23">
            <a:extLst>
              <a:ext uri="{FF2B5EF4-FFF2-40B4-BE49-F238E27FC236}">
                <a16:creationId xmlns:a16="http://schemas.microsoft.com/office/drawing/2014/main" id="{7E1AE80E-6794-1303-C8EA-8A86231D3A9F}"/>
              </a:ext>
            </a:extLst>
          </p:cNvPr>
          <p:cNvPicPr>
            <a:picLocks noChangeAspect="1"/>
          </p:cNvPicPr>
          <p:nvPr/>
        </p:nvPicPr>
        <p:blipFill>
          <a:blip r:embed="rId5"/>
          <a:stretch>
            <a:fillRect/>
          </a:stretch>
        </p:blipFill>
        <p:spPr>
          <a:xfrm>
            <a:off x="9676163" y="44470"/>
            <a:ext cx="740317" cy="725872"/>
          </a:xfrm>
          <a:prstGeom prst="rect">
            <a:avLst/>
          </a:prstGeom>
        </p:spPr>
      </p:pic>
      <p:sp>
        <p:nvSpPr>
          <p:cNvPr id="25" name="矩形 24">
            <a:extLst>
              <a:ext uri="{FF2B5EF4-FFF2-40B4-BE49-F238E27FC236}">
                <a16:creationId xmlns:a16="http://schemas.microsoft.com/office/drawing/2014/main" id="{C648888B-9033-86A3-3AE9-50ED7F53A201}"/>
              </a:ext>
            </a:extLst>
          </p:cNvPr>
          <p:cNvSpPr/>
          <p:nvPr/>
        </p:nvSpPr>
        <p:spPr>
          <a:xfrm>
            <a:off x="10389530" y="729681"/>
            <a:ext cx="314982" cy="68066"/>
          </a:xfrm>
          <a:prstGeom prst="rect">
            <a:avLst/>
          </a:prstGeom>
          <a:solidFill>
            <a:schemeClr val="bg1"/>
          </a:solidFill>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180000"/>
              </a:lnSpc>
              <a:spcBef>
                <a:spcPct val="20000"/>
              </a:spcBef>
              <a:buClr>
                <a:srgbClr val="FF0000"/>
              </a:buClr>
              <a:buSzPct val="100000"/>
            </a:pPr>
            <a:endParaRPr lang="zh-CN" altLang="en-US" dirty="0">
              <a:solidFill>
                <a:schemeClr val="bg1"/>
              </a:solidFill>
              <a:latin typeface="Tahoma" panose="020B0604030504040204"/>
              <a:ea typeface="方正大黑简体" panose="02010601030101010101" pitchFamily="65" charset="-122"/>
            </a:endParaRPr>
          </a:p>
        </p:txBody>
      </p:sp>
      <p:pic>
        <p:nvPicPr>
          <p:cNvPr id="11" name="图片 10">
            <a:extLst>
              <a:ext uri="{FF2B5EF4-FFF2-40B4-BE49-F238E27FC236}">
                <a16:creationId xmlns:a16="http://schemas.microsoft.com/office/drawing/2014/main" id="{139E07CB-86DD-2E11-977F-D22695FA435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8904312" y="116632"/>
            <a:ext cx="672480" cy="648072"/>
          </a:xfrm>
          <a:prstGeom prst="rect">
            <a:avLst/>
          </a:prstGeom>
        </p:spPr>
      </p:pic>
    </p:spTree>
    <p:extLst>
      <p:ext uri="{BB962C8B-B14F-4D97-AF65-F5344CB8AC3E}">
        <p14:creationId xmlns:p14="http://schemas.microsoft.com/office/powerpoint/2010/main" val="3819984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pPr>
            <a:r>
              <a:rPr lang="zh-CN" altLang="en-US" sz="4000" dirty="0">
                <a:solidFill>
                  <a:srgbClr val="FF0000"/>
                </a:solidFill>
                <a:latin typeface="方正大黑简体" panose="02000000000000000000" pitchFamily="2" charset="-122"/>
                <a:ea typeface="方正大黑简体" panose="02000000000000000000" pitchFamily="2" charset="-122"/>
              </a:rPr>
              <a:t>汇 报 提 纲</a:t>
            </a:r>
          </a:p>
        </p:txBody>
      </p:sp>
      <p:sp>
        <p:nvSpPr>
          <p:cNvPr id="1048583" name="Text Box 6"/>
          <p:cNvSpPr txBox="1">
            <a:spLocks noChangeArrowheads="1"/>
          </p:cNvSpPr>
          <p:nvPr/>
        </p:nvSpPr>
        <p:spPr bwMode="auto">
          <a:xfrm>
            <a:off x="2675260" y="935373"/>
            <a:ext cx="7669212" cy="5476207"/>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fontAlgn="base">
              <a:lnSpc>
                <a:spcPct val="150000"/>
              </a:lnSpc>
              <a:spcBef>
                <a:spcPct val="0"/>
              </a:spcBef>
              <a:spcAft>
                <a:spcPct val="0"/>
              </a:spcAft>
              <a:buClr>
                <a:srgbClr val="FF0000"/>
              </a:buClr>
            </a:pPr>
            <a:r>
              <a:rPr lang="zh-CN" altLang="en-US" sz="3200" b="1" dirty="0">
                <a:solidFill>
                  <a:srgbClr val="FF0000"/>
                </a:solidFill>
                <a:latin typeface="黑体" panose="02010609060101010101" pitchFamily="49" charset="-122"/>
                <a:ea typeface="黑体" panose="02010609060101010101" pitchFamily="49" charset="-122"/>
              </a:rPr>
              <a:t>一、研究背景</a:t>
            </a:r>
          </a:p>
          <a:p>
            <a:pPr fontAlgn="base">
              <a:lnSpc>
                <a:spcPct val="150000"/>
              </a:lnSpc>
              <a:spcBef>
                <a:spcPct val="0"/>
              </a:spcBef>
              <a:spcAft>
                <a:spcPct val="0"/>
              </a:spcAft>
              <a:buClr>
                <a:srgbClr val="FF0000"/>
              </a:buClr>
            </a:pPr>
            <a:r>
              <a:rPr lang="zh-CN" altLang="en-US" sz="3200" b="1" dirty="0">
                <a:solidFill>
                  <a:srgbClr val="000000"/>
                </a:solidFill>
                <a:latin typeface="黑体" panose="02010609060101010101" pitchFamily="49" charset="-122"/>
                <a:ea typeface="黑体" panose="02010609060101010101" pitchFamily="49" charset="-122"/>
              </a:rPr>
              <a:t>二、攻关研究形成的技术、理论和方法</a:t>
            </a:r>
          </a:p>
          <a:p>
            <a:pPr fontAlgn="base">
              <a:lnSpc>
                <a:spcPct val="150000"/>
              </a:lnSpc>
              <a:spcBef>
                <a:spcPct val="0"/>
              </a:spcBef>
              <a:spcAft>
                <a:spcPct val="0"/>
              </a:spcAft>
              <a:buClr>
                <a:srgbClr val="FF0000"/>
              </a:buClr>
            </a:pPr>
            <a:r>
              <a:rPr lang="zh-CN" altLang="en-US" sz="3200" b="1" dirty="0">
                <a:solidFill>
                  <a:srgbClr val="000000"/>
                </a:solidFill>
                <a:latin typeface="黑体" panose="02010609060101010101" pitchFamily="49" charset="-122"/>
                <a:ea typeface="黑体" panose="02010609060101010101" pitchFamily="49" charset="-122"/>
              </a:rPr>
              <a:t>三、主要技术指标和经济指标国内外对比</a:t>
            </a:r>
          </a:p>
          <a:p>
            <a:pPr fontAlgn="base">
              <a:lnSpc>
                <a:spcPct val="150000"/>
              </a:lnSpc>
              <a:spcBef>
                <a:spcPct val="0"/>
              </a:spcBef>
              <a:spcAft>
                <a:spcPct val="0"/>
              </a:spcAft>
              <a:buClr>
                <a:srgbClr val="FF0000"/>
              </a:buClr>
            </a:pPr>
            <a:r>
              <a:rPr lang="zh-CN" altLang="en-US" sz="3200" b="1" dirty="0">
                <a:solidFill>
                  <a:srgbClr val="000000"/>
                </a:solidFill>
                <a:latin typeface="黑体" panose="02010609060101010101" pitchFamily="49" charset="-122"/>
                <a:ea typeface="黑体" panose="02010609060101010101" pitchFamily="49" charset="-122"/>
              </a:rPr>
              <a:t>四、成果的主要技术发明点</a:t>
            </a:r>
          </a:p>
          <a:p>
            <a:pPr fontAlgn="base">
              <a:lnSpc>
                <a:spcPct val="150000"/>
              </a:lnSpc>
              <a:spcBef>
                <a:spcPct val="0"/>
              </a:spcBef>
              <a:spcAft>
                <a:spcPct val="0"/>
              </a:spcAft>
              <a:buClr>
                <a:srgbClr val="FF0000"/>
              </a:buClr>
            </a:pPr>
            <a:r>
              <a:rPr lang="zh-CN" altLang="en-US" sz="3200" b="1" dirty="0">
                <a:solidFill>
                  <a:srgbClr val="000000"/>
                </a:solidFill>
                <a:latin typeface="黑体" panose="02010609060101010101" pitchFamily="49" charset="-122"/>
                <a:ea typeface="黑体" panose="02010609060101010101" pitchFamily="49" charset="-122"/>
              </a:rPr>
              <a:t>五、应用情况</a:t>
            </a:r>
          </a:p>
          <a:p>
            <a:pPr fontAlgn="base">
              <a:lnSpc>
                <a:spcPct val="150000"/>
              </a:lnSpc>
              <a:spcBef>
                <a:spcPct val="0"/>
              </a:spcBef>
              <a:spcAft>
                <a:spcPct val="0"/>
              </a:spcAft>
              <a:buClr>
                <a:srgbClr val="FF0000"/>
              </a:buClr>
            </a:pPr>
            <a:r>
              <a:rPr lang="zh-CN" altLang="en-US" sz="3200" b="1" dirty="0">
                <a:solidFill>
                  <a:srgbClr val="000000"/>
                </a:solidFill>
                <a:latin typeface="黑体" panose="02010609060101010101" pitchFamily="49" charset="-122"/>
                <a:ea typeface="黑体" panose="02010609060101010101" pitchFamily="49" charset="-122"/>
              </a:rPr>
              <a:t>六、有形化成果</a:t>
            </a:r>
            <a:endParaRPr lang="en-US" altLang="zh-CN" sz="3200" b="1" dirty="0">
              <a:solidFill>
                <a:srgbClr val="000000"/>
              </a:solidFill>
              <a:latin typeface="黑体" panose="02010609060101010101" pitchFamily="49" charset="-122"/>
              <a:ea typeface="黑体" panose="02010609060101010101" pitchFamily="49" charset="-122"/>
            </a:endParaRPr>
          </a:p>
          <a:p>
            <a:pPr fontAlgn="base">
              <a:lnSpc>
                <a:spcPct val="150000"/>
              </a:lnSpc>
              <a:spcBef>
                <a:spcPct val="0"/>
              </a:spcBef>
              <a:spcAft>
                <a:spcPct val="0"/>
              </a:spcAft>
              <a:buClr>
                <a:srgbClr val="FF0000"/>
              </a:buClr>
            </a:pPr>
            <a:r>
              <a:rPr lang="zh-CN" altLang="en-US" sz="3200" b="1" dirty="0">
                <a:solidFill>
                  <a:srgbClr val="000000"/>
                </a:solidFill>
                <a:latin typeface="黑体" panose="02010609060101010101" pitchFamily="49" charset="-122"/>
                <a:ea typeface="黑体" panose="02010609060101010101" pitchFamily="49" charset="-122"/>
              </a:rPr>
              <a:t>七、不足与局限性</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17">
            <a:extLst>
              <a:ext uri="{FF2B5EF4-FFF2-40B4-BE49-F238E27FC236}">
                <a16:creationId xmlns:a16="http://schemas.microsoft.com/office/drawing/2014/main" id="{40B3E6BE-97DA-740D-223C-6F7A18FCE988}"/>
              </a:ext>
            </a:extLst>
          </p:cNvPr>
          <p:cNvSpPr>
            <a:spLocks noChangeArrowheads="1"/>
          </p:cNvSpPr>
          <p:nvPr/>
        </p:nvSpPr>
        <p:spPr bwMode="auto">
          <a:xfrm>
            <a:off x="263525" y="692697"/>
            <a:ext cx="11716568" cy="189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ts val="600"/>
              </a:spcBef>
              <a:buClr>
                <a:srgbClr val="C00000"/>
              </a:buClr>
              <a:buFont typeface="Wingdings" panose="05000000000000000000" pitchFamily="2" charset="2"/>
              <a:buChar char="p"/>
            </a:pPr>
            <a:r>
              <a:rPr lang="zh-CN" altLang="en-US" sz="2400" b="1" dirty="0">
                <a:ea typeface="黑体" panose="02010609060101010101" pitchFamily="49" charset="-122"/>
              </a:rPr>
              <a:t>习近平总书记指出：石油能源建设对我们国家意义重大，中国作为制造业大国，要发展实体经济，</a:t>
            </a:r>
            <a:r>
              <a:rPr lang="zh-CN" altLang="en-US" sz="2400" b="1" dirty="0">
                <a:solidFill>
                  <a:srgbClr val="FF0000"/>
                </a:solidFill>
                <a:ea typeface="黑体" panose="02010609060101010101" pitchFamily="49" charset="-122"/>
              </a:rPr>
              <a:t>能源的饭碗必须端在自己手里</a:t>
            </a:r>
            <a:r>
              <a:rPr lang="zh-CN" altLang="en-US" sz="2400" b="1" dirty="0">
                <a:ea typeface="黑体" panose="02010609060101010101" pitchFamily="49" charset="-122"/>
              </a:rPr>
              <a:t>。我国页岩油气资源分布广阔、储量丰富，具备实现“中国非常规油气革命”的资源基础，是我国未来油气增储上产的重要战略接替资源，</a:t>
            </a:r>
            <a:r>
              <a:rPr lang="zh-CN" altLang="en-US" sz="2400" b="1" dirty="0">
                <a:solidFill>
                  <a:srgbClr val="FF0000"/>
                </a:solidFill>
                <a:ea typeface="黑体" panose="02010609060101010101" pitchFamily="49" charset="-122"/>
              </a:rPr>
              <a:t>水力压裂技术是实现非常规油气藏增产改造的重要手段。</a:t>
            </a:r>
            <a:endParaRPr lang="en-US" altLang="zh-CN" sz="2400" b="1" dirty="0">
              <a:solidFill>
                <a:srgbClr val="FF0000"/>
              </a:solidFill>
              <a:ea typeface="黑体" panose="02010609060101010101" pitchFamily="49" charset="-122"/>
            </a:endParaRPr>
          </a:p>
        </p:txBody>
      </p:sp>
      <p:sp>
        <p:nvSpPr>
          <p:cNvPr id="5" name="TextBox 45">
            <a:extLst>
              <a:ext uri="{FF2B5EF4-FFF2-40B4-BE49-F238E27FC236}">
                <a16:creationId xmlns:a16="http://schemas.microsoft.com/office/drawing/2014/main" id="{F9611851-7502-7E0F-7E17-2BACFE36F631}"/>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defTabSz="457200" eaLnBrk="1" fontAlgn="auto" hangingPunct="1">
              <a:spcBef>
                <a:spcPts val="600"/>
              </a:spcBef>
              <a:spcAft>
                <a:spcPts val="0"/>
              </a:spcAft>
              <a:buNone/>
            </a:pPr>
            <a:r>
              <a:rPr lang="en-US" altLang="zh-CN" sz="2800" noProof="1">
                <a:solidFill>
                  <a:srgbClr val="3B3BFF"/>
                </a:solidFill>
                <a:latin typeface="方正大黑简体" panose="02010601030101010101" pitchFamily="65" charset="-122"/>
                <a:ea typeface="方正大黑简体" panose="02010601030101010101" pitchFamily="65" charset="-122"/>
              </a:rPr>
              <a:t>1.1</a:t>
            </a:r>
            <a:r>
              <a:rPr lang="zh-CN" altLang="en-US" sz="2800" noProof="1">
                <a:solidFill>
                  <a:srgbClr val="3B3BFF"/>
                </a:solidFill>
                <a:latin typeface="方正大黑简体" panose="02010601030101010101" pitchFamily="65" charset="-122"/>
                <a:ea typeface="方正大黑简体" panose="02010601030101010101" pitchFamily="65" charset="-122"/>
              </a:rPr>
              <a:t>水力压裂是非常规油气增产改造的</a:t>
            </a:r>
            <a:r>
              <a:rPr lang="zh-CN" altLang="en-US" sz="2800" noProof="1">
                <a:solidFill>
                  <a:srgbClr val="FF0000"/>
                </a:solidFill>
                <a:latin typeface="方正大黑简体" panose="02010601030101010101" pitchFamily="65" charset="-122"/>
                <a:ea typeface="方正大黑简体" panose="02010601030101010101" pitchFamily="65" charset="-122"/>
              </a:rPr>
              <a:t>重要手段</a:t>
            </a:r>
          </a:p>
        </p:txBody>
      </p:sp>
      <p:pic>
        <p:nvPicPr>
          <p:cNvPr id="6" name="Picture 5">
            <a:extLst>
              <a:ext uri="{FF2B5EF4-FFF2-40B4-BE49-F238E27FC236}">
                <a16:creationId xmlns:a16="http://schemas.microsoft.com/office/drawing/2014/main" id="{F6E8CAD0-0960-891B-C9D8-F9498B93DF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0295" y="2780928"/>
            <a:ext cx="5485664" cy="338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文本框 6">
            <a:extLst>
              <a:ext uri="{FF2B5EF4-FFF2-40B4-BE49-F238E27FC236}">
                <a16:creationId xmlns:a16="http://schemas.microsoft.com/office/drawing/2014/main" id="{822DAF7A-03DF-A11A-BB90-E9C11F098146}"/>
              </a:ext>
            </a:extLst>
          </p:cNvPr>
          <p:cNvSpPr txBox="1"/>
          <p:nvPr/>
        </p:nvSpPr>
        <p:spPr>
          <a:xfrm>
            <a:off x="1343472" y="6165303"/>
            <a:ext cx="2741456" cy="369332"/>
          </a:xfrm>
          <a:prstGeom prst="rect">
            <a:avLst/>
          </a:prstGeom>
          <a:solidFill>
            <a:schemeClr val="bg1"/>
          </a:solidFill>
        </p:spPr>
        <p:txBody>
          <a:bodyPr wrap="none" rtlCol="0">
            <a:spAutoFit/>
          </a:bodyPr>
          <a:lstStyle/>
          <a:p>
            <a:pPr marL="0" marR="0" lvl="0" indent="0" algn="ctr" defTabSz="914400" rtl="0" eaLnBrk="0" fontAlgn="base" latinLnBrk="0" hangingPunct="0">
              <a:lnSpc>
                <a:spcPct val="100000"/>
              </a:lnSpc>
              <a:spcBef>
                <a:spcPct val="0"/>
              </a:spcBef>
              <a:spcAft>
                <a:spcPct val="0"/>
              </a:spcAft>
              <a:buClr>
                <a:srgbClr val="FF0000"/>
              </a:buClr>
              <a:buSzPct val="60000"/>
              <a:buFontTx/>
              <a:buNone/>
              <a:tabLst/>
              <a:defRPr/>
            </a:pPr>
            <a:r>
              <a:rPr lang="zh-CN" altLang="en-US" b="1" dirty="0">
                <a:solidFill>
                  <a:srgbClr val="0000FF"/>
                </a:solidFill>
                <a:latin typeface="黑体" panose="02010609060101010101" pitchFamily="49" charset="-122"/>
                <a:ea typeface="黑体" panose="02010609060101010101" pitchFamily="49" charset="-122"/>
              </a:rPr>
              <a:t>中国页岩油气资源分布图</a:t>
            </a:r>
          </a:p>
        </p:txBody>
      </p:sp>
      <p:sp>
        <p:nvSpPr>
          <p:cNvPr id="8" name="文本框 7">
            <a:extLst>
              <a:ext uri="{FF2B5EF4-FFF2-40B4-BE49-F238E27FC236}">
                <a16:creationId xmlns:a16="http://schemas.microsoft.com/office/drawing/2014/main" id="{1FD0965A-138C-813E-15F4-8CCD522AD4BB}"/>
              </a:ext>
            </a:extLst>
          </p:cNvPr>
          <p:cNvSpPr txBox="1">
            <a:spLocks noChangeArrowheads="1"/>
          </p:cNvSpPr>
          <p:nvPr/>
        </p:nvSpPr>
        <p:spPr bwMode="auto">
          <a:xfrm>
            <a:off x="6595582" y="6165303"/>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水力压裂技术原理图</a:t>
            </a:r>
          </a:p>
        </p:txBody>
      </p:sp>
      <p:pic>
        <p:nvPicPr>
          <p:cNvPr id="2" name="图片 1">
            <a:extLst>
              <a:ext uri="{FF2B5EF4-FFF2-40B4-BE49-F238E27FC236}">
                <a16:creationId xmlns:a16="http://schemas.microsoft.com/office/drawing/2014/main" id="{D4778F3D-C5E8-D683-2A4D-428BF0D7DA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34487" y="2780927"/>
            <a:ext cx="6238177" cy="3435354"/>
          </a:xfrm>
          <a:prstGeom prst="rect">
            <a:avLst/>
          </a:prstGeom>
        </p:spPr>
      </p:pic>
    </p:spTree>
    <p:extLst>
      <p:ext uri="{BB962C8B-B14F-4D97-AF65-F5344CB8AC3E}">
        <p14:creationId xmlns:p14="http://schemas.microsoft.com/office/powerpoint/2010/main" val="14389885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5">
            <a:extLst>
              <a:ext uri="{FF2B5EF4-FFF2-40B4-BE49-F238E27FC236}">
                <a16:creationId xmlns:a16="http://schemas.microsoft.com/office/drawing/2014/main" id="{5C6C8BC9-84FE-B992-CCD0-7E602C5FD09B}"/>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en-US" altLang="zh-CN" sz="2800" noProof="1">
                <a:solidFill>
                  <a:srgbClr val="3B3BFF"/>
                </a:solidFill>
                <a:latin typeface="方正大黑简体" panose="02010601030101010101" pitchFamily="65" charset="-122"/>
                <a:ea typeface="方正大黑简体" panose="02010601030101010101" pitchFamily="65" charset="-122"/>
              </a:rPr>
              <a:t>1.2 </a:t>
            </a:r>
            <a:r>
              <a:rPr lang="zh-CN" altLang="en-US" sz="2800" noProof="1">
                <a:solidFill>
                  <a:srgbClr val="3B3BFF"/>
                </a:solidFill>
                <a:latin typeface="方正大黑简体" panose="02010601030101010101" pitchFamily="65" charset="-122"/>
                <a:ea typeface="方正大黑简体" panose="02010601030101010101" pitchFamily="65" charset="-122"/>
              </a:rPr>
              <a:t>井下压裂过程仿真与预警基础理论研究</a:t>
            </a:r>
            <a:r>
              <a:rPr lang="zh-CN" altLang="en-US" sz="2800" noProof="1">
                <a:solidFill>
                  <a:srgbClr val="FF0000"/>
                </a:solidFill>
                <a:latin typeface="方正大黑简体" panose="02010601030101010101" pitchFamily="65" charset="-122"/>
                <a:ea typeface="方正大黑简体" panose="02010601030101010101" pitchFamily="65" charset="-122"/>
              </a:rPr>
              <a:t>十分必要</a:t>
            </a:r>
          </a:p>
        </p:txBody>
      </p:sp>
      <p:sp>
        <p:nvSpPr>
          <p:cNvPr id="4" name="矩形 17">
            <a:extLst>
              <a:ext uri="{FF2B5EF4-FFF2-40B4-BE49-F238E27FC236}">
                <a16:creationId xmlns:a16="http://schemas.microsoft.com/office/drawing/2014/main" id="{4B7B966B-001C-2BD5-D798-B5B474479AE3}"/>
              </a:ext>
            </a:extLst>
          </p:cNvPr>
          <p:cNvSpPr>
            <a:spLocks noChangeArrowheads="1"/>
          </p:cNvSpPr>
          <p:nvPr/>
        </p:nvSpPr>
        <p:spPr bwMode="auto">
          <a:xfrm>
            <a:off x="263523" y="692696"/>
            <a:ext cx="11754957" cy="1890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ts val="600"/>
              </a:spcBef>
              <a:buClr>
                <a:srgbClr val="C00000"/>
              </a:buClr>
              <a:buFont typeface="Wingdings" panose="05000000000000000000" pitchFamily="2" charset="2"/>
              <a:buChar char="p"/>
            </a:pPr>
            <a:r>
              <a:rPr lang="zh-CN" altLang="en-US" sz="2400" b="1" dirty="0">
                <a:ea typeface="黑体" panose="02010609060101010101" pitchFamily="49" charset="-122"/>
              </a:rPr>
              <a:t>水力压裂过程中井下几千米造缝</a:t>
            </a:r>
            <a:r>
              <a:rPr lang="en-US" altLang="zh-CN" sz="2400" b="1" dirty="0">
                <a:ea typeface="黑体" panose="02010609060101010101" pitchFamily="49" charset="-122"/>
              </a:rPr>
              <a:t>-</a:t>
            </a:r>
            <a:r>
              <a:rPr lang="zh-CN" altLang="en-US" sz="2400" b="1" dirty="0">
                <a:ea typeface="黑体" panose="02010609060101010101" pitchFamily="49" charset="-122"/>
              </a:rPr>
              <a:t>携砂“看不见摸不着”，是一个</a:t>
            </a:r>
            <a:r>
              <a:rPr lang="zh-CN" altLang="en-US" sz="2400" b="1" dirty="0">
                <a:solidFill>
                  <a:srgbClr val="FF0000"/>
                </a:solidFill>
                <a:ea typeface="黑体" panose="02010609060101010101" pitchFamily="49" charset="-122"/>
              </a:rPr>
              <a:t>固</a:t>
            </a:r>
            <a:r>
              <a:rPr lang="en-US" altLang="zh-CN" sz="2400" b="1" dirty="0">
                <a:solidFill>
                  <a:srgbClr val="FF0000"/>
                </a:solidFill>
                <a:ea typeface="黑体" panose="02010609060101010101" pitchFamily="49" charset="-122"/>
              </a:rPr>
              <a:t>-</a:t>
            </a:r>
            <a:r>
              <a:rPr lang="zh-CN" altLang="en-US" sz="2400" b="1" dirty="0">
                <a:solidFill>
                  <a:srgbClr val="FF0000"/>
                </a:solidFill>
                <a:ea typeface="黑体" panose="02010609060101010101" pitchFamily="49" charset="-122"/>
              </a:rPr>
              <a:t>液两相介质并存、演化过程不可见、多参数耦合干扰</a:t>
            </a:r>
            <a:r>
              <a:rPr lang="zh-CN" altLang="en-US" sz="2400" b="1" dirty="0">
                <a:ea typeface="黑体" panose="02010609060101010101" pitchFamily="49" charset="-122"/>
              </a:rPr>
              <a:t>的复杂系统，具有作用机理多、过程不可见、施工风险高的特点。因此，</a:t>
            </a:r>
            <a:r>
              <a:rPr lang="zh-CN" altLang="en-US" sz="2400" b="1" dirty="0">
                <a:solidFill>
                  <a:srgbClr val="FF0000"/>
                </a:solidFill>
                <a:ea typeface="黑体" panose="02010609060101010101" pitchFamily="49" charset="-122"/>
              </a:rPr>
              <a:t>开展井下压裂过程仿真与预警基础理论研究</a:t>
            </a:r>
            <a:r>
              <a:rPr lang="zh-CN" altLang="en-US" sz="2400" b="1" dirty="0">
                <a:ea typeface="黑体" panose="02010609060101010101" pitchFamily="49" charset="-122"/>
              </a:rPr>
              <a:t>对于增加水力压裂造缝效率、提升水力压裂施工经济效益、保障压裂施工加砂安全</a:t>
            </a:r>
            <a:r>
              <a:rPr lang="zh-CN" altLang="en-US" sz="2400" b="1" dirty="0">
                <a:solidFill>
                  <a:srgbClr val="FF0000"/>
                </a:solidFill>
                <a:ea typeface="黑体" panose="02010609060101010101" pitchFamily="49" charset="-122"/>
              </a:rPr>
              <a:t>显得尤其必要。</a:t>
            </a:r>
          </a:p>
        </p:txBody>
      </p:sp>
      <p:pic>
        <p:nvPicPr>
          <p:cNvPr id="5" name="图片 4">
            <a:extLst>
              <a:ext uri="{FF2B5EF4-FFF2-40B4-BE49-F238E27FC236}">
                <a16:creationId xmlns:a16="http://schemas.microsoft.com/office/drawing/2014/main" id="{484E7280-34DD-A3D2-40AF-D69CF24A96AD}"/>
              </a:ext>
            </a:extLst>
          </p:cNvPr>
          <p:cNvPicPr>
            <a:picLocks noChangeAspect="1"/>
          </p:cNvPicPr>
          <p:nvPr/>
        </p:nvPicPr>
        <p:blipFill>
          <a:blip r:embed="rId2"/>
          <a:stretch>
            <a:fillRect/>
          </a:stretch>
        </p:blipFill>
        <p:spPr>
          <a:xfrm>
            <a:off x="263523" y="2780929"/>
            <a:ext cx="5688460" cy="3402135"/>
          </a:xfrm>
          <a:prstGeom prst="rect">
            <a:avLst/>
          </a:prstGeom>
        </p:spPr>
      </p:pic>
      <p:sp>
        <p:nvSpPr>
          <p:cNvPr id="6" name="文本框 5">
            <a:extLst>
              <a:ext uri="{FF2B5EF4-FFF2-40B4-BE49-F238E27FC236}">
                <a16:creationId xmlns:a16="http://schemas.microsoft.com/office/drawing/2014/main" id="{F7F4CFB1-2B11-84E0-3F4D-B6F5C3BB6B74}"/>
              </a:ext>
            </a:extLst>
          </p:cNvPr>
          <p:cNvSpPr txBox="1">
            <a:spLocks noChangeArrowheads="1"/>
          </p:cNvSpPr>
          <p:nvPr/>
        </p:nvSpPr>
        <p:spPr bwMode="auto">
          <a:xfrm>
            <a:off x="-240704" y="6156012"/>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井下裂缝形态和支撑剂运移复杂</a:t>
            </a:r>
          </a:p>
        </p:txBody>
      </p:sp>
      <p:sp>
        <p:nvSpPr>
          <p:cNvPr id="8" name="文本框 7">
            <a:extLst>
              <a:ext uri="{FF2B5EF4-FFF2-40B4-BE49-F238E27FC236}">
                <a16:creationId xmlns:a16="http://schemas.microsoft.com/office/drawing/2014/main" id="{C553FE42-6856-0881-FF0F-91EC08F0103B}"/>
              </a:ext>
            </a:extLst>
          </p:cNvPr>
          <p:cNvSpPr txBox="1">
            <a:spLocks noChangeArrowheads="1"/>
          </p:cNvSpPr>
          <p:nvPr/>
        </p:nvSpPr>
        <p:spPr bwMode="auto">
          <a:xfrm>
            <a:off x="6595582" y="6165303"/>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现场压裂施工曲线</a:t>
            </a:r>
          </a:p>
        </p:txBody>
      </p:sp>
      <p:pic>
        <p:nvPicPr>
          <p:cNvPr id="2" name="图片 1" descr="电脑萤幕画面&#10;&#10;描述已自动生成">
            <a:extLst>
              <a:ext uri="{FF2B5EF4-FFF2-40B4-BE49-F238E27FC236}">
                <a16:creationId xmlns:a16="http://schemas.microsoft.com/office/drawing/2014/main" id="{8109B895-8FFF-356B-4336-483EE8D9AAE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4156" t="5335"/>
          <a:stretch/>
        </p:blipFill>
        <p:spPr>
          <a:xfrm>
            <a:off x="6311453" y="2777259"/>
            <a:ext cx="5688460" cy="3378754"/>
          </a:xfrm>
          <a:prstGeom prst="rect">
            <a:avLst/>
          </a:prstGeom>
          <a:ln w="12700">
            <a:solidFill>
              <a:schemeClr val="tx1"/>
            </a:solidFill>
          </a:ln>
        </p:spPr>
      </p:pic>
    </p:spTree>
    <p:extLst>
      <p:ext uri="{BB962C8B-B14F-4D97-AF65-F5344CB8AC3E}">
        <p14:creationId xmlns:p14="http://schemas.microsoft.com/office/powerpoint/2010/main" val="13853506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5">
            <a:extLst>
              <a:ext uri="{FF2B5EF4-FFF2-40B4-BE49-F238E27FC236}">
                <a16:creationId xmlns:a16="http://schemas.microsoft.com/office/drawing/2014/main" id="{2BF717C7-C508-0117-8595-CDE645D36A5F}"/>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en-US" altLang="zh-CN" sz="2800" noProof="1">
                <a:solidFill>
                  <a:srgbClr val="3B3BFF"/>
                </a:solidFill>
                <a:latin typeface="方正大黑简体" panose="02010601030101010101" pitchFamily="65" charset="-122"/>
                <a:ea typeface="方正大黑简体" panose="02010601030101010101" pitchFamily="65" charset="-122"/>
              </a:rPr>
              <a:t>1.3 </a:t>
            </a:r>
            <a:r>
              <a:rPr lang="zh-CN" altLang="en-US" sz="2800" noProof="1">
                <a:solidFill>
                  <a:srgbClr val="3B3BFF"/>
                </a:solidFill>
                <a:latin typeface="方正大黑简体" panose="02010601030101010101" pitchFamily="65" charset="-122"/>
                <a:ea typeface="方正大黑简体" panose="02010601030101010101" pitchFamily="65" charset="-122"/>
              </a:rPr>
              <a:t>井下压裂过程仿真与预警研究</a:t>
            </a:r>
            <a:r>
              <a:rPr lang="zh-CN" altLang="en-US" sz="2800" noProof="1">
                <a:solidFill>
                  <a:srgbClr val="FF0000"/>
                </a:solidFill>
                <a:latin typeface="方正大黑简体" panose="02010601030101010101" pitchFamily="65" charset="-122"/>
                <a:ea typeface="方正大黑简体" panose="02010601030101010101" pitchFamily="65" charset="-122"/>
              </a:rPr>
              <a:t>存在的主要问题</a:t>
            </a:r>
          </a:p>
        </p:txBody>
      </p:sp>
      <p:sp>
        <p:nvSpPr>
          <p:cNvPr id="3" name="矩形 17">
            <a:extLst>
              <a:ext uri="{FF2B5EF4-FFF2-40B4-BE49-F238E27FC236}">
                <a16:creationId xmlns:a16="http://schemas.microsoft.com/office/drawing/2014/main" id="{543E27EE-87A4-C6A5-B366-259637EDF17B}"/>
              </a:ext>
            </a:extLst>
          </p:cNvPr>
          <p:cNvSpPr>
            <a:spLocks noChangeArrowheads="1"/>
          </p:cNvSpPr>
          <p:nvPr/>
        </p:nvSpPr>
        <p:spPr bwMode="auto">
          <a:xfrm>
            <a:off x="263524" y="692696"/>
            <a:ext cx="11754957" cy="142866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ts val="600"/>
              </a:spcBef>
              <a:buClr>
                <a:srgbClr val="C00000"/>
              </a:buClr>
              <a:buFont typeface="Wingdings" panose="05000000000000000000" pitchFamily="2" charset="2"/>
              <a:buChar char="p"/>
            </a:pPr>
            <a:r>
              <a:rPr lang="zh-CN" altLang="en-US" sz="2400" b="1" dirty="0">
                <a:ea typeface="黑体" panose="02010609060101010101" pitchFamily="49" charset="-122"/>
              </a:rPr>
              <a:t>国内外研究表明，井下压裂过程</a:t>
            </a:r>
            <a:r>
              <a:rPr lang="zh-CN" altLang="en-US" sz="2400" b="1" dirty="0">
                <a:solidFill>
                  <a:srgbClr val="FF0000"/>
                </a:solidFill>
                <a:ea typeface="黑体" panose="02010609060101010101" pitchFamily="49" charset="-122"/>
              </a:rPr>
              <a:t>机制认识难</a:t>
            </a:r>
            <a:r>
              <a:rPr lang="zh-CN" altLang="en-US" sz="2400" b="1" dirty="0">
                <a:ea typeface="黑体" panose="02010609060101010101" pitchFamily="49" charset="-122"/>
              </a:rPr>
              <a:t>、</a:t>
            </a:r>
            <a:r>
              <a:rPr lang="zh-CN" altLang="en-US" sz="2400" b="1" dirty="0">
                <a:solidFill>
                  <a:srgbClr val="FF0000"/>
                </a:solidFill>
                <a:ea typeface="黑体" panose="02010609060101010101" pitchFamily="49" charset="-122"/>
              </a:rPr>
              <a:t>实时仿真难</a:t>
            </a:r>
            <a:r>
              <a:rPr lang="zh-CN" altLang="en-US" sz="2400" b="1" dirty="0">
                <a:ea typeface="黑体" panose="02010609060101010101" pitchFamily="49" charset="-122"/>
              </a:rPr>
              <a:t>、</a:t>
            </a:r>
            <a:r>
              <a:rPr lang="zh-CN" altLang="en-US" sz="2400" b="1" dirty="0">
                <a:solidFill>
                  <a:srgbClr val="FF0000"/>
                </a:solidFill>
                <a:ea typeface="黑体" panose="02010609060101010101" pitchFamily="49" charset="-122"/>
              </a:rPr>
              <a:t>预测预警难</a:t>
            </a:r>
            <a:r>
              <a:rPr lang="zh-CN" altLang="en-US" sz="2400" b="1" dirty="0">
                <a:ea typeface="黑体" panose="02010609060101010101" pitchFamily="49" charset="-122"/>
              </a:rPr>
              <a:t>。因此，揭示井下压裂（裂缝扩展</a:t>
            </a:r>
            <a:r>
              <a:rPr lang="en-US" altLang="zh-CN" sz="2400" b="1" dirty="0">
                <a:ea typeface="黑体" panose="02010609060101010101" pitchFamily="49" charset="-122"/>
              </a:rPr>
              <a:t>/</a:t>
            </a:r>
            <a:r>
              <a:rPr lang="zh-CN" altLang="en-US" sz="2400" b="1" dirty="0">
                <a:ea typeface="黑体" panose="02010609060101010101" pitchFamily="49" charset="-122"/>
              </a:rPr>
              <a:t>支撑剂运移）机理、实时模拟复杂缝内裂缝扩展及支撑剂运移、构建砂堵超前预警方法是实现井下压裂过程仿真与预警研究的关键科学问题。</a:t>
            </a:r>
            <a:endParaRPr lang="en-US" altLang="zh-CN" sz="2400" b="1" dirty="0">
              <a:ea typeface="黑体" panose="02010609060101010101" pitchFamily="49" charset="-122"/>
            </a:endParaRPr>
          </a:p>
        </p:txBody>
      </p:sp>
      <p:graphicFrame>
        <p:nvGraphicFramePr>
          <p:cNvPr id="4" name="表格 2">
            <a:extLst>
              <a:ext uri="{FF2B5EF4-FFF2-40B4-BE49-F238E27FC236}">
                <a16:creationId xmlns:a16="http://schemas.microsoft.com/office/drawing/2014/main" id="{F49DBCB8-EA5F-49A5-CAA9-38E4B22196DD}"/>
              </a:ext>
            </a:extLst>
          </p:cNvPr>
          <p:cNvGraphicFramePr>
            <a:graphicFrameLocks noGrp="1"/>
          </p:cNvGraphicFramePr>
          <p:nvPr>
            <p:extLst>
              <p:ext uri="{D42A27DB-BD31-4B8C-83A1-F6EECF244321}">
                <p14:modId xmlns:p14="http://schemas.microsoft.com/office/powerpoint/2010/main" val="3276241943"/>
              </p:ext>
            </p:extLst>
          </p:nvPr>
        </p:nvGraphicFramePr>
        <p:xfrm>
          <a:off x="263525" y="2276872"/>
          <a:ext cx="11728421" cy="4193369"/>
        </p:xfrm>
        <a:graphic>
          <a:graphicData uri="http://schemas.openxmlformats.org/drawingml/2006/table">
            <a:tbl>
              <a:tblPr/>
              <a:tblGrid>
                <a:gridCol w="2503738">
                  <a:extLst>
                    <a:ext uri="{9D8B030D-6E8A-4147-A177-3AD203B41FA5}">
                      <a16:colId xmlns:a16="http://schemas.microsoft.com/office/drawing/2014/main" val="20000"/>
                    </a:ext>
                  </a:extLst>
                </a:gridCol>
                <a:gridCol w="9224683">
                  <a:extLst>
                    <a:ext uri="{9D8B030D-6E8A-4147-A177-3AD203B41FA5}">
                      <a16:colId xmlns:a16="http://schemas.microsoft.com/office/drawing/2014/main" val="20001"/>
                    </a:ext>
                  </a:extLst>
                </a:gridCol>
              </a:tblGrid>
              <a:tr h="609913">
                <a:tc>
                  <a:txBody>
                    <a:bodyPr/>
                    <a:lstStyle>
                      <a:lvl1pPr marL="0" algn="l" defTabSz="914400" rtl="0" eaLnBrk="1" latinLnBrk="0" hangingPunct="1">
                        <a:defRPr sz="1800" kern="1200">
                          <a:solidFill>
                            <a:schemeClr val="dk1"/>
                          </a:solidFill>
                          <a:latin typeface="Arial"/>
                          <a:ea typeface="黑体"/>
                        </a:defRPr>
                      </a:lvl1pPr>
                      <a:lvl2pPr marL="457200" algn="l" defTabSz="914400" rtl="0" eaLnBrk="1" latinLnBrk="0" hangingPunct="1">
                        <a:defRPr sz="1800" kern="1200">
                          <a:solidFill>
                            <a:schemeClr val="dk1"/>
                          </a:solidFill>
                          <a:latin typeface="Arial"/>
                          <a:ea typeface="黑体"/>
                        </a:defRPr>
                      </a:lvl2pPr>
                      <a:lvl3pPr marL="914400" algn="l" defTabSz="914400" rtl="0" eaLnBrk="1" latinLnBrk="0" hangingPunct="1">
                        <a:defRPr sz="1800" kern="1200">
                          <a:solidFill>
                            <a:schemeClr val="dk1"/>
                          </a:solidFill>
                          <a:latin typeface="Arial"/>
                          <a:ea typeface="黑体"/>
                        </a:defRPr>
                      </a:lvl3pPr>
                      <a:lvl4pPr marL="1371600" algn="l" defTabSz="914400" rtl="0" eaLnBrk="1" latinLnBrk="0" hangingPunct="1">
                        <a:defRPr sz="1800" kern="1200">
                          <a:solidFill>
                            <a:schemeClr val="dk1"/>
                          </a:solidFill>
                          <a:latin typeface="Arial"/>
                          <a:ea typeface="黑体"/>
                        </a:defRPr>
                      </a:lvl4pPr>
                      <a:lvl5pPr marL="1828800" algn="l" defTabSz="914400" rtl="0" eaLnBrk="1" latinLnBrk="0" hangingPunct="1">
                        <a:defRPr sz="1800" kern="1200">
                          <a:solidFill>
                            <a:schemeClr val="dk1"/>
                          </a:solidFill>
                          <a:latin typeface="Arial"/>
                          <a:ea typeface="黑体"/>
                        </a:defRPr>
                      </a:lvl5pPr>
                      <a:lvl6pPr marL="2286000" algn="l" defTabSz="914400" rtl="0" eaLnBrk="1" latinLnBrk="0" hangingPunct="1">
                        <a:defRPr sz="1800" kern="1200">
                          <a:solidFill>
                            <a:schemeClr val="dk1"/>
                          </a:solidFill>
                          <a:latin typeface="Arial"/>
                          <a:ea typeface="黑体"/>
                        </a:defRPr>
                      </a:lvl6pPr>
                      <a:lvl7pPr marL="2743200" algn="l" defTabSz="914400" rtl="0" eaLnBrk="1" latinLnBrk="0" hangingPunct="1">
                        <a:defRPr sz="1800" kern="1200">
                          <a:solidFill>
                            <a:schemeClr val="dk1"/>
                          </a:solidFill>
                          <a:latin typeface="Arial"/>
                          <a:ea typeface="黑体"/>
                        </a:defRPr>
                      </a:lvl7pPr>
                      <a:lvl8pPr marL="3200400" algn="l" defTabSz="914400" rtl="0" eaLnBrk="1" latinLnBrk="0" hangingPunct="1">
                        <a:defRPr sz="1800" kern="1200">
                          <a:solidFill>
                            <a:schemeClr val="dk1"/>
                          </a:solidFill>
                          <a:latin typeface="Arial"/>
                          <a:ea typeface="黑体"/>
                        </a:defRPr>
                      </a:lvl8pPr>
                      <a:lvl9pPr marL="3657600" algn="l" defTabSz="914400" rtl="0" eaLnBrk="1" latinLnBrk="0" hangingPunct="1">
                        <a:defRPr sz="1800" kern="1200">
                          <a:solidFill>
                            <a:schemeClr val="dk1"/>
                          </a:solidFill>
                          <a:latin typeface="Arial"/>
                          <a:ea typeface="黑体"/>
                        </a:defRPr>
                      </a:lvl9pPr>
                    </a:lstStyle>
                    <a:p>
                      <a:pPr indent="0" algn="ctr">
                        <a:lnSpc>
                          <a:spcPct val="100000"/>
                        </a:lnSpc>
                        <a:spcAft>
                          <a:spcPts val="0"/>
                        </a:spcAft>
                      </a:pPr>
                      <a:r>
                        <a:rPr lang="zh-CN" altLang="en-US" sz="2000" b="1" kern="100" dirty="0">
                          <a:effectLst/>
                          <a:latin typeface="黑体" panose="02010609060101010101" pitchFamily="49" charset="-122"/>
                          <a:ea typeface="黑体" panose="02010609060101010101" pitchFamily="49" charset="-122"/>
                        </a:rPr>
                        <a:t>存在的主要问题</a:t>
                      </a:r>
                      <a:endParaRPr lang="zh-CN" sz="2000" b="1" kern="100" dirty="0">
                        <a:effectLst/>
                        <a:latin typeface="黑体" panose="02010609060101010101" pitchFamily="49" charset="-122"/>
                        <a:ea typeface="黑体" panose="02010609060101010101" pitchFamily="49" charset="-122"/>
                      </a:endParaRPr>
                    </a:p>
                  </a:txBody>
                  <a:tcPr marL="56209" marR="5620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lumMod val="65000"/>
                      </a:schemeClr>
                    </a:solidFill>
                  </a:tcPr>
                </a:tc>
                <a:tc>
                  <a:txBody>
                    <a:bodyPr/>
                    <a:lstStyle>
                      <a:lvl1pPr marL="0" algn="l" defTabSz="914400" rtl="0" eaLnBrk="1" latinLnBrk="0" hangingPunct="1">
                        <a:defRPr sz="1800" kern="1200">
                          <a:solidFill>
                            <a:schemeClr val="dk1"/>
                          </a:solidFill>
                          <a:latin typeface="Arial"/>
                          <a:ea typeface="黑体"/>
                        </a:defRPr>
                      </a:lvl1pPr>
                      <a:lvl2pPr marL="457200" algn="l" defTabSz="914400" rtl="0" eaLnBrk="1" latinLnBrk="0" hangingPunct="1">
                        <a:defRPr sz="1800" kern="1200">
                          <a:solidFill>
                            <a:schemeClr val="dk1"/>
                          </a:solidFill>
                          <a:latin typeface="Arial"/>
                          <a:ea typeface="黑体"/>
                        </a:defRPr>
                      </a:lvl2pPr>
                      <a:lvl3pPr marL="914400" algn="l" defTabSz="914400" rtl="0" eaLnBrk="1" latinLnBrk="0" hangingPunct="1">
                        <a:defRPr sz="1800" kern="1200">
                          <a:solidFill>
                            <a:schemeClr val="dk1"/>
                          </a:solidFill>
                          <a:latin typeface="Arial"/>
                          <a:ea typeface="黑体"/>
                        </a:defRPr>
                      </a:lvl3pPr>
                      <a:lvl4pPr marL="1371600" algn="l" defTabSz="914400" rtl="0" eaLnBrk="1" latinLnBrk="0" hangingPunct="1">
                        <a:defRPr sz="1800" kern="1200">
                          <a:solidFill>
                            <a:schemeClr val="dk1"/>
                          </a:solidFill>
                          <a:latin typeface="Arial"/>
                          <a:ea typeface="黑体"/>
                        </a:defRPr>
                      </a:lvl4pPr>
                      <a:lvl5pPr marL="1828800" algn="l" defTabSz="914400" rtl="0" eaLnBrk="1" latinLnBrk="0" hangingPunct="1">
                        <a:defRPr sz="1800" kern="1200">
                          <a:solidFill>
                            <a:schemeClr val="dk1"/>
                          </a:solidFill>
                          <a:latin typeface="Arial"/>
                          <a:ea typeface="黑体"/>
                        </a:defRPr>
                      </a:lvl5pPr>
                      <a:lvl6pPr marL="2286000" algn="l" defTabSz="914400" rtl="0" eaLnBrk="1" latinLnBrk="0" hangingPunct="1">
                        <a:defRPr sz="1800" kern="1200">
                          <a:solidFill>
                            <a:schemeClr val="dk1"/>
                          </a:solidFill>
                          <a:latin typeface="Arial"/>
                          <a:ea typeface="黑体"/>
                        </a:defRPr>
                      </a:lvl6pPr>
                      <a:lvl7pPr marL="2743200" algn="l" defTabSz="914400" rtl="0" eaLnBrk="1" latinLnBrk="0" hangingPunct="1">
                        <a:defRPr sz="1800" kern="1200">
                          <a:solidFill>
                            <a:schemeClr val="dk1"/>
                          </a:solidFill>
                          <a:latin typeface="Arial"/>
                          <a:ea typeface="黑体"/>
                        </a:defRPr>
                      </a:lvl7pPr>
                      <a:lvl8pPr marL="3200400" algn="l" defTabSz="914400" rtl="0" eaLnBrk="1" latinLnBrk="0" hangingPunct="1">
                        <a:defRPr sz="1800" kern="1200">
                          <a:solidFill>
                            <a:schemeClr val="dk1"/>
                          </a:solidFill>
                          <a:latin typeface="Arial"/>
                          <a:ea typeface="黑体"/>
                        </a:defRPr>
                      </a:lvl8pPr>
                      <a:lvl9pPr marL="3657600" algn="l" defTabSz="914400" rtl="0" eaLnBrk="1" latinLnBrk="0" hangingPunct="1">
                        <a:defRPr sz="1800" kern="1200">
                          <a:solidFill>
                            <a:schemeClr val="dk1"/>
                          </a:solidFill>
                          <a:latin typeface="Arial"/>
                          <a:ea typeface="黑体"/>
                        </a:defRPr>
                      </a:lvl9pPr>
                    </a:lstStyle>
                    <a:p>
                      <a:pPr indent="0" algn="ctr">
                        <a:lnSpc>
                          <a:spcPct val="100000"/>
                        </a:lnSpc>
                        <a:spcAft>
                          <a:spcPts val="0"/>
                        </a:spcAft>
                      </a:pPr>
                      <a:r>
                        <a:rPr lang="zh-CN" altLang="en-US" sz="2000" b="1" kern="100" dirty="0">
                          <a:effectLst/>
                          <a:latin typeface="黑体" panose="02010609060101010101" pitchFamily="49" charset="-122"/>
                          <a:ea typeface="黑体" panose="02010609060101010101" pitchFamily="49" charset="-122"/>
                        </a:rPr>
                        <a:t>研究概况</a:t>
                      </a:r>
                      <a:endParaRPr lang="zh-CN" sz="2000" b="1" kern="100" dirty="0">
                        <a:effectLst/>
                        <a:latin typeface="黑体" panose="02010609060101010101" pitchFamily="49" charset="-122"/>
                        <a:ea typeface="黑体" panose="02010609060101010101" pitchFamily="49" charset="-122"/>
                      </a:endParaRPr>
                    </a:p>
                  </a:txBody>
                  <a:tcPr marL="56209" marR="5620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solidFill>
                      <a:schemeClr val="bg1">
                        <a:lumMod val="65000"/>
                      </a:schemeClr>
                    </a:solidFill>
                  </a:tcPr>
                </a:tc>
                <a:extLst>
                  <a:ext uri="{0D108BD9-81ED-4DB2-BD59-A6C34878D82A}">
                    <a16:rowId xmlns:a16="http://schemas.microsoft.com/office/drawing/2014/main" val="10000"/>
                  </a:ext>
                </a:extLst>
              </a:tr>
              <a:tr h="1225892">
                <a:tc>
                  <a:txBody>
                    <a:bodyPr/>
                    <a:lstStyle>
                      <a:lvl1pPr marL="0" algn="l" defTabSz="914400" rtl="0" eaLnBrk="1" latinLnBrk="0" hangingPunct="1">
                        <a:defRPr sz="1800" kern="1200">
                          <a:solidFill>
                            <a:schemeClr val="dk1"/>
                          </a:solidFill>
                          <a:latin typeface="Arial"/>
                          <a:ea typeface="黑体"/>
                        </a:defRPr>
                      </a:lvl1pPr>
                      <a:lvl2pPr marL="457200" algn="l" defTabSz="914400" rtl="0" eaLnBrk="1" latinLnBrk="0" hangingPunct="1">
                        <a:defRPr sz="1800" kern="1200">
                          <a:solidFill>
                            <a:schemeClr val="dk1"/>
                          </a:solidFill>
                          <a:latin typeface="Arial"/>
                          <a:ea typeface="黑体"/>
                        </a:defRPr>
                      </a:lvl2pPr>
                      <a:lvl3pPr marL="914400" algn="l" defTabSz="914400" rtl="0" eaLnBrk="1" latinLnBrk="0" hangingPunct="1">
                        <a:defRPr sz="1800" kern="1200">
                          <a:solidFill>
                            <a:schemeClr val="dk1"/>
                          </a:solidFill>
                          <a:latin typeface="Arial"/>
                          <a:ea typeface="黑体"/>
                        </a:defRPr>
                      </a:lvl3pPr>
                      <a:lvl4pPr marL="1371600" algn="l" defTabSz="914400" rtl="0" eaLnBrk="1" latinLnBrk="0" hangingPunct="1">
                        <a:defRPr sz="1800" kern="1200">
                          <a:solidFill>
                            <a:schemeClr val="dk1"/>
                          </a:solidFill>
                          <a:latin typeface="Arial"/>
                          <a:ea typeface="黑体"/>
                        </a:defRPr>
                      </a:lvl4pPr>
                      <a:lvl5pPr marL="1828800" algn="l" defTabSz="914400" rtl="0" eaLnBrk="1" latinLnBrk="0" hangingPunct="1">
                        <a:defRPr sz="1800" kern="1200">
                          <a:solidFill>
                            <a:schemeClr val="dk1"/>
                          </a:solidFill>
                          <a:latin typeface="Arial"/>
                          <a:ea typeface="黑体"/>
                        </a:defRPr>
                      </a:lvl5pPr>
                      <a:lvl6pPr marL="2286000" algn="l" defTabSz="914400" rtl="0" eaLnBrk="1" latinLnBrk="0" hangingPunct="1">
                        <a:defRPr sz="1800" kern="1200">
                          <a:solidFill>
                            <a:schemeClr val="dk1"/>
                          </a:solidFill>
                          <a:latin typeface="Arial"/>
                          <a:ea typeface="黑体"/>
                        </a:defRPr>
                      </a:lvl6pPr>
                      <a:lvl7pPr marL="2743200" algn="l" defTabSz="914400" rtl="0" eaLnBrk="1" latinLnBrk="0" hangingPunct="1">
                        <a:defRPr sz="1800" kern="1200">
                          <a:solidFill>
                            <a:schemeClr val="dk1"/>
                          </a:solidFill>
                          <a:latin typeface="Arial"/>
                          <a:ea typeface="黑体"/>
                        </a:defRPr>
                      </a:lvl7pPr>
                      <a:lvl8pPr marL="3200400" algn="l" defTabSz="914400" rtl="0" eaLnBrk="1" latinLnBrk="0" hangingPunct="1">
                        <a:defRPr sz="1800" kern="1200">
                          <a:solidFill>
                            <a:schemeClr val="dk1"/>
                          </a:solidFill>
                          <a:latin typeface="Arial"/>
                          <a:ea typeface="黑体"/>
                        </a:defRPr>
                      </a:lvl8pPr>
                      <a:lvl9pPr marL="3657600" algn="l" defTabSz="914400" rtl="0" eaLnBrk="1" latinLnBrk="0" hangingPunct="1">
                        <a:defRPr sz="1800" kern="1200">
                          <a:solidFill>
                            <a:schemeClr val="dk1"/>
                          </a:solidFill>
                          <a:latin typeface="Arial"/>
                          <a:ea typeface="黑体"/>
                        </a:defRPr>
                      </a:lvl9pPr>
                    </a:lstStyle>
                    <a:p>
                      <a:pPr marL="0" indent="0" algn="ctr" defTabSz="914400" rtl="0" eaLnBrk="1" latinLnBrk="0" hangingPunct="1">
                        <a:lnSpc>
                          <a:spcPct val="100000"/>
                        </a:lnSpc>
                        <a:spcAft>
                          <a:spcPts val="0"/>
                        </a:spcAft>
                      </a:pPr>
                      <a:r>
                        <a:rPr lang="zh-CN" altLang="en-US" sz="1800" b="0" dirty="0">
                          <a:solidFill>
                            <a:srgbClr val="FF0000"/>
                          </a:solidFill>
                          <a:latin typeface="黑体" panose="02010609060101010101" pitchFamily="49" charset="-122"/>
                          <a:ea typeface="黑体" panose="02010609060101010101" pitchFamily="49" charset="-122"/>
                        </a:rPr>
                        <a:t>机制认识难</a:t>
                      </a:r>
                      <a:endParaRPr lang="zh-CN" sz="1800" b="0" kern="100" dirty="0">
                        <a:solidFill>
                          <a:schemeClr val="dk1"/>
                        </a:solidFill>
                        <a:effectLst/>
                        <a:latin typeface="黑体" panose="02010609060101010101" pitchFamily="49" charset="-122"/>
                        <a:ea typeface="黑体" panose="02010609060101010101" pitchFamily="49" charset="-122"/>
                        <a:cs typeface="+mn-cs"/>
                      </a:endParaRPr>
                    </a:p>
                  </a:txBody>
                  <a:tcPr marL="56209" marR="5620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914400" rtl="0" eaLnBrk="1" fontAlgn="auto" latinLnBrk="0" hangingPunct="1">
                        <a:lnSpc>
                          <a:spcPct val="125000"/>
                        </a:lnSpc>
                        <a:spcBef>
                          <a:spcPts val="0"/>
                        </a:spcBef>
                        <a:spcAft>
                          <a:spcPts val="0"/>
                        </a:spcAft>
                        <a:buClrTx/>
                        <a:buSzTx/>
                        <a:buFontTx/>
                        <a:buNone/>
                        <a:tabLst/>
                        <a:defRPr/>
                      </a:pPr>
                      <a:r>
                        <a:rPr lang="zh-CN" altLang="zh-CN" sz="1800" b="0" kern="1200" dirty="0">
                          <a:solidFill>
                            <a:schemeClr val="tx1"/>
                          </a:solidFill>
                          <a:effectLst/>
                          <a:latin typeface="黑体" panose="02010609060101010101" pitchFamily="49" charset="-122"/>
                          <a:ea typeface="黑体" panose="02010609060101010101" pitchFamily="49" charset="-122"/>
                          <a:cs typeface="+mn-cs"/>
                        </a:rPr>
                        <a:t>以往国内外研究多缺少复杂缝扩展形态量化与缝内支撑剂追踪可视化实验平台，缺乏对井下复杂缝形态演化、支撑剂运移机理和缝口压力响应机制不明的问题，无法支撑压裂过程实时模拟仿真的需求。</a:t>
                      </a:r>
                    </a:p>
                  </a:txBody>
                  <a:tcPr marL="68567" marR="68567"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0001"/>
                  </a:ext>
                </a:extLst>
              </a:tr>
              <a:tr h="1178782">
                <a:tc>
                  <a:txBody>
                    <a:bodyPr/>
                    <a:lstStyle>
                      <a:lvl1pPr marL="0" algn="l" defTabSz="914400" rtl="0" eaLnBrk="1" latinLnBrk="0" hangingPunct="1">
                        <a:defRPr sz="1800" kern="1200">
                          <a:solidFill>
                            <a:schemeClr val="dk1"/>
                          </a:solidFill>
                          <a:latin typeface="Arial"/>
                          <a:ea typeface="黑体"/>
                        </a:defRPr>
                      </a:lvl1pPr>
                      <a:lvl2pPr marL="457200" algn="l" defTabSz="914400" rtl="0" eaLnBrk="1" latinLnBrk="0" hangingPunct="1">
                        <a:defRPr sz="1800" kern="1200">
                          <a:solidFill>
                            <a:schemeClr val="dk1"/>
                          </a:solidFill>
                          <a:latin typeface="Arial"/>
                          <a:ea typeface="黑体"/>
                        </a:defRPr>
                      </a:lvl2pPr>
                      <a:lvl3pPr marL="914400" algn="l" defTabSz="914400" rtl="0" eaLnBrk="1" latinLnBrk="0" hangingPunct="1">
                        <a:defRPr sz="1800" kern="1200">
                          <a:solidFill>
                            <a:schemeClr val="dk1"/>
                          </a:solidFill>
                          <a:latin typeface="Arial"/>
                          <a:ea typeface="黑体"/>
                        </a:defRPr>
                      </a:lvl3pPr>
                      <a:lvl4pPr marL="1371600" algn="l" defTabSz="914400" rtl="0" eaLnBrk="1" latinLnBrk="0" hangingPunct="1">
                        <a:defRPr sz="1800" kern="1200">
                          <a:solidFill>
                            <a:schemeClr val="dk1"/>
                          </a:solidFill>
                          <a:latin typeface="Arial"/>
                          <a:ea typeface="黑体"/>
                        </a:defRPr>
                      </a:lvl4pPr>
                      <a:lvl5pPr marL="1828800" algn="l" defTabSz="914400" rtl="0" eaLnBrk="1" latinLnBrk="0" hangingPunct="1">
                        <a:defRPr sz="1800" kern="1200">
                          <a:solidFill>
                            <a:schemeClr val="dk1"/>
                          </a:solidFill>
                          <a:latin typeface="Arial"/>
                          <a:ea typeface="黑体"/>
                        </a:defRPr>
                      </a:lvl5pPr>
                      <a:lvl6pPr marL="2286000" algn="l" defTabSz="914400" rtl="0" eaLnBrk="1" latinLnBrk="0" hangingPunct="1">
                        <a:defRPr sz="1800" kern="1200">
                          <a:solidFill>
                            <a:schemeClr val="dk1"/>
                          </a:solidFill>
                          <a:latin typeface="Arial"/>
                          <a:ea typeface="黑体"/>
                        </a:defRPr>
                      </a:lvl6pPr>
                      <a:lvl7pPr marL="2743200" algn="l" defTabSz="914400" rtl="0" eaLnBrk="1" latinLnBrk="0" hangingPunct="1">
                        <a:defRPr sz="1800" kern="1200">
                          <a:solidFill>
                            <a:schemeClr val="dk1"/>
                          </a:solidFill>
                          <a:latin typeface="Arial"/>
                          <a:ea typeface="黑体"/>
                        </a:defRPr>
                      </a:lvl7pPr>
                      <a:lvl8pPr marL="3200400" algn="l" defTabSz="914400" rtl="0" eaLnBrk="1" latinLnBrk="0" hangingPunct="1">
                        <a:defRPr sz="1800" kern="1200">
                          <a:solidFill>
                            <a:schemeClr val="dk1"/>
                          </a:solidFill>
                          <a:latin typeface="Arial"/>
                          <a:ea typeface="黑体"/>
                        </a:defRPr>
                      </a:lvl8pPr>
                      <a:lvl9pPr marL="3657600" algn="l" defTabSz="914400" rtl="0" eaLnBrk="1" latinLnBrk="0" hangingPunct="1">
                        <a:defRPr sz="1800" kern="1200">
                          <a:solidFill>
                            <a:schemeClr val="dk1"/>
                          </a:solidFill>
                          <a:latin typeface="Arial"/>
                          <a:ea typeface="黑体"/>
                        </a:defRPr>
                      </a:lvl9pPr>
                    </a:lstStyle>
                    <a:p>
                      <a:pPr marL="0" indent="0" algn="ctr" defTabSz="914400" rtl="0" eaLnBrk="1" latinLnBrk="0" hangingPunct="1">
                        <a:lnSpc>
                          <a:spcPct val="100000"/>
                        </a:lnSpc>
                        <a:spcAft>
                          <a:spcPts val="0"/>
                        </a:spcAft>
                      </a:pPr>
                      <a:r>
                        <a:rPr lang="zh-CN" altLang="en-US" sz="1800" b="0" dirty="0">
                          <a:solidFill>
                            <a:srgbClr val="FF0000"/>
                          </a:solidFill>
                          <a:latin typeface="黑体" panose="02010609060101010101" pitchFamily="49" charset="-122"/>
                          <a:ea typeface="黑体" panose="02010609060101010101" pitchFamily="49" charset="-122"/>
                        </a:rPr>
                        <a:t>实时仿真难</a:t>
                      </a:r>
                      <a:endParaRPr lang="zh-CN" sz="1800" b="0" kern="100" dirty="0">
                        <a:solidFill>
                          <a:schemeClr val="dk1"/>
                        </a:solidFill>
                        <a:effectLst/>
                        <a:latin typeface="黑体" panose="02010609060101010101" pitchFamily="49" charset="-122"/>
                        <a:ea typeface="黑体" panose="02010609060101010101" pitchFamily="49" charset="-122"/>
                        <a:cs typeface="+mn-cs"/>
                      </a:endParaRPr>
                    </a:p>
                  </a:txBody>
                  <a:tcPr marL="56209" marR="5620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914400" rtl="0" eaLnBrk="1" fontAlgn="base" latinLnBrk="0" hangingPunct="1">
                        <a:lnSpc>
                          <a:spcPct val="120000"/>
                        </a:lnSpc>
                        <a:spcBef>
                          <a:spcPts val="600"/>
                        </a:spcBef>
                        <a:spcAft>
                          <a:spcPct val="0"/>
                        </a:spcAft>
                        <a:buClrTx/>
                        <a:buSzTx/>
                        <a:buFontTx/>
                        <a:buNone/>
                        <a:tabLst/>
                        <a:defRPr/>
                      </a:pPr>
                      <a:r>
                        <a:rPr lang="zh-CN" altLang="zh-CN" sz="1800" b="0" kern="1200" dirty="0">
                          <a:solidFill>
                            <a:schemeClr val="tx1"/>
                          </a:solidFill>
                          <a:effectLst/>
                          <a:latin typeface="黑体" panose="02010609060101010101" pitchFamily="49" charset="-122"/>
                          <a:ea typeface="黑体" panose="02010609060101010101" pitchFamily="49" charset="-122"/>
                          <a:cs typeface="+mn-cs"/>
                        </a:rPr>
                        <a:t>以往国内外压裂井下裂缝系统仿真研究多集中于机理模型，裂缝扩展模拟准而不快、支撑剂运移模拟研究匮乏，难以实现百米尺度多簇裂缝扩展与缝内支撑剂运移的实时仿真，无法支撑压裂过程井口响应的实时预测预警。</a:t>
                      </a:r>
                    </a:p>
                  </a:txBody>
                  <a:tcPr marL="68567" marR="68567"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10002"/>
                  </a:ext>
                </a:extLst>
              </a:tr>
              <a:tr h="1178782">
                <a:tc>
                  <a:txBody>
                    <a:bodyPr/>
                    <a:lstStyle/>
                    <a:p>
                      <a:pPr marL="0" indent="0" algn="ctr" defTabSz="914400" rtl="0" eaLnBrk="1" latinLnBrk="0" hangingPunct="1">
                        <a:lnSpc>
                          <a:spcPct val="100000"/>
                        </a:lnSpc>
                        <a:spcAft>
                          <a:spcPts val="0"/>
                        </a:spcAft>
                      </a:pPr>
                      <a:r>
                        <a:rPr lang="zh-CN" altLang="en-US" sz="1800" b="0" dirty="0">
                          <a:solidFill>
                            <a:srgbClr val="FF0000"/>
                          </a:solidFill>
                          <a:latin typeface="黑体" panose="02010609060101010101" pitchFamily="49" charset="-122"/>
                          <a:ea typeface="黑体" panose="02010609060101010101" pitchFamily="49" charset="-122"/>
                        </a:rPr>
                        <a:t>预测预警难</a:t>
                      </a:r>
                      <a:endParaRPr lang="zh-CN" sz="1800" b="0" kern="100" dirty="0">
                        <a:solidFill>
                          <a:schemeClr val="dk1"/>
                        </a:solidFill>
                        <a:effectLst/>
                        <a:latin typeface="黑体" panose="02010609060101010101" pitchFamily="49" charset="-122"/>
                        <a:ea typeface="黑体" panose="02010609060101010101" pitchFamily="49" charset="-122"/>
                        <a:cs typeface="+mn-cs"/>
                      </a:endParaRPr>
                    </a:p>
                  </a:txBody>
                  <a:tcPr marL="56209" marR="56209"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tc>
                  <a:txBody>
                    <a:bodyPr/>
                    <a:lstStyle/>
                    <a:p>
                      <a:pPr marL="0" marR="0" lvl="0" indent="0" algn="l" defTabSz="914400" rtl="0" eaLnBrk="1" fontAlgn="base" latinLnBrk="0" hangingPunct="1">
                        <a:lnSpc>
                          <a:spcPct val="120000"/>
                        </a:lnSpc>
                        <a:spcBef>
                          <a:spcPts val="600"/>
                        </a:spcBef>
                        <a:spcAft>
                          <a:spcPct val="0"/>
                        </a:spcAft>
                        <a:buClrTx/>
                        <a:buSzTx/>
                        <a:buFontTx/>
                        <a:buNone/>
                        <a:tabLst/>
                        <a:defRPr/>
                      </a:pPr>
                      <a:r>
                        <a:rPr lang="zh-CN" altLang="zh-CN" sz="1800" b="0" kern="1200" dirty="0">
                          <a:solidFill>
                            <a:schemeClr val="tx1"/>
                          </a:solidFill>
                          <a:effectLst/>
                          <a:latin typeface="黑体" panose="02010609060101010101" pitchFamily="49" charset="-122"/>
                          <a:ea typeface="黑体" panose="02010609060101010101" pitchFamily="49" charset="-122"/>
                          <a:cs typeface="+mn-cs"/>
                        </a:rPr>
                        <a:t>以往国内外研究多采用机理或智能单一模型预测井口压力并预警砂堵压力，忽略压裂过程井下裂缝与支撑剂运移的响应特征，难以实现井口压力的精确预测和砂堵长时预警，易出现预警系统漏报、误报导致砂堵事故发生。</a:t>
                      </a:r>
                    </a:p>
                  </a:txBody>
                  <a:tcPr marL="68567" marR="68567" marT="0" marB="0"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headEnd type="none" w="med" len="med"/>
                      <a:tailEnd type="none" w="med" len="med"/>
                    </a:lnTlToBr>
                    <a:lnBlToTr w="12700" cmpd="sng">
                      <a:noFill/>
                      <a:prstDash val="solid"/>
                      <a:headEnd type="none" w="med" len="med"/>
                      <a:tailEnd type="none" w="med" len="med"/>
                    </a:lnBlToTr>
                    <a:noFill/>
                  </a:tcPr>
                </a:tc>
                <a:extLst>
                  <a:ext uri="{0D108BD9-81ED-4DB2-BD59-A6C34878D82A}">
                    <a16:rowId xmlns:a16="http://schemas.microsoft.com/office/drawing/2014/main" val="24708786"/>
                  </a:ext>
                </a:extLst>
              </a:tr>
            </a:tbl>
          </a:graphicData>
        </a:graphic>
      </p:graphicFrame>
    </p:spTree>
    <p:extLst>
      <p:ext uri="{BB962C8B-B14F-4D97-AF65-F5344CB8AC3E}">
        <p14:creationId xmlns:p14="http://schemas.microsoft.com/office/powerpoint/2010/main" val="40128905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D1A20C65-D881-0BD6-3722-54FA0B426E9E}"/>
              </a:ext>
            </a:extLst>
          </p:cNvPr>
          <p:cNvPicPr>
            <a:picLocks noChangeAspect="1"/>
          </p:cNvPicPr>
          <p:nvPr/>
        </p:nvPicPr>
        <p:blipFill>
          <a:blip r:embed="rId2"/>
          <a:stretch>
            <a:fillRect/>
          </a:stretch>
        </p:blipFill>
        <p:spPr>
          <a:xfrm>
            <a:off x="495207" y="2661063"/>
            <a:ext cx="5130057" cy="1583489"/>
          </a:xfrm>
          <a:prstGeom prst="rect">
            <a:avLst/>
          </a:prstGeom>
        </p:spPr>
      </p:pic>
      <p:sp>
        <p:nvSpPr>
          <p:cNvPr id="6" name="文本框 5">
            <a:extLst>
              <a:ext uri="{FF2B5EF4-FFF2-40B4-BE49-F238E27FC236}">
                <a16:creationId xmlns:a16="http://schemas.microsoft.com/office/drawing/2014/main" id="{F34ABB5C-BD94-AC74-3DEA-3AE2C57CF685}"/>
              </a:ext>
            </a:extLst>
          </p:cNvPr>
          <p:cNvSpPr txBox="1">
            <a:spLocks noChangeArrowheads="1"/>
          </p:cNvSpPr>
          <p:nvPr/>
        </p:nvSpPr>
        <p:spPr bwMode="auto">
          <a:xfrm>
            <a:off x="551384" y="6155293"/>
            <a:ext cx="482453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真实岩心</a:t>
            </a:r>
            <a:r>
              <a:rPr lang="en-US" altLang="zh-CN"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-PMMA</a:t>
            </a:r>
            <a:r>
              <a:rPr lang="zh-CN" altLang="en-US"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压裂实验无法观察应力场</a:t>
            </a:r>
          </a:p>
        </p:txBody>
      </p:sp>
      <p:pic>
        <p:nvPicPr>
          <p:cNvPr id="8" name="图片 7">
            <a:extLst>
              <a:ext uri="{FF2B5EF4-FFF2-40B4-BE49-F238E27FC236}">
                <a16:creationId xmlns:a16="http://schemas.microsoft.com/office/drawing/2014/main" id="{C5F75C78-8A0E-73E4-7F88-F6A73FCA3E92}"/>
              </a:ext>
            </a:extLst>
          </p:cNvPr>
          <p:cNvPicPr>
            <a:picLocks noChangeAspect="1"/>
          </p:cNvPicPr>
          <p:nvPr/>
        </p:nvPicPr>
        <p:blipFill>
          <a:blip r:embed="rId3"/>
          <a:stretch>
            <a:fillRect/>
          </a:stretch>
        </p:blipFill>
        <p:spPr>
          <a:xfrm>
            <a:off x="520218" y="4272584"/>
            <a:ext cx="5143734" cy="1892720"/>
          </a:xfrm>
          <a:prstGeom prst="rect">
            <a:avLst/>
          </a:prstGeom>
        </p:spPr>
      </p:pic>
      <p:sp>
        <p:nvSpPr>
          <p:cNvPr id="13" name="TextBox 45">
            <a:extLst>
              <a:ext uri="{FF2B5EF4-FFF2-40B4-BE49-F238E27FC236}">
                <a16:creationId xmlns:a16="http://schemas.microsoft.com/office/drawing/2014/main" id="{EDEE3AC4-2BD0-B062-DFC2-F29B2C6B1EAD}"/>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en-US" altLang="zh-CN" sz="2800" noProof="1">
                <a:solidFill>
                  <a:srgbClr val="3B3BFF"/>
                </a:solidFill>
                <a:latin typeface="方正大黑简体" panose="02010601030101010101" pitchFamily="65" charset="-122"/>
                <a:ea typeface="方正大黑简体" panose="02010601030101010101" pitchFamily="65" charset="-122"/>
              </a:rPr>
              <a:t>1.4</a:t>
            </a:r>
            <a:r>
              <a:rPr lang="zh-CN" altLang="en-US" sz="2800" noProof="1">
                <a:solidFill>
                  <a:srgbClr val="3B3BFF"/>
                </a:solidFill>
                <a:latin typeface="方正大黑简体" panose="02010601030101010101" pitchFamily="65" charset="-122"/>
                <a:ea typeface="方正大黑简体" panose="02010601030101010101" pitchFamily="65" charset="-122"/>
              </a:rPr>
              <a:t> 难点一：井下压裂过程裂缝扩展</a:t>
            </a:r>
            <a:r>
              <a:rPr lang="en-US" altLang="zh-CN" sz="2800" noProof="1">
                <a:solidFill>
                  <a:srgbClr val="3B3BFF"/>
                </a:solidFill>
                <a:latin typeface="方正大黑简体" panose="02010601030101010101" pitchFamily="65" charset="-122"/>
                <a:ea typeface="方正大黑简体" panose="02010601030101010101" pitchFamily="65" charset="-122"/>
              </a:rPr>
              <a:t>/</a:t>
            </a:r>
            <a:r>
              <a:rPr lang="zh-CN" altLang="en-US" sz="2800" noProof="1">
                <a:solidFill>
                  <a:srgbClr val="3B3BFF"/>
                </a:solidFill>
                <a:latin typeface="方正大黑简体" panose="02010601030101010101" pitchFamily="65" charset="-122"/>
                <a:ea typeface="方正大黑简体" panose="02010601030101010101" pitchFamily="65" charset="-122"/>
              </a:rPr>
              <a:t>支撑剂运移演化机理认识难</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
        <p:nvSpPr>
          <p:cNvPr id="14" name="矩形 17">
            <a:extLst>
              <a:ext uri="{FF2B5EF4-FFF2-40B4-BE49-F238E27FC236}">
                <a16:creationId xmlns:a16="http://schemas.microsoft.com/office/drawing/2014/main" id="{12FAF34A-AEDF-A93A-36BE-F2D0B74B60F6}"/>
              </a:ext>
            </a:extLst>
          </p:cNvPr>
          <p:cNvSpPr>
            <a:spLocks noChangeArrowheads="1"/>
          </p:cNvSpPr>
          <p:nvPr/>
        </p:nvSpPr>
        <p:spPr bwMode="auto">
          <a:xfrm>
            <a:off x="263524" y="692696"/>
            <a:ext cx="11754957" cy="18919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ts val="600"/>
              </a:spcBef>
              <a:buClr>
                <a:srgbClr val="C00000"/>
              </a:buClr>
              <a:buFont typeface="Wingdings" panose="05000000000000000000" pitchFamily="2" charset="2"/>
              <a:buChar char="p"/>
            </a:pP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当前压裂室内实验主要采用真实岩心或亚克力材料，无法实时表征应力场与裂缝形态；支撑剂运移实验以光滑玻璃</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亚克力平板为主，无法实现粗糙缝内支撑剂运移的可视化。</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复杂缝扩展形态量化</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缝内支撑剂追踪可视化实验平台缺乏</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，导致复杂粗糙迂曲缝内裂缝扩展形态难以实时观察、支撑剂运移机理不清、井口响应特征不明。</a:t>
            </a:r>
          </a:p>
        </p:txBody>
      </p:sp>
      <p:sp>
        <p:nvSpPr>
          <p:cNvPr id="17" name="文本框 16">
            <a:extLst>
              <a:ext uri="{FF2B5EF4-FFF2-40B4-BE49-F238E27FC236}">
                <a16:creationId xmlns:a16="http://schemas.microsoft.com/office/drawing/2014/main" id="{0FBBFDA8-B9B0-773A-A57A-ECC41E2D6FDF}"/>
              </a:ext>
            </a:extLst>
          </p:cNvPr>
          <p:cNvSpPr txBox="1">
            <a:spLocks noChangeArrowheads="1"/>
          </p:cNvSpPr>
          <p:nvPr/>
        </p:nvSpPr>
        <p:spPr bwMode="auto">
          <a:xfrm>
            <a:off x="6404217" y="6156012"/>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可视化支撑剂运移模拟装置无法实现粗糙裂缝模拟</a:t>
            </a:r>
          </a:p>
        </p:txBody>
      </p:sp>
      <p:pic>
        <p:nvPicPr>
          <p:cNvPr id="4" name="图片 3">
            <a:extLst>
              <a:ext uri="{FF2B5EF4-FFF2-40B4-BE49-F238E27FC236}">
                <a16:creationId xmlns:a16="http://schemas.microsoft.com/office/drawing/2014/main" id="{C3A0C443-8963-8810-AF6A-B27DAAE5760B}"/>
              </a:ext>
            </a:extLst>
          </p:cNvPr>
          <p:cNvPicPr>
            <a:picLocks noChangeAspect="1"/>
          </p:cNvPicPr>
          <p:nvPr/>
        </p:nvPicPr>
        <p:blipFill rotWithShape="1">
          <a:blip r:embed="rId4"/>
          <a:srcRect b="9501"/>
          <a:stretch/>
        </p:blipFill>
        <p:spPr>
          <a:xfrm>
            <a:off x="6026243" y="2661063"/>
            <a:ext cx="5973670" cy="3494230"/>
          </a:xfrm>
          <a:prstGeom prst="rect">
            <a:avLst/>
          </a:prstGeom>
        </p:spPr>
      </p:pic>
    </p:spTree>
    <p:extLst>
      <p:ext uri="{BB962C8B-B14F-4D97-AF65-F5344CB8AC3E}">
        <p14:creationId xmlns:p14="http://schemas.microsoft.com/office/powerpoint/2010/main" val="24539488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文本框 10">
            <a:extLst>
              <a:ext uri="{FF2B5EF4-FFF2-40B4-BE49-F238E27FC236}">
                <a16:creationId xmlns:a16="http://schemas.microsoft.com/office/drawing/2014/main" id="{65FC2FCB-FA18-934A-A382-E8D22956DA73}"/>
              </a:ext>
            </a:extLst>
          </p:cNvPr>
          <p:cNvSpPr txBox="1">
            <a:spLocks noChangeArrowheads="1"/>
          </p:cNvSpPr>
          <p:nvPr/>
        </p:nvSpPr>
        <p:spPr bwMode="auto">
          <a:xfrm>
            <a:off x="192087" y="6156012"/>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模型求解计算量巨大</a:t>
            </a:r>
          </a:p>
        </p:txBody>
      </p:sp>
      <p:sp>
        <p:nvSpPr>
          <p:cNvPr id="3" name="TextBox 45">
            <a:extLst>
              <a:ext uri="{FF2B5EF4-FFF2-40B4-BE49-F238E27FC236}">
                <a16:creationId xmlns:a16="http://schemas.microsoft.com/office/drawing/2014/main" id="{41955066-CB88-C691-B053-9E8E914CD4D1}"/>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en-US" altLang="zh-CN" sz="2800" noProof="1">
                <a:solidFill>
                  <a:srgbClr val="3B3BFF"/>
                </a:solidFill>
                <a:latin typeface="方正大黑简体" panose="02010601030101010101" pitchFamily="65" charset="-122"/>
                <a:ea typeface="方正大黑简体" panose="02010601030101010101" pitchFamily="65" charset="-122"/>
              </a:rPr>
              <a:t>1.4 </a:t>
            </a:r>
            <a:r>
              <a:rPr lang="zh-CN" altLang="en-US" sz="2800" noProof="1">
                <a:solidFill>
                  <a:srgbClr val="3B3BFF"/>
                </a:solidFill>
                <a:latin typeface="方正大黑简体" panose="02010601030101010101" pitchFamily="65" charset="-122"/>
                <a:ea typeface="方正大黑简体" panose="02010601030101010101" pitchFamily="65" charset="-122"/>
              </a:rPr>
              <a:t>难点二：矿场尺度多簇裂缝内支撑剂运移的实时仿真模型缺乏</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
        <p:nvSpPr>
          <p:cNvPr id="7" name="矩形 17">
            <a:extLst>
              <a:ext uri="{FF2B5EF4-FFF2-40B4-BE49-F238E27FC236}">
                <a16:creationId xmlns:a16="http://schemas.microsoft.com/office/drawing/2014/main" id="{55BAA639-6821-F994-7D7F-95C7D0ABD746}"/>
              </a:ext>
            </a:extLst>
          </p:cNvPr>
          <p:cNvSpPr>
            <a:spLocks noChangeArrowheads="1"/>
          </p:cNvSpPr>
          <p:nvPr/>
        </p:nvSpPr>
        <p:spPr bwMode="auto">
          <a:xfrm>
            <a:off x="263525" y="692696"/>
            <a:ext cx="11754957" cy="187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spcBef>
                <a:spcPts val="600"/>
              </a:spcBef>
              <a:buClr>
                <a:srgbClr val="C00000"/>
              </a:buClr>
              <a:buFont typeface="Wingdings" panose="05000000000000000000" pitchFamily="2" charset="2"/>
              <a:buChar char="p"/>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当前裂缝内支撑剂运移数值模拟模型可以主要分为</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欧拉</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拉格朗日（</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E-L</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和</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欧拉</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欧拉（</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E-E</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）方法</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，但</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E-L</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方法运算求解速度慢、模型稳定性差、仿真耗时长，</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E-E</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方法机理过于简化，无法表征颗粒床侵蚀效应</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，缺乏多簇裂缝内支撑剂运移模型，</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无法实现矿场尺度多簇裂缝内支撑剂运移高效模拟。</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2" name="图片 1">
            <a:extLst>
              <a:ext uri="{FF2B5EF4-FFF2-40B4-BE49-F238E27FC236}">
                <a16:creationId xmlns:a16="http://schemas.microsoft.com/office/drawing/2014/main" id="{9410E895-DE30-724B-A16D-61A626D5266F}"/>
              </a:ext>
            </a:extLst>
          </p:cNvPr>
          <p:cNvPicPr>
            <a:picLocks noChangeAspect="1"/>
          </p:cNvPicPr>
          <p:nvPr/>
        </p:nvPicPr>
        <p:blipFill rotWithShape="1">
          <a:blip r:embed="rId2"/>
          <a:srcRect r="1729"/>
          <a:stretch/>
        </p:blipFill>
        <p:spPr>
          <a:xfrm>
            <a:off x="5951984" y="2492897"/>
            <a:ext cx="6066498" cy="3629314"/>
          </a:xfrm>
          <a:prstGeom prst="rect">
            <a:avLst/>
          </a:prstGeom>
        </p:spPr>
      </p:pic>
      <p:sp>
        <p:nvSpPr>
          <p:cNvPr id="5" name="文本框 4">
            <a:extLst>
              <a:ext uri="{FF2B5EF4-FFF2-40B4-BE49-F238E27FC236}">
                <a16:creationId xmlns:a16="http://schemas.microsoft.com/office/drawing/2014/main" id="{036E3FD8-AAE4-A36C-499A-17F6AD891722}"/>
              </a:ext>
            </a:extLst>
          </p:cNvPr>
          <p:cNvSpPr txBox="1">
            <a:spLocks noChangeArrowheads="1"/>
          </p:cNvSpPr>
          <p:nvPr/>
        </p:nvSpPr>
        <p:spPr bwMode="auto">
          <a:xfrm>
            <a:off x="6289724" y="6143432"/>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模型不易收敛稳定性差</a:t>
            </a:r>
          </a:p>
        </p:txBody>
      </p:sp>
      <p:pic>
        <p:nvPicPr>
          <p:cNvPr id="6" name="图片 5">
            <a:extLst>
              <a:ext uri="{FF2B5EF4-FFF2-40B4-BE49-F238E27FC236}">
                <a16:creationId xmlns:a16="http://schemas.microsoft.com/office/drawing/2014/main" id="{AA6AED2B-B45C-5C37-32FC-5A03F871B99F}"/>
              </a:ext>
            </a:extLst>
          </p:cNvPr>
          <p:cNvPicPr>
            <a:picLocks noChangeAspect="1"/>
          </p:cNvPicPr>
          <p:nvPr/>
        </p:nvPicPr>
        <p:blipFill>
          <a:blip r:embed="rId3"/>
          <a:stretch>
            <a:fillRect/>
          </a:stretch>
        </p:blipFill>
        <p:spPr>
          <a:xfrm>
            <a:off x="358575" y="2780928"/>
            <a:ext cx="5256412" cy="3384376"/>
          </a:xfrm>
          <a:prstGeom prst="rect">
            <a:avLst/>
          </a:prstGeom>
        </p:spPr>
      </p:pic>
    </p:spTree>
    <p:extLst>
      <p:ext uri="{BB962C8B-B14F-4D97-AF65-F5344CB8AC3E}">
        <p14:creationId xmlns:p14="http://schemas.microsoft.com/office/powerpoint/2010/main" val="27844642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3">
            <a:extLst>
              <a:ext uri="{FF2B5EF4-FFF2-40B4-BE49-F238E27FC236}">
                <a16:creationId xmlns:a16="http://schemas.microsoft.com/office/drawing/2014/main" id="{1B3B6985-68D3-1D19-870E-580DC02029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3580" b="2226"/>
          <a:stretch>
            <a:fillRect/>
          </a:stretch>
        </p:blipFill>
        <p:spPr bwMode="auto">
          <a:xfrm>
            <a:off x="6240015" y="2636839"/>
            <a:ext cx="5759897" cy="3384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文本框 5">
            <a:extLst>
              <a:ext uri="{FF2B5EF4-FFF2-40B4-BE49-F238E27FC236}">
                <a16:creationId xmlns:a16="http://schemas.microsoft.com/office/drawing/2014/main" id="{30F6FAAF-BC7D-01A0-2411-9116B62289F5}"/>
              </a:ext>
            </a:extLst>
          </p:cNvPr>
          <p:cNvSpPr txBox="1">
            <a:spLocks noChangeArrowheads="1"/>
          </p:cNvSpPr>
          <p:nvPr/>
        </p:nvSpPr>
        <p:spPr bwMode="auto">
          <a:xfrm>
            <a:off x="-96688" y="6156012"/>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井口压力波动大难以长时预测</a:t>
            </a:r>
          </a:p>
        </p:txBody>
      </p:sp>
      <p:sp>
        <p:nvSpPr>
          <p:cNvPr id="4" name="文本框 3">
            <a:extLst>
              <a:ext uri="{FF2B5EF4-FFF2-40B4-BE49-F238E27FC236}">
                <a16:creationId xmlns:a16="http://schemas.microsoft.com/office/drawing/2014/main" id="{556CD16B-D522-2CB7-A0BA-3F7ED0B74AA9}"/>
              </a:ext>
            </a:extLst>
          </p:cNvPr>
          <p:cNvSpPr txBox="1">
            <a:spLocks noChangeArrowheads="1"/>
          </p:cNvSpPr>
          <p:nvPr/>
        </p:nvSpPr>
        <p:spPr bwMode="auto">
          <a:xfrm>
            <a:off x="6505748" y="6156012"/>
            <a:ext cx="54229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砂堵风险需要人为干预</a:t>
            </a:r>
          </a:p>
        </p:txBody>
      </p:sp>
      <p:sp>
        <p:nvSpPr>
          <p:cNvPr id="7" name="TextBox 45">
            <a:extLst>
              <a:ext uri="{FF2B5EF4-FFF2-40B4-BE49-F238E27FC236}">
                <a16:creationId xmlns:a16="http://schemas.microsoft.com/office/drawing/2014/main" id="{F8FF5AF7-97E5-C37F-6902-5B45F30A8286}"/>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en-US" altLang="zh-CN" sz="2800" noProof="1">
                <a:solidFill>
                  <a:srgbClr val="3B3BFF"/>
                </a:solidFill>
                <a:latin typeface="方正大黑简体" panose="02010601030101010101" pitchFamily="65" charset="-122"/>
                <a:ea typeface="方正大黑简体" panose="02010601030101010101" pitchFamily="65" charset="-122"/>
              </a:rPr>
              <a:t>1.4 </a:t>
            </a:r>
            <a:r>
              <a:rPr lang="zh-CN" altLang="en-US" sz="2800" noProof="1">
                <a:solidFill>
                  <a:srgbClr val="3B3BFF"/>
                </a:solidFill>
                <a:latin typeface="方正大黑简体" panose="02010601030101010101" pitchFamily="65" charset="-122"/>
                <a:ea typeface="方正大黑简体" panose="02010601030101010101" pitchFamily="65" charset="-122"/>
              </a:rPr>
              <a:t>难点三：压裂过程井口压力长时预测与砂堵实时预警方法缺乏</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
        <p:nvSpPr>
          <p:cNvPr id="9" name="矩形 17">
            <a:extLst>
              <a:ext uri="{FF2B5EF4-FFF2-40B4-BE49-F238E27FC236}">
                <a16:creationId xmlns:a16="http://schemas.microsoft.com/office/drawing/2014/main" id="{52CB44BE-C5E2-61E5-D122-B6542FD9DC85}"/>
              </a:ext>
            </a:extLst>
          </p:cNvPr>
          <p:cNvSpPr>
            <a:spLocks noChangeArrowheads="1"/>
          </p:cNvSpPr>
          <p:nvPr/>
        </p:nvSpPr>
        <p:spPr bwMode="auto">
          <a:xfrm>
            <a:off x="263524" y="692696"/>
            <a:ext cx="11754957" cy="1875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spcBef>
                <a:spcPts val="600"/>
              </a:spcBef>
              <a:buClr>
                <a:srgbClr val="C0000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当前压裂施工过程预测预警研究中，压力预测主要基于单源井口压力数据的深度学习，砂堵预警主要依靠压力抬升值</a:t>
            </a:r>
            <a:r>
              <a:rPr lang="en-US" altLang="zh-CN" sz="2400" b="1" dirty="0">
                <a:latin typeface="黑体" panose="02010609060101010101" pitchFamily="49" charset="-122"/>
                <a:ea typeface="黑体" panose="02010609060101010101" pitchFamily="49" charset="-122"/>
              </a:rPr>
              <a:t>/</a:t>
            </a:r>
            <a:r>
              <a:rPr lang="zh-CN" altLang="en-US" sz="2400" b="1" dirty="0">
                <a:latin typeface="黑体" panose="02010609060101010101" pitchFamily="49" charset="-122"/>
                <a:ea typeface="黑体" panose="02010609060101010101" pitchFamily="49" charset="-122"/>
              </a:rPr>
              <a:t>斜率变化经验判断，由于</a:t>
            </a:r>
            <a:r>
              <a:rPr lang="zh-CN" altLang="en-US" sz="2400" b="1" dirty="0">
                <a:solidFill>
                  <a:srgbClr val="FF0000"/>
                </a:solidFill>
                <a:latin typeface="黑体" panose="02010609060101010101" pitchFamily="49" charset="-122"/>
                <a:ea typeface="黑体" panose="02010609060101010101" pitchFamily="49" charset="-122"/>
              </a:rPr>
              <a:t>井口压力波动大</a:t>
            </a:r>
            <a:r>
              <a:rPr lang="zh-CN" altLang="en-US" sz="2400" b="1" dirty="0">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干扰因素多</a:t>
            </a:r>
            <a:r>
              <a:rPr lang="zh-CN" altLang="en-US" sz="2400" b="1" dirty="0">
                <a:latin typeface="黑体" panose="02010609060101010101" pitchFamily="49" charset="-122"/>
                <a:ea typeface="黑体" panose="02010609060101010101" pitchFamily="49" charset="-122"/>
              </a:rPr>
              <a:t>、</a:t>
            </a:r>
            <a:r>
              <a:rPr lang="zh-CN" altLang="en-US" sz="2400" b="1" dirty="0">
                <a:solidFill>
                  <a:srgbClr val="FF0000"/>
                </a:solidFill>
                <a:latin typeface="黑体" panose="02010609060101010101" pitchFamily="49" charset="-122"/>
                <a:ea typeface="黑体" panose="02010609060101010101" pitchFamily="49" charset="-122"/>
              </a:rPr>
              <a:t>影响机理复杂</a:t>
            </a:r>
            <a:r>
              <a:rPr lang="zh-CN" altLang="en-US" sz="2400" b="1" dirty="0">
                <a:latin typeface="黑体" panose="02010609060101010101" pitchFamily="49" charset="-122"/>
                <a:ea typeface="黑体" panose="02010609060101010101" pitchFamily="49" charset="-122"/>
              </a:rPr>
              <a:t>，导致无法长时精准预测井口压力，无法实现砂堵风险的实时预警。</a:t>
            </a:r>
            <a:endParaRPr lang="en-US" altLang="zh-CN" sz="2400" b="1" dirty="0">
              <a:latin typeface="黑体" panose="02010609060101010101" pitchFamily="49" charset="-122"/>
              <a:ea typeface="黑体" panose="02010609060101010101" pitchFamily="49" charset="-122"/>
            </a:endParaRPr>
          </a:p>
        </p:txBody>
      </p:sp>
      <p:pic>
        <p:nvPicPr>
          <p:cNvPr id="3" name="图片 2">
            <a:extLst>
              <a:ext uri="{FF2B5EF4-FFF2-40B4-BE49-F238E27FC236}">
                <a16:creationId xmlns:a16="http://schemas.microsoft.com/office/drawing/2014/main" id="{6DBAD376-EB59-F9A6-1D17-2D34FC1038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360" y="2646251"/>
            <a:ext cx="5351064" cy="3375037"/>
          </a:xfrm>
          <a:prstGeom prst="rect">
            <a:avLst/>
          </a:prstGeom>
        </p:spPr>
      </p:pic>
    </p:spTree>
    <p:extLst>
      <p:ext uri="{BB962C8B-B14F-4D97-AF65-F5344CB8AC3E}">
        <p14:creationId xmlns:p14="http://schemas.microsoft.com/office/powerpoint/2010/main" val="3701652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000" i="0" u="none" strike="noStrike" kern="1200" cap="none" spc="0" normalizeH="0" baseline="0" noProof="0" dirty="0">
                <a:ln>
                  <a:noFill/>
                </a:ln>
                <a:solidFill>
                  <a:srgbClr val="FF0000"/>
                </a:solidFill>
                <a:effectLst/>
                <a:uLnTx/>
                <a:uFillTx/>
                <a:latin typeface="方正大黑简体" panose="02000000000000000000" pitchFamily="2" charset="-122"/>
                <a:ea typeface="方正大黑简体" panose="02000000000000000000" pitchFamily="2" charset="-122"/>
                <a:cs typeface="+mn-cs"/>
              </a:rPr>
              <a:t>汇 报 提 纲</a:t>
            </a:r>
          </a:p>
        </p:txBody>
      </p:sp>
      <p:sp>
        <p:nvSpPr>
          <p:cNvPr id="1048583" name="Text Box 6"/>
          <p:cNvSpPr txBox="1">
            <a:spLocks noChangeArrowheads="1"/>
          </p:cNvSpPr>
          <p:nvPr/>
        </p:nvSpPr>
        <p:spPr bwMode="auto">
          <a:xfrm>
            <a:off x="2675260" y="935373"/>
            <a:ext cx="7669212" cy="5476207"/>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一、研究背景</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二、攻关研究形成的技术、理论和方法</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三、主要技术指标和经济指标国内外对比</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四、成果的主要技术发明点</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五、应用情况</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六、有形化成果</a:t>
            </a:r>
            <a:endParaRPr kumimoji="0" lang="en-US" altLang="zh-CN"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lvl="0" fontAlgn="base">
              <a:lnSpc>
                <a:spcPct val="150000"/>
              </a:lnSpc>
              <a:spcBef>
                <a:spcPct val="0"/>
              </a:spcBef>
              <a:spcAft>
                <a:spcPct val="0"/>
              </a:spcAft>
              <a:buClr>
                <a:srgbClr val="FF0000"/>
              </a:buClr>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七</a:t>
            </a:r>
            <a:r>
              <a:rPr lang="zh-CN" altLang="en-US" sz="3200" b="1" dirty="0">
                <a:solidFill>
                  <a:srgbClr val="000000"/>
                </a:solidFill>
                <a:latin typeface="黑体" panose="02010609060101010101" pitchFamily="49" charset="-122"/>
                <a:ea typeface="黑体" panose="02010609060101010101" pitchFamily="49" charset="-122"/>
              </a:rPr>
              <a:t>、不足与局限性</a:t>
            </a:r>
            <a:endPar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1111550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0"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4572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（一）项目依托</a:t>
            </a:r>
          </a:p>
        </p:txBody>
      </p:sp>
      <p:sp>
        <p:nvSpPr>
          <p:cNvPr id="3" name="矩形 17">
            <a:extLst>
              <a:ext uri="{FF2B5EF4-FFF2-40B4-BE49-F238E27FC236}">
                <a16:creationId xmlns:a16="http://schemas.microsoft.com/office/drawing/2014/main" id="{3B2DADD8-07BA-F4E4-39A5-2E7EA1FC4A3E}"/>
              </a:ext>
            </a:extLst>
          </p:cNvPr>
          <p:cNvSpPr>
            <a:spLocks noChangeArrowheads="1"/>
          </p:cNvSpPr>
          <p:nvPr/>
        </p:nvSpPr>
        <p:spPr bwMode="auto">
          <a:xfrm>
            <a:off x="263525" y="632319"/>
            <a:ext cx="11614622"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66700" marR="0" lvl="0" indent="-266700" algn="l" defTabSz="914400" rtl="0" eaLnBrk="1" fontAlgn="auto" latinLnBrk="0" hangingPunct="1">
              <a:lnSpc>
                <a:spcPct val="150000"/>
              </a:lnSpc>
              <a:spcBef>
                <a:spcPts val="600"/>
              </a:spcBef>
              <a:spcAft>
                <a:spcPts val="0"/>
              </a:spcAft>
              <a:buClr>
                <a:srgbClr val="C00000"/>
              </a:buClr>
              <a:buSzTx/>
              <a:buFont typeface="Wingdings" panose="05000000000000000000" pitchFamily="2" charset="2"/>
              <a:buChar char="p"/>
              <a:tabLst/>
              <a:defRPr/>
            </a:pPr>
            <a:r>
              <a:rPr kumimoji="0" lang="zh-CN" altLang="en-US" sz="2400" b="0" i="0" u="none" strike="noStrike" kern="0" cap="none" spc="0" normalizeH="0" baseline="0" noProof="0" dirty="0">
                <a:ln>
                  <a:noFill/>
                </a:ln>
                <a:solidFill>
                  <a:prstClr val="black"/>
                </a:solidFill>
                <a:effectLst/>
                <a:uLnTx/>
                <a:uFillTx/>
                <a:latin typeface="方正大黑简体" panose="02010601030101010101" pitchFamily="2" charset="-122"/>
                <a:ea typeface="方正大黑简体" panose="02010601030101010101"/>
              </a:rPr>
              <a:t>依托</a:t>
            </a:r>
            <a:r>
              <a:rPr kumimoji="0" lang="en-US" altLang="zh-CN" sz="2400" b="0" i="0" u="none" strike="noStrike" kern="0" cap="none" spc="0" normalizeH="0" baseline="0" noProof="0" dirty="0">
                <a:ln>
                  <a:noFill/>
                </a:ln>
                <a:solidFill>
                  <a:srgbClr val="3B3BFF"/>
                </a:solidFill>
                <a:effectLst/>
                <a:uLnTx/>
                <a:uFillTx/>
                <a:latin typeface="方正大黑简体" panose="02010601030101010101" pitchFamily="2" charset="-122"/>
                <a:ea typeface="方正大黑简体" panose="02010601030101010101"/>
              </a:rPr>
              <a:t>15</a:t>
            </a:r>
            <a:r>
              <a:rPr kumimoji="0" lang="zh-CN" altLang="en-US" sz="2400" b="0" i="0" u="none" strike="noStrike" kern="0" cap="none" spc="0" normalizeH="0" baseline="0" noProof="0" dirty="0">
                <a:ln>
                  <a:noFill/>
                </a:ln>
                <a:solidFill>
                  <a:prstClr val="black"/>
                </a:solidFill>
                <a:effectLst/>
                <a:uLnTx/>
                <a:uFillTx/>
                <a:latin typeface="方正大黑简体" panose="02010601030101010101" pitchFamily="2" charset="-122"/>
                <a:ea typeface="方正大黑简体" panose="02010601030101010101"/>
              </a:rPr>
              <a:t>项</a:t>
            </a:r>
            <a:r>
              <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国家级</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a:t>
            </a:r>
            <a:r>
              <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省部级</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a:t>
            </a:r>
            <a:r>
              <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企业委托课题</a:t>
            </a:r>
            <a:r>
              <a:rPr kumimoji="0" lang="zh-CN" altLang="en-US" sz="2400" b="0" i="0" u="none" strike="noStrike" kern="0" cap="none" spc="0" normalizeH="0" baseline="0" noProof="0" dirty="0">
                <a:ln>
                  <a:noFill/>
                </a:ln>
                <a:solidFill>
                  <a:prstClr val="black"/>
                </a:solidFill>
                <a:effectLst/>
                <a:uLnTx/>
                <a:uFillTx/>
                <a:latin typeface="方正大黑简体" panose="02010601030101010101" pitchFamily="2" charset="-122"/>
                <a:ea typeface="方正大黑简体" panose="02010601030101010101"/>
              </a:rPr>
              <a:t>开展攻关，其中国家级</a:t>
            </a:r>
            <a:r>
              <a:rPr kumimoji="0" lang="en-US" altLang="zh-CN" sz="2400" b="0" i="0" u="none" strike="noStrike" kern="0" cap="none" spc="0" normalizeH="0" baseline="0" noProof="0" dirty="0">
                <a:ln>
                  <a:noFill/>
                </a:ln>
                <a:solidFill>
                  <a:srgbClr val="3B3BFF"/>
                </a:solidFill>
                <a:effectLst/>
                <a:uLnTx/>
                <a:uFillTx/>
                <a:latin typeface="方正大黑简体" panose="02010601030101010101" pitchFamily="2" charset="-122"/>
                <a:ea typeface="方正大黑简体" panose="02010601030101010101"/>
              </a:rPr>
              <a:t>10</a:t>
            </a:r>
            <a:r>
              <a:rPr kumimoji="0" lang="zh-CN" altLang="en-US" sz="2400" b="0" i="0" u="none" strike="noStrike" kern="0" cap="none" spc="0" normalizeH="0" baseline="0" noProof="0" dirty="0">
                <a:ln>
                  <a:noFill/>
                </a:ln>
                <a:solidFill>
                  <a:prstClr val="black"/>
                </a:solidFill>
                <a:effectLst/>
                <a:uLnTx/>
                <a:uFillTx/>
                <a:latin typeface="方正大黑简体" panose="02010601030101010101" pitchFamily="2" charset="-122"/>
                <a:ea typeface="方正大黑简体" panose="02010601030101010101"/>
              </a:rPr>
              <a:t>项</a:t>
            </a:r>
            <a:endPar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endParaRPr>
          </a:p>
        </p:txBody>
      </p:sp>
      <p:graphicFrame>
        <p:nvGraphicFramePr>
          <p:cNvPr id="2" name="表格 1">
            <a:extLst>
              <a:ext uri="{FF2B5EF4-FFF2-40B4-BE49-F238E27FC236}">
                <a16:creationId xmlns:a16="http://schemas.microsoft.com/office/drawing/2014/main" id="{05B8A168-B7A3-97DD-379E-B10435D49430}"/>
              </a:ext>
            </a:extLst>
          </p:cNvPr>
          <p:cNvGraphicFramePr>
            <a:graphicFrameLocks noGrp="1"/>
          </p:cNvGraphicFramePr>
          <p:nvPr>
            <p:extLst>
              <p:ext uri="{D42A27DB-BD31-4B8C-83A1-F6EECF244321}">
                <p14:modId xmlns:p14="http://schemas.microsoft.com/office/powerpoint/2010/main" val="740036899"/>
              </p:ext>
            </p:extLst>
          </p:nvPr>
        </p:nvGraphicFramePr>
        <p:xfrm>
          <a:off x="263525" y="1286595"/>
          <a:ext cx="11736389" cy="5205240"/>
        </p:xfrm>
        <a:graphic>
          <a:graphicData uri="http://schemas.openxmlformats.org/drawingml/2006/table">
            <a:tbl>
              <a:tblPr>
                <a:tableStyleId>{5940675A-B579-460E-94D1-54222C63F5DA}</a:tableStyleId>
              </a:tblPr>
              <a:tblGrid>
                <a:gridCol w="431875">
                  <a:extLst>
                    <a:ext uri="{9D8B030D-6E8A-4147-A177-3AD203B41FA5}">
                      <a16:colId xmlns:a16="http://schemas.microsoft.com/office/drawing/2014/main" val="1935182873"/>
                    </a:ext>
                  </a:extLst>
                </a:gridCol>
                <a:gridCol w="3578605">
                  <a:extLst>
                    <a:ext uri="{9D8B030D-6E8A-4147-A177-3AD203B41FA5}">
                      <a16:colId xmlns:a16="http://schemas.microsoft.com/office/drawing/2014/main" val="2264290154"/>
                    </a:ext>
                  </a:extLst>
                </a:gridCol>
                <a:gridCol w="4371095">
                  <a:extLst>
                    <a:ext uri="{9D8B030D-6E8A-4147-A177-3AD203B41FA5}">
                      <a16:colId xmlns:a16="http://schemas.microsoft.com/office/drawing/2014/main" val="2122299908"/>
                    </a:ext>
                  </a:extLst>
                </a:gridCol>
                <a:gridCol w="1267324">
                  <a:extLst>
                    <a:ext uri="{9D8B030D-6E8A-4147-A177-3AD203B41FA5}">
                      <a16:colId xmlns:a16="http://schemas.microsoft.com/office/drawing/2014/main" val="1794215036"/>
                    </a:ext>
                  </a:extLst>
                </a:gridCol>
                <a:gridCol w="1152128">
                  <a:extLst>
                    <a:ext uri="{9D8B030D-6E8A-4147-A177-3AD203B41FA5}">
                      <a16:colId xmlns:a16="http://schemas.microsoft.com/office/drawing/2014/main" val="4001639076"/>
                    </a:ext>
                  </a:extLst>
                </a:gridCol>
                <a:gridCol w="935362">
                  <a:extLst>
                    <a:ext uri="{9D8B030D-6E8A-4147-A177-3AD203B41FA5}">
                      <a16:colId xmlns:a16="http://schemas.microsoft.com/office/drawing/2014/main" val="3993590327"/>
                    </a:ext>
                  </a:extLst>
                </a:gridCol>
              </a:tblGrid>
              <a:tr h="313997">
                <a:tc>
                  <a:txBody>
                    <a:bodyPr/>
                    <a:lstStyle/>
                    <a:p>
                      <a:pPr algn="ctr" fontAlgn="ctr"/>
                      <a:r>
                        <a:rPr lang="zh-CN" altLang="en-US" sz="14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序号</a:t>
                      </a:r>
                      <a:endParaRPr lang="zh-CN" altLang="en-US" sz="14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tc>
                  <a:txBody>
                    <a:bodyPr/>
                    <a:lstStyle/>
                    <a:p>
                      <a:pPr algn="ctr" fontAlgn="ctr"/>
                      <a:r>
                        <a:rPr lang="zh-CN" altLang="en-US" sz="14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基金名称</a:t>
                      </a:r>
                      <a:endParaRPr lang="zh-CN" altLang="en-US" sz="14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tc>
                  <a:txBody>
                    <a:bodyPr/>
                    <a:lstStyle/>
                    <a:p>
                      <a:pPr algn="ctr" fontAlgn="ctr"/>
                      <a:r>
                        <a:rPr lang="zh-CN" altLang="en-US" sz="14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项目名称</a:t>
                      </a:r>
                      <a:endParaRPr lang="zh-CN" altLang="en-US" sz="14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tc>
                  <a:txBody>
                    <a:bodyPr/>
                    <a:lstStyle/>
                    <a:p>
                      <a:pPr algn="ctr" fontAlgn="ctr"/>
                      <a:r>
                        <a:rPr lang="zh-CN" altLang="en-US" sz="14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项目时间</a:t>
                      </a:r>
                      <a:endParaRPr lang="zh-CN" altLang="en-US" sz="14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tc>
                  <a:txBody>
                    <a:bodyPr/>
                    <a:lstStyle/>
                    <a:p>
                      <a:pPr algn="ctr" fontAlgn="ctr"/>
                      <a:r>
                        <a:rPr lang="zh-CN" altLang="en-US" sz="14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项目编号</a:t>
                      </a:r>
                      <a:endParaRPr lang="zh-CN" altLang="en-US" sz="14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tc>
                  <a:txBody>
                    <a:bodyPr/>
                    <a:lstStyle/>
                    <a:p>
                      <a:pPr algn="ctr" fontAlgn="ctr"/>
                      <a:r>
                        <a:rPr lang="zh-CN" altLang="en-US" sz="14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项目负责人</a:t>
                      </a:r>
                      <a:endParaRPr lang="zh-CN" altLang="en-US" sz="14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extLst>
                  <a:ext uri="{0D108BD9-81ED-4DB2-BD59-A6C34878D82A}">
                    <a16:rowId xmlns:a16="http://schemas.microsoft.com/office/drawing/2014/main" val="531686996"/>
                  </a:ext>
                </a:extLst>
              </a:tr>
              <a:tr h="388248">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1</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国家自然科学基金青年科学基金</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基于水击压力波信号的多裂缝识别方法研究</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2021.01-2023.12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52004300</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胡晓东</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843475541"/>
                  </a:ext>
                </a:extLst>
              </a:tr>
              <a:tr h="313997">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国家自然科学基金面上项目</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水击压力波</a:t>
                      </a: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光纤声波数据融合的多裂缝尺寸反演方法</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2024.01-2027.12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52374019</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胡晓东</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1572311948"/>
                  </a:ext>
                </a:extLst>
              </a:tr>
              <a:tr h="313997">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3</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油气资源与探测国家重点实验室自主研究课题</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物理</a:t>
                      </a: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数据双驱动的压裂砂堵预测预警方法研究</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2021.12-2023.12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PRP/indep-2-2105</a:t>
                      </a:r>
                      <a:endParaRPr 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胡晓东</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2430856101"/>
                  </a:ext>
                </a:extLst>
              </a:tr>
              <a:tr h="313997">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4</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横向成果转化项目：中石化华东工程华美孚泰公司</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数据驱动型压裂砂堵趋势分析及测试评价</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2022.06-2022.12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HX20220357</a:t>
                      </a:r>
                      <a:endParaRPr 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胡晓东</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1609443909"/>
                  </a:ext>
                </a:extLst>
              </a:tr>
              <a:tr h="421034">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横向成果转化项目：中石化华东工程华美孚泰公司</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页岩气水平井压后支撑剂回流规律评价及控砂新工艺研究</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2023.07-2023.12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HX20230609</a:t>
                      </a:r>
                      <a:endParaRPr 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胡晓东</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3964597802"/>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6</a:t>
                      </a: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国家自然科学基金青年科学基金</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机器学习能源预测模型的知识嵌入与知识发现</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2022.01-2024.12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62106116</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陈云天</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984610719"/>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中国博士后科学基金面上资助</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物理约束机器学习及其在油气领域的应用</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2020.07</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2020M672750</a:t>
                      </a:r>
                      <a:endParaRPr 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陈云天</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1508830434"/>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8</a:t>
                      </a:r>
                    </a:p>
                  </a:txBody>
                  <a:tcPr marL="4896" marR="4896" marT="4896" marB="0" anchor="ctr"/>
                </a:tc>
                <a:tc>
                  <a:txBody>
                    <a:bodyPr/>
                    <a:lstStyle/>
                    <a:p>
                      <a:pPr algn="ctr" fontAlgn="ctr"/>
                      <a:r>
                        <a:rPr lang="zh-CN" altLang="en-US" sz="1050" b="1"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国家自然科学基金</a:t>
                      </a:r>
                      <a:r>
                        <a:rPr lang="en-US" altLang="zh-CN" sz="1050" b="1"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050" b="1"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联合基金项目</a:t>
                      </a:r>
                      <a:r>
                        <a:rPr lang="en-US" altLang="zh-CN" sz="1050" b="1"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050" b="1"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企业创新发展联合基金</a:t>
                      </a:r>
                      <a:endParaRPr lang="zh-CN" altLang="en-US" sz="1050" b="1"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超深层强应力下力</a:t>
                      </a: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化联合作用水力裂缝缝网扩展与控制机理</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2024.01- 2027.12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U23B2084</a:t>
                      </a:r>
                      <a:endParaRPr 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周福建</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449448697"/>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9</a:t>
                      </a: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国家自然科学基金委员会面上项目</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极限射孔结合动态封孔的多缝均衡起裂与均匀扩展控制方法研究</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2022.01- 2025.12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52174045</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周福建</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670265496"/>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10</a:t>
                      </a:r>
                    </a:p>
                  </a:txBody>
                  <a:tcPr marL="4896" marR="4896" marT="4896" marB="0" anchor="ctr"/>
                </a:tc>
                <a:tc>
                  <a:txBody>
                    <a:bodyPr/>
                    <a:lstStyle/>
                    <a:p>
                      <a:pPr algn="ctr" fontAlgn="ctr"/>
                      <a:r>
                        <a:rPr lang="zh-CN" altLang="en-US" sz="1050" b="1"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国家自然科学基金杰出青年基金项目</a:t>
                      </a:r>
                      <a:endParaRPr lang="zh-CN" altLang="en-US" sz="1050" b="1"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油气井流体力学与工程</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2022.01-2026.12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52125401</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a:effectLst/>
                          <a:latin typeface="Times New Roman" panose="02020603050405020304" pitchFamily="18" charset="0"/>
                          <a:ea typeface="黑体" panose="02010609060101010101" pitchFamily="49" charset="-122"/>
                          <a:cs typeface="Times New Roman" panose="02020603050405020304" pitchFamily="18" charset="0"/>
                        </a:rPr>
                        <a:t>宋先知</a:t>
                      </a:r>
                      <a:endParaRPr lang="zh-CN" altLang="en-US" sz="1050" b="1" i="0" u="none" strike="noStrike">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647361881"/>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11</a:t>
                      </a:r>
                    </a:p>
                  </a:txBody>
                  <a:tcPr marL="4896" marR="4896" marT="4896" marB="0" anchor="ctr"/>
                </a:tc>
                <a:tc>
                  <a:txBody>
                    <a:bodyPr/>
                    <a:lstStyle/>
                    <a:p>
                      <a:pPr algn="ctr" fontAlgn="ctr"/>
                      <a:r>
                        <a:rPr lang="zh-CN" altLang="en-US" sz="1050" b="1"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国家自然科学基金优秀青年基金项目</a:t>
                      </a:r>
                      <a:endParaRPr lang="zh-CN" altLang="en-US" sz="1050" b="1"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油气井流体力学与工程</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2019.01-2021.12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51822406</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宋先知</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3558627424"/>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12</a:t>
                      </a: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国家自然科学基金青年科学基金</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深井气侵自动压井的井口回压传播及多相流动特性研究</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2023.01-2025.12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52204020</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a:effectLst/>
                          <a:latin typeface="Times New Roman" panose="02020603050405020304" pitchFamily="18" charset="0"/>
                          <a:ea typeface="黑体" panose="02010609060101010101" pitchFamily="49" charset="-122"/>
                          <a:cs typeface="Times New Roman" panose="02020603050405020304" pitchFamily="18" charset="0"/>
                        </a:rPr>
                        <a:t>祝兆鹏</a:t>
                      </a:r>
                      <a:endParaRPr lang="zh-CN" altLang="en-US" sz="1050" b="1" i="0" u="none" strike="noStrike">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777252428"/>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13</a:t>
                      </a: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国家自然科学基金青年项目</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页岩水力裂缝与层理作用机理的动态光散射实验表征及理论模型研究</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2022.01- 2024.12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52104029</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汤继周</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1426440512"/>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14</a:t>
                      </a:r>
                    </a:p>
                  </a:txBody>
                  <a:tcPr marL="4896" marR="4896" marT="4896" marB="0" anchor="ctr"/>
                </a:tc>
                <a:tc>
                  <a:txBody>
                    <a:bodyPr/>
                    <a:lstStyle/>
                    <a:p>
                      <a:pPr algn="ctr" fontAlgn="ctr"/>
                      <a:r>
                        <a:rPr lang="zh-CN" altLang="en-US" sz="1050" b="1" u="none" strike="noStrike">
                          <a:effectLst/>
                          <a:latin typeface="Times New Roman" panose="02020603050405020304" pitchFamily="18" charset="0"/>
                          <a:ea typeface="黑体" panose="02010609060101010101" pitchFamily="49" charset="-122"/>
                          <a:cs typeface="Times New Roman" panose="02020603050405020304" pitchFamily="18" charset="0"/>
                        </a:rPr>
                        <a:t>国家自然科学基金面上项目</a:t>
                      </a:r>
                      <a:endParaRPr lang="zh-CN" altLang="en-US" sz="1050" b="1" i="0" u="none" strike="noStrike">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基于机理</a:t>
                      </a: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数据融合的深井气侵地层参数反演及自动压井研究</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2024.01-2027.12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52374013</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a:effectLst/>
                          <a:latin typeface="Times New Roman" panose="02020603050405020304" pitchFamily="18" charset="0"/>
                          <a:ea typeface="黑体" panose="02010609060101010101" pitchFamily="49" charset="-122"/>
                          <a:cs typeface="Times New Roman" panose="02020603050405020304" pitchFamily="18" charset="0"/>
                        </a:rPr>
                        <a:t>许争鸣</a:t>
                      </a:r>
                      <a:endParaRPr lang="zh-CN" altLang="en-US" sz="1050" b="1" i="0" u="none" strike="noStrike">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3566765323"/>
                  </a:ext>
                </a:extLst>
              </a:tr>
              <a:tr h="313997">
                <a:tc>
                  <a:txBody>
                    <a:bodyPr/>
                    <a:lstStyle/>
                    <a:p>
                      <a:pPr algn="ctr" fontAlgn="ctr"/>
                      <a:r>
                        <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15</a:t>
                      </a: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中国地质大学（北京）“求真学人”人才计划项目</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万米深井井筒多相流动传热时序反演与动态调控</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2023 .01-2025.12</a:t>
                      </a:r>
                      <a:endParaRPr lang="en-US" altLang="zh-CN"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3-7-8-2023-04</a:t>
                      </a: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　</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05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许争鸣</a:t>
                      </a:r>
                      <a:endParaRPr lang="zh-CN" altLang="en-US" sz="105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3499401075"/>
                  </a:ext>
                </a:extLst>
              </a:tr>
            </a:tbl>
          </a:graphicData>
        </a:graphic>
      </p:graphicFrame>
    </p:spTree>
    <p:extLst>
      <p:ext uri="{BB962C8B-B14F-4D97-AF65-F5344CB8AC3E}">
        <p14:creationId xmlns:p14="http://schemas.microsoft.com/office/powerpoint/2010/main" val="40058110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45">
            <a:extLst>
              <a:ext uri="{FF2B5EF4-FFF2-40B4-BE49-F238E27FC236}">
                <a16:creationId xmlns:a16="http://schemas.microsoft.com/office/drawing/2014/main" id="{378FFB92-ACEF-A9C4-1364-9240EBC7EE62}"/>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（二）主要技术思路</a:t>
            </a:r>
          </a:p>
        </p:txBody>
      </p:sp>
      <p:sp>
        <p:nvSpPr>
          <p:cNvPr id="4" name="矩形 17">
            <a:extLst>
              <a:ext uri="{FF2B5EF4-FFF2-40B4-BE49-F238E27FC236}">
                <a16:creationId xmlns:a16="http://schemas.microsoft.com/office/drawing/2014/main" id="{BF6247BA-4413-923C-E225-F1DD44801026}"/>
              </a:ext>
            </a:extLst>
          </p:cNvPr>
          <p:cNvSpPr>
            <a:spLocks noChangeArrowheads="1"/>
          </p:cNvSpPr>
          <p:nvPr/>
        </p:nvSpPr>
        <p:spPr bwMode="auto">
          <a:xfrm>
            <a:off x="263525" y="632319"/>
            <a:ext cx="11614622"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266700" marR="0" lvl="0" indent="-266700" algn="l" defTabSz="914400" rtl="0" eaLnBrk="1" fontAlgn="auto" latinLnBrk="0" hangingPunct="1">
              <a:lnSpc>
                <a:spcPct val="150000"/>
              </a:lnSpc>
              <a:spcBef>
                <a:spcPts val="600"/>
              </a:spcBef>
              <a:spcAft>
                <a:spcPts val="0"/>
              </a:spcAft>
              <a:buClr>
                <a:srgbClr val="C00000"/>
              </a:buClr>
              <a:buSzTx/>
              <a:buFont typeface="Wingdings" panose="05000000000000000000" pitchFamily="2" charset="2"/>
              <a:buChar char="p"/>
              <a:tabLst/>
              <a:defRPr/>
            </a:pPr>
            <a:r>
              <a:rPr kumimoji="0" lang="zh-CN" altLang="en-US" sz="2400" b="0" i="0" u="none" strike="noStrike" kern="0" cap="none" spc="0" normalizeH="0" baseline="0" noProof="0" dirty="0">
                <a:ln>
                  <a:noFill/>
                </a:ln>
                <a:effectLst/>
                <a:uLnTx/>
                <a:uFillTx/>
                <a:latin typeface="方正大黑简体" panose="02010601030101010101" pitchFamily="2" charset="-122"/>
                <a:ea typeface="方正大黑简体" panose="02010601030101010101"/>
              </a:rPr>
              <a:t>从“</a:t>
            </a:r>
            <a:r>
              <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科学表征</a:t>
            </a:r>
            <a:r>
              <a:rPr kumimoji="0" lang="zh-CN" altLang="en-US" sz="2400" b="0" i="0" u="none" strike="noStrike" kern="0" cap="none" spc="0" normalizeH="0" baseline="0" noProof="0" dirty="0">
                <a:ln>
                  <a:noFill/>
                </a:ln>
                <a:effectLst/>
                <a:uLnTx/>
                <a:uFillTx/>
                <a:latin typeface="方正大黑简体" panose="02010601030101010101" pitchFamily="2" charset="-122"/>
                <a:ea typeface="方正大黑简体" panose="02010601030101010101"/>
              </a:rPr>
              <a:t>”、“</a:t>
            </a:r>
            <a:r>
              <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实时仿真</a:t>
            </a:r>
            <a:r>
              <a:rPr kumimoji="0" lang="zh-CN" altLang="en-US" sz="2400" b="0" i="0" u="none" strike="noStrike" kern="0" cap="none" spc="0" normalizeH="0" baseline="0" noProof="0" dirty="0">
                <a:ln>
                  <a:noFill/>
                </a:ln>
                <a:effectLst/>
                <a:uLnTx/>
                <a:uFillTx/>
                <a:latin typeface="方正大黑简体" panose="02010601030101010101" pitchFamily="2" charset="-122"/>
                <a:ea typeface="方正大黑简体" panose="02010601030101010101"/>
              </a:rPr>
              <a:t>”和“</a:t>
            </a:r>
            <a:r>
              <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a:rPr>
              <a:t>超前预警</a:t>
            </a:r>
            <a:r>
              <a:rPr kumimoji="0" lang="zh-CN" altLang="en-US" sz="2400" b="0" i="0" u="none" strike="noStrike" kern="0" cap="none" spc="0" normalizeH="0" baseline="0" noProof="0" dirty="0">
                <a:ln>
                  <a:noFill/>
                </a:ln>
                <a:effectLst/>
                <a:uLnTx/>
                <a:uFillTx/>
                <a:latin typeface="方正大黑简体" panose="02010601030101010101" pitchFamily="2" charset="-122"/>
                <a:ea typeface="方正大黑简体" panose="02010601030101010101"/>
              </a:rPr>
              <a:t>”三个方面实现了关键科学突破</a:t>
            </a:r>
          </a:p>
        </p:txBody>
      </p:sp>
      <p:pic>
        <p:nvPicPr>
          <p:cNvPr id="5" name="图片 4">
            <a:extLst>
              <a:ext uri="{FF2B5EF4-FFF2-40B4-BE49-F238E27FC236}">
                <a16:creationId xmlns:a16="http://schemas.microsoft.com/office/drawing/2014/main" id="{EA8A98E0-35FC-DD3E-855E-45A377F6C8B4}"/>
              </a:ext>
            </a:extLst>
          </p:cNvPr>
          <p:cNvPicPr>
            <a:picLocks noChangeAspect="1"/>
          </p:cNvPicPr>
          <p:nvPr/>
        </p:nvPicPr>
        <p:blipFill>
          <a:blip r:embed="rId2"/>
          <a:stretch>
            <a:fillRect/>
          </a:stretch>
        </p:blipFill>
        <p:spPr>
          <a:xfrm>
            <a:off x="263525" y="1340769"/>
            <a:ext cx="11736388" cy="5184576"/>
          </a:xfrm>
          <a:prstGeom prst="rect">
            <a:avLst/>
          </a:prstGeom>
        </p:spPr>
      </p:pic>
    </p:spTree>
    <p:extLst>
      <p:ext uri="{BB962C8B-B14F-4D97-AF65-F5344CB8AC3E}">
        <p14:creationId xmlns:p14="http://schemas.microsoft.com/office/powerpoint/2010/main" val="35461414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（三）攻关研究形成的技术、理论和方法</a:t>
            </a:r>
          </a:p>
        </p:txBody>
      </p:sp>
      <p:sp>
        <p:nvSpPr>
          <p:cNvPr id="5" name="矩形 4">
            <a:extLst>
              <a:ext uri="{FF2B5EF4-FFF2-40B4-BE49-F238E27FC236}">
                <a16:creationId xmlns:a16="http://schemas.microsoft.com/office/drawing/2014/main" id="{8B96BC6B-7578-9F44-D68F-745A3267D3FC}"/>
              </a:ext>
            </a:extLst>
          </p:cNvPr>
          <p:cNvSpPr/>
          <p:nvPr/>
        </p:nvSpPr>
        <p:spPr>
          <a:xfrm>
            <a:off x="1" y="764704"/>
            <a:ext cx="12191999" cy="746346"/>
          </a:xfrm>
          <a:prstGeom prst="rect">
            <a:avLst/>
          </a:prstGeom>
          <a:noFill/>
          <a:ln>
            <a:noFill/>
          </a:ln>
        </p:spPr>
        <p:txBody>
          <a:bodyPr wrap="square" lIns="68568" tIns="34284" rIns="68568" bIns="34284">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000000"/>
                </a:solidFill>
                <a:effectLst/>
                <a:uLnTx/>
                <a:uFillTx/>
                <a:latin typeface="方正大黑简体" panose="02010601030101010101" pitchFamily="2" charset="-122"/>
                <a:ea typeface="方正大黑简体" panose="02010601030101010101" pitchFamily="2" charset="-122"/>
                <a:cs typeface="+mn-cs"/>
              </a:rPr>
              <a:t>取得</a:t>
            </a:r>
            <a:r>
              <a:rPr kumimoji="0" lang="zh-CN" altLang="en-US" sz="4400" b="0" i="0" u="none" strike="noStrike" kern="120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三</a:t>
            </a:r>
            <a:r>
              <a:rPr kumimoji="0" lang="zh-CN" altLang="en-US" sz="3600" b="0" i="0" u="none" strike="noStrike" kern="1200" cap="none" spc="0" normalizeH="0" baseline="0" noProof="0" dirty="0">
                <a:ln>
                  <a:noFill/>
                </a:ln>
                <a:solidFill>
                  <a:srgbClr val="000000"/>
                </a:solidFill>
                <a:effectLst/>
                <a:uLnTx/>
                <a:uFillTx/>
                <a:latin typeface="方正大黑简体" panose="02010601030101010101" pitchFamily="2" charset="-122"/>
                <a:ea typeface="方正大黑简体" panose="02010601030101010101" pitchFamily="2" charset="-122"/>
                <a:cs typeface="+mn-cs"/>
              </a:rPr>
              <a:t>项主要成果和创新点</a:t>
            </a:r>
          </a:p>
        </p:txBody>
      </p:sp>
      <p:grpSp>
        <p:nvGrpSpPr>
          <p:cNvPr id="6" name="组合 5">
            <a:extLst>
              <a:ext uri="{FF2B5EF4-FFF2-40B4-BE49-F238E27FC236}">
                <a16:creationId xmlns:a16="http://schemas.microsoft.com/office/drawing/2014/main" id="{91DF1122-0443-F06D-DAAF-1989777A479E}"/>
              </a:ext>
            </a:extLst>
          </p:cNvPr>
          <p:cNvGrpSpPr/>
          <p:nvPr/>
        </p:nvGrpSpPr>
        <p:grpSpPr>
          <a:xfrm>
            <a:off x="119336" y="1412875"/>
            <a:ext cx="11810587" cy="5111749"/>
            <a:chOff x="654367" y="2051504"/>
            <a:chExt cx="10770869" cy="4051435"/>
          </a:xfrm>
        </p:grpSpPr>
        <p:grpSp>
          <p:nvGrpSpPr>
            <p:cNvPr id="7" name="组合 6">
              <a:extLst>
                <a:ext uri="{FF2B5EF4-FFF2-40B4-BE49-F238E27FC236}">
                  <a16:creationId xmlns:a16="http://schemas.microsoft.com/office/drawing/2014/main" id="{3C44A36C-80BC-0DC4-D81D-59AFECFC9568}"/>
                </a:ext>
              </a:extLst>
            </p:cNvPr>
            <p:cNvGrpSpPr/>
            <p:nvPr/>
          </p:nvGrpSpPr>
          <p:grpSpPr>
            <a:xfrm>
              <a:off x="654367" y="2051504"/>
              <a:ext cx="2617469" cy="974408"/>
              <a:chOff x="654367" y="2051504"/>
              <a:chExt cx="2617469" cy="974408"/>
            </a:xfrm>
          </p:grpSpPr>
          <p:cxnSp>
            <p:nvCxnSpPr>
              <p:cNvPr id="11" name="直接连接符 10">
                <a:extLst>
                  <a:ext uri="{FF2B5EF4-FFF2-40B4-BE49-F238E27FC236}">
                    <a16:creationId xmlns:a16="http://schemas.microsoft.com/office/drawing/2014/main" id="{8B35F29A-EDF4-043F-D9F9-0645D262ACEA}"/>
                  </a:ext>
                </a:extLst>
              </p:cNvPr>
              <p:cNvCxnSpPr>
                <a:cxnSpLocks/>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2" name="半闭框 11">
                <a:extLst>
                  <a:ext uri="{FF2B5EF4-FFF2-40B4-BE49-F238E27FC236}">
                    <a16:creationId xmlns:a16="http://schemas.microsoft.com/office/drawing/2014/main" id="{6840EF21-206E-8A5B-AF71-E06F018FBE6A}"/>
                  </a:ext>
                </a:extLst>
              </p:cNvPr>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a:ea typeface="微软雅黑"/>
                  <a:cs typeface="+mn-cs"/>
                </a:endParaRPr>
              </a:p>
            </p:txBody>
          </p:sp>
        </p:grpSp>
        <p:grpSp>
          <p:nvGrpSpPr>
            <p:cNvPr id="8" name="组合 7">
              <a:extLst>
                <a:ext uri="{FF2B5EF4-FFF2-40B4-BE49-F238E27FC236}">
                  <a16:creationId xmlns:a16="http://schemas.microsoft.com/office/drawing/2014/main" id="{87270732-5476-E93D-DD3A-71F809D33E86}"/>
                </a:ext>
              </a:extLst>
            </p:cNvPr>
            <p:cNvGrpSpPr/>
            <p:nvPr/>
          </p:nvGrpSpPr>
          <p:grpSpPr>
            <a:xfrm rot="10800000">
              <a:off x="8807767" y="5128531"/>
              <a:ext cx="2617469" cy="974408"/>
              <a:chOff x="654367" y="2051504"/>
              <a:chExt cx="2617469" cy="974408"/>
            </a:xfrm>
          </p:grpSpPr>
          <p:cxnSp>
            <p:nvCxnSpPr>
              <p:cNvPr id="9" name="直接连接符 8">
                <a:extLst>
                  <a:ext uri="{FF2B5EF4-FFF2-40B4-BE49-F238E27FC236}">
                    <a16:creationId xmlns:a16="http://schemas.microsoft.com/office/drawing/2014/main" id="{D1F76FFA-9CB8-2C13-DA82-986691320197}"/>
                  </a:ext>
                </a:extLst>
              </p:cNvPr>
              <p:cNvCxnSpPr>
                <a:cxnSpLocks/>
              </p:cNvCxnSpPr>
              <p:nvPr/>
            </p:nvCxnSpPr>
            <p:spPr>
              <a:xfrm>
                <a:off x="1550430" y="2138715"/>
                <a:ext cx="1721406" cy="18697"/>
              </a:xfrm>
              <a:prstGeom prst="line">
                <a:avLst/>
              </a:prstGeom>
              <a:ln w="57150">
                <a:solidFill>
                  <a:schemeClr val="tx2">
                    <a:lumMod val="25000"/>
                    <a:lumOff val="75000"/>
                  </a:schemeClr>
                </a:solidFill>
              </a:ln>
            </p:spPr>
            <p:style>
              <a:lnRef idx="1">
                <a:schemeClr val="accent1"/>
              </a:lnRef>
              <a:fillRef idx="0">
                <a:schemeClr val="accent1"/>
              </a:fillRef>
              <a:effectRef idx="0">
                <a:schemeClr val="accent1"/>
              </a:effectRef>
              <a:fontRef idx="minor">
                <a:schemeClr val="tx1"/>
              </a:fontRef>
            </p:style>
          </p:cxnSp>
          <p:sp>
            <p:nvSpPr>
              <p:cNvPr id="10" name="半闭框 9">
                <a:extLst>
                  <a:ext uri="{FF2B5EF4-FFF2-40B4-BE49-F238E27FC236}">
                    <a16:creationId xmlns:a16="http://schemas.microsoft.com/office/drawing/2014/main" id="{04AC7E4A-B892-AA35-DBA2-7831D8C4701E}"/>
                  </a:ext>
                </a:extLst>
              </p:cNvPr>
              <p:cNvSpPr/>
              <p:nvPr/>
            </p:nvSpPr>
            <p:spPr>
              <a:xfrm>
                <a:off x="654367" y="2051504"/>
                <a:ext cx="1080000" cy="974408"/>
              </a:xfrm>
              <a:prstGeom prst="halfFrame">
                <a:avLst>
                  <a:gd name="adj1" fmla="val 20833"/>
                  <a:gd name="adj2" fmla="val 18560"/>
                </a:avLst>
              </a:prstGeom>
              <a:gradFill>
                <a:gsLst>
                  <a:gs pos="0">
                    <a:schemeClr val="accent3">
                      <a:lumMod val="20000"/>
                      <a:lumOff val="80000"/>
                    </a:schemeClr>
                  </a:gs>
                  <a:gs pos="24000">
                    <a:srgbClr val="B7E9FB"/>
                  </a:gs>
                  <a:gs pos="100000">
                    <a:schemeClr val="bg1"/>
                  </a:gs>
                </a:gsLst>
                <a:lin ang="5400000" scaled="1"/>
              </a:gradFill>
              <a:ln w="28575" cap="flat" cmpd="sng" algn="ctr">
                <a:solidFill>
                  <a:srgbClr val="00B0F0">
                    <a:alpha val="38000"/>
                  </a:srgbClr>
                </a:solidFill>
                <a:prstDash val="solid"/>
                <a:round/>
                <a:headEnd type="none" w="med" len="med"/>
                <a:tailEnd type="none" w="med" len="med"/>
              </a:ln>
              <a:scene3d>
                <a:camera prst="orthographicFront">
                  <a:rot lat="0" lon="0" rev="0"/>
                </a:camera>
                <a:lightRig rig="threePt" dir="t"/>
              </a:scene3d>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FF0000"/>
                  </a:solidFill>
                  <a:effectLst/>
                  <a:uLnTx/>
                  <a:uFillTx/>
                  <a:latin typeface="Arial"/>
                  <a:ea typeface="微软雅黑"/>
                  <a:cs typeface="+mn-cs"/>
                </a:endParaRPr>
              </a:p>
            </p:txBody>
          </p:sp>
        </p:grpSp>
      </p:grpSp>
      <p:sp>
        <p:nvSpPr>
          <p:cNvPr id="13" name="矩形 12">
            <a:extLst>
              <a:ext uri="{FF2B5EF4-FFF2-40B4-BE49-F238E27FC236}">
                <a16:creationId xmlns:a16="http://schemas.microsoft.com/office/drawing/2014/main" id="{A0239976-C087-71FD-B891-1D29EF0DFADA}"/>
              </a:ext>
            </a:extLst>
          </p:cNvPr>
          <p:cNvSpPr/>
          <p:nvPr/>
        </p:nvSpPr>
        <p:spPr>
          <a:xfrm>
            <a:off x="407368" y="1653930"/>
            <a:ext cx="11238949" cy="4655390"/>
          </a:xfrm>
          <a:prstGeom prst="rect">
            <a:avLst/>
          </a:prstGeom>
          <a:noFill/>
          <a:ln w="28575" cap="flat" cmpd="sng" algn="ctr">
            <a:noFill/>
            <a:prstDash val="solid"/>
            <a:round/>
            <a:headEnd type="none" w="med" len="med"/>
            <a:tailEnd type="none" w="med" len="med"/>
          </a:ln>
          <a:scene3d>
            <a:camera prst="orthographicFront">
              <a:rot lat="0" lon="0" rev="0"/>
            </a:camera>
            <a:lightRig rig="threePt" dir="t"/>
          </a:scene3d>
        </p:spPr>
        <p:txBody>
          <a:bodyPr rtlCol="0" anchor="t"/>
          <a:lstStyle/>
          <a:p>
            <a:pPr lvl="0" algn="just">
              <a:lnSpc>
                <a:spcPct val="125000"/>
              </a:lnSpc>
              <a:spcAft>
                <a:spcPts val="1200"/>
              </a:spcAft>
              <a:defRPr/>
            </a:pPr>
            <a:r>
              <a:rPr kumimoji="0" lang="zh-CN" altLang="en-US" sz="220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rPr>
              <a:t>成果一、揭示了井下压裂过程物理机理及井口响应机制</a:t>
            </a:r>
            <a:r>
              <a:rPr kumimoji="0" lang="zh-CN" altLang="en-US" sz="2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a:t>
            </a:r>
            <a:r>
              <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创建了复杂缝径向扩展形态</a:t>
            </a:r>
            <a:r>
              <a:rPr kumimoji="0" lang="en-US" altLang="zh-CN"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a:t>
            </a:r>
            <a:r>
              <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应力光学量化与缝内支撑剂运移</a:t>
            </a:r>
            <a:r>
              <a:rPr kumimoji="0" lang="en-US" altLang="zh-CN"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a:t>
            </a:r>
            <a:r>
              <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粒子追踪测速实验方法，建立了基于井口施工曲线多级小波分解的裂缝扩展与固液耦合流动事件判别模型，揭示了井下复杂缝形态演化、支撑剂运移机理与压力响应特征。</a:t>
            </a:r>
            <a:endParaRPr kumimoji="0" lang="en-US" altLang="zh-CN"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algn="just">
              <a:lnSpc>
                <a:spcPct val="125000"/>
              </a:lnSpc>
              <a:spcAft>
                <a:spcPts val="1200"/>
              </a:spcAft>
              <a:defRPr/>
            </a:pPr>
            <a:r>
              <a:rPr lang="zh-CN" altLang="en-US" sz="2200" dirty="0">
                <a:solidFill>
                  <a:srgbClr val="FF0000"/>
                </a:solidFill>
                <a:latin typeface="方正大黑简体" panose="03000509000000000000" pitchFamily="65" charset="-122"/>
                <a:ea typeface="方正大黑简体" panose="03000509000000000000" pitchFamily="65" charset="-122"/>
              </a:rPr>
              <a:t>成果二、构建了物理增强型井下压裂实时仿真智能模型</a:t>
            </a:r>
            <a:r>
              <a:rPr lang="zh-CN" altLang="en-US" sz="2200" b="1" dirty="0">
                <a:solidFill>
                  <a:srgbClr val="000000"/>
                </a:solidFill>
                <a:latin typeface="黑体" panose="02010609060101010101" pitchFamily="49" charset="-122"/>
                <a:ea typeface="黑体" panose="02010609060101010101" pitchFamily="49" charset="-122"/>
              </a:rPr>
              <a:t>：</a:t>
            </a:r>
            <a:r>
              <a:rPr lang="zh-CN" altLang="en-US" sz="2000" b="1" dirty="0">
                <a:solidFill>
                  <a:srgbClr val="000000"/>
                </a:solidFill>
                <a:latin typeface="黑体" panose="02010609060101010101" pitchFamily="49" charset="-122"/>
                <a:ea typeface="黑体" panose="02010609060101010101" pitchFamily="49" charset="-122"/>
              </a:rPr>
              <a:t>首创了偏微分方程导数项嵌入与经验公式主控系数约束的神经网络物理增强理论，搭建了分支缝口支撑剂浓度</a:t>
            </a:r>
            <a:r>
              <a:rPr lang="en-US" altLang="zh-CN" sz="2000" b="1" dirty="0">
                <a:solidFill>
                  <a:srgbClr val="000000"/>
                </a:solidFill>
                <a:latin typeface="黑体" panose="02010609060101010101" pitchFamily="49" charset="-122"/>
                <a:ea typeface="黑体" panose="02010609060101010101" pitchFamily="49" charset="-122"/>
              </a:rPr>
              <a:t>ANN</a:t>
            </a:r>
            <a:r>
              <a:rPr lang="zh-CN" altLang="en-US" sz="2000" b="1" dirty="0">
                <a:solidFill>
                  <a:srgbClr val="000000"/>
                </a:solidFill>
                <a:latin typeface="黑体" panose="02010609060101010101" pitchFamily="49" charset="-122"/>
                <a:ea typeface="黑体" panose="02010609060101010101" pitchFamily="49" charset="-122"/>
              </a:rPr>
              <a:t>智能预测模型，构建了缝内泊肃叶方程</a:t>
            </a:r>
            <a:r>
              <a:rPr lang="en-US" altLang="zh-CN" sz="2000" b="1" dirty="0">
                <a:solidFill>
                  <a:srgbClr val="000000"/>
                </a:solidFill>
                <a:latin typeface="黑体" panose="02010609060101010101" pitchFamily="49" charset="-122"/>
                <a:ea typeface="黑体" panose="02010609060101010101" pitchFamily="49" charset="-122"/>
              </a:rPr>
              <a:t>-</a:t>
            </a:r>
            <a:r>
              <a:rPr lang="zh-CN" altLang="en-US" sz="2000" b="1" dirty="0">
                <a:solidFill>
                  <a:srgbClr val="000000"/>
                </a:solidFill>
                <a:latin typeface="黑体" panose="02010609060101010101" pitchFamily="49" charset="-122"/>
                <a:ea typeface="黑体" panose="02010609060101010101" pitchFamily="49" charset="-122"/>
              </a:rPr>
              <a:t>浓度扩散方程耦合的矿场高速支撑剂运移模型，实现了复杂缝内裂缝扩展及支撑剂运移实时仿真。</a:t>
            </a:r>
            <a:endParaRPr lang="en-US" altLang="zh-CN" sz="2000" b="1" dirty="0">
              <a:solidFill>
                <a:srgbClr val="000000"/>
              </a:solidFill>
              <a:latin typeface="黑体" panose="02010609060101010101" pitchFamily="49" charset="-122"/>
              <a:ea typeface="黑体" panose="02010609060101010101" pitchFamily="49" charset="-122"/>
            </a:endParaRPr>
          </a:p>
          <a:p>
            <a:pPr lvl="0" algn="just">
              <a:lnSpc>
                <a:spcPct val="125000"/>
              </a:lnSpc>
              <a:spcAft>
                <a:spcPts val="1200"/>
              </a:spcAft>
              <a:defRPr/>
            </a:pPr>
            <a:r>
              <a:rPr lang="zh-CN" altLang="en-US" sz="2200" dirty="0">
                <a:solidFill>
                  <a:srgbClr val="FF0000"/>
                </a:solidFill>
                <a:latin typeface="方正大黑简体" panose="03000509000000000000" pitchFamily="65" charset="-122"/>
                <a:ea typeface="方正大黑简体" panose="03000509000000000000" pitchFamily="65" charset="-122"/>
              </a:rPr>
              <a:t>成果三、构建了压裂压力超前预测及砂堵实时预警理论方法</a:t>
            </a:r>
            <a:r>
              <a:rPr lang="zh-CN" altLang="en-US" sz="2200" b="1" dirty="0">
                <a:solidFill>
                  <a:srgbClr val="000000"/>
                </a:solidFill>
                <a:latin typeface="黑体" panose="02010609060101010101" pitchFamily="49" charset="-122"/>
                <a:ea typeface="黑体" panose="02010609060101010101" pitchFamily="49" charset="-122"/>
              </a:rPr>
              <a:t>：</a:t>
            </a:r>
            <a:r>
              <a:rPr lang="zh-CN" altLang="en-US" sz="2000" b="1" dirty="0">
                <a:solidFill>
                  <a:srgbClr val="000000"/>
                </a:solidFill>
                <a:latin typeface="黑体" panose="02010609060101010101" pitchFamily="49" charset="-122"/>
                <a:ea typeface="黑体" panose="02010609060101010101" pitchFamily="49" charset="-122"/>
              </a:rPr>
              <a:t>构建了含支撑剂平衡高度输入约束的</a:t>
            </a:r>
            <a:r>
              <a:rPr lang="en-US" altLang="zh-CN" sz="2000" b="1" dirty="0">
                <a:solidFill>
                  <a:srgbClr val="000000"/>
                </a:solidFill>
                <a:latin typeface="黑体" panose="02010609060101010101" pitchFamily="49" charset="-122"/>
                <a:ea typeface="黑体" panose="02010609060101010101" pitchFamily="49" charset="-122"/>
              </a:rPr>
              <a:t>LSTM</a:t>
            </a:r>
            <a:r>
              <a:rPr lang="zh-CN" altLang="en-US" sz="2000" b="1" dirty="0">
                <a:solidFill>
                  <a:srgbClr val="000000"/>
                </a:solidFill>
                <a:latin typeface="黑体" panose="02010609060101010101" pitchFamily="49" charset="-122"/>
                <a:ea typeface="黑体" panose="02010609060101010101" pitchFamily="49" charset="-122"/>
              </a:rPr>
              <a:t>神经网络模型，形成基于小波高低频信号分解重构的井口压力综合预测模型，搭建了融合泵注特征聚类分段与压力斜率动态拟合的滑窗</a:t>
            </a:r>
            <a:r>
              <a:rPr lang="en-US" altLang="zh-CN" sz="2000" b="1" dirty="0">
                <a:solidFill>
                  <a:srgbClr val="000000"/>
                </a:solidFill>
                <a:latin typeface="黑体" panose="02010609060101010101" pitchFamily="49" charset="-122"/>
                <a:ea typeface="黑体" panose="02010609060101010101" pitchFamily="49" charset="-122"/>
              </a:rPr>
              <a:t>MLP</a:t>
            </a:r>
            <a:r>
              <a:rPr lang="zh-CN" altLang="en-US" sz="2000" b="1" dirty="0">
                <a:solidFill>
                  <a:srgbClr val="000000"/>
                </a:solidFill>
                <a:latin typeface="黑体" panose="02010609060101010101" pitchFamily="49" charset="-122"/>
                <a:ea typeface="黑体" panose="02010609060101010101" pitchFamily="49" charset="-122"/>
              </a:rPr>
              <a:t>智能砂堵预警模型，实现了井口压力的精准长时预测及砂堵超前预警。</a:t>
            </a:r>
          </a:p>
        </p:txBody>
      </p:sp>
    </p:spTree>
    <p:extLst>
      <p:ext uri="{BB962C8B-B14F-4D97-AF65-F5344CB8AC3E}">
        <p14:creationId xmlns:p14="http://schemas.microsoft.com/office/powerpoint/2010/main" val="846944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00C933-487F-9222-668A-706E5992205F}"/>
              </a:ext>
            </a:extLst>
          </p:cNvPr>
          <p:cNvSpPr/>
          <p:nvPr/>
        </p:nvSpPr>
        <p:spPr>
          <a:xfrm>
            <a:off x="695325" y="2019710"/>
            <a:ext cx="10801350" cy="2921458"/>
          </a:xfrm>
          <a:prstGeom prst="rect">
            <a:avLst/>
          </a:prstGeom>
          <a:solidFill>
            <a:schemeClr val="bg1"/>
          </a:solidFill>
          <a:ln w="2857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rot lat="0" lon="0" rev="0"/>
            </a:camera>
            <a:lightRig rig="threePt" dir="t"/>
          </a:scene3d>
        </p:spPr>
        <p:txBody>
          <a:bodyPr vert="horz" rtlCol="0" anchor="ctr"/>
          <a:lstStyle/>
          <a:p>
            <a:pPr lvl="0" indent="720073" defTabSz="914377">
              <a:lnSpc>
                <a:spcPct val="150000"/>
              </a:lnSpc>
              <a:defRPr/>
            </a:pPr>
            <a:r>
              <a:rPr lang="zh-CN" altLang="en-US" sz="2800" b="1" dirty="0">
                <a:solidFill>
                  <a:prstClr val="black"/>
                </a:solidFill>
                <a:latin typeface="黑体" panose="02010609060101010101" pitchFamily="49" charset="-122"/>
                <a:ea typeface="黑体" panose="02010609060101010101" pitchFamily="49" charset="-122"/>
              </a:rPr>
              <a:t>创建了复杂缝径向扩展形态</a:t>
            </a:r>
            <a:r>
              <a:rPr lang="en-US" altLang="zh-CN" sz="2800" b="1" dirty="0">
                <a:solidFill>
                  <a:prstClr val="black"/>
                </a:solidFill>
                <a:latin typeface="黑体" panose="02010609060101010101" pitchFamily="49" charset="-122"/>
                <a:ea typeface="黑体" panose="02010609060101010101" pitchFamily="49" charset="-122"/>
              </a:rPr>
              <a:t>-</a:t>
            </a:r>
            <a:r>
              <a:rPr lang="zh-CN" altLang="en-US" sz="2800" b="1" dirty="0">
                <a:solidFill>
                  <a:prstClr val="black"/>
                </a:solidFill>
                <a:latin typeface="黑体" panose="02010609060101010101" pitchFamily="49" charset="-122"/>
                <a:ea typeface="黑体" panose="02010609060101010101" pitchFamily="49" charset="-122"/>
              </a:rPr>
              <a:t>应力光学量化与缝内支撑剂运移</a:t>
            </a:r>
            <a:r>
              <a:rPr lang="en-US" altLang="zh-CN" sz="2800" b="1" dirty="0">
                <a:solidFill>
                  <a:prstClr val="black"/>
                </a:solidFill>
                <a:latin typeface="黑体" panose="02010609060101010101" pitchFamily="49" charset="-122"/>
                <a:ea typeface="黑体" panose="02010609060101010101" pitchFamily="49" charset="-122"/>
              </a:rPr>
              <a:t>-</a:t>
            </a:r>
            <a:r>
              <a:rPr lang="zh-CN" altLang="en-US" sz="2800" b="1" dirty="0">
                <a:solidFill>
                  <a:prstClr val="black"/>
                </a:solidFill>
                <a:latin typeface="黑体" panose="02010609060101010101" pitchFamily="49" charset="-122"/>
                <a:ea typeface="黑体" panose="02010609060101010101" pitchFamily="49" charset="-122"/>
              </a:rPr>
              <a:t>粒子追踪测速实验方法，建立了基于井口施工曲线多级小波分解的裂缝扩展与固液耦合流动事件判别模型，揭示了井下复杂缝形态演化、支撑剂运移机理与压力响应特征。</a:t>
            </a:r>
          </a:p>
        </p:txBody>
      </p:sp>
      <p:sp>
        <p:nvSpPr>
          <p:cNvPr id="5" name="矩形 4">
            <a:extLst>
              <a:ext uri="{FF2B5EF4-FFF2-40B4-BE49-F238E27FC236}">
                <a16:creationId xmlns:a16="http://schemas.microsoft.com/office/drawing/2014/main" id="{890916D9-24CF-FED4-246D-CE5C23775DBB}"/>
              </a:ext>
            </a:extLst>
          </p:cNvPr>
          <p:cNvSpPr/>
          <p:nvPr/>
        </p:nvSpPr>
        <p:spPr>
          <a:xfrm>
            <a:off x="-14318" y="1005565"/>
            <a:ext cx="12191999" cy="623235"/>
          </a:xfrm>
          <a:prstGeom prst="rect">
            <a:avLst/>
          </a:prstGeom>
          <a:noFill/>
          <a:ln>
            <a:noFill/>
          </a:ln>
        </p:spPr>
        <p:txBody>
          <a:bodyPr wrap="square" lIns="68568" tIns="34284" rIns="68568" bIns="34284">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成果认识一</a:t>
            </a:r>
          </a:p>
        </p:txBody>
      </p:sp>
      <p:sp>
        <p:nvSpPr>
          <p:cNvPr id="19" name="TextBox 45">
            <a:extLst>
              <a:ext uri="{FF2B5EF4-FFF2-40B4-BE49-F238E27FC236}">
                <a16:creationId xmlns:a16="http://schemas.microsoft.com/office/drawing/2014/main" id="{00D4AA35-59C6-DF1E-CEAE-02FBAC50991F}"/>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（三）攻关研究形成的技术、理论和方法</a:t>
            </a:r>
          </a:p>
        </p:txBody>
      </p:sp>
    </p:spTree>
    <p:extLst>
      <p:ext uri="{BB962C8B-B14F-4D97-AF65-F5344CB8AC3E}">
        <p14:creationId xmlns:p14="http://schemas.microsoft.com/office/powerpoint/2010/main" val="325271443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图片 14">
            <a:extLst>
              <a:ext uri="{FF2B5EF4-FFF2-40B4-BE49-F238E27FC236}">
                <a16:creationId xmlns:a16="http://schemas.microsoft.com/office/drawing/2014/main" id="{1FCCBE3F-EEEE-4658-877E-0AF1BB107D99}"/>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461499" y="3031389"/>
            <a:ext cx="2213733" cy="1393720"/>
          </a:xfrm>
          <a:prstGeom prst="rect">
            <a:avLst/>
          </a:prstGeom>
          <a:noFill/>
          <a:ln>
            <a:noFill/>
          </a:ln>
        </p:spPr>
      </p:pic>
      <p:pic>
        <p:nvPicPr>
          <p:cNvPr id="20" name="图片 19">
            <a:extLst>
              <a:ext uri="{FF2B5EF4-FFF2-40B4-BE49-F238E27FC236}">
                <a16:creationId xmlns:a16="http://schemas.microsoft.com/office/drawing/2014/main" id="{1BD6B6A0-117E-4A54-9E37-44192B880E9B}"/>
              </a:ext>
            </a:extLst>
          </p:cNvPr>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853900" y="3056466"/>
            <a:ext cx="1744536" cy="1308291"/>
          </a:xfrm>
          <a:prstGeom prst="rect">
            <a:avLst/>
          </a:prstGeom>
          <a:noFill/>
        </p:spPr>
      </p:pic>
      <p:sp>
        <p:nvSpPr>
          <p:cNvPr id="39" name="矩形 38">
            <a:extLst>
              <a:ext uri="{FF2B5EF4-FFF2-40B4-BE49-F238E27FC236}">
                <a16:creationId xmlns:a16="http://schemas.microsoft.com/office/drawing/2014/main" id="{E1DC7C66-FE39-45E0-BCBC-98DCFFA27525}"/>
              </a:ext>
            </a:extLst>
          </p:cNvPr>
          <p:cNvSpPr/>
          <p:nvPr/>
        </p:nvSpPr>
        <p:spPr>
          <a:xfrm>
            <a:off x="434042" y="2915257"/>
            <a:ext cx="4305654" cy="1643841"/>
          </a:xfrm>
          <a:prstGeom prst="rect">
            <a:avLst/>
          </a:prstGeom>
          <a:noFill/>
          <a:ln w="3810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48606" name="TextBox 7"/>
          <p:cNvSpPr txBox="1"/>
          <p:nvPr/>
        </p:nvSpPr>
        <p:spPr bwMode="auto">
          <a:xfrm>
            <a:off x="263525" y="773307"/>
            <a:ext cx="11614622"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3000509000000000000" pitchFamily="65" charset="-122"/>
                <a:ea typeface="方正大黑简体" panose="03000509000000000000" pitchFamily="65" charset="-122"/>
              </a:rPr>
              <a:t>1</a:t>
            </a:r>
            <a:r>
              <a:rPr lang="zh-CN" altLang="en-US" sz="2400" kern="0" dirty="0">
                <a:solidFill>
                  <a:srgbClr val="FF0000"/>
                </a:solidFill>
                <a:latin typeface="方正大黑简体" panose="03000509000000000000" pitchFamily="65" charset="-122"/>
                <a:ea typeface="方正大黑简体" panose="03000509000000000000" pitchFamily="65" charset="-122"/>
              </a:rPr>
              <a:t>、基于光学非接触测量原理，设计搭建</a:t>
            </a:r>
            <a:r>
              <a:rPr lang="zh-CN" altLang="en-US" sz="2400" dirty="0">
                <a:solidFill>
                  <a:srgbClr val="FF0000"/>
                </a:solidFill>
                <a:latin typeface="方正大黑简体" panose="03000509000000000000" pitchFamily="65" charset="-122"/>
                <a:ea typeface="方正大黑简体" panose="03000509000000000000" pitchFamily="65" charset="-122"/>
              </a:rPr>
              <a:t>了裂缝扩展形态</a:t>
            </a:r>
            <a:r>
              <a:rPr lang="en-US" altLang="zh-CN" sz="2400" dirty="0">
                <a:solidFill>
                  <a:srgbClr val="FF0000"/>
                </a:solidFill>
                <a:latin typeface="方正大黑简体" panose="03000509000000000000" pitchFamily="65" charset="-122"/>
                <a:ea typeface="方正大黑简体" panose="03000509000000000000" pitchFamily="65" charset="-122"/>
              </a:rPr>
              <a:t>-</a:t>
            </a:r>
            <a:r>
              <a:rPr lang="zh-CN" altLang="en-US" sz="2400" dirty="0">
                <a:solidFill>
                  <a:srgbClr val="FF0000"/>
                </a:solidFill>
                <a:latin typeface="方正大黑简体" panose="03000509000000000000" pitchFamily="65" charset="-122"/>
                <a:ea typeface="方正大黑简体" panose="03000509000000000000" pitchFamily="65" charset="-122"/>
              </a:rPr>
              <a:t>应力可视化实验平台</a:t>
            </a:r>
            <a:endParaRPr lang="zh-CN" altLang="en-US" sz="2400" kern="0" dirty="0">
              <a:solidFill>
                <a:srgbClr val="FF0000"/>
              </a:solidFill>
              <a:latin typeface="方正大黑简体" panose="03000509000000000000" pitchFamily="65" charset="-122"/>
              <a:ea typeface="方正大黑简体" panose="03000509000000000000" pitchFamily="65" charset="-122"/>
            </a:endParaRPr>
          </a:p>
        </p:txBody>
      </p:sp>
      <p:sp>
        <p:nvSpPr>
          <p:cNvPr id="56" name="Text Box 7"/>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黑体" panose="02010609060101010101" charset="-122"/>
                <a:ea typeface="黑体" panose="02010609060101010101" charset="-122"/>
              </a:rPr>
              <a:t>设计搭建了裂缝扩展</a:t>
            </a:r>
            <a:r>
              <a:rPr lang="zh-CN" altLang="en-US" sz="2000" b="1" dirty="0">
                <a:solidFill>
                  <a:srgbClr val="FF0000"/>
                </a:solidFill>
                <a:latin typeface="黑体" panose="02010609060101010101" charset="-122"/>
                <a:ea typeface="黑体" panose="02010609060101010101" charset="-122"/>
              </a:rPr>
              <a:t>形态</a:t>
            </a:r>
            <a:r>
              <a:rPr lang="en-US" altLang="zh-CN" sz="2000" b="1" dirty="0">
                <a:solidFill>
                  <a:srgbClr val="FF0000"/>
                </a:solidFill>
                <a:latin typeface="黑体" panose="02010609060101010101" charset="-122"/>
                <a:ea typeface="黑体" panose="02010609060101010101" charset="-122"/>
              </a:rPr>
              <a:t>-</a:t>
            </a:r>
            <a:r>
              <a:rPr lang="zh-CN" altLang="en-US" sz="2000" b="1" dirty="0">
                <a:solidFill>
                  <a:srgbClr val="FF0000"/>
                </a:solidFill>
                <a:latin typeface="黑体" panose="02010609060101010101" charset="-122"/>
                <a:ea typeface="黑体" panose="02010609060101010101" charset="-122"/>
              </a:rPr>
              <a:t>应力</a:t>
            </a:r>
            <a:r>
              <a:rPr lang="zh-CN" altLang="en-US" sz="2000" b="1" dirty="0">
                <a:solidFill>
                  <a:srgbClr val="000000"/>
                </a:solidFill>
                <a:latin typeface="黑体" panose="02010609060101010101" charset="-122"/>
                <a:ea typeface="黑体" panose="02010609060101010101" charset="-122"/>
              </a:rPr>
              <a:t>可视化实验平台，使用透明明胶材料对裂缝扩展</a:t>
            </a:r>
            <a:r>
              <a:rPr lang="zh-CN" altLang="en-US" sz="2000" b="1" dirty="0">
                <a:solidFill>
                  <a:srgbClr val="FF0000"/>
                </a:solidFill>
                <a:latin typeface="黑体" panose="02010609060101010101" charset="-122"/>
                <a:ea typeface="黑体" panose="02010609060101010101" charset="-122"/>
              </a:rPr>
              <a:t>全过程</a:t>
            </a:r>
            <a:r>
              <a:rPr lang="zh-CN" altLang="en-US" sz="2000" b="1" dirty="0">
                <a:solidFill>
                  <a:srgbClr val="000000"/>
                </a:solidFill>
                <a:latin typeface="黑体" panose="02010609060101010101" charset="-122"/>
                <a:ea typeface="黑体" panose="02010609060101010101" charset="-122"/>
              </a:rPr>
              <a:t>形态与应力进行可视化观察。基于实验平台设置探究了</a:t>
            </a:r>
            <a:r>
              <a:rPr lang="zh-CN" altLang="en-US" sz="2000" b="1" dirty="0">
                <a:solidFill>
                  <a:srgbClr val="FF0000"/>
                </a:solidFill>
                <a:latin typeface="黑体" panose="02010609060101010101" charset="-122"/>
                <a:ea typeface="黑体" panose="02010609060101010101" charset="-122"/>
              </a:rPr>
              <a:t>天然裂缝影响</a:t>
            </a:r>
            <a:r>
              <a:rPr lang="zh-CN" altLang="en-US" sz="2000" b="1" dirty="0">
                <a:solidFill>
                  <a:srgbClr val="000000"/>
                </a:solidFill>
                <a:latin typeface="黑体" panose="02010609060101010101" charset="-122"/>
                <a:ea typeface="黑体" panose="02010609060101010101" charset="-122"/>
              </a:rPr>
              <a:t>与</a:t>
            </a:r>
            <a:r>
              <a:rPr lang="zh-CN" altLang="en-US" sz="2000" b="1" dirty="0">
                <a:solidFill>
                  <a:srgbClr val="FF0000"/>
                </a:solidFill>
                <a:latin typeface="黑体" panose="02010609060101010101" charset="-122"/>
                <a:ea typeface="黑体" panose="02010609060101010101" charset="-122"/>
              </a:rPr>
              <a:t>多裂缝竞争扩展</a:t>
            </a:r>
            <a:r>
              <a:rPr lang="zh-CN" altLang="en-US" sz="2000" b="1" dirty="0">
                <a:solidFill>
                  <a:srgbClr val="000000"/>
                </a:solidFill>
                <a:latin typeface="黑体" panose="02010609060101010101" charset="-122"/>
                <a:ea typeface="黑体" panose="02010609060101010101" charset="-122"/>
              </a:rPr>
              <a:t>等场景下关键参数的影响规律，打破了传统岩样物模实验对扩展过程不可见、裂缝形态与应力难以实时量化表征的局限性。</a:t>
            </a:r>
          </a:p>
        </p:txBody>
      </p:sp>
      <p:sp>
        <p:nvSpPr>
          <p:cNvPr id="35" name="矩形 13"/>
          <p:cNvSpPr>
            <a:spLocks noChangeArrowheads="1"/>
          </p:cNvSpPr>
          <p:nvPr/>
        </p:nvSpPr>
        <p:spPr bwMode="auto">
          <a:xfrm>
            <a:off x="263525" y="2708920"/>
            <a:ext cx="11736388" cy="3744416"/>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pic>
        <p:nvPicPr>
          <p:cNvPr id="17" name="图片 16">
            <a:extLst>
              <a:ext uri="{FF2B5EF4-FFF2-40B4-BE49-F238E27FC236}">
                <a16:creationId xmlns:a16="http://schemas.microsoft.com/office/drawing/2014/main" id="{EE7FD140-01A5-42AB-A33D-6F114C956C39}"/>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453899" y="4737465"/>
            <a:ext cx="2213732" cy="1451104"/>
          </a:xfrm>
          <a:prstGeom prst="rect">
            <a:avLst/>
          </a:prstGeom>
          <a:noFill/>
          <a:ln>
            <a:noFill/>
          </a:ln>
        </p:spPr>
      </p:pic>
      <p:pic>
        <p:nvPicPr>
          <p:cNvPr id="18" name="图片 17">
            <a:extLst>
              <a:ext uri="{FF2B5EF4-FFF2-40B4-BE49-F238E27FC236}">
                <a16:creationId xmlns:a16="http://schemas.microsoft.com/office/drawing/2014/main" id="{78A9D6D8-958F-4338-B176-17C1861E6E36}"/>
              </a:ext>
            </a:extLst>
          </p:cNvPr>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2840627" y="4834508"/>
            <a:ext cx="1476181" cy="1308290"/>
          </a:xfrm>
          <a:prstGeom prst="rect">
            <a:avLst/>
          </a:prstGeom>
          <a:noFill/>
          <a:ln>
            <a:noFill/>
          </a:ln>
        </p:spPr>
      </p:pic>
      <p:pic>
        <p:nvPicPr>
          <p:cNvPr id="19" name="图片 18">
            <a:extLst>
              <a:ext uri="{FF2B5EF4-FFF2-40B4-BE49-F238E27FC236}">
                <a16:creationId xmlns:a16="http://schemas.microsoft.com/office/drawing/2014/main" id="{65D39D0D-0725-443B-BD5F-176E47D775C3}"/>
              </a:ext>
            </a:extLst>
          </p:cNvPr>
          <p:cNvPicPr/>
          <p:nvPr/>
        </p:nvPicPr>
        <p:blipFill>
          <a:blip r:embed="rId7"/>
          <a:srcRect t="85" b="85"/>
          <a:stretch>
            <a:fillRect/>
          </a:stretch>
        </p:blipFill>
        <p:spPr bwMode="auto">
          <a:xfrm>
            <a:off x="4390071" y="4841727"/>
            <a:ext cx="1412150" cy="1301071"/>
          </a:xfrm>
          <a:prstGeom prst="rect">
            <a:avLst/>
          </a:prstGeom>
        </p:spPr>
      </p:pic>
      <p:pic>
        <p:nvPicPr>
          <p:cNvPr id="27" name="图片 26">
            <a:extLst>
              <a:ext uri="{FF2B5EF4-FFF2-40B4-BE49-F238E27FC236}">
                <a16:creationId xmlns:a16="http://schemas.microsoft.com/office/drawing/2014/main" id="{6BFA7D46-A5EE-4641-A7B8-CC2555F3745B}"/>
              </a:ext>
            </a:extLst>
          </p:cNvPr>
          <p:cNvPicPr/>
          <p:nvPr/>
        </p:nvPicPr>
        <p:blipFill rotWithShape="1">
          <a:blip r:embed="rId8" cstate="print">
            <a:extLst>
              <a:ext uri="{28A0092B-C50C-407E-A947-70E740481C1C}">
                <a14:useLocalDpi xmlns:a14="http://schemas.microsoft.com/office/drawing/2010/main" val="0"/>
              </a:ext>
            </a:extLst>
          </a:blip>
          <a:srcRect l="6738" t="2615" r="3720" b="21812"/>
          <a:stretch/>
        </p:blipFill>
        <p:spPr bwMode="auto">
          <a:xfrm>
            <a:off x="9526005" y="2901067"/>
            <a:ext cx="2352142" cy="1483360"/>
          </a:xfrm>
          <a:prstGeom prst="rect">
            <a:avLst/>
          </a:prstGeom>
          <a:noFill/>
          <a:ln>
            <a:noFill/>
          </a:ln>
        </p:spPr>
      </p:pic>
      <p:sp>
        <p:nvSpPr>
          <p:cNvPr id="2" name="矩形 1">
            <a:extLst>
              <a:ext uri="{FF2B5EF4-FFF2-40B4-BE49-F238E27FC236}">
                <a16:creationId xmlns:a16="http://schemas.microsoft.com/office/drawing/2014/main" id="{5955A8B9-F324-41B4-9FA1-5D019B3B7FF3}"/>
              </a:ext>
            </a:extLst>
          </p:cNvPr>
          <p:cNvSpPr/>
          <p:nvPr/>
        </p:nvSpPr>
        <p:spPr>
          <a:xfrm>
            <a:off x="7680176" y="3001805"/>
            <a:ext cx="1728270" cy="1476420"/>
          </a:xfrm>
          <a:prstGeom prst="rect">
            <a:avLst/>
          </a:prstGeom>
          <a:noFill/>
          <a:ln w="38100">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箭头: 上弧形 3">
            <a:extLst>
              <a:ext uri="{FF2B5EF4-FFF2-40B4-BE49-F238E27FC236}">
                <a16:creationId xmlns:a16="http://schemas.microsoft.com/office/drawing/2014/main" id="{25567868-0D22-46CC-A78C-EDA9EFD4B6BC}"/>
              </a:ext>
            </a:extLst>
          </p:cNvPr>
          <p:cNvSpPr/>
          <p:nvPr/>
        </p:nvSpPr>
        <p:spPr>
          <a:xfrm>
            <a:off x="9275458" y="2804580"/>
            <a:ext cx="504056" cy="189233"/>
          </a:xfrm>
          <a:prstGeom prst="curvedDownArrow">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32" name="图片 31">
            <a:extLst>
              <a:ext uri="{FF2B5EF4-FFF2-40B4-BE49-F238E27FC236}">
                <a16:creationId xmlns:a16="http://schemas.microsoft.com/office/drawing/2014/main" id="{38AF6FD9-D8E5-4781-B2BF-91DBADEC5EC2}"/>
              </a:ext>
            </a:extLst>
          </p:cNvPr>
          <p:cNvPicPr/>
          <p:nvPr/>
        </p:nvPicPr>
        <p:blipFill rotWithShape="1">
          <a:blip r:embed="rId9">
            <a:extLst>
              <a:ext uri="{28A0092B-C50C-407E-A947-70E740481C1C}">
                <a14:useLocalDpi xmlns:a14="http://schemas.microsoft.com/office/drawing/2010/main" val="0"/>
              </a:ext>
            </a:extLst>
          </a:blip>
          <a:srcRect r="2521" b="4530"/>
          <a:stretch/>
        </p:blipFill>
        <p:spPr>
          <a:xfrm>
            <a:off x="4893019" y="2907000"/>
            <a:ext cx="2443852" cy="1643841"/>
          </a:xfrm>
          <a:prstGeom prst="rect">
            <a:avLst/>
          </a:prstGeom>
          <a:noFill/>
          <a:ln>
            <a:noFill/>
          </a:ln>
        </p:spPr>
      </p:pic>
      <p:pic>
        <p:nvPicPr>
          <p:cNvPr id="33" name="图片 32">
            <a:extLst>
              <a:ext uri="{FF2B5EF4-FFF2-40B4-BE49-F238E27FC236}">
                <a16:creationId xmlns:a16="http://schemas.microsoft.com/office/drawing/2014/main" id="{9048363C-E391-4986-8EAF-DC79E90E8E89}"/>
              </a:ext>
            </a:extLst>
          </p:cNvPr>
          <p:cNvPicPr>
            <a:picLocks noChangeAspect="1"/>
          </p:cNvPicPr>
          <p:nvPr/>
        </p:nvPicPr>
        <p:blipFill>
          <a:blip r:embed="rId10"/>
          <a:stretch>
            <a:fillRect/>
          </a:stretch>
        </p:blipFill>
        <p:spPr>
          <a:xfrm>
            <a:off x="7990667" y="4550841"/>
            <a:ext cx="1961112" cy="1752657"/>
          </a:xfrm>
          <a:prstGeom prst="rect">
            <a:avLst/>
          </a:prstGeom>
        </p:spPr>
      </p:pic>
      <p:pic>
        <p:nvPicPr>
          <p:cNvPr id="34" name="图片 33">
            <a:extLst>
              <a:ext uri="{FF2B5EF4-FFF2-40B4-BE49-F238E27FC236}">
                <a16:creationId xmlns:a16="http://schemas.microsoft.com/office/drawing/2014/main" id="{48EFD766-51EB-4388-9E2D-E622DEEB9CA9}"/>
              </a:ext>
            </a:extLst>
          </p:cNvPr>
          <p:cNvPicPr>
            <a:picLocks noChangeAspect="1"/>
          </p:cNvPicPr>
          <p:nvPr/>
        </p:nvPicPr>
        <p:blipFill rotWithShape="1">
          <a:blip r:embed="rId11"/>
          <a:srcRect l="12927" t="1219" r="12927" b="7169"/>
          <a:stretch/>
        </p:blipFill>
        <p:spPr>
          <a:xfrm>
            <a:off x="10096197" y="4550841"/>
            <a:ext cx="1749417" cy="1752657"/>
          </a:xfrm>
          <a:prstGeom prst="rect">
            <a:avLst/>
          </a:prstGeom>
        </p:spPr>
      </p:pic>
      <p:pic>
        <p:nvPicPr>
          <p:cNvPr id="6" name="图片 5">
            <a:extLst>
              <a:ext uri="{FF2B5EF4-FFF2-40B4-BE49-F238E27FC236}">
                <a16:creationId xmlns:a16="http://schemas.microsoft.com/office/drawing/2014/main" id="{83BD2C60-D1F1-4B49-B712-36FB1C7A1557}"/>
              </a:ext>
            </a:extLst>
          </p:cNvPr>
          <p:cNvPicPr>
            <a:picLocks noChangeAspect="1"/>
          </p:cNvPicPr>
          <p:nvPr/>
        </p:nvPicPr>
        <p:blipFill rotWithShape="1">
          <a:blip r:embed="rId12"/>
          <a:srcRect l="3423" t="2270" r="6124" b="6845"/>
          <a:stretch/>
        </p:blipFill>
        <p:spPr>
          <a:xfrm>
            <a:off x="7701964" y="3056466"/>
            <a:ext cx="1601104" cy="1388313"/>
          </a:xfrm>
          <a:prstGeom prst="rect">
            <a:avLst/>
          </a:prstGeom>
        </p:spPr>
      </p:pic>
      <p:sp>
        <p:nvSpPr>
          <p:cNvPr id="7" name="箭头: 上弧形 6">
            <a:extLst>
              <a:ext uri="{FF2B5EF4-FFF2-40B4-BE49-F238E27FC236}">
                <a16:creationId xmlns:a16="http://schemas.microsoft.com/office/drawing/2014/main" id="{394D2961-C9B5-4EF1-B98D-A3D885EA5400}"/>
              </a:ext>
            </a:extLst>
          </p:cNvPr>
          <p:cNvSpPr/>
          <p:nvPr/>
        </p:nvSpPr>
        <p:spPr>
          <a:xfrm>
            <a:off x="6960095" y="2878172"/>
            <a:ext cx="808823" cy="326847"/>
          </a:xfrm>
          <a:prstGeom prst="curvedDown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8" name="箭头: 上弧形 37">
            <a:extLst>
              <a:ext uri="{FF2B5EF4-FFF2-40B4-BE49-F238E27FC236}">
                <a16:creationId xmlns:a16="http://schemas.microsoft.com/office/drawing/2014/main" id="{E1B40C85-34A5-47B2-8D3F-7885391946C8}"/>
              </a:ext>
            </a:extLst>
          </p:cNvPr>
          <p:cNvSpPr/>
          <p:nvPr/>
        </p:nvSpPr>
        <p:spPr>
          <a:xfrm flipH="1">
            <a:off x="4514081" y="2799590"/>
            <a:ext cx="761756" cy="285404"/>
          </a:xfrm>
          <a:prstGeom prst="curvedDownArrow">
            <a:avLst/>
          </a:prstGeom>
          <a:solidFill>
            <a:schemeClr val="accent5"/>
          </a:solid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pic>
        <p:nvPicPr>
          <p:cNvPr id="41" name="图片 40" descr="图示&#10;&#10;描述已自动生成">
            <a:extLst>
              <a:ext uri="{FF2B5EF4-FFF2-40B4-BE49-F238E27FC236}">
                <a16:creationId xmlns:a16="http://schemas.microsoft.com/office/drawing/2014/main" id="{41A4F3DA-FBDF-49A5-9CA1-D9BF97FABAA1}"/>
              </a:ext>
            </a:extLst>
          </p:cNvPr>
          <p:cNvPicPr/>
          <p:nvPr/>
        </p:nvPicPr>
        <p:blipFill rotWithShape="1">
          <a:blip r:embed="rId13"/>
          <a:srcRect r="65985" b="12089"/>
          <a:stretch/>
        </p:blipFill>
        <p:spPr>
          <a:xfrm>
            <a:off x="6080759" y="4425109"/>
            <a:ext cx="1815691" cy="1878389"/>
          </a:xfrm>
          <a:prstGeom prst="rect">
            <a:avLst/>
          </a:prstGeom>
        </p:spPr>
      </p:pic>
      <p:sp>
        <p:nvSpPr>
          <p:cNvPr id="5" name="TextBox 45">
            <a:extLst>
              <a:ext uri="{FF2B5EF4-FFF2-40B4-BE49-F238E27FC236}">
                <a16:creationId xmlns:a16="http://schemas.microsoft.com/office/drawing/2014/main" id="{0A9436AA-D24D-7917-6278-B8157C2A2268}"/>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成果一：揭示了井下压裂过程物理机理及井口响应机制</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263525" y="773307"/>
            <a:ext cx="11614622"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dirty="0">
                <a:solidFill>
                  <a:srgbClr val="FF0000"/>
                </a:solidFill>
                <a:latin typeface="方正大黑简体" panose="03000509000000000000" pitchFamily="65" charset="-122"/>
                <a:ea typeface="方正大黑简体" panose="03000509000000000000" pitchFamily="65" charset="-122"/>
              </a:rPr>
              <a:t>2</a:t>
            </a:r>
            <a:r>
              <a:rPr lang="zh-CN" altLang="en-US" sz="2400" dirty="0">
                <a:solidFill>
                  <a:srgbClr val="FF0000"/>
                </a:solidFill>
                <a:latin typeface="方正大黑简体" panose="03000509000000000000" pitchFamily="65" charset="-122"/>
                <a:ea typeface="方正大黑简体" panose="03000509000000000000" pitchFamily="65" charset="-122"/>
              </a:rPr>
              <a:t>、首创复杂缝径向扩展形态</a:t>
            </a:r>
            <a:r>
              <a:rPr lang="en-US" altLang="zh-CN" sz="2400" dirty="0">
                <a:solidFill>
                  <a:srgbClr val="FF0000"/>
                </a:solidFill>
                <a:latin typeface="方正大黑简体" panose="03000509000000000000" pitchFamily="65" charset="-122"/>
                <a:ea typeface="方正大黑简体" panose="03000509000000000000" pitchFamily="65" charset="-122"/>
              </a:rPr>
              <a:t>-</a:t>
            </a:r>
            <a:r>
              <a:rPr lang="zh-CN" altLang="en-US" sz="2400" dirty="0">
                <a:solidFill>
                  <a:srgbClr val="FF0000"/>
                </a:solidFill>
                <a:latin typeface="方正大黑简体" panose="03000509000000000000" pitchFamily="65" charset="-122"/>
                <a:ea typeface="方正大黑简体" panose="03000509000000000000" pitchFamily="65" charset="-122"/>
              </a:rPr>
              <a:t>应力光学量化实验方法，揭示了多裂缝扩展机理</a:t>
            </a:r>
          </a:p>
        </p:txBody>
      </p:sp>
      <p:sp>
        <p:nvSpPr>
          <p:cNvPr id="35" name="矩形 13"/>
          <p:cNvSpPr>
            <a:spLocks noChangeArrowheads="1"/>
          </p:cNvSpPr>
          <p:nvPr/>
        </p:nvSpPr>
        <p:spPr bwMode="auto">
          <a:xfrm>
            <a:off x="263525" y="2708920"/>
            <a:ext cx="11736388" cy="3744416"/>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2" name="Text Box 7"/>
          <p:cNvSpPr txBox="1">
            <a:spLocks noChangeArrowheads="1"/>
          </p:cNvSpPr>
          <p:nvPr/>
        </p:nvSpPr>
        <p:spPr bwMode="auto">
          <a:xfrm>
            <a:off x="263526" y="1196752"/>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黑体" panose="02010609060101010101" charset="-122"/>
                <a:ea typeface="黑体" panose="02010609060101010101" charset="-122"/>
              </a:rPr>
              <a:t>首创复杂缝径向扩展形态</a:t>
            </a:r>
            <a:r>
              <a:rPr lang="en-US" altLang="zh-CN" sz="2000" b="1" dirty="0">
                <a:solidFill>
                  <a:srgbClr val="000000"/>
                </a:solidFill>
                <a:latin typeface="黑体" panose="02010609060101010101" charset="-122"/>
                <a:ea typeface="黑体" panose="02010609060101010101" charset="-122"/>
              </a:rPr>
              <a:t>-</a:t>
            </a:r>
            <a:r>
              <a:rPr lang="zh-CN" altLang="en-US" sz="2000" b="1" dirty="0">
                <a:solidFill>
                  <a:srgbClr val="000000"/>
                </a:solidFill>
                <a:latin typeface="黑体" panose="02010609060101010101" charset="-122"/>
                <a:ea typeface="黑体" panose="02010609060101010101" charset="-122"/>
              </a:rPr>
              <a:t>应力光学量化实验方法，构建了光弹材料应力拉伸</a:t>
            </a:r>
            <a:r>
              <a:rPr lang="en-US" altLang="zh-CN" sz="2000" b="1" dirty="0">
                <a:solidFill>
                  <a:srgbClr val="000000"/>
                </a:solidFill>
                <a:latin typeface="黑体" panose="02010609060101010101" charset="-122"/>
                <a:ea typeface="黑体" panose="02010609060101010101" charset="-122"/>
              </a:rPr>
              <a:t>-</a:t>
            </a:r>
            <a:r>
              <a:rPr lang="zh-CN" altLang="en-US" sz="2000" b="1" dirty="0">
                <a:solidFill>
                  <a:srgbClr val="000000"/>
                </a:solidFill>
                <a:latin typeface="黑体" panose="02010609060101010101" charset="-122"/>
                <a:ea typeface="黑体" panose="02010609060101010101" charset="-122"/>
              </a:rPr>
              <a:t>压剪复杂受力场景</a:t>
            </a:r>
            <a:r>
              <a:rPr lang="zh-CN" altLang="en-US" sz="2000" b="1" dirty="0">
                <a:solidFill>
                  <a:srgbClr val="FF0000"/>
                </a:solidFill>
                <a:latin typeface="黑体" panose="02010609060101010101" charset="-122"/>
                <a:ea typeface="黑体" panose="02010609060101010101" charset="-122"/>
              </a:rPr>
              <a:t>折射率与应力关联模型</a:t>
            </a:r>
            <a:r>
              <a:rPr lang="zh-CN" altLang="en-US" sz="2000" b="1" dirty="0">
                <a:solidFill>
                  <a:srgbClr val="000000"/>
                </a:solidFill>
                <a:latin typeface="黑体" panose="02010609060101010101" charset="-122"/>
                <a:ea typeface="黑体" panose="02010609060101010101" charset="-122"/>
              </a:rPr>
              <a:t>，耦合形态量化方法，实现了多裂缝扩展形态</a:t>
            </a:r>
            <a:r>
              <a:rPr lang="en-US" altLang="zh-CN" sz="2000" b="1" dirty="0">
                <a:solidFill>
                  <a:srgbClr val="000000"/>
                </a:solidFill>
                <a:latin typeface="黑体" panose="02010609060101010101" charset="-122"/>
                <a:ea typeface="黑体" panose="02010609060101010101" charset="-122"/>
              </a:rPr>
              <a:t>-</a:t>
            </a:r>
            <a:r>
              <a:rPr lang="zh-CN" altLang="en-US" sz="2000" b="1" dirty="0">
                <a:solidFill>
                  <a:srgbClr val="000000"/>
                </a:solidFill>
                <a:latin typeface="黑体" panose="02010609060101010101" charset="-122"/>
                <a:ea typeface="黑体" panose="02010609060101010101" charset="-122"/>
              </a:rPr>
              <a:t>应力全过程量化表征。揭示了裂缝应力与形态相关，多裂缝扩展过程中相较于裂缝延伸长度增加，</a:t>
            </a:r>
            <a:r>
              <a:rPr lang="zh-CN" altLang="en-US" sz="2000" b="1" dirty="0">
                <a:solidFill>
                  <a:srgbClr val="FF0000"/>
                </a:solidFill>
                <a:latin typeface="黑体" panose="02010609060101010101" charset="-122"/>
                <a:ea typeface="黑体" panose="02010609060101010101" charset="-122"/>
              </a:rPr>
              <a:t>裂缝膨胀宽度增加诱发干扰应力更加显著。</a:t>
            </a:r>
          </a:p>
        </p:txBody>
      </p:sp>
      <p:pic>
        <p:nvPicPr>
          <p:cNvPr id="26" name="图片 25">
            <a:extLst>
              <a:ext uri="{FF2B5EF4-FFF2-40B4-BE49-F238E27FC236}">
                <a16:creationId xmlns:a16="http://schemas.microsoft.com/office/drawing/2014/main" id="{467A3473-56B3-4C6E-A94C-1283C0DE97A1}"/>
              </a:ext>
            </a:extLst>
          </p:cNvPr>
          <p:cNvPicPr/>
          <p:nvPr/>
        </p:nvPicPr>
        <p:blipFill>
          <a:blip r:embed="rId2">
            <a:extLst>
              <a:ext uri="{28A0092B-C50C-407E-A947-70E740481C1C}">
                <a14:useLocalDpi xmlns:a14="http://schemas.microsoft.com/office/drawing/2010/main" val="0"/>
              </a:ext>
            </a:extLst>
          </a:blip>
          <a:srcRect/>
          <a:stretch>
            <a:fillRect/>
          </a:stretch>
        </p:blipFill>
        <p:spPr>
          <a:xfrm>
            <a:off x="3942651" y="2862029"/>
            <a:ext cx="830205" cy="830205"/>
          </a:xfrm>
          <a:prstGeom prst="rect">
            <a:avLst/>
          </a:prstGeom>
          <a:noFill/>
          <a:ln>
            <a:noFill/>
          </a:ln>
        </p:spPr>
      </p:pic>
      <p:pic>
        <p:nvPicPr>
          <p:cNvPr id="27" name="图片 26">
            <a:extLst>
              <a:ext uri="{FF2B5EF4-FFF2-40B4-BE49-F238E27FC236}">
                <a16:creationId xmlns:a16="http://schemas.microsoft.com/office/drawing/2014/main" id="{03969246-AA1F-443D-B409-EE9B1A255356}"/>
              </a:ext>
            </a:extLst>
          </p:cNvPr>
          <p:cNvPicPr/>
          <p:nvPr/>
        </p:nvPicPr>
        <p:blipFill rotWithShape="1">
          <a:blip r:embed="rId3" cstate="print">
            <a:extLst>
              <a:ext uri="{28A0092B-C50C-407E-A947-70E740481C1C}">
                <a14:useLocalDpi xmlns:a14="http://schemas.microsoft.com/office/drawing/2010/main" val="0"/>
              </a:ext>
            </a:extLst>
          </a:blip>
          <a:srcRect r="3816" b="3816"/>
          <a:stretch/>
        </p:blipFill>
        <p:spPr>
          <a:xfrm>
            <a:off x="3940061" y="3730297"/>
            <a:ext cx="830205" cy="821766"/>
          </a:xfrm>
          <a:prstGeom prst="rect">
            <a:avLst/>
          </a:prstGeom>
          <a:noFill/>
          <a:ln>
            <a:noFill/>
          </a:ln>
        </p:spPr>
      </p:pic>
      <p:pic>
        <p:nvPicPr>
          <p:cNvPr id="28" name="图片 27">
            <a:extLst>
              <a:ext uri="{FF2B5EF4-FFF2-40B4-BE49-F238E27FC236}">
                <a16:creationId xmlns:a16="http://schemas.microsoft.com/office/drawing/2014/main" id="{7EE76F39-9274-41AD-8F4D-26B4FDBB7958}"/>
              </a:ext>
            </a:extLst>
          </p:cNvPr>
          <p:cNvPicPr/>
          <p:nvPr/>
        </p:nvPicPr>
        <p:blipFill>
          <a:blip r:embed="rId4" cstate="print">
            <a:extLst>
              <a:ext uri="{28A0092B-C50C-407E-A947-70E740481C1C}">
                <a14:useLocalDpi xmlns:a14="http://schemas.microsoft.com/office/drawing/2010/main" val="0"/>
              </a:ext>
            </a:extLst>
          </a:blip>
          <a:srcRect/>
          <a:stretch>
            <a:fillRect/>
          </a:stretch>
        </p:blipFill>
        <p:spPr>
          <a:xfrm>
            <a:off x="4841372" y="2857498"/>
            <a:ext cx="1067959" cy="821766"/>
          </a:xfrm>
          <a:prstGeom prst="rect">
            <a:avLst/>
          </a:prstGeom>
          <a:noFill/>
          <a:ln>
            <a:noFill/>
          </a:ln>
        </p:spPr>
      </p:pic>
      <p:pic>
        <p:nvPicPr>
          <p:cNvPr id="29" name="图片 28">
            <a:extLst>
              <a:ext uri="{FF2B5EF4-FFF2-40B4-BE49-F238E27FC236}">
                <a16:creationId xmlns:a16="http://schemas.microsoft.com/office/drawing/2014/main" id="{20EFF36A-0D11-4E74-916C-8804B512E77D}"/>
              </a:ext>
            </a:extLst>
          </p:cNvPr>
          <p:cNvPicPr>
            <a:picLocks noChangeAspect="1"/>
          </p:cNvPicPr>
          <p:nvPr/>
        </p:nvPicPr>
        <p:blipFill>
          <a:blip r:embed="rId5"/>
          <a:stretch>
            <a:fillRect/>
          </a:stretch>
        </p:blipFill>
        <p:spPr>
          <a:xfrm>
            <a:off x="4832442" y="3743599"/>
            <a:ext cx="1076889" cy="821766"/>
          </a:xfrm>
          <a:prstGeom prst="rect">
            <a:avLst/>
          </a:prstGeom>
        </p:spPr>
      </p:pic>
      <p:pic>
        <p:nvPicPr>
          <p:cNvPr id="30" name="图片 29">
            <a:extLst>
              <a:ext uri="{FF2B5EF4-FFF2-40B4-BE49-F238E27FC236}">
                <a16:creationId xmlns:a16="http://schemas.microsoft.com/office/drawing/2014/main" id="{E43E9DBE-D130-451C-A27F-F58256B6D8BF}"/>
              </a:ext>
            </a:extLst>
          </p:cNvPr>
          <p:cNvPicPr/>
          <p:nvPr/>
        </p:nvPicPr>
        <p:blipFill>
          <a:blip r:embed="rId6"/>
          <a:srcRect l="403" r="403"/>
          <a:stretch>
            <a:fillRect/>
          </a:stretch>
        </p:blipFill>
        <p:spPr bwMode="auto">
          <a:xfrm>
            <a:off x="2316641" y="3743599"/>
            <a:ext cx="1583108" cy="799186"/>
          </a:xfrm>
          <a:prstGeom prst="rect">
            <a:avLst/>
          </a:prstGeom>
        </p:spPr>
      </p:pic>
      <p:pic>
        <p:nvPicPr>
          <p:cNvPr id="31" name="图片 30">
            <a:extLst>
              <a:ext uri="{FF2B5EF4-FFF2-40B4-BE49-F238E27FC236}">
                <a16:creationId xmlns:a16="http://schemas.microsoft.com/office/drawing/2014/main" id="{C77DF21D-FF02-4018-8885-31A837B4C22C}"/>
              </a:ext>
            </a:extLst>
          </p:cNvPr>
          <p:cNvPicPr/>
          <p:nvPr/>
        </p:nvPicPr>
        <p:blipFill>
          <a:blip r:embed="rId7">
            <a:extLst>
              <a:ext uri="{28A0092B-C50C-407E-A947-70E740481C1C}">
                <a14:useLocalDpi xmlns:a14="http://schemas.microsoft.com/office/drawing/2010/main" val="0"/>
              </a:ext>
            </a:extLst>
          </a:blip>
          <a:srcRect l="25928" t="55731" r="22095" b="11000"/>
          <a:stretch>
            <a:fillRect/>
          </a:stretch>
        </p:blipFill>
        <p:spPr bwMode="auto">
          <a:xfrm>
            <a:off x="2316641" y="2866196"/>
            <a:ext cx="1583108" cy="838900"/>
          </a:xfrm>
          <a:prstGeom prst="rect">
            <a:avLst/>
          </a:prstGeom>
          <a:noFill/>
          <a:ln>
            <a:noFill/>
          </a:ln>
        </p:spPr>
      </p:pic>
      <mc:AlternateContent xmlns:mc="http://schemas.openxmlformats.org/markup-compatibility/2006" xmlns:a14="http://schemas.microsoft.com/office/drawing/2010/main">
        <mc:Choice Requires="a14">
          <p:sp>
            <p:nvSpPr>
              <p:cNvPr id="32" name="文本框 31">
                <a:extLst>
                  <a:ext uri="{FF2B5EF4-FFF2-40B4-BE49-F238E27FC236}">
                    <a16:creationId xmlns:a16="http://schemas.microsoft.com/office/drawing/2014/main" id="{16636475-6FF2-4E78-94B1-7BB7DE52D3FA}"/>
                  </a:ext>
                </a:extLst>
              </p:cNvPr>
              <p:cNvSpPr txBox="1"/>
              <p:nvPr/>
            </p:nvSpPr>
            <p:spPr>
              <a:xfrm>
                <a:off x="396169" y="2907600"/>
                <a:ext cx="1920472" cy="712824"/>
              </a:xfrm>
              <a:prstGeom prst="rect">
                <a:avLst/>
              </a:prstGeom>
              <a:noFill/>
            </p:spPr>
            <p:txBody>
              <a:bodyPr wrap="square">
                <a:spAutoFit/>
              </a:bodyPr>
              <a:lstStyle/>
              <a:p>
                <a:r>
                  <a:rPr lang="zh-CN" altLang="en-US" sz="1100" b="1" dirty="0">
                    <a:solidFill>
                      <a:schemeClr val="tx1"/>
                    </a:solidFill>
                    <a:latin typeface="Cambria Math" panose="02040503050406030204" pitchFamily="18" charset="0"/>
                  </a:rPr>
                  <a:t>光强</a:t>
                </a:r>
                <a:r>
                  <a:rPr lang="en-US" altLang="zh-CN" sz="1100" b="1" dirty="0">
                    <a:solidFill>
                      <a:schemeClr val="tx1"/>
                    </a:solidFill>
                    <a:latin typeface="Cambria Math" panose="02040503050406030204" pitchFamily="18" charset="0"/>
                  </a:rPr>
                  <a:t>-</a:t>
                </a:r>
                <a:r>
                  <a:rPr lang="zh-CN" altLang="en-US" sz="1100" b="1" dirty="0">
                    <a:solidFill>
                      <a:schemeClr val="tx1"/>
                    </a:solidFill>
                    <a:latin typeface="Cambria Math" panose="02040503050406030204" pitchFamily="18" charset="0"/>
                  </a:rPr>
                  <a:t>宽度拟合关系：</a:t>
                </a:r>
                <a:endParaRPr lang="en-US" altLang="zh-CN" sz="1100" b="1" dirty="0">
                  <a:solidFill>
                    <a:schemeClr val="tx1"/>
                  </a:solidFill>
                  <a:latin typeface="Cambria Math" panose="02040503050406030204" pitchFamily="18" charset="0"/>
                </a:endParaRPr>
              </a:p>
              <a:p>
                <a:endParaRPr lang="en-US" altLang="zh-CN" sz="800" b="1" dirty="0">
                  <a:solidFill>
                    <a:schemeClr val="tx1"/>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f>
                        <m:fPr>
                          <m:ctrlPr>
                            <a:rPr lang="zh-CN" altLang="en-US" sz="800" b="1" i="1" smtClean="0">
                              <a:solidFill>
                                <a:schemeClr val="tx1"/>
                              </a:solidFill>
                              <a:latin typeface="Cambria Math" panose="02040503050406030204" pitchFamily="18" charset="0"/>
                            </a:rPr>
                          </m:ctrlPr>
                        </m:fPr>
                        <m:num>
                          <m:sSub>
                            <m:sSubPr>
                              <m:ctrlPr>
                                <a:rPr lang="zh-CN" altLang="en-US" sz="800" b="1" i="1">
                                  <a:solidFill>
                                    <a:schemeClr val="tx1"/>
                                  </a:solidFill>
                                  <a:latin typeface="Cambria Math" panose="02040503050406030204" pitchFamily="18" charset="0"/>
                                </a:rPr>
                              </m:ctrlPr>
                            </m:sSubPr>
                            <m:e>
                              <m:r>
                                <a:rPr lang="zh-CN" altLang="en-US" sz="800" b="1" i="1" smtClean="0">
                                  <a:solidFill>
                                    <a:schemeClr val="tx1"/>
                                  </a:solidFill>
                                  <a:latin typeface="Cambria Math" panose="02040503050406030204" pitchFamily="18" charset="0"/>
                                </a:rPr>
                                <m:t>𝑰</m:t>
                              </m:r>
                            </m:e>
                            <m:sub>
                              <m:r>
                                <a:rPr lang="zh-CN" altLang="en-US" sz="800" b="1" i="0" smtClean="0">
                                  <a:solidFill>
                                    <a:schemeClr val="tx1"/>
                                  </a:solidFill>
                                  <a:latin typeface="Cambria Math" panose="02040503050406030204" pitchFamily="18" charset="0"/>
                                </a:rPr>
                                <m:t>𝟏</m:t>
                              </m:r>
                            </m:sub>
                          </m:sSub>
                        </m:num>
                        <m:den>
                          <m:sSub>
                            <m:sSubPr>
                              <m:ctrlPr>
                                <a:rPr lang="zh-CN" altLang="en-US" sz="800" b="1" i="1">
                                  <a:solidFill>
                                    <a:schemeClr val="tx1"/>
                                  </a:solidFill>
                                  <a:latin typeface="Cambria Math" panose="02040503050406030204" pitchFamily="18" charset="0"/>
                                </a:rPr>
                              </m:ctrlPr>
                            </m:sSubPr>
                            <m:e>
                              <m:r>
                                <a:rPr lang="zh-CN" altLang="en-US" sz="800" b="1" i="1" smtClean="0">
                                  <a:solidFill>
                                    <a:schemeClr val="tx1"/>
                                  </a:solidFill>
                                  <a:latin typeface="Cambria Math" panose="02040503050406030204" pitchFamily="18" charset="0"/>
                                </a:rPr>
                                <m:t>𝑰</m:t>
                              </m:r>
                            </m:e>
                            <m:sub>
                              <m:r>
                                <a:rPr lang="zh-CN" altLang="en-US" sz="800" b="1" i="0" smtClean="0">
                                  <a:solidFill>
                                    <a:schemeClr val="tx1"/>
                                  </a:solidFill>
                                  <a:latin typeface="Cambria Math" panose="02040503050406030204" pitchFamily="18" charset="0"/>
                                </a:rPr>
                                <m:t>𝟎</m:t>
                              </m:r>
                            </m:sub>
                          </m:sSub>
                        </m:den>
                      </m:f>
                      <m:r>
                        <a:rPr lang="zh-CN" altLang="en-US" sz="800" b="1" i="0" smtClean="0">
                          <a:solidFill>
                            <a:schemeClr val="tx1"/>
                          </a:solidFill>
                          <a:latin typeface="Cambria Math" panose="02040503050406030204" pitchFamily="18" charset="0"/>
                        </a:rPr>
                        <m:t>=</m:t>
                      </m:r>
                      <m:sSub>
                        <m:sSubPr>
                          <m:ctrlPr>
                            <a:rPr lang="zh-CN" altLang="en-US" sz="800" b="1" i="1">
                              <a:solidFill>
                                <a:schemeClr val="tx1"/>
                              </a:solidFill>
                              <a:latin typeface="Cambria Math" panose="02040503050406030204" pitchFamily="18" charset="0"/>
                            </a:rPr>
                          </m:ctrlPr>
                        </m:sSubPr>
                        <m:e>
                          <m:r>
                            <a:rPr lang="zh-CN" altLang="en-US" sz="800" b="1" i="1" smtClean="0">
                              <a:solidFill>
                                <a:schemeClr val="tx1"/>
                              </a:solidFill>
                              <a:latin typeface="Cambria Math" panose="02040503050406030204" pitchFamily="18" charset="0"/>
                            </a:rPr>
                            <m:t>𝑪</m:t>
                          </m:r>
                        </m:e>
                        <m:sub>
                          <m:r>
                            <a:rPr lang="zh-CN" altLang="en-US" sz="800" b="1" i="0" smtClean="0">
                              <a:solidFill>
                                <a:schemeClr val="tx1"/>
                              </a:solidFill>
                              <a:latin typeface="Cambria Math" panose="02040503050406030204" pitchFamily="18" charset="0"/>
                            </a:rPr>
                            <m:t>𝟎</m:t>
                          </m:r>
                        </m:sub>
                      </m:sSub>
                      <m:r>
                        <a:rPr lang="zh-CN" altLang="en-US" sz="800" b="1" i="0" smtClean="0">
                          <a:solidFill>
                            <a:schemeClr val="tx1"/>
                          </a:solidFill>
                          <a:latin typeface="Cambria Math" panose="02040503050406030204" pitchFamily="18" charset="0"/>
                        </a:rPr>
                        <m:t>+</m:t>
                      </m:r>
                      <m:sSub>
                        <m:sSubPr>
                          <m:ctrlPr>
                            <a:rPr lang="zh-CN" altLang="en-US" sz="800" b="1" i="1">
                              <a:solidFill>
                                <a:schemeClr val="tx1"/>
                              </a:solidFill>
                              <a:latin typeface="Cambria Math" panose="02040503050406030204" pitchFamily="18" charset="0"/>
                            </a:rPr>
                          </m:ctrlPr>
                        </m:sSubPr>
                        <m:e>
                          <m:r>
                            <a:rPr lang="zh-CN" altLang="en-US" sz="800" b="1" i="1" smtClean="0">
                              <a:solidFill>
                                <a:schemeClr val="tx1"/>
                              </a:solidFill>
                              <a:latin typeface="Cambria Math" panose="02040503050406030204" pitchFamily="18" charset="0"/>
                            </a:rPr>
                            <m:t>𝑪</m:t>
                          </m:r>
                        </m:e>
                        <m:sub>
                          <m:r>
                            <a:rPr lang="zh-CN" altLang="en-US" sz="800" b="1" i="0" smtClean="0">
                              <a:solidFill>
                                <a:schemeClr val="tx1"/>
                              </a:solidFill>
                              <a:latin typeface="Cambria Math" panose="02040503050406030204" pitchFamily="18" charset="0"/>
                            </a:rPr>
                            <m:t>𝟏</m:t>
                          </m:r>
                        </m:sub>
                      </m:sSub>
                      <m:r>
                        <a:rPr lang="zh-CN" altLang="en-US" sz="800" b="1" i="1" smtClean="0">
                          <a:solidFill>
                            <a:schemeClr val="tx1"/>
                          </a:solidFill>
                          <a:latin typeface="Cambria Math" panose="02040503050406030204" pitchFamily="18" charset="0"/>
                        </a:rPr>
                        <m:t>𝒅</m:t>
                      </m:r>
                      <m:r>
                        <a:rPr lang="zh-CN" altLang="en-US" sz="800" b="1" i="0" smtClean="0">
                          <a:solidFill>
                            <a:schemeClr val="tx1"/>
                          </a:solidFill>
                          <a:latin typeface="Cambria Math" panose="02040503050406030204" pitchFamily="18" charset="0"/>
                        </a:rPr>
                        <m:t>+</m:t>
                      </m:r>
                      <m:sSub>
                        <m:sSubPr>
                          <m:ctrlPr>
                            <a:rPr lang="zh-CN" altLang="en-US" sz="800" b="1" i="1">
                              <a:solidFill>
                                <a:schemeClr val="tx1"/>
                              </a:solidFill>
                              <a:latin typeface="Cambria Math" panose="02040503050406030204" pitchFamily="18" charset="0"/>
                            </a:rPr>
                          </m:ctrlPr>
                        </m:sSubPr>
                        <m:e>
                          <m:r>
                            <a:rPr lang="zh-CN" altLang="en-US" sz="800" b="1" i="1" smtClean="0">
                              <a:solidFill>
                                <a:schemeClr val="tx1"/>
                              </a:solidFill>
                              <a:latin typeface="Cambria Math" panose="02040503050406030204" pitchFamily="18" charset="0"/>
                            </a:rPr>
                            <m:t>𝑪</m:t>
                          </m:r>
                        </m:e>
                        <m:sub>
                          <m:r>
                            <a:rPr lang="zh-CN" altLang="en-US" sz="800" b="1" i="0" smtClean="0">
                              <a:solidFill>
                                <a:schemeClr val="tx1"/>
                              </a:solidFill>
                              <a:latin typeface="Cambria Math" panose="02040503050406030204" pitchFamily="18" charset="0"/>
                            </a:rPr>
                            <m:t>𝟐</m:t>
                          </m:r>
                        </m:sub>
                      </m:sSub>
                      <m:sSup>
                        <m:sSupPr>
                          <m:ctrlPr>
                            <a:rPr lang="zh-CN" altLang="en-US" sz="800" b="1" i="1">
                              <a:solidFill>
                                <a:schemeClr val="tx1"/>
                              </a:solidFill>
                              <a:latin typeface="Cambria Math" panose="02040503050406030204" pitchFamily="18" charset="0"/>
                            </a:rPr>
                          </m:ctrlPr>
                        </m:sSupPr>
                        <m:e>
                          <m:r>
                            <a:rPr lang="zh-CN" altLang="en-US" sz="800" b="1" i="1" smtClean="0">
                              <a:solidFill>
                                <a:schemeClr val="tx1"/>
                              </a:solidFill>
                              <a:latin typeface="Cambria Math" panose="02040503050406030204" pitchFamily="18" charset="0"/>
                            </a:rPr>
                            <m:t>𝒅</m:t>
                          </m:r>
                        </m:e>
                        <m:sup>
                          <m:r>
                            <a:rPr lang="zh-CN" altLang="en-US" sz="800" b="1" i="0" smtClean="0">
                              <a:solidFill>
                                <a:schemeClr val="tx1"/>
                              </a:solidFill>
                              <a:latin typeface="Cambria Math" panose="02040503050406030204" pitchFamily="18" charset="0"/>
                            </a:rPr>
                            <m:t>𝟐</m:t>
                          </m:r>
                        </m:sup>
                      </m:sSup>
                      <m:r>
                        <a:rPr lang="zh-CN" altLang="en-US" sz="800" b="1" i="0" smtClean="0">
                          <a:solidFill>
                            <a:schemeClr val="tx1"/>
                          </a:solidFill>
                          <a:latin typeface="Cambria Math" panose="02040503050406030204" pitchFamily="18" charset="0"/>
                        </a:rPr>
                        <m:t>+</m:t>
                      </m:r>
                      <m:sSub>
                        <m:sSubPr>
                          <m:ctrlPr>
                            <a:rPr lang="zh-CN" altLang="en-US" sz="800" b="1" i="1">
                              <a:solidFill>
                                <a:schemeClr val="tx1"/>
                              </a:solidFill>
                              <a:latin typeface="Cambria Math" panose="02040503050406030204" pitchFamily="18" charset="0"/>
                            </a:rPr>
                          </m:ctrlPr>
                        </m:sSubPr>
                        <m:e>
                          <m:r>
                            <a:rPr lang="zh-CN" altLang="en-US" sz="800" b="1" i="1" smtClean="0">
                              <a:solidFill>
                                <a:schemeClr val="tx1"/>
                              </a:solidFill>
                              <a:latin typeface="Cambria Math" panose="02040503050406030204" pitchFamily="18" charset="0"/>
                            </a:rPr>
                            <m:t>𝑪</m:t>
                          </m:r>
                        </m:e>
                        <m:sub>
                          <m:r>
                            <a:rPr lang="zh-CN" altLang="en-US" sz="800" b="1" i="0" smtClean="0">
                              <a:solidFill>
                                <a:schemeClr val="tx1"/>
                              </a:solidFill>
                              <a:latin typeface="Cambria Math" panose="02040503050406030204" pitchFamily="18" charset="0"/>
                            </a:rPr>
                            <m:t>𝟑</m:t>
                          </m:r>
                        </m:sub>
                      </m:sSub>
                      <m:sSup>
                        <m:sSupPr>
                          <m:ctrlPr>
                            <a:rPr lang="zh-CN" altLang="en-US" sz="800" b="1" i="1">
                              <a:solidFill>
                                <a:schemeClr val="tx1"/>
                              </a:solidFill>
                              <a:latin typeface="Cambria Math" panose="02040503050406030204" pitchFamily="18" charset="0"/>
                            </a:rPr>
                          </m:ctrlPr>
                        </m:sSupPr>
                        <m:e>
                          <m:r>
                            <a:rPr lang="zh-CN" altLang="en-US" sz="800" b="1" i="1" smtClean="0">
                              <a:solidFill>
                                <a:schemeClr val="tx1"/>
                              </a:solidFill>
                              <a:latin typeface="Cambria Math" panose="02040503050406030204" pitchFamily="18" charset="0"/>
                            </a:rPr>
                            <m:t>𝒅</m:t>
                          </m:r>
                        </m:e>
                        <m:sup>
                          <m:r>
                            <a:rPr lang="zh-CN" altLang="en-US" sz="800" b="1" i="0" smtClean="0">
                              <a:solidFill>
                                <a:schemeClr val="tx1"/>
                              </a:solidFill>
                              <a:latin typeface="Cambria Math" panose="02040503050406030204" pitchFamily="18" charset="0"/>
                            </a:rPr>
                            <m:t>𝟑</m:t>
                          </m:r>
                        </m:sup>
                      </m:sSup>
                      <m:r>
                        <a:rPr lang="zh-CN" altLang="en-US" sz="800" b="1" i="0" smtClean="0">
                          <a:solidFill>
                            <a:schemeClr val="tx1"/>
                          </a:solidFill>
                          <a:latin typeface="Cambria Math" panose="02040503050406030204" pitchFamily="18" charset="0"/>
                        </a:rPr>
                        <m:t>+</m:t>
                      </m:r>
                      <m:sSub>
                        <m:sSubPr>
                          <m:ctrlPr>
                            <a:rPr lang="zh-CN" altLang="en-US" sz="800" b="1" i="1">
                              <a:solidFill>
                                <a:schemeClr val="tx1"/>
                              </a:solidFill>
                              <a:latin typeface="Cambria Math" panose="02040503050406030204" pitchFamily="18" charset="0"/>
                            </a:rPr>
                          </m:ctrlPr>
                        </m:sSubPr>
                        <m:e>
                          <m:r>
                            <a:rPr lang="zh-CN" altLang="en-US" sz="800" b="1" i="1" smtClean="0">
                              <a:solidFill>
                                <a:schemeClr val="tx1"/>
                              </a:solidFill>
                              <a:latin typeface="Cambria Math" panose="02040503050406030204" pitchFamily="18" charset="0"/>
                            </a:rPr>
                            <m:t>𝑪</m:t>
                          </m:r>
                        </m:e>
                        <m:sub>
                          <m:r>
                            <a:rPr lang="zh-CN" altLang="en-US" sz="800" b="1" i="0" smtClean="0">
                              <a:solidFill>
                                <a:schemeClr val="tx1"/>
                              </a:solidFill>
                              <a:latin typeface="Cambria Math" panose="02040503050406030204" pitchFamily="18" charset="0"/>
                            </a:rPr>
                            <m:t>𝟒</m:t>
                          </m:r>
                        </m:sub>
                      </m:sSub>
                      <m:sSup>
                        <m:sSupPr>
                          <m:ctrlPr>
                            <a:rPr lang="zh-CN" altLang="en-US" sz="800" b="1" i="1">
                              <a:solidFill>
                                <a:schemeClr val="tx1"/>
                              </a:solidFill>
                              <a:latin typeface="Cambria Math" panose="02040503050406030204" pitchFamily="18" charset="0"/>
                            </a:rPr>
                          </m:ctrlPr>
                        </m:sSupPr>
                        <m:e>
                          <m:r>
                            <a:rPr lang="zh-CN" altLang="en-US" sz="800" b="1" i="1" smtClean="0">
                              <a:solidFill>
                                <a:schemeClr val="tx1"/>
                              </a:solidFill>
                              <a:latin typeface="Cambria Math" panose="02040503050406030204" pitchFamily="18" charset="0"/>
                            </a:rPr>
                            <m:t>𝒅</m:t>
                          </m:r>
                        </m:e>
                        <m:sup>
                          <m:r>
                            <a:rPr lang="zh-CN" altLang="en-US" sz="800" b="1" i="0" smtClean="0">
                              <a:solidFill>
                                <a:schemeClr val="tx1"/>
                              </a:solidFill>
                              <a:latin typeface="Cambria Math" panose="02040503050406030204" pitchFamily="18" charset="0"/>
                            </a:rPr>
                            <m:t>𝟒</m:t>
                          </m:r>
                        </m:sup>
                      </m:sSup>
                    </m:oMath>
                  </m:oMathPara>
                </a14:m>
                <a:endParaRPr lang="en-US" altLang="zh-CN" sz="700" b="1" dirty="0"/>
              </a:p>
              <a:p>
                <a:endParaRPr lang="en-US" altLang="zh-CN" sz="500" dirty="0"/>
              </a:p>
            </p:txBody>
          </p:sp>
        </mc:Choice>
        <mc:Fallback xmlns="">
          <p:sp>
            <p:nvSpPr>
              <p:cNvPr id="32" name="文本框 31">
                <a:extLst>
                  <a:ext uri="{FF2B5EF4-FFF2-40B4-BE49-F238E27FC236}">
                    <a16:creationId xmlns:a16="http://schemas.microsoft.com/office/drawing/2014/main" id="{16636475-6FF2-4E78-94B1-7BB7DE52D3FA}"/>
                  </a:ext>
                </a:extLst>
              </p:cNvPr>
              <p:cNvSpPr txBox="1">
                <a:spLocks noRot="1" noChangeAspect="1" noMove="1" noResize="1" noEditPoints="1" noAdjustHandles="1" noChangeArrowheads="1" noChangeShapeType="1" noTextEdit="1"/>
              </p:cNvSpPr>
              <p:nvPr/>
            </p:nvSpPr>
            <p:spPr>
              <a:xfrm>
                <a:off x="396169" y="2907600"/>
                <a:ext cx="1920472" cy="712824"/>
              </a:xfrm>
              <a:prstGeom prst="rect">
                <a:avLst/>
              </a:prstGeom>
              <a:blipFill>
                <a:blip r:embed="rId11"/>
                <a:stretch>
                  <a:fillRect t="-855"/>
                </a:stretch>
              </a:blipFill>
            </p:spPr>
            <p:txBody>
              <a:bodyPr/>
              <a:lstStyle/>
              <a:p>
                <a:r>
                  <a:rPr lang="zh-CN" altLang="en-US">
                    <a:noFill/>
                  </a:rPr>
                  <a:t> </a:t>
                </a:r>
              </a:p>
            </p:txBody>
          </p:sp>
        </mc:Fallback>
      </mc:AlternateContent>
      <p:pic>
        <p:nvPicPr>
          <p:cNvPr id="33" name="图片 32">
            <a:extLst>
              <a:ext uri="{FF2B5EF4-FFF2-40B4-BE49-F238E27FC236}">
                <a16:creationId xmlns:a16="http://schemas.microsoft.com/office/drawing/2014/main" id="{6A2540E9-3E26-4D55-BEBA-0EB41A392E6E}"/>
              </a:ext>
            </a:extLst>
          </p:cNvPr>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54746" y="3689340"/>
            <a:ext cx="1870674" cy="745146"/>
          </a:xfrm>
          <a:prstGeom prst="rect">
            <a:avLst/>
          </a:prstGeom>
          <a:noFill/>
          <a:ln>
            <a:noFill/>
          </a:ln>
        </p:spPr>
      </p:pic>
      <p:sp>
        <p:nvSpPr>
          <p:cNvPr id="34" name="矩形 33">
            <a:extLst>
              <a:ext uri="{FF2B5EF4-FFF2-40B4-BE49-F238E27FC236}">
                <a16:creationId xmlns:a16="http://schemas.microsoft.com/office/drawing/2014/main" id="{29E255E4-0A90-44E3-8F4A-EAA7027DB0BE}"/>
              </a:ext>
            </a:extLst>
          </p:cNvPr>
          <p:cNvSpPr/>
          <p:nvPr/>
        </p:nvSpPr>
        <p:spPr bwMode="auto">
          <a:xfrm>
            <a:off x="326269" y="2866195"/>
            <a:ext cx="1961328" cy="1676589"/>
          </a:xfrm>
          <a:prstGeom prst="rect">
            <a:avLst/>
          </a:prstGeom>
          <a:noFill/>
          <a:ln w="19050" cap="flat" cmpd="sng" algn="ctr">
            <a:solidFill>
              <a:schemeClr val="tx1"/>
            </a:solidFill>
            <a:prstDash val="dash"/>
            <a:round/>
            <a:headEnd type="none" w="med" len="med"/>
            <a:tailEnd type="none" w="med" len="med"/>
          </a:ln>
        </p:spPr>
        <p:txBody>
          <a:bodyPr vert="horz" wrap="square" lIns="91440" tIns="45720" rIns="91440" bIns="45720" numCol="1" rtlCol="0" anchor="t" anchorCtr="0" compatLnSpc="1">
            <a:spAutoFit/>
          </a:bodyPr>
          <a:lstStyle/>
          <a:p>
            <a:pPr marL="0" marR="0" indent="0" algn="ctr" defTabSz="914400" rtl="0" eaLnBrk="1" fontAlgn="base" latinLnBrk="0" hangingPunct="1">
              <a:spcBef>
                <a:spcPct val="0"/>
              </a:spcBef>
              <a:spcAft>
                <a:spcPct val="0"/>
              </a:spcAft>
              <a:buClrTx/>
              <a:buSzTx/>
              <a:buFont typeface="Arial" pitchFamily="34" charset="0"/>
              <a:buNone/>
            </a:pPr>
            <a:endParaRPr kumimoji="0" lang="zh-CN" altLang="en-US" sz="2400" b="1" i="0" u="none" strike="noStrike" cap="none" normalizeH="0" baseline="0">
              <a:ln>
                <a:noFill/>
              </a:ln>
              <a:solidFill>
                <a:schemeClr val="bg1"/>
              </a:solidFill>
              <a:effectLst/>
              <a:latin typeface="Arial" pitchFamily="34" charset="0"/>
              <a:ea typeface="黑体" pitchFamily="2" charset="-122"/>
            </a:endParaRPr>
          </a:p>
        </p:txBody>
      </p:sp>
      <p:pic>
        <p:nvPicPr>
          <p:cNvPr id="6" name="图片 5">
            <a:extLst>
              <a:ext uri="{FF2B5EF4-FFF2-40B4-BE49-F238E27FC236}">
                <a16:creationId xmlns:a16="http://schemas.microsoft.com/office/drawing/2014/main" id="{E0AFC91E-8158-4DC5-93C9-B7EDC2A2B975}"/>
              </a:ext>
            </a:extLst>
          </p:cNvPr>
          <p:cNvPicPr>
            <a:picLocks noChangeAspect="1"/>
          </p:cNvPicPr>
          <p:nvPr/>
        </p:nvPicPr>
        <p:blipFill rotWithShape="1">
          <a:blip r:embed="rId13"/>
          <a:srcRect r="33635"/>
          <a:stretch/>
        </p:blipFill>
        <p:spPr>
          <a:xfrm>
            <a:off x="6171332" y="4665471"/>
            <a:ext cx="3581165" cy="1546183"/>
          </a:xfrm>
          <a:prstGeom prst="rect">
            <a:avLst/>
          </a:prstGeom>
        </p:spPr>
      </p:pic>
      <p:sp>
        <p:nvSpPr>
          <p:cNvPr id="5" name="TextBox 45">
            <a:extLst>
              <a:ext uri="{FF2B5EF4-FFF2-40B4-BE49-F238E27FC236}">
                <a16:creationId xmlns:a16="http://schemas.microsoft.com/office/drawing/2014/main" id="{132764A4-C0EB-F59E-7286-F9B43109FE35}"/>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成果一：揭示了井下压裂过程物理机理及井口响应机制</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pic>
        <p:nvPicPr>
          <p:cNvPr id="7" name="图片 6">
            <a:extLst>
              <a:ext uri="{FF2B5EF4-FFF2-40B4-BE49-F238E27FC236}">
                <a16:creationId xmlns:a16="http://schemas.microsoft.com/office/drawing/2014/main" id="{C5776152-6587-40D9-8C30-2245CAED94AB}"/>
              </a:ext>
            </a:extLst>
          </p:cNvPr>
          <p:cNvPicPr>
            <a:picLocks noChangeAspect="1"/>
          </p:cNvPicPr>
          <p:nvPr/>
        </p:nvPicPr>
        <p:blipFill rotWithShape="1">
          <a:blip r:embed="rId14"/>
          <a:srcRect t="3607" b="4320"/>
          <a:stretch/>
        </p:blipFill>
        <p:spPr>
          <a:xfrm>
            <a:off x="6096000" y="2799154"/>
            <a:ext cx="5852844" cy="1838309"/>
          </a:xfrm>
          <a:prstGeom prst="rect">
            <a:avLst/>
          </a:prstGeom>
        </p:spPr>
      </p:pic>
      <p:pic>
        <p:nvPicPr>
          <p:cNvPr id="37" name="图片 36">
            <a:extLst>
              <a:ext uri="{FF2B5EF4-FFF2-40B4-BE49-F238E27FC236}">
                <a16:creationId xmlns:a16="http://schemas.microsoft.com/office/drawing/2014/main" id="{122D0E41-592C-4FC4-B4D3-D082450E1E5E}"/>
              </a:ext>
            </a:extLst>
          </p:cNvPr>
          <p:cNvPicPr>
            <a:picLocks noChangeAspect="1"/>
          </p:cNvPicPr>
          <p:nvPr/>
        </p:nvPicPr>
        <p:blipFill>
          <a:blip r:embed="rId15"/>
          <a:stretch>
            <a:fillRect/>
          </a:stretch>
        </p:blipFill>
        <p:spPr>
          <a:xfrm>
            <a:off x="350474" y="4777553"/>
            <a:ext cx="2757597" cy="1383224"/>
          </a:xfrm>
          <a:prstGeom prst="rect">
            <a:avLst/>
          </a:prstGeom>
        </p:spPr>
      </p:pic>
      <p:pic>
        <p:nvPicPr>
          <p:cNvPr id="38" name="图片 37">
            <a:extLst>
              <a:ext uri="{FF2B5EF4-FFF2-40B4-BE49-F238E27FC236}">
                <a16:creationId xmlns:a16="http://schemas.microsoft.com/office/drawing/2014/main" id="{AB92715C-F740-438E-83DE-2544C03DF510}"/>
              </a:ext>
            </a:extLst>
          </p:cNvPr>
          <p:cNvPicPr>
            <a:picLocks noChangeAspect="1"/>
          </p:cNvPicPr>
          <p:nvPr/>
        </p:nvPicPr>
        <p:blipFill>
          <a:blip r:embed="rId16"/>
          <a:stretch>
            <a:fillRect/>
          </a:stretch>
        </p:blipFill>
        <p:spPr>
          <a:xfrm>
            <a:off x="3215441" y="4777553"/>
            <a:ext cx="2785602" cy="1383224"/>
          </a:xfrm>
          <a:prstGeom prst="rect">
            <a:avLst/>
          </a:prstGeom>
        </p:spPr>
      </p:pic>
      <p:pic>
        <p:nvPicPr>
          <p:cNvPr id="11" name="图片 10">
            <a:extLst>
              <a:ext uri="{FF2B5EF4-FFF2-40B4-BE49-F238E27FC236}">
                <a16:creationId xmlns:a16="http://schemas.microsoft.com/office/drawing/2014/main" id="{D48161FE-9B62-41F8-A48C-8A3E87DE8D17}"/>
              </a:ext>
            </a:extLst>
          </p:cNvPr>
          <p:cNvPicPr>
            <a:picLocks noChangeAspect="1"/>
          </p:cNvPicPr>
          <p:nvPr/>
        </p:nvPicPr>
        <p:blipFill>
          <a:blip r:embed="rId17"/>
          <a:stretch>
            <a:fillRect/>
          </a:stretch>
        </p:blipFill>
        <p:spPr>
          <a:xfrm>
            <a:off x="9752497" y="4674207"/>
            <a:ext cx="1727268" cy="1546183"/>
          </a:xfrm>
          <a:prstGeom prst="rect">
            <a:avLst/>
          </a:prstGeom>
        </p:spPr>
      </p:pic>
      <p:pic>
        <p:nvPicPr>
          <p:cNvPr id="17" name="图片 16">
            <a:extLst>
              <a:ext uri="{FF2B5EF4-FFF2-40B4-BE49-F238E27FC236}">
                <a16:creationId xmlns:a16="http://schemas.microsoft.com/office/drawing/2014/main" id="{7EDD5072-2247-454E-BB98-3E76415A38DB}"/>
              </a:ext>
            </a:extLst>
          </p:cNvPr>
          <p:cNvPicPr>
            <a:picLocks noChangeAspect="1"/>
          </p:cNvPicPr>
          <p:nvPr/>
        </p:nvPicPr>
        <p:blipFill rotWithShape="1">
          <a:blip r:embed="rId18"/>
          <a:srcRect l="2982" b="19120"/>
          <a:stretch/>
        </p:blipFill>
        <p:spPr>
          <a:xfrm>
            <a:off x="723613" y="6110555"/>
            <a:ext cx="4842592" cy="262409"/>
          </a:xfrm>
          <a:prstGeom prst="rect">
            <a:avLst/>
          </a:prstGeom>
        </p:spPr>
      </p:pic>
    </p:spTree>
    <p:extLst>
      <p:ext uri="{BB962C8B-B14F-4D97-AF65-F5344CB8AC3E}">
        <p14:creationId xmlns:p14="http://schemas.microsoft.com/office/powerpoint/2010/main" val="3237352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263524" y="773307"/>
            <a:ext cx="11928475"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lang="en-US" altLang="zh-CN" sz="2400" kern="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3</a:t>
            </a:r>
            <a:r>
              <a:rPr lang="zh-CN" altLang="en-US" sz="2400" kern="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en-US" sz="2400" kern="0" dirty="0">
                <a:solidFill>
                  <a:srgbClr val="FF0000"/>
                </a:solidFill>
                <a:latin typeface="Times New Roman" panose="02020603050405020304" pitchFamily="18" charset="0"/>
                <a:ea typeface="方正大黑简体" panose="02010601030101010101" pitchFamily="2" charset="-122"/>
                <a:cs typeface="Times New Roman" panose="02020603050405020304" pitchFamily="18" charset="0"/>
              </a:rPr>
              <a:t>基于</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方正大黑简体" panose="02010601030101010101" pitchFamily="2" charset="-122"/>
                <a:cs typeface="Times New Roman" panose="02020603050405020304" pitchFamily="18" charset="0"/>
              </a:rPr>
              <a:t>高精度数模</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方正大黑简体" panose="02010601030101010101" pitchFamily="2" charset="-122"/>
                <a:cs typeface="Times New Roman" panose="02020603050405020304" pitchFamily="18" charset="0"/>
              </a:rPr>
              <a:t>-</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方正大黑简体" panose="02010601030101010101" pitchFamily="2" charset="-122"/>
                <a:cs typeface="Times New Roman" panose="02020603050405020304" pitchFamily="18" charset="0"/>
              </a:rPr>
              <a:t>光学示踪实验融合方法，揭示了井筒</a:t>
            </a:r>
            <a:r>
              <a:rPr kumimoji="0" lang="en-US" altLang="zh-CN" sz="2400" b="0" i="0" u="none" strike="noStrike" kern="0" cap="none" spc="0" normalizeH="0" baseline="0" noProof="0" dirty="0">
                <a:ln>
                  <a:noFill/>
                </a:ln>
                <a:solidFill>
                  <a:srgbClr val="FF0000"/>
                </a:solidFill>
                <a:effectLst/>
                <a:uLnTx/>
                <a:uFillTx/>
                <a:latin typeface="Times New Roman" panose="02020603050405020304" pitchFamily="18" charset="0"/>
                <a:ea typeface="方正大黑简体" panose="02010601030101010101" pitchFamily="2" charset="-122"/>
                <a:cs typeface="Times New Roman" panose="02020603050405020304" pitchFamily="18" charset="0"/>
              </a:rPr>
              <a:t>-</a:t>
            </a:r>
            <a:r>
              <a:rPr kumimoji="0" lang="zh-CN" altLang="en-US" sz="2400" b="0" i="0" u="none" strike="noStrike" kern="0" cap="none" spc="0" normalizeH="0" baseline="0" noProof="0" dirty="0">
                <a:ln>
                  <a:noFill/>
                </a:ln>
                <a:solidFill>
                  <a:srgbClr val="FF0000"/>
                </a:solidFill>
                <a:effectLst/>
                <a:uLnTx/>
                <a:uFillTx/>
                <a:latin typeface="Times New Roman" panose="02020603050405020304" pitchFamily="18" charset="0"/>
                <a:ea typeface="方正大黑简体" panose="02010601030101010101" pitchFamily="2" charset="-122"/>
                <a:cs typeface="Times New Roman" panose="02020603050405020304" pitchFamily="18" charset="0"/>
              </a:rPr>
              <a:t>多裂缝系统支撑剂运移机理</a:t>
            </a:r>
          </a:p>
        </p:txBody>
      </p:sp>
      <p:sp>
        <p:nvSpPr>
          <p:cNvPr id="56" name="Text Box 7"/>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85750" algn="just" defTabSz="914400" rtl="0" eaLnBrk="1" fontAlgn="auto" latinLnBrk="0" hangingPunct="1">
              <a:lnSpc>
                <a:spcPct val="150000"/>
              </a:lnSpc>
              <a:spcBef>
                <a:spcPts val="0"/>
              </a:spcBef>
              <a:spcAft>
                <a:spcPts val="0"/>
              </a:spcAft>
              <a:buClr>
                <a:srgbClr val="FF0000"/>
              </a:buClr>
              <a:buSzTx/>
              <a:buFont typeface="Wingdings" panose="05000000000000000000" pitchFamily="2" charset="2"/>
              <a:buChar char="n"/>
              <a:tabLst/>
              <a:defRPr/>
            </a:pP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创建</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了</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井筒</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多裂缝系统</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支撑剂运移数值模型，</a:t>
            </a:r>
            <a:r>
              <a:rPr kumimoji="0" lang="zh-CN" altLang="en-US" sz="2000" b="1"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Times New Roman" panose="02020603050405020304" pitchFamily="18" charset="0"/>
              </a:rPr>
              <a:t>创新搭建了</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单面粗糙可视化</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PIV/PTV</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融合</a:t>
            </a:r>
            <a:r>
              <a:rPr kumimoji="0" lang="zh-CN" altLang="en-US" sz="2000" b="1"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Times New Roman" panose="02020603050405020304" pitchFamily="18" charset="0"/>
              </a:rPr>
              <a:t>的支撑剂运移实验装置</a:t>
            </a:r>
            <a:r>
              <a:rPr kumimoji="0" lang="zh-CN" altLang="en-US" sz="2000" b="1" i="0" u="none" strike="noStrike" kern="1200" cap="none" spc="0" normalizeH="0" baseline="0" noProof="0" dirty="0">
                <a:ln>
                  <a:noFill/>
                </a:ln>
                <a:solidFill>
                  <a:srgbClr val="00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，实现了粗糙复杂缝内</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支撑剂和流体的精确性可视化分析，</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结果表明</a:t>
            </a:r>
            <a:r>
              <a:rPr kumimoji="0" lang="zh-CN" altLang="en-US" sz="2000" b="1"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Times New Roman" panose="02020603050405020304" pitchFamily="18" charset="0"/>
              </a:rPr>
              <a:t>井筒支撑剂优先进入跟部射孔簇，缝内砂堤长度与表面粗糙度呈正相关，与分支缝角度呈负相关。</a:t>
            </a:r>
            <a:endParaRPr kumimoji="0" lang="en-US" altLang="zh-CN" sz="2000" b="1" i="0" u="none" strike="noStrike" kern="1200" cap="none" spc="0" normalizeH="0" baseline="0" noProof="0" dirty="0">
              <a:ln>
                <a:noFill/>
              </a:ln>
              <a:effectLst/>
              <a:highlight>
                <a:srgbClr val="FFFF00"/>
              </a:highlight>
              <a:uLnTx/>
              <a:uFillTx/>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11" name="组合 10">
            <a:extLst>
              <a:ext uri="{FF2B5EF4-FFF2-40B4-BE49-F238E27FC236}">
                <a16:creationId xmlns:a16="http://schemas.microsoft.com/office/drawing/2014/main" id="{275B23C9-A690-40D6-885A-7105327960D3}"/>
              </a:ext>
            </a:extLst>
          </p:cNvPr>
          <p:cNvGrpSpPr/>
          <p:nvPr/>
        </p:nvGrpSpPr>
        <p:grpSpPr>
          <a:xfrm>
            <a:off x="263525" y="2682806"/>
            <a:ext cx="11736388" cy="3770530"/>
            <a:chOff x="263525" y="2682806"/>
            <a:chExt cx="11736388" cy="3770530"/>
          </a:xfrm>
        </p:grpSpPr>
        <p:grpSp>
          <p:nvGrpSpPr>
            <p:cNvPr id="5" name="组合 4">
              <a:extLst>
                <a:ext uri="{FF2B5EF4-FFF2-40B4-BE49-F238E27FC236}">
                  <a16:creationId xmlns:a16="http://schemas.microsoft.com/office/drawing/2014/main" id="{4CCB5D87-599E-4F2B-A26F-622BEEDE1713}"/>
                </a:ext>
              </a:extLst>
            </p:cNvPr>
            <p:cNvGrpSpPr/>
            <p:nvPr/>
          </p:nvGrpSpPr>
          <p:grpSpPr>
            <a:xfrm>
              <a:off x="263525" y="2682806"/>
              <a:ext cx="11736388" cy="3770530"/>
              <a:chOff x="263525" y="2682806"/>
              <a:chExt cx="11736388" cy="3770530"/>
            </a:xfrm>
          </p:grpSpPr>
          <p:pic>
            <p:nvPicPr>
              <p:cNvPr id="2" name="图片 1">
                <a:extLst>
                  <a:ext uri="{FF2B5EF4-FFF2-40B4-BE49-F238E27FC236}">
                    <a16:creationId xmlns:a16="http://schemas.microsoft.com/office/drawing/2014/main" id="{CD71BD89-4941-4674-96EF-B579723AC5A5}"/>
                  </a:ext>
                </a:extLst>
              </p:cNvPr>
              <p:cNvPicPr>
                <a:picLocks noChangeAspect="1"/>
              </p:cNvPicPr>
              <p:nvPr/>
            </p:nvPicPr>
            <p:blipFill>
              <a:blip r:embed="rId3"/>
              <a:stretch>
                <a:fillRect/>
              </a:stretch>
            </p:blipFill>
            <p:spPr>
              <a:xfrm>
                <a:off x="8830375" y="4631476"/>
                <a:ext cx="2835973" cy="1821860"/>
              </a:xfrm>
              <a:prstGeom prst="rect">
                <a:avLst/>
              </a:prstGeom>
            </p:spPr>
          </p:pic>
          <p:pic>
            <p:nvPicPr>
              <p:cNvPr id="17" name="图片 16">
                <a:extLst>
                  <a:ext uri="{FF2B5EF4-FFF2-40B4-BE49-F238E27FC236}">
                    <a16:creationId xmlns:a16="http://schemas.microsoft.com/office/drawing/2014/main" id="{D16765A3-7487-4DFA-8AAC-C3F579FB577D}"/>
                  </a:ext>
                </a:extLst>
              </p:cNvPr>
              <p:cNvPicPr>
                <a:picLocks noChangeAspect="1"/>
              </p:cNvPicPr>
              <p:nvPr/>
            </p:nvPicPr>
            <p:blipFill rotWithShape="1">
              <a:blip r:embed="rId4"/>
              <a:srcRect l="4952" t="6244" r="4349"/>
              <a:stretch/>
            </p:blipFill>
            <p:spPr>
              <a:xfrm>
                <a:off x="8949003" y="2710798"/>
                <a:ext cx="2717345" cy="1948527"/>
              </a:xfrm>
              <a:prstGeom prst="rect">
                <a:avLst/>
              </a:prstGeom>
            </p:spPr>
          </p:pic>
          <p:pic>
            <p:nvPicPr>
              <p:cNvPr id="13" name="图片 12">
                <a:extLst>
                  <a:ext uri="{FF2B5EF4-FFF2-40B4-BE49-F238E27FC236}">
                    <a16:creationId xmlns:a16="http://schemas.microsoft.com/office/drawing/2014/main" id="{6D405C61-40AD-48E4-81DF-6998AF6C9B53}"/>
                  </a:ext>
                </a:extLst>
              </p:cNvPr>
              <p:cNvPicPr>
                <a:picLocks noChangeAspect="1"/>
              </p:cNvPicPr>
              <p:nvPr/>
            </p:nvPicPr>
            <p:blipFill>
              <a:blip r:embed="rId5"/>
              <a:stretch>
                <a:fillRect/>
              </a:stretch>
            </p:blipFill>
            <p:spPr>
              <a:xfrm>
                <a:off x="3723609" y="2682806"/>
                <a:ext cx="4932503" cy="1898322"/>
              </a:xfrm>
              <a:prstGeom prst="rect">
                <a:avLst/>
              </a:prstGeom>
            </p:spPr>
          </p:pic>
          <p:pic>
            <p:nvPicPr>
              <p:cNvPr id="8" name="图片 7">
                <a:extLst>
                  <a:ext uri="{FF2B5EF4-FFF2-40B4-BE49-F238E27FC236}">
                    <a16:creationId xmlns:a16="http://schemas.microsoft.com/office/drawing/2014/main" id="{2BB052DB-61D7-42A8-BBF6-448417914D29}"/>
                  </a:ext>
                </a:extLst>
              </p:cNvPr>
              <p:cNvPicPr>
                <a:picLocks noChangeAspect="1"/>
              </p:cNvPicPr>
              <p:nvPr/>
            </p:nvPicPr>
            <p:blipFill>
              <a:blip r:embed="rId6"/>
              <a:stretch>
                <a:fillRect/>
              </a:stretch>
            </p:blipFill>
            <p:spPr>
              <a:xfrm>
                <a:off x="610492" y="4637987"/>
                <a:ext cx="2671188" cy="1710198"/>
              </a:xfrm>
              <a:prstGeom prst="rect">
                <a:avLst/>
              </a:prstGeom>
            </p:spPr>
          </p:pic>
          <p:pic>
            <p:nvPicPr>
              <p:cNvPr id="15" name="图片 14">
                <a:extLst>
                  <a:ext uri="{FF2B5EF4-FFF2-40B4-BE49-F238E27FC236}">
                    <a16:creationId xmlns:a16="http://schemas.microsoft.com/office/drawing/2014/main" id="{247E16BB-C715-497B-8B41-073029CDE1AD}"/>
                  </a:ext>
                </a:extLst>
              </p:cNvPr>
              <p:cNvPicPr>
                <a:picLocks noChangeAspect="1"/>
              </p:cNvPicPr>
              <p:nvPr/>
            </p:nvPicPr>
            <p:blipFill>
              <a:blip r:embed="rId7"/>
              <a:stretch>
                <a:fillRect/>
              </a:stretch>
            </p:blipFill>
            <p:spPr>
              <a:xfrm>
                <a:off x="3742552" y="4555016"/>
                <a:ext cx="5020612" cy="1818402"/>
              </a:xfrm>
              <a:prstGeom prst="rect">
                <a:avLst/>
              </a:prstGeom>
            </p:spPr>
          </p:pic>
          <p:sp>
            <p:nvSpPr>
              <p:cNvPr id="35" name="矩形 13">
                <a:extLst>
                  <a:ext uri="{FF2B5EF4-FFF2-40B4-BE49-F238E27FC236}">
                    <a16:creationId xmlns:a16="http://schemas.microsoft.com/office/drawing/2014/main" id="{42BA7941-FE1D-FCB1-D069-F6B346927DB6}"/>
                  </a:ext>
                </a:extLst>
              </p:cNvPr>
              <p:cNvSpPr>
                <a:spLocks noChangeArrowheads="1"/>
              </p:cNvSpPr>
              <p:nvPr/>
            </p:nvSpPr>
            <p:spPr bwMode="auto">
              <a:xfrm>
                <a:off x="263525" y="2708920"/>
                <a:ext cx="11736388" cy="3744416"/>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25000"/>
                  </a:lnSpc>
                  <a:spcBef>
                    <a:spcPct val="20000"/>
                  </a:spcBef>
                  <a:spcAft>
                    <a:spcPts val="0"/>
                  </a:spcAft>
                  <a:buClrTx/>
                  <a:buSzTx/>
                  <a:buFont typeface="Wingdings" panose="05000000000000000000" pitchFamily="2" charset="2"/>
                  <a:buNone/>
                  <a:tabLst/>
                  <a:defRPr/>
                </a:pPr>
                <a:endParaRPr kumimoji="0" lang="zh-CN" altLang="en-US" sz="1400" b="0" i="0" u="none" strike="noStrike" kern="1200" cap="none" spc="0" normalizeH="0" baseline="0" noProof="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0" name="文本框 29">
                <a:extLst>
                  <a:ext uri="{FF2B5EF4-FFF2-40B4-BE49-F238E27FC236}">
                    <a16:creationId xmlns:a16="http://schemas.microsoft.com/office/drawing/2014/main" id="{D5399E5E-BDA0-441E-AF3C-5B30BF898089}"/>
                  </a:ext>
                </a:extLst>
              </p:cNvPr>
              <p:cNvSpPr txBox="1"/>
              <p:nvPr/>
            </p:nvSpPr>
            <p:spPr>
              <a:xfrm>
                <a:off x="9690027" y="2742871"/>
                <a:ext cx="1526095"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0" normalizeH="0" baseline="0" noProof="0" dirty="0">
                    <a:ln>
                      <a:noFill/>
                    </a:ln>
                    <a:solidFill>
                      <a:srgbClr val="FFC000"/>
                    </a:solidFill>
                    <a:effectLst/>
                    <a:uLnTx/>
                    <a:uFillTx/>
                    <a:latin typeface="Times New Roman" panose="02020603050405020304" pitchFamily="18" charset="0"/>
                    <a:ea typeface="黑体" panose="02010609060101010101" pitchFamily="49" charset="-122"/>
                    <a:cs typeface="Times New Roman" panose="02020603050405020304" pitchFamily="18" charset="0"/>
                  </a:rPr>
                  <a:t>不同射孔进砂量对比</a:t>
                </a:r>
              </a:p>
            </p:txBody>
          </p:sp>
          <p:sp>
            <p:nvSpPr>
              <p:cNvPr id="32" name="文本框 31">
                <a:extLst>
                  <a:ext uri="{FF2B5EF4-FFF2-40B4-BE49-F238E27FC236}">
                    <a16:creationId xmlns:a16="http://schemas.microsoft.com/office/drawing/2014/main" id="{3AAF0059-72BA-4C09-8311-E8DDA959CFDC}"/>
                  </a:ext>
                </a:extLst>
              </p:cNvPr>
              <p:cNvSpPr txBox="1"/>
              <p:nvPr/>
            </p:nvSpPr>
            <p:spPr>
              <a:xfrm>
                <a:off x="5450998" y="2963185"/>
                <a:ext cx="1895168"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5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井筒中支撑剂运移模拟过程</a:t>
                </a:r>
                <a:endParaRPr kumimoji="0" lang="zh-CN" altLang="en-US" sz="105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7" name="文本框 36">
                <a:extLst>
                  <a:ext uri="{FF2B5EF4-FFF2-40B4-BE49-F238E27FC236}">
                    <a16:creationId xmlns:a16="http://schemas.microsoft.com/office/drawing/2014/main" id="{7130EB50-0A41-4546-8613-49F47A82D6D3}"/>
                  </a:ext>
                </a:extLst>
              </p:cNvPr>
              <p:cNvSpPr txBox="1"/>
              <p:nvPr/>
            </p:nvSpPr>
            <p:spPr>
              <a:xfrm>
                <a:off x="1006808" y="6119500"/>
                <a:ext cx="1885337" cy="25391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50" b="1" dirty="0">
                    <a:solidFill>
                      <a:srgbClr val="00B0F0"/>
                    </a:solidFill>
                    <a:latin typeface="Times New Roman" panose="02020603050405020304" pitchFamily="18" charset="0"/>
                    <a:ea typeface="黑体" panose="02010609060101010101" pitchFamily="49" charset="-122"/>
                    <a:cs typeface="Times New Roman" panose="02020603050405020304" pitchFamily="18" charset="0"/>
                  </a:rPr>
                  <a:t>可视化支撑剂运移实验系统</a:t>
                </a:r>
                <a:endParaRPr kumimoji="0" lang="zh-CN" altLang="en-US" sz="1050" b="1" i="0" u="none" strike="noStrike" kern="1200" cap="none" spc="0" normalizeH="0" baseline="0" noProof="0" dirty="0">
                  <a:ln>
                    <a:noFill/>
                  </a:ln>
                  <a:solidFill>
                    <a:srgbClr val="00B0F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38" name="文本框 37">
                <a:extLst>
                  <a:ext uri="{FF2B5EF4-FFF2-40B4-BE49-F238E27FC236}">
                    <a16:creationId xmlns:a16="http://schemas.microsoft.com/office/drawing/2014/main" id="{8E9BEF79-D138-4CB7-9081-5DAAEE2A784B}"/>
                  </a:ext>
                </a:extLst>
              </p:cNvPr>
              <p:cNvSpPr txBox="1"/>
              <p:nvPr/>
            </p:nvSpPr>
            <p:spPr>
              <a:xfrm>
                <a:off x="5448168" y="5992542"/>
                <a:ext cx="1846007"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105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可视化支撑剂运移实验过程</a:t>
                </a:r>
                <a:endParaRPr kumimoji="0" lang="zh-CN" altLang="en-US" sz="105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19" name="文本框 18">
                <a:extLst>
                  <a:ext uri="{FF2B5EF4-FFF2-40B4-BE49-F238E27FC236}">
                    <a16:creationId xmlns:a16="http://schemas.microsoft.com/office/drawing/2014/main" id="{7C7C69BF-1A68-4249-B930-32010F7DAF12}"/>
                  </a:ext>
                </a:extLst>
              </p:cNvPr>
              <p:cNvSpPr txBox="1"/>
              <p:nvPr/>
            </p:nvSpPr>
            <p:spPr>
              <a:xfrm>
                <a:off x="9502208" y="6006174"/>
                <a:ext cx="1978301"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0" normalizeH="0" baseline="0" noProof="0" dirty="0">
                    <a:ln>
                      <a:noFill/>
                    </a:ln>
                    <a:solidFill>
                      <a:srgbClr val="FFC000"/>
                    </a:solidFill>
                    <a:effectLst/>
                    <a:uLnTx/>
                    <a:uFillTx/>
                    <a:latin typeface="Times New Roman" panose="02020603050405020304" pitchFamily="18" charset="0"/>
                    <a:ea typeface="黑体" panose="02010609060101010101" pitchFamily="49" charset="-122"/>
                    <a:cs typeface="Times New Roman" panose="02020603050405020304" pitchFamily="18" charset="0"/>
                  </a:rPr>
                  <a:t>砂堤长度随分支角度变化情况</a:t>
                </a:r>
              </a:p>
            </p:txBody>
          </p:sp>
        </p:grpSp>
        <p:pic>
          <p:nvPicPr>
            <p:cNvPr id="4" name="图片 3">
              <a:extLst>
                <a:ext uri="{FF2B5EF4-FFF2-40B4-BE49-F238E27FC236}">
                  <a16:creationId xmlns:a16="http://schemas.microsoft.com/office/drawing/2014/main" id="{8964A9F3-B2F0-44D5-A560-BA8C176E4790}"/>
                </a:ext>
              </a:extLst>
            </p:cNvPr>
            <p:cNvPicPr>
              <a:picLocks noChangeAspect="1"/>
            </p:cNvPicPr>
            <p:nvPr/>
          </p:nvPicPr>
          <p:blipFill rotWithShape="1">
            <a:blip r:embed="rId8"/>
            <a:srcRect t="17344" b="6268"/>
            <a:stretch/>
          </p:blipFill>
          <p:spPr>
            <a:xfrm>
              <a:off x="535075" y="2869829"/>
              <a:ext cx="2916984" cy="1630463"/>
            </a:xfrm>
            <a:prstGeom prst="rect">
              <a:avLst/>
            </a:prstGeom>
          </p:spPr>
        </p:pic>
        <p:sp>
          <p:nvSpPr>
            <p:cNvPr id="21" name="文本框 20">
              <a:extLst>
                <a:ext uri="{FF2B5EF4-FFF2-40B4-BE49-F238E27FC236}">
                  <a16:creationId xmlns:a16="http://schemas.microsoft.com/office/drawing/2014/main" id="{6134C14A-0BA5-4D4B-BA5D-F73B3983DE68}"/>
                </a:ext>
              </a:extLst>
            </p:cNvPr>
            <p:cNvSpPr txBox="1"/>
            <p:nvPr/>
          </p:nvSpPr>
          <p:spPr>
            <a:xfrm>
              <a:off x="861131" y="2804395"/>
              <a:ext cx="2342083"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050" b="1" i="0" u="none" strike="noStrike" kern="1200" cap="none" spc="0" normalizeH="0" baseline="0" noProof="0" dirty="0">
                  <a:ln>
                    <a:noFill/>
                  </a:ln>
                  <a:solidFill>
                    <a:srgbClr val="00B0F0"/>
                  </a:solidFill>
                  <a:effectLst/>
                  <a:uLnTx/>
                  <a:uFillTx/>
                  <a:latin typeface="Times New Roman" panose="02020603050405020304" pitchFamily="18" charset="0"/>
                  <a:ea typeface="黑体" panose="02010609060101010101" pitchFamily="49" charset="-122"/>
                  <a:cs typeface="Times New Roman" panose="02020603050405020304" pitchFamily="18" charset="0"/>
                </a:rPr>
                <a:t>单簇、多簇井筒支撑剂运移模型</a:t>
              </a:r>
            </a:p>
          </p:txBody>
        </p:sp>
      </p:grpSp>
      <p:sp>
        <p:nvSpPr>
          <p:cNvPr id="6" name="TextBox 45">
            <a:extLst>
              <a:ext uri="{FF2B5EF4-FFF2-40B4-BE49-F238E27FC236}">
                <a16:creationId xmlns:a16="http://schemas.microsoft.com/office/drawing/2014/main" id="{D7C22C2B-C61C-0239-C4B5-BFCFD74BDCFE}"/>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Times New Roman" panose="02020603050405020304" pitchFamily="18" charset="0"/>
                <a:ea typeface="方正大黑简体" panose="02010601030101010101" pitchFamily="65" charset="-122"/>
                <a:cs typeface="Times New Roman" panose="02020603050405020304" pitchFamily="18" charset="0"/>
              </a:rPr>
              <a:t>成果一：揭示了井下压裂过程物理机理及井口响应机制</a:t>
            </a:r>
            <a:endParaRPr lang="zh-CN" altLang="en-US" sz="2800" noProof="1">
              <a:solidFill>
                <a:srgbClr val="FF0000"/>
              </a:solidFill>
              <a:latin typeface="Times New Roman" panose="02020603050405020304" pitchFamily="18" charset="0"/>
              <a:ea typeface="方正大黑简体" panose="02010601030101010101" pitchFamily="65" charset="-122"/>
              <a:cs typeface="Times New Roman" panose="02020603050405020304" pitchFamily="18" charset="0"/>
            </a:endParaRPr>
          </a:p>
        </p:txBody>
      </p:sp>
    </p:spTree>
    <p:extLst>
      <p:ext uri="{BB962C8B-B14F-4D97-AF65-F5344CB8AC3E}">
        <p14:creationId xmlns:p14="http://schemas.microsoft.com/office/powerpoint/2010/main" val="1271139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263525" y="773307"/>
            <a:ext cx="11614622"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4</a:t>
            </a:r>
            <a:r>
              <a:rPr kumimoji="0" lang="zh-CN" altLang="en-US"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、建立了考虑颗粒碰撞及缝口压力响应的迂曲裂缝支撑剂运移模型</a:t>
            </a:r>
          </a:p>
        </p:txBody>
      </p:sp>
      <p:grpSp>
        <p:nvGrpSpPr>
          <p:cNvPr id="13" name="组合 12">
            <a:extLst>
              <a:ext uri="{FF2B5EF4-FFF2-40B4-BE49-F238E27FC236}">
                <a16:creationId xmlns:a16="http://schemas.microsoft.com/office/drawing/2014/main" id="{E0CB93C5-EAA6-4C86-97BC-D0B15DA7A72F}"/>
              </a:ext>
            </a:extLst>
          </p:cNvPr>
          <p:cNvGrpSpPr/>
          <p:nvPr/>
        </p:nvGrpSpPr>
        <p:grpSpPr>
          <a:xfrm>
            <a:off x="263525" y="2708920"/>
            <a:ext cx="11736388" cy="3744416"/>
            <a:chOff x="263525" y="2708920"/>
            <a:chExt cx="11736388" cy="3744416"/>
          </a:xfrm>
        </p:grpSpPr>
        <p:sp>
          <p:nvSpPr>
            <p:cNvPr id="35" name="矩形 13">
              <a:extLst>
                <a:ext uri="{FF2B5EF4-FFF2-40B4-BE49-F238E27FC236}">
                  <a16:creationId xmlns:a16="http://schemas.microsoft.com/office/drawing/2014/main" id="{42BA7941-FE1D-FCB1-D069-F6B346927DB6}"/>
                </a:ext>
              </a:extLst>
            </p:cNvPr>
            <p:cNvSpPr>
              <a:spLocks noChangeArrowheads="1"/>
            </p:cNvSpPr>
            <p:nvPr/>
          </p:nvSpPr>
          <p:spPr bwMode="auto">
            <a:xfrm>
              <a:off x="263525" y="2708920"/>
              <a:ext cx="11736388" cy="3744416"/>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marL="342900" marR="0" lvl="0" indent="-342900" algn="l" defTabSz="914400" rtl="0" eaLnBrk="1" fontAlgn="auto" latinLnBrk="0" hangingPunct="1">
                <a:lnSpc>
                  <a:spcPct val="125000"/>
                </a:lnSpc>
                <a:spcBef>
                  <a:spcPct val="20000"/>
                </a:spcBef>
                <a:spcAft>
                  <a:spcPts val="0"/>
                </a:spcAft>
                <a:buClrTx/>
                <a:buSzTx/>
                <a:buFont typeface="Wingdings" panose="05000000000000000000" pitchFamily="2" charset="2"/>
                <a:buNone/>
                <a:tabLst/>
                <a:defRPr/>
              </a:pPr>
              <a:endParaRPr kumimoji="0" lang="zh-CN" altLang="en-US" sz="1400" b="0" i="0" u="none" strike="noStrike" kern="1200" cap="none" spc="0" normalizeH="0" baseline="0" noProof="0">
                <a:ln>
                  <a:noFill/>
                </a:ln>
                <a:solidFill>
                  <a:prstClr val="black"/>
                </a:solidFill>
                <a:effectLst/>
                <a:uLnTx/>
                <a:uFillTx/>
                <a:latin typeface="黑体" panose="02010609060101010101" pitchFamily="49" charset="-122"/>
                <a:ea typeface="黑体" panose="02010609060101010101" pitchFamily="49" charset="-122"/>
                <a:cs typeface="+mn-cs"/>
              </a:endParaRPr>
            </a:p>
          </p:txBody>
        </p:sp>
        <p:pic>
          <p:nvPicPr>
            <p:cNvPr id="12" name="图片 11">
              <a:extLst>
                <a:ext uri="{FF2B5EF4-FFF2-40B4-BE49-F238E27FC236}">
                  <a16:creationId xmlns:a16="http://schemas.microsoft.com/office/drawing/2014/main" id="{2FE50B99-CBA9-4C85-B127-F6BFBACF9EF8}"/>
                </a:ext>
              </a:extLst>
            </p:cNvPr>
            <p:cNvPicPr>
              <a:picLocks noChangeAspect="1"/>
            </p:cNvPicPr>
            <p:nvPr/>
          </p:nvPicPr>
          <p:blipFill>
            <a:blip r:embed="rId2"/>
            <a:stretch>
              <a:fillRect/>
            </a:stretch>
          </p:blipFill>
          <p:spPr>
            <a:xfrm>
              <a:off x="368310" y="2852739"/>
              <a:ext cx="11455377" cy="3456582"/>
            </a:xfrm>
            <a:prstGeom prst="rect">
              <a:avLst/>
            </a:prstGeom>
          </p:spPr>
        </p:pic>
      </p:grpSp>
      <p:sp>
        <p:nvSpPr>
          <p:cNvPr id="2" name="TextBox 45">
            <a:extLst>
              <a:ext uri="{FF2B5EF4-FFF2-40B4-BE49-F238E27FC236}">
                <a16:creationId xmlns:a16="http://schemas.microsoft.com/office/drawing/2014/main" id="{E2896345-2251-A011-95BC-B5739AE73698}"/>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b="1" noProof="1">
                <a:solidFill>
                  <a:srgbClr val="3B3BFF"/>
                </a:solidFill>
                <a:latin typeface="方正大黑简体" panose="02010601030101010101" pitchFamily="65" charset="-122"/>
                <a:ea typeface="方正大黑简体" panose="02010601030101010101" pitchFamily="65" charset="-122"/>
              </a:rPr>
              <a:t>成果一：揭示了井下压裂过程物理机理及井口响应机制</a:t>
            </a:r>
            <a:endParaRPr lang="zh-CN" altLang="en-US" sz="2800" b="1" noProof="1">
              <a:solidFill>
                <a:srgbClr val="FF0000"/>
              </a:solidFill>
              <a:latin typeface="方正大黑简体" panose="02010601030101010101" pitchFamily="65" charset="-122"/>
              <a:ea typeface="方正大黑简体" panose="02010601030101010101" pitchFamily="65" charset="-122"/>
            </a:endParaRPr>
          </a:p>
        </p:txBody>
      </p:sp>
      <p:sp>
        <p:nvSpPr>
          <p:cNvPr id="4" name="Text Box 7">
            <a:extLst>
              <a:ext uri="{FF2B5EF4-FFF2-40B4-BE49-F238E27FC236}">
                <a16:creationId xmlns:a16="http://schemas.microsoft.com/office/drawing/2014/main" id="{36A39A6F-1395-D6D0-40FC-F338D192999B}"/>
              </a:ext>
            </a:extLst>
          </p:cNvPr>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285750" algn="just" defTabSz="914400" rtl="0" eaLnBrk="1" fontAlgn="auto" latinLnBrk="0" hangingPunct="1">
              <a:lnSpc>
                <a:spcPct val="150000"/>
              </a:lnSpc>
              <a:spcBef>
                <a:spcPts val="0"/>
              </a:spcBef>
              <a:spcAft>
                <a:spcPts val="0"/>
              </a:spcAft>
              <a:buClr>
                <a:srgbClr val="FF0000"/>
              </a:buClr>
              <a:buSzTx/>
              <a:buFont typeface="Wingdings" panose="05000000000000000000" pitchFamily="2" charset="2"/>
              <a:buChar char="n"/>
              <a:tabLst/>
              <a:defRPr/>
            </a:pPr>
            <a:r>
              <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通过</a:t>
            </a:r>
            <a:r>
              <a:rPr kumimoji="0" lang="zh-CN" altLang="en-US" sz="2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多维度相互作用</a:t>
            </a:r>
            <a:r>
              <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（颗粒与颗粒、颗粒与流体、颗粒与壁面、流体与壁面）的离散元方法，创新构建了</a:t>
            </a:r>
            <a:r>
              <a:rPr kumimoji="0" lang="zh-CN" altLang="en-US" sz="2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实时表征缝口压力响应的迂曲裂缝支撑剂运移模型</a:t>
            </a:r>
            <a:r>
              <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，结果显示迂曲角增大，迂曲角处支撑剂床阻碍更多流体和支撑剂通过，缝口压力激增</a:t>
            </a:r>
            <a:r>
              <a:rPr lang="zh-CN" altLang="en-US" sz="2000" b="1" dirty="0">
                <a:solidFill>
                  <a:srgbClr val="000000"/>
                </a:solidFill>
                <a:latin typeface="黑体" panose="02010609060101010101" pitchFamily="49" charset="-122"/>
                <a:ea typeface="黑体" panose="02010609060101010101" pitchFamily="49" charset="-122"/>
              </a:rPr>
              <a:t>响应的</a:t>
            </a:r>
            <a:r>
              <a:rPr kumimoji="0" lang="zh-CN" altLang="en-US" sz="20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cs typeface="+mn-cs"/>
              </a:rPr>
              <a:t>时间提前，揭示了</a:t>
            </a:r>
            <a:r>
              <a:rPr kumimoji="0" lang="zh-CN" altLang="en-US" sz="2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迂曲角度是</a:t>
            </a:r>
            <a:r>
              <a:rPr lang="zh-CN" altLang="en-US" sz="2000" b="1" dirty="0">
                <a:solidFill>
                  <a:srgbClr val="FF0000"/>
                </a:solidFill>
                <a:latin typeface="黑体" panose="02010609060101010101" pitchFamily="49" charset="-122"/>
                <a:ea typeface="黑体" panose="02010609060101010101" pitchFamily="49" charset="-122"/>
              </a:rPr>
              <a:t>引起</a:t>
            </a:r>
            <a:r>
              <a:rPr kumimoji="0" lang="zh-CN" altLang="en-US" sz="2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砂堵的</a:t>
            </a:r>
            <a:r>
              <a:rPr lang="zh-CN" altLang="en-US" sz="2000" b="1" dirty="0">
                <a:solidFill>
                  <a:srgbClr val="FF0000"/>
                </a:solidFill>
                <a:latin typeface="黑体" panose="02010609060101010101" pitchFamily="49" charset="-122"/>
                <a:ea typeface="黑体" panose="02010609060101010101" pitchFamily="49" charset="-122"/>
              </a:rPr>
              <a:t>关键</a:t>
            </a:r>
            <a:r>
              <a:rPr kumimoji="0" lang="zh-CN" altLang="en-US" sz="20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cs typeface="+mn-cs"/>
              </a:rPr>
              <a:t>因素。</a:t>
            </a:r>
            <a:endParaRPr kumimoji="0" lang="en-US" altLang="zh-CN" sz="2000" b="1" i="0" u="none" strike="noStrike" kern="1200" cap="none" spc="0" normalizeH="0" baseline="0" noProof="0" dirty="0">
              <a:ln>
                <a:noFill/>
              </a:ln>
              <a:solidFill>
                <a:prstClr val="black"/>
              </a:solidFill>
              <a:effectLst/>
              <a:uLnTx/>
              <a:uFillTx/>
              <a:latin typeface="黑体" panose="02010609060101010101" pitchFamily="49" charset="-122"/>
              <a:ea typeface="黑体" panose="02010609060101010101" pitchFamily="49" charset="-122"/>
              <a:cs typeface="+mn-cs"/>
            </a:endParaRPr>
          </a:p>
        </p:txBody>
      </p:sp>
    </p:spTree>
    <p:extLst>
      <p:ext uri="{BB962C8B-B14F-4D97-AF65-F5344CB8AC3E}">
        <p14:creationId xmlns:p14="http://schemas.microsoft.com/office/powerpoint/2010/main" val="16093685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326269" y="773307"/>
            <a:ext cx="11551878" cy="46037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5</a:t>
            </a:r>
            <a:r>
              <a:rPr sz="2400" kern="0" dirty="0">
                <a:solidFill>
                  <a:srgbClr val="FF0000"/>
                </a:solidFill>
                <a:latin typeface="方正大黑简体" panose="02010601030101010101" pitchFamily="65" charset="-122"/>
                <a:ea typeface="方正大黑简体" panose="02010601030101010101" pitchFamily="65" charset="-122"/>
              </a:rPr>
              <a:t>、创建了基于井口施工曲线多级小波分解的井下</a:t>
            </a:r>
            <a:r>
              <a:rPr lang="zh-CN" sz="2400" kern="0" dirty="0">
                <a:solidFill>
                  <a:srgbClr val="FF0000"/>
                </a:solidFill>
                <a:latin typeface="方正大黑简体" panose="02010601030101010101" pitchFamily="65" charset="-122"/>
                <a:ea typeface="方正大黑简体" panose="02010601030101010101" pitchFamily="65" charset="-122"/>
              </a:rPr>
              <a:t>压裂过程流固事件</a:t>
            </a:r>
            <a:r>
              <a:rPr sz="2400" kern="0" dirty="0">
                <a:solidFill>
                  <a:srgbClr val="FF0000"/>
                </a:solidFill>
                <a:latin typeface="方正大黑简体" panose="02010601030101010101" pitchFamily="65" charset="-122"/>
                <a:ea typeface="方正大黑简体" panose="02010601030101010101" pitchFamily="65" charset="-122"/>
              </a:rPr>
              <a:t>判别模型</a:t>
            </a:r>
          </a:p>
        </p:txBody>
      </p:sp>
      <p:sp>
        <p:nvSpPr>
          <p:cNvPr id="56" name="Text Box 7"/>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latin typeface="黑体" panose="02010609060101010101" charset="-122"/>
                <a:ea typeface="黑体" panose="02010609060101010101" charset="-122"/>
                <a:sym typeface="+mn-ea"/>
              </a:rPr>
              <a:t>基于</a:t>
            </a:r>
            <a:r>
              <a:rPr lang="zh-CN" altLang="en-US" sz="2000" b="1" dirty="0">
                <a:solidFill>
                  <a:srgbClr val="FF0000"/>
                </a:solidFill>
                <a:latin typeface="黑体" panose="02010609060101010101" charset="-122"/>
                <a:ea typeface="黑体" panose="02010609060101010101" charset="-122"/>
                <a:sym typeface="+mn-ea"/>
              </a:rPr>
              <a:t>信号响应</a:t>
            </a:r>
            <a:r>
              <a:rPr lang="en-US" altLang="zh-CN" sz="2000" b="1" dirty="0">
                <a:solidFill>
                  <a:srgbClr val="FF0000"/>
                </a:solidFill>
                <a:latin typeface="黑体" panose="02010609060101010101" charset="-122"/>
                <a:ea typeface="黑体" panose="02010609060101010101" charset="-122"/>
                <a:sym typeface="+mn-ea"/>
              </a:rPr>
              <a:t>-</a:t>
            </a:r>
            <a:r>
              <a:rPr lang="zh-CN" altLang="en-US" sz="2000" b="1" dirty="0">
                <a:solidFill>
                  <a:srgbClr val="FF0000"/>
                </a:solidFill>
                <a:latin typeface="黑体" panose="02010609060101010101" charset="-122"/>
                <a:ea typeface="黑体" panose="02010609060101010101" charset="-122"/>
                <a:sym typeface="+mn-ea"/>
              </a:rPr>
              <a:t>数值仿真</a:t>
            </a:r>
            <a:r>
              <a:rPr lang="zh-CN" altLang="en-US" sz="2000" b="1" dirty="0">
                <a:latin typeface="黑体" panose="02010609060101010101" charset="-122"/>
                <a:ea typeface="黑体" panose="02010609060101010101" charset="-122"/>
                <a:sym typeface="+mn-ea"/>
              </a:rPr>
              <a:t>联合分析方法，提出井口压力曲线小波分解关键参数优选准则，构建</a:t>
            </a:r>
            <a:r>
              <a:rPr lang="zh-CN" altLang="en-US" sz="2000" b="1" dirty="0">
                <a:solidFill>
                  <a:srgbClr val="FF0000"/>
                </a:solidFill>
                <a:latin typeface="黑体" panose="02010609060101010101" charset="-122"/>
                <a:ea typeface="黑体" panose="02010609060101010101" charset="-122"/>
                <a:sym typeface="+mn-ea"/>
              </a:rPr>
              <a:t>矿场实测压力分析小波分解模型</a:t>
            </a:r>
            <a:r>
              <a:rPr lang="zh-CN" altLang="en-US" sz="2000" b="1" dirty="0">
                <a:latin typeface="黑体" panose="02010609060101010101" charset="-122"/>
                <a:ea typeface="黑体" panose="02010609060101010101" charset="-122"/>
                <a:sym typeface="+mn-ea"/>
              </a:rPr>
              <a:t>，探明了地层应力差、弹性模量及注入排量等关键参数与小波响应的关联规律，揭示了复杂裂缝扩展与缝内固液耦合流动的井口压力响应机制，实现了</a:t>
            </a:r>
            <a:r>
              <a:rPr lang="zh-CN" altLang="en-US" sz="2000" b="1" dirty="0">
                <a:solidFill>
                  <a:srgbClr val="FF0000"/>
                </a:solidFill>
                <a:latin typeface="黑体" panose="02010609060101010101" charset="-122"/>
                <a:ea typeface="黑体" panose="02010609060101010101" charset="-122"/>
                <a:sym typeface="+mn-ea"/>
              </a:rPr>
              <a:t>压裂过程流固事件的有效识别</a:t>
            </a:r>
            <a:r>
              <a:rPr lang="zh-CN" altLang="en-US" sz="2000" b="1" dirty="0">
                <a:latin typeface="黑体" panose="02010609060101010101" charset="-122"/>
                <a:ea typeface="黑体" panose="02010609060101010101" charset="-122"/>
                <a:sym typeface="+mn-ea"/>
              </a:rPr>
              <a:t>。</a:t>
            </a:r>
            <a:endParaRPr lang="zh-CN" sz="2000" b="1" dirty="0">
              <a:latin typeface="黑体" panose="02010609060101010101" charset="-122"/>
              <a:ea typeface="黑体" panose="02010609060101010101" charset="-122"/>
              <a:sym typeface="+mn-ea"/>
            </a:endParaRPr>
          </a:p>
        </p:txBody>
      </p:sp>
      <p:sp>
        <p:nvSpPr>
          <p:cNvPr id="35" name="矩形 13"/>
          <p:cNvSpPr>
            <a:spLocks noChangeArrowheads="1"/>
          </p:cNvSpPr>
          <p:nvPr/>
        </p:nvSpPr>
        <p:spPr bwMode="auto">
          <a:xfrm>
            <a:off x="263525" y="2708910"/>
            <a:ext cx="11736705" cy="3744595"/>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3" name="TextBox 45"/>
          <p:cNvSpPr txBox="1"/>
          <p:nvPr/>
        </p:nvSpPr>
        <p:spPr>
          <a:xfrm>
            <a:off x="0" y="91434"/>
            <a:ext cx="12191999"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l" eaLnBrk="1" fontAlgn="auto" hangingPunct="1">
              <a:spcBef>
                <a:spcPts val="600"/>
              </a:spcBef>
              <a:spcAft>
                <a:spcPts val="0"/>
              </a:spcAft>
              <a:buNone/>
            </a:pPr>
            <a:r>
              <a:rPr lang="zh-CN" altLang="en-US" sz="2800" b="1" noProof="1">
                <a:solidFill>
                  <a:srgbClr val="3E3FFC"/>
                </a:solidFill>
                <a:latin typeface="方正大黑简体" panose="02010601030101010101" pitchFamily="65" charset="-122"/>
                <a:ea typeface="方正大黑简体" panose="02010601030101010101" pitchFamily="65" charset="-122"/>
              </a:rPr>
              <a:t>创新成果一：揭示井下压裂过程物理机理及井口响应机制</a:t>
            </a:r>
          </a:p>
        </p:txBody>
      </p:sp>
      <p:pic>
        <p:nvPicPr>
          <p:cNvPr id="22" name="图片 21"/>
          <p:cNvPicPr/>
          <p:nvPr>
            <p:custDataLst>
              <p:tags r:id="rId1"/>
            </p:custDataLst>
          </p:nvPr>
        </p:nvPicPr>
        <p:blipFill>
          <a:blip r:embed="rId15"/>
          <a:stretch>
            <a:fillRect/>
          </a:stretch>
        </p:blipFill>
        <p:spPr>
          <a:xfrm>
            <a:off x="6898640" y="4617720"/>
            <a:ext cx="1908175" cy="1404620"/>
          </a:xfrm>
          <a:prstGeom prst="rect">
            <a:avLst/>
          </a:prstGeom>
          <a:ln>
            <a:noFill/>
          </a:ln>
        </p:spPr>
      </p:pic>
      <p:pic>
        <p:nvPicPr>
          <p:cNvPr id="23" name="图片 22"/>
          <p:cNvPicPr/>
          <p:nvPr>
            <p:custDataLst>
              <p:tags r:id="rId2"/>
            </p:custDataLst>
          </p:nvPr>
        </p:nvPicPr>
        <p:blipFill>
          <a:blip r:embed="rId16"/>
          <a:stretch>
            <a:fillRect/>
          </a:stretch>
        </p:blipFill>
        <p:spPr>
          <a:xfrm>
            <a:off x="4918710" y="2780665"/>
            <a:ext cx="3888000" cy="1771200"/>
          </a:xfrm>
          <a:prstGeom prst="rect">
            <a:avLst/>
          </a:prstGeom>
          <a:ln>
            <a:noFill/>
          </a:ln>
        </p:spPr>
      </p:pic>
      <p:pic>
        <p:nvPicPr>
          <p:cNvPr id="24" name="图片 23"/>
          <p:cNvPicPr/>
          <p:nvPr>
            <p:custDataLst>
              <p:tags r:id="rId3"/>
            </p:custDataLst>
          </p:nvPr>
        </p:nvPicPr>
        <p:blipFill>
          <a:blip r:embed="rId17"/>
          <a:stretch>
            <a:fillRect/>
          </a:stretch>
        </p:blipFill>
        <p:spPr>
          <a:xfrm>
            <a:off x="4918710" y="4617720"/>
            <a:ext cx="1908175" cy="1404620"/>
          </a:xfrm>
          <a:prstGeom prst="rect">
            <a:avLst/>
          </a:prstGeom>
          <a:ln>
            <a:noFill/>
          </a:ln>
        </p:spPr>
      </p:pic>
      <p:sp>
        <p:nvSpPr>
          <p:cNvPr id="25" name="文本框 24"/>
          <p:cNvSpPr txBox="1"/>
          <p:nvPr>
            <p:custDataLst>
              <p:tags r:id="rId4"/>
            </p:custDataLst>
          </p:nvPr>
        </p:nvSpPr>
        <p:spPr>
          <a:xfrm>
            <a:off x="6025589" y="6093296"/>
            <a:ext cx="3886835" cy="337185"/>
          </a:xfrm>
          <a:prstGeom prst="rect">
            <a:avLst/>
          </a:prstGeom>
          <a:noFill/>
        </p:spPr>
        <p:txBody>
          <a:bodyPr wrap="square" rtlCol="0">
            <a:spAutoFit/>
          </a:bodyPr>
          <a:lstStyle/>
          <a:p>
            <a:r>
              <a:rPr lang="zh-CN" altLang="en-US" sz="1600" b="1" dirty="0">
                <a:solidFill>
                  <a:srgbClr val="3E3FFC"/>
                </a:solidFill>
              </a:rPr>
              <a:t>确立参数优选准则</a:t>
            </a:r>
          </a:p>
        </p:txBody>
      </p:sp>
      <p:pic>
        <p:nvPicPr>
          <p:cNvPr id="26" name="图片 25"/>
          <p:cNvPicPr/>
          <p:nvPr/>
        </p:nvPicPr>
        <p:blipFill>
          <a:blip r:embed="rId18"/>
          <a:stretch>
            <a:fillRect/>
          </a:stretch>
        </p:blipFill>
        <p:spPr>
          <a:xfrm>
            <a:off x="8878570" y="2780665"/>
            <a:ext cx="3060000" cy="1080000"/>
          </a:xfrm>
          <a:prstGeom prst="rect">
            <a:avLst/>
          </a:prstGeom>
          <a:ln>
            <a:noFill/>
          </a:ln>
        </p:spPr>
      </p:pic>
      <p:pic>
        <p:nvPicPr>
          <p:cNvPr id="27" name="图片 26"/>
          <p:cNvPicPr/>
          <p:nvPr/>
        </p:nvPicPr>
        <p:blipFill>
          <a:blip r:embed="rId19"/>
          <a:stretch>
            <a:fillRect/>
          </a:stretch>
        </p:blipFill>
        <p:spPr>
          <a:xfrm>
            <a:off x="8878570" y="4940935"/>
            <a:ext cx="3060000" cy="1080000"/>
          </a:xfrm>
          <a:prstGeom prst="rect">
            <a:avLst/>
          </a:prstGeom>
          <a:ln>
            <a:noFill/>
          </a:ln>
        </p:spPr>
      </p:pic>
      <p:pic>
        <p:nvPicPr>
          <p:cNvPr id="28" name="图片 27"/>
          <p:cNvPicPr/>
          <p:nvPr/>
        </p:nvPicPr>
        <p:blipFill>
          <a:blip r:embed="rId20"/>
          <a:stretch>
            <a:fillRect/>
          </a:stretch>
        </p:blipFill>
        <p:spPr>
          <a:xfrm>
            <a:off x="8878570" y="3860800"/>
            <a:ext cx="3060000" cy="1080000"/>
          </a:xfrm>
          <a:prstGeom prst="rect">
            <a:avLst/>
          </a:prstGeom>
          <a:ln>
            <a:noFill/>
          </a:ln>
        </p:spPr>
      </p:pic>
      <p:sp>
        <p:nvSpPr>
          <p:cNvPr id="29" name="文本框 28"/>
          <p:cNvSpPr txBox="1"/>
          <p:nvPr/>
        </p:nvSpPr>
        <p:spPr>
          <a:xfrm>
            <a:off x="8807450" y="6059805"/>
            <a:ext cx="3244215" cy="337185"/>
          </a:xfrm>
          <a:prstGeom prst="rect">
            <a:avLst/>
          </a:prstGeom>
          <a:noFill/>
        </p:spPr>
        <p:txBody>
          <a:bodyPr wrap="square" rtlCol="0">
            <a:spAutoFit/>
          </a:bodyPr>
          <a:lstStyle/>
          <a:p>
            <a:r>
              <a:rPr lang="zh-CN" altLang="en-US" sz="1600" b="1" dirty="0">
                <a:solidFill>
                  <a:srgbClr val="3E3FFC"/>
                </a:solidFill>
              </a:rPr>
              <a:t>地层参数小波响应特征的影响规律</a:t>
            </a:r>
          </a:p>
        </p:txBody>
      </p:sp>
      <p:pic>
        <p:nvPicPr>
          <p:cNvPr id="2" name="图片 1"/>
          <p:cNvPicPr>
            <a:picLocks noChangeAspect="1"/>
          </p:cNvPicPr>
          <p:nvPr/>
        </p:nvPicPr>
        <p:blipFill>
          <a:blip r:embed="rId21"/>
          <a:stretch>
            <a:fillRect/>
          </a:stretch>
        </p:blipFill>
        <p:spPr>
          <a:xfrm>
            <a:off x="580390" y="2804838"/>
            <a:ext cx="3590444" cy="1600200"/>
          </a:xfrm>
          <a:prstGeom prst="rect">
            <a:avLst/>
          </a:prstGeom>
        </p:spPr>
      </p:pic>
      <p:pic>
        <p:nvPicPr>
          <p:cNvPr id="4" name="图片 3"/>
          <p:cNvPicPr>
            <a:picLocks noChangeAspect="1"/>
          </p:cNvPicPr>
          <p:nvPr/>
        </p:nvPicPr>
        <p:blipFill>
          <a:blip r:embed="rId22"/>
          <a:stretch>
            <a:fillRect/>
          </a:stretch>
        </p:blipFill>
        <p:spPr>
          <a:xfrm>
            <a:off x="1712868" y="4513306"/>
            <a:ext cx="2127209" cy="1815783"/>
          </a:xfrm>
          <a:prstGeom prst="rect">
            <a:avLst/>
          </a:prstGeom>
        </p:spPr>
      </p:pic>
      <p:sp>
        <p:nvSpPr>
          <p:cNvPr id="5" name="文本框 4"/>
          <p:cNvSpPr txBox="1"/>
          <p:nvPr>
            <p:custDataLst>
              <p:tags r:id="rId5"/>
            </p:custDataLst>
          </p:nvPr>
        </p:nvSpPr>
        <p:spPr>
          <a:xfrm>
            <a:off x="3498474" y="2968307"/>
            <a:ext cx="1488440" cy="337185"/>
          </a:xfrm>
          <a:prstGeom prst="rect">
            <a:avLst/>
          </a:prstGeom>
          <a:noFill/>
        </p:spPr>
        <p:txBody>
          <a:bodyPr wrap="square" rtlCol="0">
            <a:spAutoFit/>
          </a:bodyPr>
          <a:lstStyle/>
          <a:p>
            <a:pPr algn="r"/>
            <a:r>
              <a:rPr lang="zh-CN" altLang="en-US" sz="1600" b="1" dirty="0">
                <a:solidFill>
                  <a:srgbClr val="3E3FFC"/>
                </a:solidFill>
              </a:rPr>
              <a:t>细节系数</a:t>
            </a:r>
          </a:p>
        </p:txBody>
      </p:sp>
      <p:sp>
        <p:nvSpPr>
          <p:cNvPr id="7" name="文本框 6"/>
          <p:cNvSpPr txBox="1"/>
          <p:nvPr>
            <p:custDataLst>
              <p:tags r:id="rId6"/>
            </p:custDataLst>
          </p:nvPr>
        </p:nvSpPr>
        <p:spPr>
          <a:xfrm>
            <a:off x="3491384" y="3636963"/>
            <a:ext cx="1488440" cy="337185"/>
          </a:xfrm>
          <a:prstGeom prst="rect">
            <a:avLst/>
          </a:prstGeom>
          <a:noFill/>
        </p:spPr>
        <p:txBody>
          <a:bodyPr wrap="square" rtlCol="0">
            <a:spAutoFit/>
          </a:bodyPr>
          <a:lstStyle/>
          <a:p>
            <a:pPr algn="r"/>
            <a:r>
              <a:rPr lang="zh-CN" altLang="en-US" sz="1600" b="1">
                <a:solidFill>
                  <a:srgbClr val="3E3FFC"/>
                </a:solidFill>
              </a:rPr>
              <a:t>近似系数</a:t>
            </a:r>
          </a:p>
        </p:txBody>
      </p:sp>
      <p:sp>
        <p:nvSpPr>
          <p:cNvPr id="9" name="文本框 8"/>
          <p:cNvSpPr txBox="1"/>
          <p:nvPr>
            <p:custDataLst>
              <p:tags r:id="rId7"/>
            </p:custDataLst>
          </p:nvPr>
        </p:nvSpPr>
        <p:spPr>
          <a:xfrm>
            <a:off x="3099435" y="4100583"/>
            <a:ext cx="1819275" cy="337185"/>
          </a:xfrm>
          <a:prstGeom prst="rect">
            <a:avLst/>
          </a:prstGeom>
          <a:noFill/>
        </p:spPr>
        <p:txBody>
          <a:bodyPr wrap="square" rtlCol="0">
            <a:spAutoFit/>
          </a:bodyPr>
          <a:lstStyle/>
          <a:p>
            <a:r>
              <a:rPr lang="zh-CN" altLang="en-US" sz="1600" b="1" dirty="0">
                <a:solidFill>
                  <a:srgbClr val="3E3FFC"/>
                </a:solidFill>
              </a:rPr>
              <a:t>最大理论分解级数</a:t>
            </a:r>
          </a:p>
        </p:txBody>
      </p:sp>
      <p:sp>
        <p:nvSpPr>
          <p:cNvPr id="10" name="文本框 9"/>
          <p:cNvSpPr txBox="1"/>
          <p:nvPr/>
        </p:nvSpPr>
        <p:spPr>
          <a:xfrm>
            <a:off x="526097" y="4662213"/>
            <a:ext cx="1579245" cy="337185"/>
          </a:xfrm>
          <a:prstGeom prst="rect">
            <a:avLst/>
          </a:prstGeom>
          <a:noFill/>
        </p:spPr>
        <p:txBody>
          <a:bodyPr wrap="square" rtlCol="0">
            <a:spAutoFit/>
          </a:bodyPr>
          <a:lstStyle/>
          <a:p>
            <a:r>
              <a:rPr lang="zh-CN" altLang="en-US" sz="1600" b="1" dirty="0">
                <a:solidFill>
                  <a:srgbClr val="3E3FFC"/>
                </a:solidFill>
              </a:rPr>
              <a:t>信号总能量</a:t>
            </a:r>
          </a:p>
        </p:txBody>
      </p:sp>
      <p:sp>
        <p:nvSpPr>
          <p:cNvPr id="12" name="文本框 11"/>
          <p:cNvSpPr txBox="1"/>
          <p:nvPr/>
        </p:nvSpPr>
        <p:spPr>
          <a:xfrm>
            <a:off x="656474" y="5272427"/>
            <a:ext cx="1579245" cy="337185"/>
          </a:xfrm>
          <a:prstGeom prst="rect">
            <a:avLst/>
          </a:prstGeom>
          <a:noFill/>
        </p:spPr>
        <p:txBody>
          <a:bodyPr wrap="square" rtlCol="0">
            <a:spAutoFit/>
          </a:bodyPr>
          <a:lstStyle/>
          <a:p>
            <a:r>
              <a:rPr lang="zh-CN" altLang="en-US" sz="1600" b="1" dirty="0">
                <a:solidFill>
                  <a:srgbClr val="3E3FFC"/>
                </a:solidFill>
              </a:rPr>
              <a:t>细节能量</a:t>
            </a:r>
          </a:p>
        </p:txBody>
      </p:sp>
      <p:sp>
        <p:nvSpPr>
          <p:cNvPr id="15" name="文本框 14"/>
          <p:cNvSpPr txBox="1"/>
          <p:nvPr/>
        </p:nvSpPr>
        <p:spPr>
          <a:xfrm>
            <a:off x="618043" y="5812535"/>
            <a:ext cx="1579245" cy="337185"/>
          </a:xfrm>
          <a:prstGeom prst="rect">
            <a:avLst/>
          </a:prstGeom>
          <a:noFill/>
        </p:spPr>
        <p:txBody>
          <a:bodyPr wrap="square" rtlCol="0">
            <a:spAutoFit/>
          </a:bodyPr>
          <a:lstStyle/>
          <a:p>
            <a:r>
              <a:rPr lang="zh-CN" altLang="en-US" sz="1600" b="1" dirty="0">
                <a:solidFill>
                  <a:srgbClr val="3E3FFC"/>
                </a:solidFill>
              </a:rPr>
              <a:t>近似能量</a:t>
            </a:r>
          </a:p>
        </p:txBody>
      </p:sp>
      <p:sp>
        <p:nvSpPr>
          <p:cNvPr id="21" name="上弧形箭头 35"/>
          <p:cNvSpPr/>
          <p:nvPr/>
        </p:nvSpPr>
        <p:spPr bwMode="auto">
          <a:xfrm rot="5400000" flipV="1">
            <a:off x="-792973" y="4182603"/>
            <a:ext cx="2213962"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30" name="上弧形箭头 35"/>
          <p:cNvSpPr/>
          <p:nvPr/>
        </p:nvSpPr>
        <p:spPr bwMode="auto">
          <a:xfrm rot="5400000" flipV="1">
            <a:off x="-871152" y="4641147"/>
            <a:ext cx="2304280" cy="455295"/>
          </a:xfrm>
          <a:prstGeom prst="curvedDown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solidFill>
                <a:srgbClr val="FF0000"/>
              </a:solidFill>
            </a:endParaRPr>
          </a:p>
        </p:txBody>
      </p:sp>
      <p:sp>
        <p:nvSpPr>
          <p:cNvPr id="31" name="文本框 30"/>
          <p:cNvSpPr txBox="1"/>
          <p:nvPr>
            <p:custDataLst>
              <p:tags r:id="rId8"/>
            </p:custDataLst>
          </p:nvPr>
        </p:nvSpPr>
        <p:spPr>
          <a:xfrm>
            <a:off x="4919980" y="3528695"/>
            <a:ext cx="3893820"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不同分解层数下的小波能量</a:t>
            </a:r>
          </a:p>
        </p:txBody>
      </p:sp>
      <p:sp>
        <p:nvSpPr>
          <p:cNvPr id="32" name="文本框 31"/>
          <p:cNvSpPr txBox="1"/>
          <p:nvPr>
            <p:custDataLst>
              <p:tags r:id="rId9"/>
            </p:custDataLst>
          </p:nvPr>
        </p:nvSpPr>
        <p:spPr>
          <a:xfrm>
            <a:off x="4919345" y="4479925"/>
            <a:ext cx="3893820"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不同小波基下的小波能量</a:t>
            </a:r>
          </a:p>
        </p:txBody>
      </p:sp>
      <p:sp>
        <p:nvSpPr>
          <p:cNvPr id="33" name="文本框 32"/>
          <p:cNvSpPr txBox="1"/>
          <p:nvPr>
            <p:custDataLst>
              <p:tags r:id="rId10"/>
            </p:custDataLst>
          </p:nvPr>
        </p:nvSpPr>
        <p:spPr>
          <a:xfrm>
            <a:off x="8806180" y="2654935"/>
            <a:ext cx="3199765"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应力差对小波响应特征的影响规律</a:t>
            </a:r>
          </a:p>
        </p:txBody>
      </p:sp>
      <p:sp>
        <p:nvSpPr>
          <p:cNvPr id="34" name="文本框 33"/>
          <p:cNvSpPr txBox="1"/>
          <p:nvPr>
            <p:custDataLst>
              <p:tags r:id="rId11"/>
            </p:custDataLst>
          </p:nvPr>
        </p:nvSpPr>
        <p:spPr>
          <a:xfrm>
            <a:off x="8812530" y="3678555"/>
            <a:ext cx="3192780"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弹性模量对小波响应特征的影响规律</a:t>
            </a:r>
          </a:p>
        </p:txBody>
      </p:sp>
      <p:sp>
        <p:nvSpPr>
          <p:cNvPr id="36" name="文本框 35"/>
          <p:cNvSpPr txBox="1"/>
          <p:nvPr>
            <p:custDataLst>
              <p:tags r:id="rId12"/>
            </p:custDataLst>
          </p:nvPr>
        </p:nvSpPr>
        <p:spPr>
          <a:xfrm>
            <a:off x="8813165" y="4772660"/>
            <a:ext cx="3173095" cy="245110"/>
          </a:xfrm>
          <a:prstGeom prst="rect">
            <a:avLst/>
          </a:prstGeom>
          <a:noFill/>
        </p:spPr>
        <p:txBody>
          <a:bodyPr wrap="square" rtlCol="0">
            <a:spAutoFit/>
          </a:bodyPr>
          <a:lstStyle/>
          <a:p>
            <a:pPr algn="ctr"/>
            <a:r>
              <a:rPr lang="zh-CN" altLang="en-US" sz="1000" b="1" dirty="0">
                <a:solidFill>
                  <a:srgbClr val="3B3BFF"/>
                </a:solidFill>
                <a:latin typeface="黑体" panose="02010609060101010101" charset="-122"/>
                <a:ea typeface="黑体" panose="02010609060101010101" charset="-122"/>
                <a:sym typeface="+mn-ea"/>
              </a:rPr>
              <a:t>注入排量对小波响应特征的影响规律</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339877" y="775194"/>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sym typeface="+mn-ea"/>
              </a:rPr>
              <a:t>6</a:t>
            </a:r>
            <a:r>
              <a:rPr sz="2400" kern="0" dirty="0">
                <a:solidFill>
                  <a:srgbClr val="FF0000"/>
                </a:solidFill>
                <a:latin typeface="方正大黑简体" panose="02010601030101010101" pitchFamily="65" charset="-122"/>
                <a:ea typeface="方正大黑简体" panose="02010601030101010101" pitchFamily="65" charset="-122"/>
                <a:sym typeface="+mn-ea"/>
              </a:rPr>
              <a:t>、</a:t>
            </a:r>
            <a:r>
              <a:rPr lang="zh-CN" altLang="en-US" sz="2400" kern="0" dirty="0">
                <a:solidFill>
                  <a:srgbClr val="FF0000"/>
                </a:solidFill>
                <a:latin typeface="方正大黑简体" panose="02010601030101010101" pitchFamily="65" charset="-122"/>
                <a:ea typeface="方正大黑简体" panose="02010601030101010101" pitchFamily="65" charset="-122"/>
                <a:sym typeface="+mn-ea"/>
              </a:rPr>
              <a:t>矿场应用表明小波分解判别模型</a:t>
            </a:r>
            <a:r>
              <a:rPr lang="zh-CN" altLang="en-US" sz="2400" kern="0" dirty="0">
                <a:solidFill>
                  <a:srgbClr val="FF0000"/>
                </a:solidFill>
                <a:latin typeface="方正大黑简体" panose="02010601030101010101" pitchFamily="65" charset="-122"/>
                <a:ea typeface="方正大黑简体" panose="02010601030101010101" pitchFamily="65" charset="-122"/>
              </a:rPr>
              <a:t>可以有效识别井下流固事件</a:t>
            </a:r>
            <a:endParaRPr sz="2400" kern="0" dirty="0">
              <a:solidFill>
                <a:srgbClr val="FF0000"/>
              </a:solidFill>
              <a:latin typeface="方正大黑简体" panose="02010601030101010101" pitchFamily="65" charset="-122"/>
              <a:ea typeface="方正大黑简体" panose="02010601030101010101" pitchFamily="65" charset="-122"/>
            </a:endParaRPr>
          </a:p>
        </p:txBody>
      </p:sp>
      <p:sp>
        <p:nvSpPr>
          <p:cNvPr id="56" name="Text Box 7"/>
          <p:cNvSpPr txBox="1">
            <a:spLocks noChangeArrowheads="1"/>
          </p:cNvSpPr>
          <p:nvPr/>
        </p:nvSpPr>
        <p:spPr bwMode="auto">
          <a:xfrm>
            <a:off x="263525" y="1207240"/>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该模型已在西南油气田、新疆油田等主力油气田累计分析</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400</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余段次，涵盖页岩、致密砂岩等储层。以国内某页岩气井</a:t>
            </a:r>
            <a:r>
              <a:rPr lang="zh-CN" altLang="en-US" sz="2000" b="1" dirty="0">
                <a:latin typeface="Times New Roman" panose="02020603050405020304" pitchFamily="18" charset="0"/>
                <a:ea typeface="黑体" panose="02010609060101010101" charset="-122"/>
                <a:cs typeface="Times New Roman" panose="02020603050405020304" pitchFamily="18" charset="0"/>
              </a:rPr>
              <a:t>一段的压裂施工数据为例（采样率为</a:t>
            </a:r>
            <a:r>
              <a:rPr lang="en-US" altLang="zh-CN" sz="2000" b="1" dirty="0">
                <a:latin typeface="Times New Roman" panose="02020603050405020304" pitchFamily="18" charset="0"/>
                <a:ea typeface="黑体" panose="02010609060101010101" charset="-122"/>
                <a:cs typeface="Times New Roman" panose="02020603050405020304" pitchFamily="18" charset="0"/>
              </a:rPr>
              <a:t>1 Hz </a:t>
            </a:r>
            <a:r>
              <a:rPr lang="zh-CN" altLang="en-US" sz="2000" b="1" dirty="0">
                <a:latin typeface="Times New Roman" panose="02020603050405020304" pitchFamily="18" charset="0"/>
                <a:ea typeface="黑体" panose="02010609060101010101" charset="-122"/>
                <a:cs typeface="Times New Roman" panose="02020603050405020304" pitchFamily="18" charset="0"/>
              </a:rPr>
              <a:t>），</a:t>
            </a:r>
            <a:r>
              <a:rPr sz="2000" b="1" dirty="0" err="1">
                <a:latin typeface="Times New Roman" panose="02020603050405020304" pitchFamily="18" charset="0"/>
                <a:ea typeface="黑体" panose="02010609060101010101" charset="-122"/>
                <a:cs typeface="Times New Roman" panose="02020603050405020304" pitchFamily="18" charset="0"/>
              </a:rPr>
              <a:t>确定</a:t>
            </a:r>
            <a:r>
              <a:rPr lang="zh-CN" altLang="en-US" sz="2000" b="1" dirty="0">
                <a:latin typeface="Times New Roman" panose="02020603050405020304" pitchFamily="18" charset="0"/>
                <a:ea typeface="黑体" panose="02010609060101010101" charset="-122"/>
                <a:cs typeface="Times New Roman" panose="02020603050405020304" pitchFamily="18" charset="0"/>
              </a:rPr>
              <a:t>了</a:t>
            </a:r>
            <a:r>
              <a:rPr sz="2000" b="1" dirty="0" err="1">
                <a:solidFill>
                  <a:srgbClr val="FF0000"/>
                </a:solidFill>
                <a:latin typeface="Times New Roman" panose="02020603050405020304" pitchFamily="18" charset="0"/>
                <a:ea typeface="黑体" panose="02010609060101010101" charset="-122"/>
                <a:cs typeface="Times New Roman" panose="02020603050405020304" pitchFamily="18" charset="0"/>
              </a:rPr>
              <a:t>最大分解</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等</a:t>
            </a:r>
            <a:r>
              <a:rPr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级为13级</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latin typeface="Times New Roman" panose="02020603050405020304" pitchFamily="18" charset="0"/>
                <a:ea typeface="黑体" panose="02010609060101010101" charset="-122"/>
                <a:cs typeface="Times New Roman" panose="02020603050405020304" pitchFamily="18" charset="0"/>
              </a:rPr>
              <a:t>最优分解等级为</a:t>
            </a:r>
            <a:r>
              <a:rPr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7、8、9级</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latin typeface="Times New Roman" panose="02020603050405020304" pitchFamily="18" charset="0"/>
                <a:ea typeface="黑体" panose="02010609060101010101" charset="-122"/>
                <a:cs typeface="Times New Roman" panose="02020603050405020304" pitchFamily="18" charset="0"/>
              </a:rPr>
              <a:t>基于小波分解结果分析识别井下流固事件</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准确率超过</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85%</a:t>
            </a:r>
            <a:r>
              <a:rPr lang="zh-CN" altLang="en-US" sz="2000" b="1" dirty="0">
                <a:latin typeface="Times New Roman" panose="02020603050405020304" pitchFamily="18" charset="0"/>
                <a:ea typeface="黑体" panose="02010609060101010101" charset="-122"/>
                <a:cs typeface="Times New Roman" panose="02020603050405020304" pitchFamily="18" charset="0"/>
              </a:rPr>
              <a:t>（与微地震结果对比）。</a:t>
            </a:r>
            <a:endParaRPr sz="2000" b="1" dirty="0">
              <a:latin typeface="Times New Roman" panose="02020603050405020304" pitchFamily="18" charset="0"/>
              <a:ea typeface="黑体" panose="02010609060101010101" charset="-122"/>
              <a:cs typeface="Times New Roman" panose="02020603050405020304" pitchFamily="18" charset="0"/>
            </a:endParaRPr>
          </a:p>
        </p:txBody>
      </p:sp>
      <p:sp>
        <p:nvSpPr>
          <p:cNvPr id="35" name="矩形 13"/>
          <p:cNvSpPr>
            <a:spLocks noChangeArrowheads="1"/>
          </p:cNvSpPr>
          <p:nvPr/>
        </p:nvSpPr>
        <p:spPr bwMode="auto">
          <a:xfrm>
            <a:off x="263525" y="2708910"/>
            <a:ext cx="11736705" cy="3744595"/>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3" name="TextBox 45"/>
          <p:cNvSpPr txBox="1"/>
          <p:nvPr/>
        </p:nvSpPr>
        <p:spPr>
          <a:xfrm>
            <a:off x="0" y="91440"/>
            <a:ext cx="12192000" cy="465455"/>
          </a:xfrm>
          <a:prstGeom prst="rect">
            <a:avLst/>
          </a:prstGeom>
          <a:noFill/>
          <a:ln w="9525">
            <a:noFill/>
          </a:ln>
        </p:spPr>
        <p:txBody>
          <a:bodyPr wrap="square">
            <a:no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l" eaLnBrk="1" fontAlgn="auto" hangingPunct="1">
              <a:spcBef>
                <a:spcPts val="600"/>
              </a:spcBef>
              <a:spcAft>
                <a:spcPts val="0"/>
              </a:spcAft>
              <a:buNone/>
            </a:pPr>
            <a:r>
              <a:rPr lang="zh-CN" altLang="en-US" sz="2800" b="1" dirty="0">
                <a:solidFill>
                  <a:srgbClr val="3E3FFC"/>
                </a:solidFill>
                <a:latin typeface="方正大黑简体" panose="02010601030101010101" pitchFamily="65" charset="-122"/>
                <a:ea typeface="方正大黑简体" panose="02010601030101010101" pitchFamily="65" charset="-122"/>
                <a:sym typeface="+mn-ea"/>
              </a:rPr>
              <a:t>创新成果一：揭示井下压裂过程物理机理及井口响应机</a:t>
            </a:r>
            <a:endParaRPr lang="zh-CN" altLang="en-US" sz="2800" b="1" noProof="1">
              <a:solidFill>
                <a:srgbClr val="3E3FFC"/>
              </a:solidFill>
              <a:latin typeface="方正大黑简体" panose="02010601030101010101" pitchFamily="65" charset="-122"/>
              <a:ea typeface="方正大黑简体" panose="02010601030101010101" pitchFamily="65" charset="-122"/>
            </a:endParaRPr>
          </a:p>
        </p:txBody>
      </p:sp>
      <p:pic>
        <p:nvPicPr>
          <p:cNvPr id="11" name="图片 10"/>
          <p:cNvPicPr/>
          <p:nvPr/>
        </p:nvPicPr>
        <p:blipFill>
          <a:blip r:embed="rId2"/>
          <a:stretch>
            <a:fillRect/>
          </a:stretch>
        </p:blipFill>
        <p:spPr>
          <a:xfrm>
            <a:off x="6167755" y="4605655"/>
            <a:ext cx="5724000" cy="1440000"/>
          </a:xfrm>
          <a:prstGeom prst="rect">
            <a:avLst/>
          </a:prstGeom>
          <a:ln>
            <a:solidFill>
              <a:schemeClr val="tx1"/>
            </a:solidFill>
          </a:ln>
        </p:spPr>
      </p:pic>
      <p:pic>
        <p:nvPicPr>
          <p:cNvPr id="2" name="图片 1"/>
          <p:cNvPicPr/>
          <p:nvPr/>
        </p:nvPicPr>
        <p:blipFill>
          <a:blip r:embed="rId3"/>
          <a:stretch>
            <a:fillRect/>
          </a:stretch>
        </p:blipFill>
        <p:spPr>
          <a:xfrm>
            <a:off x="326390" y="2780665"/>
            <a:ext cx="5724000" cy="1440000"/>
          </a:xfrm>
          <a:prstGeom prst="rect">
            <a:avLst/>
          </a:prstGeom>
          <a:ln>
            <a:solidFill>
              <a:schemeClr val="tx1"/>
            </a:solidFill>
          </a:ln>
        </p:spPr>
      </p:pic>
      <p:pic>
        <p:nvPicPr>
          <p:cNvPr id="5" name="图片 4"/>
          <p:cNvPicPr/>
          <p:nvPr/>
        </p:nvPicPr>
        <p:blipFill>
          <a:blip r:embed="rId4"/>
          <a:stretch>
            <a:fillRect/>
          </a:stretch>
        </p:blipFill>
        <p:spPr>
          <a:xfrm>
            <a:off x="335915" y="4605655"/>
            <a:ext cx="5724000" cy="1440000"/>
          </a:xfrm>
          <a:prstGeom prst="rect">
            <a:avLst/>
          </a:prstGeom>
          <a:ln>
            <a:solidFill>
              <a:schemeClr val="tx1"/>
            </a:solidFill>
          </a:ln>
        </p:spPr>
      </p:pic>
      <p:pic>
        <p:nvPicPr>
          <p:cNvPr id="6" name="图片 5"/>
          <p:cNvPicPr/>
          <p:nvPr/>
        </p:nvPicPr>
        <p:blipFill>
          <a:blip r:embed="rId5"/>
          <a:stretch>
            <a:fillRect/>
          </a:stretch>
        </p:blipFill>
        <p:spPr>
          <a:xfrm>
            <a:off x="6167755" y="2780665"/>
            <a:ext cx="5724000" cy="1440000"/>
          </a:xfrm>
          <a:prstGeom prst="rect">
            <a:avLst/>
          </a:prstGeom>
          <a:ln>
            <a:solidFill>
              <a:schemeClr val="tx1"/>
            </a:solidFill>
          </a:ln>
        </p:spPr>
      </p:pic>
      <p:sp>
        <p:nvSpPr>
          <p:cNvPr id="10" name="文本框 9"/>
          <p:cNvSpPr txBox="1"/>
          <p:nvPr/>
        </p:nvSpPr>
        <p:spPr>
          <a:xfrm>
            <a:off x="325755" y="4220845"/>
            <a:ext cx="572389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cs typeface="黑体" panose="02010609060101010101" charset="-122"/>
              </a:rPr>
              <a:t>压力和注入排量在第7层分解水平上的小波能量</a:t>
            </a:r>
          </a:p>
        </p:txBody>
      </p:sp>
      <p:sp>
        <p:nvSpPr>
          <p:cNvPr id="12" name="文本框 11"/>
          <p:cNvSpPr txBox="1"/>
          <p:nvPr/>
        </p:nvSpPr>
        <p:spPr>
          <a:xfrm>
            <a:off x="327025" y="6045835"/>
            <a:ext cx="572262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cs typeface="黑体" panose="02010609060101010101" charset="-122"/>
                <a:sym typeface="+mn-ea"/>
              </a:rPr>
              <a:t>压力和注入排量在第</a:t>
            </a:r>
            <a:r>
              <a:rPr lang="en-US" altLang="zh-CN" sz="1600">
                <a:latin typeface="黑体" panose="02010609060101010101" charset="-122"/>
                <a:ea typeface="黑体" panose="02010609060101010101" charset="-122"/>
                <a:cs typeface="黑体" panose="02010609060101010101" charset="-122"/>
                <a:sym typeface="+mn-ea"/>
              </a:rPr>
              <a:t>8</a:t>
            </a:r>
            <a:r>
              <a:rPr lang="zh-CN" altLang="en-US" sz="1600">
                <a:latin typeface="黑体" panose="02010609060101010101" charset="-122"/>
                <a:ea typeface="黑体" panose="02010609060101010101" charset="-122"/>
                <a:cs typeface="黑体" panose="02010609060101010101" charset="-122"/>
                <a:sym typeface="+mn-ea"/>
              </a:rPr>
              <a:t>层分解水平上的小波能量</a:t>
            </a:r>
          </a:p>
        </p:txBody>
      </p:sp>
      <p:sp>
        <p:nvSpPr>
          <p:cNvPr id="15" name="文本框 14"/>
          <p:cNvSpPr txBox="1"/>
          <p:nvPr/>
        </p:nvSpPr>
        <p:spPr>
          <a:xfrm>
            <a:off x="6154420" y="4220845"/>
            <a:ext cx="572389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cs typeface="黑体" panose="02010609060101010101" charset="-122"/>
                <a:sym typeface="+mn-ea"/>
              </a:rPr>
              <a:t>压力和注入排量在第</a:t>
            </a:r>
            <a:r>
              <a:rPr lang="en-US" altLang="zh-CN" sz="1600">
                <a:latin typeface="黑体" panose="02010609060101010101" charset="-122"/>
                <a:ea typeface="黑体" panose="02010609060101010101" charset="-122"/>
                <a:cs typeface="黑体" panose="02010609060101010101" charset="-122"/>
                <a:sym typeface="+mn-ea"/>
              </a:rPr>
              <a:t>9</a:t>
            </a:r>
            <a:r>
              <a:rPr lang="zh-CN" altLang="en-US" sz="1600">
                <a:latin typeface="黑体" panose="02010609060101010101" charset="-122"/>
                <a:ea typeface="黑体" panose="02010609060101010101" charset="-122"/>
                <a:cs typeface="黑体" panose="02010609060101010101" charset="-122"/>
                <a:sym typeface="+mn-ea"/>
              </a:rPr>
              <a:t>层分解水平上的小波能量</a:t>
            </a:r>
          </a:p>
        </p:txBody>
      </p:sp>
      <p:sp>
        <p:nvSpPr>
          <p:cNvPr id="16" name="文本框 15"/>
          <p:cNvSpPr txBox="1"/>
          <p:nvPr/>
        </p:nvSpPr>
        <p:spPr>
          <a:xfrm>
            <a:off x="6154420" y="6045835"/>
            <a:ext cx="5722620" cy="337185"/>
          </a:xfrm>
          <a:prstGeom prst="rect">
            <a:avLst/>
          </a:prstGeom>
          <a:noFill/>
        </p:spPr>
        <p:txBody>
          <a:bodyPr wrap="square" rtlCol="0">
            <a:spAutoFit/>
          </a:bodyPr>
          <a:lstStyle/>
          <a:p>
            <a:pPr algn="ctr"/>
            <a:r>
              <a:rPr lang="zh-CN" altLang="en-US" sz="1600">
                <a:latin typeface="黑体" panose="02010609060101010101" charset="-122"/>
                <a:ea typeface="黑体" panose="02010609060101010101" charset="-122"/>
              </a:rPr>
              <a:t>微地震解释结果与小波分析结果的比较</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00C933-487F-9222-668A-706E5992205F}"/>
              </a:ext>
            </a:extLst>
          </p:cNvPr>
          <p:cNvSpPr/>
          <p:nvPr/>
        </p:nvSpPr>
        <p:spPr>
          <a:xfrm>
            <a:off x="623391" y="1987261"/>
            <a:ext cx="10729193" cy="2851000"/>
          </a:xfrm>
          <a:prstGeom prst="rect">
            <a:avLst/>
          </a:prstGeom>
          <a:solidFill>
            <a:schemeClr val="bg1"/>
          </a:solidFill>
          <a:ln w="2857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rot lat="0" lon="0" rev="0"/>
            </a:camera>
            <a:lightRig rig="threePt" dir="t"/>
          </a:scene3d>
        </p:spPr>
        <p:txBody>
          <a:bodyPr vert="horz" rtlCol="0" anchor="ctr"/>
          <a:lstStyle/>
          <a:p>
            <a:pPr indent="720073" defTabSz="914377">
              <a:lnSpc>
                <a:spcPct val="150000"/>
              </a:lnSpc>
              <a:defRPr/>
            </a:pP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首创了偏微分方程导数项嵌入与经验公式主控系数约束的神经网络物理增强理论，搭建了分支缝口支撑剂浓度</a:t>
            </a: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ANN</a:t>
            </a: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智能预测模型，构建了缝内泊肃叶方程</a:t>
            </a: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浓度扩散方程耦合的矿场高速支撑剂运移模型，实现了复杂缝内裂缝扩展及支撑剂运移实时仿真。</a:t>
            </a:r>
          </a:p>
        </p:txBody>
      </p:sp>
      <p:sp>
        <p:nvSpPr>
          <p:cNvPr id="5" name="矩形 4">
            <a:extLst>
              <a:ext uri="{FF2B5EF4-FFF2-40B4-BE49-F238E27FC236}">
                <a16:creationId xmlns:a16="http://schemas.microsoft.com/office/drawing/2014/main" id="{890916D9-24CF-FED4-246D-CE5C23775DBB}"/>
              </a:ext>
            </a:extLst>
          </p:cNvPr>
          <p:cNvSpPr/>
          <p:nvPr/>
        </p:nvSpPr>
        <p:spPr>
          <a:xfrm>
            <a:off x="-1" y="1005540"/>
            <a:ext cx="12191999" cy="623235"/>
          </a:xfrm>
          <a:prstGeom prst="rect">
            <a:avLst/>
          </a:prstGeom>
          <a:noFill/>
          <a:ln>
            <a:noFill/>
          </a:ln>
        </p:spPr>
        <p:txBody>
          <a:bodyPr wrap="square" lIns="68568" tIns="34284" rIns="68568" bIns="34284">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成果认识二</a:t>
            </a:r>
          </a:p>
        </p:txBody>
      </p:sp>
      <p:sp>
        <p:nvSpPr>
          <p:cNvPr id="19" name="TextBox 45">
            <a:extLst>
              <a:ext uri="{FF2B5EF4-FFF2-40B4-BE49-F238E27FC236}">
                <a16:creationId xmlns:a16="http://schemas.microsoft.com/office/drawing/2014/main" id="{00D4AA35-59C6-DF1E-CEAE-02FBAC50991F}"/>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（三）攻关研究形成的技术、理论和方法</a:t>
            </a:r>
          </a:p>
        </p:txBody>
      </p:sp>
    </p:spTree>
    <p:extLst>
      <p:ext uri="{BB962C8B-B14F-4D97-AF65-F5344CB8AC3E}">
        <p14:creationId xmlns:p14="http://schemas.microsoft.com/office/powerpoint/2010/main" val="1713333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263525" y="773307"/>
            <a:ext cx="11614622"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algn="l" eaLnBrk="0" fontAlgn="base" hangingPunct="0">
              <a:lnSpc>
                <a:spcPct val="100000"/>
              </a:lnSpc>
            </a:pPr>
            <a:r>
              <a:rPr lang="en-US" altLang="zh-CN" sz="2400" kern="0" dirty="0">
                <a:solidFill>
                  <a:srgbClr val="FF0000"/>
                </a:solidFill>
                <a:latin typeface="方正大黑简体" panose="02010601030101010101" pitchFamily="65" charset="-122"/>
                <a:ea typeface="方正大黑简体" panose="02010601030101010101" pitchFamily="65" charset="-122"/>
              </a:rPr>
              <a:t>1</a:t>
            </a:r>
            <a:r>
              <a:rPr lang="zh-CN" altLang="en-US" sz="2400" kern="0" dirty="0">
                <a:solidFill>
                  <a:srgbClr val="FF0000"/>
                </a:solidFill>
                <a:latin typeface="方正大黑简体" panose="02010601030101010101" pitchFamily="65" charset="-122"/>
                <a:ea typeface="方正大黑简体" panose="02010601030101010101" pitchFamily="65" charset="-122"/>
              </a:rPr>
              <a:t>、首创规则重要性以评估物理知识的价值，实现了物理驱动与数据驱动的高效融合</a:t>
            </a:r>
            <a:endParaRPr sz="2400" kern="0" dirty="0">
              <a:solidFill>
                <a:srgbClr val="FF0000"/>
              </a:solidFill>
              <a:latin typeface="方正大黑简体" panose="02010601030101010101" pitchFamily="65" charset="-122"/>
              <a:ea typeface="方正大黑简体" panose="02010601030101010101" pitchFamily="65" charset="-122"/>
            </a:endParaRPr>
          </a:p>
        </p:txBody>
      </p:sp>
      <p:sp>
        <p:nvSpPr>
          <p:cNvPr id="56" name="Text Box 7"/>
          <p:cNvSpPr txBox="1">
            <a:spLocks noChangeArrowheads="1"/>
          </p:cNvSpPr>
          <p:nvPr/>
        </p:nvSpPr>
        <p:spPr bwMode="auto">
          <a:xfrm>
            <a:off x="263526" y="1196752"/>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latin typeface="黑体" panose="02010609060101010101" charset="-122"/>
                <a:ea typeface="黑体" panose="02010609060101010101" charset="-122"/>
              </a:rPr>
              <a:t>首次提出了物理知识重要性的衡量指标，基于合作博弈论与可解释机器学习，揭示了数据与物理知识之间存在的依赖效应、协同效应和替代效应。</a:t>
            </a:r>
            <a:r>
              <a:rPr lang="zh-CN" altLang="en-US" sz="2000" b="1" dirty="0">
                <a:solidFill>
                  <a:srgbClr val="FF0000"/>
                </a:solidFill>
                <a:latin typeface="黑体" panose="02010609060101010101" charset="-122"/>
                <a:ea typeface="黑体" panose="02010609060101010101" charset="-122"/>
              </a:rPr>
              <a:t>填补了人工智能模型中知识动态优化的空白</a:t>
            </a:r>
            <a:r>
              <a:rPr lang="zh-CN" altLang="en-US" sz="2000" b="1" dirty="0">
                <a:latin typeface="黑体" panose="02010609060101010101" charset="-122"/>
                <a:ea typeface="黑体" panose="02010609060101010101" charset="-122"/>
              </a:rPr>
              <a:t>，有效加速模型收敛，预测</a:t>
            </a:r>
            <a:r>
              <a:rPr lang="zh-CN" altLang="en-US" sz="2000" b="1" dirty="0">
                <a:latin typeface="Times New Roman" panose="02020603050405020304" pitchFamily="18" charset="0"/>
                <a:ea typeface="黑体" panose="02010609060101010101" charset="-122"/>
                <a:cs typeface="Times New Roman" panose="02020603050405020304" pitchFamily="18" charset="0"/>
              </a:rPr>
              <a:t>误差降低 </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35%</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latin typeface="Times New Roman" panose="02020603050405020304" pitchFamily="18" charset="0"/>
                <a:ea typeface="黑体" panose="02010609060101010101" charset="-122"/>
                <a:cs typeface="Times New Roman" panose="02020603050405020304" pitchFamily="18" charset="0"/>
              </a:rPr>
              <a:t>实现物理驱动与数据驱动的高效融合。</a:t>
            </a:r>
            <a:endParaRPr lang="zh-CN" altLang="en-US" sz="2000" b="1" dirty="0">
              <a:latin typeface="黑体" panose="02010609060101010101" charset="-122"/>
              <a:ea typeface="黑体" panose="02010609060101010101" charset="-122"/>
            </a:endParaRPr>
          </a:p>
        </p:txBody>
      </p:sp>
      <p:sp>
        <p:nvSpPr>
          <p:cNvPr id="2" name="TextBox 45">
            <a:extLst>
              <a:ext uri="{FF2B5EF4-FFF2-40B4-BE49-F238E27FC236}">
                <a16:creationId xmlns:a16="http://schemas.microsoft.com/office/drawing/2014/main" id="{9339CFD9-01F1-B84E-AEFA-8D9B1D886DE8}"/>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成果二：构建了物理增强型井下压裂实时仿真智能模型</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
        <p:nvSpPr>
          <p:cNvPr id="3" name="矩形 13">
            <a:extLst>
              <a:ext uri="{FF2B5EF4-FFF2-40B4-BE49-F238E27FC236}">
                <a16:creationId xmlns:a16="http://schemas.microsoft.com/office/drawing/2014/main" id="{F1546156-79D9-3B3E-074F-BA19B9CD9B94}"/>
              </a:ext>
            </a:extLst>
          </p:cNvPr>
          <p:cNvSpPr>
            <a:spLocks noChangeArrowheads="1"/>
          </p:cNvSpPr>
          <p:nvPr/>
        </p:nvSpPr>
        <p:spPr bwMode="auto">
          <a:xfrm>
            <a:off x="5015880" y="2800152"/>
            <a:ext cx="4515104" cy="1567596"/>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pic>
        <p:nvPicPr>
          <p:cNvPr id="5" name="图片 4" descr="中文版_画板 1">
            <a:extLst>
              <a:ext uri="{FF2B5EF4-FFF2-40B4-BE49-F238E27FC236}">
                <a16:creationId xmlns:a16="http://schemas.microsoft.com/office/drawing/2014/main" id="{C0AEFE8A-7DA8-6C13-5142-A24413A62D77}"/>
              </a:ext>
            </a:extLst>
          </p:cNvPr>
          <p:cNvPicPr>
            <a:picLocks noChangeAspect="1"/>
          </p:cNvPicPr>
          <p:nvPr/>
        </p:nvPicPr>
        <p:blipFill rotWithShape="1">
          <a:blip r:embed="rId2"/>
          <a:srcRect l="3687" t="4370" r="1806" b="4169"/>
          <a:stretch/>
        </p:blipFill>
        <p:spPr>
          <a:xfrm>
            <a:off x="350409" y="2819360"/>
            <a:ext cx="4633188" cy="3171608"/>
          </a:xfrm>
          <a:prstGeom prst="rect">
            <a:avLst/>
          </a:prstGeom>
        </p:spPr>
      </p:pic>
      <p:pic>
        <p:nvPicPr>
          <p:cNvPr id="6" name="图片 5" descr="中文版-02">
            <a:extLst>
              <a:ext uri="{FF2B5EF4-FFF2-40B4-BE49-F238E27FC236}">
                <a16:creationId xmlns:a16="http://schemas.microsoft.com/office/drawing/2014/main" id="{F2281B24-61AF-8793-D888-F7ECE58194BD}"/>
              </a:ext>
            </a:extLst>
          </p:cNvPr>
          <p:cNvPicPr>
            <a:picLocks noChangeAspect="1"/>
          </p:cNvPicPr>
          <p:nvPr/>
        </p:nvPicPr>
        <p:blipFill rotWithShape="1">
          <a:blip r:embed="rId3"/>
          <a:srcRect l="5488" t="47335" r="2548" b="4029"/>
          <a:stretch/>
        </p:blipFill>
        <p:spPr>
          <a:xfrm>
            <a:off x="4983597" y="4515128"/>
            <a:ext cx="4424771" cy="1650722"/>
          </a:xfrm>
          <a:prstGeom prst="rect">
            <a:avLst/>
          </a:prstGeom>
        </p:spPr>
      </p:pic>
      <p:pic>
        <p:nvPicPr>
          <p:cNvPr id="7" name="图片 6" descr="中文版-02">
            <a:extLst>
              <a:ext uri="{FF2B5EF4-FFF2-40B4-BE49-F238E27FC236}">
                <a16:creationId xmlns:a16="http://schemas.microsoft.com/office/drawing/2014/main" id="{193F6EC3-4E0C-9685-D016-51809805B84E}"/>
              </a:ext>
            </a:extLst>
          </p:cNvPr>
          <p:cNvPicPr>
            <a:picLocks noChangeAspect="1"/>
          </p:cNvPicPr>
          <p:nvPr/>
        </p:nvPicPr>
        <p:blipFill rotWithShape="1">
          <a:blip r:embed="rId3"/>
          <a:srcRect l="3172" t="3995" r="1655" b="57802"/>
          <a:stretch/>
        </p:blipFill>
        <p:spPr>
          <a:xfrm>
            <a:off x="5087888" y="2849680"/>
            <a:ext cx="4320480" cy="1258273"/>
          </a:xfrm>
          <a:prstGeom prst="rect">
            <a:avLst/>
          </a:prstGeom>
        </p:spPr>
      </p:pic>
      <p:sp>
        <p:nvSpPr>
          <p:cNvPr id="8" name="文本框 7">
            <a:extLst>
              <a:ext uri="{FF2B5EF4-FFF2-40B4-BE49-F238E27FC236}">
                <a16:creationId xmlns:a16="http://schemas.microsoft.com/office/drawing/2014/main" id="{BF20E3AF-93BB-1A2C-3F8A-568797ED603E}"/>
              </a:ext>
            </a:extLst>
          </p:cNvPr>
          <p:cNvSpPr txBox="1"/>
          <p:nvPr/>
        </p:nvSpPr>
        <p:spPr>
          <a:xfrm>
            <a:off x="5587959" y="4029193"/>
            <a:ext cx="3246981" cy="338554"/>
          </a:xfrm>
          <a:prstGeom prst="rect">
            <a:avLst/>
          </a:prstGeom>
          <a:noFill/>
        </p:spPr>
        <p:txBody>
          <a:bodyPr wrap="square" rtlCol="0">
            <a:spAutoFit/>
          </a:bodyPr>
          <a:lstStyle/>
          <a:p>
            <a:pPr algn="ctr"/>
            <a:r>
              <a:rPr lang="zh-CN" altLang="en-US" sz="1600" b="1" dirty="0">
                <a:solidFill>
                  <a:srgbClr val="FF0000"/>
                </a:solidFill>
                <a:latin typeface="黑体" panose="02010609060101010101" pitchFamily="49" charset="-122"/>
                <a:ea typeface="黑体" panose="02010609060101010101" pitchFamily="49" charset="-122"/>
              </a:rPr>
              <a:t>模型对比结果</a:t>
            </a:r>
          </a:p>
        </p:txBody>
      </p:sp>
      <p:sp>
        <p:nvSpPr>
          <p:cNvPr id="9" name="矩形 13">
            <a:extLst>
              <a:ext uri="{FF2B5EF4-FFF2-40B4-BE49-F238E27FC236}">
                <a16:creationId xmlns:a16="http://schemas.microsoft.com/office/drawing/2014/main" id="{C3964C1E-6DEA-46CB-A50B-2C1898B07D46}"/>
              </a:ext>
            </a:extLst>
          </p:cNvPr>
          <p:cNvSpPr>
            <a:spLocks noChangeArrowheads="1"/>
          </p:cNvSpPr>
          <p:nvPr/>
        </p:nvSpPr>
        <p:spPr bwMode="auto">
          <a:xfrm>
            <a:off x="263525" y="2792185"/>
            <a:ext cx="4686243" cy="3661003"/>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10" name="文本框 9">
            <a:extLst>
              <a:ext uri="{FF2B5EF4-FFF2-40B4-BE49-F238E27FC236}">
                <a16:creationId xmlns:a16="http://schemas.microsoft.com/office/drawing/2014/main" id="{FC02EA46-AACB-1D48-40DE-99F38CE17548}"/>
              </a:ext>
            </a:extLst>
          </p:cNvPr>
          <p:cNvSpPr txBox="1"/>
          <p:nvPr/>
        </p:nvSpPr>
        <p:spPr>
          <a:xfrm>
            <a:off x="1068725" y="5990968"/>
            <a:ext cx="3246981" cy="338554"/>
          </a:xfrm>
          <a:prstGeom prst="rect">
            <a:avLst/>
          </a:prstGeom>
          <a:noFill/>
        </p:spPr>
        <p:txBody>
          <a:bodyPr wrap="square" rtlCol="0">
            <a:spAutoFit/>
          </a:bodyPr>
          <a:lstStyle/>
          <a:p>
            <a:pPr algn="ctr"/>
            <a:r>
              <a:rPr lang="zh-CN" altLang="en-US" sz="1600" b="1" dirty="0">
                <a:solidFill>
                  <a:srgbClr val="FF0000"/>
                </a:solidFill>
                <a:latin typeface="黑体" panose="02010609060101010101" pitchFamily="49" charset="-122"/>
                <a:ea typeface="黑体" panose="02010609060101010101" pitchFamily="49" charset="-122"/>
              </a:rPr>
              <a:t>规则重要性评价框架</a:t>
            </a:r>
          </a:p>
        </p:txBody>
      </p:sp>
      <p:cxnSp>
        <p:nvCxnSpPr>
          <p:cNvPr id="11" name="直接箭头连接符 10">
            <a:extLst>
              <a:ext uri="{FF2B5EF4-FFF2-40B4-BE49-F238E27FC236}">
                <a16:creationId xmlns:a16="http://schemas.microsoft.com/office/drawing/2014/main" id="{D3E547AC-5477-F4AD-37A2-83F96EE47C67}"/>
              </a:ext>
            </a:extLst>
          </p:cNvPr>
          <p:cNvCxnSpPr/>
          <p:nvPr/>
        </p:nvCxnSpPr>
        <p:spPr>
          <a:xfrm flipV="1">
            <a:off x="9120336" y="4715271"/>
            <a:ext cx="0" cy="69248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5" name="文本框 14">
            <a:extLst>
              <a:ext uri="{FF2B5EF4-FFF2-40B4-BE49-F238E27FC236}">
                <a16:creationId xmlns:a16="http://schemas.microsoft.com/office/drawing/2014/main" id="{FF8B0BC9-2AE6-99A5-A306-CA8442F3222D}"/>
              </a:ext>
            </a:extLst>
          </p:cNvPr>
          <p:cNvSpPr txBox="1"/>
          <p:nvPr/>
        </p:nvSpPr>
        <p:spPr>
          <a:xfrm>
            <a:off x="8279477" y="5133898"/>
            <a:ext cx="696843" cy="307777"/>
          </a:xfrm>
          <a:prstGeom prst="rect">
            <a:avLst/>
          </a:prstGeom>
          <a:noFill/>
        </p:spPr>
        <p:txBody>
          <a:bodyPr wrap="square" rtlCol="0">
            <a:spAutoFit/>
          </a:bodyPr>
          <a:lstStyle/>
          <a:p>
            <a:pPr algn="ctr"/>
            <a:r>
              <a:rPr lang="zh-CN" altLang="en-US" sz="1400" b="1" dirty="0">
                <a:solidFill>
                  <a:srgbClr val="0000FF"/>
                </a:solidFill>
                <a:latin typeface="黑体" panose="02010609060101010101" pitchFamily="49" charset="-122"/>
                <a:ea typeface="黑体" panose="02010609060101010101" pitchFamily="49" charset="-122"/>
              </a:rPr>
              <a:t>协同</a:t>
            </a:r>
          </a:p>
        </p:txBody>
      </p:sp>
      <p:cxnSp>
        <p:nvCxnSpPr>
          <p:cNvPr id="16" name="直接箭头连接符 15">
            <a:extLst>
              <a:ext uri="{FF2B5EF4-FFF2-40B4-BE49-F238E27FC236}">
                <a16:creationId xmlns:a16="http://schemas.microsoft.com/office/drawing/2014/main" id="{C0D2BDBA-77CC-CEF7-5A4D-56CDAEF1C3B9}"/>
              </a:ext>
            </a:extLst>
          </p:cNvPr>
          <p:cNvCxnSpPr>
            <a:cxnSpLocks/>
          </p:cNvCxnSpPr>
          <p:nvPr/>
        </p:nvCxnSpPr>
        <p:spPr>
          <a:xfrm>
            <a:off x="9120336" y="5611174"/>
            <a:ext cx="0" cy="451810"/>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7" name="文本框 16">
            <a:extLst>
              <a:ext uri="{FF2B5EF4-FFF2-40B4-BE49-F238E27FC236}">
                <a16:creationId xmlns:a16="http://schemas.microsoft.com/office/drawing/2014/main" id="{B76C4FF8-4A2C-CFA3-5876-45E81539F151}"/>
              </a:ext>
            </a:extLst>
          </p:cNvPr>
          <p:cNvSpPr txBox="1"/>
          <p:nvPr/>
        </p:nvSpPr>
        <p:spPr>
          <a:xfrm>
            <a:off x="8275272" y="5651125"/>
            <a:ext cx="826232" cy="307777"/>
          </a:xfrm>
          <a:prstGeom prst="rect">
            <a:avLst/>
          </a:prstGeom>
          <a:noFill/>
        </p:spPr>
        <p:txBody>
          <a:bodyPr wrap="square" rtlCol="0">
            <a:spAutoFit/>
          </a:bodyPr>
          <a:lstStyle/>
          <a:p>
            <a:pPr algn="ctr"/>
            <a:r>
              <a:rPr lang="zh-CN" altLang="en-US" sz="1400" b="1" dirty="0">
                <a:solidFill>
                  <a:srgbClr val="0000FF"/>
                </a:solidFill>
                <a:latin typeface="黑体" panose="02010609060101010101" pitchFamily="49" charset="-122"/>
                <a:ea typeface="黑体" panose="02010609060101010101" pitchFamily="49" charset="-122"/>
              </a:rPr>
              <a:t>替代</a:t>
            </a:r>
          </a:p>
        </p:txBody>
      </p:sp>
      <p:cxnSp>
        <p:nvCxnSpPr>
          <p:cNvPr id="18" name="直接箭头连接符 17">
            <a:extLst>
              <a:ext uri="{FF2B5EF4-FFF2-40B4-BE49-F238E27FC236}">
                <a16:creationId xmlns:a16="http://schemas.microsoft.com/office/drawing/2014/main" id="{F436D21B-1BD3-D7F0-62FE-AB4E1AA5DBCA}"/>
              </a:ext>
            </a:extLst>
          </p:cNvPr>
          <p:cNvCxnSpPr>
            <a:cxnSpLocks/>
          </p:cNvCxnSpPr>
          <p:nvPr/>
        </p:nvCxnSpPr>
        <p:spPr>
          <a:xfrm flipV="1">
            <a:off x="5727322" y="4985218"/>
            <a:ext cx="288032" cy="226275"/>
          </a:xfrm>
          <a:prstGeom prst="straightConnector1">
            <a:avLst/>
          </a:prstGeom>
          <a:ln w="38100">
            <a:solidFill>
              <a:srgbClr val="0000FF"/>
            </a:solidFill>
            <a:tailEnd type="triangle"/>
          </a:ln>
        </p:spPr>
        <p:style>
          <a:lnRef idx="1">
            <a:schemeClr val="accent1"/>
          </a:lnRef>
          <a:fillRef idx="0">
            <a:schemeClr val="accent1"/>
          </a:fillRef>
          <a:effectRef idx="0">
            <a:schemeClr val="accent1"/>
          </a:effectRef>
          <a:fontRef idx="minor">
            <a:schemeClr val="tx1"/>
          </a:fontRef>
        </p:style>
      </p:cxnSp>
      <p:sp>
        <p:nvSpPr>
          <p:cNvPr id="19" name="文本框 18">
            <a:extLst>
              <a:ext uri="{FF2B5EF4-FFF2-40B4-BE49-F238E27FC236}">
                <a16:creationId xmlns:a16="http://schemas.microsoft.com/office/drawing/2014/main" id="{7A7BE89F-E571-A569-8E63-88289262B748}"/>
              </a:ext>
            </a:extLst>
          </p:cNvPr>
          <p:cNvSpPr txBox="1"/>
          <p:nvPr/>
        </p:nvSpPr>
        <p:spPr>
          <a:xfrm>
            <a:off x="5799330" y="4715271"/>
            <a:ext cx="696843" cy="307777"/>
          </a:xfrm>
          <a:prstGeom prst="rect">
            <a:avLst/>
          </a:prstGeom>
          <a:noFill/>
        </p:spPr>
        <p:txBody>
          <a:bodyPr wrap="square" rtlCol="0">
            <a:spAutoFit/>
          </a:bodyPr>
          <a:lstStyle/>
          <a:p>
            <a:pPr algn="ctr"/>
            <a:r>
              <a:rPr lang="zh-CN" altLang="en-US" sz="1400" b="1" dirty="0">
                <a:solidFill>
                  <a:srgbClr val="0000FF"/>
                </a:solidFill>
                <a:latin typeface="黑体" panose="02010609060101010101" pitchFamily="49" charset="-122"/>
                <a:ea typeface="黑体" panose="02010609060101010101" pitchFamily="49" charset="-122"/>
              </a:rPr>
              <a:t>依赖</a:t>
            </a:r>
          </a:p>
        </p:txBody>
      </p:sp>
      <p:sp>
        <p:nvSpPr>
          <p:cNvPr id="20" name="矩形 13">
            <a:extLst>
              <a:ext uri="{FF2B5EF4-FFF2-40B4-BE49-F238E27FC236}">
                <a16:creationId xmlns:a16="http://schemas.microsoft.com/office/drawing/2014/main" id="{27D6411E-6CA1-A803-03EB-E41F0235430E}"/>
              </a:ext>
            </a:extLst>
          </p:cNvPr>
          <p:cNvSpPr>
            <a:spLocks noChangeArrowheads="1"/>
          </p:cNvSpPr>
          <p:nvPr/>
        </p:nvSpPr>
        <p:spPr bwMode="auto">
          <a:xfrm>
            <a:off x="5015880" y="4455447"/>
            <a:ext cx="4515104" cy="2011394"/>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21" name="文本框 20">
            <a:extLst>
              <a:ext uri="{FF2B5EF4-FFF2-40B4-BE49-F238E27FC236}">
                <a16:creationId xmlns:a16="http://schemas.microsoft.com/office/drawing/2014/main" id="{71FF1C4B-FC80-9899-AF85-FA9206419F57}"/>
              </a:ext>
            </a:extLst>
          </p:cNvPr>
          <p:cNvSpPr txBox="1"/>
          <p:nvPr/>
        </p:nvSpPr>
        <p:spPr>
          <a:xfrm>
            <a:off x="5624638" y="6103254"/>
            <a:ext cx="3246981" cy="338554"/>
          </a:xfrm>
          <a:prstGeom prst="rect">
            <a:avLst/>
          </a:prstGeom>
          <a:noFill/>
        </p:spPr>
        <p:txBody>
          <a:bodyPr wrap="square" rtlCol="0">
            <a:spAutoFit/>
          </a:bodyPr>
          <a:lstStyle/>
          <a:p>
            <a:pPr algn="ctr"/>
            <a:r>
              <a:rPr lang="zh-CN" altLang="en-US" sz="1600" b="1" dirty="0">
                <a:solidFill>
                  <a:srgbClr val="FF0000"/>
                </a:solidFill>
                <a:latin typeface="黑体" panose="02010609060101010101" pitchFamily="49" charset="-122"/>
                <a:ea typeface="黑体" panose="02010609060101010101" pitchFamily="49" charset="-122"/>
              </a:rPr>
              <a:t>揭示了数据与规则之间的关系</a:t>
            </a:r>
          </a:p>
        </p:txBody>
      </p:sp>
      <p:sp>
        <p:nvSpPr>
          <p:cNvPr id="22" name="矩形 13">
            <a:extLst>
              <a:ext uri="{FF2B5EF4-FFF2-40B4-BE49-F238E27FC236}">
                <a16:creationId xmlns:a16="http://schemas.microsoft.com/office/drawing/2014/main" id="{58333D13-FB56-F351-3AC3-01734263EC3C}"/>
              </a:ext>
            </a:extLst>
          </p:cNvPr>
          <p:cNvSpPr>
            <a:spLocks noChangeArrowheads="1"/>
          </p:cNvSpPr>
          <p:nvPr/>
        </p:nvSpPr>
        <p:spPr bwMode="auto">
          <a:xfrm>
            <a:off x="9634580" y="2791310"/>
            <a:ext cx="2365333" cy="3661003"/>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pic>
        <p:nvPicPr>
          <p:cNvPr id="23" name="图片 22" descr="图示&#10;&#10;中度可信度描述已自动生成">
            <a:extLst>
              <a:ext uri="{FF2B5EF4-FFF2-40B4-BE49-F238E27FC236}">
                <a16:creationId xmlns:a16="http://schemas.microsoft.com/office/drawing/2014/main" id="{E6B272D0-45AC-176E-FCAD-F0681B946E2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313" t="3496" r="48819"/>
          <a:stretch/>
        </p:blipFill>
        <p:spPr>
          <a:xfrm>
            <a:off x="9844536" y="2836224"/>
            <a:ext cx="1997055" cy="1724431"/>
          </a:xfrm>
          <a:prstGeom prst="rect">
            <a:avLst/>
          </a:prstGeom>
        </p:spPr>
      </p:pic>
      <p:pic>
        <p:nvPicPr>
          <p:cNvPr id="24" name="图片 23" descr="图示&#10;&#10;中度可信度描述已自动生成">
            <a:extLst>
              <a:ext uri="{FF2B5EF4-FFF2-40B4-BE49-F238E27FC236}">
                <a16:creationId xmlns:a16="http://schemas.microsoft.com/office/drawing/2014/main" id="{FBE6B286-4A83-35FB-96C6-9E2A887F8AC7}"/>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51691" t="3496"/>
          <a:stretch/>
        </p:blipFill>
        <p:spPr>
          <a:xfrm>
            <a:off x="9857214" y="4365104"/>
            <a:ext cx="1848627" cy="1647807"/>
          </a:xfrm>
          <a:prstGeom prst="rect">
            <a:avLst/>
          </a:prstGeom>
        </p:spPr>
      </p:pic>
      <p:sp>
        <p:nvSpPr>
          <p:cNvPr id="25" name="文本框 24">
            <a:extLst>
              <a:ext uri="{FF2B5EF4-FFF2-40B4-BE49-F238E27FC236}">
                <a16:creationId xmlns:a16="http://schemas.microsoft.com/office/drawing/2014/main" id="{6F571AC5-0B44-1D59-C3E0-ACA9C15F8946}"/>
              </a:ext>
            </a:extLst>
          </p:cNvPr>
          <p:cNvSpPr txBox="1"/>
          <p:nvPr/>
        </p:nvSpPr>
        <p:spPr>
          <a:xfrm>
            <a:off x="9219574" y="5805264"/>
            <a:ext cx="3246981" cy="584775"/>
          </a:xfrm>
          <a:prstGeom prst="rect">
            <a:avLst/>
          </a:prstGeom>
          <a:noFill/>
        </p:spPr>
        <p:txBody>
          <a:bodyPr wrap="square" rtlCol="0">
            <a:spAutoFit/>
          </a:bodyPr>
          <a:lstStyle/>
          <a:p>
            <a:pPr algn="ctr"/>
            <a:r>
              <a:rPr lang="zh-CN" altLang="en-US" sz="1600" b="1" dirty="0">
                <a:solidFill>
                  <a:srgbClr val="FF0000"/>
                </a:solidFill>
                <a:latin typeface="黑体" panose="02010609060101010101" pitchFamily="49" charset="-122"/>
                <a:ea typeface="黑体" panose="02010609060101010101" pitchFamily="49" charset="-122"/>
              </a:rPr>
              <a:t>依据预测误差</a:t>
            </a:r>
            <a:endParaRPr lang="en-US" altLang="zh-CN" sz="1600" b="1" dirty="0">
              <a:solidFill>
                <a:srgbClr val="FF0000"/>
              </a:solidFill>
              <a:latin typeface="黑体" panose="02010609060101010101" pitchFamily="49" charset="-122"/>
              <a:ea typeface="黑体" panose="02010609060101010101" pitchFamily="49" charset="-122"/>
            </a:endParaRPr>
          </a:p>
          <a:p>
            <a:pPr algn="ctr"/>
            <a:r>
              <a:rPr lang="zh-CN" altLang="en-US" sz="1600" b="1" dirty="0">
                <a:solidFill>
                  <a:srgbClr val="FF0000"/>
                </a:solidFill>
                <a:latin typeface="黑体" panose="02010609060101010101" pitchFamily="49" charset="-122"/>
                <a:ea typeface="黑体" panose="02010609060101010101" pitchFamily="49" charset="-122"/>
              </a:rPr>
              <a:t>动态调整规则权重</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矩形 13"/>
          <p:cNvSpPr>
            <a:spLocks noChangeArrowheads="1"/>
          </p:cNvSpPr>
          <p:nvPr/>
        </p:nvSpPr>
        <p:spPr bwMode="auto">
          <a:xfrm>
            <a:off x="263525" y="2708910"/>
            <a:ext cx="11736705" cy="3744595"/>
          </a:xfrm>
          <a:prstGeom prst="rect">
            <a:avLst/>
          </a:prstGeom>
          <a:noFill/>
          <a:ln w="19050" algn="ctr">
            <a:solidFill>
              <a:schemeClr val="tx1"/>
            </a:solidFill>
            <a:prstDash val="sysDash"/>
            <a:rou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charset="-122"/>
              <a:ea typeface="黑体" panose="02010609060101010101" charset="-122"/>
            </a:endParaRPr>
          </a:p>
        </p:txBody>
      </p:sp>
      <p:sp>
        <p:nvSpPr>
          <p:cNvPr id="2" name="TextBox 45">
            <a:extLst>
              <a:ext uri="{FF2B5EF4-FFF2-40B4-BE49-F238E27FC236}">
                <a16:creationId xmlns:a16="http://schemas.microsoft.com/office/drawing/2014/main" id="{23B2A742-8002-BB70-7145-560F221B038B}"/>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成果二：构建了物理增强型井下压裂实时仿真智能模型</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
        <p:nvSpPr>
          <p:cNvPr id="3" name="Text Box 7">
            <a:extLst>
              <a:ext uri="{FF2B5EF4-FFF2-40B4-BE49-F238E27FC236}">
                <a16:creationId xmlns:a16="http://schemas.microsoft.com/office/drawing/2014/main" id="{EB7082D9-5DE0-76DA-FDFA-67F39F4FA467}"/>
              </a:ext>
            </a:extLst>
          </p:cNvPr>
          <p:cNvSpPr txBox="1">
            <a:spLocks noChangeArrowheads="1"/>
          </p:cNvSpPr>
          <p:nvPr/>
        </p:nvSpPr>
        <p:spPr bwMode="auto">
          <a:xfrm>
            <a:off x="263525" y="1196752"/>
            <a:ext cx="11808143"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indent="-285750" algn="just" eaLnBrk="1" hangingPunct="1">
              <a:lnSpc>
                <a:spcPct val="150000"/>
              </a:lnSpc>
              <a:buClr>
                <a:srgbClr val="FF0000"/>
              </a:buClr>
              <a:buFont typeface="Wingdings" panose="05000000000000000000" pitchFamily="2" charset="2"/>
              <a:buChar char="n"/>
            </a:pP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首创硬约束投影理论</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，通过离散化控制方程并构建映射矩阵，保障了神经网络预测空间的物理一致性。创新地基于领域知识（控制方程）缩减求解空间，</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大幅提升收敛效率，有效减少训练数据</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。在流动仿真中，相比于传统数据驱动方法，数据需求降低 </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90%</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，且预测结果严格符合物理约束。</a:t>
            </a:r>
          </a:p>
        </p:txBody>
      </p:sp>
      <p:sp>
        <p:nvSpPr>
          <p:cNvPr id="4" name="TextBox 7">
            <a:extLst>
              <a:ext uri="{FF2B5EF4-FFF2-40B4-BE49-F238E27FC236}">
                <a16:creationId xmlns:a16="http://schemas.microsoft.com/office/drawing/2014/main" id="{EE0DDD0C-0F33-B4A7-8701-839436178AEC}"/>
              </a:ext>
            </a:extLst>
          </p:cNvPr>
          <p:cNvSpPr txBox="1"/>
          <p:nvPr/>
        </p:nvSpPr>
        <p:spPr bwMode="auto">
          <a:xfrm>
            <a:off x="263525" y="773307"/>
            <a:ext cx="11614622" cy="46037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algn="l" eaLnBrk="0" fontAlgn="base" hangingPunct="0">
              <a:lnSpc>
                <a:spcPct val="100000"/>
              </a:lnSpc>
            </a:pPr>
            <a:r>
              <a:rPr lang="en-US" altLang="zh-CN" sz="2400" kern="0" dirty="0">
                <a:solidFill>
                  <a:srgbClr val="FF0000"/>
                </a:solidFill>
                <a:latin typeface="方正大黑简体" panose="02010601030101010101" pitchFamily="65" charset="-122"/>
                <a:ea typeface="方正大黑简体" panose="02010601030101010101" pitchFamily="65" charset="-122"/>
              </a:rPr>
              <a:t>2</a:t>
            </a:r>
            <a:r>
              <a:rPr lang="zh-CN" altLang="en-US" sz="2400" kern="0" dirty="0">
                <a:solidFill>
                  <a:srgbClr val="FF0000"/>
                </a:solidFill>
                <a:latin typeface="方正大黑简体" panose="02010601030101010101" pitchFamily="65" charset="-122"/>
                <a:ea typeface="方正大黑简体" panose="02010601030101010101" pitchFamily="65" charset="-122"/>
              </a:rPr>
              <a:t>、创建</a:t>
            </a:r>
            <a:r>
              <a:rPr lang="zh-CN" altLang="en-US" sz="2400" kern="0" dirty="0">
                <a:solidFill>
                  <a:srgbClr val="FF0000"/>
                </a:solidFill>
                <a:latin typeface="方正大黑简体" panose="02010601030101010101" pitchFamily="65" charset="-122"/>
                <a:ea typeface="方正大黑简体" panose="02010601030101010101" pitchFamily="65" charset="-122"/>
                <a:sym typeface="+mn-ea"/>
              </a:rPr>
              <a:t>硬约束投影理论，实现严格符合物理约束的高效小样本智能模型</a:t>
            </a:r>
            <a:endParaRPr lang="zh-CN" altLang="en-US" sz="2400" kern="0" dirty="0">
              <a:solidFill>
                <a:srgbClr val="FF0000"/>
              </a:solidFill>
              <a:latin typeface="方正大黑简体" panose="02010601030101010101" pitchFamily="65" charset="-122"/>
              <a:ea typeface="方正大黑简体" panose="02010601030101010101" pitchFamily="65" charset="-122"/>
            </a:endParaRPr>
          </a:p>
        </p:txBody>
      </p:sp>
      <p:pic>
        <p:nvPicPr>
          <p:cNvPr id="11" name="图片 10">
            <a:extLst>
              <a:ext uri="{FF2B5EF4-FFF2-40B4-BE49-F238E27FC236}">
                <a16:creationId xmlns:a16="http://schemas.microsoft.com/office/drawing/2014/main" id="{1440E651-D208-1285-D3B7-B61BF42A1A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7367" y="2852936"/>
            <a:ext cx="11489631" cy="3456384"/>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273735" y="745575"/>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3</a:t>
            </a:r>
            <a:r>
              <a:rPr lang="zh-CN" altLang="en-US" sz="2400" kern="0" dirty="0">
                <a:solidFill>
                  <a:srgbClr val="FF0000"/>
                </a:solidFill>
                <a:latin typeface="方正大黑简体" panose="02010601030101010101" pitchFamily="65" charset="-122"/>
                <a:ea typeface="方正大黑简体" panose="02010601030101010101" pitchFamily="65" charset="-122"/>
              </a:rPr>
              <a:t>、基于砂堤表层侵蚀率与沉降速率动态平衡特征推导首个支撑剂平衡高度物理模型</a:t>
            </a:r>
          </a:p>
        </p:txBody>
      </p:sp>
      <p:sp>
        <p:nvSpPr>
          <p:cNvPr id="56" name="Text Box 7"/>
          <p:cNvSpPr txBox="1">
            <a:spLocks noChangeArrowheads="1"/>
          </p:cNvSpPr>
          <p:nvPr/>
        </p:nvSpPr>
        <p:spPr bwMode="auto">
          <a:xfrm>
            <a:off x="263525" y="1207240"/>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结合了欧拉平板缝</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双层理论，</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依据动量定理和有限差分法分析了砂堤表层单元，定义了新参数侵蚀率，定量计算了流体冲刷力作用下砂堤表层侵蚀能力；耦合</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支撑剂沉降</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速率</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推导了</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首个</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支撑剂平衡高度机理模型，</a:t>
            </a:r>
            <a:r>
              <a:rPr lang="zh-CN"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填补了</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支撑剂平衡高度物理模型</a:t>
            </a:r>
            <a:r>
              <a:rPr lang="zh-CN"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的空白</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。与实验数据</a:t>
            </a:r>
            <a:r>
              <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拟合模型对比误差小于</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10%</a:t>
            </a:r>
            <a:endPar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48626" name="图片 1048625">
            <a:extLst>
              <a:ext uri="{FF2B5EF4-FFF2-40B4-BE49-F238E27FC236}">
                <a16:creationId xmlns:a16="http://schemas.microsoft.com/office/drawing/2014/main" id="{28C47380-FE30-F7FC-D0C6-675B9B570C22}"/>
              </a:ext>
            </a:extLst>
          </p:cNvPr>
          <p:cNvPicPr>
            <a:picLocks noChangeAspect="1"/>
          </p:cNvPicPr>
          <p:nvPr/>
        </p:nvPicPr>
        <p:blipFill rotWithShape="1">
          <a:blip r:embed="rId3"/>
          <a:srcRect b="51887"/>
          <a:stretch/>
        </p:blipFill>
        <p:spPr>
          <a:xfrm>
            <a:off x="4107196" y="2900310"/>
            <a:ext cx="2291207" cy="1040546"/>
          </a:xfrm>
          <a:prstGeom prst="rect">
            <a:avLst/>
          </a:prstGeom>
        </p:spPr>
      </p:pic>
      <p:pic>
        <p:nvPicPr>
          <p:cNvPr id="1048631" name="图片 1048630">
            <a:extLst>
              <a:ext uri="{FF2B5EF4-FFF2-40B4-BE49-F238E27FC236}">
                <a16:creationId xmlns:a16="http://schemas.microsoft.com/office/drawing/2014/main" id="{729449AF-8F6A-F5A1-CF7A-4E0364BB353D}"/>
              </a:ext>
            </a:extLst>
          </p:cNvPr>
          <p:cNvPicPr>
            <a:picLocks noChangeAspect="1"/>
          </p:cNvPicPr>
          <p:nvPr/>
        </p:nvPicPr>
        <p:blipFill>
          <a:blip r:embed="rId4"/>
          <a:stretch>
            <a:fillRect/>
          </a:stretch>
        </p:blipFill>
        <p:spPr>
          <a:xfrm>
            <a:off x="6662358" y="2900310"/>
            <a:ext cx="2166987" cy="995617"/>
          </a:xfrm>
          <a:prstGeom prst="rect">
            <a:avLst/>
          </a:prstGeom>
        </p:spPr>
      </p:pic>
      <p:pic>
        <p:nvPicPr>
          <p:cNvPr id="1048628" name="图片 1048627">
            <a:extLst>
              <a:ext uri="{FF2B5EF4-FFF2-40B4-BE49-F238E27FC236}">
                <a16:creationId xmlns:a16="http://schemas.microsoft.com/office/drawing/2014/main" id="{0EE6E8DB-EAF4-996F-13A5-E757F3FB9612}"/>
              </a:ext>
            </a:extLst>
          </p:cNvPr>
          <p:cNvPicPr>
            <a:picLocks noChangeAspect="1"/>
          </p:cNvPicPr>
          <p:nvPr/>
        </p:nvPicPr>
        <p:blipFill>
          <a:blip r:embed="rId5"/>
          <a:stretch>
            <a:fillRect/>
          </a:stretch>
        </p:blipFill>
        <p:spPr>
          <a:xfrm>
            <a:off x="4151784" y="4260148"/>
            <a:ext cx="2071596" cy="2120282"/>
          </a:xfrm>
          <a:prstGeom prst="rect">
            <a:avLst/>
          </a:prstGeom>
        </p:spPr>
      </p:pic>
      <p:pic>
        <p:nvPicPr>
          <p:cNvPr id="1048629" name="图片 1048628">
            <a:extLst>
              <a:ext uri="{FF2B5EF4-FFF2-40B4-BE49-F238E27FC236}">
                <a16:creationId xmlns:a16="http://schemas.microsoft.com/office/drawing/2014/main" id="{743F8742-C8D8-6656-C2F6-87B6A1A79888}"/>
              </a:ext>
            </a:extLst>
          </p:cNvPr>
          <p:cNvPicPr>
            <a:picLocks noChangeAspect="1"/>
          </p:cNvPicPr>
          <p:nvPr/>
        </p:nvPicPr>
        <p:blipFill>
          <a:blip r:embed="rId6"/>
          <a:stretch>
            <a:fillRect/>
          </a:stretch>
        </p:blipFill>
        <p:spPr>
          <a:xfrm>
            <a:off x="6570241" y="4292431"/>
            <a:ext cx="2188254" cy="2120282"/>
          </a:xfrm>
          <a:prstGeom prst="rect">
            <a:avLst/>
          </a:prstGeom>
        </p:spPr>
      </p:pic>
      <p:pic>
        <p:nvPicPr>
          <p:cNvPr id="5" name="图片 4">
            <a:extLst>
              <a:ext uri="{FF2B5EF4-FFF2-40B4-BE49-F238E27FC236}">
                <a16:creationId xmlns:a16="http://schemas.microsoft.com/office/drawing/2014/main" id="{72D2CF6F-0128-FA8F-1B15-C0C901F398E5}"/>
              </a:ext>
            </a:extLst>
          </p:cNvPr>
          <p:cNvPicPr>
            <a:picLocks noChangeAspect="1"/>
          </p:cNvPicPr>
          <p:nvPr/>
        </p:nvPicPr>
        <p:blipFill rotWithShape="1">
          <a:blip r:embed="rId3"/>
          <a:srcRect t="51736"/>
          <a:stretch/>
        </p:blipFill>
        <p:spPr>
          <a:xfrm>
            <a:off x="9130426" y="2807469"/>
            <a:ext cx="2291207" cy="1135888"/>
          </a:xfrm>
          <a:prstGeom prst="rect">
            <a:avLst/>
          </a:prstGeom>
        </p:spPr>
      </p:pic>
      <p:sp>
        <p:nvSpPr>
          <p:cNvPr id="6" name="矩形 13">
            <a:extLst>
              <a:ext uri="{FF2B5EF4-FFF2-40B4-BE49-F238E27FC236}">
                <a16:creationId xmlns:a16="http://schemas.microsoft.com/office/drawing/2014/main" id="{B8359B52-60CD-8A00-C990-A5041E380301}"/>
              </a:ext>
            </a:extLst>
          </p:cNvPr>
          <p:cNvSpPr>
            <a:spLocks noChangeArrowheads="1"/>
          </p:cNvSpPr>
          <p:nvPr/>
        </p:nvSpPr>
        <p:spPr bwMode="auto">
          <a:xfrm>
            <a:off x="411163" y="2819400"/>
            <a:ext cx="3357562" cy="374491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7" name="矩形 44">
            <a:extLst>
              <a:ext uri="{FF2B5EF4-FFF2-40B4-BE49-F238E27FC236}">
                <a16:creationId xmlns:a16="http://schemas.microsoft.com/office/drawing/2014/main" id="{EE8EE558-EC6A-CD6D-0F04-F9029171417B}"/>
              </a:ext>
            </a:extLst>
          </p:cNvPr>
          <p:cNvSpPr>
            <a:spLocks noChangeArrowheads="1"/>
          </p:cNvSpPr>
          <p:nvPr/>
        </p:nvSpPr>
        <p:spPr bwMode="auto">
          <a:xfrm>
            <a:off x="2863630" y="2899150"/>
            <a:ext cx="10239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动量定理</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9" name="矩形 44">
            <a:extLst>
              <a:ext uri="{FF2B5EF4-FFF2-40B4-BE49-F238E27FC236}">
                <a16:creationId xmlns:a16="http://schemas.microsoft.com/office/drawing/2014/main" id="{1F808A80-0D27-053C-C9F8-3F6C83B28CC3}"/>
              </a:ext>
            </a:extLst>
          </p:cNvPr>
          <p:cNvSpPr>
            <a:spLocks noChangeArrowheads="1"/>
          </p:cNvSpPr>
          <p:nvPr/>
        </p:nvSpPr>
        <p:spPr bwMode="auto">
          <a:xfrm>
            <a:off x="2826365" y="3337900"/>
            <a:ext cx="10239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临界条件</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10" name="矩形 44">
            <a:extLst>
              <a:ext uri="{FF2B5EF4-FFF2-40B4-BE49-F238E27FC236}">
                <a16:creationId xmlns:a16="http://schemas.microsoft.com/office/drawing/2014/main" id="{92E671DA-E6DD-671A-AD12-77044C25C4CA}"/>
              </a:ext>
            </a:extLst>
          </p:cNvPr>
          <p:cNvSpPr>
            <a:spLocks noChangeArrowheads="1"/>
          </p:cNvSpPr>
          <p:nvPr/>
        </p:nvSpPr>
        <p:spPr bwMode="auto">
          <a:xfrm>
            <a:off x="2845067" y="4199192"/>
            <a:ext cx="10239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冲刷速率</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11" name="矩形 44">
            <a:extLst>
              <a:ext uri="{FF2B5EF4-FFF2-40B4-BE49-F238E27FC236}">
                <a16:creationId xmlns:a16="http://schemas.microsoft.com/office/drawing/2014/main" id="{B207AFCF-BB61-4EB8-6F2C-7C4DF7802C21}"/>
              </a:ext>
            </a:extLst>
          </p:cNvPr>
          <p:cNvSpPr>
            <a:spLocks noChangeArrowheads="1"/>
          </p:cNvSpPr>
          <p:nvPr/>
        </p:nvSpPr>
        <p:spPr bwMode="auto">
          <a:xfrm>
            <a:off x="470605" y="5573782"/>
            <a:ext cx="11557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FF0000"/>
                </a:solidFill>
                <a:latin typeface="黑体" panose="02010609060101010101" pitchFamily="49" charset="-122"/>
                <a:ea typeface="黑体" panose="02010609060101010101" pitchFamily="49" charset="-122"/>
              </a:rPr>
              <a:t>平衡高度</a:t>
            </a:r>
            <a:endParaRPr lang="zh-CN" altLang="en-US" sz="1400" dirty="0">
              <a:solidFill>
                <a:srgbClr val="FF0000"/>
              </a:solidFill>
              <a:latin typeface="黑体" panose="02010609060101010101" pitchFamily="49" charset="-122"/>
              <a:ea typeface="黑体" panose="02010609060101010101" pitchFamily="49" charset="-122"/>
            </a:endParaRPr>
          </a:p>
        </p:txBody>
      </p:sp>
      <p:sp>
        <p:nvSpPr>
          <p:cNvPr id="17" name="右弧形箭头 60">
            <a:extLst>
              <a:ext uri="{FF2B5EF4-FFF2-40B4-BE49-F238E27FC236}">
                <a16:creationId xmlns:a16="http://schemas.microsoft.com/office/drawing/2014/main" id="{D7C18703-A100-3526-F94E-CB7B5CCAF848}"/>
              </a:ext>
            </a:extLst>
          </p:cNvPr>
          <p:cNvSpPr>
            <a:spLocks noChangeArrowheads="1"/>
          </p:cNvSpPr>
          <p:nvPr/>
        </p:nvSpPr>
        <p:spPr bwMode="auto">
          <a:xfrm rot="21419861">
            <a:off x="3155995" y="4882247"/>
            <a:ext cx="294104" cy="736600"/>
          </a:xfrm>
          <a:prstGeom prst="curvedLeftArrow">
            <a:avLst>
              <a:gd name="adj1" fmla="val 24814"/>
              <a:gd name="adj2" fmla="val 33406"/>
              <a:gd name="adj3" fmla="val 25000"/>
            </a:avLst>
          </a:prstGeom>
          <a:solidFill>
            <a:srgbClr val="FF0000"/>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1400">
              <a:solidFill>
                <a:srgbClr val="000000"/>
              </a:solidFill>
              <a:latin typeface="Times New Roman" panose="02020603050405020304" pitchFamily="18" charset="0"/>
            </a:endParaRPr>
          </a:p>
        </p:txBody>
      </p:sp>
      <p:sp>
        <p:nvSpPr>
          <p:cNvPr id="20" name="矩形 44">
            <a:extLst>
              <a:ext uri="{FF2B5EF4-FFF2-40B4-BE49-F238E27FC236}">
                <a16:creationId xmlns:a16="http://schemas.microsoft.com/office/drawing/2014/main" id="{FEA69B20-FBE5-50FA-97FF-C58470E3FBA5}"/>
              </a:ext>
            </a:extLst>
          </p:cNvPr>
          <p:cNvSpPr>
            <a:spLocks noChangeArrowheads="1"/>
          </p:cNvSpPr>
          <p:nvPr/>
        </p:nvSpPr>
        <p:spPr bwMode="auto">
          <a:xfrm>
            <a:off x="470605" y="4864158"/>
            <a:ext cx="1311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堆积速率</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21" name="箭头: 右 20">
            <a:extLst>
              <a:ext uri="{FF2B5EF4-FFF2-40B4-BE49-F238E27FC236}">
                <a16:creationId xmlns:a16="http://schemas.microsoft.com/office/drawing/2014/main" id="{4EC7A019-621D-7482-32CE-3086331467A7}"/>
              </a:ext>
            </a:extLst>
          </p:cNvPr>
          <p:cNvSpPr/>
          <p:nvPr/>
        </p:nvSpPr>
        <p:spPr>
          <a:xfrm>
            <a:off x="6309065" y="3482068"/>
            <a:ext cx="504056" cy="153988"/>
          </a:xfrm>
          <a:prstGeom prst="right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箭头: 右 21">
            <a:extLst>
              <a:ext uri="{FF2B5EF4-FFF2-40B4-BE49-F238E27FC236}">
                <a16:creationId xmlns:a16="http://schemas.microsoft.com/office/drawing/2014/main" id="{38AAC629-BD46-3585-8E84-53F3B6756584}"/>
              </a:ext>
            </a:extLst>
          </p:cNvPr>
          <p:cNvSpPr/>
          <p:nvPr/>
        </p:nvSpPr>
        <p:spPr>
          <a:xfrm>
            <a:off x="8757337" y="3513818"/>
            <a:ext cx="504056" cy="153988"/>
          </a:xfrm>
          <a:prstGeom prst="rightArrow">
            <a:avLst/>
          </a:prstGeom>
          <a:solidFill>
            <a:srgbClr val="0000FF"/>
          </a:solidFill>
          <a:ln>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23" name="图片 22">
            <a:extLst>
              <a:ext uri="{FF2B5EF4-FFF2-40B4-BE49-F238E27FC236}">
                <a16:creationId xmlns:a16="http://schemas.microsoft.com/office/drawing/2014/main" id="{170FD2EE-BA99-C7F3-E410-50FB9341C142}"/>
              </a:ext>
            </a:extLst>
          </p:cNvPr>
          <p:cNvPicPr>
            <a:picLocks noChangeAspect="1"/>
          </p:cNvPicPr>
          <p:nvPr/>
        </p:nvPicPr>
        <p:blipFill>
          <a:blip r:embed="rId7"/>
          <a:stretch>
            <a:fillRect/>
          </a:stretch>
        </p:blipFill>
        <p:spPr>
          <a:xfrm>
            <a:off x="9182821" y="4302455"/>
            <a:ext cx="2142441" cy="2027937"/>
          </a:xfrm>
          <a:prstGeom prst="rect">
            <a:avLst/>
          </a:prstGeom>
        </p:spPr>
      </p:pic>
      <p:pic>
        <p:nvPicPr>
          <p:cNvPr id="24" name="图片 23">
            <a:extLst>
              <a:ext uri="{FF2B5EF4-FFF2-40B4-BE49-F238E27FC236}">
                <a16:creationId xmlns:a16="http://schemas.microsoft.com/office/drawing/2014/main" id="{BD8F5A6D-1AD7-13F4-FAF6-BD1F1600068D}"/>
              </a:ext>
            </a:extLst>
          </p:cNvPr>
          <p:cNvPicPr>
            <a:picLocks noChangeAspect="1"/>
          </p:cNvPicPr>
          <p:nvPr/>
        </p:nvPicPr>
        <p:blipFill rotWithShape="1">
          <a:blip r:embed="rId8"/>
          <a:srcRect l="4642"/>
          <a:stretch/>
        </p:blipFill>
        <p:spPr>
          <a:xfrm>
            <a:off x="435193" y="2859985"/>
            <a:ext cx="2524945" cy="382733"/>
          </a:xfrm>
          <a:prstGeom prst="rect">
            <a:avLst/>
          </a:prstGeom>
        </p:spPr>
      </p:pic>
      <p:pic>
        <p:nvPicPr>
          <p:cNvPr id="25" name="图片 24">
            <a:extLst>
              <a:ext uri="{FF2B5EF4-FFF2-40B4-BE49-F238E27FC236}">
                <a16:creationId xmlns:a16="http://schemas.microsoft.com/office/drawing/2014/main" id="{F969133B-92D7-212F-D093-F613B3D03452}"/>
              </a:ext>
            </a:extLst>
          </p:cNvPr>
          <p:cNvPicPr>
            <a:picLocks noChangeAspect="1"/>
          </p:cNvPicPr>
          <p:nvPr/>
        </p:nvPicPr>
        <p:blipFill>
          <a:blip r:embed="rId9"/>
          <a:stretch>
            <a:fillRect/>
          </a:stretch>
        </p:blipFill>
        <p:spPr>
          <a:xfrm>
            <a:off x="1204726" y="3305451"/>
            <a:ext cx="1192054" cy="382732"/>
          </a:xfrm>
          <a:prstGeom prst="rect">
            <a:avLst/>
          </a:prstGeom>
        </p:spPr>
      </p:pic>
      <p:pic>
        <p:nvPicPr>
          <p:cNvPr id="26" name="图片 25">
            <a:extLst>
              <a:ext uri="{FF2B5EF4-FFF2-40B4-BE49-F238E27FC236}">
                <a16:creationId xmlns:a16="http://schemas.microsoft.com/office/drawing/2014/main" id="{652AA01F-61B8-B426-7D98-F024ED3773E8}"/>
              </a:ext>
            </a:extLst>
          </p:cNvPr>
          <p:cNvPicPr>
            <a:picLocks noChangeAspect="1"/>
          </p:cNvPicPr>
          <p:nvPr/>
        </p:nvPicPr>
        <p:blipFill>
          <a:blip r:embed="rId10"/>
          <a:stretch>
            <a:fillRect/>
          </a:stretch>
        </p:blipFill>
        <p:spPr>
          <a:xfrm>
            <a:off x="1110914" y="3996763"/>
            <a:ext cx="1559289" cy="686659"/>
          </a:xfrm>
          <a:prstGeom prst="rect">
            <a:avLst/>
          </a:prstGeom>
        </p:spPr>
      </p:pic>
      <p:pic>
        <p:nvPicPr>
          <p:cNvPr id="27" name="图片 26">
            <a:extLst>
              <a:ext uri="{FF2B5EF4-FFF2-40B4-BE49-F238E27FC236}">
                <a16:creationId xmlns:a16="http://schemas.microsoft.com/office/drawing/2014/main" id="{44786B81-D32A-9146-668D-966FF1F7C6AC}"/>
              </a:ext>
            </a:extLst>
          </p:cNvPr>
          <p:cNvPicPr>
            <a:picLocks noChangeAspect="1"/>
          </p:cNvPicPr>
          <p:nvPr/>
        </p:nvPicPr>
        <p:blipFill>
          <a:blip r:embed="rId11"/>
          <a:stretch>
            <a:fillRect/>
          </a:stretch>
        </p:blipFill>
        <p:spPr>
          <a:xfrm>
            <a:off x="1341290" y="4713936"/>
            <a:ext cx="1522340" cy="741271"/>
          </a:xfrm>
          <a:prstGeom prst="rect">
            <a:avLst/>
          </a:prstGeom>
        </p:spPr>
      </p:pic>
      <p:pic>
        <p:nvPicPr>
          <p:cNvPr id="29" name="图片 28">
            <a:extLst>
              <a:ext uri="{FF2B5EF4-FFF2-40B4-BE49-F238E27FC236}">
                <a16:creationId xmlns:a16="http://schemas.microsoft.com/office/drawing/2014/main" id="{78CD4A92-D16C-B04B-1B18-BF5308302940}"/>
              </a:ext>
            </a:extLst>
          </p:cNvPr>
          <p:cNvPicPr>
            <a:picLocks noChangeAspect="1"/>
          </p:cNvPicPr>
          <p:nvPr/>
        </p:nvPicPr>
        <p:blipFill>
          <a:blip r:embed="rId12"/>
          <a:stretch>
            <a:fillRect/>
          </a:stretch>
        </p:blipFill>
        <p:spPr>
          <a:xfrm>
            <a:off x="1269253" y="5424579"/>
            <a:ext cx="1887350" cy="741271"/>
          </a:xfrm>
          <a:prstGeom prst="rect">
            <a:avLst/>
          </a:prstGeom>
        </p:spPr>
      </p:pic>
      <p:sp>
        <p:nvSpPr>
          <p:cNvPr id="2" name="箭头: 左弧形 1">
            <a:extLst>
              <a:ext uri="{FF2B5EF4-FFF2-40B4-BE49-F238E27FC236}">
                <a16:creationId xmlns:a16="http://schemas.microsoft.com/office/drawing/2014/main" id="{E051FD58-68E9-1034-499B-DF63F2A1E5FB}"/>
              </a:ext>
            </a:extLst>
          </p:cNvPr>
          <p:cNvSpPr/>
          <p:nvPr/>
        </p:nvSpPr>
        <p:spPr>
          <a:xfrm rot="20925830">
            <a:off x="716747" y="3531374"/>
            <a:ext cx="339335" cy="785537"/>
          </a:xfrm>
          <a:prstGeom prst="curvedRightArrow">
            <a:avLst>
              <a:gd name="adj1" fmla="val 25000"/>
              <a:gd name="adj2" fmla="val 50000"/>
              <a:gd name="adj3" fmla="val 36928"/>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4" name="矩形 13">
            <a:extLst>
              <a:ext uri="{FF2B5EF4-FFF2-40B4-BE49-F238E27FC236}">
                <a16:creationId xmlns:a16="http://schemas.microsoft.com/office/drawing/2014/main" id="{A864143C-AAF6-603E-18E1-186DC53E76E0}"/>
              </a:ext>
            </a:extLst>
          </p:cNvPr>
          <p:cNvSpPr>
            <a:spLocks noChangeArrowheads="1"/>
          </p:cNvSpPr>
          <p:nvPr/>
        </p:nvSpPr>
        <p:spPr bwMode="auto">
          <a:xfrm>
            <a:off x="3942707" y="2810893"/>
            <a:ext cx="7697909" cy="140519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8" name="矩形 44">
            <a:extLst>
              <a:ext uri="{FF2B5EF4-FFF2-40B4-BE49-F238E27FC236}">
                <a16:creationId xmlns:a16="http://schemas.microsoft.com/office/drawing/2014/main" id="{C43A4EF0-7810-D72C-2E93-2B268D99ABF0}"/>
              </a:ext>
            </a:extLst>
          </p:cNvPr>
          <p:cNvSpPr>
            <a:spLocks noChangeArrowheads="1"/>
          </p:cNvSpPr>
          <p:nvPr/>
        </p:nvSpPr>
        <p:spPr bwMode="auto">
          <a:xfrm>
            <a:off x="6655173" y="3890137"/>
            <a:ext cx="216698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冲刷速率模型示意图</a:t>
            </a:r>
          </a:p>
        </p:txBody>
      </p:sp>
      <p:sp>
        <p:nvSpPr>
          <p:cNvPr id="12" name="矩形 44">
            <a:extLst>
              <a:ext uri="{FF2B5EF4-FFF2-40B4-BE49-F238E27FC236}">
                <a16:creationId xmlns:a16="http://schemas.microsoft.com/office/drawing/2014/main" id="{2A03AC67-4861-1025-876D-E66B815F1CD1}"/>
              </a:ext>
            </a:extLst>
          </p:cNvPr>
          <p:cNvSpPr>
            <a:spLocks noChangeArrowheads="1"/>
          </p:cNvSpPr>
          <p:nvPr/>
        </p:nvSpPr>
        <p:spPr bwMode="auto">
          <a:xfrm>
            <a:off x="1010676" y="6119121"/>
            <a:ext cx="227987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平衡高度机理模型推导</a:t>
            </a:r>
          </a:p>
        </p:txBody>
      </p:sp>
      <p:sp>
        <p:nvSpPr>
          <p:cNvPr id="13" name="矩形 13">
            <a:extLst>
              <a:ext uri="{FF2B5EF4-FFF2-40B4-BE49-F238E27FC236}">
                <a16:creationId xmlns:a16="http://schemas.microsoft.com/office/drawing/2014/main" id="{5FB58725-B4CC-2B1D-F0A6-99F94431EF29}"/>
              </a:ext>
            </a:extLst>
          </p:cNvPr>
          <p:cNvSpPr>
            <a:spLocks noChangeArrowheads="1"/>
          </p:cNvSpPr>
          <p:nvPr/>
        </p:nvSpPr>
        <p:spPr bwMode="auto">
          <a:xfrm>
            <a:off x="3936550" y="4304250"/>
            <a:ext cx="7697909" cy="2328821"/>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4" name="矩形 44">
            <a:extLst>
              <a:ext uri="{FF2B5EF4-FFF2-40B4-BE49-F238E27FC236}">
                <a16:creationId xmlns:a16="http://schemas.microsoft.com/office/drawing/2014/main" id="{AF0EF5EB-B249-2E4A-D2BC-5A051EF54801}"/>
              </a:ext>
            </a:extLst>
          </p:cNvPr>
          <p:cNvSpPr>
            <a:spLocks noChangeArrowheads="1"/>
          </p:cNvSpPr>
          <p:nvPr/>
        </p:nvSpPr>
        <p:spPr bwMode="auto">
          <a:xfrm>
            <a:off x="3942707" y="6265961"/>
            <a:ext cx="2659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600" b="1" dirty="0" err="1">
                <a:solidFill>
                  <a:srgbClr val="FF0000"/>
                </a:solidFill>
                <a:latin typeface="黑体" panose="02010609060101010101" pitchFamily="49" charset="-122"/>
                <a:ea typeface="黑体" panose="02010609060101010101" pitchFamily="49" charset="-122"/>
              </a:rPr>
              <a:t>Patankar</a:t>
            </a:r>
            <a:r>
              <a:rPr lang="zh-CN" altLang="en-US" sz="1600" b="1" dirty="0">
                <a:solidFill>
                  <a:srgbClr val="FF0000"/>
                </a:solidFill>
                <a:latin typeface="黑体" panose="02010609060101010101" pitchFamily="49" charset="-122"/>
                <a:ea typeface="黑体" panose="02010609060101010101" pitchFamily="49" charset="-122"/>
              </a:rPr>
              <a:t>实验对比结果</a:t>
            </a:r>
          </a:p>
        </p:txBody>
      </p:sp>
      <p:sp>
        <p:nvSpPr>
          <p:cNvPr id="16" name="矩形 44">
            <a:extLst>
              <a:ext uri="{FF2B5EF4-FFF2-40B4-BE49-F238E27FC236}">
                <a16:creationId xmlns:a16="http://schemas.microsoft.com/office/drawing/2014/main" id="{0381C5DE-4BC9-F238-F42B-69803E059663}"/>
              </a:ext>
            </a:extLst>
          </p:cNvPr>
          <p:cNvSpPr>
            <a:spLocks noChangeArrowheads="1"/>
          </p:cNvSpPr>
          <p:nvPr/>
        </p:nvSpPr>
        <p:spPr bwMode="auto">
          <a:xfrm>
            <a:off x="9192344" y="6258798"/>
            <a:ext cx="225189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600" b="1" dirty="0">
                <a:solidFill>
                  <a:srgbClr val="FF0000"/>
                </a:solidFill>
                <a:latin typeface="黑体" panose="02010609060101010101" pitchFamily="49" charset="-122"/>
                <a:ea typeface="黑体" panose="02010609060101010101" pitchFamily="49" charset="-122"/>
              </a:rPr>
              <a:t>Wang</a:t>
            </a:r>
            <a:r>
              <a:rPr lang="zh-CN" altLang="en-US" sz="1600" b="1" dirty="0">
                <a:solidFill>
                  <a:srgbClr val="FF0000"/>
                </a:solidFill>
                <a:latin typeface="黑体" panose="02010609060101010101" pitchFamily="49" charset="-122"/>
                <a:ea typeface="黑体" panose="02010609060101010101" pitchFamily="49" charset="-122"/>
              </a:rPr>
              <a:t>拟合模型对比结果</a:t>
            </a:r>
          </a:p>
        </p:txBody>
      </p:sp>
      <p:sp>
        <p:nvSpPr>
          <p:cNvPr id="18" name="矩形 44">
            <a:extLst>
              <a:ext uri="{FF2B5EF4-FFF2-40B4-BE49-F238E27FC236}">
                <a16:creationId xmlns:a16="http://schemas.microsoft.com/office/drawing/2014/main" id="{DDFC6FE7-BB0E-A705-3668-70D324488A49}"/>
              </a:ext>
            </a:extLst>
          </p:cNvPr>
          <p:cNvSpPr>
            <a:spLocks noChangeArrowheads="1"/>
          </p:cNvSpPr>
          <p:nvPr/>
        </p:nvSpPr>
        <p:spPr bwMode="auto">
          <a:xfrm>
            <a:off x="6504488" y="6278079"/>
            <a:ext cx="265960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en-US" altLang="zh-CN" sz="1600" b="1" dirty="0">
                <a:solidFill>
                  <a:srgbClr val="FF0000"/>
                </a:solidFill>
                <a:latin typeface="黑体" panose="02010609060101010101" pitchFamily="49" charset="-122"/>
                <a:ea typeface="黑体" panose="02010609060101010101" pitchFamily="49" charset="-122"/>
              </a:rPr>
              <a:t>Alotaibi</a:t>
            </a:r>
            <a:r>
              <a:rPr lang="zh-CN" altLang="en-US" sz="1600" b="1" dirty="0">
                <a:solidFill>
                  <a:srgbClr val="FF0000"/>
                </a:solidFill>
                <a:latin typeface="黑体" panose="02010609060101010101" pitchFamily="49" charset="-122"/>
                <a:ea typeface="黑体" panose="02010609060101010101" pitchFamily="49" charset="-122"/>
              </a:rPr>
              <a:t>实验对比结果</a:t>
            </a:r>
          </a:p>
        </p:txBody>
      </p:sp>
      <p:sp>
        <p:nvSpPr>
          <p:cNvPr id="15" name="TextBox 45">
            <a:extLst>
              <a:ext uri="{FF2B5EF4-FFF2-40B4-BE49-F238E27FC236}">
                <a16:creationId xmlns:a16="http://schemas.microsoft.com/office/drawing/2014/main" id="{5496D396-92F9-F578-3E75-F7B19CC3D929}"/>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成果二：构建了物理增强型井下压裂实时仿真智能模型</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Tree>
    <p:extLst>
      <p:ext uri="{BB962C8B-B14F-4D97-AF65-F5344CB8AC3E}">
        <p14:creationId xmlns:p14="http://schemas.microsoft.com/office/powerpoint/2010/main" val="55686520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E4EA6DF-80B4-6109-3E74-4D131E93296D}"/>
              </a:ext>
            </a:extLst>
          </p:cNvPr>
          <p:cNvPicPr>
            <a:picLocks noChangeAspect="1"/>
          </p:cNvPicPr>
          <p:nvPr/>
        </p:nvPicPr>
        <p:blipFill>
          <a:blip r:embed="rId4"/>
          <a:stretch>
            <a:fillRect/>
          </a:stretch>
        </p:blipFill>
        <p:spPr>
          <a:xfrm>
            <a:off x="7868368" y="4637078"/>
            <a:ext cx="3975255" cy="1729404"/>
          </a:xfrm>
          <a:prstGeom prst="rect">
            <a:avLst/>
          </a:prstGeom>
        </p:spPr>
      </p:pic>
      <p:sp>
        <p:nvSpPr>
          <p:cNvPr id="4" name="TextBox 7">
            <a:extLst>
              <a:ext uri="{FF2B5EF4-FFF2-40B4-BE49-F238E27FC236}">
                <a16:creationId xmlns:a16="http://schemas.microsoft.com/office/drawing/2014/main" id="{CF40CC23-7885-23FC-5AC0-A10ACD830B86}"/>
              </a:ext>
            </a:extLst>
          </p:cNvPr>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4</a:t>
            </a:r>
            <a:r>
              <a:rPr lang="zh-CN" altLang="en-US" sz="2400" kern="0" dirty="0">
                <a:solidFill>
                  <a:srgbClr val="FF0000"/>
                </a:solidFill>
                <a:latin typeface="方正大黑简体" panose="02010601030101010101" pitchFamily="65" charset="-122"/>
                <a:ea typeface="方正大黑简体" panose="02010601030101010101" pitchFamily="65" charset="-122"/>
              </a:rPr>
              <a:t>、首创了基于欧拉</a:t>
            </a:r>
            <a:r>
              <a:rPr lang="en-US" altLang="zh-CN" sz="2400" kern="0" dirty="0">
                <a:solidFill>
                  <a:srgbClr val="FF0000"/>
                </a:solidFill>
                <a:latin typeface="方正大黑简体" panose="02010601030101010101" pitchFamily="65" charset="-122"/>
                <a:ea typeface="方正大黑简体" panose="02010601030101010101" pitchFamily="65" charset="-122"/>
              </a:rPr>
              <a:t>-</a:t>
            </a:r>
            <a:r>
              <a:rPr lang="zh-CN" altLang="en-US" sz="2400" kern="0" dirty="0">
                <a:solidFill>
                  <a:srgbClr val="FF0000"/>
                </a:solidFill>
                <a:latin typeface="方正大黑简体" panose="02010601030101010101" pitchFamily="65" charset="-122"/>
                <a:ea typeface="方正大黑简体" panose="02010601030101010101" pitchFamily="65" charset="-122"/>
              </a:rPr>
              <a:t>欧拉框架的单缝矿场尺度支撑剂运移实时仿真模型</a:t>
            </a:r>
          </a:p>
        </p:txBody>
      </p:sp>
      <p:sp>
        <p:nvSpPr>
          <p:cNvPr id="5" name="Text Box 7">
            <a:extLst>
              <a:ext uri="{FF2B5EF4-FFF2-40B4-BE49-F238E27FC236}">
                <a16:creationId xmlns:a16="http://schemas.microsoft.com/office/drawing/2014/main" id="{1AF3FDBA-69F6-7BB1-3924-780E2419DC6F}"/>
              </a:ext>
            </a:extLst>
          </p:cNvPr>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采用欧拉场浓度扩散方程表征支撑剂运移，同时提出沉降</a:t>
            </a:r>
            <a:r>
              <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扩散分布耦合理论，结合泊肃叶平板双层流动理论，耦合支撑剂平衡高度物理模型，形成了矿场尺度支撑剂运移实时仿真模型，可以达到</a:t>
            </a:r>
            <a:r>
              <a:rPr lang="zh-CN"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百米级</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裂缝</a:t>
            </a:r>
            <a:r>
              <a:rPr lang="zh-CN"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分钟级</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计算速度。</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与实验数据</a:t>
            </a:r>
            <a:r>
              <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拟合模型对比，误差均小于</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5%</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endPar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1048627" name="图片 1048626">
            <a:extLst>
              <a:ext uri="{FF2B5EF4-FFF2-40B4-BE49-F238E27FC236}">
                <a16:creationId xmlns:a16="http://schemas.microsoft.com/office/drawing/2014/main" id="{A3322EBD-8A68-D0F2-88AC-C94AF2459FA0}"/>
              </a:ext>
            </a:extLst>
          </p:cNvPr>
          <p:cNvPicPr>
            <a:picLocks noChangeAspect="1"/>
          </p:cNvPicPr>
          <p:nvPr/>
        </p:nvPicPr>
        <p:blipFill rotWithShape="1">
          <a:blip r:embed="rId5"/>
          <a:srcRect t="52466"/>
          <a:stretch/>
        </p:blipFill>
        <p:spPr>
          <a:xfrm>
            <a:off x="4153308" y="4583023"/>
            <a:ext cx="3412598" cy="1777601"/>
          </a:xfrm>
          <a:prstGeom prst="rect">
            <a:avLst/>
          </a:prstGeom>
        </p:spPr>
      </p:pic>
      <p:sp>
        <p:nvSpPr>
          <p:cNvPr id="24" name="矩形 13">
            <a:extLst>
              <a:ext uri="{FF2B5EF4-FFF2-40B4-BE49-F238E27FC236}">
                <a16:creationId xmlns:a16="http://schemas.microsoft.com/office/drawing/2014/main" id="{91E1FDA6-1A1B-B780-EF6F-A0E34F18D013}"/>
              </a:ext>
            </a:extLst>
          </p:cNvPr>
          <p:cNvSpPr>
            <a:spLocks noChangeArrowheads="1"/>
          </p:cNvSpPr>
          <p:nvPr/>
        </p:nvSpPr>
        <p:spPr bwMode="auto">
          <a:xfrm>
            <a:off x="411163" y="2781300"/>
            <a:ext cx="3357562" cy="378301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25" name="矩形 44">
            <a:extLst>
              <a:ext uri="{FF2B5EF4-FFF2-40B4-BE49-F238E27FC236}">
                <a16:creationId xmlns:a16="http://schemas.microsoft.com/office/drawing/2014/main" id="{1180D22D-0023-0742-740F-16588A7C2EAD}"/>
              </a:ext>
            </a:extLst>
          </p:cNvPr>
          <p:cNvSpPr>
            <a:spLocks noChangeArrowheads="1"/>
          </p:cNvSpPr>
          <p:nvPr/>
        </p:nvSpPr>
        <p:spPr bwMode="auto">
          <a:xfrm>
            <a:off x="2760663" y="2949774"/>
            <a:ext cx="1023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泊肃叶流</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26" name="右弧形箭头 61">
            <a:extLst>
              <a:ext uri="{FF2B5EF4-FFF2-40B4-BE49-F238E27FC236}">
                <a16:creationId xmlns:a16="http://schemas.microsoft.com/office/drawing/2014/main" id="{1FA9501A-BEAA-F060-2537-4BAB4F4A3158}"/>
              </a:ext>
            </a:extLst>
          </p:cNvPr>
          <p:cNvSpPr>
            <a:spLocks noChangeArrowheads="1"/>
          </p:cNvSpPr>
          <p:nvPr/>
        </p:nvSpPr>
        <p:spPr bwMode="auto">
          <a:xfrm rot="10800000">
            <a:off x="312738" y="3562549"/>
            <a:ext cx="225425" cy="784225"/>
          </a:xfrm>
          <a:prstGeom prst="curvedLeftArrow">
            <a:avLst>
              <a:gd name="adj1" fmla="val 25029"/>
              <a:gd name="adj2" fmla="val 33661"/>
              <a:gd name="adj3" fmla="val 25000"/>
            </a:avLst>
          </a:prstGeom>
          <a:solidFill>
            <a:srgbClr val="FF0000"/>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1400">
              <a:solidFill>
                <a:srgbClr val="000000"/>
              </a:solidFill>
              <a:latin typeface="Times New Roman" panose="02020603050405020304" pitchFamily="18" charset="0"/>
            </a:endParaRPr>
          </a:p>
        </p:txBody>
      </p:sp>
      <p:sp>
        <p:nvSpPr>
          <p:cNvPr id="27" name="矩形 44">
            <a:extLst>
              <a:ext uri="{FF2B5EF4-FFF2-40B4-BE49-F238E27FC236}">
                <a16:creationId xmlns:a16="http://schemas.microsoft.com/office/drawing/2014/main" id="{091F79C0-295C-E450-5B5E-A867ECF2F444}"/>
              </a:ext>
            </a:extLst>
          </p:cNvPr>
          <p:cNvSpPr>
            <a:spLocks noChangeArrowheads="1"/>
          </p:cNvSpPr>
          <p:nvPr/>
        </p:nvSpPr>
        <p:spPr bwMode="auto">
          <a:xfrm>
            <a:off x="2760663" y="3586361"/>
            <a:ext cx="102393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颗粒速度</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28" name="矩形 44">
            <a:extLst>
              <a:ext uri="{FF2B5EF4-FFF2-40B4-BE49-F238E27FC236}">
                <a16:creationId xmlns:a16="http://schemas.microsoft.com/office/drawing/2014/main" id="{A1DBB55B-22AB-FF77-3964-5E19EE68A61E}"/>
              </a:ext>
            </a:extLst>
          </p:cNvPr>
          <p:cNvSpPr>
            <a:spLocks noChangeArrowheads="1"/>
          </p:cNvSpPr>
          <p:nvPr/>
        </p:nvSpPr>
        <p:spPr bwMode="auto">
          <a:xfrm>
            <a:off x="2744788" y="4165799"/>
            <a:ext cx="10239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浓度扩散</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29" name="矩形 44">
            <a:extLst>
              <a:ext uri="{FF2B5EF4-FFF2-40B4-BE49-F238E27FC236}">
                <a16:creationId xmlns:a16="http://schemas.microsoft.com/office/drawing/2014/main" id="{53A9794A-6A0E-BC53-0AF6-A8F8D745FEA0}"/>
              </a:ext>
            </a:extLst>
          </p:cNvPr>
          <p:cNvSpPr>
            <a:spLocks noChangeArrowheads="1"/>
          </p:cNvSpPr>
          <p:nvPr/>
        </p:nvSpPr>
        <p:spPr bwMode="auto">
          <a:xfrm>
            <a:off x="413227" y="5787935"/>
            <a:ext cx="11557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缝内堆积</a:t>
            </a:r>
            <a:endParaRPr lang="zh-CN" altLang="en-US" sz="1400" dirty="0">
              <a:solidFill>
                <a:srgbClr val="0000FF"/>
              </a:solidFill>
              <a:latin typeface="黑体" panose="02010609060101010101" pitchFamily="49" charset="-122"/>
              <a:ea typeface="黑体" panose="02010609060101010101" pitchFamily="49" charset="-122"/>
            </a:endParaRPr>
          </a:p>
        </p:txBody>
      </p:sp>
      <p:graphicFrame>
        <p:nvGraphicFramePr>
          <p:cNvPr id="30" name="Object 2">
            <a:extLst>
              <a:ext uri="{FF2B5EF4-FFF2-40B4-BE49-F238E27FC236}">
                <a16:creationId xmlns:a16="http://schemas.microsoft.com/office/drawing/2014/main" id="{5886D7FC-647D-B2C6-1BB1-7EE81086952E}"/>
              </a:ext>
            </a:extLst>
          </p:cNvPr>
          <p:cNvGraphicFramePr>
            <a:graphicFrameLocks noChangeAspect="1"/>
          </p:cNvGraphicFramePr>
          <p:nvPr/>
        </p:nvGraphicFramePr>
        <p:xfrm>
          <a:off x="646113" y="2852936"/>
          <a:ext cx="1762125" cy="466725"/>
        </p:xfrm>
        <a:graphic>
          <a:graphicData uri="http://schemas.openxmlformats.org/presentationml/2006/ole">
            <mc:AlternateContent xmlns:mc="http://schemas.openxmlformats.org/markup-compatibility/2006">
              <mc:Choice xmlns:v="urn:schemas-microsoft-com:vml" Requires="v">
                <p:oleObj spid="_x0000_s1152" name="Equation" r:id="rId6" imgW="1447172" imgH="444307" progId="Equation.DSMT4">
                  <p:embed/>
                </p:oleObj>
              </mc:Choice>
              <mc:Fallback>
                <p:oleObj name="Equation" r:id="rId6" imgW="1447172" imgH="444307" progId="Equation.DSMT4">
                  <p:embed/>
                  <p:pic>
                    <p:nvPicPr>
                      <p:cNvPr id="30" name="Object 2">
                        <a:extLst>
                          <a:ext uri="{FF2B5EF4-FFF2-40B4-BE49-F238E27FC236}">
                            <a16:creationId xmlns:a16="http://schemas.microsoft.com/office/drawing/2014/main" id="{5886D7FC-647D-B2C6-1BB1-7EE81086952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6113" y="2852936"/>
                        <a:ext cx="1762125" cy="466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1" name="Object 3">
            <a:extLst>
              <a:ext uri="{FF2B5EF4-FFF2-40B4-BE49-F238E27FC236}">
                <a16:creationId xmlns:a16="http://schemas.microsoft.com/office/drawing/2014/main" id="{0E02BF87-69D7-1BAA-D860-019B8D0ADC1D}"/>
              </a:ext>
            </a:extLst>
          </p:cNvPr>
          <p:cNvGraphicFramePr>
            <a:graphicFrameLocks noChangeAspect="1"/>
          </p:cNvGraphicFramePr>
          <p:nvPr/>
        </p:nvGraphicFramePr>
        <p:xfrm>
          <a:off x="669925" y="3481586"/>
          <a:ext cx="1719263" cy="444500"/>
        </p:xfrm>
        <a:graphic>
          <a:graphicData uri="http://schemas.openxmlformats.org/presentationml/2006/ole">
            <mc:AlternateContent xmlns:mc="http://schemas.openxmlformats.org/markup-compatibility/2006">
              <mc:Choice xmlns:v="urn:schemas-microsoft-com:vml" Requires="v">
                <p:oleObj spid="_x0000_s1153" name="Equation" r:id="rId8" imgW="1485255" imgH="444307" progId="Equation.DSMT4">
                  <p:embed/>
                </p:oleObj>
              </mc:Choice>
              <mc:Fallback>
                <p:oleObj name="Equation" r:id="rId8" imgW="1485255" imgH="444307" progId="Equation.DSMT4">
                  <p:embed/>
                  <p:pic>
                    <p:nvPicPr>
                      <p:cNvPr id="31" name="Object 3">
                        <a:extLst>
                          <a:ext uri="{FF2B5EF4-FFF2-40B4-BE49-F238E27FC236}">
                            <a16:creationId xmlns:a16="http://schemas.microsoft.com/office/drawing/2014/main" id="{0E02BF87-69D7-1BAA-D860-019B8D0ADC1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69925" y="3481586"/>
                        <a:ext cx="1719263"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2" name="Object 4">
            <a:extLst>
              <a:ext uri="{FF2B5EF4-FFF2-40B4-BE49-F238E27FC236}">
                <a16:creationId xmlns:a16="http://schemas.microsoft.com/office/drawing/2014/main" id="{254858BB-AAC3-D793-AD4F-B85AFDDFC330}"/>
              </a:ext>
            </a:extLst>
          </p:cNvPr>
          <p:cNvGraphicFramePr>
            <a:graphicFrameLocks noChangeAspect="1"/>
          </p:cNvGraphicFramePr>
          <p:nvPr/>
        </p:nvGraphicFramePr>
        <p:xfrm>
          <a:off x="738188" y="4061024"/>
          <a:ext cx="1717675" cy="423862"/>
        </p:xfrm>
        <a:graphic>
          <a:graphicData uri="http://schemas.openxmlformats.org/presentationml/2006/ole">
            <mc:AlternateContent xmlns:mc="http://schemas.openxmlformats.org/markup-compatibility/2006">
              <mc:Choice xmlns:v="urn:schemas-microsoft-com:vml" Requires="v">
                <p:oleObj spid="_x0000_s1154" name="Equation" r:id="rId10" imgW="1371600" imgH="393700" progId="Equation.DSMT4">
                  <p:embed/>
                </p:oleObj>
              </mc:Choice>
              <mc:Fallback>
                <p:oleObj name="Equation" r:id="rId10" imgW="1371600" imgH="393700" progId="Equation.DSMT4">
                  <p:embed/>
                  <p:pic>
                    <p:nvPicPr>
                      <p:cNvPr id="32" name="Object 4">
                        <a:extLst>
                          <a:ext uri="{FF2B5EF4-FFF2-40B4-BE49-F238E27FC236}">
                            <a16:creationId xmlns:a16="http://schemas.microsoft.com/office/drawing/2014/main" id="{254858BB-AAC3-D793-AD4F-B85AFDDFC330}"/>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38188" y="4061024"/>
                        <a:ext cx="1717675" cy="423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3" name="Object 5">
            <a:extLst>
              <a:ext uri="{FF2B5EF4-FFF2-40B4-BE49-F238E27FC236}">
                <a16:creationId xmlns:a16="http://schemas.microsoft.com/office/drawing/2014/main" id="{1233AEA6-1CBC-CE81-F7A5-BD611C60CE96}"/>
              </a:ext>
            </a:extLst>
          </p:cNvPr>
          <p:cNvGraphicFramePr>
            <a:graphicFrameLocks noChangeAspect="1"/>
          </p:cNvGraphicFramePr>
          <p:nvPr/>
        </p:nvGraphicFramePr>
        <p:xfrm>
          <a:off x="1315648" y="5666491"/>
          <a:ext cx="1971675" cy="531813"/>
        </p:xfrm>
        <a:graphic>
          <a:graphicData uri="http://schemas.openxmlformats.org/presentationml/2006/ole">
            <mc:AlternateContent xmlns:mc="http://schemas.openxmlformats.org/markup-compatibility/2006">
              <mc:Choice xmlns:v="urn:schemas-microsoft-com:vml" Requires="v">
                <p:oleObj spid="_x0000_s1155" name="Equation" r:id="rId12" imgW="1498600" imgH="469900" progId="Equation.DSMT4">
                  <p:embed/>
                </p:oleObj>
              </mc:Choice>
              <mc:Fallback>
                <p:oleObj name="Equation" r:id="rId12" imgW="1498600" imgH="469900" progId="Equation.DSMT4">
                  <p:embed/>
                  <p:pic>
                    <p:nvPicPr>
                      <p:cNvPr id="33" name="Object 5">
                        <a:extLst>
                          <a:ext uri="{FF2B5EF4-FFF2-40B4-BE49-F238E27FC236}">
                            <a16:creationId xmlns:a16="http://schemas.microsoft.com/office/drawing/2014/main" id="{1233AEA6-1CBC-CE81-F7A5-BD611C60CE96}"/>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15648" y="5666491"/>
                        <a:ext cx="1971675" cy="531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4" name="Object 7">
            <a:extLst>
              <a:ext uri="{FF2B5EF4-FFF2-40B4-BE49-F238E27FC236}">
                <a16:creationId xmlns:a16="http://schemas.microsoft.com/office/drawing/2014/main" id="{E4868630-1DB1-42EC-0E11-D3C41CA32F77}"/>
              </a:ext>
            </a:extLst>
          </p:cNvPr>
          <p:cNvGraphicFramePr>
            <a:graphicFrameLocks noChangeAspect="1"/>
          </p:cNvGraphicFramePr>
          <p:nvPr/>
        </p:nvGraphicFramePr>
        <p:xfrm>
          <a:off x="1872269" y="5210374"/>
          <a:ext cx="1704975" cy="539750"/>
        </p:xfrm>
        <a:graphic>
          <a:graphicData uri="http://schemas.openxmlformats.org/presentationml/2006/ole">
            <mc:AlternateContent xmlns:mc="http://schemas.openxmlformats.org/markup-compatibility/2006">
              <mc:Choice xmlns:v="urn:schemas-microsoft-com:vml" Requires="v">
                <p:oleObj spid="_x0000_s1156" name="Equation" r:id="rId14" imgW="1308100" imgH="469900" progId="Equation.DSMT4">
                  <p:embed/>
                </p:oleObj>
              </mc:Choice>
              <mc:Fallback>
                <p:oleObj name="Equation" r:id="rId14" imgW="1308100" imgH="469900" progId="Equation.DSMT4">
                  <p:embed/>
                  <p:pic>
                    <p:nvPicPr>
                      <p:cNvPr id="34" name="Object 7">
                        <a:extLst>
                          <a:ext uri="{FF2B5EF4-FFF2-40B4-BE49-F238E27FC236}">
                            <a16:creationId xmlns:a16="http://schemas.microsoft.com/office/drawing/2014/main" id="{E4868630-1DB1-42EC-0E11-D3C41CA32F77}"/>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872269" y="5210374"/>
                        <a:ext cx="1704975"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5" name="右弧形箭头 60">
            <a:extLst>
              <a:ext uri="{FF2B5EF4-FFF2-40B4-BE49-F238E27FC236}">
                <a16:creationId xmlns:a16="http://schemas.microsoft.com/office/drawing/2014/main" id="{0FA51A51-A6E1-0C8C-7871-CBD872A83B31}"/>
              </a:ext>
            </a:extLst>
          </p:cNvPr>
          <p:cNvSpPr>
            <a:spLocks noChangeArrowheads="1"/>
          </p:cNvSpPr>
          <p:nvPr/>
        </p:nvSpPr>
        <p:spPr bwMode="auto">
          <a:xfrm rot="21258045">
            <a:off x="3413394" y="5028563"/>
            <a:ext cx="311246" cy="903370"/>
          </a:xfrm>
          <a:prstGeom prst="curvedLeftArrow">
            <a:avLst>
              <a:gd name="adj1" fmla="val 24814"/>
              <a:gd name="adj2" fmla="val 33406"/>
              <a:gd name="adj3" fmla="val 25000"/>
            </a:avLst>
          </a:prstGeom>
          <a:solidFill>
            <a:srgbClr val="FF0000"/>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1400">
              <a:solidFill>
                <a:srgbClr val="000000"/>
              </a:solidFill>
              <a:latin typeface="Times New Roman" panose="02020603050405020304" pitchFamily="18" charset="0"/>
            </a:endParaRPr>
          </a:p>
        </p:txBody>
      </p:sp>
      <p:sp>
        <p:nvSpPr>
          <p:cNvPr id="36" name="矩形 44">
            <a:extLst>
              <a:ext uri="{FF2B5EF4-FFF2-40B4-BE49-F238E27FC236}">
                <a16:creationId xmlns:a16="http://schemas.microsoft.com/office/drawing/2014/main" id="{55BB6E44-F4A2-BBB1-72B9-B993FA89663A}"/>
              </a:ext>
            </a:extLst>
          </p:cNvPr>
          <p:cNvSpPr>
            <a:spLocks noChangeArrowheads="1"/>
          </p:cNvSpPr>
          <p:nvPr/>
        </p:nvSpPr>
        <p:spPr bwMode="auto">
          <a:xfrm>
            <a:off x="194405" y="5298480"/>
            <a:ext cx="15494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颗粒床侵蚀</a:t>
            </a:r>
          </a:p>
        </p:txBody>
      </p:sp>
      <p:graphicFrame>
        <p:nvGraphicFramePr>
          <p:cNvPr id="37" name="Object 1">
            <a:extLst>
              <a:ext uri="{FF2B5EF4-FFF2-40B4-BE49-F238E27FC236}">
                <a16:creationId xmlns:a16="http://schemas.microsoft.com/office/drawing/2014/main" id="{C00B4170-DABF-DAD6-E7D7-361EE8AE755C}"/>
              </a:ext>
            </a:extLst>
          </p:cNvPr>
          <p:cNvGraphicFramePr>
            <a:graphicFrameLocks noChangeAspect="1"/>
          </p:cNvGraphicFramePr>
          <p:nvPr/>
        </p:nvGraphicFramePr>
        <p:xfrm>
          <a:off x="1549400" y="4688086"/>
          <a:ext cx="835025" cy="488950"/>
        </p:xfrm>
        <a:graphic>
          <a:graphicData uri="http://schemas.openxmlformats.org/presentationml/2006/ole">
            <mc:AlternateContent xmlns:mc="http://schemas.openxmlformats.org/markup-compatibility/2006">
              <mc:Choice xmlns:v="urn:schemas-microsoft-com:vml" Requires="v">
                <p:oleObj spid="_x0000_s1157" name="Equation" r:id="rId16" imgW="736600" imgH="431800" progId="Equation.DSMT4">
                  <p:embed/>
                </p:oleObj>
              </mc:Choice>
              <mc:Fallback>
                <p:oleObj name="Equation" r:id="rId16" imgW="736600" imgH="431800" progId="Equation.DSMT4">
                  <p:embed/>
                  <p:pic>
                    <p:nvPicPr>
                      <p:cNvPr id="37" name="Object 1">
                        <a:extLst>
                          <a:ext uri="{FF2B5EF4-FFF2-40B4-BE49-F238E27FC236}">
                            <a16:creationId xmlns:a16="http://schemas.microsoft.com/office/drawing/2014/main" id="{C00B4170-DABF-DAD6-E7D7-361EE8AE755C}"/>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549400" y="4688086"/>
                        <a:ext cx="835025" cy="488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8" name="矩形 44">
            <a:extLst>
              <a:ext uri="{FF2B5EF4-FFF2-40B4-BE49-F238E27FC236}">
                <a16:creationId xmlns:a16="http://schemas.microsoft.com/office/drawing/2014/main" id="{211FED85-8980-43B4-8B1A-9A223AA2F81E}"/>
              </a:ext>
            </a:extLst>
          </p:cNvPr>
          <p:cNvSpPr>
            <a:spLocks noChangeArrowheads="1"/>
          </p:cNvSpPr>
          <p:nvPr/>
        </p:nvSpPr>
        <p:spPr bwMode="auto">
          <a:xfrm>
            <a:off x="458788" y="4699199"/>
            <a:ext cx="131127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a:solidFill>
                  <a:srgbClr val="0000FF"/>
                </a:solidFill>
                <a:latin typeface="黑体" panose="02010609060101010101" pitchFamily="49" charset="-122"/>
                <a:ea typeface="黑体" panose="02010609060101010101" pitchFamily="49" charset="-122"/>
              </a:rPr>
              <a:t>颗粒床沉积</a:t>
            </a:r>
            <a:endParaRPr lang="zh-CN" altLang="en-US" sz="1400">
              <a:solidFill>
                <a:srgbClr val="0000FF"/>
              </a:solidFill>
              <a:latin typeface="黑体" panose="02010609060101010101" pitchFamily="49" charset="-122"/>
              <a:ea typeface="黑体" panose="02010609060101010101" pitchFamily="49" charset="-122"/>
            </a:endParaRPr>
          </a:p>
        </p:txBody>
      </p:sp>
      <p:pic>
        <p:nvPicPr>
          <p:cNvPr id="40" name="图片 39">
            <a:extLst>
              <a:ext uri="{FF2B5EF4-FFF2-40B4-BE49-F238E27FC236}">
                <a16:creationId xmlns:a16="http://schemas.microsoft.com/office/drawing/2014/main" id="{D447C9B5-CBFF-3AF1-DDCC-5732E36E0A0A}"/>
              </a:ext>
            </a:extLst>
          </p:cNvPr>
          <p:cNvPicPr>
            <a:picLocks noChangeAspect="1"/>
          </p:cNvPicPr>
          <p:nvPr/>
        </p:nvPicPr>
        <p:blipFill>
          <a:blip r:embed="rId18"/>
          <a:stretch>
            <a:fillRect/>
          </a:stretch>
        </p:blipFill>
        <p:spPr>
          <a:xfrm>
            <a:off x="5265763" y="4852695"/>
            <a:ext cx="1661020" cy="664986"/>
          </a:xfrm>
          <a:prstGeom prst="rect">
            <a:avLst/>
          </a:prstGeom>
        </p:spPr>
      </p:pic>
      <p:pic>
        <p:nvPicPr>
          <p:cNvPr id="2" name="图片 1">
            <a:extLst>
              <a:ext uri="{FF2B5EF4-FFF2-40B4-BE49-F238E27FC236}">
                <a16:creationId xmlns:a16="http://schemas.microsoft.com/office/drawing/2014/main" id="{CEDEA886-072D-3A14-989F-3075792D414A}"/>
              </a:ext>
            </a:extLst>
          </p:cNvPr>
          <p:cNvPicPr>
            <a:picLocks noChangeAspect="1"/>
          </p:cNvPicPr>
          <p:nvPr/>
        </p:nvPicPr>
        <p:blipFill rotWithShape="1">
          <a:blip r:embed="rId19"/>
          <a:srcRect l="3205" r="50771"/>
          <a:stretch/>
        </p:blipFill>
        <p:spPr>
          <a:xfrm>
            <a:off x="8035853" y="2819400"/>
            <a:ext cx="1916466" cy="1532553"/>
          </a:xfrm>
          <a:prstGeom prst="rect">
            <a:avLst/>
          </a:prstGeom>
        </p:spPr>
      </p:pic>
      <p:pic>
        <p:nvPicPr>
          <p:cNvPr id="7" name="图片 6">
            <a:extLst>
              <a:ext uri="{FF2B5EF4-FFF2-40B4-BE49-F238E27FC236}">
                <a16:creationId xmlns:a16="http://schemas.microsoft.com/office/drawing/2014/main" id="{AA3DCEB2-F05C-BCBB-7FF2-25604510F1F2}"/>
              </a:ext>
            </a:extLst>
          </p:cNvPr>
          <p:cNvPicPr>
            <a:picLocks noChangeAspect="1"/>
          </p:cNvPicPr>
          <p:nvPr/>
        </p:nvPicPr>
        <p:blipFill rotWithShape="1">
          <a:blip r:embed="rId19"/>
          <a:srcRect l="3205" r="50771"/>
          <a:stretch/>
        </p:blipFill>
        <p:spPr>
          <a:xfrm>
            <a:off x="10011465" y="2818216"/>
            <a:ext cx="1858037" cy="1508937"/>
          </a:xfrm>
          <a:prstGeom prst="rect">
            <a:avLst/>
          </a:prstGeom>
        </p:spPr>
      </p:pic>
      <p:pic>
        <p:nvPicPr>
          <p:cNvPr id="8" name="图片 7">
            <a:extLst>
              <a:ext uri="{FF2B5EF4-FFF2-40B4-BE49-F238E27FC236}">
                <a16:creationId xmlns:a16="http://schemas.microsoft.com/office/drawing/2014/main" id="{F6BFE722-449B-91D6-9CE4-7BA6208963AA}"/>
              </a:ext>
            </a:extLst>
          </p:cNvPr>
          <p:cNvPicPr>
            <a:picLocks noChangeAspect="1"/>
          </p:cNvPicPr>
          <p:nvPr/>
        </p:nvPicPr>
        <p:blipFill rotWithShape="1">
          <a:blip r:embed="rId5"/>
          <a:srcRect b="54069"/>
          <a:stretch/>
        </p:blipFill>
        <p:spPr>
          <a:xfrm>
            <a:off x="4180850" y="2845069"/>
            <a:ext cx="3385056" cy="1703764"/>
          </a:xfrm>
          <a:prstGeom prst="rect">
            <a:avLst/>
          </a:prstGeom>
        </p:spPr>
      </p:pic>
      <p:sp>
        <p:nvSpPr>
          <p:cNvPr id="9" name="矩形 13">
            <a:extLst>
              <a:ext uri="{FF2B5EF4-FFF2-40B4-BE49-F238E27FC236}">
                <a16:creationId xmlns:a16="http://schemas.microsoft.com/office/drawing/2014/main" id="{444A15BB-8C07-3CB1-E923-F7518F7C14F6}"/>
              </a:ext>
            </a:extLst>
          </p:cNvPr>
          <p:cNvSpPr>
            <a:spLocks noChangeArrowheads="1"/>
          </p:cNvSpPr>
          <p:nvPr/>
        </p:nvSpPr>
        <p:spPr bwMode="auto">
          <a:xfrm>
            <a:off x="4007768" y="2781300"/>
            <a:ext cx="3584397" cy="379802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1" name="文本框 10">
            <a:extLst>
              <a:ext uri="{FF2B5EF4-FFF2-40B4-BE49-F238E27FC236}">
                <a16:creationId xmlns:a16="http://schemas.microsoft.com/office/drawing/2014/main" id="{311654E0-4E08-2489-AE91-13032CABC58C}"/>
              </a:ext>
            </a:extLst>
          </p:cNvPr>
          <p:cNvSpPr txBox="1"/>
          <p:nvPr/>
        </p:nvSpPr>
        <p:spPr>
          <a:xfrm>
            <a:off x="4394068" y="6259096"/>
            <a:ext cx="3138204" cy="338554"/>
          </a:xfrm>
          <a:prstGeom prst="rect">
            <a:avLst/>
          </a:prstGeom>
          <a:noFill/>
        </p:spPr>
        <p:txBody>
          <a:bodyPr wrap="square">
            <a:spAutoFit/>
          </a:bodyPr>
          <a:lstStyle/>
          <a:p>
            <a:pPr algn="ctr"/>
            <a:r>
              <a:rPr lang="zh-CN" altLang="en-US" sz="1600" b="1" dirty="0">
                <a:solidFill>
                  <a:srgbClr val="FF0000"/>
                </a:solidFill>
                <a:latin typeface="黑体" panose="02010609060101010101" pitchFamily="49" charset="-122"/>
                <a:ea typeface="黑体" panose="02010609060101010101" pitchFamily="49" charset="-122"/>
              </a:rPr>
              <a:t>单缝矿场尺度支撑剂运移示意图</a:t>
            </a:r>
            <a:endParaRPr lang="zh-CN" altLang="en-US" sz="1600" dirty="0">
              <a:solidFill>
                <a:srgbClr val="FF0000"/>
              </a:solidFill>
            </a:endParaRPr>
          </a:p>
        </p:txBody>
      </p:sp>
      <p:sp>
        <p:nvSpPr>
          <p:cNvPr id="12" name="文本框 11">
            <a:extLst>
              <a:ext uri="{FF2B5EF4-FFF2-40B4-BE49-F238E27FC236}">
                <a16:creationId xmlns:a16="http://schemas.microsoft.com/office/drawing/2014/main" id="{A187A018-67B8-6332-6985-FC393FF93891}"/>
              </a:ext>
            </a:extLst>
          </p:cNvPr>
          <p:cNvSpPr txBox="1"/>
          <p:nvPr/>
        </p:nvSpPr>
        <p:spPr>
          <a:xfrm>
            <a:off x="7660555" y="4242240"/>
            <a:ext cx="2726206" cy="307777"/>
          </a:xfrm>
          <a:prstGeom prst="rect">
            <a:avLst/>
          </a:prstGeom>
          <a:noFill/>
        </p:spPr>
        <p:txBody>
          <a:bodyPr wrap="square">
            <a:spAutoFit/>
          </a:bodyPr>
          <a:lstStyle/>
          <a:p>
            <a:pPr algn="ctr"/>
            <a:r>
              <a:rPr lang="zh-CN" altLang="en-US" sz="1400" b="1" dirty="0">
                <a:solidFill>
                  <a:srgbClr val="FF0000"/>
                </a:solidFill>
                <a:latin typeface="黑体" panose="02010609060101010101" pitchFamily="49" charset="-122"/>
                <a:ea typeface="黑体" panose="02010609060101010101" pitchFamily="49" charset="-122"/>
              </a:rPr>
              <a:t>与实验数据对比</a:t>
            </a:r>
            <a:endParaRPr lang="zh-CN" altLang="en-US" sz="1400" dirty="0">
              <a:solidFill>
                <a:srgbClr val="FF0000"/>
              </a:solidFill>
            </a:endParaRPr>
          </a:p>
        </p:txBody>
      </p:sp>
      <p:sp>
        <p:nvSpPr>
          <p:cNvPr id="13" name="矩形 13">
            <a:extLst>
              <a:ext uri="{FF2B5EF4-FFF2-40B4-BE49-F238E27FC236}">
                <a16:creationId xmlns:a16="http://schemas.microsoft.com/office/drawing/2014/main" id="{B5559BB2-1C1D-CCAA-717A-8FAF9ADDDCC8}"/>
              </a:ext>
            </a:extLst>
          </p:cNvPr>
          <p:cNvSpPr>
            <a:spLocks noChangeArrowheads="1"/>
          </p:cNvSpPr>
          <p:nvPr/>
        </p:nvSpPr>
        <p:spPr bwMode="auto">
          <a:xfrm>
            <a:off x="7797933" y="4623534"/>
            <a:ext cx="4130715" cy="1955789"/>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4" name="文本框 13">
            <a:extLst>
              <a:ext uri="{FF2B5EF4-FFF2-40B4-BE49-F238E27FC236}">
                <a16:creationId xmlns:a16="http://schemas.microsoft.com/office/drawing/2014/main" id="{6E6D4028-DD53-A8E4-786B-FB81F2C85AE3}"/>
              </a:ext>
            </a:extLst>
          </p:cNvPr>
          <p:cNvSpPr txBox="1"/>
          <p:nvPr/>
        </p:nvSpPr>
        <p:spPr>
          <a:xfrm>
            <a:off x="8427289" y="6309320"/>
            <a:ext cx="2726206" cy="338554"/>
          </a:xfrm>
          <a:prstGeom prst="rect">
            <a:avLst/>
          </a:prstGeom>
          <a:noFill/>
        </p:spPr>
        <p:txBody>
          <a:bodyPr wrap="square">
            <a:spAutoFit/>
          </a:bodyPr>
          <a:lstStyle/>
          <a:p>
            <a:pPr algn="ctr"/>
            <a:r>
              <a:rPr lang="zh-CN" altLang="en-US" sz="1600" b="1" dirty="0">
                <a:solidFill>
                  <a:srgbClr val="FF0000"/>
                </a:solidFill>
                <a:latin typeface="黑体" panose="02010609060101010101" pitchFamily="49" charset="-122"/>
                <a:ea typeface="黑体" panose="02010609060101010101" pitchFamily="49" charset="-122"/>
              </a:rPr>
              <a:t>单缝矿场尺度支撑剂运移</a:t>
            </a:r>
            <a:endParaRPr lang="zh-CN" altLang="en-US" sz="1600" dirty="0">
              <a:solidFill>
                <a:srgbClr val="FF0000"/>
              </a:solidFill>
            </a:endParaRPr>
          </a:p>
        </p:txBody>
      </p:sp>
      <p:sp>
        <p:nvSpPr>
          <p:cNvPr id="15" name="文本框 14">
            <a:extLst>
              <a:ext uri="{FF2B5EF4-FFF2-40B4-BE49-F238E27FC236}">
                <a16:creationId xmlns:a16="http://schemas.microsoft.com/office/drawing/2014/main" id="{16A1AA42-3142-B4D9-1684-CC78634BBAEB}"/>
              </a:ext>
            </a:extLst>
          </p:cNvPr>
          <p:cNvSpPr txBox="1"/>
          <p:nvPr/>
        </p:nvSpPr>
        <p:spPr>
          <a:xfrm>
            <a:off x="9634490" y="4221088"/>
            <a:ext cx="2726206" cy="307777"/>
          </a:xfrm>
          <a:prstGeom prst="rect">
            <a:avLst/>
          </a:prstGeom>
          <a:noFill/>
        </p:spPr>
        <p:txBody>
          <a:bodyPr wrap="square">
            <a:spAutoFit/>
          </a:bodyPr>
          <a:lstStyle/>
          <a:p>
            <a:pPr algn="ctr"/>
            <a:r>
              <a:rPr lang="zh-CN" altLang="en-US" sz="1400" b="1" dirty="0">
                <a:solidFill>
                  <a:srgbClr val="FF0000"/>
                </a:solidFill>
                <a:latin typeface="黑体" panose="02010609060101010101" pitchFamily="49" charset="-122"/>
                <a:ea typeface="黑体" panose="02010609060101010101" pitchFamily="49" charset="-122"/>
              </a:rPr>
              <a:t>与拟合数据模型对比</a:t>
            </a:r>
            <a:endParaRPr lang="zh-CN" altLang="en-US" sz="1400" dirty="0">
              <a:solidFill>
                <a:srgbClr val="FF0000"/>
              </a:solidFill>
            </a:endParaRPr>
          </a:p>
        </p:txBody>
      </p:sp>
      <p:sp>
        <p:nvSpPr>
          <p:cNvPr id="16" name="矩形 13">
            <a:extLst>
              <a:ext uri="{FF2B5EF4-FFF2-40B4-BE49-F238E27FC236}">
                <a16:creationId xmlns:a16="http://schemas.microsoft.com/office/drawing/2014/main" id="{B35D855A-6266-27EB-0442-F9B06E2494FA}"/>
              </a:ext>
            </a:extLst>
          </p:cNvPr>
          <p:cNvSpPr>
            <a:spLocks noChangeArrowheads="1"/>
          </p:cNvSpPr>
          <p:nvPr/>
        </p:nvSpPr>
        <p:spPr bwMode="auto">
          <a:xfrm>
            <a:off x="7797935" y="2781300"/>
            <a:ext cx="4130714" cy="176753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0" name="文本框 9">
            <a:extLst>
              <a:ext uri="{FF2B5EF4-FFF2-40B4-BE49-F238E27FC236}">
                <a16:creationId xmlns:a16="http://schemas.microsoft.com/office/drawing/2014/main" id="{ABD0E37D-D13E-9AA1-5714-6EE79713C501}"/>
              </a:ext>
            </a:extLst>
          </p:cNvPr>
          <p:cNvSpPr txBox="1"/>
          <p:nvPr/>
        </p:nvSpPr>
        <p:spPr>
          <a:xfrm rot="16200000">
            <a:off x="6573331" y="3447176"/>
            <a:ext cx="2726206" cy="276999"/>
          </a:xfrm>
          <a:prstGeom prst="rect">
            <a:avLst/>
          </a:prstGeom>
          <a:noFill/>
        </p:spPr>
        <p:txBody>
          <a:bodyPr wrap="square">
            <a:spAutoFit/>
          </a:bodyPr>
          <a:lstStyle/>
          <a:p>
            <a:pPr algn="ctr"/>
            <a:r>
              <a:rPr lang="zh-CN" altLang="en-US" sz="1200" b="1" dirty="0">
                <a:latin typeface="黑体" panose="02010609060101010101" pitchFamily="49" charset="-122"/>
                <a:ea typeface="黑体" panose="02010609060101010101" pitchFamily="49" charset="-122"/>
              </a:rPr>
              <a:t>平衡高度</a:t>
            </a:r>
            <a:r>
              <a:rPr lang="en-US" altLang="zh-CN" sz="1200" b="1" dirty="0">
                <a:latin typeface="黑体" panose="02010609060101010101" pitchFamily="49" charset="-122"/>
                <a:ea typeface="黑体" panose="02010609060101010101" pitchFamily="49" charset="-122"/>
              </a:rPr>
              <a:t>(%)</a:t>
            </a:r>
            <a:endParaRPr lang="zh-CN" altLang="en-US" sz="1200" b="1" dirty="0"/>
          </a:p>
        </p:txBody>
      </p:sp>
      <p:sp>
        <p:nvSpPr>
          <p:cNvPr id="17" name="矩形 44">
            <a:extLst>
              <a:ext uri="{FF2B5EF4-FFF2-40B4-BE49-F238E27FC236}">
                <a16:creationId xmlns:a16="http://schemas.microsoft.com/office/drawing/2014/main" id="{E04E93C0-F6A1-C7AC-A9D0-2B0DC9575163}"/>
              </a:ext>
            </a:extLst>
          </p:cNvPr>
          <p:cNvSpPr>
            <a:spLocks noChangeArrowheads="1"/>
          </p:cNvSpPr>
          <p:nvPr/>
        </p:nvSpPr>
        <p:spPr bwMode="auto">
          <a:xfrm>
            <a:off x="950007" y="6212384"/>
            <a:ext cx="250339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矿场尺度支撑剂运移模型</a:t>
            </a:r>
          </a:p>
        </p:txBody>
      </p:sp>
      <p:sp>
        <p:nvSpPr>
          <p:cNvPr id="18" name="TextBox 45">
            <a:extLst>
              <a:ext uri="{FF2B5EF4-FFF2-40B4-BE49-F238E27FC236}">
                <a16:creationId xmlns:a16="http://schemas.microsoft.com/office/drawing/2014/main" id="{CD1FD49F-C3FF-A7BB-EA7A-61F2E84AE157}"/>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成果二：构建了物理增强型井下压裂实时仿真智能模型</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Tree>
    <p:extLst>
      <p:ext uri="{BB962C8B-B14F-4D97-AF65-F5344CB8AC3E}">
        <p14:creationId xmlns:p14="http://schemas.microsoft.com/office/powerpoint/2010/main" val="1336921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FBFFF63B-2FDD-4D62-9F0D-980600F5507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101045" y="2852936"/>
            <a:ext cx="3135139" cy="3323174"/>
          </a:xfrm>
          <a:prstGeom prst="rect">
            <a:avLst/>
          </a:prstGeom>
          <a:noFill/>
        </p:spPr>
      </p:pic>
      <p:sp>
        <p:nvSpPr>
          <p:cNvPr id="6" name="TextBox 7">
            <a:extLst>
              <a:ext uri="{FF2B5EF4-FFF2-40B4-BE49-F238E27FC236}">
                <a16:creationId xmlns:a16="http://schemas.microsoft.com/office/drawing/2014/main" id="{4D4FFD02-A115-D949-C36F-B6FADEA7E87B}"/>
              </a:ext>
            </a:extLst>
          </p:cNvPr>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5</a:t>
            </a:r>
            <a:r>
              <a:rPr lang="zh-CN" altLang="en-US" sz="2400" kern="0" dirty="0">
                <a:solidFill>
                  <a:srgbClr val="FF0000"/>
                </a:solidFill>
                <a:latin typeface="方正大黑简体" panose="02010601030101010101" pitchFamily="65" charset="-122"/>
                <a:ea typeface="方正大黑简体" panose="02010601030101010101" pitchFamily="65" charset="-122"/>
              </a:rPr>
              <a:t>、创建了物理数据融合的多簇裂缝支撑剂运移实时仿真模型</a:t>
            </a:r>
          </a:p>
        </p:txBody>
      </p:sp>
      <p:sp>
        <p:nvSpPr>
          <p:cNvPr id="7" name="Text Box 7">
            <a:extLst>
              <a:ext uri="{FF2B5EF4-FFF2-40B4-BE49-F238E27FC236}">
                <a16:creationId xmlns:a16="http://schemas.microsoft.com/office/drawing/2014/main" id="{3F0B8CA6-2FA0-BE61-7C0B-7605A17CC9DD}"/>
              </a:ext>
            </a:extLst>
          </p:cNvPr>
          <p:cNvSpPr txBox="1">
            <a:spLocks noChangeArrowheads="1"/>
          </p:cNvSpPr>
          <p:nvPr/>
        </p:nvSpPr>
        <p:spPr bwMode="auto">
          <a:xfrm>
            <a:off x="263525" y="1207240"/>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针对经验模型精度低和智能模型数据匮乏的难题，提出以</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缝口浓度经验</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模型的主控系数为约束</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以含导数项嵌入的神经网络模型为精调</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的裂缝缝口浓度智能算法，</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相比传统机器学习模型误差降低</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50%</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，耦合</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矿场尺度支撑剂</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运移高速计算模型</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，实现</a:t>
            </a:r>
            <a:r>
              <a:rPr lang="zh-CN" altLang="en-US"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了</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在</a:t>
            </a:r>
            <a:r>
              <a:rPr lang="zh-CN"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多簇结构</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中的支撑剂铺置</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实时</a:t>
            </a:r>
            <a:r>
              <a:rPr lang="zh-CN"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求解。</a:t>
            </a:r>
            <a:endParaRPr lang="en-US" altLang="zh-CN" sz="20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endParaRPr>
          </a:p>
        </p:txBody>
      </p:sp>
      <p:pic>
        <p:nvPicPr>
          <p:cNvPr id="5" name="图片 4" descr="图片包含 图示&#10;&#10;描述已自动生成">
            <a:extLst>
              <a:ext uri="{FF2B5EF4-FFF2-40B4-BE49-F238E27FC236}">
                <a16:creationId xmlns:a16="http://schemas.microsoft.com/office/drawing/2014/main" id="{48F05F20-D3AF-AA63-3AA7-6CE4652845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914053" y="2852936"/>
            <a:ext cx="3878250" cy="3490893"/>
          </a:xfrm>
          <a:prstGeom prst="rect">
            <a:avLst/>
          </a:prstGeom>
        </p:spPr>
      </p:pic>
      <p:sp>
        <p:nvSpPr>
          <p:cNvPr id="10" name="矩形 13">
            <a:extLst>
              <a:ext uri="{FF2B5EF4-FFF2-40B4-BE49-F238E27FC236}">
                <a16:creationId xmlns:a16="http://schemas.microsoft.com/office/drawing/2014/main" id="{AE838BC2-73BB-E78B-70D4-8156B601EB4D}"/>
              </a:ext>
            </a:extLst>
          </p:cNvPr>
          <p:cNvSpPr>
            <a:spLocks noChangeArrowheads="1"/>
          </p:cNvSpPr>
          <p:nvPr/>
        </p:nvSpPr>
        <p:spPr bwMode="auto">
          <a:xfrm>
            <a:off x="286544" y="2819400"/>
            <a:ext cx="3505200" cy="374491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2" name="矩形 44">
            <a:extLst>
              <a:ext uri="{FF2B5EF4-FFF2-40B4-BE49-F238E27FC236}">
                <a16:creationId xmlns:a16="http://schemas.microsoft.com/office/drawing/2014/main" id="{8C468854-B32D-7A6F-B74A-B84989390F27}"/>
              </a:ext>
            </a:extLst>
          </p:cNvPr>
          <p:cNvSpPr>
            <a:spLocks noChangeArrowheads="1"/>
          </p:cNvSpPr>
          <p:nvPr/>
        </p:nvSpPr>
        <p:spPr bwMode="auto">
          <a:xfrm>
            <a:off x="2808156" y="3760373"/>
            <a:ext cx="10239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主控系数</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13" name="矩形 44">
            <a:extLst>
              <a:ext uri="{FF2B5EF4-FFF2-40B4-BE49-F238E27FC236}">
                <a16:creationId xmlns:a16="http://schemas.microsoft.com/office/drawing/2014/main" id="{25DE66E0-5A72-6261-342C-E43BD4FCF0D4}"/>
              </a:ext>
            </a:extLst>
          </p:cNvPr>
          <p:cNvSpPr>
            <a:spLocks noChangeArrowheads="1"/>
          </p:cNvSpPr>
          <p:nvPr/>
        </p:nvSpPr>
        <p:spPr bwMode="auto">
          <a:xfrm>
            <a:off x="466529" y="5589240"/>
            <a:ext cx="115570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损失函数</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14" name="右弧形箭头 60">
            <a:extLst>
              <a:ext uri="{FF2B5EF4-FFF2-40B4-BE49-F238E27FC236}">
                <a16:creationId xmlns:a16="http://schemas.microsoft.com/office/drawing/2014/main" id="{5A29B2CE-F405-B636-EE7B-DED341B3284E}"/>
              </a:ext>
            </a:extLst>
          </p:cNvPr>
          <p:cNvSpPr>
            <a:spLocks noChangeArrowheads="1"/>
          </p:cNvSpPr>
          <p:nvPr/>
        </p:nvSpPr>
        <p:spPr bwMode="auto">
          <a:xfrm rot="338851">
            <a:off x="3675387" y="3336192"/>
            <a:ext cx="269374" cy="665561"/>
          </a:xfrm>
          <a:prstGeom prst="curvedLeftArrow">
            <a:avLst>
              <a:gd name="adj1" fmla="val 24814"/>
              <a:gd name="adj2" fmla="val 33406"/>
              <a:gd name="adj3" fmla="val 25000"/>
            </a:avLst>
          </a:prstGeom>
          <a:solidFill>
            <a:srgbClr val="FF0000"/>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1400">
              <a:solidFill>
                <a:srgbClr val="000000"/>
              </a:solidFill>
              <a:latin typeface="Times New Roman" panose="02020603050405020304" pitchFamily="18" charset="0"/>
            </a:endParaRPr>
          </a:p>
        </p:txBody>
      </p:sp>
      <p:sp>
        <p:nvSpPr>
          <p:cNvPr id="15" name="矩形 44">
            <a:extLst>
              <a:ext uri="{FF2B5EF4-FFF2-40B4-BE49-F238E27FC236}">
                <a16:creationId xmlns:a16="http://schemas.microsoft.com/office/drawing/2014/main" id="{50948827-9D60-BA70-96E7-0988922A41C6}"/>
              </a:ext>
            </a:extLst>
          </p:cNvPr>
          <p:cNvSpPr>
            <a:spLocks noChangeArrowheads="1"/>
          </p:cNvSpPr>
          <p:nvPr/>
        </p:nvSpPr>
        <p:spPr bwMode="auto">
          <a:xfrm>
            <a:off x="335360" y="4341642"/>
            <a:ext cx="1311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导数项嵌入</a:t>
            </a:r>
            <a:endParaRPr lang="zh-CN" altLang="en-US" sz="1400" dirty="0">
              <a:solidFill>
                <a:srgbClr val="0000FF"/>
              </a:solidFill>
              <a:latin typeface="黑体" panose="02010609060101010101" pitchFamily="49" charset="-122"/>
              <a:ea typeface="黑体" panose="02010609060101010101" pitchFamily="49" charset="-122"/>
            </a:endParaRPr>
          </a:p>
        </p:txBody>
      </p:sp>
      <p:sp>
        <p:nvSpPr>
          <p:cNvPr id="21" name="矩形 44">
            <a:extLst>
              <a:ext uri="{FF2B5EF4-FFF2-40B4-BE49-F238E27FC236}">
                <a16:creationId xmlns:a16="http://schemas.microsoft.com/office/drawing/2014/main" id="{ACC9705E-2414-5F1A-1E8B-8962B9897291}"/>
              </a:ext>
            </a:extLst>
          </p:cNvPr>
          <p:cNvSpPr>
            <a:spLocks noChangeArrowheads="1"/>
          </p:cNvSpPr>
          <p:nvPr/>
        </p:nvSpPr>
        <p:spPr bwMode="auto">
          <a:xfrm>
            <a:off x="2852333" y="3113364"/>
            <a:ext cx="1023937"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经验模型</a:t>
            </a:r>
            <a:endParaRPr lang="zh-CN" altLang="en-US" sz="1400" dirty="0">
              <a:solidFill>
                <a:srgbClr val="0000FF"/>
              </a:solidFill>
              <a:latin typeface="黑体" panose="02010609060101010101" pitchFamily="49" charset="-122"/>
              <a:ea typeface="黑体" panose="02010609060101010101" pitchFamily="49" charset="-122"/>
            </a:endParaRPr>
          </a:p>
        </p:txBody>
      </p:sp>
      <p:pic>
        <p:nvPicPr>
          <p:cNvPr id="23" name="图片 22">
            <a:extLst>
              <a:ext uri="{FF2B5EF4-FFF2-40B4-BE49-F238E27FC236}">
                <a16:creationId xmlns:a16="http://schemas.microsoft.com/office/drawing/2014/main" id="{B1C018DF-908C-F788-981F-EEED610A2A15}"/>
              </a:ext>
            </a:extLst>
          </p:cNvPr>
          <p:cNvPicPr>
            <a:picLocks noChangeAspect="1"/>
          </p:cNvPicPr>
          <p:nvPr/>
        </p:nvPicPr>
        <p:blipFill>
          <a:blip r:embed="rId5"/>
          <a:stretch>
            <a:fillRect/>
          </a:stretch>
        </p:blipFill>
        <p:spPr>
          <a:xfrm>
            <a:off x="705092" y="3567818"/>
            <a:ext cx="2157278" cy="691441"/>
          </a:xfrm>
          <a:prstGeom prst="rect">
            <a:avLst/>
          </a:prstGeom>
        </p:spPr>
      </p:pic>
      <p:pic>
        <p:nvPicPr>
          <p:cNvPr id="25" name="图片 24">
            <a:extLst>
              <a:ext uri="{FF2B5EF4-FFF2-40B4-BE49-F238E27FC236}">
                <a16:creationId xmlns:a16="http://schemas.microsoft.com/office/drawing/2014/main" id="{2509C56C-F865-8B88-D3F6-63555EE333B9}"/>
              </a:ext>
            </a:extLst>
          </p:cNvPr>
          <p:cNvPicPr>
            <a:picLocks noChangeAspect="1"/>
          </p:cNvPicPr>
          <p:nvPr/>
        </p:nvPicPr>
        <p:blipFill>
          <a:blip r:embed="rId6"/>
          <a:stretch>
            <a:fillRect/>
          </a:stretch>
        </p:blipFill>
        <p:spPr>
          <a:xfrm>
            <a:off x="489558" y="2924944"/>
            <a:ext cx="2479116" cy="682791"/>
          </a:xfrm>
          <a:prstGeom prst="rect">
            <a:avLst/>
          </a:prstGeom>
        </p:spPr>
      </p:pic>
      <p:pic>
        <p:nvPicPr>
          <p:cNvPr id="26" name="图片 25">
            <a:extLst>
              <a:ext uri="{FF2B5EF4-FFF2-40B4-BE49-F238E27FC236}">
                <a16:creationId xmlns:a16="http://schemas.microsoft.com/office/drawing/2014/main" id="{2EC35495-AAE8-C4A4-D780-12C1B2586538}"/>
              </a:ext>
            </a:extLst>
          </p:cNvPr>
          <p:cNvPicPr>
            <a:picLocks noChangeAspect="1"/>
          </p:cNvPicPr>
          <p:nvPr/>
        </p:nvPicPr>
        <p:blipFill>
          <a:blip r:embed="rId7"/>
          <a:stretch>
            <a:fillRect/>
          </a:stretch>
        </p:blipFill>
        <p:spPr>
          <a:xfrm>
            <a:off x="1550111" y="4410285"/>
            <a:ext cx="1743401" cy="247021"/>
          </a:xfrm>
          <a:prstGeom prst="rect">
            <a:avLst/>
          </a:prstGeom>
        </p:spPr>
      </p:pic>
      <p:pic>
        <p:nvPicPr>
          <p:cNvPr id="28" name="图片 27">
            <a:extLst>
              <a:ext uri="{FF2B5EF4-FFF2-40B4-BE49-F238E27FC236}">
                <a16:creationId xmlns:a16="http://schemas.microsoft.com/office/drawing/2014/main" id="{83E02763-CBAD-4719-1237-1CB15213CC8C}"/>
              </a:ext>
            </a:extLst>
          </p:cNvPr>
          <p:cNvPicPr>
            <a:picLocks noChangeAspect="1"/>
          </p:cNvPicPr>
          <p:nvPr/>
        </p:nvPicPr>
        <p:blipFill>
          <a:blip r:embed="rId8"/>
          <a:stretch>
            <a:fillRect/>
          </a:stretch>
        </p:blipFill>
        <p:spPr>
          <a:xfrm>
            <a:off x="412266" y="4998157"/>
            <a:ext cx="2616403" cy="385068"/>
          </a:xfrm>
          <a:prstGeom prst="rect">
            <a:avLst/>
          </a:prstGeom>
        </p:spPr>
      </p:pic>
      <p:sp>
        <p:nvSpPr>
          <p:cNvPr id="29" name="矩形 44">
            <a:extLst>
              <a:ext uri="{FF2B5EF4-FFF2-40B4-BE49-F238E27FC236}">
                <a16:creationId xmlns:a16="http://schemas.microsoft.com/office/drawing/2014/main" id="{CF4A9C41-2340-90BB-CA3C-06C6B24A17E2}"/>
              </a:ext>
            </a:extLst>
          </p:cNvPr>
          <p:cNvSpPr>
            <a:spLocks noChangeArrowheads="1"/>
          </p:cNvSpPr>
          <p:nvPr/>
        </p:nvSpPr>
        <p:spPr bwMode="auto">
          <a:xfrm>
            <a:off x="2848918" y="4960405"/>
            <a:ext cx="1311275"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400" b="1" dirty="0">
                <a:solidFill>
                  <a:srgbClr val="0000FF"/>
                </a:solidFill>
                <a:latin typeface="黑体" panose="02010609060101010101" pitchFamily="49" charset="-122"/>
                <a:ea typeface="黑体" panose="02010609060101010101" pitchFamily="49" charset="-122"/>
              </a:rPr>
              <a:t>预测模型</a:t>
            </a:r>
            <a:endParaRPr lang="zh-CN" altLang="en-US" sz="1400" dirty="0">
              <a:solidFill>
                <a:srgbClr val="0000FF"/>
              </a:solidFill>
              <a:latin typeface="黑体" panose="02010609060101010101" pitchFamily="49" charset="-122"/>
              <a:ea typeface="黑体" panose="02010609060101010101" pitchFamily="49" charset="-122"/>
            </a:endParaRPr>
          </a:p>
        </p:txBody>
      </p:sp>
      <p:pic>
        <p:nvPicPr>
          <p:cNvPr id="30" name="图片 29">
            <a:extLst>
              <a:ext uri="{FF2B5EF4-FFF2-40B4-BE49-F238E27FC236}">
                <a16:creationId xmlns:a16="http://schemas.microsoft.com/office/drawing/2014/main" id="{4B2AA015-7D72-7D2C-8C2B-174BC7DA22EF}"/>
              </a:ext>
            </a:extLst>
          </p:cNvPr>
          <p:cNvPicPr>
            <a:picLocks noChangeAspect="1"/>
          </p:cNvPicPr>
          <p:nvPr/>
        </p:nvPicPr>
        <p:blipFill>
          <a:blip r:embed="rId9"/>
          <a:stretch>
            <a:fillRect/>
          </a:stretch>
        </p:blipFill>
        <p:spPr>
          <a:xfrm>
            <a:off x="1320389" y="5466086"/>
            <a:ext cx="2209485" cy="673666"/>
          </a:xfrm>
          <a:prstGeom prst="rect">
            <a:avLst/>
          </a:prstGeom>
        </p:spPr>
      </p:pic>
      <p:sp>
        <p:nvSpPr>
          <p:cNvPr id="31" name="右弧形箭头 60">
            <a:extLst>
              <a:ext uri="{FF2B5EF4-FFF2-40B4-BE49-F238E27FC236}">
                <a16:creationId xmlns:a16="http://schemas.microsoft.com/office/drawing/2014/main" id="{3A0C1EC1-877B-12C6-EC16-A1B6AB2436A0}"/>
              </a:ext>
            </a:extLst>
          </p:cNvPr>
          <p:cNvSpPr>
            <a:spLocks noChangeArrowheads="1"/>
          </p:cNvSpPr>
          <p:nvPr/>
        </p:nvSpPr>
        <p:spPr bwMode="auto">
          <a:xfrm rot="338851">
            <a:off x="3521868" y="5285404"/>
            <a:ext cx="269374" cy="665561"/>
          </a:xfrm>
          <a:prstGeom prst="curvedLeftArrow">
            <a:avLst>
              <a:gd name="adj1" fmla="val 24814"/>
              <a:gd name="adj2" fmla="val 33406"/>
              <a:gd name="adj3" fmla="val 25000"/>
            </a:avLst>
          </a:prstGeom>
          <a:solidFill>
            <a:srgbClr val="FF0000"/>
          </a:solidFill>
          <a:ln w="9525" algn="ctr">
            <a:no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endParaRPr kumimoji="1" lang="zh-CN" altLang="en-US" sz="1400">
              <a:solidFill>
                <a:srgbClr val="000000"/>
              </a:solidFill>
              <a:latin typeface="Times New Roman" panose="02020603050405020304" pitchFamily="18" charset="0"/>
            </a:endParaRPr>
          </a:p>
        </p:txBody>
      </p:sp>
      <p:sp>
        <p:nvSpPr>
          <p:cNvPr id="2" name="矩形 1">
            <a:extLst>
              <a:ext uri="{FF2B5EF4-FFF2-40B4-BE49-F238E27FC236}">
                <a16:creationId xmlns:a16="http://schemas.microsoft.com/office/drawing/2014/main" id="{EA39DE5C-F089-9661-D19E-81D926837715}"/>
              </a:ext>
            </a:extLst>
          </p:cNvPr>
          <p:cNvSpPr/>
          <p:nvPr/>
        </p:nvSpPr>
        <p:spPr>
          <a:xfrm>
            <a:off x="1091019" y="3760373"/>
            <a:ext cx="131068" cy="406169"/>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AC8EC8FE-7589-9A5A-2526-8FB9EC77F1A0}"/>
              </a:ext>
            </a:extLst>
          </p:cNvPr>
          <p:cNvSpPr/>
          <p:nvPr/>
        </p:nvSpPr>
        <p:spPr>
          <a:xfrm>
            <a:off x="1837463" y="3607735"/>
            <a:ext cx="131068" cy="272918"/>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13">
            <a:extLst>
              <a:ext uri="{FF2B5EF4-FFF2-40B4-BE49-F238E27FC236}">
                <a16:creationId xmlns:a16="http://schemas.microsoft.com/office/drawing/2014/main" id="{21500468-777A-19FA-62C6-A36F24EC23FB}"/>
              </a:ext>
            </a:extLst>
          </p:cNvPr>
          <p:cNvSpPr>
            <a:spLocks noChangeArrowheads="1"/>
          </p:cNvSpPr>
          <p:nvPr/>
        </p:nvSpPr>
        <p:spPr bwMode="auto">
          <a:xfrm>
            <a:off x="4083288" y="2819399"/>
            <a:ext cx="3361126" cy="374491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1" name="矩形 44">
            <a:extLst>
              <a:ext uri="{FF2B5EF4-FFF2-40B4-BE49-F238E27FC236}">
                <a16:creationId xmlns:a16="http://schemas.microsoft.com/office/drawing/2014/main" id="{3717F57C-3801-430E-F231-273ECC75CA72}"/>
              </a:ext>
            </a:extLst>
          </p:cNvPr>
          <p:cNvSpPr>
            <a:spLocks noChangeArrowheads="1"/>
          </p:cNvSpPr>
          <p:nvPr/>
        </p:nvSpPr>
        <p:spPr bwMode="auto">
          <a:xfrm>
            <a:off x="4322010" y="6248906"/>
            <a:ext cx="29389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不同程度噪声下模型精度对比</a:t>
            </a:r>
          </a:p>
        </p:txBody>
      </p:sp>
      <p:sp>
        <p:nvSpPr>
          <p:cNvPr id="16" name="矩形 13">
            <a:extLst>
              <a:ext uri="{FF2B5EF4-FFF2-40B4-BE49-F238E27FC236}">
                <a16:creationId xmlns:a16="http://schemas.microsoft.com/office/drawing/2014/main" id="{74BE6E22-BD14-CB12-7473-0BF248D0B8C5}"/>
              </a:ext>
            </a:extLst>
          </p:cNvPr>
          <p:cNvSpPr>
            <a:spLocks noChangeArrowheads="1"/>
          </p:cNvSpPr>
          <p:nvPr/>
        </p:nvSpPr>
        <p:spPr bwMode="auto">
          <a:xfrm>
            <a:off x="7755224" y="2819399"/>
            <a:ext cx="4173251" cy="3744913"/>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7" name="矩形 44">
            <a:extLst>
              <a:ext uri="{FF2B5EF4-FFF2-40B4-BE49-F238E27FC236}">
                <a16:creationId xmlns:a16="http://schemas.microsoft.com/office/drawing/2014/main" id="{94F6D54B-DD10-0524-2F53-EBBA7BB87FA5}"/>
              </a:ext>
            </a:extLst>
          </p:cNvPr>
          <p:cNvSpPr>
            <a:spLocks noChangeArrowheads="1"/>
          </p:cNvSpPr>
          <p:nvPr/>
        </p:nvSpPr>
        <p:spPr bwMode="auto">
          <a:xfrm>
            <a:off x="8383692" y="6221476"/>
            <a:ext cx="293897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多簇缝内支撑剂铺置模型</a:t>
            </a:r>
          </a:p>
        </p:txBody>
      </p:sp>
      <p:sp>
        <p:nvSpPr>
          <p:cNvPr id="18" name="矩形 44">
            <a:extLst>
              <a:ext uri="{FF2B5EF4-FFF2-40B4-BE49-F238E27FC236}">
                <a16:creationId xmlns:a16="http://schemas.microsoft.com/office/drawing/2014/main" id="{746A9823-3330-98E9-1658-2E81AF10B2DC}"/>
              </a:ext>
            </a:extLst>
          </p:cNvPr>
          <p:cNvSpPr>
            <a:spLocks noChangeArrowheads="1"/>
          </p:cNvSpPr>
          <p:nvPr/>
        </p:nvSpPr>
        <p:spPr bwMode="auto">
          <a:xfrm>
            <a:off x="154100" y="6225588"/>
            <a:ext cx="36288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裂缝缝口浓度智能算法</a:t>
            </a:r>
          </a:p>
        </p:txBody>
      </p:sp>
      <p:sp>
        <p:nvSpPr>
          <p:cNvPr id="19" name="TextBox 45">
            <a:extLst>
              <a:ext uri="{FF2B5EF4-FFF2-40B4-BE49-F238E27FC236}">
                <a16:creationId xmlns:a16="http://schemas.microsoft.com/office/drawing/2014/main" id="{5FB9D9E8-E44E-C813-D0F0-B83F92A450DF}"/>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成果二：构建了物理增强型井下压裂实时仿真智能模型</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Tree>
    <p:extLst>
      <p:ext uri="{BB962C8B-B14F-4D97-AF65-F5344CB8AC3E}">
        <p14:creationId xmlns:p14="http://schemas.microsoft.com/office/powerpoint/2010/main" val="99487988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7">
            <a:extLst>
              <a:ext uri="{FF2B5EF4-FFF2-40B4-BE49-F238E27FC236}">
                <a16:creationId xmlns:a16="http://schemas.microsoft.com/office/drawing/2014/main" id="{2101A6CE-F1E5-0F06-5F0E-745EB96A21A8}"/>
              </a:ext>
            </a:extLst>
          </p:cNvPr>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6</a:t>
            </a:r>
            <a:r>
              <a:rPr lang="zh-CN" altLang="en-US" sz="2400" kern="0" dirty="0">
                <a:solidFill>
                  <a:srgbClr val="FF0000"/>
                </a:solidFill>
                <a:latin typeface="方正大黑简体" panose="02010601030101010101" pitchFamily="65" charset="-122"/>
                <a:ea typeface="方正大黑简体" panose="02010601030101010101" pitchFamily="65" charset="-122"/>
              </a:rPr>
              <a:t>、耦合拟三维边界元裂缝扩展快速计算模型，实现了井下压裂物理过程实时仿真</a:t>
            </a:r>
          </a:p>
        </p:txBody>
      </p:sp>
      <p:sp>
        <p:nvSpPr>
          <p:cNvPr id="5" name="Text Box 7">
            <a:extLst>
              <a:ext uri="{FF2B5EF4-FFF2-40B4-BE49-F238E27FC236}">
                <a16:creationId xmlns:a16="http://schemas.microsoft.com/office/drawing/2014/main" id="{2289E902-9733-29B9-7FE6-C14EBE4887F3}"/>
              </a:ext>
            </a:extLst>
          </p:cNvPr>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黑体" panose="02010609060101010101" pitchFamily="49" charset="-122"/>
                <a:ea typeface="黑体" panose="02010609060101010101" pitchFamily="49" charset="-122"/>
              </a:rPr>
              <a:t>基于拟三维边界元理论，创建</a:t>
            </a:r>
            <a:r>
              <a:rPr lang="zh-CN" altLang="zh-CN" sz="2000" b="1" dirty="0">
                <a:solidFill>
                  <a:srgbClr val="000000"/>
                </a:solidFill>
                <a:latin typeface="黑体" panose="02010609060101010101" pitchFamily="49" charset="-122"/>
                <a:ea typeface="黑体" panose="02010609060101010101" pitchFamily="49" charset="-122"/>
              </a:rPr>
              <a:t>了一种基于岩石形变</a:t>
            </a:r>
            <a:r>
              <a:rPr lang="en-US" altLang="zh-CN" sz="2000" b="1" dirty="0">
                <a:solidFill>
                  <a:srgbClr val="000000"/>
                </a:solidFill>
                <a:latin typeface="黑体" panose="02010609060101010101" pitchFamily="49" charset="-122"/>
                <a:ea typeface="黑体" panose="02010609060101010101" pitchFamily="49" charset="-122"/>
              </a:rPr>
              <a:t>-</a:t>
            </a:r>
            <a:r>
              <a:rPr lang="zh-CN" altLang="zh-CN" sz="2000" b="1" dirty="0">
                <a:solidFill>
                  <a:srgbClr val="000000"/>
                </a:solidFill>
                <a:latin typeface="黑体" panose="02010609060101010101" pitchFamily="49" charset="-122"/>
                <a:ea typeface="黑体" panose="02010609060101010101" pitchFamily="49" charset="-122"/>
              </a:rPr>
              <a:t>流体运移</a:t>
            </a:r>
            <a:r>
              <a:rPr lang="en-US" altLang="zh-CN" sz="2000" b="1" dirty="0">
                <a:solidFill>
                  <a:srgbClr val="000000"/>
                </a:solidFill>
                <a:latin typeface="黑体" panose="02010609060101010101" pitchFamily="49" charset="-122"/>
                <a:ea typeface="黑体" panose="02010609060101010101" pitchFamily="49" charset="-122"/>
              </a:rPr>
              <a:t>-</a:t>
            </a:r>
            <a:r>
              <a:rPr lang="zh-CN" altLang="zh-CN" sz="2000" b="1" dirty="0">
                <a:solidFill>
                  <a:srgbClr val="000000"/>
                </a:solidFill>
                <a:latin typeface="黑体" panose="02010609060101010101" pitchFamily="49" charset="-122"/>
                <a:ea typeface="黑体" panose="02010609060101010101" pitchFamily="49" charset="-122"/>
              </a:rPr>
              <a:t>裂尖</a:t>
            </a:r>
            <a:r>
              <a:rPr lang="zh-CN" altLang="en-US" sz="2000" b="1" dirty="0">
                <a:solidFill>
                  <a:srgbClr val="000000"/>
                </a:solidFill>
                <a:latin typeface="黑体" panose="02010609060101010101" pitchFamily="49" charset="-122"/>
                <a:ea typeface="黑体" panose="02010609060101010101" pitchFamily="49" charset="-122"/>
              </a:rPr>
              <a:t>扩展判别</a:t>
            </a:r>
            <a:r>
              <a:rPr lang="zh-CN" altLang="zh-CN" sz="2000" b="1" dirty="0">
                <a:solidFill>
                  <a:srgbClr val="000000"/>
                </a:solidFill>
                <a:latin typeface="黑体" panose="02010609060101010101" pitchFamily="49" charset="-122"/>
                <a:ea typeface="黑体" panose="02010609060101010101" pitchFamily="49" charset="-122"/>
              </a:rPr>
              <a:t>的</a:t>
            </a:r>
            <a:r>
              <a:rPr lang="zh-CN" altLang="zh-CN" sz="2000" b="1" dirty="0">
                <a:solidFill>
                  <a:srgbClr val="FF0000"/>
                </a:solidFill>
                <a:latin typeface="黑体" panose="02010609060101010101" pitchFamily="49" charset="-122"/>
                <a:ea typeface="黑体" panose="02010609060101010101" pitchFamily="49" charset="-122"/>
              </a:rPr>
              <a:t>迭代算法</a:t>
            </a:r>
            <a:r>
              <a:rPr lang="zh-CN" altLang="zh-CN" sz="2000" b="1" dirty="0">
                <a:solidFill>
                  <a:srgbClr val="000000"/>
                </a:solidFill>
                <a:latin typeface="黑体" panose="02010609060101010101" pitchFamily="49" charset="-122"/>
                <a:ea typeface="黑体" panose="02010609060101010101" pitchFamily="49" charset="-122"/>
              </a:rPr>
              <a:t>，</a:t>
            </a:r>
            <a:r>
              <a:rPr lang="zh-CN" altLang="en-US" sz="2000" b="1" dirty="0">
                <a:solidFill>
                  <a:srgbClr val="000000"/>
                </a:solidFill>
                <a:latin typeface="黑体" panose="02010609060101010101" pitchFamily="49" charset="-122"/>
                <a:ea typeface="黑体" panose="02010609060101010101" pitchFamily="49" charset="-122"/>
              </a:rPr>
              <a:t>判定和解决了</a:t>
            </a:r>
            <a:r>
              <a:rPr lang="zh-CN" altLang="zh-CN" sz="2000" b="1" dirty="0">
                <a:solidFill>
                  <a:srgbClr val="000000"/>
                </a:solidFill>
                <a:latin typeface="黑体" panose="02010609060101010101" pitchFamily="49" charset="-122"/>
                <a:ea typeface="黑体" panose="02010609060101010101" pitchFamily="49" charset="-122"/>
              </a:rPr>
              <a:t>多裂缝同步扩展</a:t>
            </a:r>
            <a:r>
              <a:rPr lang="zh-CN" altLang="en-US" sz="2000" b="1" dirty="0">
                <a:solidFill>
                  <a:srgbClr val="000000"/>
                </a:solidFill>
                <a:latin typeface="黑体" panose="02010609060101010101" pitchFamily="49" charset="-122"/>
                <a:ea typeface="黑体" panose="02010609060101010101" pitchFamily="49" charset="-122"/>
              </a:rPr>
              <a:t>快速计算</a:t>
            </a:r>
            <a:r>
              <a:rPr lang="zh-CN" altLang="zh-CN" sz="2000" b="1" dirty="0">
                <a:solidFill>
                  <a:srgbClr val="000000"/>
                </a:solidFill>
                <a:latin typeface="黑体" panose="02010609060101010101" pitchFamily="49" charset="-122"/>
                <a:ea typeface="黑体" panose="02010609060101010101" pitchFamily="49" charset="-122"/>
              </a:rPr>
              <a:t>问题。</a:t>
            </a:r>
            <a:r>
              <a:rPr lang="zh-CN" altLang="en-US" sz="2000" b="1" dirty="0">
                <a:solidFill>
                  <a:srgbClr val="000000"/>
                </a:solidFill>
                <a:latin typeface="黑体" panose="02010609060101010101" pitchFamily="49" charset="-122"/>
                <a:ea typeface="黑体" panose="02010609060101010101" pitchFamily="49" charset="-122"/>
              </a:rPr>
              <a:t>耦合物理数据融合的多簇裂缝支撑剂运移实时仿真模型，实现了</a:t>
            </a:r>
            <a:r>
              <a:rPr lang="zh-CN" altLang="zh-CN" sz="2000" b="1" dirty="0">
                <a:latin typeface="黑体" panose="02010609060101010101" pitchFamily="49" charset="-122"/>
                <a:ea typeface="黑体" panose="02010609060101010101" pitchFamily="49" charset="-122"/>
              </a:rPr>
              <a:t>多裂缝的扩展</a:t>
            </a:r>
            <a:r>
              <a:rPr lang="zh-CN" altLang="zh-CN" sz="2000" b="1" dirty="0">
                <a:solidFill>
                  <a:srgbClr val="000000"/>
                </a:solidFill>
                <a:latin typeface="黑体" panose="02010609060101010101" pitchFamily="49" charset="-122"/>
                <a:ea typeface="黑体" panose="02010609060101010101" pitchFamily="49" charset="-122"/>
              </a:rPr>
              <a:t>和支撑剂运移</a:t>
            </a:r>
            <a:r>
              <a:rPr lang="zh-CN" altLang="en-US" sz="2000" b="1" dirty="0">
                <a:solidFill>
                  <a:srgbClr val="FF0000"/>
                </a:solidFill>
                <a:latin typeface="黑体" panose="02010609060101010101" pitchFamily="49" charset="-122"/>
                <a:ea typeface="黑体" panose="02010609060101010101" pitchFamily="49" charset="-122"/>
              </a:rPr>
              <a:t>实时</a:t>
            </a:r>
            <a:r>
              <a:rPr lang="zh-CN" altLang="en-US" sz="2000" b="1" dirty="0">
                <a:solidFill>
                  <a:srgbClr val="000000"/>
                </a:solidFill>
                <a:latin typeface="黑体" panose="02010609060101010101" pitchFamily="49" charset="-122"/>
                <a:ea typeface="黑体" panose="02010609060101010101" pitchFamily="49" charset="-122"/>
              </a:rPr>
              <a:t>预测</a:t>
            </a:r>
            <a:r>
              <a:rPr lang="zh-CN" altLang="zh-CN" sz="2000" b="1" dirty="0">
                <a:solidFill>
                  <a:srgbClr val="000000"/>
                </a:solidFill>
                <a:latin typeface="黑体" panose="02010609060101010101" pitchFamily="49" charset="-122"/>
                <a:ea typeface="黑体" panose="02010609060101010101" pitchFamily="49" charset="-122"/>
              </a:rPr>
              <a:t>。</a:t>
            </a:r>
          </a:p>
        </p:txBody>
      </p:sp>
      <p:pic>
        <p:nvPicPr>
          <p:cNvPr id="14" name="图片 13" descr="图表&#10;&#10;描述已自动生成">
            <a:extLst>
              <a:ext uri="{FF2B5EF4-FFF2-40B4-BE49-F238E27FC236}">
                <a16:creationId xmlns:a16="http://schemas.microsoft.com/office/drawing/2014/main" id="{F222516A-3D52-CBBF-42EA-0FF99CFB6F7E}"/>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4981" t="15158" r="6820" b="6554"/>
          <a:stretch/>
        </p:blipFill>
        <p:spPr>
          <a:xfrm>
            <a:off x="8427753" y="4941168"/>
            <a:ext cx="3311526" cy="1310961"/>
          </a:xfrm>
          <a:prstGeom prst="rect">
            <a:avLst/>
          </a:prstGeom>
        </p:spPr>
      </p:pic>
      <p:pic>
        <p:nvPicPr>
          <p:cNvPr id="6" name="图片 5">
            <a:extLst>
              <a:ext uri="{FF2B5EF4-FFF2-40B4-BE49-F238E27FC236}">
                <a16:creationId xmlns:a16="http://schemas.microsoft.com/office/drawing/2014/main" id="{44ED69C2-B1BF-6E79-9BFA-EA39E076830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444925" y="2898559"/>
            <a:ext cx="3311525" cy="1996801"/>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8" name="矩形 13">
            <a:extLst>
              <a:ext uri="{FF2B5EF4-FFF2-40B4-BE49-F238E27FC236}">
                <a16:creationId xmlns:a16="http://schemas.microsoft.com/office/drawing/2014/main" id="{D0C23EF1-A4D8-F32F-DEE3-475885AD63EA}"/>
              </a:ext>
            </a:extLst>
          </p:cNvPr>
          <p:cNvSpPr>
            <a:spLocks noChangeArrowheads="1"/>
          </p:cNvSpPr>
          <p:nvPr/>
        </p:nvSpPr>
        <p:spPr bwMode="auto">
          <a:xfrm>
            <a:off x="287366" y="2781300"/>
            <a:ext cx="7851526" cy="3816349"/>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9" name="矩形 13">
            <a:extLst>
              <a:ext uri="{FF2B5EF4-FFF2-40B4-BE49-F238E27FC236}">
                <a16:creationId xmlns:a16="http://schemas.microsoft.com/office/drawing/2014/main" id="{3A087257-4403-451B-EF8C-0AA5BBDED0DA}"/>
              </a:ext>
            </a:extLst>
          </p:cNvPr>
          <p:cNvSpPr>
            <a:spLocks noChangeArrowheads="1"/>
          </p:cNvSpPr>
          <p:nvPr/>
        </p:nvSpPr>
        <p:spPr bwMode="auto">
          <a:xfrm>
            <a:off x="8329418" y="2781302"/>
            <a:ext cx="3519941" cy="3795824"/>
          </a:xfrm>
          <a:prstGeom prst="rect">
            <a:avLst/>
          </a:prstGeom>
          <a:noFill/>
          <a:ln w="19050" algn="ctr">
            <a:solidFill>
              <a:schemeClr val="tx1"/>
            </a:solidFill>
            <a:prstDash val="sysDash"/>
            <a:round/>
            <a:headEnd/>
            <a:tailEnd/>
          </a:ln>
          <a:extLst>
            <a:ext uri="{909E8E84-426E-40DD-AFC4-6F175D3DCCD1}">
              <a14:hiddenFill xmlns:a14="http://schemas.microsoft.com/office/drawing/2010/main">
                <a:solidFill>
                  <a:srgbClr val="FFFFFF"/>
                </a:solidFill>
              </a14:hiddenFill>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25000"/>
              </a:lnSpc>
              <a:buFont typeface="Wingdings" panose="05000000000000000000" pitchFamily="2" charset="2"/>
              <a:buNone/>
            </a:pPr>
            <a:endParaRPr lang="zh-CN" altLang="en-US" sz="1400">
              <a:latin typeface="黑体" panose="02010609060101010101" pitchFamily="49" charset="-122"/>
              <a:ea typeface="黑体" panose="02010609060101010101" pitchFamily="49" charset="-122"/>
            </a:endParaRPr>
          </a:p>
        </p:txBody>
      </p:sp>
      <p:sp>
        <p:nvSpPr>
          <p:cNvPr id="10" name="矩形 44">
            <a:extLst>
              <a:ext uri="{FF2B5EF4-FFF2-40B4-BE49-F238E27FC236}">
                <a16:creationId xmlns:a16="http://schemas.microsoft.com/office/drawing/2014/main" id="{30C6E8CB-75B8-01A5-8969-0BE91E8D4A75}"/>
              </a:ext>
            </a:extLst>
          </p:cNvPr>
          <p:cNvSpPr>
            <a:spLocks noChangeArrowheads="1"/>
          </p:cNvSpPr>
          <p:nvPr/>
        </p:nvSpPr>
        <p:spPr bwMode="auto">
          <a:xfrm>
            <a:off x="2855640" y="6252129"/>
            <a:ext cx="288032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拟三维边界元多裂缝扩展理论</a:t>
            </a:r>
          </a:p>
        </p:txBody>
      </p:sp>
      <p:sp>
        <p:nvSpPr>
          <p:cNvPr id="11" name="矩形 44">
            <a:extLst>
              <a:ext uri="{FF2B5EF4-FFF2-40B4-BE49-F238E27FC236}">
                <a16:creationId xmlns:a16="http://schemas.microsoft.com/office/drawing/2014/main" id="{6524E5DB-5C41-B99F-9F51-8092C0998964}"/>
              </a:ext>
            </a:extLst>
          </p:cNvPr>
          <p:cNvSpPr>
            <a:spLocks noChangeArrowheads="1"/>
          </p:cNvSpPr>
          <p:nvPr/>
        </p:nvSpPr>
        <p:spPr bwMode="auto">
          <a:xfrm>
            <a:off x="8594954" y="6252129"/>
            <a:ext cx="335274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spcBef>
                <a:spcPct val="0"/>
              </a:spcBef>
              <a:buFontTx/>
              <a:buNone/>
            </a:pPr>
            <a:r>
              <a:rPr lang="zh-CN" altLang="en-US" sz="1600" b="1" dirty="0">
                <a:solidFill>
                  <a:srgbClr val="FF0000"/>
                </a:solidFill>
                <a:latin typeface="黑体" panose="02010609060101010101" pitchFamily="49" charset="-122"/>
                <a:ea typeface="黑体" panose="02010609060101010101" pitchFamily="49" charset="-122"/>
              </a:rPr>
              <a:t>多裂缝扩展</a:t>
            </a:r>
            <a:r>
              <a:rPr lang="en-US" altLang="zh-CN" sz="1600" b="1" dirty="0">
                <a:solidFill>
                  <a:srgbClr val="FF0000"/>
                </a:solidFill>
                <a:latin typeface="黑体" panose="02010609060101010101" pitchFamily="49" charset="-122"/>
                <a:ea typeface="黑体" panose="02010609060101010101" pitchFamily="49" charset="-122"/>
              </a:rPr>
              <a:t>-</a:t>
            </a:r>
            <a:r>
              <a:rPr lang="zh-CN" altLang="en-US" sz="1600" b="1" dirty="0">
                <a:solidFill>
                  <a:srgbClr val="FF0000"/>
                </a:solidFill>
                <a:latin typeface="黑体" panose="02010609060101010101" pitchFamily="49" charset="-122"/>
                <a:ea typeface="黑体" panose="02010609060101010101" pitchFamily="49" charset="-122"/>
              </a:rPr>
              <a:t>支撑剂运移实时预测</a:t>
            </a:r>
          </a:p>
        </p:txBody>
      </p:sp>
      <p:pic>
        <p:nvPicPr>
          <p:cNvPr id="1027" name="Picture 3">
            <a:extLst>
              <a:ext uri="{FF2B5EF4-FFF2-40B4-BE49-F238E27FC236}">
                <a16:creationId xmlns:a16="http://schemas.microsoft.com/office/drawing/2014/main" id="{D48EC426-ADE6-90C3-01A4-945549A5EE04}"/>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407368" y="2852936"/>
            <a:ext cx="7632848" cy="3427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extBox 45">
            <a:extLst>
              <a:ext uri="{FF2B5EF4-FFF2-40B4-BE49-F238E27FC236}">
                <a16:creationId xmlns:a16="http://schemas.microsoft.com/office/drawing/2014/main" id="{45D40B06-F8D3-3A9F-0ECE-046438D58222}"/>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defTabSz="457200" rtl="0" eaLnBrk="1" fontAlgn="auto" latinLnBrk="0" hangingPunct="1">
              <a:lnSpc>
                <a:spcPct val="100000"/>
              </a:lnSpc>
              <a:spcBef>
                <a:spcPts val="600"/>
              </a:spcBef>
              <a:spcAft>
                <a:spcPts val="0"/>
              </a:spcAft>
              <a:buClrTx/>
              <a:buSzTx/>
              <a:buFontTx/>
              <a:buNone/>
            </a:pPr>
            <a:r>
              <a:rPr lang="zh-CN" altLang="en-US" sz="2800" noProof="1">
                <a:solidFill>
                  <a:srgbClr val="3B3BFF"/>
                </a:solidFill>
                <a:latin typeface="方正大黑简体" panose="02010601030101010101" pitchFamily="65" charset="-122"/>
                <a:ea typeface="方正大黑简体" panose="02010601030101010101" pitchFamily="65" charset="-122"/>
              </a:rPr>
              <a:t>成果二：构建了物理增强型井下压裂实时仿真智能模型</a:t>
            </a:r>
            <a:endParaRPr lang="zh-CN" altLang="en-US" sz="2800" noProof="1">
              <a:solidFill>
                <a:srgbClr val="FF0000"/>
              </a:solidFill>
              <a:latin typeface="方正大黑简体" panose="02010601030101010101" pitchFamily="65" charset="-122"/>
              <a:ea typeface="方正大黑简体" panose="02010601030101010101" pitchFamily="65" charset="-122"/>
            </a:endParaRPr>
          </a:p>
        </p:txBody>
      </p:sp>
    </p:spTree>
    <p:extLst>
      <p:ext uri="{BB962C8B-B14F-4D97-AF65-F5344CB8AC3E}">
        <p14:creationId xmlns:p14="http://schemas.microsoft.com/office/powerpoint/2010/main" val="26000551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DF00C933-487F-9222-668A-706E5992205F}"/>
              </a:ext>
            </a:extLst>
          </p:cNvPr>
          <p:cNvSpPr/>
          <p:nvPr/>
        </p:nvSpPr>
        <p:spPr>
          <a:xfrm>
            <a:off x="695326" y="1997154"/>
            <a:ext cx="10801350" cy="2944014"/>
          </a:xfrm>
          <a:prstGeom prst="rect">
            <a:avLst/>
          </a:prstGeom>
          <a:solidFill>
            <a:schemeClr val="bg1"/>
          </a:solidFill>
          <a:ln w="28575" cap="flat" cmpd="sng" algn="ctr">
            <a:noFill/>
            <a:prstDash val="solid"/>
            <a:round/>
            <a:headEnd type="none" w="med" len="med"/>
            <a:tailEnd type="none" w="med" len="med"/>
          </a:ln>
          <a:effectLst>
            <a:outerShdw blurRad="50800" dist="38100" dir="2700000" algn="tl" rotWithShape="0">
              <a:prstClr val="black">
                <a:alpha val="40000"/>
              </a:prstClr>
            </a:outerShdw>
          </a:effectLst>
          <a:scene3d>
            <a:camera prst="orthographicFront">
              <a:rot lat="0" lon="0" rev="0"/>
            </a:camera>
            <a:lightRig rig="threePt" dir="t"/>
          </a:scene3d>
        </p:spPr>
        <p:txBody>
          <a:bodyPr vert="horz" rtlCol="0" anchor="ctr"/>
          <a:lstStyle/>
          <a:p>
            <a:pPr lvl="0" indent="720073" defTabSz="914377">
              <a:lnSpc>
                <a:spcPct val="150000"/>
              </a:lnSpc>
              <a:defRPr/>
            </a:pP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构建了含支撑剂平衡高度输入约束的</a:t>
            </a: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LSTM</a:t>
            </a: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神经网络模型，形成基于小波高低频信号分解重构的井口压力综合预测模型；搭建了融合泵注特征、聚类分段与压力斜率动态拟合的滑窗</a:t>
            </a:r>
            <a:r>
              <a:rPr lang="en-US" altLang="zh-CN"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MLP</a:t>
            </a:r>
            <a:r>
              <a:rPr lang="zh-CN" altLang="en-US" sz="2800" b="1" dirty="0">
                <a:solidFill>
                  <a:prstClr val="black"/>
                </a:solidFill>
                <a:latin typeface="Times New Roman" panose="02020603050405020304" pitchFamily="18" charset="0"/>
                <a:ea typeface="黑体" panose="02010609060101010101" pitchFamily="49" charset="-122"/>
                <a:cs typeface="Times New Roman" panose="02020603050405020304" pitchFamily="18" charset="0"/>
              </a:rPr>
              <a:t>智能砂堵预警模型，实现了井口压力的精准长时预测及砂堵超前预警。</a:t>
            </a:r>
          </a:p>
        </p:txBody>
      </p:sp>
      <p:sp>
        <p:nvSpPr>
          <p:cNvPr id="5" name="矩形 4">
            <a:extLst>
              <a:ext uri="{FF2B5EF4-FFF2-40B4-BE49-F238E27FC236}">
                <a16:creationId xmlns:a16="http://schemas.microsoft.com/office/drawing/2014/main" id="{890916D9-24CF-FED4-246D-CE5C23775DBB}"/>
              </a:ext>
            </a:extLst>
          </p:cNvPr>
          <p:cNvSpPr/>
          <p:nvPr/>
        </p:nvSpPr>
        <p:spPr>
          <a:xfrm>
            <a:off x="2" y="1005565"/>
            <a:ext cx="12191999" cy="623235"/>
          </a:xfrm>
          <a:prstGeom prst="rect">
            <a:avLst/>
          </a:prstGeom>
          <a:noFill/>
          <a:ln>
            <a:noFill/>
          </a:ln>
        </p:spPr>
        <p:txBody>
          <a:bodyPr wrap="square" lIns="68568" tIns="34284" rIns="68568" bIns="34284">
            <a:spAutoFit/>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kumimoji="0" lang="zh-CN" altLang="en-US" sz="3600" b="0" i="0" u="none" strike="noStrike" kern="120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成果认识</a:t>
            </a:r>
            <a:r>
              <a:rPr lang="zh-CN" altLang="en-US" sz="3600" dirty="0">
                <a:solidFill>
                  <a:srgbClr val="FF0000"/>
                </a:solidFill>
                <a:latin typeface="方正大黑简体" panose="02010601030101010101" pitchFamily="2" charset="-122"/>
                <a:ea typeface="方正大黑简体" panose="02010601030101010101" pitchFamily="2" charset="-122"/>
              </a:rPr>
              <a:t>三</a:t>
            </a:r>
            <a:endParaRPr kumimoji="0" lang="zh-CN" altLang="en-US" sz="3600" b="0" i="0" u="none" strike="noStrike" kern="120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endParaRPr>
          </a:p>
        </p:txBody>
      </p:sp>
      <p:sp>
        <p:nvSpPr>
          <p:cNvPr id="19" name="TextBox 45">
            <a:extLst>
              <a:ext uri="{FF2B5EF4-FFF2-40B4-BE49-F238E27FC236}">
                <a16:creationId xmlns:a16="http://schemas.microsoft.com/office/drawing/2014/main" id="{00D4AA35-59C6-DF1E-CEAE-02FBAC50991F}"/>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（三）攻关研究形成的技术、理论和方法</a:t>
            </a:r>
          </a:p>
        </p:txBody>
      </p:sp>
    </p:spTree>
    <p:extLst>
      <p:ext uri="{BB962C8B-B14F-4D97-AF65-F5344CB8AC3E}">
        <p14:creationId xmlns:p14="http://schemas.microsoft.com/office/powerpoint/2010/main" val="41764865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eaLnBrk="1" fontAlgn="auto" hangingPunct="1">
              <a:spcBef>
                <a:spcPts val="600"/>
              </a:spcBef>
              <a:spcAft>
                <a:spcPts val="0"/>
              </a:spcAft>
              <a:buNone/>
            </a:pPr>
            <a:r>
              <a:rPr lang="zh-CN" altLang="en-US" sz="2800" noProof="1">
                <a:solidFill>
                  <a:srgbClr val="3B3BFF"/>
                </a:solidFill>
                <a:latin typeface="方正大黑简体" panose="02010601030101010101" pitchFamily="65" charset="-122"/>
                <a:ea typeface="方正大黑简体" panose="02010601030101010101" pitchFamily="65" charset="-122"/>
              </a:rPr>
              <a:t>创新成果三：构建了压裂压力超前预测及砂堵实时预警理论方法</a:t>
            </a:r>
          </a:p>
        </p:txBody>
      </p:sp>
      <p:sp>
        <p:nvSpPr>
          <p:cNvPr id="1048606" name="TextBox 7"/>
          <p:cNvSpPr txBox="1"/>
          <p:nvPr/>
        </p:nvSpPr>
        <p:spPr bwMode="auto">
          <a:xfrm>
            <a:off x="326268" y="773307"/>
            <a:ext cx="12034427"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1</a:t>
            </a:r>
            <a:r>
              <a:rPr lang="zh-CN" altLang="en-US" sz="2400" kern="0" dirty="0">
                <a:solidFill>
                  <a:srgbClr val="FF0000"/>
                </a:solidFill>
                <a:latin typeface="方正大黑简体" panose="02010601030101010101" pitchFamily="65" charset="-122"/>
                <a:ea typeface="方正大黑简体" panose="02010601030101010101" pitchFamily="65" charset="-122"/>
              </a:rPr>
              <a:t>、创建了物理输入约束</a:t>
            </a:r>
            <a:r>
              <a:rPr lang="en-US" altLang="zh-CN" sz="2400" kern="0" dirty="0">
                <a:solidFill>
                  <a:srgbClr val="FF0000"/>
                </a:solidFill>
                <a:latin typeface="方正大黑简体" panose="02010601030101010101" pitchFamily="65" charset="-122"/>
                <a:ea typeface="方正大黑简体" panose="02010601030101010101" pitchFamily="65" charset="-122"/>
              </a:rPr>
              <a:t>-</a:t>
            </a:r>
            <a:r>
              <a:rPr lang="zh-CN" altLang="en-US" sz="2400" kern="0" dirty="0">
                <a:solidFill>
                  <a:srgbClr val="FF0000"/>
                </a:solidFill>
                <a:latin typeface="方正大黑简体" panose="02010601030101010101" pitchFamily="65" charset="-122"/>
                <a:ea typeface="方正大黑简体" panose="02010601030101010101" pitchFamily="65" charset="-122"/>
              </a:rPr>
              <a:t>多参数系统动力学预测</a:t>
            </a:r>
            <a:r>
              <a:rPr lang="en-US" altLang="zh-CN" sz="2400" kern="0" dirty="0">
                <a:solidFill>
                  <a:srgbClr val="FF0000"/>
                </a:solidFill>
                <a:latin typeface="方正大黑简体" panose="02010601030101010101" pitchFamily="65" charset="-122"/>
                <a:ea typeface="方正大黑简体" panose="02010601030101010101" pitchFamily="65" charset="-122"/>
              </a:rPr>
              <a:t>-</a:t>
            </a:r>
            <a:r>
              <a:rPr lang="zh-CN" altLang="en-US" sz="2400" kern="0" dirty="0">
                <a:solidFill>
                  <a:srgbClr val="FF0000"/>
                </a:solidFill>
                <a:latin typeface="方正大黑简体" panose="02010601030101010101" pitchFamily="65" charset="-122"/>
                <a:ea typeface="方正大黑简体" panose="02010601030101010101" pitchFamily="65" charset="-122"/>
              </a:rPr>
              <a:t>井口多维数据机器学习的融合模型</a:t>
            </a:r>
          </a:p>
        </p:txBody>
      </p:sp>
      <p:sp>
        <p:nvSpPr>
          <p:cNvPr id="3" name="Text Box 7"/>
          <p:cNvSpPr txBox="1">
            <a:spLocks noChangeArrowheads="1"/>
          </p:cNvSpPr>
          <p:nvPr/>
        </p:nvSpPr>
        <p:spPr bwMode="auto">
          <a:xfrm>
            <a:off x="263525" y="1207240"/>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eaLnBrk="1" hangingPunct="1">
              <a:lnSpc>
                <a:spcPct val="150000"/>
              </a:lnSpc>
              <a:buClr>
                <a:srgbClr val="FF0000"/>
              </a:buClr>
              <a:buFont typeface="Wingdings" panose="05000000000000000000" pitchFamily="2" charset="2"/>
              <a:buChar char="n"/>
            </a:pPr>
            <a:r>
              <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构建含</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支撑剂平衡高度</a:t>
            </a:r>
            <a:r>
              <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输入约束的LSTM神经网络模型，与井口压力机理预测模型融合，通过</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小波高低频信号分解重构</a:t>
            </a:r>
            <a:r>
              <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实现长时间窗口的压力预测，并引入累加下降速率阈值，形成</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物理输入约束</a:t>
            </a:r>
            <a:r>
              <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多参数系统动力学预测</a:t>
            </a:r>
            <a:r>
              <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井口多维数据机器学习的融合模型。</a:t>
            </a:r>
            <a:endPar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pic>
        <p:nvPicPr>
          <p:cNvPr id="2" name="图片 1"/>
          <p:cNvPicPr>
            <a:picLocks noChangeAspect="1"/>
          </p:cNvPicPr>
          <p:nvPr/>
        </p:nvPicPr>
        <p:blipFill>
          <a:blip r:embed="rId2"/>
          <a:stretch>
            <a:fillRect/>
          </a:stretch>
        </p:blipFill>
        <p:spPr>
          <a:xfrm>
            <a:off x="623570" y="2564765"/>
            <a:ext cx="11082020" cy="395986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Box 7"/>
          <p:cNvSpPr txBox="1">
            <a:spLocks noChangeArrowheads="1"/>
          </p:cNvSpPr>
          <p:nvPr/>
        </p:nvSpPr>
        <p:spPr bwMode="auto">
          <a:xfrm>
            <a:off x="263525" y="1207240"/>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latin typeface="Times New Roman" panose="02020603050405020304" pitchFamily="18" charset="0"/>
                <a:ea typeface="黑体" panose="02010609060101010101" charset="-122"/>
                <a:cs typeface="Times New Roman" panose="02020603050405020304" pitchFamily="18" charset="0"/>
              </a:rPr>
              <a:t>融合</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模型在</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未来</a:t>
            </a:r>
            <a:r>
              <a:rPr lang="en-US" altLang="zh-CN"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60</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秒</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压力预测上</a:t>
            </a:r>
            <a:r>
              <a:rPr lang="zh-CN" altLang="en-US" sz="2000" b="1" dirty="0">
                <a:latin typeface="Times New Roman" panose="02020603050405020304" pitchFamily="18" charset="0"/>
                <a:ea typeface="黑体" panose="02010609060101010101" charset="-122"/>
                <a:cs typeface="Times New Roman" panose="02020603050405020304" pitchFamily="18" charset="0"/>
              </a:rPr>
              <a:t>均方根误差（</a:t>
            </a:r>
            <a:r>
              <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RMSE</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 为 0.44，均方误差（MSE） 为 0.19，相比 LSTM模型预测结果更精准。预测评价指标相较于 LSTM 模型RMSE下降</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 21.18%</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，MSE下降 </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37.87%</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实现了井口压力的高精度长时间窗口预测</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sym typeface="+mn-ea"/>
              </a:rPr>
              <a:t>。</a:t>
            </a:r>
          </a:p>
        </p:txBody>
      </p:sp>
      <p:pic>
        <p:nvPicPr>
          <p:cNvPr id="2" name="图片 1"/>
          <p:cNvPicPr>
            <a:picLocks noChangeAspect="1"/>
          </p:cNvPicPr>
          <p:nvPr/>
        </p:nvPicPr>
        <p:blipFill>
          <a:blip r:embed="rId2"/>
          <a:stretch>
            <a:fillRect/>
          </a:stretch>
        </p:blipFill>
        <p:spPr>
          <a:xfrm>
            <a:off x="551180" y="2627038"/>
            <a:ext cx="6316980" cy="1376002"/>
          </a:xfrm>
          <a:prstGeom prst="rect">
            <a:avLst/>
          </a:prstGeom>
        </p:spPr>
      </p:pic>
      <p:pic>
        <p:nvPicPr>
          <p:cNvPr id="4" name="图片 3"/>
          <p:cNvPicPr>
            <a:picLocks noChangeAspect="1"/>
          </p:cNvPicPr>
          <p:nvPr/>
        </p:nvPicPr>
        <p:blipFill>
          <a:blip r:embed="rId3"/>
          <a:stretch>
            <a:fillRect/>
          </a:stretch>
        </p:blipFill>
        <p:spPr>
          <a:xfrm>
            <a:off x="479425" y="3968115"/>
            <a:ext cx="6440805" cy="2601595"/>
          </a:xfrm>
          <a:prstGeom prst="rect">
            <a:avLst/>
          </a:prstGeom>
        </p:spPr>
      </p:pic>
      <p:pic>
        <p:nvPicPr>
          <p:cNvPr id="5" name="图片 4"/>
          <p:cNvPicPr>
            <a:picLocks noChangeAspect="1"/>
          </p:cNvPicPr>
          <p:nvPr/>
        </p:nvPicPr>
        <p:blipFill>
          <a:blip r:embed="rId4"/>
          <a:stretch>
            <a:fillRect/>
          </a:stretch>
        </p:blipFill>
        <p:spPr>
          <a:xfrm>
            <a:off x="6743700" y="2662662"/>
            <a:ext cx="5017135" cy="1558426"/>
          </a:xfrm>
          <a:prstGeom prst="rect">
            <a:avLst/>
          </a:prstGeom>
        </p:spPr>
      </p:pic>
      <p:pic>
        <p:nvPicPr>
          <p:cNvPr id="6" name="图片 5"/>
          <p:cNvPicPr>
            <a:picLocks noChangeAspect="1"/>
          </p:cNvPicPr>
          <p:nvPr/>
        </p:nvPicPr>
        <p:blipFill>
          <a:blip r:embed="rId5"/>
          <a:stretch>
            <a:fillRect/>
          </a:stretch>
        </p:blipFill>
        <p:spPr>
          <a:xfrm>
            <a:off x="6742430" y="4323672"/>
            <a:ext cx="4970145" cy="2070100"/>
          </a:xfrm>
          <a:prstGeom prst="rect">
            <a:avLst/>
          </a:prstGeom>
        </p:spPr>
      </p:pic>
      <p:sp>
        <p:nvSpPr>
          <p:cNvPr id="7"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eaLnBrk="1" fontAlgn="auto" hangingPunct="1">
              <a:spcBef>
                <a:spcPts val="600"/>
              </a:spcBef>
              <a:spcAft>
                <a:spcPts val="0"/>
              </a:spcAft>
              <a:buNone/>
            </a:pPr>
            <a:r>
              <a:rPr lang="zh-CN" altLang="en-US" sz="2800" noProof="1">
                <a:solidFill>
                  <a:srgbClr val="3B3BFF"/>
                </a:solidFill>
                <a:latin typeface="方正大黑简体" panose="02010601030101010101" pitchFamily="65" charset="-122"/>
                <a:ea typeface="方正大黑简体" panose="02010601030101010101" pitchFamily="65" charset="-122"/>
              </a:rPr>
              <a:t>创新成果三：构建了压裂压力超前预测及砂堵实时预警理论方法</a:t>
            </a:r>
          </a:p>
        </p:txBody>
      </p:sp>
      <p:sp>
        <p:nvSpPr>
          <p:cNvPr id="8" name="TextBox 7">
            <a:extLst>
              <a:ext uri="{FF2B5EF4-FFF2-40B4-BE49-F238E27FC236}">
                <a16:creationId xmlns:a16="http://schemas.microsoft.com/office/drawing/2014/main" id="{4AA3BFFF-5401-317E-706F-A8B06C7EF3CD}"/>
              </a:ext>
            </a:extLst>
          </p:cNvPr>
          <p:cNvSpPr txBox="1"/>
          <p:nvPr/>
        </p:nvSpPr>
        <p:spPr bwMode="auto">
          <a:xfrm>
            <a:off x="326268" y="773307"/>
            <a:ext cx="12034427"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sym typeface="+mn-ea"/>
              </a:rPr>
              <a:t>2</a:t>
            </a:r>
            <a:r>
              <a:rPr lang="zh-CN" altLang="en-US" sz="2400" kern="0" dirty="0">
                <a:solidFill>
                  <a:srgbClr val="FF0000"/>
                </a:solidFill>
                <a:latin typeface="方正大黑简体" panose="02010601030101010101" pitchFamily="65" charset="-122"/>
                <a:ea typeface="方正大黑简体" panose="02010601030101010101" pitchFamily="65" charset="-122"/>
                <a:sym typeface="+mn-ea"/>
              </a:rPr>
              <a:t>、矿场数据分析表明物理数据融合模型</a:t>
            </a:r>
            <a:r>
              <a:rPr lang="zh-CN" altLang="en-US" sz="2400" kern="0" dirty="0">
                <a:solidFill>
                  <a:srgbClr val="FF0000"/>
                </a:solidFill>
                <a:latin typeface="方正大黑简体" panose="02010601030101010101" pitchFamily="65" charset="-122"/>
                <a:ea typeface="方正大黑简体" panose="02010601030101010101" pitchFamily="65" charset="-122"/>
              </a:rPr>
              <a:t>可实现井口压力高精度长时预测</a:t>
            </a:r>
            <a:endParaRPr lang="en-US" altLang="zh-CN" sz="2400" kern="0" dirty="0">
              <a:solidFill>
                <a:srgbClr val="FF0000"/>
              </a:solidFill>
              <a:latin typeface="方正大黑简体" panose="02010601030101010101" pitchFamily="65" charset="-122"/>
              <a:ea typeface="方正大黑简体" panose="02010601030101010101" pitchFamily="65"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3</a:t>
            </a:r>
            <a:r>
              <a:rPr lang="zh-CN" altLang="en-US" sz="2400" kern="0" dirty="0">
                <a:solidFill>
                  <a:srgbClr val="FF0000"/>
                </a:solidFill>
                <a:latin typeface="方正大黑简体" panose="02010601030101010101" pitchFamily="65" charset="-122"/>
                <a:ea typeface="方正大黑简体" panose="02010601030101010101" pitchFamily="65" charset="-122"/>
              </a:rPr>
              <a:t>、建立了融合特征聚类和压力斜率动态拟合的滑窗</a:t>
            </a:r>
            <a:r>
              <a:rPr lang="en-US" altLang="zh-CN" sz="2400" kern="0" dirty="0">
                <a:solidFill>
                  <a:srgbClr val="FF0000"/>
                </a:solidFill>
                <a:latin typeface="方正大黑简体" panose="02010601030101010101" pitchFamily="65" charset="-122"/>
                <a:ea typeface="方正大黑简体" panose="02010601030101010101" pitchFamily="65" charset="-122"/>
              </a:rPr>
              <a:t>MLP</a:t>
            </a:r>
            <a:r>
              <a:rPr lang="zh-CN" altLang="en-US" sz="2400" kern="0" dirty="0">
                <a:solidFill>
                  <a:srgbClr val="FF0000"/>
                </a:solidFill>
                <a:latin typeface="方正大黑简体" panose="02010601030101010101" pitchFamily="65" charset="-122"/>
                <a:ea typeface="方正大黑简体" panose="02010601030101010101" pitchFamily="65" charset="-122"/>
              </a:rPr>
              <a:t>智能砂堵预警模型</a:t>
            </a:r>
          </a:p>
        </p:txBody>
      </p:sp>
      <p:sp>
        <p:nvSpPr>
          <p:cNvPr id="2" name="Text Box 7"/>
          <p:cNvSpPr txBox="1">
            <a:spLocks noChangeArrowheads="1"/>
          </p:cNvSpPr>
          <p:nvPr/>
        </p:nvSpPr>
        <p:spPr bwMode="auto">
          <a:xfrm>
            <a:off x="263525" y="1207240"/>
            <a:ext cx="11736388" cy="142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采用基于滑动窗口的MLP砂堵判别方法和基于聚类拟合的砂堵判别方法，融合最小二乘法和动态阈值自适应拟合，建立了融合特征聚类和压力斜率动态拟合的滑窗</a:t>
            </a:r>
            <a:r>
              <a:rPr lang="en-US" altLang="zh-CN"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MLP</a:t>
            </a: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智能砂堵预警模型，根据拟合斜率和阈值划分出对应的风险等级（</a:t>
            </a:r>
            <a:r>
              <a:rPr lang="en-US" altLang="zh-CN"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I</a:t>
            </a: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级高风险，</a:t>
            </a:r>
            <a:r>
              <a:rPr lang="en-US" altLang="zh-CN"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II</a:t>
            </a: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级中风险，</a:t>
            </a:r>
            <a:r>
              <a:rPr lang="en-US" altLang="zh-CN"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III</a:t>
            </a: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级低风险，</a:t>
            </a:r>
            <a:r>
              <a:rPr lang="en-US" altLang="zh-CN"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IV</a:t>
            </a: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级无风险）</a:t>
            </a:r>
            <a:endPar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endParaRPr>
          </a:p>
        </p:txBody>
      </p:sp>
      <p:pic>
        <p:nvPicPr>
          <p:cNvPr id="5" name="图片 4"/>
          <p:cNvPicPr>
            <a:picLocks noChangeAspect="1"/>
          </p:cNvPicPr>
          <p:nvPr/>
        </p:nvPicPr>
        <p:blipFill>
          <a:blip r:embed="rId2"/>
          <a:stretch>
            <a:fillRect/>
          </a:stretch>
        </p:blipFill>
        <p:spPr>
          <a:xfrm>
            <a:off x="6888088" y="2852936"/>
            <a:ext cx="5112142" cy="3565644"/>
          </a:xfrm>
          <a:prstGeom prst="rect">
            <a:avLst/>
          </a:prstGeom>
        </p:spPr>
      </p:pic>
      <p:sp>
        <p:nvSpPr>
          <p:cNvPr id="3"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eaLnBrk="1" fontAlgn="auto" hangingPunct="1">
              <a:spcBef>
                <a:spcPts val="600"/>
              </a:spcBef>
              <a:spcAft>
                <a:spcPts val="0"/>
              </a:spcAft>
              <a:buNone/>
            </a:pPr>
            <a:r>
              <a:rPr lang="zh-CN" altLang="en-US" sz="2800" noProof="1">
                <a:solidFill>
                  <a:srgbClr val="3B3BFF"/>
                </a:solidFill>
                <a:latin typeface="方正大黑简体" panose="02010601030101010101" pitchFamily="65" charset="-122"/>
                <a:ea typeface="方正大黑简体" panose="02010601030101010101" pitchFamily="65" charset="-122"/>
              </a:rPr>
              <a:t>创新成果三：构建了压裂压力超前预测及砂堵实时预警理论方法</a:t>
            </a:r>
          </a:p>
        </p:txBody>
      </p:sp>
      <p:pic>
        <p:nvPicPr>
          <p:cNvPr id="6" name="图片 5"/>
          <p:cNvPicPr>
            <a:picLocks noChangeAspect="1"/>
          </p:cNvPicPr>
          <p:nvPr/>
        </p:nvPicPr>
        <p:blipFill>
          <a:blip r:embed="rId3"/>
          <a:stretch>
            <a:fillRect/>
          </a:stretch>
        </p:blipFill>
        <p:spPr>
          <a:xfrm>
            <a:off x="326391" y="2843502"/>
            <a:ext cx="6345674" cy="357507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263525" y="1207240"/>
            <a:ext cx="11736388" cy="14051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eaLnBrk="1" hangingPunct="1">
              <a:lnSpc>
                <a:spcPct val="150000"/>
              </a:lnSpc>
              <a:buClr>
                <a:srgbClr val="FF0000"/>
              </a:buClr>
              <a:buFont typeface="Wingdings" panose="05000000000000000000" pitchFamily="2" charset="2"/>
              <a:buChar char="n"/>
            </a:pP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基于滑动窗口的MLP砂堵判别模型相比传统MLP模型，引入</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自注意力机制</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后，测试集的判别精度提升了</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4.17%</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。基于聚类拟合的砂堵风险预警方法中，预测结果表明该模型的报警准确率达到</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92.95%</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。两者共同构建</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砂堵判别方法，实现了</a:t>
            </a:r>
            <a:r>
              <a:rPr lang="zh-CN" altLang="en-US" sz="2000" b="1" dirty="0">
                <a:latin typeface="Times New Roman" panose="02020603050405020304" pitchFamily="18" charset="0"/>
                <a:ea typeface="黑体" panose="02010609060101010101" charset="-122"/>
                <a:cs typeface="Times New Roman" panose="02020603050405020304" pitchFamily="18" charset="0"/>
              </a:rPr>
              <a:t>高精度、高准确率、高稳定性的高效</a:t>
            </a:r>
            <a:r>
              <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rPr>
              <a:t>砂堵预警。</a:t>
            </a:r>
            <a:endParaRPr lang="en-US" altLang="zh-CN" sz="2000"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3" name="TextBox 45"/>
          <p:cNvSpPr txBox="1"/>
          <p:nvPr/>
        </p:nvSpPr>
        <p:spPr>
          <a:xfrm>
            <a:off x="0" y="91434"/>
            <a:ext cx="12191999" cy="1029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eaLnBrk="1" fontAlgn="auto" hangingPunct="1">
              <a:spcBef>
                <a:spcPts val="600"/>
              </a:spcBef>
              <a:spcAft>
                <a:spcPts val="0"/>
              </a:spcAft>
              <a:buNone/>
            </a:pPr>
            <a:r>
              <a:rPr lang="zh-CN" altLang="en-US" sz="2800" noProof="1">
                <a:solidFill>
                  <a:srgbClr val="3B3BFF"/>
                </a:solidFill>
                <a:latin typeface="方正大黑简体" panose="02010601030101010101" pitchFamily="65" charset="-122"/>
                <a:ea typeface="方正大黑简体" panose="02010601030101010101" pitchFamily="65" charset="-122"/>
              </a:rPr>
              <a:t>创新成果三：</a:t>
            </a:r>
            <a:r>
              <a:rPr lang="zh-CN" altLang="en-US" sz="2800" dirty="0">
                <a:solidFill>
                  <a:srgbClr val="3B3BFF"/>
                </a:solidFill>
                <a:latin typeface="方正大黑简体" panose="02010601030101010101" pitchFamily="65" charset="-122"/>
                <a:ea typeface="方正大黑简体" panose="02010601030101010101" pitchFamily="65" charset="-122"/>
                <a:sym typeface="+mn-ea"/>
              </a:rPr>
              <a:t>构建了压裂压力超前预测及砂堵实时预警理论方法</a:t>
            </a:r>
            <a:endParaRPr lang="zh-CN" altLang="en-US" sz="2800" noProof="1">
              <a:solidFill>
                <a:srgbClr val="3B3BFF"/>
              </a:solidFill>
              <a:latin typeface="方正大黑简体" panose="02010601030101010101" pitchFamily="65" charset="-122"/>
              <a:ea typeface="方正大黑简体" panose="02010601030101010101" pitchFamily="65" charset="-122"/>
            </a:endParaRPr>
          </a:p>
          <a:p>
            <a:pPr marL="1256030" lvl="0" indent="-1256030" eaLnBrk="1" fontAlgn="auto" hangingPunct="1">
              <a:spcBef>
                <a:spcPts val="600"/>
              </a:spcBef>
              <a:spcAft>
                <a:spcPts val="0"/>
              </a:spcAft>
              <a:buNone/>
            </a:pPr>
            <a:endParaRPr lang="zh-CN" altLang="en-US" sz="2800" noProof="1">
              <a:solidFill>
                <a:srgbClr val="3B3BFF"/>
              </a:solidFill>
              <a:latin typeface="方正大黑简体" panose="02010601030101010101" pitchFamily="65" charset="-122"/>
              <a:ea typeface="方正大黑简体" panose="02010601030101010101" pitchFamily="65" charset="-122"/>
            </a:endParaRPr>
          </a:p>
        </p:txBody>
      </p:sp>
      <p:sp>
        <p:nvSpPr>
          <p:cNvPr id="4" name="TextBox 7"/>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4</a:t>
            </a:r>
            <a:r>
              <a:rPr lang="zh-CN" altLang="en-US" sz="2400" kern="0" dirty="0">
                <a:solidFill>
                  <a:srgbClr val="FF0000"/>
                </a:solidFill>
                <a:latin typeface="方正大黑简体" panose="03000509000000000000" pitchFamily="65" charset="-122"/>
                <a:ea typeface="方正大黑简体" panose="03000509000000000000" pitchFamily="65" charset="-122"/>
                <a:cs typeface="Times New Roman" panose="02020603050405020304" pitchFamily="18" charset="0"/>
              </a:rPr>
              <a:t>、</a:t>
            </a:r>
            <a:r>
              <a:rPr lang="zh-CN" altLang="en-US" sz="2400" kern="0" dirty="0">
                <a:solidFill>
                  <a:srgbClr val="FF0000"/>
                </a:solidFill>
                <a:latin typeface="Times New Roman" panose="02020603050405020304" pitchFamily="18" charset="0"/>
                <a:ea typeface="方正大黑简体" panose="02010601030101010101" pitchFamily="65" charset="-122"/>
                <a:cs typeface="Times New Roman" panose="02020603050405020304" pitchFamily="18" charset="0"/>
              </a:rPr>
              <a:t>矿场数据分析表明融合聚类拟合的</a:t>
            </a:r>
            <a:r>
              <a:rPr lang="en-US" altLang="zh-CN" sz="2400" kern="0" dirty="0">
                <a:solidFill>
                  <a:srgbClr val="FF0000"/>
                </a:solidFill>
                <a:latin typeface="Times New Roman" panose="02020603050405020304" pitchFamily="18" charset="0"/>
                <a:ea typeface="方正大黑简体" panose="02010601030101010101" pitchFamily="65" charset="-122"/>
                <a:cs typeface="Times New Roman" panose="02020603050405020304" pitchFamily="18" charset="0"/>
              </a:rPr>
              <a:t>MLP</a:t>
            </a:r>
            <a:r>
              <a:rPr lang="zh-CN" altLang="en-US" sz="2400" kern="0" dirty="0">
                <a:solidFill>
                  <a:srgbClr val="FF0000"/>
                </a:solidFill>
                <a:latin typeface="Times New Roman" panose="02020603050405020304" pitchFamily="18" charset="0"/>
                <a:ea typeface="方正大黑简体" panose="02010601030101010101" pitchFamily="65" charset="-122"/>
                <a:cs typeface="Times New Roman" panose="02020603050405020304" pitchFamily="18" charset="0"/>
              </a:rPr>
              <a:t>砂堵判别模型可实现高精度稳定实时预警</a:t>
            </a:r>
          </a:p>
        </p:txBody>
      </p:sp>
      <p:pic>
        <p:nvPicPr>
          <p:cNvPr id="5" name="图片 4">
            <a:extLst>
              <a:ext uri="{FF2B5EF4-FFF2-40B4-BE49-F238E27FC236}">
                <a16:creationId xmlns:a16="http://schemas.microsoft.com/office/drawing/2014/main" id="{AB715CAF-B2C6-4238-C7AA-5D6FC62E3EBF}"/>
              </a:ext>
            </a:extLst>
          </p:cNvPr>
          <p:cNvPicPr>
            <a:picLocks noChangeAspect="1"/>
          </p:cNvPicPr>
          <p:nvPr/>
        </p:nvPicPr>
        <p:blipFill>
          <a:blip r:embed="rId4"/>
          <a:stretch>
            <a:fillRect/>
          </a:stretch>
        </p:blipFill>
        <p:spPr>
          <a:xfrm>
            <a:off x="6456045" y="2764790"/>
            <a:ext cx="5659755" cy="3616960"/>
          </a:xfrm>
          <a:prstGeom prst="rect">
            <a:avLst/>
          </a:prstGeom>
        </p:spPr>
      </p:pic>
      <p:graphicFrame>
        <p:nvGraphicFramePr>
          <p:cNvPr id="9" name="表格 8">
            <a:extLst>
              <a:ext uri="{FF2B5EF4-FFF2-40B4-BE49-F238E27FC236}">
                <a16:creationId xmlns:a16="http://schemas.microsoft.com/office/drawing/2014/main" id="{A9015FAF-5E14-783F-89E1-0DA7637B1A4B}"/>
              </a:ext>
            </a:extLst>
          </p:cNvPr>
          <p:cNvGraphicFramePr/>
          <p:nvPr>
            <p:custDataLst>
              <p:tags r:id="rId1"/>
            </p:custDataLst>
            <p:extLst>
              <p:ext uri="{D42A27DB-BD31-4B8C-83A1-F6EECF244321}">
                <p14:modId xmlns:p14="http://schemas.microsoft.com/office/powerpoint/2010/main" val="537260115"/>
              </p:ext>
            </p:extLst>
          </p:nvPr>
        </p:nvGraphicFramePr>
        <p:xfrm>
          <a:off x="407368" y="2784157"/>
          <a:ext cx="5849620" cy="1461411"/>
        </p:xfrm>
        <a:graphic>
          <a:graphicData uri="http://schemas.openxmlformats.org/drawingml/2006/table">
            <a:tbl>
              <a:tblPr firstRow="1" bandRow="1">
                <a:tableStyleId>{5940675A-B579-460E-94D1-54222C63F5DA}</a:tableStyleId>
              </a:tblPr>
              <a:tblGrid>
                <a:gridCol w="1409700">
                  <a:extLst>
                    <a:ext uri="{9D8B030D-6E8A-4147-A177-3AD203B41FA5}">
                      <a16:colId xmlns:a16="http://schemas.microsoft.com/office/drawing/2014/main" val="20000"/>
                    </a:ext>
                  </a:extLst>
                </a:gridCol>
                <a:gridCol w="977900">
                  <a:extLst>
                    <a:ext uri="{9D8B030D-6E8A-4147-A177-3AD203B41FA5}">
                      <a16:colId xmlns:a16="http://schemas.microsoft.com/office/drawing/2014/main" val="20001"/>
                    </a:ext>
                  </a:extLst>
                </a:gridCol>
                <a:gridCol w="1131570">
                  <a:extLst>
                    <a:ext uri="{9D8B030D-6E8A-4147-A177-3AD203B41FA5}">
                      <a16:colId xmlns:a16="http://schemas.microsoft.com/office/drawing/2014/main" val="20002"/>
                    </a:ext>
                  </a:extLst>
                </a:gridCol>
                <a:gridCol w="959485">
                  <a:extLst>
                    <a:ext uri="{9D8B030D-6E8A-4147-A177-3AD203B41FA5}">
                      <a16:colId xmlns:a16="http://schemas.microsoft.com/office/drawing/2014/main" val="20003"/>
                    </a:ext>
                  </a:extLst>
                </a:gridCol>
                <a:gridCol w="1370965">
                  <a:extLst>
                    <a:ext uri="{9D8B030D-6E8A-4147-A177-3AD203B41FA5}">
                      <a16:colId xmlns:a16="http://schemas.microsoft.com/office/drawing/2014/main" val="20004"/>
                    </a:ext>
                  </a:extLst>
                </a:gridCol>
              </a:tblGrid>
              <a:tr h="345385">
                <a:tc>
                  <a:txBody>
                    <a:bodyPr/>
                    <a:lstStyle/>
                    <a:p>
                      <a:pPr algn="ctr">
                        <a:buNone/>
                      </a:pPr>
                      <a:endParaRPr lang="zh-CN" altLang="en-US" sz="1400" b="1">
                        <a:latin typeface="Times New Roman" panose="02020603050405020304" pitchFamily="18" charset="0"/>
                        <a:cs typeface="Times New Roman" panose="02020603050405020304" pitchFamily="18" charset="0"/>
                      </a:endParaRPr>
                    </a:p>
                  </a:txBody>
                  <a:tcPr anchor="ctr">
                    <a:lnL>
                      <a:noFill/>
                    </a:lnL>
                    <a:lnR>
                      <a:noFill/>
                    </a:lnR>
                    <a:lnT w="12700">
                      <a:solidFill>
                        <a:schemeClr val="tx1"/>
                      </a:solidFill>
                      <a:prstDash val="solid"/>
                    </a:lnT>
                    <a:lnB w="12700">
                      <a:solidFill>
                        <a:schemeClr val="tx1"/>
                      </a:solidFill>
                      <a:prstDash val="solid"/>
                    </a:lnB>
                  </a:tcPr>
                </a:tc>
                <a:tc>
                  <a:txBody>
                    <a:bodyPr/>
                    <a:lstStyle/>
                    <a:p>
                      <a:pPr algn="ctr">
                        <a:buNone/>
                      </a:pPr>
                      <a:r>
                        <a:rPr lang="zh-CN" altLang="en-US" sz="1400" b="1">
                          <a:latin typeface="Times New Roman" panose="02020603050405020304" pitchFamily="18" charset="0"/>
                          <a:cs typeface="Times New Roman" panose="02020603050405020304" pitchFamily="18" charset="0"/>
                        </a:rPr>
                        <a:t>训练损失</a:t>
                      </a:r>
                    </a:p>
                  </a:txBody>
                  <a:tcPr anchor="ctr">
                    <a:lnL>
                      <a:noFill/>
                    </a:lnL>
                    <a:lnR>
                      <a:noFill/>
                    </a:lnR>
                    <a:lnT w="12700">
                      <a:solidFill>
                        <a:schemeClr val="tx1"/>
                      </a:solidFill>
                      <a:prstDash val="solid"/>
                    </a:lnT>
                    <a:lnB w="12700">
                      <a:solidFill>
                        <a:schemeClr val="tx1"/>
                      </a:solidFill>
                      <a:prstDash val="solid"/>
                    </a:lnB>
                  </a:tcPr>
                </a:tc>
                <a:tc>
                  <a:txBody>
                    <a:bodyPr/>
                    <a:lstStyle/>
                    <a:p>
                      <a:pPr algn="ctr">
                        <a:buNone/>
                      </a:pPr>
                      <a:r>
                        <a:rPr lang="zh-CN" altLang="en-US" sz="1400" b="1">
                          <a:latin typeface="Times New Roman" panose="02020603050405020304" pitchFamily="18" charset="0"/>
                          <a:cs typeface="Times New Roman" panose="02020603050405020304" pitchFamily="18" charset="0"/>
                        </a:rPr>
                        <a:t>训练精确度</a:t>
                      </a:r>
                    </a:p>
                  </a:txBody>
                  <a:tcPr anchor="ctr">
                    <a:lnL>
                      <a:noFill/>
                    </a:lnL>
                    <a:lnR>
                      <a:noFill/>
                    </a:lnR>
                    <a:lnT w="12700">
                      <a:solidFill>
                        <a:schemeClr val="tx1"/>
                      </a:solidFill>
                      <a:prstDash val="solid"/>
                    </a:lnT>
                    <a:lnB w="12700">
                      <a:solidFill>
                        <a:schemeClr val="tx1"/>
                      </a:solidFill>
                      <a:prstDash val="solid"/>
                    </a:lnB>
                  </a:tcPr>
                </a:tc>
                <a:tc>
                  <a:txBody>
                    <a:bodyPr/>
                    <a:lstStyle/>
                    <a:p>
                      <a:pPr algn="ctr">
                        <a:buNone/>
                      </a:pPr>
                      <a:r>
                        <a:rPr lang="zh-CN" altLang="en-US" sz="1400" b="1">
                          <a:latin typeface="Times New Roman" panose="02020603050405020304" pitchFamily="18" charset="0"/>
                          <a:cs typeface="Times New Roman" panose="02020603050405020304" pitchFamily="18" charset="0"/>
                        </a:rPr>
                        <a:t>测试损失</a:t>
                      </a:r>
                    </a:p>
                  </a:txBody>
                  <a:tcPr anchor="ctr">
                    <a:lnL>
                      <a:noFill/>
                    </a:lnL>
                    <a:lnR>
                      <a:noFill/>
                    </a:lnR>
                    <a:lnT w="12700">
                      <a:solidFill>
                        <a:schemeClr val="tx1"/>
                      </a:solidFill>
                      <a:prstDash val="solid"/>
                    </a:lnT>
                    <a:lnB w="12700">
                      <a:solidFill>
                        <a:schemeClr val="tx1"/>
                      </a:solidFill>
                      <a:prstDash val="solid"/>
                    </a:lnB>
                  </a:tcPr>
                </a:tc>
                <a:tc>
                  <a:txBody>
                    <a:bodyPr/>
                    <a:lstStyle/>
                    <a:p>
                      <a:pPr algn="ctr">
                        <a:buNone/>
                      </a:pPr>
                      <a:r>
                        <a:rPr lang="zh-CN" altLang="en-US" sz="1400" b="1">
                          <a:latin typeface="Times New Roman" panose="02020603050405020304" pitchFamily="18" charset="0"/>
                          <a:cs typeface="Times New Roman" panose="02020603050405020304" pitchFamily="18" charset="0"/>
                        </a:rPr>
                        <a:t>测试精确度</a:t>
                      </a:r>
                    </a:p>
                  </a:txBody>
                  <a:tcPr anchor="ctr">
                    <a:lnL>
                      <a:noFill/>
                    </a:lnL>
                    <a:lnR>
                      <a:noFill/>
                    </a:lnR>
                    <a:lnT w="12700">
                      <a:solidFill>
                        <a:schemeClr val="tx1"/>
                      </a:solidFill>
                      <a:prstDash val="solid"/>
                    </a:lnT>
                    <a:lnB w="12700">
                      <a:solidFill>
                        <a:schemeClr val="tx1"/>
                      </a:solidFill>
                      <a:prstDash val="solid"/>
                    </a:lnB>
                  </a:tcPr>
                </a:tc>
                <a:extLst>
                  <a:ext uri="{0D108BD9-81ED-4DB2-BD59-A6C34878D82A}">
                    <a16:rowId xmlns:a16="http://schemas.microsoft.com/office/drawing/2014/main" val="10000"/>
                  </a:ext>
                </a:extLst>
              </a:tr>
              <a:tr h="538225">
                <a:tc>
                  <a:txBody>
                    <a:bodyPr/>
                    <a:lstStyle/>
                    <a:p>
                      <a:pPr algn="ctr">
                        <a:buNone/>
                      </a:pPr>
                      <a:r>
                        <a:rPr lang="en-US" altLang="zh-CN" sz="1400" b="1">
                          <a:latin typeface="Times New Roman" panose="02020603050405020304" pitchFamily="18" charset="0"/>
                          <a:cs typeface="Times New Roman" panose="02020603050405020304" pitchFamily="18" charset="0"/>
                        </a:rPr>
                        <a:t>MLP</a:t>
                      </a:r>
                    </a:p>
                  </a:txBody>
                  <a:tcPr anchor="ctr">
                    <a:lnL>
                      <a:noFill/>
                    </a:lnL>
                    <a:lnR>
                      <a:noFill/>
                    </a:lnR>
                    <a:lnT w="12700">
                      <a:solidFill>
                        <a:schemeClr val="tx1"/>
                      </a:solidFill>
                      <a:prstDash val="solid"/>
                    </a:lnT>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0.2464</a:t>
                      </a:r>
                    </a:p>
                  </a:txBody>
                  <a:tcPr anchor="ctr">
                    <a:lnL>
                      <a:noFill/>
                    </a:lnL>
                    <a:lnR>
                      <a:noFill/>
                    </a:lnR>
                    <a:lnT w="12700">
                      <a:solidFill>
                        <a:schemeClr val="tx1"/>
                      </a:solidFill>
                      <a:prstDash val="solid"/>
                    </a:lnT>
                    <a:lnB>
                      <a:noFill/>
                    </a:lnB>
                  </a:tcPr>
                </a:tc>
                <a:tc>
                  <a:txBody>
                    <a:bodyPr/>
                    <a:lstStyle/>
                    <a:p>
                      <a:pPr algn="ctr">
                        <a:buNone/>
                      </a:pPr>
                      <a:r>
                        <a:rPr lang="en-US" altLang="zh-CN" sz="1400" b="1" dirty="0">
                          <a:latin typeface="Times New Roman" panose="02020603050405020304" pitchFamily="18" charset="0"/>
                          <a:cs typeface="Times New Roman" panose="02020603050405020304" pitchFamily="18" charset="0"/>
                        </a:rPr>
                        <a:t>93.45%</a:t>
                      </a:r>
                    </a:p>
                  </a:txBody>
                  <a:tcPr anchor="ctr">
                    <a:lnL>
                      <a:noFill/>
                    </a:lnL>
                    <a:lnR>
                      <a:noFill/>
                    </a:lnR>
                    <a:lnT w="12700">
                      <a:solidFill>
                        <a:schemeClr val="tx1"/>
                      </a:solidFill>
                      <a:prstDash val="solid"/>
                    </a:lnT>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0.2461</a:t>
                      </a:r>
                    </a:p>
                  </a:txBody>
                  <a:tcPr anchor="ctr">
                    <a:lnL>
                      <a:noFill/>
                    </a:lnL>
                    <a:lnR>
                      <a:noFill/>
                    </a:lnR>
                    <a:lnT w="12700">
                      <a:solidFill>
                        <a:schemeClr val="tx1"/>
                      </a:solidFill>
                      <a:prstDash val="solid"/>
                    </a:lnT>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91.23%</a:t>
                      </a:r>
                    </a:p>
                  </a:txBody>
                  <a:tcPr anchor="ctr">
                    <a:lnL>
                      <a:noFill/>
                    </a:lnL>
                    <a:lnR>
                      <a:noFill/>
                    </a:lnR>
                    <a:lnT w="12700">
                      <a:solidFill>
                        <a:schemeClr val="tx1"/>
                      </a:solidFill>
                      <a:prstDash val="solid"/>
                    </a:lnT>
                    <a:lnB>
                      <a:noFill/>
                    </a:lnB>
                  </a:tcPr>
                </a:tc>
                <a:extLst>
                  <a:ext uri="{0D108BD9-81ED-4DB2-BD59-A6C34878D82A}">
                    <a16:rowId xmlns:a16="http://schemas.microsoft.com/office/drawing/2014/main" val="10001"/>
                  </a:ext>
                </a:extLst>
              </a:tr>
              <a:tr h="577801">
                <a:tc>
                  <a:txBody>
                    <a:bodyPr/>
                    <a:lstStyle/>
                    <a:p>
                      <a:pPr algn="ctr">
                        <a:buNone/>
                      </a:pPr>
                      <a:r>
                        <a:rPr lang="en-US" altLang="zh-CN" sz="1400" b="1">
                          <a:latin typeface="Times New Roman" panose="02020603050405020304" pitchFamily="18" charset="0"/>
                          <a:cs typeface="Times New Roman" panose="02020603050405020304" pitchFamily="18" charset="0"/>
                        </a:rPr>
                        <a:t>attention_MLP</a:t>
                      </a:r>
                    </a:p>
                  </a:txBody>
                  <a:tcPr anchor="ctr">
                    <a:lnL>
                      <a:noFill/>
                    </a:lnL>
                    <a:lnR>
                      <a:noFill/>
                    </a:lnR>
                    <a:lnT>
                      <a:noFill/>
                    </a:lnT>
                    <a:lnB w="12700">
                      <a:solidFill>
                        <a:schemeClr val="tx1"/>
                      </a:solidFill>
                      <a:prstDash val="solid"/>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0.2110</a:t>
                      </a:r>
                    </a:p>
                  </a:txBody>
                  <a:tcPr anchor="ctr">
                    <a:lnL>
                      <a:noFill/>
                    </a:lnL>
                    <a:lnR>
                      <a:noFill/>
                    </a:lnR>
                    <a:lnT>
                      <a:noFill/>
                    </a:lnT>
                    <a:lnB w="12700">
                      <a:solidFill>
                        <a:schemeClr val="tx1"/>
                      </a:solidFill>
                      <a:prstDash val="solid"/>
                    </a:lnB>
                  </a:tcPr>
                </a:tc>
                <a:tc>
                  <a:txBody>
                    <a:bodyPr/>
                    <a:lstStyle/>
                    <a:p>
                      <a:pPr algn="ctr">
                        <a:buNone/>
                      </a:pPr>
                      <a:r>
                        <a:rPr lang="en-US" altLang="zh-CN" sz="1400" b="1" dirty="0">
                          <a:latin typeface="Times New Roman" panose="02020603050405020304" pitchFamily="18" charset="0"/>
                          <a:cs typeface="Times New Roman" panose="02020603050405020304" pitchFamily="18" charset="0"/>
                        </a:rPr>
                        <a:t>94.63%</a:t>
                      </a:r>
                    </a:p>
                  </a:txBody>
                  <a:tcPr anchor="ctr">
                    <a:lnL>
                      <a:noFill/>
                    </a:lnL>
                    <a:lnR>
                      <a:noFill/>
                    </a:lnR>
                    <a:lnT>
                      <a:noFill/>
                    </a:lnT>
                    <a:lnB w="12700">
                      <a:solidFill>
                        <a:schemeClr val="tx1"/>
                      </a:solidFill>
                      <a:prstDash val="solid"/>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0.2193</a:t>
                      </a:r>
                    </a:p>
                  </a:txBody>
                  <a:tcPr anchor="ctr">
                    <a:lnL>
                      <a:noFill/>
                    </a:lnL>
                    <a:lnR>
                      <a:noFill/>
                    </a:lnR>
                    <a:lnT>
                      <a:noFill/>
                    </a:lnT>
                    <a:lnB w="12700">
                      <a:solidFill>
                        <a:schemeClr val="tx1"/>
                      </a:solidFill>
                      <a:prstDash val="solid"/>
                    </a:lnB>
                  </a:tcPr>
                </a:tc>
                <a:tc>
                  <a:txBody>
                    <a:bodyPr/>
                    <a:lstStyle/>
                    <a:p>
                      <a:pPr algn="ctr">
                        <a:buNone/>
                      </a:pPr>
                      <a:r>
                        <a:rPr lang="en-US" altLang="zh-CN" sz="1400" b="1" dirty="0">
                          <a:latin typeface="Times New Roman" panose="02020603050405020304" pitchFamily="18" charset="0"/>
                          <a:cs typeface="Times New Roman" panose="02020603050405020304" pitchFamily="18" charset="0"/>
                        </a:rPr>
                        <a:t>95.40%</a:t>
                      </a:r>
                    </a:p>
                  </a:txBody>
                  <a:tcPr anchor="ctr">
                    <a:lnL>
                      <a:noFill/>
                    </a:lnL>
                    <a:lnR>
                      <a:noFill/>
                    </a:lnR>
                    <a:lnT>
                      <a:noFill/>
                    </a:lnT>
                    <a:lnB w="12700">
                      <a:solidFill>
                        <a:schemeClr val="tx1"/>
                      </a:solidFill>
                      <a:prstDash val="solid"/>
                    </a:lnB>
                  </a:tcPr>
                </a:tc>
                <a:extLst>
                  <a:ext uri="{0D108BD9-81ED-4DB2-BD59-A6C34878D82A}">
                    <a16:rowId xmlns:a16="http://schemas.microsoft.com/office/drawing/2014/main" val="10002"/>
                  </a:ext>
                </a:extLst>
              </a:tr>
            </a:tbl>
          </a:graphicData>
        </a:graphic>
      </p:graphicFrame>
      <p:graphicFrame>
        <p:nvGraphicFramePr>
          <p:cNvPr id="10" name="表格 9">
            <a:extLst>
              <a:ext uri="{FF2B5EF4-FFF2-40B4-BE49-F238E27FC236}">
                <a16:creationId xmlns:a16="http://schemas.microsoft.com/office/drawing/2014/main" id="{0DE17183-8AC7-00B4-C887-6027655EE23F}"/>
              </a:ext>
            </a:extLst>
          </p:cNvPr>
          <p:cNvGraphicFramePr/>
          <p:nvPr>
            <p:custDataLst>
              <p:tags r:id="rId2"/>
            </p:custDataLst>
            <p:extLst>
              <p:ext uri="{D42A27DB-BD31-4B8C-83A1-F6EECF244321}">
                <p14:modId xmlns:p14="http://schemas.microsoft.com/office/powerpoint/2010/main" val="2135296330"/>
              </p:ext>
            </p:extLst>
          </p:nvPr>
        </p:nvGraphicFramePr>
        <p:xfrm>
          <a:off x="412880" y="4447628"/>
          <a:ext cx="5880735" cy="1934122"/>
        </p:xfrm>
        <a:graphic>
          <a:graphicData uri="http://schemas.openxmlformats.org/drawingml/2006/table">
            <a:tbl>
              <a:tblPr firstRow="1" bandRow="1">
                <a:tableStyleId>{5940675A-B579-460E-94D1-54222C63F5DA}</a:tableStyleId>
              </a:tblPr>
              <a:tblGrid>
                <a:gridCol w="1750695">
                  <a:extLst>
                    <a:ext uri="{9D8B030D-6E8A-4147-A177-3AD203B41FA5}">
                      <a16:colId xmlns:a16="http://schemas.microsoft.com/office/drawing/2014/main" val="20000"/>
                    </a:ext>
                  </a:extLst>
                </a:gridCol>
                <a:gridCol w="1335405">
                  <a:extLst>
                    <a:ext uri="{9D8B030D-6E8A-4147-A177-3AD203B41FA5}">
                      <a16:colId xmlns:a16="http://schemas.microsoft.com/office/drawing/2014/main" val="20001"/>
                    </a:ext>
                  </a:extLst>
                </a:gridCol>
                <a:gridCol w="1417955">
                  <a:extLst>
                    <a:ext uri="{9D8B030D-6E8A-4147-A177-3AD203B41FA5}">
                      <a16:colId xmlns:a16="http://schemas.microsoft.com/office/drawing/2014/main" val="20002"/>
                    </a:ext>
                  </a:extLst>
                </a:gridCol>
                <a:gridCol w="1376680">
                  <a:extLst>
                    <a:ext uri="{9D8B030D-6E8A-4147-A177-3AD203B41FA5}">
                      <a16:colId xmlns:a16="http://schemas.microsoft.com/office/drawing/2014/main" val="20003"/>
                    </a:ext>
                  </a:extLst>
                </a:gridCol>
              </a:tblGrid>
              <a:tr h="343219">
                <a:tc>
                  <a:txBody>
                    <a:bodyPr/>
                    <a:lstStyle/>
                    <a:p>
                      <a:pPr algn="ctr">
                        <a:buNone/>
                      </a:pPr>
                      <a:endParaRPr lang="zh-CN" altLang="en-US" sz="1400" b="1">
                        <a:latin typeface="Times New Roman" panose="02020603050405020304" pitchFamily="18" charset="0"/>
                        <a:cs typeface="Times New Roman" panose="02020603050405020304" pitchFamily="18" charset="0"/>
                      </a:endParaRPr>
                    </a:p>
                  </a:txBody>
                  <a:tcPr anchor="ctr">
                    <a:lnL>
                      <a:noFill/>
                    </a:lnL>
                    <a:lnR>
                      <a:noFill/>
                    </a:lnR>
                  </a:tcPr>
                </a:tc>
                <a:tc>
                  <a:txBody>
                    <a:bodyPr/>
                    <a:lstStyle/>
                    <a:p>
                      <a:pPr algn="ctr">
                        <a:buNone/>
                      </a:pPr>
                      <a:r>
                        <a:rPr lang="zh-CN" altLang="en-US" sz="1400" b="1" dirty="0">
                          <a:latin typeface="Times New Roman" panose="02020603050405020304" pitchFamily="18" charset="0"/>
                          <a:cs typeface="Times New Roman" panose="02020603050405020304" pitchFamily="18" charset="0"/>
                        </a:rPr>
                        <a:t>报警率</a:t>
                      </a:r>
                    </a:p>
                  </a:txBody>
                  <a:tcPr anchor="ctr">
                    <a:lnL>
                      <a:noFill/>
                    </a:lnL>
                    <a:lnR>
                      <a:noFill/>
                    </a:lnR>
                  </a:tcPr>
                </a:tc>
                <a:tc>
                  <a:txBody>
                    <a:bodyPr/>
                    <a:lstStyle/>
                    <a:p>
                      <a:pPr algn="ctr">
                        <a:buNone/>
                      </a:pPr>
                      <a:r>
                        <a:rPr lang="zh-CN" altLang="en-US" sz="1400" b="1">
                          <a:latin typeface="Times New Roman" panose="02020603050405020304" pitchFamily="18" charset="0"/>
                          <a:cs typeface="Times New Roman" panose="02020603050405020304" pitchFamily="18" charset="0"/>
                        </a:rPr>
                        <a:t>准确率</a:t>
                      </a:r>
                    </a:p>
                  </a:txBody>
                  <a:tcPr anchor="ctr">
                    <a:lnL>
                      <a:noFill/>
                    </a:lnL>
                    <a:lnR>
                      <a:noFill/>
                    </a:lnR>
                  </a:tcPr>
                </a:tc>
                <a:tc>
                  <a:txBody>
                    <a:bodyPr/>
                    <a:lstStyle/>
                    <a:p>
                      <a:pPr algn="ctr">
                        <a:buNone/>
                      </a:pPr>
                      <a:r>
                        <a:rPr lang="zh-CN" altLang="en-US" sz="1400" b="1">
                          <a:latin typeface="Times New Roman" panose="02020603050405020304" pitchFamily="18" charset="0"/>
                          <a:cs typeface="Times New Roman" panose="02020603050405020304" pitchFamily="18" charset="0"/>
                        </a:rPr>
                        <a:t>误报率</a:t>
                      </a:r>
                    </a:p>
                  </a:txBody>
                  <a:tcPr anchor="ctr">
                    <a:lnL>
                      <a:noFill/>
                    </a:lnL>
                    <a:lnR>
                      <a:noFill/>
                    </a:lnR>
                  </a:tcPr>
                </a:tc>
                <a:extLst>
                  <a:ext uri="{0D108BD9-81ED-4DB2-BD59-A6C34878D82A}">
                    <a16:rowId xmlns:a16="http://schemas.microsoft.com/office/drawing/2014/main" val="10000"/>
                  </a:ext>
                </a:extLst>
              </a:tr>
              <a:tr h="454343">
                <a:tc>
                  <a:txBody>
                    <a:bodyPr/>
                    <a:lstStyle/>
                    <a:p>
                      <a:pPr algn="ctr">
                        <a:buNone/>
                      </a:pPr>
                      <a:r>
                        <a:rPr lang="zh-CN" altLang="en-US" sz="1400" b="1">
                          <a:latin typeface="Times New Roman" panose="02020603050405020304" pitchFamily="18" charset="0"/>
                          <a:cs typeface="Times New Roman" panose="02020603050405020304" pitchFamily="18" charset="0"/>
                        </a:rPr>
                        <a:t>两点斜率</a:t>
                      </a:r>
                    </a:p>
                  </a:txBody>
                  <a:tcPr anchor="ctr">
                    <a:lnL>
                      <a:noFill/>
                    </a:lnL>
                    <a:lnR>
                      <a:noFill/>
                    </a:lnR>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12.154%</a:t>
                      </a:r>
                    </a:p>
                  </a:txBody>
                  <a:tcPr anchor="ctr">
                    <a:lnL>
                      <a:noFill/>
                    </a:lnL>
                    <a:lnR>
                      <a:noFill/>
                    </a:lnR>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24.515%</a:t>
                      </a:r>
                    </a:p>
                  </a:txBody>
                  <a:tcPr anchor="ctr">
                    <a:lnL>
                      <a:noFill/>
                    </a:lnL>
                    <a:lnR>
                      <a:noFill/>
                    </a:lnR>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75.485%</a:t>
                      </a:r>
                    </a:p>
                  </a:txBody>
                  <a:tcPr anchor="ctr">
                    <a:lnL>
                      <a:noFill/>
                    </a:lnL>
                    <a:lnR>
                      <a:noFill/>
                    </a:lnR>
                    <a:lnB>
                      <a:noFill/>
                    </a:lnB>
                  </a:tcPr>
                </a:tc>
                <a:extLst>
                  <a:ext uri="{0D108BD9-81ED-4DB2-BD59-A6C34878D82A}">
                    <a16:rowId xmlns:a16="http://schemas.microsoft.com/office/drawing/2014/main" val="10001"/>
                  </a:ext>
                </a:extLst>
              </a:tr>
              <a:tr h="488805">
                <a:tc>
                  <a:txBody>
                    <a:bodyPr/>
                    <a:lstStyle/>
                    <a:p>
                      <a:pPr algn="ctr">
                        <a:buNone/>
                      </a:pPr>
                      <a:r>
                        <a:rPr lang="zh-CN" altLang="en-US" sz="1400" b="1">
                          <a:latin typeface="Times New Roman" panose="02020603050405020304" pitchFamily="18" charset="0"/>
                          <a:cs typeface="Times New Roman" panose="02020603050405020304" pitchFamily="18" charset="0"/>
                        </a:rPr>
                        <a:t>三次样条插值斜率</a:t>
                      </a:r>
                    </a:p>
                  </a:txBody>
                  <a:tcPr anchor="ctr">
                    <a:lnL>
                      <a:noFill/>
                    </a:lnL>
                    <a:lnR>
                      <a:noFill/>
                    </a:lnR>
                    <a:lnT>
                      <a:noFill/>
                    </a:lnT>
                    <a:lnB>
                      <a:noFill/>
                    </a:lnB>
                  </a:tcPr>
                </a:tc>
                <a:tc>
                  <a:txBody>
                    <a:bodyPr/>
                    <a:lstStyle/>
                    <a:p>
                      <a:pPr algn="ctr">
                        <a:buNone/>
                      </a:pPr>
                      <a:r>
                        <a:rPr lang="en-US" altLang="zh-CN" sz="1400" b="1" dirty="0">
                          <a:latin typeface="Times New Roman" panose="02020603050405020304" pitchFamily="18" charset="0"/>
                          <a:cs typeface="Times New Roman" panose="02020603050405020304" pitchFamily="18" charset="0"/>
                        </a:rPr>
                        <a:t>7.013%</a:t>
                      </a:r>
                    </a:p>
                  </a:txBody>
                  <a:tcPr anchor="ctr">
                    <a:lnL>
                      <a:noFill/>
                    </a:lnL>
                    <a:lnR>
                      <a:noFill/>
                    </a:lnR>
                    <a:lnT>
                      <a:noFill/>
                    </a:lnT>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32.253%</a:t>
                      </a:r>
                    </a:p>
                  </a:txBody>
                  <a:tcPr anchor="ctr">
                    <a:lnL>
                      <a:noFill/>
                    </a:lnL>
                    <a:lnR>
                      <a:noFill/>
                    </a:lnR>
                    <a:lnT>
                      <a:noFill/>
                    </a:lnT>
                    <a:lnB>
                      <a:noFill/>
                    </a:lnB>
                  </a:tcPr>
                </a:tc>
                <a:tc>
                  <a:txBody>
                    <a:bodyPr/>
                    <a:lstStyle/>
                    <a:p>
                      <a:pPr algn="ctr">
                        <a:buNone/>
                      </a:pPr>
                      <a:r>
                        <a:rPr lang="en-US" altLang="zh-CN" sz="1400" b="1">
                          <a:latin typeface="Times New Roman" panose="02020603050405020304" pitchFamily="18" charset="0"/>
                          <a:cs typeface="Times New Roman" panose="02020603050405020304" pitchFamily="18" charset="0"/>
                        </a:rPr>
                        <a:t>67.747%</a:t>
                      </a:r>
                    </a:p>
                  </a:txBody>
                  <a:tcPr anchor="ctr">
                    <a:lnL>
                      <a:noFill/>
                    </a:lnL>
                    <a:lnR>
                      <a:noFill/>
                    </a:lnR>
                    <a:lnT>
                      <a:noFill/>
                    </a:lnT>
                    <a:lnB>
                      <a:noFill/>
                    </a:lnB>
                  </a:tcPr>
                </a:tc>
                <a:extLst>
                  <a:ext uri="{0D108BD9-81ED-4DB2-BD59-A6C34878D82A}">
                    <a16:rowId xmlns:a16="http://schemas.microsoft.com/office/drawing/2014/main" val="10002"/>
                  </a:ext>
                </a:extLst>
              </a:tr>
              <a:tr h="647755">
                <a:tc>
                  <a:txBody>
                    <a:bodyPr/>
                    <a:lstStyle/>
                    <a:p>
                      <a:pPr algn="ctr">
                        <a:buNone/>
                      </a:pPr>
                      <a:r>
                        <a:rPr lang="zh-CN" altLang="en-US" sz="1400" b="1">
                          <a:latin typeface="Times New Roman" panose="02020603050405020304" pitchFamily="18" charset="0"/>
                          <a:cs typeface="Times New Roman" panose="02020603050405020304" pitchFamily="18" charset="0"/>
                        </a:rPr>
                        <a:t>聚类分段拟合斜率</a:t>
                      </a:r>
                    </a:p>
                  </a:txBody>
                  <a:tcPr anchor="ctr">
                    <a:lnL>
                      <a:noFill/>
                    </a:lnL>
                    <a:lnR>
                      <a:noFill/>
                    </a:lnR>
                    <a:lnT>
                      <a:noFill/>
                    </a:lnT>
                  </a:tcPr>
                </a:tc>
                <a:tc>
                  <a:txBody>
                    <a:bodyPr/>
                    <a:lstStyle/>
                    <a:p>
                      <a:pPr algn="ctr">
                        <a:buNone/>
                      </a:pPr>
                      <a:r>
                        <a:rPr lang="en-US" altLang="zh-CN" sz="1400" b="1">
                          <a:latin typeface="Times New Roman" panose="02020603050405020304" pitchFamily="18" charset="0"/>
                          <a:cs typeface="Times New Roman" panose="02020603050405020304" pitchFamily="18" charset="0"/>
                        </a:rPr>
                        <a:t>1.447%</a:t>
                      </a:r>
                    </a:p>
                  </a:txBody>
                  <a:tcPr anchor="ctr">
                    <a:lnL>
                      <a:noFill/>
                    </a:lnL>
                    <a:lnR>
                      <a:noFill/>
                    </a:lnR>
                    <a:lnT>
                      <a:noFill/>
                    </a:lnT>
                  </a:tcPr>
                </a:tc>
                <a:tc>
                  <a:txBody>
                    <a:bodyPr/>
                    <a:lstStyle/>
                    <a:p>
                      <a:pPr algn="ctr">
                        <a:buNone/>
                      </a:pPr>
                      <a:r>
                        <a:rPr lang="en-US" altLang="zh-CN" sz="1400" b="1">
                          <a:latin typeface="Times New Roman" panose="02020603050405020304" pitchFamily="18" charset="0"/>
                          <a:cs typeface="Times New Roman" panose="02020603050405020304" pitchFamily="18" charset="0"/>
                        </a:rPr>
                        <a:t>92.956%</a:t>
                      </a:r>
                    </a:p>
                  </a:txBody>
                  <a:tcPr anchor="ctr">
                    <a:lnL>
                      <a:noFill/>
                    </a:lnL>
                    <a:lnR>
                      <a:noFill/>
                    </a:lnR>
                    <a:lnT>
                      <a:noFill/>
                    </a:lnT>
                  </a:tcPr>
                </a:tc>
                <a:tc>
                  <a:txBody>
                    <a:bodyPr/>
                    <a:lstStyle/>
                    <a:p>
                      <a:pPr algn="ctr">
                        <a:buNone/>
                      </a:pPr>
                      <a:r>
                        <a:rPr lang="en-US" altLang="zh-CN" sz="1400" b="1" dirty="0">
                          <a:latin typeface="Times New Roman" panose="02020603050405020304" pitchFamily="18" charset="0"/>
                          <a:cs typeface="Times New Roman" panose="02020603050405020304" pitchFamily="18" charset="0"/>
                        </a:rPr>
                        <a:t>7.044%</a:t>
                      </a:r>
                    </a:p>
                  </a:txBody>
                  <a:tcPr anchor="ctr">
                    <a:lnL>
                      <a:noFill/>
                    </a:lnL>
                    <a:lnR>
                      <a:noFill/>
                    </a:lnR>
                    <a:lnT>
                      <a:noFill/>
                    </a:lnT>
                  </a:tcPr>
                </a:tc>
                <a:extLst>
                  <a:ext uri="{0D108BD9-81ED-4DB2-BD59-A6C34878D82A}">
                    <a16:rowId xmlns:a16="http://schemas.microsoft.com/office/drawing/2014/main" val="10003"/>
                  </a:ext>
                </a:extLst>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6" name="TextBox 7"/>
          <p:cNvSpPr txBox="1"/>
          <p:nvPr/>
        </p:nvSpPr>
        <p:spPr bwMode="auto">
          <a:xfrm>
            <a:off x="326269" y="773307"/>
            <a:ext cx="11551878" cy="46037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5</a:t>
            </a:r>
            <a:r>
              <a:rPr lang="zh-CN" altLang="en-US" sz="2400" kern="0" dirty="0">
                <a:solidFill>
                  <a:srgbClr val="FF0000"/>
                </a:solidFill>
                <a:latin typeface="方正大黑简体" panose="02010601030101010101" pitchFamily="65" charset="-122"/>
                <a:ea typeface="方正大黑简体" panose="02010601030101010101" pitchFamily="65" charset="-122"/>
              </a:rPr>
              <a:t>、建立了一套基于前后端交互的跨平台实时砂堵智能可视化预测预警软件</a:t>
            </a:r>
          </a:p>
        </p:txBody>
      </p:sp>
      <p:sp>
        <p:nvSpPr>
          <p:cNvPr id="2" name="Text Box 7"/>
          <p:cNvSpPr txBox="1">
            <a:spLocks noChangeArrowheads="1"/>
          </p:cNvSpPr>
          <p:nvPr/>
        </p:nvSpPr>
        <p:spPr bwMode="auto">
          <a:xfrm>
            <a:off x="263525" y="1207240"/>
            <a:ext cx="11736388" cy="14229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基于Python和Django实现后端计算服务，使用Echarts、Vue3、ElementUI实现压裂数据和预测预警可视化，并结合Electron框架实现跨平台运行，构建了具有</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rPr>
              <a:t>压裂压力预测、砂堵判别、砂堵预警、数据回放</a:t>
            </a:r>
            <a:r>
              <a:rPr lang="zh-CN" altLang="en-US" sz="2000" b="1" dirty="0">
                <a:solidFill>
                  <a:srgbClr val="000000"/>
                </a:solidFill>
                <a:latin typeface="Times New Roman" panose="02020603050405020304" pitchFamily="18" charset="0"/>
                <a:ea typeface="黑体" panose="02010609060101010101" charset="-122"/>
                <a:cs typeface="Times New Roman" panose="02020603050405020304" pitchFamily="18" charset="0"/>
              </a:rPr>
              <a:t>等功能的软件。</a:t>
            </a:r>
          </a:p>
        </p:txBody>
      </p:sp>
      <p:sp>
        <p:nvSpPr>
          <p:cNvPr id="3" name="TextBox 45"/>
          <p:cNvSpPr txBox="1"/>
          <p:nvPr/>
        </p:nvSpPr>
        <p:spPr>
          <a:xfrm>
            <a:off x="0" y="91434"/>
            <a:ext cx="12191999"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eaLnBrk="1" fontAlgn="auto" hangingPunct="1">
              <a:spcBef>
                <a:spcPts val="600"/>
              </a:spcBef>
              <a:spcAft>
                <a:spcPts val="0"/>
              </a:spcAft>
              <a:buNone/>
            </a:pPr>
            <a:r>
              <a:rPr lang="zh-CN" altLang="en-US" sz="2800" noProof="1">
                <a:solidFill>
                  <a:srgbClr val="3B3BFF"/>
                </a:solidFill>
                <a:latin typeface="方正大黑简体" panose="02010601030101010101" pitchFamily="65" charset="-122"/>
                <a:ea typeface="方正大黑简体" panose="02010601030101010101" pitchFamily="65" charset="-122"/>
              </a:rPr>
              <a:t>创新成果三：</a:t>
            </a:r>
            <a:r>
              <a:rPr lang="zh-CN" altLang="en-US" sz="2800">
                <a:solidFill>
                  <a:srgbClr val="3B3BFF"/>
                </a:solidFill>
                <a:latin typeface="方正大黑简体" panose="02010601030101010101" pitchFamily="65" charset="-122"/>
                <a:ea typeface="方正大黑简体" panose="02010601030101010101" pitchFamily="65" charset="-122"/>
                <a:sym typeface="+mn-ea"/>
              </a:rPr>
              <a:t>构建了压裂压力超前预测及砂堵实时预警理论方法</a:t>
            </a:r>
            <a:endParaRPr lang="zh-CN" altLang="en-US" sz="2800" noProof="1">
              <a:solidFill>
                <a:srgbClr val="3B3BFF"/>
              </a:solidFill>
              <a:latin typeface="方正大黑简体" panose="02010601030101010101" pitchFamily="65" charset="-122"/>
              <a:ea typeface="方正大黑简体" panose="02010601030101010101" pitchFamily="65" charset="-122"/>
            </a:endParaRPr>
          </a:p>
        </p:txBody>
      </p:sp>
      <p:pic>
        <p:nvPicPr>
          <p:cNvPr id="4" name="图片 3">
            <a:extLst>
              <a:ext uri="{FF2B5EF4-FFF2-40B4-BE49-F238E27FC236}">
                <a16:creationId xmlns:a16="http://schemas.microsoft.com/office/drawing/2014/main" id="{C713EC2B-4955-1CC0-8688-279D0FE847E8}"/>
              </a:ext>
            </a:extLst>
          </p:cNvPr>
          <p:cNvPicPr>
            <a:picLocks noChangeAspect="1"/>
          </p:cNvPicPr>
          <p:nvPr/>
        </p:nvPicPr>
        <p:blipFill>
          <a:blip r:embed="rId2"/>
          <a:stretch>
            <a:fillRect/>
          </a:stretch>
        </p:blipFill>
        <p:spPr>
          <a:xfrm>
            <a:off x="263524" y="2630194"/>
            <a:ext cx="5400427" cy="3518535"/>
          </a:xfrm>
          <a:prstGeom prst="rect">
            <a:avLst/>
          </a:prstGeom>
        </p:spPr>
      </p:pic>
      <p:pic>
        <p:nvPicPr>
          <p:cNvPr id="7" name="图片 6">
            <a:extLst>
              <a:ext uri="{FF2B5EF4-FFF2-40B4-BE49-F238E27FC236}">
                <a16:creationId xmlns:a16="http://schemas.microsoft.com/office/drawing/2014/main" id="{C71D1900-A845-7526-5A9F-34F791D5A311}"/>
              </a:ext>
            </a:extLst>
          </p:cNvPr>
          <p:cNvPicPr>
            <a:picLocks noChangeAspect="1"/>
          </p:cNvPicPr>
          <p:nvPr/>
        </p:nvPicPr>
        <p:blipFill>
          <a:blip r:embed="rId3"/>
          <a:stretch>
            <a:fillRect/>
          </a:stretch>
        </p:blipFill>
        <p:spPr>
          <a:xfrm>
            <a:off x="6173081" y="2630193"/>
            <a:ext cx="5755393" cy="3441041"/>
          </a:xfrm>
          <a:prstGeom prst="rect">
            <a:avLst/>
          </a:prstGeom>
        </p:spPr>
      </p:pic>
      <p:sp>
        <p:nvSpPr>
          <p:cNvPr id="8" name="文本框 7">
            <a:extLst>
              <a:ext uri="{FF2B5EF4-FFF2-40B4-BE49-F238E27FC236}">
                <a16:creationId xmlns:a16="http://schemas.microsoft.com/office/drawing/2014/main" id="{68012E18-0BFC-51D8-2DBB-88465094F101}"/>
              </a:ext>
            </a:extLst>
          </p:cNvPr>
          <p:cNvSpPr txBox="1"/>
          <p:nvPr/>
        </p:nvSpPr>
        <p:spPr>
          <a:xfrm>
            <a:off x="2351584" y="6071235"/>
            <a:ext cx="3489146" cy="668655"/>
          </a:xfrm>
          <a:prstGeom prst="rect">
            <a:avLst/>
          </a:prstGeom>
          <a:noFill/>
        </p:spPr>
        <p:txBody>
          <a:bodyPr wrap="square" rtlCol="0">
            <a:noAutofit/>
          </a:bodyPr>
          <a:lstStyle/>
          <a:p>
            <a:r>
              <a:rPr lang="zh-CN" altLang="en-US"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软件架构设计图</a:t>
            </a:r>
          </a:p>
        </p:txBody>
      </p:sp>
      <p:sp>
        <p:nvSpPr>
          <p:cNvPr id="9" name="文本框 8">
            <a:extLst>
              <a:ext uri="{FF2B5EF4-FFF2-40B4-BE49-F238E27FC236}">
                <a16:creationId xmlns:a16="http://schemas.microsoft.com/office/drawing/2014/main" id="{4F69A877-D84E-ACF8-E790-B156698BDA72}"/>
              </a:ext>
            </a:extLst>
          </p:cNvPr>
          <p:cNvSpPr txBox="1"/>
          <p:nvPr/>
        </p:nvSpPr>
        <p:spPr>
          <a:xfrm>
            <a:off x="8328248" y="6041707"/>
            <a:ext cx="1199515" cy="368300"/>
          </a:xfrm>
          <a:prstGeom prst="rect">
            <a:avLst/>
          </a:prstGeom>
          <a:noFill/>
        </p:spPr>
        <p:txBody>
          <a:bodyPr wrap="square" rtlCol="0" anchor="t">
            <a:spAutoFit/>
          </a:bodyPr>
          <a:lstStyle/>
          <a:p>
            <a:pPr algn="l">
              <a:buClrTx/>
              <a:buSzTx/>
              <a:buFontTx/>
            </a:pPr>
            <a:r>
              <a:rPr lang="zh-CN" altLang="en-US" b="1" dirty="0">
                <a:solidFill>
                  <a:srgbClr val="0000FF"/>
                </a:solidFill>
                <a:latin typeface="Times New Roman" panose="02020603050405020304" pitchFamily="18" charset="0"/>
                <a:ea typeface="黑体" panose="02010609060101010101" pitchFamily="49" charset="-122"/>
                <a:cs typeface="Times New Roman" panose="02020603050405020304" pitchFamily="18" charset="0"/>
              </a:rPr>
              <a:t>数据流图</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7"/>
          <p:cNvSpPr txBox="1">
            <a:spLocks noChangeArrowheads="1"/>
          </p:cNvSpPr>
          <p:nvPr/>
        </p:nvSpPr>
        <p:spPr bwMode="auto">
          <a:xfrm>
            <a:off x="263525" y="1207240"/>
            <a:ext cx="11736388" cy="14189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342900" indent="-342900" algn="just" eaLnBrk="1" hangingPunct="1">
              <a:lnSpc>
                <a:spcPct val="150000"/>
              </a:lnSpc>
              <a:buClr>
                <a:srgbClr val="FF0000"/>
              </a:buClr>
              <a:buFont typeface="Wingdings" panose="05000000000000000000" pitchFamily="2" charset="2"/>
              <a:buChar char="n"/>
            </a:pP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在83井次1600余段的压裂井口监测应用中，能够</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提前至少60 s </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进行砂堵预警，同时预警准确率达</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90%</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，砂堵发生率</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由 9% 降低至 2%</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，显著减少了因砂堵造成的停工损失，累计为企业缩减约</a:t>
            </a:r>
            <a:r>
              <a:rPr lang="zh-CN" altLang="en-US" sz="2000" b="1" dirty="0">
                <a:solidFill>
                  <a:srgbClr val="FF0000"/>
                </a:solidFill>
                <a:latin typeface="Times New Roman" panose="02020603050405020304" pitchFamily="18" charset="0"/>
                <a:ea typeface="黑体" panose="02010609060101010101" charset="-122"/>
                <a:cs typeface="Times New Roman" panose="02020603050405020304" pitchFamily="18" charset="0"/>
                <a:sym typeface="+mn-ea"/>
              </a:rPr>
              <a:t>1800万元</a:t>
            </a:r>
            <a:r>
              <a:rPr lang="zh-CN" altLang="en-US" sz="2000" b="1" dirty="0">
                <a:latin typeface="Times New Roman" panose="02020603050405020304" pitchFamily="18" charset="0"/>
                <a:ea typeface="黑体" panose="02010609060101010101" charset="-122"/>
                <a:cs typeface="Times New Roman" panose="02020603050405020304" pitchFamily="18" charset="0"/>
                <a:sym typeface="+mn-ea"/>
              </a:rPr>
              <a:t>的直接或间接成本。</a:t>
            </a:r>
            <a:endParaRPr lang="zh-CN" altLang="en-US" sz="2000" b="1" dirty="0">
              <a:solidFill>
                <a:schemeClr val="tx1"/>
              </a:solidFill>
              <a:latin typeface="Times New Roman" panose="02020603050405020304" pitchFamily="18" charset="0"/>
              <a:ea typeface="黑体" panose="02010609060101010101" charset="-122"/>
              <a:cs typeface="Times New Roman" panose="02020603050405020304" pitchFamily="18" charset="0"/>
            </a:endParaRPr>
          </a:p>
        </p:txBody>
      </p:sp>
      <p:sp>
        <p:nvSpPr>
          <p:cNvPr id="4" name="TextBox 45"/>
          <p:cNvSpPr txBox="1"/>
          <p:nvPr/>
        </p:nvSpPr>
        <p:spPr>
          <a:xfrm>
            <a:off x="0" y="91434"/>
            <a:ext cx="12191999" cy="52197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eaLnBrk="1" fontAlgn="auto" hangingPunct="1">
              <a:spcBef>
                <a:spcPts val="600"/>
              </a:spcBef>
              <a:spcAft>
                <a:spcPts val="0"/>
              </a:spcAft>
              <a:buNone/>
            </a:pPr>
            <a:r>
              <a:rPr lang="zh-CN" altLang="en-US" sz="2800" noProof="1">
                <a:solidFill>
                  <a:srgbClr val="3B3BFF"/>
                </a:solidFill>
                <a:latin typeface="方正大黑简体" panose="02010601030101010101" pitchFamily="65" charset="-122"/>
                <a:ea typeface="方正大黑简体" panose="02010601030101010101" pitchFamily="65" charset="-122"/>
              </a:rPr>
              <a:t>创新成果三：</a:t>
            </a:r>
            <a:r>
              <a:rPr lang="zh-CN" altLang="en-US" sz="2800">
                <a:solidFill>
                  <a:srgbClr val="3B3BFF"/>
                </a:solidFill>
                <a:latin typeface="方正大黑简体" panose="02010601030101010101" pitchFamily="65" charset="-122"/>
                <a:ea typeface="方正大黑简体" panose="02010601030101010101" pitchFamily="65" charset="-122"/>
                <a:sym typeface="+mn-ea"/>
              </a:rPr>
              <a:t>构建了压裂压力超前预测及砂堵实时预警理论方法</a:t>
            </a:r>
            <a:endParaRPr lang="zh-CN" altLang="en-US" sz="2800" noProof="1">
              <a:solidFill>
                <a:srgbClr val="3B3BFF"/>
              </a:solidFill>
              <a:latin typeface="方正大黑简体" panose="02010601030101010101" pitchFamily="65" charset="-122"/>
              <a:ea typeface="方正大黑简体" panose="02010601030101010101" pitchFamily="65" charset="-122"/>
            </a:endParaRPr>
          </a:p>
        </p:txBody>
      </p:sp>
      <p:sp>
        <p:nvSpPr>
          <p:cNvPr id="7" name="TextBox 7"/>
          <p:cNvSpPr txBox="1"/>
          <p:nvPr/>
        </p:nvSpPr>
        <p:spPr bwMode="auto">
          <a:xfrm>
            <a:off x="326269" y="773307"/>
            <a:ext cx="11551878" cy="46037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lvl="0" eaLnBrk="0" fontAlgn="base" hangingPunct="0">
              <a:lnSpc>
                <a:spcPct val="100000"/>
              </a:lnSpc>
              <a:spcBef>
                <a:spcPct val="0"/>
              </a:spcBef>
              <a:spcAft>
                <a:spcPct val="0"/>
              </a:spcAft>
            </a:pPr>
            <a:r>
              <a:rPr lang="en-US" altLang="zh-CN" sz="2400" kern="0" dirty="0">
                <a:solidFill>
                  <a:srgbClr val="FF0000"/>
                </a:solidFill>
                <a:latin typeface="方正大黑简体" panose="02010601030101010101" pitchFamily="65" charset="-122"/>
                <a:ea typeface="方正大黑简体" panose="02010601030101010101" pitchFamily="65" charset="-122"/>
              </a:rPr>
              <a:t>6</a:t>
            </a:r>
            <a:r>
              <a:rPr lang="zh-CN" altLang="en-US" sz="2400" kern="0" dirty="0">
                <a:solidFill>
                  <a:srgbClr val="FF0000"/>
                </a:solidFill>
                <a:latin typeface="方正大黑简体" panose="02010601030101010101" pitchFamily="65" charset="-122"/>
                <a:ea typeface="方正大黑简体" panose="02010601030101010101" pitchFamily="65" charset="-122"/>
              </a:rPr>
              <a:t>、</a:t>
            </a:r>
            <a:r>
              <a:rPr lang="zh-CN" altLang="en-US" sz="2400" kern="0" dirty="0">
                <a:solidFill>
                  <a:srgbClr val="FF0000"/>
                </a:solidFill>
                <a:latin typeface="方正大黑简体" panose="02010601030101010101" pitchFamily="65" charset="-122"/>
                <a:ea typeface="方正大黑简体" panose="02010601030101010101" pitchFamily="65" charset="-122"/>
                <a:sym typeface="+mn-ea"/>
              </a:rPr>
              <a:t>丁山与南川工区83井次1600余段现场应用表明，可有效降低砂堵发生率</a:t>
            </a:r>
          </a:p>
        </p:txBody>
      </p:sp>
      <p:pic>
        <p:nvPicPr>
          <p:cNvPr id="3" name="图片 2" descr="111">
            <a:extLst>
              <a:ext uri="{FF2B5EF4-FFF2-40B4-BE49-F238E27FC236}">
                <a16:creationId xmlns:a16="http://schemas.microsoft.com/office/drawing/2014/main" id="{89E264C8-7980-1E46-2522-346C04B50163}"/>
              </a:ext>
            </a:extLst>
          </p:cNvPr>
          <p:cNvPicPr>
            <a:picLocks noChangeAspect="1"/>
          </p:cNvPicPr>
          <p:nvPr/>
        </p:nvPicPr>
        <p:blipFill>
          <a:blip r:embed="rId2"/>
          <a:stretch>
            <a:fillRect/>
          </a:stretch>
        </p:blipFill>
        <p:spPr>
          <a:xfrm>
            <a:off x="232727" y="2708910"/>
            <a:ext cx="11736388" cy="383286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000" i="0" u="none" strike="noStrike" kern="1200" cap="none" spc="0" normalizeH="0" baseline="0" noProof="0" dirty="0">
                <a:ln>
                  <a:noFill/>
                </a:ln>
                <a:solidFill>
                  <a:srgbClr val="FF0000"/>
                </a:solidFill>
                <a:effectLst/>
                <a:uLnTx/>
                <a:uFillTx/>
                <a:latin typeface="方正大黑简体" panose="02000000000000000000" pitchFamily="2" charset="-122"/>
                <a:ea typeface="方正大黑简体" panose="02000000000000000000" pitchFamily="2" charset="-122"/>
                <a:cs typeface="+mn-cs"/>
              </a:rPr>
              <a:t>汇 报 提 纲</a:t>
            </a:r>
          </a:p>
        </p:txBody>
      </p:sp>
      <p:sp>
        <p:nvSpPr>
          <p:cNvPr id="1048583" name="Text Box 6"/>
          <p:cNvSpPr txBox="1">
            <a:spLocks noChangeArrowheads="1"/>
          </p:cNvSpPr>
          <p:nvPr/>
        </p:nvSpPr>
        <p:spPr bwMode="auto">
          <a:xfrm>
            <a:off x="2675260" y="935373"/>
            <a:ext cx="7669212" cy="5476207"/>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一、研究背景</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二、攻关研究形成的技术、理论和方法</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三、主要技术指标和经济指标国内外对比</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四、成果的主要技术发明点</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五、应用情况</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六、有形化成果</a:t>
            </a:r>
            <a:endParaRPr kumimoji="0" lang="en-US" altLang="zh-CN"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lvl="0" fontAlgn="base">
              <a:lnSpc>
                <a:spcPct val="150000"/>
              </a:lnSpc>
              <a:spcBef>
                <a:spcPct val="0"/>
              </a:spcBef>
              <a:spcAft>
                <a:spcPct val="0"/>
              </a:spcAft>
              <a:buClr>
                <a:srgbClr val="FF0000"/>
              </a:buClr>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七</a:t>
            </a:r>
            <a:r>
              <a:rPr lang="zh-CN" altLang="en-US" sz="3200" b="1" dirty="0">
                <a:solidFill>
                  <a:srgbClr val="000000"/>
                </a:solidFill>
                <a:latin typeface="黑体" panose="02010609060101010101" pitchFamily="49" charset="-122"/>
                <a:ea typeface="黑体" panose="02010609060101010101" pitchFamily="49" charset="-122"/>
              </a:rPr>
              <a:t>、不足与局限性</a:t>
            </a:r>
            <a:endPar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212457047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5">
            <a:extLst>
              <a:ext uri="{FF2B5EF4-FFF2-40B4-BE49-F238E27FC236}">
                <a16:creationId xmlns:a16="http://schemas.microsoft.com/office/drawing/2014/main" id="{7486AB1D-0ECF-8AD8-D144-1344D96DAB48}"/>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（一）与国内外相关理论（技术）比较</a:t>
            </a:r>
          </a:p>
        </p:txBody>
      </p:sp>
      <p:sp>
        <p:nvSpPr>
          <p:cNvPr id="5" name="矩形 17">
            <a:extLst>
              <a:ext uri="{FF2B5EF4-FFF2-40B4-BE49-F238E27FC236}">
                <a16:creationId xmlns:a16="http://schemas.microsoft.com/office/drawing/2014/main" id="{2797EDFB-6A37-F3A3-4D43-2BD6B1C98E72}"/>
              </a:ext>
            </a:extLst>
          </p:cNvPr>
          <p:cNvSpPr>
            <a:spLocks noChangeArrowheads="1"/>
          </p:cNvSpPr>
          <p:nvPr/>
        </p:nvSpPr>
        <p:spPr bwMode="auto">
          <a:xfrm>
            <a:off x="263525" y="614654"/>
            <a:ext cx="11017051"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600"/>
              </a:spcBef>
              <a:buClr>
                <a:srgbClr val="C00000"/>
              </a:buClr>
              <a:buFont typeface="Wingdings" panose="05000000000000000000" pitchFamily="2" charset="2"/>
              <a:buChar char="p"/>
            </a:pPr>
            <a:r>
              <a:rPr lang="zh-CN" altLang="en-US" sz="2400" dirty="0">
                <a:solidFill>
                  <a:srgbClr val="000000"/>
                </a:solidFill>
                <a:latin typeface="方正大黑简体" panose="03000509000000000000" pitchFamily="65" charset="-122"/>
                <a:ea typeface="方正大黑简体" panose="03000509000000000000" pitchFamily="65" charset="-122"/>
              </a:rPr>
              <a:t>项目多项研究成果与国内外同类研究比较</a:t>
            </a:r>
            <a:r>
              <a:rPr lang="zh-CN" altLang="en-US" sz="2400" dirty="0">
                <a:solidFill>
                  <a:srgbClr val="FF0000"/>
                </a:solidFill>
                <a:latin typeface="方正大黑简体" panose="03000509000000000000" pitchFamily="65" charset="-122"/>
                <a:ea typeface="方正大黑简体" panose="03000509000000000000" pitchFamily="65" charset="-122"/>
              </a:rPr>
              <a:t>达到国际领先</a:t>
            </a:r>
          </a:p>
        </p:txBody>
      </p:sp>
      <p:graphicFrame>
        <p:nvGraphicFramePr>
          <p:cNvPr id="4" name="表格 3">
            <a:extLst>
              <a:ext uri="{FF2B5EF4-FFF2-40B4-BE49-F238E27FC236}">
                <a16:creationId xmlns:a16="http://schemas.microsoft.com/office/drawing/2014/main" id="{ED0D6D0B-6A01-FDD2-D229-2E1D678575BD}"/>
              </a:ext>
            </a:extLst>
          </p:cNvPr>
          <p:cNvGraphicFramePr>
            <a:graphicFrameLocks noGrp="1"/>
          </p:cNvGraphicFramePr>
          <p:nvPr>
            <p:extLst>
              <p:ext uri="{D42A27DB-BD31-4B8C-83A1-F6EECF244321}">
                <p14:modId xmlns:p14="http://schemas.microsoft.com/office/powerpoint/2010/main" val="1742670086"/>
              </p:ext>
            </p:extLst>
          </p:nvPr>
        </p:nvGraphicFramePr>
        <p:xfrm>
          <a:off x="263525" y="1444369"/>
          <a:ext cx="11545044" cy="5080256"/>
        </p:xfrm>
        <a:graphic>
          <a:graphicData uri="http://schemas.openxmlformats.org/drawingml/2006/table">
            <a:tbl>
              <a:tblPr firstRow="1" firstCol="1" bandRow="1">
                <a:tableStyleId>{5940675A-B579-460E-94D1-54222C63F5DA}</a:tableStyleId>
              </a:tblPr>
              <a:tblGrid>
                <a:gridCol w="558268">
                  <a:extLst>
                    <a:ext uri="{9D8B030D-6E8A-4147-A177-3AD203B41FA5}">
                      <a16:colId xmlns:a16="http://schemas.microsoft.com/office/drawing/2014/main" val="578913613"/>
                    </a:ext>
                  </a:extLst>
                </a:gridCol>
                <a:gridCol w="1529791">
                  <a:extLst>
                    <a:ext uri="{9D8B030D-6E8A-4147-A177-3AD203B41FA5}">
                      <a16:colId xmlns:a16="http://schemas.microsoft.com/office/drawing/2014/main" val="834922695"/>
                    </a:ext>
                  </a:extLst>
                </a:gridCol>
                <a:gridCol w="4012544">
                  <a:extLst>
                    <a:ext uri="{9D8B030D-6E8A-4147-A177-3AD203B41FA5}">
                      <a16:colId xmlns:a16="http://schemas.microsoft.com/office/drawing/2014/main" val="1587195545"/>
                    </a:ext>
                  </a:extLst>
                </a:gridCol>
                <a:gridCol w="4508338">
                  <a:extLst>
                    <a:ext uri="{9D8B030D-6E8A-4147-A177-3AD203B41FA5}">
                      <a16:colId xmlns:a16="http://schemas.microsoft.com/office/drawing/2014/main" val="81657364"/>
                    </a:ext>
                  </a:extLst>
                </a:gridCol>
                <a:gridCol w="936103">
                  <a:extLst>
                    <a:ext uri="{9D8B030D-6E8A-4147-A177-3AD203B41FA5}">
                      <a16:colId xmlns:a16="http://schemas.microsoft.com/office/drawing/2014/main" val="1227556690"/>
                    </a:ext>
                  </a:extLst>
                </a:gridCol>
              </a:tblGrid>
              <a:tr h="366815">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序号</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创新成果</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国内外研究成果</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本项目研究成果</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altLang="en-US"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综合比较</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extLst>
                  <a:ext uri="{0D108BD9-81ED-4DB2-BD59-A6C34878D82A}">
                    <a16:rowId xmlns:a16="http://schemas.microsoft.com/office/drawing/2014/main" val="612860541"/>
                  </a:ext>
                </a:extLst>
              </a:tr>
              <a:tr h="1283231">
                <a:tc>
                  <a:txBody>
                    <a:bodyPr/>
                    <a:lstStyle/>
                    <a:p>
                      <a:pPr algn="ctr" eaLnBrk="0">
                        <a:lnSpc>
                          <a:spcPct val="90000"/>
                        </a:lnSpc>
                        <a:spcBef>
                          <a:spcPts val="530"/>
                        </a:spcBef>
                        <a:spcAft>
                          <a:spcPts val="800"/>
                        </a:spcAft>
                      </a:pP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1</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复杂缝径向扩展形态</a:t>
                      </a:r>
                      <a:r>
                        <a:rPr lang="en-US" sz="1600" kern="1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应力光学量化实验方法</a:t>
                      </a:r>
                      <a:endParaRPr lang="zh-CN" sz="16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以美国麻省理工学院为代表，对明胶、</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PMMA</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等透明材料裂缝扩展形态开展研究，部分实验通过标定裂缝宽度缝内荧光剂光强关系，量化表征了单裂缝缝宽。尚未见到复杂裂缝形态与应力分布的实时表征方法。</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首创了复杂缝径向扩展形态</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应力光学量化实验方法，构建了光弹材料应力拉伸</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压剪复杂受力场景折射率与应力关联模型，耦合形态量化方法，实现了多裂缝扩展的形态</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应力全过程量化表征。</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altLang="en-US"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国际领先</a:t>
                      </a:r>
                      <a:endParaRPr lang="zh-CN"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extLst>
                  <a:ext uri="{0D108BD9-81ED-4DB2-BD59-A6C34878D82A}">
                    <a16:rowId xmlns:a16="http://schemas.microsoft.com/office/drawing/2014/main" val="3333803627"/>
                  </a:ext>
                </a:extLst>
              </a:tr>
              <a:tr h="1562901">
                <a:tc>
                  <a:txBody>
                    <a:bodyPr/>
                    <a:lstStyle/>
                    <a:p>
                      <a:pPr algn="ctr" eaLnBrk="0">
                        <a:lnSpc>
                          <a:spcPct val="90000"/>
                        </a:lnSpc>
                        <a:spcBef>
                          <a:spcPts val="530"/>
                        </a:spcBef>
                        <a:spcAft>
                          <a:spcPts val="800"/>
                        </a:spcAft>
                      </a:pPr>
                      <a:r>
                        <a:rPr lang="en-US" sz="1600" kern="100" spc="-10">
                          <a:effectLst/>
                          <a:latin typeface="Times New Roman" panose="02020603050405020304" pitchFamily="18" charset="0"/>
                          <a:ea typeface="黑体" panose="02010609060101010101" pitchFamily="49" charset="-122"/>
                          <a:cs typeface="Times New Roman" panose="02020603050405020304" pitchFamily="18" charset="0"/>
                        </a:rPr>
                        <a:t>2</a:t>
                      </a:r>
                      <a:endParaRPr lang="zh-CN" sz="16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可视化粗糙缝支撑剂运移光学非接触实时</a:t>
                      </a:r>
                      <a:r>
                        <a:rPr lang="en-US" sz="1600" kern="1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PIV</a:t>
                      </a:r>
                      <a:r>
                        <a:rPr lang="zh-CN" sz="1600" kern="1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实验表征方法</a:t>
                      </a:r>
                      <a:endParaRPr lang="zh-CN" sz="16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以美国德克萨斯大学奥斯汀分校、西南石油大学为代表，采用光滑玻璃</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亚克力平板结合</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PIV</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技术，开展光滑缝内支撑剂运移可视化实验研究。尚未见到表征粗糙缝内支撑剂运移的可视化实验方法。</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通过扫描真实裂缝形态，</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3D</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打印透明树脂材料表征粗糙裂缝形态，创新提出单面粗糙可视化</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PIV/PTV</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融合测量方法，在非粗糙面进行高速拍摄，捕捉示踪粒子与颗粒运移，构建灰度</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像素阈值分离图像识别模型，区分计算流场</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颗粒场实时流动与运移状态。</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marL="0" marR="0" lvl="0" indent="0" algn="ctr" defTabSz="914400" rtl="0" eaLnBrk="0" fontAlgn="auto" latinLnBrk="0" hangingPunct="1">
                        <a:lnSpc>
                          <a:spcPct val="90000"/>
                        </a:lnSpc>
                        <a:spcBef>
                          <a:spcPts val="530"/>
                        </a:spcBef>
                        <a:spcAft>
                          <a:spcPts val="800"/>
                        </a:spcAft>
                        <a:buClrTx/>
                        <a:buSzTx/>
                        <a:buFontTx/>
                        <a:buNone/>
                        <a:tabLst/>
                        <a:defRPr/>
                      </a:pPr>
                      <a:r>
                        <a:rPr lang="zh-CN" altLang="en-US"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国际领先</a:t>
                      </a:r>
                      <a:endParaRPr lang="zh-CN" altLang="zh-CN"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extLst>
                  <a:ext uri="{0D108BD9-81ED-4DB2-BD59-A6C34878D82A}">
                    <a16:rowId xmlns:a16="http://schemas.microsoft.com/office/drawing/2014/main" val="2743254083"/>
                  </a:ext>
                </a:extLst>
              </a:tr>
              <a:tr h="1867309">
                <a:tc>
                  <a:txBody>
                    <a:bodyPr/>
                    <a:lstStyle/>
                    <a:p>
                      <a:pPr algn="ctr" eaLnBrk="0">
                        <a:lnSpc>
                          <a:spcPct val="90000"/>
                        </a:lnSpc>
                        <a:spcBef>
                          <a:spcPts val="530"/>
                        </a:spcBef>
                        <a:spcAft>
                          <a:spcPts val="800"/>
                        </a:spcAft>
                      </a:pPr>
                      <a:r>
                        <a:rPr lang="en-US" sz="1600" kern="100" spc="-10">
                          <a:effectLst/>
                          <a:latin typeface="Times New Roman" panose="02020603050405020304" pitchFamily="18" charset="0"/>
                          <a:ea typeface="黑体" panose="02010609060101010101" pitchFamily="49" charset="-122"/>
                          <a:cs typeface="Times New Roman" panose="02020603050405020304" pitchFamily="18" charset="0"/>
                        </a:rPr>
                        <a:t>3</a:t>
                      </a:r>
                      <a:endParaRPr lang="zh-CN" sz="16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矿场尺度多簇裂缝支撑剂运移实时仿真模型</a:t>
                      </a:r>
                      <a:endParaRPr lang="zh-CN" sz="16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a:effectLst/>
                          <a:latin typeface="Times New Roman" panose="02020603050405020304" pitchFamily="18" charset="0"/>
                          <a:ea typeface="黑体" panose="02010609060101010101" pitchFamily="49" charset="-122"/>
                          <a:cs typeface="Times New Roman" panose="02020603050405020304" pitchFamily="18" charset="0"/>
                        </a:rPr>
                        <a:t>以美国德州农工大学为代表采用欧拉</a:t>
                      </a:r>
                      <a:r>
                        <a:rPr lang="en-US" sz="1600" kern="100" spc="-1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a:effectLst/>
                          <a:latin typeface="Times New Roman" panose="02020603050405020304" pitchFamily="18" charset="0"/>
                          <a:ea typeface="黑体" panose="02010609060101010101" pitchFamily="49" charset="-122"/>
                          <a:cs typeface="Times New Roman" panose="02020603050405020304" pitchFamily="18" charset="0"/>
                        </a:rPr>
                        <a:t>拉格朗日计算理论，单独追踪颗粒粒子运移状态，实现多簇裂缝缝内支撑剂运移模拟研究。由于裂缝水力裂缝尺度差异大（百米级缝长、毫米级缝宽），需要分别计算单个支撑剂颗粒的运移状态，导致模型仿真耗时长，现有模型计算范围基本为米级，无法完成矿场尺度快速仿真。</a:t>
                      </a:r>
                      <a:endParaRPr lang="zh-CN" sz="160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首次推导了支撑剂平衡高度物理计算模型，填补了支撑剂高度计算仅有实验数据拟合模型而物理模型缺乏的空白。首创了基于欧拉</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欧拉框架的支撑剂矿场尺度支撑剂运移实时仿真模型，采用欧拉场浓度扩散方程表征支撑剂运移，同时提出沉降</a:t>
                      </a: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a:t>
                      </a:r>
                      <a:r>
                        <a:rPr lang="zh-CN" sz="1600" kern="100" spc="-10" dirty="0">
                          <a:effectLst/>
                          <a:latin typeface="Times New Roman" panose="02020603050405020304" pitchFamily="18" charset="0"/>
                          <a:ea typeface="黑体" panose="02010609060101010101" pitchFamily="49" charset="-122"/>
                          <a:cs typeface="Times New Roman" panose="02020603050405020304" pitchFamily="18" charset="0"/>
                        </a:rPr>
                        <a:t>扩散分布耦合理论，结合泊肃叶平板双层流动理论实现缝内支撑剂运移百米级裂缝分钟级的求解速度。</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marL="0" marR="0" lvl="0" indent="0" algn="ctr" defTabSz="914400" rtl="0" eaLnBrk="0" fontAlgn="auto" latinLnBrk="0" hangingPunct="1">
                        <a:lnSpc>
                          <a:spcPct val="90000"/>
                        </a:lnSpc>
                        <a:spcBef>
                          <a:spcPts val="530"/>
                        </a:spcBef>
                        <a:spcAft>
                          <a:spcPts val="800"/>
                        </a:spcAft>
                        <a:buClrTx/>
                        <a:buSzTx/>
                        <a:buFontTx/>
                        <a:buNone/>
                        <a:tabLst/>
                        <a:defRPr/>
                      </a:pPr>
                      <a:r>
                        <a:rPr lang="zh-CN" altLang="en-US"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国际领先</a:t>
                      </a:r>
                      <a:endParaRPr lang="zh-CN" altLang="zh-CN"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extLst>
                  <a:ext uri="{0D108BD9-81ED-4DB2-BD59-A6C34878D82A}">
                    <a16:rowId xmlns:a16="http://schemas.microsoft.com/office/drawing/2014/main" val="556279222"/>
                  </a:ext>
                </a:extLst>
              </a:tr>
            </a:tbl>
          </a:graphicData>
        </a:graphic>
      </p:graphicFrame>
    </p:spTree>
    <p:extLst>
      <p:ext uri="{BB962C8B-B14F-4D97-AF65-F5344CB8AC3E}">
        <p14:creationId xmlns:p14="http://schemas.microsoft.com/office/powerpoint/2010/main" val="25338972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5">
            <a:extLst>
              <a:ext uri="{FF2B5EF4-FFF2-40B4-BE49-F238E27FC236}">
                <a16:creationId xmlns:a16="http://schemas.microsoft.com/office/drawing/2014/main" id="{7486AB1D-0ECF-8AD8-D144-1344D96DAB48}"/>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（一）与国内外相关理论（技术）比较</a:t>
            </a:r>
          </a:p>
        </p:txBody>
      </p:sp>
      <p:sp>
        <p:nvSpPr>
          <p:cNvPr id="5" name="矩形 17">
            <a:extLst>
              <a:ext uri="{FF2B5EF4-FFF2-40B4-BE49-F238E27FC236}">
                <a16:creationId xmlns:a16="http://schemas.microsoft.com/office/drawing/2014/main" id="{2797EDFB-6A37-F3A3-4D43-2BD6B1C98E72}"/>
              </a:ext>
            </a:extLst>
          </p:cNvPr>
          <p:cNvSpPr>
            <a:spLocks noChangeArrowheads="1"/>
          </p:cNvSpPr>
          <p:nvPr/>
        </p:nvSpPr>
        <p:spPr bwMode="auto">
          <a:xfrm>
            <a:off x="263525" y="614654"/>
            <a:ext cx="11017051"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600"/>
              </a:spcBef>
              <a:buClr>
                <a:srgbClr val="C00000"/>
              </a:buClr>
              <a:buFont typeface="Wingdings" panose="05000000000000000000" pitchFamily="2" charset="2"/>
              <a:buChar char="p"/>
            </a:pPr>
            <a:r>
              <a:rPr lang="zh-CN" altLang="en-US" sz="2400" dirty="0">
                <a:solidFill>
                  <a:srgbClr val="000000"/>
                </a:solidFill>
                <a:latin typeface="方正大黑简体" panose="03000509000000000000" pitchFamily="65" charset="-122"/>
                <a:ea typeface="方正大黑简体" panose="03000509000000000000" pitchFamily="65" charset="-122"/>
              </a:rPr>
              <a:t>项目多项研究成果与国内外同类研究比较</a:t>
            </a:r>
            <a:r>
              <a:rPr lang="zh-CN" altLang="en-US" sz="2400" dirty="0">
                <a:solidFill>
                  <a:srgbClr val="FF0000"/>
                </a:solidFill>
                <a:latin typeface="方正大黑简体" panose="03000509000000000000" pitchFamily="65" charset="-122"/>
                <a:ea typeface="方正大黑简体" panose="03000509000000000000" pitchFamily="65" charset="-122"/>
              </a:rPr>
              <a:t>达到国际领先</a:t>
            </a:r>
          </a:p>
        </p:txBody>
      </p:sp>
      <p:graphicFrame>
        <p:nvGraphicFramePr>
          <p:cNvPr id="7" name="表格 6">
            <a:extLst>
              <a:ext uri="{FF2B5EF4-FFF2-40B4-BE49-F238E27FC236}">
                <a16:creationId xmlns:a16="http://schemas.microsoft.com/office/drawing/2014/main" id="{9079CA77-FD0A-100B-188D-67B84154055F}"/>
              </a:ext>
            </a:extLst>
          </p:cNvPr>
          <p:cNvGraphicFramePr>
            <a:graphicFrameLocks noGrp="1"/>
          </p:cNvGraphicFramePr>
          <p:nvPr>
            <p:extLst>
              <p:ext uri="{D42A27DB-BD31-4B8C-83A1-F6EECF244321}">
                <p14:modId xmlns:p14="http://schemas.microsoft.com/office/powerpoint/2010/main" val="1160827212"/>
              </p:ext>
            </p:extLst>
          </p:nvPr>
        </p:nvGraphicFramePr>
        <p:xfrm>
          <a:off x="263525" y="1412875"/>
          <a:ext cx="11545044" cy="5111750"/>
        </p:xfrm>
        <a:graphic>
          <a:graphicData uri="http://schemas.openxmlformats.org/drawingml/2006/table">
            <a:tbl>
              <a:tblPr firstRow="1" firstCol="1" bandRow="1">
                <a:tableStyleId>{5940675A-B579-460E-94D1-54222C63F5DA}</a:tableStyleId>
              </a:tblPr>
              <a:tblGrid>
                <a:gridCol w="558268">
                  <a:extLst>
                    <a:ext uri="{9D8B030D-6E8A-4147-A177-3AD203B41FA5}">
                      <a16:colId xmlns:a16="http://schemas.microsoft.com/office/drawing/2014/main" val="578913613"/>
                    </a:ext>
                  </a:extLst>
                </a:gridCol>
                <a:gridCol w="1411302">
                  <a:extLst>
                    <a:ext uri="{9D8B030D-6E8A-4147-A177-3AD203B41FA5}">
                      <a16:colId xmlns:a16="http://schemas.microsoft.com/office/drawing/2014/main" val="834922695"/>
                    </a:ext>
                  </a:extLst>
                </a:gridCol>
                <a:gridCol w="4582985">
                  <a:extLst>
                    <a:ext uri="{9D8B030D-6E8A-4147-A177-3AD203B41FA5}">
                      <a16:colId xmlns:a16="http://schemas.microsoft.com/office/drawing/2014/main" val="1587195545"/>
                    </a:ext>
                  </a:extLst>
                </a:gridCol>
                <a:gridCol w="3744416">
                  <a:extLst>
                    <a:ext uri="{9D8B030D-6E8A-4147-A177-3AD203B41FA5}">
                      <a16:colId xmlns:a16="http://schemas.microsoft.com/office/drawing/2014/main" val="81657364"/>
                    </a:ext>
                  </a:extLst>
                </a:gridCol>
                <a:gridCol w="1248073">
                  <a:extLst>
                    <a:ext uri="{9D8B030D-6E8A-4147-A177-3AD203B41FA5}">
                      <a16:colId xmlns:a16="http://schemas.microsoft.com/office/drawing/2014/main" val="1227556690"/>
                    </a:ext>
                  </a:extLst>
                </a:gridCol>
              </a:tblGrid>
              <a:tr h="411163">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序号</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创新成果</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国内外研究成果</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Times New Roman" panose="02020603050405020304" pitchFamily="18" charset="0"/>
                          <a:ea typeface="黑体" panose="02010609060101010101" pitchFamily="49" charset="-122"/>
                          <a:cs typeface="Times New Roman" panose="02020603050405020304" pitchFamily="18" charset="0"/>
                        </a:rPr>
                        <a:t>本项目研究成果</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altLang="en-US"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综合比较</a:t>
                      </a:r>
                      <a:endParaRPr lang="zh-CN" sz="1600" b="1"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extLst>
                  <a:ext uri="{0D108BD9-81ED-4DB2-BD59-A6C34878D82A}">
                    <a16:rowId xmlns:a16="http://schemas.microsoft.com/office/drawing/2014/main" val="612860541"/>
                  </a:ext>
                </a:extLst>
              </a:tr>
              <a:tr h="2169501">
                <a:tc>
                  <a:txBody>
                    <a:bodyPr/>
                    <a:lstStyle/>
                    <a:p>
                      <a:pPr algn="ctr" eaLnBrk="0">
                        <a:lnSpc>
                          <a:spcPct val="90000"/>
                        </a:lnSpc>
                        <a:spcBef>
                          <a:spcPts val="530"/>
                        </a:spcBef>
                        <a:spcAft>
                          <a:spcPts val="800"/>
                        </a:spcAft>
                      </a:pPr>
                      <a:r>
                        <a:rPr lang="en-US" sz="1600" kern="100" spc="-10" dirty="0">
                          <a:effectLst/>
                          <a:latin typeface="Times New Roman" panose="02020603050405020304" pitchFamily="18" charset="0"/>
                          <a:ea typeface="黑体" panose="02010609060101010101" pitchFamily="49" charset="-122"/>
                          <a:cs typeface="Times New Roman" panose="02020603050405020304" pitchFamily="18" charset="0"/>
                        </a:rPr>
                        <a:t>4</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含导数项和经验模型约束的缝口浓度预测模型</a:t>
                      </a:r>
                      <a:endParaRPr lang="zh-CN" sz="16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spc="-10" dirty="0">
                          <a:effectLst/>
                          <a:latin typeface="Times New Roman" panose="02020603050405020304" pitchFamily="18" charset="0"/>
                          <a:ea typeface="黑体" panose="02010609060101010101" pitchFamily="49" charset="-122"/>
                          <a:cs typeface="Times New Roman" panose="02020603050405020304" pitchFamily="18" charset="0"/>
                        </a:rPr>
                        <a:t>以雪佛龙公司技术中心和加拿大阿尔伯塔大学为代表，基于欧拉颗粒法大量数值模拟，建立传统机器学习方法预测缝口支撑剂浓度模型，需要大量模拟数据，而由于矿场尺度支撑剂运移耗时长，导致数据样本获取代价大，难以满足传统机器学习模型大量样本数量需求，且对于物理变量的变化易违反物理规律认识。</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spc="-10" dirty="0">
                          <a:effectLst/>
                          <a:latin typeface="Times New Roman" panose="02020603050405020304" pitchFamily="18" charset="0"/>
                          <a:ea typeface="黑体" panose="02010609060101010101" pitchFamily="49" charset="-122"/>
                          <a:cs typeface="Times New Roman" panose="02020603050405020304" pitchFamily="18" charset="0"/>
                        </a:rPr>
                        <a:t>首创了物理数据融合的缝口浓度预测模型，神经网络模型的导数项约束可以保证预测结果符合物理变量的变化规律，经验模型主控系数约束摆脱了矿场尺度下传统机器学习模型对大量数据样本的需求，实现了小样本场景下的缝口浓度准确预测。</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altLang="en-US"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国际领先</a:t>
                      </a:r>
                      <a:endParaRPr lang="zh-CN"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extLst>
                  <a:ext uri="{0D108BD9-81ED-4DB2-BD59-A6C34878D82A}">
                    <a16:rowId xmlns:a16="http://schemas.microsoft.com/office/drawing/2014/main" val="3333803627"/>
                  </a:ext>
                </a:extLst>
              </a:tr>
              <a:tr h="2531086">
                <a:tc>
                  <a:txBody>
                    <a:bodyPr/>
                    <a:lstStyle/>
                    <a:p>
                      <a:pPr algn="ctr" eaLnBrk="0">
                        <a:lnSpc>
                          <a:spcPct val="90000"/>
                        </a:lnSpc>
                        <a:spcBef>
                          <a:spcPts val="530"/>
                        </a:spcBef>
                        <a:spcAft>
                          <a:spcPts val="800"/>
                        </a:spcAft>
                      </a:pPr>
                      <a:r>
                        <a:rPr lang="en-US" sz="1600" spc="-10" dirty="0">
                          <a:effectLst/>
                          <a:latin typeface="Times New Roman" panose="02020603050405020304" pitchFamily="18" charset="0"/>
                          <a:ea typeface="黑体" panose="02010609060101010101" pitchFamily="49" charset="-122"/>
                          <a:cs typeface="Times New Roman" panose="02020603050405020304" pitchFamily="18" charset="0"/>
                        </a:rPr>
                        <a:t>5</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spc="-1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基于规则重要性衡量指标的深度学习知识价值评估框架</a:t>
                      </a:r>
                      <a:endParaRPr lang="zh-CN" sz="1600"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spc="-10" dirty="0">
                          <a:effectLst/>
                          <a:latin typeface="Times New Roman" panose="02020603050405020304" pitchFamily="18" charset="0"/>
                          <a:ea typeface="黑体" panose="02010609060101010101" pitchFamily="49" charset="-122"/>
                          <a:cs typeface="Times New Roman" panose="02020603050405020304" pitchFamily="18" charset="0"/>
                        </a:rPr>
                        <a:t>以德国伍珀塔尔大学为代表，对物理约束神经网络中的数据约束与规则约束的平衡展开研究，试图以双目标优化的视角，将两者作为独立的目标函数进行优化，以提高网络预测能力。但是算法计算复杂度高、优化速度慢，且无法揭示数据与规则之间的内在关联，难以应用于多规则嵌入的场景。</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algn="ctr" eaLnBrk="0">
                        <a:lnSpc>
                          <a:spcPct val="90000"/>
                        </a:lnSpc>
                        <a:spcBef>
                          <a:spcPts val="530"/>
                        </a:spcBef>
                        <a:spcAft>
                          <a:spcPts val="800"/>
                        </a:spcAft>
                      </a:pPr>
                      <a:r>
                        <a:rPr lang="zh-CN" sz="1600" spc="-10" dirty="0">
                          <a:effectLst/>
                          <a:latin typeface="Times New Roman" panose="02020603050405020304" pitchFamily="18" charset="0"/>
                          <a:ea typeface="黑体" panose="02010609060101010101" pitchFamily="49" charset="-122"/>
                          <a:cs typeface="Times New Roman" panose="02020603050405020304" pitchFamily="18" charset="0"/>
                        </a:rPr>
                        <a:t>首创了规则重要性的衡量指标以建立深度学习中知识价值的评估框架，首次定量揭示了数据与先验知识之间的依赖效应、协同效应和替代效应等内在关联。同时依据规则重要性动态调整规则的权重，在地下渗流模拟、化学实验预测等场景开展新框架应用，有效提升人工智能模型与领域知识的融合效果，将</a:t>
                      </a:r>
                      <a:r>
                        <a:rPr lang="en-US" sz="1600" spc="-10" dirty="0">
                          <a:effectLst/>
                          <a:latin typeface="Times New Roman" panose="02020603050405020304" pitchFamily="18" charset="0"/>
                          <a:ea typeface="黑体" panose="02010609060101010101" pitchFamily="49" charset="-122"/>
                          <a:cs typeface="Times New Roman" panose="02020603050405020304" pitchFamily="18" charset="0"/>
                        </a:rPr>
                        <a:t>AI</a:t>
                      </a:r>
                      <a:r>
                        <a:rPr lang="zh-CN" sz="1600" spc="-10" dirty="0">
                          <a:effectLst/>
                          <a:latin typeface="Times New Roman" panose="02020603050405020304" pitchFamily="18" charset="0"/>
                          <a:ea typeface="黑体" panose="02010609060101010101" pitchFamily="49" charset="-122"/>
                          <a:cs typeface="Times New Roman" panose="02020603050405020304" pitchFamily="18" charset="0"/>
                        </a:rPr>
                        <a:t>模型精度提高约</a:t>
                      </a:r>
                      <a:r>
                        <a:rPr lang="en-US" sz="1600" spc="-10" dirty="0">
                          <a:effectLst/>
                          <a:latin typeface="Times New Roman" panose="02020603050405020304" pitchFamily="18" charset="0"/>
                          <a:ea typeface="黑体" panose="02010609060101010101" pitchFamily="49" charset="-122"/>
                          <a:cs typeface="Times New Roman" panose="02020603050405020304" pitchFamily="18" charset="0"/>
                        </a:rPr>
                        <a:t>35%</a:t>
                      </a:r>
                      <a:r>
                        <a:rPr lang="zh-CN" sz="1600" spc="-10" dirty="0">
                          <a:effectLst/>
                          <a:latin typeface="Times New Roman" panose="02020603050405020304" pitchFamily="18" charset="0"/>
                          <a:ea typeface="黑体" panose="02010609060101010101" pitchFamily="49" charset="-122"/>
                          <a:cs typeface="Times New Roman" panose="02020603050405020304" pitchFamily="18" charset="0"/>
                        </a:rPr>
                        <a:t>，实现了高效的多目标优化。</a:t>
                      </a:r>
                      <a:endParaRPr lang="zh-CN" sz="1600"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tc>
                  <a:txBody>
                    <a:bodyPr/>
                    <a:lstStyle/>
                    <a:p>
                      <a:pPr marL="0" marR="0" lvl="0" indent="0" algn="ctr" defTabSz="914400" rtl="0" eaLnBrk="0" fontAlgn="auto" latinLnBrk="0" hangingPunct="1">
                        <a:lnSpc>
                          <a:spcPct val="90000"/>
                        </a:lnSpc>
                        <a:spcBef>
                          <a:spcPts val="530"/>
                        </a:spcBef>
                        <a:spcAft>
                          <a:spcPts val="800"/>
                        </a:spcAft>
                        <a:buClrTx/>
                        <a:buSzTx/>
                        <a:buFontTx/>
                        <a:buNone/>
                        <a:tabLst/>
                        <a:defRPr/>
                      </a:pPr>
                      <a:r>
                        <a:rPr lang="zh-CN" altLang="en-US"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rPr>
                        <a:t>国际领先</a:t>
                      </a:r>
                      <a:endParaRPr lang="zh-CN" altLang="zh-CN" sz="1600" b="1" dirty="0">
                        <a:solidFill>
                          <a:srgbClr val="FF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529" marR="15529" marT="0" marB="0" anchor="ctr"/>
                </a:tc>
                <a:extLst>
                  <a:ext uri="{0D108BD9-81ED-4DB2-BD59-A6C34878D82A}">
                    <a16:rowId xmlns:a16="http://schemas.microsoft.com/office/drawing/2014/main" val="2743254083"/>
                  </a:ext>
                </a:extLst>
              </a:tr>
            </a:tbl>
          </a:graphicData>
        </a:graphic>
      </p:graphicFrame>
    </p:spTree>
    <p:extLst>
      <p:ext uri="{BB962C8B-B14F-4D97-AF65-F5344CB8AC3E}">
        <p14:creationId xmlns:p14="http://schemas.microsoft.com/office/powerpoint/2010/main" val="378877572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45">
            <a:extLst>
              <a:ext uri="{FF2B5EF4-FFF2-40B4-BE49-F238E27FC236}">
                <a16:creationId xmlns:a16="http://schemas.microsoft.com/office/drawing/2014/main" id="{7486AB1D-0ECF-8AD8-D144-1344D96DAB48}"/>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（一）与国内外相关理论（技术）比较</a:t>
            </a:r>
          </a:p>
        </p:txBody>
      </p:sp>
      <p:sp>
        <p:nvSpPr>
          <p:cNvPr id="5" name="矩形 17">
            <a:extLst>
              <a:ext uri="{FF2B5EF4-FFF2-40B4-BE49-F238E27FC236}">
                <a16:creationId xmlns:a16="http://schemas.microsoft.com/office/drawing/2014/main" id="{2797EDFB-6A37-F3A3-4D43-2BD6B1C98E72}"/>
              </a:ext>
            </a:extLst>
          </p:cNvPr>
          <p:cNvSpPr>
            <a:spLocks noChangeArrowheads="1"/>
          </p:cNvSpPr>
          <p:nvPr/>
        </p:nvSpPr>
        <p:spPr bwMode="auto">
          <a:xfrm>
            <a:off x="263525" y="614654"/>
            <a:ext cx="11017051"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600"/>
              </a:spcBef>
              <a:buClr>
                <a:srgbClr val="C00000"/>
              </a:buClr>
              <a:buFont typeface="Wingdings" panose="05000000000000000000" pitchFamily="2" charset="2"/>
              <a:buChar char="p"/>
            </a:pPr>
            <a:r>
              <a:rPr lang="zh-CN" altLang="en-US" sz="2400" dirty="0">
                <a:solidFill>
                  <a:srgbClr val="000000"/>
                </a:solidFill>
                <a:latin typeface="方正大黑简体" panose="03000509000000000000" pitchFamily="65" charset="-122"/>
                <a:ea typeface="方正大黑简体" panose="03000509000000000000" pitchFamily="65" charset="-122"/>
              </a:rPr>
              <a:t>项目多项研究成果与国内外同类研究比较</a:t>
            </a:r>
            <a:r>
              <a:rPr lang="zh-CN" altLang="en-US" sz="2400" dirty="0">
                <a:solidFill>
                  <a:srgbClr val="FF0000"/>
                </a:solidFill>
                <a:latin typeface="方正大黑简体" panose="03000509000000000000" pitchFamily="65" charset="-122"/>
                <a:ea typeface="方正大黑简体" panose="03000509000000000000" pitchFamily="65" charset="-122"/>
              </a:rPr>
              <a:t>达到国际领先</a:t>
            </a:r>
          </a:p>
        </p:txBody>
      </p:sp>
      <p:graphicFrame>
        <p:nvGraphicFramePr>
          <p:cNvPr id="2" name="表格 1">
            <a:extLst>
              <a:ext uri="{FF2B5EF4-FFF2-40B4-BE49-F238E27FC236}">
                <a16:creationId xmlns:a16="http://schemas.microsoft.com/office/drawing/2014/main" id="{624197BF-2976-A01A-2DE7-917E3DE7FA15}"/>
              </a:ext>
            </a:extLst>
          </p:cNvPr>
          <p:cNvGraphicFramePr>
            <a:graphicFrameLocks noGrp="1"/>
          </p:cNvGraphicFramePr>
          <p:nvPr>
            <p:extLst>
              <p:ext uri="{D42A27DB-BD31-4B8C-83A1-F6EECF244321}">
                <p14:modId xmlns:p14="http://schemas.microsoft.com/office/powerpoint/2010/main" val="916200267"/>
              </p:ext>
            </p:extLst>
          </p:nvPr>
        </p:nvGraphicFramePr>
        <p:xfrm>
          <a:off x="263525" y="1412875"/>
          <a:ext cx="11545044" cy="5111750"/>
        </p:xfrm>
        <a:graphic>
          <a:graphicData uri="http://schemas.openxmlformats.org/drawingml/2006/table">
            <a:tbl>
              <a:tblPr firstRow="1" firstCol="1" bandRow="1">
                <a:tableStyleId>{5940675A-B579-460E-94D1-54222C63F5DA}</a:tableStyleId>
              </a:tblPr>
              <a:tblGrid>
                <a:gridCol w="558268">
                  <a:extLst>
                    <a:ext uri="{9D8B030D-6E8A-4147-A177-3AD203B41FA5}">
                      <a16:colId xmlns:a16="http://schemas.microsoft.com/office/drawing/2014/main" val="578913613"/>
                    </a:ext>
                  </a:extLst>
                </a:gridCol>
                <a:gridCol w="1385775">
                  <a:extLst>
                    <a:ext uri="{9D8B030D-6E8A-4147-A177-3AD203B41FA5}">
                      <a16:colId xmlns:a16="http://schemas.microsoft.com/office/drawing/2014/main" val="834922695"/>
                    </a:ext>
                  </a:extLst>
                </a:gridCol>
                <a:gridCol w="4104456">
                  <a:extLst>
                    <a:ext uri="{9D8B030D-6E8A-4147-A177-3AD203B41FA5}">
                      <a16:colId xmlns:a16="http://schemas.microsoft.com/office/drawing/2014/main" val="1587195545"/>
                    </a:ext>
                  </a:extLst>
                </a:gridCol>
                <a:gridCol w="4560442">
                  <a:extLst>
                    <a:ext uri="{9D8B030D-6E8A-4147-A177-3AD203B41FA5}">
                      <a16:colId xmlns:a16="http://schemas.microsoft.com/office/drawing/2014/main" val="81657364"/>
                    </a:ext>
                  </a:extLst>
                </a:gridCol>
                <a:gridCol w="936103">
                  <a:extLst>
                    <a:ext uri="{9D8B030D-6E8A-4147-A177-3AD203B41FA5}">
                      <a16:colId xmlns:a16="http://schemas.microsoft.com/office/drawing/2014/main" val="1227556690"/>
                    </a:ext>
                  </a:extLst>
                </a:gridCol>
              </a:tblGrid>
              <a:tr h="411163">
                <a:tc>
                  <a:txBody>
                    <a:bodyPr/>
                    <a:lstStyle/>
                    <a:p>
                      <a:pPr algn="ctr" eaLnBrk="0">
                        <a:lnSpc>
                          <a:spcPct val="90000"/>
                        </a:lnSpc>
                        <a:spcBef>
                          <a:spcPts val="530"/>
                        </a:spcBef>
                        <a:spcAft>
                          <a:spcPts val="800"/>
                        </a:spcAft>
                      </a:pPr>
                      <a:r>
                        <a:rPr lang="zh-CN" sz="1600" b="1" kern="100" spc="-10" dirty="0">
                          <a:effectLst/>
                          <a:latin typeface="黑体" panose="02010609060101010101" pitchFamily="49" charset="-122"/>
                          <a:ea typeface="黑体" panose="02010609060101010101" pitchFamily="49" charset="-122"/>
                        </a:rPr>
                        <a:t>序号</a:t>
                      </a:r>
                      <a:endParaRPr lang="zh-CN" sz="1600" b="1"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黑体" panose="02010609060101010101" pitchFamily="49" charset="-122"/>
                          <a:ea typeface="黑体" panose="02010609060101010101" pitchFamily="49" charset="-122"/>
                        </a:rPr>
                        <a:t>创新成果</a:t>
                      </a:r>
                      <a:endParaRPr lang="zh-CN" sz="1600" b="1"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黑体" panose="02010609060101010101" pitchFamily="49" charset="-122"/>
                          <a:ea typeface="黑体" panose="02010609060101010101" pitchFamily="49" charset="-122"/>
                        </a:rPr>
                        <a:t>国内外研究成果</a:t>
                      </a:r>
                      <a:endParaRPr lang="zh-CN" sz="1600" b="1"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sz="1600" b="1" kern="100" spc="-10" dirty="0">
                          <a:effectLst/>
                          <a:latin typeface="黑体" panose="02010609060101010101" pitchFamily="49" charset="-122"/>
                          <a:ea typeface="黑体" panose="02010609060101010101" pitchFamily="49" charset="-122"/>
                        </a:rPr>
                        <a:t>本项目研究成果</a:t>
                      </a:r>
                      <a:endParaRPr lang="zh-CN" sz="1600" b="1"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altLang="en-US" sz="1600" b="1" dirty="0">
                          <a:solidFill>
                            <a:srgbClr val="000000"/>
                          </a:solidFill>
                          <a:effectLst/>
                          <a:latin typeface="黑体" panose="02010609060101010101" pitchFamily="49" charset="-122"/>
                          <a:ea typeface="黑体" panose="02010609060101010101" pitchFamily="49" charset="-122"/>
                        </a:rPr>
                        <a:t>综合比较</a:t>
                      </a:r>
                      <a:endParaRPr lang="zh-CN" sz="1600" b="1"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extLst>
                  <a:ext uri="{0D108BD9-81ED-4DB2-BD59-A6C34878D82A}">
                    <a16:rowId xmlns:a16="http://schemas.microsoft.com/office/drawing/2014/main" val="612860541"/>
                  </a:ext>
                </a:extLst>
              </a:tr>
              <a:tr h="2169501">
                <a:tc>
                  <a:txBody>
                    <a:bodyPr/>
                    <a:lstStyle/>
                    <a:p>
                      <a:pPr algn="ctr" eaLnBrk="0">
                        <a:lnSpc>
                          <a:spcPct val="90000"/>
                        </a:lnSpc>
                        <a:spcBef>
                          <a:spcPts val="530"/>
                        </a:spcBef>
                        <a:spcAft>
                          <a:spcPts val="800"/>
                        </a:spcAft>
                      </a:pPr>
                      <a:r>
                        <a:rPr lang="en-US" sz="1600" spc="-10" dirty="0">
                          <a:effectLst/>
                        </a:rPr>
                        <a:t>6</a:t>
                      </a:r>
                      <a:endParaRPr lang="zh-CN" sz="1600" dirty="0">
                        <a:solidFill>
                          <a:srgbClr val="000000"/>
                        </a:solidFill>
                        <a:effectLst/>
                        <a:latin typeface="Arial" panose="020B0604020202020204" pitchFamily="34" charset="0"/>
                        <a:ea typeface="等线" panose="02010600030101010101" pitchFamily="2" charset="-122"/>
                      </a:endParaRPr>
                    </a:p>
                  </a:txBody>
                  <a:tcPr marL="15529" marR="15529" marT="0" marB="0" anchor="ctr"/>
                </a:tc>
                <a:tc>
                  <a:txBody>
                    <a:bodyPr/>
                    <a:lstStyle/>
                    <a:p>
                      <a:pPr algn="ctr" eaLnBrk="0">
                        <a:lnSpc>
                          <a:spcPct val="90000"/>
                        </a:lnSpc>
                        <a:spcBef>
                          <a:spcPts val="530"/>
                        </a:spcBef>
                        <a:spcAft>
                          <a:spcPts val="800"/>
                        </a:spcAft>
                      </a:pPr>
                      <a:r>
                        <a:rPr lang="zh-CN" sz="1600" spc="-10" dirty="0">
                          <a:solidFill>
                            <a:srgbClr val="FF0000"/>
                          </a:solidFill>
                          <a:effectLst/>
                          <a:latin typeface="黑体" panose="02010609060101010101" pitchFamily="49" charset="-122"/>
                          <a:ea typeface="黑体" panose="02010609060101010101" pitchFamily="49" charset="-122"/>
                        </a:rPr>
                        <a:t>理论引导硬约束投影的深度学习方法</a:t>
                      </a:r>
                      <a:endParaRPr lang="zh-CN" sz="1600" dirty="0">
                        <a:solidFill>
                          <a:srgbClr val="FF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sz="1600" spc="-10" dirty="0">
                          <a:effectLst/>
                          <a:latin typeface="黑体" panose="02010609060101010101" pitchFamily="49" charset="-122"/>
                          <a:ea typeface="黑体" panose="02010609060101010101" pitchFamily="49" charset="-122"/>
                        </a:rPr>
                        <a:t>以美国耶鲁大学和布朗大学为代表，对物理控制方程和神经网络的融合开展研究，试图采用在损失函数中增加正则项的方法，将领域知识嵌入到神经网络中。由于基于正则项的多目标优化本质属于软约束，难以保证神经网络优化方向严格符合控制方程，导致优化效率低且无法产生完全符合物理约束的预测结果。此类方法的预测结果缺乏物理一致性，可靠性不足，制约了神经网络的精度与效率。</a:t>
                      </a:r>
                      <a:endParaRPr lang="zh-CN" sz="1600"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sz="1600" spc="-10" dirty="0">
                          <a:effectLst/>
                          <a:latin typeface="黑体" panose="02010609060101010101" pitchFamily="49" charset="-122"/>
                          <a:ea typeface="黑体" panose="02010609060101010101" pitchFamily="49" charset="-122"/>
                        </a:rPr>
                        <a:t>创新地提出了硬约束投影算法（</a:t>
                      </a:r>
                      <a:r>
                        <a:rPr lang="en-US" sz="1600" spc="-10" dirty="0">
                          <a:effectLst/>
                          <a:latin typeface="黑体" panose="02010609060101010101" pitchFamily="49" charset="-122"/>
                          <a:ea typeface="黑体" panose="02010609060101010101" pitchFamily="49" charset="-122"/>
                        </a:rPr>
                        <a:t>HCP</a:t>
                      </a:r>
                      <a:r>
                        <a:rPr lang="zh-CN" sz="1600" spc="-10" dirty="0">
                          <a:effectLst/>
                          <a:latin typeface="黑体" panose="02010609060101010101" pitchFamily="49" charset="-122"/>
                          <a:ea typeface="黑体" panose="02010609060101010101" pitchFamily="49" charset="-122"/>
                        </a:rPr>
                        <a:t>），通过离散化控制方程并构建映射矩阵，实现了神经网络预测空间到物理约束空间的转化，确保了预测结果的物理一致性和对控制方程的遵循。这项技术成为了计算物理领域硬约束方法的代表，能够基于领域知识（控制方程）缩减求解空间。在渗流仿真模拟中，仅适用</a:t>
                      </a:r>
                      <a:r>
                        <a:rPr lang="en-US" sz="1600" spc="-10" dirty="0">
                          <a:effectLst/>
                          <a:latin typeface="黑体" panose="02010609060101010101" pitchFamily="49" charset="-122"/>
                          <a:ea typeface="黑体" panose="02010609060101010101" pitchFamily="49" charset="-122"/>
                        </a:rPr>
                        <a:t>0.3%</a:t>
                      </a:r>
                      <a:r>
                        <a:rPr lang="zh-CN" sz="1600" spc="-10" dirty="0">
                          <a:effectLst/>
                          <a:latin typeface="黑体" panose="02010609060101010101" pitchFamily="49" charset="-122"/>
                          <a:ea typeface="黑体" panose="02010609060101010101" pitchFamily="49" charset="-122"/>
                        </a:rPr>
                        <a:t>的配点数据就达到了模型的收敛，较软约束神经网络大幅提升了模型训练效率，同时保证了模型预测结果的物理一致性。</a:t>
                      </a:r>
                      <a:endParaRPr lang="zh-CN" sz="1600"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marL="0" marR="0" lvl="0" indent="0" algn="ctr" defTabSz="914400" rtl="0" eaLnBrk="0" fontAlgn="auto" latinLnBrk="0" hangingPunct="1">
                        <a:lnSpc>
                          <a:spcPct val="90000"/>
                        </a:lnSpc>
                        <a:spcBef>
                          <a:spcPts val="530"/>
                        </a:spcBef>
                        <a:spcAft>
                          <a:spcPts val="800"/>
                        </a:spcAft>
                        <a:buClrTx/>
                        <a:buSzTx/>
                        <a:buFontTx/>
                        <a:buNone/>
                        <a:tabLst/>
                        <a:defRPr/>
                      </a:pPr>
                      <a:r>
                        <a:rPr lang="zh-CN" altLang="en-US" sz="1600" b="1" dirty="0">
                          <a:solidFill>
                            <a:srgbClr val="FF0000"/>
                          </a:solidFill>
                          <a:effectLst/>
                          <a:latin typeface="黑体" panose="02010609060101010101" pitchFamily="49" charset="-122"/>
                          <a:ea typeface="黑体" panose="02010609060101010101" pitchFamily="49" charset="-122"/>
                        </a:rPr>
                        <a:t>国际领先</a:t>
                      </a:r>
                      <a:endParaRPr lang="zh-CN" altLang="zh-CN" sz="1600" b="1" dirty="0">
                        <a:solidFill>
                          <a:srgbClr val="FF0000"/>
                        </a:solidFill>
                        <a:effectLst/>
                        <a:latin typeface="黑体" panose="02010609060101010101" pitchFamily="49" charset="-122"/>
                        <a:ea typeface="黑体" panose="02010609060101010101" pitchFamily="49" charset="-122"/>
                      </a:endParaRPr>
                    </a:p>
                  </a:txBody>
                  <a:tcPr marL="15529" marR="15529" marT="0" marB="0" anchor="ctr"/>
                </a:tc>
                <a:extLst>
                  <a:ext uri="{0D108BD9-81ED-4DB2-BD59-A6C34878D82A}">
                    <a16:rowId xmlns:a16="http://schemas.microsoft.com/office/drawing/2014/main" val="3333803627"/>
                  </a:ext>
                </a:extLst>
              </a:tr>
              <a:tr h="2531086">
                <a:tc>
                  <a:txBody>
                    <a:bodyPr/>
                    <a:lstStyle/>
                    <a:p>
                      <a:pPr algn="ctr" eaLnBrk="0">
                        <a:lnSpc>
                          <a:spcPct val="90000"/>
                        </a:lnSpc>
                        <a:spcBef>
                          <a:spcPts val="530"/>
                        </a:spcBef>
                        <a:spcAft>
                          <a:spcPts val="800"/>
                        </a:spcAft>
                      </a:pPr>
                      <a:r>
                        <a:rPr lang="en-US" sz="1600" kern="100" spc="-10" dirty="0">
                          <a:effectLst/>
                        </a:rPr>
                        <a:t>7</a:t>
                      </a:r>
                      <a:endParaRPr lang="zh-CN" sz="1600" dirty="0">
                        <a:solidFill>
                          <a:srgbClr val="000000"/>
                        </a:solidFill>
                        <a:effectLst/>
                        <a:latin typeface="Arial" panose="020B0604020202020204" pitchFamily="34" charset="0"/>
                        <a:ea typeface="等线" panose="02010600030101010101" pitchFamily="2" charset="-122"/>
                      </a:endParaRPr>
                    </a:p>
                  </a:txBody>
                  <a:tcPr marL="15529" marR="15529" marT="0" marB="0" anchor="ctr"/>
                </a:tc>
                <a:tc>
                  <a:txBody>
                    <a:bodyPr/>
                    <a:lstStyle/>
                    <a:p>
                      <a:pPr algn="ctr" eaLnBrk="0">
                        <a:lnSpc>
                          <a:spcPct val="90000"/>
                        </a:lnSpc>
                        <a:spcBef>
                          <a:spcPts val="530"/>
                        </a:spcBef>
                        <a:spcAft>
                          <a:spcPts val="800"/>
                        </a:spcAft>
                      </a:pPr>
                      <a:r>
                        <a:rPr lang="zh-CN" sz="1600" kern="100" spc="-10" dirty="0">
                          <a:solidFill>
                            <a:srgbClr val="FF0000"/>
                          </a:solidFill>
                          <a:effectLst/>
                          <a:latin typeface="黑体" panose="02010609060101010101" pitchFamily="49" charset="-122"/>
                          <a:ea typeface="黑体" panose="02010609060101010101" pitchFamily="49" charset="-122"/>
                        </a:rPr>
                        <a:t>物理数据融合的井口压力超前预测及砂堵实时预警方法</a:t>
                      </a:r>
                      <a:endParaRPr lang="zh-CN" sz="1600" dirty="0">
                        <a:solidFill>
                          <a:srgbClr val="FF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sz="1600" kern="100" spc="-10" dirty="0">
                          <a:effectLst/>
                          <a:latin typeface="黑体" panose="02010609060101010101" pitchFamily="49" charset="-122"/>
                          <a:ea typeface="黑体" panose="02010609060101010101" pitchFamily="49" charset="-122"/>
                        </a:rPr>
                        <a:t>以西南石油大学、</a:t>
                      </a:r>
                      <a:r>
                        <a:rPr lang="zh-CN" altLang="en-US" sz="1600" kern="100" spc="-10" dirty="0">
                          <a:effectLst/>
                          <a:latin typeface="黑体" panose="02010609060101010101" pitchFamily="49" charset="-122"/>
                          <a:ea typeface="黑体" panose="02010609060101010101" pitchFamily="49" charset="-122"/>
                        </a:rPr>
                        <a:t>美国哈里伯顿</a:t>
                      </a:r>
                      <a:r>
                        <a:rPr lang="zh-CN" sz="1600" kern="100" spc="-10" dirty="0">
                          <a:effectLst/>
                          <a:latin typeface="黑体" panose="02010609060101010101" pitchFamily="49" charset="-122"/>
                          <a:ea typeface="黑体" panose="02010609060101010101" pitchFamily="49" charset="-122"/>
                        </a:rPr>
                        <a:t>公司为代表，利用压力抬升值</a:t>
                      </a:r>
                      <a:r>
                        <a:rPr lang="en-US" sz="1600" kern="100" spc="-10" dirty="0">
                          <a:effectLst/>
                          <a:latin typeface="黑体" panose="02010609060101010101" pitchFamily="49" charset="-122"/>
                          <a:ea typeface="黑体" panose="02010609060101010101" pitchFamily="49" charset="-122"/>
                        </a:rPr>
                        <a:t>/</a:t>
                      </a:r>
                      <a:r>
                        <a:rPr lang="zh-CN" sz="1600" kern="100" spc="-10" dirty="0">
                          <a:effectLst/>
                          <a:latin typeface="黑体" panose="02010609060101010101" pitchFamily="49" charset="-122"/>
                          <a:ea typeface="黑体" panose="02010609060101010101" pitchFamily="49" charset="-122"/>
                        </a:rPr>
                        <a:t>斜率变化经验判断或基于单源井口压力数据的深度学习方法对压裂施工中砂堵风险进行预警。由于经验判断的人员依赖性强、偶然因素大，单源井口压力预测模型精度低，无法长时精准预测井口压力。</a:t>
                      </a:r>
                      <a:endParaRPr lang="zh-CN" sz="1600"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algn="ctr" eaLnBrk="0">
                        <a:lnSpc>
                          <a:spcPct val="90000"/>
                        </a:lnSpc>
                        <a:spcBef>
                          <a:spcPts val="530"/>
                        </a:spcBef>
                        <a:spcAft>
                          <a:spcPts val="800"/>
                        </a:spcAft>
                      </a:pPr>
                      <a:r>
                        <a:rPr lang="zh-CN" sz="1600" kern="100" spc="-10" dirty="0">
                          <a:effectLst/>
                          <a:latin typeface="黑体" panose="02010609060101010101" pitchFamily="49" charset="-122"/>
                          <a:ea typeface="黑体" panose="02010609060101010101" pitchFamily="49" charset="-122"/>
                        </a:rPr>
                        <a:t>首创了含支撑剂平衡高度物理模型约束的</a:t>
                      </a:r>
                      <a:r>
                        <a:rPr lang="en-US" sz="1600" kern="100" spc="-10" dirty="0">
                          <a:effectLst/>
                          <a:latin typeface="黑体" panose="02010609060101010101" pitchFamily="49" charset="-122"/>
                          <a:ea typeface="黑体" panose="02010609060101010101" pitchFamily="49" charset="-122"/>
                        </a:rPr>
                        <a:t>LSTM</a:t>
                      </a:r>
                      <a:r>
                        <a:rPr lang="zh-CN" sz="1600" kern="100" spc="-10" dirty="0">
                          <a:effectLst/>
                          <a:latin typeface="黑体" panose="02010609060101010101" pitchFamily="49" charset="-122"/>
                          <a:ea typeface="黑体" panose="02010609060101010101" pitchFamily="49" charset="-122"/>
                        </a:rPr>
                        <a:t>神经网络模型，与井口压力机理预测模型融合，形成基于小波高低频信号分解重构的井口压力综合预测模型；搭建了融合泵注特征聚类分段与压力斜率动态拟合的滑窗</a:t>
                      </a:r>
                      <a:r>
                        <a:rPr lang="en-US" sz="1600" kern="100" spc="-10" dirty="0">
                          <a:effectLst/>
                          <a:latin typeface="黑体" panose="02010609060101010101" pitchFamily="49" charset="-122"/>
                          <a:ea typeface="黑体" panose="02010609060101010101" pitchFamily="49" charset="-122"/>
                        </a:rPr>
                        <a:t>MLP</a:t>
                      </a:r>
                      <a:r>
                        <a:rPr lang="zh-CN" sz="1600" kern="100" spc="-10" dirty="0">
                          <a:effectLst/>
                          <a:latin typeface="黑体" panose="02010609060101010101" pitchFamily="49" charset="-122"/>
                          <a:ea typeface="黑体" panose="02010609060101010101" pitchFamily="49" charset="-122"/>
                        </a:rPr>
                        <a:t>智能砂堵预警模型，实现了井口压力的精准长时预测及砂堵超前预警。</a:t>
                      </a:r>
                      <a:endParaRPr lang="zh-CN" sz="1600" dirty="0">
                        <a:solidFill>
                          <a:srgbClr val="000000"/>
                        </a:solidFill>
                        <a:effectLst/>
                        <a:latin typeface="黑体" panose="02010609060101010101" pitchFamily="49" charset="-122"/>
                        <a:ea typeface="黑体" panose="02010609060101010101" pitchFamily="49" charset="-122"/>
                      </a:endParaRPr>
                    </a:p>
                  </a:txBody>
                  <a:tcPr marL="15529" marR="15529" marT="0" marB="0" anchor="ctr"/>
                </a:tc>
                <a:tc>
                  <a:txBody>
                    <a:bodyPr/>
                    <a:lstStyle/>
                    <a:p>
                      <a:pPr marL="0" marR="0" lvl="0" indent="0" algn="ctr" defTabSz="914400" rtl="0" eaLnBrk="0" fontAlgn="auto" latinLnBrk="0" hangingPunct="1">
                        <a:lnSpc>
                          <a:spcPct val="90000"/>
                        </a:lnSpc>
                        <a:spcBef>
                          <a:spcPts val="530"/>
                        </a:spcBef>
                        <a:spcAft>
                          <a:spcPts val="800"/>
                        </a:spcAft>
                        <a:buClrTx/>
                        <a:buSzTx/>
                        <a:buFontTx/>
                        <a:buNone/>
                        <a:tabLst/>
                        <a:defRPr/>
                      </a:pPr>
                      <a:r>
                        <a:rPr lang="zh-CN" altLang="en-US" sz="1600" b="1" dirty="0">
                          <a:solidFill>
                            <a:srgbClr val="FF0000"/>
                          </a:solidFill>
                          <a:effectLst/>
                          <a:latin typeface="黑体" panose="02010609060101010101" pitchFamily="49" charset="-122"/>
                          <a:ea typeface="黑体" panose="02010609060101010101" pitchFamily="49" charset="-122"/>
                        </a:rPr>
                        <a:t>国际领先</a:t>
                      </a:r>
                      <a:endParaRPr lang="zh-CN" altLang="zh-CN" sz="1600" b="1" dirty="0">
                        <a:solidFill>
                          <a:srgbClr val="FF0000"/>
                        </a:solidFill>
                        <a:effectLst/>
                        <a:latin typeface="黑体" panose="02010609060101010101" pitchFamily="49" charset="-122"/>
                        <a:ea typeface="黑体" panose="02010609060101010101" pitchFamily="49" charset="-122"/>
                      </a:endParaRPr>
                    </a:p>
                  </a:txBody>
                  <a:tcPr marL="15529" marR="15529" marT="0" marB="0" anchor="ctr"/>
                </a:tc>
                <a:extLst>
                  <a:ext uri="{0D108BD9-81ED-4DB2-BD59-A6C34878D82A}">
                    <a16:rowId xmlns:a16="http://schemas.microsoft.com/office/drawing/2014/main" val="2743254083"/>
                  </a:ext>
                </a:extLst>
              </a:tr>
            </a:tbl>
          </a:graphicData>
        </a:graphic>
      </p:graphicFrame>
    </p:spTree>
    <p:extLst>
      <p:ext uri="{BB962C8B-B14F-4D97-AF65-F5344CB8AC3E}">
        <p14:creationId xmlns:p14="http://schemas.microsoft.com/office/powerpoint/2010/main" val="3153365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263524" y="1207240"/>
            <a:ext cx="11700193" cy="120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90204" pitchFamily="34" charset="0"/>
                <a:ea typeface="宋体" pitchFamily="2" charset="-122"/>
              </a:defRPr>
            </a:lvl1pPr>
            <a:lvl2pPr marL="742950" indent="-285750" eaLnBrk="0" hangingPunct="0">
              <a:defRPr>
                <a:solidFill>
                  <a:schemeClr val="tx1"/>
                </a:solidFill>
                <a:latin typeface="Arial" panose="020B0604020202090204" pitchFamily="34" charset="0"/>
                <a:ea typeface="宋体" pitchFamily="2" charset="-122"/>
              </a:defRPr>
            </a:lvl2pPr>
            <a:lvl3pPr marL="1143000" indent="-228600" eaLnBrk="0" hangingPunct="0">
              <a:defRPr>
                <a:solidFill>
                  <a:schemeClr val="tx1"/>
                </a:solidFill>
                <a:latin typeface="Arial" panose="020B0604020202090204" pitchFamily="34" charset="0"/>
                <a:ea typeface="宋体" pitchFamily="2" charset="-122"/>
              </a:defRPr>
            </a:lvl3pPr>
            <a:lvl4pPr marL="1600200" indent="-228600" eaLnBrk="0" hangingPunct="0">
              <a:defRPr>
                <a:solidFill>
                  <a:schemeClr val="tx1"/>
                </a:solidFill>
                <a:latin typeface="Arial" panose="020B0604020202090204" pitchFamily="34" charset="0"/>
                <a:ea typeface="宋体" pitchFamily="2" charset="-122"/>
              </a:defRPr>
            </a:lvl4pPr>
            <a:lvl5pPr marL="2057400" indent="-228600" eaLnBrk="0" hangingPunct="0">
              <a:defRPr>
                <a:solidFill>
                  <a:schemeClr val="tx1"/>
                </a:solidFill>
                <a:latin typeface="Arial" panose="020B0604020202090204" pitchFamily="34" charset="0"/>
                <a:ea typeface="宋体" pitchFamily="2" charset="-122"/>
              </a:defRPr>
            </a:lvl5pPr>
            <a:lvl6pPr marL="25146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6pPr>
            <a:lvl7pPr marL="29718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7pPr>
            <a:lvl8pPr marL="34290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8pPr>
            <a:lvl9pPr marL="3886200" indent="-228600" eaLnBrk="0" fontAlgn="base" hangingPunct="0">
              <a:spcBef>
                <a:spcPct val="0"/>
              </a:spcBef>
              <a:spcAft>
                <a:spcPct val="0"/>
              </a:spcAft>
              <a:defRPr>
                <a:solidFill>
                  <a:schemeClr val="tx1"/>
                </a:solidFill>
                <a:latin typeface="Arial" panose="020B0604020202090204" pitchFamily="34" charset="0"/>
                <a:ea typeface="宋体" pitchFamily="2" charset="-122"/>
              </a:defRPr>
            </a:lvl9pPr>
          </a:lstStyle>
          <a:p>
            <a:pPr marL="0" marR="0" lvl="0" indent="-285750" defTabSz="914400" rtl="0" eaLnBrk="1" fontAlgn="auto" latinLnBrk="0" hangingPunct="1">
              <a:lnSpc>
                <a:spcPct val="125000"/>
              </a:lnSpc>
              <a:spcBef>
                <a:spcPts val="0"/>
              </a:spcBef>
              <a:spcAft>
                <a:spcPts val="0"/>
              </a:spcAft>
              <a:buClr>
                <a:srgbClr val="FF0000"/>
              </a:buClr>
              <a:buSzTx/>
              <a:buFont typeface="Wingdings" panose="05000000000000000000" pitchFamily="2" charset="2"/>
              <a:buChar char="n"/>
              <a:defRPr/>
            </a:pP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论文成果中，单篇最高引用</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264</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次，</a:t>
            </a:r>
            <a:r>
              <a:rPr kumimoji="0" lang="zh-CN" altLang="en-US" sz="2000" b="1"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Times New Roman" panose="02020603050405020304" pitchFamily="18" charset="0"/>
              </a:rPr>
              <a:t>多篇引用超</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100</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次，单篇高被引论文</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3</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篇（</a:t>
            </a:r>
            <a:r>
              <a:rPr kumimoji="0" lang="en-US"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1</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篇</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2</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年连续入选</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），成果获中国科学院</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何国威院士</a:t>
            </a:r>
            <a:r>
              <a:rPr kumimoji="0" lang="zh-CN" altLang="en-US" sz="2000" b="1"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zh-CN"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中国工程院</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Ranjith PG</a:t>
            </a:r>
            <a:r>
              <a:rPr kumimoji="0" lang="zh-CN"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外籍院士</a:t>
            </a:r>
            <a:r>
              <a:rPr kumimoji="0" lang="zh-CN" altLang="en-US" sz="2000" b="1" i="0" u="none" strike="noStrike" kern="1200" cap="none" spc="0" normalizeH="0" baseline="0" noProof="0" dirty="0">
                <a:ln>
                  <a:noFill/>
                </a:ln>
                <a:effectLst/>
                <a:uLnTx/>
                <a:uFillTx/>
                <a:latin typeface="Times New Roman" panose="02020603050405020304" pitchFamily="18" charset="0"/>
                <a:ea typeface="黑体" panose="02010609060101010101" pitchFamily="49" charset="-122"/>
                <a:cs typeface="Times New Roman" panose="02020603050405020304" pitchFamily="18" charset="0"/>
              </a:rPr>
              <a:t>、</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美国工程院</a:t>
            </a:r>
            <a:r>
              <a:rPr kumimoji="0" lang="en-US"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Sharma</a:t>
            </a:r>
            <a:r>
              <a:rPr kumimoji="0" lang="zh-CN" altLang="en-US"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院士</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团队、欧洲科学院</a:t>
            </a:r>
            <a:r>
              <a:rPr kumimoji="0" lang="nl-NL" altLang="zh-CN" sz="2000" b="1" i="0" u="none" strike="noStrike" kern="1200" cap="none" spc="0" normalizeH="0" baseline="0" noProof="0" dirty="0">
                <a:ln>
                  <a:noFill/>
                </a:ln>
                <a:solidFill>
                  <a:srgbClr val="FF0000"/>
                </a:solidFill>
                <a:effectLst/>
                <a:uLnTx/>
                <a:uFillTx/>
                <a:latin typeface="Times New Roman" panose="02020603050405020304" pitchFamily="18" charset="0"/>
                <a:ea typeface="黑体" panose="02010609060101010101" pitchFamily="49" charset="-122"/>
                <a:cs typeface="Times New Roman" panose="02020603050405020304" pitchFamily="18" charset="0"/>
              </a:rPr>
              <a:t>Gunther Meschke</a:t>
            </a:r>
            <a:r>
              <a:rPr kumimoji="0" lang="zh-CN" altLang="en-US" sz="2000" b="1" i="0" u="none" strike="noStrike" kern="1200" cap="none" spc="0" normalizeH="0" baseline="0" noProof="0" dirty="0">
                <a:ln>
                  <a:noFill/>
                </a:ln>
                <a:solidFill>
                  <a:prstClr val="black"/>
                </a:solidFill>
                <a:effectLst/>
                <a:uLnTx/>
                <a:uFillTx/>
                <a:latin typeface="Times New Roman" panose="02020603050405020304" pitchFamily="18" charset="0"/>
                <a:ea typeface="黑体" panose="02010609060101010101" pitchFamily="49" charset="-122"/>
                <a:cs typeface="Times New Roman" panose="02020603050405020304" pitchFamily="18" charset="0"/>
              </a:rPr>
              <a:t>院士等世界范围内知名学者引用。</a:t>
            </a:r>
            <a:endParaRPr kumimoji="0" lang="zh-CN" altLang="en-US" sz="2000" b="1" i="0" u="none" strike="noStrike" kern="1200" cap="none" spc="0" normalizeH="0" baseline="0" noProof="0" dirty="0">
              <a:ln>
                <a:noFill/>
              </a:ln>
              <a:solidFill>
                <a:prstClr val="black"/>
              </a:solidFill>
              <a:effectLst/>
              <a:highlight>
                <a:srgbClr val="FFFF00"/>
              </a:highlight>
              <a:uLnTx/>
              <a:uFillTx/>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7" name="组合 6"/>
          <p:cNvGrpSpPr/>
          <p:nvPr/>
        </p:nvGrpSpPr>
        <p:grpSpPr>
          <a:xfrm>
            <a:off x="6222498" y="2636838"/>
            <a:ext cx="5789920" cy="3682766"/>
            <a:chOff x="429718" y="3157111"/>
            <a:chExt cx="5208447" cy="3256373"/>
          </a:xfrm>
        </p:grpSpPr>
        <p:pic>
          <p:nvPicPr>
            <p:cNvPr id="14" name="图片 1" descr="/Users/xingyaran/Desktop/截屏2024-08-02 00.37.16.png截屏2024-08-02 00.37.16"/>
            <p:cNvPicPr>
              <a:picLocks noChangeAspect="1"/>
            </p:cNvPicPr>
            <p:nvPr/>
          </p:nvPicPr>
          <p:blipFill>
            <a:blip r:embed="rId11"/>
            <a:srcRect l="1605" t="7771" r="2076" b="7249"/>
            <a:stretch>
              <a:fillRect/>
            </a:stretch>
          </p:blipFill>
          <p:spPr bwMode="auto">
            <a:xfrm>
              <a:off x="430429" y="3761056"/>
              <a:ext cx="2463801" cy="265242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6" name="矩形 15"/>
            <p:cNvSpPr/>
            <p:nvPr/>
          </p:nvSpPr>
          <p:spPr>
            <a:xfrm>
              <a:off x="429718" y="3157111"/>
              <a:ext cx="2465842" cy="820114"/>
            </a:xfrm>
            <a:prstGeom prst="rect">
              <a:avLst/>
            </a:prstGeom>
            <a:solidFill>
              <a:schemeClr val="bg2">
                <a:lumMod val="40000"/>
                <a:lumOff val="60000"/>
              </a:schemeClr>
            </a:solidFill>
            <a:ln>
              <a:solidFill>
                <a:schemeClr val="tx1"/>
              </a:solidFill>
            </a:ln>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altLang="zh-CN"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rPr>
                <a:t>欧洲科学院、德国科学与工程院、奥地利科学院院士Gunther Meschke教授</a:t>
              </a:r>
            </a:p>
          </p:txBody>
        </p:sp>
        <p:pic>
          <p:nvPicPr>
            <p:cNvPr id="17" name="图片 3" descr="/Users/xingyaran/Desktop/截屏2024-08-02 00.27.25.png截屏2024-08-02 00.27.25"/>
            <p:cNvPicPr>
              <a:picLocks noChangeAspect="1"/>
            </p:cNvPicPr>
            <p:nvPr/>
          </p:nvPicPr>
          <p:blipFill>
            <a:blip r:embed="rId12"/>
            <a:srcRect l="4590" r="4590" b="14766"/>
            <a:stretch>
              <a:fillRect/>
            </a:stretch>
          </p:blipFill>
          <p:spPr bwMode="auto">
            <a:xfrm>
              <a:off x="3174365" y="3593493"/>
              <a:ext cx="2463800" cy="280370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20" name="矩形 19"/>
            <p:cNvSpPr/>
            <p:nvPr/>
          </p:nvSpPr>
          <p:spPr>
            <a:xfrm>
              <a:off x="3159296" y="3157111"/>
              <a:ext cx="2478250" cy="840328"/>
            </a:xfrm>
            <a:prstGeom prst="rect">
              <a:avLst/>
            </a:prstGeom>
            <a:solidFill>
              <a:schemeClr val="bg2">
                <a:lumMod val="40000"/>
                <a:lumOff val="60000"/>
              </a:schemeClr>
            </a:solidFill>
            <a:ln>
              <a:solidFill>
                <a:schemeClr val="tx1"/>
              </a:solidFill>
            </a:ln>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sz="1600" b="1" i="0" strike="noStrike" kern="1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中国科学院院士，中国科学院力学研究所研究员</a:t>
              </a:r>
              <a:endParaRPr kumimoji="0" lang="en-US"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sz="1600" b="1" i="0" strike="noStrike" kern="100" cap="none" spc="0" normalizeH="0" baseline="0" noProof="0" dirty="0" err="1">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何国威院士</a:t>
              </a:r>
              <a:endParaRPr kumimoji="0"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p:txBody>
        </p:sp>
        <p:sp>
          <p:nvSpPr>
            <p:cNvPr id="23" name="箭头: 下 22"/>
            <p:cNvSpPr/>
            <p:nvPr/>
          </p:nvSpPr>
          <p:spPr>
            <a:xfrm rot="18982205">
              <a:off x="1724343" y="5192005"/>
              <a:ext cx="257175" cy="4667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5" name="箭头: 下 24"/>
            <p:cNvSpPr/>
            <p:nvPr/>
          </p:nvSpPr>
          <p:spPr>
            <a:xfrm rot="18982205">
              <a:off x="4170363" y="4696172"/>
              <a:ext cx="257175" cy="468312"/>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28" name="矩形 27"/>
            <p:cNvSpPr/>
            <p:nvPr/>
          </p:nvSpPr>
          <p:spPr>
            <a:xfrm>
              <a:off x="454594" y="5643134"/>
              <a:ext cx="2440347" cy="746206"/>
            </a:xfrm>
            <a:prstGeom prst="rect">
              <a:avLst/>
            </a:prstGeom>
            <a:solidFill>
              <a:schemeClr val="bg2">
                <a:lumMod val="40000"/>
                <a:lumOff val="60000"/>
              </a:schemeClr>
            </a:solidFill>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4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陈的硬约束方法解决了收敛速度慢和陷入局部最优的问题</a:t>
              </a:r>
            </a:p>
          </p:txBody>
        </p:sp>
        <p:sp>
          <p:nvSpPr>
            <p:cNvPr id="31" name="矩形 30"/>
            <p:cNvSpPr/>
            <p:nvPr/>
          </p:nvSpPr>
          <p:spPr>
            <a:xfrm>
              <a:off x="3170555" y="5326231"/>
              <a:ext cx="2463800" cy="806915"/>
            </a:xfrm>
            <a:prstGeom prst="rect">
              <a:avLst/>
            </a:prstGeom>
            <a:solidFill>
              <a:schemeClr val="bg2">
                <a:lumMod val="40000"/>
                <a:lumOff val="60000"/>
              </a:schemeClr>
            </a:solidFill>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sz="1400" kern="10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sym typeface="+mn-ea"/>
                </a:rPr>
                <a:t>陈提出在优化中不使用集成来近似梯度，直接使用集成卡尔曼方法来训练神经网络可能会更有利</a:t>
              </a:r>
              <a:endParaRPr kumimoji="0" lang="zh-CN" altLang="en-US" sz="1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grpSp>
      <p:sp>
        <p:nvSpPr>
          <p:cNvPr id="36" name="矩形 17"/>
          <p:cNvSpPr>
            <a:spLocks noChangeArrowheads="1"/>
          </p:cNvSpPr>
          <p:nvPr/>
        </p:nvSpPr>
        <p:spPr bwMode="auto">
          <a:xfrm>
            <a:off x="263525" y="632319"/>
            <a:ext cx="10801027"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90204" pitchFamily="34" charset="0"/>
                <a:ea typeface="宋体" pitchFamily="2" charset="-122"/>
              </a:defRPr>
            </a:lvl1pPr>
            <a:lvl2pPr marL="742950" indent="-285750">
              <a:spcBef>
                <a:spcPct val="20000"/>
              </a:spcBef>
              <a:buChar char="–"/>
              <a:defRPr sz="2800">
                <a:solidFill>
                  <a:schemeClr val="tx1"/>
                </a:solidFill>
                <a:latin typeface="Arial" panose="020B0604020202090204" pitchFamily="34" charset="0"/>
                <a:ea typeface="宋体" pitchFamily="2" charset="-122"/>
              </a:defRPr>
            </a:lvl2pPr>
            <a:lvl3pPr marL="1143000" indent="-228600">
              <a:spcBef>
                <a:spcPct val="20000"/>
              </a:spcBef>
              <a:buChar char="•"/>
              <a:defRPr sz="2400">
                <a:solidFill>
                  <a:schemeClr val="tx1"/>
                </a:solidFill>
                <a:latin typeface="Arial" panose="020B0604020202090204" pitchFamily="34" charset="0"/>
                <a:ea typeface="宋体" pitchFamily="2" charset="-122"/>
              </a:defRPr>
            </a:lvl3pPr>
            <a:lvl4pPr marL="1600200" indent="-228600">
              <a:spcBef>
                <a:spcPct val="20000"/>
              </a:spcBef>
              <a:buChar char="–"/>
              <a:defRPr sz="2000">
                <a:solidFill>
                  <a:schemeClr val="tx1"/>
                </a:solidFill>
                <a:latin typeface="Arial" panose="020B0604020202090204" pitchFamily="34" charset="0"/>
                <a:ea typeface="宋体" pitchFamily="2" charset="-122"/>
              </a:defRPr>
            </a:lvl4pPr>
            <a:lvl5pPr marL="2057400" indent="-228600">
              <a:spcBef>
                <a:spcPct val="20000"/>
              </a:spcBef>
              <a:buChar char="»"/>
              <a:defRPr sz="2000">
                <a:solidFill>
                  <a:schemeClr val="tx1"/>
                </a:solidFill>
                <a:latin typeface="Arial" panose="020B0604020202090204"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90204" pitchFamily="34" charset="0"/>
                <a:ea typeface="宋体" pitchFamily="2" charset="-122"/>
              </a:defRPr>
            </a:lvl9pPr>
          </a:lstStyle>
          <a:p>
            <a:pPr marL="266700" marR="0" lvl="0" indent="-266700" algn="l" defTabSz="914400" rtl="0" eaLnBrk="1" fontAlgn="auto" latinLnBrk="0" hangingPunct="1">
              <a:lnSpc>
                <a:spcPct val="150000"/>
              </a:lnSpc>
              <a:spcBef>
                <a:spcPts val="600"/>
              </a:spcBef>
              <a:spcAft>
                <a:spcPts val="0"/>
              </a:spcAft>
              <a:buClr>
                <a:srgbClr val="C00000"/>
              </a:buClr>
              <a:buSzTx/>
              <a:buFont typeface="Wingdings" panose="05000000000000000000" pitchFamily="2" charset="2"/>
              <a:buChar char="p"/>
              <a:defRPr/>
            </a:pPr>
            <a:r>
              <a:rPr kumimoji="0" lang="zh-CN" altLang="en-US" sz="2400" b="0" i="0" u="none" strike="noStrike" kern="1200" cap="none" spc="0" normalizeH="0" baseline="0" noProof="0" dirty="0">
                <a:ln>
                  <a:noFill/>
                </a:ln>
                <a:solidFill>
                  <a:srgbClr val="000000"/>
                </a:solidFill>
                <a:effectLst/>
                <a:uLnTx/>
                <a:uFillTx/>
                <a:latin typeface="方正大黑简体" panose="02010601030101010101" pitchFamily="65" charset="-122"/>
                <a:ea typeface="方正大黑简体" panose="02010601030101010101" pitchFamily="65" charset="-122"/>
                <a:cs typeface="+mn-cs"/>
              </a:rPr>
              <a:t>本项目执行期间相关科研成果获得</a:t>
            </a:r>
            <a:r>
              <a:rPr kumimoji="0" lang="zh-CN" altLang="en-US" sz="2400" b="0" i="0" u="none" strike="noStrike" kern="1200" cap="none" spc="0" normalizeH="0" baseline="0" noProof="0" dirty="0">
                <a:ln>
                  <a:noFill/>
                </a:ln>
                <a:solidFill>
                  <a:srgbClr val="FF0000"/>
                </a:solidFill>
                <a:effectLst/>
                <a:uLnTx/>
                <a:uFillTx/>
                <a:latin typeface="方正大黑简体" panose="02010601030101010101" pitchFamily="65" charset="-122"/>
                <a:ea typeface="方正大黑简体" panose="02010601030101010101" pitchFamily="65" charset="-122"/>
                <a:cs typeface="+mn-cs"/>
              </a:rPr>
              <a:t>国内外权威专家的正面评价与广泛引用</a:t>
            </a:r>
          </a:p>
        </p:txBody>
      </p:sp>
      <p:sp>
        <p:nvSpPr>
          <p:cNvPr id="37"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（二）知名专家评价</a:t>
            </a:r>
          </a:p>
        </p:txBody>
      </p:sp>
      <p:grpSp>
        <p:nvGrpSpPr>
          <p:cNvPr id="4" name="组合 3">
            <a:extLst>
              <a:ext uri="{FF2B5EF4-FFF2-40B4-BE49-F238E27FC236}">
                <a16:creationId xmlns:a16="http://schemas.microsoft.com/office/drawing/2014/main" id="{93486045-F847-E957-B21F-7214A83052D2}"/>
              </a:ext>
            </a:extLst>
          </p:cNvPr>
          <p:cNvGrpSpPr/>
          <p:nvPr/>
        </p:nvGrpSpPr>
        <p:grpSpPr>
          <a:xfrm>
            <a:off x="298009" y="2615310"/>
            <a:ext cx="5659560" cy="3734342"/>
            <a:chOff x="298009" y="2615310"/>
            <a:chExt cx="5659560" cy="3734342"/>
          </a:xfrm>
        </p:grpSpPr>
        <p:grpSp>
          <p:nvGrpSpPr>
            <p:cNvPr id="44" name="组合 43"/>
            <p:cNvGrpSpPr/>
            <p:nvPr/>
          </p:nvGrpSpPr>
          <p:grpSpPr>
            <a:xfrm>
              <a:off x="298009" y="2615310"/>
              <a:ext cx="5659560" cy="3734342"/>
              <a:chOff x="564515" y="3208264"/>
              <a:chExt cx="5418455" cy="3255758"/>
            </a:xfrm>
          </p:grpSpPr>
          <p:pic>
            <p:nvPicPr>
              <p:cNvPr id="45" name="图片 1"/>
              <p:cNvPicPr>
                <a:picLocks noChangeAspect="1"/>
              </p:cNvPicPr>
              <p:nvPr>
                <p:custDataLst>
                  <p:tags r:id="rId2"/>
                </p:custDataLst>
              </p:nvPr>
            </p:nvPicPr>
            <p:blipFill>
              <a:blip r:embed="rId13" cstate="print">
                <a:extLst>
                  <a:ext uri="{28A0092B-C50C-407E-A947-70E740481C1C}">
                    <a14:useLocalDpi xmlns:a14="http://schemas.microsoft.com/office/drawing/2010/main" val="0"/>
                  </a:ext>
                </a:extLst>
              </a:blip>
              <a:srcRect t="10783" r="227" b="-4246"/>
              <a:stretch>
                <a:fillRect/>
              </a:stretch>
            </p:blipFill>
            <p:spPr bwMode="auto">
              <a:xfrm>
                <a:off x="564515" y="3426573"/>
                <a:ext cx="2541905" cy="3036886"/>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6" name="矩形 45"/>
              <p:cNvSpPr/>
              <p:nvPr>
                <p:custDataLst>
                  <p:tags r:id="rId3"/>
                </p:custDataLst>
              </p:nvPr>
            </p:nvSpPr>
            <p:spPr>
              <a:xfrm>
                <a:off x="564515" y="3223335"/>
                <a:ext cx="2541905" cy="917472"/>
              </a:xfrm>
              <a:prstGeom prst="rect">
                <a:avLst/>
              </a:prstGeom>
              <a:solidFill>
                <a:schemeClr val="bg2">
                  <a:lumMod val="40000"/>
                  <a:lumOff val="60000"/>
                </a:schemeClr>
              </a:solidFill>
              <a:ln>
                <a:solidFill>
                  <a:schemeClr val="tx1"/>
                </a:solidFill>
              </a:ln>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zh-CN"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澳大利亚科学与工程院院士、中国工程院外籍院士莫纳什大学</a:t>
                </a:r>
                <a:endParaRPr kumimoji="0" lang="en-US" altLang="zh-CN"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mn-cs"/>
                  </a:rPr>
                  <a:t>Ranjith PG</a:t>
                </a:r>
                <a:r>
                  <a:rPr kumimoji="0" lang="zh-CN" altLang="zh-CN"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教授团队</a:t>
                </a:r>
              </a:p>
            </p:txBody>
          </p:sp>
          <p:pic>
            <p:nvPicPr>
              <p:cNvPr id="47" name="图片 6"/>
              <p:cNvPicPr>
                <a:picLocks noChangeAspect="1"/>
              </p:cNvPicPr>
              <p:nvPr>
                <p:custDataLst>
                  <p:tags r:id="rId4"/>
                </p:custDataLst>
              </p:nvPr>
            </p:nvPicPr>
            <p:blipFill>
              <a:blip r:embed="rId14" cstate="print">
                <a:extLst>
                  <a:ext uri="{28A0092B-C50C-407E-A947-70E740481C1C}">
                    <a14:useLocalDpi xmlns:a14="http://schemas.microsoft.com/office/drawing/2010/main" val="0"/>
                  </a:ext>
                </a:extLst>
              </a:blip>
              <a:srcRect l="4149" t="5380" r="4899" b="714"/>
              <a:stretch>
                <a:fillRect/>
              </a:stretch>
            </p:blipFill>
            <p:spPr bwMode="auto">
              <a:xfrm>
                <a:off x="3441700" y="3288610"/>
                <a:ext cx="2527300" cy="317541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8" name="矩形 47"/>
              <p:cNvSpPr/>
              <p:nvPr>
                <p:custDataLst>
                  <p:tags r:id="rId5"/>
                </p:custDataLst>
              </p:nvPr>
            </p:nvSpPr>
            <p:spPr>
              <a:xfrm>
                <a:off x="3441700" y="3208264"/>
                <a:ext cx="2541270" cy="879971"/>
              </a:xfrm>
              <a:prstGeom prst="rect">
                <a:avLst/>
              </a:prstGeom>
              <a:solidFill>
                <a:schemeClr val="bg2">
                  <a:lumMod val="40000"/>
                  <a:lumOff val="60000"/>
                </a:schemeClr>
              </a:solidFill>
              <a:ln w="9525" cap="flat" cmpd="sng">
                <a:solidFill>
                  <a:schemeClr val="tx1"/>
                </a:solidFill>
                <a:prstDash val="solid"/>
              </a:ln>
            </p:spPr>
            <p:txBody>
              <a:bodyPr>
                <a:noAutofit/>
              </a:bodyPr>
              <a:lstStyle/>
              <a:p>
                <a:pPr marL="0" marR="0" lvl="0" indent="0" algn="ctr" defTabSz="1879600" rtl="0" eaLnBrk="1" fontAlgn="auto" latinLnBrk="0" hangingPunct="1">
                  <a:lnSpc>
                    <a:spcPct val="100000"/>
                  </a:lnSpc>
                  <a:spcBef>
                    <a:spcPts val="0"/>
                  </a:spcBef>
                  <a:spcAft>
                    <a:spcPts val="0"/>
                  </a:spcAft>
                  <a:buClrTx/>
                  <a:buSzTx/>
                  <a:buFontTx/>
                  <a:buNone/>
                  <a:defRPr/>
                </a:pPr>
                <a:r>
                  <a:rPr kumimoji="0" lang="zh-CN" altLang="en-US"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美国工程院院士、德州大学奥斯汀分校</a:t>
                </a:r>
                <a:r>
                  <a:rPr kumimoji="0" lang="en-US" altLang="zh-CN"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Mukul Sharma</a:t>
                </a:r>
                <a:r>
                  <a:rPr kumimoji="0" lang="zh-CN" altLang="en-US" sz="1600" b="1" i="0"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教授团队</a:t>
                </a:r>
              </a:p>
            </p:txBody>
          </p:sp>
          <p:sp>
            <p:nvSpPr>
              <p:cNvPr id="50" name="箭头: 下 26"/>
              <p:cNvSpPr/>
              <p:nvPr>
                <p:custDataLst>
                  <p:tags r:id="rId6"/>
                </p:custDataLst>
              </p:nvPr>
            </p:nvSpPr>
            <p:spPr>
              <a:xfrm rot="18982205">
                <a:off x="4566603" y="4872252"/>
                <a:ext cx="257175" cy="466725"/>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sp>
            <p:nvSpPr>
              <p:cNvPr id="51" name="矩形 50"/>
              <p:cNvSpPr/>
              <p:nvPr>
                <p:custDataLst>
                  <p:tags r:id="rId7"/>
                </p:custDataLst>
              </p:nvPr>
            </p:nvSpPr>
            <p:spPr>
              <a:xfrm>
                <a:off x="564515" y="5940887"/>
                <a:ext cx="2527300" cy="492164"/>
              </a:xfrm>
              <a:prstGeom prst="rect">
                <a:avLst/>
              </a:prstGeom>
              <a:solidFill>
                <a:schemeClr val="bg2">
                  <a:lumMod val="40000"/>
                  <a:lumOff val="60000"/>
                </a:schemeClr>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胡</a:t>
                </a:r>
                <a:r>
                  <a:rPr kumimoji="0" lang="zh-CN" altLang="zh-CN" sz="14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阐述了高支撑剂注入速度导致的高导流能力有助增产</a:t>
                </a:r>
                <a:endParaRPr kumimoji="0" lang="zh-CN" altLang="en-US" sz="1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sp>
            <p:nvSpPr>
              <p:cNvPr id="52" name="矩形 51"/>
              <p:cNvSpPr/>
              <p:nvPr>
                <p:custDataLst>
                  <p:tags r:id="rId8"/>
                </p:custDataLst>
              </p:nvPr>
            </p:nvSpPr>
            <p:spPr>
              <a:xfrm>
                <a:off x="3441700" y="5716204"/>
                <a:ext cx="2527300" cy="492164"/>
              </a:xfrm>
              <a:prstGeom prst="rect">
                <a:avLst/>
              </a:prstGeom>
              <a:solidFill>
                <a:schemeClr val="bg2">
                  <a:lumMod val="40000"/>
                  <a:lumOff val="60000"/>
                </a:schemeClr>
              </a:solidFill>
            </p:spPr>
            <p:txBody>
              <a:bodyPr>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胡等开展了广泛的研究去理解上述支撑剂运移物理过程</a:t>
                </a:r>
                <a:endParaRPr kumimoji="0" lang="zh-CN" altLang="en-US" sz="1400" b="0" i="0" u="none" strike="noStrike" kern="1200" cap="none" spc="0" normalizeH="0" baseline="0" noProof="0" dirty="0">
                  <a:ln>
                    <a:noFill/>
                  </a:ln>
                  <a:solidFill>
                    <a:prstClr val="black"/>
                  </a:solidFill>
                  <a:effectLst/>
                  <a:uLnTx/>
                  <a:uFillTx/>
                  <a:latin typeface="Calibri" panose="020F0502020204030204"/>
                  <a:ea typeface="等线" panose="02010600030101010101" pitchFamily="2" charset="-122"/>
                  <a:cs typeface="+mn-cs"/>
                </a:endParaRPr>
              </a:p>
            </p:txBody>
          </p:sp>
        </p:grpSp>
        <p:sp>
          <p:nvSpPr>
            <p:cNvPr id="53" name="箭头: 下 24"/>
            <p:cNvSpPr/>
            <p:nvPr>
              <p:custDataLst>
                <p:tags r:id="rId1"/>
              </p:custDataLst>
            </p:nvPr>
          </p:nvSpPr>
          <p:spPr>
            <a:xfrm rot="18982205">
              <a:off x="1186194" y="5140898"/>
              <a:ext cx="275518" cy="52963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Calibri" panose="020F0502020204030204"/>
                <a:ea typeface="等线" panose="02010600030101010101" pitchFamily="2" charset="-122"/>
                <a:cs typeface="+mn-cs"/>
              </a:endParaRPr>
            </a:p>
          </p:txBody>
        </p:sp>
      </p:grpSp>
    </p:spTree>
  </p:cSld>
  <p:clrMapOvr>
    <a:masterClrMapping/>
  </p:clrMapOvr>
  <mc:AlternateContent xmlns:mc="http://schemas.openxmlformats.org/markup-compatibility/2006" xmlns:p14="http://schemas.microsoft.com/office/powerpoint/2010/main">
    <mc:Choice Requires="p14">
      <p:transition spd="slow" p14:dur="2000" advTm="1371"/>
    </mc:Choice>
    <mc:Fallback xmlns="">
      <p:transition spd="slow" advTm="1371"/>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17">
            <a:extLst>
              <a:ext uri="{FF2B5EF4-FFF2-40B4-BE49-F238E27FC236}">
                <a16:creationId xmlns:a16="http://schemas.microsoft.com/office/drawing/2014/main" id="{CF2489A2-66A4-53D3-AF30-A997341FFB81}"/>
              </a:ext>
            </a:extLst>
          </p:cNvPr>
          <p:cNvSpPr>
            <a:spLocks noChangeArrowheads="1"/>
          </p:cNvSpPr>
          <p:nvPr/>
        </p:nvSpPr>
        <p:spPr bwMode="auto">
          <a:xfrm>
            <a:off x="263525" y="632319"/>
            <a:ext cx="10801027"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600"/>
              </a:spcBef>
              <a:buClr>
                <a:srgbClr val="C00000"/>
              </a:buClr>
              <a:buFont typeface="Wingdings" panose="05000000000000000000" pitchFamily="2" charset="2"/>
              <a:buChar char="p"/>
            </a:pPr>
            <a:r>
              <a:rPr lang="zh-CN" altLang="en-US" sz="2400" dirty="0">
                <a:solidFill>
                  <a:srgbClr val="000000"/>
                </a:solidFill>
                <a:latin typeface="方正大黑简体" panose="03000509000000000000" pitchFamily="65" charset="-122"/>
                <a:ea typeface="方正大黑简体" panose="03000509000000000000" pitchFamily="65" charset="-122"/>
              </a:rPr>
              <a:t>本项目执行期间相关学术成果获得</a:t>
            </a:r>
            <a:r>
              <a:rPr lang="zh-CN" altLang="en-US" sz="2400" dirty="0">
                <a:solidFill>
                  <a:srgbClr val="FF0000"/>
                </a:solidFill>
                <a:latin typeface="方正大黑简体" panose="03000509000000000000" pitchFamily="65" charset="-122"/>
                <a:ea typeface="方正大黑简体" panose="03000509000000000000" pitchFamily="65" charset="-122"/>
              </a:rPr>
              <a:t>较为显著的国际影响力</a:t>
            </a:r>
          </a:p>
        </p:txBody>
      </p:sp>
      <p:sp>
        <p:nvSpPr>
          <p:cNvPr id="37" name="TextBox 45">
            <a:extLst>
              <a:ext uri="{FF2B5EF4-FFF2-40B4-BE49-F238E27FC236}">
                <a16:creationId xmlns:a16="http://schemas.microsoft.com/office/drawing/2014/main" id="{EEC356A3-4FDE-1D52-1D48-15BE16D6C607}"/>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（三）学术理论国际影响力</a:t>
            </a:r>
          </a:p>
        </p:txBody>
      </p:sp>
      <p:sp>
        <p:nvSpPr>
          <p:cNvPr id="2" name="Text Box 7">
            <a:extLst>
              <a:ext uri="{FF2B5EF4-FFF2-40B4-BE49-F238E27FC236}">
                <a16:creationId xmlns:a16="http://schemas.microsoft.com/office/drawing/2014/main" id="{09AF6679-9B4E-47C1-B5CA-803A51C4EEEA}"/>
              </a:ext>
            </a:extLst>
          </p:cNvPr>
          <p:cNvSpPr txBox="1">
            <a:spLocks noChangeArrowheads="1"/>
          </p:cNvSpPr>
          <p:nvPr/>
        </p:nvSpPr>
        <p:spPr bwMode="auto">
          <a:xfrm>
            <a:off x="263526" y="1207240"/>
            <a:ext cx="11736388" cy="1207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25000"/>
              </a:lnSpc>
              <a:buClr>
                <a:srgbClr val="FF0000"/>
              </a:buClr>
              <a:buFont typeface="Wingdings" panose="05000000000000000000" pitchFamily="2" charset="2"/>
              <a:buChar char="n"/>
            </a:pP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支撑剂运移实时仿真成果获</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美国德州农工大学（石油工程本科排名</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a:t>
            </a:r>
            <a:r>
              <a:rPr lang="en-US" altLang="zh-CN" sz="2000" b="1" baseline="30000"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st</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en-US" altLang="zh-CN" sz="2000" b="1" dirty="0" err="1">
                <a:latin typeface="Times New Roman" panose="02020603050405020304" pitchFamily="18" charset="0"/>
                <a:ea typeface="黑体" panose="02010609060101010101" pitchFamily="49" charset="-122"/>
                <a:cs typeface="Times New Roman" panose="02020603050405020304" pitchFamily="18" charset="0"/>
              </a:rPr>
              <a:t>kan</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 </a:t>
            </a:r>
            <a:r>
              <a:rPr lang="en-US" altLang="zh-CN" sz="2000" b="1" dirty="0" err="1">
                <a:latin typeface="Times New Roman" panose="02020603050405020304" pitchFamily="18" charset="0"/>
                <a:ea typeface="黑体" panose="02010609060101010101" pitchFamily="49" charset="-122"/>
                <a:cs typeface="Times New Roman" panose="02020603050405020304" pitchFamily="18" charset="0"/>
              </a:rPr>
              <a:t>wu</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教授重点推介与网站宣传；物理层嵌入型神经网络预测模型论文成果获</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中国精品科技期刊顶尖学术论文奖</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；方程控制型神经网络模型相关论文研究成果获得期刊</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高被引论文奖</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和</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行业顶刊封面论文</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展示。</a:t>
            </a:r>
            <a:endParaRPr lang="en-US" altLang="zh-CN" sz="2000" b="1" dirty="0">
              <a:latin typeface="Times New Roman" panose="02020603050405020304" pitchFamily="18" charset="0"/>
              <a:ea typeface="黑体" panose="02010609060101010101" pitchFamily="49" charset="-122"/>
              <a:cs typeface="Times New Roman" panose="02020603050405020304" pitchFamily="18" charset="0"/>
            </a:endParaRPr>
          </a:p>
        </p:txBody>
      </p:sp>
      <p:grpSp>
        <p:nvGrpSpPr>
          <p:cNvPr id="3" name="组合 2">
            <a:extLst>
              <a:ext uri="{FF2B5EF4-FFF2-40B4-BE49-F238E27FC236}">
                <a16:creationId xmlns:a16="http://schemas.microsoft.com/office/drawing/2014/main" id="{69EC03CF-6DEC-82AD-C3C6-14326CDB6D24}"/>
              </a:ext>
            </a:extLst>
          </p:cNvPr>
          <p:cNvGrpSpPr/>
          <p:nvPr/>
        </p:nvGrpSpPr>
        <p:grpSpPr>
          <a:xfrm>
            <a:off x="263352" y="2636838"/>
            <a:ext cx="11737304" cy="3738477"/>
            <a:chOff x="263352" y="2924944"/>
            <a:chExt cx="11737304" cy="3450371"/>
          </a:xfrm>
        </p:grpSpPr>
        <p:grpSp>
          <p:nvGrpSpPr>
            <p:cNvPr id="54" name="组合 53">
              <a:extLst>
                <a:ext uri="{FF2B5EF4-FFF2-40B4-BE49-F238E27FC236}">
                  <a16:creationId xmlns:a16="http://schemas.microsoft.com/office/drawing/2014/main" id="{54E68D88-419E-9A78-05AE-4B5E75761354}"/>
                </a:ext>
              </a:extLst>
            </p:cNvPr>
            <p:cNvGrpSpPr>
              <a:grpSpLocks noChangeAspect="1"/>
            </p:cNvGrpSpPr>
            <p:nvPr/>
          </p:nvGrpSpPr>
          <p:grpSpPr>
            <a:xfrm>
              <a:off x="8923328" y="2924944"/>
              <a:ext cx="3077328" cy="3420000"/>
              <a:chOff x="8868608" y="2924944"/>
              <a:chExt cx="3239760" cy="3600519"/>
            </a:xfrm>
          </p:grpSpPr>
          <p:pic>
            <p:nvPicPr>
              <p:cNvPr id="39" name="图片 38">
                <a:extLst>
                  <a:ext uri="{FF2B5EF4-FFF2-40B4-BE49-F238E27FC236}">
                    <a16:creationId xmlns:a16="http://schemas.microsoft.com/office/drawing/2014/main" id="{0F51195F-F21D-24EE-3C0E-A095B86BB325}"/>
                  </a:ext>
                </a:extLst>
              </p:cNvPr>
              <p:cNvPicPr preferRelativeResize="0">
                <a:picLocks/>
              </p:cNvPicPr>
              <p:nvPr/>
            </p:nvPicPr>
            <p:blipFill>
              <a:blip r:embed="rId3" cstate="print">
                <a:extLst>
                  <a:ext uri="{28A0092B-C50C-407E-A947-70E740481C1C}">
                    <a14:useLocalDpi xmlns:a14="http://schemas.microsoft.com/office/drawing/2010/main" val="0"/>
                  </a:ext>
                </a:extLst>
              </a:blip>
              <a:stretch>
                <a:fillRect/>
              </a:stretch>
            </p:blipFill>
            <p:spPr>
              <a:xfrm>
                <a:off x="8868608" y="2924944"/>
                <a:ext cx="2700000" cy="3600000"/>
              </a:xfrm>
              <a:prstGeom prst="rect">
                <a:avLst/>
              </a:prstGeom>
              <a:ln>
                <a:solidFill>
                  <a:schemeClr val="tx1"/>
                </a:solidFill>
              </a:ln>
            </p:spPr>
          </p:pic>
          <p:pic>
            <p:nvPicPr>
              <p:cNvPr id="38" name="图片 37">
                <a:extLst>
                  <a:ext uri="{FF2B5EF4-FFF2-40B4-BE49-F238E27FC236}">
                    <a16:creationId xmlns:a16="http://schemas.microsoft.com/office/drawing/2014/main" id="{27DDC65F-7824-B26E-E466-9588E5049CAF}"/>
                  </a:ext>
                </a:extLst>
              </p:cNvPr>
              <p:cNvPicPr preferRelativeResize="0">
                <a:picLocks/>
              </p:cNvPicPr>
              <p:nvPr/>
            </p:nvPicPr>
            <p:blipFill>
              <a:blip r:embed="rId4" cstate="print">
                <a:extLst>
                  <a:ext uri="{28A0092B-C50C-407E-A947-70E740481C1C}">
                    <a14:useLocalDpi xmlns:a14="http://schemas.microsoft.com/office/drawing/2010/main" val="0"/>
                  </a:ext>
                </a:extLst>
              </a:blip>
              <a:stretch>
                <a:fillRect/>
              </a:stretch>
            </p:blipFill>
            <p:spPr>
              <a:xfrm>
                <a:off x="9408369" y="2925463"/>
                <a:ext cx="2699999" cy="3600000"/>
              </a:xfrm>
              <a:prstGeom prst="rect">
                <a:avLst/>
              </a:prstGeom>
              <a:ln>
                <a:solidFill>
                  <a:schemeClr val="tx1"/>
                </a:solidFill>
              </a:ln>
            </p:spPr>
          </p:pic>
          <p:sp>
            <p:nvSpPr>
              <p:cNvPr id="11" name="Rectangle 4">
                <a:extLst>
                  <a:ext uri="{FF2B5EF4-FFF2-40B4-BE49-F238E27FC236}">
                    <a16:creationId xmlns:a16="http://schemas.microsoft.com/office/drawing/2014/main" id="{76104FDF-6303-EB1A-5B8C-2C9B0ECD59DF}"/>
                  </a:ext>
                </a:extLst>
              </p:cNvPr>
              <p:cNvSpPr>
                <a:spLocks noChangeArrowheads="1"/>
              </p:cNvSpPr>
              <p:nvPr/>
            </p:nvSpPr>
            <p:spPr bwMode="auto">
              <a:xfrm>
                <a:off x="9050329" y="6012487"/>
                <a:ext cx="2949584" cy="486033"/>
              </a:xfrm>
              <a:prstGeom prst="rect">
                <a:avLst/>
              </a:prstGeom>
              <a:solidFill>
                <a:schemeClr val="bg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
                    <a:srgbClr val="006600"/>
                  </a:buClr>
                  <a:buFontTx/>
                  <a:buNone/>
                  <a:defRPr/>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封面文章</a:t>
                </a:r>
                <a:endPar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sp>
            <p:nvSpPr>
              <p:cNvPr id="7" name="Rectangle 4">
                <a:extLst>
                  <a:ext uri="{FF2B5EF4-FFF2-40B4-BE49-F238E27FC236}">
                    <a16:creationId xmlns:a16="http://schemas.microsoft.com/office/drawing/2014/main" id="{92105552-C42E-898B-290E-E96FC56D826F}"/>
                  </a:ext>
                </a:extLst>
              </p:cNvPr>
              <p:cNvSpPr>
                <a:spLocks noChangeArrowheads="1"/>
              </p:cNvSpPr>
              <p:nvPr/>
            </p:nvSpPr>
            <p:spPr bwMode="auto">
              <a:xfrm>
                <a:off x="10387650" y="2964460"/>
                <a:ext cx="1711555" cy="508387"/>
              </a:xfrm>
              <a:prstGeom prst="rect">
                <a:avLst/>
              </a:prstGeom>
              <a:solidFill>
                <a:schemeClr val="bg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
                    <a:srgbClr val="006600"/>
                  </a:buClr>
                  <a:buFontTx/>
                  <a:buNone/>
                  <a:defRPr/>
                </a:pPr>
                <a:r>
                  <a:rPr lang="zh-CN" altLang="en-US" sz="1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中科院</a:t>
                </a:r>
                <a:r>
                  <a:rPr lang="en-US" altLang="zh-CN" sz="1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TOP1</a:t>
                </a:r>
                <a:r>
                  <a:rPr lang="zh-CN" altLang="en-US" sz="1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区</a:t>
                </a:r>
                <a:r>
                  <a:rPr lang="en-US" altLang="zh-CN" sz="1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IF=23.8</a:t>
                </a:r>
              </a:p>
            </p:txBody>
          </p:sp>
        </p:grpSp>
        <p:grpSp>
          <p:nvGrpSpPr>
            <p:cNvPr id="53" name="组合 52">
              <a:extLst>
                <a:ext uri="{FF2B5EF4-FFF2-40B4-BE49-F238E27FC236}">
                  <a16:creationId xmlns:a16="http://schemas.microsoft.com/office/drawing/2014/main" id="{BBF5527D-E338-24A4-DA83-CE09F820EC81}"/>
                </a:ext>
              </a:extLst>
            </p:cNvPr>
            <p:cNvGrpSpPr>
              <a:grpSpLocks noChangeAspect="1"/>
            </p:cNvGrpSpPr>
            <p:nvPr/>
          </p:nvGrpSpPr>
          <p:grpSpPr>
            <a:xfrm>
              <a:off x="6221271" y="2924944"/>
              <a:ext cx="2564630" cy="3420000"/>
              <a:chOff x="6096000" y="2924944"/>
              <a:chExt cx="2700000" cy="3600519"/>
            </a:xfrm>
          </p:grpSpPr>
          <p:pic>
            <p:nvPicPr>
              <p:cNvPr id="23" name="图片 22">
                <a:extLst>
                  <a:ext uri="{FF2B5EF4-FFF2-40B4-BE49-F238E27FC236}">
                    <a16:creationId xmlns:a16="http://schemas.microsoft.com/office/drawing/2014/main" id="{38B2960B-812B-3006-C7DC-FAF4887517D3}"/>
                  </a:ext>
                </a:extLst>
              </p:cNvPr>
              <p:cNvPicPr preferRelativeResize="0">
                <a:picLocks/>
              </p:cNvPicPr>
              <p:nvPr/>
            </p:nvPicPr>
            <p:blipFill>
              <a:blip r:embed="rId5" cstate="print">
                <a:extLst>
                  <a:ext uri="{28A0092B-C50C-407E-A947-70E740481C1C}">
                    <a14:useLocalDpi xmlns:a14="http://schemas.microsoft.com/office/drawing/2010/main" val="0"/>
                  </a:ext>
                </a:extLst>
              </a:blip>
              <a:stretch>
                <a:fillRect/>
              </a:stretch>
            </p:blipFill>
            <p:spPr>
              <a:xfrm>
                <a:off x="6096000" y="2924944"/>
                <a:ext cx="2700000" cy="3600000"/>
              </a:xfrm>
              <a:prstGeom prst="rect">
                <a:avLst/>
              </a:prstGeom>
              <a:ln>
                <a:solidFill>
                  <a:schemeClr val="tx1"/>
                </a:solidFill>
              </a:ln>
            </p:spPr>
          </p:pic>
          <p:pic>
            <p:nvPicPr>
              <p:cNvPr id="16" name="图片 15">
                <a:extLst>
                  <a:ext uri="{FF2B5EF4-FFF2-40B4-BE49-F238E27FC236}">
                    <a16:creationId xmlns:a16="http://schemas.microsoft.com/office/drawing/2014/main" id="{6EE105A8-4C70-8618-50F7-218AA58A6FA3}"/>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199524" y="4773846"/>
                <a:ext cx="2492952" cy="1751617"/>
              </a:xfrm>
              <a:prstGeom prst="rect">
                <a:avLst/>
              </a:prstGeom>
              <a:ln>
                <a:solidFill>
                  <a:schemeClr val="tx1"/>
                </a:solidFill>
              </a:ln>
              <a:effectLst>
                <a:outerShdw blurRad="50800" dist="38100" dir="13500000" algn="br" rotWithShape="0">
                  <a:prstClr val="black">
                    <a:alpha val="40000"/>
                  </a:prstClr>
                </a:outerShdw>
              </a:effectLst>
            </p:spPr>
          </p:pic>
          <p:sp>
            <p:nvSpPr>
              <p:cNvPr id="48" name="Rectangle 4">
                <a:extLst>
                  <a:ext uri="{FF2B5EF4-FFF2-40B4-BE49-F238E27FC236}">
                    <a16:creationId xmlns:a16="http://schemas.microsoft.com/office/drawing/2014/main" id="{9AE5760E-FCF3-5025-EAFD-BF670B2EC108}"/>
                  </a:ext>
                </a:extLst>
              </p:cNvPr>
              <p:cNvSpPr>
                <a:spLocks noChangeArrowheads="1"/>
              </p:cNvSpPr>
              <p:nvPr/>
            </p:nvSpPr>
            <p:spPr bwMode="auto">
              <a:xfrm>
                <a:off x="6199524" y="6012487"/>
                <a:ext cx="2492952" cy="486033"/>
              </a:xfrm>
              <a:prstGeom prst="rect">
                <a:avLst/>
              </a:prstGeom>
              <a:solidFill>
                <a:schemeClr val="bg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
                    <a:srgbClr val="006600"/>
                  </a:buClr>
                  <a:buFontTx/>
                  <a:buNone/>
                  <a:defRPr/>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高被引论文奖</a:t>
                </a:r>
                <a:endPar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grpSp>
        <p:grpSp>
          <p:nvGrpSpPr>
            <p:cNvPr id="52" name="组合 51">
              <a:extLst>
                <a:ext uri="{FF2B5EF4-FFF2-40B4-BE49-F238E27FC236}">
                  <a16:creationId xmlns:a16="http://schemas.microsoft.com/office/drawing/2014/main" id="{4B5759F4-581D-E12D-CD16-772B5135BB82}"/>
                </a:ext>
              </a:extLst>
            </p:cNvPr>
            <p:cNvGrpSpPr>
              <a:grpSpLocks/>
            </p:cNvGrpSpPr>
            <p:nvPr/>
          </p:nvGrpSpPr>
          <p:grpSpPr>
            <a:xfrm>
              <a:off x="3347845" y="2925463"/>
              <a:ext cx="2736000" cy="3449852"/>
              <a:chOff x="3323992" y="2925463"/>
              <a:chExt cx="2700000" cy="3631423"/>
            </a:xfrm>
          </p:grpSpPr>
          <p:pic>
            <p:nvPicPr>
              <p:cNvPr id="42" name="图片 41">
                <a:extLst>
                  <a:ext uri="{FF2B5EF4-FFF2-40B4-BE49-F238E27FC236}">
                    <a16:creationId xmlns:a16="http://schemas.microsoft.com/office/drawing/2014/main" id="{A5F5DA09-FECF-7AB9-16CA-0154FC20DDD8}"/>
                  </a:ext>
                </a:extLst>
              </p:cNvPr>
              <p:cNvPicPr preferRelativeResize="0">
                <a:picLocks/>
              </p:cNvPicPr>
              <p:nvPr/>
            </p:nvPicPr>
            <p:blipFill>
              <a:blip r:embed="rId7" cstate="print">
                <a:extLst>
                  <a:ext uri="{28A0092B-C50C-407E-A947-70E740481C1C}">
                    <a14:useLocalDpi xmlns:a14="http://schemas.microsoft.com/office/drawing/2010/main" val="0"/>
                  </a:ext>
                </a:extLst>
              </a:blip>
              <a:stretch>
                <a:fillRect/>
              </a:stretch>
            </p:blipFill>
            <p:spPr>
              <a:xfrm>
                <a:off x="3323992" y="2925463"/>
                <a:ext cx="2700000" cy="3600000"/>
              </a:xfrm>
              <a:prstGeom prst="rect">
                <a:avLst/>
              </a:prstGeom>
              <a:ln>
                <a:solidFill>
                  <a:schemeClr val="tx1"/>
                </a:solidFill>
              </a:ln>
            </p:spPr>
          </p:pic>
          <p:pic>
            <p:nvPicPr>
              <p:cNvPr id="18" name="图片 17">
                <a:extLst>
                  <a:ext uri="{FF2B5EF4-FFF2-40B4-BE49-F238E27FC236}">
                    <a16:creationId xmlns:a16="http://schemas.microsoft.com/office/drawing/2014/main" id="{61EA84E4-56C5-5D6F-B70D-BABF6EF200D2}"/>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084306" y="3716448"/>
                <a:ext cx="1903209" cy="2691484"/>
              </a:xfrm>
              <a:prstGeom prst="rect">
                <a:avLst/>
              </a:prstGeom>
              <a:ln>
                <a:solidFill>
                  <a:schemeClr val="tx1"/>
                </a:solidFill>
              </a:ln>
              <a:effectLst>
                <a:outerShdw blurRad="50800" dist="38100" dir="13500000" algn="br" rotWithShape="0">
                  <a:prstClr val="black">
                    <a:alpha val="40000"/>
                  </a:prstClr>
                </a:outerShdw>
              </a:effectLst>
            </p:spPr>
          </p:pic>
          <p:sp>
            <p:nvSpPr>
              <p:cNvPr id="49" name="Rectangle 4">
                <a:extLst>
                  <a:ext uri="{FF2B5EF4-FFF2-40B4-BE49-F238E27FC236}">
                    <a16:creationId xmlns:a16="http://schemas.microsoft.com/office/drawing/2014/main" id="{267CB45D-9EC7-7573-8616-F31365A9D7AF}"/>
                  </a:ext>
                </a:extLst>
              </p:cNvPr>
              <p:cNvSpPr>
                <a:spLocks noChangeArrowheads="1"/>
              </p:cNvSpPr>
              <p:nvPr/>
            </p:nvSpPr>
            <p:spPr bwMode="auto">
              <a:xfrm>
                <a:off x="3350461" y="5682152"/>
                <a:ext cx="2628000" cy="874734"/>
              </a:xfrm>
              <a:prstGeom prst="rect">
                <a:avLst/>
              </a:prstGeom>
              <a:solidFill>
                <a:schemeClr val="bg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
                    <a:srgbClr val="006600"/>
                  </a:buClr>
                  <a:buFontTx/>
                  <a:buNone/>
                  <a:defRPr/>
                </a:pP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中国精品科技期刊顶尖学术论文奖</a:t>
                </a:r>
                <a:endPar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grpSp>
        <p:grpSp>
          <p:nvGrpSpPr>
            <p:cNvPr id="51" name="组合 50">
              <a:extLst>
                <a:ext uri="{FF2B5EF4-FFF2-40B4-BE49-F238E27FC236}">
                  <a16:creationId xmlns:a16="http://schemas.microsoft.com/office/drawing/2014/main" id="{B1E4CEE6-5582-FF79-E2B4-DEA16B4169AF}"/>
                </a:ext>
              </a:extLst>
            </p:cNvPr>
            <p:cNvGrpSpPr>
              <a:grpSpLocks noChangeAspect="1"/>
            </p:cNvGrpSpPr>
            <p:nvPr/>
          </p:nvGrpSpPr>
          <p:grpSpPr>
            <a:xfrm>
              <a:off x="263352" y="2924944"/>
              <a:ext cx="2947067" cy="3420000"/>
              <a:chOff x="151716" y="2924944"/>
              <a:chExt cx="3102176" cy="3600000"/>
            </a:xfrm>
          </p:grpSpPr>
          <p:pic>
            <p:nvPicPr>
              <p:cNvPr id="4" name="图片 3">
                <a:extLst>
                  <a:ext uri="{FF2B5EF4-FFF2-40B4-BE49-F238E27FC236}">
                    <a16:creationId xmlns:a16="http://schemas.microsoft.com/office/drawing/2014/main" id="{E9518E5F-7B24-668A-4F29-A487D0E1C5E6}"/>
                  </a:ext>
                </a:extLst>
              </p:cNvPr>
              <p:cNvPicPr preferRelativeResize="0">
                <a:picLocks/>
              </p:cNvPicPr>
              <p:nvPr/>
            </p:nvPicPr>
            <p:blipFill>
              <a:blip r:embed="rId9" cstate="print">
                <a:extLst>
                  <a:ext uri="{28A0092B-C50C-407E-A947-70E740481C1C}">
                    <a14:useLocalDpi xmlns:a14="http://schemas.microsoft.com/office/drawing/2010/main" val="0"/>
                  </a:ext>
                </a:extLst>
              </a:blip>
              <a:stretch>
                <a:fillRect/>
              </a:stretch>
            </p:blipFill>
            <p:spPr>
              <a:xfrm>
                <a:off x="151716" y="2924944"/>
                <a:ext cx="2700000" cy="3600000"/>
              </a:xfrm>
              <a:prstGeom prst="rect">
                <a:avLst/>
              </a:prstGeom>
              <a:ln>
                <a:solidFill>
                  <a:schemeClr val="tx1"/>
                </a:solidFill>
              </a:ln>
            </p:spPr>
          </p:pic>
          <p:pic>
            <p:nvPicPr>
              <p:cNvPr id="6" name="图片 5">
                <a:extLst>
                  <a:ext uri="{FF2B5EF4-FFF2-40B4-BE49-F238E27FC236}">
                    <a16:creationId xmlns:a16="http://schemas.microsoft.com/office/drawing/2014/main" id="{26B84A42-E92E-39F4-7D78-B6B0672647F8}"/>
                  </a:ext>
                </a:extLst>
              </p:cNvPr>
              <p:cNvPicPr preferRelativeResize="0">
                <a:picLocks/>
              </p:cNvPicPr>
              <p:nvPr/>
            </p:nvPicPr>
            <p:blipFill>
              <a:blip r:embed="rId10" cstate="print">
                <a:extLst>
                  <a:ext uri="{28A0092B-C50C-407E-A947-70E740481C1C}">
                    <a14:useLocalDpi xmlns:a14="http://schemas.microsoft.com/office/drawing/2010/main" val="0"/>
                  </a:ext>
                </a:extLst>
              </a:blip>
              <a:stretch>
                <a:fillRect/>
              </a:stretch>
            </p:blipFill>
            <p:spPr>
              <a:xfrm>
                <a:off x="641945" y="2924944"/>
                <a:ext cx="2611947" cy="3600000"/>
              </a:xfrm>
              <a:prstGeom prst="rect">
                <a:avLst/>
              </a:prstGeom>
              <a:ln>
                <a:solidFill>
                  <a:schemeClr val="tx1"/>
                </a:solidFill>
              </a:ln>
            </p:spPr>
          </p:pic>
          <p:pic>
            <p:nvPicPr>
              <p:cNvPr id="14" name="图片 13">
                <a:extLst>
                  <a:ext uri="{FF2B5EF4-FFF2-40B4-BE49-F238E27FC236}">
                    <a16:creationId xmlns:a16="http://schemas.microsoft.com/office/drawing/2014/main" id="{91604FBE-9531-369B-F822-23EA0FB3B50C}"/>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246993" y="5448595"/>
                <a:ext cx="2880000" cy="494874"/>
              </a:xfrm>
              <a:prstGeom prst="rect">
                <a:avLst/>
              </a:prstGeom>
              <a:ln>
                <a:solidFill>
                  <a:schemeClr val="tx1"/>
                </a:solidFill>
              </a:ln>
              <a:effectLst>
                <a:outerShdw blurRad="50800" dist="38100" dir="13500000" algn="br" rotWithShape="0">
                  <a:prstClr val="black">
                    <a:alpha val="40000"/>
                  </a:prstClr>
                </a:outerShdw>
              </a:effectLst>
            </p:spPr>
          </p:pic>
          <p:pic>
            <p:nvPicPr>
              <p:cNvPr id="12" name="图片 6">
                <a:extLst>
                  <a:ext uri="{FF2B5EF4-FFF2-40B4-BE49-F238E27FC236}">
                    <a16:creationId xmlns:a16="http://schemas.microsoft.com/office/drawing/2014/main" id="{248B8961-F99F-A54F-E1EC-04A8A05AC330}"/>
                  </a:ext>
                </a:extLst>
              </p:cNvPr>
              <p:cNvPicPr>
                <a:picLocks noChangeAspect="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1134449" y="2928710"/>
                <a:ext cx="2104337" cy="177720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3" name="矩形 13">
                <a:extLst>
                  <a:ext uri="{FF2B5EF4-FFF2-40B4-BE49-F238E27FC236}">
                    <a16:creationId xmlns:a16="http://schemas.microsoft.com/office/drawing/2014/main" id="{7DCAEEAB-E4A3-F42A-37E7-D3D6FAE8C96B}"/>
                  </a:ext>
                </a:extLst>
              </p:cNvPr>
              <p:cNvSpPr>
                <a:spLocks noChangeArrowheads="1"/>
              </p:cNvSpPr>
              <p:nvPr/>
            </p:nvSpPr>
            <p:spPr bwMode="auto">
              <a:xfrm>
                <a:off x="1860813" y="3080112"/>
                <a:ext cx="1371921" cy="276999"/>
              </a:xfrm>
              <a:prstGeom prst="rect">
                <a:avLst/>
              </a:prstGeom>
              <a:solidFill>
                <a:schemeClr val="bg2">
                  <a:lumMod val="40000"/>
                  <a:lumOff val="60000"/>
                </a:schemeClr>
              </a:solidFill>
              <a:ln>
                <a:noFill/>
              </a:ln>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FontTx/>
                  <a:buNone/>
                  <a:defRPr/>
                </a:pPr>
                <a:r>
                  <a:rPr lang="en-US" altLang="zh-CN" sz="1200" b="1" dirty="0">
                    <a:solidFill>
                      <a:srgbClr val="3333FF"/>
                    </a:solidFill>
                    <a:latin typeface="Times New Roman" panose="02020603050405020304" pitchFamily="18" charset="0"/>
                    <a:ea typeface="黑体" panose="02010609060101010101" pitchFamily="49" charset="-122"/>
                    <a:cs typeface="Times New Roman" panose="02020603050405020304" pitchFamily="18" charset="0"/>
                  </a:rPr>
                  <a:t>TAMU</a:t>
                </a:r>
                <a:r>
                  <a:rPr lang="zh-CN" altLang="en-US" sz="1200" b="1" dirty="0">
                    <a:latin typeface="Times New Roman" panose="02020603050405020304" pitchFamily="18" charset="0"/>
                    <a:ea typeface="黑体" panose="02010609060101010101" pitchFamily="49" charset="-122"/>
                    <a:cs typeface="Times New Roman" panose="02020603050405020304" pitchFamily="18" charset="0"/>
                  </a:rPr>
                  <a:t>网站宣传</a:t>
                </a:r>
                <a:endParaRPr lang="zh-CN" altLang="en-US" sz="1200" dirty="0">
                  <a:latin typeface="Times New Roman" panose="02020603050405020304" pitchFamily="18" charset="0"/>
                  <a:ea typeface="黑体" panose="02010609060101010101" pitchFamily="49" charset="-122"/>
                  <a:cs typeface="Times New Roman" panose="02020603050405020304" pitchFamily="18" charset="0"/>
                </a:endParaRPr>
              </a:p>
            </p:txBody>
          </p:sp>
          <p:sp>
            <p:nvSpPr>
              <p:cNvPr id="50" name="Rectangle 4">
                <a:extLst>
                  <a:ext uri="{FF2B5EF4-FFF2-40B4-BE49-F238E27FC236}">
                    <a16:creationId xmlns:a16="http://schemas.microsoft.com/office/drawing/2014/main" id="{B5510591-3B27-3C39-F573-18B15105516E}"/>
                  </a:ext>
                </a:extLst>
              </p:cNvPr>
              <p:cNvSpPr>
                <a:spLocks noChangeArrowheads="1"/>
              </p:cNvSpPr>
              <p:nvPr/>
            </p:nvSpPr>
            <p:spPr bwMode="auto">
              <a:xfrm>
                <a:off x="246993" y="6012487"/>
                <a:ext cx="2880000" cy="485963"/>
              </a:xfrm>
              <a:prstGeom prst="rect">
                <a:avLst/>
              </a:prstGeom>
              <a:solidFill>
                <a:schemeClr val="bg2">
                  <a:lumMod val="40000"/>
                  <a:lumOff val="60000"/>
                </a:schemeClr>
              </a:solidFill>
              <a:ln>
                <a:solidFill>
                  <a:schemeClr val="tx1"/>
                </a:solidFill>
              </a:ln>
              <a:effectLst>
                <a:outerShdw blurRad="50800" dist="38100" dir="13500000" algn="br" rotWithShape="0">
                  <a:prstClr val="black">
                    <a:alpha val="40000"/>
                  </a:prstClr>
                </a:outerShdw>
              </a:effectLst>
            </p:spPr>
            <p:txBody>
              <a:bodyPr wrap="square">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a:spcBef>
                    <a:spcPct val="0"/>
                  </a:spcBef>
                  <a:buClr>
                    <a:srgbClr val="006600"/>
                  </a:buClr>
                  <a:buFontTx/>
                  <a:buNone/>
                  <a:defRPr/>
                </a:pPr>
                <a:r>
                  <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ESI </a:t>
                </a:r>
                <a:r>
                  <a:rPr lang="zh-CN" altLang="en-US"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rPr>
                  <a:t>高被引论文</a:t>
                </a:r>
                <a:endParaRPr lang="en-US" altLang="zh-CN" sz="2400" b="1" dirty="0">
                  <a:solidFill>
                    <a:srgbClr val="FF0000"/>
                  </a:solidFill>
                  <a:latin typeface="黑体" panose="02010609060101010101" pitchFamily="49" charset="-122"/>
                  <a:ea typeface="黑体" panose="02010609060101010101" pitchFamily="49" charset="-122"/>
                  <a:cs typeface="Times New Roman" panose="02020603050405020304" pitchFamily="18" charset="0"/>
                </a:endParaRPr>
              </a:p>
            </p:txBody>
          </p:sp>
        </p:grpSp>
      </p:grpSp>
    </p:spTree>
    <p:extLst>
      <p:ext uri="{BB962C8B-B14F-4D97-AF65-F5344CB8AC3E}">
        <p14:creationId xmlns:p14="http://schemas.microsoft.com/office/powerpoint/2010/main" val="3439311672"/>
      </p:ext>
    </p:extLst>
  </p:cSld>
  <p:clrMapOvr>
    <a:masterClrMapping/>
  </p:clrMapOvr>
  <mc:AlternateContent xmlns:mc="http://schemas.openxmlformats.org/markup-compatibility/2006" xmlns:p14="http://schemas.microsoft.com/office/powerpoint/2010/main">
    <mc:Choice Requires="p14">
      <p:transition spd="slow" p14:dur="2000" advTm="1371"/>
    </mc:Choice>
    <mc:Fallback xmlns="">
      <p:transition spd="slow" advTm="1371"/>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矩形 17">
            <a:extLst>
              <a:ext uri="{FF2B5EF4-FFF2-40B4-BE49-F238E27FC236}">
                <a16:creationId xmlns:a16="http://schemas.microsoft.com/office/drawing/2014/main" id="{CF2489A2-66A4-53D3-AF30-A997341FFB81}"/>
              </a:ext>
            </a:extLst>
          </p:cNvPr>
          <p:cNvSpPr>
            <a:spLocks noChangeArrowheads="1"/>
          </p:cNvSpPr>
          <p:nvPr/>
        </p:nvSpPr>
        <p:spPr bwMode="auto">
          <a:xfrm>
            <a:off x="263525" y="632319"/>
            <a:ext cx="10801027" cy="5865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50000"/>
              </a:lnSpc>
              <a:spcBef>
                <a:spcPts val="600"/>
              </a:spcBef>
              <a:buClr>
                <a:srgbClr val="C00000"/>
              </a:buClr>
              <a:buFont typeface="Wingdings" panose="05000000000000000000" pitchFamily="2" charset="2"/>
              <a:buChar char="p"/>
            </a:pPr>
            <a:r>
              <a:rPr lang="zh-CN" altLang="en-US" sz="2400" dirty="0">
                <a:solidFill>
                  <a:srgbClr val="000000"/>
                </a:solidFill>
                <a:latin typeface="方正大黑简体" panose="03000509000000000000" pitchFamily="65" charset="-122"/>
                <a:ea typeface="方正大黑简体" panose="03000509000000000000" pitchFamily="65" charset="-122"/>
              </a:rPr>
              <a:t>本项目多位核心成员入选</a:t>
            </a:r>
            <a:r>
              <a:rPr lang="zh-CN" altLang="en-US" sz="2400" dirty="0">
                <a:solidFill>
                  <a:srgbClr val="FF0000"/>
                </a:solidFill>
                <a:latin typeface="方正大黑简体" panose="03000509000000000000" pitchFamily="65" charset="-122"/>
                <a:ea typeface="方正大黑简体" panose="03000509000000000000" pitchFamily="65" charset="-122"/>
              </a:rPr>
              <a:t>国家级、省部级、企事业人才计划</a:t>
            </a:r>
            <a:r>
              <a:rPr lang="zh-CN" altLang="en-US" sz="2400" dirty="0">
                <a:latin typeface="方正大黑简体" panose="03000509000000000000" pitchFamily="65" charset="-122"/>
                <a:ea typeface="方正大黑简体" panose="03000509000000000000" pitchFamily="65" charset="-122"/>
              </a:rPr>
              <a:t>累计</a:t>
            </a:r>
            <a:r>
              <a:rPr lang="en-US" altLang="zh-CN" sz="2400" dirty="0">
                <a:solidFill>
                  <a:srgbClr val="FF0000"/>
                </a:solidFill>
                <a:latin typeface="方正大黑简体" panose="03000509000000000000" pitchFamily="65" charset="-122"/>
                <a:ea typeface="方正大黑简体" panose="03000509000000000000" pitchFamily="65" charset="-122"/>
              </a:rPr>
              <a:t>19</a:t>
            </a:r>
            <a:r>
              <a:rPr lang="zh-CN" altLang="en-US" sz="2400" dirty="0">
                <a:latin typeface="方正大黑简体" panose="03000509000000000000" pitchFamily="65" charset="-122"/>
                <a:ea typeface="方正大黑简体" panose="03000509000000000000" pitchFamily="65" charset="-122"/>
              </a:rPr>
              <a:t>项</a:t>
            </a:r>
          </a:p>
        </p:txBody>
      </p:sp>
      <p:sp>
        <p:nvSpPr>
          <p:cNvPr id="37" name="TextBox 45">
            <a:extLst>
              <a:ext uri="{FF2B5EF4-FFF2-40B4-BE49-F238E27FC236}">
                <a16:creationId xmlns:a16="http://schemas.microsoft.com/office/drawing/2014/main" id="{EEC356A3-4FDE-1D52-1D48-15BE16D6C607}"/>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（四）人才培养及人才队伍建设</a:t>
            </a:r>
          </a:p>
        </p:txBody>
      </p:sp>
      <p:sp>
        <p:nvSpPr>
          <p:cNvPr id="2" name="Text Box 7">
            <a:extLst>
              <a:ext uri="{FF2B5EF4-FFF2-40B4-BE49-F238E27FC236}">
                <a16:creationId xmlns:a16="http://schemas.microsoft.com/office/drawing/2014/main" id="{09AF6679-9B4E-47C1-B5CA-803A51C4EEEA}"/>
              </a:ext>
            </a:extLst>
          </p:cNvPr>
          <p:cNvSpPr txBox="1">
            <a:spLocks noChangeArrowheads="1"/>
          </p:cNvSpPr>
          <p:nvPr/>
        </p:nvSpPr>
        <p:spPr bwMode="auto">
          <a:xfrm>
            <a:off x="263526" y="1207240"/>
            <a:ext cx="11736388" cy="8225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indent="-285750" algn="just" eaLnBrk="1" hangingPunct="1">
              <a:lnSpc>
                <a:spcPct val="125000"/>
              </a:lnSpc>
              <a:buClr>
                <a:srgbClr val="FF0000"/>
              </a:buClr>
              <a:buFont typeface="Wingdings" panose="05000000000000000000" pitchFamily="2" charset="2"/>
              <a:buChar char="n"/>
            </a:pP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人入选</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中国工程院院士增选有效候选人</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何梁何利科技创新奖、</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人入选</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国家杰青、</a:t>
            </a:r>
            <a:r>
              <a:rPr lang="en-US" altLang="zh-CN" sz="2000" b="1" dirty="0">
                <a:latin typeface="Times New Roman" panose="02020603050405020304" pitchFamily="18" charset="0"/>
                <a:ea typeface="黑体" panose="02010609060101010101" pitchFamily="49" charset="-122"/>
                <a:cs typeface="Times New Roman" panose="02020603050405020304" pitchFamily="18" charset="0"/>
              </a:rPr>
              <a:t> 2</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人入选</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国家优青</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海外优青、</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4</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人入选省部级</a:t>
            </a:r>
            <a:r>
              <a:rPr lang="en-US" altLang="zh-CN"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a:t>
            </a:r>
            <a:r>
              <a:rPr lang="zh-CN" altLang="en-US" sz="20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行业协会青年人才称号 ，</a:t>
            </a:r>
            <a:r>
              <a:rPr lang="zh-CN" altLang="en-US" sz="2000" b="1" dirty="0">
                <a:latin typeface="Times New Roman" panose="02020603050405020304" pitchFamily="18" charset="0"/>
                <a:ea typeface="黑体" panose="02010609060101010101" pitchFamily="49" charset="-122"/>
                <a:cs typeface="Times New Roman" panose="02020603050405020304" pitchFamily="18" charset="0"/>
              </a:rPr>
              <a:t>为学科发展与人才队伍建设提供重要支撑。</a:t>
            </a:r>
          </a:p>
        </p:txBody>
      </p:sp>
      <p:graphicFrame>
        <p:nvGraphicFramePr>
          <p:cNvPr id="6" name="表格 5">
            <a:extLst>
              <a:ext uri="{FF2B5EF4-FFF2-40B4-BE49-F238E27FC236}">
                <a16:creationId xmlns:a16="http://schemas.microsoft.com/office/drawing/2014/main" id="{0095AE9A-BDBE-9CDE-4967-790B5F0C14B7}"/>
              </a:ext>
            </a:extLst>
          </p:cNvPr>
          <p:cNvGraphicFramePr>
            <a:graphicFrameLocks noGrp="1"/>
          </p:cNvGraphicFramePr>
          <p:nvPr>
            <p:extLst>
              <p:ext uri="{D42A27DB-BD31-4B8C-83A1-F6EECF244321}">
                <p14:modId xmlns:p14="http://schemas.microsoft.com/office/powerpoint/2010/main" val="1191754898"/>
              </p:ext>
            </p:extLst>
          </p:nvPr>
        </p:nvGraphicFramePr>
        <p:xfrm>
          <a:off x="263524" y="2132857"/>
          <a:ext cx="11736386" cy="4320477"/>
        </p:xfrm>
        <a:graphic>
          <a:graphicData uri="http://schemas.openxmlformats.org/drawingml/2006/table">
            <a:tbl>
              <a:tblPr>
                <a:tableStyleId>{5940675A-B579-460E-94D1-54222C63F5DA}</a:tableStyleId>
              </a:tblPr>
              <a:tblGrid>
                <a:gridCol w="815791">
                  <a:extLst>
                    <a:ext uri="{9D8B030D-6E8A-4147-A177-3AD203B41FA5}">
                      <a16:colId xmlns:a16="http://schemas.microsoft.com/office/drawing/2014/main" val="1935182873"/>
                    </a:ext>
                  </a:extLst>
                </a:gridCol>
                <a:gridCol w="8041021">
                  <a:extLst>
                    <a:ext uri="{9D8B030D-6E8A-4147-A177-3AD203B41FA5}">
                      <a16:colId xmlns:a16="http://schemas.microsoft.com/office/drawing/2014/main" val="2264290154"/>
                    </a:ext>
                  </a:extLst>
                </a:gridCol>
                <a:gridCol w="1112718">
                  <a:extLst>
                    <a:ext uri="{9D8B030D-6E8A-4147-A177-3AD203B41FA5}">
                      <a16:colId xmlns:a16="http://schemas.microsoft.com/office/drawing/2014/main" val="1794215036"/>
                    </a:ext>
                  </a:extLst>
                </a:gridCol>
                <a:gridCol w="1766856">
                  <a:extLst>
                    <a:ext uri="{9D8B030D-6E8A-4147-A177-3AD203B41FA5}">
                      <a16:colId xmlns:a16="http://schemas.microsoft.com/office/drawing/2014/main" val="3993590327"/>
                    </a:ext>
                  </a:extLst>
                </a:gridCol>
              </a:tblGrid>
              <a:tr h="512321">
                <a:tc>
                  <a:txBody>
                    <a:bodyPr/>
                    <a:lstStyle/>
                    <a:p>
                      <a:pPr algn="ctr" fontAlgn="ctr"/>
                      <a:r>
                        <a:rPr lang="zh-CN" altLang="en-US" sz="16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序号</a:t>
                      </a:r>
                      <a:endParaRPr lang="zh-CN" altLang="en-US" sz="16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tc>
                  <a:txBody>
                    <a:bodyPr/>
                    <a:lstStyle/>
                    <a:p>
                      <a:pPr algn="ctr" fontAlgn="ctr"/>
                      <a:r>
                        <a:rPr lang="zh-CN" altLang="en-US" sz="16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奖项名称</a:t>
                      </a:r>
                    </a:p>
                  </a:txBody>
                  <a:tcPr marL="4896" marR="4896" marT="4896" marB="0" anchor="ctr">
                    <a:solidFill>
                      <a:schemeClr val="bg1">
                        <a:lumMod val="65000"/>
                      </a:schemeClr>
                    </a:solidFill>
                  </a:tcPr>
                </a:tc>
                <a:tc>
                  <a:txBody>
                    <a:bodyPr/>
                    <a:lstStyle/>
                    <a:p>
                      <a:pPr algn="ctr" fontAlgn="ctr"/>
                      <a:r>
                        <a:rPr lang="zh-CN" altLang="en-US" sz="1600" b="1" u="none" strike="noStrike" dirty="0">
                          <a:effectLst/>
                          <a:latin typeface="Times New Roman" panose="02020603050405020304" pitchFamily="18" charset="0"/>
                          <a:ea typeface="黑体" panose="02010609060101010101" pitchFamily="49" charset="-122"/>
                          <a:cs typeface="Times New Roman" panose="02020603050405020304" pitchFamily="18" charset="0"/>
                        </a:rPr>
                        <a:t>获奖时间</a:t>
                      </a:r>
                      <a:endParaRPr lang="zh-CN" altLang="en-US" sz="16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solidFill>
                      <a:schemeClr val="bg1">
                        <a:lumMod val="65000"/>
                      </a:schemeClr>
                    </a:solidFill>
                  </a:tcPr>
                </a:tc>
                <a:tc>
                  <a:txBody>
                    <a:bodyPr/>
                    <a:lstStyle/>
                    <a:p>
                      <a:pPr algn="ctr" fontAlgn="ctr"/>
                      <a:r>
                        <a:rPr lang="zh-CN" altLang="en-US" sz="1600" b="1"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获奖人员</a:t>
                      </a:r>
                    </a:p>
                  </a:txBody>
                  <a:tcPr marL="4896" marR="4896" marT="4896" marB="0" anchor="ctr">
                    <a:solidFill>
                      <a:schemeClr val="bg1">
                        <a:lumMod val="65000"/>
                      </a:schemeClr>
                    </a:solidFill>
                  </a:tcPr>
                </a:tc>
                <a:extLst>
                  <a:ext uri="{0D108BD9-81ED-4DB2-BD59-A6C34878D82A}">
                    <a16:rowId xmlns:a16="http://schemas.microsoft.com/office/drawing/2014/main" val="531686996"/>
                  </a:ext>
                </a:extLst>
              </a:tr>
              <a:tr h="633469">
                <a:tc>
                  <a:txBody>
                    <a:bodyPr/>
                    <a:lstStyle/>
                    <a:p>
                      <a:pPr algn="ctr" fontAlgn="ctr"/>
                      <a:r>
                        <a:rPr lang="en-US" altLang="zh-CN" sz="14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1</a:t>
                      </a:r>
                      <a:endPar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marL="0" indent="0" algn="ctr" fontAlgn="ctr">
                        <a:buFontTx/>
                        <a:buNone/>
                      </a:pPr>
                      <a:r>
                        <a:rPr 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 </a:t>
                      </a:r>
                      <a:r>
                        <a:rPr lang="en-US"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“Future Leader”</a:t>
                      </a:r>
                      <a:r>
                        <a:rPr lang="zh-CN" altLang="en-US"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国际个人奖</a:t>
                      </a:r>
                      <a:r>
                        <a:rPr lang="en-US" altLang="zh-CN"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石油和化学工业联合会科技进步一等奖</a:t>
                      </a:r>
                      <a:r>
                        <a:rPr lang="en-US" altLang="zh-CN"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校优秀青年学者</a:t>
                      </a:r>
                    </a:p>
                  </a:txBody>
                  <a:tcPr marL="7620" marR="7620" marT="7620" marB="0" anchor="ctr"/>
                </a:tc>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2021-2024</a:t>
                      </a:r>
                    </a:p>
                  </a:txBody>
                  <a:tcPr marL="4896" marR="4896" marT="4896" marB="0" anchor="ctr"/>
                </a:tc>
                <a:tc>
                  <a:txBody>
                    <a:bodyPr/>
                    <a:lstStyle/>
                    <a:p>
                      <a:pPr algn="ctr" fontAlgn="ctr"/>
                      <a:r>
                        <a:rPr lang="zh-CN" altLang="en-US" sz="1400" b="0" i="0" u="none" strike="noStrike">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胡晓东</a:t>
                      </a:r>
                      <a:endParaRPr lang="zh-CN" altLang="en-US"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843475541"/>
                  </a:ext>
                </a:extLst>
              </a:tr>
              <a:tr h="512321">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marL="4896" marR="4896" marT="4896"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中国力学学会青年蓄水池人才</a:t>
                      </a:r>
                      <a:r>
                        <a:rPr lang="en-US" altLang="zh-CN"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甬江人才工程引进人才</a:t>
                      </a:r>
                      <a:r>
                        <a:rPr lang="en-US" altLang="zh-CN"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ADAPEN</a:t>
                      </a:r>
                      <a:r>
                        <a:rPr lang="zh-CN" altLang="en-US"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高被引论文奖</a:t>
                      </a:r>
                    </a:p>
                  </a:txBody>
                  <a:tcPr marL="7620" marR="7620" marT="7620" marB="0" anchor="ctr"/>
                </a:tc>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2021-2023</a:t>
                      </a:r>
                    </a:p>
                  </a:txBody>
                  <a:tcPr marL="4896" marR="4896" marT="4896" marB="0" anchor="ctr"/>
                </a:tc>
                <a:tc>
                  <a:txBody>
                    <a:bodyPr/>
                    <a:lstStyle/>
                    <a:p>
                      <a:pPr algn="ctr" fontAlgn="ctr"/>
                      <a:r>
                        <a:rPr lang="zh-CN" altLang="en-US"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陈云天</a:t>
                      </a:r>
                    </a:p>
                  </a:txBody>
                  <a:tcPr marL="4896" marR="4896" marT="4896" marB="0" anchor="ctr"/>
                </a:tc>
                <a:extLst>
                  <a:ext uri="{0D108BD9-81ED-4DB2-BD59-A6C34878D82A}">
                    <a16:rowId xmlns:a16="http://schemas.microsoft.com/office/drawing/2014/main" val="1572311948"/>
                  </a:ext>
                </a:extLst>
              </a:tr>
              <a:tr h="512321">
                <a:tc>
                  <a:txBody>
                    <a:bodyPr/>
                    <a:lstStyle/>
                    <a:p>
                      <a:pPr algn="ctr" fontAlgn="ctr"/>
                      <a:r>
                        <a:rPr lang="en-US" altLang="zh-CN" sz="14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3</a:t>
                      </a:r>
                      <a:endPar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北京高校第十三届青年教师教学基本功比赛工科组一等奖</a:t>
                      </a:r>
                      <a:r>
                        <a:rPr lang="en-US" altLang="zh-CN"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最佳教案奖</a:t>
                      </a:r>
                    </a:p>
                  </a:txBody>
                  <a:tcPr marL="7620" marR="7620" marT="7620" marB="0" anchor="ctr"/>
                </a:tc>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2023</a:t>
                      </a:r>
                    </a:p>
                  </a:txBody>
                  <a:tcPr marL="4896" marR="4896" marT="4896" marB="0" anchor="ctr"/>
                </a:tc>
                <a:tc>
                  <a:txBody>
                    <a:bodyPr/>
                    <a:lstStyle/>
                    <a:p>
                      <a:pPr algn="ctr" fontAlgn="ctr"/>
                      <a:r>
                        <a:rPr lang="zh-CN" altLang="en-US"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许争鸣</a:t>
                      </a:r>
                    </a:p>
                  </a:txBody>
                  <a:tcPr marL="4896" marR="4896" marT="4896" marB="0" anchor="ctr"/>
                </a:tc>
                <a:extLst>
                  <a:ext uri="{0D108BD9-81ED-4DB2-BD59-A6C34878D82A}">
                    <a16:rowId xmlns:a16="http://schemas.microsoft.com/office/drawing/2014/main" val="2430856101"/>
                  </a:ext>
                </a:extLst>
              </a:tr>
              <a:tr h="512321">
                <a:tc>
                  <a:txBody>
                    <a:bodyPr/>
                    <a:lstStyle/>
                    <a:p>
                      <a:pPr algn="ctr" fontAlgn="ctr"/>
                      <a:r>
                        <a:rPr lang="en-US" altLang="zh-CN" sz="1400" b="0" u="none" strike="noStrike" dirty="0">
                          <a:effectLst/>
                          <a:latin typeface="Times New Roman" panose="02020603050405020304" pitchFamily="18" charset="0"/>
                          <a:ea typeface="黑体" panose="02010609060101010101" pitchFamily="49" charset="-122"/>
                          <a:cs typeface="Times New Roman" panose="02020603050405020304" pitchFamily="18" charset="0"/>
                        </a:rPr>
                        <a:t>4</a:t>
                      </a:r>
                      <a:endPar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err="1">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国家杰出青年基金</a:t>
                      </a:r>
                      <a:r>
                        <a:rPr lang="en-US"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a:t>
                      </a:r>
                      <a:r>
                        <a:rPr lang="en-US" altLang="zh-CN" sz="1600" b="0" i="0" u="none" strike="noStrike" dirty="0" err="1">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国家优秀青年基金</a:t>
                      </a:r>
                      <a:r>
                        <a:rPr lang="en-US" altLang="zh-CN"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绿色矿山青年科学技术奖</a:t>
                      </a:r>
                      <a:r>
                        <a:rPr lang="en-US" altLang="zh-CN"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孙越崎青年科技奖</a:t>
                      </a:r>
                    </a:p>
                  </a:txBody>
                  <a:tcPr marL="7620" marR="7620" marT="7620" marB="0" anchor="ctr"/>
                </a:tc>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2018-2021</a:t>
                      </a:r>
                    </a:p>
                  </a:txBody>
                  <a:tcPr marL="4896" marR="4896" marT="4896" marB="0" anchor="ctr"/>
                </a:tc>
                <a:tc>
                  <a:txBody>
                    <a:bodyPr/>
                    <a:lstStyle/>
                    <a:p>
                      <a:pPr algn="ctr" fontAlgn="ctr"/>
                      <a:r>
                        <a:rPr lang="en-US" altLang="zh-CN" sz="1400" b="0" i="0" u="none" strike="noStrike" dirty="0" err="1">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宋先知</a:t>
                      </a:r>
                      <a:endParaRPr lang="zh-CN" altLang="en-US"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1609443909"/>
                  </a:ext>
                </a:extLst>
              </a:tr>
              <a:tr h="613082">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5</a:t>
                      </a:r>
                    </a:p>
                  </a:txBody>
                  <a:tcPr marL="4896" marR="4896" marT="4896"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err="1">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中国工程院院士增选有效候选人</a:t>
                      </a:r>
                      <a:r>
                        <a:rPr lang="en-US"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孙越崎能源大奖</a:t>
                      </a:r>
                      <a:r>
                        <a:rPr lang="en-US" altLang="zh-CN"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何梁何利科学与技术创新奖</a:t>
                      </a:r>
                    </a:p>
                  </a:txBody>
                  <a:tcPr marL="7620" marR="7620" marT="7620" marB="0" anchor="ctr"/>
                </a:tc>
                <a:tc>
                  <a:txBody>
                    <a:bodyPr/>
                    <a:lstStyle/>
                    <a:p>
                      <a:pPr algn="ctr" fontAlgn="ctr"/>
                      <a:r>
                        <a:rPr lang="en-US" altLang="zh-CN" sz="1400" b="0" kern="120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2018-2021</a:t>
                      </a:r>
                      <a:endPar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tc>
                  <a:txBody>
                    <a:bodyPr/>
                    <a:lstStyle/>
                    <a:p>
                      <a:pPr algn="ctr" fontAlgn="ctr"/>
                      <a:r>
                        <a:rPr lang="en-US" altLang="zh-CN" sz="1400" b="0" i="0" u="none" strike="noStrike" dirty="0" err="1">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周福建</a:t>
                      </a:r>
                      <a:endParaRPr lang="zh-CN" altLang="en-US"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3964597802"/>
                  </a:ext>
                </a:extLst>
              </a:tr>
              <a:tr h="512321">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6</a:t>
                      </a:r>
                    </a:p>
                  </a:txBody>
                  <a:tcPr marL="4896" marR="4896" marT="4896"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中国石油大学（北京）校青年拔尖人才</a:t>
                      </a:r>
                    </a:p>
                  </a:txBody>
                  <a:tcPr marL="7620" marR="7620" marT="7620" marB="0" anchor="ctr"/>
                </a:tc>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2023</a:t>
                      </a:r>
                    </a:p>
                  </a:txBody>
                  <a:tcPr marL="4896" marR="4896" marT="4896" marB="0" anchor="ctr"/>
                </a:tc>
                <a:tc>
                  <a:txBody>
                    <a:bodyPr/>
                    <a:lstStyle/>
                    <a:p>
                      <a:pPr algn="ctr" fontAlgn="ctr"/>
                      <a:r>
                        <a:rPr lang="zh-CN" altLang="en-US"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祝兆鹏</a:t>
                      </a:r>
                    </a:p>
                  </a:txBody>
                  <a:tcPr marL="4896" marR="4896" marT="4896" marB="0" anchor="ctr"/>
                </a:tc>
                <a:extLst>
                  <a:ext uri="{0D108BD9-81ED-4DB2-BD59-A6C34878D82A}">
                    <a16:rowId xmlns:a16="http://schemas.microsoft.com/office/drawing/2014/main" val="984610719"/>
                  </a:ext>
                </a:extLst>
              </a:tr>
              <a:tr h="512321">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7</a:t>
                      </a:r>
                    </a:p>
                  </a:txBody>
                  <a:tcPr marL="4896" marR="4896" marT="4896"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sz="1600" b="0" i="0" u="none" strike="noStrike" dirty="0" err="1">
                          <a:solidFill>
                            <a:srgbClr val="3B3BFF"/>
                          </a:solidFill>
                          <a:effectLst/>
                          <a:latin typeface="Times New Roman" panose="02020603050405020304" pitchFamily="18" charset="0"/>
                          <a:ea typeface="黑体" panose="02010609060101010101" pitchFamily="49" charset="-122"/>
                          <a:cs typeface="Times New Roman" panose="02020603050405020304" pitchFamily="18" charset="0"/>
                        </a:rPr>
                        <a:t>国家级海外高层次引进青年人才</a:t>
                      </a:r>
                      <a:r>
                        <a:rPr 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6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上海市海外高层次引进人才</a:t>
                      </a:r>
                    </a:p>
                  </a:txBody>
                  <a:tcPr marL="7620" marR="7620" marT="7620" marB="0" anchor="ctr"/>
                </a:tc>
                <a:tc>
                  <a:txBody>
                    <a:bodyPr/>
                    <a:lstStyle/>
                    <a:p>
                      <a:pPr algn="ctr" fontAlgn="ctr"/>
                      <a:r>
                        <a:rPr lang="en-US" altLang="zh-CN"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2020-2021</a:t>
                      </a:r>
                    </a:p>
                  </a:txBody>
                  <a:tcPr marL="4896" marR="4896" marT="4896" marB="0" anchor="ctr"/>
                </a:tc>
                <a:tc>
                  <a:txBody>
                    <a:bodyPr/>
                    <a:lstStyle/>
                    <a:p>
                      <a:pPr algn="ctr" fontAlgn="ctr"/>
                      <a:r>
                        <a:rPr lang="en-US" altLang="zh-CN" sz="1400" b="0" i="0" u="none" strike="noStrike" dirty="0" err="1">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rPr>
                        <a:t>汤继周</a:t>
                      </a:r>
                      <a:endParaRPr lang="zh-CN" altLang="en-US" sz="1400" b="0" i="0" u="none" strike="noStrike" dirty="0">
                        <a:solidFill>
                          <a:srgbClr val="000000"/>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4896" marR="4896" marT="4896" marB="0" anchor="ctr"/>
                </a:tc>
                <a:extLst>
                  <a:ext uri="{0D108BD9-81ED-4DB2-BD59-A6C34878D82A}">
                    <a16:rowId xmlns:a16="http://schemas.microsoft.com/office/drawing/2014/main" val="1508830434"/>
                  </a:ext>
                </a:extLst>
              </a:tr>
            </a:tbl>
          </a:graphicData>
        </a:graphic>
      </p:graphicFrame>
    </p:spTree>
    <p:extLst>
      <p:ext uri="{BB962C8B-B14F-4D97-AF65-F5344CB8AC3E}">
        <p14:creationId xmlns:p14="http://schemas.microsoft.com/office/powerpoint/2010/main" val="567871989"/>
      </p:ext>
    </p:extLst>
  </p:cSld>
  <p:clrMapOvr>
    <a:masterClrMapping/>
  </p:clrMapOvr>
  <mc:AlternateContent xmlns:mc="http://schemas.openxmlformats.org/markup-compatibility/2006" xmlns:p14="http://schemas.microsoft.com/office/powerpoint/2010/main">
    <mc:Choice Requires="p14">
      <p:transition spd="slow" p14:dur="2000" advTm="1371"/>
    </mc:Choice>
    <mc:Fallback xmlns="">
      <p:transition spd="slow" advTm="1371"/>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000" i="0" u="none" strike="noStrike" kern="1200" cap="none" spc="0" normalizeH="0" baseline="0" noProof="0" dirty="0">
                <a:ln>
                  <a:noFill/>
                </a:ln>
                <a:solidFill>
                  <a:srgbClr val="FF0000"/>
                </a:solidFill>
                <a:effectLst/>
                <a:uLnTx/>
                <a:uFillTx/>
                <a:latin typeface="方正大黑简体" panose="02000000000000000000" pitchFamily="2" charset="-122"/>
                <a:ea typeface="方正大黑简体" panose="02000000000000000000" pitchFamily="2" charset="-122"/>
                <a:cs typeface="+mn-cs"/>
              </a:rPr>
              <a:t>汇 报 提 纲</a:t>
            </a:r>
          </a:p>
        </p:txBody>
      </p:sp>
      <p:sp>
        <p:nvSpPr>
          <p:cNvPr id="1048583" name="Text Box 6"/>
          <p:cNvSpPr txBox="1">
            <a:spLocks noChangeArrowheads="1"/>
          </p:cNvSpPr>
          <p:nvPr/>
        </p:nvSpPr>
        <p:spPr bwMode="auto">
          <a:xfrm>
            <a:off x="2675260" y="935373"/>
            <a:ext cx="7669212" cy="5476207"/>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一、研究背景</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二、攻关研究形成的技术、理论和方法</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三、主要技术指标和经济指标国内外对比</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四、成果的主要技术发明点</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五、应用情况</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六、有形化成果</a:t>
            </a:r>
            <a:endParaRPr kumimoji="0" lang="en-US" altLang="zh-CN"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lvl="0" fontAlgn="base">
              <a:lnSpc>
                <a:spcPct val="150000"/>
              </a:lnSpc>
              <a:spcBef>
                <a:spcPct val="0"/>
              </a:spcBef>
              <a:spcAft>
                <a:spcPct val="0"/>
              </a:spcAft>
              <a:buClr>
                <a:srgbClr val="FF0000"/>
              </a:buClr>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七</a:t>
            </a:r>
            <a:r>
              <a:rPr lang="zh-CN" altLang="en-US" sz="3200" b="1" dirty="0">
                <a:solidFill>
                  <a:srgbClr val="000000"/>
                </a:solidFill>
                <a:latin typeface="黑体" panose="02010609060101010101" pitchFamily="49" charset="-122"/>
                <a:ea typeface="黑体" panose="02010609060101010101" pitchFamily="49" charset="-122"/>
              </a:rPr>
              <a:t>、不足与局限性</a:t>
            </a:r>
            <a:endPar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34505206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extBox 45">
            <a:extLst>
              <a:ext uri="{FF2B5EF4-FFF2-40B4-BE49-F238E27FC236}">
                <a16:creationId xmlns:a16="http://schemas.microsoft.com/office/drawing/2014/main" id="{67FD002C-53D0-C295-34BB-749AE8114C6A}"/>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（一）成果的技术发明点</a:t>
            </a:r>
          </a:p>
        </p:txBody>
      </p:sp>
      <p:sp>
        <p:nvSpPr>
          <p:cNvPr id="2" name="矩形 17">
            <a:extLst>
              <a:ext uri="{FF2B5EF4-FFF2-40B4-BE49-F238E27FC236}">
                <a16:creationId xmlns:a16="http://schemas.microsoft.com/office/drawing/2014/main" id="{FF30BCD1-983C-B579-BFA7-0C4745608963}"/>
              </a:ext>
            </a:extLst>
          </p:cNvPr>
          <p:cNvSpPr>
            <a:spLocks noChangeArrowheads="1"/>
          </p:cNvSpPr>
          <p:nvPr/>
        </p:nvSpPr>
        <p:spPr bwMode="auto">
          <a:xfrm>
            <a:off x="263525" y="692696"/>
            <a:ext cx="11736387" cy="1726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eaLnBrk="1" hangingPunct="1">
              <a:lnSpc>
                <a:spcPct val="125000"/>
              </a:lnSpc>
              <a:spcBef>
                <a:spcPts val="600"/>
              </a:spcBef>
              <a:buClr>
                <a:srgbClr val="C00000"/>
              </a:buClr>
              <a:buFont typeface="Wingdings" panose="05000000000000000000" pitchFamily="2" charset="2"/>
              <a:buChar char="p"/>
            </a:pPr>
            <a:r>
              <a:rPr lang="zh-CN" altLang="en-US" sz="2200" b="1" dirty="0">
                <a:latin typeface="黑体" panose="02010609060101010101" pitchFamily="49" charset="-122"/>
                <a:ea typeface="黑体" panose="02010609060101010101" pitchFamily="49" charset="-122"/>
              </a:rPr>
              <a:t>本项目立足非常规油气开采领域， 以“</a:t>
            </a:r>
            <a:r>
              <a:rPr lang="zh-CN" altLang="en-US" sz="2200" b="1" dirty="0">
                <a:solidFill>
                  <a:srgbClr val="FF0000"/>
                </a:solidFill>
                <a:latin typeface="黑体" panose="02010609060101010101" pitchFamily="49" charset="-122"/>
                <a:ea typeface="黑体" panose="02010609060101010101" pitchFamily="49" charset="-122"/>
              </a:rPr>
              <a:t>物理数据融合的井下压裂过程仿真与预警基础研究</a:t>
            </a:r>
            <a:r>
              <a:rPr lang="zh-CN" altLang="en-US" sz="2200" b="1" dirty="0">
                <a:latin typeface="黑体" panose="02010609060101010101" pitchFamily="49" charset="-122"/>
                <a:ea typeface="黑体" panose="02010609060101010101" pitchFamily="49" charset="-122"/>
              </a:rPr>
              <a:t>”为研究课题，长期聚焦“井下复杂裂缝系统演化与缝内支撑剂运移机制”、“井下压裂过程实时仿真”、“压裂井口压力的精确预测和砂堵长时预警”三个领域，从“</a:t>
            </a:r>
            <a:r>
              <a:rPr lang="zh-CN" altLang="en-US" sz="2200" b="1" dirty="0">
                <a:solidFill>
                  <a:srgbClr val="FF0000"/>
                </a:solidFill>
                <a:latin typeface="黑体" panose="02010609060101010101" pitchFamily="49" charset="-122"/>
                <a:ea typeface="黑体" panose="02010609060101010101" pitchFamily="49" charset="-122"/>
              </a:rPr>
              <a:t>科学表征</a:t>
            </a:r>
            <a:r>
              <a:rPr lang="zh-CN" altLang="en-US" sz="2200" b="1" dirty="0">
                <a:latin typeface="黑体" panose="02010609060101010101" pitchFamily="49" charset="-122"/>
                <a:ea typeface="黑体" panose="02010609060101010101" pitchFamily="49" charset="-122"/>
              </a:rPr>
              <a:t>”、“</a:t>
            </a:r>
            <a:r>
              <a:rPr lang="zh-CN" altLang="en-US" sz="2200" b="1" dirty="0">
                <a:solidFill>
                  <a:srgbClr val="FF0000"/>
                </a:solidFill>
                <a:latin typeface="黑体" panose="02010609060101010101" pitchFamily="49" charset="-122"/>
                <a:ea typeface="黑体" panose="02010609060101010101" pitchFamily="49" charset="-122"/>
              </a:rPr>
              <a:t>实时仿真</a:t>
            </a:r>
            <a:r>
              <a:rPr lang="zh-CN" altLang="en-US" sz="2200" b="1" dirty="0">
                <a:latin typeface="黑体" panose="02010609060101010101" pitchFamily="49" charset="-122"/>
                <a:ea typeface="黑体" panose="02010609060101010101" pitchFamily="49" charset="-122"/>
              </a:rPr>
              <a:t>”和“</a:t>
            </a:r>
            <a:r>
              <a:rPr lang="zh-CN" altLang="en-US" sz="2200" b="1" dirty="0">
                <a:solidFill>
                  <a:srgbClr val="FF0000"/>
                </a:solidFill>
                <a:latin typeface="黑体" panose="02010609060101010101" pitchFamily="49" charset="-122"/>
                <a:ea typeface="黑体" panose="02010609060101010101" pitchFamily="49" charset="-122"/>
              </a:rPr>
              <a:t>超前预警</a:t>
            </a:r>
            <a:r>
              <a:rPr lang="zh-CN" altLang="en-US" sz="2200" b="1" dirty="0">
                <a:latin typeface="黑体" panose="02010609060101010101" pitchFamily="49" charset="-122"/>
                <a:ea typeface="黑体" panose="02010609060101010101" pitchFamily="49" charset="-122"/>
              </a:rPr>
              <a:t>”三个方面实现了关键科学突破</a:t>
            </a:r>
            <a:endParaRPr lang="zh-CN" altLang="en-US" sz="2200" b="1" dirty="0">
              <a:solidFill>
                <a:srgbClr val="FF0000"/>
              </a:solidFill>
              <a:latin typeface="黑体" panose="02010609060101010101" pitchFamily="49" charset="-122"/>
              <a:ea typeface="黑体" panose="02010609060101010101" pitchFamily="49" charset="-122"/>
            </a:endParaRPr>
          </a:p>
        </p:txBody>
      </p:sp>
      <p:sp>
        <p:nvSpPr>
          <p:cNvPr id="5" name="圆角矩形 43">
            <a:extLst>
              <a:ext uri="{FF2B5EF4-FFF2-40B4-BE49-F238E27FC236}">
                <a16:creationId xmlns:a16="http://schemas.microsoft.com/office/drawing/2014/main" id="{C7192898-68C4-41F4-279D-0FA716D02775}"/>
              </a:ext>
            </a:extLst>
          </p:cNvPr>
          <p:cNvSpPr/>
          <p:nvPr/>
        </p:nvSpPr>
        <p:spPr>
          <a:xfrm rot="5400000">
            <a:off x="1275656" y="2780928"/>
            <a:ext cx="900000" cy="900000"/>
          </a:xfrm>
          <a:prstGeom prst="roundRect">
            <a:avLst/>
          </a:prstGeom>
          <a:solidFill>
            <a:srgbClr val="C00000"/>
          </a:solidFill>
          <a:ln>
            <a:no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rot="0" spcFirstLastPara="0" vertOverflow="overflow" horzOverflow="overflow" vert="vert270"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20000"/>
              </a:spcBef>
              <a:spcAft>
                <a:spcPts val="0"/>
              </a:spcAft>
              <a:buClr>
                <a:srgbClr val="FF0000"/>
              </a:buClr>
              <a:buSzPct val="100000"/>
              <a:buFontTx/>
              <a:buNone/>
              <a:tabLst/>
              <a:defRPr/>
            </a:pPr>
            <a:r>
              <a:rPr lang="zh-CN" altLang="en-US" dirty="0">
                <a:solidFill>
                  <a:srgbClr val="FFFFFF"/>
                </a:solidFill>
                <a:latin typeface="Tahoma"/>
                <a:ea typeface="方正大黑简体" panose="02010601030101010101" pitchFamily="65" charset="-122"/>
              </a:rPr>
              <a:t>科学</a:t>
            </a:r>
            <a:endParaRPr lang="en-US" altLang="zh-CN" dirty="0">
              <a:solidFill>
                <a:srgbClr val="FFFFFF"/>
              </a:solidFill>
              <a:latin typeface="Tahoma"/>
              <a:ea typeface="方正大黑简体" panose="02010601030101010101" pitchFamily="65" charset="-122"/>
            </a:endParaRPr>
          </a:p>
          <a:p>
            <a:pPr marL="0" marR="0" lvl="0" indent="0" algn="ctr" defTabSz="914400" rtl="0" eaLnBrk="1" fontAlgn="auto" latinLnBrk="0" hangingPunct="1">
              <a:lnSpc>
                <a:spcPct val="100000"/>
              </a:lnSpc>
              <a:spcBef>
                <a:spcPct val="20000"/>
              </a:spcBef>
              <a:spcAft>
                <a:spcPts val="0"/>
              </a:spcAft>
              <a:buClr>
                <a:srgbClr val="FF0000"/>
              </a:buClr>
              <a:buSzPct val="100000"/>
              <a:buFontTx/>
              <a:buNone/>
              <a:tabLst/>
              <a:defRPr/>
            </a:pPr>
            <a:r>
              <a:rPr lang="zh-CN" altLang="en-US" dirty="0">
                <a:solidFill>
                  <a:srgbClr val="FFFFFF"/>
                </a:solidFill>
                <a:latin typeface="Tahoma"/>
                <a:ea typeface="方正大黑简体" panose="02010601030101010101" pitchFamily="65" charset="-122"/>
              </a:rPr>
              <a:t>表征</a:t>
            </a:r>
            <a:endParaRPr lang="en-US" altLang="zh-CN" dirty="0">
              <a:solidFill>
                <a:srgbClr val="FFFFFF"/>
              </a:solidFill>
              <a:latin typeface="Tahoma"/>
              <a:ea typeface="方正大黑简体" panose="02010601030101010101" pitchFamily="65" charset="-122"/>
            </a:endParaRPr>
          </a:p>
        </p:txBody>
      </p:sp>
      <p:sp>
        <p:nvSpPr>
          <p:cNvPr id="6" name="圆角矩形 43">
            <a:extLst>
              <a:ext uri="{FF2B5EF4-FFF2-40B4-BE49-F238E27FC236}">
                <a16:creationId xmlns:a16="http://schemas.microsoft.com/office/drawing/2014/main" id="{A3C3B7EB-F141-6A91-1E5A-71FD99BE91B0}"/>
              </a:ext>
            </a:extLst>
          </p:cNvPr>
          <p:cNvSpPr/>
          <p:nvPr/>
        </p:nvSpPr>
        <p:spPr>
          <a:xfrm rot="5400000">
            <a:off x="1275656" y="4037730"/>
            <a:ext cx="900000" cy="900000"/>
          </a:xfrm>
          <a:prstGeom prst="roundRect">
            <a:avLst/>
          </a:prstGeom>
          <a:solidFill>
            <a:srgbClr val="C00000"/>
          </a:solidFill>
          <a:ln>
            <a:no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rot="0" spcFirstLastPara="0" vertOverflow="overflow" horzOverflow="overflow" vert="vert270"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20000"/>
              </a:spcBef>
              <a:spcAft>
                <a:spcPts val="0"/>
              </a:spcAft>
              <a:buClr>
                <a:srgbClr val="FF0000"/>
              </a:buClr>
              <a:buSzPct val="100000"/>
              <a:buFontTx/>
              <a:buNone/>
              <a:tabLst/>
              <a:defRPr/>
            </a:pPr>
            <a:r>
              <a:rPr lang="zh-CN" altLang="en-US" dirty="0">
                <a:solidFill>
                  <a:srgbClr val="FFFFFF"/>
                </a:solidFill>
                <a:latin typeface="Tahoma"/>
                <a:ea typeface="方正大黑简体" panose="02010601030101010101" pitchFamily="65" charset="-122"/>
              </a:rPr>
              <a:t>实时</a:t>
            </a:r>
            <a:endParaRPr lang="en-US" altLang="zh-CN" dirty="0">
              <a:solidFill>
                <a:srgbClr val="FFFFFF"/>
              </a:solidFill>
              <a:latin typeface="Tahoma"/>
              <a:ea typeface="方正大黑简体" panose="02010601030101010101" pitchFamily="65" charset="-122"/>
            </a:endParaRPr>
          </a:p>
          <a:p>
            <a:pPr marL="0" marR="0" lvl="0" indent="0" algn="ctr" defTabSz="914400" rtl="0" eaLnBrk="1" fontAlgn="auto" latinLnBrk="0" hangingPunct="1">
              <a:lnSpc>
                <a:spcPct val="100000"/>
              </a:lnSpc>
              <a:spcBef>
                <a:spcPct val="20000"/>
              </a:spcBef>
              <a:spcAft>
                <a:spcPts val="0"/>
              </a:spcAft>
              <a:buClr>
                <a:srgbClr val="FF0000"/>
              </a:buClr>
              <a:buSzPct val="100000"/>
              <a:buFontTx/>
              <a:buNone/>
              <a:tabLst/>
              <a:defRPr/>
            </a:pPr>
            <a:r>
              <a:rPr lang="zh-CN" altLang="en-US" dirty="0">
                <a:solidFill>
                  <a:srgbClr val="FFFFFF"/>
                </a:solidFill>
                <a:latin typeface="Tahoma"/>
                <a:ea typeface="方正大黑简体" panose="02010601030101010101" pitchFamily="65" charset="-122"/>
              </a:rPr>
              <a:t>仿真</a:t>
            </a:r>
            <a:endParaRPr lang="en-US" altLang="zh-CN" dirty="0">
              <a:solidFill>
                <a:srgbClr val="FFFFFF"/>
              </a:solidFill>
              <a:latin typeface="Tahoma"/>
              <a:ea typeface="方正大黑简体" panose="02010601030101010101" pitchFamily="65" charset="-122"/>
            </a:endParaRPr>
          </a:p>
        </p:txBody>
      </p:sp>
      <p:sp>
        <p:nvSpPr>
          <p:cNvPr id="7" name="圆角矩形 43">
            <a:extLst>
              <a:ext uri="{FF2B5EF4-FFF2-40B4-BE49-F238E27FC236}">
                <a16:creationId xmlns:a16="http://schemas.microsoft.com/office/drawing/2014/main" id="{3A030801-FE42-A717-C5D4-FD9BF82B91B1}"/>
              </a:ext>
            </a:extLst>
          </p:cNvPr>
          <p:cNvSpPr/>
          <p:nvPr/>
        </p:nvSpPr>
        <p:spPr>
          <a:xfrm rot="5400000">
            <a:off x="1275656" y="5340897"/>
            <a:ext cx="900000" cy="900000"/>
          </a:xfrm>
          <a:prstGeom prst="roundRect">
            <a:avLst/>
          </a:prstGeom>
          <a:solidFill>
            <a:srgbClr val="C00000"/>
          </a:solidFill>
          <a:ln>
            <a:noFill/>
          </a:ln>
          <a:effectLst>
            <a:outerShdw blurRad="63500" sx="102000" sy="102000" algn="ctr" rotWithShape="0">
              <a:prstClr val="black">
                <a:alpha val="40000"/>
              </a:prstClr>
            </a:outerShdw>
          </a:effectLst>
          <a:scene3d>
            <a:camera prst="orthographicFront">
              <a:rot lat="0" lon="0" rev="0"/>
            </a:camera>
            <a:lightRig rig="contrasting" dir="t">
              <a:rot lat="0" lon="0" rev="1500000"/>
            </a:lightRig>
          </a:scene3d>
          <a:sp3d prstMaterial="metal">
            <a:bevelT w="88900" h="88900"/>
          </a:sp3d>
        </p:spPr>
        <p:txBody>
          <a:bodyPr rot="0" spcFirstLastPara="0" vertOverflow="overflow" horzOverflow="overflow" vert="vert270"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ct val="20000"/>
              </a:spcBef>
              <a:spcAft>
                <a:spcPts val="0"/>
              </a:spcAft>
              <a:buClr>
                <a:srgbClr val="FF0000"/>
              </a:buClr>
              <a:buSzPct val="100000"/>
              <a:buFontTx/>
              <a:buNone/>
              <a:tabLst/>
              <a:defRPr/>
            </a:pPr>
            <a:r>
              <a:rPr lang="zh-CN" altLang="en-US" dirty="0">
                <a:solidFill>
                  <a:srgbClr val="FFFFFF"/>
                </a:solidFill>
                <a:latin typeface="Tahoma"/>
                <a:ea typeface="方正大黑简体" panose="02010601030101010101" pitchFamily="65" charset="-122"/>
              </a:rPr>
              <a:t>超前</a:t>
            </a:r>
            <a:endParaRPr lang="en-US" altLang="zh-CN" dirty="0">
              <a:solidFill>
                <a:srgbClr val="FFFFFF"/>
              </a:solidFill>
              <a:latin typeface="Tahoma"/>
              <a:ea typeface="方正大黑简体" panose="02010601030101010101" pitchFamily="65" charset="-122"/>
            </a:endParaRPr>
          </a:p>
          <a:p>
            <a:pPr marL="0" marR="0" lvl="0" indent="0" algn="ctr" defTabSz="914400" rtl="0" eaLnBrk="1" fontAlgn="auto" latinLnBrk="0" hangingPunct="1">
              <a:lnSpc>
                <a:spcPct val="100000"/>
              </a:lnSpc>
              <a:spcBef>
                <a:spcPct val="20000"/>
              </a:spcBef>
              <a:spcAft>
                <a:spcPts val="0"/>
              </a:spcAft>
              <a:buClr>
                <a:srgbClr val="FF0000"/>
              </a:buClr>
              <a:buSzPct val="100000"/>
              <a:buFontTx/>
              <a:buNone/>
              <a:tabLst/>
              <a:defRPr/>
            </a:pPr>
            <a:r>
              <a:rPr lang="zh-CN" altLang="en-US" dirty="0">
                <a:solidFill>
                  <a:srgbClr val="FFFFFF"/>
                </a:solidFill>
                <a:latin typeface="Tahoma"/>
                <a:ea typeface="方正大黑简体" panose="02010601030101010101" pitchFamily="65" charset="-122"/>
              </a:rPr>
              <a:t>预警</a:t>
            </a:r>
            <a:endParaRPr lang="en-US" altLang="zh-CN" dirty="0">
              <a:solidFill>
                <a:srgbClr val="FFFFFF"/>
              </a:solidFill>
              <a:latin typeface="Tahoma"/>
              <a:ea typeface="方正大黑简体" panose="02010601030101010101" pitchFamily="65" charset="-122"/>
            </a:endParaRPr>
          </a:p>
        </p:txBody>
      </p:sp>
      <p:sp>
        <p:nvSpPr>
          <p:cNvPr id="21" name="矩形 78">
            <a:extLst>
              <a:ext uri="{FF2B5EF4-FFF2-40B4-BE49-F238E27FC236}">
                <a16:creationId xmlns:a16="http://schemas.microsoft.com/office/drawing/2014/main" id="{3DDA538A-4EBF-4775-D13C-2737234FE89C}"/>
              </a:ext>
            </a:extLst>
          </p:cNvPr>
          <p:cNvSpPr>
            <a:spLocks noChangeArrowheads="1"/>
          </p:cNvSpPr>
          <p:nvPr/>
        </p:nvSpPr>
        <p:spPr bwMode="auto">
          <a:xfrm>
            <a:off x="2450808" y="4149360"/>
            <a:ext cx="8668096" cy="866824"/>
          </a:xfrm>
          <a:prstGeom prst="roundRect">
            <a:avLst/>
          </a:prstGeom>
          <a:solidFill>
            <a:sysClr val="window" lastClr="FFFFFF">
              <a:alpha val="69804"/>
            </a:sysClr>
          </a:solidFill>
          <a:ln>
            <a:noFill/>
          </a:ln>
          <a:effectLst>
            <a:outerShdw blurRad="88900" dist="12700" dir="5400000" algn="t" rotWithShape="0">
              <a:prstClr val="black">
                <a:alpha val="20000"/>
              </a:prstClr>
            </a:outerShdw>
          </a:effectLst>
        </p:spPr>
        <p:txBody>
          <a:bodyPr wrap="square" tIns="36000" bIns="36000">
            <a:spAutoFit/>
          </a:bodyPr>
          <a:lstStyle/>
          <a:p>
            <a:pPr>
              <a:lnSpc>
                <a:spcPct val="120000"/>
              </a:lnSpc>
              <a:defRPr/>
            </a:pPr>
            <a:r>
              <a:rPr kumimoji="0" lang="zh-CN" altLang="en-US" sz="200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rPr>
              <a:t>基础理论与关键技术创新</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，构建了物理增强型井下压裂实时仿真智能模型</a:t>
            </a:r>
            <a:endPar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endParaRPr>
          </a:p>
          <a:p>
            <a:pPr>
              <a:lnSpc>
                <a:spcPct val="120000"/>
              </a:lnSpc>
              <a:defRPr/>
            </a:pP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（发明专利</a:t>
            </a:r>
            <a:r>
              <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8</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件，软件著作权</a:t>
            </a:r>
            <a:r>
              <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1</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项，学术论文</a:t>
            </a:r>
            <a:r>
              <a:rPr lang="en-US" altLang="zh-CN" sz="2000" dirty="0">
                <a:latin typeface="方正大黑简体" panose="03000509000000000000" pitchFamily="65" charset="-122"/>
                <a:ea typeface="方正大黑简体" panose="03000509000000000000" pitchFamily="65" charset="-122"/>
              </a:rPr>
              <a:t>23</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篇）</a:t>
            </a:r>
            <a:endParaRPr lang="en-US" altLang="zh-CN" sz="2000" dirty="0">
              <a:latin typeface="方正大黑简体" panose="03000509000000000000" pitchFamily="65" charset="-122"/>
              <a:ea typeface="方正大黑简体" panose="03000509000000000000" pitchFamily="65" charset="-122"/>
              <a:cs typeface="Times New Roman" panose="02020603050405020304" pitchFamily="18" charset="0"/>
            </a:endParaRPr>
          </a:p>
        </p:txBody>
      </p:sp>
      <p:sp>
        <p:nvSpPr>
          <p:cNvPr id="23" name="矩形 78">
            <a:extLst>
              <a:ext uri="{FF2B5EF4-FFF2-40B4-BE49-F238E27FC236}">
                <a16:creationId xmlns:a16="http://schemas.microsoft.com/office/drawing/2014/main" id="{C193C6F1-75AC-D708-3AF4-87DDEE4F43B0}"/>
              </a:ext>
            </a:extLst>
          </p:cNvPr>
          <p:cNvSpPr>
            <a:spLocks noChangeArrowheads="1"/>
          </p:cNvSpPr>
          <p:nvPr/>
        </p:nvSpPr>
        <p:spPr bwMode="auto">
          <a:xfrm>
            <a:off x="2468464" y="5372797"/>
            <a:ext cx="8668096" cy="868100"/>
          </a:xfrm>
          <a:prstGeom prst="roundRect">
            <a:avLst/>
          </a:prstGeom>
          <a:solidFill>
            <a:sysClr val="window" lastClr="FFFFFF">
              <a:alpha val="69804"/>
            </a:sysClr>
          </a:solidFill>
          <a:ln>
            <a:noFill/>
          </a:ln>
          <a:effectLst>
            <a:outerShdw blurRad="88900" dist="12700" dir="5400000" algn="t" rotWithShape="0">
              <a:prstClr val="black">
                <a:alpha val="20000"/>
              </a:prstClr>
            </a:outerShdw>
          </a:effectLst>
        </p:spPr>
        <p:txBody>
          <a:bodyPr wrap="square" tIns="36000" bIns="36000">
            <a:spAutoFit/>
          </a:bodyPr>
          <a:lstStyle/>
          <a:p>
            <a:pPr>
              <a:lnSpc>
                <a:spcPct val="120000"/>
              </a:lnSpc>
              <a:defRPr/>
            </a:pPr>
            <a:r>
              <a:rPr kumimoji="0" lang="zh-CN" altLang="en-US" sz="2000" i="0" u="none" strike="noStrike" kern="1200" cap="none" spc="0" normalizeH="0" baseline="0" noProof="0" dirty="0">
                <a:ln>
                  <a:noFill/>
                </a:ln>
                <a:solidFill>
                  <a:srgbClr val="FF0000"/>
                </a:solidFill>
                <a:effectLst/>
                <a:uLnTx/>
                <a:uFillTx/>
                <a:latin typeface="方正大黑简体" panose="03000509000000000000" pitchFamily="65" charset="-122"/>
                <a:ea typeface="方正大黑简体" panose="03000509000000000000" pitchFamily="65" charset="-122"/>
              </a:rPr>
              <a:t>井口预测预警方法创新</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，构建了压裂压力超前预测及砂堵实时预警理论方法（发明专利</a:t>
            </a:r>
            <a:r>
              <a:rPr lang="en-US" altLang="zh-CN" sz="2000" dirty="0">
                <a:latin typeface="方正大黑简体" panose="03000509000000000000" pitchFamily="65" charset="-122"/>
                <a:ea typeface="方正大黑简体" panose="03000509000000000000" pitchFamily="65" charset="-122"/>
              </a:rPr>
              <a:t>7</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件，软件著作权</a:t>
            </a:r>
            <a:r>
              <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2</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项，学术论文</a:t>
            </a:r>
            <a:r>
              <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11</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篇）</a:t>
            </a:r>
          </a:p>
        </p:txBody>
      </p:sp>
      <p:sp>
        <p:nvSpPr>
          <p:cNvPr id="24" name="矩形 78">
            <a:extLst>
              <a:ext uri="{FF2B5EF4-FFF2-40B4-BE49-F238E27FC236}">
                <a16:creationId xmlns:a16="http://schemas.microsoft.com/office/drawing/2014/main" id="{A51F09E6-295D-1EDE-C093-95F38E7A3342}"/>
              </a:ext>
            </a:extLst>
          </p:cNvPr>
          <p:cNvSpPr>
            <a:spLocks noChangeArrowheads="1"/>
          </p:cNvSpPr>
          <p:nvPr/>
        </p:nvSpPr>
        <p:spPr bwMode="auto">
          <a:xfrm>
            <a:off x="2450807" y="2812828"/>
            <a:ext cx="8685753" cy="868100"/>
          </a:xfrm>
          <a:prstGeom prst="roundRect">
            <a:avLst/>
          </a:prstGeom>
          <a:solidFill>
            <a:sysClr val="window" lastClr="FFFFFF">
              <a:alpha val="69804"/>
            </a:sysClr>
          </a:solidFill>
          <a:ln>
            <a:noFill/>
          </a:ln>
          <a:effectLst>
            <a:outerShdw blurRad="88900" dist="12700" dir="5400000" algn="t" rotWithShape="0">
              <a:prstClr val="black">
                <a:alpha val="20000"/>
              </a:prstClr>
            </a:outerShdw>
          </a:effectLst>
        </p:spPr>
        <p:txBody>
          <a:bodyPr wrap="square" tIns="36000" bIns="36000">
            <a:spAutoFit/>
          </a:bodyPr>
          <a:lstStyle/>
          <a:p>
            <a:pPr>
              <a:lnSpc>
                <a:spcPct val="120000"/>
              </a:lnSpc>
              <a:defRPr/>
            </a:pPr>
            <a:r>
              <a:rPr lang="zh-CN" altLang="en-US" sz="2000" dirty="0">
                <a:solidFill>
                  <a:srgbClr val="FF0000"/>
                </a:solidFill>
                <a:latin typeface="方正大黑简体" panose="03000509000000000000" pitchFamily="65" charset="-122"/>
                <a:ea typeface="方正大黑简体" panose="03000509000000000000" pitchFamily="65" charset="-122"/>
              </a:rPr>
              <a:t>研究系统平台与手段创新</a:t>
            </a:r>
            <a:r>
              <a:rPr lang="zh-CN" altLang="en-US" sz="2000" dirty="0">
                <a:latin typeface="方正大黑简体" panose="03000509000000000000" pitchFamily="65" charset="-122"/>
                <a:ea typeface="方正大黑简体" panose="03000509000000000000" pitchFamily="65" charset="-122"/>
              </a:rPr>
              <a:t>，</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揭示了井下压裂过程物理机理及井口响应机制</a:t>
            </a:r>
            <a:endPar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endParaRPr>
          </a:p>
          <a:p>
            <a:pPr>
              <a:lnSpc>
                <a:spcPct val="120000"/>
              </a:lnSpc>
              <a:defRPr/>
            </a:pP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（发明专利</a:t>
            </a:r>
            <a:r>
              <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12</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件，学术论文</a:t>
            </a:r>
            <a:r>
              <a:rPr kumimoji="0" lang="en-US" altLang="zh-CN"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26</a:t>
            </a:r>
            <a:r>
              <a:rPr kumimoji="0" lang="zh-CN" altLang="en-US" sz="2000" i="0" u="none" strike="noStrike" kern="1200" cap="none" spc="0" normalizeH="0" baseline="0" noProof="0" dirty="0">
                <a:ln>
                  <a:noFill/>
                </a:ln>
                <a:effectLst/>
                <a:uLnTx/>
                <a:uFillTx/>
                <a:latin typeface="方正大黑简体" panose="03000509000000000000" pitchFamily="65" charset="-122"/>
                <a:ea typeface="方正大黑简体" panose="03000509000000000000" pitchFamily="65" charset="-122"/>
              </a:rPr>
              <a:t>篇）</a:t>
            </a:r>
          </a:p>
        </p:txBody>
      </p:sp>
    </p:spTree>
    <p:extLst>
      <p:ext uri="{BB962C8B-B14F-4D97-AF65-F5344CB8AC3E}">
        <p14:creationId xmlns:p14="http://schemas.microsoft.com/office/powerpoint/2010/main" val="20460351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FF30BCD1-983C-B579-BFA7-0C4745608963}"/>
              </a:ext>
            </a:extLst>
          </p:cNvPr>
          <p:cNvSpPr>
            <a:spLocks noChangeArrowheads="1"/>
          </p:cNvSpPr>
          <p:nvPr/>
        </p:nvSpPr>
        <p:spPr bwMode="auto">
          <a:xfrm>
            <a:off x="263351" y="692696"/>
            <a:ext cx="11736561" cy="14138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nSpc>
                <a:spcPct val="125000"/>
              </a:lnSpc>
              <a:spcBef>
                <a:spcPts val="0"/>
              </a:spcBef>
              <a:buClr>
                <a:srgbClr val="C00000"/>
              </a:buClr>
              <a:buFont typeface="Wingdings" panose="05000000000000000000" pitchFamily="2" charset="2"/>
              <a:buChar char="p"/>
            </a:pPr>
            <a:r>
              <a:rPr lang="zh-CN" altLang="en-US" sz="2400" b="1" dirty="0">
                <a:solidFill>
                  <a:srgbClr val="000000"/>
                </a:solidFill>
                <a:latin typeface="黑体" panose="02010609060101010101" pitchFamily="49" charset="-122"/>
                <a:ea typeface="黑体" panose="02010609060101010101" pitchFamily="49" charset="-122"/>
              </a:rPr>
              <a:t>本项目委托冶金工业信息标准研究院</a:t>
            </a:r>
            <a:r>
              <a:rPr lang="zh-CN" altLang="en-US" sz="2400" b="1" dirty="0">
                <a:solidFill>
                  <a:srgbClr val="FF0000"/>
                </a:solidFill>
                <a:latin typeface="黑体" panose="02010609060101010101" pitchFamily="49" charset="-122"/>
                <a:ea typeface="黑体" panose="02010609060101010101" pitchFamily="49" charset="-122"/>
              </a:rPr>
              <a:t>（科技部科技查新站）</a:t>
            </a:r>
            <a:r>
              <a:rPr lang="zh-CN" altLang="en-US" sz="2400" b="1" dirty="0">
                <a:solidFill>
                  <a:srgbClr val="000000"/>
                </a:solidFill>
                <a:latin typeface="黑体" panose="02010609060101010101" pitchFamily="49" charset="-122"/>
                <a:ea typeface="黑体" panose="02010609060101010101" pitchFamily="49" charset="-122"/>
              </a:rPr>
              <a:t>开展科技成果查新，</a:t>
            </a:r>
            <a:r>
              <a:rPr lang="zh-CN" altLang="en-US" sz="2400" b="1" dirty="0">
                <a:latin typeface="黑体" panose="02010609060101010101" pitchFamily="49" charset="-122"/>
                <a:ea typeface="黑体" panose="02010609060101010101" pitchFamily="49" charset="-122"/>
              </a:rPr>
              <a:t>科技查新报告显示“在国内外已公开发表的文献和专利中，</a:t>
            </a:r>
            <a:r>
              <a:rPr lang="zh-CN" altLang="en-US" sz="2400" b="1" dirty="0">
                <a:solidFill>
                  <a:srgbClr val="FF0000"/>
                </a:solidFill>
                <a:latin typeface="黑体" panose="02010609060101010101" pitchFamily="49" charset="-122"/>
                <a:ea typeface="黑体" panose="02010609060101010101" pitchFamily="49" charset="-122"/>
              </a:rPr>
              <a:t>未见其他与本项目所述物理数据融合的井下压裂过程仿真与预警基础研究内容相同的报道</a:t>
            </a:r>
            <a:r>
              <a:rPr lang="zh-CN" altLang="en-US" sz="2400" b="1" dirty="0">
                <a:latin typeface="黑体" panose="02010609060101010101" pitchFamily="49" charset="-122"/>
                <a:ea typeface="黑体" panose="02010609060101010101" pitchFamily="49" charset="-122"/>
              </a:rPr>
              <a:t>”</a:t>
            </a:r>
            <a:endParaRPr lang="en-US" altLang="zh-CN" sz="2400" b="1" dirty="0">
              <a:latin typeface="黑体" panose="02010609060101010101" pitchFamily="49" charset="-122"/>
              <a:ea typeface="黑体" panose="02010609060101010101" pitchFamily="49" charset="-122"/>
            </a:endParaRPr>
          </a:p>
        </p:txBody>
      </p:sp>
      <p:sp>
        <p:nvSpPr>
          <p:cNvPr id="3" name="TextBox 45">
            <a:extLst>
              <a:ext uri="{FF2B5EF4-FFF2-40B4-BE49-F238E27FC236}">
                <a16:creationId xmlns:a16="http://schemas.microsoft.com/office/drawing/2014/main" id="{CCE36370-AB56-DF00-59CC-49C76CBB3F00}"/>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lvl="0" indent="-1256030" algn="ctr" eaLnBrk="1" fontAlgn="auto" hangingPunct="1">
              <a:spcBef>
                <a:spcPts val="600"/>
              </a:spcBef>
              <a:spcAft>
                <a:spcPts val="0"/>
              </a:spcAft>
              <a:buNone/>
            </a:pPr>
            <a:r>
              <a:rPr lang="zh-CN" altLang="en-US" sz="2800" noProof="1">
                <a:solidFill>
                  <a:schemeClr val="bg1">
                    <a:lumMod val="75000"/>
                  </a:schemeClr>
                </a:solidFill>
                <a:latin typeface="方正大黑简体" panose="02010601030101010101" pitchFamily="65" charset="-122"/>
                <a:ea typeface="方正大黑简体" panose="02010601030101010101" pitchFamily="65" charset="-122"/>
              </a:rPr>
              <a:t>（二）成果国内外科技查新结论</a:t>
            </a:r>
          </a:p>
        </p:txBody>
      </p:sp>
      <p:grpSp>
        <p:nvGrpSpPr>
          <p:cNvPr id="18" name="组合 17">
            <a:extLst>
              <a:ext uri="{FF2B5EF4-FFF2-40B4-BE49-F238E27FC236}">
                <a16:creationId xmlns:a16="http://schemas.microsoft.com/office/drawing/2014/main" id="{F4079084-7590-3B5D-18AC-40BCD7E0BB2D}"/>
              </a:ext>
            </a:extLst>
          </p:cNvPr>
          <p:cNvGrpSpPr/>
          <p:nvPr/>
        </p:nvGrpSpPr>
        <p:grpSpPr>
          <a:xfrm>
            <a:off x="263351" y="2276871"/>
            <a:ext cx="11736561" cy="4248473"/>
            <a:chOff x="374692" y="2276872"/>
            <a:chExt cx="11625964" cy="4393809"/>
          </a:xfrm>
        </p:grpSpPr>
        <p:pic>
          <p:nvPicPr>
            <p:cNvPr id="5" name="图片 4">
              <a:extLst>
                <a:ext uri="{FF2B5EF4-FFF2-40B4-BE49-F238E27FC236}">
                  <a16:creationId xmlns:a16="http://schemas.microsoft.com/office/drawing/2014/main" id="{CFB1AFF6-6449-8F58-9FF7-D36D62B4E24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4692" y="2278681"/>
              <a:ext cx="3105316" cy="4392000"/>
            </a:xfrm>
            <a:prstGeom prst="rect">
              <a:avLst/>
            </a:prstGeom>
            <a:ln w="12700">
              <a:solidFill>
                <a:schemeClr val="tx1"/>
              </a:solidFill>
            </a:ln>
          </p:spPr>
        </p:pic>
        <p:pic>
          <p:nvPicPr>
            <p:cNvPr id="9" name="图片 8">
              <a:extLst>
                <a:ext uri="{FF2B5EF4-FFF2-40B4-BE49-F238E27FC236}">
                  <a16:creationId xmlns:a16="http://schemas.microsoft.com/office/drawing/2014/main" id="{5FAD34C4-D221-E830-94B1-2C87B92B1F0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702652" y="2277360"/>
              <a:ext cx="3105316" cy="4392000"/>
            </a:xfrm>
            <a:prstGeom prst="rect">
              <a:avLst/>
            </a:prstGeom>
            <a:ln w="12700">
              <a:solidFill>
                <a:schemeClr val="tx1"/>
              </a:solidFill>
            </a:ln>
          </p:spPr>
        </p:pic>
        <p:pic>
          <p:nvPicPr>
            <p:cNvPr id="11" name="图片 10">
              <a:extLst>
                <a:ext uri="{FF2B5EF4-FFF2-40B4-BE49-F238E27FC236}">
                  <a16:creationId xmlns:a16="http://schemas.microsoft.com/office/drawing/2014/main" id="{8A60DD3E-6AA6-E602-CA60-08BFEA2F364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935760" y="2277360"/>
              <a:ext cx="3105316" cy="4392000"/>
            </a:xfrm>
            <a:prstGeom prst="rect">
              <a:avLst/>
            </a:prstGeom>
            <a:ln w="12700">
              <a:solidFill>
                <a:schemeClr val="tx1"/>
              </a:solidFill>
            </a:ln>
          </p:spPr>
        </p:pic>
        <p:pic>
          <p:nvPicPr>
            <p:cNvPr id="13" name="图片 12">
              <a:extLst>
                <a:ext uri="{FF2B5EF4-FFF2-40B4-BE49-F238E27FC236}">
                  <a16:creationId xmlns:a16="http://schemas.microsoft.com/office/drawing/2014/main" id="{81308312-24DC-7DDD-0B77-110DBDC7430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87888" y="2277360"/>
              <a:ext cx="3105316" cy="4392000"/>
            </a:xfrm>
            <a:prstGeom prst="rect">
              <a:avLst/>
            </a:prstGeom>
            <a:ln w="12700">
              <a:solidFill>
                <a:schemeClr val="tx1"/>
              </a:solidFill>
            </a:ln>
          </p:spPr>
        </p:pic>
        <p:pic>
          <p:nvPicPr>
            <p:cNvPr id="15" name="图片 14">
              <a:extLst>
                <a:ext uri="{FF2B5EF4-FFF2-40B4-BE49-F238E27FC236}">
                  <a16:creationId xmlns:a16="http://schemas.microsoft.com/office/drawing/2014/main" id="{4CC678EC-22AA-3037-7512-392C8CF3FBDA}"/>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240016" y="2276872"/>
              <a:ext cx="3105316" cy="4392000"/>
            </a:xfrm>
            <a:prstGeom prst="rect">
              <a:avLst/>
            </a:prstGeom>
            <a:ln w="12700">
              <a:solidFill>
                <a:schemeClr val="tx1"/>
              </a:solidFill>
            </a:ln>
          </p:spPr>
        </p:pic>
        <p:pic>
          <p:nvPicPr>
            <p:cNvPr id="17" name="图片 16">
              <a:extLst>
                <a:ext uri="{FF2B5EF4-FFF2-40B4-BE49-F238E27FC236}">
                  <a16:creationId xmlns:a16="http://schemas.microsoft.com/office/drawing/2014/main" id="{B58CF79A-9821-6B27-070A-BD59CCBBA06C}"/>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7527188" y="2276872"/>
              <a:ext cx="3105316" cy="4392000"/>
            </a:xfrm>
            <a:prstGeom prst="rect">
              <a:avLst/>
            </a:prstGeom>
            <a:ln w="12700">
              <a:solidFill>
                <a:schemeClr val="tx1"/>
              </a:solidFill>
            </a:ln>
          </p:spPr>
        </p:pic>
        <p:pic>
          <p:nvPicPr>
            <p:cNvPr id="7" name="图片 6">
              <a:extLst>
                <a:ext uri="{FF2B5EF4-FFF2-40B4-BE49-F238E27FC236}">
                  <a16:creationId xmlns:a16="http://schemas.microsoft.com/office/drawing/2014/main" id="{E9576EB3-9001-D873-EBC3-8C63CDD42297}"/>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9015652" y="2276872"/>
              <a:ext cx="2985004" cy="4392000"/>
            </a:xfrm>
            <a:prstGeom prst="rect">
              <a:avLst/>
            </a:prstGeom>
            <a:ln w="12700">
              <a:solidFill>
                <a:schemeClr val="tx1"/>
              </a:solidFill>
            </a:ln>
          </p:spPr>
        </p:pic>
      </p:grpSp>
    </p:spTree>
    <p:extLst>
      <p:ext uri="{BB962C8B-B14F-4D97-AF65-F5344CB8AC3E}">
        <p14:creationId xmlns:p14="http://schemas.microsoft.com/office/powerpoint/2010/main" val="51386979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000" i="0" u="none" strike="noStrike" kern="1200" cap="none" spc="0" normalizeH="0" baseline="0" noProof="0" dirty="0">
                <a:ln>
                  <a:noFill/>
                </a:ln>
                <a:solidFill>
                  <a:srgbClr val="FF0000"/>
                </a:solidFill>
                <a:effectLst/>
                <a:uLnTx/>
                <a:uFillTx/>
                <a:latin typeface="方正大黑简体" panose="02000000000000000000" pitchFamily="2" charset="-122"/>
                <a:ea typeface="方正大黑简体" panose="02000000000000000000" pitchFamily="2" charset="-122"/>
                <a:cs typeface="+mn-cs"/>
              </a:rPr>
              <a:t>汇 报 提 纲</a:t>
            </a:r>
          </a:p>
        </p:txBody>
      </p:sp>
      <p:sp>
        <p:nvSpPr>
          <p:cNvPr id="1048583" name="Text Box 6"/>
          <p:cNvSpPr txBox="1">
            <a:spLocks noChangeArrowheads="1"/>
          </p:cNvSpPr>
          <p:nvPr/>
        </p:nvSpPr>
        <p:spPr bwMode="auto">
          <a:xfrm>
            <a:off x="2675260" y="935373"/>
            <a:ext cx="7669212" cy="5476207"/>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一、研究背景</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二、攻关研究形成的技术、理论和方法</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三、主要技术指标和经济指标国内外对比</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四、成果的主要技术发明点</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五、应用情况</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六、有形化成果</a:t>
            </a:r>
            <a:endParaRPr kumimoji="0" lang="en-US" altLang="zh-CN"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lvl="0" fontAlgn="base">
              <a:lnSpc>
                <a:spcPct val="150000"/>
              </a:lnSpc>
              <a:spcBef>
                <a:spcPct val="0"/>
              </a:spcBef>
              <a:spcAft>
                <a:spcPct val="0"/>
              </a:spcAft>
              <a:buClr>
                <a:srgbClr val="FF0000"/>
              </a:buClr>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七</a:t>
            </a:r>
            <a:r>
              <a:rPr lang="zh-CN" altLang="en-US" sz="3200" b="1" dirty="0">
                <a:solidFill>
                  <a:srgbClr val="000000"/>
                </a:solidFill>
                <a:latin typeface="黑体" panose="02010609060101010101" pitchFamily="49" charset="-122"/>
                <a:ea typeface="黑体" panose="02010609060101010101" pitchFamily="49" charset="-122"/>
              </a:rPr>
              <a:t>、不足与局限性</a:t>
            </a:r>
            <a:endPar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3431320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7">
            <a:extLst>
              <a:ext uri="{FF2B5EF4-FFF2-40B4-BE49-F238E27FC236}">
                <a16:creationId xmlns:a16="http://schemas.microsoft.com/office/drawing/2014/main" id="{FF30BCD1-983C-B579-BFA7-0C4745608963}"/>
              </a:ext>
            </a:extLst>
          </p:cNvPr>
          <p:cNvSpPr>
            <a:spLocks noChangeArrowheads="1"/>
          </p:cNvSpPr>
          <p:nvPr/>
        </p:nvSpPr>
        <p:spPr bwMode="auto">
          <a:xfrm>
            <a:off x="263524" y="692696"/>
            <a:ext cx="11736389" cy="1430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25000"/>
              </a:lnSpc>
              <a:spcBef>
                <a:spcPts val="0"/>
              </a:spcBef>
              <a:buClr>
                <a:srgbClr val="C00000"/>
              </a:buClr>
              <a:buFont typeface="Wingdings" panose="05000000000000000000" pitchFamily="2" charset="2"/>
              <a:buChar char="p"/>
            </a:pP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相关成果已在</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华美孚泰油气增产技术服务公司丁山与南川区块</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累计应用</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100</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余口井、</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1600</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余段，有力支撑压裂工艺实时优化及砂堵预警，新增产值超 </a:t>
            </a:r>
            <a:r>
              <a:rPr lang="en-US" altLang="zh-CN"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2.3 </a:t>
            </a: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亿</a:t>
            </a:r>
            <a:r>
              <a:rPr lang="zh-CN" altLang="en-US" sz="2400" b="1" dirty="0">
                <a:solidFill>
                  <a:srgbClr val="000000"/>
                </a:solidFill>
                <a:latin typeface="Times New Roman" panose="02020603050405020304" pitchFamily="18" charset="0"/>
                <a:ea typeface="黑体" panose="02010609060101010101" pitchFamily="49" charset="-122"/>
                <a:cs typeface="Times New Roman" panose="02020603050405020304" pitchFamily="18" charset="0"/>
              </a:rPr>
              <a:t>元，经济效益显著，有效推动了我国水力压裂精准化、实时化、智能化理论与技术发展。</a:t>
            </a:r>
            <a:endParaRPr kumimoji="0" lang="zh-CN" altLang="en-US" sz="2400" b="1" i="0" u="none" strike="noStrike" kern="0" cap="none" spc="0" normalizeH="0" baseline="0" noProof="0" dirty="0">
              <a:ln>
                <a:noFill/>
              </a:ln>
              <a:effectLst/>
              <a:uLnTx/>
              <a:uFillTx/>
              <a:latin typeface="Times New Roman" panose="02020603050405020304" pitchFamily="18" charset="0"/>
              <a:ea typeface="黑体" panose="02010609060101010101" pitchFamily="49" charset="-122"/>
              <a:cs typeface="Times New Roman" panose="02020603050405020304" pitchFamily="18" charset="0"/>
            </a:endParaRPr>
          </a:p>
        </p:txBody>
      </p:sp>
      <p:sp>
        <p:nvSpPr>
          <p:cNvPr id="4" name="TextBox 45">
            <a:extLst>
              <a:ext uri="{FF2B5EF4-FFF2-40B4-BE49-F238E27FC236}">
                <a16:creationId xmlns:a16="http://schemas.microsoft.com/office/drawing/2014/main" id="{9D7E9959-7077-7ABF-20D4-036183E57D51}"/>
              </a:ext>
            </a:extLst>
          </p:cNvPr>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（一）总体应用情况</a:t>
            </a:r>
          </a:p>
        </p:txBody>
      </p:sp>
      <p:pic>
        <p:nvPicPr>
          <p:cNvPr id="8" name="图片 7">
            <a:extLst>
              <a:ext uri="{FF2B5EF4-FFF2-40B4-BE49-F238E27FC236}">
                <a16:creationId xmlns:a16="http://schemas.microsoft.com/office/drawing/2014/main" id="{AE4A7A0F-EB89-B657-6535-36C1D5849C5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48328" y="2369056"/>
            <a:ext cx="2673643" cy="3605212"/>
          </a:xfrm>
          <a:prstGeom prst="rect">
            <a:avLst/>
          </a:prstGeom>
          <a:ln w="12700">
            <a:solidFill>
              <a:schemeClr val="tx1"/>
            </a:solidFill>
          </a:ln>
        </p:spPr>
      </p:pic>
      <p:pic>
        <p:nvPicPr>
          <p:cNvPr id="12" name="图片 11">
            <a:extLst>
              <a:ext uri="{FF2B5EF4-FFF2-40B4-BE49-F238E27FC236}">
                <a16:creationId xmlns:a16="http://schemas.microsoft.com/office/drawing/2014/main" id="{4A7F7EA2-19DA-0B8C-EE4A-E4DB4E209CE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089275" y="2369056"/>
            <a:ext cx="2736304" cy="3605211"/>
          </a:xfrm>
          <a:prstGeom prst="rect">
            <a:avLst/>
          </a:prstGeom>
          <a:ln w="12700">
            <a:solidFill>
              <a:schemeClr val="tx1"/>
            </a:solidFill>
          </a:ln>
        </p:spPr>
      </p:pic>
      <p:sp>
        <p:nvSpPr>
          <p:cNvPr id="5" name="文本框 4">
            <a:extLst>
              <a:ext uri="{FF2B5EF4-FFF2-40B4-BE49-F238E27FC236}">
                <a16:creationId xmlns:a16="http://schemas.microsoft.com/office/drawing/2014/main" id="{15524EAA-08B7-AB14-BB38-DFB3DF931CFA}"/>
              </a:ext>
            </a:extLst>
          </p:cNvPr>
          <p:cNvSpPr txBox="1">
            <a:spLocks noChangeArrowheads="1"/>
          </p:cNvSpPr>
          <p:nvPr/>
        </p:nvSpPr>
        <p:spPr bwMode="auto">
          <a:xfrm>
            <a:off x="7501333" y="6113002"/>
            <a:ext cx="3262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丁山与南川井区应用证明</a:t>
            </a:r>
          </a:p>
        </p:txBody>
      </p:sp>
      <p:sp>
        <p:nvSpPr>
          <p:cNvPr id="13" name="文本框 12">
            <a:extLst>
              <a:ext uri="{FF2B5EF4-FFF2-40B4-BE49-F238E27FC236}">
                <a16:creationId xmlns:a16="http://schemas.microsoft.com/office/drawing/2014/main" id="{10878438-0F33-21CB-3780-69F9A752CBF8}"/>
              </a:ext>
            </a:extLst>
          </p:cNvPr>
          <p:cNvSpPr txBox="1">
            <a:spLocks noChangeArrowheads="1"/>
          </p:cNvSpPr>
          <p:nvPr/>
        </p:nvSpPr>
        <p:spPr bwMode="auto">
          <a:xfrm>
            <a:off x="1414561" y="6113002"/>
            <a:ext cx="326266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a:r>
              <a:rPr lang="zh-CN" altLang="en-US" b="1" dirty="0">
                <a:solidFill>
                  <a:srgbClr val="0000FF"/>
                </a:solidFill>
                <a:latin typeface="黑体" panose="02010609060101010101" pitchFamily="49" charset="-122"/>
                <a:ea typeface="黑体" panose="02010609060101010101" pitchFamily="49" charset="-122"/>
              </a:rPr>
              <a:t>团队成员开展现场技术服务</a:t>
            </a:r>
          </a:p>
        </p:txBody>
      </p:sp>
      <p:grpSp>
        <p:nvGrpSpPr>
          <p:cNvPr id="15" name="组合 14">
            <a:extLst>
              <a:ext uri="{FF2B5EF4-FFF2-40B4-BE49-F238E27FC236}">
                <a16:creationId xmlns:a16="http://schemas.microsoft.com/office/drawing/2014/main" id="{66FD58AC-1E77-3DBE-5698-BA34755CB3CD}"/>
              </a:ext>
            </a:extLst>
          </p:cNvPr>
          <p:cNvGrpSpPr/>
          <p:nvPr/>
        </p:nvGrpSpPr>
        <p:grpSpPr>
          <a:xfrm>
            <a:off x="430011" y="2348880"/>
            <a:ext cx="5400427" cy="3692585"/>
            <a:chOff x="263525" y="2348880"/>
            <a:chExt cx="5400427" cy="3692585"/>
          </a:xfrm>
        </p:grpSpPr>
        <p:pic>
          <p:nvPicPr>
            <p:cNvPr id="9" name="图片 8">
              <a:extLst>
                <a:ext uri="{FF2B5EF4-FFF2-40B4-BE49-F238E27FC236}">
                  <a16:creationId xmlns:a16="http://schemas.microsoft.com/office/drawing/2014/main" id="{616083BD-F50E-249F-3D76-C8E70632ED2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35360" y="2381775"/>
              <a:ext cx="2520279" cy="1728485"/>
            </a:xfrm>
            <a:prstGeom prst="rect">
              <a:avLst/>
            </a:prstGeom>
          </p:spPr>
        </p:pic>
        <p:pic>
          <p:nvPicPr>
            <p:cNvPr id="6" name="图片 5">
              <a:extLst>
                <a:ext uri="{FF2B5EF4-FFF2-40B4-BE49-F238E27FC236}">
                  <a16:creationId xmlns:a16="http://schemas.microsoft.com/office/drawing/2014/main" id="{5B0A68E1-AB75-B4AD-AAA2-775DC424518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335360" y="4217524"/>
              <a:ext cx="2520279" cy="1776677"/>
            </a:xfrm>
            <a:prstGeom prst="rect">
              <a:avLst/>
            </a:prstGeom>
          </p:spPr>
        </p:pic>
        <p:pic>
          <p:nvPicPr>
            <p:cNvPr id="7" name="图片 6">
              <a:extLst>
                <a:ext uri="{FF2B5EF4-FFF2-40B4-BE49-F238E27FC236}">
                  <a16:creationId xmlns:a16="http://schemas.microsoft.com/office/drawing/2014/main" id="{A7639F3B-31B5-C482-4891-D848DD8781BE}"/>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2970462" y="4217524"/>
              <a:ext cx="2592288" cy="1787513"/>
            </a:xfrm>
            <a:prstGeom prst="rect">
              <a:avLst/>
            </a:prstGeom>
          </p:spPr>
        </p:pic>
        <p:pic>
          <p:nvPicPr>
            <p:cNvPr id="10" name="图片 9">
              <a:extLst>
                <a:ext uri="{FF2B5EF4-FFF2-40B4-BE49-F238E27FC236}">
                  <a16:creationId xmlns:a16="http://schemas.microsoft.com/office/drawing/2014/main" id="{B68A6584-E910-9CB6-B2AF-E8671F8B9989}"/>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49717" t="24464"/>
            <a:stretch/>
          </p:blipFill>
          <p:spPr>
            <a:xfrm rot="5400000">
              <a:off x="3402364" y="1991099"/>
              <a:ext cx="1728484" cy="2592288"/>
            </a:xfrm>
            <a:prstGeom prst="rect">
              <a:avLst/>
            </a:prstGeom>
          </p:spPr>
        </p:pic>
        <p:sp>
          <p:nvSpPr>
            <p:cNvPr id="14" name="矩形 13">
              <a:extLst>
                <a:ext uri="{FF2B5EF4-FFF2-40B4-BE49-F238E27FC236}">
                  <a16:creationId xmlns:a16="http://schemas.microsoft.com/office/drawing/2014/main" id="{4AFAF1AC-6CFE-6F0F-1FD1-7429DB56160D}"/>
                </a:ext>
              </a:extLst>
            </p:cNvPr>
            <p:cNvSpPr/>
            <p:nvPr/>
          </p:nvSpPr>
          <p:spPr>
            <a:xfrm>
              <a:off x="263525" y="2348880"/>
              <a:ext cx="5400427" cy="3692585"/>
            </a:xfrm>
            <a:prstGeom prst="rect">
              <a:avLst/>
            </a:prstGeom>
            <a:noFill/>
            <a:ln w="19050">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46865521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000" i="0" u="none" strike="noStrike" kern="1200" cap="none" spc="0" normalizeH="0" baseline="0" noProof="0" dirty="0">
                <a:ln>
                  <a:noFill/>
                </a:ln>
                <a:solidFill>
                  <a:srgbClr val="FF0000"/>
                </a:solidFill>
                <a:effectLst/>
                <a:uLnTx/>
                <a:uFillTx/>
                <a:latin typeface="方正大黑简体" panose="02000000000000000000" pitchFamily="2" charset="-122"/>
                <a:ea typeface="方正大黑简体" panose="02000000000000000000" pitchFamily="2" charset="-122"/>
                <a:cs typeface="+mn-cs"/>
              </a:rPr>
              <a:t>汇 报 提 纲</a:t>
            </a:r>
          </a:p>
        </p:txBody>
      </p:sp>
      <p:sp>
        <p:nvSpPr>
          <p:cNvPr id="1048583" name="Text Box 6"/>
          <p:cNvSpPr txBox="1">
            <a:spLocks noChangeArrowheads="1"/>
          </p:cNvSpPr>
          <p:nvPr/>
        </p:nvSpPr>
        <p:spPr bwMode="auto">
          <a:xfrm>
            <a:off x="2675260" y="935373"/>
            <a:ext cx="7669212" cy="5476207"/>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一、研究背景</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二、攻关研究形成的技术、理论和方法</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三、主要技术指标和经济指标国内外对比</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四、成果的主要技术发明点</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五、应用情况</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六、有形化成果</a:t>
            </a:r>
            <a:endParaRPr kumimoji="0" lang="en-US" altLang="zh-CN" sz="32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七、不足与局限性</a:t>
            </a:r>
          </a:p>
        </p:txBody>
      </p:sp>
    </p:spTree>
    <p:extLst>
      <p:ext uri="{BB962C8B-B14F-4D97-AF65-F5344CB8AC3E}">
        <p14:creationId xmlns:p14="http://schemas.microsoft.com/office/powerpoint/2010/main" val="62149600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sp>
        <p:nvSpPr>
          <p:cNvPr id="1048606" name="TextBox 7"/>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、授权国家发明专利 </a:t>
            </a:r>
            <a:r>
              <a:rPr lang="en-US" altLang="zh-CN" sz="2400" kern="0" dirty="0">
                <a:solidFill>
                  <a:srgbClr val="FF0000"/>
                </a:solidFill>
                <a:latin typeface="方正大黑简体" panose="02010601030101010101" pitchFamily="2" charset="-122"/>
                <a:ea typeface="方正大黑简体" panose="02010601030101010101" pitchFamily="2" charset="-122"/>
              </a:rPr>
              <a:t>27</a:t>
            </a:r>
            <a:r>
              <a:rPr lang="en-US" altLang="zh-CN" sz="2400" kern="0" dirty="0">
                <a:solidFill>
                  <a:schemeClr val="tx1"/>
                </a:solidFill>
                <a:latin typeface="方正大黑简体" panose="02010601030101010101" pitchFamily="2" charset="-122"/>
                <a:ea typeface="方正大黑简体" panose="02010601030101010101" pitchFamily="2" charset="-122"/>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件，登记软件著作权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3</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件</a:t>
            </a:r>
          </a:p>
        </p:txBody>
      </p:sp>
      <p:graphicFrame>
        <p:nvGraphicFramePr>
          <p:cNvPr id="3" name="表格 2">
            <a:extLst>
              <a:ext uri="{FF2B5EF4-FFF2-40B4-BE49-F238E27FC236}">
                <a16:creationId xmlns:a16="http://schemas.microsoft.com/office/drawing/2014/main" id="{87956513-429C-98C8-DBE3-533ADD5ADE05}"/>
              </a:ext>
            </a:extLst>
          </p:cNvPr>
          <p:cNvGraphicFramePr>
            <a:graphicFrameLocks noGrp="1"/>
          </p:cNvGraphicFramePr>
          <p:nvPr>
            <p:extLst>
              <p:ext uri="{D42A27DB-BD31-4B8C-83A1-F6EECF244321}">
                <p14:modId xmlns:p14="http://schemas.microsoft.com/office/powerpoint/2010/main" val="4057935022"/>
              </p:ext>
            </p:extLst>
          </p:nvPr>
        </p:nvGraphicFramePr>
        <p:xfrm>
          <a:off x="263525" y="1412875"/>
          <a:ext cx="11701040" cy="4968880"/>
        </p:xfrm>
        <a:graphic>
          <a:graphicData uri="http://schemas.openxmlformats.org/drawingml/2006/table">
            <a:tbl>
              <a:tblPr>
                <a:tableStyleId>{616DA210-FB5B-4158-B5E0-FEB733F419BA}</a:tableStyleId>
              </a:tblPr>
              <a:tblGrid>
                <a:gridCol w="593304">
                  <a:extLst>
                    <a:ext uri="{9D8B030D-6E8A-4147-A177-3AD203B41FA5}">
                      <a16:colId xmlns:a16="http://schemas.microsoft.com/office/drawing/2014/main" val="540728689"/>
                    </a:ext>
                  </a:extLst>
                </a:gridCol>
                <a:gridCol w="1688358">
                  <a:extLst>
                    <a:ext uri="{9D8B030D-6E8A-4147-A177-3AD203B41FA5}">
                      <a16:colId xmlns:a16="http://schemas.microsoft.com/office/drawing/2014/main" val="1129663135"/>
                    </a:ext>
                  </a:extLst>
                </a:gridCol>
                <a:gridCol w="7193994">
                  <a:extLst>
                    <a:ext uri="{9D8B030D-6E8A-4147-A177-3AD203B41FA5}">
                      <a16:colId xmlns:a16="http://schemas.microsoft.com/office/drawing/2014/main" val="2354963012"/>
                    </a:ext>
                  </a:extLst>
                </a:gridCol>
                <a:gridCol w="1076799">
                  <a:extLst>
                    <a:ext uri="{9D8B030D-6E8A-4147-A177-3AD203B41FA5}">
                      <a16:colId xmlns:a16="http://schemas.microsoft.com/office/drawing/2014/main" val="293464637"/>
                    </a:ext>
                  </a:extLst>
                </a:gridCol>
                <a:gridCol w="1148585">
                  <a:extLst>
                    <a:ext uri="{9D8B030D-6E8A-4147-A177-3AD203B41FA5}">
                      <a16:colId xmlns:a16="http://schemas.microsoft.com/office/drawing/2014/main" val="327322296"/>
                    </a:ext>
                  </a:extLst>
                </a:gridCol>
              </a:tblGrid>
              <a:tr h="310555">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7931" marR="17931" marT="8966" marB="8966" anchor="ct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专利号</a:t>
                      </a:r>
                    </a:p>
                  </a:txBody>
                  <a:tcPr marL="17931" marR="17931" marT="8966" marB="8966" anchor="ct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专利名称</a:t>
                      </a:r>
                    </a:p>
                  </a:txBody>
                  <a:tcPr marL="17931" marR="17931" marT="8966" marB="8966" anchor="ct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专利类型</a:t>
                      </a:r>
                    </a:p>
                  </a:txBody>
                  <a:tcPr marL="17931" marR="17931" marT="8966" marB="8966" anchor="ct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7931" marR="17931" marT="8966" marB="8966" anchor="ctr"/>
                </a:tc>
                <a:extLst>
                  <a:ext uri="{0D108BD9-81ED-4DB2-BD59-A6C34878D82A}">
                    <a16:rowId xmlns:a16="http://schemas.microsoft.com/office/drawing/2014/main" val="2700073545"/>
                  </a:ext>
                </a:extLst>
              </a:tr>
              <a:tr h="310555">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ZL202210157287 .3</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基于压力数据的压裂砂堵预警方法和装置</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4138153338"/>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ZL202111037458 .0</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支撑剂井筒运移实验模拟系统及其模拟方法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85190698"/>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ZL202210128266 .9</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一种基于小波分解的水力压裂信号分析方法、装置和设备</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2155760006"/>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ZL202210052900 .5</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压裂施工压力预测模型建立方法及装置、预测方法及装置</a:t>
                      </a:r>
                    </a:p>
                  </a:txBody>
                  <a:tcPr marL="17931" marR="17931" marT="8966" marB="8966" anchor="ctr"/>
                </a:tc>
                <a:tc>
                  <a:txBody>
                    <a:bodyPr/>
                    <a:lstStyle/>
                    <a:p>
                      <a:pPr algn="ctr" fontAlgn="ctr" latinLnBrk="0"/>
                      <a:r>
                        <a:rPr lang="zh-CN" altLang="en-US"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4182537166"/>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ZL202011525619.6</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一种储层产能预测方法、装置及设备</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endParaRPr lang="zh-CN" altLang="en-US"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966455593"/>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US201615209465</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Degradable Materials for Oil and Gas Field Operations and Their Synthesis Method</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endParaRPr lang="zh-CN" altLang="en-US"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4233179581"/>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ZL201510408965 .9</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一种非常规储层油气井的水力压裂改造方法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339062076"/>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p>
                  </a:txBody>
                  <a:tcPr marL="17931" marR="17931" marT="8966" marB="8966" anchor="ctr"/>
                </a:tc>
                <a:tc>
                  <a:txBody>
                    <a:bodyPr/>
                    <a:lstStyle/>
                    <a:p>
                      <a:pPr algn="ctr" fontAlgn="ctr" latinLnBrk="0"/>
                      <a:r>
                        <a:rPr lang="en-US"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ZL201811220709.7</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一种致密砂砾岩储层缝网支撑改造新方法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2771677313"/>
                  </a:ext>
                </a:extLst>
              </a:tr>
              <a:tr h="310555">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9</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ZL201510408733 .3</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一种裂缝内暂堵转向形成缝网的储层改造方法</a:t>
                      </a:r>
                    </a:p>
                  </a:txBody>
                  <a:tcPr marL="17931" marR="17931" marT="8966" marB="8966" anchor="ctr"/>
                </a:tc>
                <a:tc>
                  <a:txBody>
                    <a:bodyPr/>
                    <a:lstStyle/>
                    <a:p>
                      <a:pPr algn="ctr" fontAlgn="ctr" latinLnBrk="0"/>
                      <a:r>
                        <a:rPr lang="zh-CN" altLang="en-US"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698763967"/>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CN201510409668.6</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模拟纤维转向剂暂堵水力裂缝的可视化实验装置 </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3029101017"/>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11</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CN201510408962.5</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一种暂堵缝口强制平面转向形成多缝的方法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2193497788"/>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12</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CN201510409669.0</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一种辅助水平井人工裂缝转向改造的方法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4025948644"/>
                  </a:ext>
                </a:extLst>
              </a:tr>
              <a:tr h="310555">
                <a:tc>
                  <a:txBody>
                    <a:bodyPr/>
                    <a:lstStyle/>
                    <a:p>
                      <a:pPr algn="ctr" fontAlgn="ctr" latinLnBrk="0"/>
                      <a:r>
                        <a:rPr lang="en-US" altLang="zh-CN"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13</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CN201510408973.3</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模拟井下条件的射孔孔眼封堵的装置</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631944467"/>
                  </a:ext>
                </a:extLst>
              </a:tr>
              <a:tr h="310555">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14</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CN202011006281.3</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基于多目标参数的储层开采方案确定方法、装置及设备</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algn="ctr" fontAlgn="ctr" latinLnBrk="0"/>
                      <a:r>
                        <a:rPr lang="en-US" altLang="zh-CN"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endParaRPr lang="zh-CN" altLang="en-US" sz="1400" b="1"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760023672"/>
                  </a:ext>
                </a:extLst>
              </a:tr>
              <a:tr h="310555">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15</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CN202010612017.8</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基于特征组合的朴素贝叶斯岩相分类方法及装置</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endParaRPr lang="zh-CN" altLang="en-US"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676091454"/>
                  </a:ext>
                </a:extLst>
              </a:tr>
            </a:tbl>
          </a:graphicData>
        </a:graphic>
      </p:graphicFrame>
    </p:spTree>
    <p:extLst>
      <p:ext uri="{BB962C8B-B14F-4D97-AF65-F5344CB8AC3E}">
        <p14:creationId xmlns:p14="http://schemas.microsoft.com/office/powerpoint/2010/main" val="224804032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sp>
        <p:nvSpPr>
          <p:cNvPr id="1048606" name="TextBox 7"/>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1</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、授权国家发明专利 </a:t>
            </a:r>
            <a:r>
              <a:rPr lang="en-US" altLang="zh-CN" sz="2400" kern="0" dirty="0">
                <a:solidFill>
                  <a:srgbClr val="FF0000"/>
                </a:solidFill>
                <a:latin typeface="方正大黑简体" panose="02010601030101010101" pitchFamily="2" charset="-122"/>
                <a:ea typeface="方正大黑简体" panose="02010601030101010101" pitchFamily="2" charset="-122"/>
              </a:rPr>
              <a:t>27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件，登记软件著作权 </a:t>
            </a:r>
            <a:r>
              <a:rPr lang="en-US" altLang="zh-CN" sz="2400" kern="0" dirty="0">
                <a:solidFill>
                  <a:srgbClr val="FF0000"/>
                </a:solidFill>
                <a:latin typeface="方正大黑简体" panose="02010601030101010101" pitchFamily="2" charset="-122"/>
                <a:ea typeface="方正大黑简体" panose="02010601030101010101" pitchFamily="2" charset="-122"/>
              </a:rPr>
              <a:t>3</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件</a:t>
            </a:r>
          </a:p>
        </p:txBody>
      </p:sp>
      <p:graphicFrame>
        <p:nvGraphicFramePr>
          <p:cNvPr id="3" name="表格 2">
            <a:extLst>
              <a:ext uri="{FF2B5EF4-FFF2-40B4-BE49-F238E27FC236}">
                <a16:creationId xmlns:a16="http://schemas.microsoft.com/office/drawing/2014/main" id="{87956513-429C-98C8-DBE3-533ADD5ADE05}"/>
              </a:ext>
            </a:extLst>
          </p:cNvPr>
          <p:cNvGraphicFramePr>
            <a:graphicFrameLocks noGrp="1"/>
          </p:cNvGraphicFramePr>
          <p:nvPr>
            <p:extLst>
              <p:ext uri="{D42A27DB-BD31-4B8C-83A1-F6EECF244321}">
                <p14:modId xmlns:p14="http://schemas.microsoft.com/office/powerpoint/2010/main" val="3100080751"/>
              </p:ext>
            </p:extLst>
          </p:nvPr>
        </p:nvGraphicFramePr>
        <p:xfrm>
          <a:off x="263525" y="1406482"/>
          <a:ext cx="11736388" cy="4975264"/>
        </p:xfrm>
        <a:graphic>
          <a:graphicData uri="http://schemas.openxmlformats.org/drawingml/2006/table">
            <a:tbl>
              <a:tblPr>
                <a:tableStyleId>{616DA210-FB5B-4158-B5E0-FEB733F419BA}</a:tableStyleId>
              </a:tblPr>
              <a:tblGrid>
                <a:gridCol w="595134">
                  <a:extLst>
                    <a:ext uri="{9D8B030D-6E8A-4147-A177-3AD203B41FA5}">
                      <a16:colId xmlns:a16="http://schemas.microsoft.com/office/drawing/2014/main" val="540728689"/>
                    </a:ext>
                  </a:extLst>
                </a:gridCol>
                <a:gridCol w="1693566">
                  <a:extLst>
                    <a:ext uri="{9D8B030D-6E8A-4147-A177-3AD203B41FA5}">
                      <a16:colId xmlns:a16="http://schemas.microsoft.com/office/drawing/2014/main" val="1129663135"/>
                    </a:ext>
                  </a:extLst>
                </a:gridCol>
                <a:gridCol w="7144175">
                  <a:extLst>
                    <a:ext uri="{9D8B030D-6E8A-4147-A177-3AD203B41FA5}">
                      <a16:colId xmlns:a16="http://schemas.microsoft.com/office/drawing/2014/main" val="2354963012"/>
                    </a:ext>
                  </a:extLst>
                </a:gridCol>
                <a:gridCol w="1152128">
                  <a:extLst>
                    <a:ext uri="{9D8B030D-6E8A-4147-A177-3AD203B41FA5}">
                      <a16:colId xmlns:a16="http://schemas.microsoft.com/office/drawing/2014/main" val="293464637"/>
                    </a:ext>
                  </a:extLst>
                </a:gridCol>
                <a:gridCol w="1151385">
                  <a:extLst>
                    <a:ext uri="{9D8B030D-6E8A-4147-A177-3AD203B41FA5}">
                      <a16:colId xmlns:a16="http://schemas.microsoft.com/office/drawing/2014/main" val="327322296"/>
                    </a:ext>
                  </a:extLst>
                </a:gridCol>
              </a:tblGrid>
              <a:tr h="310954">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7931" marR="17931" marT="8966" marB="8966" anchor="ctr">
                    <a:solidFill>
                      <a:schemeClr val="tx2">
                        <a:lumMod val="20000"/>
                        <a:lumOff val="80000"/>
                      </a:schemeClr>
                    </a:solidFill>
                  </a:tcP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专利号</a:t>
                      </a:r>
                    </a:p>
                  </a:txBody>
                  <a:tcPr marL="17931" marR="17931" marT="8966" marB="8966" anchor="ctr">
                    <a:solidFill>
                      <a:schemeClr val="tx2">
                        <a:lumMod val="20000"/>
                        <a:lumOff val="80000"/>
                      </a:schemeClr>
                    </a:solidFill>
                  </a:tcP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专利名称</a:t>
                      </a:r>
                    </a:p>
                  </a:txBody>
                  <a:tcPr marL="17931" marR="17931" marT="8966" marB="8966" anchor="ctr">
                    <a:solidFill>
                      <a:schemeClr val="tx2">
                        <a:lumMod val="20000"/>
                        <a:lumOff val="80000"/>
                      </a:schemeClr>
                    </a:solidFill>
                  </a:tcP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专利类型</a:t>
                      </a:r>
                    </a:p>
                  </a:txBody>
                  <a:tcPr marL="17931" marR="17931" marT="8966" marB="8966" anchor="ctr">
                    <a:solidFill>
                      <a:schemeClr val="tx2">
                        <a:lumMod val="20000"/>
                        <a:lumOff val="80000"/>
                      </a:schemeClr>
                    </a:solidFill>
                  </a:tcPr>
                </a:tc>
                <a:tc>
                  <a:txBody>
                    <a:bodyPr/>
                    <a:lstStyle/>
                    <a:p>
                      <a:pPr algn="ctr" fontAlgn="ctr" latinLnBrk="0"/>
                      <a:r>
                        <a:rPr lang="zh-CN" altLang="en-US" sz="16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7931" marR="17931" marT="8966" marB="8966" anchor="ctr">
                    <a:solidFill>
                      <a:schemeClr val="tx2">
                        <a:lumMod val="20000"/>
                        <a:lumOff val="80000"/>
                      </a:schemeClr>
                    </a:solidFill>
                  </a:tcPr>
                </a:tc>
                <a:extLst>
                  <a:ext uri="{0D108BD9-81ED-4DB2-BD59-A6C34878D82A}">
                    <a16:rowId xmlns:a16="http://schemas.microsoft.com/office/drawing/2014/main" val="2700073545"/>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16</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ZL201610956570 .7</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压裂用液力远程控制高压管汇</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2207817504"/>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17</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ZL202010498554 .4</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一种页岩气水平井投球暂堵转向压裂的优化方法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endParaRPr lang="zh-CN" altLang="en-US"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732318884"/>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18</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ZL202010520575 .1</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a:t>
                      </a:r>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T</a:t>
                      </a:r>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型缝形成风险现场判别的方法及相应压裂工艺</a:t>
                      </a:r>
                    </a:p>
                  </a:txBody>
                  <a:tcPr marL="17931" marR="17931" marT="8966" marB="8966" anchor="ctr"/>
                </a:tc>
                <a:tc>
                  <a:txBody>
                    <a:bodyPr/>
                    <a:lstStyle/>
                    <a:p>
                      <a:pPr algn="ctr" fontAlgn="ctr" latinLnBrk="0"/>
                      <a:r>
                        <a:rPr lang="zh-CN" altLang="en-US"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3419789909"/>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19</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ZL202010730401 .8</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固液两相条件下气泡上升速度的测试装置及测试方法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634875678"/>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ZL202110374794 .8</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一种工艺参数调节动作决策模型的优化方法以及装置</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326972555"/>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21</a:t>
                      </a:r>
                    </a:p>
                  </a:txBody>
                  <a:tcPr marL="17931" marR="17931" marT="8966" marB="8966" anchor="ctr"/>
                </a:tc>
                <a:tc>
                  <a:txBody>
                    <a:bodyPr/>
                    <a:lstStyle/>
                    <a:p>
                      <a:pPr algn="ctr" fontAlgn="ctr" latinLnBrk="0"/>
                      <a:r>
                        <a:rPr lang="en-US"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ZL202110462699 .3</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一种数据处理方法、模型训练方法、装置及电子设备</a:t>
                      </a:r>
                    </a:p>
                  </a:txBody>
                  <a:tcPr marL="17931" marR="17931" marT="8966" marB="8966" anchor="ctr"/>
                </a:tc>
                <a:tc>
                  <a:txBody>
                    <a:bodyPr/>
                    <a:lstStyle/>
                    <a:p>
                      <a:pPr algn="ctr" fontAlgn="ctr" latinLnBrk="0"/>
                      <a:r>
                        <a:rPr lang="zh-CN" altLang="en-US" sz="1400" b="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4200690088"/>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22</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ZL202110497482 .6</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一种工艺参数的调节策略决策模型的确定方法及装置</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7840689"/>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23</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ZL202110700799 .5</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渗流介质物理场模型的确定方法、装置、计算设备及介质</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966181487"/>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24</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ZL201911284312 .9</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基于时间序列的数据预测及补全方法、装置、介质和设备</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4089816475"/>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25</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CN202310117116.2</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一种基于领域知识与深度学习结合的地层岩性预测方法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3906912880"/>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26</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CN202111208893.5</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一种利用共聚焦显微镜观察水力裂缝起裂与扩展的方法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527736328"/>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27</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CN202110703098.7</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一种研究水力裂缝在层状介质中扩展规律的平台及方法</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发明专利</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770232372"/>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28</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2023SR0488644</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全三维水力压裂智能预测软件</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软件著作</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3688775553"/>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29</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2021SR1342441</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基于数据驱动的产能智能预测及参数优化系统</a:t>
                      </a:r>
                    </a:p>
                  </a:txBody>
                  <a:tcPr marL="17931" marR="17931" marT="8966" marB="8966"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软件著作</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1952317584"/>
                  </a:ext>
                </a:extLst>
              </a:tr>
              <a:tr h="310954">
                <a:tc>
                  <a:txBody>
                    <a:bodyPr/>
                    <a:lstStyle/>
                    <a:p>
                      <a:pPr algn="ctr" fontAlgn="ctr" latinLnBrk="0"/>
                      <a:r>
                        <a:rPr lang="en-US" altLang="zh-CN"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30</a:t>
                      </a:r>
                    </a:p>
                  </a:txBody>
                  <a:tcPr marL="17931" marR="17931" marT="8966" marB="8966" anchor="ctr"/>
                </a:tc>
                <a:tc>
                  <a:txBody>
                    <a:bodyPr/>
                    <a:lstStyle/>
                    <a:p>
                      <a:pPr algn="ctr" fontAlgn="ctr" latinLnBrk="0"/>
                      <a:r>
                        <a:rPr 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2021SR1342440</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基于数据驱动的套损智能预测分析系统</a:t>
                      </a:r>
                    </a:p>
                  </a:txBody>
                  <a:tcPr marL="17931" marR="17931" marT="8966" marB="8966" anchor="ct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软件著作</a:t>
                      </a:r>
                    </a:p>
                  </a:txBody>
                  <a:tcPr marL="17931" marR="17931" marT="8966" marB="8966" anchor="ctr"/>
                </a:tc>
                <a:tc>
                  <a:txBody>
                    <a:bodyPr/>
                    <a:lstStyle/>
                    <a:p>
                      <a:pPr marL="0" algn="ctr" defTabSz="914400" rtl="0" eaLnBrk="1" fontAlgn="ctr" latinLnBrk="0" hangingPunct="1"/>
                      <a:r>
                        <a:rPr lang="en-US" altLang="zh-CN" sz="1400" b="1" kern="1200" dirty="0">
                          <a:solidFill>
                            <a:srgbClr val="000000"/>
                          </a:solidFill>
                          <a:effectLst/>
                          <a:latin typeface="Times New Roman" panose="02020603050405020304" pitchFamily="18" charset="0"/>
                          <a:ea typeface="SimSun"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1902335860"/>
                  </a:ext>
                </a:extLst>
              </a:tr>
            </a:tbl>
          </a:graphicData>
        </a:graphic>
      </p:graphicFrame>
    </p:spTree>
    <p:extLst>
      <p:ext uri="{BB962C8B-B14F-4D97-AF65-F5344CB8AC3E}">
        <p14:creationId xmlns:p14="http://schemas.microsoft.com/office/powerpoint/2010/main" val="141404452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graphicFrame>
        <p:nvGraphicFramePr>
          <p:cNvPr id="2" name="表格 1">
            <a:extLst>
              <a:ext uri="{FF2B5EF4-FFF2-40B4-BE49-F238E27FC236}">
                <a16:creationId xmlns:a16="http://schemas.microsoft.com/office/drawing/2014/main" id="{820AEE65-2588-525F-E329-DEC95796B361}"/>
              </a:ext>
            </a:extLst>
          </p:cNvPr>
          <p:cNvGraphicFramePr>
            <a:graphicFrameLocks noGrp="1"/>
          </p:cNvGraphicFramePr>
          <p:nvPr>
            <p:extLst>
              <p:ext uri="{D42A27DB-BD31-4B8C-83A1-F6EECF244321}">
                <p14:modId xmlns:p14="http://schemas.microsoft.com/office/powerpoint/2010/main" val="2385871817"/>
              </p:ext>
            </p:extLst>
          </p:nvPr>
        </p:nvGraphicFramePr>
        <p:xfrm>
          <a:off x="250875" y="1412875"/>
          <a:ext cx="11736386" cy="4994744"/>
        </p:xfrm>
        <a:graphic>
          <a:graphicData uri="http://schemas.openxmlformats.org/drawingml/2006/table">
            <a:tbl>
              <a:tblPr>
                <a:tableStyleId>{5940675A-B579-460E-94D1-54222C63F5DA}</a:tableStyleId>
              </a:tblPr>
              <a:tblGrid>
                <a:gridCol w="444525">
                  <a:extLst>
                    <a:ext uri="{9D8B030D-6E8A-4147-A177-3AD203B41FA5}">
                      <a16:colId xmlns:a16="http://schemas.microsoft.com/office/drawing/2014/main" val="2355258586"/>
                    </a:ext>
                  </a:extLst>
                </a:gridCol>
                <a:gridCol w="936104">
                  <a:extLst>
                    <a:ext uri="{9D8B030D-6E8A-4147-A177-3AD203B41FA5}">
                      <a16:colId xmlns:a16="http://schemas.microsoft.com/office/drawing/2014/main" val="1116869576"/>
                    </a:ext>
                  </a:extLst>
                </a:gridCol>
                <a:gridCol w="6264696">
                  <a:extLst>
                    <a:ext uri="{9D8B030D-6E8A-4147-A177-3AD203B41FA5}">
                      <a16:colId xmlns:a16="http://schemas.microsoft.com/office/drawing/2014/main" val="3825257239"/>
                    </a:ext>
                  </a:extLst>
                </a:gridCol>
                <a:gridCol w="504056">
                  <a:extLst>
                    <a:ext uri="{9D8B030D-6E8A-4147-A177-3AD203B41FA5}">
                      <a16:colId xmlns:a16="http://schemas.microsoft.com/office/drawing/2014/main" val="1465930884"/>
                    </a:ext>
                  </a:extLst>
                </a:gridCol>
                <a:gridCol w="2592288">
                  <a:extLst>
                    <a:ext uri="{9D8B030D-6E8A-4147-A177-3AD203B41FA5}">
                      <a16:colId xmlns:a16="http://schemas.microsoft.com/office/drawing/2014/main" val="2431655238"/>
                    </a:ext>
                  </a:extLst>
                </a:gridCol>
                <a:gridCol w="994717">
                  <a:extLst>
                    <a:ext uri="{9D8B030D-6E8A-4147-A177-3AD203B41FA5}">
                      <a16:colId xmlns:a16="http://schemas.microsoft.com/office/drawing/2014/main" val="3931013233"/>
                    </a:ext>
                  </a:extLst>
                </a:gridCol>
              </a:tblGrid>
              <a:tr h="360000">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发表时间</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论文名称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索引</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期刊名称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5057" marR="15057" marT="7528" marB="7528" anchor="ctr">
                    <a:solidFill>
                      <a:schemeClr val="tx2">
                        <a:lumMod val="20000"/>
                        <a:lumOff val="80000"/>
                      </a:schemeClr>
                    </a:solidFill>
                  </a:tcPr>
                </a:tc>
                <a:extLst>
                  <a:ext uri="{0D108BD9-81ED-4DB2-BD59-A6C34878D82A}">
                    <a16:rowId xmlns:a16="http://schemas.microsoft.com/office/drawing/2014/main" val="1333638953"/>
                  </a:ext>
                </a:extLst>
              </a:tr>
              <a:tr h="356539">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2022</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Semantic Interpretation for Convolutional Neural Networks: What Makes a Cat a Cat?</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Advanced Science</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226815597"/>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2022</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The influence of multi-metal-veins on fractures propagation investigated by the experiment and simulation</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Petroleum Science</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979761593"/>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3</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2020</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Physics constrained deep learning of </a:t>
                      </a:r>
                      <a:r>
                        <a:rPr lang="en-US" sz="1400" b="0" dirty="0" err="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geomechanical</a:t>
                      </a:r>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logs</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IEEE Transactions on Geoscience and Remote Sensing</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2176924442"/>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4</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2020</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Well log generation via ensemble long short-term memory (</a:t>
                      </a:r>
                      <a:r>
                        <a:rPr lang="en-US" sz="1400" b="0" dirty="0" err="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EnLSTM</a:t>
                      </a:r>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network</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Geophysical Research Letters</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914462271"/>
                  </a:ext>
                </a:extLst>
              </a:tr>
              <a:tr h="303021">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2017</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An adsorbed gas estimation model for shale gas reservoirs via statistical learning</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Applied Energy</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194943332"/>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2024</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Bridging data barriers among participants: Assessing the potential of </a:t>
                      </a:r>
                      <a:r>
                        <a:rPr lang="en-US" sz="1400" b="0" dirty="0" err="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geoenergy</a:t>
                      </a:r>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through federated learning</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Applied Energy</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2716351294"/>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7</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2023</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Interpretable machine learning optimization (</a:t>
                      </a:r>
                      <a:r>
                        <a:rPr lang="en-US" sz="1400" b="0" dirty="0" err="1">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InterOpt</a:t>
                      </a:r>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for operational parameters: a case study of highly-efficient shale gas development</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Petroleum Science</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563396999"/>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8</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2018</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Synthetic well logs generation via Recurrent Neural Networks</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Petroleum Exploration and Development</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3439835237"/>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9</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2021</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Productivity prediction of a multilateral-well geothermal system based on a long short-term memory and multi-layer perceptron combinational neural network</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Applied Energy</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26255856"/>
                  </a:ext>
                </a:extLst>
              </a:tr>
              <a:tr h="439197">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10</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2024</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Modeling of scale-dependent perforation geometrical fracture growth in naturally layered media</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Engineering Geology</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241464142"/>
                  </a:ext>
                </a:extLst>
              </a:tr>
              <a:tr h="439197">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11</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2023</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Optimization of integrated geological-engineering design of volume fracturing with fan-shaped well pattern</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Petroleum Exploration and Development</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3208526245"/>
                  </a:ext>
                </a:extLst>
              </a:tr>
            </a:tbl>
          </a:graphicData>
        </a:graphic>
      </p:graphicFrame>
      <p:sp>
        <p:nvSpPr>
          <p:cNvPr id="4" name="TextBox 7">
            <a:extLst>
              <a:ext uri="{FF2B5EF4-FFF2-40B4-BE49-F238E27FC236}">
                <a16:creationId xmlns:a16="http://schemas.microsoft.com/office/drawing/2014/main" id="{7E081E6C-FBB9-3474-7CF0-CCA6BDF5470C}"/>
              </a:ext>
            </a:extLst>
          </p:cNvPr>
          <p:cNvSpPr txBox="1"/>
          <p:nvPr/>
        </p:nvSpPr>
        <p:spPr bwMode="auto">
          <a:xfrm>
            <a:off x="326269" y="773307"/>
            <a:ext cx="11673644"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lang="en-US" altLang="zh-CN" sz="2400" kern="0" dirty="0">
                <a:solidFill>
                  <a:schemeClr val="tx1"/>
                </a:solidFill>
                <a:latin typeface="方正大黑简体" panose="02010601030101010101" pitchFamily="2" charset="-122"/>
                <a:ea typeface="方正大黑简体" panose="02010601030101010101" pitchFamily="2" charset="-122"/>
              </a:rPr>
              <a:t>3</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、发表高水平论文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60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篇，其中</a:t>
            </a:r>
            <a:r>
              <a:rPr kumimoji="0" lang="nl-NL"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SCI </a:t>
            </a:r>
            <a:r>
              <a:rPr kumimoji="0" lang="nl-NL"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CCF-A</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类会议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篇，核心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p>
        </p:txBody>
      </p:sp>
    </p:spTree>
    <p:extLst>
      <p:ext uri="{BB962C8B-B14F-4D97-AF65-F5344CB8AC3E}">
        <p14:creationId xmlns:p14="http://schemas.microsoft.com/office/powerpoint/2010/main" val="386565371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graphicFrame>
        <p:nvGraphicFramePr>
          <p:cNvPr id="4" name="表格 3">
            <a:extLst>
              <a:ext uri="{FF2B5EF4-FFF2-40B4-BE49-F238E27FC236}">
                <a16:creationId xmlns:a16="http://schemas.microsoft.com/office/drawing/2014/main" id="{ADDF0BF4-6C78-7E20-AC98-26372F1C4F76}"/>
              </a:ext>
            </a:extLst>
          </p:cNvPr>
          <p:cNvGraphicFramePr>
            <a:graphicFrameLocks noGrp="1"/>
          </p:cNvGraphicFramePr>
          <p:nvPr>
            <p:extLst>
              <p:ext uri="{D42A27DB-BD31-4B8C-83A1-F6EECF244321}">
                <p14:modId xmlns:p14="http://schemas.microsoft.com/office/powerpoint/2010/main" val="4050383853"/>
              </p:ext>
            </p:extLst>
          </p:nvPr>
        </p:nvGraphicFramePr>
        <p:xfrm>
          <a:off x="250875" y="1412875"/>
          <a:ext cx="11736386" cy="5159899"/>
        </p:xfrm>
        <a:graphic>
          <a:graphicData uri="http://schemas.openxmlformats.org/drawingml/2006/table">
            <a:tbl>
              <a:tblPr>
                <a:tableStyleId>{5940675A-B579-460E-94D1-54222C63F5DA}</a:tableStyleId>
              </a:tblPr>
              <a:tblGrid>
                <a:gridCol w="444525">
                  <a:extLst>
                    <a:ext uri="{9D8B030D-6E8A-4147-A177-3AD203B41FA5}">
                      <a16:colId xmlns:a16="http://schemas.microsoft.com/office/drawing/2014/main" val="2355258586"/>
                    </a:ext>
                  </a:extLst>
                </a:gridCol>
                <a:gridCol w="792088">
                  <a:extLst>
                    <a:ext uri="{9D8B030D-6E8A-4147-A177-3AD203B41FA5}">
                      <a16:colId xmlns:a16="http://schemas.microsoft.com/office/drawing/2014/main" val="1116869576"/>
                    </a:ext>
                  </a:extLst>
                </a:gridCol>
                <a:gridCol w="6624736">
                  <a:extLst>
                    <a:ext uri="{9D8B030D-6E8A-4147-A177-3AD203B41FA5}">
                      <a16:colId xmlns:a16="http://schemas.microsoft.com/office/drawing/2014/main" val="3825257239"/>
                    </a:ext>
                  </a:extLst>
                </a:gridCol>
                <a:gridCol w="504056">
                  <a:extLst>
                    <a:ext uri="{9D8B030D-6E8A-4147-A177-3AD203B41FA5}">
                      <a16:colId xmlns:a16="http://schemas.microsoft.com/office/drawing/2014/main" val="1465930884"/>
                    </a:ext>
                  </a:extLst>
                </a:gridCol>
                <a:gridCol w="2376264">
                  <a:extLst>
                    <a:ext uri="{9D8B030D-6E8A-4147-A177-3AD203B41FA5}">
                      <a16:colId xmlns:a16="http://schemas.microsoft.com/office/drawing/2014/main" val="2431655238"/>
                    </a:ext>
                  </a:extLst>
                </a:gridCol>
                <a:gridCol w="994717">
                  <a:extLst>
                    <a:ext uri="{9D8B030D-6E8A-4147-A177-3AD203B41FA5}">
                      <a16:colId xmlns:a16="http://schemas.microsoft.com/office/drawing/2014/main" val="3931013233"/>
                    </a:ext>
                  </a:extLst>
                </a:gridCol>
              </a:tblGrid>
              <a:tr h="360000">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发表时间</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论文名称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索引</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期刊名称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5057" marR="15057" marT="7528" marB="7528" anchor="ctr">
                    <a:solidFill>
                      <a:schemeClr val="tx2">
                        <a:lumMod val="20000"/>
                        <a:lumOff val="80000"/>
                      </a:schemeClr>
                    </a:solidFill>
                  </a:tcPr>
                </a:tc>
                <a:extLst>
                  <a:ext uri="{0D108BD9-81ED-4DB2-BD59-A6C34878D82A}">
                    <a16:rowId xmlns:a16="http://schemas.microsoft.com/office/drawing/2014/main" val="1333638953"/>
                  </a:ext>
                </a:extLst>
              </a:tr>
              <a:tr h="429384">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12</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2020</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 hydraulic fracture height mathematical model considering the influence of plastic region at fracture tip</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Petroleum Exploration and Development</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226815597"/>
                  </a:ext>
                </a:extLst>
              </a:tr>
              <a:tr h="382139">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13</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2022</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Settling behavior of spherical particles in eccentric annulus filled with viscous inelastic fluid</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Petroleum Science</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979761593"/>
                  </a:ext>
                </a:extLst>
              </a:tr>
              <a:tr h="429384">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14</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2022</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High-throughput discovery of chemical structure-polarity relationships combining automation and machine-learning techniques</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Chem</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2176924442"/>
                  </a:ext>
                </a:extLst>
              </a:tr>
              <a:tr h="429384">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15</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2024</a:t>
                      </a:r>
                    </a:p>
                  </a:txBody>
                  <a:tcPr marL="15057" marR="15057" marT="7528" marB="7528" anchor="ctr"/>
                </a:tc>
                <a:tc>
                  <a:txBody>
                    <a:bodyPr/>
                    <a:lstStyle/>
                    <a:p>
                      <a:pPr algn="ctr" fontAlgn="ctr" latinLnBrk="0"/>
                      <a:r>
                        <a:rPr 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Bottom hole pressure prediction based on hybrid neural networks and Bayesian optimization</a:t>
                      </a:r>
                    </a:p>
                  </a:txBody>
                  <a:tcPr marL="15057" marR="15057" marT="7528" marB="7528" anchor="ctr"/>
                </a:tc>
                <a:tc>
                  <a:txBody>
                    <a:bodyPr/>
                    <a:lstStyle/>
                    <a:p>
                      <a:pPr algn="ctr" fontAlgn="ctr" latinLnBrk="0"/>
                      <a:r>
                        <a:rPr lang="nl-NL"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SCI</a:t>
                      </a:r>
                    </a:p>
                  </a:txBody>
                  <a:tcPr marL="15057" marR="15057" marT="7528" marB="7528" anchor="ctr"/>
                </a:tc>
                <a:tc>
                  <a:txBody>
                    <a:bodyPr/>
                    <a:lstStyle/>
                    <a:p>
                      <a:pPr algn="ctr" fontAlgn="ctr" latinLnBrk="0"/>
                      <a:r>
                        <a:rPr lang="nl-NL"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Petroleum Science</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1914462271"/>
                  </a:ext>
                </a:extLst>
              </a:tr>
              <a:tr h="429384">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16</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2018</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Development of a New Mathematical Model To Quantitatively Evaluate Equilibrium Height of Proppant Bed in Hydraulic Fractures for Slickwater Treatment</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SPE Journal</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194943332"/>
                  </a:ext>
                </a:extLst>
              </a:tr>
              <a:tr h="42938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17</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2021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sz="1400" dirty="0">
                          <a:solidFill>
                            <a:schemeClr val="tx1"/>
                          </a:solidFill>
                          <a:effectLst/>
                          <a:latin typeface="Times New Roman" panose="02020603050405020304" pitchFamily="18" charset="0"/>
                          <a:cs typeface="Times New Roman" panose="02020603050405020304" pitchFamily="18" charset="0"/>
                        </a:rPr>
                        <a:t>Development of elastic drag coefficient model and explicit terminal settling velocity equation for particles in viscoelastic fluids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nl-NL" altLang="zh-CN" sz="14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SPE Journal</a:t>
                      </a:r>
                      <a:endParaRPr kumimoji="0" lang="nl-NL"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2716351294"/>
                  </a:ext>
                </a:extLst>
              </a:tr>
              <a:tr h="42938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18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2018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sz="1400" dirty="0">
                          <a:solidFill>
                            <a:schemeClr val="tx1"/>
                          </a:solidFill>
                          <a:effectLst/>
                          <a:latin typeface="Times New Roman" panose="02020603050405020304" pitchFamily="18" charset="0"/>
                          <a:cs typeface="Times New Roman" panose="02020603050405020304" pitchFamily="18" charset="0"/>
                        </a:rPr>
                        <a:t>A Unified Model To Predict Flowing Pressure and Temperature Distributions in Horizontal Wellbores for Different Energized Fracturing Fluids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nl-NL" altLang="zh-CN" sz="14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SPE Journal</a:t>
                      </a:r>
                      <a:endParaRPr kumimoji="0" lang="nl-NL"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endParaRPr lang="zh-CN" altLang="en-US"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563396999"/>
                  </a:ext>
                </a:extLst>
              </a:tr>
              <a:tr h="42938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19</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New Ensemble Machine-Learning Framework for Searching Sweet Spots in Shale Reservoirs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nl-NL" altLang="zh-CN" sz="14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SPE Journal</a:t>
                      </a:r>
                      <a:endParaRPr kumimoji="0" lang="nl-NL"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endParaRPr lang="zh-CN" altLang="en-US"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3439835237"/>
                  </a:ext>
                </a:extLst>
              </a:tr>
              <a:tr h="42938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20</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2019</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Investigation of Rupture and Slip Mechanisms of Hydraulic Fractures in Multiple-Layered Formations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kumimoji="0" lang="nl-NL"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SPE Journal</a:t>
                      </a: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26255856"/>
                  </a:ext>
                </a:extLst>
              </a:tr>
              <a:tr h="42938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2023</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sz="1400" dirty="0">
                          <a:solidFill>
                            <a:schemeClr val="tx1"/>
                          </a:solidFill>
                          <a:effectLst/>
                          <a:latin typeface="Times New Roman" panose="02020603050405020304" pitchFamily="18" charset="0"/>
                          <a:cs typeface="Times New Roman" panose="02020603050405020304" pitchFamily="18" charset="0"/>
                        </a:rPr>
                        <a:t>A New Multi Cluster Fracturing Simulation Model Coupled with Perforation Erosion</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sz="1400" dirty="0">
                          <a:solidFill>
                            <a:schemeClr val="tx1"/>
                          </a:solidFill>
                          <a:effectLst/>
                          <a:latin typeface="Times New Roman" panose="02020603050405020304" pitchFamily="18" charset="0"/>
                          <a:cs typeface="Times New Roman" panose="02020603050405020304" pitchFamily="18" charset="0"/>
                        </a:rPr>
                        <a:t>Rock Mechanics and Rock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241464142"/>
                  </a:ext>
                </a:extLst>
              </a:tr>
              <a:tr h="42938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22</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2021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sz="1400">
                          <a:solidFill>
                            <a:schemeClr val="tx1"/>
                          </a:solidFill>
                          <a:effectLst/>
                          <a:latin typeface="Times New Roman" panose="02020603050405020304" pitchFamily="18" charset="0"/>
                          <a:cs typeface="Times New Roman" panose="02020603050405020304" pitchFamily="18" charset="0"/>
                        </a:rPr>
                        <a:t>Theory-guided hard constraint projection (HCP): a knowledge-based data-driven scientific machine learning method</a:t>
                      </a:r>
                      <a:endParaRPr lang="en-US"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Journal of Computational Physics</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b"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3208526245"/>
                  </a:ext>
                </a:extLst>
              </a:tr>
            </a:tbl>
          </a:graphicData>
        </a:graphic>
      </p:graphicFrame>
      <p:sp>
        <p:nvSpPr>
          <p:cNvPr id="7" name="TextBox 7">
            <a:extLst>
              <a:ext uri="{FF2B5EF4-FFF2-40B4-BE49-F238E27FC236}">
                <a16:creationId xmlns:a16="http://schemas.microsoft.com/office/drawing/2014/main" id="{DC4B5D80-0796-4588-9B90-11586955DAE2}"/>
              </a:ext>
            </a:extLst>
          </p:cNvPr>
          <p:cNvSpPr txBox="1"/>
          <p:nvPr/>
        </p:nvSpPr>
        <p:spPr bwMode="auto">
          <a:xfrm>
            <a:off x="326269" y="773307"/>
            <a:ext cx="11673644"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lang="en-US" altLang="zh-CN" sz="2400" kern="0" dirty="0">
                <a:solidFill>
                  <a:schemeClr val="tx1"/>
                </a:solidFill>
                <a:latin typeface="方正大黑简体" panose="02010601030101010101" pitchFamily="2" charset="-122"/>
                <a:ea typeface="方正大黑简体" panose="02010601030101010101" pitchFamily="2" charset="-122"/>
              </a:rPr>
              <a:t>3</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、发表高水平论文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60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篇，其中</a:t>
            </a:r>
            <a:r>
              <a:rPr kumimoji="0" lang="nl-NL"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SCI </a:t>
            </a:r>
            <a:r>
              <a:rPr kumimoji="0" lang="nl-NL"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CCF-A</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类会议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篇，核心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p>
        </p:txBody>
      </p:sp>
    </p:spTree>
    <p:extLst>
      <p:ext uri="{BB962C8B-B14F-4D97-AF65-F5344CB8AC3E}">
        <p14:creationId xmlns:p14="http://schemas.microsoft.com/office/powerpoint/2010/main" val="104062799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graphicFrame>
        <p:nvGraphicFramePr>
          <p:cNvPr id="4" name="表格 3">
            <a:extLst>
              <a:ext uri="{FF2B5EF4-FFF2-40B4-BE49-F238E27FC236}">
                <a16:creationId xmlns:a16="http://schemas.microsoft.com/office/drawing/2014/main" id="{ADDF0BF4-6C78-7E20-AC98-26372F1C4F76}"/>
              </a:ext>
            </a:extLst>
          </p:cNvPr>
          <p:cNvGraphicFramePr>
            <a:graphicFrameLocks noGrp="1"/>
          </p:cNvGraphicFramePr>
          <p:nvPr>
            <p:extLst>
              <p:ext uri="{D42A27DB-BD31-4B8C-83A1-F6EECF244321}">
                <p14:modId xmlns:p14="http://schemas.microsoft.com/office/powerpoint/2010/main" val="2999369656"/>
              </p:ext>
            </p:extLst>
          </p:nvPr>
        </p:nvGraphicFramePr>
        <p:xfrm>
          <a:off x="250875" y="1412875"/>
          <a:ext cx="11736386" cy="5161221"/>
        </p:xfrm>
        <a:graphic>
          <a:graphicData uri="http://schemas.openxmlformats.org/drawingml/2006/table">
            <a:tbl>
              <a:tblPr>
                <a:tableStyleId>{5940675A-B579-460E-94D1-54222C63F5DA}</a:tableStyleId>
              </a:tblPr>
              <a:tblGrid>
                <a:gridCol w="444525">
                  <a:extLst>
                    <a:ext uri="{9D8B030D-6E8A-4147-A177-3AD203B41FA5}">
                      <a16:colId xmlns:a16="http://schemas.microsoft.com/office/drawing/2014/main" val="2355258586"/>
                    </a:ext>
                  </a:extLst>
                </a:gridCol>
                <a:gridCol w="792088">
                  <a:extLst>
                    <a:ext uri="{9D8B030D-6E8A-4147-A177-3AD203B41FA5}">
                      <a16:colId xmlns:a16="http://schemas.microsoft.com/office/drawing/2014/main" val="1116869576"/>
                    </a:ext>
                  </a:extLst>
                </a:gridCol>
                <a:gridCol w="6552728">
                  <a:extLst>
                    <a:ext uri="{9D8B030D-6E8A-4147-A177-3AD203B41FA5}">
                      <a16:colId xmlns:a16="http://schemas.microsoft.com/office/drawing/2014/main" val="3825257239"/>
                    </a:ext>
                  </a:extLst>
                </a:gridCol>
                <a:gridCol w="504056">
                  <a:extLst>
                    <a:ext uri="{9D8B030D-6E8A-4147-A177-3AD203B41FA5}">
                      <a16:colId xmlns:a16="http://schemas.microsoft.com/office/drawing/2014/main" val="1465930884"/>
                    </a:ext>
                  </a:extLst>
                </a:gridCol>
                <a:gridCol w="2448272">
                  <a:extLst>
                    <a:ext uri="{9D8B030D-6E8A-4147-A177-3AD203B41FA5}">
                      <a16:colId xmlns:a16="http://schemas.microsoft.com/office/drawing/2014/main" val="2431655238"/>
                    </a:ext>
                  </a:extLst>
                </a:gridCol>
                <a:gridCol w="994717">
                  <a:extLst>
                    <a:ext uri="{9D8B030D-6E8A-4147-A177-3AD203B41FA5}">
                      <a16:colId xmlns:a16="http://schemas.microsoft.com/office/drawing/2014/main" val="3931013233"/>
                    </a:ext>
                  </a:extLst>
                </a:gridCol>
              </a:tblGrid>
              <a:tr h="360000">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发表时间</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论文名称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索引</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期刊名称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5057" marR="15057" marT="7528" marB="7528" anchor="ctr">
                    <a:solidFill>
                      <a:schemeClr val="tx2">
                        <a:lumMod val="20000"/>
                        <a:lumOff val="80000"/>
                      </a:schemeClr>
                    </a:solidFill>
                  </a:tcPr>
                </a:tc>
                <a:extLst>
                  <a:ext uri="{0D108BD9-81ED-4DB2-BD59-A6C34878D82A}">
                    <a16:rowId xmlns:a16="http://schemas.microsoft.com/office/drawing/2014/main" val="1333638953"/>
                  </a:ext>
                </a:extLst>
              </a:tr>
              <a:tr h="427026">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23</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2022</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a:solidFill>
                            <a:schemeClr val="tx1"/>
                          </a:solidFill>
                          <a:effectLst/>
                          <a:latin typeface="Times New Roman" panose="02020603050405020304" pitchFamily="18" charset="0"/>
                          <a:cs typeface="Times New Roman" panose="02020603050405020304" pitchFamily="18" charset="0"/>
                        </a:rPr>
                        <a:t>Numerical simulation of hydraulic fracture height layer-through propagation based on three-dimensional lattice method</a:t>
                      </a:r>
                      <a:endParaRPr lang="en-US"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Engineering Fracture Mechanics</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226815597"/>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24</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2020</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3-D hydraulic fracture propagation model applied for shale gas reservoirs with multiple bedding planes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Engineering Fracture Mechanics</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979761593"/>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25</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2019</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Investigation of multiple hydraulic fractures evolution and well performance in lacustrine shale oil reservoirs considering stress heterogeneity</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Engineering Fracture Mechanics</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2176924442"/>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26</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2018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Numerical investigation of the interactions between hydraulic fracture and bedding planes with non-orthogonal approach angle</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Engineering Fracture Mechanics</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914462271"/>
                  </a:ext>
                </a:extLst>
              </a:tr>
              <a:tr h="383461">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27</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2024</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Physics-constrained robust learning of open-form PDEs from limited and noisy data</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Physics of Fluids</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194943332"/>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2022</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Pressure response using wavelet analysis in the process of hydraulic fracturing: Numerical simulation and field case</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2716351294"/>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29</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2023</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Simulation study on proppant transport in a horizontal wellbore considering perforation erosion</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Geoenergy Science and Engineering</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563396999"/>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30</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Influence of temperature on the interaction of metal veins and hydraulic fractures in shale formations: Experiment and simulation</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3439835237"/>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Effect of proppant treatment on heat extraction performance in enhanced geothermal system</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endParaRPr lang="zh-CN" altLang="en-US"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126255856"/>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32</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2018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Effect of proppant addition schedule on the proppant distribution in a straight fracture for slickwater treatment</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Journal of Petroleum Science and Engineering</a:t>
                      </a:r>
                      <a:endPar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241464142"/>
                  </a:ext>
                </a:extLst>
              </a:tr>
              <a:tr h="427026">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33</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2017</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sz="1400" dirty="0">
                          <a:solidFill>
                            <a:schemeClr val="tx1"/>
                          </a:solidFill>
                          <a:effectLst/>
                          <a:latin typeface="Times New Roman" panose="02020603050405020304" pitchFamily="18" charset="0"/>
                          <a:cs typeface="Times New Roman" panose="02020603050405020304" pitchFamily="18" charset="0"/>
                        </a:rPr>
                        <a:t>Predicting fiber drag coefficient and settling velocity of sphere in fiber containing Newtonian fluids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prstClr val="black"/>
                          </a:solidFill>
                          <a:effectLst/>
                          <a:uLnTx/>
                          <a:uFillTx/>
                          <a:latin typeface="Times New Roman" panose="02020603050405020304" pitchFamily="18" charset="0"/>
                          <a:ea typeface="等线" panose="02010600030101010101" pitchFamily="2" charset="-122"/>
                          <a:cs typeface="Times New Roman" panose="02020603050405020304" pitchFamily="18" charset="0"/>
                        </a:rPr>
                        <a:t>Journal of Petroleum Science and Engineering</a:t>
                      </a:r>
                    </a:p>
                  </a:txBody>
                  <a:tcPr marL="15057" marR="15057" marT="7528" marB="7528" anchor="ctr"/>
                </a:tc>
                <a:tc>
                  <a:txBody>
                    <a:bodyPr/>
                    <a:lstStyle/>
                    <a:p>
                      <a:pPr algn="ctr" fontAlgn="b" latinLnBrk="0"/>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3208526245"/>
                  </a:ext>
                </a:extLst>
              </a:tr>
            </a:tbl>
          </a:graphicData>
        </a:graphic>
      </p:graphicFrame>
      <p:sp>
        <p:nvSpPr>
          <p:cNvPr id="7" name="TextBox 7">
            <a:extLst>
              <a:ext uri="{FF2B5EF4-FFF2-40B4-BE49-F238E27FC236}">
                <a16:creationId xmlns:a16="http://schemas.microsoft.com/office/drawing/2014/main" id="{4C12D251-2E04-47DA-A02A-C3731D6E3330}"/>
              </a:ext>
            </a:extLst>
          </p:cNvPr>
          <p:cNvSpPr txBox="1"/>
          <p:nvPr/>
        </p:nvSpPr>
        <p:spPr bwMode="auto">
          <a:xfrm>
            <a:off x="326269" y="773307"/>
            <a:ext cx="11673644"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lang="en-US" altLang="zh-CN" sz="2400" kern="0" dirty="0">
                <a:solidFill>
                  <a:schemeClr val="tx1"/>
                </a:solidFill>
                <a:latin typeface="方正大黑简体" panose="02010601030101010101" pitchFamily="2" charset="-122"/>
                <a:ea typeface="方正大黑简体" panose="02010601030101010101" pitchFamily="2" charset="-122"/>
              </a:rPr>
              <a:t>3</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、发表高水平论文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60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篇，其中</a:t>
            </a:r>
            <a:r>
              <a:rPr kumimoji="0" lang="nl-NL"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SCI </a:t>
            </a:r>
            <a:r>
              <a:rPr kumimoji="0" lang="nl-NL"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CCF-A</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类会议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篇，核心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p>
        </p:txBody>
      </p:sp>
    </p:spTree>
    <p:extLst>
      <p:ext uri="{BB962C8B-B14F-4D97-AF65-F5344CB8AC3E}">
        <p14:creationId xmlns:p14="http://schemas.microsoft.com/office/powerpoint/2010/main" val="368330640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graphicFrame>
        <p:nvGraphicFramePr>
          <p:cNvPr id="4" name="表格 3">
            <a:extLst>
              <a:ext uri="{FF2B5EF4-FFF2-40B4-BE49-F238E27FC236}">
                <a16:creationId xmlns:a16="http://schemas.microsoft.com/office/drawing/2014/main" id="{ADDF0BF4-6C78-7E20-AC98-26372F1C4F76}"/>
              </a:ext>
            </a:extLst>
          </p:cNvPr>
          <p:cNvGraphicFramePr>
            <a:graphicFrameLocks noGrp="1"/>
          </p:cNvGraphicFramePr>
          <p:nvPr>
            <p:extLst>
              <p:ext uri="{D42A27DB-BD31-4B8C-83A1-F6EECF244321}">
                <p14:modId xmlns:p14="http://schemas.microsoft.com/office/powerpoint/2010/main" val="4195504747"/>
              </p:ext>
            </p:extLst>
          </p:nvPr>
        </p:nvGraphicFramePr>
        <p:xfrm>
          <a:off x="250875" y="1412875"/>
          <a:ext cx="11736386" cy="5107459"/>
        </p:xfrm>
        <a:graphic>
          <a:graphicData uri="http://schemas.openxmlformats.org/drawingml/2006/table">
            <a:tbl>
              <a:tblPr>
                <a:tableStyleId>{5940675A-B579-460E-94D1-54222C63F5DA}</a:tableStyleId>
              </a:tblPr>
              <a:tblGrid>
                <a:gridCol w="444525">
                  <a:extLst>
                    <a:ext uri="{9D8B030D-6E8A-4147-A177-3AD203B41FA5}">
                      <a16:colId xmlns:a16="http://schemas.microsoft.com/office/drawing/2014/main" val="2355258586"/>
                    </a:ext>
                  </a:extLst>
                </a:gridCol>
                <a:gridCol w="792088">
                  <a:extLst>
                    <a:ext uri="{9D8B030D-6E8A-4147-A177-3AD203B41FA5}">
                      <a16:colId xmlns:a16="http://schemas.microsoft.com/office/drawing/2014/main" val="1116869576"/>
                    </a:ext>
                  </a:extLst>
                </a:gridCol>
                <a:gridCol w="6552728">
                  <a:extLst>
                    <a:ext uri="{9D8B030D-6E8A-4147-A177-3AD203B41FA5}">
                      <a16:colId xmlns:a16="http://schemas.microsoft.com/office/drawing/2014/main" val="3825257239"/>
                    </a:ext>
                  </a:extLst>
                </a:gridCol>
                <a:gridCol w="504056">
                  <a:extLst>
                    <a:ext uri="{9D8B030D-6E8A-4147-A177-3AD203B41FA5}">
                      <a16:colId xmlns:a16="http://schemas.microsoft.com/office/drawing/2014/main" val="1465930884"/>
                    </a:ext>
                  </a:extLst>
                </a:gridCol>
                <a:gridCol w="2448272">
                  <a:extLst>
                    <a:ext uri="{9D8B030D-6E8A-4147-A177-3AD203B41FA5}">
                      <a16:colId xmlns:a16="http://schemas.microsoft.com/office/drawing/2014/main" val="2431655238"/>
                    </a:ext>
                  </a:extLst>
                </a:gridCol>
                <a:gridCol w="994717">
                  <a:extLst>
                    <a:ext uri="{9D8B030D-6E8A-4147-A177-3AD203B41FA5}">
                      <a16:colId xmlns:a16="http://schemas.microsoft.com/office/drawing/2014/main" val="3931013233"/>
                    </a:ext>
                  </a:extLst>
                </a:gridCol>
              </a:tblGrid>
              <a:tr h="360000">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发表时间</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论文名称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索引</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期刊名称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5057" marR="15057" marT="7528" marB="7528" anchor="ctr">
                    <a:solidFill>
                      <a:schemeClr val="tx2">
                        <a:lumMod val="20000"/>
                        <a:lumOff val="80000"/>
                      </a:schemeClr>
                    </a:solidFill>
                  </a:tcPr>
                </a:tc>
                <a:extLst>
                  <a:ext uri="{0D108BD9-81ED-4DB2-BD59-A6C34878D82A}">
                    <a16:rowId xmlns:a16="http://schemas.microsoft.com/office/drawing/2014/main" val="1333638953"/>
                  </a:ext>
                </a:extLst>
              </a:tr>
              <a:tr h="452874">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34</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2017</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new model for predicting drag coefficient and settling velocity of spherical and non-spherical particle in Newtonian fluid</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Powder Technology</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226815597"/>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35</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2021</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Experimental and numerical investigation on particle diverters transport during hydraulic fracturing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Natural Gas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979761593"/>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36</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2020</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Experimental study on the effect of fracture surface morphology on plugging efficiency during temporary plugging and diverting fracturing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Natural Gas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2176924442"/>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37</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2024</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An intelligent lithology recognition system for continental shale by using digital coring images and convolutional neural networks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Geoenergy Science and Engineering</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914462271"/>
                  </a:ext>
                </a:extLst>
              </a:tr>
              <a:tr h="671593">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2022</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Numerical study of fracture dynamics in different shale fabric facies by integrating machine learning and 3-D lattice method: A case from </a:t>
                      </a:r>
                      <a:r>
                        <a:rPr lang="en-US" sz="1400" dirty="0" err="1">
                          <a:solidFill>
                            <a:schemeClr val="tx1"/>
                          </a:solidFill>
                          <a:effectLst/>
                          <a:latin typeface="Times New Roman" panose="02020603050405020304" pitchFamily="18" charset="0"/>
                          <a:cs typeface="Times New Roman" panose="02020603050405020304" pitchFamily="18" charset="0"/>
                        </a:rPr>
                        <a:t>Cangdong</a:t>
                      </a:r>
                      <a:r>
                        <a:rPr lang="en-US" sz="1400" dirty="0">
                          <a:solidFill>
                            <a:schemeClr val="tx1"/>
                          </a:solidFill>
                          <a:effectLst/>
                          <a:latin typeface="Times New Roman" panose="02020603050405020304" pitchFamily="18" charset="0"/>
                          <a:cs typeface="Times New Roman" panose="02020603050405020304" pitchFamily="18" charset="0"/>
                        </a:rPr>
                        <a:t> Sag, Bohai Bay basin, China</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194943332"/>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39</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2020</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Hydraulic fracturing induced fault slip and casing shear in Sichuan Basin: A multi-scale numerical investigation</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2716351294"/>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40</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2019</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a:t>
                      </a:r>
                      <a:r>
                        <a:rPr lang="en-US" sz="1400" dirty="0" err="1">
                          <a:solidFill>
                            <a:schemeClr val="tx1"/>
                          </a:solidFill>
                          <a:effectLst/>
                          <a:latin typeface="Times New Roman" panose="02020603050405020304" pitchFamily="18" charset="0"/>
                          <a:cs typeface="Times New Roman" panose="02020603050405020304" pitchFamily="18" charset="0"/>
                        </a:rPr>
                        <a:t>microseismic</a:t>
                      </a:r>
                      <a:r>
                        <a:rPr lang="en-US" sz="1400" dirty="0">
                          <a:solidFill>
                            <a:schemeClr val="tx1"/>
                          </a:solidFill>
                          <a:effectLst/>
                          <a:latin typeface="Times New Roman" panose="02020603050405020304" pitchFamily="18" charset="0"/>
                          <a:cs typeface="Times New Roman" panose="02020603050405020304" pitchFamily="18" charset="0"/>
                        </a:rPr>
                        <a:t>-based fracture properties characterization and visualization model for the selection of infill wells in shale reservoirs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Natural Gas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563396999"/>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41</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2018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Investigate effects of weak bedding interfaces on fracture geometry in unconventional reservoirs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3439835237"/>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42</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2023</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physics-constrained data-driven workflow for predicting bottom hole pressure using a hybrid model of artificial neural network and particle swarm optimization</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Geoenergy Science and Engineering</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126255856"/>
                  </a:ext>
                </a:extLst>
              </a:tr>
              <a:tr h="452874">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43</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a:solidFill>
                            <a:schemeClr val="tx1"/>
                          </a:solidFill>
                          <a:effectLst/>
                          <a:latin typeface="Times New Roman" panose="02020603050405020304" pitchFamily="18" charset="0"/>
                          <a:cs typeface="Times New Roman" panose="02020603050405020304" pitchFamily="18" charset="0"/>
                        </a:rPr>
                        <a:t>2022</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unified equation of settling velocity for particles settling in cylinder, annulus and fracture</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241464142"/>
                  </a:ext>
                </a:extLst>
              </a:tr>
            </a:tbl>
          </a:graphicData>
        </a:graphic>
      </p:graphicFrame>
      <p:sp>
        <p:nvSpPr>
          <p:cNvPr id="7" name="TextBox 7">
            <a:extLst>
              <a:ext uri="{FF2B5EF4-FFF2-40B4-BE49-F238E27FC236}">
                <a16:creationId xmlns:a16="http://schemas.microsoft.com/office/drawing/2014/main" id="{55DAA0BC-D6EC-4589-B5CA-045F75FE7557}"/>
              </a:ext>
            </a:extLst>
          </p:cNvPr>
          <p:cNvSpPr txBox="1"/>
          <p:nvPr/>
        </p:nvSpPr>
        <p:spPr bwMode="auto">
          <a:xfrm>
            <a:off x="326269" y="773307"/>
            <a:ext cx="11673644"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lang="en-US" altLang="zh-CN" sz="2400" kern="0" dirty="0">
                <a:solidFill>
                  <a:schemeClr val="tx1"/>
                </a:solidFill>
                <a:latin typeface="方正大黑简体" panose="02010601030101010101" pitchFamily="2" charset="-122"/>
                <a:ea typeface="方正大黑简体" panose="02010601030101010101" pitchFamily="2" charset="-122"/>
              </a:rPr>
              <a:t>3</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、发表高水平论文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60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篇，其中</a:t>
            </a:r>
            <a:r>
              <a:rPr kumimoji="0" lang="nl-NL"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SCI </a:t>
            </a:r>
            <a:r>
              <a:rPr kumimoji="0" lang="nl-NL"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CCF-A</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类会议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篇，核心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p>
        </p:txBody>
      </p:sp>
    </p:spTree>
    <p:extLst>
      <p:ext uri="{BB962C8B-B14F-4D97-AF65-F5344CB8AC3E}">
        <p14:creationId xmlns:p14="http://schemas.microsoft.com/office/powerpoint/2010/main" val="3937297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graphicFrame>
        <p:nvGraphicFramePr>
          <p:cNvPr id="4" name="表格 3">
            <a:extLst>
              <a:ext uri="{FF2B5EF4-FFF2-40B4-BE49-F238E27FC236}">
                <a16:creationId xmlns:a16="http://schemas.microsoft.com/office/drawing/2014/main" id="{ADDF0BF4-6C78-7E20-AC98-26372F1C4F76}"/>
              </a:ext>
            </a:extLst>
          </p:cNvPr>
          <p:cNvGraphicFramePr>
            <a:graphicFrameLocks noGrp="1"/>
          </p:cNvGraphicFramePr>
          <p:nvPr>
            <p:extLst>
              <p:ext uri="{D42A27DB-BD31-4B8C-83A1-F6EECF244321}">
                <p14:modId xmlns:p14="http://schemas.microsoft.com/office/powerpoint/2010/main" val="3099950660"/>
              </p:ext>
            </p:extLst>
          </p:nvPr>
        </p:nvGraphicFramePr>
        <p:xfrm>
          <a:off x="250875" y="1412875"/>
          <a:ext cx="11736386" cy="5025525"/>
        </p:xfrm>
        <a:graphic>
          <a:graphicData uri="http://schemas.openxmlformats.org/drawingml/2006/table">
            <a:tbl>
              <a:tblPr>
                <a:tableStyleId>{5940675A-B579-460E-94D1-54222C63F5DA}</a:tableStyleId>
              </a:tblPr>
              <a:tblGrid>
                <a:gridCol w="444525">
                  <a:extLst>
                    <a:ext uri="{9D8B030D-6E8A-4147-A177-3AD203B41FA5}">
                      <a16:colId xmlns:a16="http://schemas.microsoft.com/office/drawing/2014/main" val="2355258586"/>
                    </a:ext>
                  </a:extLst>
                </a:gridCol>
                <a:gridCol w="792088">
                  <a:extLst>
                    <a:ext uri="{9D8B030D-6E8A-4147-A177-3AD203B41FA5}">
                      <a16:colId xmlns:a16="http://schemas.microsoft.com/office/drawing/2014/main" val="1116869576"/>
                    </a:ext>
                  </a:extLst>
                </a:gridCol>
                <a:gridCol w="6480720">
                  <a:extLst>
                    <a:ext uri="{9D8B030D-6E8A-4147-A177-3AD203B41FA5}">
                      <a16:colId xmlns:a16="http://schemas.microsoft.com/office/drawing/2014/main" val="3825257239"/>
                    </a:ext>
                  </a:extLst>
                </a:gridCol>
                <a:gridCol w="576064">
                  <a:extLst>
                    <a:ext uri="{9D8B030D-6E8A-4147-A177-3AD203B41FA5}">
                      <a16:colId xmlns:a16="http://schemas.microsoft.com/office/drawing/2014/main" val="1465930884"/>
                    </a:ext>
                  </a:extLst>
                </a:gridCol>
                <a:gridCol w="2448272">
                  <a:extLst>
                    <a:ext uri="{9D8B030D-6E8A-4147-A177-3AD203B41FA5}">
                      <a16:colId xmlns:a16="http://schemas.microsoft.com/office/drawing/2014/main" val="2431655238"/>
                    </a:ext>
                  </a:extLst>
                </a:gridCol>
                <a:gridCol w="994717">
                  <a:extLst>
                    <a:ext uri="{9D8B030D-6E8A-4147-A177-3AD203B41FA5}">
                      <a16:colId xmlns:a16="http://schemas.microsoft.com/office/drawing/2014/main" val="3931013233"/>
                    </a:ext>
                  </a:extLst>
                </a:gridCol>
              </a:tblGrid>
              <a:tr h="360000">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发表时间</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论文名称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索引</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期刊名称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5057" marR="15057" marT="7528" marB="7528" anchor="ctr">
                    <a:solidFill>
                      <a:schemeClr val="tx2">
                        <a:lumMod val="20000"/>
                        <a:lumOff val="80000"/>
                      </a:schemeClr>
                    </a:solidFill>
                  </a:tcPr>
                </a:tc>
                <a:extLst>
                  <a:ext uri="{0D108BD9-81ED-4DB2-BD59-A6C34878D82A}">
                    <a16:rowId xmlns:a16="http://schemas.microsoft.com/office/drawing/2014/main" val="1333638953"/>
                  </a:ext>
                </a:extLst>
              </a:tr>
              <a:tr h="456213">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44</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2021</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Prediction of the settling velocity of the rod-shaped proppant in vertical fracture using artificial neural network</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979761593"/>
                  </a:ext>
                </a:extLst>
              </a:tr>
              <a:tr h="456213">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45</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2019</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Experimental study on the wall factor for spherical particles settling in parallel plates filled with power-law fluids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Journal of Petroleum Science and Engineering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2176924442"/>
                  </a:ext>
                </a:extLst>
              </a:tr>
              <a:tr h="456213">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46</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2019</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sz="1400" dirty="0">
                          <a:solidFill>
                            <a:schemeClr val="tx1"/>
                          </a:solidFill>
                          <a:effectLst/>
                          <a:latin typeface="Times New Roman" panose="02020603050405020304" pitchFamily="18" charset="0"/>
                          <a:cs typeface="Times New Roman" panose="02020603050405020304" pitchFamily="18" charset="0"/>
                        </a:rPr>
                        <a:t>Settling behavior of non-spherical particles in power-law fluids: Experimental study and model development</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cs typeface="Times New Roman" panose="02020603050405020304" pitchFamily="18" charset="0"/>
                        </a:rPr>
                        <a:t>Particuology</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914462271"/>
                  </a:ext>
                </a:extLst>
              </a:tr>
              <a:tr h="456213">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47</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2022</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Settling behavior of spherical particles in vertical annulus: Experimental study and model development</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Particuology</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1194943332"/>
                  </a:ext>
                </a:extLst>
              </a:tr>
              <a:tr h="456213">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48</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2021</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Predicting wall drag coefficient and settling velocity of particle in parallel plates filled with Newtonian fluids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Particuology</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2716351294"/>
                  </a:ext>
                </a:extLst>
              </a:tr>
              <a:tr h="456213">
                <a:tc>
                  <a:txBody>
                    <a:bodyPr/>
                    <a:lstStyle/>
                    <a:p>
                      <a:pPr algn="ctr" fontAlgn="ctr" latinLnBrk="0"/>
                      <a:r>
                        <a:rPr lang="en-US" altLang="zh-CN" sz="1400">
                          <a:solidFill>
                            <a:schemeClr val="tx1"/>
                          </a:solidFill>
                          <a:effectLst/>
                          <a:latin typeface="Times New Roman" panose="02020603050405020304" pitchFamily="18" charset="0"/>
                          <a:cs typeface="Times New Roman" panose="02020603050405020304" pitchFamily="18" charset="0"/>
                        </a:rPr>
                        <a:t>49</a:t>
                      </a:r>
                      <a:endParaRPr lang="en-US" altLang="zh-CN"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2018</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new model for simulating particle transport in a low‐viscosity fluid for fluid‐driven fracturing</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a:solidFill>
                            <a:schemeClr val="tx1"/>
                          </a:solidFill>
                          <a:effectLst/>
                          <a:latin typeface="Times New Roman" panose="02020603050405020304" pitchFamily="18" charset="0"/>
                          <a:cs typeface="Times New Roman" panose="02020603050405020304" pitchFamily="18" charset="0"/>
                        </a:rPr>
                        <a:t>SCI</a:t>
                      </a:r>
                      <a:endParaRPr lang="nl-NL" sz="140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AIChE Journal</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2</a:t>
                      </a:r>
                    </a:p>
                  </a:txBody>
                  <a:tcPr anchor="ctr"/>
                </a:tc>
                <a:extLst>
                  <a:ext uri="{0D108BD9-81ED-4DB2-BD59-A6C34878D82A}">
                    <a16:rowId xmlns:a16="http://schemas.microsoft.com/office/drawing/2014/main" val="563396999"/>
                  </a:ext>
                </a:extLst>
              </a:tr>
              <a:tr h="642749">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50</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cs typeface="Times New Roman" panose="02020603050405020304" pitchFamily="18" charset="0"/>
                        </a:rPr>
                        <a:t>2018</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A 3-D model for simulation of weak interface slippage for fracture height containment in shale reservoirs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cs typeface="Times New Roman" panose="02020603050405020304" pitchFamily="18" charset="0"/>
                        </a:rPr>
                        <a:t>SCI</a:t>
                      </a:r>
                      <a:endPar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cs typeface="Times New Roman" panose="02020603050405020304" pitchFamily="18" charset="0"/>
                        </a:rPr>
                        <a:t>International Journal of Solids and Structures</a:t>
                      </a:r>
                      <a:endPar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3439835237"/>
                  </a:ext>
                </a:extLst>
              </a:tr>
              <a:tr h="642749">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51</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2024</a:t>
                      </a:r>
                    </a:p>
                  </a:txBody>
                  <a:tcPr marL="15057" marR="15057" marT="7528" marB="7528" anchor="ctr"/>
                </a:tc>
                <a:tc>
                  <a:txBody>
                    <a:bodyPr/>
                    <a:lstStyle/>
                    <a:p>
                      <a:pPr algn="ctr" fontAlgn="ctr" latinLnBrk="0"/>
                      <a:r>
                        <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Domain Prompt Learning with Quaternion Networks</a:t>
                      </a:r>
                      <a:endParaRPr lang="en-US" sz="1400" dirty="0">
                        <a:solidFill>
                          <a:schemeClr val="tx1"/>
                        </a:solidFill>
                        <a:effectLst/>
                        <a:highlight>
                          <a:srgbClr val="FFFF00"/>
                        </a:highligh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CCF-A</a:t>
                      </a:r>
                      <a:endParaRPr lang="nl-NL" sz="1400" dirty="0">
                        <a:solidFill>
                          <a:schemeClr val="tx1"/>
                        </a:solidFill>
                        <a:effectLst/>
                        <a:highlight>
                          <a:srgbClr val="FFFF00"/>
                        </a:highligh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ctr" latinLnBrk="0"/>
                      <a:r>
                        <a:rPr lang="fr-FR"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IEEE/CVF Conference</a:t>
                      </a:r>
                      <a:endParaRPr lang="fr-FR" sz="1400" dirty="0">
                        <a:solidFill>
                          <a:schemeClr val="tx1"/>
                        </a:solidFill>
                        <a:effectLst/>
                        <a:highlight>
                          <a:srgbClr val="FFFF00"/>
                        </a:highligh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126255856"/>
                  </a:ext>
                </a:extLst>
              </a:tr>
              <a:tr h="642749">
                <a:tc>
                  <a:txBody>
                    <a:bodyPr/>
                    <a:lstStyle/>
                    <a:p>
                      <a:pPr algn="ctr" fontAlgn="ctr" latinLnBrk="0"/>
                      <a:r>
                        <a:rPr lang="en-US" altLang="zh-CN" sz="1400" dirty="0">
                          <a:solidFill>
                            <a:schemeClr val="tx1"/>
                          </a:solidFill>
                          <a:effectLst/>
                          <a:latin typeface="Times New Roman" panose="02020603050405020304" pitchFamily="18" charset="0"/>
                          <a:cs typeface="Times New Roman" panose="02020603050405020304" pitchFamily="18" charset="0"/>
                        </a:rPr>
                        <a:t>52</a:t>
                      </a:r>
                      <a:endPar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en-US" altLang="zh-CN"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2024</a:t>
                      </a:r>
                    </a:p>
                  </a:txBody>
                  <a:tcPr marL="15057" marR="15057" marT="7528" marB="7528" anchor="ctr"/>
                </a:tc>
                <a:tc>
                  <a:txBody>
                    <a:bodyPr/>
                    <a:lstStyle/>
                    <a:p>
                      <a:pPr algn="ctr" fontAlgn="b" latinLnBrk="0"/>
                      <a:r>
                        <a:rPr lang="en-US"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Domain-Controlled Prompt Learning</a:t>
                      </a:r>
                      <a:endParaRPr lang="en-US" sz="1400" dirty="0">
                        <a:solidFill>
                          <a:schemeClr val="tx1"/>
                        </a:solidFill>
                        <a:effectLst/>
                        <a:highlight>
                          <a:srgbClr val="FFFF00"/>
                        </a:highligh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altLang="zh-CN" sz="1400" dirty="0">
                          <a:solidFill>
                            <a:schemeClr val="tx1"/>
                          </a:solidFill>
                          <a:effectLst/>
                          <a:latin typeface="Times New Roman" panose="02020603050405020304" pitchFamily="18" charset="0"/>
                          <a:ea typeface="+mn-ea"/>
                          <a:cs typeface="Times New Roman" panose="02020603050405020304" pitchFamily="18" charset="0"/>
                        </a:rPr>
                        <a:t>CCF-A</a:t>
                      </a:r>
                      <a:endParaRPr lang="zh-CN" altLang="en-US" sz="1400" dirty="0">
                        <a:solidFill>
                          <a:schemeClr val="tx1"/>
                        </a:solidFill>
                        <a:effectLst/>
                        <a:highlight>
                          <a:srgbClr val="FFFF00"/>
                        </a:highligh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algn="ctr" fontAlgn="b" latinLnBrk="0"/>
                      <a:r>
                        <a:rPr lang="nl-NL" sz="1400" dirty="0">
                          <a:solidFill>
                            <a:schemeClr val="tx1"/>
                          </a:solidFill>
                          <a:effectLst/>
                          <a:latin typeface="Times New Roman" panose="02020603050405020304" pitchFamily="18" charset="0"/>
                          <a:ea typeface="等线" panose="02010600030101010101" pitchFamily="2" charset="-122"/>
                          <a:cs typeface="Times New Roman" panose="02020603050405020304" pitchFamily="18" charset="0"/>
                        </a:rPr>
                        <a:t>AAAI Conference</a:t>
                      </a:r>
                      <a:endParaRPr lang="nl-NL" sz="1400" dirty="0">
                        <a:solidFill>
                          <a:schemeClr val="tx1"/>
                        </a:solidFill>
                        <a:effectLst/>
                        <a:highlight>
                          <a:srgbClr val="FFFF00"/>
                        </a:highlight>
                        <a:latin typeface="Times New Roman" panose="02020603050405020304" pitchFamily="18" charset="0"/>
                        <a:ea typeface="等线" panose="02010600030101010101" pitchFamily="2" charset="-122"/>
                        <a:cs typeface="Times New Roman" panose="02020603050405020304" pitchFamily="18" charset="0"/>
                      </a:endParaRPr>
                    </a:p>
                  </a:txBody>
                  <a:tcPr marL="15057" marR="15057" marT="7528" marB="7528" anchor="ctr"/>
                </a:tc>
                <a:tc>
                  <a:txBody>
                    <a:bodyPr/>
                    <a:lstStyle/>
                    <a:p>
                      <a:pPr marL="0" algn="ctr" defTabSz="914400" rtl="0" eaLnBrk="1" fontAlgn="ctr" latinLnBrk="0" hangingPunct="1"/>
                      <a:r>
                        <a:rPr lang="en-US" altLang="zh-CN" sz="1400" kern="12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1241464142"/>
                  </a:ext>
                </a:extLst>
              </a:tr>
            </a:tbl>
          </a:graphicData>
        </a:graphic>
      </p:graphicFrame>
      <p:sp>
        <p:nvSpPr>
          <p:cNvPr id="6" name="TextBox 7">
            <a:extLst>
              <a:ext uri="{FF2B5EF4-FFF2-40B4-BE49-F238E27FC236}">
                <a16:creationId xmlns:a16="http://schemas.microsoft.com/office/drawing/2014/main" id="{93B827A9-CA43-4133-85F7-C18903A8A843}"/>
              </a:ext>
            </a:extLst>
          </p:cNvPr>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lang="en-US" altLang="zh-CN" sz="2400" kern="0" dirty="0">
                <a:solidFill>
                  <a:schemeClr val="tx1"/>
                </a:solidFill>
                <a:latin typeface="方正大黑简体" panose="02010601030101010101" pitchFamily="2" charset="-122"/>
                <a:ea typeface="方正大黑简体" panose="02010601030101010101" pitchFamily="2" charset="-122"/>
              </a:rPr>
              <a:t>3</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、发表高水平论文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60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篇，其中</a:t>
            </a:r>
            <a:r>
              <a:rPr kumimoji="0" lang="nl-NL"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SCI </a:t>
            </a:r>
            <a:r>
              <a:rPr kumimoji="0" lang="nl-NL"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CCF-A</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类会议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篇，核心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p>
        </p:txBody>
      </p:sp>
    </p:spTree>
    <p:extLst>
      <p:ext uri="{BB962C8B-B14F-4D97-AF65-F5344CB8AC3E}">
        <p14:creationId xmlns:p14="http://schemas.microsoft.com/office/powerpoint/2010/main" val="33735047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有形化成果</a:t>
            </a:r>
          </a:p>
        </p:txBody>
      </p:sp>
      <p:graphicFrame>
        <p:nvGraphicFramePr>
          <p:cNvPr id="4" name="表格 3">
            <a:extLst>
              <a:ext uri="{FF2B5EF4-FFF2-40B4-BE49-F238E27FC236}">
                <a16:creationId xmlns:a16="http://schemas.microsoft.com/office/drawing/2014/main" id="{ADDF0BF4-6C78-7E20-AC98-26372F1C4F76}"/>
              </a:ext>
            </a:extLst>
          </p:cNvPr>
          <p:cNvGraphicFramePr>
            <a:graphicFrameLocks noGrp="1"/>
          </p:cNvGraphicFramePr>
          <p:nvPr>
            <p:extLst>
              <p:ext uri="{D42A27DB-BD31-4B8C-83A1-F6EECF244321}">
                <p14:modId xmlns:p14="http://schemas.microsoft.com/office/powerpoint/2010/main" val="251630483"/>
              </p:ext>
            </p:extLst>
          </p:nvPr>
        </p:nvGraphicFramePr>
        <p:xfrm>
          <a:off x="250875" y="1412875"/>
          <a:ext cx="11736386" cy="3828562"/>
        </p:xfrm>
        <a:graphic>
          <a:graphicData uri="http://schemas.openxmlformats.org/drawingml/2006/table">
            <a:tbl>
              <a:tblPr>
                <a:tableStyleId>{5940675A-B579-460E-94D1-54222C63F5DA}</a:tableStyleId>
              </a:tblPr>
              <a:tblGrid>
                <a:gridCol w="444525">
                  <a:extLst>
                    <a:ext uri="{9D8B030D-6E8A-4147-A177-3AD203B41FA5}">
                      <a16:colId xmlns:a16="http://schemas.microsoft.com/office/drawing/2014/main" val="2355258586"/>
                    </a:ext>
                  </a:extLst>
                </a:gridCol>
                <a:gridCol w="792088">
                  <a:extLst>
                    <a:ext uri="{9D8B030D-6E8A-4147-A177-3AD203B41FA5}">
                      <a16:colId xmlns:a16="http://schemas.microsoft.com/office/drawing/2014/main" val="1116869576"/>
                    </a:ext>
                  </a:extLst>
                </a:gridCol>
                <a:gridCol w="6480720">
                  <a:extLst>
                    <a:ext uri="{9D8B030D-6E8A-4147-A177-3AD203B41FA5}">
                      <a16:colId xmlns:a16="http://schemas.microsoft.com/office/drawing/2014/main" val="3825257239"/>
                    </a:ext>
                  </a:extLst>
                </a:gridCol>
                <a:gridCol w="576064">
                  <a:extLst>
                    <a:ext uri="{9D8B030D-6E8A-4147-A177-3AD203B41FA5}">
                      <a16:colId xmlns:a16="http://schemas.microsoft.com/office/drawing/2014/main" val="1465930884"/>
                    </a:ext>
                  </a:extLst>
                </a:gridCol>
                <a:gridCol w="2448272">
                  <a:extLst>
                    <a:ext uri="{9D8B030D-6E8A-4147-A177-3AD203B41FA5}">
                      <a16:colId xmlns:a16="http://schemas.microsoft.com/office/drawing/2014/main" val="2431655238"/>
                    </a:ext>
                  </a:extLst>
                </a:gridCol>
                <a:gridCol w="994717">
                  <a:extLst>
                    <a:ext uri="{9D8B030D-6E8A-4147-A177-3AD203B41FA5}">
                      <a16:colId xmlns:a16="http://schemas.microsoft.com/office/drawing/2014/main" val="3931013233"/>
                    </a:ext>
                  </a:extLst>
                </a:gridCol>
              </a:tblGrid>
              <a:tr h="360000">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序号</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发表时间</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论文名称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索引</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期刊名称</a:t>
                      </a:r>
                    </a:p>
                  </a:txBody>
                  <a:tcPr marL="15057" marR="15057" marT="7528" marB="7528" anchor="ctr">
                    <a:solidFill>
                      <a:schemeClr val="tx2">
                        <a:lumMod val="20000"/>
                        <a:lumOff val="80000"/>
                      </a:schemeClr>
                    </a:solidFill>
                  </a:tcPr>
                </a:tc>
                <a:tc>
                  <a:txBody>
                    <a:bodyPr/>
                    <a:lstStyle/>
                    <a:p>
                      <a:pPr algn="ctr" fontAlgn="ctr" latinLnBrk="0"/>
                      <a:r>
                        <a:rPr lang="zh-CN" altLang="en-US" sz="1400" b="1"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对应发明点</a:t>
                      </a:r>
                    </a:p>
                  </a:txBody>
                  <a:tcPr marL="15057" marR="15057" marT="7528" marB="7528" anchor="ctr">
                    <a:solidFill>
                      <a:schemeClr val="tx2">
                        <a:lumMod val="20000"/>
                        <a:lumOff val="80000"/>
                      </a:schemeClr>
                    </a:solidFill>
                  </a:tcPr>
                </a:tc>
                <a:extLst>
                  <a:ext uri="{0D108BD9-81ED-4DB2-BD59-A6C34878D82A}">
                    <a16:rowId xmlns:a16="http://schemas.microsoft.com/office/drawing/2014/main" val="1333638953"/>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53</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2023</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Discrete Point-wise Attack Is Not Enough: Generalized Manifold Adversarial Attack for Face Recognition</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algn="ctr" fontAlgn="ctr" latinLnBrk="0"/>
                      <a:r>
                        <a:rPr lang="nl-NL" altLang="zh-CN" sz="1400" dirty="0">
                          <a:solidFill>
                            <a:schemeClr val="tx1"/>
                          </a:solidFill>
                          <a:effectLst/>
                          <a:latin typeface="Times New Roman" panose="02020603050405020304" pitchFamily="18" charset="0"/>
                          <a:ea typeface="+mn-ea"/>
                          <a:cs typeface="Times New Roman" panose="02020603050405020304" pitchFamily="18" charset="0"/>
                        </a:rPr>
                        <a:t>CCF-A</a:t>
                      </a:r>
                      <a:endParaRPr lang="nl-NL" altLang="zh-CN" sz="1400" dirty="0">
                        <a:solidFill>
                          <a:schemeClr val="tx1"/>
                        </a:solidFill>
                        <a:effectLst/>
                        <a:highlight>
                          <a:srgbClr val="FFFF00"/>
                        </a:highlight>
                        <a:latin typeface="Times New Roman" panose="02020603050405020304" pitchFamily="18" charset="0"/>
                        <a:ea typeface="+mn-ea"/>
                        <a:cs typeface="Times New Roman" panose="02020603050405020304" pitchFamily="18" charset="0"/>
                      </a:endParaRPr>
                    </a:p>
                  </a:txBody>
                  <a:tcPr marL="15057" marR="15057" marT="7528" marB="7528" anchor="ctr"/>
                </a:tc>
                <a:tc>
                  <a:txBody>
                    <a:bodyPr/>
                    <a:lstStyle/>
                    <a:p>
                      <a:pPr algn="ctr" fontAlgn="ctr" latinLnBrk="0"/>
                      <a:r>
                        <a:rPr lang="nl-NL"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 IEEE Conference</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endParaRPr lang="zh-CN" altLang="en-US"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022432388"/>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54</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2023</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Physics-Guided Discovery of Highly Nonlinear Parametric Partial Differential Equations</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algn="ctr" fontAlgn="ctr" latinLnBrk="0"/>
                      <a:r>
                        <a:rPr lang="nl-NL"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CCF-A</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algn="ctr" fontAlgn="ctr" latinLnBrk="0"/>
                      <a:r>
                        <a:rPr lang="nl-NL"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ACM SIGKDD Conference</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endParaRPr lang="zh-CN" altLang="en-US"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3495378537"/>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55</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2024</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Focus on Hiders: Exploring Hidden Threats for Enhancing Adversarial Training</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nl-NL"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CCF-A</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algn="ctr" fontAlgn="ctr" latinLnBrk="0"/>
                      <a:r>
                        <a:rPr lang="nl-NL"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IEEE/CVF Conference</a:t>
                      </a:r>
                      <a:endPar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endParaRP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endParaRPr lang="zh-CN" altLang="en-US"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2979912141"/>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56</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2019</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致密油储集层高效缝网改造与提高采收率一体化技术</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核心</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石油勘探与开发</a:t>
                      </a: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endParaRPr lang="zh-CN" altLang="en-US"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3299992406"/>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57</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2020</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大斜度井多簇水力压裂裂缝扩展数值模拟</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核心</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科学技术与工程</a:t>
                      </a: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3208526245"/>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58</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2024</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迂曲裂缝内支撑剂运移数值模拟</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核心</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中国石油大学学报</a:t>
                      </a:r>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自然科学版</a:t>
                      </a:r>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1</a:t>
                      </a:r>
                    </a:p>
                  </a:txBody>
                  <a:tcPr anchor="ctr"/>
                </a:tc>
                <a:extLst>
                  <a:ext uri="{0D108BD9-81ED-4DB2-BD59-A6C34878D82A}">
                    <a16:rowId xmlns:a16="http://schemas.microsoft.com/office/drawing/2014/main" val="1538915103"/>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59</a:t>
                      </a:r>
                    </a:p>
                  </a:txBody>
                  <a:tcPr marL="15057" marR="15057" marT="7528" marB="7528" anchor="ctr"/>
                </a:tc>
                <a:tc>
                  <a:txBody>
                    <a:bodyPr/>
                    <a:lstStyle/>
                    <a:p>
                      <a:pPr algn="ctr" fontAlgn="ctr" latinLnBrk="0"/>
                      <a:r>
                        <a:rPr lang="en-US" altLang="zh-CN" sz="1400" b="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2023</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数据拓展和增量更新的井底压力实时预测方法</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核心</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石油机械</a:t>
                      </a: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endParaRPr lang="zh-CN" altLang="en-US"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endParaRPr>
                    </a:p>
                  </a:txBody>
                  <a:tcPr anchor="ctr"/>
                </a:tc>
                <a:extLst>
                  <a:ext uri="{0D108BD9-81ED-4DB2-BD59-A6C34878D82A}">
                    <a16:rowId xmlns:a16="http://schemas.microsoft.com/office/drawing/2014/main" val="3253334074"/>
                  </a:ext>
                </a:extLst>
              </a:tr>
              <a:tr h="432398">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60</a:t>
                      </a:r>
                    </a:p>
                  </a:txBody>
                  <a:tcPr marL="15057" marR="15057" marT="7528" marB="7528" anchor="ctr"/>
                </a:tc>
                <a:tc>
                  <a:txBody>
                    <a:bodyPr/>
                    <a:lstStyle/>
                    <a:p>
                      <a:pPr algn="ctr" fontAlgn="ctr" latinLnBrk="0"/>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2022</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拟合函数</a:t>
                      </a:r>
                      <a:r>
                        <a:rPr lang="en-US" altLang="zh-CN"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a:t>
                      </a:r>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神经网络协同的页岩气井产能预测模型</a:t>
                      </a:r>
                    </a:p>
                  </a:txBody>
                  <a:tcPr marL="15057" marR="15057" marT="7528" marB="7528"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核心</a:t>
                      </a:r>
                    </a:p>
                  </a:txBody>
                  <a:tcPr marL="15057" marR="15057" marT="7528" marB="7528" anchor="ctr"/>
                </a:tc>
                <a:tc>
                  <a:txBody>
                    <a:bodyPr/>
                    <a:lstStyle/>
                    <a:p>
                      <a:pPr algn="ctr" fontAlgn="ctr" latinLnBrk="0"/>
                      <a:r>
                        <a:rPr lang="zh-CN" altLang="en-US" sz="1400" b="0" dirty="0">
                          <a:solidFill>
                            <a:schemeClr val="tx1"/>
                          </a:solidFill>
                          <a:effectLst/>
                          <a:latin typeface="Times New Roman" panose="02020603050405020304" pitchFamily="18" charset="0"/>
                          <a:ea typeface="黑体" panose="02010609060101010101" pitchFamily="49" charset="-122"/>
                          <a:cs typeface="Times New Roman" panose="02020603050405020304" pitchFamily="18" charset="0"/>
                        </a:rPr>
                        <a:t>石油科学通报</a:t>
                      </a:r>
                    </a:p>
                  </a:txBody>
                  <a:tcPr marL="15057" marR="15057" marT="7528" marB="7528" anchor="ctr"/>
                </a:tc>
                <a:tc>
                  <a:txBody>
                    <a:bodyPr/>
                    <a:lstStyle/>
                    <a:p>
                      <a:pPr algn="ctr" fontAlgn="ctr" latinLnBrk="0"/>
                      <a:r>
                        <a:rPr lang="en-US" altLang="zh-CN" sz="1400" dirty="0">
                          <a:solidFill>
                            <a:srgbClr val="000000"/>
                          </a:solidFill>
                          <a:effectLst/>
                          <a:latin typeface="Times New Roman" panose="02020603050405020304" pitchFamily="18" charset="0"/>
                          <a:ea typeface="等线" panose="02010600030101010101" pitchFamily="2" charset="-122"/>
                          <a:cs typeface="Times New Roman" panose="02020603050405020304" pitchFamily="18" charset="0"/>
                        </a:rPr>
                        <a:t>3</a:t>
                      </a:r>
                    </a:p>
                  </a:txBody>
                  <a:tcPr anchor="ctr"/>
                </a:tc>
                <a:extLst>
                  <a:ext uri="{0D108BD9-81ED-4DB2-BD59-A6C34878D82A}">
                    <a16:rowId xmlns:a16="http://schemas.microsoft.com/office/drawing/2014/main" val="112835592"/>
                  </a:ext>
                </a:extLst>
              </a:tr>
            </a:tbl>
          </a:graphicData>
        </a:graphic>
      </p:graphicFrame>
      <p:sp>
        <p:nvSpPr>
          <p:cNvPr id="6" name="TextBox 7">
            <a:extLst>
              <a:ext uri="{FF2B5EF4-FFF2-40B4-BE49-F238E27FC236}">
                <a16:creationId xmlns:a16="http://schemas.microsoft.com/office/drawing/2014/main" id="{23BEB3AE-8830-4802-9FC4-FF599CD2EA70}"/>
              </a:ext>
            </a:extLst>
          </p:cNvPr>
          <p:cNvSpPr txBox="1"/>
          <p:nvPr/>
        </p:nvSpPr>
        <p:spPr bwMode="auto">
          <a:xfrm>
            <a:off x="326269" y="773307"/>
            <a:ext cx="11551878" cy="461665"/>
          </a:xfrm>
          <a:prstGeom prst="rect">
            <a:avLst/>
          </a:prstGeom>
          <a:noFill/>
          <a:ln>
            <a:noFill/>
          </a:ln>
        </p:spPr>
        <p:txBody>
          <a:bodyPr wrap="square">
            <a:spAutoFit/>
          </a:bodyPr>
          <a:lstStyle>
            <a:defPPr>
              <a:defRPr lang="zh-CN"/>
            </a:defPPr>
            <a:lvl1pPr marL="802005" indent="-802005">
              <a:lnSpc>
                <a:spcPct val="150000"/>
              </a:lnSpc>
              <a:buClr>
                <a:srgbClr val="FF0000"/>
              </a:buClr>
              <a:defRPr>
                <a:solidFill>
                  <a:prstClr val="black"/>
                </a:solidFill>
                <a:latin typeface="方正粗宋简体" panose="03000509000000000000" pitchFamily="65" charset="-122"/>
                <a:ea typeface="方正粗宋简体" panose="03000509000000000000" pitchFamily="65" charset="-122"/>
              </a:defRPr>
            </a:lvl1pPr>
          </a:lstStyle>
          <a:p>
            <a:pPr marL="802005" marR="0" lvl="0" indent="-802005" algn="l" defTabSz="914400" rtl="0" eaLnBrk="0" fontAlgn="base" latinLnBrk="0" hangingPunct="0">
              <a:lnSpc>
                <a:spcPct val="100000"/>
              </a:lnSpc>
              <a:spcBef>
                <a:spcPct val="0"/>
              </a:spcBef>
              <a:spcAft>
                <a:spcPct val="0"/>
              </a:spcAft>
              <a:buClr>
                <a:srgbClr val="FF0000"/>
              </a:buClr>
              <a:buSzTx/>
              <a:buFontTx/>
              <a:buNone/>
              <a:tabLst/>
              <a:defRPr/>
            </a:pPr>
            <a:r>
              <a:rPr lang="en-US" altLang="zh-CN" sz="2400" kern="0" dirty="0">
                <a:solidFill>
                  <a:schemeClr val="tx1"/>
                </a:solidFill>
                <a:latin typeface="方正大黑简体" panose="02010601030101010101" pitchFamily="2" charset="-122"/>
                <a:ea typeface="方正大黑简体" panose="02010601030101010101" pitchFamily="2" charset="-122"/>
              </a:rPr>
              <a:t>3</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、发表高水平论文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60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篇，其中</a:t>
            </a:r>
            <a:r>
              <a:rPr kumimoji="0" lang="nl-NL"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SCI </a:t>
            </a:r>
            <a:r>
              <a:rPr kumimoji="0" lang="nl-NL"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50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CCF-A</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类会议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篇，核心 </a:t>
            </a:r>
            <a:r>
              <a:rPr kumimoji="0" lang="en-US" altLang="zh-CN" sz="2400" b="0" i="0" u="none" strike="noStrike" kern="0" cap="none" spc="0" normalizeH="0" baseline="0" noProof="0" dirty="0">
                <a:ln>
                  <a:noFill/>
                </a:ln>
                <a:solidFill>
                  <a:srgbClr val="FF0000"/>
                </a:solidFill>
                <a:effectLst/>
                <a:uLnTx/>
                <a:uFillTx/>
                <a:latin typeface="方正大黑简体" panose="02010601030101010101" pitchFamily="2" charset="-122"/>
                <a:ea typeface="方正大黑简体" panose="02010601030101010101" pitchFamily="2" charset="-122"/>
                <a:cs typeface="+mn-cs"/>
              </a:rPr>
              <a:t>5</a:t>
            </a:r>
            <a:r>
              <a:rPr kumimoji="0" lang="en-US" altLang="zh-CN"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 </a:t>
            </a:r>
            <a:r>
              <a:rPr kumimoji="0" lang="zh-CN" altLang="en-US" sz="2400" b="0" i="0" u="none" strike="noStrike" kern="0" cap="none" spc="0" normalizeH="0" baseline="0" noProof="0" dirty="0">
                <a:ln>
                  <a:noFill/>
                </a:ln>
                <a:solidFill>
                  <a:schemeClr val="tx1"/>
                </a:solidFill>
                <a:effectLst/>
                <a:uLnTx/>
                <a:uFillTx/>
                <a:latin typeface="方正大黑简体" panose="02010601030101010101" pitchFamily="2" charset="-122"/>
                <a:ea typeface="方正大黑简体" panose="02010601030101010101" pitchFamily="2" charset="-122"/>
                <a:cs typeface="+mn-cs"/>
              </a:rPr>
              <a:t>篇</a:t>
            </a:r>
          </a:p>
        </p:txBody>
      </p:sp>
      <p:sp>
        <p:nvSpPr>
          <p:cNvPr id="3" name="矩形 2">
            <a:extLst>
              <a:ext uri="{FF2B5EF4-FFF2-40B4-BE49-F238E27FC236}">
                <a16:creationId xmlns:a16="http://schemas.microsoft.com/office/drawing/2014/main" id="{D3F63AA6-D530-4A2E-9977-C3C6D53FE3BF}"/>
              </a:ext>
            </a:extLst>
          </p:cNvPr>
          <p:cNvSpPr/>
          <p:nvPr/>
        </p:nvSpPr>
        <p:spPr>
          <a:xfrm>
            <a:off x="276177" y="5445125"/>
            <a:ext cx="11723736" cy="967509"/>
          </a:xfrm>
          <a:prstGeom prst="rect">
            <a:avLst/>
          </a:prstGeom>
          <a:solidFill>
            <a:schemeClr val="tx2">
              <a:lumMod val="20000"/>
              <a:lumOff val="80000"/>
            </a:schemeClr>
          </a:solidFill>
        </p:spPr>
        <p:txBody>
          <a:bodyPr wrap="square">
            <a:spAutoFit/>
          </a:bodyPr>
          <a:lstStyle/>
          <a:p>
            <a:pPr algn="ctr">
              <a:lnSpc>
                <a:spcPct val="150000"/>
              </a:lnSpc>
            </a:pPr>
            <a:r>
              <a:rPr lang="zh-CN" altLang="en-US" sz="2000" kern="0" dirty="0">
                <a:latin typeface="方正大黑简体" panose="02010601030101010101" pitchFamily="2" charset="-122"/>
                <a:ea typeface="方正大黑简体" panose="02010601030101010101" pitchFamily="2" charset="-122"/>
              </a:rPr>
              <a:t>发表</a:t>
            </a:r>
            <a:r>
              <a:rPr lang="en-US" altLang="zh-CN" sz="2000" kern="0" dirty="0">
                <a:latin typeface="方正大黑简体" panose="02010601030101010101" pitchFamily="2" charset="-122"/>
                <a:ea typeface="方正大黑简体" panose="02010601030101010101" pitchFamily="2" charset="-122"/>
              </a:rPr>
              <a:t>SCI</a:t>
            </a:r>
            <a:r>
              <a:rPr lang="zh-CN" altLang="en-US" sz="2000" kern="0" dirty="0">
                <a:latin typeface="方正大黑简体" panose="02010601030101010101" pitchFamily="2" charset="-122"/>
                <a:ea typeface="方正大黑简体" panose="02010601030101010101" pitchFamily="2" charset="-122"/>
              </a:rPr>
              <a:t>论文中，包括中科院大类</a:t>
            </a:r>
            <a:r>
              <a:rPr lang="en-US" altLang="zh-CN" sz="2000" kern="0" dirty="0">
                <a:solidFill>
                  <a:srgbClr val="FF0000"/>
                </a:solidFill>
                <a:latin typeface="方正大黑简体" panose="02010601030101010101" pitchFamily="2" charset="-122"/>
                <a:ea typeface="方正大黑简体" panose="02010601030101010101" pitchFamily="2" charset="-122"/>
              </a:rPr>
              <a:t>1</a:t>
            </a:r>
            <a:r>
              <a:rPr lang="zh-CN" altLang="en-US" sz="2000" kern="0" dirty="0">
                <a:solidFill>
                  <a:srgbClr val="FF0000"/>
                </a:solidFill>
                <a:latin typeface="方正大黑简体" panose="02010601030101010101" pitchFamily="2" charset="-122"/>
                <a:ea typeface="方正大黑简体" panose="02010601030101010101" pitchFamily="2" charset="-122"/>
              </a:rPr>
              <a:t>区</a:t>
            </a:r>
            <a:r>
              <a:rPr lang="en-US" altLang="zh-CN" sz="2000" kern="0" dirty="0">
                <a:solidFill>
                  <a:srgbClr val="FF0000"/>
                </a:solidFill>
                <a:latin typeface="方正大黑简体" panose="02010601030101010101" pitchFamily="2" charset="-122"/>
                <a:ea typeface="方正大黑简体" panose="02010601030101010101" pitchFamily="2" charset="-122"/>
              </a:rPr>
              <a:t>16</a:t>
            </a:r>
            <a:r>
              <a:rPr lang="zh-CN" altLang="en-US" sz="2000" kern="0" dirty="0">
                <a:latin typeface="方正大黑简体" panose="02010601030101010101" pitchFamily="2" charset="-122"/>
                <a:ea typeface="方正大黑简体" panose="02010601030101010101" pitchFamily="2" charset="-122"/>
              </a:rPr>
              <a:t>篇，</a:t>
            </a:r>
            <a:r>
              <a:rPr lang="en-US" altLang="zh-CN" sz="2000" kern="0" dirty="0">
                <a:solidFill>
                  <a:srgbClr val="FF0000"/>
                </a:solidFill>
                <a:latin typeface="方正大黑简体" panose="02010601030101010101" pitchFamily="2" charset="-122"/>
                <a:ea typeface="方正大黑简体" panose="02010601030101010101" pitchFamily="2" charset="-122"/>
              </a:rPr>
              <a:t>2</a:t>
            </a:r>
            <a:r>
              <a:rPr lang="zh-CN" altLang="en-US" sz="2000" kern="0" dirty="0">
                <a:solidFill>
                  <a:srgbClr val="FF0000"/>
                </a:solidFill>
                <a:latin typeface="方正大黑简体" panose="02010601030101010101" pitchFamily="2" charset="-122"/>
                <a:ea typeface="方正大黑简体" panose="02010601030101010101" pitchFamily="2" charset="-122"/>
              </a:rPr>
              <a:t>区</a:t>
            </a:r>
            <a:r>
              <a:rPr lang="en-US" altLang="zh-CN" sz="2000" kern="0" dirty="0">
                <a:solidFill>
                  <a:srgbClr val="FF0000"/>
                </a:solidFill>
                <a:latin typeface="方正大黑简体" panose="02010601030101010101" pitchFamily="2" charset="-122"/>
                <a:ea typeface="方正大黑简体" panose="02010601030101010101" pitchFamily="2" charset="-122"/>
              </a:rPr>
              <a:t>28</a:t>
            </a:r>
            <a:r>
              <a:rPr lang="zh-CN" altLang="en-US" sz="2000" kern="0" dirty="0">
                <a:latin typeface="方正大黑简体" panose="02010601030101010101" pitchFamily="2" charset="-122"/>
                <a:ea typeface="方正大黑简体" panose="02010601030101010101" pitchFamily="2" charset="-122"/>
              </a:rPr>
              <a:t>篇，</a:t>
            </a:r>
            <a:r>
              <a:rPr lang="en-US" altLang="zh-CN" sz="2000" kern="0" dirty="0">
                <a:latin typeface="方正大黑简体" panose="02010601030101010101" pitchFamily="2" charset="-122"/>
                <a:ea typeface="方正大黑简体" panose="02010601030101010101" pitchFamily="2" charset="-122"/>
              </a:rPr>
              <a:t>ESI</a:t>
            </a:r>
            <a:r>
              <a:rPr lang="zh-CN" altLang="en-US" sz="2000" kern="0" dirty="0">
                <a:latin typeface="方正大黑简体" panose="02010601030101010101" pitchFamily="2" charset="-122"/>
                <a:ea typeface="方正大黑简体" panose="02010601030101010101" pitchFamily="2" charset="-122"/>
              </a:rPr>
              <a:t>高倍引</a:t>
            </a:r>
            <a:r>
              <a:rPr lang="en-US" altLang="zh-CN" sz="2000" kern="0" dirty="0">
                <a:solidFill>
                  <a:srgbClr val="FF0000"/>
                </a:solidFill>
                <a:latin typeface="方正大黑简体" panose="02010601030101010101" pitchFamily="2" charset="-122"/>
                <a:ea typeface="方正大黑简体" panose="02010601030101010101" pitchFamily="2" charset="-122"/>
              </a:rPr>
              <a:t>3</a:t>
            </a:r>
            <a:r>
              <a:rPr lang="zh-CN" altLang="en-US" sz="2000" kern="0" dirty="0">
                <a:latin typeface="方正大黑简体" panose="02010601030101010101" pitchFamily="2" charset="-122"/>
                <a:ea typeface="方正大黑简体" panose="02010601030101010101" pitchFamily="2" charset="-122"/>
              </a:rPr>
              <a:t>篇，封面</a:t>
            </a:r>
            <a:r>
              <a:rPr lang="en-US" altLang="zh-CN" sz="2000" kern="0" dirty="0">
                <a:solidFill>
                  <a:srgbClr val="FF0000"/>
                </a:solidFill>
                <a:latin typeface="方正大黑简体" panose="02010601030101010101" pitchFamily="2" charset="-122"/>
                <a:ea typeface="方正大黑简体" panose="02010601030101010101" pitchFamily="2" charset="-122"/>
              </a:rPr>
              <a:t>2</a:t>
            </a:r>
            <a:r>
              <a:rPr lang="zh-CN" altLang="en-US" sz="2000" kern="0" dirty="0">
                <a:latin typeface="方正大黑简体" panose="02010601030101010101" pitchFamily="2" charset="-122"/>
                <a:ea typeface="方正大黑简体" panose="02010601030101010101" pitchFamily="2" charset="-122"/>
              </a:rPr>
              <a:t>篇；论文总影响因子大于</a:t>
            </a:r>
            <a:r>
              <a:rPr lang="en-US" altLang="zh-CN" sz="2000" kern="0" dirty="0">
                <a:solidFill>
                  <a:srgbClr val="FF0000"/>
                </a:solidFill>
                <a:latin typeface="方正大黑简体" panose="02010601030101010101" pitchFamily="2" charset="-122"/>
                <a:ea typeface="方正大黑简体" panose="02010601030101010101" pitchFamily="2" charset="-122"/>
              </a:rPr>
              <a:t>300</a:t>
            </a:r>
            <a:r>
              <a:rPr lang="zh-CN" altLang="en-US" sz="2000" kern="0" dirty="0">
                <a:latin typeface="方正大黑简体" panose="02010601030101010101" pitchFamily="2" charset="-122"/>
                <a:ea typeface="方正大黑简体" panose="02010601030101010101" pitchFamily="2" charset="-122"/>
              </a:rPr>
              <a:t>，单篇影响因子最高</a:t>
            </a:r>
            <a:r>
              <a:rPr lang="en-US" altLang="zh-CN" sz="2000" kern="0" dirty="0">
                <a:solidFill>
                  <a:srgbClr val="FF0000"/>
                </a:solidFill>
                <a:latin typeface="方正大黑简体" panose="02010601030101010101" pitchFamily="2" charset="-122"/>
                <a:ea typeface="方正大黑简体" panose="02010601030101010101" pitchFamily="2" charset="-122"/>
              </a:rPr>
              <a:t>23.8</a:t>
            </a:r>
            <a:r>
              <a:rPr lang="zh-CN" altLang="en-US" sz="2000" kern="0" dirty="0">
                <a:latin typeface="方正大黑简体" panose="02010601030101010101" pitchFamily="2" charset="-122"/>
                <a:ea typeface="方正大黑简体" panose="02010601030101010101" pitchFamily="2" charset="-122"/>
              </a:rPr>
              <a:t>， 影响因子</a:t>
            </a:r>
            <a:r>
              <a:rPr lang="en-US" altLang="zh-CN" sz="2000" kern="0" dirty="0">
                <a:latin typeface="方正大黑简体" panose="02010601030101010101" pitchFamily="2" charset="-122"/>
                <a:ea typeface="方正大黑简体" panose="02010601030101010101" pitchFamily="2" charset="-122"/>
              </a:rPr>
              <a:t>10</a:t>
            </a:r>
            <a:r>
              <a:rPr lang="zh-CN" altLang="en-US" sz="2000" kern="0" dirty="0">
                <a:latin typeface="方正大黑简体" panose="02010601030101010101" pitchFamily="2" charset="-122"/>
                <a:ea typeface="方正大黑简体" panose="02010601030101010101" pitchFamily="2" charset="-122"/>
              </a:rPr>
              <a:t>以上</a:t>
            </a:r>
            <a:r>
              <a:rPr lang="en-US" altLang="zh-CN" sz="2000" kern="0" dirty="0">
                <a:solidFill>
                  <a:srgbClr val="FF0000"/>
                </a:solidFill>
                <a:latin typeface="方正大黑简体" panose="02010601030101010101" pitchFamily="2" charset="-122"/>
                <a:ea typeface="方正大黑简体" panose="02010601030101010101" pitchFamily="2" charset="-122"/>
              </a:rPr>
              <a:t>5</a:t>
            </a:r>
            <a:r>
              <a:rPr lang="zh-CN" altLang="en-US" sz="2000" kern="0" dirty="0">
                <a:latin typeface="方正大黑简体" panose="02010601030101010101" pitchFamily="2" charset="-122"/>
                <a:ea typeface="方正大黑简体" panose="02010601030101010101" pitchFamily="2" charset="-122"/>
              </a:rPr>
              <a:t>篇；论文单篇最高被引</a:t>
            </a:r>
            <a:r>
              <a:rPr lang="en-US" altLang="zh-CN" sz="2000" kern="0" dirty="0">
                <a:solidFill>
                  <a:srgbClr val="FF0000"/>
                </a:solidFill>
                <a:latin typeface="方正大黑简体" panose="02010601030101010101" pitchFamily="2" charset="-122"/>
                <a:ea typeface="方正大黑简体" panose="02010601030101010101" pitchFamily="2" charset="-122"/>
              </a:rPr>
              <a:t>264</a:t>
            </a:r>
            <a:r>
              <a:rPr lang="zh-CN" altLang="en-US" sz="2000" kern="0" dirty="0">
                <a:latin typeface="方正大黑简体" panose="02010601030101010101" pitchFamily="2" charset="-122"/>
                <a:ea typeface="方正大黑简体" panose="02010601030101010101" pitchFamily="2" charset="-122"/>
              </a:rPr>
              <a:t>次，多篇引用超</a:t>
            </a:r>
            <a:r>
              <a:rPr lang="en-US" altLang="zh-CN" sz="2000" kern="0" dirty="0">
                <a:solidFill>
                  <a:srgbClr val="FF0000"/>
                </a:solidFill>
                <a:latin typeface="方正大黑简体" panose="02010601030101010101" pitchFamily="2" charset="-122"/>
                <a:ea typeface="方正大黑简体" panose="02010601030101010101" pitchFamily="2" charset="-122"/>
              </a:rPr>
              <a:t>100</a:t>
            </a:r>
            <a:r>
              <a:rPr lang="zh-CN" altLang="en-US" sz="2000" kern="0" dirty="0">
                <a:latin typeface="方正大黑简体" panose="02010601030101010101" pitchFamily="2" charset="-122"/>
                <a:ea typeface="方正大黑简体" panose="02010601030101010101" pitchFamily="2" charset="-122"/>
              </a:rPr>
              <a:t>次。</a:t>
            </a:r>
            <a:endParaRPr lang="zh-CN" altLang="en-US" sz="2000" dirty="0"/>
          </a:p>
        </p:txBody>
      </p:sp>
    </p:spTree>
    <p:extLst>
      <p:ext uri="{BB962C8B-B14F-4D97-AF65-F5344CB8AC3E}">
        <p14:creationId xmlns:p14="http://schemas.microsoft.com/office/powerpoint/2010/main" val="9520557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582" name="Rectangle 5"/>
          <p:cNvSpPr>
            <a:spLocks noChangeArrowheads="1"/>
          </p:cNvSpPr>
          <p:nvPr/>
        </p:nvSpPr>
        <p:spPr bwMode="auto">
          <a:xfrm>
            <a:off x="1536700" y="188914"/>
            <a:ext cx="9144000" cy="701675"/>
          </a:xfrm>
          <a:prstGeom prst="rect">
            <a:avLst/>
          </a:prstGeom>
          <a:noFill/>
          <a:ln>
            <a:noFill/>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4000" i="0" u="none" strike="noStrike" kern="1200" cap="none" spc="0" normalizeH="0" baseline="0" noProof="0" dirty="0">
                <a:ln>
                  <a:noFill/>
                </a:ln>
                <a:solidFill>
                  <a:srgbClr val="FF0000"/>
                </a:solidFill>
                <a:effectLst/>
                <a:uLnTx/>
                <a:uFillTx/>
                <a:latin typeface="方正大黑简体" panose="02000000000000000000" pitchFamily="2" charset="-122"/>
                <a:ea typeface="方正大黑简体" panose="02000000000000000000" pitchFamily="2" charset="-122"/>
                <a:cs typeface="+mn-cs"/>
              </a:rPr>
              <a:t>汇 报 提 纲</a:t>
            </a:r>
          </a:p>
        </p:txBody>
      </p:sp>
      <p:sp>
        <p:nvSpPr>
          <p:cNvPr id="1048583" name="Text Box 6"/>
          <p:cNvSpPr txBox="1">
            <a:spLocks noChangeArrowheads="1"/>
          </p:cNvSpPr>
          <p:nvPr/>
        </p:nvSpPr>
        <p:spPr bwMode="auto">
          <a:xfrm>
            <a:off x="2675260" y="935373"/>
            <a:ext cx="7669212" cy="5476207"/>
          </a:xfrm>
          <a:prstGeom prst="rect">
            <a:avLst/>
          </a:prstGeom>
          <a:noFill/>
          <a:ln>
            <a:noFill/>
          </a:ln>
          <a:effectLst>
            <a:prstShdw prst="shdw17" dist="17961" dir="13500000">
              <a:srgbClr val="708688"/>
            </a:prstShdw>
          </a:effectLst>
        </p:spPr>
        <p:txBody>
          <a:bodyPr tIns="190800" bIns="190800" anchor="ctr" anchorCtr="1">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一、研究背景</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二、攻关研究形成的技术、理论和方法</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三、主要技术指标和经济指标国内外对比</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effectLst/>
                <a:uLnTx/>
                <a:uFillTx/>
                <a:latin typeface="黑体" panose="02010609060101010101" pitchFamily="49" charset="-122"/>
                <a:ea typeface="黑体" panose="02010609060101010101" pitchFamily="49" charset="-122"/>
              </a:rPr>
              <a:t>四、成果的主要技术发明点</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五、应用情况</a:t>
            </a: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rPr>
              <a:t>六、有形化成果</a:t>
            </a:r>
            <a:endParaRPr kumimoji="0" lang="en-US" altLang="zh-CN" sz="3200" b="1" i="0" u="none" strike="noStrike" kern="1200" cap="none" spc="0" normalizeH="0" baseline="0" noProof="0" dirty="0">
              <a:ln>
                <a:noFill/>
              </a:ln>
              <a:solidFill>
                <a:srgbClr val="000000"/>
              </a:solidFill>
              <a:effectLst/>
              <a:uLnTx/>
              <a:uFillTx/>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50000"/>
              </a:lnSpc>
              <a:spcBef>
                <a:spcPct val="0"/>
              </a:spcBef>
              <a:spcAft>
                <a:spcPct val="0"/>
              </a:spcAft>
              <a:buClr>
                <a:srgbClr val="FF0000"/>
              </a:buClr>
              <a:buSzTx/>
              <a:buFontTx/>
              <a:buNone/>
              <a:tabLst/>
              <a:defRPr/>
            </a:pPr>
            <a:r>
              <a:rPr kumimoji="0" lang="zh-CN" altLang="en-US" sz="3200" b="1" i="0" u="none" strike="noStrike" kern="1200" cap="none" spc="0" normalizeH="0" baseline="0" noProof="0" dirty="0">
                <a:ln>
                  <a:noFill/>
                </a:ln>
                <a:solidFill>
                  <a:srgbClr val="FF0000"/>
                </a:solidFill>
                <a:effectLst/>
                <a:uLnTx/>
                <a:uFillTx/>
                <a:latin typeface="黑体" panose="02010609060101010101" pitchFamily="49" charset="-122"/>
                <a:ea typeface="黑体" panose="02010609060101010101" pitchFamily="49" charset="-122"/>
              </a:rPr>
              <a:t>七、不足与局限性</a:t>
            </a:r>
          </a:p>
        </p:txBody>
      </p:sp>
    </p:spTree>
    <p:extLst>
      <p:ext uri="{BB962C8B-B14F-4D97-AF65-F5344CB8AC3E}">
        <p14:creationId xmlns:p14="http://schemas.microsoft.com/office/powerpoint/2010/main" val="124874705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不足与局限性</a:t>
            </a:r>
          </a:p>
        </p:txBody>
      </p:sp>
      <p:sp>
        <p:nvSpPr>
          <p:cNvPr id="3" name="矩形 17">
            <a:extLst>
              <a:ext uri="{FF2B5EF4-FFF2-40B4-BE49-F238E27FC236}">
                <a16:creationId xmlns:a16="http://schemas.microsoft.com/office/drawing/2014/main" id="{763DE294-EFB8-AEE1-5F75-EC8034CECC69}"/>
              </a:ext>
            </a:extLst>
          </p:cNvPr>
          <p:cNvSpPr>
            <a:spLocks noChangeArrowheads="1"/>
          </p:cNvSpPr>
          <p:nvPr/>
        </p:nvSpPr>
        <p:spPr bwMode="auto">
          <a:xfrm>
            <a:off x="277722" y="692696"/>
            <a:ext cx="11722191" cy="48830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66700" indent="-2667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1" hangingPunct="1">
              <a:lnSpc>
                <a:spcPct val="150000"/>
              </a:lnSpc>
              <a:spcBef>
                <a:spcPts val="600"/>
              </a:spcBef>
              <a:buClr>
                <a:srgbClr val="C00000"/>
              </a:buClr>
              <a:buFont typeface="Wingdings" panose="05000000000000000000" pitchFamily="2" charset="2"/>
              <a:buChar char="p"/>
            </a:pPr>
            <a:r>
              <a:rPr lang="zh-CN" altLang="en-US" sz="2400" b="1" dirty="0">
                <a:latin typeface="黑体" panose="02010609060101010101" pitchFamily="49" charset="-122"/>
                <a:ea typeface="黑体" panose="02010609060101010101" pitchFamily="49" charset="-122"/>
              </a:rPr>
              <a:t>综合考虑本项目科学发现及相关领域国内外研究前沿总结得到了以下两项研究局限：</a:t>
            </a:r>
            <a:endParaRPr lang="en-US" altLang="zh-CN" sz="2400" b="1" dirty="0">
              <a:latin typeface="黑体" panose="02010609060101010101" pitchFamily="49" charset="-122"/>
              <a:ea typeface="黑体" panose="02010609060101010101" pitchFamily="49" charset="-122"/>
            </a:endParaRPr>
          </a:p>
          <a:p>
            <a:pPr marL="0" indent="0" eaLnBrk="1" hangingPunct="1">
              <a:lnSpc>
                <a:spcPct val="150000"/>
              </a:lnSpc>
              <a:spcBef>
                <a:spcPts val="600"/>
              </a:spcBef>
              <a:buClr>
                <a:srgbClr val="C00000"/>
              </a:buClr>
              <a:buNone/>
            </a:pPr>
            <a:r>
              <a:rPr lang="zh-CN" altLang="en-US" sz="2000" b="1" dirty="0">
                <a:solidFill>
                  <a:srgbClr val="FF0000"/>
                </a:solidFill>
                <a:latin typeface="黑体" panose="02010609060101010101" pitchFamily="49" charset="-122"/>
                <a:ea typeface="黑体" panose="02010609060101010101" pitchFamily="49" charset="-122"/>
              </a:rPr>
              <a:t>（</a:t>
            </a:r>
            <a:r>
              <a:rPr lang="en-US" altLang="zh-CN" sz="2000" b="1" dirty="0">
                <a:solidFill>
                  <a:srgbClr val="FF0000"/>
                </a:solidFill>
                <a:latin typeface="黑体" panose="02010609060101010101" pitchFamily="49" charset="-122"/>
                <a:ea typeface="黑体" panose="02010609060101010101" pitchFamily="49" charset="-122"/>
              </a:rPr>
              <a:t>1</a:t>
            </a:r>
            <a:r>
              <a:rPr lang="zh-CN" altLang="en-US" sz="2000" b="1" dirty="0">
                <a:solidFill>
                  <a:srgbClr val="FF0000"/>
                </a:solidFill>
                <a:latin typeface="黑体" panose="02010609060101010101" pitchFamily="49" charset="-122"/>
                <a:ea typeface="黑体" panose="02010609060101010101" pitchFamily="49" charset="-122"/>
              </a:rPr>
              <a:t>）可视化物模实验的观测需求导致难以完全表征地层实际条件和井下复杂工况。</a:t>
            </a:r>
            <a:r>
              <a:rPr lang="zh-CN" altLang="en-US" sz="2000" b="1" dirty="0">
                <a:latin typeface="黑体" panose="02010609060101010101" pitchFamily="49" charset="-122"/>
                <a:ea typeface="黑体" panose="02010609060101010101" pitchFamily="49" charset="-122"/>
              </a:rPr>
              <a:t>室内实验对关键参数的影响规律进行了细致的观察，得到了具体的机理性分析，但对裂缝在实际地层中的受到的复杂条件下的形态预测可能由于未考虑的因素有所误差；通过量化表征方法，实现了对裂缝形态的精细化表征，在光学非接触测量过程中，观测结果在一定程度受到观测设备硬件等条件的约束。</a:t>
            </a:r>
            <a:endParaRPr lang="en-US" altLang="zh-CN" sz="2000" b="1" dirty="0">
              <a:latin typeface="黑体" panose="02010609060101010101" pitchFamily="49" charset="-122"/>
              <a:ea typeface="黑体" panose="02010609060101010101" pitchFamily="49" charset="-122"/>
            </a:endParaRPr>
          </a:p>
          <a:p>
            <a:pPr marL="0" indent="0">
              <a:lnSpc>
                <a:spcPct val="150000"/>
              </a:lnSpc>
              <a:spcBef>
                <a:spcPts val="600"/>
              </a:spcBef>
              <a:buClr>
                <a:srgbClr val="C00000"/>
              </a:buClr>
              <a:buNone/>
            </a:pPr>
            <a:r>
              <a:rPr lang="zh-CN" altLang="en-US" sz="2000" b="1" dirty="0">
                <a:solidFill>
                  <a:srgbClr val="FF0000"/>
                </a:solidFill>
                <a:latin typeface="黑体" panose="02010609060101010101" pitchFamily="49" charset="-122"/>
                <a:ea typeface="黑体" panose="02010609060101010101" pitchFamily="49" charset="-122"/>
              </a:rPr>
              <a:t>（</a:t>
            </a:r>
            <a:r>
              <a:rPr lang="en-US" altLang="zh-CN" sz="2000" b="1" dirty="0">
                <a:solidFill>
                  <a:srgbClr val="FF0000"/>
                </a:solidFill>
                <a:latin typeface="黑体" panose="02010609060101010101" pitchFamily="49" charset="-122"/>
                <a:ea typeface="黑体" panose="02010609060101010101" pitchFamily="49" charset="-122"/>
              </a:rPr>
              <a:t>2</a:t>
            </a:r>
            <a:r>
              <a:rPr lang="zh-CN" altLang="en-US" sz="2000" b="1" dirty="0">
                <a:solidFill>
                  <a:srgbClr val="FF0000"/>
                </a:solidFill>
                <a:latin typeface="黑体" panose="02010609060101010101" pitchFamily="49" charset="-122"/>
                <a:ea typeface="黑体" panose="02010609060101010101" pitchFamily="49" charset="-122"/>
              </a:rPr>
              <a:t>）模型在同时满足高精度</a:t>
            </a:r>
            <a:r>
              <a:rPr lang="en-US" altLang="zh-CN" sz="2000" b="1" dirty="0">
                <a:solidFill>
                  <a:srgbClr val="FF0000"/>
                </a:solidFill>
                <a:latin typeface="黑体" panose="02010609060101010101" pitchFamily="49" charset="-122"/>
                <a:ea typeface="黑体" panose="02010609060101010101" pitchFamily="49" charset="-122"/>
              </a:rPr>
              <a:t>/</a:t>
            </a:r>
            <a:r>
              <a:rPr lang="zh-CN" altLang="en-US" sz="2000" b="1" dirty="0">
                <a:solidFill>
                  <a:srgbClr val="FF0000"/>
                </a:solidFill>
                <a:latin typeface="黑体" panose="02010609060101010101" pitchFamily="49" charset="-122"/>
                <a:ea typeface="黑体" panose="02010609060101010101" pitchFamily="49" charset="-122"/>
              </a:rPr>
              <a:t>高速度运算方面仍有一定的进步空间。</a:t>
            </a:r>
            <a:r>
              <a:rPr lang="zh-CN" altLang="en-US" sz="2000" b="1" dirty="0">
                <a:latin typeface="黑体" panose="02010609060101010101" pitchFamily="49" charset="-122"/>
                <a:ea typeface="黑体" panose="02010609060101010101" pitchFamily="49" charset="-122"/>
              </a:rPr>
              <a:t>本研究提出的多簇缝内支撑剂运移实时仿真模型虽然可以实现百米裂缝分钟级别计算速度，但面对大量天然裂缝，众多流量分配，分支交叉处颗粒偏转和流体二次流动的难题，计算时间会明显提高。预测预警模型在极端工况下预测仍需改进，且实时性和准确性受数据干扰影响。虽然融合模型在压力预测上表现优于单一的神经网络模型，但在处理极端工况（如剧烈的压力波动和复杂的砂堵现象）时，模型的预测准确性仍有待提升。</a:t>
            </a:r>
            <a:endParaRPr lang="zh-CN" altLang="en-US" sz="1800" b="1" dirty="0">
              <a:solidFill>
                <a:srgbClr val="FF0000"/>
              </a:solidFill>
              <a:latin typeface="黑体" panose="02010609060101010101" pitchFamily="49" charset="-122"/>
              <a:ea typeface="黑体" panose="02010609060101010101" pitchFamily="49" charset="-122"/>
            </a:endParaRPr>
          </a:p>
        </p:txBody>
      </p:sp>
    </p:spTree>
    <p:extLst>
      <p:ext uri="{BB962C8B-B14F-4D97-AF65-F5344CB8AC3E}">
        <p14:creationId xmlns:p14="http://schemas.microsoft.com/office/powerpoint/2010/main" val="17697301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05" name="TextBox 45"/>
          <p:cNvSpPr txBox="1"/>
          <p:nvPr/>
        </p:nvSpPr>
        <p:spPr>
          <a:xfrm>
            <a:off x="0" y="91434"/>
            <a:ext cx="12191999" cy="523220"/>
          </a:xfrm>
          <a:prstGeom prst="rect">
            <a:avLst/>
          </a:prstGeom>
          <a:noFill/>
          <a:ln w="9525">
            <a:noFill/>
          </a:ln>
        </p:spPr>
        <p:txBody>
          <a:bodyPr wrap="square">
            <a:spAutoFit/>
          </a:bodyPr>
          <a:lst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stStyle>
          <a:p>
            <a:pPr marL="1256030" marR="0" lvl="0" indent="-1256030" algn="ctr" defTabSz="914400" rtl="0" eaLnBrk="1" fontAlgn="auto" latinLnBrk="0" hangingPunct="1">
              <a:lnSpc>
                <a:spcPct val="100000"/>
              </a:lnSpc>
              <a:spcBef>
                <a:spcPts val="600"/>
              </a:spcBef>
              <a:spcAft>
                <a:spcPts val="0"/>
              </a:spcAft>
              <a:buClrTx/>
              <a:buSzTx/>
              <a:buFontTx/>
              <a:buNone/>
              <a:tabLst/>
              <a:defRPr/>
            </a:pPr>
            <a:r>
              <a:rPr kumimoji="0" lang="zh-CN" altLang="en-US" sz="2800" b="0" i="0" u="none" strike="noStrike" kern="1200" cap="none" spc="0" normalizeH="0" baseline="0" noProof="1">
                <a:ln>
                  <a:noFill/>
                </a:ln>
                <a:solidFill>
                  <a:prstClr val="white">
                    <a:lumMod val="75000"/>
                  </a:prstClr>
                </a:solidFill>
                <a:effectLst/>
                <a:uLnTx/>
                <a:uFillTx/>
                <a:latin typeface="方正大黑简体" panose="02010601030101010101" pitchFamily="65" charset="-122"/>
                <a:ea typeface="方正大黑简体" panose="02010601030101010101" pitchFamily="65" charset="-122"/>
                <a:cs typeface="+mn-cs"/>
              </a:rPr>
              <a:t>项目总结</a:t>
            </a:r>
          </a:p>
        </p:txBody>
      </p:sp>
      <p:sp>
        <p:nvSpPr>
          <p:cNvPr id="4" name="矩形 10">
            <a:extLst>
              <a:ext uri="{FF2B5EF4-FFF2-40B4-BE49-F238E27FC236}">
                <a16:creationId xmlns:a16="http://schemas.microsoft.com/office/drawing/2014/main" id="{3BF60A32-21C5-49EF-B9A2-851838230DB4}"/>
              </a:ext>
            </a:extLst>
          </p:cNvPr>
          <p:cNvSpPr>
            <a:spLocks noChangeArrowheads="1"/>
          </p:cNvSpPr>
          <p:nvPr/>
        </p:nvSpPr>
        <p:spPr bwMode="auto">
          <a:xfrm>
            <a:off x="479376" y="1201883"/>
            <a:ext cx="11277600" cy="4454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514350" indent="-51435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项目交叉前沿</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：物理</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数据交叉融合实现信息技术理论在能源矿业领域的落地</a:t>
            </a:r>
            <a:endParaRPr lang="en-US" altLang="zh-CN" sz="2400" b="1" dirty="0">
              <a:latin typeface="Times New Roman" panose="02020603050405020304" pitchFamily="18" charset="0"/>
              <a:ea typeface="黑体" panose="02010609060101010101" pitchFamily="49" charset="-122"/>
            </a:endParaRPr>
          </a:p>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rPr>
              <a:t>实验手段创新</a:t>
            </a:r>
            <a:r>
              <a:rPr lang="zh-CN" altLang="en-US" sz="2400" b="1" dirty="0">
                <a:latin typeface="Times New Roman" panose="02020603050405020304" pitchFamily="18" charset="0"/>
                <a:ea typeface="黑体" panose="02010609060101010101" pitchFamily="49" charset="-122"/>
              </a:rPr>
              <a:t>：基于光学非接触测量原理，搭建井下压裂过程可视化实验平台</a:t>
            </a:r>
            <a:endParaRPr lang="en-US" altLang="zh-CN" sz="2400" b="1" dirty="0">
              <a:latin typeface="Times New Roman" panose="02020603050405020304" pitchFamily="18" charset="0"/>
              <a:ea typeface="黑体" panose="02010609060101010101" pitchFamily="49" charset="-122"/>
            </a:endParaRPr>
          </a:p>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矿场数模创新</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：首创欧拉</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欧拉框架的矿场井下压裂过程固液流动实时仿真模型</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融合理论创新</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：首创规则重要性指标与硬约束理论，实现物理与数据高效融合</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研究成果丰富</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SCI 50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篇</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+CCFA 5 </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篇</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大类</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16</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篇</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28</a:t>
            </a:r>
            <a:r>
              <a:rPr lang="zh-CN" altLang="zh-CN" sz="2400" b="1" dirty="0">
                <a:latin typeface="Times New Roman" panose="02020603050405020304" pitchFamily="18" charset="0"/>
                <a:ea typeface="黑体" panose="02010609060101010101" pitchFamily="49" charset="-122"/>
                <a:cs typeface="Times New Roman" panose="02020603050405020304" pitchFamily="18" charset="0"/>
              </a:rPr>
              <a:t>篇</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+27</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件发明专利</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学术影响显著</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F5000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学术论文奖</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封面</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篇（</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区</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IF&gt;20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 TAMU</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教授网站宣传</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国际认可度高</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：单篇最高引用</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264</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次，多篇引用超</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100</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次，高被引论文</a:t>
            </a:r>
            <a:r>
              <a:rPr lang="en-US" altLang="zh-CN" sz="2400" b="1" dirty="0">
                <a:latin typeface="Times New Roman" panose="02020603050405020304" pitchFamily="18" charset="0"/>
                <a:ea typeface="黑体" panose="02010609060101010101" pitchFamily="49" charset="-122"/>
                <a:cs typeface="Times New Roman" panose="02020603050405020304" pitchFamily="18" charset="0"/>
              </a:rPr>
              <a:t>3</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篇</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a:p>
            <a:pPr algn="just">
              <a:lnSpc>
                <a:spcPct val="150000"/>
              </a:lnSpc>
              <a:spcBef>
                <a:spcPct val="0"/>
              </a:spcBef>
              <a:buFont typeface="Wingdings" panose="05000000000000000000" pitchFamily="2" charset="2"/>
              <a:buChar char="Ø"/>
            </a:pPr>
            <a:r>
              <a:rPr lang="zh-CN" altLang="en-US" sz="2400" b="1" dirty="0">
                <a:solidFill>
                  <a:srgbClr val="FF0000"/>
                </a:solidFill>
                <a:latin typeface="Times New Roman" panose="02020603050405020304" pitchFamily="18" charset="0"/>
                <a:ea typeface="黑体" panose="02010609060101010101" pitchFamily="49" charset="-122"/>
                <a:cs typeface="Times New Roman" panose="02020603050405020304" pitchFamily="18" charset="0"/>
              </a:rPr>
              <a:t>人才成长迅速</a:t>
            </a:r>
            <a:r>
              <a:rPr lang="zh-CN" altLang="en-US" sz="2400" b="1" dirty="0">
                <a:latin typeface="Times New Roman" panose="02020603050405020304" pitchFamily="18" charset="0"/>
                <a:ea typeface="黑体" panose="02010609060101010101" pitchFamily="49" charset="-122"/>
                <a:cs typeface="Times New Roman" panose="02020603050405020304" pitchFamily="18" charset="0"/>
              </a:rPr>
              <a:t>：何梁何利奖、孙越崎能源大奖、杰青等高层次国家级人才计划</a:t>
            </a:r>
            <a:endParaRPr lang="en-US" altLang="zh-CN" sz="2400" b="1" dirty="0">
              <a:latin typeface="Times New Roman" panose="02020603050405020304" pitchFamily="18" charset="0"/>
              <a:ea typeface="黑体" panose="02010609060101010101" pitchFamily="49" charset="-122"/>
              <a:cs typeface="Times New Roman" panose="02020603050405020304" pitchFamily="18" charset="0"/>
            </a:endParaRPr>
          </a:p>
        </p:txBody>
      </p:sp>
    </p:spTree>
    <p:extLst>
      <p:ext uri="{BB962C8B-B14F-4D97-AF65-F5344CB8AC3E}">
        <p14:creationId xmlns:p14="http://schemas.microsoft.com/office/powerpoint/2010/main" val="38671507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文本框 13">
            <a:extLst>
              <a:ext uri="{FF2B5EF4-FFF2-40B4-BE49-F238E27FC236}">
                <a16:creationId xmlns:a16="http://schemas.microsoft.com/office/drawing/2014/main" id="{07B224B3-4F7E-08C5-58BB-1AEC0F90437F}"/>
              </a:ext>
            </a:extLst>
          </p:cNvPr>
          <p:cNvSpPr txBox="1"/>
          <p:nvPr/>
        </p:nvSpPr>
        <p:spPr>
          <a:xfrm>
            <a:off x="1127448" y="836712"/>
            <a:ext cx="10248800" cy="3156633"/>
          </a:xfrm>
          <a:prstGeom prst="rect">
            <a:avLst/>
          </a:prstGeom>
          <a:noFill/>
        </p:spPr>
        <p:txBody>
          <a:bodyPr wrap="square">
            <a:spAutoFit/>
          </a:bodyPr>
          <a:lstStyle/>
          <a:p>
            <a:pPr marL="0" marR="0" lvl="0" indent="0" algn="ctr" defTabSz="914400" rtl="0" eaLnBrk="0" fontAlgn="base" latinLnBrk="0" hangingPunct="0">
              <a:lnSpc>
                <a:spcPct val="150000"/>
              </a:lnSpc>
              <a:spcBef>
                <a:spcPct val="0"/>
              </a:spcBef>
              <a:spcAft>
                <a:spcPct val="0"/>
              </a:spcAft>
              <a:buClrTx/>
              <a:buSzTx/>
              <a:buFontTx/>
              <a:buNone/>
              <a:tabLst/>
              <a:defRPr/>
            </a:pPr>
            <a:r>
              <a:rPr kumimoji="0" lang="zh-CN" altLang="en-US" sz="7200" b="1" i="0" u="none" strike="noStrike" kern="10" normalizeH="0" baseline="0" noProof="0" dirty="0">
                <a:ln w="6600">
                  <a:solidFill>
                    <a:schemeClr val="accent2"/>
                  </a:solidFill>
                  <a:prstDash val="solid"/>
                </a:ln>
                <a:solidFill>
                  <a:srgbClr val="FF0000"/>
                </a:solidFill>
                <a:uLnTx/>
                <a:uFillTx/>
                <a:latin typeface="黑体" panose="02010609060101010101" pitchFamily="49" charset="-122"/>
                <a:ea typeface="黑体" panose="02010609060101010101" pitchFamily="49" charset="-122"/>
                <a:cs typeface="+mn-cs"/>
              </a:rPr>
              <a:t>感谢专家的评审！</a:t>
            </a:r>
            <a:endParaRPr kumimoji="0" lang="en-US" altLang="zh-CN" sz="7200" b="1" i="0" u="none" strike="noStrike" kern="10" normalizeH="0" baseline="0" noProof="0" dirty="0">
              <a:ln w="6600">
                <a:solidFill>
                  <a:schemeClr val="accent2"/>
                </a:solidFill>
                <a:prstDash val="solid"/>
              </a:ln>
              <a:solidFill>
                <a:srgbClr val="FF0000"/>
              </a:solidFill>
              <a:uLnTx/>
              <a:uFillTx/>
              <a:latin typeface="黑体" panose="02010609060101010101" pitchFamily="49" charset="-122"/>
              <a:ea typeface="黑体" panose="02010609060101010101" pitchFamily="49" charset="-122"/>
              <a:cs typeface="+mn-cs"/>
            </a:endParaRPr>
          </a:p>
          <a:p>
            <a:pPr marL="0" marR="0" lvl="0" indent="0" algn="ctr" defTabSz="914400" rtl="0" eaLnBrk="0" fontAlgn="base" latinLnBrk="0" hangingPunct="0">
              <a:lnSpc>
                <a:spcPct val="150000"/>
              </a:lnSpc>
              <a:spcBef>
                <a:spcPct val="0"/>
              </a:spcBef>
              <a:spcAft>
                <a:spcPct val="0"/>
              </a:spcAft>
              <a:buClrTx/>
              <a:buSzTx/>
              <a:buFontTx/>
              <a:buNone/>
              <a:tabLst/>
              <a:defRPr/>
            </a:pPr>
            <a:r>
              <a:rPr kumimoji="0" lang="zh-CN" altLang="en-US" sz="7200" b="1" i="0" u="none" strike="noStrike" kern="10" normalizeH="0" baseline="0" noProof="0" dirty="0">
                <a:ln w="6600">
                  <a:solidFill>
                    <a:schemeClr val="accent2"/>
                  </a:solidFill>
                  <a:prstDash val="solid"/>
                </a:ln>
                <a:solidFill>
                  <a:srgbClr val="FF0000"/>
                </a:solidFill>
                <a:uLnTx/>
                <a:uFillTx/>
                <a:latin typeface="黑体" panose="02010609060101010101" pitchFamily="49" charset="-122"/>
                <a:ea typeface="黑体" panose="02010609060101010101" pitchFamily="49" charset="-122"/>
                <a:cs typeface="+mn-cs"/>
              </a:rPr>
              <a:t>敬请批评指正</a:t>
            </a:r>
            <a:r>
              <a:rPr kumimoji="0" lang="zh-CN" altLang="en-US" sz="7200" b="1" i="0" u="none" strike="noStrike" kern="10" normalizeH="0" baseline="0" noProof="0" dirty="0">
                <a:ln w="6600">
                  <a:solidFill>
                    <a:schemeClr val="accent2"/>
                  </a:solidFill>
                  <a:prstDash val="solid"/>
                </a:ln>
                <a:solidFill>
                  <a:srgbClr val="FF0000"/>
                </a:solidFill>
                <a:effectLst>
                  <a:outerShdw dist="38100" dir="2700000" algn="tl" rotWithShape="0">
                    <a:schemeClr val="accent2"/>
                  </a:outerShdw>
                </a:effectLst>
                <a:uLnTx/>
                <a:uFillTx/>
                <a:latin typeface="黑体" panose="02010609060101010101" pitchFamily="49" charset="-122"/>
                <a:ea typeface="黑体" panose="02010609060101010101" pitchFamily="49" charset="-122"/>
                <a:cs typeface="+mn-cs"/>
              </a:rPr>
              <a:t>！</a:t>
            </a:r>
          </a:p>
        </p:txBody>
      </p:sp>
      <p:pic>
        <p:nvPicPr>
          <p:cNvPr id="6" name="图片 5">
            <a:extLst>
              <a:ext uri="{FF2B5EF4-FFF2-40B4-BE49-F238E27FC236}">
                <a16:creationId xmlns:a16="http://schemas.microsoft.com/office/drawing/2014/main" id="{305523B0-CB8B-9844-352E-DDDEB5EE7093}"/>
              </a:ext>
            </a:extLst>
          </p:cNvPr>
          <p:cNvPicPr>
            <a:picLocks noChangeAspect="1"/>
          </p:cNvPicPr>
          <p:nvPr/>
        </p:nvPicPr>
        <p:blipFill rotWithShape="1">
          <a:blip r:embed="rId2"/>
          <a:srcRect t="16233"/>
          <a:stretch/>
        </p:blipFill>
        <p:spPr>
          <a:xfrm>
            <a:off x="0" y="1031631"/>
            <a:ext cx="12216680" cy="5826369"/>
          </a:xfrm>
          <a:prstGeom prst="rect">
            <a:avLst/>
          </a:prstGeom>
        </p:spPr>
      </p:pic>
      <p:sp>
        <p:nvSpPr>
          <p:cNvPr id="2" name="副标题 2">
            <a:extLst>
              <a:ext uri="{FF2B5EF4-FFF2-40B4-BE49-F238E27FC236}">
                <a16:creationId xmlns:a16="http://schemas.microsoft.com/office/drawing/2014/main" id="{60986332-DDAD-E00F-0CA2-447635C0D821}"/>
              </a:ext>
            </a:extLst>
          </p:cNvPr>
          <p:cNvSpPr txBox="1">
            <a:spLocks/>
          </p:cNvSpPr>
          <p:nvPr/>
        </p:nvSpPr>
        <p:spPr>
          <a:xfrm>
            <a:off x="73344" y="195316"/>
            <a:ext cx="13249891" cy="814876"/>
          </a:xfrm>
        </p:spPr>
        <p:txBody>
          <a:bodyPr rtlCol="0">
            <a:normAutofit/>
          </a:bodyPr>
          <a:lst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a:lstStyle>
          <a:p>
            <a:pPr marL="0" indent="0">
              <a:buNone/>
              <a:defRPr/>
            </a:pPr>
            <a:r>
              <a:rPr lang="en-US" altLang="zh-CN" b="1" kern="0" dirty="0">
                <a:solidFill>
                  <a:srgbClr val="070482"/>
                </a:solidFill>
                <a:latin typeface="方正大黑简体" panose="03000509000000000000" pitchFamily="65" charset="-122"/>
                <a:ea typeface="方正大黑简体" panose="03000509000000000000" pitchFamily="65" charset="-122"/>
              </a:rPr>
              <a:t>2024</a:t>
            </a:r>
            <a:r>
              <a:rPr lang="zh-CN" altLang="en-US" b="1" kern="0" dirty="0">
                <a:solidFill>
                  <a:srgbClr val="070482"/>
                </a:solidFill>
                <a:latin typeface="方正大黑简体" panose="03000509000000000000" pitchFamily="65" charset="-122"/>
                <a:ea typeface="方正大黑简体" panose="03000509000000000000" pitchFamily="65" charset="-122"/>
              </a:rPr>
              <a:t>年度绿色矿山科学技术奖成果鉴定会</a:t>
            </a:r>
          </a:p>
          <a:p>
            <a:pPr marL="0" indent="0">
              <a:buNone/>
              <a:defRPr/>
            </a:pPr>
            <a:endParaRPr lang="zh-CN" altLang="en-US" sz="3600" b="1" kern="0" dirty="0">
              <a:solidFill>
                <a:srgbClr val="3634A1"/>
              </a:solidFill>
              <a:latin typeface="方正大黑简体" panose="03000509000000000000" pitchFamily="65" charset="-122"/>
              <a:ea typeface="方正大黑简体" panose="03000509000000000000" pitchFamily="65" charset="-122"/>
            </a:endParaRPr>
          </a:p>
        </p:txBody>
      </p:sp>
      <p:pic>
        <p:nvPicPr>
          <p:cNvPr id="3" name="图片 2">
            <a:extLst>
              <a:ext uri="{FF2B5EF4-FFF2-40B4-BE49-F238E27FC236}">
                <a16:creationId xmlns:a16="http://schemas.microsoft.com/office/drawing/2014/main" id="{0280C0FA-709A-CE32-86E1-977C734B09D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019981" y="44624"/>
            <a:ext cx="740315" cy="740315"/>
          </a:xfrm>
          <a:prstGeom prst="rect">
            <a:avLst/>
          </a:prstGeom>
        </p:spPr>
      </p:pic>
      <p:pic>
        <p:nvPicPr>
          <p:cNvPr id="5" name="图片 4">
            <a:extLst>
              <a:ext uri="{FF2B5EF4-FFF2-40B4-BE49-F238E27FC236}">
                <a16:creationId xmlns:a16="http://schemas.microsoft.com/office/drawing/2014/main" id="{076DCBEA-8A1C-32E3-69F5-6AC017A86B47}"/>
              </a:ext>
            </a:extLst>
          </p:cNvPr>
          <p:cNvPicPr>
            <a:picLocks noChangeAspect="1"/>
          </p:cNvPicPr>
          <p:nvPr/>
        </p:nvPicPr>
        <p:blipFill>
          <a:blip r:embed="rId4"/>
          <a:stretch>
            <a:fillRect/>
          </a:stretch>
        </p:blipFill>
        <p:spPr>
          <a:xfrm>
            <a:off x="10538924" y="26904"/>
            <a:ext cx="766072" cy="768429"/>
          </a:xfrm>
          <a:prstGeom prst="rect">
            <a:avLst/>
          </a:prstGeom>
        </p:spPr>
      </p:pic>
      <p:pic>
        <p:nvPicPr>
          <p:cNvPr id="7" name="图片 6">
            <a:extLst>
              <a:ext uri="{FF2B5EF4-FFF2-40B4-BE49-F238E27FC236}">
                <a16:creationId xmlns:a16="http://schemas.microsoft.com/office/drawing/2014/main" id="{BFE24BA7-655D-B87C-D083-BF55BA0079CB}"/>
              </a:ext>
            </a:extLst>
          </p:cNvPr>
          <p:cNvPicPr>
            <a:picLocks noChangeAspect="1"/>
          </p:cNvPicPr>
          <p:nvPr/>
        </p:nvPicPr>
        <p:blipFill rotWithShape="1">
          <a:blip r:embed="rId5"/>
          <a:srcRect l="3391" t="2468" b="1"/>
          <a:stretch/>
        </p:blipFill>
        <p:spPr>
          <a:xfrm>
            <a:off x="11352584" y="26904"/>
            <a:ext cx="766072" cy="754446"/>
          </a:xfrm>
          <a:prstGeom prst="rect">
            <a:avLst/>
          </a:prstGeom>
        </p:spPr>
      </p:pic>
      <p:pic>
        <p:nvPicPr>
          <p:cNvPr id="8" name="图片 7">
            <a:extLst>
              <a:ext uri="{FF2B5EF4-FFF2-40B4-BE49-F238E27FC236}">
                <a16:creationId xmlns:a16="http://schemas.microsoft.com/office/drawing/2014/main" id="{8746D47D-1AC6-547E-E218-733B8FF888AF}"/>
              </a:ext>
            </a:extLst>
          </p:cNvPr>
          <p:cNvPicPr>
            <a:picLocks noChangeAspect="1"/>
          </p:cNvPicPr>
          <p:nvPr/>
        </p:nvPicPr>
        <p:blipFill>
          <a:blip r:embed="rId6"/>
          <a:stretch>
            <a:fillRect/>
          </a:stretch>
        </p:blipFill>
        <p:spPr>
          <a:xfrm>
            <a:off x="9676163" y="44470"/>
            <a:ext cx="740317" cy="725872"/>
          </a:xfrm>
          <a:prstGeom prst="rect">
            <a:avLst/>
          </a:prstGeom>
        </p:spPr>
      </p:pic>
      <p:sp>
        <p:nvSpPr>
          <p:cNvPr id="9" name="Line 2">
            <a:extLst>
              <a:ext uri="{FF2B5EF4-FFF2-40B4-BE49-F238E27FC236}">
                <a16:creationId xmlns:a16="http://schemas.microsoft.com/office/drawing/2014/main" id="{79EC67E6-7F15-B1D5-401E-4D27C0789946}"/>
              </a:ext>
            </a:extLst>
          </p:cNvPr>
          <p:cNvSpPr/>
          <p:nvPr/>
        </p:nvSpPr>
        <p:spPr>
          <a:xfrm>
            <a:off x="0" y="836712"/>
            <a:ext cx="12192000" cy="0"/>
          </a:xfrm>
          <a:prstGeom prst="line">
            <a:avLst/>
          </a:prstGeom>
          <a:ln w="38100" cap="flat" cmpd="sng">
            <a:solidFill>
              <a:srgbClr val="FF0000"/>
            </a:solidFill>
            <a:prstDash val="solid"/>
            <a:headEnd type="none" w="med" len="med"/>
            <a:tailEnd type="none" w="med" len="med"/>
          </a:ln>
        </p:spPr>
      </p:sp>
      <p:pic>
        <p:nvPicPr>
          <p:cNvPr id="10" name="图片 9">
            <a:extLst>
              <a:ext uri="{FF2B5EF4-FFF2-40B4-BE49-F238E27FC236}">
                <a16:creationId xmlns:a16="http://schemas.microsoft.com/office/drawing/2014/main" id="{6461C26B-7B3A-3CA5-66A9-A32D32D5FF93}"/>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904312" y="116632"/>
            <a:ext cx="672480" cy="648072"/>
          </a:xfrm>
          <a:prstGeom prst="rect">
            <a:avLst/>
          </a:prstGeom>
        </p:spPr>
      </p:pic>
    </p:spTree>
    <p:extLst>
      <p:ext uri="{BB962C8B-B14F-4D97-AF65-F5344CB8AC3E}">
        <p14:creationId xmlns:p14="http://schemas.microsoft.com/office/powerpoint/2010/main" val="18656973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85.4,&quot;left&quot;:241.1,&quot;top&quot;:218.95,&quot;width&quot;:458}"/>
</p:tagLst>
</file>

<file path=ppt/tags/tag13.xml><?xml version="1.0" encoding="utf-8"?>
<p:tagLst xmlns:a="http://schemas.openxmlformats.org/drawingml/2006/main" xmlns:r="http://schemas.openxmlformats.org/officeDocument/2006/relationships" xmlns:p="http://schemas.openxmlformats.org/presentationml/2006/main">
  <p:tag name="TABLE_ENDDRAG_ORIGIN_RECT" val="460*97"/>
  <p:tag name="TABLE_ENDDRAG_RECT" val="39*228*460*97"/>
</p:tagLst>
</file>

<file path=ppt/tags/tag14.xml><?xml version="1.0" encoding="utf-8"?>
<p:tagLst xmlns:a="http://schemas.openxmlformats.org/drawingml/2006/main" xmlns:r="http://schemas.openxmlformats.org/officeDocument/2006/relationships" xmlns:p="http://schemas.openxmlformats.org/presentationml/2006/main">
  <p:tag name="TABLE_ENDDRAG_ORIGIN_RECT" val="463*137"/>
  <p:tag name="TABLE_ENDDRAG_RECT" val="40*366*463*137"/>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2.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15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10601030101010101"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pitchFamily="49"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10601030101010101" pitchFamily="65" charset="-122"/>
            <a:ea typeface="方正大黑简体" panose="02010601030101010101"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4_默认设计模板">
  <a:themeElements>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3_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3_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3_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3_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3_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3_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3_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3_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3_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3_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3_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3_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3_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2_默认设计模板">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C00000"/>
        </a:solidFill>
        <a:ln>
          <a:solidFill>
            <a:srgbClr val="C00000"/>
          </a:solidFill>
        </a:ln>
      </a:spPr>
      <a:bodyPr rtlCol="0" anchor="ctr"/>
      <a:lstStyle>
        <a:defPPr algn="ct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4.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5.xml><?xml version="1.0" encoding="utf-8"?>
<a:theme xmlns:a="http://schemas.openxmlformats.org/drawingml/2006/main" name="8_Blends">
  <a:themeElements>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5_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C00000"/>
        </a:solidFill>
      </a:spPr>
      <a:bodyPr rot="0" spcFirstLastPara="0" vertOverflow="overflow" horzOverflow="overflow" vert="horz" wrap="square" lIns="91440" tIns="45720" rIns="91440" bIns="45720" numCol="1" spcCol="0" rtlCol="0" fromWordArt="0" anchor="ctr" anchorCtr="0" forceAA="0" compatLnSpc="1">
        <a:noAutofit/>
      </a:bodyPr>
      <a:lstStyle>
        <a:defPPr algn="ctr">
          <a:lnSpc>
            <a:spcPct val="180000"/>
          </a:lnSpc>
          <a:spcBef>
            <a:spcPct val="20000"/>
          </a:spcBef>
          <a:buClr>
            <a:srgbClr val="FF0000"/>
          </a:buClr>
          <a:buSzPct val="100000"/>
          <a:defRPr dirty="0" smtClean="0">
            <a:solidFill>
              <a:schemeClr val="bg1"/>
            </a:solidFill>
            <a:latin typeface="Tahoma" panose="020B0604030504040204"/>
            <a:ea typeface="方正大黑简体" panose="02010601030101010101" pitchFamily="65"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outerShdw dist="17961" dir="2700000" algn="ctr" rotWithShape="0">
            <a:schemeClr val="tx1">
              <a:gamma/>
              <a:shade val="60000"/>
              <a:invGamma/>
              <a:alpha val="50000"/>
            </a:schemeClr>
          </a:outerShdw>
        </a:effectLst>
      </a:spPr>
      <a:bodyPr vert="horz" wrap="square" lIns="91440" tIns="45720" rIns="91440" bIns="45720" numCol="1" anchor="t" anchorCtr="0" compatLnSpc="1"/>
      <a:lstStyle>
        <a:defPPr marL="0" marR="0" indent="0" algn="l" defTabSz="914400" rtl="0" eaLnBrk="0" fontAlgn="base" latinLnBrk="0" hangingPunct="0">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黑体" panose="02010609060101010101" pitchFamily="49" charset="-122"/>
          </a:defRPr>
        </a:defPPr>
      </a:lstStyle>
    </a:lnDef>
    <a:txDef>
      <a:spPr bwMode="auto">
        <a:noFill/>
        <a:ln>
          <a:noFill/>
        </a:ln>
      </a:spPr>
      <a:bodyPr/>
      <a:lstStyle>
        <a:defPPr marL="0" indent="0">
          <a:lnSpc>
            <a:spcPct val="150000"/>
          </a:lnSpc>
          <a:buClr>
            <a:srgbClr val="FF0000"/>
          </a:buClr>
          <a:defRPr sz="3200" dirty="0">
            <a:solidFill>
              <a:srgbClr val="0000FF"/>
            </a:solidFill>
            <a:latin typeface="方正大黑简体" panose="02010601030101010101" pitchFamily="65" charset="-122"/>
            <a:ea typeface="方正大黑简体" panose="02010601030101010101" pitchFamily="65" charset="-122"/>
          </a:defRPr>
        </a:defPPr>
      </a:lstStyle>
    </a:txDef>
  </a:objectDefaults>
  <a:extraClrSchemeLst>
    <a:extraClrScheme>
      <a:clrScheme name="5_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5_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5_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5_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5_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5_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9056</TotalTime>
  <Words>9114</Words>
  <Application>Microsoft Office PowerPoint</Application>
  <PresentationFormat>宽屏</PresentationFormat>
  <Paragraphs>1086</Paragraphs>
  <Slides>58</Slides>
  <Notes>9</Notes>
  <HiddenSlides>0</HiddenSlides>
  <MMClips>0</MMClips>
  <ScaleCrop>false</ScaleCrop>
  <HeadingPairs>
    <vt:vector size="8" baseType="variant">
      <vt:variant>
        <vt:lpstr>已用的字体</vt:lpstr>
      </vt:variant>
      <vt:variant>
        <vt:i4>14</vt:i4>
      </vt:variant>
      <vt:variant>
        <vt:lpstr>主题</vt:lpstr>
      </vt:variant>
      <vt:variant>
        <vt:i4>5</vt:i4>
      </vt:variant>
      <vt:variant>
        <vt:lpstr>嵌入 OLE 服务器</vt:lpstr>
      </vt:variant>
      <vt:variant>
        <vt:i4>1</vt:i4>
      </vt:variant>
      <vt:variant>
        <vt:lpstr>幻灯片标题</vt:lpstr>
      </vt:variant>
      <vt:variant>
        <vt:i4>58</vt:i4>
      </vt:variant>
    </vt:vector>
  </HeadingPairs>
  <TitlesOfParts>
    <vt:vector size="78" baseType="lpstr">
      <vt:lpstr>等线</vt:lpstr>
      <vt:lpstr>等线 Light</vt:lpstr>
      <vt:lpstr>方正大黑简体</vt:lpstr>
      <vt:lpstr>黑体</vt:lpstr>
      <vt:lpstr>宋体</vt:lpstr>
      <vt:lpstr>宋体</vt:lpstr>
      <vt:lpstr>微软雅黑</vt:lpstr>
      <vt:lpstr>Arial</vt:lpstr>
      <vt:lpstr>Calibri</vt:lpstr>
      <vt:lpstr>Calibri Light</vt:lpstr>
      <vt:lpstr>Cambria Math</vt:lpstr>
      <vt:lpstr>Tahoma</vt:lpstr>
      <vt:lpstr>Times New Roman</vt:lpstr>
      <vt:lpstr>Wingdings</vt:lpstr>
      <vt:lpstr>15_Blends</vt:lpstr>
      <vt:lpstr>4_默认设计模板</vt:lpstr>
      <vt:lpstr>12_默认设计模板</vt:lpstr>
      <vt:lpstr>自定义设计方案</vt:lpstr>
      <vt:lpstr>8_Blends</vt:lpstr>
      <vt:lpstr>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win</dc:creator>
  <cp:lastModifiedBy>胡晓东</cp:lastModifiedBy>
  <cp:revision>373</cp:revision>
  <dcterms:created xsi:type="dcterms:W3CDTF">2023-04-07T09:37:28Z</dcterms:created>
  <dcterms:modified xsi:type="dcterms:W3CDTF">2024-08-02T19:03:25Z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7fa7778223474e9cbb443c995ad976e6</vt:lpwstr>
  </property>
</Properties>
</file>