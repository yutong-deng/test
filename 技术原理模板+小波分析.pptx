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  <p:sldMasterId id="2147483668" r:id="rId4"/>
    <p:sldMasterId id="2147483682" r:id="rId5"/>
  </p:sldMasterIdLst>
  <p:notesMasterIdLst>
    <p:notesMasterId r:id="rId7"/>
  </p:notesMasterIdLst>
  <p:sldIdLst>
    <p:sldId id="910" r:id="rId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32" userDrawn="1">
          <p15:clr>
            <a:srgbClr val="A4A3A4"/>
          </p15:clr>
        </p15:guide>
        <p15:guide id="2" pos="2858" userDrawn="1">
          <p15:clr>
            <a:srgbClr val="A4A3A4"/>
          </p15:clr>
        </p15:guide>
        <p15:guide id="3" orient="horz" pos="4172" userDrawn="1">
          <p15:clr>
            <a:srgbClr val="A4A3A4"/>
          </p15:clr>
        </p15:guide>
        <p15:guide id="4" pos="5568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4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717171"/>
    <a:srgbClr val="FFCC99"/>
    <a:srgbClr val="CC3300"/>
    <a:srgbClr val="33CCFF"/>
    <a:srgbClr val="F3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2DB8C7E-BE71-4567-9549-45A95488CC2F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4"/>
              </a:solidFill>
              <a:prstDash val="solid"/>
            </a:ln>
          </a:left>
          <a:right>
            <a:ln w="9525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4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4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4"/>
              </a:solidFill>
              <a:prstDash val="solid"/>
            </a:ln>
          </a:left>
          <a:righ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4"/>
        </a:fontRef>
      </a:tcTxStyle>
      <a:tcStyle>
        <a:tcBdr>
          <a:left>
            <a:ln w="9525" cmpd="sng">
              <a:solidFill>
                <a:schemeClr val="accent4"/>
              </a:solidFill>
              <a:prstDash val="solid"/>
            </a:ln>
          </a:left>
          <a:right>
            <a:ln w="9525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4"/>
        </a:fontRef>
      </a:tcTxStyle>
      <a:tcStyle>
        <a:tcBdr>
          <a:left>
            <a:ln w="9525" cmpd="sng">
              <a:solidFill>
                <a:schemeClr val="accent4"/>
              </a:solidFill>
              <a:prstDash val="solid"/>
            </a:ln>
          </a:left>
          <a:righ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4"/>
              </a:solidFill>
              <a:prstDash val="solid"/>
            </a:ln>
          </a:left>
          <a:right>
            <a:ln w="9525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4"/>
          </a:solidFill>
        </a:fill>
      </a:tcStyle>
    </a:firstRow>
    <a:neCell>
      <a:tcStyle>
        <a:tcBdr>
          <a:left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26" autoAdjust="0"/>
  </p:normalViewPr>
  <p:slideViewPr>
    <p:cSldViewPr showGuides="1">
      <p:cViewPr varScale="1">
        <p:scale>
          <a:sx n="107" d="100"/>
          <a:sy n="107" d="100"/>
        </p:scale>
        <p:origin x="1770" y="108"/>
      </p:cViewPr>
      <p:guideLst>
        <p:guide pos="132"/>
        <p:guide pos="2858"/>
        <p:guide orient="horz" pos="4172"/>
        <p:guide pos="5568"/>
        <p:guide orient="horz" pos="709"/>
        <p:guide orient="horz" pos="42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fld id="{BB92497B-64CE-4671-A7F8-76B9607BA47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280988" y="1412875"/>
            <a:ext cx="8582025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  <a:effectLst>
            <a:outerShdw blurRad="12700" dist="12700" dir="5400000" algn="t" rotWithShape="0">
              <a:schemeClr val="bg1">
                <a:lumMod val="8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43863" y="6211019"/>
            <a:ext cx="1742536" cy="64698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-6350" y="765175"/>
            <a:ext cx="9156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  <a:ea typeface="黑体" panose="02010609060101010101" charset="-122"/>
            </a:endParaRPr>
          </a:p>
        </p:txBody>
      </p:sp>
      <p:sp>
        <p:nvSpPr>
          <p:cNvPr id="3" name="页脚占位符 14"/>
          <p:cNvSpPr txBox="1"/>
          <p:nvPr/>
        </p:nvSpPr>
        <p:spPr>
          <a:xfrm>
            <a:off x="0" y="6516688"/>
            <a:ext cx="9144000" cy="315912"/>
          </a:xfrm>
          <a:prstGeom prst="rect">
            <a:avLst/>
          </a:prstGeom>
        </p:spPr>
        <p:txBody>
          <a:bodyPr lIns="68575" tIns="34287" rIns="68575" bIns="34287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9060101010101" charset="-122"/>
                <a:sym typeface="+mn-ea"/>
              </a:rPr>
              <a:t>第</a:t>
            </a:r>
            <a:fld id="{D59E4F2E-1422-43E1-B8CC-1D95DE5CB960}" type="slidenum">
              <a:rPr kumimoji="1" lang="zh-CN" altLang="en-US" sz="900" dirty="0" smtClean="0">
                <a:solidFill>
                  <a:srgbClr val="898989"/>
                </a:solidFill>
                <a:latin typeface="Arial" panose="020B0604020202020204"/>
                <a:ea typeface="黑体" panose="02010609060101010101" charset="-122"/>
                <a:sym typeface="+mn-ea"/>
              </a:rPr>
            </a:fld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9060101010101" charset="-122"/>
                <a:sym typeface="+mn-ea"/>
              </a:rPr>
              <a:t>页</a:t>
            </a:r>
            <a:r>
              <a:rPr lang="en-US" altLang="zh-CN" sz="900" dirty="0">
                <a:solidFill>
                  <a:srgbClr val="898989"/>
                </a:solidFill>
                <a:latin typeface="Arial" panose="020B0604020202020204"/>
                <a:ea typeface="黑体" panose="02010609060101010101" charset="-122"/>
                <a:sym typeface="+mn-ea"/>
              </a:rPr>
              <a:t>/</a:t>
            </a: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9060101010101" charset="-122"/>
                <a:sym typeface="+mn-ea"/>
              </a:rPr>
              <a:t>共</a:t>
            </a:r>
            <a:r>
              <a:rPr lang="en-US" altLang="zh-CN" sz="900" dirty="0">
                <a:solidFill>
                  <a:srgbClr val="898989"/>
                </a:solidFill>
                <a:latin typeface="Arial" panose="020B0604020202020204"/>
                <a:ea typeface="黑体" panose="02010609060101010101" charset="-122"/>
                <a:sym typeface="+mn-ea"/>
              </a:rPr>
              <a:t>65</a:t>
            </a: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9060101010101" charset="-122"/>
                <a:sym typeface="+mn-ea"/>
              </a:rPr>
              <a:t>页</a:t>
            </a:r>
            <a:endParaRPr lang="zh-CN" altLang="en-US" sz="900" dirty="0">
              <a:solidFill>
                <a:srgbClr val="898989"/>
              </a:solidFill>
              <a:latin typeface="Arial" panose="020B0604020202020204"/>
              <a:ea typeface="黑体" panose="02010609060101010101" charset="-122"/>
              <a:sym typeface="+mn-ea"/>
            </a:endParaRPr>
          </a:p>
        </p:txBody>
      </p:sp>
      <p:pic>
        <p:nvPicPr>
          <p:cNvPr id="53" name="Picture 17" descr="logo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36513" y="115888"/>
            <a:ext cx="971551" cy="5413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b="1">
          <a:solidFill>
            <a:srgbClr val="0000FF"/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1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中国石油_透明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9225"/>
            <a:ext cx="719138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Line 4"/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" name="Line 5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4"/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" name="Line 5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4"/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3075" name="Line 5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图片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8475" y="3213100"/>
            <a:ext cx="4476115" cy="1570355"/>
          </a:xfrm>
          <a:prstGeom prst="rect">
            <a:avLst/>
          </a:prstGeom>
          <a:ln>
            <a:noFill/>
          </a:ln>
        </p:spPr>
      </p:pic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小波</a:t>
            </a:r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分析技术原理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4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1" fontAlgn="auto" hangingPunct="1">
              <a:spcBef>
                <a:spcPct val="50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技术原理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5" name="文本框 1"/>
          <p:cNvSpPr txBox="1">
            <a:spLocks noChangeArrowheads="1"/>
          </p:cNvSpPr>
          <p:nvPr/>
        </p:nvSpPr>
        <p:spPr bwMode="auto">
          <a:xfrm>
            <a:off x="381000" y="1461261"/>
            <a:ext cx="845820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信号多尺度分解模型：小波分解施工期压力、排量曲线</a:t>
            </a:r>
            <a:endParaRPr lang="zh-CN" altLang="en-US" sz="24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defTabSz="4572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裂缝扩展事件识别模型：多尺度小波能量表征裂缝扩展特征</a:t>
            </a:r>
            <a:endParaRPr lang="zh-CN" altLang="en-US" sz="24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defTabSz="4572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压裂改造效果评价模型：小波能量与事件频次量化改造效果</a:t>
            </a:r>
            <a:endParaRPr lang="zh-CN" altLang="en-US" sz="24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7315"/>
          <a:stretch>
            <a:fillRect/>
          </a:stretch>
        </p:blipFill>
        <p:spPr>
          <a:xfrm>
            <a:off x="261816" y="3214629"/>
            <a:ext cx="1921184" cy="1261658"/>
          </a:xfrm>
          <a:prstGeom prst="rect">
            <a:avLst/>
          </a:prstGeom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920750" y="3227705"/>
            <a:ext cx="795655" cy="1217295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 descr="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220" y="3214370"/>
            <a:ext cx="1724660" cy="126238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7" name="文本框 75"/>
          <p:cNvSpPr txBox="1"/>
          <p:nvPr/>
        </p:nvSpPr>
        <p:spPr>
          <a:xfrm>
            <a:off x="3147695" y="4169410"/>
            <a:ext cx="84518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小波变换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179705" y="3227070"/>
            <a:ext cx="796290" cy="3117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施工曲线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2052386" y="3845499"/>
            <a:ext cx="288290" cy="4445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6"/>
          <p:cNvSpPr txBox="1"/>
          <p:nvPr/>
        </p:nvSpPr>
        <p:spPr>
          <a:xfrm>
            <a:off x="7270750" y="3933190"/>
            <a:ext cx="11798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裂缝扩展事件</a:t>
            </a: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识别模型</a:t>
            </a: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4"/>
            </p:custDataLst>
          </p:nvPr>
        </p:nvGraphicFramePr>
        <p:xfrm>
          <a:off x="261620" y="5753100"/>
          <a:ext cx="3731260" cy="871220"/>
        </p:xfrm>
        <a:graphic>
          <a:graphicData uri="http://schemas.openxmlformats.org/drawingml/2006/table">
            <a:tbl>
              <a:tblPr firstRow="1" bandRow="1">
                <a:tableStyleId>{62DB8C7E-BE71-4567-9549-45A95488CC2F}</a:tableStyleId>
              </a:tblPr>
              <a:tblGrid>
                <a:gridCol w="544195"/>
                <a:gridCol w="466090"/>
                <a:gridCol w="349885"/>
                <a:gridCol w="504825"/>
                <a:gridCol w="1010920"/>
                <a:gridCol w="855345"/>
              </a:tblGrid>
              <a:tr h="16002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井区</a:t>
                      </a:r>
                      <a:endParaRPr lang="zh-CN" altLang="en-US" sz="10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</a:t>
                      </a:r>
                      <a:endParaRPr lang="zh-CN" altLang="en-US" sz="10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井号</a:t>
                      </a:r>
                      <a:endParaRPr lang="zh-CN" altLang="en-US" sz="10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段号</a:t>
                      </a:r>
                      <a:endParaRPr lang="zh-CN" altLang="en-US" sz="10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改造体积</a:t>
                      </a:r>
                      <a:r>
                        <a:rPr lang="zh-CN" altLang="en-US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  <a:endParaRPr lang="zh-CN" altLang="en-US" sz="10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微地震</a:t>
                      </a:r>
                      <a:r>
                        <a:rPr lang="en-US" altLang="zh-CN" sz="10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SRV</a:t>
                      </a:r>
                      <a:endParaRPr lang="en-US" altLang="zh-CN" sz="10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195580"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足</a:t>
                      </a: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201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H21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85.88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382.5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95580"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足</a:t>
                      </a: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201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H21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86.19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375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泸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H123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76.50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201.2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泸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H123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78.17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193.6</a:t>
                      </a:r>
                      <a:endParaRPr lang="en-US" altLang="zh-CN" sz="10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1" name="图片 30" descr="图片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95" y="4602480"/>
            <a:ext cx="3740785" cy="1106170"/>
          </a:xfrm>
          <a:prstGeom prst="rect">
            <a:avLst/>
          </a:prstGeom>
        </p:spPr>
      </p:pic>
      <p:pic>
        <p:nvPicPr>
          <p:cNvPr id="32" name="图片 31" descr="图片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475" y="4864735"/>
            <a:ext cx="4458970" cy="1751330"/>
          </a:xfrm>
          <a:prstGeom prst="rect">
            <a:avLst/>
          </a:prstGeom>
          <a:ln>
            <a:noFill/>
          </a:ln>
        </p:spPr>
      </p:pic>
      <p:sp>
        <p:nvSpPr>
          <p:cNvPr id="36" name="右箭头 35"/>
          <p:cNvSpPr/>
          <p:nvPr/>
        </p:nvSpPr>
        <p:spPr>
          <a:xfrm>
            <a:off x="4074160" y="3789045"/>
            <a:ext cx="179070" cy="2362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 rot="10800000">
            <a:off x="4064635" y="5445125"/>
            <a:ext cx="182880" cy="2362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32410" y="3159125"/>
            <a:ext cx="3796030" cy="135191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284345" y="3160395"/>
            <a:ext cx="4525645" cy="349377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232410" y="4580890"/>
            <a:ext cx="3795395" cy="20732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6"/>
          <p:cNvSpPr txBox="1"/>
          <p:nvPr/>
        </p:nvSpPr>
        <p:spPr>
          <a:xfrm>
            <a:off x="3058795" y="5085080"/>
            <a:ext cx="93408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改造效果</a:t>
            </a: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评价模型</a:t>
            </a: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2" name="文本框 6"/>
          <p:cNvSpPr txBox="1"/>
          <p:nvPr/>
        </p:nvSpPr>
        <p:spPr>
          <a:xfrm>
            <a:off x="1635125" y="3227705"/>
            <a:ext cx="112331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信号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多尺度</a:t>
            </a: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分解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293*53"/>
  <p:tag name="TABLE_ENDDRAG_RECT" val="26*467*293*53"/>
</p:tagLst>
</file>

<file path=ppt/theme/theme1.xml><?xml version="1.0" encoding="utf-8"?>
<a:theme xmlns:a="http://schemas.openxmlformats.org/drawingml/2006/main" name="15_Blends">
  <a:themeElements>
    <a:clrScheme name="5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5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00000"/>
        </a:soli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lnSpc>
            <a:spcPct val="180000"/>
          </a:lnSpc>
          <a:spcBef>
            <a:spcPct val="20000"/>
          </a:spcBef>
          <a:buClr>
            <a:srgbClr val="FF0000"/>
          </a:buClr>
          <a:buSzPct val="100000"/>
          <a:defRPr dirty="0" smtClean="0">
            <a:solidFill>
              <a:schemeClr val="bg1"/>
            </a:solidFill>
            <a:latin typeface="Tahoma" panose="020B0604030504040204"/>
            <a:ea typeface="方正大黑简体" panose="0201060103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charset="-122"/>
          </a:defRPr>
        </a:defPPr>
      </a:lstStyle>
    </a:lnDef>
    <a:txDef>
      <a:spPr bwMode="auto">
        <a:noFill/>
        <a:ln>
          <a:noFill/>
        </a:ln>
      </a:spPr>
      <a:bodyPr/>
      <a:lstStyle>
        <a:defPPr marL="0" indent="0">
          <a:lnSpc>
            <a:spcPct val="150000"/>
          </a:lnSpc>
          <a:buClr>
            <a:srgbClr val="FF0000"/>
          </a:buClr>
          <a:defRPr sz="3200" dirty="0">
            <a:solidFill>
              <a:srgbClr val="0000FF"/>
            </a:solidFill>
            <a:latin typeface="方正大黑简体" panose="02010601030101010101" charset="-122"/>
            <a:ea typeface="方正大黑简体" panose="02010601030101010101" charset="-122"/>
          </a:defRPr>
        </a:defPPr>
      </a:lstStyle>
    </a:txDef>
  </a:objectDefaults>
  <a:extraClrSchemeLst>
    <a:extraClrScheme>
      <a:clrScheme name="5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默认设计模板">
  <a:themeElements>
    <a:clrScheme name="3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设计模板">
  <a:themeElements>
    <a:clrScheme name="3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设计模板">
  <a:themeElements>
    <a:clrScheme name="3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WPS 演示</Application>
  <PresentationFormat>全屏显示(4:3)</PresentationFormat>
  <Paragraphs>81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宋体</vt:lpstr>
      <vt:lpstr>Wingdings</vt:lpstr>
      <vt:lpstr>Tahoma</vt:lpstr>
      <vt:lpstr>方正大黑简体</vt:lpstr>
      <vt:lpstr>黑体</vt:lpstr>
      <vt:lpstr>Arial</vt:lpstr>
      <vt:lpstr>Tahoma</vt:lpstr>
      <vt:lpstr>Times New Roman</vt:lpstr>
      <vt:lpstr>楷体</vt:lpstr>
      <vt:lpstr>微软雅黑</vt:lpstr>
      <vt:lpstr>Calibri</vt:lpstr>
      <vt:lpstr>等线</vt:lpstr>
      <vt:lpstr>Cambria Math</vt:lpstr>
      <vt:lpstr>Arial Unicode MS</vt:lpstr>
      <vt:lpstr>Calibri</vt:lpstr>
      <vt:lpstr>Wingdings</vt:lpstr>
      <vt:lpstr>15_Blends</vt:lpstr>
      <vt:lpstr>4_默认设计模板</vt:lpstr>
      <vt:lpstr>5_默认设计模板</vt:lpstr>
      <vt:lpstr>1_默认设计模板</vt:lpstr>
      <vt:lpstr>PowerPoint 演示文稿</vt:lpstr>
    </vt:vector>
  </TitlesOfParts>
  <Company>Lenovo (Beijing)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赵献文</dc:creator>
  <cp:lastModifiedBy>Tan Wenlu</cp:lastModifiedBy>
  <cp:revision>435</cp:revision>
  <dcterms:created xsi:type="dcterms:W3CDTF">2008-07-11T02:35:00Z</dcterms:created>
  <dcterms:modified xsi:type="dcterms:W3CDTF">2025-12-18T10:57:04Z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1AABB53600B94215AD0CE0C0BD28F7B2_13</vt:lpwstr>
  </property>
</Properties>
</file>