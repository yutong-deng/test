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gif" ContentType="image/gif"/>
  <Default Extension="emf" ContentType="image/x-emf"/>
  <Default Extension="wdp" ContentType="image/vnd.ms-photo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710" r:id="rId3"/>
    <p:sldId id="22898" r:id="rId5"/>
    <p:sldId id="22899" r:id="rId6"/>
    <p:sldId id="22902" r:id="rId7"/>
    <p:sldId id="22903" r:id="rId8"/>
  </p:sldIdLst>
  <p:sldSz cx="9601200" cy="54006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96" userDrawn="1">
          <p15:clr>
            <a:srgbClr val="A4A3A4"/>
          </p15:clr>
        </p15:guide>
        <p15:guide id="3" pos="5918" userDrawn="1">
          <p15:clr>
            <a:srgbClr val="A4A3A4"/>
          </p15:clr>
        </p15:guide>
        <p15:guide id="4" orient="horz" pos="558" userDrawn="1">
          <p15:clr>
            <a:srgbClr val="A4A3A4"/>
          </p15:clr>
        </p15:guide>
        <p15:guide id="5" orient="horz" pos="9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23FB"/>
    <a:srgbClr val="14207E"/>
    <a:srgbClr val="FC0B1B"/>
    <a:srgbClr val="0000CC"/>
    <a:srgbClr val="3333CC"/>
    <a:srgbClr val="CC00FF"/>
    <a:srgbClr val="0000FF"/>
    <a:srgbClr val="C82A01"/>
    <a:srgbClr val="FF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76" autoAdjust="0"/>
    <p:restoredTop sz="96841" autoAdjust="0"/>
  </p:normalViewPr>
  <p:slideViewPr>
    <p:cSldViewPr showGuides="1">
      <p:cViewPr varScale="1">
        <p:scale>
          <a:sx n="109" d="100"/>
          <a:sy n="109" d="100"/>
        </p:scale>
        <p:origin x="379" y="86"/>
      </p:cViewPr>
      <p:guideLst>
        <p:guide pos="96"/>
        <p:guide pos="5918"/>
        <p:guide orient="horz" pos="558"/>
        <p:guide orient="horz" pos="91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notesViewPr>
    <p:cSldViewPr>
      <p:cViewPr varScale="1">
        <p:scale>
          <a:sx n="82" d="100"/>
          <a:sy n="82" d="100"/>
        </p:scale>
        <p:origin x="395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9972FBE-B7F6-4F44-9A54-99BBA18DE0F4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972FBE-B7F6-4F44-9A54-99BBA18DE0F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建立了改性表活剂的构成、结构和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HLB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值优化方法，形成了低能乳化、粒径可控、张力可调纳米乳液制备的理论基础。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建立了改性表活剂的构成、结构和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HLB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值优化方法，形成了低能乳化、粒径可控、张力可调纳米乳液制备的理论基础。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建立了改性表活剂的构成、结构和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HLB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值优化方法，形成了低能乳化、粒径可控、张力可调纳米乳液制备的理论基础。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建立了改性表活剂的构成、结构和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HLB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值优化方法，形成了低能乳化、粒径可控、张力可调纳米乳液制备的理论基础。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27"/>
          <a:stretch>
            <a:fillRect/>
          </a:stretch>
        </p:blipFill>
        <p:spPr>
          <a:xfrm>
            <a:off x="7840981" y="60093"/>
            <a:ext cx="1305290" cy="1304100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6908368" y="4628352"/>
            <a:ext cx="2254143" cy="443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72009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95" b="1" i="0" dirty="0">
                <a:solidFill>
                  <a:srgbClr val="002060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勤奋   严谨   求实   创新</a:t>
            </a:r>
            <a:endParaRPr lang="zh-CN" altLang="en-US" sz="1495" b="1" i="0" dirty="0">
              <a:solidFill>
                <a:srgbClr val="002060"/>
              </a:solidFill>
              <a:latin typeface="Lantinghei SC Extralight" panose="02000000000000000000" pitchFamily="2" charset="-122"/>
              <a:ea typeface="Lantinghei SC Extralight" panose="02000000000000000000" pitchFamily="2" charset="-122"/>
            </a:endParaRPr>
          </a:p>
          <a:p>
            <a:r>
              <a:rPr kumimoji="1" lang="en-GB" altLang="zh-CN" sz="790" b="0" i="0" dirty="0">
                <a:solidFill>
                  <a:srgbClr val="002060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Diligent, Rigorous, Realistic, Innovative</a:t>
            </a:r>
            <a:endParaRPr kumimoji="1" lang="zh-CN" altLang="en-US" sz="790" b="0" i="0" dirty="0">
              <a:solidFill>
                <a:srgbClr val="002060"/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13505" y="1476201"/>
            <a:ext cx="9614705" cy="2702572"/>
            <a:chOff x="0" y="1116161"/>
            <a:chExt cx="9614705" cy="2702572"/>
          </a:xfrm>
        </p:grpSpPr>
        <p:pic>
          <p:nvPicPr>
            <p:cNvPr id="4" name="图片 3"/>
            <p:cNvPicPr/>
            <p:nvPr userDrawn="1"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758" b="19863"/>
            <a:stretch>
              <a:fillRect/>
            </a:stretch>
          </p:blipFill>
          <p:spPr>
            <a:xfrm>
              <a:off x="0" y="1116161"/>
              <a:ext cx="9601200" cy="2700000"/>
            </a:xfrm>
            <a:prstGeom prst="rect">
              <a:avLst/>
            </a:prstGeom>
          </p:spPr>
        </p:pic>
        <p:sp>
          <p:nvSpPr>
            <p:cNvPr id="7" name="矩形 6"/>
            <p:cNvSpPr/>
            <p:nvPr userDrawn="1"/>
          </p:nvSpPr>
          <p:spPr>
            <a:xfrm>
              <a:off x="0" y="1118733"/>
              <a:ext cx="9614705" cy="2700000"/>
            </a:xfrm>
            <a:prstGeom prst="rect">
              <a:avLst/>
            </a:prstGeom>
            <a:solidFill>
              <a:srgbClr val="0B23FB">
                <a:alpha val="82269"/>
              </a:srgbClr>
            </a:solidFill>
            <a:ln>
              <a:solidFill>
                <a:srgbClr val="0B23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/>
          <p:nvPr userDrawn="1"/>
        </p:nvSpPr>
        <p:spPr>
          <a:xfrm>
            <a:off x="6880860" y="5005627"/>
            <a:ext cx="2240280" cy="287536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5CDC60FB-4F98-4D0E-980D-258D364E9580}" type="slidenum">
              <a:rPr lang="zh-CN" altLang="en-US" sz="945" smtClean="0">
                <a:solidFill>
                  <a:srgbClr val="898989"/>
                </a:solidFill>
              </a:rPr>
            </a:fld>
            <a:endParaRPr lang="zh-CN" altLang="en-US" sz="945">
              <a:solidFill>
                <a:srgbClr val="898989"/>
              </a:solidFill>
            </a:endParaRPr>
          </a:p>
        </p:txBody>
      </p:sp>
      <p:pic>
        <p:nvPicPr>
          <p:cNvPr id="3" name="图片 2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72911" y="573954"/>
            <a:ext cx="9055378" cy="198450"/>
          </a:xfrm>
          <a:prstGeom prst="rect">
            <a:avLst/>
          </a:prstGeom>
        </p:spPr>
      </p:pic>
      <p:pic>
        <p:nvPicPr>
          <p:cNvPr id="4" name="图片 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72911" y="4921219"/>
            <a:ext cx="9055378" cy="198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2138" y="5005626"/>
            <a:ext cx="1663385" cy="311850"/>
          </a:xfrm>
          <a:prstGeom prst="rect">
            <a:avLst/>
          </a:prstGeom>
        </p:spPr>
      </p:pic>
      <p:pic>
        <p:nvPicPr>
          <p:cNvPr id="2" name="图片 1"/>
          <p:cNvPicPr/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27"/>
          <a:stretch>
            <a:fillRect/>
          </a:stretch>
        </p:blipFill>
        <p:spPr>
          <a:xfrm>
            <a:off x="8656628" y="50519"/>
            <a:ext cx="567000" cy="567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1" y="1569"/>
            <a:ext cx="567000" cy="635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13506" y="4320675"/>
            <a:ext cx="9628211" cy="108000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0" y="1116161"/>
            <a:ext cx="9614705" cy="2702572"/>
            <a:chOff x="0" y="1116161"/>
            <a:chExt cx="9614705" cy="2702572"/>
          </a:xfrm>
        </p:grpSpPr>
        <p:pic>
          <p:nvPicPr>
            <p:cNvPr id="2" name="图片 1"/>
            <p:cNvPicPr/>
            <p:nvPr userDrawn="1"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758" b="19863"/>
            <a:stretch>
              <a:fillRect/>
            </a:stretch>
          </p:blipFill>
          <p:spPr>
            <a:xfrm>
              <a:off x="0" y="1116161"/>
              <a:ext cx="9601200" cy="2700000"/>
            </a:xfrm>
            <a:prstGeom prst="rect">
              <a:avLst/>
            </a:prstGeom>
          </p:spPr>
        </p:pic>
        <p:sp>
          <p:nvSpPr>
            <p:cNvPr id="12" name="矩形 11"/>
            <p:cNvSpPr/>
            <p:nvPr userDrawn="1"/>
          </p:nvSpPr>
          <p:spPr>
            <a:xfrm>
              <a:off x="0" y="1118733"/>
              <a:ext cx="9614705" cy="2700000"/>
            </a:xfrm>
            <a:prstGeom prst="rect">
              <a:avLst/>
            </a:prstGeom>
            <a:solidFill>
              <a:srgbClr val="14207E">
                <a:alpha val="82269"/>
              </a:srgbClr>
            </a:solidFill>
            <a:ln>
              <a:solidFill>
                <a:srgbClr val="0B23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4" name="文本框 13"/>
          <p:cNvSpPr txBox="1"/>
          <p:nvPr userDrawn="1"/>
        </p:nvSpPr>
        <p:spPr>
          <a:xfrm>
            <a:off x="7347057" y="3373671"/>
            <a:ext cx="2254143" cy="443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72009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95" b="1" i="0" dirty="0">
                <a:solidFill>
                  <a:srgbClr val="FC0B1B"/>
                </a:solidFill>
                <a:latin typeface="Lantinghei SC Extralight" panose="02000000000000000000" pitchFamily="2" charset="-122"/>
                <a:ea typeface="Lantinghei SC Extralight" panose="02000000000000000000" pitchFamily="2" charset="-122"/>
              </a:rPr>
              <a:t>勤奋   严谨   求实   创新</a:t>
            </a:r>
            <a:endParaRPr lang="zh-CN" altLang="en-US" sz="1495" b="1" i="0" dirty="0">
              <a:solidFill>
                <a:srgbClr val="FC0B1B"/>
              </a:solidFill>
              <a:latin typeface="Lantinghei SC Extralight" panose="02000000000000000000" pitchFamily="2" charset="-122"/>
              <a:ea typeface="Lantinghei SC Extralight" panose="02000000000000000000" pitchFamily="2" charset="-122"/>
            </a:endParaRPr>
          </a:p>
          <a:p>
            <a:r>
              <a:rPr kumimoji="1" lang="en-GB" altLang="zh-CN" sz="790" b="0" i="0" dirty="0">
                <a:solidFill>
                  <a:srgbClr val="FC0B1B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Diligent, Rigorous, Realistic, Innovative</a:t>
            </a:r>
            <a:endParaRPr kumimoji="1" lang="zh-CN" altLang="en-US" sz="790" b="0" i="0" dirty="0">
              <a:solidFill>
                <a:srgbClr val="FC0B1B"/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415C0-1FFA-47D7-85C8-7B369FA06A0F}" type="slidenum">
              <a:rPr lang="en-US" altLang="zh-CN"/>
            </a:fld>
            <a:endParaRPr lang="en-US" altLang="zh-CN"/>
          </a:p>
        </p:txBody>
      </p:sp>
      <p:pic>
        <p:nvPicPr>
          <p:cNvPr id="5" name="图片 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72911" y="573954"/>
            <a:ext cx="9055378" cy="198450"/>
          </a:xfrm>
          <a:prstGeom prst="rect">
            <a:avLst/>
          </a:prstGeom>
        </p:spPr>
      </p:pic>
      <p:pic>
        <p:nvPicPr>
          <p:cNvPr id="6" name="图片 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72911" y="4921219"/>
            <a:ext cx="9055378" cy="198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2138" y="5005626"/>
            <a:ext cx="1663385" cy="311850"/>
          </a:xfrm>
          <a:prstGeom prst="rect">
            <a:avLst/>
          </a:prstGeom>
        </p:spPr>
      </p:pic>
      <p:pic>
        <p:nvPicPr>
          <p:cNvPr id="8" name="图片 7"/>
          <p:cNvPicPr/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27"/>
          <a:stretch>
            <a:fillRect/>
          </a:stretch>
        </p:blipFill>
        <p:spPr>
          <a:xfrm>
            <a:off x="8656628" y="50519"/>
            <a:ext cx="567000" cy="567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1" y="1569"/>
            <a:ext cx="567000" cy="6359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80060" y="216277"/>
            <a:ext cx="864108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80060" y="1260159"/>
            <a:ext cx="8641080" cy="3564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80060" y="5005627"/>
            <a:ext cx="224028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4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October 21, 2018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0410" y="5005627"/>
            <a:ext cx="304038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4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880860" y="5005627"/>
            <a:ext cx="2240280" cy="28753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45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BB4A05C-7636-4271-826E-68D01AEF20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4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4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4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4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360045" algn="ctr" rtl="0" eaLnBrk="1" fontAlgn="base" hangingPunct="1">
        <a:spcBef>
          <a:spcPct val="0"/>
        </a:spcBef>
        <a:spcAft>
          <a:spcPct val="0"/>
        </a:spcAft>
        <a:defRPr sz="34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720090" algn="ctr" rtl="0" eaLnBrk="1" fontAlgn="base" hangingPunct="1">
        <a:spcBef>
          <a:spcPct val="0"/>
        </a:spcBef>
        <a:spcAft>
          <a:spcPct val="0"/>
        </a:spcAft>
        <a:defRPr sz="34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080135" algn="ctr" rtl="0" eaLnBrk="1" fontAlgn="base" hangingPunct="1">
        <a:spcBef>
          <a:spcPct val="0"/>
        </a:spcBef>
        <a:spcAft>
          <a:spcPct val="0"/>
        </a:spcAft>
        <a:defRPr sz="34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440180" algn="ctr" rtl="0" eaLnBrk="1" fontAlgn="base" hangingPunct="1">
        <a:spcBef>
          <a:spcPct val="0"/>
        </a:spcBef>
        <a:spcAft>
          <a:spcPct val="0"/>
        </a:spcAft>
        <a:defRPr sz="34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269875" indent="-2698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79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900430" indent="-18034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18034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20520" indent="-18034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80565" indent="-180340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40610" indent="-180340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700655" indent="-180340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60700" indent="-180340" algn="l" defTabSz="72009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GIF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7.png"/><Relationship Id="rId2" Type="http://schemas.openxmlformats.org/officeDocument/2006/relationships/image" Target="../media/image13.GIF"/><Relationship Id="rId1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tags" Target="../tags/tag1.xml"/><Relationship Id="rId7" Type="http://schemas.openxmlformats.org/officeDocument/2006/relationships/image" Target="../media/image32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6" Type="http://schemas.openxmlformats.org/officeDocument/2006/relationships/notesSlide" Target="../notesSlides/notesSlide5.xml"/><Relationship Id="rId15" Type="http://schemas.openxmlformats.org/officeDocument/2006/relationships/vmlDrawing" Target="../drawings/vmlDrawing1.vml"/><Relationship Id="rId14" Type="http://schemas.openxmlformats.org/officeDocument/2006/relationships/slideLayout" Target="../slideLayouts/slideLayout4.xml"/><Relationship Id="rId13" Type="http://schemas.openxmlformats.org/officeDocument/2006/relationships/image" Target="../media/image35.wmf"/><Relationship Id="rId12" Type="http://schemas.openxmlformats.org/officeDocument/2006/relationships/oleObject" Target="../embeddings/oleObject1.bin"/><Relationship Id="rId11" Type="http://schemas.openxmlformats.org/officeDocument/2006/relationships/tags" Target="../tags/tag2.xml"/><Relationship Id="rId10" Type="http://schemas.openxmlformats.org/officeDocument/2006/relationships/image" Target="../media/image34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4388589" y="4344821"/>
            <a:ext cx="1943081" cy="287536"/>
          </a:xfrm>
        </p:spPr>
        <p:txBody>
          <a:bodyPr/>
          <a:lstStyle/>
          <a:p>
            <a:pPr algn="ctr">
              <a:defRPr/>
            </a:pPr>
            <a:fld id="{F9EA77C7-7139-2941-9C3A-4462C665F2BE}" type="datetime1">
              <a:rPr lang="zh-CN" altLang="en-US" sz="1890" b="1">
                <a:solidFill>
                  <a:srgbClr val="0B23FB"/>
                </a:solidFill>
              </a:rPr>
            </a:fld>
            <a:endParaRPr lang="zh-CN" altLang="en-US" sz="1890" b="1" dirty="0">
              <a:solidFill>
                <a:srgbClr val="0B23FB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00150" y="1793037"/>
            <a:ext cx="7200900" cy="669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3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延长****</a:t>
            </a:r>
            <a:endParaRPr lang="zh-CN" altLang="en-US" sz="283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656584" y="3132385"/>
          <a:ext cx="4035861" cy="57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337"/>
                <a:gridCol w="1011524"/>
              </a:tblGrid>
              <a:tr h="221123">
                <a:tc>
                  <a:txBody>
                    <a:bodyPr/>
                    <a:lstStyle/>
                    <a:p>
                      <a:pPr marL="0" marR="0" lvl="0" indent="0" algn="ctr" defTabSz="7200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575" b="1" kern="1200" dirty="0">
                          <a:solidFill>
                            <a:srgbClr val="FFC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中国石油大学（北京）</a:t>
                      </a:r>
                      <a:endParaRPr lang="en-US" altLang="zh-CN" sz="1575" b="1" kern="1200" dirty="0">
                        <a:solidFill>
                          <a:srgbClr val="FFC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CN" sz="1400" b="1" dirty="0">
                          <a:solidFill>
                            <a:srgbClr val="FFC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9854">
                <a:tc>
                  <a:txBody>
                    <a:bodyPr/>
                    <a:lstStyle/>
                    <a:p>
                      <a:pPr marL="0" marR="0" lvl="0" indent="0" algn="ctr" defTabSz="7200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575" b="1" kern="1200" dirty="0">
                          <a:solidFill>
                            <a:srgbClr val="FFC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院士团队延长石油试验示范基地    </a:t>
                      </a:r>
                      <a:endParaRPr lang="en-US" altLang="zh-CN" sz="1575" b="1" kern="1200" dirty="0">
                        <a:solidFill>
                          <a:srgbClr val="FFC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80" y="29396"/>
            <a:ext cx="1224136" cy="13730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"/>
          <p:cNvSpPr txBox="1"/>
          <p:nvPr/>
        </p:nvSpPr>
        <p:spPr>
          <a:xfrm>
            <a:off x="1430249" y="36041"/>
            <a:ext cx="6683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20090">
              <a:defRPr/>
            </a:pP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岩石力学参数分析与压后评价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2404" y="648131"/>
            <a:ext cx="8639684" cy="150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spcAft>
                <a:spcPts val="300"/>
              </a:spcAft>
              <a:tabLst>
                <a:tab pos="457200" algn="l"/>
              </a:tabLst>
            </a:pPr>
            <a:r>
              <a:rPr lang="zh-CN" altLang="en-US" sz="2200" b="1" kern="0" dirty="0">
                <a:solidFill>
                  <a:srgbClr val="0B23F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研究内容</a:t>
            </a:r>
            <a:endParaRPr lang="en-US" altLang="zh-CN" sz="2200" b="1" kern="0" dirty="0">
              <a:solidFill>
                <a:srgbClr val="0B23FB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  <a:p>
            <a:pPr lvl="0" algn="l">
              <a:lnSpc>
                <a:spcPct val="150000"/>
              </a:lnSpc>
              <a:spcAft>
                <a:spcPts val="300"/>
              </a:spcAft>
              <a:tabLst>
                <a:tab pos="457200" algn="l"/>
              </a:tabLst>
            </a:pPr>
            <a:r>
              <a:rPr lang="zh-CN" altLang="en-US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高频压力监测通过高频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采集</a:t>
            </a:r>
            <a:r>
              <a:rPr lang="zh-CN" altLang="en-US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地面泵车组停泵激发的水击波，通过水击倒谱算法和</a:t>
            </a:r>
            <a:r>
              <a:rPr lang="en-US" altLang="zh-CN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RCI</a:t>
            </a:r>
            <a:r>
              <a:rPr lang="zh-CN" altLang="en-US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反演算法分析井下裂缝的水击反射信号，实现压裂施工效果评价。</a:t>
            </a:r>
            <a:endParaRPr lang="zh-CN" altLang="zh-CN" kern="100" dirty="0">
              <a:solidFill>
                <a:srgbClr val="40404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36104" y="2179136"/>
            <a:ext cx="4267412" cy="2676502"/>
            <a:chOff x="557408" y="2982768"/>
            <a:chExt cx="5560145" cy="359046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57408" y="2982768"/>
              <a:ext cx="5560145" cy="3590468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882494" y="4175799"/>
              <a:ext cx="1026732" cy="2199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55593" y="4141426"/>
              <a:ext cx="1153806" cy="3579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地面泵车组</a:t>
              </a:r>
              <a:endParaRPr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2463468" y="3333328"/>
              <a:ext cx="1026732" cy="3582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212883" y="3408205"/>
              <a:ext cx="1605309" cy="3579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900" b="1" dirty="0">
                  <a:solidFill>
                    <a:srgbClr val="0000FF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高频压力传感器</a:t>
              </a:r>
              <a:endParaRPr lang="zh-CN" altLang="en-US" sz="9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808572" y="4023109"/>
              <a:ext cx="1026732" cy="582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705397" y="3978428"/>
              <a:ext cx="1232090" cy="5727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高频信号</a:t>
              </a:r>
              <a:endParaRPr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采集系统</a:t>
              </a:r>
              <a:endParaRPr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590406" y="4649988"/>
              <a:ext cx="1347082" cy="1650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540090" y="4647532"/>
              <a:ext cx="1430463" cy="3579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水锤压力信号</a:t>
              </a:r>
              <a:endParaRPr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680720" y="4508026"/>
              <a:ext cx="3346702" cy="1954495"/>
              <a:chOff x="6744090" y="2348850"/>
              <a:chExt cx="4160348" cy="3114675"/>
            </a:xfrm>
          </p:grpSpPr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744090" y="2348850"/>
                <a:ext cx="4160348" cy="3114675"/>
              </a:xfrm>
              <a:prstGeom prst="rect">
                <a:avLst/>
              </a:prstGeom>
            </p:spPr>
          </p:pic>
          <p:sp>
            <p:nvSpPr>
              <p:cNvPr id="28" name="矩形 27"/>
              <p:cNvSpPr/>
              <p:nvPr/>
            </p:nvSpPr>
            <p:spPr>
              <a:xfrm>
                <a:off x="9143752" y="3821557"/>
                <a:ext cx="1638939" cy="398003"/>
              </a:xfrm>
              <a:prstGeom prst="rect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9536695" y="4254337"/>
                <a:ext cx="1261885" cy="398003"/>
              </a:xfrm>
              <a:prstGeom prst="rect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19" name="Arrow: Curved Down 6"/>
            <p:cNvSpPr/>
            <p:nvPr/>
          </p:nvSpPr>
          <p:spPr>
            <a:xfrm>
              <a:off x="1438327" y="4548852"/>
              <a:ext cx="1284553" cy="197360"/>
            </a:xfrm>
            <a:prstGeom prst="curvedDownArrow">
              <a:avLst>
                <a:gd name="adj1" fmla="val 25000"/>
                <a:gd name="adj2" fmla="val 56557"/>
                <a:gd name="adj3" fmla="val 52871"/>
              </a:avLst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2677472" y="5873194"/>
              <a:ext cx="1349950" cy="10961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21" name="矩形 20"/>
            <p:cNvSpPr/>
            <p:nvPr/>
          </p:nvSpPr>
          <p:spPr>
            <a:xfrm>
              <a:off x="3892815" y="5615338"/>
              <a:ext cx="146305" cy="6544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22" name="矩形 21"/>
            <p:cNvSpPr/>
            <p:nvPr/>
          </p:nvSpPr>
          <p:spPr>
            <a:xfrm>
              <a:off x="4039120" y="4705592"/>
              <a:ext cx="176658" cy="17569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23" name="文本框 22"/>
            <p:cNvSpPr txBox="1"/>
            <p:nvPr/>
          </p:nvSpPr>
          <p:spPr>
            <a:xfrm rot="16200000">
              <a:off x="3708603" y="5114304"/>
              <a:ext cx="900715" cy="2781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压力</a:t>
              </a:r>
              <a:r>
                <a:rPr lang="en-US" altLang="zh-CN" sz="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/MPa</a:t>
              </a:r>
              <a:endParaRPr lang="zh-CN" altLang="en-US" sz="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4" name="图片 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478"/>
            <a:stretch>
              <a:fillRect/>
            </a:stretch>
          </p:blipFill>
          <p:spPr bwMode="auto">
            <a:xfrm>
              <a:off x="1908621" y="4504905"/>
              <a:ext cx="2143963" cy="1338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7" name="组合 46"/>
          <p:cNvGrpSpPr/>
          <p:nvPr/>
        </p:nvGrpSpPr>
        <p:grpSpPr>
          <a:xfrm>
            <a:off x="7017746" y="3389432"/>
            <a:ext cx="2152708" cy="1432831"/>
            <a:chOff x="4470031" y="2722324"/>
            <a:chExt cx="2836004" cy="1887629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 rotWithShape="1">
            <a:blip r:embed="rId4"/>
            <a:srcRect t="33808"/>
            <a:stretch>
              <a:fillRect/>
            </a:stretch>
          </p:blipFill>
          <p:spPr>
            <a:xfrm>
              <a:off x="4470031" y="2726522"/>
              <a:ext cx="2836004" cy="1883431"/>
            </a:xfrm>
            <a:prstGeom prst="rect">
              <a:avLst/>
            </a:prstGeom>
          </p:spPr>
        </p:pic>
        <p:sp>
          <p:nvSpPr>
            <p:cNvPr id="49" name="矩形 48"/>
            <p:cNvSpPr/>
            <p:nvPr/>
          </p:nvSpPr>
          <p:spPr>
            <a:xfrm>
              <a:off x="5498841" y="2786743"/>
              <a:ext cx="507423" cy="1741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6275038" y="3117004"/>
              <a:ext cx="507423" cy="1741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6619407" y="3486378"/>
              <a:ext cx="507423" cy="1741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5517351" y="2722324"/>
              <a:ext cx="581171" cy="324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b="1" dirty="0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缝高</a:t>
              </a:r>
              <a:endParaRPr lang="zh-CN" altLang="en-US" sz="10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230837" y="3044859"/>
              <a:ext cx="750117" cy="324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b="1" dirty="0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半缝长</a:t>
              </a:r>
              <a:endParaRPr lang="zh-CN" altLang="en-US" sz="10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582760" y="3385748"/>
              <a:ext cx="581171" cy="324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b="1" dirty="0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缝宽</a:t>
              </a:r>
              <a:endParaRPr lang="zh-CN" altLang="en-US" sz="10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4596" y="2430790"/>
            <a:ext cx="2078393" cy="89194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6"/>
          <a:srcRect b="9413"/>
          <a:stretch>
            <a:fillRect/>
          </a:stretch>
        </p:blipFill>
        <p:spPr>
          <a:xfrm>
            <a:off x="4722937" y="2428556"/>
            <a:ext cx="2206130" cy="891940"/>
          </a:xfrm>
          <a:prstGeom prst="rect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4847062" y="3388651"/>
            <a:ext cx="2050874" cy="1500340"/>
            <a:chOff x="8126006" y="3471032"/>
            <a:chExt cx="3707222" cy="2972410"/>
          </a:xfrm>
        </p:grpSpPr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8541737" y="3151952"/>
              <a:ext cx="2929379" cy="3653602"/>
            </a:xfrm>
            <a:prstGeom prst="rect">
              <a:avLst/>
            </a:prstGeom>
          </p:spPr>
        </p:pic>
        <p:sp>
          <p:nvSpPr>
            <p:cNvPr id="36" name="文本框 35"/>
            <p:cNvSpPr txBox="1"/>
            <p:nvPr/>
          </p:nvSpPr>
          <p:spPr>
            <a:xfrm>
              <a:off x="8392189" y="3471032"/>
              <a:ext cx="751067" cy="400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9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38%</a:t>
              </a:r>
              <a:endParaRPr lang="zh-CN" altLang="en-US" sz="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7" name="直接箭头连接符 36"/>
            <p:cNvCxnSpPr/>
            <p:nvPr/>
          </p:nvCxnSpPr>
          <p:spPr>
            <a:xfrm flipV="1">
              <a:off x="8997336" y="3832964"/>
              <a:ext cx="0" cy="1927315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 flipV="1">
              <a:off x="9370248" y="4509370"/>
              <a:ext cx="0" cy="125091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 flipV="1">
              <a:off x="8512216" y="5148197"/>
              <a:ext cx="0" cy="612083"/>
            </a:xfrm>
            <a:prstGeom prst="straightConnector1">
              <a:avLst/>
            </a:prstGeom>
            <a:ln w="127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 flipV="1">
              <a:off x="10754375" y="5104356"/>
              <a:ext cx="0" cy="655925"/>
            </a:xfrm>
            <a:prstGeom prst="straightConnector1">
              <a:avLst/>
            </a:prstGeom>
            <a:ln w="127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flipV="1">
              <a:off x="11261680" y="5381328"/>
              <a:ext cx="0" cy="378954"/>
            </a:xfrm>
            <a:prstGeom prst="straightConnector1">
              <a:avLst/>
            </a:prstGeom>
            <a:ln w="127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/>
            <p:cNvSpPr txBox="1"/>
            <p:nvPr/>
          </p:nvSpPr>
          <p:spPr>
            <a:xfrm>
              <a:off x="8126006" y="4618587"/>
              <a:ext cx="751067" cy="400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9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13%</a:t>
              </a:r>
              <a:endParaRPr lang="zh-CN" altLang="en-US" sz="9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9027224" y="3960195"/>
              <a:ext cx="751067" cy="400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9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25%</a:t>
              </a:r>
              <a:endParaRPr lang="zh-CN" altLang="en-US" sz="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0395448" y="4573648"/>
              <a:ext cx="751067" cy="400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9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14%</a:t>
              </a:r>
              <a:endParaRPr lang="zh-CN" altLang="en-US" sz="9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0902755" y="4924468"/>
              <a:ext cx="751067" cy="400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9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10%</a:t>
              </a:r>
              <a:endParaRPr lang="zh-CN" altLang="en-US" sz="9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5056666" y="2179135"/>
            <a:ext cx="17571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井下进液裂缝位置诊断</a:t>
            </a:r>
            <a:endParaRPr lang="en-US" altLang="zh-CN" sz="12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215509" y="2179135"/>
            <a:ext cx="17571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井下裂缝尺寸诊断</a:t>
            </a:r>
            <a:endParaRPr lang="en-US" altLang="zh-CN" sz="12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ransition advTm="1806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"/>
          <p:cNvSpPr txBox="1"/>
          <p:nvPr/>
        </p:nvSpPr>
        <p:spPr>
          <a:xfrm>
            <a:off x="1430249" y="36041"/>
            <a:ext cx="6683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20090">
              <a:defRPr/>
            </a:pP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岩石力学参数分析与压后评价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2404" y="648131"/>
            <a:ext cx="8639684" cy="154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spcAft>
                <a:spcPts val="300"/>
              </a:spcAft>
              <a:tabLst>
                <a:tab pos="457200" algn="l"/>
              </a:tabLst>
            </a:pPr>
            <a:r>
              <a:rPr lang="zh-CN" altLang="en-US" sz="2200" b="1" kern="0" dirty="0">
                <a:solidFill>
                  <a:srgbClr val="0B23F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研究内容</a:t>
            </a:r>
            <a:endParaRPr lang="en-US" altLang="zh-CN" sz="2200" b="1" kern="0" dirty="0">
              <a:solidFill>
                <a:srgbClr val="0B23FB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  <a:p>
            <a:pPr lvl="0" algn="l">
              <a:lnSpc>
                <a:spcPct val="150000"/>
              </a:lnSpc>
              <a:spcAft>
                <a:spcPts val="300"/>
              </a:spcAft>
              <a:tabLst>
                <a:tab pos="457200" algn="l"/>
              </a:tabLst>
            </a:pPr>
            <a:r>
              <a:rPr lang="zh-CN" altLang="en-US" sz="20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针对进液诊断研究了水击综合滤波去噪模型、响应倒谱模型和能量求解模型。</a:t>
            </a:r>
            <a:endParaRPr lang="en-US" altLang="zh-CN" sz="2000" kern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300"/>
              </a:spcAft>
              <a:tabLst>
                <a:tab pos="457200" algn="l"/>
              </a:tabLst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针对尺寸诊断研究了裂缝边界响应模型、水击迭代反演模型和尺寸求解模型。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160640" y="2518489"/>
            <a:ext cx="3888432" cy="2377298"/>
            <a:chOff x="3606199" y="3384177"/>
            <a:chExt cx="4008448" cy="2973017"/>
          </a:xfrm>
        </p:grpSpPr>
        <p:pic>
          <p:nvPicPr>
            <p:cNvPr id="33" name="图片 6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6199" y="3384177"/>
              <a:ext cx="4008448" cy="2973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 rotWithShape="1">
            <a:blip r:embed="rId2"/>
            <a:srcRect l="6632" b="9071"/>
            <a:stretch>
              <a:fillRect/>
            </a:stretch>
          </p:blipFill>
          <p:spPr>
            <a:xfrm>
              <a:off x="4240980" y="3583304"/>
              <a:ext cx="1330530" cy="1141095"/>
            </a:xfrm>
            <a:prstGeom prst="rect">
              <a:avLst/>
            </a:prstGeom>
          </p:spPr>
        </p:pic>
      </p:grpSp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3"/>
          <a:srcRect l="34077" t="6237" b="13928"/>
          <a:stretch>
            <a:fillRect/>
          </a:stretch>
        </p:blipFill>
        <p:spPr>
          <a:xfrm>
            <a:off x="578888" y="2587016"/>
            <a:ext cx="4509833" cy="2197257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1848272" y="2325406"/>
            <a:ext cx="2448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高频水击信号进液诊断研究内容</a:t>
            </a:r>
            <a:endParaRPr lang="en-US" altLang="zh-CN" sz="12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024736" y="2325406"/>
            <a:ext cx="2448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高频水击信号尺寸求解研究内容</a:t>
            </a:r>
            <a:endParaRPr lang="en-US" altLang="zh-CN" sz="12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27886" y="3610596"/>
            <a:ext cx="110799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裂缝边界模型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952817" y="331316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迭代反演模型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672808" y="4694099"/>
            <a:ext cx="110799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尺寸求解模型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advTm="1806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"/>
          <p:cNvSpPr txBox="1"/>
          <p:nvPr/>
        </p:nvSpPr>
        <p:spPr>
          <a:xfrm>
            <a:off x="1430249" y="36041"/>
            <a:ext cx="6683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20090">
              <a:defRPr/>
            </a:pP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岩石力学参数分析与压后评价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2404" y="648131"/>
            <a:ext cx="8639684" cy="150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spcAft>
                <a:spcPts val="300"/>
              </a:spcAft>
              <a:tabLst>
                <a:tab pos="457200" algn="l"/>
              </a:tabLst>
            </a:pPr>
            <a:r>
              <a:rPr lang="zh-CN" altLang="en-US" sz="2200" b="1" kern="0" dirty="0">
                <a:solidFill>
                  <a:srgbClr val="0B23F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研究内容</a:t>
            </a:r>
            <a:endParaRPr lang="en-US" altLang="zh-CN" sz="2200" b="1" kern="0" dirty="0">
              <a:solidFill>
                <a:srgbClr val="0B23FB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  <a:p>
            <a:pPr lvl="0">
              <a:lnSpc>
                <a:spcPct val="150000"/>
              </a:lnSpc>
              <a:spcAft>
                <a:spcPts val="300"/>
              </a:spcAft>
              <a:tabLst>
                <a:tab pos="457200" algn="l"/>
              </a:tabLst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小波变换通过对压裂施工曲线在时频域上进行多尺度分析，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G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函数通过滤失模型和裂缝扩展解析模型对停泵压降曲线进行分析，实现压裂施工效果评价。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7315"/>
          <a:stretch>
            <a:fillRect/>
          </a:stretch>
        </p:blipFill>
        <p:spPr>
          <a:xfrm>
            <a:off x="478351" y="2683134"/>
            <a:ext cx="1921184" cy="126165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137109" y="2918357"/>
            <a:ext cx="884850" cy="995339"/>
          </a:xfrm>
          <a:prstGeom prst="rect">
            <a:avLst/>
          </a:prstGeom>
          <a:solidFill>
            <a:schemeClr val="accent6">
              <a:alpha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flipH="1">
            <a:off x="1933948" y="2915268"/>
            <a:ext cx="88011" cy="995340"/>
          </a:xfrm>
          <a:prstGeom prst="rect">
            <a:avLst/>
          </a:prstGeom>
          <a:solidFill>
            <a:schemeClr val="accent4">
              <a:alpha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 descr="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60" y="2181408"/>
            <a:ext cx="1724716" cy="133720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7" name="文本框 75"/>
          <p:cNvSpPr txBox="1"/>
          <p:nvPr/>
        </p:nvSpPr>
        <p:spPr>
          <a:xfrm>
            <a:off x="2724819" y="2757691"/>
            <a:ext cx="1735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小波变换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726" y="3518611"/>
            <a:ext cx="1738449" cy="1413974"/>
          </a:xfrm>
          <a:prstGeom prst="rect">
            <a:avLst/>
          </a:prstGeom>
        </p:spPr>
      </p:pic>
      <p:sp>
        <p:nvSpPr>
          <p:cNvPr id="9" name="文本框 78"/>
          <p:cNvSpPr txBox="1"/>
          <p:nvPr/>
        </p:nvSpPr>
        <p:spPr>
          <a:xfrm>
            <a:off x="2720869" y="4050901"/>
            <a:ext cx="17253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函数分析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1"/>
          <p:cNvSpPr txBox="1"/>
          <p:nvPr/>
        </p:nvSpPr>
        <p:spPr>
          <a:xfrm>
            <a:off x="478351" y="3929292"/>
            <a:ext cx="1921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压裂施工曲线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1" name="图片 10" descr="图片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048" y="2103219"/>
            <a:ext cx="4236917" cy="1449210"/>
          </a:xfrm>
          <a:prstGeom prst="rect">
            <a:avLst/>
          </a:prstGeom>
        </p:spPr>
      </p:pic>
      <p:cxnSp>
        <p:nvCxnSpPr>
          <p:cNvPr id="12" name="直接箭头连接符 11"/>
          <p:cNvCxnSpPr>
            <a:endCxn id="6" idx="1"/>
          </p:cNvCxnSpPr>
          <p:nvPr/>
        </p:nvCxnSpPr>
        <p:spPr>
          <a:xfrm flipV="1">
            <a:off x="1471996" y="2850010"/>
            <a:ext cx="1249464" cy="550989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endCxn id="8" idx="1"/>
          </p:cNvCxnSpPr>
          <p:nvPr/>
        </p:nvCxnSpPr>
        <p:spPr>
          <a:xfrm>
            <a:off x="1969558" y="3498470"/>
            <a:ext cx="738169" cy="727128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6"/>
          <p:cNvSpPr txBox="1"/>
          <p:nvPr/>
        </p:nvSpPr>
        <p:spPr>
          <a:xfrm>
            <a:off x="7464896" y="2344790"/>
            <a:ext cx="14176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岩石类事件识别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6" name="图片 15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4713688" y="3560846"/>
            <a:ext cx="1386385" cy="1305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图片 16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6198600" y="3560846"/>
            <a:ext cx="1386385" cy="13056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8" name="Picture 2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15" r="9789" b="2361"/>
          <a:stretch>
            <a:fillRect/>
          </a:stretch>
        </p:blipFill>
        <p:spPr bwMode="auto">
          <a:xfrm>
            <a:off x="7661203" y="3561117"/>
            <a:ext cx="1386385" cy="8874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7661201" y="4457231"/>
            <a:ext cx="1386385" cy="4092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文本框 8"/>
          <p:cNvSpPr txBox="1"/>
          <p:nvPr/>
        </p:nvSpPr>
        <p:spPr>
          <a:xfrm>
            <a:off x="4688862" y="3992333"/>
            <a:ext cx="2896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裂缝滤失类型判别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18"/>
          <p:cNvSpPr txBox="1"/>
          <p:nvPr/>
        </p:nvSpPr>
        <p:spPr>
          <a:xfrm>
            <a:off x="7645078" y="4137422"/>
            <a:ext cx="14176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裂缝尺寸计算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673487" y="2103219"/>
            <a:ext cx="4449361" cy="282936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3" name="箭头: 右 22"/>
          <p:cNvSpPr/>
          <p:nvPr/>
        </p:nvSpPr>
        <p:spPr>
          <a:xfrm>
            <a:off x="4425368" y="2740199"/>
            <a:ext cx="288320" cy="164773"/>
          </a:xfrm>
          <a:prstGeom prst="rightArrow">
            <a:avLst/>
          </a:prstGeom>
          <a:solidFill>
            <a:sysClr val="windowText" lastClr="00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defTabSz="72009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2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箭头: 右 23"/>
          <p:cNvSpPr/>
          <p:nvPr/>
        </p:nvSpPr>
        <p:spPr>
          <a:xfrm>
            <a:off x="4400542" y="4179026"/>
            <a:ext cx="288320" cy="164773"/>
          </a:xfrm>
          <a:prstGeom prst="rightArrow">
            <a:avLst/>
          </a:prstGeom>
          <a:solidFill>
            <a:sysClr val="windowText" lastClr="00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defTabSz="72009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2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5" name="直接连接符 24"/>
          <p:cNvCxnSpPr>
            <a:stCxn id="22" idx="1"/>
            <a:endCxn id="22" idx="3"/>
          </p:cNvCxnSpPr>
          <p:nvPr/>
        </p:nvCxnSpPr>
        <p:spPr>
          <a:xfrm>
            <a:off x="4673487" y="3517902"/>
            <a:ext cx="4449361" cy="0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Tm="1806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2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430" y="3894328"/>
            <a:ext cx="1473953" cy="1060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"/>
          <p:cNvSpPr txBox="1"/>
          <p:nvPr/>
        </p:nvSpPr>
        <p:spPr>
          <a:xfrm>
            <a:off x="1430249" y="36041"/>
            <a:ext cx="6683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20090">
              <a:defRPr/>
            </a:pP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岩石力学参数分析与压后评价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2404" y="648131"/>
            <a:ext cx="8941336" cy="154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spcAft>
                <a:spcPts val="300"/>
              </a:spcAft>
              <a:tabLst>
                <a:tab pos="457200" algn="l"/>
              </a:tabLst>
            </a:pPr>
            <a:r>
              <a:rPr lang="zh-CN" altLang="en-US" sz="2200" b="1" kern="0" dirty="0">
                <a:solidFill>
                  <a:srgbClr val="0B23F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研究内容</a:t>
            </a:r>
            <a:endParaRPr lang="en-US" altLang="zh-CN" sz="2200" b="1" kern="0" dirty="0">
              <a:solidFill>
                <a:srgbClr val="0B23FB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  <a:p>
            <a:pPr lvl="0">
              <a:lnSpc>
                <a:spcPct val="150000"/>
              </a:lnSpc>
              <a:spcAft>
                <a:spcPts val="300"/>
              </a:spcAft>
              <a:tabLst>
                <a:tab pos="457200" algn="l"/>
              </a:tabLst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针对裂缝扩展诊断及压后评价研究了小波能量响应模型、多维加权评估模型。</a:t>
            </a:r>
            <a:endParaRPr lang="zh-CN" altLang="en-US" sz="2000" kern="0" dirty="0"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  <a:p>
            <a:pPr lvl="0">
              <a:lnSpc>
                <a:spcPct val="150000"/>
              </a:lnSpc>
              <a:spcAft>
                <a:spcPts val="300"/>
              </a:spcAft>
              <a:tabLst>
                <a:tab pos="457200" algn="l"/>
              </a:tabLst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针对裂缝滤失类型诊断及尺寸反演研究了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G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函数滤失模型、裂缝扩展解析模型。</a:t>
            </a:r>
            <a:endParaRPr lang="zh-CN" altLang="zh-CN" sz="2000" kern="0" dirty="0"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2" y="2333879"/>
            <a:ext cx="2964003" cy="1205928"/>
          </a:xfrm>
          <a:prstGeom prst="rect">
            <a:avLst/>
          </a:prstGeom>
        </p:spPr>
      </p:pic>
      <p:sp>
        <p:nvSpPr>
          <p:cNvPr id="43" name="矩形 28"/>
          <p:cNvSpPr>
            <a:spLocks noChangeArrowheads="1"/>
          </p:cNvSpPr>
          <p:nvPr/>
        </p:nvSpPr>
        <p:spPr bwMode="auto">
          <a:xfrm>
            <a:off x="8137551" y="4360754"/>
            <a:ext cx="13626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裂缝尺寸反演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5377806" y="2484313"/>
            <a:ext cx="2340243" cy="1318439"/>
            <a:chOff x="383085" y="2919877"/>
            <a:chExt cx="3697312" cy="2093299"/>
          </a:xfrm>
        </p:grpSpPr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536" y="3016250"/>
              <a:ext cx="1010412" cy="1132829"/>
            </a:xfrm>
            <a:prstGeom prst="rect">
              <a:avLst/>
            </a:prstGeom>
          </p:spPr>
        </p:pic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14953" y="2943976"/>
              <a:ext cx="2235708" cy="1277112"/>
            </a:xfrm>
            <a:prstGeom prst="rect">
              <a:avLst/>
            </a:prstGeom>
          </p:spPr>
        </p:pic>
        <p:cxnSp>
          <p:nvCxnSpPr>
            <p:cNvPr id="47" name="直接箭头连接符 46"/>
            <p:cNvCxnSpPr/>
            <p:nvPr/>
          </p:nvCxnSpPr>
          <p:spPr>
            <a:xfrm>
              <a:off x="1405948" y="3143718"/>
              <a:ext cx="628489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>
              <a:stCxn id="45" idx="3"/>
              <a:endCxn id="46" idx="1"/>
            </p:cNvCxnSpPr>
            <p:nvPr/>
          </p:nvCxnSpPr>
          <p:spPr>
            <a:xfrm flipV="1">
              <a:off x="1405948" y="3582532"/>
              <a:ext cx="409005" cy="13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>
              <a:off x="1405948" y="3973169"/>
              <a:ext cx="628489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5536" y="4355421"/>
              <a:ext cx="1655064" cy="621792"/>
            </a:xfrm>
            <a:prstGeom prst="rect">
              <a:avLst/>
            </a:prstGeom>
          </p:spPr>
        </p:pic>
        <p:sp>
          <p:nvSpPr>
            <p:cNvPr id="51" name="矩形: 圆角 10"/>
            <p:cNvSpPr/>
            <p:nvPr/>
          </p:nvSpPr>
          <p:spPr>
            <a:xfrm>
              <a:off x="383085" y="2919877"/>
              <a:ext cx="3684860" cy="2093299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063051" y="4400515"/>
              <a:ext cx="2017346" cy="4397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r>
                <a:rPr lang="zh-CN" altLang="en-US" sz="1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函数滤失模型</a:t>
              </a:r>
              <a:endPara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369876" y="3881997"/>
            <a:ext cx="2346603" cy="1062126"/>
            <a:chOff x="383084" y="5117540"/>
            <a:chExt cx="3684859" cy="1668138"/>
          </a:xfrm>
        </p:grpSpPr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5536" y="5157192"/>
              <a:ext cx="3655125" cy="417153"/>
            </a:xfrm>
            <a:prstGeom prst="rect">
              <a:avLst/>
            </a:prstGeom>
          </p:spPr>
        </p:pic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1202" y="5589240"/>
              <a:ext cx="3428286" cy="1196436"/>
            </a:xfrm>
            <a:prstGeom prst="rect">
              <a:avLst/>
            </a:prstGeom>
          </p:spPr>
        </p:pic>
        <p:sp>
          <p:nvSpPr>
            <p:cNvPr id="56" name="矩形: 圆角 9"/>
            <p:cNvSpPr/>
            <p:nvPr/>
          </p:nvSpPr>
          <p:spPr>
            <a:xfrm>
              <a:off x="383084" y="5117540"/>
              <a:ext cx="3684859" cy="1668138"/>
            </a:xfrm>
            <a:prstGeom prst="roundRect">
              <a:avLst>
                <a:gd name="adj" fmla="val 0"/>
              </a:avLst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799983" y="5744965"/>
              <a:ext cx="2240869" cy="4350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裂缝扩展解析模型</a:t>
              </a:r>
              <a:endPara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3" name="图片 62" descr="C:\Users\david\Nutstore\1\我的坚果云\西南新加 G函数 滤失类型分析\lastlast5\ppt\G_P_data_8_analysis.pngG_P_data_8_analysis"/>
          <p:cNvPicPr/>
          <p:nvPr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8045450" y="2499360"/>
            <a:ext cx="1473835" cy="12922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4" name="矩形 28"/>
          <p:cNvSpPr>
            <a:spLocks noChangeArrowheads="1"/>
          </p:cNvSpPr>
          <p:nvPr/>
        </p:nvSpPr>
        <p:spPr bwMode="auto">
          <a:xfrm>
            <a:off x="8158461" y="3393590"/>
            <a:ext cx="13208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滤失类型识别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65" name="箭头: 右 64"/>
          <p:cNvSpPr/>
          <p:nvPr/>
        </p:nvSpPr>
        <p:spPr>
          <a:xfrm>
            <a:off x="7767846" y="3111836"/>
            <a:ext cx="250541" cy="143182"/>
          </a:xfrm>
          <a:prstGeom prst="rightArrow">
            <a:avLst>
              <a:gd name="adj1" fmla="val 50000"/>
              <a:gd name="adj2" fmla="val 70527"/>
            </a:avLst>
          </a:prstGeom>
          <a:solidFill>
            <a:sysClr val="windowText" lastClr="00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algn="ctr" defTabSz="72009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2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82" y="3791936"/>
            <a:ext cx="2964002" cy="1137165"/>
          </a:xfrm>
          <a:prstGeom prst="rect">
            <a:avLst/>
          </a:prstGeom>
        </p:spPr>
      </p:pic>
      <p:graphicFrame>
        <p:nvGraphicFramePr>
          <p:cNvPr id="67" name="表格 66"/>
          <p:cNvGraphicFramePr>
            <a:graphicFrameLocks noGrp="1"/>
          </p:cNvGraphicFramePr>
          <p:nvPr>
            <p:custDataLst>
              <p:tags r:id="rId11"/>
            </p:custDataLst>
          </p:nvPr>
        </p:nvGraphicFramePr>
        <p:xfrm>
          <a:off x="3015184" y="3655917"/>
          <a:ext cx="2267585" cy="1302163"/>
        </p:xfrm>
        <a:graphic>
          <a:graphicData uri="http://schemas.openxmlformats.org/drawingml/2006/table">
            <a:tbl>
              <a:tblPr firstRow="1"/>
              <a:tblGrid>
                <a:gridCol w="1069422"/>
                <a:gridCol w="503378"/>
                <a:gridCol w="694785"/>
              </a:tblGrid>
              <a:tr h="174351">
                <a:tc>
                  <a:txBody>
                    <a:bodyPr/>
                    <a:lstStyle>
                      <a:defPPr>
                        <a:defRPr lang="en-US" b="1">
                          <a:solidFill>
                            <a:srgbClr val="FFFFFF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井段名</a:t>
                      </a:r>
                      <a:endParaRPr lang="zh-CN" altLang="en-US" sz="7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076" marR="55076" marT="27538" marB="27538" anchor="ctr"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rgbClr val="FFFFFF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改造体积</a:t>
                      </a:r>
                      <a:endParaRPr lang="zh-CN" altLang="en-US" sz="7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076" marR="55076" marT="27538" marB="27538" anchor="ctr"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rgbClr val="FFFFFF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评价得分</a:t>
                      </a:r>
                      <a:endParaRPr lang="zh-CN" altLang="en-US" sz="7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5076" marR="55076" marT="27538" marB="27538" anchor="ctr"/>
                </a:tc>
              </a:tr>
              <a:tr h="125440"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泸</a:t>
                      </a:r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203</a:t>
                      </a:r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井区</a:t>
                      </a:r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H8</a:t>
                      </a:r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平台</a:t>
                      </a:r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</a:t>
                      </a:r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19</a:t>
                      </a:r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段</a:t>
                      </a:r>
                      <a:endParaRPr lang="zh-CN" altLang="en-US" sz="600" b="0" i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337.50 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98.37084978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</a:tr>
              <a:tr h="125440"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黄</a:t>
                      </a:r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</a:t>
                      </a:r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井区</a:t>
                      </a:r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H7</a:t>
                      </a:r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平台</a:t>
                      </a:r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</a:t>
                      </a:r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14</a:t>
                      </a:r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段</a:t>
                      </a:r>
                      <a:endParaRPr lang="zh-CN" altLang="en-US" sz="600" b="0" i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305.60 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98.17766702</a:t>
                      </a:r>
                      <a:endParaRPr lang="en-US" altLang="zh-CN" sz="600" b="0" i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</a:tr>
              <a:tr h="125440"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足</a:t>
                      </a:r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201</a:t>
                      </a:r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井区</a:t>
                      </a:r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H8</a:t>
                      </a:r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平台</a:t>
                      </a:r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</a:t>
                      </a:r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段</a:t>
                      </a:r>
                      <a:endParaRPr lang="zh-CN" altLang="en-US" sz="600" b="0" i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300.00 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97.23565829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</a:tr>
              <a:tr h="125440"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泸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203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井区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H10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平台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段</a:t>
                      </a:r>
                      <a:endParaRPr lang="zh-CN" altLang="en-US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234.80 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96.72418201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</a:tr>
              <a:tr h="124290"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足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201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井区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H8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平台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段</a:t>
                      </a:r>
                      <a:endParaRPr lang="zh-CN" altLang="en-US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210.00 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94.9559843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</a:tr>
              <a:tr h="126016"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泸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203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井区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H10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平台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段</a:t>
                      </a:r>
                      <a:endParaRPr lang="zh-CN" altLang="en-US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194.80 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93.15138038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</a:tr>
              <a:tr h="124865"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201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井区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H62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平台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段</a:t>
                      </a:r>
                      <a:endParaRPr lang="zh-CN" altLang="en-US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195.00 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93.07883788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</a:tr>
              <a:tr h="126016"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黄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井区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H7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平台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段</a:t>
                      </a:r>
                      <a:endParaRPr lang="zh-CN" altLang="en-US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208.00 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92.86946337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</a:tr>
              <a:tr h="124865"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泸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203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井区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H8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平台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井</a:t>
                      </a:r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段</a:t>
                      </a:r>
                      <a:endParaRPr lang="zh-CN" altLang="en-US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187.50 </a:t>
                      </a:r>
                      <a:endParaRPr lang="en-US" altLang="zh-CN" sz="6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rgbClr val="000000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6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91.62093615</a:t>
                      </a:r>
                      <a:endParaRPr lang="en-US" altLang="zh-CN" sz="600" b="0" i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80" marR="4780" marT="4780" marB="0" anchor="ctr"/>
                </a:tc>
              </a:tr>
            </a:tbl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3015184" y="2387014"/>
          <a:ext cx="2302294" cy="1096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2" imgW="2451100" imgH="1422400" progId="Equation.DSMT4">
                  <p:embed/>
                </p:oleObj>
              </mc:Choice>
              <mc:Fallback>
                <p:oleObj name="" r:id="rId12" imgW="2451100" imgH="142240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15184" y="2387014"/>
                        <a:ext cx="2302294" cy="10969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336224" y="2113166"/>
            <a:ext cx="32983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裂缝扩展诊断及压后评价研究内容</a:t>
            </a:r>
            <a:endParaRPr lang="en-US" altLang="zh-CN" sz="12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18150" y="2119630"/>
            <a:ext cx="358076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裂缝滤失类型诊断及尺寸反演</a:t>
            </a:r>
            <a:r>
              <a:rPr lang="zh-CN" altLang="en-US" sz="12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研究内容</a:t>
            </a:r>
            <a:endParaRPr lang="en-US" altLang="zh-CN" sz="12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  <p:sp>
        <p:nvSpPr>
          <p:cNvPr id="7" name="矩形 28"/>
          <p:cNvSpPr>
            <a:spLocks noChangeArrowheads="1"/>
          </p:cNvSpPr>
          <p:nvPr/>
        </p:nvSpPr>
        <p:spPr bwMode="auto">
          <a:xfrm>
            <a:off x="1000279" y="2876298"/>
            <a:ext cx="14456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小波能量响应模型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" name="矩形 28"/>
          <p:cNvSpPr>
            <a:spLocks noChangeArrowheads="1"/>
          </p:cNvSpPr>
          <p:nvPr/>
        </p:nvSpPr>
        <p:spPr bwMode="auto">
          <a:xfrm>
            <a:off x="3897888" y="3135337"/>
            <a:ext cx="14456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多维加权评估模型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9" name="箭头: 右 7"/>
          <p:cNvSpPr/>
          <p:nvPr/>
        </p:nvSpPr>
        <p:spPr>
          <a:xfrm rot="5400000">
            <a:off x="1578203" y="3601930"/>
            <a:ext cx="250541" cy="143182"/>
          </a:xfrm>
          <a:prstGeom prst="rightArrow">
            <a:avLst>
              <a:gd name="adj1" fmla="val 50000"/>
              <a:gd name="adj2" fmla="val 70527"/>
            </a:avLst>
          </a:prstGeom>
          <a:solidFill>
            <a:sysClr val="windowText" lastClr="00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algn="ctr" defTabSz="72009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2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文本框 6"/>
          <p:cNvSpPr txBox="1"/>
          <p:nvPr/>
        </p:nvSpPr>
        <p:spPr>
          <a:xfrm>
            <a:off x="1014256" y="4083519"/>
            <a:ext cx="14176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岩石类事件识别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6"/>
          <p:cNvSpPr txBox="1"/>
          <p:nvPr/>
        </p:nvSpPr>
        <p:spPr>
          <a:xfrm>
            <a:off x="3742051" y="4353478"/>
            <a:ext cx="14176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压后效果评价</a:t>
            </a:r>
            <a:endParaRPr lang="zh-CN" altLang="en-US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箭头: 右 10"/>
          <p:cNvSpPr/>
          <p:nvPr/>
        </p:nvSpPr>
        <p:spPr>
          <a:xfrm rot="5400000">
            <a:off x="4192618" y="3429348"/>
            <a:ext cx="250541" cy="143182"/>
          </a:xfrm>
          <a:prstGeom prst="rightArrow">
            <a:avLst>
              <a:gd name="adj1" fmla="val 50000"/>
              <a:gd name="adj2" fmla="val 70527"/>
            </a:avLst>
          </a:prstGeom>
          <a:solidFill>
            <a:sysClr val="windowText" lastClr="00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algn="ctr" defTabSz="72009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20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箭头: 右 11"/>
          <p:cNvSpPr/>
          <p:nvPr/>
        </p:nvSpPr>
        <p:spPr>
          <a:xfrm>
            <a:off x="7753849" y="4353478"/>
            <a:ext cx="250541" cy="143182"/>
          </a:xfrm>
          <a:prstGeom prst="rightArrow">
            <a:avLst>
              <a:gd name="adj1" fmla="val 50000"/>
              <a:gd name="adj2" fmla="val 70527"/>
            </a:avLst>
          </a:prstGeom>
          <a:solidFill>
            <a:sysClr val="windowText" lastClr="00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algn="ctr" defTabSz="72009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20" kern="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</p:cSld>
  <p:clrMapOvr>
    <a:masterClrMapping/>
  </p:clrMapOvr>
  <p:transition advTm="18060"/>
</p:sld>
</file>

<file path=ppt/tags/tag1.xml><?xml version="1.0" encoding="utf-8"?>
<p:tagLst xmlns:p="http://schemas.openxmlformats.org/presentationml/2006/main">
  <p:tag name="KSO_WM_DIAGRAM_VIRTUALLY_FRAME" val="{&quot;height&quot;:280.57409448818896,&quot;left&quot;:-88.78110236220473,&quot;top&quot;:219.23598425196852,&quot;width&quot;:1041.3562992125985}"/>
</p:tagLst>
</file>

<file path=ppt/tags/tag2.xml><?xml version="1.0" encoding="utf-8"?>
<p:tagLst xmlns:p="http://schemas.openxmlformats.org/presentationml/2006/main">
  <p:tag name="TABLE_ENDDRAG_ORIGIN_RECT" val="166*113"/>
  <p:tag name="TABLE_ENDDRAG_RECT" val="254*277*166*11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</Words>
  <Application>WPS 演示</Application>
  <PresentationFormat>自定义</PresentationFormat>
  <Paragraphs>167</Paragraphs>
  <Slides>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Lantinghei SC Extralight</vt:lpstr>
      <vt:lpstr>Lantinghei SC Demibold</vt:lpstr>
      <vt:lpstr>微软雅黑</vt:lpstr>
      <vt:lpstr>黑体</vt:lpstr>
      <vt:lpstr>Segoe UI</vt:lpstr>
      <vt:lpstr>Times New Roman</vt:lpstr>
      <vt:lpstr>Calibri</vt:lpstr>
      <vt:lpstr>等线</vt:lpstr>
      <vt:lpstr>Arial Unicode MS</vt:lpstr>
      <vt:lpstr>Office 主题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Tan Wenlu</cp:lastModifiedBy>
  <cp:revision>1022</cp:revision>
  <cp:lastPrinted>2113-01-01T00:00:00Z</cp:lastPrinted>
  <dcterms:created xsi:type="dcterms:W3CDTF">2113-01-01T00:00:00Z</dcterms:created>
  <dcterms:modified xsi:type="dcterms:W3CDTF">2025-07-10T08:40:25Z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CEA25370BFBF4BB288ED3B7E423F8B14_12</vt:lpwstr>
  </property>
  <property fmtid="{D5CDD505-2E9C-101B-9397-08002B2CF9AE}" pid="4" name="KSOProductBuildVer">
    <vt:lpwstr>2052-12.1.0.21915</vt:lpwstr>
  </property>
</Properties>
</file>