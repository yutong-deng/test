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  <p:sldMasterId id="2147483681" r:id="rId3"/>
  </p:sldMasterIdLst>
  <p:notesMasterIdLst>
    <p:notesMasterId r:id="rId9"/>
  </p:notesMasterIdLst>
  <p:sldIdLst>
    <p:sldId id="755" r:id="rId4"/>
    <p:sldId id="893" r:id="rId5"/>
    <p:sldId id="892" r:id="rId6"/>
    <p:sldId id="894" r:id="rId7"/>
    <p:sldId id="909" r:id="rId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58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4156">
          <p15:clr>
            <a:srgbClr val="A4A3A4"/>
          </p15:clr>
        </p15:guide>
        <p15:guide id="4" pos="5556">
          <p15:clr>
            <a:srgbClr val="A4A3A4"/>
          </p15:clr>
        </p15:guide>
        <p15:guide id="5" orient="horz" pos="709">
          <p15:clr>
            <a:srgbClr val="A4A3A4"/>
          </p15:clr>
        </p15:guide>
        <p15:guide id="6" orient="horz" pos="42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717171"/>
    <a:srgbClr val="FFCC99"/>
    <a:srgbClr val="CC3300"/>
    <a:srgbClr val="33CCFF"/>
    <a:srgbClr val="F3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26" autoAdjust="0"/>
  </p:normalViewPr>
  <p:slideViewPr>
    <p:cSldViewPr>
      <p:cViewPr varScale="1">
        <p:scale>
          <a:sx n="107" d="100"/>
          <a:sy n="107" d="100"/>
        </p:scale>
        <p:origin x="1770" y="108"/>
      </p:cViewPr>
      <p:guideLst>
        <p:guide pos="158"/>
        <p:guide pos="2880"/>
        <p:guide orient="horz" pos="4156"/>
        <p:guide pos="5556"/>
        <p:guide orient="horz" pos="709"/>
        <p:guide orient="horz" pos="42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0" hangingPunct="0">
              <a:buFontTx/>
              <a:buNone/>
              <a:defRPr sz="1200"/>
            </a:lvl1pPr>
          </a:lstStyle>
          <a:p>
            <a:pPr>
              <a:defRPr/>
            </a:pPr>
            <a:fld id="{BB92497B-64CE-4671-A7F8-76B9607BA4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3042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280988" y="1412875"/>
            <a:ext cx="8582025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  <a:effectLst>
            <a:outerShdw blurRad="12700" dist="12700" dir="5400000" algn="t" rotWithShape="0">
              <a:schemeClr val="bg1">
                <a:lumMod val="8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90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140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05019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43863" y="6211019"/>
            <a:ext cx="1742536" cy="646981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threePt" dir="t"/>
          </a:scene3d>
        </p:spPr>
        <p:txBody>
          <a:bodyPr anchor="ctr"/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20525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75129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946193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920219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9634449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7430439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683355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843603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99432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6468314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9880736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3318866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09840634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1340705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72405457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72155827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9114715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39282652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54336182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86820992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17674197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437590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31534459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42442586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13287048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72770049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86881692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510310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-6350" y="765175"/>
            <a:ext cx="9156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zh-CN" altLang="en-US" sz="1350">
              <a:solidFill>
                <a:srgbClr val="000000"/>
              </a:solidFill>
              <a:ea typeface="黑体" panose="02010600030101010101" pitchFamily="49" charset="-122"/>
            </a:endParaRPr>
          </a:p>
        </p:txBody>
      </p:sp>
      <p:sp>
        <p:nvSpPr>
          <p:cNvPr id="3" name="页脚占位符 14"/>
          <p:cNvSpPr txBox="1"/>
          <p:nvPr/>
        </p:nvSpPr>
        <p:spPr>
          <a:xfrm>
            <a:off x="0" y="6516688"/>
            <a:ext cx="9144000" cy="315912"/>
          </a:xfrm>
          <a:prstGeom prst="rect">
            <a:avLst/>
          </a:prstGeom>
        </p:spPr>
        <p:txBody>
          <a:bodyPr lIns="68575" tIns="34287" rIns="68575" bIns="34287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685800" eaLnBrk="1" hangingPunct="1">
              <a:defRPr/>
            </a:pPr>
            <a:r>
              <a:rPr lang="zh-CN" altLang="en-US" sz="900" dirty="0">
                <a:solidFill>
                  <a:srgbClr val="898989"/>
                </a:solidFill>
                <a:latin typeface="Arial" panose="020B0604020202020204"/>
                <a:ea typeface="黑体" panose="02010600030101010101" pitchFamily="49" charset="-122"/>
                <a:sym typeface="+mn-ea"/>
              </a:rPr>
              <a:t>第</a:t>
            </a:r>
            <a:fld id="{D59E4F2E-1422-43E1-B8CC-1D95DE5CB960}" type="slidenum">
              <a:rPr kumimoji="1" lang="zh-CN" altLang="en-US" sz="900" dirty="0" smtClean="0">
                <a:solidFill>
                  <a:srgbClr val="898989"/>
                </a:solidFill>
                <a:latin typeface="Arial" panose="020B0604020202020204"/>
                <a:ea typeface="黑体" panose="02010600030101010101" pitchFamily="49" charset="-122"/>
                <a:sym typeface="+mn-ea"/>
              </a:rPr>
              <a:pPr algn="ctr" defTabSz="685800" eaLnBrk="1" hangingPunct="1">
                <a:defRPr/>
              </a:pPr>
              <a:t>‹#›</a:t>
            </a:fld>
            <a:r>
              <a:rPr lang="zh-CN" altLang="en-US" sz="900" dirty="0">
                <a:solidFill>
                  <a:srgbClr val="898989"/>
                </a:solidFill>
                <a:latin typeface="Arial" panose="020B0604020202020204"/>
                <a:ea typeface="黑体" panose="02010600030101010101" pitchFamily="49" charset="-122"/>
                <a:sym typeface="+mn-ea"/>
              </a:rPr>
              <a:t>页</a:t>
            </a:r>
            <a:r>
              <a:rPr lang="en-US" altLang="zh-CN" sz="900" dirty="0">
                <a:solidFill>
                  <a:srgbClr val="898989"/>
                </a:solidFill>
                <a:latin typeface="Arial" panose="020B0604020202020204"/>
                <a:ea typeface="黑体" panose="02010600030101010101" pitchFamily="49" charset="-122"/>
                <a:sym typeface="+mn-ea"/>
              </a:rPr>
              <a:t>/</a:t>
            </a:r>
            <a:r>
              <a:rPr lang="zh-CN" altLang="en-US" sz="900" dirty="0">
                <a:solidFill>
                  <a:srgbClr val="898989"/>
                </a:solidFill>
                <a:latin typeface="Arial" panose="020B0604020202020204"/>
                <a:ea typeface="黑体" panose="02010600030101010101" pitchFamily="49" charset="-122"/>
                <a:sym typeface="+mn-ea"/>
              </a:rPr>
              <a:t>共</a:t>
            </a:r>
            <a:r>
              <a:rPr lang="en-US" altLang="zh-CN" sz="900" dirty="0">
                <a:solidFill>
                  <a:srgbClr val="898989"/>
                </a:solidFill>
                <a:latin typeface="Arial" panose="020B0604020202020204"/>
                <a:ea typeface="黑体" panose="02010600030101010101" pitchFamily="49" charset="-122"/>
                <a:sym typeface="+mn-ea"/>
              </a:rPr>
              <a:t>65</a:t>
            </a:r>
            <a:r>
              <a:rPr lang="zh-CN" altLang="en-US" sz="900" dirty="0">
                <a:solidFill>
                  <a:srgbClr val="898989"/>
                </a:solidFill>
                <a:latin typeface="Arial" panose="020B0604020202020204"/>
                <a:ea typeface="黑体" panose="02010600030101010101" pitchFamily="49" charset="-122"/>
                <a:sym typeface="+mn-ea"/>
              </a:rPr>
              <a:t>页</a:t>
            </a:r>
          </a:p>
        </p:txBody>
      </p:sp>
      <p:pic>
        <p:nvPicPr>
          <p:cNvPr id="53" name="Picture 17" descr="logo"/>
          <p:cNvPicPr>
            <a:picLocks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-36513" y="115888"/>
            <a:ext cx="971551" cy="54133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12" r:id="rId1"/>
    <p:sldLayoutId id="2147485083" r:id="rId2"/>
    <p:sldLayoutId id="2147485084" r:id="rId3"/>
    <p:sldLayoutId id="2147485113" r:id="rId4"/>
    <p:sldLayoutId id="2147485085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hlink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 b="1">
          <a:solidFill>
            <a:srgbClr val="0000FF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100" b="1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100" b="1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5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 descr="中国石油_透明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49225"/>
            <a:ext cx="719138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Line 4"/>
          <p:cNvSpPr>
            <a:spLocks noChangeShapeType="1"/>
          </p:cNvSpPr>
          <p:nvPr/>
        </p:nvSpPr>
        <p:spPr bwMode="auto">
          <a:xfrm>
            <a:off x="0" y="908050"/>
            <a:ext cx="9144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" name="Line 5"/>
          <p:cNvSpPr>
            <a:spLocks noChangeShapeType="1"/>
          </p:cNvSpPr>
          <p:nvPr/>
        </p:nvSpPr>
        <p:spPr bwMode="auto">
          <a:xfrm>
            <a:off x="0" y="981075"/>
            <a:ext cx="9144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6" r:id="rId1"/>
    <p:sldLayoutId id="2147485087" r:id="rId2"/>
    <p:sldLayoutId id="2147485088" r:id="rId3"/>
    <p:sldLayoutId id="2147485089" r:id="rId4"/>
    <p:sldLayoutId id="2147485090" r:id="rId5"/>
    <p:sldLayoutId id="2147485091" r:id="rId6"/>
    <p:sldLayoutId id="2147485092" r:id="rId7"/>
    <p:sldLayoutId id="2147485093" r:id="rId8"/>
    <p:sldLayoutId id="2147485094" r:id="rId9"/>
    <p:sldLayoutId id="2147485095" r:id="rId10"/>
    <p:sldLayoutId id="2147485096" r:id="rId11"/>
    <p:sldLayoutId id="2147485097" r:id="rId12"/>
    <p:sldLayoutId id="2147485098" r:id="rId13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4"/>
          <p:cNvSpPr>
            <a:spLocks noChangeShapeType="1"/>
          </p:cNvSpPr>
          <p:nvPr/>
        </p:nvSpPr>
        <p:spPr bwMode="auto">
          <a:xfrm>
            <a:off x="0" y="908050"/>
            <a:ext cx="9144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5" name="Line 5"/>
          <p:cNvSpPr>
            <a:spLocks noChangeShapeType="1"/>
          </p:cNvSpPr>
          <p:nvPr/>
        </p:nvSpPr>
        <p:spPr bwMode="auto">
          <a:xfrm>
            <a:off x="0" y="981075"/>
            <a:ext cx="9144000" cy="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99" r:id="rId1"/>
    <p:sldLayoutId id="2147485100" r:id="rId2"/>
    <p:sldLayoutId id="2147485101" r:id="rId3"/>
    <p:sldLayoutId id="2147485102" r:id="rId4"/>
    <p:sldLayoutId id="2147485103" r:id="rId5"/>
    <p:sldLayoutId id="2147485104" r:id="rId6"/>
    <p:sldLayoutId id="2147485105" r:id="rId7"/>
    <p:sldLayoutId id="2147485106" r:id="rId8"/>
    <p:sldLayoutId id="2147485107" r:id="rId9"/>
    <p:sldLayoutId id="2147485108" r:id="rId10"/>
    <p:sldLayoutId id="2147485109" r:id="rId11"/>
    <p:sldLayoutId id="2147485110" r:id="rId12"/>
    <p:sldLayoutId id="2147485111" r:id="rId13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10.png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11" Type="http://schemas.openxmlformats.org/officeDocument/2006/relationships/image" Target="../media/image110.png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10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0" y="1477963"/>
            <a:ext cx="9144000" cy="180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新一代智能压裂诊断监测技术：</a:t>
            </a:r>
            <a:endParaRPr lang="en-US" altLang="zh-CN" sz="4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实时压裂检测及智能辅助决策技术</a:t>
            </a:r>
            <a:endParaRPr lang="en-US" altLang="zh-CN" sz="3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0" y="5461000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2023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年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12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月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17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日</a:t>
            </a:r>
          </a:p>
        </p:txBody>
      </p:sp>
      <p:sp>
        <p:nvSpPr>
          <p:cNvPr id="7172" name="矩形 3"/>
          <p:cNvSpPr>
            <a:spLocks noChangeArrowheads="1"/>
          </p:cNvSpPr>
          <p:nvPr/>
        </p:nvSpPr>
        <p:spPr bwMode="auto">
          <a:xfrm>
            <a:off x="0" y="4140200"/>
            <a:ext cx="9144000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3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胡晓东 副研究员</a:t>
            </a:r>
            <a:r>
              <a:rPr lang="en-US" altLang="zh-CN" sz="3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3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博导</a:t>
            </a:r>
            <a:r>
              <a:rPr lang="en-US" altLang="zh-CN" sz="3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3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校青年拔尖人才 </a:t>
            </a:r>
            <a:endParaRPr lang="en-US" altLang="zh-CN" sz="32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中国石油大学（北京）储层改造中心</a:t>
            </a:r>
            <a:endParaRPr lang="en-US" altLang="zh-CN" sz="28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17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838"/>
            <a:ext cx="4260850" cy="84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888" y="76200"/>
            <a:ext cx="8350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组合 85"/>
          <p:cNvGrpSpPr/>
          <p:nvPr/>
        </p:nvGrpSpPr>
        <p:grpSpPr>
          <a:xfrm>
            <a:off x="6186799" y="3517140"/>
            <a:ext cx="2840050" cy="2595611"/>
            <a:chOff x="6186799" y="3517140"/>
            <a:chExt cx="2840050" cy="2595611"/>
          </a:xfrm>
        </p:grpSpPr>
        <p:pic>
          <p:nvPicPr>
            <p:cNvPr id="87" name="图片 8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6799" y="3517140"/>
              <a:ext cx="2840050" cy="2595611"/>
            </a:xfrm>
            <a:prstGeom prst="rect">
              <a:avLst/>
            </a:prstGeom>
          </p:spPr>
        </p:pic>
        <p:sp>
          <p:nvSpPr>
            <p:cNvPr id="88" name="矩形 87"/>
            <p:cNvSpPr/>
            <p:nvPr/>
          </p:nvSpPr>
          <p:spPr>
            <a:xfrm>
              <a:off x="7251830" y="419803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信号差</a:t>
              </a:r>
            </a:p>
          </p:txBody>
        </p:sp>
        <p:sp>
          <p:nvSpPr>
            <p:cNvPr id="89" name="矩形 88"/>
            <p:cNvSpPr/>
            <p:nvPr/>
          </p:nvSpPr>
          <p:spPr>
            <a:xfrm>
              <a:off x="6722746" y="3721897"/>
              <a:ext cx="493739" cy="681258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>
            <a:xfrm>
              <a:off x="7188848" y="4874384"/>
              <a:ext cx="493739" cy="7330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7682587" y="5436405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信号好</a:t>
              </a:r>
            </a:p>
          </p:txBody>
        </p:sp>
      </p:grpSp>
      <p:cxnSp>
        <p:nvCxnSpPr>
          <p:cNvPr id="28" name="直接连接符 27"/>
          <p:cNvCxnSpPr/>
          <p:nvPr/>
        </p:nvCxnSpPr>
        <p:spPr>
          <a:xfrm>
            <a:off x="-293" y="6447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18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水锤诊断技术原理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TextBox 2"/>
          <p:cNvSpPr txBox="1">
            <a:spLocks noChangeArrowheads="1"/>
          </p:cNvSpPr>
          <p:nvPr/>
        </p:nvSpPr>
        <p:spPr bwMode="auto">
          <a:xfrm>
            <a:off x="304799" y="1066800"/>
            <a:ext cx="85518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监测原理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1"/>
          <p:cNvSpPr txBox="1">
            <a:spLocks noChangeArrowheads="1"/>
          </p:cNvSpPr>
          <p:nvPr/>
        </p:nvSpPr>
        <p:spPr bwMode="auto">
          <a:xfrm>
            <a:off x="251520" y="1574320"/>
            <a:ext cx="87757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施工结束快速停泵在井筒内形成水锤波脉冲，采集压力信号；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信号处理频谱模型：提取水锤波从裂缝反射的响应时间；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井筒进液位置预测模型：计算水锤波速，预测井下进液位置。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201401" y="3517141"/>
            <a:ext cx="2746057" cy="2595611"/>
            <a:chOff x="171684" y="3600661"/>
            <a:chExt cx="3081202" cy="2759752"/>
          </a:xfrm>
        </p:grpSpPr>
        <p:pic>
          <p:nvPicPr>
            <p:cNvPr id="46" name="图片 4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684" y="3600661"/>
              <a:ext cx="3081202" cy="2759752"/>
            </a:xfrm>
            <a:prstGeom prst="rect">
              <a:avLst/>
            </a:prstGeom>
          </p:spPr>
        </p:pic>
        <p:sp>
          <p:nvSpPr>
            <p:cNvPr id="47" name="矩形 46"/>
            <p:cNvSpPr/>
            <p:nvPr/>
          </p:nvSpPr>
          <p:spPr>
            <a:xfrm>
              <a:off x="1994592" y="4005390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缓慢停泵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1930968" y="4386705"/>
              <a:ext cx="553998" cy="329138"/>
            </a:xfrm>
            <a:prstGeom prst="rect">
              <a:avLst/>
            </a:prstGeom>
            <a:noFill/>
            <a:ln w="28575" cap="flat" cmpd="sng" algn="ctr">
              <a:solidFill>
                <a:srgbClr val="0000FF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1994592" y="5762915"/>
              <a:ext cx="553998" cy="329138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1994592" y="5365326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快速停泵</a:t>
              </a: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201306" y="3517142"/>
            <a:ext cx="2790226" cy="2752898"/>
            <a:chOff x="4759750" y="3413182"/>
            <a:chExt cx="3254509" cy="3226891"/>
          </a:xfrm>
        </p:grpSpPr>
        <p:grpSp>
          <p:nvGrpSpPr>
            <p:cNvPr id="77" name="组合 3"/>
            <p:cNvGrpSpPr>
              <a:grpSpLocks/>
            </p:cNvGrpSpPr>
            <p:nvPr/>
          </p:nvGrpSpPr>
          <p:grpSpPr bwMode="auto">
            <a:xfrm>
              <a:off x="4759750" y="3413182"/>
              <a:ext cx="3254509" cy="2779774"/>
              <a:chOff x="331888" y="2560757"/>
              <a:chExt cx="4015726" cy="4127536"/>
            </a:xfrm>
          </p:grpSpPr>
          <p:pic>
            <p:nvPicPr>
              <p:cNvPr id="81" name="图片 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48" t="2586" r="1830" b="9547"/>
              <a:stretch>
                <a:fillRect/>
              </a:stretch>
            </p:blipFill>
            <p:spPr bwMode="auto">
              <a:xfrm>
                <a:off x="331888" y="4429447"/>
                <a:ext cx="4015725" cy="2258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2" name="图片 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2" b="49168"/>
              <a:stretch>
                <a:fillRect/>
              </a:stretch>
            </p:blipFill>
            <p:spPr bwMode="auto">
              <a:xfrm>
                <a:off x="331889" y="2560757"/>
                <a:ext cx="4015725" cy="17883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8" name="矩形 77"/>
            <p:cNvSpPr/>
            <p:nvPr/>
          </p:nvSpPr>
          <p:spPr>
            <a:xfrm>
              <a:off x="5371342" y="6243227"/>
              <a:ext cx="2080489" cy="39684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高频压力采集系统</a:t>
              </a:r>
            </a:p>
          </p:txBody>
        </p:sp>
        <p:sp>
          <p:nvSpPr>
            <p:cNvPr id="79" name="矩形 78"/>
            <p:cNvSpPr/>
            <p:nvPr/>
          </p:nvSpPr>
          <p:spPr>
            <a:xfrm>
              <a:off x="4868641" y="4253561"/>
              <a:ext cx="1028556" cy="3607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采集软件</a:t>
              </a:r>
            </a:p>
          </p:txBody>
        </p:sp>
        <p:sp>
          <p:nvSpPr>
            <p:cNvPr id="80" name="矩形 79"/>
            <p:cNvSpPr/>
            <p:nvPr/>
          </p:nvSpPr>
          <p:spPr>
            <a:xfrm>
              <a:off x="5944858" y="4253561"/>
              <a:ext cx="2051267" cy="3607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井口高频压力传感器</a:t>
              </a:r>
            </a:p>
          </p:txBody>
        </p:sp>
      </p:grpSp>
      <p:sp>
        <p:nvSpPr>
          <p:cNvPr id="84" name="右箭头 83"/>
          <p:cNvSpPr/>
          <p:nvPr/>
        </p:nvSpPr>
        <p:spPr>
          <a:xfrm>
            <a:off x="2911769" y="4387427"/>
            <a:ext cx="217728" cy="828763"/>
          </a:xfrm>
          <a:prstGeom prst="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85" name="右箭头 84"/>
          <p:cNvSpPr/>
          <p:nvPr/>
        </p:nvSpPr>
        <p:spPr>
          <a:xfrm>
            <a:off x="6059303" y="4341594"/>
            <a:ext cx="217728" cy="828763"/>
          </a:xfrm>
          <a:prstGeom prst="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088755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接连接符 28"/>
          <p:cNvCxnSpPr/>
          <p:nvPr/>
        </p:nvCxnSpPr>
        <p:spPr>
          <a:xfrm>
            <a:off x="-293" y="6447842"/>
            <a:ext cx="914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18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水锤诊断技术原理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TextBox 2"/>
          <p:cNvSpPr txBox="1">
            <a:spLocks noChangeArrowheads="1"/>
          </p:cNvSpPr>
          <p:nvPr/>
        </p:nvSpPr>
        <p:spPr bwMode="auto">
          <a:xfrm>
            <a:off x="304799" y="1066800"/>
            <a:ext cx="85518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监测原理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2"/>
          <a:srcRect r="35169"/>
          <a:stretch/>
        </p:blipFill>
        <p:spPr>
          <a:xfrm>
            <a:off x="456380" y="3286093"/>
            <a:ext cx="2592384" cy="2775941"/>
          </a:xfrm>
          <a:prstGeom prst="rect">
            <a:avLst/>
          </a:prstGeom>
        </p:spPr>
      </p:pic>
      <p:sp>
        <p:nvSpPr>
          <p:cNvPr id="28" name="文本框 1"/>
          <p:cNvSpPr txBox="1">
            <a:spLocks noChangeArrowheads="1"/>
          </p:cNvSpPr>
          <p:nvPr/>
        </p:nvSpPr>
        <p:spPr bwMode="auto">
          <a:xfrm>
            <a:off x="251520" y="1574320"/>
            <a:ext cx="87757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施工结束快速停泵在井筒内形成水锤波脉冲，采集压力信号；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信号处理频谱模型：提取水锤波从裂缝反射的响应时间；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井筒进液位置预测模型：计算水锤波速，预测井下进液位置。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349040" y="3521344"/>
            <a:ext cx="5490160" cy="2992929"/>
            <a:chOff x="3349040" y="3521344"/>
            <a:chExt cx="5490160" cy="2992929"/>
          </a:xfrm>
        </p:grpSpPr>
        <p:grpSp>
          <p:nvGrpSpPr>
            <p:cNvPr id="52" name="组合 51"/>
            <p:cNvGrpSpPr/>
            <p:nvPr/>
          </p:nvGrpSpPr>
          <p:grpSpPr>
            <a:xfrm>
              <a:off x="3349040" y="3549035"/>
              <a:ext cx="5490160" cy="2965238"/>
              <a:chOff x="3349040" y="3549035"/>
              <a:chExt cx="5490160" cy="2965238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3349040" y="3549035"/>
                <a:ext cx="5490160" cy="2965238"/>
                <a:chOff x="3349040" y="3549035"/>
                <a:chExt cx="5490160" cy="2965238"/>
              </a:xfrm>
            </p:grpSpPr>
            <p:grpSp>
              <p:nvGrpSpPr>
                <p:cNvPr id="55" name="组合 54"/>
                <p:cNvGrpSpPr/>
                <p:nvPr/>
              </p:nvGrpSpPr>
              <p:grpSpPr>
                <a:xfrm>
                  <a:off x="3349040" y="3549035"/>
                  <a:ext cx="5490160" cy="2965238"/>
                  <a:chOff x="3349040" y="3549035"/>
                  <a:chExt cx="5490160" cy="2965238"/>
                </a:xfrm>
              </p:grpSpPr>
              <p:sp>
                <p:nvSpPr>
                  <p:cNvPr id="58" name="矩形 57"/>
                  <p:cNvSpPr/>
                  <p:nvPr/>
                </p:nvSpPr>
                <p:spPr>
                  <a:xfrm>
                    <a:off x="6463033" y="3990813"/>
                    <a:ext cx="109001" cy="45719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59" name="图片 58"/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 l="5496" t="5163" r="8494" b="1712"/>
                  <a:stretch/>
                </p:blipFill>
                <p:spPr>
                  <a:xfrm>
                    <a:off x="3349040" y="3549035"/>
                    <a:ext cx="3122750" cy="2535792"/>
                  </a:xfrm>
                  <a:prstGeom prst="rect">
                    <a:avLst/>
                  </a:prstGeom>
                </p:spPr>
              </p:pic>
              <p:grpSp>
                <p:nvGrpSpPr>
                  <p:cNvPr id="60" name="组合 59"/>
                  <p:cNvGrpSpPr/>
                  <p:nvPr/>
                </p:nvGrpSpPr>
                <p:grpSpPr>
                  <a:xfrm>
                    <a:off x="3922080" y="6147869"/>
                    <a:ext cx="2447925" cy="366404"/>
                    <a:chOff x="3855254" y="4572474"/>
                    <a:chExt cx="2447925" cy="366404"/>
                  </a:xfrm>
                </p:grpSpPr>
                <p:sp>
                  <p:nvSpPr>
                    <p:cNvPr id="72" name="矩形 71"/>
                    <p:cNvSpPr/>
                    <p:nvPr/>
                  </p:nvSpPr>
                  <p:spPr>
                    <a:xfrm>
                      <a:off x="3982637" y="4572474"/>
                      <a:ext cx="2193160" cy="366404"/>
                    </a:xfrm>
                    <a:prstGeom prst="rect">
                      <a:avLst/>
                    </a:prstGeom>
                    <a:solidFill>
                      <a:srgbClr val="FFFF00"/>
                    </a:solidFill>
                    <a:ln>
                      <a:solidFill>
                        <a:srgbClr val="FFFF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" name="文本框 2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855254" y="4586607"/>
                      <a:ext cx="2447925" cy="3381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6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压力响应频谱分析结果</a:t>
                      </a:r>
                    </a:p>
                  </p:txBody>
                </p:sp>
              </p:grpSp>
              <p:sp>
                <p:nvSpPr>
                  <p:cNvPr id="61" name="矩形 60"/>
                  <p:cNvSpPr/>
                  <p:nvPr/>
                </p:nvSpPr>
                <p:spPr>
                  <a:xfrm>
                    <a:off x="4215699" y="5007508"/>
                    <a:ext cx="1705013" cy="458788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62" name="矩形 61"/>
                  <p:cNvSpPr/>
                  <p:nvPr/>
                </p:nvSpPr>
                <p:spPr>
                  <a:xfrm>
                    <a:off x="5056018" y="3612077"/>
                    <a:ext cx="1415772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b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水击压力信号</a:t>
                    </a:r>
                  </a:p>
                </p:txBody>
              </p:sp>
              <p:sp>
                <p:nvSpPr>
                  <p:cNvPr id="63" name="矩形 62"/>
                  <p:cNvSpPr/>
                  <p:nvPr/>
                </p:nvSpPr>
                <p:spPr>
                  <a:xfrm>
                    <a:off x="5079217" y="4637864"/>
                    <a:ext cx="1415772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裂缝反射响应</a:t>
                    </a:r>
                  </a:p>
                </p:txBody>
              </p:sp>
              <p:cxnSp>
                <p:nvCxnSpPr>
                  <p:cNvPr id="64" name="肘形连接符 63"/>
                  <p:cNvCxnSpPr>
                    <a:stCxn id="58" idx="3"/>
                    <a:endCxn id="65" idx="3"/>
                  </p:cNvCxnSpPr>
                  <p:nvPr/>
                </p:nvCxnSpPr>
                <p:spPr>
                  <a:xfrm flipH="1">
                    <a:off x="6070430" y="4013673"/>
                    <a:ext cx="501604" cy="1244315"/>
                  </a:xfrm>
                  <a:prstGeom prst="bentConnector3">
                    <a:avLst>
                      <a:gd name="adj1" fmla="val -45574"/>
                    </a:avLst>
                  </a:prstGeom>
                  <a:ln w="127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5" name="矩形 64"/>
                  <p:cNvSpPr/>
                  <p:nvPr/>
                </p:nvSpPr>
                <p:spPr>
                  <a:xfrm>
                    <a:off x="5961429" y="5235128"/>
                    <a:ext cx="109001" cy="45719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graphicFrame>
                    <p:nvGraphicFramePr>
                      <p:cNvPr id="66" name="对象 65"/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997298418"/>
                          </p:ext>
                        </p:extLst>
                      </p:nvPr>
                    </p:nvGraphicFramePr>
                    <p:xfrm>
                      <a:off x="6637337" y="5384162"/>
                      <a:ext cx="2201863" cy="396875"/>
                    </p:xfrm>
                    <a:graphic>
                      <a:graphicData uri="http://schemas.openxmlformats.org/presentationml/2006/ole">
                        <mc:AlternateContent>
                          <mc:Choice xmlns:v="urn:schemas-microsoft-com:vml" Requires="v">
                            <p:oleObj name="Equation" r:id="rId4" imgW="2197100" imgH="393700" progId="Equation.DSMT4">
                              <p:embed/>
                            </p:oleObj>
                          </mc:Choice>
                          <mc:Fallback>
                            <p:oleObj name="Equation" r:id="rId4" imgW="2197100" imgH="393700" progId="Equation.DSMT4">
                              <p:embed/>
                              <p:pic>
                                <p:nvPicPr>
                                  <p:cNvPr id="0" name=""/>
                                  <p:cNvPicPr>
                                    <a:picLocks noChangeAspect="1" noChangeArrowheads="1"/>
                                  </p:cNvPicPr>
                                  <p:nvPr/>
                                </p:nvPicPr>
                                <p:blipFill>
                                  <a:blip r:embed="rId5">
                                    <a:extLst>
                                      <a:ext uri="{28A0092B-C50C-407E-A947-70E740481C1C}">
                                        <a14:useLocalDpi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6637337" y="5384162"/>
                                    <a:ext cx="2201863" cy="396875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extLst>
                                    <a:ext uri="{909E8E84-426E-40DD-AFC4-6F175D3DCCD1}">
                                      <a14:hiddenFill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</a:extLst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mc:Choice>
                <mc:Fallback xmlns="">
                  <p:graphicFrame>
                    <p:nvGraphicFramePr>
                      <p:cNvPr id="66" name="对象 65"/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997298418"/>
                          </p:ext>
                        </p:extLst>
                      </p:nvPr>
                    </p:nvGraphicFramePr>
                    <p:xfrm>
                      <a:off x="6637337" y="5384162"/>
                      <a:ext cx="2201863" cy="396875"/>
                    </p:xfrm>
                    <a:graphic>
                      <a:graphicData uri="http://schemas.openxmlformats.org/presentationml/2006/ole">
                        <mc:AlternateContent>
                          <mc:Choice xmlns:v="urn:schemas-microsoft-com:vml" Requires="v">
                            <p:oleObj spid="_x0000_s1027" name="Equation" r:id="rId7" imgW="2197100" imgH="393700" progId="Equation.DSMT4">
                              <p:embed/>
                            </p:oleObj>
                          </mc:Choice>
                          <mc:Fallback>
                            <p:oleObj name="Equation" r:id="rId7" imgW="2197100" imgH="393700" progId="Equation.DSMT4">
                              <p:embed/>
                              <p:pic>
                                <p:nvPicPr>
                                  <p:cNvPr id="0" name=""/>
                                  <p:cNvPicPr>
                                    <a:picLocks noChangeAspect="1" noChangeArrowheads="1"/>
                                  </p:cNvPicPr>
                                  <p:nvPr/>
                                </p:nvPicPr>
                                <p:blipFill>
                                  <a:blip r:embed="rId8">
                                    <a:extLst>
                                      <a:ext uri="{28A0092B-C50C-407E-A947-70E740481C1C}">
                                        <a14:useLocalDpi xmlns:a14="http://schemas.microsoft.com/office/drawing/2010/main" val="0"/>
                                      </a:ext>
                                    </a:extLst>
                                  </a:blip>
                                  <a:srcRect/>
                                  <a:stretch>
                                    <a:fillRect/>
                                  </a:stretch>
                                </p:blipFill>
                                <p:spPr bwMode="auto">
                                  <a:xfrm>
                                    <a:off x="6637337" y="5384162"/>
                                    <a:ext cx="2201863" cy="396875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extLst>
                                    <a:ext uri="{909E8E84-426E-40DD-AFC4-6F175D3DCCD1}">
                                      <a14:hiddenFill xmlns:a14="http://schemas.microsoft.com/office/drawing/2010/main">
                                        <a:solidFill>
                                          <a:srgbClr val="FFFFFF"/>
                                        </a:solidFill>
                                      </a14:hiddenFill>
                                    </a:ext>
                                  </a:extLst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mc:Fallback>
              </mc:AlternateContent>
              <p:sp>
                <p:nvSpPr>
                  <p:cNvPr id="67" name="矩形 66"/>
                  <p:cNvSpPr/>
                  <p:nvPr/>
                </p:nvSpPr>
                <p:spPr>
                  <a:xfrm>
                    <a:off x="7235566" y="5781037"/>
                    <a:ext cx="1005403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倒谱模型</a:t>
                    </a:r>
                  </a:p>
                </p:txBody>
              </p:sp>
              <p:sp>
                <p:nvSpPr>
                  <p:cNvPr id="69" name="矩形 68"/>
                  <p:cNvSpPr/>
                  <p:nvPr/>
                </p:nvSpPr>
                <p:spPr>
                  <a:xfrm>
                    <a:off x="7311212" y="4860618"/>
                    <a:ext cx="1415772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6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滤波去噪模型</a:t>
                    </a:r>
                  </a:p>
                </p:txBody>
              </p:sp>
              <p:sp>
                <p:nvSpPr>
                  <p:cNvPr id="70" name="椭圆 69"/>
                  <p:cNvSpPr/>
                  <p:nvPr/>
                </p:nvSpPr>
                <p:spPr>
                  <a:xfrm>
                    <a:off x="6745972" y="3958094"/>
                    <a:ext cx="102945" cy="10294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" name="椭圆 70"/>
                  <p:cNvSpPr/>
                  <p:nvPr/>
                </p:nvSpPr>
                <p:spPr>
                  <a:xfrm>
                    <a:off x="6739640" y="5183655"/>
                    <a:ext cx="102945" cy="102945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56" name="右箭头 55"/>
                <p:cNvSpPr/>
                <p:nvPr/>
              </p:nvSpPr>
              <p:spPr>
                <a:xfrm rot="10800000">
                  <a:off x="3835345" y="5096766"/>
                  <a:ext cx="225007" cy="273996"/>
                </a:xfrm>
                <a:prstGeom prst="rightArrow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>
                  <a:off x="3601393" y="5174948"/>
                  <a:ext cx="102945" cy="1029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矩形 53"/>
                  <p:cNvSpPr/>
                  <p:nvPr/>
                </p:nvSpPr>
                <p:spPr>
                  <a:xfrm>
                    <a:off x="3539820" y="4671011"/>
                    <a:ext cx="800219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zh-CN" altLang="en-US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反射时间</a:t>
                    </a:r>
                    <a:endParaRPr lang="en-US" altLang="zh-CN" sz="12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𝝉</m:t>
                          </m:r>
                        </m:oMath>
                      </m:oMathPara>
                    </a14:m>
                    <a:endParaRPr lang="zh-CN" altLang="en-US" sz="12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53" name="矩形 5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9820" y="4671011"/>
                    <a:ext cx="800219" cy="461665"/>
                  </a:xfrm>
                  <a:prstGeom prst="rect">
                    <a:avLst/>
                  </a:prstGeom>
                  <a:blipFill rotWithShape="0">
                    <a:blip r:embed="rId11"/>
                    <a:stretch>
                      <a:fillRect l="-76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12"/>
            <a:srcRect l="52452" b="58676"/>
            <a:stretch/>
          </p:blipFill>
          <p:spPr>
            <a:xfrm>
              <a:off x="7022855" y="3521344"/>
              <a:ext cx="1782987" cy="13143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114257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水锤诊断技术原理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4" name="TextBox 2"/>
          <p:cNvSpPr txBox="1">
            <a:spLocks noChangeArrowheads="1"/>
          </p:cNvSpPr>
          <p:nvPr/>
        </p:nvSpPr>
        <p:spPr bwMode="auto">
          <a:xfrm>
            <a:off x="304799" y="1066800"/>
            <a:ext cx="85518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defTabSz="457200" eaLnBrk="1" fontAlgn="auto" hangingPunct="1">
              <a:spcBef>
                <a:spcPct val="500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监测原理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5" name="文本框 1"/>
          <p:cNvSpPr txBox="1">
            <a:spLocks noChangeArrowheads="1"/>
          </p:cNvSpPr>
          <p:nvPr/>
        </p:nvSpPr>
        <p:spPr bwMode="auto">
          <a:xfrm>
            <a:off x="381000" y="1461261"/>
            <a:ext cx="8458200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defTabSz="45720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施工结束快速停泵在井筒内形成水锤波脉冲，采集压力信号；</a:t>
            </a:r>
          </a:p>
          <a:p>
            <a:pPr defTabSz="45720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信号处理频谱模型：提取水锤波从裂缝反射的响应时间；</a:t>
            </a:r>
          </a:p>
          <a:p>
            <a:pPr defTabSz="45720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井筒进液位置预测模型：计算水锤波速，预测井下进液位置。</a:t>
            </a:r>
          </a:p>
        </p:txBody>
      </p:sp>
      <p:pic>
        <p:nvPicPr>
          <p:cNvPr id="86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971" y="4886567"/>
            <a:ext cx="1930190" cy="1588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135" y="3142599"/>
            <a:ext cx="25431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" name="文本框 1"/>
          <p:cNvSpPr txBox="1">
            <a:spLocks noChangeArrowheads="1"/>
          </p:cNvSpPr>
          <p:nvPr/>
        </p:nvSpPr>
        <p:spPr bwMode="auto">
          <a:xfrm>
            <a:off x="115888" y="3309516"/>
            <a:ext cx="1385908" cy="368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传统解析解</a:t>
            </a:r>
          </a:p>
        </p:txBody>
      </p:sp>
      <p:sp>
        <p:nvSpPr>
          <p:cNvPr id="89" name="文本框 15"/>
          <p:cNvSpPr txBox="1">
            <a:spLocks noChangeArrowheads="1"/>
          </p:cNvSpPr>
          <p:nvPr/>
        </p:nvSpPr>
        <p:spPr bwMode="auto">
          <a:xfrm>
            <a:off x="196861" y="4195865"/>
            <a:ext cx="1223962" cy="646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不确定度计算</a:t>
            </a:r>
          </a:p>
        </p:txBody>
      </p:sp>
      <p:pic>
        <p:nvPicPr>
          <p:cNvPr id="90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943" y="3171067"/>
            <a:ext cx="2437267" cy="1540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12" y="4195865"/>
            <a:ext cx="34290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" name="文本框 15"/>
          <p:cNvSpPr txBox="1">
            <a:spLocks noChangeArrowheads="1"/>
          </p:cNvSpPr>
          <p:nvPr/>
        </p:nvSpPr>
        <p:spPr bwMode="auto">
          <a:xfrm>
            <a:off x="5305855" y="3214496"/>
            <a:ext cx="700088" cy="646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正态分布</a:t>
            </a:r>
          </a:p>
        </p:txBody>
      </p:sp>
      <p:sp>
        <p:nvSpPr>
          <p:cNvPr id="93" name="文本框 16"/>
          <p:cNvSpPr txBox="1">
            <a:spLocks noChangeArrowheads="1"/>
          </p:cNvSpPr>
          <p:nvPr/>
        </p:nvSpPr>
        <p:spPr bwMode="auto">
          <a:xfrm>
            <a:off x="103587" y="5394366"/>
            <a:ext cx="1584325" cy="64633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贝叶斯方法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校核</a:t>
            </a:r>
          </a:p>
        </p:txBody>
      </p:sp>
      <p:sp>
        <p:nvSpPr>
          <p:cNvPr id="94" name="右箭头 93"/>
          <p:cNvSpPr/>
          <p:nvPr/>
        </p:nvSpPr>
        <p:spPr>
          <a:xfrm rot="5400000">
            <a:off x="699977" y="3531014"/>
            <a:ext cx="217728" cy="828763"/>
          </a:xfrm>
          <a:prstGeom prst="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95" name="右箭头 94"/>
          <p:cNvSpPr/>
          <p:nvPr/>
        </p:nvSpPr>
        <p:spPr>
          <a:xfrm rot="5400000">
            <a:off x="699153" y="4707367"/>
            <a:ext cx="217728" cy="828763"/>
          </a:xfrm>
          <a:prstGeom prst="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2114971" y="5607508"/>
            <a:ext cx="488950" cy="25433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3657600" y="5353172"/>
            <a:ext cx="488950" cy="25433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2674753" y="4940988"/>
            <a:ext cx="546842" cy="18207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2197852" y="5526294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前验</a:t>
            </a:r>
          </a:p>
        </p:txBody>
      </p:sp>
      <p:sp>
        <p:nvSpPr>
          <p:cNvPr id="100" name="矩形 99"/>
          <p:cNvSpPr/>
          <p:nvPr/>
        </p:nvSpPr>
        <p:spPr>
          <a:xfrm>
            <a:off x="3657600" y="5241779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</a:t>
            </a:r>
          </a:p>
        </p:txBody>
      </p:sp>
      <p:sp>
        <p:nvSpPr>
          <p:cNvPr id="101" name="矩形 100"/>
          <p:cNvSpPr/>
          <p:nvPr/>
        </p:nvSpPr>
        <p:spPr>
          <a:xfrm>
            <a:off x="2741591" y="4899601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后验</a:t>
            </a:r>
          </a:p>
        </p:txBody>
      </p:sp>
      <p:cxnSp>
        <p:nvCxnSpPr>
          <p:cNvPr id="102" name="直接箭头连接符 101"/>
          <p:cNvCxnSpPr/>
          <p:nvPr/>
        </p:nvCxnSpPr>
        <p:spPr>
          <a:xfrm flipV="1">
            <a:off x="2469721" y="5164445"/>
            <a:ext cx="354751" cy="385111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3" name="直接箭头连接符 102"/>
          <p:cNvCxnSpPr/>
          <p:nvPr/>
        </p:nvCxnSpPr>
        <p:spPr>
          <a:xfrm flipH="1" flipV="1">
            <a:off x="3221595" y="5137091"/>
            <a:ext cx="501496" cy="195345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04" name="组合 103"/>
          <p:cNvGrpSpPr/>
          <p:nvPr/>
        </p:nvGrpSpPr>
        <p:grpSpPr>
          <a:xfrm>
            <a:off x="5571378" y="4747613"/>
            <a:ext cx="3126026" cy="1530088"/>
            <a:chOff x="5571378" y="4747613"/>
            <a:chExt cx="3126026" cy="1530088"/>
          </a:xfrm>
        </p:grpSpPr>
        <p:pic>
          <p:nvPicPr>
            <p:cNvPr id="105" name="图片 104"/>
            <p:cNvPicPr>
              <a:picLocks noChangeAspect="1"/>
            </p:cNvPicPr>
            <p:nvPr/>
          </p:nvPicPr>
          <p:blipFill rotWithShape="1">
            <a:blip r:embed="rId6"/>
            <a:srcRect t="21778"/>
            <a:stretch/>
          </p:blipFill>
          <p:spPr>
            <a:xfrm>
              <a:off x="5571378" y="4747613"/>
              <a:ext cx="3126026" cy="1530088"/>
            </a:xfrm>
            <a:prstGeom prst="rect">
              <a:avLst/>
            </a:prstGeom>
          </p:spPr>
        </p:pic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6049AD0D-78A5-8B50-2565-E9B12C40C9D5}"/>
                </a:ext>
              </a:extLst>
            </p:cNvPr>
            <p:cNvSpPr/>
            <p:nvPr/>
          </p:nvSpPr>
          <p:spPr>
            <a:xfrm>
              <a:off x="7514989" y="5279852"/>
              <a:ext cx="1138072" cy="565543"/>
            </a:xfrm>
            <a:prstGeom prst="rect">
              <a:avLst/>
            </a:prstGeom>
            <a:noFill/>
            <a:ln w="38100" cap="flat" cmpd="sng" algn="ctr">
              <a:solidFill>
                <a:srgbClr val="FF99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</a:endParaRPr>
            </a:p>
          </p:txBody>
        </p:sp>
        <p:grpSp>
          <p:nvGrpSpPr>
            <p:cNvPr id="107" name="组合 106"/>
            <p:cNvGrpSpPr/>
            <p:nvPr/>
          </p:nvGrpSpPr>
          <p:grpSpPr>
            <a:xfrm>
              <a:off x="6098608" y="4911262"/>
              <a:ext cx="2202623" cy="307777"/>
              <a:chOff x="6814209" y="5975346"/>
              <a:chExt cx="2202623" cy="307777"/>
            </a:xfrm>
          </p:grpSpPr>
          <p:sp>
            <p:nvSpPr>
              <p:cNvPr id="108" name="矩形 107"/>
              <p:cNvSpPr/>
              <p:nvPr/>
            </p:nvSpPr>
            <p:spPr>
              <a:xfrm>
                <a:off x="6939117" y="5994890"/>
                <a:ext cx="1998992" cy="288233"/>
              </a:xfrm>
              <a:prstGeom prst="rect">
                <a:avLst/>
              </a:prstGeom>
              <a:solidFill>
                <a:srgbClr val="FFFF00"/>
              </a:solidFill>
              <a:ln w="12700" cap="flat" cmpd="sng" algn="ctr">
                <a:solidFill>
                  <a:srgbClr val="FFFF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109" name="文本框 108"/>
              <p:cNvSpPr txBox="1"/>
              <p:nvPr/>
            </p:nvSpPr>
            <p:spPr>
              <a:xfrm>
                <a:off x="6814209" y="5975346"/>
                <a:ext cx="220262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黑体" charset="0"/>
                    <a:ea typeface="黑体" charset="0"/>
                    <a:cs typeface="黑体" charset="0"/>
                  </a:rPr>
                  <a:t>水锤波井下进液解释结果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/>
              <p:cNvSpPr txBox="1"/>
              <p:nvPr/>
            </p:nvSpPr>
            <p:spPr>
              <a:xfrm>
                <a:off x="504513" y="6443816"/>
                <a:ext cx="8433596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 defTabSz="4572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裂缝进液位置</a:t>
                </a:r>
                <a:r>
                  <a:rPr lang="en-US" altLang="zh-CN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:r>
                  <a:rPr lang="en-US" altLang="zh-CN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zh-CN" altLang="en-US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r>
                  <a:rPr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由响应时间</a:t>
                </a:r>
                <a:r>
                  <a:rPr lang="en-US" altLang="zh-CN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l-GR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r>
                      <a:rPr lang="zh-CN" altLang="en-US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r>
                  <a:rPr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和水击波速</a:t>
                </a:r>
                <a:r>
                  <a:rPr lang="en-US" altLang="zh-CN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zh-CN" altLang="en-US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r>
                  <a:rPr lang="zh-CN" altLang="en-US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确定，</a:t>
                </a:r>
                <a:r>
                  <a:rPr lang="en-US" altLang="zh-CN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zh-CN" altLang="en-US" b="1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l-GR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r>
                      <a:rPr lang="zh-CN" alt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l-GR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endParaRPr lang="zh-CN" altLang="en-US" b="1" i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13" y="6443816"/>
                <a:ext cx="8433596" cy="369332"/>
              </a:xfrm>
              <a:prstGeom prst="rect">
                <a:avLst/>
              </a:prstGeom>
              <a:blipFill rotWithShape="0">
                <a:blip r:embed="rId10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矩形 110"/>
          <p:cNvSpPr/>
          <p:nvPr/>
        </p:nvSpPr>
        <p:spPr>
          <a:xfrm>
            <a:off x="5492456" y="4818090"/>
            <a:ext cx="3270039" cy="152215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23757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ChangeArrowheads="1"/>
          </p:cNvSpPr>
          <p:nvPr/>
        </p:nvSpPr>
        <p:spPr bwMode="auto">
          <a:xfrm>
            <a:off x="12700" y="188913"/>
            <a:ext cx="914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水锤诊断研究成果</a:t>
            </a:r>
            <a:endParaRPr lang="zh-CN" altLang="en-US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1"/>
          <p:cNvSpPr txBox="1">
            <a:spLocks noChangeArrowheads="1"/>
          </p:cNvSpPr>
          <p:nvPr/>
        </p:nvSpPr>
        <p:spPr bwMode="auto">
          <a:xfrm>
            <a:off x="323528" y="1151150"/>
            <a:ext cx="865654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截止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年，团队已基于室内试验及现场应用研究成果，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发表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SCI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篇，国际会议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篇，中文核心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篇，获取专利授权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491648"/>
              </p:ext>
            </p:extLst>
          </p:nvPr>
        </p:nvGraphicFramePr>
        <p:xfrm>
          <a:off x="467544" y="2204864"/>
          <a:ext cx="8351423" cy="4500000"/>
        </p:xfrm>
        <a:graphic>
          <a:graphicData uri="http://schemas.openxmlformats.org/drawingml/2006/table">
            <a:tbl>
              <a:tblPr/>
              <a:tblGrid>
                <a:gridCol w="438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37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时间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等级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名称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Evaluation of multi-fractures geometry based on water hammer signals - A new comprehensive model and field application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 new comprehensive filtering model for pump shut-in water hammer pressure wave signals during hydraulic fracturing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Pressure response using wavelet analysis in the process of hydraulic fracturing: Numerical simulation and field case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会议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 new water hammer decay model -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Analvzing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the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nterference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of multiple fractures and perforations on decay rate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Water hammer response characteristics of wellbore-fracture system: Multi-dimensional analysis in time, frequency and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quefrency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domain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核心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压型停泵水击压力波信号滤波方法与特征分析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核心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基于水击波波形的波速反演方法试验研究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论文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核心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基于井场实测数据水击压力波波速特征分析</a:t>
                      </a:r>
                    </a:p>
                  </a:txBody>
                  <a:tcPr marL="5172" marR="5172" marT="517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专利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授权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水击压力波信号模拟系统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专利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授权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基于水击压力波信号进行压裂诊断的系统和压裂诊断方法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专利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授权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一种水击压力波信号的滤波方法、装置和设备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专利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授权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水击压力波波速确定方法、装置及电子设备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专利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授权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一种多裂缝尺寸计算方法、装置及计算机设备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专利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授权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一种基于小波分解的水力压裂信号分析方法、装置和设备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125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专利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授权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一种基于停泵压力信号的井下事件定位方法及装置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7160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5_Blends">
  <a:themeElements>
    <a:clrScheme name="5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5_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00000"/>
        </a:solidFill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lnSpc>
            <a:spcPct val="180000"/>
          </a:lnSpc>
          <a:spcBef>
            <a:spcPct val="20000"/>
          </a:spcBef>
          <a:buClr>
            <a:srgbClr val="FF0000"/>
          </a:buClr>
          <a:buSzPct val="100000"/>
          <a:defRPr dirty="0" smtClean="0">
            <a:solidFill>
              <a:schemeClr val="bg1"/>
            </a:solidFill>
            <a:latin typeface="Tahoma" panose="020B0604030504040204"/>
            <a:ea typeface="方正大黑简体" panose="0201060103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  <a:alpha val="50000"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0030101010101" pitchFamily="49" charset="-122"/>
          </a:defRPr>
        </a:defPPr>
      </a:lstStyle>
    </a:lnDef>
    <a:txDef>
      <a:spPr bwMode="auto">
        <a:noFill/>
        <a:ln>
          <a:noFill/>
        </a:ln>
      </a:spPr>
      <a:bodyPr/>
      <a:lstStyle>
        <a:defPPr marL="0" indent="0">
          <a:lnSpc>
            <a:spcPct val="150000"/>
          </a:lnSpc>
          <a:buClr>
            <a:srgbClr val="FF0000"/>
          </a:buClr>
          <a:defRPr sz="3200" dirty="0">
            <a:solidFill>
              <a:srgbClr val="0000FF"/>
            </a:solidFill>
            <a:latin typeface="方正大黑简体" panose="02010601030101010101" charset="-122"/>
            <a:ea typeface="方正大黑简体" panose="02010601030101010101" charset="-122"/>
          </a:defRPr>
        </a:defPPr>
      </a:lstStyle>
    </a:txDef>
  </a:objectDefaults>
  <a:extraClrSchemeLst>
    <a:extraClrScheme>
      <a:clrScheme name="5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默认设计模板">
  <a:themeElements>
    <a:clrScheme name="3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默认设计模板">
  <a:themeElements>
    <a:clrScheme name="3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4127</TotalTime>
  <Words>569</Words>
  <Application>Microsoft Office PowerPoint</Application>
  <PresentationFormat>全屏显示(4:3)</PresentationFormat>
  <Paragraphs>110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等线</vt:lpstr>
      <vt:lpstr>黑体</vt:lpstr>
      <vt:lpstr>微软雅黑</vt:lpstr>
      <vt:lpstr>Arial</vt:lpstr>
      <vt:lpstr>Calibri</vt:lpstr>
      <vt:lpstr>Cambria Math</vt:lpstr>
      <vt:lpstr>Tahoma</vt:lpstr>
      <vt:lpstr>Times New Roman</vt:lpstr>
      <vt:lpstr>Wingdings</vt:lpstr>
      <vt:lpstr>15_Blends</vt:lpstr>
      <vt:lpstr>4_默认设计模板</vt:lpstr>
      <vt:lpstr>5_默认设计模板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Lenovo (Beijing)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赵献文</dc:creator>
  <cp:lastModifiedBy>KE XU</cp:lastModifiedBy>
  <cp:revision>432</cp:revision>
  <dcterms:created xsi:type="dcterms:W3CDTF">2008-07-11T02:35:06Z</dcterms:created>
  <dcterms:modified xsi:type="dcterms:W3CDTF">2025-12-17T14:56:59Z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