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81" r:id="rId3"/>
  </p:sldMasterIdLst>
  <p:notesMasterIdLst>
    <p:notesMasterId r:id="rId29"/>
  </p:notesMasterIdLst>
  <p:sldIdLst>
    <p:sldId id="755" r:id="rId4"/>
    <p:sldId id="918" r:id="rId5"/>
    <p:sldId id="893" r:id="rId6"/>
    <p:sldId id="892" r:id="rId7"/>
    <p:sldId id="894" r:id="rId8"/>
    <p:sldId id="919" r:id="rId9"/>
    <p:sldId id="917" r:id="rId10"/>
    <p:sldId id="897" r:id="rId11"/>
    <p:sldId id="900" r:id="rId12"/>
    <p:sldId id="920" r:id="rId13"/>
    <p:sldId id="903" r:id="rId14"/>
    <p:sldId id="905" r:id="rId15"/>
    <p:sldId id="906" r:id="rId16"/>
    <p:sldId id="907" r:id="rId17"/>
    <p:sldId id="898" r:id="rId18"/>
    <p:sldId id="911" r:id="rId19"/>
    <p:sldId id="913" r:id="rId20"/>
    <p:sldId id="915" r:id="rId21"/>
    <p:sldId id="916" r:id="rId22"/>
    <p:sldId id="912" r:id="rId23"/>
    <p:sldId id="922" r:id="rId24"/>
    <p:sldId id="921" r:id="rId25"/>
    <p:sldId id="908" r:id="rId26"/>
    <p:sldId id="909" r:id="rId27"/>
    <p:sldId id="891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8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pos="5556">
          <p15:clr>
            <a:srgbClr val="A4A3A4"/>
          </p15:clr>
        </p15:guide>
        <p15:guide id="5" orient="horz" pos="709">
          <p15:clr>
            <a:srgbClr val="A4A3A4"/>
          </p15:clr>
        </p15:guide>
        <p15:guide id="6" orient="horz" pos="42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717171"/>
    <a:srgbClr val="FFCC99"/>
    <a:srgbClr val="CC3300"/>
    <a:srgbClr val="33CCFF"/>
    <a:srgbClr val="F3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26" autoAdjust="0"/>
  </p:normalViewPr>
  <p:slideViewPr>
    <p:cSldViewPr>
      <p:cViewPr varScale="1">
        <p:scale>
          <a:sx n="123" d="100"/>
          <a:sy n="123" d="100"/>
        </p:scale>
        <p:origin x="1632" y="91"/>
      </p:cViewPr>
      <p:guideLst>
        <p:guide pos="158"/>
        <p:guide pos="2880"/>
        <p:guide orient="horz" pos="4156"/>
        <p:guide pos="5556"/>
        <p:guide orient="horz" pos="709"/>
        <p:guide orient="horz" pos="42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fld id="{BB92497B-64CE-4671-A7F8-76B9607BA4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3042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92497B-64CE-4671-A7F8-76B9607BA47F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082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1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zh-CN">
                <a:latin typeface="Arial" panose="020B0604020202020204" pitchFamily="34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9536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280988" y="1412875"/>
            <a:ext cx="8582025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  <a:effectLst>
            <a:outerShdw blurRad="12700" dist="12700" dir="5400000" algn="t" rotWithShape="0">
              <a:schemeClr val="bg1">
                <a:lumMod val="8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14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0501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43863" y="6211019"/>
            <a:ext cx="1742536" cy="64698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2052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5129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946193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20219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634449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7430439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83355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84360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99432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6468314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880736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331886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984063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340705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7240545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155827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11471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3928265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5433618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8682099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1767419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37590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153445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4244258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328704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277004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8688169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510310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-6350" y="765175"/>
            <a:ext cx="915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  <a:ea typeface="黑体" panose="02010600030101010101" pitchFamily="49" charset="-122"/>
            </a:endParaRPr>
          </a:p>
        </p:txBody>
      </p:sp>
      <p:sp>
        <p:nvSpPr>
          <p:cNvPr id="3" name="页脚占位符 14"/>
          <p:cNvSpPr txBox="1"/>
          <p:nvPr/>
        </p:nvSpPr>
        <p:spPr>
          <a:xfrm>
            <a:off x="0" y="6516688"/>
            <a:ext cx="9144000" cy="315912"/>
          </a:xfrm>
          <a:prstGeom prst="rect">
            <a:avLst/>
          </a:prstGeom>
        </p:spPr>
        <p:txBody>
          <a:bodyPr lIns="68575" tIns="34287" rIns="68575" bIns="3428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第</a:t>
            </a:r>
            <a:fld id="{D59E4F2E-1422-43E1-B8CC-1D95DE5CB960}" type="slidenum">
              <a:rPr kumimoji="1" lang="zh-CN" altLang="en-US" sz="900" dirty="0" smtClean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pPr algn="ctr" defTabSz="685800" eaLnBrk="1" hangingPunct="1">
                <a:defRPr/>
              </a:pPr>
              <a:t>‹#›</a:t>
            </a:fld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页</a:t>
            </a:r>
            <a:r>
              <a:rPr lang="en-US" altLang="zh-CN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/</a:t>
            </a: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共</a:t>
            </a:r>
            <a:r>
              <a:rPr lang="en-US" altLang="zh-CN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65</a:t>
            </a: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页</a:t>
            </a:r>
          </a:p>
        </p:txBody>
      </p:sp>
      <p:pic>
        <p:nvPicPr>
          <p:cNvPr id="53" name="Picture 17" descr="logo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-36513" y="115888"/>
            <a:ext cx="971551" cy="5413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12" r:id="rId1"/>
    <p:sldLayoutId id="2147485083" r:id="rId2"/>
    <p:sldLayoutId id="2147485084" r:id="rId3"/>
    <p:sldLayoutId id="2147485113" r:id="rId4"/>
    <p:sldLayoutId id="214748508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b="1">
          <a:solidFill>
            <a:srgbClr val="0000FF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1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中国石油_透明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9225"/>
            <a:ext cx="719138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6" r:id="rId1"/>
    <p:sldLayoutId id="2147485087" r:id="rId2"/>
    <p:sldLayoutId id="2147485088" r:id="rId3"/>
    <p:sldLayoutId id="2147485089" r:id="rId4"/>
    <p:sldLayoutId id="2147485090" r:id="rId5"/>
    <p:sldLayoutId id="2147485091" r:id="rId6"/>
    <p:sldLayoutId id="2147485092" r:id="rId7"/>
    <p:sldLayoutId id="2147485093" r:id="rId8"/>
    <p:sldLayoutId id="2147485094" r:id="rId9"/>
    <p:sldLayoutId id="2147485095" r:id="rId10"/>
    <p:sldLayoutId id="2147485096" r:id="rId11"/>
    <p:sldLayoutId id="2147485097" r:id="rId12"/>
    <p:sldLayoutId id="2147485098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  <p:sldLayoutId id="2147485111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0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11" Type="http://schemas.openxmlformats.org/officeDocument/2006/relationships/image" Target="../media/image110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11" Type="http://schemas.openxmlformats.org/officeDocument/2006/relationships/image" Target="../media/image18.png"/><Relationship Id="rId5" Type="http://schemas.openxmlformats.org/officeDocument/2006/relationships/image" Target="../media/image16.jpg"/><Relationship Id="rId10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6.emf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3.jpg"/><Relationship Id="rId5" Type="http://schemas.openxmlformats.org/officeDocument/2006/relationships/image" Target="../media/image72.jp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1477963"/>
            <a:ext cx="9144000" cy="196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新一代智能压裂诊断监测技术：</a:t>
            </a:r>
            <a:endParaRPr lang="en-US" altLang="zh-CN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高频监测技术</a:t>
            </a:r>
            <a:endParaRPr lang="en-US" altLang="zh-CN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546100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2025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19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日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4140200"/>
            <a:ext cx="9144000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胡晓东 周福建等</a:t>
            </a:r>
            <a:endParaRPr lang="en-US" altLang="zh-CN" sz="3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中国石油大学（北京）储层改造中心</a:t>
            </a:r>
            <a:endParaRPr lang="en-US" altLang="zh-CN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17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838"/>
            <a:ext cx="4260850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76200"/>
            <a:ext cx="8350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 录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4700" y="1318364"/>
            <a:ext cx="7620000" cy="461821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708688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90800" bIns="190800"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一、高频监测技术原理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二、室内长管路停泵水击研究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三、现场应用案例分析评估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四、成果展示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663835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6186799" y="3517140"/>
            <a:ext cx="2840050" cy="2595611"/>
            <a:chOff x="6186799" y="3517140"/>
            <a:chExt cx="2840050" cy="2595611"/>
          </a:xfrm>
        </p:grpSpPr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6799" y="3517140"/>
              <a:ext cx="2840050" cy="2595611"/>
            </a:xfrm>
            <a:prstGeom prst="rect">
              <a:avLst/>
            </a:prstGeom>
          </p:spPr>
        </p:pic>
        <p:sp>
          <p:nvSpPr>
            <p:cNvPr id="88" name="矩形 87"/>
            <p:cNvSpPr/>
            <p:nvPr/>
          </p:nvSpPr>
          <p:spPr>
            <a:xfrm>
              <a:off x="7251830" y="419803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信号差</a:t>
              </a:r>
            </a:p>
          </p:txBody>
        </p:sp>
        <p:sp>
          <p:nvSpPr>
            <p:cNvPr id="89" name="矩形 88"/>
            <p:cNvSpPr/>
            <p:nvPr/>
          </p:nvSpPr>
          <p:spPr>
            <a:xfrm>
              <a:off x="6722746" y="3721897"/>
              <a:ext cx="493739" cy="68125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7188848" y="4874384"/>
              <a:ext cx="493739" cy="7330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7682587" y="5436405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信号好</a:t>
              </a:r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-293" y="6447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高频监测技术原理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井下进液监测原理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1"/>
          <p:cNvSpPr txBox="1">
            <a:spLocks noChangeArrowheads="1"/>
          </p:cNvSpPr>
          <p:nvPr/>
        </p:nvSpPr>
        <p:spPr bwMode="auto">
          <a:xfrm>
            <a:off x="251520" y="1574320"/>
            <a:ext cx="87757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施工结束快速停泵在井筒内形成水击波脉冲，采集压力信号；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信号处理频谱模型：提取水击波于裂缝反射的响应时间；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井筒进液位置预测模型：计算水击波速，预测井下进液位置。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201401" y="3517141"/>
            <a:ext cx="2746057" cy="2595611"/>
            <a:chOff x="171684" y="3600661"/>
            <a:chExt cx="3081202" cy="2759752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684" y="3600661"/>
              <a:ext cx="3081202" cy="2759752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1994592" y="4005390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缓慢停泵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1930968" y="4386705"/>
              <a:ext cx="553998" cy="329138"/>
            </a:xfrm>
            <a:prstGeom prst="rect">
              <a:avLst/>
            </a:prstGeom>
            <a:noFill/>
            <a:ln w="28575" cap="flat" cmpd="sng" algn="ctr">
              <a:solidFill>
                <a:srgbClr val="0000FF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1994592" y="5762915"/>
              <a:ext cx="553998" cy="32913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1994592" y="5365326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快速停泵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01306" y="3517142"/>
            <a:ext cx="2790226" cy="2752898"/>
            <a:chOff x="4759750" y="3413182"/>
            <a:chExt cx="3254509" cy="3226891"/>
          </a:xfrm>
        </p:grpSpPr>
        <p:grpSp>
          <p:nvGrpSpPr>
            <p:cNvPr id="77" name="组合 3"/>
            <p:cNvGrpSpPr>
              <a:grpSpLocks/>
            </p:cNvGrpSpPr>
            <p:nvPr/>
          </p:nvGrpSpPr>
          <p:grpSpPr bwMode="auto">
            <a:xfrm>
              <a:off x="4759750" y="3413182"/>
              <a:ext cx="3254509" cy="2779774"/>
              <a:chOff x="331888" y="2560757"/>
              <a:chExt cx="4015726" cy="4127536"/>
            </a:xfrm>
          </p:grpSpPr>
          <p:pic>
            <p:nvPicPr>
              <p:cNvPr id="81" name="图片 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8" t="2586" r="1830" b="9547"/>
              <a:stretch>
                <a:fillRect/>
              </a:stretch>
            </p:blipFill>
            <p:spPr bwMode="auto">
              <a:xfrm>
                <a:off x="331888" y="4429447"/>
                <a:ext cx="4015725" cy="2258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" name="图片 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2" b="49168"/>
              <a:stretch>
                <a:fillRect/>
              </a:stretch>
            </p:blipFill>
            <p:spPr bwMode="auto">
              <a:xfrm>
                <a:off x="331889" y="2560757"/>
                <a:ext cx="4015725" cy="1788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8" name="矩形 77"/>
            <p:cNvSpPr/>
            <p:nvPr/>
          </p:nvSpPr>
          <p:spPr>
            <a:xfrm>
              <a:off x="5371342" y="6243227"/>
              <a:ext cx="2080489" cy="3968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高频压力采集系统</a:t>
              </a:r>
            </a:p>
          </p:txBody>
        </p:sp>
        <p:sp>
          <p:nvSpPr>
            <p:cNvPr id="79" name="矩形 78"/>
            <p:cNvSpPr/>
            <p:nvPr/>
          </p:nvSpPr>
          <p:spPr>
            <a:xfrm>
              <a:off x="4868641" y="4253561"/>
              <a:ext cx="1028556" cy="3607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采集软件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5944858" y="4253561"/>
              <a:ext cx="2051267" cy="3607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井口高频压力传感器</a:t>
              </a:r>
            </a:p>
          </p:txBody>
        </p:sp>
      </p:grpSp>
      <p:sp>
        <p:nvSpPr>
          <p:cNvPr id="84" name="右箭头 83"/>
          <p:cNvSpPr/>
          <p:nvPr/>
        </p:nvSpPr>
        <p:spPr>
          <a:xfrm>
            <a:off x="2911769" y="4387427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85" name="右箭头 84"/>
          <p:cNvSpPr/>
          <p:nvPr/>
        </p:nvSpPr>
        <p:spPr>
          <a:xfrm>
            <a:off x="6059303" y="4341594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8875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-293" y="6447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井下进液监测原理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2"/>
          <a:srcRect r="35169"/>
          <a:stretch/>
        </p:blipFill>
        <p:spPr>
          <a:xfrm>
            <a:off x="456380" y="3286093"/>
            <a:ext cx="2592384" cy="277594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349040" y="3521344"/>
            <a:ext cx="5490160" cy="2992929"/>
            <a:chOff x="3349040" y="3521344"/>
            <a:chExt cx="5490160" cy="2992929"/>
          </a:xfrm>
        </p:grpSpPr>
        <p:grpSp>
          <p:nvGrpSpPr>
            <p:cNvPr id="52" name="组合 51"/>
            <p:cNvGrpSpPr/>
            <p:nvPr/>
          </p:nvGrpSpPr>
          <p:grpSpPr>
            <a:xfrm>
              <a:off x="3349040" y="3549035"/>
              <a:ext cx="5490160" cy="2965238"/>
              <a:chOff x="3349040" y="3549035"/>
              <a:chExt cx="5490160" cy="2965238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349040" y="3549035"/>
                <a:ext cx="5490160" cy="2965238"/>
                <a:chOff x="3349040" y="3549035"/>
                <a:chExt cx="5490160" cy="2965238"/>
              </a:xfrm>
            </p:grpSpPr>
            <p:grpSp>
              <p:nvGrpSpPr>
                <p:cNvPr id="55" name="组合 54"/>
                <p:cNvGrpSpPr/>
                <p:nvPr/>
              </p:nvGrpSpPr>
              <p:grpSpPr>
                <a:xfrm>
                  <a:off x="3349040" y="3549035"/>
                  <a:ext cx="5490160" cy="2965238"/>
                  <a:chOff x="3349040" y="3549035"/>
                  <a:chExt cx="5490160" cy="2965238"/>
                </a:xfrm>
              </p:grpSpPr>
              <p:sp>
                <p:nvSpPr>
                  <p:cNvPr id="58" name="矩形 57"/>
                  <p:cNvSpPr/>
                  <p:nvPr/>
                </p:nvSpPr>
                <p:spPr>
                  <a:xfrm>
                    <a:off x="6463033" y="3990813"/>
                    <a:ext cx="109001" cy="4571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59" name="图片 58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5496" t="5163" r="8494" b="1712"/>
                  <a:stretch/>
                </p:blipFill>
                <p:spPr>
                  <a:xfrm>
                    <a:off x="3349040" y="3549035"/>
                    <a:ext cx="3122750" cy="2535792"/>
                  </a:xfrm>
                  <a:prstGeom prst="rect">
                    <a:avLst/>
                  </a:prstGeom>
                </p:spPr>
              </p:pic>
              <p:grpSp>
                <p:nvGrpSpPr>
                  <p:cNvPr id="60" name="组合 59"/>
                  <p:cNvGrpSpPr/>
                  <p:nvPr/>
                </p:nvGrpSpPr>
                <p:grpSpPr>
                  <a:xfrm>
                    <a:off x="3922080" y="6147869"/>
                    <a:ext cx="2447925" cy="366404"/>
                    <a:chOff x="3855254" y="4572474"/>
                    <a:chExt cx="2447925" cy="366404"/>
                  </a:xfrm>
                </p:grpSpPr>
                <p:sp>
                  <p:nvSpPr>
                    <p:cNvPr id="72" name="矩形 71"/>
                    <p:cNvSpPr/>
                    <p:nvPr/>
                  </p:nvSpPr>
                  <p:spPr>
                    <a:xfrm>
                      <a:off x="3982637" y="4572474"/>
                      <a:ext cx="2193160" cy="36640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>
                      <a:solidFill>
                        <a:srgbClr val="FFFF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" name="文本框 2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55254" y="4586607"/>
                      <a:ext cx="2447925" cy="338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压力响应频谱分析结果</a:t>
                      </a:r>
                    </a:p>
                  </p:txBody>
                </p:sp>
              </p:grpSp>
              <p:sp>
                <p:nvSpPr>
                  <p:cNvPr id="61" name="矩形 60"/>
                  <p:cNvSpPr/>
                  <p:nvPr/>
                </p:nvSpPr>
                <p:spPr>
                  <a:xfrm>
                    <a:off x="4215699" y="5007508"/>
                    <a:ext cx="1705013" cy="458788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5056018" y="3612077"/>
                    <a:ext cx="1415772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水击压力信号</a:t>
                    </a:r>
                  </a:p>
                </p:txBody>
              </p:sp>
              <p:sp>
                <p:nvSpPr>
                  <p:cNvPr id="63" name="矩形 62"/>
                  <p:cNvSpPr/>
                  <p:nvPr/>
                </p:nvSpPr>
                <p:spPr>
                  <a:xfrm>
                    <a:off x="5079217" y="4637864"/>
                    <a:ext cx="1415772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裂缝反射响应</a:t>
                    </a:r>
                  </a:p>
                </p:txBody>
              </p:sp>
              <p:cxnSp>
                <p:nvCxnSpPr>
                  <p:cNvPr id="64" name="肘形连接符 63"/>
                  <p:cNvCxnSpPr>
                    <a:stCxn id="58" idx="3"/>
                    <a:endCxn id="65" idx="3"/>
                  </p:cNvCxnSpPr>
                  <p:nvPr/>
                </p:nvCxnSpPr>
                <p:spPr>
                  <a:xfrm flipH="1">
                    <a:off x="6070430" y="4013673"/>
                    <a:ext cx="501604" cy="1244315"/>
                  </a:xfrm>
                  <a:prstGeom prst="bentConnector3">
                    <a:avLst>
                      <a:gd name="adj1" fmla="val -45574"/>
                    </a:avLst>
                  </a:prstGeom>
                  <a:ln w="127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矩形 64"/>
                  <p:cNvSpPr/>
                  <p:nvPr/>
                </p:nvSpPr>
                <p:spPr>
                  <a:xfrm>
                    <a:off x="5961429" y="5235128"/>
                    <a:ext cx="109001" cy="4571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graphicFrame>
                    <p:nvGraphicFramePr>
                      <p:cNvPr id="66" name="对象 65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97298418"/>
                          </p:ext>
                        </p:extLst>
                      </p:nvPr>
                    </p:nvGraphicFramePr>
                    <p:xfrm>
                      <a:off x="6637337" y="5384162"/>
                      <a:ext cx="2201863" cy="396875"/>
                    </p:xfrm>
                    <a:graphic>
                      <a:graphicData uri="http://schemas.openxmlformats.org/presentationml/2006/ole">
                        <mc:AlternateContent>
                          <mc:Choice xmlns:v="urn:schemas-microsoft-com:vml" Requires="v">
                            <p:oleObj name="Equation" r:id="rId4" imgW="2197100" imgH="393700" progId="Equation.DSMT4">
                              <p:embed/>
                            </p:oleObj>
                          </mc:Choice>
                          <mc:Fallback>
                            <p:oleObj name="Equation" r:id="rId4" imgW="2197100" imgH="393700" progId="Equation.DSMT4">
                              <p:embed/>
                              <p:pic>
                                <p:nvPicPr>
                                  <p:cNvPr id="0" name="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5">
                                    <a:extLst>
                                      <a:ext uri="{28A0092B-C50C-407E-A947-70E740481C1C}">
                                        <a14:useLocalDpi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6637337" y="5384162"/>
                                    <a:ext cx="2201863" cy="39687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mc:Choice>
                <mc:Fallback xmlns="">
                  <p:graphicFrame>
                    <p:nvGraphicFramePr>
                      <p:cNvPr id="66" name="对象 65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97298418"/>
                          </p:ext>
                        </p:extLst>
                      </p:nvPr>
                    </p:nvGraphicFramePr>
                    <p:xfrm>
                      <a:off x="6637337" y="5384162"/>
                      <a:ext cx="2201863" cy="396875"/>
                    </p:xfrm>
                    <a:graphic>
                      <a:graphicData uri="http://schemas.openxmlformats.org/presentationml/2006/ole">
                        <mc:AlternateContent>
                          <mc:Choice xmlns:v="urn:schemas-microsoft-com:vml" Requires="v">
                            <p:oleObj spid="_x0000_s1027" name="Equation" r:id="rId7" imgW="2197100" imgH="393700" progId="Equation.DSMT4">
                              <p:embed/>
                            </p:oleObj>
                          </mc:Choice>
                          <mc:Fallback>
                            <p:oleObj name="Equation" r:id="rId7" imgW="2197100" imgH="393700" progId="Equation.DSMT4">
                              <p:embed/>
                              <p:pic>
                                <p:nvPicPr>
                                  <p:cNvPr id="0" name="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8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6637337" y="5384162"/>
                                    <a:ext cx="2201863" cy="39687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mc:Fallback>
              </mc:AlternateContent>
              <p:sp>
                <p:nvSpPr>
                  <p:cNvPr id="67" name="矩形 66"/>
                  <p:cNvSpPr/>
                  <p:nvPr/>
                </p:nvSpPr>
                <p:spPr>
                  <a:xfrm>
                    <a:off x="7235566" y="5781037"/>
                    <a:ext cx="1005403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倒谱模型</a:t>
                    </a:r>
                  </a:p>
                </p:txBody>
              </p:sp>
              <p:sp>
                <p:nvSpPr>
                  <p:cNvPr id="69" name="矩形 68"/>
                  <p:cNvSpPr/>
                  <p:nvPr/>
                </p:nvSpPr>
                <p:spPr>
                  <a:xfrm>
                    <a:off x="7311212" y="4860618"/>
                    <a:ext cx="1415772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滤波去噪模型</a:t>
                    </a:r>
                  </a:p>
                </p:txBody>
              </p:sp>
              <p:sp>
                <p:nvSpPr>
                  <p:cNvPr id="70" name="椭圆 69"/>
                  <p:cNvSpPr/>
                  <p:nvPr/>
                </p:nvSpPr>
                <p:spPr>
                  <a:xfrm>
                    <a:off x="6745972" y="3958094"/>
                    <a:ext cx="102945" cy="10294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椭圆 70"/>
                  <p:cNvSpPr/>
                  <p:nvPr/>
                </p:nvSpPr>
                <p:spPr>
                  <a:xfrm>
                    <a:off x="6739640" y="5183655"/>
                    <a:ext cx="102945" cy="10294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6" name="右箭头 55"/>
                <p:cNvSpPr/>
                <p:nvPr/>
              </p:nvSpPr>
              <p:spPr>
                <a:xfrm rot="10800000">
                  <a:off x="3835345" y="5096766"/>
                  <a:ext cx="225007" cy="273996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3601393" y="5174948"/>
                  <a:ext cx="102945" cy="1029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矩形 53"/>
                  <p:cNvSpPr/>
                  <p:nvPr/>
                </p:nvSpPr>
                <p:spPr>
                  <a:xfrm>
                    <a:off x="3539820" y="4671011"/>
                    <a:ext cx="800219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反射时间</a:t>
                    </a:r>
                    <a:endParaRPr lang="en-US" altLang="zh-CN" sz="12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𝝉</m:t>
                          </m:r>
                        </m:oMath>
                      </m:oMathPara>
                    </a14:m>
                    <a:endParaRPr lang="zh-CN" altLang="en-US" sz="12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3" name="矩形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9820" y="4671011"/>
                    <a:ext cx="800219" cy="461665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 l="-7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12"/>
            <a:srcRect l="52452" b="58676"/>
            <a:stretch/>
          </p:blipFill>
          <p:spPr>
            <a:xfrm>
              <a:off x="7022855" y="3521344"/>
              <a:ext cx="1782987" cy="1314326"/>
            </a:xfrm>
            <a:prstGeom prst="rect">
              <a:avLst/>
            </a:prstGeom>
          </p:spPr>
        </p:pic>
      </p:grpSp>
      <p:sp>
        <p:nvSpPr>
          <p:cNvPr id="30" name="文本框 1"/>
          <p:cNvSpPr txBox="1">
            <a:spLocks noChangeArrowheads="1"/>
          </p:cNvSpPr>
          <p:nvPr/>
        </p:nvSpPr>
        <p:spPr bwMode="auto">
          <a:xfrm>
            <a:off x="251520" y="1574320"/>
            <a:ext cx="87757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施工结束快速停泵在井筒内形成水击波脉冲，采集压力信号；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信号处理频谱模型：提取水击波于裂缝反射的响应时间；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井筒进液位置预测模型：计算水击波速，预测井下进液位置。</a:t>
            </a: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高频监测技术原理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114257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井下进液监测原理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7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135" y="3142599"/>
            <a:ext cx="25431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文本框 1"/>
          <p:cNvSpPr txBox="1">
            <a:spLocks noChangeArrowheads="1"/>
          </p:cNvSpPr>
          <p:nvPr/>
        </p:nvSpPr>
        <p:spPr bwMode="auto">
          <a:xfrm>
            <a:off x="115888" y="3309516"/>
            <a:ext cx="1385908" cy="368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传统解析解</a:t>
            </a:r>
          </a:p>
        </p:txBody>
      </p:sp>
      <p:sp>
        <p:nvSpPr>
          <p:cNvPr id="89" name="文本框 15"/>
          <p:cNvSpPr txBox="1">
            <a:spLocks noChangeArrowheads="1"/>
          </p:cNvSpPr>
          <p:nvPr/>
        </p:nvSpPr>
        <p:spPr bwMode="auto">
          <a:xfrm>
            <a:off x="196861" y="4195865"/>
            <a:ext cx="1223962" cy="646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不确定度计算</a:t>
            </a:r>
          </a:p>
        </p:txBody>
      </p:sp>
      <p:pic>
        <p:nvPicPr>
          <p:cNvPr id="90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943" y="3171067"/>
            <a:ext cx="2437267" cy="154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12" y="4195865"/>
            <a:ext cx="34290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文本框 15"/>
          <p:cNvSpPr txBox="1">
            <a:spLocks noChangeArrowheads="1"/>
          </p:cNvSpPr>
          <p:nvPr/>
        </p:nvSpPr>
        <p:spPr bwMode="auto">
          <a:xfrm>
            <a:off x="5305855" y="3214496"/>
            <a:ext cx="700088" cy="646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正态分布</a:t>
            </a:r>
          </a:p>
        </p:txBody>
      </p:sp>
      <p:sp>
        <p:nvSpPr>
          <p:cNvPr id="93" name="文本框 16"/>
          <p:cNvSpPr txBox="1">
            <a:spLocks noChangeArrowheads="1"/>
          </p:cNvSpPr>
          <p:nvPr/>
        </p:nvSpPr>
        <p:spPr bwMode="auto">
          <a:xfrm>
            <a:off x="103587" y="5394366"/>
            <a:ext cx="1584325" cy="64633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贝叶斯方法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校核</a:t>
            </a:r>
          </a:p>
        </p:txBody>
      </p:sp>
      <p:sp>
        <p:nvSpPr>
          <p:cNvPr id="94" name="右箭头 93"/>
          <p:cNvSpPr/>
          <p:nvPr/>
        </p:nvSpPr>
        <p:spPr>
          <a:xfrm rot="5400000">
            <a:off x="699977" y="3531014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5" name="右箭头 94"/>
          <p:cNvSpPr/>
          <p:nvPr/>
        </p:nvSpPr>
        <p:spPr>
          <a:xfrm rot="5400000">
            <a:off x="699153" y="4707367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5571378" y="4747613"/>
            <a:ext cx="3126026" cy="1530088"/>
            <a:chOff x="5571378" y="4747613"/>
            <a:chExt cx="3126026" cy="1530088"/>
          </a:xfrm>
        </p:grpSpPr>
        <p:pic>
          <p:nvPicPr>
            <p:cNvPr id="105" name="图片 104"/>
            <p:cNvPicPr>
              <a:picLocks noChangeAspect="1"/>
            </p:cNvPicPr>
            <p:nvPr/>
          </p:nvPicPr>
          <p:blipFill rotWithShape="1">
            <a:blip r:embed="rId5"/>
            <a:srcRect t="21778"/>
            <a:stretch/>
          </p:blipFill>
          <p:spPr>
            <a:xfrm>
              <a:off x="5571378" y="4747613"/>
              <a:ext cx="3126026" cy="1530088"/>
            </a:xfrm>
            <a:prstGeom prst="rect">
              <a:avLst/>
            </a:prstGeom>
          </p:spPr>
        </p:pic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6049AD0D-78A5-8B50-2565-E9B12C40C9D5}"/>
                </a:ext>
              </a:extLst>
            </p:cNvPr>
            <p:cNvSpPr/>
            <p:nvPr/>
          </p:nvSpPr>
          <p:spPr>
            <a:xfrm>
              <a:off x="7514989" y="5279852"/>
              <a:ext cx="1138072" cy="565543"/>
            </a:xfrm>
            <a:prstGeom prst="rect">
              <a:avLst/>
            </a:prstGeom>
            <a:noFill/>
            <a:ln w="38100" cap="flat" cmpd="sng" algn="ctr">
              <a:solidFill>
                <a:srgbClr val="FF99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</a:endParaRPr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6098608" y="4911262"/>
              <a:ext cx="2202623" cy="307777"/>
              <a:chOff x="6814209" y="5975346"/>
              <a:chExt cx="2202623" cy="307777"/>
            </a:xfrm>
          </p:grpSpPr>
          <p:sp>
            <p:nvSpPr>
              <p:cNvPr id="108" name="矩形 107"/>
              <p:cNvSpPr/>
              <p:nvPr/>
            </p:nvSpPr>
            <p:spPr>
              <a:xfrm>
                <a:off x="6939117" y="5994890"/>
                <a:ext cx="1998992" cy="288233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6814209" y="5975346"/>
                <a:ext cx="22026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charset="0"/>
                    <a:ea typeface="黑体" charset="0"/>
                    <a:cs typeface="黑体" charset="0"/>
                  </a:rPr>
                  <a:t>井下进液解释结果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/>
              <p:cNvSpPr txBox="1"/>
              <p:nvPr/>
            </p:nvSpPr>
            <p:spPr>
              <a:xfrm>
                <a:off x="504513" y="6443816"/>
                <a:ext cx="8433596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裂缝进液位置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en-US" altLang="zh-CN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zh-CN" alt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由响应时间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l-GR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zh-CN" alt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和水击波速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zh-CN" alt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确定，</a:t>
                </a:r>
                <a:r>
                  <a:rPr lang="en-US" altLang="zh-CN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zh-CN" alt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zh-CN" alt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b="1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13" y="6443816"/>
                <a:ext cx="8433596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矩形 110"/>
          <p:cNvSpPr/>
          <p:nvPr/>
        </p:nvSpPr>
        <p:spPr>
          <a:xfrm>
            <a:off x="5492456" y="4818090"/>
            <a:ext cx="3270039" cy="152215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1" name="文本框 1"/>
          <p:cNvSpPr txBox="1">
            <a:spLocks noChangeArrowheads="1"/>
          </p:cNvSpPr>
          <p:nvPr/>
        </p:nvSpPr>
        <p:spPr bwMode="auto">
          <a:xfrm>
            <a:off x="251520" y="1574320"/>
            <a:ext cx="87757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施工结束快速停泵在井筒内形成水击波脉冲，采集压力信号；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信号处理频谱模型：提取水击波于裂缝反射的响应时间；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井筒进液位置预测模型：计算水击波速，预测井下进液位置。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高频监测技术原理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9BC8D8-F81F-4A43-A1C4-91898CEB81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1031" y="4841183"/>
            <a:ext cx="2103302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757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50D7170-EC3A-4889-B0F1-9CCF94AC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高频监测技术原理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7825E446-D073-433D-AF1F-032A39F0A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51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裂缝尺寸诊断原理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">
            <a:extLst>
              <a:ext uri="{FF2B5EF4-FFF2-40B4-BE49-F238E27FC236}">
                <a16:creationId xmlns:a16="http://schemas.microsoft.com/office/drawing/2014/main" id="{29136152-9516-427A-B67A-AAD351227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574320"/>
            <a:ext cx="8919716" cy="140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裂缝边界模型：基于水电相似，将井筒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裂缝系统等价为电路系统；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水锤反演模型：调整裂缝边界参数，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反演井口实测高频压力信号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裂缝求解模型：基于裂缝边界参数，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求解井下等价裂缝尺寸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C39B1AD-0537-4856-920A-9709D58D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64" y="3487033"/>
            <a:ext cx="3913456" cy="323047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7FD57626-A145-43B5-812E-9A75B25592A3}"/>
              </a:ext>
            </a:extLst>
          </p:cNvPr>
          <p:cNvSpPr/>
          <p:nvPr/>
        </p:nvSpPr>
        <p:spPr>
          <a:xfrm>
            <a:off x="1763688" y="3134272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水击波尺寸诊断流程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30F668B-94EA-4387-A3AC-B982198C668D}"/>
              </a:ext>
            </a:extLst>
          </p:cNvPr>
          <p:cNvGrpSpPr/>
          <p:nvPr/>
        </p:nvGrpSpPr>
        <p:grpSpPr>
          <a:xfrm>
            <a:off x="4713628" y="3487032"/>
            <a:ext cx="3746804" cy="3132973"/>
            <a:chOff x="4713628" y="3356992"/>
            <a:chExt cx="3746804" cy="3263014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EAE422D5-BFDA-4ADF-AD9A-770556AC7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040" y="5010000"/>
              <a:ext cx="3528392" cy="1610006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860239F8-E336-425D-979B-22C874BB0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3628" y="3356992"/>
              <a:ext cx="3746804" cy="1653008"/>
            </a:xfrm>
            <a:prstGeom prst="rect">
              <a:avLst/>
            </a:prstGeom>
          </p:spPr>
        </p:pic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572401B1-A754-4569-A604-CE706CC9976C}"/>
              </a:ext>
            </a:extLst>
          </p:cNvPr>
          <p:cNvSpPr/>
          <p:nvPr/>
        </p:nvSpPr>
        <p:spPr>
          <a:xfrm>
            <a:off x="5508104" y="3134272"/>
            <a:ext cx="25186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反演水击信号及求解裂缝尺寸</a:t>
            </a:r>
          </a:p>
        </p:txBody>
      </p:sp>
    </p:spTree>
    <p:extLst>
      <p:ext uri="{BB962C8B-B14F-4D97-AF65-F5344CB8AC3E}">
        <p14:creationId xmlns:p14="http://schemas.microsoft.com/office/powerpoint/2010/main" val="3653063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 录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4700" y="1318364"/>
            <a:ext cx="7620000" cy="461821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708688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90800" bIns="190800"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一、高频监测技术原理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二、室内长管路停泵监测研究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三、现场应用案例分析评估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四、成果展示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477263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室内长管路停泵监测系统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457200" eaLnBrk="1" fontAlgn="auto" hangingPunct="1"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停泵水击压力波激发系统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351630" y="1588770"/>
            <a:ext cx="84582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indent="4572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停泵水击压力波激发系统由无级变速泵、混液储集罐、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200m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不锈钢无缝钢管路。全管路包含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个可安装传感器的球阀及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个节流阀，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可在管道内以指定裂缝数量及流量并激发停泵水击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3D0169-F61A-4F41-EF40-864CE306A8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7654" y="3029143"/>
            <a:ext cx="3644306" cy="2834744"/>
          </a:xfrm>
          <a:prstGeom prst="rect">
            <a:avLst/>
          </a:prstGeom>
        </p:spPr>
      </p:pic>
      <p:pic>
        <p:nvPicPr>
          <p:cNvPr id="8" name="图片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80"/>
          <a:stretch>
            <a:fillRect/>
          </a:stretch>
        </p:blipFill>
        <p:spPr bwMode="auto">
          <a:xfrm>
            <a:off x="916254" y="6042569"/>
            <a:ext cx="7424122" cy="799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6" r="53186"/>
          <a:stretch/>
        </p:blipFill>
        <p:spPr bwMode="auto">
          <a:xfrm>
            <a:off x="4572000" y="2996952"/>
            <a:ext cx="1872208" cy="1475964"/>
          </a:xfrm>
          <a:prstGeom prst="rect">
            <a:avLst/>
          </a:prstGeom>
          <a:noFill/>
        </p:spPr>
      </p:pic>
      <p:pic>
        <p:nvPicPr>
          <p:cNvPr id="10" name="图片 9" descr="C:\Users\丘阳\AppData\Local\Temp\WeChat Files\4273768987a48f0fa066b7f4f24adba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996953"/>
            <a:ext cx="1944216" cy="147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6"/>
          <p:cNvSpPr txBox="1">
            <a:spLocks noChangeArrowheads="1"/>
          </p:cNvSpPr>
          <p:nvPr/>
        </p:nvSpPr>
        <p:spPr bwMode="auto">
          <a:xfrm>
            <a:off x="6560752" y="4165139"/>
            <a:ext cx="1152128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无级变速泵</a:t>
            </a:r>
          </a:p>
        </p:txBody>
      </p:sp>
      <p:sp>
        <p:nvSpPr>
          <p:cNvPr id="13" name="文本框 16"/>
          <p:cNvSpPr txBox="1">
            <a:spLocks noChangeArrowheads="1"/>
          </p:cNvSpPr>
          <p:nvPr/>
        </p:nvSpPr>
        <p:spPr bwMode="auto">
          <a:xfrm>
            <a:off x="4585696" y="4138738"/>
            <a:ext cx="1152128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室外长管路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DB23081-F2D2-6F89-5F08-92A2A4E86C2E}"/>
              </a:ext>
            </a:extLst>
          </p:cNvPr>
          <p:cNvPicPr/>
          <p:nvPr/>
        </p:nvPicPr>
        <p:blipFill rotWithShape="1">
          <a:blip r:embed="rId6"/>
          <a:srcRect b="2542"/>
          <a:stretch/>
        </p:blipFill>
        <p:spPr>
          <a:xfrm>
            <a:off x="4585696" y="4601165"/>
            <a:ext cx="1858512" cy="15121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3" t="15350" b="31100"/>
          <a:stretch/>
        </p:blipFill>
        <p:spPr>
          <a:xfrm>
            <a:off x="6588224" y="4601165"/>
            <a:ext cx="1944216" cy="1530194"/>
          </a:xfrm>
          <a:prstGeom prst="rect">
            <a:avLst/>
          </a:prstGeom>
        </p:spPr>
      </p:pic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6560752" y="5823582"/>
            <a:ext cx="1152128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管道阀门</a:t>
            </a:r>
          </a:p>
        </p:txBody>
      </p:sp>
    </p:spTree>
    <p:extLst>
      <p:ext uri="{BB962C8B-B14F-4D97-AF65-F5344CB8AC3E}">
        <p14:creationId xmlns:p14="http://schemas.microsoft.com/office/powerpoint/2010/main" val="354128949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室内长管路停泵监测系统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457200" eaLnBrk="1" fontAlgn="auto" hangingPunct="1"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高频水击信号采集系统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351630" y="1588770"/>
            <a:ext cx="86128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indent="457200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高频水击信号采集系统包含高频压力传感器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≥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1000Hz)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、高频信号采集箱及配套高频信号采集软件，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可实时采集管道内压力信号并保存至硬件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pic>
        <p:nvPicPr>
          <p:cNvPr id="16" name="图片 1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4"/>
          <a:stretch/>
        </p:blipFill>
        <p:spPr bwMode="auto">
          <a:xfrm>
            <a:off x="539552" y="2745575"/>
            <a:ext cx="1886173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2586" r="1830" b="9547"/>
          <a:stretch>
            <a:fillRect/>
          </a:stretch>
        </p:blipFill>
        <p:spPr bwMode="auto">
          <a:xfrm>
            <a:off x="524712" y="4794278"/>
            <a:ext cx="3312368" cy="182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3" t="27951" r="1843" b="39500"/>
          <a:stretch>
            <a:fillRect/>
          </a:stretch>
        </p:blipFill>
        <p:spPr bwMode="auto">
          <a:xfrm>
            <a:off x="2627784" y="2708920"/>
            <a:ext cx="2664296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组合 15"/>
          <p:cNvGrpSpPr>
            <a:grpSpLocks/>
          </p:cNvGrpSpPr>
          <p:nvPr/>
        </p:nvGrpSpPr>
        <p:grpSpPr bwMode="auto">
          <a:xfrm>
            <a:off x="4489350" y="4818310"/>
            <a:ext cx="4320480" cy="1801061"/>
            <a:chOff x="4637088" y="2735263"/>
            <a:chExt cx="4195141" cy="1646237"/>
          </a:xfrm>
        </p:grpSpPr>
        <p:pic>
          <p:nvPicPr>
            <p:cNvPr id="21" name="图片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376" b="55502"/>
            <a:stretch>
              <a:fillRect/>
            </a:stretch>
          </p:blipFill>
          <p:spPr bwMode="auto">
            <a:xfrm>
              <a:off x="4637088" y="2735263"/>
              <a:ext cx="4140200" cy="164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文本框 22"/>
            <p:cNvSpPr txBox="1"/>
            <p:nvPr/>
          </p:nvSpPr>
          <p:spPr>
            <a:xfrm>
              <a:off x="6437047" y="2862263"/>
              <a:ext cx="2395182" cy="30945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  <a:sym typeface="+mn-ea"/>
                </a:rPr>
                <a:t>泄漏管道停泵水击采集</a:t>
              </a:r>
            </a:p>
          </p:txBody>
        </p:sp>
      </p:grpSp>
      <p:pic>
        <p:nvPicPr>
          <p:cNvPr id="25" name="图片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090" y="2805251"/>
            <a:ext cx="3150365" cy="17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16"/>
          <p:cNvSpPr txBox="1">
            <a:spLocks noChangeArrowheads="1"/>
          </p:cNvSpPr>
          <p:nvPr/>
        </p:nvSpPr>
        <p:spPr bwMode="auto">
          <a:xfrm>
            <a:off x="1273597" y="4314223"/>
            <a:ext cx="1152128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高频传感器</a:t>
            </a:r>
          </a:p>
        </p:txBody>
      </p:sp>
      <p:sp>
        <p:nvSpPr>
          <p:cNvPr id="27" name="文本框 16"/>
          <p:cNvSpPr txBox="1">
            <a:spLocks noChangeArrowheads="1"/>
          </p:cNvSpPr>
          <p:nvPr/>
        </p:nvSpPr>
        <p:spPr bwMode="auto">
          <a:xfrm>
            <a:off x="4039139" y="4282330"/>
            <a:ext cx="1252941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信号采集软件</a:t>
            </a:r>
          </a:p>
        </p:txBody>
      </p:sp>
      <p:sp>
        <p:nvSpPr>
          <p:cNvPr id="28" name="文本框 16"/>
          <p:cNvSpPr txBox="1">
            <a:spLocks noChangeArrowheads="1"/>
          </p:cNvSpPr>
          <p:nvPr/>
        </p:nvSpPr>
        <p:spPr bwMode="auto">
          <a:xfrm>
            <a:off x="2339752" y="6311594"/>
            <a:ext cx="1497329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高频信号采集箱</a:t>
            </a:r>
          </a:p>
        </p:txBody>
      </p:sp>
      <p:sp>
        <p:nvSpPr>
          <p:cNvPr id="29" name="文本框 16"/>
          <p:cNvSpPr txBox="1">
            <a:spLocks noChangeArrowheads="1"/>
          </p:cNvSpPr>
          <p:nvPr/>
        </p:nvSpPr>
        <p:spPr bwMode="auto">
          <a:xfrm>
            <a:off x="6343088" y="4249685"/>
            <a:ext cx="2333368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传感器安装及管道泄漏模拟</a:t>
            </a:r>
          </a:p>
        </p:txBody>
      </p:sp>
    </p:spTree>
    <p:extLst>
      <p:ext uri="{BB962C8B-B14F-4D97-AF65-F5344CB8AC3E}">
        <p14:creationId xmlns:p14="http://schemas.microsoft.com/office/powerpoint/2010/main" val="25366733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D66EF6F9-92ED-470E-B431-644F9C2859D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680" y="3109363"/>
            <a:ext cx="3317778" cy="1802803"/>
          </a:xfrm>
          <a:prstGeom prst="rect">
            <a:avLst/>
          </a:prstGeom>
          <a:noFill/>
        </p:spPr>
      </p:pic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室内长管路停泵监测系统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2F6CEAE-5ADF-4E08-9D57-6FFD1BE1D0E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51680" y="4809030"/>
            <a:ext cx="3317778" cy="200434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B04B9DB-AD6A-4AF8-ACD5-1A5B3D86CB9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26129" y="3215881"/>
            <a:ext cx="3730387" cy="1052352"/>
          </a:xfrm>
          <a:prstGeom prst="rect">
            <a:avLst/>
          </a:prstGeom>
        </p:spPr>
      </p:pic>
      <p:sp>
        <p:nvSpPr>
          <p:cNvPr id="32" name="文本框 16">
            <a:extLst>
              <a:ext uri="{FF2B5EF4-FFF2-40B4-BE49-F238E27FC236}">
                <a16:creationId xmlns:a16="http://schemas.microsoft.com/office/drawing/2014/main" id="{1A95477A-C4B4-4293-853A-AD9D73D95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26" y="3225535"/>
            <a:ext cx="360040" cy="95410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小型管路</a:t>
            </a:r>
          </a:p>
        </p:txBody>
      </p:sp>
      <p:sp>
        <p:nvSpPr>
          <p:cNvPr id="33" name="文本框 16">
            <a:extLst>
              <a:ext uri="{FF2B5EF4-FFF2-40B4-BE49-F238E27FC236}">
                <a16:creationId xmlns:a16="http://schemas.microsoft.com/office/drawing/2014/main" id="{D6D99161-AA1B-49C3-8C60-CC3497CCA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26" y="4670235"/>
            <a:ext cx="360040" cy="1600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衰减率影响因素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9CE486-A3F3-4FF4-83C1-D15EB0770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62B796F-3814-442F-A801-99431AD2588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b="33160"/>
          <a:stretch/>
        </p:blipFill>
        <p:spPr>
          <a:xfrm>
            <a:off x="826129" y="4581128"/>
            <a:ext cx="3672408" cy="1802803"/>
          </a:xfrm>
          <a:prstGeom prst="rect">
            <a:avLst/>
          </a:prstGeom>
        </p:spPr>
      </p:pic>
      <p:sp>
        <p:nvSpPr>
          <p:cNvPr id="34" name="TextBox 2">
            <a:extLst>
              <a:ext uri="{FF2B5EF4-FFF2-40B4-BE49-F238E27FC236}">
                <a16:creationId xmlns:a16="http://schemas.microsoft.com/office/drawing/2014/main" id="{8C2C2DB5-F099-43D1-965D-8C4514768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8" y="1052736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457200" eaLnBrk="1" fontAlgn="auto" hangingPunct="1"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室内研究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裂缝响应规律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D7BA24A1-7FF5-4D9B-A01B-A6CD2CE6B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52680"/>
            <a:ext cx="8723312" cy="152914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tIns="34290" bIns="34290"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水击信号对裂缝特征的相应规律尚不明确，导致裂缝尺寸求解误差大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简化水击实验系统，去除干扰因素，探究水击波形影响因素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建立了水击信号反演模型，在室内试验水击信号上取得效果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5B3E5F-F7D3-4A0D-8217-5C7DFD589166}"/>
              </a:ext>
            </a:extLst>
          </p:cNvPr>
          <p:cNvSpPr txBox="1"/>
          <p:nvPr/>
        </p:nvSpPr>
        <p:spPr>
          <a:xfrm>
            <a:off x="4665910" y="3427202"/>
            <a:ext cx="615553" cy="797654"/>
          </a:xfrm>
          <a:prstGeom prst="rect">
            <a:avLst/>
          </a:prstGeom>
          <a:solidFill>
            <a:srgbClr val="FFFF00"/>
          </a:solidFill>
        </p:spPr>
        <p:txBody>
          <a:bodyPr vert="eaVert"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水击波形</a:t>
            </a:r>
            <a:endParaRPr lang="en-US" altLang="zh-CN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影响贡献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2CDE8FA-DABA-4F2E-BD4C-5B9F08227E7F}"/>
              </a:ext>
            </a:extLst>
          </p:cNvPr>
          <p:cNvSpPr txBox="1"/>
          <p:nvPr/>
        </p:nvSpPr>
        <p:spPr>
          <a:xfrm>
            <a:off x="4665910" y="5311783"/>
            <a:ext cx="615553" cy="797654"/>
          </a:xfrm>
          <a:prstGeom prst="rect">
            <a:avLst/>
          </a:prstGeom>
          <a:solidFill>
            <a:srgbClr val="FFFF00"/>
          </a:solidFill>
        </p:spPr>
        <p:txBody>
          <a:bodyPr vert="eaVert"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室内试验</a:t>
            </a:r>
            <a:endParaRPr lang="en-US" altLang="zh-CN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水击反演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11607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室内长管路停泵监测研究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308768" y="1052736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457200" eaLnBrk="1" fontAlgn="auto" hangingPunct="1"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室内研究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管内波速模型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22"/>
          <p:cNvSpPr>
            <a:spLocks noChangeArrowheads="1"/>
          </p:cNvSpPr>
          <p:nvPr/>
        </p:nvSpPr>
        <p:spPr bwMode="auto">
          <a:xfrm>
            <a:off x="539552" y="1412776"/>
            <a:ext cx="8723312" cy="1608951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tIns="34290" bIns="34290"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水击波速是定位进液位置的关键参数，但公式求解波速有较大误差；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搭建了</a:t>
            </a:r>
            <a:r>
              <a:rPr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水击实时诊断技术的水击波速测量实验设备</a:t>
            </a:r>
            <a:endParaRPr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研究了不同流体条件下管内波速变化及推导现场波速校正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075796"/>
            <a:ext cx="2700874" cy="1684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026164"/>
            <a:ext cx="2988906" cy="16193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4846880"/>
            <a:ext cx="4939760" cy="1947405"/>
          </a:xfrm>
          <a:prstGeom prst="rect">
            <a:avLst/>
          </a:prstGeom>
        </p:spPr>
      </p:pic>
      <p:pic>
        <p:nvPicPr>
          <p:cNvPr id="25" name="图片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219" y="3986534"/>
            <a:ext cx="3683000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图片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206497"/>
            <a:ext cx="2026196" cy="59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16"/>
          <p:cNvSpPr>
            <a:spLocks noChangeArrowheads="1"/>
          </p:cNvSpPr>
          <p:nvPr/>
        </p:nvSpPr>
        <p:spPr bwMode="auto">
          <a:xfrm>
            <a:off x="6300192" y="3313748"/>
            <a:ext cx="2432050" cy="33813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SLB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的传统波速计算模型</a:t>
            </a:r>
          </a:p>
        </p:txBody>
      </p:sp>
      <p:sp>
        <p:nvSpPr>
          <p:cNvPr id="28" name="文本框 16"/>
          <p:cNvSpPr txBox="1">
            <a:spLocks noChangeArrowheads="1"/>
          </p:cNvSpPr>
          <p:nvPr/>
        </p:nvSpPr>
        <p:spPr bwMode="auto">
          <a:xfrm>
            <a:off x="248765" y="3225535"/>
            <a:ext cx="360040" cy="138499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室外管路设置</a:t>
            </a:r>
          </a:p>
        </p:txBody>
      </p:sp>
      <p:sp>
        <p:nvSpPr>
          <p:cNvPr id="29" name="文本框 16"/>
          <p:cNvSpPr txBox="1">
            <a:spLocks noChangeArrowheads="1"/>
          </p:cNvSpPr>
          <p:nvPr/>
        </p:nvSpPr>
        <p:spPr bwMode="auto">
          <a:xfrm>
            <a:off x="249483" y="5143360"/>
            <a:ext cx="360040" cy="138499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计算水击周期</a:t>
            </a:r>
          </a:p>
        </p:txBody>
      </p:sp>
      <p:sp>
        <p:nvSpPr>
          <p:cNvPr id="37" name="文本框 16"/>
          <p:cNvSpPr txBox="1">
            <a:spLocks noChangeArrowheads="1"/>
          </p:cNvSpPr>
          <p:nvPr/>
        </p:nvSpPr>
        <p:spPr bwMode="auto">
          <a:xfrm>
            <a:off x="3650110" y="5143360"/>
            <a:ext cx="295941" cy="138499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水击波速计算</a:t>
            </a:r>
          </a:p>
        </p:txBody>
      </p:sp>
    </p:spTree>
    <p:extLst>
      <p:ext uri="{BB962C8B-B14F-4D97-AF65-F5344CB8AC3E}">
        <p14:creationId xmlns:p14="http://schemas.microsoft.com/office/powerpoint/2010/main" val="115004462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5" y="3104402"/>
            <a:ext cx="2448272" cy="1509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图片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72" y="4746444"/>
            <a:ext cx="2136529" cy="1382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Box 2"/>
          <p:cNvSpPr txBox="1">
            <a:spLocks noChangeArrowheads="1"/>
          </p:cNvSpPr>
          <p:nvPr/>
        </p:nvSpPr>
        <p:spPr bwMode="auto">
          <a:xfrm>
            <a:off x="107950" y="1052513"/>
            <a:ext cx="8856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室内研究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高频水击信号滤波模型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789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0"/>
          <a:stretch>
            <a:fillRect/>
          </a:stretch>
        </p:blipFill>
        <p:spPr bwMode="auto">
          <a:xfrm>
            <a:off x="2915816" y="4653136"/>
            <a:ext cx="2448272" cy="150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8" b="60193"/>
          <a:stretch>
            <a:fillRect/>
          </a:stretch>
        </p:blipFill>
        <p:spPr bwMode="auto">
          <a:xfrm>
            <a:off x="291876" y="3098414"/>
            <a:ext cx="2616652" cy="1515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TextBox 22"/>
          <p:cNvSpPr>
            <a:spLocks noChangeArrowheads="1"/>
          </p:cNvSpPr>
          <p:nvPr/>
        </p:nvSpPr>
        <p:spPr bwMode="auto">
          <a:xfrm>
            <a:off x="395537" y="1445426"/>
            <a:ext cx="8496944" cy="1608951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tIns="34290" bIns="34290"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实际信号包含大量噪声，影响水击压力波响应时间的确定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无针对高频水击信号的滤波方法，滤波参数依靠经验性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开发了高频水击压力波信号的综合滤波模型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6" name="矩形 16"/>
          <p:cNvSpPr>
            <a:spLocks noChangeArrowheads="1"/>
          </p:cNvSpPr>
          <p:nvPr/>
        </p:nvSpPr>
        <p:spPr bwMode="auto">
          <a:xfrm>
            <a:off x="949357" y="6240986"/>
            <a:ext cx="1620957" cy="5232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室内高频水击信号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噪声特性研究</a:t>
            </a:r>
          </a:p>
        </p:txBody>
      </p:sp>
      <p:sp>
        <p:nvSpPr>
          <p:cNvPr id="37897" name="矩形 16"/>
          <p:cNvSpPr>
            <a:spLocks noChangeArrowheads="1"/>
          </p:cNvSpPr>
          <p:nvPr/>
        </p:nvSpPr>
        <p:spPr bwMode="auto">
          <a:xfrm>
            <a:off x="2915815" y="6240986"/>
            <a:ext cx="2698175" cy="5232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含裂缝干扰的模拟高频水击信号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综合滤波研究</a:t>
            </a:r>
          </a:p>
        </p:txBody>
      </p:sp>
      <p:pic>
        <p:nvPicPr>
          <p:cNvPr id="11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4" r="13235"/>
          <a:stretch>
            <a:fillRect/>
          </a:stretch>
        </p:blipFill>
        <p:spPr bwMode="auto">
          <a:xfrm>
            <a:off x="5364087" y="3247202"/>
            <a:ext cx="3679470" cy="2662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6"/>
          <p:cNvSpPr>
            <a:spLocks noChangeArrowheads="1"/>
          </p:cNvSpPr>
          <p:nvPr/>
        </p:nvSpPr>
        <p:spPr bwMode="auto">
          <a:xfrm>
            <a:off x="5870765" y="5990391"/>
            <a:ext cx="2666114" cy="3385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室内高频水击信号滤波效果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室内长管路停泵监测研究</a:t>
            </a:r>
          </a:p>
        </p:txBody>
      </p:sp>
    </p:spTree>
    <p:extLst>
      <p:ext uri="{BB962C8B-B14F-4D97-AF65-F5344CB8AC3E}">
        <p14:creationId xmlns:p14="http://schemas.microsoft.com/office/powerpoint/2010/main" val="126856069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2"/>
          <p:cNvSpPr txBox="1">
            <a:spLocks noChangeArrowheads="1"/>
          </p:cNvSpPr>
          <p:nvPr/>
        </p:nvSpPr>
        <p:spPr bwMode="auto">
          <a:xfrm>
            <a:off x="107950" y="1052513"/>
            <a:ext cx="8856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室内研究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管内水击压力响应规律实验研究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987" name="文本框 2"/>
          <p:cNvSpPr txBox="1">
            <a:spLocks noChangeArrowheads="1"/>
          </p:cNvSpPr>
          <p:nvPr/>
        </p:nvSpPr>
        <p:spPr bwMode="auto">
          <a:xfrm>
            <a:off x="323850" y="1484313"/>
            <a:ext cx="8370888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管道阀门开关实现压力波传播规律及响应特征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实验研究</a:t>
            </a:r>
            <a:endParaRPr lang="en-US" altLang="zh-CN" sz="2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198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2093913"/>
            <a:ext cx="8066087" cy="471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室内长管路停泵监测研究</a:t>
            </a:r>
          </a:p>
        </p:txBody>
      </p:sp>
    </p:spTree>
    <p:extLst>
      <p:ext uri="{BB962C8B-B14F-4D97-AF65-F5344CB8AC3E}">
        <p14:creationId xmlns:p14="http://schemas.microsoft.com/office/powerpoint/2010/main" val="346748921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文本框 2"/>
          <p:cNvSpPr txBox="1">
            <a:spLocks noChangeArrowheads="1"/>
          </p:cNvSpPr>
          <p:nvPr/>
        </p:nvSpPr>
        <p:spPr bwMode="auto">
          <a:xfrm>
            <a:off x="323850" y="1484313"/>
            <a:ext cx="8712646" cy="140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数值模拟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手段研究井筒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支管系统中压力波响应特征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通过信号频谱模型获得水击波经过裂缝位置的反射时间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综合频谱分析结果和管道波速模型确定泄漏位置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5" name="TextBox 2"/>
          <p:cNvSpPr txBox="1">
            <a:spLocks noChangeArrowheads="1"/>
          </p:cNvSpPr>
          <p:nvPr/>
        </p:nvSpPr>
        <p:spPr bwMode="auto">
          <a:xfrm>
            <a:off x="107950" y="1052513"/>
            <a:ext cx="8856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室内研究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信号处理频谱模型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1" name="组合 15"/>
          <p:cNvGrpSpPr>
            <a:grpSpLocks/>
          </p:cNvGrpSpPr>
          <p:nvPr/>
        </p:nvGrpSpPr>
        <p:grpSpPr bwMode="auto">
          <a:xfrm>
            <a:off x="4536281" y="2924944"/>
            <a:ext cx="4140813" cy="3727450"/>
            <a:chOff x="4637088" y="2735263"/>
            <a:chExt cx="4140200" cy="3727450"/>
          </a:xfrm>
        </p:grpSpPr>
        <p:pic>
          <p:nvPicPr>
            <p:cNvPr id="12" name="图片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376" b="55502"/>
            <a:stretch>
              <a:fillRect/>
            </a:stretch>
          </p:blipFill>
          <p:spPr bwMode="auto">
            <a:xfrm>
              <a:off x="4637088" y="2735263"/>
              <a:ext cx="4140200" cy="164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图片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407" b="60269"/>
            <a:stretch>
              <a:fillRect/>
            </a:stretch>
          </p:blipFill>
          <p:spPr bwMode="auto">
            <a:xfrm>
              <a:off x="4637088" y="4651375"/>
              <a:ext cx="4014787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文本框 13"/>
            <p:cNvSpPr txBox="1"/>
            <p:nvPr/>
          </p:nvSpPr>
          <p:spPr>
            <a:xfrm>
              <a:off x="7104244" y="2940936"/>
              <a:ext cx="1547631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  <a:sym typeface="+mn-ea"/>
                </a:rPr>
                <a:t>室内泄漏管道水击信号采集</a:t>
              </a:r>
            </a:p>
          </p:txBody>
        </p:sp>
        <p:sp>
          <p:nvSpPr>
            <p:cNvPr id="15" name="文本框 19"/>
            <p:cNvSpPr txBox="1">
              <a:spLocks noChangeArrowheads="1"/>
            </p:cNvSpPr>
            <p:nvPr/>
          </p:nvSpPr>
          <p:spPr bwMode="auto">
            <a:xfrm>
              <a:off x="6707188" y="4297262"/>
              <a:ext cx="1973040" cy="3385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频谱分析响应结果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27267" y="2999482"/>
            <a:ext cx="4146550" cy="3776055"/>
            <a:chOff x="4649788" y="2865438"/>
            <a:chExt cx="4146550" cy="3776055"/>
          </a:xfrm>
        </p:grpSpPr>
        <p:pic>
          <p:nvPicPr>
            <p:cNvPr id="20" name="图片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788" y="2865438"/>
              <a:ext cx="4146550" cy="363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文本框 24"/>
            <p:cNvSpPr txBox="1">
              <a:spLocks noChangeArrowheads="1"/>
            </p:cNvSpPr>
            <p:nvPr/>
          </p:nvSpPr>
          <p:spPr bwMode="auto">
            <a:xfrm>
              <a:off x="5292080" y="6302939"/>
              <a:ext cx="335525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数值模拟压力响应频谱分析结果</a:t>
              </a: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室内长管路停泵监测研究</a:t>
            </a:r>
          </a:p>
        </p:txBody>
      </p:sp>
    </p:spTree>
    <p:extLst>
      <p:ext uri="{BB962C8B-B14F-4D97-AF65-F5344CB8AC3E}">
        <p14:creationId xmlns:p14="http://schemas.microsoft.com/office/powerpoint/2010/main" val="112415867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 录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774700" y="1318364"/>
            <a:ext cx="7620000" cy="461821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708688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90800" bIns="190800"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一、高频监测技术原理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二、室内长管路停泵监测研究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三、现场应用案例分析评估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四、成果展示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65983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 用 场 景</a:t>
            </a:r>
          </a:p>
        </p:txBody>
      </p:sp>
      <p:sp>
        <p:nvSpPr>
          <p:cNvPr id="4" name="文本框 14"/>
          <p:cNvSpPr txBox="1">
            <a:spLocks noChangeArrowheads="1"/>
          </p:cNvSpPr>
          <p:nvPr/>
        </p:nvSpPr>
        <p:spPr bwMode="auto">
          <a:xfrm>
            <a:off x="314325" y="1690688"/>
            <a:ext cx="8370888" cy="279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通过停泵水击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确定裂缝进液位置与暂堵效果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通过停泵水击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判断暂堵作业是否有效，实时优化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通过停泵水击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确定裂缝改造体积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通过停泵水击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判断桥塞坐封效果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通过停泵水击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确定裂缝复杂程度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07950" y="1166813"/>
            <a:ext cx="878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现场高频监测应用场景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69447" y="6435434"/>
            <a:ext cx="23391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各阶段进液位置正态概率图</a:t>
            </a:r>
          </a:p>
        </p:txBody>
      </p:sp>
      <p:sp>
        <p:nvSpPr>
          <p:cNvPr id="14" name="矩形 9"/>
          <p:cNvSpPr>
            <a:spLocks noChangeArrowheads="1"/>
          </p:cNvSpPr>
          <p:nvPr/>
        </p:nvSpPr>
        <p:spPr bwMode="auto">
          <a:xfrm>
            <a:off x="7020272" y="6435235"/>
            <a:ext cx="14398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桥塞坐封失效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9"/>
          <a:stretch/>
        </p:blipFill>
        <p:spPr>
          <a:xfrm>
            <a:off x="189063" y="4221088"/>
            <a:ext cx="2739324" cy="2088232"/>
          </a:xfrm>
          <a:prstGeom prst="rect">
            <a:avLst/>
          </a:prstGeom>
        </p:spPr>
      </p:pic>
      <p:sp>
        <p:nvSpPr>
          <p:cNvPr id="17" name="矩形 9"/>
          <p:cNvSpPr>
            <a:spLocks noChangeArrowheads="1"/>
          </p:cNvSpPr>
          <p:nvPr/>
        </p:nvSpPr>
        <p:spPr bwMode="auto">
          <a:xfrm>
            <a:off x="3584770" y="6435236"/>
            <a:ext cx="19796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暂堵前后进液位置变化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012" y="4149080"/>
            <a:ext cx="2846435" cy="23624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139" y="4149080"/>
            <a:ext cx="3257121" cy="236248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2987824" y="4581128"/>
            <a:ext cx="3205188" cy="72008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987824" y="5358198"/>
            <a:ext cx="3205188" cy="66309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060391" y="4620181"/>
            <a:ext cx="1811714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暂堵效果不明显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3060391" y="5358198"/>
            <a:ext cx="2044149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进液位置显著变化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70659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2"/>
          <p:cNvSpPr txBox="1">
            <a:spLocks noChangeArrowheads="1"/>
          </p:cNvSpPr>
          <p:nvPr/>
        </p:nvSpPr>
        <p:spPr bwMode="auto">
          <a:xfrm>
            <a:off x="107950" y="1052513"/>
            <a:ext cx="8856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高频监测技术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软硬件制备</a:t>
            </a: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 场 设 备</a:t>
            </a:r>
          </a:p>
        </p:txBody>
      </p:sp>
      <p:sp>
        <p:nvSpPr>
          <p:cNvPr id="46084" name="TextBox 22"/>
          <p:cNvSpPr>
            <a:spLocks noChangeArrowheads="1"/>
          </p:cNvSpPr>
          <p:nvPr/>
        </p:nvSpPr>
        <p:spPr bwMode="auto">
          <a:xfrm>
            <a:off x="196850" y="1584323"/>
            <a:ext cx="8947150" cy="507586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tIns="34290" bIns="34290"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高频信号采集及监测诊断相关软硬件通过多次现场实际检验，可靠准确；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6086" name="组合 3"/>
          <p:cNvGrpSpPr>
            <a:grpSpLocks/>
          </p:cNvGrpSpPr>
          <p:nvPr/>
        </p:nvGrpSpPr>
        <p:grpSpPr bwMode="auto">
          <a:xfrm>
            <a:off x="467544" y="2420888"/>
            <a:ext cx="3959671" cy="4083644"/>
            <a:chOff x="331888" y="2560758"/>
            <a:chExt cx="4015726" cy="4127535"/>
          </a:xfrm>
        </p:grpSpPr>
        <p:pic>
          <p:nvPicPr>
            <p:cNvPr id="46089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48" t="2586" r="1830" b="9547"/>
            <a:stretch>
              <a:fillRect/>
            </a:stretch>
          </p:blipFill>
          <p:spPr bwMode="auto">
            <a:xfrm>
              <a:off x="331888" y="4429447"/>
              <a:ext cx="4015725" cy="2258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90" name="图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49168"/>
            <a:stretch>
              <a:fillRect/>
            </a:stretch>
          </p:blipFill>
          <p:spPr bwMode="auto">
            <a:xfrm>
              <a:off x="331889" y="2560758"/>
              <a:ext cx="4015725" cy="1788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/>
          <p:cNvGrpSpPr/>
          <p:nvPr/>
        </p:nvGrpSpPr>
        <p:grpSpPr>
          <a:xfrm>
            <a:off x="4652926" y="4353426"/>
            <a:ext cx="3879887" cy="2164884"/>
            <a:chOff x="5090061" y="4496886"/>
            <a:chExt cx="3879887" cy="21648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0061" y="4496886"/>
              <a:ext cx="3879887" cy="2164884"/>
            </a:xfrm>
            <a:prstGeom prst="rect">
              <a:avLst/>
            </a:prstGeom>
          </p:spPr>
        </p:pic>
        <p:sp>
          <p:nvSpPr>
            <p:cNvPr id="13" name="矩形 1"/>
            <p:cNvSpPr>
              <a:spLocks noChangeArrowheads="1"/>
            </p:cNvSpPr>
            <p:nvPr/>
          </p:nvSpPr>
          <p:spPr bwMode="auto">
            <a:xfrm>
              <a:off x="6712073" y="6257813"/>
              <a:ext cx="2252540" cy="4039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FF0000"/>
                </a:buClr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高频监测诊断分析软件</a:t>
              </a:r>
              <a:endParaRPr lang="en-US" altLang="zh-CN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926" y="2411821"/>
            <a:ext cx="3815885" cy="1850988"/>
          </a:xfrm>
          <a:prstGeom prst="rect">
            <a:avLst/>
          </a:prstGeom>
        </p:spPr>
      </p:pic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6156176" y="3778555"/>
            <a:ext cx="2294348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高频水击信号采集软件</a:t>
            </a:r>
            <a:endParaRPr lang="en-US" altLang="zh-CN" sz="1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91439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与光纤诊断结果对比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07950" y="1166813"/>
            <a:ext cx="878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桥塞座封效果评价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以新疆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井第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段为例</a:t>
            </a:r>
          </a:p>
        </p:txBody>
      </p:sp>
      <p:sp>
        <p:nvSpPr>
          <p:cNvPr id="10" name="文本框 1"/>
          <p:cNvSpPr txBox="1">
            <a:spLocks noChangeArrowheads="1"/>
          </p:cNvSpPr>
          <p:nvPr/>
        </p:nvSpPr>
        <p:spPr bwMode="auto">
          <a:xfrm>
            <a:off x="395536" y="1662880"/>
            <a:ext cx="8458200" cy="140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井第</a:t>
            </a:r>
            <a:r>
              <a:rPr 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光纤解释桥塞封隔失效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，第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簇及第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簇进液；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高频监测结果显示桥塞机械封隔不严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，进液点覆盖第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簇及第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簇，与光纤监测结果吻合较好。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213251"/>
            <a:ext cx="3772921" cy="354311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330086" y="4424552"/>
            <a:ext cx="4523650" cy="2313548"/>
            <a:chOff x="4189753" y="4442813"/>
            <a:chExt cx="4523650" cy="231354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48" r="448" b="13065"/>
            <a:stretch/>
          </p:blipFill>
          <p:spPr>
            <a:xfrm>
              <a:off x="4189753" y="4442813"/>
              <a:ext cx="4523650" cy="2016224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6123059" y="6387029"/>
              <a:ext cx="7665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段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910008" y="6387029"/>
              <a:ext cx="7665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段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6156176" y="4581128"/>
              <a:ext cx="715816" cy="217523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900264" y="4573096"/>
              <a:ext cx="715816" cy="217523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l="6391" t="6800" r="8290" b="60080"/>
          <a:stretch/>
        </p:blipFill>
        <p:spPr>
          <a:xfrm>
            <a:off x="4168457" y="3182387"/>
            <a:ext cx="4565167" cy="1291491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C74CFE93-8CF5-4D4E-AC13-350BD280F564}"/>
              </a:ext>
            </a:extLst>
          </p:cNvPr>
          <p:cNvSpPr txBox="1"/>
          <p:nvPr/>
        </p:nvSpPr>
        <p:spPr>
          <a:xfrm>
            <a:off x="7705033" y="413895"/>
            <a:ext cx="1224136" cy="3693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光纤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31306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进液位置与暂堵井效果评价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07950" y="1166813"/>
            <a:ext cx="878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暂堵转向效果评价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以四川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井第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段为例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468313" y="1676400"/>
            <a:ext cx="84248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B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井第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9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段施工暂堵前后停泵水击波形变化明显，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水击倒谱图像中裂缝响应深度变化明显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，认为暂堵转向效果好；</a:t>
            </a:r>
          </a:p>
        </p:txBody>
      </p:sp>
      <p:sp>
        <p:nvSpPr>
          <p:cNvPr id="6" name="TextBox 25"/>
          <p:cNvSpPr txBox="1">
            <a:spLocks noChangeArrowheads="1"/>
          </p:cNvSpPr>
          <p:nvPr/>
        </p:nvSpPr>
        <p:spPr bwMode="auto">
          <a:xfrm>
            <a:off x="369888" y="6313488"/>
            <a:ext cx="8404225" cy="44287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以长宁某压裂水平井第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段压裂施工为例，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暂堵前后进液响应位置发生明显转向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2" y="2708920"/>
            <a:ext cx="7127875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E282F62-2E84-439F-97C5-C79BE4761EAD}"/>
              </a:ext>
            </a:extLst>
          </p:cNvPr>
          <p:cNvSpPr txBox="1"/>
          <p:nvPr/>
        </p:nvSpPr>
        <p:spPr>
          <a:xfrm>
            <a:off x="7705033" y="413895"/>
            <a:ext cx="1224136" cy="3693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页岩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230734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超深裸眼井暂堵在线优化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03771" y="1065828"/>
            <a:ext cx="8785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复杂井下状况应用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以新疆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井为例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6" r="6779"/>
          <a:stretch/>
        </p:blipFill>
        <p:spPr bwMode="auto">
          <a:xfrm>
            <a:off x="4736105" y="2348880"/>
            <a:ext cx="3861520" cy="4429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9"/>
          <a:stretch>
            <a:fillRect/>
          </a:stretch>
        </p:blipFill>
        <p:spPr bwMode="auto">
          <a:xfrm>
            <a:off x="463366" y="4412290"/>
            <a:ext cx="1963801" cy="2435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421" y="4327159"/>
            <a:ext cx="2123963" cy="25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85"/>
          <a:stretch>
            <a:fillRect/>
          </a:stretch>
        </p:blipFill>
        <p:spPr bwMode="auto">
          <a:xfrm>
            <a:off x="499576" y="2553822"/>
            <a:ext cx="3892971" cy="17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">
            <a:extLst>
              <a:ext uri="{FF2B5EF4-FFF2-40B4-BE49-F238E27FC236}">
                <a16:creationId xmlns:a16="http://schemas.microsoft.com/office/drawing/2014/main" id="{A13A842B-2D84-4A4E-89D2-136F4F3D7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61" y="1497200"/>
            <a:ext cx="8756277" cy="94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通过高频压力监测准确定位井下进液位置，结果显示暂堵前后进液位置多次发生变化，认为该井暂堵效果好，设计层位充分改造，获得现场认可；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BC7F8D50-8029-45EC-8C1A-76A3D9827F19}"/>
              </a:ext>
            </a:extLst>
          </p:cNvPr>
          <p:cNvSpPr txBox="1"/>
          <p:nvPr/>
        </p:nvSpPr>
        <p:spPr>
          <a:xfrm>
            <a:off x="7705033" y="413895"/>
            <a:ext cx="1224136" cy="3693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超深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439928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煤层压裂裂缝诊断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03771" y="1065828"/>
            <a:ext cx="8785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暂堵用量在线优化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以陕西煤层气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井为例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A13A842B-2D84-4A4E-89D2-136F4F3D7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60" y="1565316"/>
            <a:ext cx="8756277" cy="94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基于高频压力监测反演煤层气井裂缝尺寸，并与微地震解释结果对比，缝长、缝宽平均诊断误差分别为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28%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18%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，诊断误差较小；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BC7F8D50-8029-45EC-8C1A-76A3D9827F19}"/>
              </a:ext>
            </a:extLst>
          </p:cNvPr>
          <p:cNvSpPr txBox="1"/>
          <p:nvPr/>
        </p:nvSpPr>
        <p:spPr>
          <a:xfrm>
            <a:off x="7705033" y="413895"/>
            <a:ext cx="1224136" cy="3693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裂缝尺寸</a:t>
            </a:r>
            <a:endParaRPr lang="zh-CN" altLang="en-US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0221925-39B1-4EBF-82DF-7620CD51E2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06" y="2872100"/>
            <a:ext cx="4204893" cy="161726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82DB76B-72F7-4315-83B5-22BA8952B8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544" y="4437112"/>
            <a:ext cx="3960439" cy="2263108"/>
          </a:xfrm>
          <a:prstGeom prst="rect">
            <a:avLst/>
          </a:prstGeom>
        </p:spPr>
      </p:pic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794E9B82-B37E-4669-B74B-4C5C6DB90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040393"/>
              </p:ext>
            </p:extLst>
          </p:nvPr>
        </p:nvGraphicFramePr>
        <p:xfrm>
          <a:off x="4932040" y="5567588"/>
          <a:ext cx="3823186" cy="1157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水击诊断均值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微地震诊断均值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平均误差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缝长均值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 m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387 m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28%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缝高均值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24.8 m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m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18%</a:t>
                      </a:r>
                      <a:endParaRPr lang="zh-CN" altLang="en-US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E6976AB2-34F8-4009-A1D2-81AA1115D2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26"/>
          <a:stretch/>
        </p:blipFill>
        <p:spPr>
          <a:xfrm>
            <a:off x="4945114" y="4050525"/>
            <a:ext cx="3637073" cy="1486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6EE14D4-CD91-4BCD-8926-4136C1A48C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55"/>
          <a:stretch/>
        </p:blipFill>
        <p:spPr>
          <a:xfrm>
            <a:off x="5005991" y="2617698"/>
            <a:ext cx="3515318" cy="143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2410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超深裸眼井暂堵在线优化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03771" y="1065828"/>
            <a:ext cx="8785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暂堵用量在线优化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以新疆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井为例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A13A842B-2D84-4A4E-89D2-136F4F3D7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61" y="1497200"/>
            <a:ext cx="8756277" cy="94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泵注一定液量后诊断井下进液位置，并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根据进液位置选择泵注程序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暂堵前激发水击波，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诊断裂缝尺寸并优化暂堵剂用量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，暂堵效果明显；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BC7F8D50-8029-45EC-8C1A-76A3D9827F19}"/>
              </a:ext>
            </a:extLst>
          </p:cNvPr>
          <p:cNvSpPr txBox="1"/>
          <p:nvPr/>
        </p:nvSpPr>
        <p:spPr>
          <a:xfrm>
            <a:off x="7705033" y="413895"/>
            <a:ext cx="1224136" cy="3693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优化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507398-88E1-4F93-A851-B1A4A547E9F8}"/>
              </a:ext>
            </a:extLst>
          </p:cNvPr>
          <p:cNvPicPr/>
          <p:nvPr/>
        </p:nvPicPr>
        <p:blipFill rotWithShape="1">
          <a:blip r:embed="rId2"/>
          <a:srcRect t="2127" b="36170"/>
          <a:stretch/>
        </p:blipFill>
        <p:spPr>
          <a:xfrm>
            <a:off x="206561" y="2564905"/>
            <a:ext cx="4482369" cy="2088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877F5CB-EAFD-4CA1-BFF4-51042C4312CF}"/>
              </a:ext>
            </a:extLst>
          </p:cNvPr>
          <p:cNvCxnSpPr>
            <a:cxnSpLocks/>
          </p:cNvCxnSpPr>
          <p:nvPr/>
        </p:nvCxnSpPr>
        <p:spPr>
          <a:xfrm>
            <a:off x="1070694" y="4257092"/>
            <a:ext cx="0" cy="3960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237F0C-8253-4D50-8A30-470C1758D3E3}"/>
              </a:ext>
            </a:extLst>
          </p:cNvPr>
          <p:cNvCxnSpPr>
            <a:cxnSpLocks/>
          </p:cNvCxnSpPr>
          <p:nvPr/>
        </p:nvCxnSpPr>
        <p:spPr>
          <a:xfrm flipH="1">
            <a:off x="1403648" y="3861048"/>
            <a:ext cx="2016224" cy="792089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F8FA5A4-97B4-4B99-902F-6AE1385FFB3E}"/>
              </a:ext>
            </a:extLst>
          </p:cNvPr>
          <p:cNvCxnSpPr>
            <a:cxnSpLocks/>
          </p:cNvCxnSpPr>
          <p:nvPr/>
        </p:nvCxnSpPr>
        <p:spPr>
          <a:xfrm>
            <a:off x="2627784" y="3609021"/>
            <a:ext cx="504056" cy="10441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464BFDCB-7BA7-4831-AF75-2546AD40C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53" y="4993338"/>
            <a:ext cx="1922741" cy="16139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F44F917-77EF-47B7-B2A9-F4CDE7C07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981" y="4993339"/>
            <a:ext cx="2201011" cy="161487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797703F-B393-4B27-AAAC-026C5D7F18EF}"/>
              </a:ext>
            </a:extLst>
          </p:cNvPr>
          <p:cNvSpPr txBox="1"/>
          <p:nvPr/>
        </p:nvSpPr>
        <p:spPr>
          <a:xfrm>
            <a:off x="328767" y="4673962"/>
            <a:ext cx="1717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泵注程序</a:t>
            </a:r>
            <a:r>
              <a:rPr lang="en-US" altLang="zh-CN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AE8C26-3068-4D2C-BB16-E0CA177B7AB7}"/>
              </a:ext>
            </a:extLst>
          </p:cNvPr>
          <p:cNvSpPr txBox="1"/>
          <p:nvPr/>
        </p:nvSpPr>
        <p:spPr>
          <a:xfrm>
            <a:off x="2540630" y="4673962"/>
            <a:ext cx="1717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泵注程序</a:t>
            </a:r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4344FE45-8A42-4529-9F49-B48AFE575E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05897" y="2793530"/>
            <a:ext cx="2160240" cy="1610255"/>
          </a:xfrm>
          <a:prstGeom prst="rect">
            <a:avLst/>
          </a:prstGeom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BE653754-4427-4BB9-9FA4-C6EB6AC898EC}"/>
              </a:ext>
            </a:extLst>
          </p:cNvPr>
          <p:cNvGrpSpPr/>
          <p:nvPr/>
        </p:nvGrpSpPr>
        <p:grpSpPr>
          <a:xfrm>
            <a:off x="5183308" y="4602552"/>
            <a:ext cx="3247913" cy="2066535"/>
            <a:chOff x="2645598" y="3429000"/>
            <a:chExt cx="4303090" cy="2737908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6D2FF658-F892-426D-B6C4-90DB2D0A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651946" y="3429000"/>
              <a:ext cx="4296742" cy="113977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A071D3B3-0AF4-4073-AC5A-EB8427DE9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651946" y="4577507"/>
              <a:ext cx="4296742" cy="1150356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B195F91E-5F82-4DA7-A3BE-90757DB6E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8932" t="-224" r="31174" b="91658"/>
            <a:stretch/>
          </p:blipFill>
          <p:spPr>
            <a:xfrm>
              <a:off x="3715359" y="3463133"/>
              <a:ext cx="2016225" cy="278375"/>
            </a:xfrm>
            <a:prstGeom prst="rect">
              <a:avLst/>
            </a:prstGeom>
          </p:spPr>
        </p:pic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0BCED46-5C9E-423E-BE24-E490BA23A7A8}"/>
                </a:ext>
              </a:extLst>
            </p:cNvPr>
            <p:cNvGrpSpPr/>
            <p:nvPr/>
          </p:nvGrpSpPr>
          <p:grpSpPr>
            <a:xfrm>
              <a:off x="2645598" y="5736599"/>
              <a:ext cx="4303090" cy="430309"/>
              <a:chOff x="2645598" y="5736600"/>
              <a:chExt cx="4074500" cy="407450"/>
            </a:xfrm>
          </p:grpSpPr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4107DAAA-7D05-4B97-A887-5842ACF1C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2645598" y="5736600"/>
                <a:ext cx="4074500" cy="407450"/>
              </a:xfrm>
              <a:prstGeom prst="rect">
                <a:avLst/>
              </a:prstGeom>
            </p:spPr>
          </p:pic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35612D3-4704-4CCE-BB27-BA1AAD03EF73}"/>
                  </a:ext>
                </a:extLst>
              </p:cNvPr>
              <p:cNvSpPr/>
              <p:nvPr/>
            </p:nvSpPr>
            <p:spPr>
              <a:xfrm>
                <a:off x="2776467" y="5742315"/>
                <a:ext cx="132800" cy="135124"/>
              </a:xfrm>
              <a:prstGeom prst="rect">
                <a:avLst/>
              </a:prstGeom>
              <a:pattFill prst="divot">
                <a:fgClr>
                  <a:srgbClr val="FF0000"/>
                </a:fgClr>
                <a:bgClr>
                  <a:srgbClr val="FFFF00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5E84FDA-7613-444D-86D1-6E3758713825}"/>
                  </a:ext>
                </a:extLst>
              </p:cNvPr>
              <p:cNvSpPr/>
              <p:nvPr/>
            </p:nvSpPr>
            <p:spPr>
              <a:xfrm>
                <a:off x="3335987" y="5742315"/>
                <a:ext cx="434340" cy="135124"/>
              </a:xfrm>
              <a:prstGeom prst="rect">
                <a:avLst/>
              </a:prstGeom>
              <a:pattFill prst="divot">
                <a:fgClr>
                  <a:srgbClr val="FF0000"/>
                </a:fgClr>
                <a:bgClr>
                  <a:srgbClr val="FFFF00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4366FDF3-BC4A-42A2-95B2-CE53D2514F90}"/>
                  </a:ext>
                </a:extLst>
              </p:cNvPr>
              <p:cNvSpPr/>
              <p:nvPr/>
            </p:nvSpPr>
            <p:spPr>
              <a:xfrm>
                <a:off x="4014167" y="5742315"/>
                <a:ext cx="1181100" cy="135124"/>
              </a:xfrm>
              <a:prstGeom prst="rect">
                <a:avLst/>
              </a:prstGeom>
              <a:pattFill prst="divot">
                <a:fgClr>
                  <a:srgbClr val="FF0000"/>
                </a:fgClr>
                <a:bgClr>
                  <a:srgbClr val="FFFF00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9B7C36F-57CD-4861-9D54-5219DDF981CC}"/>
                  </a:ext>
                </a:extLst>
              </p:cNvPr>
              <p:cNvSpPr/>
              <p:nvPr/>
            </p:nvSpPr>
            <p:spPr>
              <a:xfrm>
                <a:off x="6414466" y="5742315"/>
                <a:ext cx="135255" cy="135124"/>
              </a:xfrm>
              <a:prstGeom prst="rect">
                <a:avLst/>
              </a:prstGeom>
              <a:pattFill prst="divot">
                <a:fgClr>
                  <a:srgbClr val="FF0000"/>
                </a:fgClr>
                <a:bgClr>
                  <a:srgbClr val="FFFF00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40F49E9E-C11E-41A7-AE06-E7D01DF3C4D9}"/>
                  </a:ext>
                </a:extLst>
              </p:cNvPr>
              <p:cNvSpPr/>
              <p:nvPr/>
            </p:nvSpPr>
            <p:spPr>
              <a:xfrm>
                <a:off x="5700267" y="5742315"/>
                <a:ext cx="66499" cy="135124"/>
              </a:xfrm>
              <a:prstGeom prst="rect">
                <a:avLst/>
              </a:prstGeom>
              <a:pattFill prst="divot">
                <a:fgClr>
                  <a:srgbClr val="FF0000"/>
                </a:fgClr>
                <a:bgClr>
                  <a:srgbClr val="FFFF00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0FADC206-47F1-4CF1-8AE3-9DA80880D5E8}"/>
              </a:ext>
            </a:extLst>
          </p:cNvPr>
          <p:cNvSpPr txBox="1"/>
          <p:nvPr/>
        </p:nvSpPr>
        <p:spPr>
          <a:xfrm>
            <a:off x="4810643" y="5198750"/>
            <a:ext cx="400110" cy="115031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暂堵效果评价</a:t>
            </a: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1E24A70E-E1DE-4031-93AF-8F98E0EEBD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5730" y="2726572"/>
            <a:ext cx="1596221" cy="1677213"/>
          </a:xfrm>
          <a:prstGeom prst="rect">
            <a:avLst/>
          </a:prstGeom>
        </p:spPr>
      </p:pic>
      <p:sp>
        <p:nvSpPr>
          <p:cNvPr id="67" name="箭头: 右 66">
            <a:extLst>
              <a:ext uri="{FF2B5EF4-FFF2-40B4-BE49-F238E27FC236}">
                <a16:creationId xmlns:a16="http://schemas.microsoft.com/office/drawing/2014/main" id="{DE4DA092-2679-4806-BF2A-91BDA6A2261B}"/>
              </a:ext>
            </a:extLst>
          </p:cNvPr>
          <p:cNvSpPr/>
          <p:nvPr/>
        </p:nvSpPr>
        <p:spPr>
          <a:xfrm>
            <a:off x="6483901" y="3384069"/>
            <a:ext cx="646725" cy="21385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3C14EFB-9173-445C-BDE4-C434FD85BB5D}"/>
              </a:ext>
            </a:extLst>
          </p:cNvPr>
          <p:cNvSpPr txBox="1"/>
          <p:nvPr/>
        </p:nvSpPr>
        <p:spPr>
          <a:xfrm>
            <a:off x="5794857" y="3125335"/>
            <a:ext cx="1717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反演裂缝尺寸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037B965-6595-48B9-A63C-CAF4806E4015}"/>
              </a:ext>
            </a:extLst>
          </p:cNvPr>
          <p:cNvSpPr txBox="1"/>
          <p:nvPr/>
        </p:nvSpPr>
        <p:spPr>
          <a:xfrm>
            <a:off x="5794857" y="3565389"/>
            <a:ext cx="1717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优化暂堵用量</a:t>
            </a:r>
          </a:p>
        </p:txBody>
      </p:sp>
    </p:spTree>
    <p:extLst>
      <p:ext uri="{BB962C8B-B14F-4D97-AF65-F5344CB8AC3E}">
        <p14:creationId xmlns:p14="http://schemas.microsoft.com/office/powerpoint/2010/main" val="324826287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 录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4700" y="1318364"/>
            <a:ext cx="7620000" cy="461821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708688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90800" bIns="190800"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一、高频监测技术原理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二、室内长管路停泵监测研究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三、现场应用案例分析评估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四、成果展示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57771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高频监测研究成果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"/>
          <p:cNvSpPr txBox="1">
            <a:spLocks noChangeArrowheads="1"/>
          </p:cNvSpPr>
          <p:nvPr/>
        </p:nvSpPr>
        <p:spPr bwMode="auto">
          <a:xfrm>
            <a:off x="323528" y="1151150"/>
            <a:ext cx="865654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截止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年，团队已基于室内试验及现场应用研究成果，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发表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篇，国际会议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篇，中文核心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篇，获取专利授权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400636"/>
              </p:ext>
            </p:extLst>
          </p:nvPr>
        </p:nvGraphicFramePr>
        <p:xfrm>
          <a:off x="467544" y="2204864"/>
          <a:ext cx="8351423" cy="4500000"/>
        </p:xfrm>
        <a:graphic>
          <a:graphicData uri="http://schemas.openxmlformats.org/drawingml/2006/table">
            <a:tbl>
              <a:tblPr/>
              <a:tblGrid>
                <a:gridCol w="43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7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时间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等级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Evaluation of multi-fractures geometry based on water hammer signals - A new comprehensive model and field application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new comprehensive filtering model for pump shut-in water hammer pressure wave signals during hydraulic fracturing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Pressure response using wavelet analysis in the process of hydraulic fracturing: Numerical simulation and field case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会议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new water hammer decay model -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Analvzing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the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nterference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of multiple fractures and perforations on decay rate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Water hammer response characteristics of wellbore-fracture system: Multi-dimensional analysis in time, frequency and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quefrency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domain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压型停泵水击压力波信号滤波方法与特征分析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基于水击波波形的波速反演方法试验研究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基于井场实测数据水击压力波波速特征分析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水击压力波信号模拟系统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基于水击压力波信号进行压裂诊断的系统和压裂诊断方法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一种水击压力波信号的滤波方法、装置和设备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水击压力波波速确定方法、装置及电子设备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一种多裂缝尺寸计算方法、装置及计算机设备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一种基于小波分解的水力压裂信号分析方法、装置和设备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一种基于停泵压力信号的井下事件定位方法及装置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7160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高频监测应用范围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"/>
          <p:cNvSpPr txBox="1">
            <a:spLocks noChangeArrowheads="1"/>
          </p:cNvSpPr>
          <p:nvPr/>
        </p:nvSpPr>
        <p:spPr bwMode="auto">
          <a:xfrm>
            <a:off x="323528" y="1151150"/>
            <a:ext cx="8656544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截止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年，高频监测已应用于新疆、陕西、四川、黑龙江、渤海湾、北部湾等多个省市直井或水平井，全国累计应用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802545" y="2597989"/>
            <a:ext cx="2971107" cy="1162145"/>
            <a:chOff x="6278655" y="2786414"/>
            <a:chExt cx="2579301" cy="1162145"/>
          </a:xfrm>
        </p:grpSpPr>
        <p:grpSp>
          <p:nvGrpSpPr>
            <p:cNvPr id="9" name="组合 8"/>
            <p:cNvGrpSpPr/>
            <p:nvPr/>
          </p:nvGrpSpPr>
          <p:grpSpPr>
            <a:xfrm>
              <a:off x="6278655" y="2786414"/>
              <a:ext cx="2579301" cy="523220"/>
              <a:chOff x="6278655" y="2786414"/>
              <a:chExt cx="2579301" cy="523220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6278655" y="2812777"/>
                <a:ext cx="12805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应用范围达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7709724" y="2786414"/>
                <a:ext cx="544399" cy="52322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8249543" y="2828288"/>
                <a:ext cx="60841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省市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279944" y="3363784"/>
              <a:ext cx="2525272" cy="584775"/>
              <a:chOff x="3623640" y="3965540"/>
              <a:chExt cx="2525272" cy="584775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3623640" y="4075271"/>
                <a:ext cx="105651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国内应用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790446" y="3965540"/>
                <a:ext cx="924309" cy="58477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800</a:t>
                </a:r>
                <a:r>
                  <a:rPr lang="en-US" altLang="zh-CN" sz="3200" b="1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764548" y="4057873"/>
                <a:ext cx="38436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段</a:t>
                </a:r>
                <a:endPara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7" name="矩形 16"/>
          <p:cNvSpPr/>
          <p:nvPr/>
        </p:nvSpPr>
        <p:spPr>
          <a:xfrm>
            <a:off x="4583572" y="4033147"/>
            <a:ext cx="46154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高频监测已应用于</a:t>
            </a:r>
            <a:r>
              <a:rPr lang="zh-CN" altLang="en-US" sz="20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射孔完井、筛管完井、裸眼完井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等多种完井方式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83572" y="5070825"/>
            <a:ext cx="46590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高频监测已在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页岩、砂砾岩、碳酸盐岩、煤岩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等地质储层开展应用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8" y="2564904"/>
            <a:ext cx="4536504" cy="349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74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5_Blends">
  <a:themeElements>
    <a:clrScheme name="5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5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00000"/>
        </a:soli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lnSpc>
            <a:spcPct val="180000"/>
          </a:lnSpc>
          <a:spcBef>
            <a:spcPct val="20000"/>
          </a:spcBef>
          <a:buClr>
            <a:srgbClr val="FF0000"/>
          </a:buClr>
          <a:buSzPct val="100000"/>
          <a:defRPr dirty="0" smtClean="0">
            <a:solidFill>
              <a:schemeClr val="bg1"/>
            </a:solidFill>
            <a:latin typeface="Tahoma" panose="020B0604030504040204"/>
            <a:ea typeface="方正大黑简体" panose="0201060103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0030101010101" pitchFamily="49" charset="-122"/>
          </a:defRPr>
        </a:defPPr>
      </a:lstStyle>
    </a:lnDef>
    <a:txDef>
      <a:spPr bwMode="auto">
        <a:noFill/>
        <a:ln>
          <a:noFill/>
        </a:ln>
      </a:spPr>
      <a:bodyPr/>
      <a:lstStyle>
        <a:defPPr marL="0" indent="0">
          <a:lnSpc>
            <a:spcPct val="150000"/>
          </a:lnSpc>
          <a:buClr>
            <a:srgbClr val="FF0000"/>
          </a:buClr>
          <a:defRPr sz="3200" dirty="0">
            <a:solidFill>
              <a:srgbClr val="0000FF"/>
            </a:solidFill>
            <a:latin typeface="方正大黑简体" panose="02010601030101010101" charset="-122"/>
            <a:ea typeface="方正大黑简体" panose="02010601030101010101" charset="-122"/>
          </a:defRPr>
        </a:defPPr>
      </a:lstStyle>
    </a:txDef>
  </a:objectDefaults>
  <a:extraClrSchemeLst>
    <a:extraClrScheme>
      <a:clrScheme name="5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4506</TotalTime>
  <Words>1819</Words>
  <Application>Microsoft Office PowerPoint</Application>
  <PresentationFormat>全屏显示(4:3)</PresentationFormat>
  <Paragraphs>259</Paragraphs>
  <Slides>25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等线</vt:lpstr>
      <vt:lpstr>宋体</vt:lpstr>
      <vt:lpstr>Arial</vt:lpstr>
      <vt:lpstr>Calibri</vt:lpstr>
      <vt:lpstr>Cambria Math</vt:lpstr>
      <vt:lpstr>Tahoma</vt:lpstr>
      <vt:lpstr>Times New Roman</vt:lpstr>
      <vt:lpstr>Wingdings</vt:lpstr>
      <vt:lpstr>黑体</vt:lpstr>
      <vt:lpstr>微软雅黑</vt:lpstr>
      <vt:lpstr>15_Blends</vt:lpstr>
      <vt:lpstr>4_默认设计模板</vt:lpstr>
      <vt:lpstr>5_默认设计模板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赵献文</dc:creator>
  <cp:lastModifiedBy>Windows User</cp:lastModifiedBy>
  <cp:revision>529</cp:revision>
  <dcterms:created xsi:type="dcterms:W3CDTF">2008-07-11T02:35:06Z</dcterms:created>
  <dcterms:modified xsi:type="dcterms:W3CDTF">2025-10-19T04:33:59Z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